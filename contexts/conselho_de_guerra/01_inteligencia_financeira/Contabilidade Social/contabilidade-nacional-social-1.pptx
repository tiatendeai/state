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0" r:id="rId4"/>
    <p:sldId id="271" r:id="rId5"/>
    <p:sldId id="269" r:id="rId6"/>
    <p:sldId id="272" r:id="rId7"/>
    <p:sldId id="276" r:id="rId8"/>
    <p:sldId id="277" r:id="rId9"/>
    <p:sldId id="278" r:id="rId10"/>
    <p:sldId id="274" r:id="rId11"/>
    <p:sldId id="279" r:id="rId12"/>
    <p:sldId id="275" r:id="rId13"/>
    <p:sldId id="280" r:id="rId14"/>
    <p:sldId id="281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841A97E-6C38-4568-B978-584D30A2BAFA}" type="datetimeFigureOut">
              <a:rPr lang="pt-BR" smtClean="0"/>
              <a:t>22/10/2017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8B0925F-43FD-42AB-BF3B-1565864674C6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Contabilidade nacional/social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2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b="1" dirty="0" smtClean="0"/>
              <a:t>Introdução</a:t>
            </a:r>
            <a:endParaRPr lang="pt-BR" b="1" dirty="0"/>
          </a:p>
          <a:p>
            <a:pPr algn="just"/>
            <a:endParaRPr lang="pt-BR" b="1" dirty="0"/>
          </a:p>
          <a:p>
            <a:pPr algn="just"/>
            <a:r>
              <a:rPr lang="pt-BR" b="1" dirty="0"/>
              <a:t>Contabilidade </a:t>
            </a:r>
            <a:r>
              <a:rPr lang="pt-BR" b="1" dirty="0" smtClean="0"/>
              <a:t>Nacional: </a:t>
            </a:r>
            <a:r>
              <a:rPr lang="pt-BR" dirty="0" smtClean="0"/>
              <a:t>começou a ser medida com mais rigor a partir da grande depressão de 1930. É relativa </a:t>
            </a:r>
            <a:r>
              <a:rPr lang="pt-BR" dirty="0"/>
              <a:t>à medição dos agregados econômicos nacionais, trata-se do registro contábil da atividade produtiva de um país ao longo de um dado período de tempo.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95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Pressupostos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</a:pPr>
            <a:r>
              <a:rPr lang="pt-BR" dirty="0"/>
              <a:t> consideram-se apenas as transações com bens e serviços finais;</a:t>
            </a:r>
          </a:p>
          <a:p>
            <a:pPr algn="just">
              <a:buFont typeface="Arial" charset="0"/>
              <a:buChar char="•"/>
            </a:pPr>
            <a:r>
              <a:rPr lang="pt-BR" dirty="0"/>
              <a:t> mede-se apenas a produção corrente do próprio período;</a:t>
            </a:r>
          </a:p>
          <a:p>
            <a:pPr algn="just">
              <a:buFont typeface="Arial" charset="0"/>
              <a:buChar char="•"/>
            </a:pPr>
            <a:r>
              <a:rPr lang="pt-BR" dirty="0"/>
              <a:t> as transações se referem a um fluxo;</a:t>
            </a:r>
          </a:p>
          <a:p>
            <a:pPr algn="just">
              <a:buFont typeface="Arial" charset="0"/>
              <a:buChar char="•"/>
            </a:pPr>
            <a:r>
              <a:rPr lang="pt-BR" dirty="0"/>
              <a:t> a moeda é </a:t>
            </a:r>
            <a:r>
              <a:rPr lang="pt-BR" dirty="0" smtClean="0"/>
              <a:t>utilizada como padrão (não </a:t>
            </a:r>
            <a:r>
              <a:rPr lang="pt-BR" dirty="0"/>
              <a:t>são considerados os valores das transações puramente </a:t>
            </a:r>
            <a:r>
              <a:rPr lang="pt-BR" dirty="0" smtClean="0"/>
              <a:t>financeiras).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46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 smtClean="0"/>
              <a:t>Valor </a:t>
            </a:r>
            <a:r>
              <a:rPr lang="pt-BR" b="1" dirty="0"/>
              <a:t>adicionado:</a:t>
            </a:r>
            <a:r>
              <a:rPr lang="pt-BR" dirty="0"/>
              <a:t> aquele adicionado ao produto em cada estágio de produção, somando o valor adicionado em cada estágio de produção, chegaremos ao produto final da </a:t>
            </a:r>
            <a:r>
              <a:rPr lang="pt-BR" dirty="0" smtClean="0"/>
              <a:t>economia. 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valor </a:t>
            </a:r>
            <a:r>
              <a:rPr lang="pt-BR" dirty="0"/>
              <a:t>adicionado = valor bruto da produção – compra de bens e serviços intermediários</a:t>
            </a:r>
          </a:p>
          <a:p>
            <a:endParaRPr lang="pt-BR" dirty="0" smtClean="0"/>
          </a:p>
          <a:p>
            <a:r>
              <a:rPr lang="pt-BR" b="1" dirty="0" smtClean="0"/>
              <a:t>Medidas da Atividade Econômica: </a:t>
            </a:r>
            <a:r>
              <a:rPr lang="pt-BR" dirty="0" smtClean="0"/>
              <a:t>Produto, renda e despesa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423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Valor Adicionado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661971"/>
              </p:ext>
            </p:extLst>
          </p:nvPr>
        </p:nvGraphicFramePr>
        <p:xfrm>
          <a:off x="457200" y="1600200"/>
          <a:ext cx="8229600" cy="418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99726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Empresa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Processo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Quantidade em Toneladas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Preço de Venda da Tonelada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 Total da Produção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 Adicionado</a:t>
                      </a:r>
                      <a:r>
                        <a:rPr lang="pt-BR" baseline="0" dirty="0" smtClean="0"/>
                        <a:t> por Processo</a:t>
                      </a:r>
                      <a:endParaRPr lang="pt-BR" dirty="0"/>
                    </a:p>
                  </a:txBody>
                  <a:tcPr/>
                </a:tc>
              </a:tr>
              <a:tr h="99726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Planta e colhe abacate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1.000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R$ 200,00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R$ 200.000,00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R$ 200.000,00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</a:tr>
              <a:tr h="99726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Desidrata o abacate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1.000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R$ 500,00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R$ 500.000,00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R$ ?????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</a:tr>
              <a:tr h="99726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Comercializa o abacate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1.000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R$ 900,00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R$ 900.000,00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R$ ?????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91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Medidas da atividade econômica: Produto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b="1" dirty="0"/>
              <a:t>Produto Nacional (PN):</a:t>
            </a:r>
            <a:r>
              <a:rPr lang="pt-BR" dirty="0"/>
              <a:t> valor de todos os bens e serviços finais, medidos a preços de mercado, produzidos num dado período de tempo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Outro conceito importante a ser entendido é o da depreciação, que representa o custo de reposição dos bens desgastados durante o processo produtivo. Este conceito é importante para entender os agregados Produto Nacional Bruto (PNB) e Produto Nacional Líquido (PNL).</a:t>
            </a:r>
          </a:p>
          <a:p>
            <a:pPr algn="just"/>
            <a:r>
              <a:rPr lang="pt-BR" dirty="0" smtClean="0"/>
              <a:t>O PNB é o valor monetário de todos os bens e serviços produzidos em um determinado intervalo de tempo, utilizando os fatores de produção pertencentes aos indivíduos de um país.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993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PNB é calculado pela seguinte fórmula: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PNB =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sp</a:t>
            </a:r>
            <a:r>
              <a:rPr lang="pt-BR" dirty="0" smtClean="0"/>
              <a:t> +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ss</a:t>
            </a:r>
            <a:r>
              <a:rPr lang="pt-BR" dirty="0" smtClean="0"/>
              <a:t> +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st</a:t>
            </a:r>
            <a:endParaRPr lang="pt-BR" baseline="-25000" dirty="0" smtClean="0"/>
          </a:p>
          <a:p>
            <a:pPr marL="0" indent="0" algn="just">
              <a:buNone/>
            </a:pPr>
            <a:r>
              <a:rPr lang="pt-BR" dirty="0" smtClean="0"/>
              <a:t>Em que: </a:t>
            </a:r>
          </a:p>
          <a:p>
            <a:pPr marL="0" indent="0" algn="just">
              <a:buNone/>
            </a:pPr>
            <a:r>
              <a:rPr lang="pt-BR" dirty="0" smtClean="0"/>
              <a:t>PNB é o valor do Produto Nacional Bruto</a:t>
            </a:r>
          </a:p>
          <a:p>
            <a:pPr marL="0" indent="0" algn="just">
              <a:buNone/>
            </a:pPr>
            <a:r>
              <a:rPr lang="pt-BR" dirty="0" err="1"/>
              <a:t>P</a:t>
            </a:r>
            <a:r>
              <a:rPr lang="pt-BR" baseline="-25000" dirty="0" err="1"/>
              <a:t>sp</a:t>
            </a:r>
            <a:r>
              <a:rPr lang="pt-BR" dirty="0"/>
              <a:t> </a:t>
            </a:r>
            <a:r>
              <a:rPr lang="pt-BR" dirty="0" smtClean="0"/>
              <a:t> é o valor agregado do produto do setor primário (extrativismo e agropecuária);</a:t>
            </a:r>
          </a:p>
          <a:p>
            <a:pPr marL="0" indent="0" algn="just">
              <a:buNone/>
            </a:pPr>
            <a:r>
              <a:rPr lang="pt-BR" dirty="0" err="1" smtClean="0"/>
              <a:t>P</a:t>
            </a:r>
            <a:r>
              <a:rPr lang="pt-BR" baseline="-25000" dirty="0" err="1" smtClean="0"/>
              <a:t>ss</a:t>
            </a:r>
            <a:r>
              <a:rPr lang="pt-BR" dirty="0" smtClean="0"/>
              <a:t> </a:t>
            </a:r>
            <a:r>
              <a:rPr lang="pt-BR" dirty="0"/>
              <a:t>é o valor agregado do produto do setor </a:t>
            </a:r>
            <a:r>
              <a:rPr lang="pt-BR" dirty="0" smtClean="0"/>
              <a:t>secundário (indústria);</a:t>
            </a:r>
          </a:p>
          <a:p>
            <a:pPr marL="0" indent="0" algn="just">
              <a:buNone/>
            </a:pPr>
            <a:r>
              <a:rPr lang="pt-BR" dirty="0" err="1" smtClean="0"/>
              <a:t>P</a:t>
            </a:r>
            <a:r>
              <a:rPr lang="pt-BR" baseline="-25000" dirty="0" err="1" smtClean="0"/>
              <a:t>st</a:t>
            </a:r>
            <a:r>
              <a:rPr lang="pt-BR" baseline="-25000" dirty="0" smtClean="0"/>
              <a:t> </a:t>
            </a:r>
            <a:r>
              <a:rPr lang="pt-BR" dirty="0"/>
              <a:t>é o valor agregado do produto do setor </a:t>
            </a:r>
            <a:r>
              <a:rPr lang="pt-BR" dirty="0" smtClean="0"/>
              <a:t>terciário (comércio e serviços);</a:t>
            </a:r>
            <a:endParaRPr lang="pt-BR" baseline="-250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802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 PNL é </a:t>
            </a:r>
            <a:r>
              <a:rPr lang="pt-BR" dirty="0"/>
              <a:t>o valor monetário de todos os bens e serviços produzidos em um determinado intervalo de tempo, utilizando os fatores de produção pertencentes aos indivíduos de um </a:t>
            </a:r>
            <a:r>
              <a:rPr lang="pt-BR" dirty="0" smtClean="0"/>
              <a:t>país, retirando-se o custo de reposição dos bens de produção que são desgastados durante o processo produtivo. </a:t>
            </a:r>
          </a:p>
          <a:p>
            <a:pPr marL="0" indent="0">
              <a:buNone/>
            </a:pPr>
            <a:r>
              <a:rPr lang="pt-BR" dirty="0" smtClean="0"/>
              <a:t>Ele é calculado pela seguinte fórmula:</a:t>
            </a:r>
          </a:p>
          <a:p>
            <a:pPr marL="0" indent="0">
              <a:buNone/>
            </a:pPr>
            <a:r>
              <a:rPr lang="pt-BR" dirty="0" smtClean="0"/>
              <a:t>PNL = PNB – d</a:t>
            </a:r>
          </a:p>
          <a:p>
            <a:pPr marL="0" indent="0">
              <a:buNone/>
            </a:pPr>
            <a:r>
              <a:rPr lang="pt-BR" dirty="0" smtClean="0"/>
              <a:t>Em que :</a:t>
            </a:r>
          </a:p>
          <a:p>
            <a:pPr marL="0" indent="0">
              <a:buNone/>
            </a:pPr>
            <a:r>
              <a:rPr lang="pt-BR" dirty="0" smtClean="0"/>
              <a:t>PNL é o </a:t>
            </a:r>
            <a:r>
              <a:rPr lang="pt-BR" dirty="0"/>
              <a:t>P</a:t>
            </a:r>
            <a:r>
              <a:rPr lang="pt-BR" dirty="0" smtClean="0"/>
              <a:t>roduto </a:t>
            </a:r>
            <a:r>
              <a:rPr lang="pt-BR" dirty="0"/>
              <a:t>N</a:t>
            </a:r>
            <a:r>
              <a:rPr lang="pt-BR" dirty="0" smtClean="0"/>
              <a:t>acional Bruto;</a:t>
            </a:r>
          </a:p>
          <a:p>
            <a:pPr marL="0" indent="0">
              <a:buNone/>
            </a:pPr>
            <a:r>
              <a:rPr lang="pt-BR" dirty="0" smtClean="0"/>
              <a:t>PNB </a:t>
            </a:r>
            <a:r>
              <a:rPr lang="pt-BR" dirty="0"/>
              <a:t>é o Produto Nacional </a:t>
            </a:r>
            <a:r>
              <a:rPr lang="pt-BR" dirty="0" smtClean="0"/>
              <a:t>Líquido;</a:t>
            </a:r>
          </a:p>
          <a:p>
            <a:pPr marL="0" indent="0">
              <a:buNone/>
            </a:pPr>
            <a:r>
              <a:rPr lang="pt-BR" dirty="0" smtClean="0"/>
              <a:t>d é a depreciação.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35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 smtClean="0"/>
              <a:t>Outro agregado econômico importante é o Produto Interno Bruto (PIB). Ele difere do PNB por levar em </a:t>
            </a:r>
            <a:r>
              <a:rPr lang="pt-BR" dirty="0" err="1" smtClean="0"/>
              <a:t>considerãção</a:t>
            </a:r>
            <a:r>
              <a:rPr lang="pt-BR" dirty="0" smtClean="0"/>
              <a:t>, em sua formação, o produto gerado pelos fatores de produção que pertencem a estrangeiros. O conceito macroeconômico que conecta o PNB e o PIB é denominado Renda Líquida dos Fatores Externos (RLFE).</a:t>
            </a:r>
          </a:p>
          <a:p>
            <a:pPr marL="0" indent="0" algn="just">
              <a:buNone/>
            </a:pPr>
            <a:r>
              <a:rPr lang="pt-BR" dirty="0" smtClean="0"/>
              <a:t>A RLFE é a remuneração dos fatores de produção devidos a estrangeiros. È formada pela renda enviada ao exterior (RE), menos a renda recebida do exterior (RR), como pode ser visto na seguinte fórmula: RLFE = RE – RR</a:t>
            </a:r>
          </a:p>
          <a:p>
            <a:pPr marL="0" indent="0" algn="just">
              <a:buNone/>
            </a:pPr>
            <a:r>
              <a:rPr lang="pt-BR" dirty="0" smtClean="0"/>
              <a:t>Tendo como base estas informações, pode-se então entender a relação entre PNB e PIB, utilizando-se a seguinte fórmula: PNB = PIB - RLFE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23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Medidas da atividade econômica</a:t>
            </a:r>
            <a:r>
              <a:rPr lang="pt-BR" dirty="0" smtClean="0"/>
              <a:t>: Renda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b="1" dirty="0"/>
              <a:t>Renda Nacional </a:t>
            </a:r>
            <a:r>
              <a:rPr lang="pt-BR" b="1" dirty="0" smtClean="0"/>
              <a:t>(RN</a:t>
            </a:r>
            <a:r>
              <a:rPr lang="pt-BR" b="1" dirty="0"/>
              <a:t>): </a:t>
            </a:r>
            <a:r>
              <a:rPr lang="pt-BR" dirty="0"/>
              <a:t>soma dos rendimentos pagos aos fatores de produção no período</a:t>
            </a:r>
            <a:r>
              <a:rPr lang="pt-BR" dirty="0" smtClean="0"/>
              <a:t>.</a:t>
            </a:r>
          </a:p>
          <a:p>
            <a:pPr marL="0" indent="0" algn="just">
              <a:buNone/>
            </a:pPr>
            <a:r>
              <a:rPr lang="pt-BR" dirty="0" smtClean="0"/>
              <a:t>Em outras palavras, o custo dos fatores, salários, juros, aluguéis e </a:t>
            </a:r>
            <a:r>
              <a:rPr lang="pt-BR" dirty="0"/>
              <a:t>os lucros mais </a:t>
            </a:r>
            <a:r>
              <a:rPr lang="pt-BR" dirty="0" smtClean="0"/>
              <a:t>as transferências do governo em forma de subsídios e pensões, para o setor privado. A Renda Nacional é calculada pela seguinte equação:</a:t>
            </a:r>
          </a:p>
          <a:p>
            <a:pPr marL="0" indent="0">
              <a:buNone/>
            </a:pPr>
            <a:r>
              <a:rPr lang="pt-BR" dirty="0" smtClean="0"/>
              <a:t>RN = </a:t>
            </a:r>
            <a:r>
              <a:rPr lang="pt-BR" dirty="0" err="1" smtClean="0"/>
              <a:t>w+j+a+l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Em que:</a:t>
            </a:r>
          </a:p>
          <a:p>
            <a:pPr marL="0" indent="0">
              <a:buNone/>
            </a:pPr>
            <a:r>
              <a:rPr lang="pt-BR" dirty="0" smtClean="0"/>
              <a:t>RN é a renda Nacional;</a:t>
            </a:r>
          </a:p>
          <a:p>
            <a:pPr marL="0" indent="0">
              <a:buNone/>
            </a:pPr>
            <a:r>
              <a:rPr lang="pt-BR" dirty="0" smtClean="0"/>
              <a:t>w representa os salários;</a:t>
            </a:r>
          </a:p>
          <a:p>
            <a:pPr marL="0" indent="0">
              <a:buNone/>
            </a:pPr>
            <a:r>
              <a:rPr lang="pt-BR" dirty="0" smtClean="0"/>
              <a:t>j representa os juros;</a:t>
            </a:r>
          </a:p>
          <a:p>
            <a:pPr marL="0" indent="0">
              <a:buNone/>
            </a:pPr>
            <a:r>
              <a:rPr lang="pt-BR" dirty="0" smtClean="0"/>
              <a:t>a representa aluguéis;</a:t>
            </a:r>
          </a:p>
          <a:p>
            <a:pPr marL="0" indent="0">
              <a:buNone/>
            </a:pPr>
            <a:r>
              <a:rPr lang="pt-BR" dirty="0"/>
              <a:t>l</a:t>
            </a:r>
            <a:r>
              <a:rPr lang="pt-BR" dirty="0" smtClean="0"/>
              <a:t> representa os lucros.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12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Outros conceitos importantes relacionados à Renda Nacional:</a:t>
            </a:r>
          </a:p>
          <a:p>
            <a:pPr algn="just"/>
            <a:r>
              <a:rPr lang="pt-BR" dirty="0" smtClean="0"/>
              <a:t>Poupança (S): é a parte da RN que as pessoas </a:t>
            </a:r>
            <a:r>
              <a:rPr lang="pt-BR" dirty="0" err="1" smtClean="0"/>
              <a:t>retem</a:t>
            </a:r>
            <a:r>
              <a:rPr lang="pt-BR" dirty="0" smtClean="0"/>
              <a:t> e não são destinadas ao consumo imediato. </a:t>
            </a:r>
          </a:p>
          <a:p>
            <a:pPr algn="just"/>
            <a:r>
              <a:rPr lang="pt-BR" dirty="0" smtClean="0"/>
              <a:t>Consumo (C): é a parte da RN destinada ao consumo imediato.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0675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Medidas da atividade econômica</a:t>
            </a:r>
            <a:r>
              <a:rPr lang="pt-BR" dirty="0" smtClean="0"/>
              <a:t>: Despesa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b="1" dirty="0"/>
              <a:t>Despesa Nacional (DN):</a:t>
            </a:r>
            <a:r>
              <a:rPr lang="pt-BR" dirty="0"/>
              <a:t> gasto dos agentes econômicos com o produto nacional. Revela quais são os setores compradores do produto nacional</a:t>
            </a:r>
            <a:r>
              <a:rPr lang="pt-BR" dirty="0" smtClean="0"/>
              <a:t>. É dada pela seguinte fórmula:</a:t>
            </a:r>
          </a:p>
          <a:p>
            <a:pPr marL="0" indent="0" algn="just">
              <a:buNone/>
            </a:pPr>
            <a:r>
              <a:rPr lang="pt-BR" dirty="0" smtClean="0"/>
              <a:t>DN = C+I+G+X-M</a:t>
            </a:r>
          </a:p>
          <a:p>
            <a:pPr marL="0" indent="0" algn="just">
              <a:buNone/>
            </a:pPr>
            <a:r>
              <a:rPr lang="pt-BR" dirty="0" smtClean="0"/>
              <a:t>Em que:</a:t>
            </a:r>
          </a:p>
          <a:p>
            <a:pPr marL="0" indent="0" algn="just">
              <a:buNone/>
            </a:pPr>
            <a:r>
              <a:rPr lang="pt-BR" dirty="0" smtClean="0"/>
              <a:t>DN é a Despesa Nacional;</a:t>
            </a:r>
          </a:p>
          <a:p>
            <a:pPr marL="0" indent="0" algn="just">
              <a:buNone/>
            </a:pPr>
            <a:r>
              <a:rPr lang="pt-BR" dirty="0" smtClean="0"/>
              <a:t>C é a despesa das famílias com bens de consumo;</a:t>
            </a:r>
          </a:p>
          <a:p>
            <a:pPr marL="0" indent="0" algn="just">
              <a:buNone/>
            </a:pPr>
            <a:r>
              <a:rPr lang="pt-BR" dirty="0" smtClean="0"/>
              <a:t>I é a despesa com capital;</a:t>
            </a:r>
          </a:p>
          <a:p>
            <a:pPr marL="0" indent="0" algn="just">
              <a:buNone/>
            </a:pPr>
            <a:r>
              <a:rPr lang="pt-BR" dirty="0" smtClean="0"/>
              <a:t>G são os gastos do governo;</a:t>
            </a:r>
          </a:p>
          <a:p>
            <a:pPr marL="0" indent="0" algn="just">
              <a:buNone/>
            </a:pPr>
            <a:r>
              <a:rPr lang="pt-BR" dirty="0" smtClean="0"/>
              <a:t>X são as exportações;</a:t>
            </a:r>
          </a:p>
          <a:p>
            <a:pPr marL="0" indent="0" algn="just">
              <a:buNone/>
            </a:pPr>
            <a:r>
              <a:rPr lang="pt-BR" dirty="0" smtClean="0"/>
              <a:t>M são as importações.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735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 smtClean="0"/>
              <a:t>Uma vez apresentadas, cabe agora especificar cada uma das contas da Despesa Nacional.</a:t>
            </a:r>
          </a:p>
          <a:p>
            <a:pPr marL="0" indent="0" algn="just">
              <a:buNone/>
            </a:pPr>
            <a:r>
              <a:rPr lang="pt-BR" b="1" dirty="0" smtClean="0"/>
              <a:t>Consumo (C)</a:t>
            </a:r>
            <a:r>
              <a:rPr lang="pt-BR" dirty="0" smtClean="0"/>
              <a:t> Diz respeito a todos os bens serviços comprados pelas famílias.</a:t>
            </a:r>
          </a:p>
          <a:p>
            <a:pPr marL="0" indent="0" algn="just">
              <a:buNone/>
            </a:pPr>
            <a:r>
              <a:rPr lang="pt-BR" b="1" dirty="0" smtClean="0"/>
              <a:t>Investimentos (I)</a:t>
            </a:r>
            <a:r>
              <a:rPr lang="pt-BR" dirty="0" smtClean="0"/>
              <a:t> representa o conjunto de bens adquiridos para a utilização de longa duração.</a:t>
            </a:r>
          </a:p>
          <a:p>
            <a:pPr marL="0" indent="0" algn="just">
              <a:buNone/>
            </a:pPr>
            <a:r>
              <a:rPr lang="pt-BR" b="1" dirty="0" smtClean="0"/>
              <a:t>Gastos do Governo (G)</a:t>
            </a:r>
            <a:r>
              <a:rPr lang="pt-BR" dirty="0" smtClean="0"/>
              <a:t> são os bens ou serviços adquiridos pelas esferas de governo municipal, estadual e federal.</a:t>
            </a:r>
          </a:p>
          <a:p>
            <a:pPr marL="0" indent="0" algn="just">
              <a:buNone/>
            </a:pPr>
            <a:r>
              <a:rPr lang="pt-BR" b="1" dirty="0" smtClean="0"/>
              <a:t>Exportações Líquidas:</a:t>
            </a:r>
            <a:r>
              <a:rPr lang="pt-BR" dirty="0" smtClean="0"/>
              <a:t> (X-M), levam em consideração o comércio com outros países. Exportações Líquidas são os valores de bens e serviços exportados menos o valor de bens e serviços recebidos do exterior.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76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Identidade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 smtClean="0"/>
              <a:t>A identidade básica informa que na economia de um país os valores do Produto Interno Bruto, da Despesa Interna Bruta e da Renda Interna Bruta são iguais como expressado na equação:</a:t>
            </a:r>
          </a:p>
          <a:p>
            <a:pPr marL="0" indent="0" algn="just">
              <a:buNone/>
            </a:pPr>
            <a:r>
              <a:rPr lang="pt-BR" dirty="0" smtClean="0"/>
              <a:t>PIB = DIB = RIB</a:t>
            </a:r>
          </a:p>
          <a:p>
            <a:pPr marL="0" indent="0" algn="just">
              <a:buNone/>
            </a:pPr>
            <a:r>
              <a:rPr lang="pt-BR" dirty="0" smtClean="0"/>
              <a:t>Em que:</a:t>
            </a:r>
          </a:p>
          <a:p>
            <a:pPr marL="0" indent="0" algn="just">
              <a:buNone/>
            </a:pPr>
            <a:r>
              <a:rPr lang="pt-BR" dirty="0" smtClean="0"/>
              <a:t>PIB é o </a:t>
            </a:r>
            <a:r>
              <a:rPr lang="pt-BR" dirty="0"/>
              <a:t>Produto Interno </a:t>
            </a:r>
            <a:r>
              <a:rPr lang="pt-BR" dirty="0" smtClean="0"/>
              <a:t>Bruto;</a:t>
            </a:r>
          </a:p>
          <a:p>
            <a:pPr marL="0" indent="0" algn="just">
              <a:buNone/>
            </a:pPr>
            <a:r>
              <a:rPr lang="pt-BR" dirty="0" smtClean="0"/>
              <a:t>DIB é a </a:t>
            </a:r>
            <a:r>
              <a:rPr lang="pt-BR" dirty="0"/>
              <a:t>Despesa Interna </a:t>
            </a:r>
            <a:r>
              <a:rPr lang="pt-BR" dirty="0" smtClean="0"/>
              <a:t>Bruta;</a:t>
            </a:r>
          </a:p>
          <a:p>
            <a:pPr marL="0" indent="0" algn="just">
              <a:buNone/>
            </a:pPr>
            <a:r>
              <a:rPr lang="pt-BR" dirty="0" smtClean="0"/>
              <a:t>RIB é a </a:t>
            </a:r>
            <a:r>
              <a:rPr lang="pt-BR" dirty="0"/>
              <a:t>Renda Interna </a:t>
            </a:r>
            <a:r>
              <a:rPr lang="pt-BR" dirty="0" smtClean="0"/>
              <a:t>Bruta.</a:t>
            </a:r>
          </a:p>
          <a:p>
            <a:pPr marL="0" indent="0" algn="just">
              <a:buNone/>
            </a:pPr>
            <a:r>
              <a:rPr lang="pt-BR" dirty="0" smtClean="0"/>
              <a:t>Esta igualdade tem grande importância, pois por meio da manipulação de suas fórmulas, diversas políticas </a:t>
            </a:r>
            <a:r>
              <a:rPr lang="pt-BR" dirty="0" err="1" smtClean="0"/>
              <a:t>macroecônomicas</a:t>
            </a:r>
            <a:r>
              <a:rPr lang="pt-BR" dirty="0" smtClean="0"/>
              <a:t> podem ser sugeridas e implementadas.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40709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ilho">
  <a:themeElements>
    <a:clrScheme name="Brilho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rilh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1022</Words>
  <Application>Microsoft Office PowerPoint</Application>
  <PresentationFormat>Apresentação na tela (4:3)</PresentationFormat>
  <Paragraphs>98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Brilho</vt:lpstr>
      <vt:lpstr>Contabilidade nacional/social</vt:lpstr>
      <vt:lpstr>Apresentação do PowerPoint</vt:lpstr>
      <vt:lpstr>Pressupostos</vt:lpstr>
      <vt:lpstr>Conceitos</vt:lpstr>
      <vt:lpstr>Valor Adicionado</vt:lpstr>
      <vt:lpstr>Medidas da atividade econômica: Produto</vt:lpstr>
      <vt:lpstr>Apresentação do PowerPoint</vt:lpstr>
      <vt:lpstr>Apresentação do PowerPoint</vt:lpstr>
      <vt:lpstr>Apresentação do PowerPoint</vt:lpstr>
      <vt:lpstr>Medidas da atividade econômica: Renda</vt:lpstr>
      <vt:lpstr>Apresentação do PowerPoint</vt:lpstr>
      <vt:lpstr>Medidas da atividade econômica: Despesa</vt:lpstr>
      <vt:lpstr>Apresentação do PowerPoint</vt:lpstr>
      <vt:lpstr>Identidade Básica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11</cp:revision>
  <dcterms:created xsi:type="dcterms:W3CDTF">2017-10-22T22:01:48Z</dcterms:created>
  <dcterms:modified xsi:type="dcterms:W3CDTF">2017-10-22T23:27:12Z</dcterms:modified>
</cp:coreProperties>
</file>