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5" r:id="rId4"/>
    <p:sldId id="264" r:id="rId5"/>
    <p:sldId id="277" r:id="rId6"/>
    <p:sldId id="278" r:id="rId7"/>
    <p:sldId id="258" r:id="rId8"/>
    <p:sldId id="273" r:id="rId9"/>
    <p:sldId id="261" r:id="rId10"/>
    <p:sldId id="263" r:id="rId11"/>
    <p:sldId id="275" r:id="rId12"/>
    <p:sldId id="276" r:id="rId13"/>
    <p:sldId id="274" r:id="rId14"/>
    <p:sldId id="271" r:id="rId15"/>
    <p:sldId id="279" r:id="rId16"/>
    <p:sldId id="283" r:id="rId17"/>
    <p:sldId id="285" r:id="rId18"/>
    <p:sldId id="286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1"/>
      </a:buClr>
      <a:buChar char="•"/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1"/>
      </a:buClr>
      <a:buChar char="•"/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1"/>
      </a:buClr>
      <a:buChar char="•"/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1"/>
      </a:buClr>
      <a:buChar char="•"/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1"/>
      </a:buClr>
      <a:buChar char="•"/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6600FF"/>
    <a:srgbClr val="009999"/>
    <a:srgbClr val="FF3300"/>
    <a:srgbClr val="FF6633"/>
    <a:srgbClr val="F8F8F8"/>
    <a:srgbClr val="FFFF99"/>
    <a:srgbClr val="FFFF00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9" autoAdjust="0"/>
    <p:restoredTop sz="86450" autoAdjust="0"/>
  </p:normalViewPr>
  <p:slideViewPr>
    <p:cSldViewPr>
      <p:cViewPr varScale="1">
        <p:scale>
          <a:sx n="47" d="100"/>
          <a:sy n="47" d="100"/>
        </p:scale>
        <p:origin x="-100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10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6.xml"/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8543778-2276-4E39-88D6-EB4FE416BA8F}" type="slidenum">
              <a:rPr lang="pt-PT"/>
              <a:pPr>
                <a:defRPr/>
              </a:pPr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FontTx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 smtClean="0"/>
              <a:t>Faça clique para editar estilos de texto</a:t>
            </a:r>
          </a:p>
          <a:p>
            <a:pPr lvl="1"/>
            <a:r>
              <a:rPr lang="pt-PT" noProof="0" smtClean="0"/>
              <a:t>Segundo nível</a:t>
            </a:r>
          </a:p>
          <a:p>
            <a:pPr lvl="2"/>
            <a:r>
              <a:rPr lang="pt-PT" noProof="0" smtClean="0"/>
              <a:t>Terceiro nível</a:t>
            </a:r>
          </a:p>
          <a:p>
            <a:pPr lvl="3"/>
            <a:r>
              <a:rPr lang="pt-PT" noProof="0" smtClean="0"/>
              <a:t>Quarto nível</a:t>
            </a:r>
          </a:p>
          <a:p>
            <a:pPr lvl="4"/>
            <a:r>
              <a:rPr lang="pt-PT" noProof="0" smtClean="0"/>
              <a:t>Quinto nível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FontTx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42F78FE-1EE7-4C26-A5C3-DFFDC5B1B8A6}" type="slidenum">
              <a:rPr lang="pt-PT"/>
              <a:pPr>
                <a:defRPr/>
              </a:pPr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6E6BA2-816C-4A7C-8E7F-805B5EF1710E}" type="slidenum">
              <a:rPr lang="pt-PT"/>
              <a:pPr/>
              <a:t>1</a:t>
            </a:fld>
            <a:endParaRPr lang="pt-PT"/>
          </a:p>
        </p:txBody>
      </p:sp>
      <p:sp>
        <p:nvSpPr>
          <p:cNvPr id="266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53DB59-56ED-45A5-8B7D-52184DB6EF89}" type="slidenum">
              <a:rPr lang="pt-PT"/>
              <a:pPr/>
              <a:t>2</a:t>
            </a:fld>
            <a:endParaRPr lang="pt-PT"/>
          </a:p>
        </p:txBody>
      </p:sp>
      <p:sp>
        <p:nvSpPr>
          <p:cNvPr id="276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2CEFCF-EB20-4394-911D-7052E93276EE}" type="slidenum">
              <a:rPr lang="pt-PT"/>
              <a:pPr/>
              <a:t>3</a:t>
            </a:fld>
            <a:endParaRPr lang="pt-PT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314A69-586B-4EB9-A44B-50B2821D3002}" type="slidenum">
              <a:rPr lang="pt-PT"/>
              <a:pPr/>
              <a:t>4</a:t>
            </a:fld>
            <a:endParaRPr lang="pt-PT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28F20F-A71A-4F4B-BB8F-509E6B58AA09}" type="slidenum">
              <a:rPr lang="pt-PT"/>
              <a:pPr/>
              <a:t>5</a:t>
            </a:fld>
            <a:endParaRPr lang="pt-PT"/>
          </a:p>
        </p:txBody>
      </p:sp>
      <p:sp>
        <p:nvSpPr>
          <p:cNvPr id="307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D9764A-03EB-43D3-A21D-0DE783194415}" type="slidenum">
              <a:rPr lang="pt-PT"/>
              <a:pPr/>
              <a:t>6</a:t>
            </a:fld>
            <a:endParaRPr lang="pt-PT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078F40-F46A-49C6-BEB3-68780DED1DA2}" type="slidenum">
              <a:rPr lang="pt-PT"/>
              <a:pPr/>
              <a:t>7</a:t>
            </a:fld>
            <a:endParaRPr lang="pt-PT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B19618-045E-42D6-A09F-0C46745D0273}" type="slidenum">
              <a:rPr lang="pt-PT"/>
              <a:pPr/>
              <a:t>8</a:t>
            </a:fld>
            <a:endParaRPr lang="pt-PT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7EEDB-7BE0-47B6-90E3-343B4D90EF84}" type="slidenum">
              <a:rPr lang="pt-PT"/>
              <a:pPr/>
              <a:t>9</a:t>
            </a:fld>
            <a:endParaRPr lang="pt-PT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2D2114-D894-4588-B273-04D13E4847E0}" type="slidenum">
              <a:rPr lang="pt-PT"/>
              <a:pPr/>
              <a:t>10</a:t>
            </a:fld>
            <a:endParaRPr lang="pt-PT"/>
          </a:p>
        </p:txBody>
      </p:sp>
      <p:sp>
        <p:nvSpPr>
          <p:cNvPr id="358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A4217C-711F-41EF-BB56-6596DF19E204}" type="slidenum">
              <a:rPr lang="pt-PT"/>
              <a:pPr/>
              <a:t>11</a:t>
            </a:fld>
            <a:endParaRPr lang="pt-PT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4538C5-097B-44A4-898D-62B532194A13}" type="slidenum">
              <a:rPr lang="pt-PT"/>
              <a:pPr/>
              <a:t>12</a:t>
            </a:fld>
            <a:endParaRPr lang="pt-PT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0241F9-DFB2-4FFF-9209-AAC4994FBE95}" type="slidenum">
              <a:rPr lang="pt-PT"/>
              <a:pPr/>
              <a:t>13</a:t>
            </a:fld>
            <a:endParaRPr lang="pt-PT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02A7B2-A234-43C6-B644-17A8532033DC}" type="slidenum">
              <a:rPr lang="pt-PT"/>
              <a:pPr/>
              <a:t>14</a:t>
            </a:fld>
            <a:endParaRPr lang="pt-PT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91466D-9A20-4B30-AE50-97E9A562A125}" type="slidenum">
              <a:rPr lang="pt-PT"/>
              <a:pPr/>
              <a:t>15</a:t>
            </a:fld>
            <a:endParaRPr lang="pt-PT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3F71D8-F5DD-43B7-B1D3-02FAF471C404}" type="slidenum">
              <a:rPr lang="pt-PT"/>
              <a:pPr/>
              <a:t>16</a:t>
            </a:fld>
            <a:endParaRPr lang="pt-PT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828D5E-E124-4B6D-A216-5BE8C8480B87}" type="slidenum">
              <a:rPr lang="pt-PT"/>
              <a:pPr/>
              <a:t>17</a:t>
            </a:fld>
            <a:endParaRPr lang="pt-PT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PT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PT" smtClean="0"/>
              <a:t>Faça clique para editar o estilo</a:t>
            </a:r>
            <a:endParaRPr kumimoji="0" lang="en-US"/>
          </a:p>
        </p:txBody>
      </p:sp>
      <p:sp>
        <p:nvSpPr>
          <p:cNvPr id="30" name="Marcador de Posição d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E6763F-F860-47D8-AF86-86470FF799C4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19" name="Marcador de Posição do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27" name="Marcador de Posição do Número do Diapositivo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39C61A-6B7F-4A62-A2FD-290958602051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7F01A5-363D-4922-8BD2-9412AB6A60B6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6B2A-FF4C-4260-ACAD-BBE26B4394CD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38F8B0-F71B-4199-9FC3-CAF1036D6668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FF2532-DEA5-4FF0-845F-813EB3A04F5F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78FC11-D714-45E7-9B7F-6BC9D773C02F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C1D1D6-9055-45B5-9136-5A0B3F426379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5" name="Marcador de Posição de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EB14A8-61B1-4469-BB2B-C5D276F2834B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3D9BB2-7918-4788-ADD5-EE81E039270D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40590-FBEE-44D0-815C-5470D8DFE68B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1B5FAC-6B2B-479A-9042-EA8E1346CE34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8CBBC1-5318-4BCA-BF4D-5ACD02F9EE04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E0EFD-A41B-48D3-95FA-6D037912E566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F16A7C-CB50-4ECD-895B-8361A2A17C03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11054-F2CC-44CB-AD61-3023574D46A7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rtar e Arredondar Rectângulo de Canto Simples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c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8AAB24-445C-462B-80D6-875B9045239F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BBB88BA6-8601-4A17-9D57-A6DE5C9BA526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PT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4756CA-FE61-48F5-B5C0-C83B40201B42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25D043-0A56-421F-A355-D68147EDABA6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C5221B-CB74-4C99-8007-612B2FCE74BC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778BCC-6561-45B3-A975-D8C40733AB8C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001000" cy="83820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4648200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Gráfico 3"/>
          <p:cNvSpPr>
            <a:spLocks noGrp="1"/>
          </p:cNvSpPr>
          <p:nvPr>
            <p:ph type="chart" sz="half" idx="2"/>
          </p:nvPr>
        </p:nvSpPr>
        <p:spPr>
          <a:xfrm>
            <a:off x="4648200" y="1295400"/>
            <a:ext cx="3810000" cy="4648200"/>
          </a:xfrm>
        </p:spPr>
        <p:txBody>
          <a:bodyPr/>
          <a:lstStyle/>
          <a:p>
            <a:pPr lvl="0"/>
            <a:endParaRPr lang="pt-PT" noProof="0" smtClean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F7E67-CB3E-46D7-948C-800CCE4489F3}" type="datetime1">
              <a:rPr lang="pt-PT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MINIMAL</a:t>
            </a: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41BE8-798B-4090-A886-496598630D62}" type="slidenum">
              <a:rPr lang="pt-PT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Clip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001000" cy="83820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ClipArt 2"/>
          <p:cNvSpPr>
            <a:spLocks noGrp="1"/>
          </p:cNvSpPr>
          <p:nvPr>
            <p:ph type="clipArt" sz="half" idx="1"/>
          </p:nvPr>
        </p:nvSpPr>
        <p:spPr>
          <a:xfrm>
            <a:off x="685800" y="1295400"/>
            <a:ext cx="3810000" cy="4648200"/>
          </a:xfrm>
        </p:spPr>
        <p:txBody>
          <a:bodyPr/>
          <a:lstStyle/>
          <a:p>
            <a:pPr lvl="0"/>
            <a:endParaRPr lang="pt-PT" noProof="0" smtClean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648200" y="1295400"/>
            <a:ext cx="3810000" cy="4648200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37357-1EC8-4331-8B83-018BF403B6D3}" type="datetime1">
              <a:rPr lang="pt-PT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MINIMAL</a:t>
            </a: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4E407-CF1D-4AAA-9064-2BC144830A11}" type="slidenum">
              <a:rPr lang="pt-PT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001000" cy="83820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4648200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ClipArt 3"/>
          <p:cNvSpPr>
            <a:spLocks noGrp="1"/>
          </p:cNvSpPr>
          <p:nvPr>
            <p:ph type="clipArt" sz="half" idx="2"/>
          </p:nvPr>
        </p:nvSpPr>
        <p:spPr>
          <a:xfrm>
            <a:off x="4648200" y="1295400"/>
            <a:ext cx="3810000" cy="4648200"/>
          </a:xfrm>
        </p:spPr>
        <p:txBody>
          <a:bodyPr/>
          <a:lstStyle/>
          <a:p>
            <a:pPr lvl="0"/>
            <a:endParaRPr lang="pt-PT" noProof="0" smtClean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F3E2A-058F-4B64-BA44-014576409D1F}" type="datetime1">
              <a:rPr lang="pt-PT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MINIMAL</a:t>
            </a: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4DBA3-1DDD-4518-965E-30D8550A1E04}" type="slidenum">
              <a:rPr lang="pt-PT"/>
              <a:pPr>
                <a:defRPr/>
              </a:pPr>
              <a:t>‹nº›</a:t>
            </a:fld>
            <a:endParaRPr lang="pt-PT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Marcador de Posição do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0" name="Marcador de Posição do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PT" smtClean="0"/>
              <a:t>Clique para editar os estilos</a:t>
            </a:r>
          </a:p>
          <a:p>
            <a:pPr lvl="1" eaLnBrk="1" latinLnBrk="0" hangingPunct="1"/>
            <a:r>
              <a:rPr kumimoji="0" lang="pt-PT" smtClean="0"/>
              <a:t>Segundo nível</a:t>
            </a:r>
          </a:p>
          <a:p>
            <a:pPr lvl="2" eaLnBrk="1" latinLnBrk="0" hangingPunct="1"/>
            <a:r>
              <a:rPr kumimoji="0" lang="pt-PT" smtClean="0"/>
              <a:t>Terceiro nível</a:t>
            </a:r>
          </a:p>
          <a:p>
            <a:pPr lvl="3" eaLnBrk="1" latinLnBrk="0" hangingPunct="1"/>
            <a:r>
              <a:rPr kumimoji="0" lang="pt-PT" smtClean="0"/>
              <a:t>Quarto nível</a:t>
            </a:r>
          </a:p>
          <a:p>
            <a:pPr lvl="4" eaLnBrk="1" latinLnBrk="0" hangingPunct="1"/>
            <a:r>
              <a:rPr kumimoji="0" lang="pt-PT" smtClean="0"/>
              <a:t>Quinto nível</a:t>
            </a:r>
            <a:endParaRPr kumimoji="0" lang="en-US"/>
          </a:p>
        </p:txBody>
      </p:sp>
      <p:sp>
        <p:nvSpPr>
          <p:cNvPr id="10" name="Marcador de Posição d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B6264A19-DA68-4082-9CBF-50AA019DDDD8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22" name="Marcador de Posição do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pt-PT" smtClean="0"/>
              <a:t>MINIMAL</a:t>
            </a:r>
            <a:endParaRPr lang="pt-PT"/>
          </a:p>
        </p:txBody>
      </p:sp>
      <p:sp>
        <p:nvSpPr>
          <p:cNvPr id="18" name="Marcador de Posição do Número do Diapositivo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91963AC8-4202-45F2-9CFC-1BBDAF587347}" type="slidenum">
              <a:rPr lang="pt-PT" smtClean="0"/>
              <a:pPr>
                <a:defRPr/>
              </a:pPr>
              <a:t>‹nº›</a:t>
            </a:fld>
            <a:endParaRPr lang="pt-PT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ransition spd="med"/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Folha_de_C_lculo_do_Microsoft_Office_Excel_97-20033.xls"/><Relationship Id="rId5" Type="http://schemas.openxmlformats.org/officeDocument/2006/relationships/oleObject" Target="../embeddings/Documento_do_Microsoft_Office_Word_97_-_20032.doc"/><Relationship Id="rId4" Type="http://schemas.openxmlformats.org/officeDocument/2006/relationships/oleObject" Target="../embeddings/Documento_do_Microsoft_Office_Word_97_-_20031.doc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Documento_do_Microsoft_Office_Word_97_-_20035.doc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Documento_do_Microsoft_Office_Word_97_-_20034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oleObject" Target="file:///F:\00%20LACIE%2020120127\ZARQUIVO\LojaCidadao\99DEMRLojaCid.xls" TargetMode="External"/><Relationship Id="rId5" Type="http://schemas.openxmlformats.org/officeDocument/2006/relationships/oleObject" Target="file:///F:\00%20LACIE%2020120127\ZARQUIVO\LojaCidadao\99BalancoLojaCid_3.xls" TargetMode="External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Folha_de_C_lculo_do_Microsoft_Office_Excel_97-20037.xls"/><Relationship Id="rId4" Type="http://schemas.openxmlformats.org/officeDocument/2006/relationships/oleObject" Target="../embeddings/Folha_de_C_lculo_do_Microsoft_Office_Excel_97-20036.xls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92250"/>
            <a:ext cx="7696200" cy="793750"/>
          </a:xfrm>
          <a:noFill/>
        </p:spPr>
        <p:txBody>
          <a:bodyPr lIns="92075" tIns="92075" rIns="92075" bIns="92075" anchor="b" anchorCtr="0">
            <a:spAutoFit/>
          </a:bodyPr>
          <a:lstStyle/>
          <a:p>
            <a:pPr algn="ctr" eaLnBrk="1" hangingPunct="1"/>
            <a:r>
              <a:rPr lang="pt-PT" dirty="0" smtClean="0"/>
              <a:t>Contabilidade Pública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3068960"/>
            <a:ext cx="8229600" cy="1512168"/>
          </a:xfrm>
          <a:noFill/>
        </p:spPr>
        <p:txBody>
          <a:bodyPr/>
          <a:lstStyle/>
          <a:p>
            <a:pPr eaLnBrk="1" hangingPunct="1"/>
            <a:r>
              <a:rPr lang="pt-PT" dirty="0" smtClean="0"/>
              <a:t>A Reforma da Administração Financeira do Estado</a:t>
            </a:r>
          </a:p>
          <a:p>
            <a:pPr eaLnBrk="1" hangingPunct="1"/>
            <a:r>
              <a:rPr lang="pt-PT" dirty="0" smtClean="0"/>
              <a:t>RAFE</a:t>
            </a:r>
          </a:p>
          <a:p>
            <a:pPr eaLnBrk="1" hangingPunct="1"/>
            <a:endParaRPr lang="pt-PT" dirty="0" smtClean="0"/>
          </a:p>
        </p:txBody>
      </p:sp>
      <p:sp>
        <p:nvSpPr>
          <p:cNvPr id="9218" name="Rectangle 1040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A1E35092-3337-4F4B-B534-5E1B61CC37BF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9219" name="Rectangle 1041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9220" name="Rectangle 1042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AEE97D-599B-4D8C-A744-16AB57F713AE}" type="slidenum">
              <a:rPr lang="pt-PT"/>
              <a:pPr/>
              <a:t>1</a:t>
            </a:fld>
            <a:endParaRPr lang="pt-PT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3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3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build="p" autoUpdateAnimBg="0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715343"/>
            <a:ext cx="7482408" cy="769441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dirty="0" smtClean="0"/>
              <a:t>RAFE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04864"/>
            <a:ext cx="7848600" cy="3456384"/>
          </a:xfrm>
          <a:noFill/>
        </p:spPr>
        <p:txBody>
          <a:bodyPr lIns="92075" tIns="46038" rIns="92075" bIns="46038"/>
          <a:lstStyle/>
          <a:p>
            <a:pPr eaLnBrk="1" hangingPunct="1">
              <a:buFontTx/>
              <a:buBlip>
                <a:blip r:embed="rId3"/>
              </a:buBlip>
            </a:pPr>
            <a:r>
              <a:rPr lang="pt-PT" sz="2800" dirty="0" smtClean="0"/>
              <a:t>A reforma da contabilidade pública iniciou-se em 1990 com a Lei 8/90, de 20 de Setembro,  - “Lei de bases da Contabilidade Pública”, que estatuiu as bases contabilisticas e os regimes aplicáveis</a:t>
            </a:r>
          </a:p>
          <a:p>
            <a:pPr eaLnBrk="1" hangingPunct="1">
              <a:buFontTx/>
              <a:buNone/>
            </a:pPr>
            <a:endParaRPr lang="pt-PT" sz="2000" dirty="0" smtClean="0"/>
          </a:p>
        </p:txBody>
      </p:sp>
      <p:sp>
        <p:nvSpPr>
          <p:cNvPr id="10242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9676769A-D7E4-4AFD-BE69-1F3886C6E756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0243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0244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B0D469-9FCB-4411-9AFB-207D83610A90}" type="slidenum">
              <a:rPr lang="pt-PT"/>
              <a:pPr/>
              <a:t>2</a:t>
            </a:fld>
            <a:endParaRPr lang="pt-PT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693420"/>
            <a:ext cx="7266384" cy="492443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3200" dirty="0" smtClean="0"/>
              <a:t>RAFE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412776"/>
            <a:ext cx="7848872" cy="4968552"/>
          </a:xfrm>
          <a:noFill/>
        </p:spPr>
        <p:txBody>
          <a:bodyPr lIns="92075" tIns="46038" rIns="92075" bIns="46038"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PT" sz="2400" dirty="0" smtClean="0"/>
              <a:t>A realização e o pagamento das despesas deixaram de estar sujeitas ao sistema da autorização prévia da </a:t>
            </a:r>
            <a:r>
              <a:rPr lang="pt-PT" sz="2400" dirty="0" smtClean="0"/>
              <a:t>Direção </a:t>
            </a:r>
            <a:r>
              <a:rPr lang="pt-PT" sz="2400" dirty="0" smtClean="0"/>
              <a:t>Geral da Contabilidade Pública, conferindo-se maior autonomia aos organismos da administração pública.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PT" sz="2400" dirty="0" smtClean="0"/>
              <a:t>O regime financeiro da administração central passa a ter duas configurações básicas: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Blip>
                <a:blip r:embed="rId3"/>
              </a:buBlip>
            </a:pPr>
            <a:r>
              <a:rPr lang="pt-PT" sz="2400" dirty="0" smtClean="0"/>
              <a:t>Autonomia administrativa como regime geral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Blip>
                <a:blip r:embed="rId4"/>
              </a:buBlip>
            </a:pPr>
            <a:r>
              <a:rPr lang="pt-PT" sz="2400" dirty="0" smtClean="0"/>
              <a:t>Autonomia administrativa e financeira como regime </a:t>
            </a:r>
            <a:r>
              <a:rPr lang="pt-PT" sz="2400" dirty="0" smtClean="0"/>
              <a:t>excecional</a:t>
            </a:r>
            <a:endParaRPr lang="pt-PT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PT" sz="2400" dirty="0" smtClean="0"/>
              <a:t>Introdução de dois sistemas de contabilidade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Blip>
                <a:blip r:embed="rId3"/>
              </a:buBlip>
            </a:pPr>
            <a:r>
              <a:rPr lang="pt-PT" sz="2400" dirty="0" err="1" smtClean="0"/>
              <a:t>Unigráfico</a:t>
            </a:r>
            <a:endParaRPr lang="pt-PT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Blip>
                <a:blip r:embed="rId4"/>
              </a:buBlip>
            </a:pPr>
            <a:r>
              <a:rPr lang="pt-PT" sz="2400" dirty="0" smtClean="0"/>
              <a:t>Digráfico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pt-PT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Blip>
                <a:blip r:embed="rId4"/>
              </a:buBlip>
            </a:pPr>
            <a:endParaRPr lang="pt-PT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PT" sz="2400" dirty="0" smtClean="0"/>
          </a:p>
        </p:txBody>
      </p:sp>
      <p:sp>
        <p:nvSpPr>
          <p:cNvPr id="11266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E8B7B8BA-8D77-4B8C-836A-ED68FD79A10E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1267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1268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C78F3F-253C-4CDE-A3EE-D110B59A0DA6}" type="slidenum">
              <a:rPr lang="pt-PT"/>
              <a:pPr/>
              <a:t>3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1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725215"/>
            <a:ext cx="7999040" cy="615553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4000" dirty="0" smtClean="0"/>
              <a:t>Legislação de base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824"/>
            <a:ext cx="4690864" cy="4176464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pt-PT" sz="2800" dirty="0" smtClean="0"/>
              <a:t>8/90, de 20 de Fevereiro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6/91, de 20 de Fevereiro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155/92, de 28 de Julho</a:t>
            </a:r>
          </a:p>
          <a:p>
            <a:pPr eaLnBrk="1" hangingPunct="1"/>
            <a:endParaRPr lang="pt-PT" sz="2800" dirty="0" smtClean="0"/>
          </a:p>
          <a:p>
            <a:pPr eaLnBrk="1" hangingPunct="1"/>
            <a:r>
              <a:rPr lang="pt-PT" sz="2800" dirty="0" smtClean="0"/>
              <a:t>232/97, de 3 de Setembro (POCP)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</p:txBody>
      </p:sp>
      <p:sp>
        <p:nvSpPr>
          <p:cNvPr id="12290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F56B9956-379E-41BB-A13A-ED245598ACF5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2291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2292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488DC3-D7A2-44DA-9035-89CDDA75598A}" type="slidenum">
              <a:rPr lang="pt-PT"/>
              <a:pPr/>
              <a:t>4</a:t>
            </a:fld>
            <a:endParaRPr lang="pt-PT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029200" y="1828800"/>
            <a:ext cx="3794125" cy="3962400"/>
            <a:chOff x="2544" y="912"/>
            <a:chExt cx="1958" cy="1766"/>
          </a:xfrm>
        </p:grpSpPr>
        <p:sp>
          <p:nvSpPr>
            <p:cNvPr id="12296" name="PyramidChart 1;Item 4"/>
            <p:cNvSpPr>
              <a:spLocks noChangeAspect="1" noChangeArrowheads="1"/>
            </p:cNvSpPr>
            <p:nvPr/>
          </p:nvSpPr>
          <p:spPr bwMode="auto">
            <a:xfrm flipV="1">
              <a:off x="2544" y="2237"/>
              <a:ext cx="1958" cy="441"/>
            </a:xfrm>
            <a:custGeom>
              <a:avLst/>
              <a:gdLst>
                <a:gd name="T0" fmla="*/ 1836 w 21600"/>
                <a:gd name="T1" fmla="*/ 221 h 21600"/>
                <a:gd name="T2" fmla="*/ 979 w 21600"/>
                <a:gd name="T3" fmla="*/ 441 h 21600"/>
                <a:gd name="T4" fmla="*/ 122 w 21600"/>
                <a:gd name="T5" fmla="*/ 221 h 21600"/>
                <a:gd name="T6" fmla="*/ 97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55 w 21600"/>
                <a:gd name="T13" fmla="*/ 3135 h 21600"/>
                <a:gd name="T14" fmla="*/ 18445 w 21600"/>
                <a:gd name="T15" fmla="*/ 1846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00" y="21600"/>
                  </a:lnTo>
                  <a:lnTo>
                    <a:pt x="189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 anchorCtr="1"/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pt-PT" sz="1600">
                  <a:latin typeface="Arial" charset="0"/>
                </a:rPr>
                <a:t>232/97  POCP</a:t>
              </a:r>
            </a:p>
          </p:txBody>
        </p:sp>
        <p:sp>
          <p:nvSpPr>
            <p:cNvPr id="12297" name="PyramidChart 1;Item 3"/>
            <p:cNvSpPr>
              <a:spLocks noChangeAspect="1" noChangeArrowheads="1"/>
            </p:cNvSpPr>
            <p:nvPr/>
          </p:nvSpPr>
          <p:spPr bwMode="blackWhite">
            <a:xfrm flipV="1">
              <a:off x="2789" y="1795"/>
              <a:ext cx="1468" cy="442"/>
            </a:xfrm>
            <a:custGeom>
              <a:avLst/>
              <a:gdLst>
                <a:gd name="T0" fmla="*/ 1346 w 21600"/>
                <a:gd name="T1" fmla="*/ 221 h 21600"/>
                <a:gd name="T2" fmla="*/ 734 w 21600"/>
                <a:gd name="T3" fmla="*/ 442 h 21600"/>
                <a:gd name="T4" fmla="*/ 122 w 21600"/>
                <a:gd name="T5" fmla="*/ 221 h 21600"/>
                <a:gd name="T6" fmla="*/ 7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605 w 21600"/>
                <a:gd name="T13" fmla="*/ 3616 h 21600"/>
                <a:gd name="T14" fmla="*/ 17995 w 21600"/>
                <a:gd name="T15" fmla="*/ 179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00" y="21600"/>
                  </a:lnTo>
                  <a:lnTo>
                    <a:pt x="180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 anchorCtr="1"/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pt-PT" sz="1600">
                  <a:latin typeface="Arial" charset="0"/>
                </a:rPr>
                <a:t>155/92</a:t>
              </a:r>
            </a:p>
          </p:txBody>
        </p:sp>
        <p:sp>
          <p:nvSpPr>
            <p:cNvPr id="12298" name="PyramidChart 1;Item 2"/>
            <p:cNvSpPr>
              <a:spLocks noChangeAspect="1" noChangeArrowheads="1"/>
            </p:cNvSpPr>
            <p:nvPr/>
          </p:nvSpPr>
          <p:spPr bwMode="auto">
            <a:xfrm flipV="1">
              <a:off x="3033" y="1354"/>
              <a:ext cx="978" cy="440"/>
            </a:xfrm>
            <a:custGeom>
              <a:avLst/>
              <a:gdLst>
                <a:gd name="T0" fmla="*/ 856 w 21600"/>
                <a:gd name="T1" fmla="*/ 220 h 21600"/>
                <a:gd name="T2" fmla="*/ 489 w 21600"/>
                <a:gd name="T3" fmla="*/ 440 h 21600"/>
                <a:gd name="T4" fmla="*/ 122 w 21600"/>
                <a:gd name="T5" fmla="*/ 220 h 21600"/>
                <a:gd name="T6" fmla="*/ 48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6 w 21600"/>
                <a:gd name="T13" fmla="*/ 4516 h 21600"/>
                <a:gd name="T14" fmla="*/ 17094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 anchorCtr="1"/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pt-PT" sz="1600">
                  <a:latin typeface="Arial" charset="0"/>
                </a:rPr>
                <a:t>6/91</a:t>
              </a:r>
            </a:p>
          </p:txBody>
        </p:sp>
        <p:sp>
          <p:nvSpPr>
            <p:cNvPr id="12299" name="PyramidChart 1;Item 1"/>
            <p:cNvSpPr>
              <a:spLocks noChangeAspect="1" noChangeArrowheads="1"/>
            </p:cNvSpPr>
            <p:nvPr/>
          </p:nvSpPr>
          <p:spPr bwMode="auto">
            <a:xfrm flipV="1">
              <a:off x="3278" y="912"/>
              <a:ext cx="490" cy="442"/>
            </a:xfrm>
            <a:custGeom>
              <a:avLst/>
              <a:gdLst>
                <a:gd name="T0" fmla="*/ 367 w 21600"/>
                <a:gd name="T1" fmla="*/ 221 h 21600"/>
                <a:gd name="T2" fmla="*/ 245 w 21600"/>
                <a:gd name="T3" fmla="*/ 442 h 21600"/>
                <a:gd name="T4" fmla="*/ 123 w 21600"/>
                <a:gd name="T5" fmla="*/ 221 h 21600"/>
                <a:gd name="T6" fmla="*/ 24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185 w 21600"/>
                <a:gd name="T13" fmla="*/ 7184 h 21600"/>
                <a:gd name="T14" fmla="*/ 14415 w 21600"/>
                <a:gd name="T15" fmla="*/ 144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 anchorCtr="1"/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pt-PT" sz="1600">
                  <a:latin typeface="Arial" charset="0"/>
                </a:rPr>
                <a:t>8/90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utoUpdateAnimBg="0"/>
      <p:bldP spid="66563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704088"/>
            <a:ext cx="7859216" cy="780696"/>
          </a:xfrm>
        </p:spPr>
        <p:txBody>
          <a:bodyPr>
            <a:normAutofit/>
          </a:bodyPr>
          <a:lstStyle/>
          <a:p>
            <a:pPr eaLnBrk="1" hangingPunct="1"/>
            <a:r>
              <a:rPr lang="pt-PT" sz="4000" dirty="0" smtClean="0"/>
              <a:t>Lei 6/91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16832"/>
            <a:ext cx="7848600" cy="4255368"/>
          </a:xfrm>
        </p:spPr>
        <p:txBody>
          <a:bodyPr>
            <a:normAutofit/>
          </a:bodyPr>
          <a:lstStyle/>
          <a:p>
            <a:pPr eaLnBrk="1" hangingPunct="1"/>
            <a:r>
              <a:rPr lang="pt-PT" dirty="0" smtClean="0"/>
              <a:t>Prevê que a fiscalização administrativa da execução orçamental, compete:</a:t>
            </a:r>
          </a:p>
          <a:p>
            <a:pPr lvl="1" eaLnBrk="1" hangingPunct="1"/>
            <a:r>
              <a:rPr lang="pt-PT" sz="2600" dirty="0" smtClean="0"/>
              <a:t>à própria entidade responsável pela gestão e execução orçamental;</a:t>
            </a:r>
          </a:p>
          <a:p>
            <a:pPr lvl="1" eaLnBrk="1" hangingPunct="1"/>
            <a:r>
              <a:rPr lang="pt-PT" sz="2600" dirty="0" smtClean="0"/>
              <a:t>às entidades hierarquicamente superiores e de tutela;</a:t>
            </a:r>
          </a:p>
          <a:p>
            <a:pPr lvl="1" eaLnBrk="1" hangingPunct="1"/>
            <a:r>
              <a:rPr lang="pt-PT" sz="2600" dirty="0" smtClean="0"/>
              <a:t>aos órgãos gerais de </a:t>
            </a:r>
            <a:r>
              <a:rPr lang="pt-PT" sz="2600" dirty="0" smtClean="0"/>
              <a:t>inspeção </a:t>
            </a:r>
            <a:r>
              <a:rPr lang="pt-PT" sz="2600" dirty="0" smtClean="0"/>
              <a:t>e controlo Administrativo;</a:t>
            </a:r>
          </a:p>
          <a:p>
            <a:pPr lvl="1" eaLnBrk="1" hangingPunct="1"/>
            <a:r>
              <a:rPr lang="pt-PT" sz="2600" dirty="0" smtClean="0"/>
              <a:t>Aos serviços de contabilidade pública.</a:t>
            </a:r>
          </a:p>
        </p:txBody>
      </p:sp>
      <p:sp>
        <p:nvSpPr>
          <p:cNvPr id="13314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556E45-54AE-487A-B1E0-74A1EC98BCB0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3315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331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29BEDF-1561-4830-B6BC-40D2CE1E86A2}" type="slidenum">
              <a:rPr lang="pt-PT"/>
              <a:pPr/>
              <a:t>5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59" grpId="0" build="p" autoUpdateAnimBg="0" advAuto="800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704088"/>
            <a:ext cx="7715200" cy="708688"/>
          </a:xfrm>
        </p:spPr>
        <p:txBody>
          <a:bodyPr>
            <a:normAutofit/>
          </a:bodyPr>
          <a:lstStyle/>
          <a:p>
            <a:pPr eaLnBrk="1" hangingPunct="1"/>
            <a:r>
              <a:rPr lang="pt-PT" sz="4000" dirty="0" smtClean="0"/>
              <a:t>Dec. Lei 155/92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2204864"/>
            <a:ext cx="7859216" cy="4119736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pt-PT" dirty="0" smtClean="0"/>
              <a:t>Contém as bases da Contabilidade Pública (8/90) e define as regras orientadoras do Novo Regime de Administração Financeira do Estado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endParaRPr lang="pt-PT" dirty="0" smtClean="0"/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pt-PT" dirty="0" smtClean="0"/>
              <a:t>Os organismos autónomos utilizarão um sistema de contabilidade que se enquadre no POC-Plano Oficial de Contabilidade</a:t>
            </a:r>
          </a:p>
          <a:p>
            <a:pPr eaLnBrk="1" hangingPunct="1">
              <a:lnSpc>
                <a:spcPct val="90000"/>
              </a:lnSpc>
            </a:pPr>
            <a:endParaRPr lang="pt-PT" dirty="0" smtClean="0"/>
          </a:p>
          <a:p>
            <a:pPr lvl="1" eaLnBrk="1" hangingPunct="1">
              <a:lnSpc>
                <a:spcPct val="90000"/>
              </a:lnSpc>
            </a:pPr>
            <a:endParaRPr lang="pt-PT" dirty="0" smtClean="0"/>
          </a:p>
        </p:txBody>
      </p:sp>
      <p:sp>
        <p:nvSpPr>
          <p:cNvPr id="14338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0AFC8741-09E1-4803-BB4B-AA65F20E092B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4339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4340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F79AD3-5430-42FB-BFC3-012E1D2B40D1}" type="slidenum">
              <a:rPr lang="pt-PT"/>
              <a:pPr/>
              <a:t>6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  <p:bldP spid="97283" grpId="0" build="p" autoUpdateAnimBg="0" advAuto="8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53207"/>
            <a:ext cx="7776864" cy="615553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4000" dirty="0" smtClean="0"/>
              <a:t>Planos de Contabilidade Pública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868144" y="1268760"/>
            <a:ext cx="2958480" cy="4968552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 eaLnBrk="1" hangingPunct="1"/>
            <a:r>
              <a:rPr lang="pt-PT" sz="2800" dirty="0" smtClean="0"/>
              <a:t>POCP</a:t>
            </a:r>
          </a:p>
          <a:p>
            <a:pPr eaLnBrk="1" hangingPunct="1"/>
            <a:endParaRPr lang="pt-PT" sz="2800" dirty="0" smtClean="0"/>
          </a:p>
          <a:p>
            <a:pPr eaLnBrk="1" hangingPunct="1">
              <a:buFontTx/>
              <a:buNone/>
            </a:pPr>
            <a:r>
              <a:rPr lang="pt-PT" sz="2800" dirty="0" smtClean="0"/>
              <a:t>Planos setoriais</a:t>
            </a:r>
          </a:p>
          <a:p>
            <a:pPr eaLnBrk="1" hangingPunct="1"/>
            <a:r>
              <a:rPr lang="pt-PT" sz="2800" dirty="0" smtClean="0"/>
              <a:t>POCEDU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POCAL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POCMS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POCISS</a:t>
            </a:r>
          </a:p>
        </p:txBody>
      </p:sp>
      <p:sp>
        <p:nvSpPr>
          <p:cNvPr id="15362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F1798FA-D347-46FB-B24C-66173F1F8477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5363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5364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6CA139-E7E4-41F4-9D8F-5C59CE3B2728}" type="slidenum">
              <a:rPr lang="pt-PT"/>
              <a:pPr/>
              <a:t>7</a:t>
            </a:fld>
            <a:endParaRPr lang="pt-PT"/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1619672" y="2852936"/>
            <a:ext cx="1800200" cy="122413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endParaRPr lang="pt-PT" sz="2400" b="1" dirty="0" smtClean="0">
              <a:solidFill>
                <a:schemeClr val="bg1"/>
              </a:solidFill>
              <a:latin typeface="Arial" charset="0"/>
            </a:endParaRPr>
          </a:p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2400" b="1" dirty="0" smtClean="0">
                <a:solidFill>
                  <a:schemeClr val="bg1"/>
                </a:solidFill>
                <a:latin typeface="Arial" charset="0"/>
              </a:rPr>
              <a:t>POCP</a:t>
            </a:r>
            <a:endParaRPr lang="pt-PT" sz="2400" b="1" dirty="0">
              <a:solidFill>
                <a:schemeClr val="bg1"/>
              </a:solidFill>
              <a:latin typeface="Arial" charset="0"/>
            </a:endParaRPr>
          </a:p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2400" b="1" dirty="0">
                <a:solidFill>
                  <a:schemeClr val="bg1"/>
                </a:solidFill>
                <a:latin typeface="Arial" charset="0"/>
              </a:rPr>
              <a:t>232/97</a:t>
            </a:r>
          </a:p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endParaRPr lang="pt-PT" sz="2400" b="1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381000" y="1905000"/>
            <a:ext cx="1128713" cy="7651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1800" b="1" dirty="0">
                <a:latin typeface="Arial" charset="0"/>
              </a:rPr>
              <a:t>POCEDU</a:t>
            </a:r>
            <a:endParaRPr lang="pt-PT" sz="1800" dirty="0">
              <a:latin typeface="Arial" charset="0"/>
            </a:endParaRP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3505200" y="1905000"/>
            <a:ext cx="1052513" cy="7731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1800" b="1" dirty="0">
                <a:latin typeface="Arial" charset="0"/>
              </a:rPr>
              <a:t>POCAL</a:t>
            </a:r>
            <a:endParaRPr lang="pt-PT" sz="1800" dirty="0">
              <a:latin typeface="Arial" charset="0"/>
            </a:endParaRP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914400" y="4648200"/>
            <a:ext cx="1219200" cy="822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1800" b="1">
                <a:latin typeface="Arial" charset="0"/>
              </a:rPr>
              <a:t>POCISS</a:t>
            </a:r>
            <a:endParaRPr lang="pt-PT" sz="1800">
              <a:latin typeface="Arial" charset="0"/>
            </a:endParaRPr>
          </a:p>
        </p:txBody>
      </p:sp>
      <p:cxnSp>
        <p:nvCxnSpPr>
          <p:cNvPr id="40968" name="AutoShape 8"/>
          <p:cNvCxnSpPr>
            <a:cxnSpLocks noChangeShapeType="1"/>
          </p:cNvCxnSpPr>
          <p:nvPr/>
        </p:nvCxnSpPr>
        <p:spPr bwMode="auto">
          <a:xfrm flipV="1">
            <a:off x="3106738" y="2565400"/>
            <a:ext cx="552450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69" name="AutoShape 9"/>
          <p:cNvCxnSpPr>
            <a:cxnSpLocks noChangeShapeType="1"/>
          </p:cNvCxnSpPr>
          <p:nvPr/>
        </p:nvCxnSpPr>
        <p:spPr bwMode="auto">
          <a:xfrm flipH="1" flipV="1">
            <a:off x="1344613" y="2557463"/>
            <a:ext cx="419075" cy="5114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0" name="AutoShape 10"/>
          <p:cNvCxnSpPr>
            <a:cxnSpLocks noChangeShapeType="1"/>
            <a:stCxn id="40967" idx="0"/>
          </p:cNvCxnSpPr>
          <p:nvPr/>
        </p:nvCxnSpPr>
        <p:spPr bwMode="auto">
          <a:xfrm flipV="1">
            <a:off x="1524000" y="4005064"/>
            <a:ext cx="527720" cy="6431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3733800" y="4343400"/>
            <a:ext cx="1052513" cy="7731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pt-PT" sz="1800" b="1">
                <a:latin typeface="Arial" charset="0"/>
              </a:rPr>
              <a:t>POCMS</a:t>
            </a:r>
            <a:endParaRPr lang="pt-PT" sz="1800">
              <a:latin typeface="Arial" charset="0"/>
            </a:endParaRPr>
          </a:p>
        </p:txBody>
      </p:sp>
      <p:cxnSp>
        <p:nvCxnSpPr>
          <p:cNvPr id="40972" name="AutoShape 12"/>
          <p:cNvCxnSpPr>
            <a:cxnSpLocks noChangeShapeType="1"/>
            <a:stCxn id="40964" idx="5"/>
          </p:cNvCxnSpPr>
          <p:nvPr/>
        </p:nvCxnSpPr>
        <p:spPr bwMode="auto">
          <a:xfrm>
            <a:off x="3156239" y="3897802"/>
            <a:ext cx="655349" cy="63451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build="p" autoUpdateAnimBg="0" advAuto="0"/>
      <p:bldP spid="40964" grpId="0" animBg="1" autoUpdateAnimBg="0"/>
      <p:bldP spid="40965" grpId="0" animBg="1" autoUpdateAnimBg="0"/>
      <p:bldP spid="40966" grpId="0" animBg="1" autoUpdateAnimBg="0"/>
      <p:bldP spid="40967" grpId="0" animBg="1" autoUpdateAnimBg="0"/>
      <p:bldP spid="40971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764704"/>
            <a:ext cx="7859216" cy="1082384"/>
          </a:xfrm>
        </p:spPr>
        <p:txBody>
          <a:bodyPr>
            <a:noAutofit/>
          </a:bodyPr>
          <a:lstStyle/>
          <a:p>
            <a:pPr eaLnBrk="1" hangingPunct="1"/>
            <a:r>
              <a:rPr lang="pt-PT" sz="4000" dirty="0" smtClean="0"/>
              <a:t>Objetivos da Contabilidade Pública (desde 1997)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916832"/>
            <a:ext cx="7702624" cy="4464496"/>
          </a:xfrm>
        </p:spPr>
        <p:txBody>
          <a:bodyPr>
            <a:normAutofit/>
          </a:bodyPr>
          <a:lstStyle/>
          <a:p>
            <a:pPr eaLnBrk="1" hangingPunct="1"/>
            <a:r>
              <a:rPr lang="pt-PT" sz="2800" dirty="0" smtClean="0"/>
              <a:t>Análise da situação económica, financeira e patrimonial da Entidade contabilística</a:t>
            </a:r>
          </a:p>
          <a:p>
            <a:pPr eaLnBrk="1" hangingPunct="1">
              <a:buFontTx/>
              <a:buNone/>
            </a:pPr>
            <a:endParaRPr lang="pt-PT" sz="1000" dirty="0" smtClean="0"/>
          </a:p>
          <a:p>
            <a:pPr eaLnBrk="1" hangingPunct="1"/>
            <a:r>
              <a:rPr lang="pt-PT" sz="2800" dirty="0" smtClean="0"/>
              <a:t>Controlo e execução do orçamento</a:t>
            </a:r>
          </a:p>
          <a:p>
            <a:pPr eaLnBrk="1" hangingPunct="1">
              <a:buFontTx/>
              <a:buNone/>
            </a:pPr>
            <a:endParaRPr lang="pt-PT" sz="1000" dirty="0" smtClean="0"/>
          </a:p>
          <a:p>
            <a:pPr eaLnBrk="1" hangingPunct="1"/>
            <a:r>
              <a:rPr lang="pt-PT" sz="2800" dirty="0" smtClean="0"/>
              <a:t>Verificação da eficiência, eficácia e economia</a:t>
            </a:r>
          </a:p>
          <a:p>
            <a:pPr eaLnBrk="1" hangingPunct="1">
              <a:buFontTx/>
              <a:buNone/>
            </a:pPr>
            <a:endParaRPr lang="pt-PT" sz="1000" dirty="0" smtClean="0"/>
          </a:p>
          <a:p>
            <a:pPr eaLnBrk="1" hangingPunct="1"/>
            <a:r>
              <a:rPr lang="pt-PT" sz="2800" dirty="0" smtClean="0"/>
              <a:t>Justificação de preços e taxas</a:t>
            </a:r>
          </a:p>
          <a:p>
            <a:pPr eaLnBrk="1" hangingPunct="1">
              <a:buFontTx/>
              <a:buNone/>
            </a:pPr>
            <a:endParaRPr lang="pt-PT" sz="1000" dirty="0" smtClean="0"/>
          </a:p>
          <a:p>
            <a:pPr eaLnBrk="1" hangingPunct="1"/>
            <a:r>
              <a:rPr lang="pt-PT" sz="2800" dirty="0" smtClean="0"/>
              <a:t>Prestação de contas a diversos “usuários”</a:t>
            </a:r>
          </a:p>
          <a:p>
            <a:pPr eaLnBrk="1" hangingPunct="1">
              <a:buFontTx/>
              <a:buNone/>
            </a:pPr>
            <a:endParaRPr lang="pt-PT" sz="1000" dirty="0" smtClean="0"/>
          </a:p>
          <a:p>
            <a:pPr eaLnBrk="1" hangingPunct="1"/>
            <a:r>
              <a:rPr lang="pt-PT" sz="2800" dirty="0" smtClean="0"/>
              <a:t>Comparabilidade da informação contabilística</a:t>
            </a:r>
          </a:p>
        </p:txBody>
      </p:sp>
      <p:sp>
        <p:nvSpPr>
          <p:cNvPr id="16386" name="Marcador de Posição da Data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147EA8F5-1B61-4A8F-9C49-137382B3117F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6387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6388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53F55F-AE8F-46FA-897F-AE7F83D00943}" type="slidenum">
              <a:rPr lang="pt-PT"/>
              <a:pPr/>
              <a:t>8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3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43" grpId="0" build="p" autoUpdateAnimBg="0" advAuto="800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603647"/>
            <a:ext cx="7482408" cy="615553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4000" dirty="0" smtClean="0"/>
              <a:t>Contabilidade Pública</a:t>
            </a:r>
          </a:p>
        </p:txBody>
      </p:sp>
      <p:sp>
        <p:nvSpPr>
          <p:cNvPr id="44063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0" y="4419600"/>
            <a:ext cx="2438400" cy="1676400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pt-PT" sz="1600" dirty="0" smtClean="0"/>
              <a:t>Balanço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pt-PT" sz="1600" dirty="0" smtClean="0"/>
              <a:t>Demonstrações de Resultados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pt-PT" sz="1600" dirty="0" smtClean="0"/>
              <a:t>Anexos às Demonstrações Financeiras</a:t>
            </a:r>
          </a:p>
          <a:p>
            <a:pPr eaLnBrk="1" hangingPunct="1">
              <a:buFontTx/>
              <a:buNone/>
            </a:pPr>
            <a:endParaRPr lang="pt-PT" sz="1600" dirty="0" smtClean="0"/>
          </a:p>
          <a:p>
            <a:pPr eaLnBrk="1" hangingPunct="1">
              <a:buFontTx/>
              <a:buNone/>
            </a:pPr>
            <a:endParaRPr lang="pt-PT" sz="1600" dirty="0" smtClean="0"/>
          </a:p>
          <a:p>
            <a:pPr eaLnBrk="1" hangingPunct="1">
              <a:buFontTx/>
              <a:buNone/>
            </a:pPr>
            <a:endParaRPr lang="pt-PT" sz="1600" dirty="0" smtClean="0"/>
          </a:p>
          <a:p>
            <a:pPr eaLnBrk="1" hangingPunct="1">
              <a:buFontTx/>
              <a:buNone/>
            </a:pPr>
            <a:endParaRPr lang="pt-PT" sz="1600" dirty="0" smtClean="0"/>
          </a:p>
        </p:txBody>
      </p:sp>
      <p:sp>
        <p:nvSpPr>
          <p:cNvPr id="17410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76319BFA-38D9-4798-AE7C-B86D25BF7001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7411" name="Marcador de Posição do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7412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E885A9-7F83-4C58-8809-8A0E9F4EFBD0}" type="slidenum">
              <a:rPr lang="pt-PT"/>
              <a:pPr/>
              <a:t>9</a:t>
            </a:fld>
            <a:endParaRPr lang="pt-PT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1400" y="1700807"/>
            <a:ext cx="2336800" cy="2326683"/>
            <a:chOff x="2064" y="2149"/>
            <a:chExt cx="1472" cy="1483"/>
          </a:xfrm>
        </p:grpSpPr>
        <p:sp>
          <p:nvSpPr>
            <p:cNvPr id="44037" name="AutoShape 5"/>
            <p:cNvSpPr>
              <a:spLocks noChangeArrowheads="1"/>
            </p:cNvSpPr>
            <p:nvPr/>
          </p:nvSpPr>
          <p:spPr bwMode="auto">
            <a:xfrm flipH="1">
              <a:off x="2064" y="2160"/>
              <a:ext cx="1472" cy="1472"/>
            </a:xfrm>
            <a:custGeom>
              <a:avLst/>
              <a:gdLst>
                <a:gd name="G0" fmla="+- -5898240 0 0"/>
                <a:gd name="G1" fmla="+- -9437184 0 0"/>
                <a:gd name="G2" fmla="+- -5898240 0 -9437184"/>
                <a:gd name="G3" fmla="+- 10800 0 0"/>
                <a:gd name="G4" fmla="+- 0 0 -589824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00 0 0"/>
                <a:gd name="G9" fmla="+- 0 0 -9437184"/>
                <a:gd name="G10" fmla="+- 8100 0 2700"/>
                <a:gd name="G11" fmla="cos G10 -5898240"/>
                <a:gd name="G12" fmla="sin G10 -5898240"/>
                <a:gd name="G13" fmla="cos 13500 -5898240"/>
                <a:gd name="G14" fmla="sin 13500 -5898240"/>
                <a:gd name="G15" fmla="+- G11 10800 0"/>
                <a:gd name="G16" fmla="+- G12 10800 0"/>
                <a:gd name="G17" fmla="+- G13 10800 0"/>
                <a:gd name="G18" fmla="+- G14 10800 0"/>
                <a:gd name="G19" fmla="*/ 8100 1 2"/>
                <a:gd name="G20" fmla="+- G19 5400 0"/>
                <a:gd name="G21" fmla="cos G20 -5898240"/>
                <a:gd name="G22" fmla="sin G20 -5898240"/>
                <a:gd name="G23" fmla="+- G21 10800 0"/>
                <a:gd name="G24" fmla="+- G12 G23 G22"/>
                <a:gd name="G25" fmla="+- G22 G23 G11"/>
                <a:gd name="G26" fmla="cos 10800 -5898240"/>
                <a:gd name="G27" fmla="sin 10800 -5898240"/>
                <a:gd name="G28" fmla="cos 8100 -5898240"/>
                <a:gd name="G29" fmla="sin 8100 -589824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9437184"/>
                <a:gd name="G36" fmla="sin G34 -9437184"/>
                <a:gd name="G37" fmla="+/ -9437184 -589824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00 G39"/>
                <a:gd name="G43" fmla="sin 81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5896 w 21600"/>
                <a:gd name="T5" fmla="*/ 1177 h 21600"/>
                <a:gd name="T6" fmla="*/ 3154 w 21600"/>
                <a:gd name="T7" fmla="*/ 5245 h 21600"/>
                <a:gd name="T8" fmla="*/ 7122 w 21600"/>
                <a:gd name="T9" fmla="*/ 3582 h 21600"/>
                <a:gd name="T10" fmla="*/ 10799 w 21600"/>
                <a:gd name="T11" fmla="*/ -2700 h 21600"/>
                <a:gd name="T12" fmla="*/ 14849 w 21600"/>
                <a:gd name="T13" fmla="*/ 1350 h 21600"/>
                <a:gd name="T14" fmla="*/ 10799 w 21600"/>
                <a:gd name="T15" fmla="*/ 540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99" y="2700"/>
                  </a:moveTo>
                  <a:cubicBezTo>
                    <a:pt x="8207" y="2700"/>
                    <a:pt x="5771" y="3941"/>
                    <a:pt x="4246" y="6038"/>
                  </a:cubicBezTo>
                  <a:lnTo>
                    <a:pt x="2062" y="4451"/>
                  </a:lnTo>
                  <a:cubicBezTo>
                    <a:pt x="4094" y="1655"/>
                    <a:pt x="7342" y="0"/>
                    <a:pt x="10799" y="0"/>
                  </a:cubicBezTo>
                  <a:lnTo>
                    <a:pt x="10799" y="-2700"/>
                  </a:lnTo>
                  <a:lnTo>
                    <a:pt x="14849" y="1350"/>
                  </a:lnTo>
                  <a:lnTo>
                    <a:pt x="10799" y="5400"/>
                  </a:lnTo>
                  <a:lnTo>
                    <a:pt x="10799" y="27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1">
              <a:flatTx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Patrimonial</a:t>
              </a:r>
            </a:p>
          </p:txBody>
        </p:sp>
        <p:sp>
          <p:nvSpPr>
            <p:cNvPr id="17443" name="AutoShape 6"/>
            <p:cNvSpPr>
              <a:spLocks noChangeArrowheads="1"/>
            </p:cNvSpPr>
            <p:nvPr/>
          </p:nvSpPr>
          <p:spPr bwMode="auto">
            <a:xfrm flipH="1">
              <a:off x="2064" y="2160"/>
              <a:ext cx="1472" cy="1472"/>
            </a:xfrm>
            <a:custGeom>
              <a:avLst/>
              <a:gdLst>
                <a:gd name="T0" fmla="*/ 80 w 21600"/>
                <a:gd name="T1" fmla="*/ 1070 h 21600"/>
                <a:gd name="T2" fmla="*/ 357 w 21600"/>
                <a:gd name="T3" fmla="*/ 1257 h 21600"/>
                <a:gd name="T4" fmla="*/ 244 w 21600"/>
                <a:gd name="T5" fmla="*/ 987 h 21600"/>
                <a:gd name="T6" fmla="*/ -184 w 21600"/>
                <a:gd name="T7" fmla="*/ 736 h 21600"/>
                <a:gd name="T8" fmla="*/ 92 w 21600"/>
                <a:gd name="T9" fmla="*/ 460 h 21600"/>
                <a:gd name="T10" fmla="*/ 368 w 21600"/>
                <a:gd name="T11" fmla="*/ 7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0 w 21600"/>
                <a:gd name="T19" fmla="*/ 3170 h 21600"/>
                <a:gd name="T20" fmla="*/ 18430 w 21600"/>
                <a:gd name="T21" fmla="*/ 1843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700" y="10800"/>
                  </a:moveTo>
                  <a:cubicBezTo>
                    <a:pt x="2700" y="13392"/>
                    <a:pt x="3941" y="15828"/>
                    <a:pt x="6038" y="17353"/>
                  </a:cubicBezTo>
                  <a:lnTo>
                    <a:pt x="4451" y="19537"/>
                  </a:lnTo>
                  <a:cubicBezTo>
                    <a:pt x="1655" y="17505"/>
                    <a:pt x="0" y="14257"/>
                    <a:pt x="0" y="10800"/>
                  </a:cubicBezTo>
                  <a:lnTo>
                    <a:pt x="-2700" y="10800"/>
                  </a:lnTo>
                  <a:lnTo>
                    <a:pt x="1350" y="6750"/>
                  </a:lnTo>
                  <a:lnTo>
                    <a:pt x="5400" y="10800"/>
                  </a:lnTo>
                  <a:lnTo>
                    <a:pt x="2700" y="10800"/>
                  </a:lnTo>
                  <a:close/>
                </a:path>
              </a:pathLst>
            </a:custGeom>
            <a:solidFill>
              <a:schemeClr val="bg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44" name="AutoShape 7"/>
            <p:cNvSpPr>
              <a:spLocks noChangeArrowheads="1"/>
            </p:cNvSpPr>
            <p:nvPr/>
          </p:nvSpPr>
          <p:spPr bwMode="auto">
            <a:xfrm flipH="1">
              <a:off x="2064" y="2160"/>
              <a:ext cx="1472" cy="1472"/>
            </a:xfrm>
            <a:custGeom>
              <a:avLst/>
              <a:gdLst>
                <a:gd name="T0" fmla="*/ 1070 w 21600"/>
                <a:gd name="T1" fmla="*/ 1392 h 21600"/>
                <a:gd name="T2" fmla="*/ 1257 w 21600"/>
                <a:gd name="T3" fmla="*/ 1114 h 21600"/>
                <a:gd name="T4" fmla="*/ 987 w 21600"/>
                <a:gd name="T5" fmla="*/ 1228 h 21600"/>
                <a:gd name="T6" fmla="*/ 736 w 21600"/>
                <a:gd name="T7" fmla="*/ 1656 h 21600"/>
                <a:gd name="T8" fmla="*/ 460 w 21600"/>
                <a:gd name="T9" fmla="*/ 1380 h 21600"/>
                <a:gd name="T10" fmla="*/ 736 w 21600"/>
                <a:gd name="T11" fmla="*/ 1104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0 w 21600"/>
                <a:gd name="T19" fmla="*/ 3170 h 21600"/>
                <a:gd name="T20" fmla="*/ 18430 w 21600"/>
                <a:gd name="T21" fmla="*/ 1843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18900"/>
                  </a:moveTo>
                  <a:cubicBezTo>
                    <a:pt x="13392" y="18899"/>
                    <a:pt x="15828" y="17658"/>
                    <a:pt x="17353" y="15561"/>
                  </a:cubicBezTo>
                  <a:lnTo>
                    <a:pt x="19537" y="17148"/>
                  </a:lnTo>
                  <a:cubicBezTo>
                    <a:pt x="17505" y="19944"/>
                    <a:pt x="14257" y="21599"/>
                    <a:pt x="10800" y="21600"/>
                  </a:cubicBezTo>
                  <a:lnTo>
                    <a:pt x="10800" y="24300"/>
                  </a:lnTo>
                  <a:lnTo>
                    <a:pt x="6750" y="20250"/>
                  </a:lnTo>
                  <a:lnTo>
                    <a:pt x="10800" y="16200"/>
                  </a:lnTo>
                  <a:lnTo>
                    <a:pt x="10800" y="189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45" name="AutoShape 8"/>
            <p:cNvSpPr>
              <a:spLocks noChangeArrowheads="1"/>
            </p:cNvSpPr>
            <p:nvPr/>
          </p:nvSpPr>
          <p:spPr bwMode="auto">
            <a:xfrm flipH="1">
              <a:off x="2064" y="2160"/>
              <a:ext cx="1472" cy="1472"/>
            </a:xfrm>
            <a:custGeom>
              <a:avLst/>
              <a:gdLst>
                <a:gd name="T0" fmla="*/ 1392 w 21600"/>
                <a:gd name="T1" fmla="*/ 402 h 21600"/>
                <a:gd name="T2" fmla="*/ 1114 w 21600"/>
                <a:gd name="T3" fmla="*/ 215 h 21600"/>
                <a:gd name="T4" fmla="*/ 1228 w 21600"/>
                <a:gd name="T5" fmla="*/ 485 h 21600"/>
                <a:gd name="T6" fmla="*/ 1656 w 21600"/>
                <a:gd name="T7" fmla="*/ 736 h 21600"/>
                <a:gd name="T8" fmla="*/ 1380 w 21600"/>
                <a:gd name="T9" fmla="*/ 1012 h 21600"/>
                <a:gd name="T10" fmla="*/ 1104 w 21600"/>
                <a:gd name="T11" fmla="*/ 73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0 w 21600"/>
                <a:gd name="T19" fmla="*/ 3170 h 21600"/>
                <a:gd name="T20" fmla="*/ 18430 w 21600"/>
                <a:gd name="T21" fmla="*/ 1843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900" y="10800"/>
                  </a:moveTo>
                  <a:cubicBezTo>
                    <a:pt x="18900" y="8207"/>
                    <a:pt x="17658" y="5771"/>
                    <a:pt x="15561" y="4246"/>
                  </a:cubicBezTo>
                  <a:lnTo>
                    <a:pt x="17148" y="2062"/>
                  </a:lnTo>
                  <a:cubicBezTo>
                    <a:pt x="19944" y="4094"/>
                    <a:pt x="21599" y="7342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20250" y="14850"/>
                  </a:lnTo>
                  <a:lnTo>
                    <a:pt x="16200" y="10800"/>
                  </a:lnTo>
                  <a:lnTo>
                    <a:pt x="18900" y="10800"/>
                  </a:lnTo>
                  <a:close/>
                </a:path>
              </a:pathLst>
            </a:custGeom>
            <a:solidFill>
              <a:schemeClr val="bg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 rot="1343648">
              <a:off x="2781" y="2149"/>
              <a:ext cx="5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Globais</a:t>
              </a:r>
            </a:p>
          </p:txBody>
        </p:sp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 rot="-3796808">
              <a:off x="1830" y="2493"/>
              <a:ext cx="71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400" b="1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Resultados</a:t>
              </a:r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 rot="1756136">
              <a:off x="2113" y="3262"/>
              <a:ext cx="101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Classes 1 a 8</a:t>
              </a:r>
            </a:p>
          </p:txBody>
        </p:sp>
        <p:sp>
          <p:nvSpPr>
            <p:cNvPr id="44044" name="Text Box 12"/>
            <p:cNvSpPr txBox="1">
              <a:spLocks noChangeArrowheads="1"/>
            </p:cNvSpPr>
            <p:nvPr/>
          </p:nvSpPr>
          <p:spPr bwMode="auto">
            <a:xfrm rot="17839167">
              <a:off x="2873" y="2966"/>
              <a:ext cx="931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 err="1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Excepto</a:t>
              </a:r>
              <a:r>
                <a:rPr kumimoji="1" lang="pt-PT" sz="1600" b="1" dirty="0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 25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85801" y="1600200"/>
            <a:ext cx="2393951" cy="2438400"/>
            <a:chOff x="3984" y="2160"/>
            <a:chExt cx="1508" cy="1536"/>
          </a:xfrm>
        </p:grpSpPr>
        <p:sp>
          <p:nvSpPr>
            <p:cNvPr id="44046" name="AutoShape 14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G0" fmla="+- -5898240 0 0"/>
                <a:gd name="G1" fmla="+- -8729395 0 0"/>
                <a:gd name="G2" fmla="+- -5898240 0 -8729395"/>
                <a:gd name="G3" fmla="+- 10800 0 0"/>
                <a:gd name="G4" fmla="+- 0 0 -589824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00 0 0"/>
                <a:gd name="G9" fmla="+- 0 0 -8729395"/>
                <a:gd name="G10" fmla="+- 8100 0 2700"/>
                <a:gd name="G11" fmla="cos G10 -5898240"/>
                <a:gd name="G12" fmla="sin G10 -5898240"/>
                <a:gd name="G13" fmla="cos 13500 -5898240"/>
                <a:gd name="G14" fmla="sin 13500 -5898240"/>
                <a:gd name="G15" fmla="+- G11 10800 0"/>
                <a:gd name="G16" fmla="+- G12 10800 0"/>
                <a:gd name="G17" fmla="+- G13 10800 0"/>
                <a:gd name="G18" fmla="+- G14 10800 0"/>
                <a:gd name="G19" fmla="*/ 8100 1 2"/>
                <a:gd name="G20" fmla="+- G19 5400 0"/>
                <a:gd name="G21" fmla="cos G20 -5898240"/>
                <a:gd name="G22" fmla="sin G20 -5898240"/>
                <a:gd name="G23" fmla="+- G21 10800 0"/>
                <a:gd name="G24" fmla="+- G12 G23 G22"/>
                <a:gd name="G25" fmla="+- G22 G23 G11"/>
                <a:gd name="G26" fmla="cos 10800 -5898240"/>
                <a:gd name="G27" fmla="sin 10800 -5898240"/>
                <a:gd name="G28" fmla="cos 8100 -5898240"/>
                <a:gd name="G29" fmla="sin 8100 -589824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729395"/>
                <a:gd name="G36" fmla="sin G34 -8729395"/>
                <a:gd name="G37" fmla="+/ -8729395 -589824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00 G39"/>
                <a:gd name="G43" fmla="sin 81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824 w 21600"/>
                <a:gd name="T5" fmla="*/ 758 h 21600"/>
                <a:gd name="T6" fmla="*/ 4331 w 21600"/>
                <a:gd name="T7" fmla="*/ 3911 h 21600"/>
                <a:gd name="T8" fmla="*/ 7818 w 21600"/>
                <a:gd name="T9" fmla="*/ 3268 h 21600"/>
                <a:gd name="T10" fmla="*/ 10799 w 21600"/>
                <a:gd name="T11" fmla="*/ -2700 h 21600"/>
                <a:gd name="T12" fmla="*/ 14849 w 21600"/>
                <a:gd name="T13" fmla="*/ 1350 h 21600"/>
                <a:gd name="T14" fmla="*/ 10799 w 21600"/>
                <a:gd name="T15" fmla="*/ 540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99" y="2700"/>
                  </a:moveTo>
                  <a:cubicBezTo>
                    <a:pt x="8739" y="2700"/>
                    <a:pt x="6756" y="3485"/>
                    <a:pt x="5255" y="4895"/>
                  </a:cubicBezTo>
                  <a:lnTo>
                    <a:pt x="3406" y="2927"/>
                  </a:lnTo>
                  <a:cubicBezTo>
                    <a:pt x="5409" y="1046"/>
                    <a:pt x="8053" y="0"/>
                    <a:pt x="10799" y="0"/>
                  </a:cubicBezTo>
                  <a:lnTo>
                    <a:pt x="10799" y="-2700"/>
                  </a:lnTo>
                  <a:lnTo>
                    <a:pt x="14849" y="1350"/>
                  </a:lnTo>
                  <a:lnTo>
                    <a:pt x="10799" y="5400"/>
                  </a:lnTo>
                  <a:lnTo>
                    <a:pt x="10799" y="2700"/>
                  </a:lnTo>
                  <a:close/>
                </a:path>
              </a:pathLst>
            </a:custGeom>
            <a:solidFill>
              <a:schemeClr val="bg2"/>
            </a:solidFill>
            <a:ln w="12700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Orçamental</a:t>
              </a:r>
            </a:p>
          </p:txBody>
        </p:sp>
        <p:sp>
          <p:nvSpPr>
            <p:cNvPr id="17433" name="AutoShape 15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 w 21600"/>
                <a:gd name="T1" fmla="*/ 791 h 21600"/>
                <a:gd name="T2" fmla="*/ 155 w 21600"/>
                <a:gd name="T3" fmla="*/ 1021 h 21600"/>
                <a:gd name="T4" fmla="*/ 187 w 21600"/>
                <a:gd name="T5" fmla="*/ 779 h 21600"/>
                <a:gd name="T6" fmla="*/ -141 w 21600"/>
                <a:gd name="T7" fmla="*/ 457 h 21600"/>
                <a:gd name="T8" fmla="*/ 211 w 21600"/>
                <a:gd name="T9" fmla="*/ 277 h 21600"/>
                <a:gd name="T10" fmla="*/ 390 w 21600"/>
                <a:gd name="T11" fmla="*/ 629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3096" y="8296"/>
                  </a:moveTo>
                  <a:cubicBezTo>
                    <a:pt x="2833" y="9105"/>
                    <a:pt x="2700" y="9950"/>
                    <a:pt x="2700" y="10799"/>
                  </a:cubicBezTo>
                  <a:cubicBezTo>
                    <a:pt x="2699" y="11992"/>
                    <a:pt x="2963" y="13169"/>
                    <a:pt x="3470" y="14248"/>
                  </a:cubicBezTo>
                  <a:lnTo>
                    <a:pt x="1027" y="15398"/>
                  </a:lnTo>
                  <a:cubicBezTo>
                    <a:pt x="350" y="13959"/>
                    <a:pt x="0" y="12389"/>
                    <a:pt x="0" y="10800"/>
                  </a:cubicBezTo>
                  <a:cubicBezTo>
                    <a:pt x="-1" y="9666"/>
                    <a:pt x="178" y="8540"/>
                    <a:pt x="528" y="7462"/>
                  </a:cubicBezTo>
                  <a:lnTo>
                    <a:pt x="-2040" y="6628"/>
                  </a:lnTo>
                  <a:lnTo>
                    <a:pt x="3064" y="4027"/>
                  </a:lnTo>
                  <a:lnTo>
                    <a:pt x="5664" y="9131"/>
                  </a:lnTo>
                  <a:lnTo>
                    <a:pt x="3096" y="829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34" name="AutoShape 16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559 w 21600"/>
                <a:gd name="T1" fmla="*/ 1465 h 21600"/>
                <a:gd name="T2" fmla="*/ 826 w 21600"/>
                <a:gd name="T3" fmla="*/ 1390 h 21600"/>
                <a:gd name="T4" fmla="*/ 605 w 21600"/>
                <a:gd name="T5" fmla="*/ 1284 h 21600"/>
                <a:gd name="T6" fmla="*/ 197 w 21600"/>
                <a:gd name="T7" fmla="*/ 1496 h 21600"/>
                <a:gd name="T8" fmla="*/ 136 w 21600"/>
                <a:gd name="T9" fmla="*/ 1107 h 21600"/>
                <a:gd name="T10" fmla="*/ 525 w 21600"/>
                <a:gd name="T11" fmla="*/ 104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6038" y="17353"/>
                  </a:moveTo>
                  <a:cubicBezTo>
                    <a:pt x="7422" y="18358"/>
                    <a:pt x="9089" y="18900"/>
                    <a:pt x="10800" y="18900"/>
                  </a:cubicBezTo>
                  <a:cubicBezTo>
                    <a:pt x="11139" y="18899"/>
                    <a:pt x="11478" y="18878"/>
                    <a:pt x="11815" y="18836"/>
                  </a:cubicBezTo>
                  <a:lnTo>
                    <a:pt x="12153" y="21514"/>
                  </a:lnTo>
                  <a:cubicBezTo>
                    <a:pt x="11704" y="21571"/>
                    <a:pt x="11252" y="21599"/>
                    <a:pt x="10800" y="21600"/>
                  </a:cubicBezTo>
                  <a:cubicBezTo>
                    <a:pt x="8519" y="21600"/>
                    <a:pt x="6297" y="20877"/>
                    <a:pt x="4451" y="19537"/>
                  </a:cubicBezTo>
                  <a:lnTo>
                    <a:pt x="2864" y="21721"/>
                  </a:lnTo>
                  <a:lnTo>
                    <a:pt x="1968" y="16065"/>
                  </a:lnTo>
                  <a:lnTo>
                    <a:pt x="7625" y="15168"/>
                  </a:lnTo>
                  <a:lnTo>
                    <a:pt x="6038" y="17353"/>
                  </a:lnTo>
                  <a:close/>
                </a:path>
              </a:pathLst>
            </a:custGeom>
            <a:solidFill>
              <a:schemeClr val="bg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35" name="AutoShape 17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372 w 21600"/>
                <a:gd name="T1" fmla="*/ 1143 h 21600"/>
                <a:gd name="T2" fmla="*/ 1383 w 21600"/>
                <a:gd name="T3" fmla="*/ 866 h 21600"/>
                <a:gd name="T4" fmla="*/ 1215 w 21600"/>
                <a:gd name="T5" fmla="*/ 1043 h 21600"/>
                <a:gd name="T6" fmla="*/ 1291 w 21600"/>
                <a:gd name="T7" fmla="*/ 1496 h 21600"/>
                <a:gd name="T8" fmla="*/ 901 w 21600"/>
                <a:gd name="T9" fmla="*/ 1435 h 21600"/>
                <a:gd name="T10" fmla="*/ 963 w 21600"/>
                <a:gd name="T11" fmla="*/ 104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61" y="17353"/>
                  </a:moveTo>
                  <a:cubicBezTo>
                    <a:pt x="17227" y="16142"/>
                    <a:pt x="18370" y="14341"/>
                    <a:pt x="18756" y="12317"/>
                  </a:cubicBezTo>
                  <a:lnTo>
                    <a:pt x="21408" y="12823"/>
                  </a:lnTo>
                  <a:cubicBezTo>
                    <a:pt x="20893" y="15522"/>
                    <a:pt x="19370" y="17922"/>
                    <a:pt x="17148" y="19537"/>
                  </a:cubicBezTo>
                  <a:lnTo>
                    <a:pt x="18735" y="21721"/>
                  </a:lnTo>
                  <a:lnTo>
                    <a:pt x="13077" y="20825"/>
                  </a:lnTo>
                  <a:lnTo>
                    <a:pt x="13974" y="15168"/>
                  </a:lnTo>
                  <a:lnTo>
                    <a:pt x="15561" y="1735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36" name="AutoShape 18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317 w 21600"/>
                <a:gd name="T1" fmla="*/ 270 h 21600"/>
                <a:gd name="T2" fmla="*/ 1058 w 21600"/>
                <a:gd name="T3" fmla="*/ 173 h 21600"/>
                <a:gd name="T4" fmla="*/ 1174 w 21600"/>
                <a:gd name="T5" fmla="*/ 388 h 21600"/>
                <a:gd name="T6" fmla="*/ 1628 w 21600"/>
                <a:gd name="T7" fmla="*/ 457 h 21600"/>
                <a:gd name="T8" fmla="*/ 1449 w 21600"/>
                <a:gd name="T9" fmla="*/ 808 h 21600"/>
                <a:gd name="T10" fmla="*/ 1098 w 21600"/>
                <a:gd name="T11" fmla="*/ 629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503" y="8296"/>
                  </a:moveTo>
                  <a:cubicBezTo>
                    <a:pt x="17866" y="6337"/>
                    <a:pt x="16507" y="4694"/>
                    <a:pt x="14702" y="3701"/>
                  </a:cubicBezTo>
                  <a:lnTo>
                    <a:pt x="16002" y="1335"/>
                  </a:lnTo>
                  <a:cubicBezTo>
                    <a:pt x="18410" y="2659"/>
                    <a:pt x="20222" y="4850"/>
                    <a:pt x="21071" y="7462"/>
                  </a:cubicBezTo>
                  <a:lnTo>
                    <a:pt x="23639" y="6628"/>
                  </a:lnTo>
                  <a:lnTo>
                    <a:pt x="21039" y="11731"/>
                  </a:lnTo>
                  <a:lnTo>
                    <a:pt x="15935" y="9131"/>
                  </a:lnTo>
                  <a:lnTo>
                    <a:pt x="18503" y="829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44051" name="Text Box 19"/>
            <p:cNvSpPr txBox="1">
              <a:spLocks noChangeArrowheads="1"/>
            </p:cNvSpPr>
            <p:nvPr/>
          </p:nvSpPr>
          <p:spPr bwMode="auto">
            <a:xfrm rot="18243549">
              <a:off x="3864" y="2434"/>
              <a:ext cx="58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Controlo</a:t>
              </a:r>
            </a:p>
          </p:txBody>
        </p:sp>
        <p:sp>
          <p:nvSpPr>
            <p:cNvPr id="44052" name="Text Box 20"/>
            <p:cNvSpPr txBox="1">
              <a:spLocks noChangeArrowheads="1"/>
            </p:cNvSpPr>
            <p:nvPr/>
          </p:nvSpPr>
          <p:spPr bwMode="auto">
            <a:xfrm rot="660694">
              <a:off x="4551" y="2160"/>
              <a:ext cx="731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400" b="1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Orçamental</a:t>
              </a:r>
            </a:p>
          </p:txBody>
        </p:sp>
        <p:sp>
          <p:nvSpPr>
            <p:cNvPr id="44053" name="Text Box 21"/>
            <p:cNvSpPr txBox="1">
              <a:spLocks noChangeArrowheads="1"/>
            </p:cNvSpPr>
            <p:nvPr/>
          </p:nvSpPr>
          <p:spPr bwMode="auto">
            <a:xfrm rot="16146065">
              <a:off x="5068" y="2798"/>
              <a:ext cx="5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da 25</a:t>
              </a:r>
            </a:p>
          </p:txBody>
        </p:sp>
        <p:sp>
          <p:nvSpPr>
            <p:cNvPr id="44054" name="Text Box 22"/>
            <p:cNvSpPr txBox="1">
              <a:spLocks noChangeArrowheads="1"/>
            </p:cNvSpPr>
            <p:nvPr/>
          </p:nvSpPr>
          <p:spPr bwMode="auto">
            <a:xfrm rot="21122684">
              <a:off x="4429" y="3383"/>
              <a:ext cx="98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 dirty="0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 </a:t>
              </a:r>
              <a:r>
                <a:rPr kumimoji="1" lang="pt-PT" sz="1600" b="1" dirty="0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e contas da </a:t>
              </a:r>
            </a:p>
          </p:txBody>
        </p: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 rot="3606448">
              <a:off x="3883" y="3026"/>
              <a:ext cx="635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Classe 0</a:t>
              </a:r>
            </a:p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endParaRPr kumimoji="1" lang="pt-PT" sz="16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6248400" y="1676401"/>
            <a:ext cx="2378075" cy="2484438"/>
            <a:chOff x="3984" y="2150"/>
            <a:chExt cx="1498" cy="1565"/>
          </a:xfrm>
        </p:grpSpPr>
        <p:sp>
          <p:nvSpPr>
            <p:cNvPr id="44075" name="AutoShape 43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G0" fmla="+- -5898240 0 0"/>
                <a:gd name="G1" fmla="+- -8729395 0 0"/>
                <a:gd name="G2" fmla="+- -5898240 0 -8729395"/>
                <a:gd name="G3" fmla="+- 10800 0 0"/>
                <a:gd name="G4" fmla="+- 0 0 -589824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00 0 0"/>
                <a:gd name="G9" fmla="+- 0 0 -8729395"/>
                <a:gd name="G10" fmla="+- 8100 0 2700"/>
                <a:gd name="G11" fmla="cos G10 -5898240"/>
                <a:gd name="G12" fmla="sin G10 -5898240"/>
                <a:gd name="G13" fmla="cos 13500 -5898240"/>
                <a:gd name="G14" fmla="sin 13500 -5898240"/>
                <a:gd name="G15" fmla="+- G11 10800 0"/>
                <a:gd name="G16" fmla="+- G12 10800 0"/>
                <a:gd name="G17" fmla="+- G13 10800 0"/>
                <a:gd name="G18" fmla="+- G14 10800 0"/>
                <a:gd name="G19" fmla="*/ 8100 1 2"/>
                <a:gd name="G20" fmla="+- G19 5400 0"/>
                <a:gd name="G21" fmla="cos G20 -5898240"/>
                <a:gd name="G22" fmla="sin G20 -5898240"/>
                <a:gd name="G23" fmla="+- G21 10800 0"/>
                <a:gd name="G24" fmla="+- G12 G23 G22"/>
                <a:gd name="G25" fmla="+- G22 G23 G11"/>
                <a:gd name="G26" fmla="cos 10800 -5898240"/>
                <a:gd name="G27" fmla="sin 10800 -5898240"/>
                <a:gd name="G28" fmla="cos 8100 -5898240"/>
                <a:gd name="G29" fmla="sin 8100 -589824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729395"/>
                <a:gd name="G36" fmla="sin G34 -8729395"/>
                <a:gd name="G37" fmla="+/ -8729395 -589824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00 G39"/>
                <a:gd name="G43" fmla="sin 81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824 w 21600"/>
                <a:gd name="T5" fmla="*/ 758 h 21600"/>
                <a:gd name="T6" fmla="*/ 4331 w 21600"/>
                <a:gd name="T7" fmla="*/ 3911 h 21600"/>
                <a:gd name="T8" fmla="*/ 7818 w 21600"/>
                <a:gd name="T9" fmla="*/ 3268 h 21600"/>
                <a:gd name="T10" fmla="*/ 10799 w 21600"/>
                <a:gd name="T11" fmla="*/ -2700 h 21600"/>
                <a:gd name="T12" fmla="*/ 14849 w 21600"/>
                <a:gd name="T13" fmla="*/ 1350 h 21600"/>
                <a:gd name="T14" fmla="*/ 10799 w 21600"/>
                <a:gd name="T15" fmla="*/ 540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99" y="2700"/>
                  </a:moveTo>
                  <a:cubicBezTo>
                    <a:pt x="8739" y="2700"/>
                    <a:pt x="6756" y="3485"/>
                    <a:pt x="5255" y="4895"/>
                  </a:cubicBezTo>
                  <a:lnTo>
                    <a:pt x="3406" y="2927"/>
                  </a:lnTo>
                  <a:cubicBezTo>
                    <a:pt x="5409" y="1046"/>
                    <a:pt x="8053" y="0"/>
                    <a:pt x="10799" y="0"/>
                  </a:cubicBezTo>
                  <a:lnTo>
                    <a:pt x="10799" y="-2700"/>
                  </a:lnTo>
                  <a:lnTo>
                    <a:pt x="14849" y="1350"/>
                  </a:lnTo>
                  <a:lnTo>
                    <a:pt x="10799" y="5400"/>
                  </a:lnTo>
                  <a:lnTo>
                    <a:pt x="10799" y="2700"/>
                  </a:lnTo>
                  <a:close/>
                </a:path>
              </a:pathLst>
            </a:custGeom>
            <a:solidFill>
              <a:schemeClr val="bg2"/>
            </a:solidFill>
            <a:ln w="12700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Analítica</a:t>
              </a:r>
            </a:p>
          </p:txBody>
        </p:sp>
        <p:sp>
          <p:nvSpPr>
            <p:cNvPr id="17423" name="AutoShape 44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 w 21600"/>
                <a:gd name="T1" fmla="*/ 791 h 21600"/>
                <a:gd name="T2" fmla="*/ 155 w 21600"/>
                <a:gd name="T3" fmla="*/ 1021 h 21600"/>
                <a:gd name="T4" fmla="*/ 187 w 21600"/>
                <a:gd name="T5" fmla="*/ 779 h 21600"/>
                <a:gd name="T6" fmla="*/ -141 w 21600"/>
                <a:gd name="T7" fmla="*/ 457 h 21600"/>
                <a:gd name="T8" fmla="*/ 211 w 21600"/>
                <a:gd name="T9" fmla="*/ 277 h 21600"/>
                <a:gd name="T10" fmla="*/ 390 w 21600"/>
                <a:gd name="T11" fmla="*/ 629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3096" y="8296"/>
                  </a:moveTo>
                  <a:cubicBezTo>
                    <a:pt x="2833" y="9105"/>
                    <a:pt x="2700" y="9950"/>
                    <a:pt x="2700" y="10799"/>
                  </a:cubicBezTo>
                  <a:cubicBezTo>
                    <a:pt x="2699" y="11992"/>
                    <a:pt x="2963" y="13169"/>
                    <a:pt x="3470" y="14248"/>
                  </a:cubicBezTo>
                  <a:lnTo>
                    <a:pt x="1027" y="15398"/>
                  </a:lnTo>
                  <a:cubicBezTo>
                    <a:pt x="350" y="13959"/>
                    <a:pt x="0" y="12389"/>
                    <a:pt x="0" y="10800"/>
                  </a:cubicBezTo>
                  <a:cubicBezTo>
                    <a:pt x="-1" y="9666"/>
                    <a:pt x="178" y="8540"/>
                    <a:pt x="528" y="7462"/>
                  </a:cubicBezTo>
                  <a:lnTo>
                    <a:pt x="-2040" y="6628"/>
                  </a:lnTo>
                  <a:lnTo>
                    <a:pt x="3064" y="4027"/>
                  </a:lnTo>
                  <a:lnTo>
                    <a:pt x="5664" y="9131"/>
                  </a:lnTo>
                  <a:lnTo>
                    <a:pt x="3096" y="829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24" name="AutoShape 45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559 w 21600"/>
                <a:gd name="T1" fmla="*/ 1465 h 21600"/>
                <a:gd name="T2" fmla="*/ 826 w 21600"/>
                <a:gd name="T3" fmla="*/ 1390 h 21600"/>
                <a:gd name="T4" fmla="*/ 605 w 21600"/>
                <a:gd name="T5" fmla="*/ 1284 h 21600"/>
                <a:gd name="T6" fmla="*/ 197 w 21600"/>
                <a:gd name="T7" fmla="*/ 1496 h 21600"/>
                <a:gd name="T8" fmla="*/ 136 w 21600"/>
                <a:gd name="T9" fmla="*/ 1107 h 21600"/>
                <a:gd name="T10" fmla="*/ 525 w 21600"/>
                <a:gd name="T11" fmla="*/ 104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6038" y="17353"/>
                  </a:moveTo>
                  <a:cubicBezTo>
                    <a:pt x="7422" y="18358"/>
                    <a:pt x="9089" y="18900"/>
                    <a:pt x="10800" y="18900"/>
                  </a:cubicBezTo>
                  <a:cubicBezTo>
                    <a:pt x="11139" y="18899"/>
                    <a:pt x="11478" y="18878"/>
                    <a:pt x="11815" y="18836"/>
                  </a:cubicBezTo>
                  <a:lnTo>
                    <a:pt x="12153" y="21514"/>
                  </a:lnTo>
                  <a:cubicBezTo>
                    <a:pt x="11704" y="21571"/>
                    <a:pt x="11252" y="21599"/>
                    <a:pt x="10800" y="21600"/>
                  </a:cubicBezTo>
                  <a:cubicBezTo>
                    <a:pt x="8519" y="21600"/>
                    <a:pt x="6297" y="20877"/>
                    <a:pt x="4451" y="19537"/>
                  </a:cubicBezTo>
                  <a:lnTo>
                    <a:pt x="2864" y="21721"/>
                  </a:lnTo>
                  <a:lnTo>
                    <a:pt x="1968" y="16065"/>
                  </a:lnTo>
                  <a:lnTo>
                    <a:pt x="7625" y="15168"/>
                  </a:lnTo>
                  <a:lnTo>
                    <a:pt x="6038" y="17353"/>
                  </a:lnTo>
                  <a:close/>
                </a:path>
              </a:pathLst>
            </a:custGeom>
            <a:solidFill>
              <a:schemeClr val="bg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25" name="AutoShape 46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372 w 21600"/>
                <a:gd name="T1" fmla="*/ 1143 h 21600"/>
                <a:gd name="T2" fmla="*/ 1383 w 21600"/>
                <a:gd name="T3" fmla="*/ 866 h 21600"/>
                <a:gd name="T4" fmla="*/ 1215 w 21600"/>
                <a:gd name="T5" fmla="*/ 1043 h 21600"/>
                <a:gd name="T6" fmla="*/ 1291 w 21600"/>
                <a:gd name="T7" fmla="*/ 1496 h 21600"/>
                <a:gd name="T8" fmla="*/ 901 w 21600"/>
                <a:gd name="T9" fmla="*/ 1435 h 21600"/>
                <a:gd name="T10" fmla="*/ 963 w 21600"/>
                <a:gd name="T11" fmla="*/ 104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61" y="17353"/>
                  </a:moveTo>
                  <a:cubicBezTo>
                    <a:pt x="17227" y="16142"/>
                    <a:pt x="18370" y="14341"/>
                    <a:pt x="18756" y="12317"/>
                  </a:cubicBezTo>
                  <a:lnTo>
                    <a:pt x="21408" y="12823"/>
                  </a:lnTo>
                  <a:cubicBezTo>
                    <a:pt x="20893" y="15522"/>
                    <a:pt x="19370" y="17922"/>
                    <a:pt x="17148" y="19537"/>
                  </a:cubicBezTo>
                  <a:lnTo>
                    <a:pt x="18735" y="21721"/>
                  </a:lnTo>
                  <a:lnTo>
                    <a:pt x="13077" y="20825"/>
                  </a:lnTo>
                  <a:lnTo>
                    <a:pt x="13974" y="15168"/>
                  </a:lnTo>
                  <a:lnTo>
                    <a:pt x="15561" y="1735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17426" name="AutoShape 47"/>
            <p:cNvSpPr>
              <a:spLocks noChangeArrowheads="1"/>
            </p:cNvSpPr>
            <p:nvPr/>
          </p:nvSpPr>
          <p:spPr bwMode="auto">
            <a:xfrm flipH="1">
              <a:off x="3984" y="2208"/>
              <a:ext cx="1488" cy="1488"/>
            </a:xfrm>
            <a:custGeom>
              <a:avLst/>
              <a:gdLst>
                <a:gd name="T0" fmla="*/ 1317 w 21600"/>
                <a:gd name="T1" fmla="*/ 270 h 21600"/>
                <a:gd name="T2" fmla="*/ 1058 w 21600"/>
                <a:gd name="T3" fmla="*/ 173 h 21600"/>
                <a:gd name="T4" fmla="*/ 1174 w 21600"/>
                <a:gd name="T5" fmla="*/ 388 h 21600"/>
                <a:gd name="T6" fmla="*/ 1628 w 21600"/>
                <a:gd name="T7" fmla="*/ 457 h 21600"/>
                <a:gd name="T8" fmla="*/ 1449 w 21600"/>
                <a:gd name="T9" fmla="*/ 808 h 21600"/>
                <a:gd name="T10" fmla="*/ 1098 w 21600"/>
                <a:gd name="T11" fmla="*/ 629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5 w 21600"/>
                <a:gd name="T19" fmla="*/ 3165 h 21600"/>
                <a:gd name="T20" fmla="*/ 18435 w 21600"/>
                <a:gd name="T21" fmla="*/ 1843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503" y="8296"/>
                  </a:moveTo>
                  <a:cubicBezTo>
                    <a:pt x="17866" y="6337"/>
                    <a:pt x="16507" y="4694"/>
                    <a:pt x="14702" y="3701"/>
                  </a:cubicBezTo>
                  <a:lnTo>
                    <a:pt x="16002" y="1335"/>
                  </a:lnTo>
                  <a:cubicBezTo>
                    <a:pt x="18410" y="2659"/>
                    <a:pt x="20222" y="4850"/>
                    <a:pt x="21071" y="7462"/>
                  </a:cubicBezTo>
                  <a:lnTo>
                    <a:pt x="23639" y="6628"/>
                  </a:lnTo>
                  <a:lnTo>
                    <a:pt x="21039" y="11731"/>
                  </a:lnTo>
                  <a:lnTo>
                    <a:pt x="15935" y="9131"/>
                  </a:lnTo>
                  <a:lnTo>
                    <a:pt x="18503" y="829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1">
              <a:flatTx/>
            </a:bodyPr>
            <a:lstStyle/>
            <a:p>
              <a:endParaRPr lang="pt-PT"/>
            </a:p>
          </p:txBody>
        </p:sp>
        <p:sp>
          <p:nvSpPr>
            <p:cNvPr id="44080" name="Text Box 48"/>
            <p:cNvSpPr txBox="1">
              <a:spLocks noChangeArrowheads="1"/>
            </p:cNvSpPr>
            <p:nvPr/>
          </p:nvSpPr>
          <p:spPr bwMode="auto">
            <a:xfrm rot="18243549">
              <a:off x="3871" y="2424"/>
              <a:ext cx="57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Analise</a:t>
              </a:r>
            </a:p>
          </p:txBody>
        </p:sp>
        <p:sp>
          <p:nvSpPr>
            <p:cNvPr id="44081" name="Text Box 49"/>
            <p:cNvSpPr txBox="1">
              <a:spLocks noChangeArrowheads="1"/>
            </p:cNvSpPr>
            <p:nvPr/>
          </p:nvSpPr>
          <p:spPr bwMode="auto">
            <a:xfrm rot="660694">
              <a:off x="4645" y="2150"/>
              <a:ext cx="54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Interna</a:t>
              </a:r>
            </a:p>
          </p:txBody>
        </p:sp>
        <p:sp>
          <p:nvSpPr>
            <p:cNvPr id="44082" name="Text Box 50"/>
            <p:cNvSpPr txBox="1">
              <a:spLocks noChangeArrowheads="1"/>
            </p:cNvSpPr>
            <p:nvPr/>
          </p:nvSpPr>
          <p:spPr bwMode="auto">
            <a:xfrm rot="-5453935">
              <a:off x="4931" y="2762"/>
              <a:ext cx="83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Actividades</a:t>
              </a:r>
              <a:endParaRPr kumimoji="1" lang="pt-PT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</a:endParaRPr>
            </a:p>
          </p:txBody>
        </p:sp>
        <p:sp>
          <p:nvSpPr>
            <p:cNvPr id="44083" name="Text Box 51"/>
            <p:cNvSpPr txBox="1">
              <a:spLocks noChangeArrowheads="1"/>
            </p:cNvSpPr>
            <p:nvPr/>
          </p:nvSpPr>
          <p:spPr bwMode="auto">
            <a:xfrm rot="-477316">
              <a:off x="4526" y="3389"/>
              <a:ext cx="7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800" b="1"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Classe 9</a:t>
              </a:r>
            </a:p>
          </p:txBody>
        </p:sp>
        <p:sp>
          <p:nvSpPr>
            <p:cNvPr id="44084" name="Text Box 52"/>
            <p:cNvSpPr txBox="1">
              <a:spLocks noChangeArrowheads="1"/>
            </p:cNvSpPr>
            <p:nvPr/>
          </p:nvSpPr>
          <p:spPr bwMode="auto">
            <a:xfrm rot="3606448">
              <a:off x="3818" y="3163"/>
              <a:ext cx="83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137160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kumimoji="1" lang="pt-PT" sz="1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Arial" charset="0"/>
                </a:rPr>
                <a:t>Projectos</a:t>
              </a:r>
              <a:endParaRPr kumimoji="1" lang="pt-PT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44085" name="Rectangle 53"/>
          <p:cNvSpPr>
            <a:spLocks noChangeArrowheads="1"/>
          </p:cNvSpPr>
          <p:nvPr/>
        </p:nvSpPr>
        <p:spPr bwMode="auto">
          <a:xfrm>
            <a:off x="533400" y="4495800"/>
            <a:ext cx="2590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None/>
            </a:pPr>
            <a:endParaRPr lang="pt-PT" sz="1600"/>
          </a:p>
        </p:txBody>
      </p:sp>
      <p:sp>
        <p:nvSpPr>
          <p:cNvPr id="44086" name="Rectangle 54"/>
          <p:cNvSpPr>
            <a:spLocks noChangeArrowheads="1"/>
          </p:cNvSpPr>
          <p:nvPr/>
        </p:nvSpPr>
        <p:spPr bwMode="auto">
          <a:xfrm>
            <a:off x="6172200" y="4495800"/>
            <a:ext cx="2590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None/>
            </a:pPr>
            <a:endParaRPr lang="pt-PT" sz="1600"/>
          </a:p>
        </p:txBody>
      </p:sp>
      <p:sp>
        <p:nvSpPr>
          <p:cNvPr id="44087" name="Rectangle 55"/>
          <p:cNvSpPr>
            <a:spLocks noChangeArrowheads="1"/>
          </p:cNvSpPr>
          <p:nvPr/>
        </p:nvSpPr>
        <p:spPr bwMode="auto">
          <a:xfrm>
            <a:off x="457200" y="4419600"/>
            <a:ext cx="2819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Blip>
                <a:blip r:embed="rId4"/>
              </a:buBlip>
            </a:pPr>
            <a:r>
              <a:rPr lang="pt-PT" sz="1600" dirty="0"/>
              <a:t>Mapas de execução orçamental</a:t>
            </a:r>
          </a:p>
          <a:p>
            <a:pPr marL="342900" indent="-342900">
              <a:buFontTx/>
              <a:buBlip>
                <a:blip r:embed="rId4"/>
              </a:buBlip>
            </a:pPr>
            <a:r>
              <a:rPr lang="pt-PT" sz="1600" dirty="0"/>
              <a:t>Mapas de Fluxos de caixa</a:t>
            </a:r>
          </a:p>
          <a:p>
            <a:pPr marL="342900" indent="-342900">
              <a:buFontTx/>
              <a:buBlip>
                <a:blip r:embed="rId4"/>
              </a:buBlip>
            </a:pPr>
            <a:r>
              <a:rPr lang="pt-PT" sz="1600" dirty="0"/>
              <a:t>Relatório de Gestão</a:t>
            </a:r>
          </a:p>
          <a:p>
            <a:pPr marL="342900" indent="-342900">
              <a:buFontTx/>
              <a:buNone/>
            </a:pPr>
            <a:endParaRPr lang="pt-PT" sz="1600" dirty="0"/>
          </a:p>
          <a:p>
            <a:pPr marL="342900" indent="-342900">
              <a:buFontTx/>
              <a:buNone/>
            </a:pPr>
            <a:endParaRPr lang="pt-PT" sz="1600" dirty="0"/>
          </a:p>
          <a:p>
            <a:pPr marL="342900" indent="-342900">
              <a:buFontTx/>
              <a:buNone/>
            </a:pPr>
            <a:endParaRPr lang="pt-PT" sz="1600" dirty="0"/>
          </a:p>
        </p:txBody>
      </p:sp>
      <p:sp>
        <p:nvSpPr>
          <p:cNvPr id="44088" name="Rectangle 56"/>
          <p:cNvSpPr>
            <a:spLocks noChangeArrowheads="1"/>
          </p:cNvSpPr>
          <p:nvPr/>
        </p:nvSpPr>
        <p:spPr bwMode="auto">
          <a:xfrm>
            <a:off x="5943600" y="4495800"/>
            <a:ext cx="2819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Blip>
                <a:blip r:embed="rId5"/>
              </a:buBlip>
            </a:pPr>
            <a:r>
              <a:rPr lang="pt-PT" sz="1600" dirty="0"/>
              <a:t>Controlo de Custos e Proveitos por:</a:t>
            </a:r>
          </a:p>
          <a:p>
            <a:pPr marL="342900" indent="-342900">
              <a:buFontTx/>
              <a:buBlip>
                <a:blip r:embed="rId6"/>
              </a:buBlip>
            </a:pPr>
            <a:r>
              <a:rPr lang="pt-PT" sz="1600" dirty="0"/>
              <a:t>Produtos</a:t>
            </a:r>
          </a:p>
          <a:p>
            <a:pPr marL="342900" indent="-342900">
              <a:buFontTx/>
              <a:buBlip>
                <a:blip r:embed="rId6"/>
              </a:buBlip>
            </a:pPr>
            <a:r>
              <a:rPr lang="pt-PT" sz="1600" dirty="0"/>
              <a:t>Serviços</a:t>
            </a:r>
          </a:p>
          <a:p>
            <a:pPr marL="342900" indent="-342900">
              <a:buFontTx/>
              <a:buBlip>
                <a:blip r:embed="rId6"/>
              </a:buBlip>
            </a:pPr>
            <a:r>
              <a:rPr lang="pt-PT" sz="1600" dirty="0" smtClean="0"/>
              <a:t>Atividades</a:t>
            </a:r>
            <a:endParaRPr lang="pt-PT" sz="1600" dirty="0"/>
          </a:p>
          <a:p>
            <a:pPr marL="342900" indent="-342900">
              <a:buFontTx/>
              <a:buBlip>
                <a:blip r:embed="rId6"/>
              </a:buBlip>
            </a:pPr>
            <a:r>
              <a:rPr lang="pt-PT" sz="1600" dirty="0" smtClean="0"/>
              <a:t>Projetos</a:t>
            </a:r>
            <a:r>
              <a:rPr lang="pt-PT" sz="1600" dirty="0"/>
              <a:t>	</a:t>
            </a:r>
          </a:p>
          <a:p>
            <a:pPr marL="342900" indent="-342900">
              <a:buFontTx/>
              <a:buNone/>
            </a:pPr>
            <a:endParaRPr lang="pt-PT" sz="1600" dirty="0"/>
          </a:p>
          <a:p>
            <a:pPr marL="342900" indent="-342900">
              <a:buFontTx/>
              <a:buNone/>
            </a:pPr>
            <a:endParaRPr lang="pt-PT" sz="16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4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4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000"/>
                            </p:stCondLst>
                            <p:childTnLst>
                              <p:par>
                                <p:cTn id="8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500"/>
                            </p:stCondLst>
                            <p:childTnLst>
                              <p:par>
                                <p:cTn id="8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63" grpId="0" build="p" autoUpdateAnimBg="0" advAuto="0"/>
      <p:bldP spid="44085" grpId="0" build="p" autoUpdateAnimBg="0" advAuto="0"/>
      <p:bldP spid="44086" grpId="0" build="p" autoUpdateAnimBg="0" advAuto="0"/>
      <p:bldP spid="44087" grpId="0" build="p" autoUpdateAnimBg="0" advAuto="0"/>
      <p:bldP spid="44088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603647"/>
            <a:ext cx="6978352" cy="615553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4000" dirty="0" smtClean="0"/>
              <a:t>Contabilidade Orçamental</a:t>
            </a:r>
          </a:p>
        </p:txBody>
      </p:sp>
      <p:pic>
        <p:nvPicPr>
          <p:cNvPr id="46096" name="Picture 16" descr="DD01352_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85800" y="1784350"/>
            <a:ext cx="3352800" cy="3668713"/>
          </a:xfrm>
        </p:spPr>
      </p:pic>
      <p:sp>
        <p:nvSpPr>
          <p:cNvPr id="4608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556792"/>
            <a:ext cx="4248472" cy="4752528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PT" sz="2000" dirty="0" smtClean="0"/>
              <a:t>O </a:t>
            </a:r>
            <a:r>
              <a:rPr lang="pt-PT" sz="2000" dirty="0" smtClean="0"/>
              <a:t>objetivo </a:t>
            </a:r>
            <a:r>
              <a:rPr lang="pt-PT" sz="2000" dirty="0" smtClean="0"/>
              <a:t>principal é o registo e o controlo do orçamento, das despesas e das receitas</a:t>
            </a:r>
          </a:p>
          <a:p>
            <a:pPr eaLnBrk="1" hangingPunct="1">
              <a:buFont typeface="Wingdings" pitchFamily="2" charset="2"/>
              <a:buNone/>
            </a:pPr>
            <a:endParaRPr lang="pt-PT" sz="2000" dirty="0" smtClean="0"/>
          </a:p>
          <a:p>
            <a:pPr eaLnBrk="1" hangingPunct="1">
              <a:buFont typeface="Wingdings" pitchFamily="2" charset="2"/>
              <a:buChar char="v"/>
            </a:pPr>
            <a:r>
              <a:rPr lang="pt-PT" sz="2000" dirty="0" smtClean="0"/>
              <a:t>classe 0 –”Contas do controlo orçamental e de ordem”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pt-PT" sz="2000" dirty="0" smtClean="0"/>
              <a:t> conta 25 “Devedores e credores pela execução do orçamento”</a:t>
            </a:r>
          </a:p>
          <a:p>
            <a:pPr eaLnBrk="1" hangingPunct="1">
              <a:buFont typeface="Wingdings" pitchFamily="2" charset="2"/>
              <a:buNone/>
            </a:pPr>
            <a:endParaRPr lang="pt-PT" sz="2000" dirty="0" smtClean="0"/>
          </a:p>
          <a:p>
            <a:pPr eaLnBrk="1" hangingPunct="1">
              <a:buFont typeface="Wingdings" pitchFamily="2" charset="2"/>
              <a:buBlip>
                <a:blip r:embed="rId4"/>
              </a:buBlip>
            </a:pPr>
            <a:r>
              <a:rPr lang="pt-PT" sz="2000" dirty="0" smtClean="0"/>
              <a:t>Estas contas são desagregadas por Classificação Económica, podendo ser agrupadas segundo outros critérios (por PROJECTOS, FONTES DE FINANCIAMENTO, etc.)</a:t>
            </a:r>
          </a:p>
        </p:txBody>
      </p:sp>
      <p:sp>
        <p:nvSpPr>
          <p:cNvPr id="18434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395043B3-5079-4DC4-8B46-11450563D1C6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18435" name="Marcador de Posição do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8436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E3E584-B1B7-4F22-B1AA-ECA00D6A2850}" type="slidenum">
              <a:rPr lang="pt-PT"/>
              <a:pPr/>
              <a:t>10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3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pt-PT" sz="3200" dirty="0" smtClean="0"/>
              <a:t>Orçamento</a:t>
            </a:r>
            <a:endParaRPr lang="pt-PT" sz="1600" dirty="0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935480"/>
            <a:ext cx="8075240" cy="438912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pt-PT" sz="2400" dirty="0" smtClean="0"/>
              <a:t>Despesa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Dotações iniciais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Modificações orçamentais</a:t>
            </a:r>
          </a:p>
          <a:p>
            <a:pPr lvl="2" eaLnBrk="1" hangingPunct="1">
              <a:lnSpc>
                <a:spcPct val="90000"/>
              </a:lnSpc>
            </a:pPr>
            <a:r>
              <a:rPr lang="pt-PT" dirty="0" smtClean="0"/>
              <a:t>Transferências de Dotações</a:t>
            </a:r>
          </a:p>
          <a:p>
            <a:pPr lvl="2" eaLnBrk="1" hangingPunct="1">
              <a:lnSpc>
                <a:spcPct val="90000"/>
              </a:lnSpc>
            </a:pPr>
            <a:r>
              <a:rPr lang="pt-PT" dirty="0" smtClean="0"/>
              <a:t>Dotações retidas</a:t>
            </a:r>
          </a:p>
          <a:p>
            <a:pPr lvl="2" eaLnBrk="1" hangingPunct="1">
              <a:lnSpc>
                <a:spcPct val="90000"/>
              </a:lnSpc>
            </a:pPr>
            <a:r>
              <a:rPr lang="pt-PT" dirty="0" smtClean="0"/>
              <a:t>Reposições abatidas aos pagamentos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Dotações disponíveis</a:t>
            </a:r>
          </a:p>
          <a:p>
            <a:pPr eaLnBrk="1" hangingPunct="1">
              <a:lnSpc>
                <a:spcPct val="90000"/>
              </a:lnSpc>
            </a:pPr>
            <a:r>
              <a:rPr lang="pt-PT" sz="2400" dirty="0" smtClean="0"/>
              <a:t>Receita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Previsões iniciais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Revisões de previsões</a:t>
            </a:r>
          </a:p>
          <a:p>
            <a:pPr lvl="1" eaLnBrk="1" hangingPunct="1">
              <a:lnSpc>
                <a:spcPct val="90000"/>
              </a:lnSpc>
            </a:pPr>
            <a:r>
              <a:rPr lang="pt-PT" sz="2400" dirty="0" smtClean="0"/>
              <a:t>Previsões corrigidas</a:t>
            </a:r>
          </a:p>
        </p:txBody>
      </p:sp>
      <p:sp>
        <p:nvSpPr>
          <p:cNvPr id="1031" name="Rectangle 4"/>
          <p:cNvSpPr>
            <a:spLocks noChangeArrowheads="1"/>
          </p:cNvSpPr>
          <p:nvPr/>
        </p:nvSpPr>
        <p:spPr bwMode="auto">
          <a:xfrm>
            <a:off x="9296400" y="0"/>
            <a:ext cx="3962400" cy="6907213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lIns="182562" tIns="182562" rIns="182562" bIns="182562">
            <a:spAutoFit/>
          </a:bodyPr>
          <a:lstStyle/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2400" u="sng">
                <a:latin typeface="Arial Narrow" pitchFamily="34" charset="0"/>
              </a:rPr>
              <a:t>Instruções:</a:t>
            </a:r>
            <a:br>
              <a:rPr kumimoji="1" lang="pt-PT" sz="2400" u="sng">
                <a:latin typeface="Arial Narrow" pitchFamily="34" charset="0"/>
              </a:rPr>
            </a:br>
            <a:endParaRPr kumimoji="1" lang="pt-PT" sz="800" u="sng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1800">
                <a:latin typeface="Arial Narrow" pitchFamily="34" charset="0"/>
              </a:rPr>
              <a:t>Elimine os ícones dos documentos de exemplo e substitua-os da seguinte forma pelos dos documentos de trabalho:</a:t>
            </a: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endParaRPr kumimoji="1" lang="pt-PT" sz="1800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Crie o documento no Word.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Volte ao PowerPoint.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'Objecto' do menu 'Inserir'…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“'Criar a partir de 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Localize o nome do ficheiro na caixa “'Ficheiro”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Certifique-se de que foi seleccionada a opção “Mostrar como ícone“.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um ícone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'Definições de acções' do menu 'Apresentações'.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“'Acção do objecto” e seleccione “'Editar”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  <a:endParaRPr kumimoji="1" lang="pt-PT" sz="2400">
              <a:latin typeface="Times New Roman" pitchFamily="18" charset="0"/>
            </a:endParaRPr>
          </a:p>
        </p:txBody>
      </p:sp>
      <p:graphicFrame>
        <p:nvGraphicFramePr>
          <p:cNvPr id="89093" name="Object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34000" y="1752600"/>
          <a:ext cx="1476375" cy="831850"/>
        </p:xfrm>
        <a:graphic>
          <a:graphicData uri="http://schemas.openxmlformats.org/presentationml/2006/ole">
            <p:oleObj spid="_x0000_s1026" name="Document" showAsIcon="1" r:id="rId4" imgW="1047600" imgH="590400" progId="Word.Document.8">
              <p:embed/>
            </p:oleObj>
          </a:graphicData>
        </a:graphic>
      </p:graphicFrame>
      <p:graphicFrame>
        <p:nvGraphicFramePr>
          <p:cNvPr id="89094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86400" y="4419600"/>
          <a:ext cx="1514475" cy="854075"/>
        </p:xfrm>
        <a:graphic>
          <a:graphicData uri="http://schemas.openxmlformats.org/presentationml/2006/ole">
            <p:oleObj spid="_x0000_s1027" name="Document" showAsIcon="1" r:id="rId5" imgW="1047600" imgH="590400" progId="Word.Document.8">
              <p:embed/>
            </p:oleObj>
          </a:graphicData>
        </a:graphic>
      </p:graphicFrame>
      <p:graphicFrame>
        <p:nvGraphicFramePr>
          <p:cNvPr id="89102" name="Object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58000" y="4419600"/>
          <a:ext cx="1905000" cy="1073150"/>
        </p:xfrm>
        <a:graphic>
          <a:graphicData uri="http://schemas.openxmlformats.org/presentationml/2006/ole">
            <p:oleObj spid="_x0000_s1028" name="Worksheet" showAsIcon="1" r:id="rId6" imgW="1047600" imgH="590400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1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704088"/>
            <a:ext cx="7931224" cy="1143000"/>
          </a:xfrm>
          <a:noFill/>
        </p:spPr>
        <p:txBody>
          <a:bodyPr lIns="92075" tIns="46038" rIns="92075" bIns="46038" anchor="ctr"/>
          <a:lstStyle/>
          <a:p>
            <a:pPr eaLnBrk="1" hangingPunct="1">
              <a:buFontTx/>
              <a:buBlip>
                <a:blip r:embed="rId4"/>
              </a:buBlip>
            </a:pPr>
            <a:r>
              <a:rPr lang="pt-PT" sz="3200" dirty="0" smtClean="0"/>
              <a:t>Execução orçamental</a:t>
            </a:r>
            <a:endParaRPr lang="pt-PT" dirty="0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772816"/>
            <a:ext cx="7486600" cy="4475584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PT" dirty="0" smtClean="0"/>
              <a:t> DESPESA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5"/>
              </a:buBlip>
            </a:pPr>
            <a:r>
              <a:rPr lang="pt-PT" dirty="0" smtClean="0"/>
              <a:t>Cabimentos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5"/>
              </a:buBlip>
            </a:pPr>
            <a:r>
              <a:rPr lang="pt-PT" dirty="0" smtClean="0"/>
              <a:t>Compromissos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5"/>
              </a:buBlip>
            </a:pPr>
            <a:r>
              <a:rPr lang="pt-PT" dirty="0" smtClean="0"/>
              <a:t>Obrigação (Fatura)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5"/>
              </a:buBlip>
            </a:pPr>
            <a:r>
              <a:rPr lang="pt-PT" dirty="0" smtClean="0"/>
              <a:t>Pagamento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PT" dirty="0" smtClean="0"/>
              <a:t>RECEITA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6"/>
              </a:buBlip>
            </a:pPr>
            <a:r>
              <a:rPr lang="pt-PT" dirty="0" smtClean="0"/>
              <a:t>Liquidação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6"/>
              </a:buBlip>
            </a:pPr>
            <a:r>
              <a:rPr lang="pt-PT" dirty="0" smtClean="0"/>
              <a:t>Recebimento</a:t>
            </a:r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9296400" y="0"/>
            <a:ext cx="3733800" cy="6907213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lIns="182562" tIns="182562" rIns="182562" bIns="182562">
            <a:spAutoFit/>
          </a:bodyPr>
          <a:lstStyle/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2400" u="sng">
                <a:latin typeface="Arial Narrow" pitchFamily="34" charset="0"/>
              </a:rPr>
              <a:t>Instruções:</a:t>
            </a:r>
            <a:br>
              <a:rPr kumimoji="1" lang="pt-PT" sz="2400" u="sng">
                <a:latin typeface="Arial Narrow" pitchFamily="34" charset="0"/>
              </a:rPr>
            </a:br>
            <a:endParaRPr kumimoji="1" lang="pt-PT" sz="800" u="sng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1800">
                <a:latin typeface="Arial Narrow" pitchFamily="34" charset="0"/>
              </a:rPr>
              <a:t>Elimine os ícones dos documentos de exemplo e substitua-os da seguinte forma pelos dos documentos de trabalho:</a:t>
            </a: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endParaRPr kumimoji="1" lang="pt-PT" sz="1800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Crie o documento no Word.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Volte ao PowerPoint.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'Objecto' do menu 'Inserir'…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“'Criar a partir de 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Localize o nome do ficheiro na caixa “'Ficheiro”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Certifique-se de que foi seleccionada a opção “Mostrar como ícone“.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um ícone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'Definições de acções' do menu 'Apresentações'.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“'Acção do objecto” e seleccione “'Editar”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  <a:endParaRPr kumimoji="1" lang="pt-PT" sz="2400">
              <a:latin typeface="Times New Roman" pitchFamily="18" charset="0"/>
            </a:endParaRPr>
          </a:p>
        </p:txBody>
      </p:sp>
      <p:graphicFrame>
        <p:nvGraphicFramePr>
          <p:cNvPr id="92166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20072" y="1844824"/>
          <a:ext cx="2057400" cy="1158875"/>
        </p:xfrm>
        <a:graphic>
          <a:graphicData uri="http://schemas.openxmlformats.org/presentationml/2006/ole">
            <p:oleObj spid="_x0000_s2050" name="Document" showAsIcon="1" r:id="rId7" imgW="1047600" imgH="590400" progId="Word.Document.8">
              <p:embed/>
            </p:oleObj>
          </a:graphicData>
        </a:graphic>
      </p:graphicFrame>
      <p:graphicFrame>
        <p:nvGraphicFramePr>
          <p:cNvPr id="92167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57800" y="4267200"/>
          <a:ext cx="2133600" cy="1201738"/>
        </p:xfrm>
        <a:graphic>
          <a:graphicData uri="http://schemas.openxmlformats.org/presentationml/2006/ole">
            <p:oleObj spid="_x0000_s2051" name="Document" showAsIcon="1" r:id="rId8" imgW="1047600" imgH="590400" progId="Word.Documen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3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81000"/>
            <a:ext cx="7482408" cy="959768"/>
          </a:xfrm>
        </p:spPr>
        <p:txBody>
          <a:bodyPr>
            <a:normAutofit/>
          </a:bodyPr>
          <a:lstStyle/>
          <a:p>
            <a:pPr eaLnBrk="1" hangingPunct="1"/>
            <a:r>
              <a:rPr lang="pt-PT" sz="4000" dirty="0" smtClean="0"/>
              <a:t>Contabilidade Patrimonial</a:t>
            </a:r>
          </a:p>
        </p:txBody>
      </p:sp>
      <p:sp>
        <p:nvSpPr>
          <p:cNvPr id="30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772816"/>
            <a:ext cx="6334472" cy="4320480"/>
          </a:xfrm>
        </p:spPr>
        <p:txBody>
          <a:bodyPr>
            <a:normAutofit fontScale="92500"/>
          </a:bodyPr>
          <a:lstStyle/>
          <a:p>
            <a:pPr algn="just" eaLnBrk="1" hangingPunct="1"/>
            <a:r>
              <a:rPr lang="pt-PT" sz="2800" dirty="0" smtClean="0"/>
              <a:t>O POCP apresenta </a:t>
            </a:r>
            <a:r>
              <a:rPr lang="pt-PT" sz="2800" dirty="0" smtClean="0"/>
              <a:t>algumas diferenças </a:t>
            </a:r>
            <a:r>
              <a:rPr lang="pt-PT" sz="2800" dirty="0" smtClean="0"/>
              <a:t>relativamente ao </a:t>
            </a:r>
            <a:r>
              <a:rPr lang="pt-PT" sz="2800" dirty="0" smtClean="0"/>
              <a:t>POC e agora em relação ao SNC (que sucedeu ao POC em 2010)</a:t>
            </a:r>
          </a:p>
          <a:p>
            <a:pPr eaLnBrk="1" hangingPunct="1">
              <a:buNone/>
            </a:pPr>
            <a:endParaRPr lang="pt-PT" sz="2800" dirty="0" smtClean="0"/>
          </a:p>
          <a:p>
            <a:pPr eaLnBrk="1" hangingPunct="1"/>
            <a:r>
              <a:rPr lang="pt-PT" sz="2800" dirty="0" smtClean="0"/>
              <a:t>Da Classe </a:t>
            </a:r>
            <a:r>
              <a:rPr lang="pt-PT" sz="2800" dirty="0" smtClean="0"/>
              <a:t>1 </a:t>
            </a:r>
            <a:r>
              <a:rPr lang="pt-PT" sz="2800" dirty="0" smtClean="0"/>
              <a:t>a 8 (</a:t>
            </a:r>
            <a:r>
              <a:rPr lang="pt-PT" sz="2800" dirty="0" smtClean="0"/>
              <a:t>exceto </a:t>
            </a:r>
            <a:r>
              <a:rPr lang="pt-PT" sz="2800" dirty="0" smtClean="0"/>
              <a:t>conta 25)</a:t>
            </a:r>
          </a:p>
          <a:p>
            <a:pPr eaLnBrk="1" hangingPunct="1">
              <a:buFontTx/>
              <a:buNone/>
            </a:pPr>
            <a:endParaRPr lang="pt-PT" sz="2800" dirty="0" smtClean="0"/>
          </a:p>
          <a:p>
            <a:pPr eaLnBrk="1" hangingPunct="1">
              <a:buFontTx/>
              <a:buNone/>
            </a:pPr>
            <a:r>
              <a:rPr lang="pt-PT" sz="2800" dirty="0" smtClean="0"/>
              <a:t>     </a:t>
            </a:r>
            <a:endParaRPr lang="pt-PT" sz="2800" dirty="0" smtClean="0"/>
          </a:p>
          <a:p>
            <a:pPr eaLnBrk="1" hangingPunct="1">
              <a:buFontTx/>
              <a:buNone/>
            </a:pPr>
            <a:r>
              <a:rPr lang="pt-PT" sz="2800" dirty="0" smtClean="0"/>
              <a:t> </a:t>
            </a:r>
            <a:r>
              <a:rPr lang="pt-PT" sz="2800" dirty="0" smtClean="0"/>
              <a:t>    </a:t>
            </a:r>
          </a:p>
          <a:p>
            <a:pPr eaLnBrk="1" hangingPunct="1">
              <a:buFontTx/>
              <a:buNone/>
            </a:pPr>
            <a:r>
              <a:rPr lang="pt-PT" sz="2800" dirty="0" smtClean="0"/>
              <a:t> </a:t>
            </a:r>
            <a:r>
              <a:rPr lang="pt-PT" sz="2800" dirty="0" smtClean="0"/>
              <a:t>       </a:t>
            </a:r>
            <a:r>
              <a:rPr lang="pt-PT" sz="2000" dirty="0" smtClean="0"/>
              <a:t>Balanço                 </a:t>
            </a:r>
            <a:r>
              <a:rPr lang="pt-PT" sz="2000" dirty="0" smtClean="0"/>
              <a:t>Demonstração de Resultados</a:t>
            </a:r>
          </a:p>
          <a:p>
            <a:pPr eaLnBrk="1" hangingPunct="1">
              <a:buFontTx/>
              <a:buNone/>
            </a:pPr>
            <a:endParaRPr lang="pt-PT" sz="2000" dirty="0" smtClean="0"/>
          </a:p>
        </p:txBody>
      </p:sp>
      <p:pic>
        <p:nvPicPr>
          <p:cNvPr id="3081" name="Picture 5" descr="BS00975_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876256" y="1340768"/>
            <a:ext cx="1981200" cy="1422400"/>
          </a:xfrm>
        </p:spPr>
      </p:pic>
      <p:sp>
        <p:nvSpPr>
          <p:cNvPr id="3076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0A944435-7749-4E26-853C-26D68E6EAA82}" type="datetime1">
              <a:rPr lang="pt-PT"/>
              <a:pPr/>
              <a:t>02-06-2012</a:t>
            </a:fld>
            <a:endParaRPr lang="pt-PT" dirty="0"/>
          </a:p>
        </p:txBody>
      </p:sp>
      <p:sp>
        <p:nvSpPr>
          <p:cNvPr id="3077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2667000" y="6237312"/>
            <a:ext cx="3129136" cy="432048"/>
          </a:xfrm>
          <a:noFill/>
        </p:spPr>
        <p:txBody>
          <a:bodyPr/>
          <a:lstStyle/>
          <a:p>
            <a:endParaRPr lang="pt-PT" dirty="0" smtClean="0"/>
          </a:p>
          <a:p>
            <a:endParaRPr lang="pt-PT" dirty="0" smtClean="0"/>
          </a:p>
          <a:p>
            <a:endParaRPr lang="pt-PT" dirty="0" smtClean="0"/>
          </a:p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3078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C1093F-55E0-4C3E-8B25-3A98FBCCC772}" type="slidenum">
              <a:rPr lang="pt-PT"/>
              <a:pPr/>
              <a:t>13</a:t>
            </a:fld>
            <a:endParaRPr lang="pt-PT"/>
          </a:p>
        </p:txBody>
      </p:sp>
      <p:graphicFrame>
        <p:nvGraphicFramePr>
          <p:cNvPr id="3074" name="Object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7624" y="4437112"/>
          <a:ext cx="1752600" cy="987425"/>
        </p:xfrm>
        <a:graphic>
          <a:graphicData uri="http://schemas.openxmlformats.org/presentationml/2006/ole">
            <p:oleObj spid="_x0000_s3074" name="Worksheet" showAsIcon="1" r:id="rId5" imgW="1047600" imgH="590400" progId="Excel.Sheet.8">
              <p:link updateAutomatic="1"/>
            </p:oleObj>
          </a:graphicData>
        </a:graphic>
      </p:graphicFrame>
      <p:graphicFrame>
        <p:nvGraphicFramePr>
          <p:cNvPr id="3075" name="Object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67944" y="4365104"/>
          <a:ext cx="1600200" cy="901700"/>
        </p:xfrm>
        <a:graphic>
          <a:graphicData uri="http://schemas.openxmlformats.org/presentationml/2006/ole">
            <p:oleObj spid="_x0000_s3075" name="Worksheet" showAsIcon="1" r:id="rId6" imgW="1047600" imgH="590400" progId="Excel.Sheet.8">
              <p:link updateAutomatic="1"/>
            </p:oleObj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title"/>
          </p:nvPr>
        </p:nvSpPr>
        <p:spPr>
          <a:xfrm>
            <a:off x="827584" y="715343"/>
            <a:ext cx="7554416" cy="769441"/>
          </a:xfrm>
          <a:noFill/>
        </p:spPr>
        <p:txBody>
          <a:bodyPr wrap="square" lIns="0" tIns="0" rIns="0" bIns="0" anchor="b">
            <a:spAutoFit/>
          </a:bodyPr>
          <a:lstStyle/>
          <a:p>
            <a:pPr eaLnBrk="1" hangingPunct="1"/>
            <a:r>
              <a:rPr lang="pt-PT" sz="4000" dirty="0" smtClean="0"/>
              <a:t>Contabilidade</a:t>
            </a:r>
            <a:r>
              <a:rPr lang="pt-PT" dirty="0" smtClean="0"/>
              <a:t> </a:t>
            </a:r>
            <a:r>
              <a:rPr lang="pt-PT" sz="4000" dirty="0" smtClean="0"/>
              <a:t>analítica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28800"/>
            <a:ext cx="4174232" cy="4543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pt-PT" sz="2000" dirty="0" smtClean="0"/>
              <a:t>Justificar o valor das taxas e preços</a:t>
            </a:r>
          </a:p>
          <a:p>
            <a:pPr eaLnBrk="1" hangingPunct="1">
              <a:lnSpc>
                <a:spcPct val="90000"/>
              </a:lnSpc>
            </a:pPr>
            <a:r>
              <a:rPr lang="pt-PT" sz="2000" dirty="0" smtClean="0"/>
              <a:t>Facilitar a elaboração do orçamento</a:t>
            </a:r>
          </a:p>
          <a:p>
            <a:pPr eaLnBrk="1" hangingPunct="1">
              <a:lnSpc>
                <a:spcPct val="90000"/>
              </a:lnSpc>
            </a:pPr>
            <a:r>
              <a:rPr lang="pt-PT" sz="2000" dirty="0" smtClean="0"/>
              <a:t>Apoiar as decisões sobre continuar ou não um determinado serviço ou </a:t>
            </a:r>
            <a:r>
              <a:rPr lang="pt-PT" sz="2000" dirty="0" smtClean="0"/>
              <a:t>atividade</a:t>
            </a:r>
            <a:endParaRPr lang="pt-PT" sz="2000" dirty="0" smtClean="0"/>
          </a:p>
          <a:p>
            <a:pPr eaLnBrk="1" hangingPunct="1">
              <a:lnSpc>
                <a:spcPct val="90000"/>
              </a:lnSpc>
            </a:pPr>
            <a:r>
              <a:rPr lang="pt-PT" sz="2000" dirty="0" smtClean="0"/>
              <a:t>Facilitar informação a entidades financiadoras de produtos, serviços ou </a:t>
            </a:r>
            <a:r>
              <a:rPr lang="pt-PT" sz="2000" dirty="0" smtClean="0"/>
              <a:t>atividades</a:t>
            </a:r>
            <a:endParaRPr lang="pt-PT" sz="2000" dirty="0" smtClean="0"/>
          </a:p>
          <a:p>
            <a:pPr eaLnBrk="1" hangingPunct="1">
              <a:lnSpc>
                <a:spcPct val="90000"/>
              </a:lnSpc>
            </a:pPr>
            <a:r>
              <a:rPr lang="pt-PT" sz="2000" dirty="0" smtClean="0"/>
              <a:t>Comparar custos de produtos ou serviços similares entre diferentes entidades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sz="2000" dirty="0" smtClean="0"/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>
            <p:ph type="chart" sz="half" idx="2"/>
          </p:nvPr>
        </p:nvGraphicFramePr>
        <p:xfrm>
          <a:off x="4860032" y="1700808"/>
          <a:ext cx="3912493" cy="4473104"/>
        </p:xfrm>
        <a:graphic>
          <a:graphicData uri="http://schemas.openxmlformats.org/presentationml/2006/ole">
            <p:oleObj spid="_x0000_s4098" name="Gráfico" r:id="rId4" imgW="3810053" imgH="4648256" progId="MSGraph.Chart.8">
              <p:embed followColorScheme="full"/>
            </p:oleObj>
          </a:graphicData>
        </a:graphic>
      </p:graphicFrame>
      <p:sp>
        <p:nvSpPr>
          <p:cNvPr id="4099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7B59212A-EBF6-44D6-AC5D-13A2EE4944C8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4100" name="Marcador de Posição do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4101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B1F552-8769-4FBC-A264-7F9B24F55A06}" type="slidenum">
              <a:rPr lang="pt-PT"/>
              <a:pPr/>
              <a:t>14</a:t>
            </a:fld>
            <a:endParaRPr lang="pt-PT"/>
          </a:p>
        </p:txBody>
      </p:sp>
      <p:sp>
        <p:nvSpPr>
          <p:cNvPr id="4102" name="Rectangle 2"/>
          <p:cNvSpPr>
            <a:spLocks noChangeArrowheads="1"/>
          </p:cNvSpPr>
          <p:nvPr/>
        </p:nvSpPr>
        <p:spPr bwMode="auto">
          <a:xfrm>
            <a:off x="4648200" y="1981200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1" lang="pt-PT" sz="2400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7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oleChartEl type="category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3973">
                                            <p:oleChartEl type="category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oleChartEl type="category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3973">
                                            <p:oleChartEl type="category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oleChartEl type="category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3973">
                                            <p:oleChartEl type="category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oleChartEl type="category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3973">
                                            <p:oleChartEl type="category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  <p:bldP spid="83972" grpId="0" build="p" autoUpdateAnimBg="0"/>
      <p:bldOleChart spid="83973" grpId="0" bld="category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764704"/>
            <a:ext cx="7626424" cy="57606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PT" sz="4000" dirty="0" smtClean="0"/>
              <a:t>Contabilidade analítica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16832"/>
            <a:ext cx="5758408" cy="4026768"/>
          </a:xfrm>
        </p:spPr>
        <p:txBody>
          <a:bodyPr/>
          <a:lstStyle/>
          <a:p>
            <a:pPr eaLnBrk="1" hangingPunct="1"/>
            <a:r>
              <a:rPr lang="pt-PT" sz="2000" dirty="0" smtClean="0"/>
              <a:t>Comparar custos de produtos ou serviços similares entre diferentes exercícios económicos</a:t>
            </a:r>
          </a:p>
          <a:p>
            <a:pPr eaLnBrk="1" hangingPunct="1"/>
            <a:r>
              <a:rPr lang="pt-PT" sz="2000" dirty="0" smtClean="0"/>
              <a:t>Comparar custos reais com custos previsionais</a:t>
            </a:r>
          </a:p>
          <a:p>
            <a:pPr eaLnBrk="1" hangingPunct="1"/>
            <a:r>
              <a:rPr lang="pt-PT" sz="2000" dirty="0" smtClean="0"/>
              <a:t>Obter e justificar o custo por atividades intermédias e por atividades finais</a:t>
            </a:r>
          </a:p>
          <a:p>
            <a:pPr eaLnBrk="1" hangingPunct="1"/>
            <a:r>
              <a:rPr lang="pt-PT" sz="2000" dirty="0" smtClean="0"/>
              <a:t>Proporcionar ao Gestor do ente público informação adequada que permita elaborar indicadores de eficiência, eficácia e economia, a incluir no Relatório de Gestão</a:t>
            </a:r>
          </a:p>
          <a:p>
            <a:pPr eaLnBrk="1" hangingPunct="1"/>
            <a:r>
              <a:rPr lang="pt-PT" sz="2000" dirty="0" smtClean="0"/>
              <a:t>Obter mapas de análise.</a:t>
            </a:r>
            <a:endParaRPr lang="pt-PT" sz="2800" dirty="0" smtClean="0"/>
          </a:p>
        </p:txBody>
      </p:sp>
      <p:pic>
        <p:nvPicPr>
          <p:cNvPr id="105479" name="Picture 7" descr="BS02064_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6444207" y="2276872"/>
            <a:ext cx="2232249" cy="3312368"/>
          </a:xfrm>
        </p:spPr>
      </p:pic>
      <p:sp>
        <p:nvSpPr>
          <p:cNvPr id="19458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5D99E5B-AAE9-4720-B944-1AD922BFA567}" type="datetime1">
              <a:rPr lang="pt-PT"/>
              <a:pPr/>
              <a:t>02-06-2012</a:t>
            </a:fld>
            <a:endParaRPr lang="pt-PT" dirty="0"/>
          </a:p>
        </p:txBody>
      </p:sp>
      <p:sp>
        <p:nvSpPr>
          <p:cNvPr id="19459" name="Marcador de Posição do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/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19460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D6CE20-3B57-4749-8B8D-3682276E6A9F}" type="slidenum">
              <a:rPr lang="pt-PT"/>
              <a:pPr/>
              <a:t>15</a:t>
            </a:fld>
            <a:endParaRPr lang="pt-PT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autoUpdateAnimBg="0"/>
      <p:bldP spid="10547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704088"/>
            <a:ext cx="7571184" cy="11430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pt-PT" sz="4000" dirty="0" smtClean="0"/>
              <a:t>Apresentação de contas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935480"/>
            <a:ext cx="7643192" cy="438912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pt-PT" sz="2800" dirty="0" smtClean="0"/>
              <a:t>Extratos </a:t>
            </a:r>
            <a:r>
              <a:rPr lang="pt-PT" sz="2800" dirty="0" smtClean="0"/>
              <a:t>de contas (de todos os planos)</a:t>
            </a:r>
          </a:p>
          <a:p>
            <a:pPr eaLnBrk="1" hangingPunct="1"/>
            <a:r>
              <a:rPr lang="pt-PT" sz="2800" dirty="0" smtClean="0"/>
              <a:t>Balancetes</a:t>
            </a:r>
          </a:p>
          <a:p>
            <a:pPr lvl="1" eaLnBrk="1" hangingPunct="1"/>
            <a:r>
              <a:rPr lang="pt-PT" sz="2400" dirty="0" smtClean="0"/>
              <a:t>do Controlo orçamental</a:t>
            </a:r>
          </a:p>
          <a:p>
            <a:pPr lvl="1" eaLnBrk="1" hangingPunct="1"/>
            <a:r>
              <a:rPr lang="pt-PT" sz="2400" dirty="0" smtClean="0"/>
              <a:t>do POCP</a:t>
            </a:r>
            <a:endParaRPr lang="pt-PT" dirty="0" smtClean="0"/>
          </a:p>
          <a:p>
            <a:pPr lvl="1" eaLnBrk="1" hangingPunct="1"/>
            <a:r>
              <a:rPr lang="pt-PT" sz="2400" dirty="0" smtClean="0"/>
              <a:t>de outros planos (FF,CC ou </a:t>
            </a:r>
            <a:r>
              <a:rPr lang="pt-PT" sz="2400" dirty="0" smtClean="0"/>
              <a:t>projetos</a:t>
            </a:r>
            <a:r>
              <a:rPr lang="pt-PT" sz="2400" dirty="0" smtClean="0"/>
              <a:t>)</a:t>
            </a:r>
          </a:p>
          <a:p>
            <a:pPr eaLnBrk="1" hangingPunct="1"/>
            <a:r>
              <a:rPr lang="pt-PT" sz="2800" dirty="0" smtClean="0"/>
              <a:t>Conta de Gerência</a:t>
            </a:r>
            <a:endParaRPr lang="pt-PT" dirty="0" smtClean="0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9372600" y="-3175"/>
            <a:ext cx="3810000" cy="6907213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lIns="182562" tIns="182562" rIns="182562" bIns="182562">
            <a:spAutoFit/>
          </a:bodyPr>
          <a:lstStyle/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2400" u="sng">
                <a:latin typeface="Arial Narrow" pitchFamily="34" charset="0"/>
              </a:rPr>
              <a:t>Instruções:</a:t>
            </a:r>
            <a:br>
              <a:rPr kumimoji="1" lang="pt-PT" sz="2400" u="sng">
                <a:latin typeface="Arial Narrow" pitchFamily="34" charset="0"/>
              </a:rPr>
            </a:br>
            <a:endParaRPr kumimoji="1" lang="pt-PT" sz="800" u="sng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r>
              <a:rPr kumimoji="1" lang="pt-PT" sz="1800">
                <a:latin typeface="Arial Narrow" pitchFamily="34" charset="0"/>
              </a:rPr>
              <a:t>Elimine os ícones dos documentos de exemplo e substitua-os da seguinte forma pelos dos documentos de trabalho:</a:t>
            </a:r>
          </a:p>
          <a:p>
            <a:pPr marL="222250" indent="-222250" eaLnBrk="0" hangingPunct="0">
              <a:spcBef>
                <a:spcPct val="0"/>
              </a:spcBef>
              <a:buClrTx/>
              <a:buFontTx/>
              <a:buNone/>
            </a:pPr>
            <a:endParaRPr kumimoji="1" lang="pt-PT" sz="1800">
              <a:latin typeface="Arial Narrow" pitchFamily="34" charset="0"/>
            </a:endParaRP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Crie o documento no Word.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Volte ao PowerPoint.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'Objecto' do menu 'Inserir'…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“'Criar a partir de 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Localize o nome do ficheiro na caixa “'Ficheiro”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Certifique-se de que foi seleccionada a opção “Mostrar como ícone“.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um ícone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Seleccione a opção 'Definições de acções' do menu 'Apresentações'.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“'Acção do objecto” e seleccione “'Editar”</a:t>
            </a:r>
          </a:p>
          <a:p>
            <a:pPr marL="222250" indent="-222250" eaLnBrk="0" hangingPunct="0">
              <a:spcBef>
                <a:spcPct val="0"/>
              </a:spcBef>
              <a:buClrTx/>
            </a:pPr>
            <a:r>
              <a:rPr kumimoji="1" lang="pt-PT" sz="1800">
                <a:latin typeface="Arial Narrow" pitchFamily="34" charset="0"/>
              </a:rPr>
              <a:t>Faça clique sobre OK.</a:t>
            </a:r>
            <a:endParaRPr kumimoji="1" lang="pt-PT" sz="2400">
              <a:latin typeface="Times New Roman" pitchFamily="18" charset="0"/>
            </a:endParaRPr>
          </a:p>
        </p:txBody>
      </p:sp>
      <p:graphicFrame>
        <p:nvGraphicFramePr>
          <p:cNvPr id="117765" name="Object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60232" y="2492896"/>
          <a:ext cx="2200275" cy="1239837"/>
        </p:xfrm>
        <a:graphic>
          <a:graphicData uri="http://schemas.openxmlformats.org/presentationml/2006/ole">
            <p:oleObj spid="_x0000_s5122" name="Folha de cálculo" showAsIcon="1" r:id="rId4" imgW="1047600" imgH="590400" progId="Excel.Sheet.8">
              <p:embed/>
            </p:oleObj>
          </a:graphicData>
        </a:graphic>
      </p:graphicFrame>
      <p:graphicFrame>
        <p:nvGraphicFramePr>
          <p:cNvPr id="117769" name="Object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48264" y="4581128"/>
          <a:ext cx="1752600" cy="987425"/>
        </p:xfrm>
        <a:graphic>
          <a:graphicData uri="http://schemas.openxmlformats.org/presentationml/2006/ole">
            <p:oleObj spid="_x0000_s5123" name="Folha de cálculo" showAsIcon="1" r:id="rId5" imgW="1047600" imgH="590400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build="p" autoUpdateAnimBg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764704"/>
            <a:ext cx="7626424" cy="864096"/>
          </a:xfrm>
        </p:spPr>
        <p:txBody>
          <a:bodyPr>
            <a:normAutofit/>
          </a:bodyPr>
          <a:lstStyle/>
          <a:p>
            <a:pPr eaLnBrk="1" hangingPunct="1"/>
            <a:r>
              <a:rPr lang="pt-PT" sz="4000" dirty="0" smtClean="0"/>
              <a:t>Organização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7584" y="1844824"/>
            <a:ext cx="4174232" cy="3960440"/>
          </a:xfrm>
        </p:spPr>
        <p:txBody>
          <a:bodyPr/>
          <a:lstStyle/>
          <a:p>
            <a:pPr eaLnBrk="1" hangingPunct="1"/>
            <a:endParaRPr lang="pt-PT" sz="2400" dirty="0" smtClean="0"/>
          </a:p>
          <a:p>
            <a:pPr eaLnBrk="1" hangingPunct="1"/>
            <a:r>
              <a:rPr lang="pt-PT" sz="2400" dirty="0" smtClean="0"/>
              <a:t>O POCP tem como principal objetivo criar condições para a integração de uma contabilidade orçamental, patrimonial e analítica numa contabilidade moderna.</a:t>
            </a:r>
          </a:p>
        </p:txBody>
      </p:sp>
      <p:pic>
        <p:nvPicPr>
          <p:cNvPr id="119813" name="Picture 5" descr="PE01561_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354936"/>
            <a:ext cx="3810000" cy="2946272"/>
          </a:xfrm>
        </p:spPr>
      </p:pic>
      <p:sp>
        <p:nvSpPr>
          <p:cNvPr id="24578" name="Marcador de Posição da Data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8C3411B9-2679-4648-999B-76317F6884C6}" type="datetime1">
              <a:rPr lang="pt-PT"/>
              <a:pPr/>
              <a:t>02-06-2012</a:t>
            </a:fld>
            <a:endParaRPr lang="pt-PT"/>
          </a:p>
        </p:txBody>
      </p:sp>
      <p:sp>
        <p:nvSpPr>
          <p:cNvPr id="24579" name="Marcador de Posição do Rodapé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24580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A675A8-8168-4D05-A9A1-08FBE8E49808}" type="slidenum">
              <a:rPr lang="pt-PT"/>
              <a:pPr/>
              <a:t>17</a:t>
            </a:fld>
            <a:endParaRPr lang="pt-P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0" grpId="0" autoUpdateAnimBg="0"/>
      <p:bldP spid="119811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000" dirty="0" smtClean="0"/>
              <a:t>Obrigado pela atenção</a:t>
            </a:r>
            <a:endParaRPr lang="pt-PT" sz="40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E6763F-F860-47D8-AF86-86470FF799C4}" type="datetime1">
              <a:rPr lang="pt-PT" smtClean="0"/>
              <a:pPr>
                <a:defRPr/>
              </a:pPr>
              <a:t>02-06-2012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PT" dirty="0" smtClean="0"/>
              <a:t>Alberto Valente Francisco</a:t>
            </a:r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39C61A-6B7F-4A62-A2FD-290958602051}" type="slidenum">
              <a:rPr lang="pt-PT" smtClean="0"/>
              <a:pPr>
                <a:defRPr/>
              </a:pPr>
              <a:t>18</a:t>
            </a:fld>
            <a:endParaRPr lang="pt-PT"/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1646</TotalTime>
  <Words>769</Words>
  <Application>Microsoft Office PowerPoint</Application>
  <PresentationFormat>Apresentação no Ecrã (4:3)</PresentationFormat>
  <Paragraphs>265</Paragraphs>
  <Slides>18</Slides>
  <Notes>17</Notes>
  <HiddenSlides>0</HiddenSlides>
  <MMClips>0</MMClips>
  <ScaleCrop>false</ScaleCrop>
  <HeadingPairs>
    <vt:vector size="8" baseType="variant">
      <vt:variant>
        <vt:lpstr>Tema</vt:lpstr>
      </vt:variant>
      <vt:variant>
        <vt:i4>1</vt:i4>
      </vt:variant>
      <vt:variant>
        <vt:lpstr>Ligações</vt:lpstr>
      </vt:variant>
      <vt:variant>
        <vt:i4>2</vt:i4>
      </vt:variant>
      <vt:variant>
        <vt:lpstr>Servidores OLE incorporados</vt:lpstr>
      </vt:variant>
      <vt:variant>
        <vt:i4>4</vt:i4>
      </vt:variant>
      <vt:variant>
        <vt:lpstr>Títulos dos diapositivos</vt:lpstr>
      </vt:variant>
      <vt:variant>
        <vt:i4>18</vt:i4>
      </vt:variant>
    </vt:vector>
  </HeadingPairs>
  <TitlesOfParts>
    <vt:vector size="25" baseType="lpstr">
      <vt:lpstr>Fluxo</vt:lpstr>
      <vt:lpstr>F:\00 LACIE 20120127\ZARQUIVO\LojaCidadao\99BalancoLojaCid_3.xls</vt:lpstr>
      <vt:lpstr>F:\00 LACIE 20120127\ZARQUIVO\LojaCidadao\99DEMRLojaCid.xls</vt:lpstr>
      <vt:lpstr>Documento do Microsoft Office Word 97 - 2003</vt:lpstr>
      <vt:lpstr>Folha de Cálculo do Microsoft Office Excel 97-2003</vt:lpstr>
      <vt:lpstr>Gráfico</vt:lpstr>
      <vt:lpstr>Folha de cálculo</vt:lpstr>
      <vt:lpstr>Contabilidade Pública</vt:lpstr>
      <vt:lpstr>RAFE</vt:lpstr>
      <vt:lpstr>RAFE</vt:lpstr>
      <vt:lpstr>Legislação de base</vt:lpstr>
      <vt:lpstr>Lei 6/91</vt:lpstr>
      <vt:lpstr>Dec. Lei 155/92</vt:lpstr>
      <vt:lpstr>Planos de Contabilidade Pública</vt:lpstr>
      <vt:lpstr>Objetivos da Contabilidade Pública (desde 1997)</vt:lpstr>
      <vt:lpstr>Contabilidade Pública</vt:lpstr>
      <vt:lpstr>Contabilidade Orçamental</vt:lpstr>
      <vt:lpstr>Orçamento</vt:lpstr>
      <vt:lpstr>Execução orçamental</vt:lpstr>
      <vt:lpstr>Contabilidade Patrimonial</vt:lpstr>
      <vt:lpstr>Contabilidade analítica</vt:lpstr>
      <vt:lpstr>Contabilidade analítica</vt:lpstr>
      <vt:lpstr>Apresentação de contas</vt:lpstr>
      <vt:lpstr>Organização</vt:lpstr>
      <vt:lpstr>Obrigado pela atenção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Alberto Francisco</dc:creator>
  <cp:lastModifiedBy>Alberto Francisco</cp:lastModifiedBy>
  <cp:revision>77</cp:revision>
  <cp:lastPrinted>1601-01-01T00:00:00Z</cp:lastPrinted>
  <dcterms:created xsi:type="dcterms:W3CDTF">1601-01-01T00:00:00Z</dcterms:created>
  <dcterms:modified xsi:type="dcterms:W3CDTF">2012-06-02T15:42:16Z</dcterms:modified>
</cp:coreProperties>
</file>