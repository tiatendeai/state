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0"/>
  </p:notesMasterIdLst>
  <p:handoutMasterIdLst>
    <p:handoutMasterId r:id="rId21"/>
  </p:handoutMasterIdLst>
  <p:sldIdLst>
    <p:sldId id="276" r:id="rId2"/>
    <p:sldId id="256" r:id="rId3"/>
    <p:sldId id="257" r:id="rId4"/>
    <p:sldId id="27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10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3" d="100"/>
          <a:sy n="43" d="100"/>
        </p:scale>
        <p:origin x="-147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pt-BR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pt-BR" alt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pt-BR" alt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014FD528-1A61-473F-A12C-B373733B1B49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pt-BR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pt-BR" altLang="en-US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pt-BR" altLang="en-US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C25BF6A6-1E52-4E73-BE6C-C581A35CE228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>
            <a:grpSpLocks/>
          </p:cNvGrpSpPr>
          <p:nvPr/>
        </p:nvGrpSpPr>
        <p:grpSpPr bwMode="auto">
          <a:xfrm>
            <a:off x="0" y="68263"/>
            <a:ext cx="8678863" cy="6713537"/>
            <a:chOff x="0" y="43"/>
            <a:chExt cx="5467" cy="4229"/>
          </a:xfrm>
        </p:grpSpPr>
        <p:sp>
          <p:nvSpPr>
            <p:cNvPr id="58371" name="Rectangle 3"/>
            <p:cNvSpPr>
              <a:spLocks noChangeArrowheads="1"/>
            </p:cNvSpPr>
            <p:nvPr userDrawn="1"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8372" name="Group 4"/>
            <p:cNvGrpSpPr>
              <a:grpSpLocks/>
            </p:cNvGrpSpPr>
            <p:nvPr userDrawn="1"/>
          </p:nvGrpSpPr>
          <p:grpSpPr bwMode="auto"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58373" name="Line 5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74" name="Line 6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75" name="Line 7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76" name="Line 8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77" name="Line 9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78" name="Line 10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79" name="Line 11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0" name="Line 12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1" name="Line 13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2" name="Line 14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3" name="Line 15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4" name="Line 16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5" name="Line 17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6" name="Line 18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Line 19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8" name="Line 20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9" name="Line 21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0" name="Line 22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1" name="Line 23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2" name="Line 24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3" name="Line 25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4" name="Line 26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5" name="Line 27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6" name="Line 28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7" name="Line 29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8" name="Line 30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9" name="Line 31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0" name="Line 32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1" name="Line 33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2" name="Line 34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3" name="Line 35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4" name="Line 36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5" name="Line 37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6" name="Line 38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7" name="Line 39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8" name="Line 40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09" name="Line 41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0" name="Line 42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1" name="Line 43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2" name="Line 44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3" name="Line 45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4" name="Line 46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5" name="Line 47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6" name="Line 48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7" name="Line 49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8" name="Line 50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19" name="Line 51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0" name="Line 52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1" name="Line 53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2" name="Line 54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3" name="Line 55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4" name="Line 56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5" name="Line 57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6" name="Line 58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7" name="Line 59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8" name="Line 60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29" name="Line 61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0" name="Line 62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1" name="Line 63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2" name="Line 64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3" name="Line 65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4" name="Line 66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5" name="Line 67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6" name="Line 68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7" name="Line 69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8" name="Line 70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39" name="Line 71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0" name="Line 72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1" name="Line 73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2" name="Line 74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3" name="Line 75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4" name="Line 76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5" name="Line 77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6" name="Line 78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7" name="Line 79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8" name="Line 80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49" name="Line 81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0" name="Line 82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1" name="Line 83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2" name="Line 84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3" name="Line 85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4" name="Line 86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5" name="Line 87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6" name="Line 88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7" name="Line 89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8" name="Line 90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59" name="Line 91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0" name="Line 92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1" name="Line 93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2" name="Line 94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3" name="Line 95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4" name="Line 96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5" name="Line 97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6" name="Line 98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7" name="Line 99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8" name="Line 100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69" name="Line 101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470" name="Line 102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8471" name="Rectangle 103"/>
          <p:cNvSpPr>
            <a:spLocks noGrp="1" noChangeArrowheads="1"/>
          </p:cNvSpPr>
          <p:nvPr>
            <p:ph type="dt" sz="half" idx="2"/>
          </p:nvPr>
        </p:nvSpPr>
        <p:spPr>
          <a:xfrm>
            <a:off x="1387475" y="6357938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pt-BR" altLang="en-US"/>
          </a:p>
        </p:txBody>
      </p:sp>
      <p:sp>
        <p:nvSpPr>
          <p:cNvPr id="58472" name="Rectangle 104"/>
          <p:cNvSpPr>
            <a:spLocks noGrp="1" noChangeArrowheads="1"/>
          </p:cNvSpPr>
          <p:nvPr>
            <p:ph type="ftr" sz="quarter" idx="3"/>
          </p:nvPr>
        </p:nvSpPr>
        <p:spPr>
          <a:xfrm>
            <a:off x="2159000" y="6357938"/>
            <a:ext cx="5080000" cy="4572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8473" name="Rectangle 10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/>
            </a:lvl1pPr>
          </a:lstStyle>
          <a:p>
            <a:fld id="{96906CD0-AEBD-4601-B173-167CD2296340}" type="slidenum">
              <a:rPr lang="pt-BR" altLang="en-US"/>
              <a:pPr/>
              <a:t>‹nº›</a:t>
            </a:fld>
            <a:endParaRPr lang="pt-BR" altLang="en-US"/>
          </a:p>
        </p:txBody>
      </p:sp>
      <p:sp>
        <p:nvSpPr>
          <p:cNvPr id="58474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pt-BR" altLang="en-US" noProof="0"/>
              <a:t>Clique para editar o estilo do título mestre</a:t>
            </a:r>
          </a:p>
        </p:txBody>
      </p:sp>
      <p:sp>
        <p:nvSpPr>
          <p:cNvPr id="58475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pt-BR" altLang="en-US" noProof="0"/>
              <a:t>Clique para editar o estilo do subtítulo mestre</a:t>
            </a:r>
          </a:p>
        </p:txBody>
      </p:sp>
      <p:sp>
        <p:nvSpPr>
          <p:cNvPr id="58476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en-US">
              <a:latin typeface="Times New Roman" panose="02020603050405020304" pitchFamily="18" charset="0"/>
            </a:endParaRPr>
          </a:p>
        </p:txBody>
      </p:sp>
      <p:sp>
        <p:nvSpPr>
          <p:cNvPr id="58477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5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6" grpId="0" animBg="1" autoUpdateAnimBg="0"/>
      <p:bldP spid="58477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DB3AD-9FE1-4FA5-8135-569D7FD5FC78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09533144"/>
      </p:ext>
    </p:extLst>
  </p:cSld>
  <p:clrMapOvr>
    <a:masterClrMapping/>
  </p:clrMapOvr>
  <p:transition spd="slow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317EED-965C-4E35-ABA3-220B219CE5D3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47693910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39894C-DD31-49B4-948F-B3D1AD1549D9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755894088"/>
      </p:ext>
    </p:extLst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F286CF-A858-4FE9-B5A4-683AA9672F3C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91437201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B8516-3ECE-4EAA-B701-30525201323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55066146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897588-861B-4A8C-9BB2-550D8EE3AC8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18410164"/>
      </p:ext>
    </p:extLst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399AF1-E188-4C29-8C51-5B987CA68FF9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882387256"/>
      </p:ext>
    </p:extLst>
  </p:cSld>
  <p:clrMapOvr>
    <a:masterClrMapping/>
  </p:clrMapOvr>
  <p:transition spd="slow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8C679D-0BAA-4D50-BFCE-054974E9D042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20363794"/>
      </p:ext>
    </p:extLst>
  </p:cSld>
  <p:clrMapOvr>
    <a:masterClrMapping/>
  </p:clrMapOvr>
  <p:transition spd="slow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05831B-1B95-4634-8F7F-F52410EF9B75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9121747"/>
      </p:ext>
    </p:extLst>
  </p:cSld>
  <p:clrMapOvr>
    <a:masterClrMapping/>
  </p:clrMapOvr>
  <p:transition spd="slow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625" y="609600"/>
            <a:ext cx="5816600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CD70A-DE7E-49EE-8561-85E33B06812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04712735"/>
      </p:ext>
    </p:extLst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2"/>
          <p:cNvGrpSpPr>
            <a:grpSpLocks/>
          </p:cNvGrpSpPr>
          <p:nvPr/>
        </p:nvGrpSpPr>
        <p:grpSpPr bwMode="auto">
          <a:xfrm>
            <a:off x="0" y="68263"/>
            <a:ext cx="8915400" cy="6713537"/>
            <a:chOff x="0" y="43"/>
            <a:chExt cx="5616" cy="4229"/>
          </a:xfrm>
        </p:grpSpPr>
        <p:grpSp>
          <p:nvGrpSpPr>
            <p:cNvPr id="57347" name="Group 3"/>
            <p:cNvGrpSpPr>
              <a:grpSpLocks/>
            </p:cNvGrpSpPr>
            <p:nvPr userDrawn="1"/>
          </p:nvGrpSpPr>
          <p:grpSpPr bwMode="auto"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57348" name="Line 4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49" name="Line 5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0" name="Line 6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1" name="Line 7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2" name="Line 8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3" name="Line 9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4" name="Line 10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5" name="Line 11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6" name="Line 12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7" name="Line 13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8" name="Line 14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59" name="Line 15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0" name="Line 16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1" name="Line 17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2" name="Line 18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3" name="Line 19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4" name="Line 20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5" name="Line 21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6" name="Line 22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7" name="Line 23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8" name="Line 24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69" name="Line 25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1" name="Line 27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2" name="Line 28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3" name="Line 29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4" name="Line 30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5" name="Line 31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6" name="Line 32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7" name="Line 33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8" name="Line 34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79" name="Line 35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0" name="Line 36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1" name="Line 37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2" name="Line 38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3" name="Line 39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4" name="Line 40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5" name="Line 41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6" name="Line 42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7" name="Line 43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8" name="Line 44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9" name="Line 45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0" name="Line 46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1" name="Line 47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2" name="Line 48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3" name="Line 49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4" name="Line 50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5" name="Line 51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6" name="Line 52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7" name="Line 53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8" name="Line 54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9" name="Line 55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0" name="Line 56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1" name="Line 57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2" name="Line 58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3" name="Line 59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4" name="Line 60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5" name="Line 61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6" name="Line 62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7" name="Line 63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8" name="Line 64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9" name="Line 65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0" name="Line 66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1" name="Line 67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2" name="Line 68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3" name="Line 69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4" name="Line 70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5" name="Line 71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6" name="Line 72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7" name="Line 73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8" name="Line 74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19" name="Line 75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0" name="Line 76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1" name="Line 77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2" name="Line 78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3" name="Line 79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4" name="Line 80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5" name="Line 81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6" name="Line 82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7" name="Line 83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8" name="Line 84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29" name="Line 85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0" name="Line 86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1" name="Line 87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2" name="Line 88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3" name="Line 89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4" name="Line 90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5" name="Line 91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6" name="Line 92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7" name="Line 93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8" name="Line 94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39" name="Line 95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0" name="Line 96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1" name="Line 97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2" name="Line 98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3" name="Line 99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4" name="Line 100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5" name="Line 101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7446" name="Group 102"/>
            <p:cNvGrpSpPr>
              <a:grpSpLocks/>
            </p:cNvGrpSpPr>
            <p:nvPr userDrawn="1"/>
          </p:nvGrpSpPr>
          <p:grpSpPr bwMode="auto"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57447" name="Rectangle 103"/>
              <p:cNvSpPr>
                <a:spLocks noChangeArrowheads="1"/>
              </p:cNvSpPr>
              <p:nvPr userDrawn="1"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8" name="Rectangle 104"/>
              <p:cNvSpPr>
                <a:spLocks noChangeArrowheads="1"/>
              </p:cNvSpPr>
              <p:nvPr userDrawn="1"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49" name="Rectangle 105"/>
              <p:cNvSpPr>
                <a:spLocks noChangeArrowheads="1"/>
              </p:cNvSpPr>
              <p:nvPr userDrawn="1"/>
            </p:nvSpPr>
            <p:spPr bwMode="auto">
              <a:xfrm>
                <a:off x="4599" y="1115"/>
                <a:ext cx="929" cy="21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50" name="Rectangle 106"/>
              <p:cNvSpPr>
                <a:spLocks noChangeArrowheads="1"/>
              </p:cNvSpPr>
              <p:nvPr userDrawn="1"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7451" name="Rectangle 10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2214563"/>
            <a:ext cx="7958138" cy="388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57452" name="Rectangle 10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  <a:latin typeface="Arial" panose="020B0604020202020204" pitchFamily="34" charset="0"/>
              </a:defRPr>
            </a:lvl1pPr>
          </a:lstStyle>
          <a:p>
            <a:endParaRPr lang="pt-BR" altLang="en-US"/>
          </a:p>
        </p:txBody>
      </p:sp>
      <p:sp>
        <p:nvSpPr>
          <p:cNvPr id="57453" name="Rectangle 1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folHlink"/>
                </a:solidFill>
                <a:latin typeface="Arial" panose="020B0604020202020204" pitchFamily="34" charset="0"/>
              </a:defRPr>
            </a:lvl1pPr>
          </a:lstStyle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7454" name="Rectangle 1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  <a:latin typeface="+mn-lt"/>
              </a:defRPr>
            </a:lvl1pPr>
          </a:lstStyle>
          <a:p>
            <a:fld id="{DFC673F6-7050-448A-A035-42D0FBFC71F0}" type="slidenum">
              <a:rPr lang="pt-BR" altLang="en-US"/>
              <a:pPr/>
              <a:t>‹nº›</a:t>
            </a:fld>
            <a:endParaRPr lang="pt-BR" altLang="en-US"/>
          </a:p>
        </p:txBody>
      </p:sp>
      <p:sp>
        <p:nvSpPr>
          <p:cNvPr id="57455" name="Rectangle 111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609600"/>
            <a:ext cx="73787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ransition spd="slow">
    <p:zoom/>
  </p:transition>
  <p:hf hdr="0" dt="0"/>
  <p:txStyles>
    <p:titleStyle>
      <a:lvl1pPr algn="ctr" rtl="0" fontAlgn="base">
        <a:lnSpc>
          <a:spcPct val="85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 /><Relationship Id="rId2" Type="http://schemas.openxmlformats.org/officeDocument/2006/relationships/slideLayout" Target="../slideLayouts/slideLayout6.xml" /><Relationship Id="rId1" Type="http://schemas.openxmlformats.org/officeDocument/2006/relationships/vmlDrawing" Target="../drawings/vmlDrawing1.vml" /><Relationship Id="rId5" Type="http://schemas.openxmlformats.org/officeDocument/2006/relationships/image" Target="../media/image1.wmf" /><Relationship Id="rId4" Type="http://schemas.openxmlformats.org/officeDocument/2006/relationships/oleObject" Target="../embeddings/oleObject1.bin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06F4-4114-4F2F-8B3A-C27C209FFB83}" type="slidenum">
              <a:rPr lang="pt-BR" altLang="en-US"/>
              <a:pPr/>
              <a:t>1</a:t>
            </a:fld>
            <a:endParaRPr lang="pt-BR" alt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b="1" i="1">
                <a:latin typeface="Verdana" panose="020B0604030504040204" pitchFamily="34" charset="0"/>
              </a:rPr>
              <a:t>Cartilha NR-13</a:t>
            </a:r>
            <a:endParaRPr lang="pt-BR" altLang="en-US"/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7213600" y="2108200"/>
            <a:ext cx="18288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en-US" sz="1600" i="1">
                <a:solidFill>
                  <a:schemeClr val="folHlink"/>
                </a:solidFill>
                <a:latin typeface="Verdana" panose="020B0604030504040204" pitchFamily="34" charset="0"/>
              </a:rPr>
              <a:t>Elaborado por:</a:t>
            </a:r>
            <a:r>
              <a:rPr lang="pt-BR" altLang="en-US" sz="1600" b="1" i="1">
                <a:solidFill>
                  <a:schemeClr val="folHlink"/>
                </a:solidFill>
                <a:latin typeface="Verdana" panose="020B0604030504040204" pitchFamily="34" charset="0"/>
              </a:rPr>
              <a:t> F.zambon</a:t>
            </a:r>
          </a:p>
          <a:p>
            <a:r>
              <a:rPr lang="pt-BR" altLang="en-US" sz="1600" i="1">
                <a:solidFill>
                  <a:schemeClr val="folHlink"/>
                </a:solidFill>
                <a:latin typeface="Verdana" panose="020B0604030504040204" pitchFamily="34" charset="0"/>
              </a:rPr>
              <a:t>Data:</a:t>
            </a:r>
          </a:p>
          <a:p>
            <a:r>
              <a:rPr lang="pt-BR" altLang="en-US" sz="1600" b="1" i="1">
                <a:solidFill>
                  <a:schemeClr val="folHlink"/>
                </a:solidFill>
                <a:latin typeface="Verdana" panose="020B0604030504040204" pitchFamily="34" charset="0"/>
              </a:rPr>
              <a:t>15/10/2004</a:t>
            </a:r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914400" y="2095500"/>
          <a:ext cx="58674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Document" r:id="rId4" imgW="2658240" imgH="3552840" progId="Word.Document.8">
                  <p:embed/>
                </p:oleObj>
              </mc:Choice>
              <mc:Fallback>
                <p:oleObj name="Document" r:id="rId4" imgW="2658240" imgH="3552840" progId="Word.Document.8">
                  <p:embed/>
                  <p:pic>
                    <p:nvPicPr>
                      <p:cNvPr id="82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95500"/>
                        <a:ext cx="5867400" cy="44196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Rectangle 105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9B695DC0-A999-4FE1-AF11-6F147610C575}" type="slidenum">
              <a:rPr lang="pt-BR" altLang="en-US"/>
              <a:pPr/>
              <a:t>2</a:t>
            </a:fld>
            <a:endParaRPr lang="pt-BR" alt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en-US" sz="8800" b="1" i="1">
                <a:latin typeface="Verdana" panose="020B0604030504040204" pitchFamily="34" charset="0"/>
              </a:rPr>
              <a:t>NR-13 ?</a:t>
            </a:r>
            <a:endParaRPr lang="pt-BR" altLang="en-US" sz="8800" b="1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54163" y="2387600"/>
            <a:ext cx="6662737" cy="4038600"/>
          </a:xfrm>
        </p:spPr>
        <p:txBody>
          <a:bodyPr/>
          <a:lstStyle/>
          <a:p>
            <a:pPr algn="just"/>
            <a:r>
              <a:rPr lang="pt-BR" altLang="en-US" sz="2400">
                <a:latin typeface="Verdana" panose="020B0604030504040204" pitchFamily="34" charset="0"/>
              </a:rPr>
              <a:t>Norma Regulamentadora Nº 13 para caldeiras e vasos de pressão, aprovada pela portaria nº 23 de 26/04/95.</a:t>
            </a:r>
          </a:p>
          <a:p>
            <a:pPr algn="just"/>
            <a:r>
              <a:rPr lang="pt-BR" altLang="en-US" sz="2000" i="1" u="sng">
                <a:latin typeface="Verdana" panose="020B0604030504040204" pitchFamily="34" charset="0"/>
              </a:rPr>
              <a:t>Caldeiras</a:t>
            </a:r>
            <a:r>
              <a:rPr lang="pt-BR" altLang="en-US" sz="2000" u="sng">
                <a:latin typeface="Verdana" panose="020B0604030504040204" pitchFamily="34" charset="0"/>
              </a:rPr>
              <a:t>:</a:t>
            </a:r>
            <a:r>
              <a:rPr lang="pt-BR" altLang="en-US" sz="2000">
                <a:latin typeface="Verdana" panose="020B0604030504040204" pitchFamily="34" charset="0"/>
              </a:rPr>
              <a:t> São equipamentos destinados a  produzir e acumular vapor sob pressão superior a atmosférica utilizando qualquer fonte de energia.</a:t>
            </a:r>
          </a:p>
          <a:p>
            <a:pPr algn="just"/>
            <a:r>
              <a:rPr lang="pt-BR" altLang="en-US" sz="2000" i="1" u="sng">
                <a:latin typeface="Verdana" panose="020B0604030504040204" pitchFamily="34" charset="0"/>
              </a:rPr>
              <a:t>Vasos de pressão:</a:t>
            </a:r>
            <a:r>
              <a:rPr lang="pt-BR" altLang="en-US" sz="2000" i="1">
                <a:latin typeface="Verdana" panose="020B0604030504040204" pitchFamily="34" charset="0"/>
              </a:rPr>
              <a:t> </a:t>
            </a:r>
            <a:r>
              <a:rPr lang="pt-BR" altLang="en-US" sz="2000">
                <a:latin typeface="Verdana" panose="020B0604030504040204" pitchFamily="34" charset="0"/>
              </a:rPr>
              <a:t>São equipamentos que contêm fluidos sob pressão interna ou externa, cujo produto PxV seja superior a 8.</a:t>
            </a:r>
            <a:endParaRPr lang="pt-BR" altLang="en-US" sz="1600">
              <a:latin typeface="Verdana" panose="020B0604030504040204" pitchFamily="34" charset="0"/>
            </a:endParaRPr>
          </a:p>
          <a:p>
            <a:pPr algn="just"/>
            <a:r>
              <a:rPr lang="pt-BR" altLang="en-US" sz="1600" b="1">
                <a:latin typeface="Verdana" panose="020B0604030504040204" pitchFamily="34" charset="0"/>
              </a:rPr>
              <a:t>Onde:</a:t>
            </a:r>
          </a:p>
          <a:p>
            <a:pPr algn="just"/>
            <a:r>
              <a:rPr lang="pt-BR" altLang="en-US" sz="1600" b="1">
                <a:latin typeface="Verdana" panose="020B0604030504040204" pitchFamily="34" charset="0"/>
              </a:rPr>
              <a:t>Pressão (Kpa)</a:t>
            </a:r>
          </a:p>
          <a:p>
            <a:pPr algn="just"/>
            <a:r>
              <a:rPr lang="pt-BR" altLang="en-US" sz="1600" b="1">
                <a:latin typeface="Verdana" panose="020B0604030504040204" pitchFamily="34" charset="0"/>
              </a:rPr>
              <a:t>Volume (m</a:t>
            </a:r>
            <a:r>
              <a:rPr lang="pt-BR" altLang="en-US" sz="1600" b="1" baseline="30000">
                <a:latin typeface="Verdana" panose="020B0604030504040204" pitchFamily="34" charset="0"/>
              </a:rPr>
              <a:t>3</a:t>
            </a:r>
            <a:r>
              <a:rPr lang="pt-BR" altLang="en-US" sz="1600" b="1">
                <a:latin typeface="Verdana" panose="020B0604030504040204" pitchFamily="34" charset="0"/>
              </a:rPr>
              <a:t>)</a:t>
            </a:r>
            <a:endParaRPr lang="pt-BR" altLang="en-US" sz="1600" b="1" i="1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4B36-A1C0-489D-85E3-8B19BBC0E2CD}" type="slidenum">
              <a:rPr lang="pt-BR" altLang="en-US"/>
              <a:pPr/>
              <a:t>3</a:t>
            </a:fld>
            <a:endParaRPr lang="pt-BR" alt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sz="2200">
                <a:latin typeface="Verdana" panose="020B0604030504040204" pitchFamily="34" charset="0"/>
              </a:rPr>
              <a:t>Exemplos de classificação de Vasos de Pressão</a:t>
            </a:r>
            <a:endParaRPr lang="pt-BR" altLang="en-US" sz="2800"/>
          </a:p>
        </p:txBody>
      </p:sp>
      <p:sp>
        <p:nvSpPr>
          <p:cNvPr id="6247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835025" y="2197100"/>
            <a:ext cx="7958138" cy="4114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a) Para verificar se o vaso se enquadra na NR–13.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Máxima Pressão de Operação = 20,4Kgf/cm</a:t>
            </a:r>
            <a:r>
              <a:rPr lang="pt-BR" altLang="en-US" sz="1800" baseline="30000">
                <a:latin typeface="Verdana" panose="020B0604030504040204" pitchFamily="34" charset="0"/>
              </a:rPr>
              <a:t>2</a:t>
            </a:r>
            <a:endParaRPr lang="pt-BR" altLang="en-US" sz="1800">
              <a:latin typeface="Verdan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Para transformar para  Kpa </a:t>
            </a:r>
            <a:r>
              <a:rPr lang="pt-BR" altLang="en-US" sz="1800" u="sng">
                <a:latin typeface="Verdana" panose="020B0604030504040204" pitchFamily="34" charset="0"/>
              </a:rPr>
              <a:t>   20,4    </a:t>
            </a:r>
            <a:r>
              <a:rPr lang="pt-BR" altLang="en-US" sz="1800">
                <a:latin typeface="Verdana" panose="020B0604030504040204" pitchFamily="34" charset="0"/>
              </a:rPr>
              <a:t> </a:t>
            </a:r>
            <a:r>
              <a:rPr lang="pt-BR" altLang="en-US" sz="1800" baseline="-26000">
                <a:latin typeface="Verdana" panose="020B0604030504040204" pitchFamily="34" charset="0"/>
              </a:rPr>
              <a:t>=</a:t>
            </a:r>
            <a:r>
              <a:rPr lang="pt-BR" altLang="en-US" sz="1800">
                <a:latin typeface="Verdana" panose="020B0604030504040204" pitchFamily="34" charset="0"/>
              </a:rPr>
              <a:t> 2000,6 Kpa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                                            0,010197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PxV = 2000,6 (Kpa) x 785 (m</a:t>
            </a:r>
            <a:r>
              <a:rPr lang="pt-BR" altLang="en-US" sz="1800" baseline="30000">
                <a:latin typeface="Verdana" panose="020B0604030504040204" pitchFamily="34" charset="0"/>
              </a:rPr>
              <a:t>3</a:t>
            </a:r>
            <a:r>
              <a:rPr lang="pt-BR" altLang="en-US" sz="1800">
                <a:latin typeface="Verdana" panose="020B0604030504040204" pitchFamily="34" charset="0"/>
              </a:rPr>
              <a:t>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PxV = 1570471,0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PxV &gt;&gt; 8; portanto o vaso se enquadra na NR–13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en-US" sz="1800">
              <a:latin typeface="Verdan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b) Para determinar a categoria do vaso.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Produto Etileno = fluido inflamável = fluído classe “A”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Entrando na Tabela de Classe de Fluído: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PxV= 2,0006 (Mpa) x 785 (m</a:t>
            </a:r>
            <a:r>
              <a:rPr lang="pt-BR" altLang="en-US" sz="1800" baseline="30000">
                <a:latin typeface="Verdana" panose="020B0604030504040204" pitchFamily="34" charset="0"/>
              </a:rPr>
              <a:t>3 </a:t>
            </a:r>
            <a:r>
              <a:rPr lang="pt-BR" altLang="en-US" sz="1800">
                <a:latin typeface="Verdana" panose="020B0604030504040204" pitchFamily="34" charset="0"/>
              </a:rPr>
              <a:t>)</a:t>
            </a:r>
            <a:r>
              <a:rPr lang="pt-BR" altLang="en-US" sz="1800" baseline="30000">
                <a:latin typeface="Verdana" panose="020B0604030504040204" pitchFamily="34" charset="0"/>
              </a:rPr>
              <a:t> </a:t>
            </a:r>
            <a:r>
              <a:rPr lang="pt-BR" altLang="en-US" sz="1800">
                <a:latin typeface="Verdana" panose="020B0604030504040204" pitchFamily="34" charset="0"/>
              </a:rPr>
              <a:t>= 1570,47 (portanto, PxV &gt; 100)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Com PxV &gt; 1</a:t>
            </a:r>
            <a:r>
              <a:rPr lang="pt-BR" altLang="en-US" sz="1800">
                <a:latin typeface="Verdana" panose="020B060403050404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00 (constata-se na tabela que o vaso é da categoria I</a:t>
            </a:r>
          </a:p>
        </p:txBody>
      </p:sp>
    </p:spTree>
  </p:cSld>
  <p:clrMapOvr>
    <a:masterClrMapping/>
  </p:clrMapOvr>
  <p:transition spd="slow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497D-1AC9-4F8E-9920-B81D4F699BF7}" type="slidenum">
              <a:rPr lang="pt-BR" altLang="en-US"/>
              <a:pPr/>
              <a:t>4</a:t>
            </a:fld>
            <a:endParaRPr lang="pt-BR" alt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467600" cy="1143000"/>
          </a:xfrm>
        </p:spPr>
        <p:txBody>
          <a:bodyPr/>
          <a:lstStyle/>
          <a:p>
            <a:r>
              <a:rPr lang="pt-BR" altLang="en-US" sz="2200">
                <a:latin typeface="Verdana" panose="020B0604030504040204" pitchFamily="34" charset="0"/>
              </a:rPr>
              <a:t>Exemplos de classificação de categoria de Caldeiras</a:t>
            </a:r>
            <a:endParaRPr lang="pt-BR" altLang="en-US" sz="280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133600"/>
            <a:ext cx="7958138" cy="4267200"/>
          </a:xfrm>
        </p:spPr>
        <p:txBody>
          <a:bodyPr/>
          <a:lstStyle/>
          <a:p>
            <a:pPr marL="609600" indent="-60960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u="sng">
                <a:latin typeface="Verdana" panose="020B0604030504040204" pitchFamily="34" charset="0"/>
              </a:rPr>
              <a:t>Classificação de Categoria de Caldeiras na NR–13.</a:t>
            </a:r>
            <a:endParaRPr lang="pt-BR" altLang="en-US" sz="1600" b="1" i="1" u="sng">
              <a:latin typeface="Verdan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a)</a:t>
            </a:r>
            <a:r>
              <a:rPr lang="pt-BR" altLang="en-US" sz="1600">
                <a:latin typeface="Verdana" panose="020B0604030504040204" pitchFamily="34" charset="0"/>
              </a:rPr>
              <a:t> caldeiras enquadradas na categoria “A”: são aquelas cuja pressão de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operação é igual ou superior a 1900 Kpa (19,98 Kgf/cm2).</a:t>
            </a:r>
            <a:endParaRPr lang="pt-BR" altLang="en-US" sz="1600" b="1" i="1">
              <a:latin typeface="Verdan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b)</a:t>
            </a:r>
            <a:r>
              <a:rPr lang="pt-BR" altLang="en-US" sz="1600">
                <a:latin typeface="Verdana" panose="020B0604030504040204" pitchFamily="34" charset="0"/>
              </a:rPr>
              <a:t> caldeiras enquadradas na categoria “C”: são aquelas cuja pressão de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operação é igual ou inferior a 588 Kpa (5,99 Kgf/cm2) e o volume é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igual ou inferior a 100 (cem) litros.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c)</a:t>
            </a:r>
            <a:r>
              <a:rPr lang="pt-BR" altLang="en-US" sz="1600">
                <a:latin typeface="Verdana" panose="020B0604030504040204" pitchFamily="34" charset="0"/>
              </a:rPr>
              <a:t> caldeiras enquadradas na categoria “B”: são todas as caldeiras que não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se enquadram nas categorias anteriores.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en-US" sz="1600">
              <a:latin typeface="Verdana" panose="020B060403050404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 u="sng">
                <a:latin typeface="Verdana" panose="020B0604030504040204" pitchFamily="34" charset="0"/>
              </a:rPr>
              <a:t>OBS: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o critério adotado pela NR para a classificação de caldeiras,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leva em conta a pressão de operação e o volume interno da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caldeira. Esse conceito, também é adotado por outras normas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internacionais. Dessa forma, quanto maior a energia, maiores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 i="1">
                <a:latin typeface="Verdana" panose="020B0604030504040204" pitchFamily="34" charset="0"/>
              </a:rPr>
              <a:t>serão os riscos envolvidos.</a:t>
            </a:r>
            <a:endParaRPr lang="pt-BR" altLang="en-US" sz="1600" b="1" i="1">
              <a:latin typeface="Verdana" panose="020B060403050404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  <p:transition spd="slow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D7560-E95E-4265-B3A7-6FE446B62E7F}" type="slidenum">
              <a:rPr lang="pt-BR" altLang="en-US"/>
              <a:pPr/>
              <a:t>5</a:t>
            </a:fld>
            <a:endParaRPr lang="pt-BR" alt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2200">
                <a:latin typeface="Verdana" panose="020B0604030504040204" pitchFamily="34" charset="0"/>
              </a:rPr>
              <a:t>Toda caldeira e vaso de pressão deve ter afixado em seu corpo em local de fácil acesso e bem visível, placa de identificação com no mínimo as seguintes  informações:</a:t>
            </a:r>
            <a:endParaRPr lang="pt-BR" altLang="en-US" sz="240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3195637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Fabricante;</a:t>
            </a:r>
          </a:p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Ano de fabricação;</a:t>
            </a:r>
          </a:p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Pressão máxima de trabalho admissível;</a:t>
            </a:r>
          </a:p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Pressão de teste hidrostático;</a:t>
            </a:r>
          </a:p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Capacidade de produção de vapor (Caldeira);</a:t>
            </a:r>
          </a:p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Área de superfície de aquecimento (Caldeira);</a:t>
            </a:r>
          </a:p>
          <a:p>
            <a:pPr marL="609600" indent="-609600">
              <a:buFont typeface="Wingdings" panose="05000000000000000000" pitchFamily="2" charset="2"/>
              <a:buAutoNum type="alphaLcParenR"/>
            </a:pPr>
            <a:r>
              <a:rPr lang="pt-BR" altLang="en-US" sz="2400">
                <a:latin typeface="Verdana" panose="020B0604030504040204" pitchFamily="34" charset="0"/>
              </a:rPr>
              <a:t>Código de projeto e ano de edição.</a:t>
            </a:r>
          </a:p>
        </p:txBody>
      </p:sp>
    </p:spTree>
  </p:cSld>
  <p:clrMapOvr>
    <a:masterClrMapping/>
  </p:clrMapOvr>
  <p:transition spd="slow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EFE5-F36C-4E47-B192-B7CC6EE22E14}" type="slidenum">
              <a:rPr lang="pt-BR" altLang="en-US"/>
              <a:pPr/>
              <a:t>6</a:t>
            </a:fld>
            <a:endParaRPr lang="pt-BR" altLang="en-US"/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>
            <a:off x="5486400" y="3276600"/>
            <a:ext cx="3276600" cy="1981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99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838200" y="3276600"/>
            <a:ext cx="3200400" cy="19050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99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1800">
                <a:latin typeface="Verdana" panose="020B0604030504040204" pitchFamily="34" charset="0"/>
              </a:rPr>
              <a:t>Além da placa de identificação, devem  constar em local visível, a categoria das caldeiras e dos vasos de pressão. Essas informações poderão ser pintadas em local de fácil visualização, com dimensões tais que possam ser facilmente percebidas a distância de aproximadamente 10 metros.</a:t>
            </a:r>
            <a:endParaRPr lang="pt-BR" altLang="en-US" sz="200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Exemplos: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en-US" sz="180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en-US" sz="180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en-US" sz="180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TAG: </a:t>
            </a:r>
            <a:r>
              <a:rPr lang="pt-BR" altLang="en-US" sz="1800" b="1">
                <a:solidFill>
                  <a:srgbClr val="FF0000"/>
                </a:solidFill>
                <a:latin typeface="Verdana" panose="020B0604030504040204" pitchFamily="34" charset="0"/>
              </a:rPr>
              <a:t>2351–CA–05</a:t>
            </a: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			  TAG: </a:t>
            </a:r>
            <a:r>
              <a:rPr lang="pt-BR" altLang="en-US" sz="1800" b="1">
                <a:solidFill>
                  <a:srgbClr val="FF0000"/>
                </a:solidFill>
                <a:latin typeface="Verdana" panose="020B0604030504040204" pitchFamily="34" charset="0"/>
              </a:rPr>
              <a:t>2351–VA–01</a:t>
            </a: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CATEGORIA:</a:t>
            </a:r>
            <a:r>
              <a:rPr lang="pt-BR" altLang="en-US" sz="1800" b="1">
                <a:solidFill>
                  <a:srgbClr val="FF0000"/>
                </a:solidFill>
                <a:latin typeface="Verdana" panose="020B0604030504040204" pitchFamily="34" charset="0"/>
              </a:rPr>
              <a:t>“B”</a:t>
            </a: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			  CATEGORIA: </a:t>
            </a:r>
            <a:r>
              <a:rPr lang="pt-BR" altLang="en-US" sz="1800" b="1">
                <a:solidFill>
                  <a:srgbClr val="FF0000"/>
                </a:solidFill>
                <a:latin typeface="Verdana" panose="020B0604030504040204" pitchFamily="34" charset="0"/>
              </a:rPr>
              <a:t>I</a:t>
            </a:r>
            <a:endParaRPr lang="pt-BR" altLang="en-US" sz="1800" b="1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en-US" sz="1800" b="1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						  CLASSE DO FLUÍDO:</a:t>
            </a:r>
            <a:r>
              <a:rPr lang="pt-BR" altLang="en-US" sz="1800" b="1">
                <a:solidFill>
                  <a:srgbClr val="FF0000"/>
                </a:solidFill>
                <a:latin typeface="Verdana" panose="020B0604030504040204" pitchFamily="34" charset="0"/>
              </a:rPr>
              <a:t>“A”</a:t>
            </a:r>
            <a:endParaRPr lang="pt-BR" altLang="en-US" sz="1800" b="1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9565-F673-4C3A-A516-58D8B3123380}" type="slidenum">
              <a:rPr lang="pt-BR" altLang="en-US"/>
              <a:pPr/>
              <a:t>7</a:t>
            </a:fld>
            <a:endParaRPr lang="pt-BR" alt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en-US" sz="2200">
                <a:latin typeface="Verdana" panose="020B0604030504040204" pitchFamily="34" charset="0"/>
              </a:rPr>
              <a:t>Toda  caldeira e vaso de pressão deve possuir no estabelecimento onde estiver  instalado a seguinte documentação devidamente atualizada:</a:t>
            </a:r>
            <a:r>
              <a:rPr lang="pt-BR" altLang="en-US" sz="2000"/>
              <a:t>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09800"/>
            <a:ext cx="7877175" cy="39624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a) Prontuário contendo as seguintes informações: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Código do projeto e ano de edição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Especificação dos materiais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Procedimentos utilizados na fabricação, montagem, inspeção final e determinação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do PMTA.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Conjunto de desenhos e demais dados necessários para monitoramento da vida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útil da caldeira/vasos de pressão.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Características funcionais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Dados dos dispositivos de segurança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Ano de fabricação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400">
                <a:latin typeface="Verdana" panose="020B0604030504040204" pitchFamily="34" charset="0"/>
              </a:rPr>
              <a:t>- Categoria da caldeira/vaso de pressão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800">
                <a:latin typeface="Verdana" panose="020B0604030504040204" pitchFamily="34" charset="0"/>
              </a:rPr>
              <a:t>b) Registro de Segurança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800">
                <a:latin typeface="Verdana" panose="020B0604030504040204" pitchFamily="34" charset="0"/>
              </a:rPr>
              <a:t>c) Projeto de Instalação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800">
                <a:latin typeface="Verdana" panose="020B0604030504040204" pitchFamily="34" charset="0"/>
              </a:rPr>
              <a:t>d) Projeto de Alteração ou Reparo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pt-BR" altLang="en-US" sz="1800">
                <a:latin typeface="Verdana" panose="020B0604030504040204" pitchFamily="34" charset="0"/>
              </a:rPr>
              <a:t>e) Relatório de Inspeção.</a:t>
            </a:r>
          </a:p>
        </p:txBody>
      </p:sp>
    </p:spTree>
  </p:cSld>
  <p:clrMapOvr>
    <a:masterClrMapping/>
  </p:clrMapOvr>
  <p:transition spd="slow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3B8E-45BB-4E9B-BB61-A8A06AE5942E}" type="slidenum">
              <a:rPr lang="pt-BR" altLang="en-US"/>
              <a:pPr/>
              <a:t>8</a:t>
            </a:fld>
            <a:endParaRPr lang="pt-BR" alt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en-US" sz="2200">
                <a:latin typeface="Verdana" panose="020B0604030504040204" pitchFamily="34" charset="0"/>
              </a:rPr>
              <a:t>O registro de segurança deve ser constituído de livro próprio, com páginas numeradas onde serão registrados:</a:t>
            </a:r>
            <a:endParaRPr lang="pt-BR" altLang="en-US" sz="20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087563"/>
            <a:ext cx="8105775" cy="4338637"/>
          </a:xfrm>
        </p:spPr>
        <p:txBody>
          <a:bodyPr/>
          <a:lstStyle/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a) Todas as ocorrências importantes capazes de influir nas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condições de segurança da caldeira/vaso de pressão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b) As ocorrências de inspeções de segurança periódicas e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extraordinárias, devendo constar o nome legível e assinatura de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profissional habilitado e de Operador de caldeira presente na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ocasião de inspeção, encarregado, etc.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Exemplo: (livro de registro)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Por volta das 21:15h do dia 26/04/2001, a caldeira CA–05, foi retirada de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operação,devido a vazamento originado de tubo furado.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No dia 27/04/2001, por volta das 20:45h, foi realizado tamponamento do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tubo nº 29 da linha 07.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Por volta das 09:00h do dia 28/04/2001, foi realizado teste hidrostático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durante 01 hora, com pressão 30 Kgf/cm2.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Os teste foram satisfatórios, podendo a caldeira voltar a operar com 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>
                <a:solidFill>
                  <a:srgbClr val="FF0000"/>
                </a:solidFill>
                <a:latin typeface="Verdana" panose="020B0604030504040204" pitchFamily="34" charset="0"/>
              </a:rPr>
              <a:t>segurança.</a:t>
            </a:r>
          </a:p>
        </p:txBody>
      </p:sp>
    </p:spTree>
  </p:cSld>
  <p:clrMapOvr>
    <a:masterClrMapping/>
  </p:clrMapOvr>
  <p:transition spd="slow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52DA-2FB9-4660-8E1F-1BEDA6EA826A}" type="slidenum">
              <a:rPr lang="pt-BR" altLang="en-US"/>
              <a:pPr/>
              <a:t>9</a:t>
            </a:fld>
            <a:endParaRPr lang="pt-BR" alt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2200">
                <a:latin typeface="Verdana" panose="020B0604030504040204" pitchFamily="34" charset="0"/>
              </a:rPr>
              <a:t>Toda caldeira e vasos de pressão da categoria I e II, deve possuir manual de operação atualizado, em língua portuguesa, em local de fácil acesso aos operadores, contendo no mínimo:</a:t>
            </a:r>
            <a:endParaRPr lang="pt-BR" altLang="en-US" sz="240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09800"/>
            <a:ext cx="7958138" cy="39624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a) Procedimento de partidas e paradas;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pt-BR" altLang="en-US" sz="2400">
              <a:latin typeface="Verdana" panose="020B060403050404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b) Procedimento e parâmetros operacionais de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rotina;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pt-BR" altLang="en-US" sz="2400">
              <a:latin typeface="Verdana" panose="020B060403050404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c) Procedimentos para situações de emergência;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pt-BR" altLang="en-US" sz="2400">
              <a:latin typeface="Verdana" panose="020B060403050404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d) Procedimento gerais de segurança, saúde e de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preservação do meio ambiente.</a:t>
            </a:r>
          </a:p>
        </p:txBody>
      </p:sp>
    </p:spTree>
  </p:cSld>
  <p:clrMapOvr>
    <a:masterClrMapping/>
  </p:clrMapOvr>
  <p:transition spd="slow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C2A-6F7E-4F26-9E23-92214628BC11}" type="slidenum">
              <a:rPr lang="pt-BR" altLang="en-US"/>
              <a:pPr/>
              <a:t>10</a:t>
            </a:fld>
            <a:endParaRPr lang="pt-BR" altLang="en-US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1800" u="sng">
                <a:latin typeface="Verdana" panose="020B0604030504040204" pitchFamily="34" charset="0"/>
              </a:rPr>
              <a:t>Treinamento</a:t>
            </a:r>
            <a:r>
              <a:rPr lang="pt-BR" altLang="en-US" sz="1800">
                <a:latin typeface="Verdana" panose="020B0604030504040204" pitchFamily="34" charset="0"/>
              </a:rPr>
              <a:t>:</a:t>
            </a:r>
            <a:br>
              <a:rPr lang="pt-BR" altLang="en-US" sz="1800">
                <a:latin typeface="Verdana" panose="020B0604030504040204" pitchFamily="34" charset="0"/>
              </a:rPr>
            </a:br>
            <a:r>
              <a:rPr lang="pt-BR" altLang="en-US" sz="1800">
                <a:latin typeface="Verdana" panose="020B0604030504040204" pitchFamily="34" charset="0"/>
              </a:rPr>
              <a:t>Todo operador de caldeira deverá ter o mínimo 1º grau completo e possuir treinamento de segurança na operação de caldeiras.</a:t>
            </a:r>
            <a:r>
              <a:rPr lang="pt-BR" altLang="en-US" sz="1800" b="1">
                <a:latin typeface="Verdana" panose="020B0604030504040204" pitchFamily="34" charset="0"/>
              </a:rPr>
              <a:t> Currículo mínimo para treinamento</a:t>
            </a:r>
            <a:r>
              <a:rPr lang="pt-BR" altLang="en-US" sz="1800">
                <a:latin typeface="Verdana" panose="020B0604030504040204" pitchFamily="34" charset="0"/>
              </a:rPr>
              <a:t>:</a:t>
            </a:r>
            <a:endParaRPr lang="pt-BR" altLang="en-US" sz="200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133600"/>
            <a:ext cx="8077200" cy="4267200"/>
          </a:xfrm>
        </p:spPr>
        <p:txBody>
          <a:bodyPr/>
          <a:lstStyle/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1) Noções de grandezas físicas e unidades………………………………	04 horas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2) Condições gerais de caldeiras……………………………………………….	08 horas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3) Operação de caldeiras…………………………………………………………..	12 horas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4) Tratamento de água e manutenção de caldeiras………………..	08 horas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5) Prevenções contra explosões e outros riscos……………………….	04 horas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>
                <a:latin typeface="Verdana" panose="020B0604030504040204" pitchFamily="34" charset="0"/>
              </a:rPr>
              <a:t>6) Legislação e Normalização (NR–13)…………………………………….	04 horas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i="1" u="sng">
                <a:latin typeface="Verdana" panose="020B0604030504040204" pitchFamily="34" charset="0"/>
              </a:rPr>
              <a:t>Obs</a:t>
            </a:r>
            <a:r>
              <a:rPr lang="pt-BR" altLang="en-US" sz="1600">
                <a:latin typeface="Verdana" panose="020B0604030504040204" pitchFamily="34" charset="0"/>
              </a:rPr>
              <a:t>: Todo operador de caldeira deve cumprir um estágio prático na operação da própria caldeira que irá operar, o qual deve ser supervisionado, documentado e ter duração mínima de 60 horas, para caldeiras de categoria “B”.</a:t>
            </a: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en-US" sz="1600">
              <a:latin typeface="Verdana" panose="020B0604030504040204" pitchFamily="34" charset="0"/>
            </a:endParaRPr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600" b="1">
                <a:latin typeface="Verdana" panose="020B0604030504040204" pitchFamily="34" charset="0"/>
              </a:rPr>
              <a:t>O supervisor de estágio poderá ser</a:t>
            </a:r>
            <a:r>
              <a:rPr lang="pt-BR" altLang="en-US" sz="1600">
                <a:latin typeface="Verdana" panose="020B0604030504040204" pitchFamily="34" charset="0"/>
              </a:rPr>
              <a:t>: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pt-BR" altLang="en-US" sz="1600">
                <a:latin typeface="Verdana" panose="020B0604030504040204" pitchFamily="34" charset="0"/>
              </a:rPr>
              <a:t>- Encarregado de Operação;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pt-BR" altLang="en-US" sz="1600">
                <a:latin typeface="Verdana" panose="020B0604030504040204" pitchFamily="34" charset="0"/>
              </a:rPr>
              <a:t>- Engenheiro da Área de Caldeira;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pt-BR" altLang="en-US" sz="1600">
                <a:latin typeface="Verdana" panose="020B0604030504040204" pitchFamily="34" charset="0"/>
              </a:rPr>
              <a:t>- Operador mais experiente;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pt-BR" altLang="en-US" sz="1600">
                <a:latin typeface="Verdana" panose="020B0604030504040204" pitchFamily="34" charset="0"/>
              </a:rPr>
              <a:t>- Engenheiro Habilitado.</a:t>
            </a:r>
          </a:p>
        </p:txBody>
      </p:sp>
    </p:spTree>
  </p:cSld>
  <p:clrMapOvr>
    <a:masterClrMapping/>
  </p:clrMapOvr>
  <p:transition spd="slow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4AC0-DBAF-435F-8320-4FA8CE18A7E6}" type="slidenum">
              <a:rPr lang="pt-BR" altLang="en-US"/>
              <a:pPr/>
              <a:t>11</a:t>
            </a:fld>
            <a:endParaRPr lang="pt-BR" alt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2400" u="sng">
                <a:latin typeface="Verdana" panose="020B0604030504040204" pitchFamily="34" charset="0"/>
              </a:rPr>
              <a:t>Treinamento</a:t>
            </a:r>
            <a:r>
              <a:rPr lang="pt-BR" altLang="en-US" sz="2400">
                <a:latin typeface="Verdana" panose="020B0604030504040204" pitchFamily="34" charset="0"/>
              </a:rPr>
              <a:t>:</a:t>
            </a:r>
            <a:br>
              <a:rPr lang="pt-BR" altLang="en-US" sz="2400">
                <a:latin typeface="Verdana" panose="020B0604030504040204" pitchFamily="34" charset="0"/>
              </a:rPr>
            </a:br>
            <a:r>
              <a:rPr lang="pt-BR" altLang="en-US" sz="2400">
                <a:latin typeface="Verdana" panose="020B0604030504040204" pitchFamily="34" charset="0"/>
              </a:rPr>
              <a:t>O estágio deve ser informado, previamente  a </a:t>
            </a:r>
            <a:br>
              <a:rPr lang="pt-BR" altLang="en-US" sz="2400">
                <a:latin typeface="Verdana" panose="020B0604030504040204" pitchFamily="34" charset="0"/>
              </a:rPr>
            </a:br>
            <a:r>
              <a:rPr lang="pt-BR" altLang="en-US" sz="2400">
                <a:latin typeface="Verdana" panose="020B0604030504040204" pitchFamily="34" charset="0"/>
              </a:rPr>
              <a:t>representação sindical da categoria.</a:t>
            </a:r>
            <a:endParaRPr lang="pt-BR" altLang="en-US" sz="280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Tx/>
              <a:buChar char="-"/>
            </a:pPr>
            <a:r>
              <a:rPr lang="pt-BR" altLang="en-US" sz="2800">
                <a:latin typeface="Verdana" panose="020B0604030504040204" pitchFamily="34" charset="0"/>
              </a:rPr>
              <a:t>Período de realização</a:t>
            </a:r>
          </a:p>
          <a:p>
            <a:pPr algn="just">
              <a:buFontTx/>
              <a:buChar char="-"/>
            </a:pPr>
            <a:endParaRPr lang="pt-BR" altLang="en-US" sz="2800">
              <a:latin typeface="Verdana" panose="020B0604030504040204" pitchFamily="34" charset="0"/>
            </a:endParaRPr>
          </a:p>
          <a:p>
            <a:pPr algn="just">
              <a:buFontTx/>
              <a:buChar char="-"/>
            </a:pPr>
            <a:r>
              <a:rPr lang="pt-BR" altLang="en-US" sz="2800">
                <a:latin typeface="Verdana" panose="020B0604030504040204" pitchFamily="34" charset="0"/>
              </a:rPr>
              <a:t>Participantes</a:t>
            </a:r>
          </a:p>
          <a:p>
            <a:pPr algn="just">
              <a:buFontTx/>
              <a:buChar char="-"/>
            </a:pPr>
            <a:endParaRPr lang="pt-BR" altLang="en-US" sz="2800">
              <a:latin typeface="Verdana" panose="020B0604030504040204" pitchFamily="34" charset="0"/>
            </a:endParaRPr>
          </a:p>
          <a:p>
            <a:pPr algn="just">
              <a:buFontTx/>
              <a:buChar char="-"/>
            </a:pPr>
            <a:r>
              <a:rPr lang="pt-BR" altLang="en-US" sz="2800">
                <a:latin typeface="Verdana" panose="020B0604030504040204" pitchFamily="34" charset="0"/>
              </a:rPr>
              <a:t>Supervisão do estágio</a:t>
            </a:r>
          </a:p>
          <a:p>
            <a:pPr algn="just">
              <a:buFontTx/>
              <a:buChar char="-"/>
            </a:pPr>
            <a:endParaRPr lang="pt-BR" altLang="en-US" sz="2800">
              <a:latin typeface="Verdana" panose="020B0604030504040204" pitchFamily="34" charset="0"/>
            </a:endParaRPr>
          </a:p>
          <a:p>
            <a:pPr algn="just">
              <a:buFontTx/>
              <a:buChar char="-"/>
            </a:pPr>
            <a:r>
              <a:rPr lang="pt-BR" altLang="en-US" sz="2800">
                <a:latin typeface="Verdana" panose="020B0604030504040204" pitchFamily="34" charset="0"/>
              </a:rPr>
              <a:t>Entidade</a:t>
            </a:r>
          </a:p>
        </p:txBody>
      </p:sp>
    </p:spTree>
  </p:cSld>
  <p:clrMapOvr>
    <a:masterClrMapping/>
  </p:clrMapOvr>
  <p:transition spd="slow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2EF10-667D-4353-9438-EF31D7472543}" type="slidenum">
              <a:rPr lang="pt-BR" altLang="en-US"/>
              <a:pPr/>
              <a:t>12</a:t>
            </a:fld>
            <a:endParaRPr lang="pt-BR" altLang="en-US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1800" u="sng">
                <a:latin typeface="Verdana" panose="020B0604030504040204" pitchFamily="34" charset="0"/>
              </a:rPr>
              <a:t>Treinamento</a:t>
            </a:r>
            <a:r>
              <a:rPr lang="pt-BR" altLang="en-US" sz="1800">
                <a:latin typeface="Verdana" panose="020B0604030504040204" pitchFamily="34" charset="0"/>
              </a:rPr>
              <a:t>:</a:t>
            </a:r>
            <a:br>
              <a:rPr lang="pt-BR" altLang="en-US" sz="1800">
                <a:latin typeface="Verdana" panose="020B0604030504040204" pitchFamily="34" charset="0"/>
              </a:rPr>
            </a:br>
            <a:r>
              <a:rPr lang="pt-BR" altLang="en-US" sz="1800">
                <a:latin typeface="Verdana" panose="020B0604030504040204" pitchFamily="34" charset="0"/>
              </a:rPr>
              <a:t>Todo operador com treinamento de segurança na operação de unidade de processo (Vasos de Pressão) deve cumprir estágio prático, supervisionado na operação de vasos de pressão com durações mínimas:</a:t>
            </a:r>
            <a:endParaRPr lang="pt-BR" altLang="en-US" sz="200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1063" y="2214563"/>
            <a:ext cx="7958137" cy="4033837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a) 300 horas para vasos de categorias I ou II;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1800">
                <a:latin typeface="Verdana" panose="020B0604030504040204" pitchFamily="34" charset="0"/>
              </a:rPr>
              <a:t>b) 100 horas para vasos de categorias III, IV ou V.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pt-BR" altLang="en-US" sz="1800" i="1" u="sng">
              <a:latin typeface="Verdana" panose="020B060403050404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1800" i="1" u="sng">
                <a:latin typeface="Verdana" panose="020B0604030504040204" pitchFamily="34" charset="0"/>
              </a:rPr>
              <a:t>OBS</a:t>
            </a:r>
            <a:r>
              <a:rPr lang="pt-BR" altLang="en-US" sz="1800">
                <a:latin typeface="Verdana" panose="020B0604030504040204" pitchFamily="34" charset="0"/>
              </a:rPr>
              <a:t>: 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1) Deverão ficar arquivados os documentos que comprovem a 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participação de seus operadores no referido estágio.</a:t>
            </a:r>
          </a:p>
          <a:p>
            <a:pPr marL="609600" indent="-609600" algn="just">
              <a:buFontTx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2) No caso da área não possuir  vasos de pressão de categorias I </a:t>
            </a:r>
          </a:p>
          <a:p>
            <a:pPr marL="609600" indent="-609600" algn="just">
              <a:buFontTx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ou II, não há necessidade de existirem operadores com </a:t>
            </a:r>
          </a:p>
          <a:p>
            <a:pPr marL="609600" indent="-609600" algn="just">
              <a:buFontTx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treinamento de segurança na operação de unidades de processo. </a:t>
            </a:r>
          </a:p>
          <a:p>
            <a:pPr marL="609600" indent="-609600" algn="just">
              <a:buFontTx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Faz-se necessário, no entanto, o cumprimento do estágio prático </a:t>
            </a:r>
          </a:p>
          <a:p>
            <a:pPr marL="609600" indent="-609600" algn="just">
              <a:buFontTx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supervisionado de 100 horas deve ser informado previamente a </a:t>
            </a:r>
          </a:p>
          <a:p>
            <a:pPr marL="609600" indent="-609600" algn="just">
              <a:buFontTx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Representação Sindical da categoria.</a:t>
            </a:r>
          </a:p>
        </p:txBody>
      </p:sp>
    </p:spTree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E3D6-1451-475F-8B8C-F15A15255635}" type="slidenum">
              <a:rPr lang="pt-BR" altLang="en-US"/>
              <a:pPr/>
              <a:t>13</a:t>
            </a:fld>
            <a:endParaRPr lang="pt-BR" alt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2200" u="sng">
                <a:latin typeface="Verdana" panose="020B0604030504040204" pitchFamily="34" charset="0"/>
              </a:rPr>
              <a:t>Treinamento</a:t>
            </a:r>
            <a:r>
              <a:rPr lang="pt-BR" altLang="en-US" sz="2200">
                <a:latin typeface="Verdana" panose="020B0604030504040204" pitchFamily="34" charset="0"/>
              </a:rPr>
              <a:t>:</a:t>
            </a:r>
            <a:br>
              <a:rPr lang="pt-BR" altLang="en-US" sz="2200">
                <a:latin typeface="Verdana" panose="020B0604030504040204" pitchFamily="34" charset="0"/>
              </a:rPr>
            </a:br>
            <a:r>
              <a:rPr lang="pt-BR" altLang="en-US" sz="2200">
                <a:latin typeface="Verdana" panose="020B0604030504040204" pitchFamily="34" charset="0"/>
              </a:rPr>
              <a:t>Currículo mínimo para treinamento de segurança na operação de unidades de processos.</a:t>
            </a:r>
            <a:endParaRPr lang="pt-BR" altLang="en-US" sz="240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90763"/>
            <a:ext cx="7958138" cy="3500437"/>
          </a:xfrm>
        </p:spPr>
        <p:txBody>
          <a:bodyPr/>
          <a:lstStyle/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1) Noções de grandezas físicas e unidades………….	04 horas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2) Equipamentos de processo (</a:t>
            </a:r>
            <a:r>
              <a:rPr lang="pt-BR" altLang="en-US" sz="1800" i="1">
                <a:latin typeface="Verdana" panose="020B0604030504040204" pitchFamily="34" charset="0"/>
              </a:rPr>
              <a:t>trocador de calor, bombas, 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tubulações, tanques, etc.</a:t>
            </a:r>
            <a:r>
              <a:rPr lang="pt-BR" altLang="en-US" sz="2000">
                <a:latin typeface="Verdana" panose="020B0604030504040204" pitchFamily="34" charset="0"/>
              </a:rPr>
              <a:t>)………………………………………..	04 horas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3) Eletricidade………………………………………………………..	04 horas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4) Instrumentação………………………………………………..	08 horas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5) Operação de unidade (</a:t>
            </a:r>
            <a:r>
              <a:rPr lang="pt-BR" altLang="en-US" sz="1800" i="1">
                <a:latin typeface="Verdana" panose="020B0604030504040204" pitchFamily="34" charset="0"/>
              </a:rPr>
              <a:t>carga horária de acordo com a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1800" i="1">
                <a:latin typeface="Verdana" panose="020B0604030504040204" pitchFamily="34" charset="0"/>
              </a:rPr>
              <a:t>complexidade da área</a:t>
            </a:r>
            <a:r>
              <a:rPr lang="pt-BR" altLang="en-US" sz="2000">
                <a:latin typeface="Verdana" panose="020B0604030504040204" pitchFamily="34" charset="0"/>
              </a:rPr>
              <a:t>)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6) Primeiros socorros…………………………………………….	08 horas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7) Legislação e Normalização……………………………….	04 horas</a:t>
            </a:r>
          </a:p>
        </p:txBody>
      </p:sp>
    </p:spTree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ECDF-F9C8-42A1-8E4C-8123C0A84454}" type="slidenum">
              <a:rPr lang="pt-BR" altLang="en-US"/>
              <a:pPr/>
              <a:t>14</a:t>
            </a:fld>
            <a:endParaRPr lang="pt-BR" alt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b="1" i="1">
                <a:latin typeface="Verdana" panose="020B0604030504040204" pitchFamily="34" charset="0"/>
              </a:rPr>
              <a:t>Teste Hidrostático</a:t>
            </a:r>
            <a:endParaRPr lang="pt-BR" altLang="en-US" sz="400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3957637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Todas as intervenções que exijam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mandrilhamentos ou soldagem em partes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que operem sob pressão devem ser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seguidas de teste hidrostático, com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características definidas pelo profissional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habilitado.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Os resultados do teste hidrostático deverá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constar no relatório de inspeção e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600">
                <a:latin typeface="Verdana" panose="020B0604030504040204" pitchFamily="34" charset="0"/>
              </a:rPr>
              <a:t>armazenado no livro de registro.</a:t>
            </a:r>
          </a:p>
        </p:txBody>
      </p:sp>
    </p:spTree>
  </p:cSld>
  <p:clrMapOvr>
    <a:masterClrMapping/>
  </p:clrMapOvr>
  <p:transition spd="slow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2E048-8C3C-46AD-BC86-A042F9A6DBE0}" type="slidenum">
              <a:rPr lang="pt-BR" altLang="en-US"/>
              <a:pPr/>
              <a:t>15</a:t>
            </a:fld>
            <a:endParaRPr lang="pt-BR" alt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altLang="en-US" sz="2200">
                <a:latin typeface="Verdana" panose="020B0604030504040204" pitchFamily="34" charset="0"/>
              </a:rPr>
              <a:t>A inspeção de segurança periódica, constituída por exame interno e externo, deve ser executado no prazo máximo de 12 meses, para caldeira de categoria “B”.</a:t>
            </a:r>
            <a:endParaRPr lang="pt-BR" altLang="en-US" sz="240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76463"/>
            <a:ext cx="7958138" cy="4110037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A empresa que possuir  serviço próprio de inspeção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homologado por órgão competente, poderá estender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períodos entre inspeções. No caso das caldeiras categoria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“B” de 12 meses para 18 meses.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en-US" sz="2000" b="1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400" b="1" i="1">
                <a:latin typeface="Verdana" panose="020B0604030504040204" pitchFamily="34" charset="0"/>
              </a:rPr>
              <a:t>Vasos de pressão</a:t>
            </a:r>
            <a:r>
              <a:rPr lang="pt-BR" altLang="en-US" sz="2400" i="1">
                <a:latin typeface="Verdana" panose="020B0604030504040204" pitchFamily="34" charset="0"/>
              </a:rPr>
              <a:t>: prazos máximos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1800" u="sng">
                <a:latin typeface="Verdana" panose="020B0604030504040204" pitchFamily="34" charset="0"/>
              </a:rPr>
              <a:t>Categorias</a:t>
            </a:r>
            <a:r>
              <a:rPr lang="pt-BR" altLang="en-US" sz="1800">
                <a:latin typeface="Verdana" panose="020B0604030504040204" pitchFamily="34" charset="0"/>
              </a:rPr>
              <a:t>	</a:t>
            </a:r>
            <a:r>
              <a:rPr lang="pt-BR" altLang="en-US" sz="1800" u="sng">
                <a:latin typeface="Verdana" panose="020B0604030504040204" pitchFamily="34" charset="0"/>
              </a:rPr>
              <a:t>Inspeção Ext.</a:t>
            </a:r>
            <a:r>
              <a:rPr lang="pt-BR" altLang="en-US" sz="1800">
                <a:latin typeface="Verdana" panose="020B0604030504040204" pitchFamily="34" charset="0"/>
              </a:rPr>
              <a:t>	</a:t>
            </a:r>
            <a:r>
              <a:rPr lang="pt-BR" altLang="en-US" sz="1800" u="sng">
                <a:latin typeface="Verdana" panose="020B0604030504040204" pitchFamily="34" charset="0"/>
              </a:rPr>
              <a:t>Inspeção Int.</a:t>
            </a:r>
            <a:r>
              <a:rPr lang="pt-BR" altLang="en-US" sz="1800">
                <a:latin typeface="Verdana" panose="020B0604030504040204" pitchFamily="34" charset="0"/>
              </a:rPr>
              <a:t>	</a:t>
            </a:r>
            <a:r>
              <a:rPr lang="pt-BR" altLang="en-US" sz="1800" u="sng">
                <a:latin typeface="Verdana" panose="020B0604030504040204" pitchFamily="34" charset="0"/>
              </a:rPr>
              <a:t>Teste Hidrostático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	I		   01 ano	   03 anos	      06 anos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	II		   02 anos	   04 anos	      08 anos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	III		   03 anos	   06 anos	      12 anos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	IV		   04 anos	   08 anos	      16 anos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	V		   05 anos	   10 anos	      20 anos</a:t>
            </a:r>
          </a:p>
        </p:txBody>
      </p:sp>
    </p:spTree>
  </p:cSld>
  <p:clrMapOvr>
    <a:masterClrMapping/>
  </p:clrMapOvr>
  <p:transition spd="slow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B5CC-AAE3-49BC-9968-5270FEC1B269}" type="slidenum">
              <a:rPr lang="pt-BR" altLang="en-US"/>
              <a:pPr/>
              <a:t>16</a:t>
            </a:fld>
            <a:endParaRPr lang="pt-BR" alt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sz="2800" b="1" i="1">
                <a:latin typeface="Verdana" panose="020B0604030504040204" pitchFamily="34" charset="0"/>
              </a:rPr>
              <a:t>Avaliação de Integridade </a:t>
            </a:r>
            <a:br>
              <a:rPr lang="pt-BR" altLang="en-US" sz="2800" b="1" i="1">
                <a:latin typeface="Verdana" panose="020B0604030504040204" pitchFamily="34" charset="0"/>
              </a:rPr>
            </a:br>
            <a:r>
              <a:rPr lang="pt-BR" altLang="en-US" sz="2800" b="1" i="1">
                <a:latin typeface="Verdana" panose="020B0604030504040204" pitchFamily="34" charset="0"/>
              </a:rPr>
              <a:t>e Teste Hidrostático</a:t>
            </a:r>
            <a:endParaRPr lang="pt-BR" altLang="en-US" sz="240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112963"/>
            <a:ext cx="7958138" cy="41100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pt-BR" altLang="en-US" sz="2000" i="1" u="sng">
                <a:latin typeface="Verdana" panose="020B0604030504040204" pitchFamily="34" charset="0"/>
              </a:rPr>
              <a:t>Caldeiras</a:t>
            </a:r>
            <a:r>
              <a:rPr lang="pt-BR" altLang="en-US" sz="2000">
                <a:latin typeface="Verdana" panose="020B060403050404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Toda caldeira ao completar 25 anos de uso, devem ser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submetidas a rigorosa avaliação de integridade para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determinar a sua vida remanescente e novos prazos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máximos para inspeção, caso ainda esteja em condições de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uso.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en-US" sz="200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 i="1" u="sng">
                <a:latin typeface="Verdana" panose="020B0604030504040204" pitchFamily="34" charset="0"/>
              </a:rPr>
              <a:t>Vasos de Pressão</a:t>
            </a:r>
            <a:r>
              <a:rPr lang="pt-BR" altLang="en-US" sz="2000">
                <a:latin typeface="Verdana" panose="020B060403050404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Quando for tecnicamente inviável o teste hidrostático pode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ser substituído por outra técnica de ensaio não destrutivo ou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inspeção que permita obter segurança equivalente.</a:t>
            </a:r>
          </a:p>
        </p:txBody>
      </p:sp>
    </p:spTree>
  </p:cSld>
  <p:clrMapOvr>
    <a:masterClrMapping/>
  </p:clrMapOvr>
  <p:transition spd="slow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607-2A86-4158-9699-9C617133AC74}" type="slidenum">
              <a:rPr lang="pt-BR" altLang="en-US"/>
              <a:pPr/>
              <a:t>17</a:t>
            </a:fld>
            <a:endParaRPr lang="pt-BR" alt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en-US" sz="2200">
                <a:latin typeface="Verdana" panose="020B0604030504040204" pitchFamily="34" charset="0"/>
              </a:rPr>
              <a:t>Válvulas de segurança devem ser inspecionadas periodicamente conforme segue:</a:t>
            </a:r>
            <a:endParaRPr lang="pt-BR" altLang="en-US" sz="240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14563"/>
            <a:ext cx="7958138" cy="4033837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a) Pelo menos uma vez por mês, mediante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acionamento da alavanca, em operação, para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caldeiras das categorias “B” e “C”.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pt-BR" altLang="en-US" sz="2400">
              <a:latin typeface="Verdana" panose="020B0604030504040204" pitchFamily="34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b) Desmontando, inspecionando e testando, em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bancada, as válvulas flangeadas e, no campo, as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válvulas soldadas, recalibrando-as numa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frequência compatível com a experiência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pt-BR" altLang="en-US" sz="2400">
                <a:latin typeface="Verdana" panose="020B0604030504040204" pitchFamily="34" charset="0"/>
              </a:rPr>
              <a:t>operacional da mesma.</a:t>
            </a:r>
            <a:endParaRPr lang="pt-BR" altLang="en-US" sz="20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en-US"/>
          </a:p>
          <a:p>
            <a:r>
              <a:rPr lang="pt-BR" altLang="en-US"/>
              <a:t>Cartilha NR-13 para Caldeiras e Vasos de Pressão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4901A-6FB1-477A-BA5B-1593E31AF081}" type="slidenum">
              <a:rPr lang="pt-BR" altLang="en-US"/>
              <a:pPr/>
              <a:t>18</a:t>
            </a:fld>
            <a:endParaRPr lang="pt-BR" altLang="en-US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sz="2800" b="1" i="1">
                <a:latin typeface="Verdana" panose="020B0604030504040204" pitchFamily="34" charset="0"/>
              </a:rPr>
              <a:t>Inspeção Periódica de Segurança</a:t>
            </a:r>
            <a:endParaRPr lang="pt-BR" altLang="en-US" sz="360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2201863"/>
            <a:ext cx="7958138" cy="41100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-A inspeção de segurança deve ser realizada por profissional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habilitado, emitindo relatório de inspeção que passa a fazer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parte da sua documentação.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-Uma cópia do relatório de inspeção deve ser encaminhada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pelo profissional habilitado, num prazo máximo de 30 dias 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contar do término da inspeção, a representação sindical da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categoria profissional.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-No caso dos vasos de pressão, a documentação deverá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ficar arquivada na área  onde estão instalados os vasos,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sempre a disposição para consultados operadores, pessoal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Verdana" panose="020B0604030504040204" pitchFamily="34" charset="0"/>
              </a:rPr>
              <a:t>de manutenção representação sindical, CIPA, etc.</a:t>
            </a:r>
            <a:endParaRPr lang="pt-BR" altLang="en-US" sz="2000"/>
          </a:p>
        </p:txBody>
      </p:sp>
    </p:spTree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Lateral estreita">
  <a:themeElements>
    <a:clrScheme name="Lateral estreita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Lateral estre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lnDef>
  </a:objectDefaults>
  <a:extraClrSchemeLst>
    <a:extraClrScheme>
      <a:clrScheme name="Lateral estreita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teral estreita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teral estreita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teral estreita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apresentação\Lateral estreita.pot</Template>
  <TotalTime>816</TotalTime>
  <Words>1388</Words>
  <Application>Microsoft Office PowerPoint</Application>
  <PresentationFormat>Apresentação na tela (4:3)</PresentationFormat>
  <Paragraphs>203</Paragraphs>
  <Slides>18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Lateral estreita</vt:lpstr>
      <vt:lpstr>Cartilha NR-13</vt:lpstr>
      <vt:lpstr>NR-13 ?</vt:lpstr>
      <vt:lpstr>Exemplos de classificação de Vasos de Pressão</vt:lpstr>
      <vt:lpstr>Exemplos de classificação de categoria de Caldeiras</vt:lpstr>
      <vt:lpstr>Toda caldeira e vaso de pressão deve ter afixado em seu corpo em local de fácil acesso e bem visível, placa de identificação com no mínimo as seguintes  informações:</vt:lpstr>
      <vt:lpstr>Além da placa de identificação, devem  constar em local visível, a categoria das caldeiras e dos vasos de pressão. Essas informações poderão ser pintadas em local de fácil visualização, com dimensões tais que possam ser facilmente percebidas a distância de aproximadamente 10 metros.</vt:lpstr>
      <vt:lpstr>Toda  caldeira e vaso de pressão deve possuir no estabelecimento onde estiver  instalado a seguinte documentação devidamente atualizada: </vt:lpstr>
      <vt:lpstr>O registro de segurança deve ser constituído de livro próprio, com páginas numeradas onde serão registrados:</vt:lpstr>
      <vt:lpstr>Toda caldeira e vasos de pressão da categoria I e II, deve possuir manual de operação atualizado, em língua portuguesa, em local de fácil acesso aos operadores, contendo no mínimo:</vt:lpstr>
      <vt:lpstr>Treinamento: Todo operador de caldeira deverá ter o mínimo 1º grau completo e possuir treinamento de segurança na operação de caldeiras. Currículo mínimo para treinamento:</vt:lpstr>
      <vt:lpstr>Treinamento: O estágio deve ser informado, previamente  a  representação sindical da categoria.</vt:lpstr>
      <vt:lpstr>Treinamento: Todo operador com treinamento de segurança na operação de unidade de processo (Vasos de Pressão) deve cumprir estágio prático, supervisionado na operação de vasos de pressão com durações mínimas:</vt:lpstr>
      <vt:lpstr>Treinamento: Currículo mínimo para treinamento de segurança na operação de unidades de processos.</vt:lpstr>
      <vt:lpstr>Teste Hidrostático</vt:lpstr>
      <vt:lpstr>A inspeção de segurança periódica, constituída por exame interno e externo, deve ser executado no prazo máximo de 12 meses, para caldeira de categoria “B”.</vt:lpstr>
      <vt:lpstr>Avaliação de Integridade  e Teste Hidrostático</vt:lpstr>
      <vt:lpstr>Válvulas de segurança devem ser inspecionadas periodicamente conforme segue:</vt:lpstr>
      <vt:lpstr>Inspeção Periódica de Segurança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 R – 13 ?</dc:title>
  <dc:creator>Moacir</dc:creator>
  <cp:lastModifiedBy>Looks</cp:lastModifiedBy>
  <cp:revision>41</cp:revision>
  <cp:lastPrinted>1601-01-01T00:00:00Z</cp:lastPrinted>
  <dcterms:created xsi:type="dcterms:W3CDTF">2000-01-01T23:25:21Z</dcterms:created>
  <dcterms:modified xsi:type="dcterms:W3CDTF">2017-09-26T02:17:31Z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_Steward">
    <vt:lpwstr>Zambon F u733129</vt:lpwstr>
  </property>
  <property fmtid="{D5CDD505-2E9C-101B-9397-08002B2CF9AE}" pid="3" name="Proprietary_Classification">
    <vt:lpwstr>NONE</vt:lpwstr>
  </property>
  <property fmtid="{D5CDD505-2E9C-101B-9397-08002B2CF9AE}" pid="4" name="Retention_Period">
    <vt:lpwstr>3</vt:lpwstr>
  </property>
  <property fmtid="{D5CDD505-2E9C-101B-9397-08002B2CF9AE}" pid="5" name="Retention_Period_Start_Date">
    <vt:lpwstr>10/15/2004</vt:lpwstr>
  </property>
  <property fmtid="{D5CDD505-2E9C-101B-9397-08002B2CF9AE}" pid="6" name="Retention_Period_Trigger">
    <vt:lpwstr>General Business Record</vt:lpwstr>
  </property>
  <property fmtid="{D5CDD505-2E9C-101B-9397-08002B2CF9AE}" pid="7" name="Reason_Document_Frozen">
    <vt:lpwstr/>
  </property>
  <property fmtid="{D5CDD505-2E9C-101B-9397-08002B2CF9AE}" pid="8" name="Expiration_Date">
    <vt:lpwstr>Dec. 31, 2007</vt:lpwstr>
  </property>
</Properties>
</file>