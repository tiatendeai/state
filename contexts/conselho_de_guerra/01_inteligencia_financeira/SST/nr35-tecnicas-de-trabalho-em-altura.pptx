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304" r:id="rId12"/>
    <p:sldId id="268" r:id="rId13"/>
    <p:sldId id="270" r:id="rId14"/>
    <p:sldId id="271" r:id="rId15"/>
    <p:sldId id="272" r:id="rId16"/>
    <p:sldId id="273" r:id="rId17"/>
    <p:sldId id="279" r:id="rId18"/>
    <p:sldId id="274" r:id="rId19"/>
    <p:sldId id="276" r:id="rId20"/>
    <p:sldId id="277" r:id="rId21"/>
    <p:sldId id="281" r:id="rId22"/>
    <p:sldId id="282" r:id="rId23"/>
    <p:sldId id="283" r:id="rId24"/>
    <p:sldId id="301" r:id="rId25"/>
    <p:sldId id="284" r:id="rId26"/>
    <p:sldId id="285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265" r:id="rId41"/>
    <p:sldId id="300" r:id="rId42"/>
    <p:sldId id="302" r:id="rId4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2C12"/>
    <a:srgbClr val="AB2315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656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BR" smtClean="0"/>
              <a:t>TRABALHO EM ALTURA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F4CE2E-004E-4CE9-BF2E-910E75148E94}" type="datetimeFigureOut">
              <a:rPr lang="pt-BR" smtClean="0"/>
              <a:pPr/>
              <a:t>28/03/2013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76C001-863F-42F9-A838-0F9FD3153DA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BR" smtClean="0"/>
              <a:t>TRABALHO EM ALTURA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B2135-09F5-42D1-BC4E-43D773BD5485}" type="datetimeFigureOut">
              <a:rPr lang="pt-BR" smtClean="0"/>
              <a:pPr/>
              <a:t>28/03/2013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E9C38-4E7B-4458-B982-1417C745EE2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pt-BR" smtClean="0"/>
              <a:t>TRABALHO EM ALTURA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9E9C38-4E7B-4458-B982-1417C745EE2D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9E9C38-4E7B-4458-B982-1417C745EE2D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5" name="Espaço Reservado para Cabeçalho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pt-BR" smtClean="0"/>
              <a:t>TRABALHO EM ALTURA</a:t>
            </a:r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29D1C-93A4-4B62-9DE6-C93774EE0DAC}" type="datetime1">
              <a:rPr lang="pt-BR" smtClean="0"/>
              <a:pPr/>
              <a:t>28/03/2013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Desenvolvido por Saulo de Souza Azevedo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CC63F-3AFF-4E69-8B86-E2B7FFBC71B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DEAA-75C9-4283-BE4A-DE57B1A2FD17}" type="datetime1">
              <a:rPr lang="pt-BR" smtClean="0"/>
              <a:pPr/>
              <a:t>28/03/2013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Desenvolvido por Saulo de Souza Azevedo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CC63F-3AFF-4E69-8B86-E2B7FFBC71B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992F6-E228-4A4C-86EA-0511F5EB9744}" type="datetime1">
              <a:rPr lang="pt-BR" smtClean="0"/>
              <a:pPr/>
              <a:t>28/03/2013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Desenvolvido por Saulo de Souza Azevedo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CC63F-3AFF-4E69-8B86-E2B7FFBC71B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5087D-FF94-427C-9CF6-DCB28C6F141C}" type="datetime1">
              <a:rPr lang="pt-BR" smtClean="0"/>
              <a:pPr/>
              <a:t>28/03/2013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Desenvolvido por Saulo de Souza Azevedo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CC63F-3AFF-4E69-8B86-E2B7FFBC71B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53E40-1704-4499-9907-9057FD984E0D}" type="datetime1">
              <a:rPr lang="pt-BR" smtClean="0"/>
              <a:pPr/>
              <a:t>28/03/2013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Desenvolvido por Saulo de Souza Azevedo</a:t>
            </a: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CC63F-3AFF-4E69-8B86-E2B7FFBC71B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FFD6-7D44-4369-9871-FE6EFA0FAA75}" type="datetime1">
              <a:rPr lang="pt-BR" smtClean="0"/>
              <a:pPr/>
              <a:t>28/03/2013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Desenvolvido por Saulo de Souza Azevedo</a:t>
            </a: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CC63F-3AFF-4E69-8B86-E2B7FFBC71B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3F0B-7E4A-4F87-BB0D-ED2CA244EF2E}" type="datetime1">
              <a:rPr lang="pt-BR" smtClean="0"/>
              <a:pPr/>
              <a:t>28/03/2013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Desenvolvido por Saulo de Souza Azevedo</a:t>
            </a: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CC63F-3AFF-4E69-8B86-E2B7FFBC71B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31CA7-7128-42CE-969C-9731462E26CF}" type="datetime1">
              <a:rPr lang="pt-BR" smtClean="0"/>
              <a:pPr/>
              <a:t>28/03/2013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Desenvolvido por Saulo de Souza Azevedo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CC63F-3AFF-4E69-8B86-E2B7FFBC71B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7FE5C-B67C-4B5D-B8F5-8CA23F360E96}" type="datetime1">
              <a:rPr lang="pt-BR" smtClean="0"/>
              <a:pPr/>
              <a:t>28/03/2013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Desenvolvido por Saulo de Souza Azevedo</a:t>
            </a: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CC63F-3AFF-4E69-8B86-E2B7FFBC71B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7585-932F-4BF5-97A1-02EF7398CB7A}" type="datetime1">
              <a:rPr lang="pt-BR" smtClean="0"/>
              <a:pPr/>
              <a:t>28/03/2013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Desenvolvido por Saulo de Souza Azevedo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CC63F-3AFF-4E69-8B86-E2B7FFBC71B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901C-EB69-455E-B906-F873E8049695}" type="datetime1">
              <a:rPr lang="pt-BR" smtClean="0"/>
              <a:pPr/>
              <a:t>28/03/2013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Desenvolvido por Saulo de Souza Azevedo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CC63F-3AFF-4E69-8B86-E2B7FFBC71B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75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13AA4-6E80-4BE6-A36E-5CA0900A7D8B}" type="datetime1">
              <a:rPr lang="pt-BR" smtClean="0"/>
              <a:pPr/>
              <a:t>28/03/2013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smtClean="0"/>
              <a:t>Desenvolvido por Saulo de Souza Azevedo</a:t>
            </a: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CC63F-3AFF-4E69-8B86-E2B7FFBC71B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27584" y="0"/>
            <a:ext cx="7772400" cy="1080120"/>
          </a:xfrm>
        </p:spPr>
        <p:txBody>
          <a:bodyPr>
            <a:normAutofit/>
          </a:bodyPr>
          <a:lstStyle/>
          <a:p>
            <a:r>
              <a:rPr lang="pt-BR" sz="3200" dirty="0" smtClean="0">
                <a:solidFill>
                  <a:srgbClr val="AE2C12"/>
                </a:solidFill>
                <a:latin typeface="Arial Black" pitchFamily="34" charset="0"/>
              </a:rPr>
              <a:t>Trabalho em Altura</a:t>
            </a:r>
            <a:endParaRPr lang="pt-BR" sz="3200" dirty="0">
              <a:solidFill>
                <a:srgbClr val="AE2C12"/>
              </a:solidFill>
              <a:latin typeface="Arial Black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1556792"/>
            <a:ext cx="7016824" cy="4082008"/>
          </a:xfrm>
        </p:spPr>
        <p:txBody>
          <a:bodyPr/>
          <a:lstStyle/>
          <a:p>
            <a:pPr algn="l"/>
            <a:endParaRPr lang="pt-BR" sz="2400" dirty="0" smtClean="0">
              <a:solidFill>
                <a:schemeClr val="tx2">
                  <a:lumMod val="75000"/>
                </a:schemeClr>
              </a:solidFill>
            </a:endParaRPr>
          </a:p>
          <a:p>
            <a:pPr algn="l"/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Responsabilidade Técnica:</a:t>
            </a:r>
          </a:p>
          <a:p>
            <a:pPr algn="l"/>
            <a:r>
              <a:rPr lang="pt-BR" sz="2400" dirty="0" smtClean="0">
                <a:solidFill>
                  <a:schemeClr val="tx2">
                    <a:lumMod val="75000"/>
                  </a:schemeClr>
                </a:solidFill>
              </a:rPr>
              <a:t>Saulo de Souza Azevedo – Coronel Corpo de Bombeiros</a:t>
            </a:r>
          </a:p>
          <a:p>
            <a:pPr algn="l"/>
            <a:r>
              <a:rPr lang="pt-BR" sz="2400" dirty="0" smtClean="0">
                <a:solidFill>
                  <a:schemeClr val="tx2">
                    <a:lumMod val="75000"/>
                  </a:schemeClr>
                </a:solidFill>
              </a:rPr>
              <a:t>Renata Itria – Engenheira de Segurança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Legislação Pertinente:</a:t>
            </a:r>
          </a:p>
          <a:p>
            <a:pPr indent="-166688"/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PORTARIA </a:t>
            </a:r>
            <a:r>
              <a:rPr lang="pt-BR" sz="2500" dirty="0">
                <a:solidFill>
                  <a:schemeClr val="tx2">
                    <a:lumMod val="75000"/>
                  </a:schemeClr>
                </a:solidFill>
              </a:rPr>
              <a:t>313 </a:t>
            </a:r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- 23 de março de 2012 Legislação Federal</a:t>
            </a:r>
          </a:p>
          <a:p>
            <a:pPr indent="-166688"/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PORTARIA </a:t>
            </a:r>
            <a:r>
              <a:rPr lang="pt-BR" sz="2500" dirty="0">
                <a:solidFill>
                  <a:schemeClr val="tx2">
                    <a:lumMod val="75000"/>
                  </a:schemeClr>
                </a:solidFill>
              </a:rPr>
              <a:t>3.214 </a:t>
            </a:r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 08 de junho de 1978 Legislação Federal</a:t>
            </a:r>
          </a:p>
          <a:p>
            <a:pPr indent="-166688"/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NR1 – Disposições  Gerais</a:t>
            </a:r>
          </a:p>
          <a:p>
            <a:pPr indent="-166688"/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NR6 – EPI</a:t>
            </a:r>
          </a:p>
          <a:p>
            <a:pPr indent="-166688"/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NR9 – PPRA</a:t>
            </a:r>
          </a:p>
          <a:p>
            <a:pPr indent="-166688"/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NR10 – Elétrica</a:t>
            </a:r>
          </a:p>
          <a:p>
            <a:pPr indent="-166688"/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NR 18 – Construção Civil</a:t>
            </a:r>
          </a:p>
          <a:p>
            <a:pPr indent="-166688"/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NR35 – Trabalho em altura</a:t>
            </a:r>
          </a:p>
          <a:p>
            <a:pPr indent="-166688"/>
            <a:r>
              <a:rPr lang="pt-BR" sz="2500" dirty="0">
                <a:solidFill>
                  <a:schemeClr val="tx2">
                    <a:lumMod val="75000"/>
                  </a:schemeClr>
                </a:solidFill>
              </a:rPr>
              <a:t>NBR 15.475 – </a:t>
            </a:r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ABNT Acesso </a:t>
            </a:r>
            <a:r>
              <a:rPr lang="pt-BR" sz="2500" dirty="0">
                <a:solidFill>
                  <a:schemeClr val="tx2">
                    <a:lumMod val="75000"/>
                  </a:schemeClr>
                </a:solidFill>
              </a:rPr>
              <a:t>por </a:t>
            </a:r>
            <a:r>
              <a:rPr lang="pt-BR" sz="2500" dirty="0" smtClean="0">
                <a:solidFill>
                  <a:schemeClr val="tx2">
                    <a:lumMod val="75000"/>
                  </a:schemeClr>
                </a:solidFill>
              </a:rPr>
              <a:t>cordas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ttp://images02.olx.com.br/ui/20/55/99/1332943786_339294699_1-Fotos-de--TRABALHO-EM-ALTU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484784"/>
            <a:ext cx="4229100" cy="3876676"/>
          </a:xfrm>
          <a:prstGeom prst="rect">
            <a:avLst/>
          </a:prstGeom>
          <a:noFill/>
          <a:effectLst>
            <a:softEdge rad="317500"/>
          </a:effectLst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452596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800" dirty="0" smtClean="0">
                <a:solidFill>
                  <a:schemeClr val="tx2">
                    <a:lumMod val="75000"/>
                  </a:schemeClr>
                </a:solidFill>
              </a:rPr>
              <a:t>Referências Internacionais:</a:t>
            </a:r>
          </a:p>
          <a:p>
            <a:pPr indent="-166688"/>
            <a:r>
              <a:rPr lang="pt-BR" sz="2800" dirty="0" smtClean="0">
                <a:solidFill>
                  <a:schemeClr val="tx2">
                    <a:lumMod val="75000"/>
                  </a:schemeClr>
                </a:solidFill>
              </a:rPr>
              <a:t>NFPA </a:t>
            </a:r>
            <a:r>
              <a:rPr lang="pt-BR" sz="280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pt-BR" sz="2800" dirty="0" err="1">
                <a:solidFill>
                  <a:schemeClr val="tx2">
                    <a:lumMod val="75000"/>
                  </a:schemeClr>
                </a:solidFill>
              </a:rPr>
              <a:t>National</a:t>
            </a:r>
            <a:r>
              <a:rPr lang="pt-BR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sz="2800" dirty="0" err="1">
                <a:solidFill>
                  <a:schemeClr val="tx2">
                    <a:lumMod val="75000"/>
                  </a:schemeClr>
                </a:solidFill>
              </a:rPr>
              <a:t>Fire</a:t>
            </a:r>
            <a:r>
              <a:rPr lang="pt-BR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sz="2800" dirty="0" err="1">
                <a:solidFill>
                  <a:schemeClr val="tx2">
                    <a:lumMod val="75000"/>
                  </a:schemeClr>
                </a:solidFill>
              </a:rPr>
              <a:t>Protection</a:t>
            </a:r>
            <a:r>
              <a:rPr lang="pt-BR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sz="2800" dirty="0" err="1">
                <a:solidFill>
                  <a:schemeClr val="tx2">
                    <a:lumMod val="75000"/>
                  </a:schemeClr>
                </a:solidFill>
              </a:rPr>
              <a:t>Association</a:t>
            </a:r>
            <a:r>
              <a:rPr lang="pt-BR" sz="2800" dirty="0" smtClean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indent="-166688"/>
            <a:r>
              <a:rPr lang="pt-BR" sz="2800" dirty="0">
                <a:solidFill>
                  <a:schemeClr val="tx2">
                    <a:lumMod val="75000"/>
                  </a:schemeClr>
                </a:solidFill>
              </a:rPr>
              <a:t>Real Decreto </a:t>
            </a:r>
            <a:r>
              <a:rPr lang="pt-BR" sz="2800" dirty="0" smtClean="0">
                <a:solidFill>
                  <a:schemeClr val="tx2">
                    <a:lumMod val="75000"/>
                  </a:schemeClr>
                </a:solidFill>
              </a:rPr>
              <a:t>Espanhol - RD 2177/2004</a:t>
            </a:r>
          </a:p>
          <a:p>
            <a:pPr indent="-166688"/>
            <a:r>
              <a:rPr lang="pt-BR" sz="2800" dirty="0" smtClean="0">
                <a:solidFill>
                  <a:schemeClr val="tx2">
                    <a:lumMod val="75000"/>
                  </a:schemeClr>
                </a:solidFill>
              </a:rPr>
              <a:t>EN - EUROPEAN NORM</a:t>
            </a:r>
          </a:p>
          <a:p>
            <a:pPr indent="-166688"/>
            <a:r>
              <a:rPr lang="pt-BR" sz="2800" dirty="0" smtClean="0">
                <a:solidFill>
                  <a:schemeClr val="tx2">
                    <a:lumMod val="75000"/>
                  </a:schemeClr>
                </a:solidFill>
              </a:rPr>
              <a:t>UIAA</a:t>
            </a:r>
            <a:endParaRPr lang="pt-BR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://arservice.no.comunidades.net/imagens/1279288041_43623202_1limpezadefachadasosasco1279288041.jpg"/>
          <p:cNvPicPr>
            <a:picLocks noChangeAspect="1" noChangeArrowheads="1"/>
          </p:cNvPicPr>
          <p:nvPr/>
        </p:nvPicPr>
        <p:blipFill>
          <a:blip r:embed="rId2" cstate="print"/>
          <a:srcRect b="10204"/>
          <a:stretch>
            <a:fillRect/>
          </a:stretch>
        </p:blipFill>
        <p:spPr bwMode="auto">
          <a:xfrm>
            <a:off x="827584" y="3356992"/>
            <a:ext cx="4221308" cy="2808312"/>
          </a:xfrm>
          <a:prstGeom prst="rect">
            <a:avLst/>
          </a:prstGeom>
          <a:noFill/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340768"/>
            <a:ext cx="8147248" cy="4824536"/>
          </a:xfrm>
        </p:spPr>
        <p:txBody>
          <a:bodyPr/>
          <a:lstStyle/>
          <a:p>
            <a:pPr>
              <a:buNone/>
            </a:pPr>
            <a:r>
              <a:rPr lang="pt-BR" dirty="0" smtClean="0">
                <a:solidFill>
                  <a:srgbClr val="002060"/>
                </a:solidFill>
              </a:rPr>
              <a:t>Definição:</a:t>
            </a:r>
          </a:p>
          <a:p>
            <a:pPr indent="-69850" algn="just">
              <a:spcBef>
                <a:spcPts val="600"/>
              </a:spcBef>
              <a:buNone/>
            </a:pPr>
            <a:r>
              <a:rPr lang="pt-BR" dirty="0" smtClean="0">
                <a:solidFill>
                  <a:srgbClr val="002060"/>
                </a:solidFill>
              </a:rPr>
              <a:t>	</a:t>
            </a:r>
            <a:r>
              <a:rPr lang="pt-BR" sz="2800" dirty="0" smtClean="0">
                <a:solidFill>
                  <a:srgbClr val="002060"/>
                </a:solidFill>
              </a:rPr>
              <a:t>Considera-se trabalho em </a:t>
            </a:r>
            <a:r>
              <a:rPr lang="pt-BR" sz="2800" dirty="0">
                <a:solidFill>
                  <a:srgbClr val="002060"/>
                </a:solidFill>
              </a:rPr>
              <a:t>altura </a:t>
            </a:r>
            <a:r>
              <a:rPr lang="pt-BR" sz="2800" dirty="0" smtClean="0">
                <a:solidFill>
                  <a:srgbClr val="002060"/>
                </a:solidFill>
              </a:rPr>
              <a:t>toda </a:t>
            </a:r>
          </a:p>
          <a:p>
            <a:pPr indent="9525" algn="just">
              <a:spcBef>
                <a:spcPts val="60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atividade executada acima </a:t>
            </a:r>
            <a:r>
              <a:rPr lang="pt-BR" sz="2800" dirty="0">
                <a:solidFill>
                  <a:srgbClr val="002060"/>
                </a:solidFill>
              </a:rPr>
              <a:t>de </a:t>
            </a:r>
            <a:r>
              <a:rPr lang="pt-BR" sz="2800" dirty="0" smtClean="0">
                <a:solidFill>
                  <a:srgbClr val="002060"/>
                </a:solidFill>
              </a:rPr>
              <a:t>2 metros de </a:t>
            </a:r>
            <a:r>
              <a:rPr lang="pt-BR" sz="2800" dirty="0" smtClean="0">
                <a:solidFill>
                  <a:srgbClr val="002060"/>
                </a:solidFill>
              </a:rPr>
              <a:t>altura, do nível inferior, </a:t>
            </a:r>
            <a:r>
              <a:rPr lang="pt-BR" sz="2800" dirty="0" smtClean="0">
                <a:solidFill>
                  <a:srgbClr val="FF0000"/>
                </a:solidFill>
              </a:rPr>
              <a:t>onde haja risco de queda</a:t>
            </a:r>
            <a:endParaRPr lang="pt-BR" sz="2800" dirty="0" smtClean="0">
              <a:solidFill>
                <a:srgbClr val="002060"/>
              </a:solidFill>
            </a:endParaRPr>
          </a:p>
        </p:txBody>
      </p:sp>
      <p:sp>
        <p:nvSpPr>
          <p:cNvPr id="10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http://4.bp.blogspot.com/-sGXyegVytrI/TbjeW_qOt1I/AAAAAAAABGo/HKgEyZPyhac/s640/Altura+1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196752"/>
            <a:ext cx="7632848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2699792" y="764704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002060"/>
                </a:solidFill>
              </a:rPr>
              <a:t>Situações críticas Com risco de queda.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http://3.bp.blogspot.com/-ndmiOdzsqok/TbjegS7qoPI/AAAAAAAABGs/JAD6GX0-g8s/s1600/Altura+2.JPG"/>
          <p:cNvPicPr>
            <a:picLocks noGrp="1"/>
          </p:cNvPicPr>
          <p:nvPr>
            <p:ph idx="1"/>
          </p:nvPr>
        </p:nvPicPr>
        <p:blipFill>
          <a:blip r:embed="rId2" cstate="print"/>
          <a:srcRect r="1411" b="39356"/>
          <a:stretch>
            <a:fillRect/>
          </a:stretch>
        </p:blipFill>
        <p:spPr bwMode="auto">
          <a:xfrm>
            <a:off x="251520" y="1628800"/>
            <a:ext cx="8604448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1979712" y="1124744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rgbClr val="002060"/>
                </a:solidFill>
              </a:rPr>
              <a:t>Situações críticas com risco de queda.</a:t>
            </a:r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908720"/>
            <a:ext cx="8229600" cy="452596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100" b="1" dirty="0" smtClean="0">
                <a:solidFill>
                  <a:schemeClr val="tx2">
                    <a:lumMod val="75000"/>
                  </a:schemeClr>
                </a:solidFill>
              </a:rPr>
              <a:t>Responsabilidade do Empregador</a:t>
            </a:r>
            <a:endParaRPr lang="pt-BR" sz="21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1 - Garantir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a implementação das medidas de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proteção estabelecidas pela NR35;</a:t>
            </a: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2 - Assegurar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a realização da </a:t>
            </a:r>
            <a:r>
              <a:rPr lang="pt-BR" sz="2100" b="1" u="sng" dirty="0">
                <a:solidFill>
                  <a:schemeClr val="tx2">
                    <a:lumMod val="75000"/>
                  </a:schemeClr>
                </a:solidFill>
              </a:rPr>
              <a:t>Análise de Risco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e, quando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aplicável, a emissão da </a:t>
            </a:r>
            <a:r>
              <a:rPr lang="pt-BR" sz="2100" b="1" u="sng" dirty="0">
                <a:solidFill>
                  <a:schemeClr val="tx2">
                    <a:lumMod val="75000"/>
                  </a:schemeClr>
                </a:solidFill>
              </a:rPr>
              <a:t>Permissão de </a:t>
            </a:r>
            <a:r>
              <a:rPr lang="pt-BR" sz="2100" b="1" u="sng" dirty="0" smtClean="0">
                <a:solidFill>
                  <a:schemeClr val="tx2">
                    <a:lumMod val="75000"/>
                  </a:schemeClr>
                </a:solidFill>
              </a:rPr>
              <a:t>Trabalho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;</a:t>
            </a: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3 - Desenvolver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procedimento operacional para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as atividades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rotineiras de trabalho em altura;</a:t>
            </a:r>
          </a:p>
          <a:p>
            <a:pPr marL="1700213" indent="0" algn="just">
              <a:buNone/>
              <a:tabLst>
                <a:tab pos="1700213" algn="l"/>
              </a:tabLst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4 - 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A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ssegurar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a realização de avaliação prévia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das condições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no local do trabalho em altura, pelo estudo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, planejamento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e implementação das ações e das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medidas complementares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de segurança aplicáveis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;</a:t>
            </a:r>
          </a:p>
          <a:p>
            <a:pPr marL="1700213" indent="0" algn="just"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5- Adotar as providências necessárias para acompanhar o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cumprimento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das medidas de proteção pelas empresas contratadas;</a:t>
            </a: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7410" name="Picture 2" descr="http://i47.tinypic.com/t7ll4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3717032"/>
            <a:ext cx="1771397" cy="1944216"/>
          </a:xfrm>
          <a:prstGeom prst="rect">
            <a:avLst/>
          </a:prstGeom>
          <a:noFill/>
        </p:spPr>
      </p:pic>
      <p:sp>
        <p:nvSpPr>
          <p:cNvPr id="9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6 - Garantir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aos trabalhadores informações atualizadas sobre os riscos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e as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medidas de controle;</a:t>
            </a: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7 - Garantir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que qualquer trabalho em altura só se inicie depois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de adotadas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as medidas de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proteção;</a:t>
            </a: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8 - Assegurar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a suspensão dos trabalhos em altura quando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verificar situação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ou condição de risco não prevista, cuja eliminação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ou neutralização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imediata não seja possível;</a:t>
            </a: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9 - Estabelecer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uma sistemática de autorização dos trabalhadores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para trabalho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em altura;</a:t>
            </a: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10 - Assegurar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que todo trabalho em altura seja realizado sob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supervisão;</a:t>
            </a: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11 - Assegurar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a organização e o arquivamento da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documentação prevista na NR35.</a:t>
            </a: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452596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400" b="1" dirty="0" smtClean="0">
                <a:solidFill>
                  <a:schemeClr val="tx2">
                    <a:lumMod val="75000"/>
                  </a:schemeClr>
                </a:solidFill>
              </a:rPr>
              <a:t>Responsabilidade do Empregado</a:t>
            </a:r>
            <a:endParaRPr lang="pt-BR" sz="2400" b="1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1 - Cumprir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as disposições legais e regulamentares sobre trabalho em altura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, inclusive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os procedimentos expedidos pelo empregador;</a:t>
            </a:r>
          </a:p>
          <a:p>
            <a:pPr marL="0" indent="0"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2 - Colaborar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com o empregador na implementação das disposições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contidas na NR35;</a:t>
            </a:r>
            <a:endParaRPr lang="pt-BR" sz="22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3 - Interromper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suas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atividades,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sempre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que</a:t>
            </a:r>
          </a:p>
          <a:p>
            <a:pPr marL="0" indent="0"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constatarem evidências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de riscos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graves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e</a:t>
            </a:r>
          </a:p>
          <a:p>
            <a:pPr marL="0" indent="0"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iminentes para sua segurança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e saúde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ou a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de</a:t>
            </a:r>
          </a:p>
          <a:p>
            <a:pPr marL="0" indent="0"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outras pessoas,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comunicando imediatamente o</a:t>
            </a:r>
          </a:p>
          <a:p>
            <a:pPr marL="0" indent="0"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fato a seu superior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hierárquico;</a:t>
            </a:r>
            <a:endParaRPr lang="pt-BR" sz="22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4 - Zelar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pela sua segurança e saúde e a de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outras</a:t>
            </a:r>
          </a:p>
          <a:p>
            <a:pPr marL="0" indent="0"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 pessoas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que possam ser afetadas por suas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ações ou</a:t>
            </a:r>
          </a:p>
          <a:p>
            <a:pPr marL="0" indent="0"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omissões no trabalho.</a:t>
            </a:r>
          </a:p>
        </p:txBody>
      </p:sp>
      <p:pic>
        <p:nvPicPr>
          <p:cNvPr id="15362" name="Picture 2" descr="http://4.bp.blogspot.com/-MU513NQfUZM/TslXHr_K2DI/AAAAAAAABg8/H4-b7UqwzCQ/s400/funcionario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5272" y="2492896"/>
            <a:ext cx="2768728" cy="3305944"/>
          </a:xfrm>
          <a:prstGeom prst="rect">
            <a:avLst/>
          </a:prstGeom>
          <a:noFill/>
          <a:effectLst>
            <a:softEdge rad="63500"/>
          </a:effectLst>
        </p:spPr>
      </p:pic>
      <p:sp>
        <p:nvSpPr>
          <p:cNvPr id="9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764704"/>
            <a:ext cx="8435280" cy="49685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2400" b="1" dirty="0" smtClean="0">
                <a:solidFill>
                  <a:schemeClr val="tx2">
                    <a:lumMod val="75000"/>
                  </a:schemeClr>
                </a:solidFill>
              </a:rPr>
              <a:t>Capacitação e Treinamento</a:t>
            </a:r>
          </a:p>
          <a:p>
            <a:pPr marL="2605088" indent="-6350" algn="just">
              <a:buNone/>
              <a:tabLst>
                <a:tab pos="2774950" algn="l"/>
              </a:tabLst>
            </a:pP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- O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empregador deve promover programa para capacitação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dos trabalhadores;</a:t>
            </a:r>
            <a:endParaRPr lang="pt-BR" sz="2000" dirty="0">
              <a:solidFill>
                <a:schemeClr val="tx2">
                  <a:lumMod val="75000"/>
                </a:schemeClr>
              </a:solidFill>
            </a:endParaRPr>
          </a:p>
          <a:p>
            <a:pPr marL="2605088" indent="-6350" algn="just">
              <a:buNone/>
            </a:pP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	-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Considera-se trabalhador capacitado para trabalho em altura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aquele que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foi submetido e aprovado em treinamento, teórico e prático, com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carga horária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mínima de oito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horas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;</a:t>
            </a:r>
          </a:p>
          <a:p>
            <a:pPr algn="just">
              <a:buNone/>
            </a:pP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- O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empregador deve realizar treinamento periódico bienal e sempre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que ocorrer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quaisquer das seguintes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situações:</a:t>
            </a:r>
          </a:p>
          <a:p>
            <a:pPr algn="just">
              <a:buNone/>
            </a:pP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	a) mudança nos procedimentos, condições ou operações de trabalho;</a:t>
            </a:r>
          </a:p>
          <a:p>
            <a:pPr algn="just">
              <a:buNone/>
            </a:pP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	b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) evento que indique a necessidade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de novo treinamento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;</a:t>
            </a:r>
          </a:p>
          <a:p>
            <a:pPr algn="just">
              <a:buNone/>
            </a:pP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	c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) retorno de afastamento ao trabalho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por período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superior a noventa dias;</a:t>
            </a:r>
          </a:p>
          <a:p>
            <a:pPr algn="just">
              <a:buNone/>
            </a:pP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	d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) mudança de empresa.</a:t>
            </a:r>
          </a:p>
          <a:p>
            <a:pPr algn="just">
              <a:buNone/>
            </a:pP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- O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treinamento periódico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bienal deve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ter carga </a:t>
            </a:r>
            <a:endParaRPr lang="pt-BR" sz="2000" dirty="0" smtClean="0">
              <a:solidFill>
                <a:schemeClr val="tx2">
                  <a:lumMod val="75000"/>
                </a:schemeClr>
              </a:solidFill>
            </a:endParaRPr>
          </a:p>
          <a:p>
            <a:pPr algn="just">
              <a:buNone/>
            </a:pP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horária 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mínima de oito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horas</a:t>
            </a:r>
            <a:r>
              <a:rPr lang="pt-BR" sz="20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pic>
        <p:nvPicPr>
          <p:cNvPr id="14338" name="Picture 2" descr="http://consultoriaergonomia.com.br/wp-content/uploads/2012/11/treinamento-bi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268760"/>
            <a:ext cx="2571750" cy="1943101"/>
          </a:xfrm>
          <a:prstGeom prst="rect">
            <a:avLst/>
          </a:prstGeom>
          <a:noFill/>
          <a:effectLst>
            <a:softEdge rad="63500"/>
          </a:effectLst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741987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400" b="1" dirty="0">
                <a:solidFill>
                  <a:schemeClr val="tx2">
                    <a:lumMod val="75000"/>
                  </a:schemeClr>
                </a:solidFill>
              </a:rPr>
              <a:t>QUANDO REALIZAR TRABALHO EM </a:t>
            </a:r>
            <a:r>
              <a:rPr lang="pt-BR" sz="2400" b="1" dirty="0" smtClean="0">
                <a:solidFill>
                  <a:schemeClr val="tx2">
                    <a:lumMod val="75000"/>
                  </a:schemeClr>
                </a:solidFill>
              </a:rPr>
              <a:t>ALTURA</a:t>
            </a:r>
            <a:endParaRPr lang="pt-BR" sz="2400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No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planejamento do trabalho devem ser adotadas, de acordo com a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seguinte hierarquia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	a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) medidas para evitar o trabalho em altura, sempre que existir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meio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alternativo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de execução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	b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) medidas que eliminem o risco de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queda;</a:t>
            </a:r>
            <a:endParaRPr lang="pt-BR" sz="22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	c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) medidas que minimizem as consequências da queda,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quando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o risco de queda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não puder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ser eliminado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>
              <a:buNone/>
            </a:pPr>
            <a:endParaRPr lang="pt-BR" sz="2200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2400" dirty="0" smtClean="0"/>
              <a:t>	</a:t>
            </a:r>
            <a:r>
              <a:rPr lang="pt-BR" sz="2200" u="sng" dirty="0">
                <a:solidFill>
                  <a:schemeClr val="tx2">
                    <a:lumMod val="75000"/>
                  </a:schemeClr>
                </a:solidFill>
              </a:rPr>
              <a:t>Todo trabalho em altura deve ser realizado sob supervisão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	A execução do serviço deve considerar as influências externas que possam alterar as condições do local de trabalho.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511256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400" b="1" dirty="0">
                <a:solidFill>
                  <a:schemeClr val="tx2">
                    <a:lumMod val="75000"/>
                  </a:schemeClr>
                </a:solidFill>
              </a:rPr>
              <a:t>PLANEJAMENTO, ORGANIZAÇÃO E EXECUÇÃO</a:t>
            </a: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- Cabe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ao empregador avaliar o estado de saúde dos trabalhadores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garantindo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que:</a:t>
            </a: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a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) os exames e a sistemática de avaliação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integrem o PCMSO;</a:t>
            </a: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b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avaliação periódica;</a:t>
            </a: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c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) seja realizado exame médico voltado às patologias que poderão originar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mal súbito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e queda de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altura.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- A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aptidão para trabalho em altura deve ser consignada no atestado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de saúde ocupacional.</a:t>
            </a: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- A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empresa deve manter cadastro atualizado que permita conhecer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a abrangência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da autorização de cada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trabalhador.</a:t>
            </a: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9552" y="908720"/>
            <a:ext cx="8229600" cy="452596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100" b="1" dirty="0">
                <a:solidFill>
                  <a:schemeClr val="tx2">
                    <a:lumMod val="75000"/>
                  </a:schemeClr>
                </a:solidFill>
              </a:rPr>
              <a:t>PLANEJAMENTO, ORGANIZAÇÃO E EXECUÇÃO</a:t>
            </a: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- Todo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trabalho em altura deve ser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precedido da </a:t>
            </a:r>
            <a:r>
              <a:rPr lang="pt-BR" sz="2100" b="1" dirty="0">
                <a:solidFill>
                  <a:schemeClr val="tx2">
                    <a:lumMod val="75000"/>
                  </a:schemeClr>
                </a:solidFill>
              </a:rPr>
              <a:t>Análise de Risco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- A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Análise de Risco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deve considerar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a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) o local em que os serviços serão executados e seu entorno;</a:t>
            </a: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b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) o isolamento e a sinalização no entorno da área de trabalho;</a:t>
            </a:r>
          </a:p>
          <a:p>
            <a:pPr marL="2155825" indent="9525"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c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) o estabelecimento dos sistemas e pontos de ancoragem;</a:t>
            </a:r>
          </a:p>
          <a:p>
            <a:pPr marL="2149475" indent="0"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d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) as condições meteorológicas adversas;</a:t>
            </a:r>
          </a:p>
          <a:p>
            <a:pPr marL="2155825" indent="9525">
              <a:spcBef>
                <a:spcPts val="0"/>
              </a:spcBef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e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)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os </a:t>
            </a:r>
            <a:r>
              <a:rPr lang="pt-BR" sz="2100" dirty="0" err="1" smtClean="0">
                <a:solidFill>
                  <a:schemeClr val="tx2">
                    <a:lumMod val="75000"/>
                  </a:schemeClr>
                </a:solidFill>
              </a:rPr>
              <a:t>EPIs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 e </a:t>
            </a:r>
            <a:r>
              <a:rPr lang="pt-BR" sz="2100" dirty="0" err="1" smtClean="0">
                <a:solidFill>
                  <a:schemeClr val="tx2">
                    <a:lumMod val="75000"/>
                  </a:schemeClr>
                </a:solidFill>
              </a:rPr>
              <a:t>EPCs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 devem atender as normas técnicas vigentes, as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orientações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dos fabricantes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e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aos princípios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da redução do impacto e dos </a:t>
            </a: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fatores de </a:t>
            </a:r>
            <a:r>
              <a:rPr lang="pt-BR" sz="2100" dirty="0">
                <a:solidFill>
                  <a:schemeClr val="tx2">
                    <a:lumMod val="75000"/>
                  </a:schemeClr>
                </a:solidFill>
              </a:rPr>
              <a:t>queda;</a:t>
            </a:r>
          </a:p>
          <a:p>
            <a:pPr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1266" name="Picture 2" descr="http://t1.gstatic.com/images?q=tbn:ANd9GcRchi3oxUPelzCFt0-R-zaXtS7znHADY7l2MMhL1wh9WRCFYbBYY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068960"/>
            <a:ext cx="2038350" cy="2247901"/>
          </a:xfrm>
          <a:prstGeom prst="rect">
            <a:avLst/>
          </a:prstGeom>
          <a:noFill/>
          <a:effectLst>
            <a:softEdge rad="63500"/>
          </a:effectLst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f) o risco de queda de materiais e ferramentas;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g) os trabalhos simultâneos que apresentem riscos específicos;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h) o atendimento aos requisitos de segurança e saúde contidos nas demais normas regulamentadoras;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i) os riscos adicionais;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j) as condições impeditivas;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k) as situações de emergência e o planejamento do resgate e primeiros socorros, de forma a reduzir </a:t>
            </a:r>
            <a:r>
              <a:rPr lang="pt-BR" sz="2200" u="sng" dirty="0" smtClean="0">
                <a:solidFill>
                  <a:schemeClr val="tx2">
                    <a:lumMod val="75000"/>
                  </a:schemeClr>
                </a:solidFill>
              </a:rPr>
              <a:t>o tempo da suspensão inerte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do trabalhador;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l) a necessidade de sistema de comunicação;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m) a forma de supervisão.</a:t>
            </a:r>
          </a:p>
          <a:p>
            <a:endParaRPr lang="pt-BR" sz="2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Para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atividades rotineiras de trabalho em altura a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Análise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de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Risco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pode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estar contemplada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no respectivo procedimento operacional.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Os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procedimentos operacionais para as atividades rotineiras de trabalho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em altura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devem conter, no mínimo: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a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) as diretrizes e requisitos da tarefa;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b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) as orientações administrativas;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c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) o detalhamento da tarefa;</a:t>
            </a:r>
          </a:p>
          <a:p>
            <a:pPr>
              <a:buNone/>
            </a:pP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d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) as medidas de controle dos riscos </a:t>
            </a:r>
            <a:endParaRPr lang="pt-BR" sz="2200" dirty="0" smtClean="0">
              <a:solidFill>
                <a:schemeClr val="tx2">
                  <a:lumMod val="75000"/>
                </a:schemeClr>
              </a:solidFill>
            </a:endParaRPr>
          </a:p>
          <a:p>
            <a:pPr indent="9525"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características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à rotina;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e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) as condições impeditivas;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f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) os sistemas de proteção coletiva e individual necessários;</a:t>
            </a:r>
          </a:p>
          <a:p>
            <a:pPr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	g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) as competências e responsabilidades.</a:t>
            </a:r>
          </a:p>
        </p:txBody>
      </p:sp>
      <p:pic>
        <p:nvPicPr>
          <p:cNvPr id="9218" name="Picture 2" descr="http://t0.gstatic.com/images?q=tbn:ANd9GcToe4eMDW_1W1KYgLXFZizfUKGvJwp9aP9AK9XmkIgGhjLPv1a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66520" y="2233464"/>
            <a:ext cx="1656184" cy="2382426"/>
          </a:xfrm>
          <a:prstGeom prst="rect">
            <a:avLst/>
          </a:prstGeom>
          <a:noFill/>
          <a:effectLst>
            <a:softEdge rad="63500"/>
          </a:effectLst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896543"/>
          </a:xfrm>
        </p:spPr>
        <p:txBody>
          <a:bodyPr>
            <a:noAutofit/>
          </a:bodyPr>
          <a:lstStyle/>
          <a:p>
            <a:pPr marL="96838" indent="-96838" algn="just">
              <a:buNone/>
            </a:pPr>
            <a:r>
              <a:rPr lang="pt-BR" sz="1900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</a:p>
          <a:p>
            <a:pPr marL="96838" indent="0" algn="just">
              <a:buNone/>
            </a:pP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As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atividades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não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rotineiras devem ser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previamente  autorizadas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mediante </a:t>
            </a:r>
            <a:r>
              <a:rPr lang="pt-BR" sz="2200" u="sng" dirty="0" smtClean="0">
                <a:solidFill>
                  <a:schemeClr val="tx2">
                    <a:lumMod val="75000"/>
                  </a:schemeClr>
                </a:solidFill>
              </a:rPr>
              <a:t>Permissão </a:t>
            </a:r>
            <a:r>
              <a:rPr lang="pt-BR" sz="2200" u="sng" dirty="0">
                <a:solidFill>
                  <a:schemeClr val="tx2">
                    <a:lumMod val="75000"/>
                  </a:schemeClr>
                </a:solidFill>
              </a:rPr>
              <a:t>de </a:t>
            </a:r>
            <a:r>
              <a:rPr lang="pt-BR" sz="2200" u="sng" dirty="0" smtClean="0">
                <a:solidFill>
                  <a:schemeClr val="tx2">
                    <a:lumMod val="75000"/>
                  </a:schemeClr>
                </a:solidFill>
              </a:rPr>
              <a:t>Trabalho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e as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medidas de controle devem ser 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evidenciadas na </a:t>
            </a:r>
            <a:r>
              <a:rPr lang="pt-BR" sz="2200" dirty="0">
                <a:solidFill>
                  <a:schemeClr val="tx2">
                    <a:lumMod val="75000"/>
                  </a:schemeClr>
                </a:solidFill>
              </a:rPr>
              <a:t>Análise de Risco e na Permissão de Trabalho.</a:t>
            </a:r>
          </a:p>
          <a:p>
            <a:pPr algn="just">
              <a:buNone/>
            </a:pPr>
            <a:r>
              <a:rPr lang="pt-BR" sz="2100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  <a:endParaRPr lang="pt-BR" sz="2100" dirty="0">
              <a:solidFill>
                <a:schemeClr val="tx2">
                  <a:lumMod val="75000"/>
                </a:schemeClr>
              </a:solidFill>
            </a:endParaRPr>
          </a:p>
          <a:p>
            <a:pPr algn="just">
              <a:buNone/>
            </a:pPr>
            <a:r>
              <a:rPr lang="pt-BR" sz="1900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  <a:endParaRPr lang="pt-BR" sz="19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194" name="AutoShape 2" descr="data:image/jpeg;base64,/9j/4AAQSkZJRgABAQAAAQABAAD/2wCEAAkGBhMSEBUUEhQSEhUVFBQUFRUUFBUVFBUUFBIVFBQVFRYXHSYeFxkjGhQUHy8gIycpLCwsFR4xNTAqNSYrLCkBCQoKDgwOGg8PGikcHBwpKSkpLSkpKSkpKSkpKSkpKSkpKSkpKSkpLCksKSksKSkpKSkpKSksKS0pLCksLCwsKf/AABEIAL8BCAMBIgACEQEDEQH/xAAbAAABBQEBAAAAAAAAAAAAAAADAAECBAUGB//EAEwQAAEDAgIGBQcJBQYEBwAAAAEAAhEDIQQxBRITQVFhBiJxgZEUMlKhsbPRNEJyc5KTwdLwJFNidOEVIzNEVPFDgqLCBxZjg6Pi8v/EABkBAQEBAQEBAAAAAAAAAAAAAAABAgMEBf/EACURAQACAgMAAgEEAwAAAAAAAAABAhESAyExIkETBFFxgRRCYf/aAAwDAQACEQMRAD8A85wWoWjqtyGbRwWgygwnzWfZC52nWcyzrWHhC3sBig4dy8t8xLtSYatPBU4jVZ9hvwRxgKeWpT+w34IWEP8ARXGhcsy7xEKtTBM3Mp/Yb8E79Hs9Bn2G/BWmU5PfCuHCRMdqbSusMVuEZIGozn1G/BV3YJpcYYyPot+C1HdUX5qFKnAk7/YpvJqqUtGU83MZH0W5+CgcFTv1WdmqLepW3G0dqzi4lxE5XJWotMszEQNRotaeoxhP0Gn2hX6WPBdejQO7/DZ8Fm0QN1gtrRGjNYi3avRHJNYcJ44vLR0Vo0VDOyotB3Ckw+shWsX0aYMqVP7tnwXRaOwoa2AFeABsVzm9rTnL1046VjDz7yDZVqVZtKiTSkFjqTNSo0i7X28DuXU4/AYZ2zx9LD0ixrdniKIps/u9aOtqgQSOy9kbSGCEZLLw2KqUHksghw1XscJY9vouC6U5tZ7efl/TbR8XSYTRmGe2W0cM4WIIo0iC05Hzf1COND4f9xh/uaX5VwG22b3Npl7GPOtTgmWVPQJGYcLA8QOK0cFp6sM6hd9IA/1XptyVr/byU47W/mHXnROH/wBPhvuKX5VB2jMMP8vh/uKX5VQ0ZpsVTqu6rt3B3Zz5LYb2LcTExmGbRNZxKkcDQ3YbD/cUvyphoikf8vh/uKX5VptITOqwtIo0tAYcZ0MP9zS/KjHROG/0+H+4pflRi5RLlEyru0Ph/wDT4f7ml+VROiMOP+Bh/uaX5UapXhVnViVcJsg/ReH/AHGH+5pflQjouh+4ofc0/wAqIXlSe8MaXOMACSr1CZmVPFYPDUxJoUCTYAUaVz9lZmMrtaJGHwjf/Ypk+sJ2V3VXmo6w+aODfiszStbXfqDvXhvyzM9ePo8fDEV+Xqxo07Yn+6w4A9HD0R/2qxiei9Nwk06U/VsHsCvaGwmzYEXSOKgQN6xvb7dY46w5RvR5rnEBlOGndTZ8Ey6nRtMNb23KSRax+KrznpF0U2mHpVaY62ypSBv/ALtq4uk803RcRuO5ez6NP9xS+qpe7auZ6VdD21gX0hqv9RXq5OPaHy68ms4lzeA0pPgtjC4wR2lcW4Oov1XgtIzla2Ex/wAV4bUmHvpfLrMO7rLQIPbZYOAxost2jWkLjL0VnKjiaO9UXVhJnctltEucR/DKq4bBgPcSJM2lCWc98AkjcYWdTHVk5k2G8/0WxpinFhw8JKyGedHALdXK7f6P6DdVAcfNnxhdnhdGBmQWX0Yr6tBsDILqqFVrxzV9d6xEQCypClVqQJSrUrqnWrGCPateH2M6pKrVcHPNY7NNmlV1KwLWuPUqZsJ9Fx+ae3NdHRqAi0EKermWDpDRojKRwWeyuAeuB9Lj3bl02IYCY8Fj6U0ZANpBHiPitRmOmZjvIbKLXXaSDmIORWzgOkpb1aw/5x/3D8QuRZiXU3hhmD5p3QM5O4hbj6Yc0FWt5pPTFuKL+uvZiA4AtIINwRkU2tK4/Rek9jWayZa8wRuBORHBdK7Ehe/jvvGXzeWn45wtOehVKyqPxCEaq6OOVl1Tih7RVauNY3NwHLeqtTpDSblrO9SzN6x7LccV7eQ0q2Kaxpc4xCxMTjnYgxdrAZA48z8FSrYs4iqLEAZN4c+1ajmtpMk7l5OXmz1Hj28HBr3PoWKxLaTLqhoqnLzUcDJNgq7Qaz9c+b83h2rosHQgZZBcI7enxZBgSbcljPxRq1THmt6vad5QtO6XJe2jTzMaxG4Ewr+jcFqgDcrPZ/1qYRgATKFbECmwk2ABSTOFiLT2ytG4Z+wpdU/4VL3bUc4R/olaeiWfs1D6ij7pqs6q9+z4017cbpbom2u069O/HeFwuk//AA5xlIzRa6o3hYOC9t1UtRYt363X4z08ModHNIt/y1T/AKfium0JRxLbV6FRg4kAjvgr0zUS1FxtxVl3ryzEuOwwAdPEQoVsPeQulxehGPuOq7iPxCy8Vo6owXGuOLc+8Lz24ph66ctZcvp1lp5exZWjMPm79Tkt/SkOY5u/hkVk6MeA4TZuu34fBZjqC2Js7bo7gSKQBHctG7DIyRNF4luqArNVneFcPR4gzEh3gqeIlxIVbFh1F2sLsOfFvPsR8NVm/EpLKljcHrAggEEXBGa5utpKtgHSA6rQ+c3N9McQfnBdzZw9V1l6UwDXN4KYmO2lnRmladdge0hzXCQRzVmtT1hGY3Lk8A7YkMcdXVtTcci30DuI4Lo8DpUE6r+q7huI4jiun1n6c9u8fanj9ESLi2fYeXNZuKxDmMg7hIPFddWgtWTpHRwc2+R38OanjdXL9GmPxGKhwI2R13TuA83xMetd0/DlVejeDa3aVB5zy0OPJjbe0rcC9vF8a9Pl887X7ZXkx4FBxjXMpucBcNJHbC3ZQq7QQQV0mzjFe8vMxjN5uSj4ZhqHIQiaX0GGVRs3dUm7d47Fr6NptaOC+dMTWcS+3+SL1jUXDaN1GyLW35eKxsZpEV3ls9Rp6xHsVjTWl3O/uqWZtbdzKlonQWowNHeeJ4lTDMzjpPRzCSACABuIufBbGkcW2lRLja3rCanhQwbhGZysufxeM8rq6rZ2THkkjJzgbDsCeJjotH0Il7iNZ5kjM3yGe4LqMG3q9gVHD4AEyWxzGaLjsYKNNznH5seCviYzDn+lulNarTw7Td7r/RF/wTrK6NUzWrPxT97iykODQbu70k7aelaJp/s1D6ij7piOWJtDfJqH1FH3TFZc1e58dW1UoRXNTEKKHqpaqKWFItTACQhvarOqoOYphvLB0po9jwdZoPPf4rhHYOKkcyPBeoV8NIXJaV0WWvmDB38CuPJTp147d9j6DxR1Q12YtPEBbFLHCdU+tZGj2N1YJvuPFXKjLQRPPgvO90T0vCqDINx+Czn0jRM/8ObH0Z3HkgAuYZmRx4dq06WJDwAYI577KibKgi3cpNIIhwnff2qlVwhYRqGR6PPl8FOhiuIniN/eM1pqOzVtGtcIIlpyncVi43Rb2iDJaLtI/wASmeLTvHI5hdNhzO/u4K1Uohwus4mO4ZnE9S5vQmlC9uq8jXbZ3PmOR/WStvquqPFJlyeOQHEncFS0p0dIfrscWkXkDPkRvCu6BxOq92tAdA1hnabOby9izHc4l2jqMwPhMO6g6HZfOjLtHYtxiVVzS2TEC/YEsM2GgcAPYvbx9dR4+d+pxM5+09RVNI1gym5xyA8eAHNXyFhY6atQjMMOX8UAyR32W7WxDhx03nDmW1H681GuGsczlyCFpzGwAxgl5sI49q1OkFcU6cZb77liaI0bUeTULSScpzA4dq8Vq99dvsRGKxnpa0Ro00xLjrOPnH8ByXS4aqA2VTwVIapmxEgg5grn+kvSAtOypXqOEAbhNpPALMTLM1hPT2mnVavk9ExN3vHzW7+/gt/QeApsYGsFgI/35rD0DoRjW569R3We45udx7Auhpt2eZg+1MprmF2vWbTEryzpf0jfiqwo0rtnVJG8zkOQWj0y6Ul00aJk5OcN3Ic1HoR0ZP8AiuFz5vIce0rpEf7S4zOZ0r/brejWiNlRY30Wgd+/1yktGlQLBn8Eym8Qs0mfGvoX5LQ+ooe5YrhCqaF+S0PqKHuWK5C9r5gbmqIbdGITNF0RKUkpQsS9wYS0azosOK0qIrmbttx1vwhBOMqfuf8A5G8exVHYvE/ugPD8ShbfFegD3M+K1hjLTGKMXYRy1geG8Jqha4XaeyJWZt8VlqDwYPxSoYjE67Q5rdUuAJ6hznKDyKmqxKvpHo+09amHNM7svC6zQ7EUiA6mXiYGrnExMGF1ow+WZjfHbz5lQdgmnMHu/wD0uU0rLtW9ocnXxzCLhzD/ABNLfbZJrSLtPgfYukq6ObfqFwIi5EQRGTiqbtC0jk00/oPa31B0epcp4f2d45/3UaOkWuF7EJ6mq/t3HI+Kk/o9MQXntNIoX/lWqXEsr1WQSAAG6tuIMqfjs6fmrgVmIfTF+uP+oI1PSgdke5VquhMULGs13a1jT4SJVOv0Uru1iKhDg6AWsA3A7yRvT8Vkjlr9tSvpEapkrCpYZ1d+uC5jWWa5tnaxzjsU2dHcYbENdzc6LcbWW3o3o/Xbqh2oGjcDe+akcM57dP8AIrjpHQ9JpFTD4p20ZVBa2oQGvpndZsCxi8KxhMbVZNOozWqUzqPIJ6xbEPyyc0hw7fC7/YImYJPElvhEKTMLU2gc5vzNQmWklrXS2foy7uK9dYxGHz+W21smGkiM2Gc943brKni9VztdrXAnMgi9t4IzWhj8MalNzHtcGusSKgpnlDm3H6zUalION4JP/qgeoK2rFo7Yre1JzEuXraOFSo0vLokwDqwSAM4HErZbhNWIEAdyqdKKr6OHNSjh6ldzXAhtN7Xaoi7nDziLZAE9ma1H09VjTrEh0bozEiZK8tqWrb4x0+jxc0Wr857cv0k0o2gx73E3yG8nIDmVldGejDzUNevJqPgxuaNw7lsaQ0JTrOL3EvLTLSQ4alpHVB1TftW/oqi7ZgxxBg8LGxWJpaneHWOWl5x5hUq0A1zY3Z9+5YHSHSLqhNKjmbOdwHAc11WK0a99vMaczMu7oyT4XRFOmIa0dvFapXaczDnzcsVjWrzzBdFYIkXzK7XAYDZt4QFoUtGRU1xBBEEH9XV3EYaWwAB2myl5nPhw2rFPf5Yuk9IhrIF3GwG+fgkrVHQ7WnWd13cTu5AbgktRw1n1xv8AqJz8WjoUfstD6ij7pquwqehfktD6ij7liurs8poTQpFNK1AihYnEBozAJymb35dqMSoOPP2LTMqlSuDnszlEibm/daFUFPIbRt/4WwDEWEXuc+S0aUXM5knd2fgiW9L2fBGWSaVvPbn6IgXPAX/qnpOIA694kxYEwRw5+pasjiUI6pOdx2SgzNpV1tXadk2OXGI9cXTa1U32sAC8G5mTMEZrRcW63FwGfVkA7uMW9SfXH8SGVUxF6zyDI80n8EMUGfvHXj5vdwVutVieG4kgCecoZrzkcri4zHGN2SLkIMb+9NhHm75kbuRRGvE/4zr38YI7uXNM52d3GR6QI9eW5MWNiRuAIgiSb2gHPJDYEyRBqazozvGRnMZd6ang6cSajwd4E578wjOosE/R4+o+ASfSaZNjbnc3seKGURhKfp1JF8jyytyCc4WnYa7+MAG9uz9SU7mMv2ekfDPkLKR1JJsYaN4QyiMLTH/EqAW3HjlYW/2UzQZntKgy9LcByTljL5ZT52czzRKmHpxbVt37u0KpkB1CmRBqPy3zuk5EZoTcE251icwPOFiN9rmZ9StCm03gdsDcPpJtk3hG+AO+w1s7KplDA0C113ZtjJ27tEKxi8UW+aC8xIgdWxyJFx4IoaSSZdaIzAIIm/G5O5NTrHVBhxJzAER9oA+IUWHP4/WquBcwTEQHwTHW9HK8d3JXOjsAPbbMOA1mmxGqfNAjII9XDt1i7UMk5y5u7OBA3JYZ7G1G2a0nq+fe+UAnihntec26i6mjPbvUYXOWwgIU5TwmhRUXNSU0lUD0L8lofUUfcsVxU9Cj9lofUUPcsV2FIJkxUYUoS1VqBFQqZE3RCEN4yHMcd1/gtJJmU4AF7BSjt8SpR+rpav6uiI6vb60PVGt871wi6v6uoU2mLme9BFuqSYBkWJuPXvScOHtKLqpag5ImFSoxx9GOBkobmFu5t84BPqCuvHCPFDcybFoP/MiYVtrbLf6L8k204AcfNfzF7K4AeA+16kr8B9pMrhUFW8Znf1XW+KhBm5MZ5PJjtiyvF0bh9oJi4zu8QqiqKRykz2GOXamZTIm7tw+d37uSPLuXi1S60ZjxCAGoeLoFpgz7EmtMxx5HhY5ImwN8jwNvYnFE8N3L4oBFjosdxz/GyaoDGYkQMhwN7omxdH+3xT7B36P/ANkQmgagc4AmAN3tVpo3yVXYxwGVxOc3B5TdWgVJagKpgmOMuaHG1yATbJOzCMGTWjfYDPilUxLWiSfC/sQX6TYIzMzw3cZTtelpzbKEJsNX1xMEXi6JCzLUBQkiaqbVUVCEyJCSCvoX5LQ+ooe5Yrqp6F+S0PqKHuWK4VIZIJJQnhbVEoZHW32HDijQotzNkSTePglHap9yUoYDPafBMwGM/UiOdASlEDYDFzfkLJ45+pTntTa3aqIxz9SianP2KT2zuKAcHcmSiJbb9WTuqfqyE/DnhPPJCcyQc57D+iqgxIjIEdgUo4N9QVWlSgiZPG3grNOvDYg5cCgfZ/wjwCRBg9X1BRoVjJEE9xRhXPo+1FVix/BhjLqpnsdNms8Dmp1XEneEnSN54IiJa70WkzwT6hHzR4Jix0b+Oakx5bxOSIagDeWhvijU5jh3IVN51t+/cjNqSTaIRUauDa7c0HiAAfFCbo1g3u8fZCPspm5EwhDCAAguRehMOGCQ2JOaK43VWnRpsIuZyVtzbLMtRJkoThPCy0jCSkmQVdCfJaH1FD3LFcCp6E+S0PqKHuWK8AkMkkmTFy0E48lCkLKBqyDaEhWAtCJkaEvFDL98FMKvIouUn96eO1D2oO4onciH8UvFQa6dxUo5IIGeSFtHcPUjQ7gFG4zhVES93ApB7uCk6pA3KAroGe9xyBCZzXWzUm1yeCW1PwQQJdNtZOGOkyXJxXKgX3knwQOWv5pg14OZTA53KdtxElVCdTd/F4pix/NIdpPJRbvugkxrp3qwJlVnMG4o1OqCYEW9aLBYilI39yrnDwDZx/W5X47EHEUpubqDNcXc43StilUlo7FmmruDYKuYR0i9kkj0VqmoOzUgVh0IpJ0lRT0J8lofy9D3LFdlUtC/JcP/AC9D3LFbJSEk8pnvAEmyUoVW4WmUHYgROYO9AdW7FMNERAjgm1BwCMk/GEREc09PFa2cJtUcAlqjgEFinUbMTfhvTOf143AShU2DWmBPFEa0SSjQsBKAoEJoUUTVHNRexu+6WslrIIhrfRKfVHAp9ZIFVEQG+inEcEi0KBcJ/qglA9FLVHoqGuOPrS1xGY8UBLeimtwQy4cR4qJcOIRBpHoppHBAdUbxUfKG8UFrWHAKLnCDaFVdiWjep0azXG10TKb6siwyAM+1Gq1BGRKrin3ZpUmkjzo3IqNWoRcCO5Pgq5LjKeq2DMymp1IN4F1UX3stKZpRZkILVzl1TSTJJkU9DH9lw/8AL0PcsVuEPQdCcLh/5eh7livjCDipnBhUhRdRlX/JBxT+SDimxqzBg2pHBhaYwg4p/JAmxqzW4UBOMOFo+ShLyQJsas8UAn2IV/yQJ/JAmxqz9kE+yCv+ShLyUJsaqGyCHUwoK0/JAl5IE2XVkf2cOJ8UWnhQAtHyQJeShNk0ZtTDcCgf2YOJ8VteSBLyVqbGrBbolo3nxU26NbELc8lal5M1N5NIYxwDYUTo5hW35M1LyZqbSasVuj2gRuUhgGcFr+StS8lam0mrK8iZwU6eGa0yFo+StS8lam0mqkWhQqYUHNXjhAm8l5q7GrM/s1qk3R7QtDyTmm8l5psahBsBBOasuw3ND2QCZyqASTuSRFfQb/2XD/y9D3LFeFRZ+hPkuH/l6HuWK6oCbVPtShpIC7UpbUoaSKIKpS2pUEkE9qU+1KGkoJ7UpbUqCSCe0S2pUEkE9oltSoJIgm1S2qGkmFE2yW1Q0kMp7VLaqCRVMp7RLaocpIie0S2qEUyAm1S2yEUkBNqm2qgmKYEzUUHOTFMqESkmcUyo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196" name="AutoShape 4" descr="data:image/jpeg;base64,/9j/4AAQSkZJRgABAQAAAQABAAD/2wCEAAkGBhMSEBUUEhQSEhUVFBQUFRUUFBUVFBUUFBIVFBQVFRYXHSYeFxkjGhQUHy8gIycpLCwsFR4xNTAqNSYrLCkBCQoKDgwOGg8PGikcHBwpKSkpLSkpKSkpKSkpKSkpKSkpKSkpKSkpLCksKSksKSkpKSkpKSksKS0pLCksLCwsKf/AABEIAL8BCAMBIgACEQEDEQH/xAAbAAABBQEBAAAAAAAAAAAAAAADAAECBAUGB//EAEwQAAEDAgIGBQcJBQYEBwAAAAEAAhEDIQQxBRITQVFhBiJxgZEUMlKhsbPRNEJyc5KTwdLwJFNidOEVIzNEVPFDgqLCBxZjg6Pi8v/EABkBAQEBAQEBAAAAAAAAAAAAAAABAgMEBf/EACURAQACAgMAAgEEAwAAAAAAAAABAhESAyExIkETBFFxgRRCYf/aAAwDAQACEQMRAD8A85wWoWjqtyGbRwWgygwnzWfZC52nWcyzrWHhC3sBig4dy8t8xLtSYatPBU4jVZ9hvwRxgKeWpT+w34IWEP8ARXGhcsy7xEKtTBM3Mp/Yb8E79Hs9Bn2G/BWmU5PfCuHCRMdqbSusMVuEZIGozn1G/BV3YJpcYYyPot+C1HdUX5qFKnAk7/YpvJqqUtGU83MZH0W5+CgcFTv1WdmqLepW3G0dqzi4lxE5XJWotMszEQNRotaeoxhP0Gn2hX6WPBdejQO7/DZ8Fm0QN1gtrRGjNYi3avRHJNYcJ44vLR0Vo0VDOyotB3Ckw+shWsX0aYMqVP7tnwXRaOwoa2AFeABsVzm9rTnL1046VjDz7yDZVqVZtKiTSkFjqTNSo0i7X28DuXU4/AYZ2zx9LD0ixrdniKIps/u9aOtqgQSOy9kbSGCEZLLw2KqUHksghw1XscJY9vouC6U5tZ7efl/TbR8XSYTRmGe2W0cM4WIIo0iC05Hzf1COND4f9xh/uaX5VwG22b3Npl7GPOtTgmWVPQJGYcLA8QOK0cFp6sM6hd9IA/1XptyVr/byU47W/mHXnROH/wBPhvuKX5VB2jMMP8vh/uKX5VQ0ZpsVTqu6rt3B3Zz5LYb2LcTExmGbRNZxKkcDQ3YbD/cUvyphoikf8vh/uKX5VptITOqwtIo0tAYcZ0MP9zS/KjHROG/0+H+4pflRi5RLlEyru0Ph/wDT4f7ml+VROiMOP+Bh/uaX5UapXhVnViVcJsg/ReH/AHGH+5pflQjouh+4ofc0/wAqIXlSe8MaXOMACSr1CZmVPFYPDUxJoUCTYAUaVz9lZmMrtaJGHwjf/Ypk+sJ2V3VXmo6w+aODfiszStbXfqDvXhvyzM9ePo8fDEV+Xqxo07Yn+6w4A9HD0R/2qxiei9Nwk06U/VsHsCvaGwmzYEXSOKgQN6xvb7dY46w5RvR5rnEBlOGndTZ8Ey6nRtMNb23KSRax+KrznpF0U2mHpVaY62ypSBv/ALtq4uk803RcRuO5ez6NP9xS+qpe7auZ6VdD21gX0hqv9RXq5OPaHy68ms4lzeA0pPgtjC4wR2lcW4Oov1XgtIzla2Ex/wAV4bUmHvpfLrMO7rLQIPbZYOAxost2jWkLjL0VnKjiaO9UXVhJnctltEucR/DKq4bBgPcSJM2lCWc98AkjcYWdTHVk5k2G8/0WxpinFhw8JKyGedHALdXK7f6P6DdVAcfNnxhdnhdGBmQWX0Yr6tBsDILqqFVrxzV9d6xEQCypClVqQJSrUrqnWrGCPateH2M6pKrVcHPNY7NNmlV1KwLWuPUqZsJ9Fx+ae3NdHRqAi0EKermWDpDRojKRwWeyuAeuB9Lj3bl02IYCY8Fj6U0ZANpBHiPitRmOmZjvIbKLXXaSDmIORWzgOkpb1aw/5x/3D8QuRZiXU3hhmD5p3QM5O4hbj6Yc0FWt5pPTFuKL+uvZiA4AtIINwRkU2tK4/Rek9jWayZa8wRuBORHBdK7Ehe/jvvGXzeWn45wtOehVKyqPxCEaq6OOVl1Tih7RVauNY3NwHLeqtTpDSblrO9SzN6x7LccV7eQ0q2Kaxpc4xCxMTjnYgxdrAZA48z8FSrYs4iqLEAZN4c+1ajmtpMk7l5OXmz1Hj28HBr3PoWKxLaTLqhoqnLzUcDJNgq7Qaz9c+b83h2rosHQgZZBcI7enxZBgSbcljPxRq1THmt6vad5QtO6XJe2jTzMaxG4Ewr+jcFqgDcrPZ/1qYRgATKFbECmwk2ABSTOFiLT2ytG4Z+wpdU/4VL3bUc4R/olaeiWfs1D6ij7pqs6q9+z4017cbpbom2u069O/HeFwuk//AA5xlIzRa6o3hYOC9t1UtRYt363X4z08ModHNIt/y1T/AKfium0JRxLbV6FRg4kAjvgr0zUS1FxtxVl3ryzEuOwwAdPEQoVsPeQulxehGPuOq7iPxCy8Vo6owXGuOLc+8Lz24ph66ctZcvp1lp5exZWjMPm79Tkt/SkOY5u/hkVk6MeA4TZuu34fBZjqC2Js7bo7gSKQBHctG7DIyRNF4luqArNVneFcPR4gzEh3gqeIlxIVbFh1F2sLsOfFvPsR8NVm/EpLKljcHrAggEEXBGa5utpKtgHSA6rQ+c3N9McQfnBdzZw9V1l6UwDXN4KYmO2lnRmladdge0hzXCQRzVmtT1hGY3Lk8A7YkMcdXVtTcci30DuI4Lo8DpUE6r+q7huI4jiun1n6c9u8fanj9ESLi2fYeXNZuKxDmMg7hIPFddWgtWTpHRwc2+R38OanjdXL9GmPxGKhwI2R13TuA83xMetd0/DlVejeDa3aVB5zy0OPJjbe0rcC9vF8a9Pl887X7ZXkx4FBxjXMpucBcNJHbC3ZQq7QQQV0mzjFe8vMxjN5uSj4ZhqHIQiaX0GGVRs3dUm7d47Fr6NptaOC+dMTWcS+3+SL1jUXDaN1GyLW35eKxsZpEV3ls9Rp6xHsVjTWl3O/uqWZtbdzKlonQWowNHeeJ4lTDMzjpPRzCSACABuIufBbGkcW2lRLja3rCanhQwbhGZysufxeM8rq6rZ2THkkjJzgbDsCeJjotH0Il7iNZ5kjM3yGe4LqMG3q9gVHD4AEyWxzGaLjsYKNNznH5seCviYzDn+lulNarTw7Td7r/RF/wTrK6NUzWrPxT97iykODQbu70k7aelaJp/s1D6ij7piOWJtDfJqH1FH3TFZc1e58dW1UoRXNTEKKHqpaqKWFItTACQhvarOqoOYphvLB0po9jwdZoPPf4rhHYOKkcyPBeoV8NIXJaV0WWvmDB38CuPJTp147d9j6DxR1Q12YtPEBbFLHCdU+tZGj2N1YJvuPFXKjLQRPPgvO90T0vCqDINx+Czn0jRM/8ObH0Z3HkgAuYZmRx4dq06WJDwAYI577KibKgi3cpNIIhwnff2qlVwhYRqGR6PPl8FOhiuIniN/eM1pqOzVtGtcIIlpyncVi43Rb2iDJaLtI/wASmeLTvHI5hdNhzO/u4K1Uohwus4mO4ZnE9S5vQmlC9uq8jXbZ3PmOR/WStvquqPFJlyeOQHEncFS0p0dIfrscWkXkDPkRvCu6BxOq92tAdA1hnabOby9izHc4l2jqMwPhMO6g6HZfOjLtHYtxiVVzS2TEC/YEsM2GgcAPYvbx9dR4+d+pxM5+09RVNI1gym5xyA8eAHNXyFhY6atQjMMOX8UAyR32W7WxDhx03nDmW1H681GuGsczlyCFpzGwAxgl5sI49q1OkFcU6cZb77liaI0bUeTULSScpzA4dq8Vq99dvsRGKxnpa0Ro00xLjrOPnH8ByXS4aqA2VTwVIapmxEgg5grn+kvSAtOypXqOEAbhNpPALMTLM1hPT2mnVavk9ExN3vHzW7+/gt/QeApsYGsFgI/35rD0DoRjW569R3We45udx7Auhpt2eZg+1MprmF2vWbTEryzpf0jfiqwo0rtnVJG8zkOQWj0y6Ul00aJk5OcN3Ic1HoR0ZP8AiuFz5vIce0rpEf7S4zOZ0r/brejWiNlRY30Wgd+/1yktGlQLBn8Eym8Qs0mfGvoX5LQ+ooe5YrhCqaF+S0PqKHuWK5C9r5gbmqIbdGITNF0RKUkpQsS9wYS0azosOK0qIrmbttx1vwhBOMqfuf8A5G8exVHYvE/ugPD8ShbfFegD3M+K1hjLTGKMXYRy1geG8Jqha4XaeyJWZt8VlqDwYPxSoYjE67Q5rdUuAJ6hznKDyKmqxKvpHo+09amHNM7svC6zQ7EUiA6mXiYGrnExMGF1ow+WZjfHbz5lQdgmnMHu/wD0uU0rLtW9ocnXxzCLhzD/ABNLfbZJrSLtPgfYukq6ObfqFwIi5EQRGTiqbtC0jk00/oPa31B0epcp4f2d45/3UaOkWuF7EJ6mq/t3HI+Kk/o9MQXntNIoX/lWqXEsr1WQSAAG6tuIMqfjs6fmrgVmIfTF+uP+oI1PSgdke5VquhMULGs13a1jT4SJVOv0Uru1iKhDg6AWsA3A7yRvT8Vkjlr9tSvpEapkrCpYZ1d+uC5jWWa5tnaxzjsU2dHcYbENdzc6LcbWW3o3o/Xbqh2oGjcDe+akcM57dP8AIrjpHQ9JpFTD4p20ZVBa2oQGvpndZsCxi8KxhMbVZNOozWqUzqPIJ6xbEPyyc0hw7fC7/YImYJPElvhEKTMLU2gc5vzNQmWklrXS2foy7uK9dYxGHz+W21smGkiM2Gc943brKni9VztdrXAnMgi9t4IzWhj8MalNzHtcGusSKgpnlDm3H6zUalION4JP/qgeoK2rFo7Yre1JzEuXraOFSo0vLokwDqwSAM4HErZbhNWIEAdyqdKKr6OHNSjh6ldzXAhtN7Xaoi7nDziLZAE9ma1H09VjTrEh0bozEiZK8tqWrb4x0+jxc0Wr857cv0k0o2gx73E3yG8nIDmVldGejDzUNevJqPgxuaNw7lsaQ0JTrOL3EvLTLSQ4alpHVB1TftW/oqi7ZgxxBg8LGxWJpaneHWOWl5x5hUq0A1zY3Z9+5YHSHSLqhNKjmbOdwHAc11WK0a99vMaczMu7oyT4XRFOmIa0dvFapXaczDnzcsVjWrzzBdFYIkXzK7XAYDZt4QFoUtGRU1xBBEEH9XV3EYaWwAB2myl5nPhw2rFPf5Yuk9IhrIF3GwG+fgkrVHQ7WnWd13cTu5AbgktRw1n1xv8AqJz8WjoUfstD6ij7pquwqehfktD6ij7liurs8poTQpFNK1AihYnEBozAJymb35dqMSoOPP2LTMqlSuDnszlEibm/daFUFPIbRt/4WwDEWEXuc+S0aUXM5knd2fgiW9L2fBGWSaVvPbn6IgXPAX/qnpOIA694kxYEwRw5+pasjiUI6pOdx2SgzNpV1tXadk2OXGI9cXTa1U32sAC8G5mTMEZrRcW63FwGfVkA7uMW9SfXH8SGVUxF6zyDI80n8EMUGfvHXj5vdwVutVieG4kgCecoZrzkcri4zHGN2SLkIMb+9NhHm75kbuRRGvE/4zr38YI7uXNM52d3GR6QI9eW5MWNiRuAIgiSb2gHPJDYEyRBqazozvGRnMZd6ang6cSajwd4E578wjOosE/R4+o+ASfSaZNjbnc3seKGURhKfp1JF8jyytyCc4WnYa7+MAG9uz9SU7mMv2ekfDPkLKR1JJsYaN4QyiMLTH/EqAW3HjlYW/2UzQZntKgy9LcByTljL5ZT52czzRKmHpxbVt37u0KpkB1CmRBqPy3zuk5EZoTcE251icwPOFiN9rmZ9StCm03gdsDcPpJtk3hG+AO+w1s7KplDA0C113ZtjJ27tEKxi8UW+aC8xIgdWxyJFx4IoaSSZdaIzAIIm/G5O5NTrHVBhxJzAER9oA+IUWHP4/WquBcwTEQHwTHW9HK8d3JXOjsAPbbMOA1mmxGqfNAjII9XDt1i7UMk5y5u7OBA3JYZ7G1G2a0nq+fe+UAnihntec26i6mjPbvUYXOWwgIU5TwmhRUXNSU0lUD0L8lofUUfcsVxU9Cj9lofUUPcsV2FIJkxUYUoS1VqBFQqZE3RCEN4yHMcd1/gtJJmU4AF7BSjt8SpR+rpav6uiI6vb60PVGt871wi6v6uoU2mLme9BFuqSYBkWJuPXvScOHtKLqpag5ImFSoxx9GOBkobmFu5t84BPqCuvHCPFDcybFoP/MiYVtrbLf6L8k204AcfNfzF7K4AeA+16kr8B9pMrhUFW8Znf1XW+KhBm5MZ5PJjtiyvF0bh9oJi4zu8QqiqKRykz2GOXamZTIm7tw+d37uSPLuXi1S60ZjxCAGoeLoFpgz7EmtMxx5HhY5ImwN8jwNvYnFE8N3L4oBFjosdxz/GyaoDGYkQMhwN7omxdH+3xT7B36P/ANkQmgagc4AmAN3tVpo3yVXYxwGVxOc3B5TdWgVJagKpgmOMuaHG1yATbJOzCMGTWjfYDPilUxLWiSfC/sQX6TYIzMzw3cZTtelpzbKEJsNX1xMEXi6JCzLUBQkiaqbVUVCEyJCSCvoX5LQ+ooe5Yrqp6F+S0PqKHuWK4VIZIJJQnhbVEoZHW32HDijQotzNkSTePglHap9yUoYDPafBMwGM/UiOdASlEDYDFzfkLJ45+pTntTa3aqIxz9SianP2KT2zuKAcHcmSiJbb9WTuqfqyE/DnhPPJCcyQc57D+iqgxIjIEdgUo4N9QVWlSgiZPG3grNOvDYg5cCgfZ/wjwCRBg9X1BRoVjJEE9xRhXPo+1FVix/BhjLqpnsdNms8Dmp1XEneEnSN54IiJa70WkzwT6hHzR4Jix0b+Oakx5bxOSIagDeWhvijU5jh3IVN51t+/cjNqSTaIRUauDa7c0HiAAfFCbo1g3u8fZCPspm5EwhDCAAguRehMOGCQ2JOaK43VWnRpsIuZyVtzbLMtRJkoThPCy0jCSkmQVdCfJaH1FD3LFcCp6E+S0PqKHuWK8AkMkkmTFy0E48lCkLKBqyDaEhWAtCJkaEvFDL98FMKvIouUn96eO1D2oO4onciH8UvFQa6dxUo5IIGeSFtHcPUjQ7gFG4zhVES93ApB7uCk6pA3KAroGe9xyBCZzXWzUm1yeCW1PwQQJdNtZOGOkyXJxXKgX3knwQOWv5pg14OZTA53KdtxElVCdTd/F4pix/NIdpPJRbvugkxrp3qwJlVnMG4o1OqCYEW9aLBYilI39yrnDwDZx/W5X47EHEUpubqDNcXc43StilUlo7FmmruDYKuYR0i9kkj0VqmoOzUgVh0IpJ0lRT0J8lofy9D3LFdlUtC/JcP/AC9D3LFbJSEk8pnvAEmyUoVW4WmUHYgROYO9AdW7FMNERAjgm1BwCMk/GEREc09PFa2cJtUcAlqjgEFinUbMTfhvTOf143AShU2DWmBPFEa0SSjQsBKAoEJoUUTVHNRexu+6WslrIIhrfRKfVHAp9ZIFVEQG+inEcEi0KBcJ/qglA9FLVHoqGuOPrS1xGY8UBLeimtwQy4cR4qJcOIRBpHoppHBAdUbxUfKG8UFrWHAKLnCDaFVdiWjep0azXG10TKb6siwyAM+1Gq1BGRKrin3ZpUmkjzo3IqNWoRcCO5Pgq5LjKeq2DMymp1IN4F1UX3stKZpRZkILVzl1TSTJJkU9DH9lw/8AL0PcsVuEPQdCcLh/5eh7livjCDipnBhUhRdRlX/JBxT+SDimxqzBg2pHBhaYwg4p/JAmxqzW4UBOMOFo+ShLyQJsas8UAn2IV/yQJ/JAmxqz9kE+yCv+ShLyUJsaqGyCHUwoK0/JAl5IE2XVkf2cOJ8UWnhQAtHyQJeShNk0ZtTDcCgf2YOJ8VteSBLyVqbGrBbolo3nxU26NbELc8lal5M1N5NIYxwDYUTo5hW35M1LyZqbSasVuj2gRuUhgGcFr+StS8lam0mrK8iZwU6eGa0yFo+StS8lam0mqkWhQqYUHNXjhAm8l5q7GrM/s1qk3R7QtDyTmm8l5psahBsBBOasuw3ND2QCZyqASTuSRFfQb/2XD/y9D3LFeFRZ+hPkuH/l6HuWK6oCbVPtShpIC7UpbUoaSKIKpS2pUEkE9qU+1KGkoJ7UpbUqCSCe0S2pUEkE9oltSoJIgm1S2qGkmFE2yW1Q0kMp7VLaqCRVMp7RLaocpIie0S2qEUyAm1S2yEUkBNqm2qgmKYEzUUHOTFMqESkmcUyo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198" name="AutoShape 6" descr="data:image/jpeg;base64,/9j/4AAQSkZJRgABAQAAAQABAAD/2wCEAAkGBhMSEBUUEhQSEhUVFBQUFRUUFBUVFBUUFBIVFBQVFRYXHSYeFxkjGhQUHy8gIycpLCwsFR4xNTAqNSYrLCkBCQoKDgwOGg8PGikcHBwpKSkpLSkpKSkpKSkpKSkpKSkpKSkpKSkpLCksKSksKSkpKSkpKSksKS0pLCksLCwsKf/AABEIAL8BCAMBIgACEQEDEQH/xAAbAAABBQEBAAAAAAAAAAAAAAADAAECBAUGB//EAEwQAAEDAgIGBQcJBQYEBwAAAAEAAhEDIQQxBRITQVFhBiJxgZEUMlKhsbPRNEJyc5KTwdLwJFNidOEVIzNEVPFDgqLCBxZjg6Pi8v/EABkBAQEBAQEBAAAAAAAAAAAAAAABAgMEBf/EACURAQACAgMAAgEEAwAAAAAAAAABAhESAyExIkETBFFxgRRCYf/aAAwDAQACEQMRAD8A85wWoWjqtyGbRwWgygwnzWfZC52nWcyzrWHhC3sBig4dy8t8xLtSYatPBU4jVZ9hvwRxgKeWpT+w34IWEP8ARXGhcsy7xEKtTBM3Mp/Yb8E79Hs9Bn2G/BWmU5PfCuHCRMdqbSusMVuEZIGozn1G/BV3YJpcYYyPot+C1HdUX5qFKnAk7/YpvJqqUtGU83MZH0W5+CgcFTv1WdmqLepW3G0dqzi4lxE5XJWotMszEQNRotaeoxhP0Gn2hX6WPBdejQO7/DZ8Fm0QN1gtrRGjNYi3avRHJNYcJ44vLR0Vo0VDOyotB3Ckw+shWsX0aYMqVP7tnwXRaOwoa2AFeABsVzm9rTnL1046VjDz7yDZVqVZtKiTSkFjqTNSo0i7X28DuXU4/AYZ2zx9LD0ixrdniKIps/u9aOtqgQSOy9kbSGCEZLLw2KqUHksghw1XscJY9vouC6U5tZ7efl/TbR8XSYTRmGe2W0cM4WIIo0iC05Hzf1COND4f9xh/uaX5VwG22b3Npl7GPOtTgmWVPQJGYcLA8QOK0cFp6sM6hd9IA/1XptyVr/byU47W/mHXnROH/wBPhvuKX5VB2jMMP8vh/uKX5VQ0ZpsVTqu6rt3B3Zz5LYb2LcTExmGbRNZxKkcDQ3YbD/cUvyphoikf8vh/uKX5VptITOqwtIo0tAYcZ0MP9zS/KjHROG/0+H+4pflRi5RLlEyru0Ph/wDT4f7ml+VROiMOP+Bh/uaX5UapXhVnViVcJsg/ReH/AHGH+5pflQjouh+4ofc0/wAqIXlSe8MaXOMACSr1CZmVPFYPDUxJoUCTYAUaVz9lZmMrtaJGHwjf/Ypk+sJ2V3VXmo6w+aODfiszStbXfqDvXhvyzM9ePo8fDEV+Xqxo07Yn+6w4A9HD0R/2qxiei9Nwk06U/VsHsCvaGwmzYEXSOKgQN6xvb7dY46w5RvR5rnEBlOGndTZ8Ey6nRtMNb23KSRax+KrznpF0U2mHpVaY62ypSBv/ALtq4uk803RcRuO5ez6NP9xS+qpe7auZ6VdD21gX0hqv9RXq5OPaHy68ms4lzeA0pPgtjC4wR2lcW4Oov1XgtIzla2Ex/wAV4bUmHvpfLrMO7rLQIPbZYOAxost2jWkLjL0VnKjiaO9UXVhJnctltEucR/DKq4bBgPcSJM2lCWc98AkjcYWdTHVk5k2G8/0WxpinFhw8JKyGedHALdXK7f6P6DdVAcfNnxhdnhdGBmQWX0Yr6tBsDILqqFVrxzV9d6xEQCypClVqQJSrUrqnWrGCPateH2M6pKrVcHPNY7NNmlV1KwLWuPUqZsJ9Fx+ae3NdHRqAi0EKermWDpDRojKRwWeyuAeuB9Lj3bl02IYCY8Fj6U0ZANpBHiPitRmOmZjvIbKLXXaSDmIORWzgOkpb1aw/5x/3D8QuRZiXU3hhmD5p3QM5O4hbj6Yc0FWt5pPTFuKL+uvZiA4AtIINwRkU2tK4/Rek9jWayZa8wRuBORHBdK7Ehe/jvvGXzeWn45wtOehVKyqPxCEaq6OOVl1Tih7RVauNY3NwHLeqtTpDSblrO9SzN6x7LccV7eQ0q2Kaxpc4xCxMTjnYgxdrAZA48z8FSrYs4iqLEAZN4c+1ajmtpMk7l5OXmz1Hj28HBr3PoWKxLaTLqhoqnLzUcDJNgq7Qaz9c+b83h2rosHQgZZBcI7enxZBgSbcljPxRq1THmt6vad5QtO6XJe2jTzMaxG4Ewr+jcFqgDcrPZ/1qYRgATKFbECmwk2ABSTOFiLT2ytG4Z+wpdU/4VL3bUc4R/olaeiWfs1D6ij7pqs6q9+z4017cbpbom2u069O/HeFwuk//AA5xlIzRa6o3hYOC9t1UtRYt363X4z08ModHNIt/y1T/AKfium0JRxLbV6FRg4kAjvgr0zUS1FxtxVl3ryzEuOwwAdPEQoVsPeQulxehGPuOq7iPxCy8Vo6owXGuOLc+8Lz24ph66ctZcvp1lp5exZWjMPm79Tkt/SkOY5u/hkVk6MeA4TZuu34fBZjqC2Js7bo7gSKQBHctG7DIyRNF4luqArNVneFcPR4gzEh3gqeIlxIVbFh1F2sLsOfFvPsR8NVm/EpLKljcHrAggEEXBGa5utpKtgHSA6rQ+c3N9McQfnBdzZw9V1l6UwDXN4KYmO2lnRmladdge0hzXCQRzVmtT1hGY3Lk8A7YkMcdXVtTcci30DuI4Lo8DpUE6r+q7huI4jiun1n6c9u8fanj9ESLi2fYeXNZuKxDmMg7hIPFddWgtWTpHRwc2+R38OanjdXL9GmPxGKhwI2R13TuA83xMetd0/DlVejeDa3aVB5zy0OPJjbe0rcC9vF8a9Pl887X7ZXkx4FBxjXMpucBcNJHbC3ZQq7QQQV0mzjFe8vMxjN5uSj4ZhqHIQiaX0GGVRs3dUm7d47Fr6NptaOC+dMTWcS+3+SL1jUXDaN1GyLW35eKxsZpEV3ls9Rp6xHsVjTWl3O/uqWZtbdzKlonQWowNHeeJ4lTDMzjpPRzCSACABuIufBbGkcW2lRLja3rCanhQwbhGZysufxeM8rq6rZ2THkkjJzgbDsCeJjotH0Il7iNZ5kjM3yGe4LqMG3q9gVHD4AEyWxzGaLjsYKNNznH5seCviYzDn+lulNarTw7Td7r/RF/wTrK6NUzWrPxT97iykODQbu70k7aelaJp/s1D6ij7piOWJtDfJqH1FH3TFZc1e58dW1UoRXNTEKKHqpaqKWFItTACQhvarOqoOYphvLB0po9jwdZoPPf4rhHYOKkcyPBeoV8NIXJaV0WWvmDB38CuPJTp147d9j6DxR1Q12YtPEBbFLHCdU+tZGj2N1YJvuPFXKjLQRPPgvO90T0vCqDINx+Czn0jRM/8ObH0Z3HkgAuYZmRx4dq06WJDwAYI577KibKgi3cpNIIhwnff2qlVwhYRqGR6PPl8FOhiuIniN/eM1pqOzVtGtcIIlpyncVi43Rb2iDJaLtI/wASmeLTvHI5hdNhzO/u4K1Uohwus4mO4ZnE9S5vQmlC9uq8jXbZ3PmOR/WStvquqPFJlyeOQHEncFS0p0dIfrscWkXkDPkRvCu6BxOq92tAdA1hnabOby9izHc4l2jqMwPhMO6g6HZfOjLtHYtxiVVzS2TEC/YEsM2GgcAPYvbx9dR4+d+pxM5+09RVNI1gym5xyA8eAHNXyFhY6atQjMMOX8UAyR32W7WxDhx03nDmW1H681GuGsczlyCFpzGwAxgl5sI49q1OkFcU6cZb77liaI0bUeTULSScpzA4dq8Vq99dvsRGKxnpa0Ro00xLjrOPnH8ByXS4aqA2VTwVIapmxEgg5grn+kvSAtOypXqOEAbhNpPALMTLM1hPT2mnVavk9ExN3vHzW7+/gt/QeApsYGsFgI/35rD0DoRjW569R3We45udx7Auhpt2eZg+1MprmF2vWbTEryzpf0jfiqwo0rtnVJG8zkOQWj0y6Ul00aJk5OcN3Ic1HoR0ZP8AiuFz5vIce0rpEf7S4zOZ0r/brejWiNlRY30Wgd+/1yktGlQLBn8Eym8Qs0mfGvoX5LQ+ooe5YrhCqaF+S0PqKHuWK5C9r5gbmqIbdGITNF0RKUkpQsS9wYS0azosOK0qIrmbttx1vwhBOMqfuf8A5G8exVHYvE/ugPD8ShbfFegD3M+K1hjLTGKMXYRy1geG8Jqha4XaeyJWZt8VlqDwYPxSoYjE67Q5rdUuAJ6hznKDyKmqxKvpHo+09amHNM7svC6zQ7EUiA6mXiYGrnExMGF1ow+WZjfHbz5lQdgmnMHu/wD0uU0rLtW9ocnXxzCLhzD/ABNLfbZJrSLtPgfYukq6ObfqFwIi5EQRGTiqbtC0jk00/oPa31B0epcp4f2d45/3UaOkWuF7EJ6mq/t3HI+Kk/o9MQXntNIoX/lWqXEsr1WQSAAG6tuIMqfjs6fmrgVmIfTF+uP+oI1PSgdke5VquhMULGs13a1jT4SJVOv0Uru1iKhDg6AWsA3A7yRvT8Vkjlr9tSvpEapkrCpYZ1d+uC5jWWa5tnaxzjsU2dHcYbENdzc6LcbWW3o3o/Xbqh2oGjcDe+akcM57dP8AIrjpHQ9JpFTD4p20ZVBa2oQGvpndZsCxi8KxhMbVZNOozWqUzqPIJ6xbEPyyc0hw7fC7/YImYJPElvhEKTMLU2gc5vzNQmWklrXS2foy7uK9dYxGHz+W21smGkiM2Gc943brKni9VztdrXAnMgi9t4IzWhj8MalNzHtcGusSKgpnlDm3H6zUalION4JP/qgeoK2rFo7Yre1JzEuXraOFSo0vLokwDqwSAM4HErZbhNWIEAdyqdKKr6OHNSjh6ldzXAhtN7Xaoi7nDziLZAE9ma1H09VjTrEh0bozEiZK8tqWrb4x0+jxc0Wr857cv0k0o2gx73E3yG8nIDmVldGejDzUNevJqPgxuaNw7lsaQ0JTrOL3EvLTLSQ4alpHVB1TftW/oqi7ZgxxBg8LGxWJpaneHWOWl5x5hUq0A1zY3Z9+5YHSHSLqhNKjmbOdwHAc11WK0a99vMaczMu7oyT4XRFOmIa0dvFapXaczDnzcsVjWrzzBdFYIkXzK7XAYDZt4QFoUtGRU1xBBEEH9XV3EYaWwAB2myl5nPhw2rFPf5Yuk9IhrIF3GwG+fgkrVHQ7WnWd13cTu5AbgktRw1n1xv8AqJz8WjoUfstD6ij7pquwqehfktD6ij7liurs8poTQpFNK1AihYnEBozAJymb35dqMSoOPP2LTMqlSuDnszlEibm/daFUFPIbRt/4WwDEWEXuc+S0aUXM5knd2fgiW9L2fBGWSaVvPbn6IgXPAX/qnpOIA694kxYEwRw5+pasjiUI6pOdx2SgzNpV1tXadk2OXGI9cXTa1U32sAC8G5mTMEZrRcW63FwGfVkA7uMW9SfXH8SGVUxF6zyDI80n8EMUGfvHXj5vdwVutVieG4kgCecoZrzkcri4zHGN2SLkIMb+9NhHm75kbuRRGvE/4zr38YI7uXNM52d3GR6QI9eW5MWNiRuAIgiSb2gHPJDYEyRBqazozvGRnMZd6ang6cSajwd4E578wjOosE/R4+o+ASfSaZNjbnc3seKGURhKfp1JF8jyytyCc4WnYa7+MAG9uz9SU7mMv2ekfDPkLKR1JJsYaN4QyiMLTH/EqAW3HjlYW/2UzQZntKgy9LcByTljL5ZT52czzRKmHpxbVt37u0KpkB1CmRBqPy3zuk5EZoTcE251icwPOFiN9rmZ9StCm03gdsDcPpJtk3hG+AO+w1s7KplDA0C113ZtjJ27tEKxi8UW+aC8xIgdWxyJFx4IoaSSZdaIzAIIm/G5O5NTrHVBhxJzAER9oA+IUWHP4/WquBcwTEQHwTHW9HK8d3JXOjsAPbbMOA1mmxGqfNAjII9XDt1i7UMk5y5u7OBA3JYZ7G1G2a0nq+fe+UAnihntec26i6mjPbvUYXOWwgIU5TwmhRUXNSU0lUD0L8lofUUfcsVxU9Cj9lofUUPcsV2FIJkxUYUoS1VqBFQqZE3RCEN4yHMcd1/gtJJmU4AF7BSjt8SpR+rpav6uiI6vb60PVGt871wi6v6uoU2mLme9BFuqSYBkWJuPXvScOHtKLqpag5ImFSoxx9GOBkobmFu5t84BPqCuvHCPFDcybFoP/MiYVtrbLf6L8k204AcfNfzF7K4AeA+16kr8B9pMrhUFW8Znf1XW+KhBm5MZ5PJjtiyvF0bh9oJi4zu8QqiqKRykz2GOXamZTIm7tw+d37uSPLuXi1S60ZjxCAGoeLoFpgz7EmtMxx5HhY5ImwN8jwNvYnFE8N3L4oBFjosdxz/GyaoDGYkQMhwN7omxdH+3xT7B36P/ANkQmgagc4AmAN3tVpo3yVXYxwGVxOc3B5TdWgVJagKpgmOMuaHG1yATbJOzCMGTWjfYDPilUxLWiSfC/sQX6TYIzMzw3cZTtelpzbKEJsNX1xMEXi6JCzLUBQkiaqbVUVCEyJCSCvoX5LQ+ooe5Yrqp6F+S0PqKHuWK4VIZIJJQnhbVEoZHW32HDijQotzNkSTePglHap9yUoYDPafBMwGM/UiOdASlEDYDFzfkLJ45+pTntTa3aqIxz9SianP2KT2zuKAcHcmSiJbb9WTuqfqyE/DnhPPJCcyQc57D+iqgxIjIEdgUo4N9QVWlSgiZPG3grNOvDYg5cCgfZ/wjwCRBg9X1BRoVjJEE9xRhXPo+1FVix/BhjLqpnsdNms8Dmp1XEneEnSN54IiJa70WkzwT6hHzR4Jix0b+Oakx5bxOSIagDeWhvijU5jh3IVN51t+/cjNqSTaIRUauDa7c0HiAAfFCbo1g3u8fZCPspm5EwhDCAAguRehMOGCQ2JOaK43VWnRpsIuZyVtzbLMtRJkoThPCy0jCSkmQVdCfJaH1FD3LFcCp6E+S0PqKHuWK8AkMkkmTFy0E48lCkLKBqyDaEhWAtCJkaEvFDL98FMKvIouUn96eO1D2oO4onciH8UvFQa6dxUo5IIGeSFtHcPUjQ7gFG4zhVES93ApB7uCk6pA3KAroGe9xyBCZzXWzUm1yeCW1PwQQJdNtZOGOkyXJxXKgX3knwQOWv5pg14OZTA53KdtxElVCdTd/F4pix/NIdpPJRbvugkxrp3qwJlVnMG4o1OqCYEW9aLBYilI39yrnDwDZx/W5X47EHEUpubqDNcXc43StilUlo7FmmruDYKuYR0i9kkj0VqmoOzUgVh0IpJ0lRT0J8lofy9D3LFdlUtC/JcP/AC9D3LFbJSEk8pnvAEmyUoVW4WmUHYgROYO9AdW7FMNERAjgm1BwCMk/GEREc09PFa2cJtUcAlqjgEFinUbMTfhvTOf143AShU2DWmBPFEa0SSjQsBKAoEJoUUTVHNRexu+6WslrIIhrfRKfVHAp9ZIFVEQG+inEcEi0KBcJ/qglA9FLVHoqGuOPrS1xGY8UBLeimtwQy4cR4qJcOIRBpHoppHBAdUbxUfKG8UFrWHAKLnCDaFVdiWjep0azXG10TKb6siwyAM+1Gq1BGRKrin3ZpUmkjzo3IqNWoRcCO5Pgq5LjKeq2DMymp1IN4F1UX3stKZpRZkILVzl1TSTJJkU9DH9lw/8AL0PcsVuEPQdCcLh/5eh7livjCDipnBhUhRdRlX/JBxT+SDimxqzBg2pHBhaYwg4p/JAmxqzW4UBOMOFo+ShLyQJsas8UAn2IV/yQJ/JAmxqz9kE+yCv+ShLyUJsaqGyCHUwoK0/JAl5IE2XVkf2cOJ8UWnhQAtHyQJeShNk0ZtTDcCgf2YOJ8VteSBLyVqbGrBbolo3nxU26NbELc8lal5M1N5NIYxwDYUTo5hW35M1LyZqbSasVuj2gRuUhgGcFr+StS8lam0mrK8iZwU6eGa0yFo+StS8lam0mqkWhQqYUHNXjhAm8l5q7GrM/s1qk3R7QtDyTmm8l5psahBsBBOasuw3ND2QCZyqASTuSRFfQb/2XD/y9D3LFeFRZ+hPkuH/l6HuWK6oCbVPtShpIC7UpbUoaSKIKpS2pUEkE9qU+1KGkoJ7UpbUqCSCe0S2pUEkE9oltSoJIgm1S2qGkmFE2yW1Q0kMp7VLaqCRVMp7RLaocpIie0S2qEUyAm1S2yEUkBNqm2qgmKYEzUUHOTFMqESkmcUyo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200" name="Picture 8" descr="http://www.aentreinamentos.com.br/home/images/stories/ptb.jpg"/>
          <p:cNvPicPr>
            <a:picLocks noChangeAspect="1" noChangeArrowheads="1"/>
          </p:cNvPicPr>
          <p:nvPr/>
        </p:nvPicPr>
        <p:blipFill>
          <a:blip r:embed="rId2" cstate="print"/>
          <a:srcRect l="1852" t="2561"/>
          <a:stretch>
            <a:fillRect/>
          </a:stretch>
        </p:blipFill>
        <p:spPr bwMode="auto">
          <a:xfrm>
            <a:off x="611560" y="2708920"/>
            <a:ext cx="3816424" cy="2740162"/>
          </a:xfrm>
          <a:prstGeom prst="rect">
            <a:avLst/>
          </a:prstGeom>
          <a:noFill/>
          <a:effectLst>
            <a:softEdge rad="127000"/>
          </a:effectLst>
        </p:spPr>
      </p:pic>
      <p:sp>
        <p:nvSpPr>
          <p:cNvPr id="11" name="Retângulo 10"/>
          <p:cNvSpPr/>
          <p:nvPr/>
        </p:nvSpPr>
        <p:spPr>
          <a:xfrm>
            <a:off x="4644008" y="3212976"/>
            <a:ext cx="39604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A Permissão de Trabalho deve ser emitida, aprovada, disponibilizada no local de execução da atividade e, ao final, encerrada e arquivada de forma a permitir sua </a:t>
            </a:r>
            <a:r>
              <a:rPr lang="pt-BR" sz="2200" dirty="0" err="1" smtClean="0">
                <a:solidFill>
                  <a:schemeClr val="tx2">
                    <a:lumMod val="75000"/>
                  </a:schemeClr>
                </a:solidFill>
              </a:rPr>
              <a:t>rastreabilidade</a:t>
            </a:r>
            <a:r>
              <a:rPr lang="pt-BR" sz="2200" dirty="0" smtClean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pt-BR" sz="2200" dirty="0"/>
          </a:p>
        </p:txBody>
      </p:sp>
      <p:sp>
        <p:nvSpPr>
          <p:cNvPr id="12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421088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pt-BR" sz="2800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pt-BR" sz="2400" dirty="0" smtClean="0">
                <a:solidFill>
                  <a:schemeClr val="tx2">
                    <a:lumMod val="75000"/>
                  </a:schemeClr>
                </a:solidFill>
              </a:rPr>
              <a:t>A Permissão de Trabalho deve conter:</a:t>
            </a:r>
          </a:p>
          <a:p>
            <a:pPr algn="just">
              <a:buNone/>
            </a:pPr>
            <a:r>
              <a:rPr lang="pt-BR" sz="2400" dirty="0" smtClean="0">
                <a:solidFill>
                  <a:schemeClr val="tx2">
                    <a:lumMod val="75000"/>
                  </a:schemeClr>
                </a:solidFill>
              </a:rPr>
              <a:t>	a) os requisitos mínimos a serem atendidos para a execução dos trabalhos;</a:t>
            </a:r>
          </a:p>
          <a:p>
            <a:pPr algn="just">
              <a:buNone/>
            </a:pPr>
            <a:r>
              <a:rPr lang="pt-BR" sz="2400" dirty="0" smtClean="0">
                <a:solidFill>
                  <a:schemeClr val="tx2">
                    <a:lumMod val="75000"/>
                  </a:schemeClr>
                </a:solidFill>
              </a:rPr>
              <a:t>	b) as disposições e medidas estabelecidas na Análise de Risco;</a:t>
            </a:r>
          </a:p>
          <a:p>
            <a:pPr algn="just">
              <a:buNone/>
            </a:pPr>
            <a:r>
              <a:rPr lang="pt-BR" sz="2400" dirty="0" smtClean="0">
                <a:solidFill>
                  <a:schemeClr val="tx2">
                    <a:lumMod val="75000"/>
                  </a:schemeClr>
                </a:solidFill>
              </a:rPr>
              <a:t>	c) a relação de todos os envolvidos e suas autorizações.</a:t>
            </a:r>
          </a:p>
          <a:p>
            <a:pPr algn="just">
              <a:buNone/>
            </a:pPr>
            <a:endParaRPr lang="pt-BR" sz="1200" dirty="0" smtClean="0">
              <a:solidFill>
                <a:schemeClr val="tx2">
                  <a:lumMod val="75000"/>
                </a:schemeClr>
              </a:solidFill>
            </a:endParaRPr>
          </a:p>
          <a:p>
            <a:pPr algn="just">
              <a:buNone/>
            </a:pPr>
            <a:r>
              <a:rPr lang="pt-BR" sz="2400" dirty="0" smtClean="0">
                <a:solidFill>
                  <a:schemeClr val="tx2">
                    <a:lumMod val="75000"/>
                  </a:schemeClr>
                </a:solidFill>
              </a:rPr>
              <a:t>	A Permissão de Trabalho deve ter validade limitada à duração da atividade, restrita ao turno de trabalho, podendo ser revalidada pelo responsável pela aprovação nas situações em que não ocorram mudanças nas condições estabelecidas ou na equipe de trabalho.</a:t>
            </a:r>
          </a:p>
          <a:p>
            <a:endParaRPr lang="pt-BR" sz="2800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pt-BR" sz="3000" dirty="0" smtClean="0">
                <a:solidFill>
                  <a:srgbClr val="002060"/>
                </a:solidFill>
              </a:rPr>
              <a:t>EPI e acessórios - NR6</a:t>
            </a:r>
          </a:p>
          <a:p>
            <a:pPr marL="4929188" lvl="8" indent="0">
              <a:buNone/>
            </a:pPr>
            <a:r>
              <a:rPr lang="pt-BR" sz="2400" dirty="0" smtClean="0">
                <a:solidFill>
                  <a:srgbClr val="002060"/>
                </a:solidFill>
              </a:rPr>
              <a:t>Equipamentos de Proteção Individual ou </a:t>
            </a:r>
            <a:r>
              <a:rPr lang="pt-BR" sz="2400" dirty="0" err="1" smtClean="0">
                <a:solidFill>
                  <a:srgbClr val="002060"/>
                </a:solidFill>
              </a:rPr>
              <a:t>EPIs</a:t>
            </a:r>
            <a:r>
              <a:rPr lang="pt-BR" sz="2400" dirty="0" smtClean="0">
                <a:solidFill>
                  <a:srgbClr val="002060"/>
                </a:solidFill>
              </a:rPr>
              <a:t> são quaisquer meios ou dispositivos destinados contra possíveis riscos ameaçadores da sua saúde ou segurança durante o exercício da atividade.</a:t>
            </a:r>
          </a:p>
          <a:p>
            <a:endParaRPr lang="pt-BR" dirty="0"/>
          </a:p>
        </p:txBody>
      </p:sp>
      <p:pic>
        <p:nvPicPr>
          <p:cNvPr id="9" name="Espaço Reservado para Conteúdo 4" descr="http://3.bp.blogspot.com/-EQfGhIHL5us/T29AXm3TvmI/AAAAAAAAAmk/GR0tCzMKsnk/s1600/equip_trabalhos_em_altura.jpg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9896" y="1585393"/>
            <a:ext cx="4622676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8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>
                <a:solidFill>
                  <a:srgbClr val="002060"/>
                </a:solidFill>
              </a:rPr>
              <a:t>Inspeções de EPI</a:t>
            </a:r>
          </a:p>
          <a:p>
            <a:pPr>
              <a:buNone/>
            </a:pPr>
            <a:r>
              <a:rPr lang="pt-BR" dirty="0" smtClean="0"/>
              <a:t>					</a:t>
            </a:r>
          </a:p>
          <a:p>
            <a:pPr marL="3497263" indent="3175">
              <a:buNone/>
            </a:pPr>
            <a:r>
              <a:rPr lang="pt-BR" dirty="0" smtClean="0">
                <a:solidFill>
                  <a:srgbClr val="002060"/>
                </a:solidFill>
              </a:rPr>
              <a:t>- pré uso</a:t>
            </a:r>
          </a:p>
          <a:p>
            <a:pPr marL="3497263" indent="19050">
              <a:buNone/>
            </a:pPr>
            <a:r>
              <a:rPr lang="pt-BR" dirty="0" smtClean="0">
                <a:solidFill>
                  <a:srgbClr val="002060"/>
                </a:solidFill>
              </a:rPr>
              <a:t>- periódicas</a:t>
            </a:r>
          </a:p>
          <a:p>
            <a:pPr marL="3497263" indent="19050">
              <a:buNone/>
            </a:pPr>
            <a:r>
              <a:rPr lang="pt-BR" dirty="0" smtClean="0">
                <a:solidFill>
                  <a:srgbClr val="002060"/>
                </a:solidFill>
              </a:rPr>
              <a:t>- especiais</a:t>
            </a: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10" name="Imagem 9" descr="http://1.bp.blogspot.com/_RbGmKUYOYtQ/SwSC19LzS2I/AAAAAAAAAn8/8h-ZavYFVY8/s1600/Sem+t%C3%ADtulo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880" y="1657400"/>
            <a:ext cx="35814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http://farm5.static.flickr.com/4050/4446039886_50fc4ffa35_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66520" y="2089448"/>
            <a:ext cx="2800079" cy="1950740"/>
          </a:xfrm>
          <a:prstGeom prst="rect">
            <a:avLst/>
          </a:prstGeom>
          <a:noFill/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47091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2800" b="1" dirty="0" smtClean="0">
                <a:solidFill>
                  <a:srgbClr val="002060"/>
                </a:solidFill>
              </a:rPr>
              <a:t>EPC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2700" dirty="0" smtClean="0">
                <a:solidFill>
                  <a:srgbClr val="002060"/>
                </a:solidFill>
              </a:rPr>
              <a:t>Equipamentos de Proteção Coletiva, ou EPC, são equipamentos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2700" dirty="0" smtClean="0">
                <a:solidFill>
                  <a:srgbClr val="002060"/>
                </a:solidFill>
              </a:rPr>
              <a:t>utilizados para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2700" dirty="0" smtClean="0">
                <a:solidFill>
                  <a:srgbClr val="002060"/>
                </a:solidFill>
              </a:rPr>
              <a:t>proteção de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2700" dirty="0" smtClean="0">
                <a:solidFill>
                  <a:srgbClr val="002060"/>
                </a:solidFill>
              </a:rPr>
              <a:t>Segurança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2700" dirty="0" smtClean="0">
                <a:solidFill>
                  <a:srgbClr val="002060"/>
                </a:solidFill>
              </a:rPr>
              <a:t>enquanto um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2700" dirty="0" smtClean="0">
                <a:solidFill>
                  <a:srgbClr val="002060"/>
                </a:solidFill>
              </a:rPr>
              <a:t>grupo de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2700" dirty="0" smtClean="0">
                <a:solidFill>
                  <a:srgbClr val="002060"/>
                </a:solidFill>
              </a:rPr>
              <a:t>pessoas realiza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2700" dirty="0" smtClean="0">
                <a:solidFill>
                  <a:srgbClr val="002060"/>
                </a:solidFill>
              </a:rPr>
              <a:t>determinada tarefa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2700" dirty="0" smtClean="0">
                <a:solidFill>
                  <a:srgbClr val="002060"/>
                </a:solidFill>
              </a:rPr>
              <a:t>ou atividade.</a:t>
            </a:r>
            <a:endParaRPr lang="pt-BR" sz="2700" dirty="0">
              <a:solidFill>
                <a:srgbClr val="002060"/>
              </a:solidFill>
            </a:endParaRPr>
          </a:p>
        </p:txBody>
      </p:sp>
      <p:pic>
        <p:nvPicPr>
          <p:cNvPr id="8" name="Picture 2" descr="http://1.bp.blogspot.com/-CMKIaP_gXNg/TbjemPZVNgI/AAAAAAAABGw/5biK7zSQnSY/s1600/Altura+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5856" y="1945432"/>
            <a:ext cx="5868144" cy="3401691"/>
          </a:xfrm>
          <a:prstGeom prst="rect">
            <a:avLst/>
          </a:prstGeom>
          <a:noFill/>
          <a:effectLst>
            <a:softEdge rad="63500"/>
          </a:effectLst>
        </p:spPr>
      </p:pic>
      <p:sp>
        <p:nvSpPr>
          <p:cNvPr id="9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http://s.glbimg.com/jo/g1/f/original/2010/09/09/predio-acidente-ok.jpg"/>
          <p:cNvPicPr>
            <a:picLocks noChangeAspect="1" noChangeArrowheads="1"/>
          </p:cNvPicPr>
          <p:nvPr/>
        </p:nvPicPr>
        <p:blipFill>
          <a:blip r:embed="rId2" cstate="print"/>
          <a:srcRect l="6250" r="7500"/>
          <a:stretch>
            <a:fillRect/>
          </a:stretch>
        </p:blipFill>
        <p:spPr bwMode="auto">
          <a:xfrm>
            <a:off x="4294312" y="1297360"/>
            <a:ext cx="4564663" cy="4069086"/>
          </a:xfrm>
          <a:prstGeom prst="rect">
            <a:avLst/>
          </a:prstGeom>
          <a:noFill/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EPC</a:t>
            </a:r>
          </a:p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NR35/ NR18</a:t>
            </a:r>
            <a:endParaRPr lang="pt-BR" sz="2800" dirty="0">
              <a:solidFill>
                <a:srgbClr val="002060"/>
              </a:solidFill>
            </a:endParaRPr>
          </a:p>
        </p:txBody>
      </p:sp>
      <p:pic>
        <p:nvPicPr>
          <p:cNvPr id="7" name="Espaço Reservado para Conteúdo 4" descr="http://2.bp.blogspot.com/_ePcEtAaRqy8/TSumLY9sjQI/AAAAAAAABB4/dHO4CBzxjYo/s1600/p20.jpg"/>
          <p:cNvPicPr>
            <a:picLocks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1864" y="2377480"/>
            <a:ext cx="4680520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1" y="952128"/>
            <a:ext cx="8229600" cy="452596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Andaimes</a:t>
            </a:r>
          </a:p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NR35/ NR18</a:t>
            </a:r>
          </a:p>
          <a:p>
            <a:pPr>
              <a:spcBef>
                <a:spcPts val="0"/>
              </a:spcBef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 marL="176213" indent="-176213"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Pessoa habilitada</a:t>
            </a:r>
          </a:p>
          <a:p>
            <a:pPr marL="176213" indent="-176213"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Acima de 2m</a:t>
            </a:r>
          </a:p>
          <a:p>
            <a:pPr marL="176213" indent="-176213"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Guarda corpo e</a:t>
            </a:r>
          </a:p>
          <a:p>
            <a:pPr marL="176213" indent="-176213"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Rodapé</a:t>
            </a:r>
          </a:p>
          <a:p>
            <a:pPr marL="176213" indent="-176213"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Estabilizado</a:t>
            </a:r>
          </a:p>
          <a:p>
            <a:pPr marL="176213" indent="-176213"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Uso de diagonais</a:t>
            </a:r>
          </a:p>
          <a:p>
            <a:pPr>
              <a:buNone/>
            </a:pPr>
            <a:endParaRPr lang="pt-BR" dirty="0"/>
          </a:p>
        </p:txBody>
      </p:sp>
      <p:sp>
        <p:nvSpPr>
          <p:cNvPr id="44034" name="AutoShape 2" descr="data:image/jpeg;base64,/9j/4AAQSkZJRgABAQAAAQABAAD/2wCEAAkGBhQQEBUUEBQTFBUVFBITGBgWEBYWFRUUFxAXFBQUFxUXGygfGBwlGRQVHzsgIycrLCwsFR4xNTAqNScrLCkBCQoKDgwOGg8PGiwkHCQsKi4sKSwvKSosLSwsKS8sLCwpLCwsLSwsLCwpLSksLCwsLCwpLCksLCksLCwpLCksLP/AABEIAOEA4QMBIgACEQEDEQH/xAAcAAEBAAMBAQEBAAAAAAAAAAAABgQFBwMCAQj/xABYEAABAwIDAwUICQ8KBQUAAAABAAIDBBEFEiEGBzETIkFRYRQycXKBkbHBFSMzQlJzobLRFiQlNDVTYnSSk6OztMLSF0NUY2SCg4SUpGV14ePwNkWiw+L/xAAaAQEBAQEBAQEAAAAAAAAAAAAAAQIDBQQG/8QAMxEAAgECAwUFCAEFAAAAAAAAAAECAxESITEEQVFxsRMiMmGRBVKBobLB0fBCFBUj4fH/2gAMAwEAAhEDEQA/AO4oiIAiIgCIiAIiIAiJdAEX5dY1RikUfuksbPGka30lRtLUGUi0j9taIad0wuPUx/KHzMuvKTbaH3kVZL8XQzn5S0BY7WHEtmUCKd+qed3uWH1R8cxRefM+48yeyGIvHNpKeP4ysLv1cZU7Vbr+jFiiRSWJ19ZAzPVVeH0rfhGN7vAAXyNueyylsb2mqo4w4z1TmOJYJe42UsZkIORrGOBlcC4DnaNsb5liddQV2n8iqLZ1ZFzzdvtLne+KblA+Z8sjDIXHnsN5YczgOc0OabdV+pdDW6NVVY4kRqwREXUgREQBERAEREAREQBERAEREAREQBTu3mNSUdE6WFzWvD4mguAI5zwLa9fDyqiWt2ky9x1BcAQ2GV1iLjmxk+pYmrxdnYq1I3AsdqKzJHPWvpJZG542tpYRyzLA5oZJM4fbpbYOHSLWJpGbKOPutbWyf4zI/wBSxq88FwWKpwuniqGB7DDGbHQg5bhzXDVjhxDgQR0FeHL1OHe68pWUg/nA3NVQD+sY33dg+E0Zx0h2rlxhHuJyzNN8DLZsLSXu9kkvxtVPKPyXvI+RZlNsvSRax00DT1iFl/Pa6zKCvjnjbJC9sjHC7XNcC0jsIWQuyhDVJGbs0m0UIywNAAHdVPoBbg4u9S3a020TrOpR11cY/RSH1LcrMV35fAPQ0uNbTsppBE2KeeZzc7Y4Yi4ltyLukNmMFwdXOCwO58Rq/dJI6CM+9itPUkdsr28nGfFa/sK2MZ+yL/xWH9fKtwkW53vxZdDS4XsfTU7+UDDJN0zTPdNN22fISWj8Fth2LT7yog6KIOFxnmd5W0krmnyEA+RWSkd4feRf5j9kkHrXLaklRl+7yx8RiUWBGqpKhsbuTmjrZZoJLX5OZpBafFNy0jpa9wVJs1jgrKcSFpZIC6OWM8YpmHLJGfA4HXpBB6VibG95Ufjc/wC6sXFGdwVoqxcQVJjgqR0Mkvkp6ns1IiceoxnQNKlDKmpc+pJalUiIvrMhERAEREAREQBERAEREAREQBERAFpdtjbDK239Dqv2d63S0u2ovhtWOumnb54iPWsydk2ajqjI2bFqOn+Ji+YFsrKO2d2y5WnY2mpqibkmticWugDQ9jcpHOluNR0hbP2XrHd7Q5fjKuMfMDlxpVI4I8luYazMev2VfFI6ow17YJXEukiI+tqlx4mVg1Y8/fWa9YdwWVgm1DZ38jMx1PVNF3QvIuQOL4n8Jo/wm8OkA6L4dUYi7vYqNnjVErvkbGFpdssMqpKVzpzTEsLDHyccjZGyueGNMcxfeM3cBmHRdWVS2aTKlfU3u0nulH+NtP6GX6Vuy63HRctwHZgltFPNPPL3Q4Exvnle1oMbnHV0hudBqAFcu2LoXd/SU7/Hia8+d4KxRnKUpO1tOhZJLIxxiMbcRlLpI2t7lhFy9oFxNKSLk9oXs/brDwcvdtJfhYVUZN+qwddS9Zi9HRYnJF3NmtTx5Y6elEhD8xcfa2C4Ja9mtukXI0W5ixOvmt3NQx0zT76qlAdbrEEAd5nOarTk1fmw4mwk2zpQNHvf8XTTynzRsKkdrtqoqp0bImVAcwSucJKWWI5Xxlma0rWkgXJJtwBVGNlJ5vt2unkB4xwAU0XnZeQ+V61G0mz9PSNjFPE1mZlSCdXPdaHTM9xLneUlcdrxujIsLYj12YxmZjZQyiqJM08ryQ+naGEke1uzyg5gBfQEa8VtMRramaGRjsPDmvY5rmy1cTWuaWkFpLA/QjsWmpmS0z5qyEPkY2eVlRC25LoQ64lib0yMLnHKO+bcDUAG0hq2TQiSJwex7MzXNNw5pbcEFa2a7p2vx6mZaknuox+SroGcrc8m1jWuLi57mFt2Z3W5zg3KC6wuQTYXVqorc9A1uEU5AALgS4gauIcWi56bAAeRWq+mlfArmZZMIiLoQIiIAiIgCIiAIiIAiIgCIiALR7bOth9R2xOHnsPWt4p3eBJlw6bt5Jv5U7G+tc6rtTk/Jmo+JB2ycU0cUjS+CobFG0TwkNlsGABrrgtkb+C8ELy9nKmj0r4+Vi/pNOxxAHXNT6vZ4zM7dLnKqKlFmN8VvoXqijkrEuY9FXxzxtkheyRjhdrmODmkdhC1W2Z+tfDUUQ89bEF+1eyjM7paVzqWZxu50Vskh091hPMk4WuQHW4OC0e01dUthZFVRNN6mitPCfanFtZE6z43HPETY2HPb+FrZSb7rTLFZn1s9rSYT2sY7/bE+tWy5vs9tFEKbDW2nJggaHhtHUOJIpgz2sCP20ZulmbTXhqqpm2MbtGwVx8OHVLPlkY0LlRaTlzX0o3NO/7xPWlYPZCc2F+Qpxfp1fLcX8g8wW5UdT7QPFXO9tJVvJbA3IGwte3KHG7g+UAA5tNeg8FsW7SVB4YbV/3paMD5KgrdKSs+b6mZRZQKT25Zd0XYyqP6Jo9az3YtWEcyhAP9ZWxt+VjXqW2qxCrLmd0QRRWa4AR1Lprse9jHl14mZbadfE8LLhts0qEny6mqa7yK/Z3vZ/xqf5H29S1tUfY2Qu4UUzuf1Us7z7pboheTY/BcQeDnFvjs9JWOZLyYph9cTZs5kdz893ZSALtueJsVl4lh9dNE9jpKHK9jmua6klkBaRZwIMwBuLrVF4qcXYj1MLdJ9x6bxXfPKsVHbo/uPTXJNw43Nr6vJA083kVivopeBGZ+JhERdDIREQBERAEREAREQBERAEREAUrvNfbDX9stKP8AdxE/ICqpRO8zFQ2AU5YTynJvDs1gCydhta2vDs4r59pmoUpN8DpTV5I28O2cDgMjahwsLZaSbXTxV7N2maeEFWf8rIPSFzB21FS7jUS+R5HoXwcZmdxmnP8Aiv8ApXkP2rbRfL/Z3/pzqf1QOPe0tWf8ONvzpAtNtTib5IWNdTyxjl6cgvkhAJbKHBvNeSL5eNrKBfUud3xefCSfSvxkfU0+ZcJ+1ZSTST9V+DSoJZ3LTDJ5Wx0RDIQKeEN51UwF4MDWA/g8L2N1tJdqpB/QW+NXX9DFz1tM7oY78lH07wL5HDwhc17Qqxvhi/P0twNOjF6v99TdV+2NRFO58LYZHSuawmN+aNrWMFjnflJ77WwPyLMo9rqlxPLVFLENLZYppXX6bt5NoHkcVK07TkGnvpOnxV62PZ51wXtGpG/N73x8mjfYxaRQ1eImUWficlvwKSWP5jmlaN8bGPPIyunvyYc5zHsOryNS9zi7TVeRB7PlXhA4tzk20dGflK41NqlVi01w3ye/zbKqai/+HT9k6xhM8YcM7aiocW9IaZSAe0aWW7q/c32+C75q4a/HCZGTU8wc5ob7Yx4dZ1rlrjc30OoPXqumbLbcR1sRZIWsna05m9DwG6vjvxH4PEeCxP6LYtrU49nJWa/fU+GcbM8t0n3HpvEPpVipDdMPsRTeIfnFV69Gl4FyMT8TCIi6GQiIgCIiAIiIAiIgCIiAIiIAuOb88edS1VHqeTyTF7QG3dzmhtieo6rsahcajDtoqEEXAo6s2Oo1NlHTjUTjNXVmLtZo4r/KPEOEMh/vNC8zvOHRTn8//wBtd+xndfhtXrLSRBxN80YMTr9ZMZF/Ldc92u3B0dPS1FRDPUNMUUswa7I9tmNLy3RrTwFr307V5/8AbNm3x+b/ACdu3nxIL+U/+zj89/8Ahe53wzWsIW24avB6LfAXtjG4TEobmJsVS25tycga7L0Etky626AT5VC4pgs9K7LUwywu1sJI3Mvbja41HaOtdIbDQhnBNcnL8mZVJS1K9+9yc/zMXlF/V2lYr96lUbjJTgfFuHoeo1ZTcLmLQ4RSlpFwRG6xHXe3BdnQg1Z3+Lb+5i5fTbbvioaaV0bXPmfU8HOa0ZHMGg1vxHStTLvOmPexRDwl5/eC8MUw2V2HULWxSOcH1hLRG4kXkjtcAaLTjZmrPClqf9PJ/CvhobDs8k5OP8pcd0mjtKrNZJ8DcO3k1J97CP7jvW9bWn2pnlwyqmuxj2S07QWMA0JN7g3vxUu3Y2uPCiqz4KSX+FUdBs3VMwqqidTVDZHzQOaw08ge8A6lrS25A14LVfZKMFFxgvFHqiRqSer4muw3aXuYiOQZoyyF1xo5pdTs6PfDh/5ot/3SJGiSJ2YcQWmxB9IKknbN1dRlfBTVErMkIzR08j23ELARma0i696XZuvg50dPUhwJD2dzSEtbla5vKNy6Ahxte3A2XXa9jjKo5Ryk36nOnOyR/R+6mYexscY4xlzSLaAF5czXgeaQrFcx3C4s6poZnPAGWfIAOgCGM+kldOX00YyjTSnqJO7uERF1MhERAEREAREQBERAEREAREQBRFeb7SUw+Dh87vPOB9Kt1AzXO1TOoYUT56t4+hbhr8H0Iy+Wk21p+Uw6pZ8KF7fIRYrdrVbU/ac3a23ncAuUvCym0aLBRu8ltzhreg4tR37bMlePlaPMrNSG8IXfhn/NaY+aCcrSBXoiICbZhxmrKm0ssdjF7m4NJvCzjcHq+VZg2c66mrP+P9DV+4b9t1Xhh/Uhbdefs1GE4tyX8p/UzrKTXouhqDs2LWM9Uf8AMFa5uGNp61mVz3e1PcS9+Y6B9tfKqhaPEvttvxEnoctV6NOKi0lfFH6kZi2yd3IfceI9bn/JYepUmERfXla7rfTjzUzT+8VObkD9hYPGl+SQj1Knwr7Zq/jYv2WNfdXX+T4voznHQmN1NNybsUFgAMWq7AcA2zC0ADhoQr1RG7GTM7FD/wAXrB+SyJvqVuhUEREAREQBERAEREAREQBERAEREAUE3Xao9mEj9t/6q9XNqvF4KbaaSSpmihb7GNYDJI1gLjUh1gXG17Amy6U1ryZGdJWs2kF6Z46zGP0rVhjeBh39Po/9VF/EtNtdtzQvpbRVtI9xqKLQVUROXu6EvdYO4BmZxPQASuMtGUuFKbcC8+GD/iLD5qSoKz27c4eeFdRH/Nw/xLR7RY7T1FZhjYJ4JSK1ziI5mPIAopxchpOlyNe1aIXCIiFJ5mGMmq6jOXc0xWyvc3jC3jlOvBZn1Mw/1n5+X+JfOGu+u6rww/qQttmC8/ZqNOUW5RV8U/qZ0lJ3+C6Gq+peDqk/1Ev8a1r8LZBV+15gDTSXBe51zrY3cSevzqnzLRYm765NuilkPyuWq1KnFRcYq+KPVETb1NFuRH2Ep/DP+0PVLhJ+uKz46L9kiU5uU+4lN4Z/2mRbvAZ81ZiA+BPA3z0ULv3l6G0xtWy3Sf3OcdDRbqv/AHT/AJxX/wD1q7URutZZuIn4WL15/wDm0epW6jCCIihQiIgCIiAIiIAiIgCIiAIiIAoSmpWSbR1GdrXWoILZmA2vMb8Rp0K7XMpNqKei2jqu65mQh9JTNYXAgEg5iM3Acemy3B5Pl9yM6GMMi+9R/m2/Qv32Mi+9R/m2/QtNHvEw13CupPLUxj0lZlNtbRy+51dK/wAWpjPocsFMz2Lh+9Rfm2/QpfainYyvwsMja0mqlOZrGjQUM+lxqf8Ap4FUx4lE7vZYz4JGn0FQm9DD5aqow2Okn5CY1E7mSDUNLKZ0hJA43DSLcCHG+ipDoiLn0GC4/ENK+iqDpYTUxYPBeJoPpWyo5cbaPbo8KkP4E9TH86JyhTOgwyOeqqeVaHZXRWuTpeIX4eALNOzFN96b53fSpSTHq+nklcyihmlc5vKRjEGxhlmgMyPlYOUu03Ogtw1WHUb062GxnwiUAuDBydZHNqdAOYzrXn7NSpSi3JK+KWtveZ0lJr5dC2+pem+9Dzu+lausw+OCaQRNyg0kpIuTqM3WVJy7+BH7rhtczwtt6QFj1+9uGWCaq5CoY0RmmyuDA8vkByuHOtlF/CrWp0o4XFJPFHS3EibZ77qdjIqjCoJXy1jS4zaR108TBlqHt0YxwA4eU3KrIt29K0uIkrQXkOcRiVUC5waGhziJNTla0XPQApbdXtS6LCYGR0NbM1hmHKRNgLHHl3uNs8zXcTbUBU79vnN77DMVHgpYneXmTFetXeKrJri+pyWhh7pqdrKaqDCS32RrgCXl5IEoaCXEkuNgNSblXCid0tRytFNJlc3lK6tkyvble3NOTZw6HDgR1hWy4sqCIihQiIgCIiAIiIAiIgCIiAIiIAoPBoGv2hxHM1rrU9EBcA2uwk8f/NFeKH2e/wDUGJ/E0A/ROW47+RGVb8Fgd30EJ8MLD6lhT7FUEhu+ipHHrNLET5y1bpFm5Sbfu4w08aGl8kDR6ApHaPdphzcQw+JlKxrJpKrlWtc8BzGUjnN4O0s/KdF1JSePuPszhg6OSxF3lEcLR84omRk/h+62iZiE0TGzMibTwPaxlXO0CRz5A51w+/BreJ6Fvf5MaYd7LXN8XEaj1vW/p4R3VK62pjhaT2AvIHynzrYKd5eIiOdP3cx1MkkDqquY2BzSHsqvbX8owOIkke0l4HAdQAWHim6dkJi5OvxLnzMiOaoY6wIcSfcxrzVZ0tdHFV1XKPYy5htmcG3tCL8fCPOvjGsTie+mySxm1S1xtI02aIZdTY6C9hftC8uj2OCWK18Utbe8ztJy3eXQmzuicO8xKtHjck790LU47sFNHDNTitke58D5OUkjaSGCOQPiyggEOFxfiM1+hdUFdH98Z+WPpU1tNOC+Ygg2oZ+Bv7yRda1KksLjFXxR0S4oibMbc3ThmCUuUWzCVx7SZ33PoVqpDdH9xaP4t/656r16M/EzmiP3XfaUh+FWV5/3b/oVgozdI6+GNPwqisPnrJFZqMIIiKFCIiAIiIAiIgCIiAIiIAiIgChtm/u/ivxdB+pKuVCbMPvj+LdjKAfoCV0hpLl90Rl2iIuZQpPGtcaw/sp8RPn7nCrFzjeFQVU2K0QoJBHM2mrHhxeGADNC03vFIHC7hoW69YVRC6pvd5fFi9DlmqEjxnEaOMvqKRlZNwm7kly5WtF43NjkF3kguuG9IFhrp+4PvR7qJEdDVF7e+jEtJyzPGhfO17eHS0LUk+nQkWb6ipmPq6rO1rrGC2ZoNrwjhdY20FFE2ehaI2ASVbmOsxoDmigqX2dpqLsBsekBYFFtWyKeaSeKeLlDHzHRgvZkjAIe1jja97i17heOKbYU81TQlhktFUySSF1NM0MaaCpiaSSyx58jBpfj1LyqEqOFxk1fFLW3vM6yvu8isOBU5/mYvzbfoUttdSxwMqTG0MHsfVuOUW4Qya2VEzamlP8APxjxnZfnWUtt5iMUkNUWSRuHsbWNu17SMxhksNDx7FuqqPdcLXxR0txQV95st1LbYNR/FX873FVZUxu0IGEUWo+12dK3VbjEMTHOfLE0AHjI0dHaV6MvEzmiY3O64PCeuSrP+9lVqofcob4FS3/tP7ZMrhRlCIigCIiAIiIAiIgCIiAIiIAiIgC5HSbXxUO0WKNkjnkMraQtEMLpXXjp2XGVuvv+PYuuLj52boavaHEhiDQS3uHkfb5I3Z3wMacvJvaXG+UdK3HeRlYd5dyBHhuLvv8A2AsHlc9wAWR9WdS7vMKrj4z6ZnpmXyN2NK0WhkrYerk8RqRbzvK+I9g54xaHFcRFhYcq6Gbz54rnzqZA/fqnxNx5mEWb1yYlAw/ksa70qOG2tXUY3GIoKMyxQzU2UYhnZmkLJHEuZHm5vJZTZpAJsSCrCPAMWjvlxOKYaWE2HMBHZmie30KA2W2HxenxapqzDTPfnl500zmxy8pITykQjzFvNFrO4B9uPBkLFnQVWKvqaljTQMkbyGYOM8sbQ6O7clgwkmzr36ha6/cZ2Lra4DuqTDcze9e2gm5WPtjl7oDmHQcCOCxaObFqetqKh+HxzNqBA3JDXMBj5JjxmHKhubNmHVaw4rbu25qGD23CsQHxYgm+bKsxTS/eINBSbPYnC2WGjr2Pni5MPkqILmcFgdGC4l5ZlactzmvoTZfjq+WPm4pV4jRkmxeYKJ1Lcm1m1MdOQ0X+HlPDRZeHbwYo6ieWamxCFsvJZRJh81xljDXZsoI4joJWwh3vYVIS01TWm+UiSGVnhBzsC47PFqDxL+UvnJmpanrBsXT1MYd3XU1DHAEOZVNaCOsOp2tupnbjY6lgpqmNrZHNFHPUe2VEshErGP5NwL3m1jrbgekLMnGCPeZaSvgopja76atZCHG5PPiJ5N+pPFt9eK0O2uKzxU1QH1FLX5qV8QkY+OF4hfma57mglr3gkc1trgnhZSvBPC0s8UeqEWUGw+7nDp8MpZJqSF73wRvc4tOZzi3UkgrJqNy+GNDnxRSQuyv1jqpgRca2u4+bgt1u4P2IotLfW0PzAtTtttiGd00seQzx075rCWYEMyHV3Jhuuo5uf3zSvqbbk7GHZK7MvdJAGYLRgC143O8r5XPJ87lXqc2AoH09BFE90b2xta2J7L8+LKC1zhcgG5dwJFgDpewowsvUq0CIihQiIgCIiAIiIAiIgCIiAIiIAuTU+MT0OIVVdPHGGzTdzyxah7I6duWKZkjnZXZgWmxAvnGotr1lck3mbNYi+pkNNGamnqAwlgLS6F4i5J4GZws1wDXaXFwbgdPSnZuz0MTvbI6Ps5jza2Bs7GOYxxdlzOYcwDi3MDG5wtp4VtFMbuNm5MPw6KCcjlLve4NN2tL3l2QHsBHluqdczo8nkEREIEREAXxJEHd8AfCAfSvtEBq6vZakm91paaTp59PG7Xr1aorePsBh0eG1MrKSGOSOJz2OjbyZDtLGzCAdegrpKgt78LTROYIDLNVOipYzZto3ZnSNJLzZnBwuNScvYukG8SzI9Df7Bj7FUX4pTfqGqY2z3Turap9RT1Pc5nj5KcGPOHtyhl284WJYALHqB0WTsdteI6enpH09RysMUVO7LyLm544mtNiJLkEDNw4K8Uk2pNki00YWC4W2lp4oI7lkMbImlxu4hjQ0EkdOizURYNBERAEREAREQBERAEREAREQBERAEREAREQBERAEREAREQBTe8bDX1GF1UcTBI8x3a3LcktcH80fCs027bKkRCp2Z/Pmw88tXXUjGvdJNFUd0SP6WRCPI8SdTrAM11JPaV/QQXwyFrSSAASbmwAues9a9FuUsREktAiIsAIiIAiIgCIiAIiIAiIgCIiAIiIAiIgCIiAIiIAiIgCIiAIiIAiIgCIiAIiIAiIgCIiAIiID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4036" name="AutoShape 4" descr="data:image/jpeg;base64,/9j/4AAQSkZJRgABAQAAAQABAAD/2wCEAAkGBhQQEBUUEBQTFBUVFBITGBgWEBYWFRUUFxAXFBQUFxUXGygfGBwlGRQVHzsgIycrLCwsFR4xNTAqNScrLCkBCQoKDgwOGg8PGiwkHCQsKi4sKSwvKSosLSwsKS8sLCwpLCwsLSwsLCwpLSksLCwsLCwpLCksLCksLCwpLCksLP/AABEIAOEA4QMBIgACEQEDEQH/xAAcAAEBAAMBAQEBAAAAAAAAAAAABgQFBwMCAQj/xABYEAABAwIDAwUICQ8KBQUAAAABAAIDBBEFEiEGBzETIkFRYRQycXKBkbHBFSMzQlJzobLRFiQlNDVTYnSSk6OztMLSF0NUY2SCg4SUpGV14ePwNkWiw+L/xAAaAQEBAQEBAQEAAAAAAAAAAAAAAQIDBQQG/8QAMxEAAgECAwUFCAEFAAAAAAAAAAECAxESITEEQVFxsRMiMmGRBVKBobLB0fBCFBUj4fH/2gAMAwEAAhEDEQA/AO4oiIAiIgCIiAIiIAiJdAEX5dY1RikUfuksbPGka30lRtLUGUi0j9taIad0wuPUx/KHzMuvKTbaH3kVZL8XQzn5S0BY7WHEtmUCKd+qed3uWH1R8cxRefM+48yeyGIvHNpKeP4ysLv1cZU7Vbr+jFiiRSWJ19ZAzPVVeH0rfhGN7vAAXyNueyylsb2mqo4w4z1TmOJYJe42UsZkIORrGOBlcC4DnaNsb5liddQV2n8iqLZ1ZFzzdvtLne+KblA+Z8sjDIXHnsN5YczgOc0OabdV+pdDW6NVVY4kRqwREXUgREQBERAEREAREQBERAEREAREQBTu3mNSUdE6WFzWvD4mguAI5zwLa9fDyqiWt2ky9x1BcAQ2GV1iLjmxk+pYmrxdnYq1I3AsdqKzJHPWvpJZG542tpYRyzLA5oZJM4fbpbYOHSLWJpGbKOPutbWyf4zI/wBSxq88FwWKpwuniqGB7DDGbHQg5bhzXDVjhxDgQR0FeHL1OHe68pWUg/nA3NVQD+sY33dg+E0Zx0h2rlxhHuJyzNN8DLZsLSXu9kkvxtVPKPyXvI+RZlNsvSRax00DT1iFl/Pa6zKCvjnjbJC9sjHC7XNcC0jsIWQuyhDVJGbs0m0UIywNAAHdVPoBbg4u9S3a020TrOpR11cY/RSH1LcrMV35fAPQ0uNbTsppBE2KeeZzc7Y4Yi4ltyLukNmMFwdXOCwO58Rq/dJI6CM+9itPUkdsr28nGfFa/sK2MZ+yL/xWH9fKtwkW53vxZdDS4XsfTU7+UDDJN0zTPdNN22fISWj8Fth2LT7yog6KIOFxnmd5W0krmnyEA+RWSkd4feRf5j9kkHrXLaklRl+7yx8RiUWBGqpKhsbuTmjrZZoJLX5OZpBafFNy0jpa9wVJs1jgrKcSFpZIC6OWM8YpmHLJGfA4HXpBB6VibG95Ufjc/wC6sXFGdwVoqxcQVJjgqR0Mkvkp6ns1IiceoxnQNKlDKmpc+pJalUiIvrMhERAEREAREQBERAEREAREQBERAFpdtjbDK239Dqv2d63S0u2ovhtWOumnb54iPWsydk2ajqjI2bFqOn+Ji+YFsrKO2d2y5WnY2mpqibkmticWugDQ9jcpHOluNR0hbP2XrHd7Q5fjKuMfMDlxpVI4I8luYazMev2VfFI6ow17YJXEukiI+tqlx4mVg1Y8/fWa9YdwWVgm1DZ38jMx1PVNF3QvIuQOL4n8Jo/wm8OkA6L4dUYi7vYqNnjVErvkbGFpdssMqpKVzpzTEsLDHyccjZGyueGNMcxfeM3cBmHRdWVS2aTKlfU3u0nulH+NtP6GX6Vuy63HRctwHZgltFPNPPL3Q4Exvnle1oMbnHV0hudBqAFcu2LoXd/SU7/Hia8+d4KxRnKUpO1tOhZJLIxxiMbcRlLpI2t7lhFy9oFxNKSLk9oXs/brDwcvdtJfhYVUZN+qwddS9Zi9HRYnJF3NmtTx5Y6elEhD8xcfa2C4Ja9mtukXI0W5ixOvmt3NQx0zT76qlAdbrEEAd5nOarTk1fmw4mwk2zpQNHvf8XTTynzRsKkdrtqoqp0bImVAcwSucJKWWI5Xxlma0rWkgXJJtwBVGNlJ5vt2unkB4xwAU0XnZeQ+V61G0mz9PSNjFPE1mZlSCdXPdaHTM9xLneUlcdrxujIsLYj12YxmZjZQyiqJM08ryQ+naGEke1uzyg5gBfQEa8VtMRramaGRjsPDmvY5rmy1cTWuaWkFpLA/QjsWmpmS0z5qyEPkY2eVlRC25LoQ64lib0yMLnHKO+bcDUAG0hq2TQiSJwex7MzXNNw5pbcEFa2a7p2vx6mZaknuox+SroGcrc8m1jWuLi57mFt2Z3W5zg3KC6wuQTYXVqorc9A1uEU5AALgS4gauIcWi56bAAeRWq+mlfArmZZMIiLoQIiIAiIgCIiAIiIAiIgCIiALR7bOth9R2xOHnsPWt4p3eBJlw6bt5Jv5U7G+tc6rtTk/Jmo+JB2ycU0cUjS+CobFG0TwkNlsGABrrgtkb+C8ELy9nKmj0r4+Vi/pNOxxAHXNT6vZ4zM7dLnKqKlFmN8VvoXqijkrEuY9FXxzxtkheyRjhdrmODmkdhC1W2Z+tfDUUQ89bEF+1eyjM7paVzqWZxu50Vskh091hPMk4WuQHW4OC0e01dUthZFVRNN6mitPCfanFtZE6z43HPETY2HPb+FrZSb7rTLFZn1s9rSYT2sY7/bE+tWy5vs9tFEKbDW2nJggaHhtHUOJIpgz2sCP20ZulmbTXhqqpm2MbtGwVx8OHVLPlkY0LlRaTlzX0o3NO/7xPWlYPZCc2F+Qpxfp1fLcX8g8wW5UdT7QPFXO9tJVvJbA3IGwte3KHG7g+UAA5tNeg8FsW7SVB4YbV/3paMD5KgrdKSs+b6mZRZQKT25Zd0XYyqP6Jo9az3YtWEcyhAP9ZWxt+VjXqW2qxCrLmd0QRRWa4AR1Lprse9jHl14mZbadfE8LLhts0qEny6mqa7yK/Z3vZ/xqf5H29S1tUfY2Qu4UUzuf1Us7z7pboheTY/BcQeDnFvjs9JWOZLyYph9cTZs5kdz893ZSALtueJsVl4lh9dNE9jpKHK9jmua6klkBaRZwIMwBuLrVF4qcXYj1MLdJ9x6bxXfPKsVHbo/uPTXJNw43Nr6vJA083kVivopeBGZ+JhERdDIREQBERAEREAREQBERAEREAUrvNfbDX9stKP8AdxE/ICqpRO8zFQ2AU5YTynJvDs1gCydhta2vDs4r59pmoUpN8DpTV5I28O2cDgMjahwsLZaSbXTxV7N2maeEFWf8rIPSFzB21FS7jUS+R5HoXwcZmdxmnP8Aiv8ApXkP2rbRfL/Z3/pzqf1QOPe0tWf8ONvzpAtNtTib5IWNdTyxjl6cgvkhAJbKHBvNeSL5eNrKBfUud3xefCSfSvxkfU0+ZcJ+1ZSTST9V+DSoJZ3LTDJ5Wx0RDIQKeEN51UwF4MDWA/g8L2N1tJdqpB/QW+NXX9DFz1tM7oY78lH07wL5HDwhc17Qqxvhi/P0twNOjF6v99TdV+2NRFO58LYZHSuawmN+aNrWMFjnflJ77WwPyLMo9rqlxPLVFLENLZYppXX6bt5NoHkcVK07TkGnvpOnxV62PZ51wXtGpG/N73x8mjfYxaRQ1eImUWficlvwKSWP5jmlaN8bGPPIyunvyYc5zHsOryNS9zi7TVeRB7PlXhA4tzk20dGflK41NqlVi01w3ye/zbKqai/+HT9k6xhM8YcM7aiocW9IaZSAe0aWW7q/c32+C75q4a/HCZGTU8wc5ob7Yx4dZ1rlrjc30OoPXqumbLbcR1sRZIWsna05m9DwG6vjvxH4PEeCxP6LYtrU49nJWa/fU+GcbM8t0n3HpvEPpVipDdMPsRTeIfnFV69Gl4FyMT8TCIi6GQiIgCIiAIiIAiIgCIiAIiIAuOb88edS1VHqeTyTF7QG3dzmhtieo6rsahcajDtoqEEXAo6s2Oo1NlHTjUTjNXVmLtZo4r/KPEOEMh/vNC8zvOHRTn8//wBtd+xndfhtXrLSRBxN80YMTr9ZMZF/Ldc92u3B0dPS1FRDPUNMUUswa7I9tmNLy3RrTwFr307V5/8AbNm3x+b/ACdu3nxIL+U/+zj89/8Ahe53wzWsIW24avB6LfAXtjG4TEobmJsVS25tycga7L0Etky626AT5VC4pgs9K7LUwywu1sJI3Mvbja41HaOtdIbDQhnBNcnL8mZVJS1K9+9yc/zMXlF/V2lYr96lUbjJTgfFuHoeo1ZTcLmLQ4RSlpFwRG6xHXe3BdnQg1Z3+Lb+5i5fTbbvioaaV0bXPmfU8HOa0ZHMGg1vxHStTLvOmPexRDwl5/eC8MUw2V2HULWxSOcH1hLRG4kXkjtcAaLTjZmrPClqf9PJ/CvhobDs8k5OP8pcd0mjtKrNZJ8DcO3k1J97CP7jvW9bWn2pnlwyqmuxj2S07QWMA0JN7g3vxUu3Y2uPCiqz4KSX+FUdBs3VMwqqidTVDZHzQOaw08ge8A6lrS25A14LVfZKMFFxgvFHqiRqSer4muw3aXuYiOQZoyyF1xo5pdTs6PfDh/5ot/3SJGiSJ2YcQWmxB9IKknbN1dRlfBTVErMkIzR08j23ELARma0i696XZuvg50dPUhwJD2dzSEtbla5vKNy6Ahxte3A2XXa9jjKo5Ryk36nOnOyR/R+6mYexscY4xlzSLaAF5czXgeaQrFcx3C4s6poZnPAGWfIAOgCGM+kldOX00YyjTSnqJO7uERF1MhERAEREAREQBERAEREAREQBRFeb7SUw+Dh87vPOB9Kt1AzXO1TOoYUT56t4+hbhr8H0Iy+Wk21p+Uw6pZ8KF7fIRYrdrVbU/ac3a23ncAuUvCym0aLBRu8ltzhreg4tR37bMlePlaPMrNSG8IXfhn/NaY+aCcrSBXoiICbZhxmrKm0ssdjF7m4NJvCzjcHq+VZg2c66mrP+P9DV+4b9t1Xhh/Uhbdefs1GE4tyX8p/UzrKTXouhqDs2LWM9Uf8AMFa5uGNp61mVz3e1PcS9+Y6B9tfKqhaPEvttvxEnoctV6NOKi0lfFH6kZi2yd3IfceI9bn/JYepUmERfXla7rfTjzUzT+8VObkD9hYPGl+SQj1Knwr7Zq/jYv2WNfdXX+T4voznHQmN1NNybsUFgAMWq7AcA2zC0ADhoQr1RG7GTM7FD/wAXrB+SyJvqVuhUEREAREQBERAEREAREQBERAEREAUE3Xao9mEj9t/6q9XNqvF4KbaaSSpmihb7GNYDJI1gLjUh1gXG17Amy6U1ryZGdJWs2kF6Z46zGP0rVhjeBh39Po/9VF/EtNtdtzQvpbRVtI9xqKLQVUROXu6EvdYO4BmZxPQASuMtGUuFKbcC8+GD/iLD5qSoKz27c4eeFdRH/Nw/xLR7RY7T1FZhjYJ4JSK1ziI5mPIAopxchpOlyNe1aIXCIiFJ5mGMmq6jOXc0xWyvc3jC3jlOvBZn1Mw/1n5+X+JfOGu+u6rww/qQttmC8/ZqNOUW5RV8U/qZ0lJ3+C6Gq+peDqk/1Ev8a1r8LZBV+15gDTSXBe51zrY3cSevzqnzLRYm765NuilkPyuWq1KnFRcYq+KPVETb1NFuRH2Ep/DP+0PVLhJ+uKz46L9kiU5uU+4lN4Z/2mRbvAZ81ZiA+BPA3z0ULv3l6G0xtWy3Sf3OcdDRbqv/AHT/AJxX/wD1q7URutZZuIn4WL15/wDm0epW6jCCIihQiIgCIiAIiIAiIgCIiAIiIAoSmpWSbR1GdrXWoILZmA2vMb8Rp0K7XMpNqKei2jqu65mQh9JTNYXAgEg5iM3Acemy3B5Pl9yM6GMMi+9R/m2/Qv32Mi+9R/m2/QtNHvEw13CupPLUxj0lZlNtbRy+51dK/wAWpjPocsFMz2Lh+9Rfm2/QpfainYyvwsMja0mqlOZrGjQUM+lxqf8Ap4FUx4lE7vZYz4JGn0FQm9DD5aqow2Okn5CY1E7mSDUNLKZ0hJA43DSLcCHG+ipDoiLn0GC4/ENK+iqDpYTUxYPBeJoPpWyo5cbaPbo8KkP4E9TH86JyhTOgwyOeqqeVaHZXRWuTpeIX4eALNOzFN96b53fSpSTHq+nklcyihmlc5vKRjEGxhlmgMyPlYOUu03Ogtw1WHUb062GxnwiUAuDBydZHNqdAOYzrXn7NSpSi3JK+KWtveZ0lJr5dC2+pem+9Dzu+lausw+OCaQRNyg0kpIuTqM3WVJy7+BH7rhtczwtt6QFj1+9uGWCaq5CoY0RmmyuDA8vkByuHOtlF/CrWp0o4XFJPFHS3EibZ77qdjIqjCoJXy1jS4zaR108TBlqHt0YxwA4eU3KrIt29K0uIkrQXkOcRiVUC5waGhziJNTla0XPQApbdXtS6LCYGR0NbM1hmHKRNgLHHl3uNs8zXcTbUBU79vnN77DMVHgpYneXmTFetXeKrJri+pyWhh7pqdrKaqDCS32RrgCXl5IEoaCXEkuNgNSblXCid0tRytFNJlc3lK6tkyvble3NOTZw6HDgR1hWy4sqCIihQiIgCIiAIiIAiIgCIiAIiIAoPBoGv2hxHM1rrU9EBcA2uwk8f/NFeKH2e/wDUGJ/E0A/ROW47+RGVb8Fgd30EJ8MLD6lhT7FUEhu+ipHHrNLET5y1bpFm5Sbfu4w08aGl8kDR6ApHaPdphzcQw+JlKxrJpKrlWtc8BzGUjnN4O0s/KdF1JSePuPszhg6OSxF3lEcLR84omRk/h+62iZiE0TGzMibTwPaxlXO0CRz5A51w+/BreJ6Fvf5MaYd7LXN8XEaj1vW/p4R3VK62pjhaT2AvIHynzrYKd5eIiOdP3cx1MkkDqquY2BzSHsqvbX8owOIkke0l4HAdQAWHim6dkJi5OvxLnzMiOaoY6wIcSfcxrzVZ0tdHFV1XKPYy5htmcG3tCL8fCPOvjGsTie+mySxm1S1xtI02aIZdTY6C9hftC8uj2OCWK18Utbe8ztJy3eXQmzuicO8xKtHjck790LU47sFNHDNTitke58D5OUkjaSGCOQPiyggEOFxfiM1+hdUFdH98Z+WPpU1tNOC+Ygg2oZ+Bv7yRda1KksLjFXxR0S4oibMbc3ThmCUuUWzCVx7SZ33PoVqpDdH9xaP4t/656r16M/EzmiP3XfaUh+FWV5/3b/oVgozdI6+GNPwqisPnrJFZqMIIiKFCIiAIiIAiIgCIiAIiIAiIgChtm/u/ivxdB+pKuVCbMPvj+LdjKAfoCV0hpLl90Rl2iIuZQpPGtcaw/sp8RPn7nCrFzjeFQVU2K0QoJBHM2mrHhxeGADNC03vFIHC7hoW69YVRC6pvd5fFi9DlmqEjxnEaOMvqKRlZNwm7kly5WtF43NjkF3kguuG9IFhrp+4PvR7qJEdDVF7e+jEtJyzPGhfO17eHS0LUk+nQkWb6ipmPq6rO1rrGC2ZoNrwjhdY20FFE2ehaI2ASVbmOsxoDmigqX2dpqLsBsekBYFFtWyKeaSeKeLlDHzHRgvZkjAIe1jja97i17heOKbYU81TQlhktFUySSF1NM0MaaCpiaSSyx58jBpfj1LyqEqOFxk1fFLW3vM6yvu8isOBU5/mYvzbfoUttdSxwMqTG0MHsfVuOUW4Qya2VEzamlP8APxjxnZfnWUtt5iMUkNUWSRuHsbWNu17SMxhksNDx7FuqqPdcLXxR0txQV95st1LbYNR/FX873FVZUxu0IGEUWo+12dK3VbjEMTHOfLE0AHjI0dHaV6MvEzmiY3O64PCeuSrP+9lVqofcob4FS3/tP7ZMrhRlCIigCIiAIiIAiIgCIiAIiIAiIgC5HSbXxUO0WKNkjnkMraQtEMLpXXjp2XGVuvv+PYuuLj52boavaHEhiDQS3uHkfb5I3Z3wMacvJvaXG+UdK3HeRlYd5dyBHhuLvv8A2AsHlc9wAWR9WdS7vMKrj4z6ZnpmXyN2NK0WhkrYerk8RqRbzvK+I9g54xaHFcRFhYcq6Gbz54rnzqZA/fqnxNx5mEWb1yYlAw/ksa70qOG2tXUY3GIoKMyxQzU2UYhnZmkLJHEuZHm5vJZTZpAJsSCrCPAMWjvlxOKYaWE2HMBHZmie30KA2W2HxenxapqzDTPfnl500zmxy8pITykQjzFvNFrO4B9uPBkLFnQVWKvqaljTQMkbyGYOM8sbQ6O7clgwkmzr36ha6/cZ2Lra4DuqTDcze9e2gm5WPtjl7oDmHQcCOCxaObFqetqKh+HxzNqBA3JDXMBj5JjxmHKhubNmHVaw4rbu25qGD23CsQHxYgm+bKsxTS/eINBSbPYnC2WGjr2Pni5MPkqILmcFgdGC4l5ZlactzmvoTZfjq+WPm4pV4jRkmxeYKJ1Lcm1m1MdOQ0X+HlPDRZeHbwYo6ieWamxCFsvJZRJh81xljDXZsoI4joJWwh3vYVIS01TWm+UiSGVnhBzsC47PFqDxL+UvnJmpanrBsXT1MYd3XU1DHAEOZVNaCOsOp2tupnbjY6lgpqmNrZHNFHPUe2VEshErGP5NwL3m1jrbgekLMnGCPeZaSvgopja76atZCHG5PPiJ5N+pPFt9eK0O2uKzxU1QH1FLX5qV8QkY+OF4hfma57mglr3gkc1trgnhZSvBPC0s8UeqEWUGw+7nDp8MpZJqSF73wRvc4tOZzi3UkgrJqNy+GNDnxRSQuyv1jqpgRca2u4+bgt1u4P2IotLfW0PzAtTtttiGd00seQzx075rCWYEMyHV3Jhuuo5uf3zSvqbbk7GHZK7MvdJAGYLRgC143O8r5XPJ87lXqc2AoH09BFE90b2xta2J7L8+LKC1zhcgG5dwJFgDpewowsvUq0CIihQiIgCIiAIiIAiIgCIiAIiIAuTU+MT0OIVVdPHGGzTdzyxah7I6duWKZkjnZXZgWmxAvnGotr1lck3mbNYi+pkNNGamnqAwlgLS6F4i5J4GZws1wDXaXFwbgdPSnZuz0MTvbI6Ps5jza2Bs7GOYxxdlzOYcwDi3MDG5wtp4VtFMbuNm5MPw6KCcjlLve4NN2tL3l2QHsBHluqdczo8nkEREIEREAXxJEHd8AfCAfSvtEBq6vZakm91paaTp59PG7Xr1aorePsBh0eG1MrKSGOSOJz2OjbyZDtLGzCAdegrpKgt78LTROYIDLNVOipYzZto3ZnSNJLzZnBwuNScvYukG8SzI9Df7Bj7FUX4pTfqGqY2z3Turap9RT1Pc5nj5KcGPOHtyhl284WJYALHqB0WTsdteI6enpH09RysMUVO7LyLm544mtNiJLkEDNw4K8Uk2pNki00YWC4W2lp4oI7lkMbImlxu4hjQ0EkdOizURYNBERAEREAREQBERAEREAREQBERAEREAREQBERAEREAREQBTe8bDX1GF1UcTBI8x3a3LcktcH80fCs027bKkRCp2Z/Pmw88tXXUjGvdJNFUd0SP6WRCPI8SdTrAM11JPaV/QQXwyFrSSAASbmwAues9a9FuUsREktAiIsAIiIAiIgCIiAIiIAiIgCIiAIiIAiIgCIiAIiIAiIgCIiAIiIAiIgCIiAIiIAiIgCIiAIiID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4038" name="AutoShape 6" descr="data:image/jpeg;base64,/9j/4AAQSkZJRgABAQAAAQABAAD/2wCEAAkGBhQQEBUUEBQTFBUVFBITGBgWEBYWFRUUFxAXFBQUFxUXGygfGBwlGRQVHzsgIycrLCwsFR4xNTAqNScrLCkBCQoKDgwOGg8PGiwkHCQsKi4sKSwvKSosLSwsKS8sLCwpLCwsLSwsLCwpLSksLCwsLCwpLCksLCksLCwpLCksLP/AABEIAOEA4QMBIgACEQEDEQH/xAAcAAEBAAMBAQEBAAAAAAAAAAAABgQFBwMCAQj/xABYEAABAwIDAwUICQ8KBQUAAAABAAIDBBEFEiEGBzETIkFRYRQycXKBkbHBFSMzQlJzobLRFiQlNDVTYnSSk6OztMLSF0NUY2SCg4SUpGV14ePwNkWiw+L/xAAaAQEBAQEBAQEAAAAAAAAAAAAAAQIDBQQG/8QAMxEAAgECAwUFCAEFAAAAAAAAAAECAxESITEEQVFxsRMiMmGRBVKBobLB0fBCFBUj4fH/2gAMAwEAAhEDEQA/AO4oiIAiIgCIiAIiIAiJdAEX5dY1RikUfuksbPGka30lRtLUGUi0j9taIad0wuPUx/KHzMuvKTbaH3kVZL8XQzn5S0BY7WHEtmUCKd+qed3uWH1R8cxRefM+48yeyGIvHNpKeP4ysLv1cZU7Vbr+jFiiRSWJ19ZAzPVVeH0rfhGN7vAAXyNueyylsb2mqo4w4z1TmOJYJe42UsZkIORrGOBlcC4DnaNsb5liddQV2n8iqLZ1ZFzzdvtLne+KblA+Z8sjDIXHnsN5YczgOc0OabdV+pdDW6NVVY4kRqwREXUgREQBERAEREAREQBERAEREAREQBTu3mNSUdE6WFzWvD4mguAI5zwLa9fDyqiWt2ky9x1BcAQ2GV1iLjmxk+pYmrxdnYq1I3AsdqKzJHPWvpJZG542tpYRyzLA5oZJM4fbpbYOHSLWJpGbKOPutbWyf4zI/wBSxq88FwWKpwuniqGB7DDGbHQg5bhzXDVjhxDgQR0FeHL1OHe68pWUg/nA3NVQD+sY33dg+E0Zx0h2rlxhHuJyzNN8DLZsLSXu9kkvxtVPKPyXvI+RZlNsvSRax00DT1iFl/Pa6zKCvjnjbJC9sjHC7XNcC0jsIWQuyhDVJGbs0m0UIywNAAHdVPoBbg4u9S3a020TrOpR11cY/RSH1LcrMV35fAPQ0uNbTsppBE2KeeZzc7Y4Yi4ltyLukNmMFwdXOCwO58Rq/dJI6CM+9itPUkdsr28nGfFa/sK2MZ+yL/xWH9fKtwkW53vxZdDS4XsfTU7+UDDJN0zTPdNN22fISWj8Fth2LT7yog6KIOFxnmd5W0krmnyEA+RWSkd4feRf5j9kkHrXLaklRl+7yx8RiUWBGqpKhsbuTmjrZZoJLX5OZpBafFNy0jpa9wVJs1jgrKcSFpZIC6OWM8YpmHLJGfA4HXpBB6VibG95Ufjc/wC6sXFGdwVoqxcQVJjgqR0Mkvkp6ns1IiceoxnQNKlDKmpc+pJalUiIvrMhERAEREAREQBERAEREAREQBERAFpdtjbDK239Dqv2d63S0u2ovhtWOumnb54iPWsydk2ajqjI2bFqOn+Ji+YFsrKO2d2y5WnY2mpqibkmticWugDQ9jcpHOluNR0hbP2XrHd7Q5fjKuMfMDlxpVI4I8luYazMev2VfFI6ow17YJXEukiI+tqlx4mVg1Y8/fWa9YdwWVgm1DZ38jMx1PVNF3QvIuQOL4n8Jo/wm8OkA6L4dUYi7vYqNnjVErvkbGFpdssMqpKVzpzTEsLDHyccjZGyueGNMcxfeM3cBmHRdWVS2aTKlfU3u0nulH+NtP6GX6Vuy63HRctwHZgltFPNPPL3Q4Exvnle1oMbnHV0hudBqAFcu2LoXd/SU7/Hia8+d4KxRnKUpO1tOhZJLIxxiMbcRlLpI2t7lhFy9oFxNKSLk9oXs/brDwcvdtJfhYVUZN+qwddS9Zi9HRYnJF3NmtTx5Y6elEhD8xcfa2C4Ja9mtukXI0W5ixOvmt3NQx0zT76qlAdbrEEAd5nOarTk1fmw4mwk2zpQNHvf8XTTynzRsKkdrtqoqp0bImVAcwSucJKWWI5Xxlma0rWkgXJJtwBVGNlJ5vt2unkB4xwAU0XnZeQ+V61G0mz9PSNjFPE1mZlSCdXPdaHTM9xLneUlcdrxujIsLYj12YxmZjZQyiqJM08ryQ+naGEke1uzyg5gBfQEa8VtMRramaGRjsPDmvY5rmy1cTWuaWkFpLA/QjsWmpmS0z5qyEPkY2eVlRC25LoQ64lib0yMLnHKO+bcDUAG0hq2TQiSJwex7MzXNNw5pbcEFa2a7p2vx6mZaknuox+SroGcrc8m1jWuLi57mFt2Z3W5zg3KC6wuQTYXVqorc9A1uEU5AALgS4gauIcWi56bAAeRWq+mlfArmZZMIiLoQIiIAiIgCIiAIiIAiIgCIiALR7bOth9R2xOHnsPWt4p3eBJlw6bt5Jv5U7G+tc6rtTk/Jmo+JB2ycU0cUjS+CobFG0TwkNlsGABrrgtkb+C8ELy9nKmj0r4+Vi/pNOxxAHXNT6vZ4zM7dLnKqKlFmN8VvoXqijkrEuY9FXxzxtkheyRjhdrmODmkdhC1W2Z+tfDUUQ89bEF+1eyjM7paVzqWZxu50Vskh091hPMk4WuQHW4OC0e01dUthZFVRNN6mitPCfanFtZE6z43HPETY2HPb+FrZSb7rTLFZn1s9rSYT2sY7/bE+tWy5vs9tFEKbDW2nJggaHhtHUOJIpgz2sCP20ZulmbTXhqqpm2MbtGwVx8OHVLPlkY0LlRaTlzX0o3NO/7xPWlYPZCc2F+Qpxfp1fLcX8g8wW5UdT7QPFXO9tJVvJbA3IGwte3KHG7g+UAA5tNeg8FsW7SVB4YbV/3paMD5KgrdKSs+b6mZRZQKT25Zd0XYyqP6Jo9az3YtWEcyhAP9ZWxt+VjXqW2qxCrLmd0QRRWa4AR1Lprse9jHl14mZbadfE8LLhts0qEny6mqa7yK/Z3vZ/xqf5H29S1tUfY2Qu4UUzuf1Us7z7pboheTY/BcQeDnFvjs9JWOZLyYph9cTZs5kdz893ZSALtueJsVl4lh9dNE9jpKHK9jmua6klkBaRZwIMwBuLrVF4qcXYj1MLdJ9x6bxXfPKsVHbo/uPTXJNw43Nr6vJA083kVivopeBGZ+JhERdDIREQBERAEREAREQBERAEREAUrvNfbDX9stKP8AdxE/ICqpRO8zFQ2AU5YTynJvDs1gCydhta2vDs4r59pmoUpN8DpTV5I28O2cDgMjahwsLZaSbXTxV7N2maeEFWf8rIPSFzB21FS7jUS+R5HoXwcZmdxmnP8Aiv8ApXkP2rbRfL/Z3/pzqf1QOPe0tWf8ONvzpAtNtTib5IWNdTyxjl6cgvkhAJbKHBvNeSL5eNrKBfUud3xefCSfSvxkfU0+ZcJ+1ZSTST9V+DSoJZ3LTDJ5Wx0RDIQKeEN51UwF4MDWA/g8L2N1tJdqpB/QW+NXX9DFz1tM7oY78lH07wL5HDwhc17Qqxvhi/P0twNOjF6v99TdV+2NRFO58LYZHSuawmN+aNrWMFjnflJ77WwPyLMo9rqlxPLVFLENLZYppXX6bt5NoHkcVK07TkGnvpOnxV62PZ51wXtGpG/N73x8mjfYxaRQ1eImUWficlvwKSWP5jmlaN8bGPPIyunvyYc5zHsOryNS9zi7TVeRB7PlXhA4tzk20dGflK41NqlVi01w3ye/zbKqai/+HT9k6xhM8YcM7aiocW9IaZSAe0aWW7q/c32+C75q4a/HCZGTU8wc5ob7Yx4dZ1rlrjc30OoPXqumbLbcR1sRZIWsna05m9DwG6vjvxH4PEeCxP6LYtrU49nJWa/fU+GcbM8t0n3HpvEPpVipDdMPsRTeIfnFV69Gl4FyMT8TCIi6GQiIgCIiAIiIAiIgCIiAIiIAuOb88edS1VHqeTyTF7QG3dzmhtieo6rsahcajDtoqEEXAo6s2Oo1NlHTjUTjNXVmLtZo4r/KPEOEMh/vNC8zvOHRTn8//wBtd+xndfhtXrLSRBxN80YMTr9ZMZF/Ldc92u3B0dPS1FRDPUNMUUswa7I9tmNLy3RrTwFr307V5/8AbNm3x+b/ACdu3nxIL+U/+zj89/8Ahe53wzWsIW24avB6LfAXtjG4TEobmJsVS25tycga7L0Etky626AT5VC4pgs9K7LUwywu1sJI3Mvbja41HaOtdIbDQhnBNcnL8mZVJS1K9+9yc/zMXlF/V2lYr96lUbjJTgfFuHoeo1ZTcLmLQ4RSlpFwRG6xHXe3BdnQg1Z3+Lb+5i5fTbbvioaaV0bXPmfU8HOa0ZHMGg1vxHStTLvOmPexRDwl5/eC8MUw2V2HULWxSOcH1hLRG4kXkjtcAaLTjZmrPClqf9PJ/CvhobDs8k5OP8pcd0mjtKrNZJ8DcO3k1J97CP7jvW9bWn2pnlwyqmuxj2S07QWMA0JN7g3vxUu3Y2uPCiqz4KSX+FUdBs3VMwqqidTVDZHzQOaw08ge8A6lrS25A14LVfZKMFFxgvFHqiRqSer4muw3aXuYiOQZoyyF1xo5pdTs6PfDh/5ot/3SJGiSJ2YcQWmxB9IKknbN1dRlfBTVErMkIzR08j23ELARma0i696XZuvg50dPUhwJD2dzSEtbla5vKNy6Ahxte3A2XXa9jjKo5Ryk36nOnOyR/R+6mYexscY4xlzSLaAF5czXgeaQrFcx3C4s6poZnPAGWfIAOgCGM+kldOX00YyjTSnqJO7uERF1MhERAEREAREQBERAEREAREQBRFeb7SUw+Dh87vPOB9Kt1AzXO1TOoYUT56t4+hbhr8H0Iy+Wk21p+Uw6pZ8KF7fIRYrdrVbU/ac3a23ncAuUvCym0aLBRu8ltzhreg4tR37bMlePlaPMrNSG8IXfhn/NaY+aCcrSBXoiICbZhxmrKm0ssdjF7m4NJvCzjcHq+VZg2c66mrP+P9DV+4b9t1Xhh/Uhbdefs1GE4tyX8p/UzrKTXouhqDs2LWM9Uf8AMFa5uGNp61mVz3e1PcS9+Y6B9tfKqhaPEvttvxEnoctV6NOKi0lfFH6kZi2yd3IfceI9bn/JYepUmERfXla7rfTjzUzT+8VObkD9hYPGl+SQj1Knwr7Zq/jYv2WNfdXX+T4voznHQmN1NNybsUFgAMWq7AcA2zC0ADhoQr1RG7GTM7FD/wAXrB+SyJvqVuhUEREAREQBERAEREAREQBERAEREAUE3Xao9mEj9t/6q9XNqvF4KbaaSSpmihb7GNYDJI1gLjUh1gXG17Amy6U1ryZGdJWs2kF6Z46zGP0rVhjeBh39Po/9VF/EtNtdtzQvpbRVtI9xqKLQVUROXu6EvdYO4BmZxPQASuMtGUuFKbcC8+GD/iLD5qSoKz27c4eeFdRH/Nw/xLR7RY7T1FZhjYJ4JSK1ziI5mPIAopxchpOlyNe1aIXCIiFJ5mGMmq6jOXc0xWyvc3jC3jlOvBZn1Mw/1n5+X+JfOGu+u6rww/qQttmC8/ZqNOUW5RV8U/qZ0lJ3+C6Gq+peDqk/1Ev8a1r8LZBV+15gDTSXBe51zrY3cSevzqnzLRYm765NuilkPyuWq1KnFRcYq+KPVETb1NFuRH2Ep/DP+0PVLhJ+uKz46L9kiU5uU+4lN4Z/2mRbvAZ81ZiA+BPA3z0ULv3l6G0xtWy3Sf3OcdDRbqv/AHT/AJxX/wD1q7URutZZuIn4WL15/wDm0epW6jCCIihQiIgCIiAIiIAiIgCIiAIiIAoSmpWSbR1GdrXWoILZmA2vMb8Rp0K7XMpNqKei2jqu65mQh9JTNYXAgEg5iM3Acemy3B5Pl9yM6GMMi+9R/m2/Qv32Mi+9R/m2/QtNHvEw13CupPLUxj0lZlNtbRy+51dK/wAWpjPocsFMz2Lh+9Rfm2/QpfainYyvwsMja0mqlOZrGjQUM+lxqf8Ap4FUx4lE7vZYz4JGn0FQm9DD5aqow2Okn5CY1E7mSDUNLKZ0hJA43DSLcCHG+ipDoiLn0GC4/ENK+iqDpYTUxYPBeJoPpWyo5cbaPbo8KkP4E9TH86JyhTOgwyOeqqeVaHZXRWuTpeIX4eALNOzFN96b53fSpSTHq+nklcyihmlc5vKRjEGxhlmgMyPlYOUu03Ogtw1WHUb062GxnwiUAuDBydZHNqdAOYzrXn7NSpSi3JK+KWtveZ0lJr5dC2+pem+9Dzu+lausw+OCaQRNyg0kpIuTqM3WVJy7+BH7rhtczwtt6QFj1+9uGWCaq5CoY0RmmyuDA8vkByuHOtlF/CrWp0o4XFJPFHS3EibZ77qdjIqjCoJXy1jS4zaR108TBlqHt0YxwA4eU3KrIt29K0uIkrQXkOcRiVUC5waGhziJNTla0XPQApbdXtS6LCYGR0NbM1hmHKRNgLHHl3uNs8zXcTbUBU79vnN77DMVHgpYneXmTFetXeKrJri+pyWhh7pqdrKaqDCS32RrgCXl5IEoaCXEkuNgNSblXCid0tRytFNJlc3lK6tkyvble3NOTZw6HDgR1hWy4sqCIihQiIgCIiAIiIAiIgCIiAIiIAoPBoGv2hxHM1rrU9EBcA2uwk8f/NFeKH2e/wDUGJ/E0A/ROW47+RGVb8Fgd30EJ8MLD6lhT7FUEhu+ipHHrNLET5y1bpFm5Sbfu4w08aGl8kDR6ApHaPdphzcQw+JlKxrJpKrlWtc8BzGUjnN4O0s/KdF1JSePuPszhg6OSxF3lEcLR84omRk/h+62iZiE0TGzMibTwPaxlXO0CRz5A51w+/BreJ6Fvf5MaYd7LXN8XEaj1vW/p4R3VK62pjhaT2AvIHynzrYKd5eIiOdP3cx1MkkDqquY2BzSHsqvbX8owOIkke0l4HAdQAWHim6dkJi5OvxLnzMiOaoY6wIcSfcxrzVZ0tdHFV1XKPYy5htmcG3tCL8fCPOvjGsTie+mySxm1S1xtI02aIZdTY6C9hftC8uj2OCWK18Utbe8ztJy3eXQmzuicO8xKtHjck790LU47sFNHDNTitke58D5OUkjaSGCOQPiyggEOFxfiM1+hdUFdH98Z+WPpU1tNOC+Ygg2oZ+Bv7yRda1KksLjFXxR0S4oibMbc3ThmCUuUWzCVx7SZ33PoVqpDdH9xaP4t/656r16M/EzmiP3XfaUh+FWV5/3b/oVgozdI6+GNPwqisPnrJFZqMIIiKFCIiAIiIAiIgCIiAIiIAiIgChtm/u/ivxdB+pKuVCbMPvj+LdjKAfoCV0hpLl90Rl2iIuZQpPGtcaw/sp8RPn7nCrFzjeFQVU2K0QoJBHM2mrHhxeGADNC03vFIHC7hoW69YVRC6pvd5fFi9DlmqEjxnEaOMvqKRlZNwm7kly5WtF43NjkF3kguuG9IFhrp+4PvR7qJEdDVF7e+jEtJyzPGhfO17eHS0LUk+nQkWb6ipmPq6rO1rrGC2ZoNrwjhdY20FFE2ehaI2ASVbmOsxoDmigqX2dpqLsBsekBYFFtWyKeaSeKeLlDHzHRgvZkjAIe1jja97i17heOKbYU81TQlhktFUySSF1NM0MaaCpiaSSyx58jBpfj1LyqEqOFxk1fFLW3vM6yvu8isOBU5/mYvzbfoUttdSxwMqTG0MHsfVuOUW4Qya2VEzamlP8APxjxnZfnWUtt5iMUkNUWSRuHsbWNu17SMxhksNDx7FuqqPdcLXxR0txQV95st1LbYNR/FX873FVZUxu0IGEUWo+12dK3VbjEMTHOfLE0AHjI0dHaV6MvEzmiY3O64PCeuSrP+9lVqofcob4FS3/tP7ZMrhRlCIigCIiAIiIAiIgCIiAIiIAiIgC5HSbXxUO0WKNkjnkMraQtEMLpXXjp2XGVuvv+PYuuLj52boavaHEhiDQS3uHkfb5I3Z3wMacvJvaXG+UdK3HeRlYd5dyBHhuLvv8A2AsHlc9wAWR9WdS7vMKrj4z6ZnpmXyN2NK0WhkrYerk8RqRbzvK+I9g54xaHFcRFhYcq6Gbz54rnzqZA/fqnxNx5mEWb1yYlAw/ksa70qOG2tXUY3GIoKMyxQzU2UYhnZmkLJHEuZHm5vJZTZpAJsSCrCPAMWjvlxOKYaWE2HMBHZmie30KA2W2HxenxapqzDTPfnl500zmxy8pITykQjzFvNFrO4B9uPBkLFnQVWKvqaljTQMkbyGYOM8sbQ6O7clgwkmzr36ha6/cZ2Lra4DuqTDcze9e2gm5WPtjl7oDmHQcCOCxaObFqetqKh+HxzNqBA3JDXMBj5JjxmHKhubNmHVaw4rbu25qGD23CsQHxYgm+bKsxTS/eINBSbPYnC2WGjr2Pni5MPkqILmcFgdGC4l5ZlactzmvoTZfjq+WPm4pV4jRkmxeYKJ1Lcm1m1MdOQ0X+HlPDRZeHbwYo6ieWamxCFsvJZRJh81xljDXZsoI4joJWwh3vYVIS01TWm+UiSGVnhBzsC47PFqDxL+UvnJmpanrBsXT1MYd3XU1DHAEOZVNaCOsOp2tupnbjY6lgpqmNrZHNFHPUe2VEshErGP5NwL3m1jrbgekLMnGCPeZaSvgopja76atZCHG5PPiJ5N+pPFt9eK0O2uKzxU1QH1FLX5qV8QkY+OF4hfma57mglr3gkc1trgnhZSvBPC0s8UeqEWUGw+7nDp8MpZJqSF73wRvc4tOZzi3UkgrJqNy+GNDnxRSQuyv1jqpgRca2u4+bgt1u4P2IotLfW0PzAtTtttiGd00seQzx075rCWYEMyHV3Jhuuo5uf3zSvqbbk7GHZK7MvdJAGYLRgC143O8r5XPJ87lXqc2AoH09BFE90b2xta2J7L8+LKC1zhcgG5dwJFgDpewowsvUq0CIihQiIgCIiAIiIAiIgCIiAIiIAuTU+MT0OIVVdPHGGzTdzyxah7I6duWKZkjnZXZgWmxAvnGotr1lck3mbNYi+pkNNGamnqAwlgLS6F4i5J4GZws1wDXaXFwbgdPSnZuz0MTvbI6Ps5jza2Bs7GOYxxdlzOYcwDi3MDG5wtp4VtFMbuNm5MPw6KCcjlLve4NN2tL3l2QHsBHluqdczo8nkEREIEREAXxJEHd8AfCAfSvtEBq6vZakm91paaTp59PG7Xr1aorePsBh0eG1MrKSGOSOJz2OjbyZDtLGzCAdegrpKgt78LTROYIDLNVOipYzZto3ZnSNJLzZnBwuNScvYukG8SzI9Df7Bj7FUX4pTfqGqY2z3Turap9RT1Pc5nj5KcGPOHtyhl284WJYALHqB0WTsdteI6enpH09RysMUVO7LyLm544mtNiJLkEDNw4K8Uk2pNki00YWC4W2lp4oI7lkMbImlxu4hjQ0EkdOizURYNBERAEREAREQBERAEREAREQBERAEREAREQBERAEREAREQBTe8bDX1GF1UcTBI8x3a3LcktcH80fCs027bKkRCp2Z/Pmw88tXXUjGvdJNFUd0SP6WRCPI8SdTrAM11JPaV/QQXwyFrSSAASbmwAues9a9FuUsREktAiIsAIiIAiIgCIiAIiIAiIgCIiAIiIAiIgCIiAIiIAiIgCIiAIiIAiIgCIiAIiIAiIgCIiAIiID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4040" name="Picture 8" descr="http://www.casadoconstrutor.com.br/uploads/andaimes-rigorosamente-dentro-da-legislacao.jpg"/>
          <p:cNvPicPr>
            <a:picLocks noChangeAspect="1" noChangeArrowheads="1"/>
          </p:cNvPicPr>
          <p:nvPr/>
        </p:nvPicPr>
        <p:blipFill>
          <a:blip r:embed="rId2" cstate="print"/>
          <a:srcRect l="16554" r="19067"/>
          <a:stretch>
            <a:fillRect/>
          </a:stretch>
        </p:blipFill>
        <p:spPr bwMode="auto">
          <a:xfrm>
            <a:off x="6716435" y="1052736"/>
            <a:ext cx="2427565" cy="3744416"/>
          </a:xfrm>
          <a:prstGeom prst="rect">
            <a:avLst/>
          </a:prstGeom>
          <a:noFill/>
        </p:spPr>
      </p:pic>
      <p:pic>
        <p:nvPicPr>
          <p:cNvPr id="44042" name="Picture 10" descr="http://www.andaimesvitoria.com.br/images/andaimes_g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3889" y="1052736"/>
            <a:ext cx="3168352" cy="3744416"/>
          </a:xfrm>
          <a:prstGeom prst="rect">
            <a:avLst/>
          </a:prstGeom>
          <a:noFill/>
        </p:spPr>
      </p:pic>
      <p:sp>
        <p:nvSpPr>
          <p:cNvPr id="11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http://www.sh.com.br/blog/wp-content/uploads/sketchup_julho_2012_1.jpg"/>
          <p:cNvPicPr>
            <a:picLocks noChangeAspect="1" noChangeArrowheads="1"/>
          </p:cNvPicPr>
          <p:nvPr/>
        </p:nvPicPr>
        <p:blipFill>
          <a:blip r:embed="rId2" cstate="print"/>
          <a:srcRect l="4982" r="876" b="6912"/>
          <a:stretch>
            <a:fillRect/>
          </a:stretch>
        </p:blipFill>
        <p:spPr bwMode="auto">
          <a:xfrm>
            <a:off x="0" y="1052736"/>
            <a:ext cx="4752528" cy="2376264"/>
          </a:xfrm>
          <a:prstGeom prst="rect">
            <a:avLst/>
          </a:prstGeom>
          <a:noFill/>
        </p:spPr>
      </p:pic>
      <p:pic>
        <p:nvPicPr>
          <p:cNvPr id="7" name="Picture 2" descr="http://t1.gstatic.com/images?q=tbn:ANd9GcS49ZNSQres2OGsuoRKwgCz9tS1VhhNl8PXz_9X5zTR79auXX0b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3516936"/>
            <a:ext cx="2160240" cy="2319520"/>
          </a:xfrm>
          <a:prstGeom prst="rect">
            <a:avLst/>
          </a:prstGeom>
          <a:noFill/>
        </p:spPr>
      </p:pic>
      <p:sp>
        <p:nvSpPr>
          <p:cNvPr id="8" name="Retângulo 7"/>
          <p:cNvSpPr/>
          <p:nvPr/>
        </p:nvSpPr>
        <p:spPr>
          <a:xfrm>
            <a:off x="4860032" y="980729"/>
            <a:ext cx="4104456" cy="5147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Andaimes</a:t>
            </a:r>
          </a:p>
          <a:p>
            <a:pPr>
              <a:spcBef>
                <a:spcPts val="0"/>
              </a:spcBef>
              <a:buNone/>
            </a:pPr>
            <a:endParaRPr lang="pt-BR" sz="105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Piso de plataforma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Andaime de madeira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movimentação de andaime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</a:t>
            </a:r>
            <a:r>
              <a:rPr lang="pt-BR" sz="2600" dirty="0" err="1" smtClean="0">
                <a:solidFill>
                  <a:srgbClr val="002060"/>
                </a:solidFill>
              </a:rPr>
              <a:t>Içamento</a:t>
            </a:r>
            <a:r>
              <a:rPr lang="pt-BR" sz="2600" dirty="0" smtClean="0">
                <a:solidFill>
                  <a:srgbClr val="002060"/>
                </a:solidFill>
              </a:rPr>
              <a:t> de materiais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Linhas de alta tensão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Aterramento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Escada incorporada (1,5m)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Andaime superior a 20m (ART)</a:t>
            </a:r>
          </a:p>
          <a:p>
            <a:pPr>
              <a:spcBef>
                <a:spcPts val="0"/>
              </a:spcBef>
              <a:buFontTx/>
              <a:buChar char="-"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FontTx/>
              <a:buChar char="-"/>
            </a:pPr>
            <a:endParaRPr lang="pt-BR" sz="2800" dirty="0" smtClean="0">
              <a:solidFill>
                <a:srgbClr val="002060"/>
              </a:solidFill>
            </a:endParaRPr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>
                <a:solidFill>
                  <a:srgbClr val="002060"/>
                </a:solidFill>
              </a:rPr>
              <a:t>ESCADAS</a:t>
            </a:r>
          </a:p>
          <a:p>
            <a:pPr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Ponto de apoio</a:t>
            </a:r>
          </a:p>
          <a:p>
            <a:pPr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Base e local de posicionamento</a:t>
            </a:r>
          </a:p>
          <a:p>
            <a:pPr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Espaçamento entre degraus</a:t>
            </a:r>
          </a:p>
          <a:p>
            <a:pPr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Espaçamento montantes</a:t>
            </a:r>
          </a:p>
          <a:p>
            <a:pPr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Distância da base à linha de prumo</a:t>
            </a:r>
          </a:p>
          <a:p>
            <a:pPr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Transporte e condução de escadas</a:t>
            </a:r>
          </a:p>
          <a:p>
            <a:pPr>
              <a:buFontTx/>
              <a:buChar char="-"/>
            </a:pPr>
            <a:endParaRPr lang="pt-BR" sz="2800" dirty="0" smtClean="0">
              <a:solidFill>
                <a:srgbClr val="002060"/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CC63F-3AFF-4E69-8B86-E2B7FFBC71B5}" type="slidenum">
              <a:rPr lang="pt-BR" smtClean="0"/>
              <a:pPr/>
              <a:t>24</a:t>
            </a:fld>
            <a:endParaRPr lang="pt-BR"/>
          </a:p>
        </p:txBody>
      </p:sp>
      <p:pic>
        <p:nvPicPr>
          <p:cNvPr id="50178" name="Picture 2" descr="http://www.ultrasafe.com.br/wupdater/upload/waterbox0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583753"/>
            <a:ext cx="3792127" cy="6274247"/>
          </a:xfrm>
          <a:prstGeom prst="rect">
            <a:avLst/>
          </a:prstGeom>
          <a:noFill/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9552" y="908720"/>
            <a:ext cx="8229600" cy="452596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ESCADAS</a:t>
            </a:r>
          </a:p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NR35/ NR18</a:t>
            </a:r>
          </a:p>
          <a:p>
            <a:pPr>
              <a:spcBef>
                <a:spcPts val="0"/>
              </a:spcBef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Tipos de escada:</a:t>
            </a:r>
          </a:p>
          <a:p>
            <a:pPr>
              <a:spcBef>
                <a:spcPts val="0"/>
              </a:spcBef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 marL="176213" indent="-176213"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Simples ou de apoiar</a:t>
            </a:r>
          </a:p>
          <a:p>
            <a:pPr marL="176213" indent="-176213">
              <a:spcBef>
                <a:spcPts val="0"/>
              </a:spcBef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 marL="95250" indent="0">
              <a:spcBef>
                <a:spcPts val="0"/>
              </a:spcBef>
              <a:buFontTx/>
              <a:buChar char="-"/>
            </a:pPr>
            <a:endParaRPr lang="pt-BR" sz="2800" dirty="0" smtClean="0">
              <a:solidFill>
                <a:srgbClr val="002060"/>
              </a:solidFill>
            </a:endParaRPr>
          </a:p>
          <a:p>
            <a:pPr marL="95250" indent="0"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 De abrir</a:t>
            </a:r>
          </a:p>
          <a:p>
            <a:pPr marL="3941763" indent="0"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 Extensão ou</a:t>
            </a:r>
          </a:p>
          <a:p>
            <a:pPr marL="3941763" indent="0">
              <a:spcBef>
                <a:spcPts val="0"/>
              </a:spcBef>
              <a:buNone/>
            </a:pPr>
            <a:r>
              <a:rPr lang="pt-BR" sz="2800" dirty="0" err="1" smtClean="0">
                <a:solidFill>
                  <a:srgbClr val="002060"/>
                </a:solidFill>
              </a:rPr>
              <a:t>prolongável</a:t>
            </a:r>
            <a:endParaRPr lang="pt-BR" sz="2800" dirty="0" smtClean="0">
              <a:solidFill>
                <a:srgbClr val="002060"/>
              </a:solidFill>
            </a:endParaRPr>
          </a:p>
        </p:txBody>
      </p:sp>
      <p:pic>
        <p:nvPicPr>
          <p:cNvPr id="47106" name="Picture 2" descr="http://t1.gstatic.com/images?q=tbn:ANd9GcRWes3pnwjQIOxMGtKDHYJraBNeIG_Z1Fp44SrTAHZz-cFup07wc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3356992"/>
            <a:ext cx="1181100" cy="2286001"/>
          </a:xfrm>
          <a:prstGeom prst="rect">
            <a:avLst/>
          </a:prstGeom>
          <a:noFill/>
        </p:spPr>
      </p:pic>
      <p:sp>
        <p:nvSpPr>
          <p:cNvPr id="47112" name="AutoShape 8" descr="data:image/jpeg;base64,/9j/4AAQSkZJRgABAQAAAQABAAD/2wCEAAkGBhMGEBASBxISEhAVFhYaFRgUFxUYGhocGRYYGRUUEhIXGyYeFxojGRgYHy8gIycpLSwsGiEyNTEqNSgrLCkBCQoKDgwOGg8PGiokHiUuKiozKzYxNCwsNDUpNS41LTQpLjIsLTQ0NSwsNSkxNSwsLCw0NC0yNTQsLCksMCwvLP/AABEIAMIBAwMBIgACEQEDEQH/xAAbAAEBAQADAQEAAAAAAAAAAAAABgcDBAUCAf/EADwQAAIBAgMGAwUHAgUFAAAAAAABAgMRBAUhBhIiMUGBMlFhBxVxkaETFCNCUrHBM2KCotHh8HKSo7LC/8QAGgEBAAMBAQEAAAAAAAAAAAAAAAMEBQIBBv/EAC4RAAICAQIDBwMEAwAAAAAAAAABAgMEETEhQXEFEhNhkbHwMlGBFCOh4SJC8f/aAAwDAQACEQMRAD8A3EAAAAAAAAAAAHzUvZ/Z23raX5X6XMx2C2pxVDEV6e1dS9SdSUWkrKEo6RUYrkmvL0NQM49o2UPL61PGYbSM2o1Gukl/Tn9LdkV8iUox70eRo9n1122Oqf8Asmk/Mt8TnEaUJNXTs91zjOMW7aJytorklsXtVWqYiVDOam/KpdweitLVumrclbkvT1KnZ3NlnWHhUfi5TXlJc/nz7kft9kjwNWGKwfDdq7XSa8Mu9voc2zairI7HWJTB2Sx7Vo3qk/s0aIDzNnc4WeYeFWOkuU15SXiX89z0yzFqS1Rnzg4ScZboAA9OAAAAAAAAAAAAAAAAAAAAAAAAAAAAAAAAAAAAAAAAdPN8sjnFCpRxHhnFr4eTXqnZncB41qtGdRk4tSW6Mq2SxtbJsRUw1aooSc9yV43SaVoS9d7z9UXWNyatmFOVPE1oShLmtz+U9CZ9pGT/AHedPGUFppCtb/xz7PT5FVsvnHvnDxlJ/iR4Z/Fde61KdP8AjJ1S/HQ2M1eJXDLr58H5NfPYjtlswezuNnh8Ut2E3uSXRTXhmvSS0+RpBE+0LI/tEsRRWqtGdv8ALLs9Pke3sjnXvnDxdV/iw4anxXKXdanVMnCbqfVEeZBXVRyYdJdV89j2wAWzJAAAAAAAAAAAAAAAAAAAAAAAAAAAAAAAAAAAAAAAAAAPO2hlRhha/vR2objU36PRWXV3tb1sZhsRiJwrThVlXjTTtUle26uVNvovh6s1jH4OOYU506y4ZK3w8mvVPUyDa6VTAJUaN4U6U/xI9Zv9cn1XkijkvuyU388jZ7Ni7YSoXP77Lz835GoT2dhXVqlWs0/79H9CE2VziODxk5YSpGph7yp1JXsrRluqevVP92WexueLOcNFzfHC0ZeunDLuv5IDajZ1ZFjKiwsPwMQ3Ujuq6U3/AFIu3K717i6S7kbInWHU1bZjWNLVNf8ANuprqd+R+k1sPnLzCh9liX+LSsnfm4/kl8tOxSluE1OKkjJuqdU3B8gADsiAAAAAAAAAAAAAAAAAAAAAAAAAAAAAAAAAAAAAAABG7fZKq0VWgla27U0vdNPdd+ln11LI4sVh44uEoVVeMk0+5HZBTjoyai6VM1OJiezFT3biHRxM5RhKWsk/yvRNX0stPqX+e7CPFYessBiK6rOL3GpJK/NLRdeXchdpcqnldSV9ZUpP/FB8n8jRtis/WZYVKtJb1NWbfWNuGXy07FOpKFkqZPX7M28z9ymGXWtOUl88/wCNCB2Zzp5VVpVney4KsXztykn6pq/Y2KnUVVJwd00mmvJ8mZdtZk33fFurlq+0o4hbz3Nd2fVu3JSWvxuU2wWaupTeHxPjpq8NecHy+T0+Qx3KubrkedowryKY5Fe+nFeX9PgVoANA+fAAAAAAAAAAAAAAAAAAAAAAAAAAAAAAAAAAAAAAAAAAJPbrKPt4RrU14dKite8Xe3ws2tTNMrvltWpTUnHed07vk1bl5LnZG6VqKxEZRqK8WmmvRmO7U5PLLaklHxU3desX/sZWZF1yVkT6XsiyF0JUWfj24FVT9n6+7TpYqvOtXqRlKFW8opPnGMYJ+FK3O/UkckzGeV1YVLNVKUnGpH4aTg+xdbFZz72wu5J/iUrOLfWP5fl4WeFtllaWJhiMvW9GsrVYxteMktJteq0fqju9eJCNsDnCn4F08W/Z/f5zRo+FxMcZCE6DvGSTT9GcpFbA5q6W9hcQ11nS1vpfij2evdlqXqp9+KZiZNHg2OG65P7oAAkK4AAAAAAAAAAAAAAAAAAAAAAAAAAAAAAAAAAAAAAAJjbjKvvNNVqVrwa37q94X4ktdH69LlOfNSmqqcZq6as18TiyCnFpktNrqmpIw7KGsqxLVbe3JNPSTXD+aMfLnc0vE7I4bGQlBRbjWg9ye9JuLto07+WvZkNtZkry+pOMfFB70H5x6fTQp9hM+WYUvsMRNKSs6N+emrjfq0+nkZmJPSTrmfSdp1d+qOVTy3/PHX1I/AyqZTUd+Gvhp2l/h/8AmS/c2DLMfHNKUKtDwyV/h5p+qehBe0PL41XSq0IXnVajVUVxJwT3ZX6eXyOX2e5q8DUlhcQ+Gd5U9eTXOPda9ieqLon3Xs/iKmVZHNq76Wko/wArn6Pj0NCABfMEAAAAAAAAAAAAAAAAAAAAAAAAAAAAAAAAAAAAAAAAAAmNt8teKhGpRUXOF7717OOl77uuiuzMqdP3fifFNQbUoJO1mndtf3W0Nsxkbxu9bO7+HJ/Rsyza7JHgak4Q6cVN+nRfwZebBwasifR9j2xsTosfDkvnUsK+zeHxNKUoqdVVKbcHKUue62rWtz/dGc0MPUymtKnV3o1qO7a//dFr0s0XHs+zlZhSeHrOzXFDzWvEl6p6nFt/lLrRhjKEfxKXBWS6wfKXrZu/wZ3b+7T34nGKv0ma6bNnwX529diuyLNVnNCFWHNq0l5SXiXzPQM72KzJ5XW+zraUqzVr9J2009Vp8jRC1RZ4kNXuZmdjqi1qP0vivnlsAATlIAAAAAAAAAAAAAAAAAAAAAAAAAAAAAAAAAAAAAAA+Zx300+qJzajLPeOFjUhFyqUleyteSS4opvS+nUpTr0VuynB8ua+Euf1ucTgpxcWSVWyqmpx3RjuCqTyrEKWFe6nxLk2pW8Pl8WaHTyyOYU6detWqVYSSclfd0fw14X/ACR+2GR/cKs4Quoy4qb78uz0Pa9nOe/bJ0K/W7in0a8ce/P5mZjWKE/Dkj6PPod9H6mD10066c/nUma+DllVavh8TOU5Rlv05t6uLfC0/NPT4o03ZrOPfOHjOX9RcM1/cuvda9yY2xyN1KcqlBXq4aW8rc5UZ6yT82mm+3qdDZHN/dleLb/Bq2jJ9E/yS+enckTdF2j2ZHOMc3DU4/VH35+u/U0wAGkfOAAAAAAAAAAAAAAAAAAAAAAAAAAAAAAAAAAAAAAAA4KnDUg/NNfyv2ZznBi+FRb/ACyT/h/uAeTtdk/vWg3TV6kOKPr5r5fsZZRxryytTq4TiU5Kzi7JSUrOT3raaO69Db+Zl22eRfdK01+SfFD09Oz+jM3MrUWrUj6Dsi9y1x2+GjKijhK20O5iKFVUbxUWo3lwqV5RlF6N813I3OsDUyfFVcPXt9i0pULJRTj+ZNLqpfweh7N9r4TxEsFVl+K03u2ejitX8Gl+xUbc5I81w+/hlevRe/D1VuOHdfVIkmndTrzIqXDEzHB6OOvp9vRnPshnHvWglVd6tPhn6/pl3X1TPdMz9ltfdr1/vlRyq1IrcS0goxbe7GHnre71NMJ6Jd6tPXUo59Xh3yWmi306gAE5SAAAAAAAAAAAAAAAAAAAAAAAAAAAAAAAAAAAAB8Vaf2sWn1TR9gA4cJU+1hFy521+K0Z5m1WUe9sPJQX4kOKH8x7o9DAeGX/AFz/APZnZOZwU4uL5klVkqpqcd0Z5sNjKOV1Kv3mNOnKpZ/aNJSdtNxy5v0XncramdSxGmW0pVH+p8Mfm+ZG7V5a8nxO/QXDOSqRu20pRteKi9Eutl5l5lOPjmdGnUo6KS5eT5OPZlTGk1rU3xRo50FJRyUuEvf+/cyvPsrxGzeYU68WoUpJzUYO8XPe4k7q6ST5epquV5hHNKMKtHlJcvJ9U/gzo7VZL78w04R/qR4qb/uXTutO5Kez3PPu1SWHxGim+G/Sa5x7pfNBPwbe69mTSgsvE8RfXDfp89maIAC6YgAAAAAAAAAAAAAAAAAAAAAAAAAAAAAAAAAAAAAABwYTTft+uRznWwGsL+cpP/MzsgI8raTKfe9CUY+NcUPiunfkS+xGbvCVZUK+kZ6xv0mua7r6ovTO9sstllmIVTDJRhO8lK7TjNWaUY2s03qUsiLjJWx5bmtg2KyEsafPbyfzj6l/iMVDCq9eSivUyra3dwmI+8YBTUKk1uvdklv83KMrel7F1s9h6Wb0oV6t6lR+Lfd92S5pR5czvZ9k8c6w9SjPS64X+mS8LXckth4sNV1RFiXPFu0lquTGz2brO8PCpHxcprykuf8Ar3PSMt2GziWR4qVDG8MZy3JJ/lmnZP8AjujUj3Ht8SGr35nPaGL+nuaX0viugABYKAAAAAAAAAAAAAAAAAAAAAAAAAAAAAAAAAAPx68j9AB18C1uJLRx0a9V/wAv3OapVVFN1GklzbOOrg4V3epFN+fX5o8rMcieNk40ZSinHm7zUXrrBSfi159LHp5sceJ21w1JqNGW/Jy3VZWV72s5vRao6ebUXndKSr1Yp84RSbin0vJael7vmfeX7MRytQjGnObi7yk3BqbTupPe1hrzStyPZeHqYzTFbsKf6Ytty9JS0svRfM8nGMk1yPa5yhJTW6IfYbN/duIdDEaRqu2vSa0+vL4pGjmYe0bCQyGqsRKSp06mt9bqoteFLq9H8y12P2gW0+DpYiMZxcrpqUXF3i7NpPmnzT9SniqUNa5ctmavaLrt7t8HxkuK8yG9rWT1cDKGLyqlKo5tRqKEXJppcM92OuqVr+iLPYbO6mf4OnUx1GrRqK8WqsXFy3bcaT6P/UoAWI1xi3JcylZk2WQjCb1S2AAJCuAAAAAAAAAAAAAAAAAAAAAAAAAAAAAAAAAAAAAAAAAAfFSlGtpVipL1Sf7n1GO6rR0QAB+gAAAAAAAAAAAAAAAA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7114" name="AutoShape 10" descr="data:image/jpeg;base64,/9j/4AAQSkZJRgABAQAAAQABAAD/2wCEAAkGBhMGEBASBxISEhAVFhYaFRgUFxUYGhocGRYYGRUUEhIXGyYeFxojGRgYHy8gIycpLSwsGiEyNTEqNSgrLCkBCQoKDgwOGg8PGiokHiUuKiozKzYxNCwsNDUpNS41LTQpLjIsLTQ0NSwsNSkxNSwsLCw0NC0yNTQsLCksMCwvLP/AABEIAMIBAwMBIgACEQEDEQH/xAAbAAEBAQADAQEAAAAAAAAAAAAABgcDBAUCAf/EADwQAAIBAgMGAwUHAgUFAAAAAAABAgMRBAUhBhIiMUGBMlFhBxVxkaETFCNCUrHBM2KCotHh8HKSo7LC/8QAGgEBAAMBAQEAAAAAAAAAAAAAAAMEBQIBBv/EAC4RAAICAQIDBwMEAwAAAAAAAAABAgMEETEhQXEFEhNhkbHwMlGBFCOh4SJC8f/aAAwDAQACEQMRAD8A3EAAAAAAAAAAAHzUvZ/Z23raX5X6XMx2C2pxVDEV6e1dS9SdSUWkrKEo6RUYrkmvL0NQM49o2UPL61PGYbSM2o1Gukl/Tn9LdkV8iUox70eRo9n1122Oqf8Asmk/Mt8TnEaUJNXTs91zjOMW7aJytorklsXtVWqYiVDOam/KpdweitLVumrclbkvT1KnZ3NlnWHhUfi5TXlJc/nz7kft9kjwNWGKwfDdq7XSa8Mu9voc2zairI7HWJTB2Sx7Vo3qk/s0aIDzNnc4WeYeFWOkuU15SXiX89z0yzFqS1Rnzg4ScZboAA9OAAAAAAAAAAAAAAAAAAAAAAAAAAAAAAAAAAAAAAAAdPN8sjnFCpRxHhnFr4eTXqnZncB41qtGdRk4tSW6Mq2SxtbJsRUw1aooSc9yV43SaVoS9d7z9UXWNyatmFOVPE1oShLmtz+U9CZ9pGT/AHedPGUFppCtb/xz7PT5FVsvnHvnDxlJ/iR4Z/Fde61KdP8AjJ1S/HQ2M1eJXDLr58H5NfPYjtlswezuNnh8Ut2E3uSXRTXhmvSS0+RpBE+0LI/tEsRRWqtGdv8ALLs9Pke3sjnXvnDxdV/iw4anxXKXdanVMnCbqfVEeZBXVRyYdJdV89j2wAWzJAAAAAAAAAAAAAAAAAAAAAAAAAAAAAAAAAAAAAAAAAAPO2hlRhha/vR2objU36PRWXV3tb1sZhsRiJwrThVlXjTTtUle26uVNvovh6s1jH4OOYU506y4ZK3w8mvVPUyDa6VTAJUaN4U6U/xI9Zv9cn1XkijkvuyU388jZ7Ni7YSoXP77Lz835GoT2dhXVqlWs0/79H9CE2VziODxk5YSpGph7yp1JXsrRluqevVP92WexueLOcNFzfHC0ZeunDLuv5IDajZ1ZFjKiwsPwMQ3Ujuq6U3/AFIu3K717i6S7kbInWHU1bZjWNLVNf8ANuprqd+R+k1sPnLzCh9liX+LSsnfm4/kl8tOxSluE1OKkjJuqdU3B8gADsiAAAAAAAAAAAAAAAAAAAAAAAAAAAAAAAAAAAAAAABG7fZKq0VWgla27U0vdNPdd+ln11LI4sVh44uEoVVeMk0+5HZBTjoyai6VM1OJiezFT3biHRxM5RhKWsk/yvRNX0stPqX+e7CPFYessBiK6rOL3GpJK/NLRdeXchdpcqnldSV9ZUpP/FB8n8jRtis/WZYVKtJb1NWbfWNuGXy07FOpKFkqZPX7M28z9ymGXWtOUl88/wCNCB2Zzp5VVpVney4KsXztykn6pq/Y2KnUVVJwd00mmvJ8mZdtZk33fFurlq+0o4hbz3Nd2fVu3JSWvxuU2wWaupTeHxPjpq8NecHy+T0+Qx3KubrkedowryKY5Fe+nFeX9PgVoANA+fAAAAAAAAAAAAAAAAAAAAAAAAAAAAAAAAAAAAAAAAAAJPbrKPt4RrU14dKite8Xe3ws2tTNMrvltWpTUnHed07vk1bl5LnZG6VqKxEZRqK8WmmvRmO7U5PLLaklHxU3desX/sZWZF1yVkT6XsiyF0JUWfj24FVT9n6+7TpYqvOtXqRlKFW8opPnGMYJ+FK3O/UkckzGeV1YVLNVKUnGpH4aTg+xdbFZz72wu5J/iUrOLfWP5fl4WeFtllaWJhiMvW9GsrVYxteMktJteq0fqju9eJCNsDnCn4F08W/Z/f5zRo+FxMcZCE6DvGSTT9GcpFbA5q6W9hcQ11nS1vpfij2evdlqXqp9+KZiZNHg2OG65P7oAAkK4AAAAAAAAAAAAAAAAAAAAAAAAAAAAAAAAAAAAAAAJjbjKvvNNVqVrwa37q94X4ktdH69LlOfNSmqqcZq6as18TiyCnFpktNrqmpIw7KGsqxLVbe3JNPSTXD+aMfLnc0vE7I4bGQlBRbjWg9ye9JuLto07+WvZkNtZkry+pOMfFB70H5x6fTQp9hM+WYUvsMRNKSs6N+emrjfq0+nkZmJPSTrmfSdp1d+qOVTy3/PHX1I/AyqZTUd+Gvhp2l/h/8AmS/c2DLMfHNKUKtDwyV/h5p+qehBe0PL41XSq0IXnVajVUVxJwT3ZX6eXyOX2e5q8DUlhcQ+Gd5U9eTXOPda9ieqLon3Xs/iKmVZHNq76Wko/wArn6Pj0NCABfMEAAAAAAAAAAAAAAAAAAAAAAAAAAAAAAAAAAAAAAAAAAmNt8teKhGpRUXOF7717OOl77uuiuzMqdP3fifFNQbUoJO1mndtf3W0Nsxkbxu9bO7+HJ/Rsyza7JHgak4Q6cVN+nRfwZebBwasifR9j2xsTosfDkvnUsK+zeHxNKUoqdVVKbcHKUue62rWtz/dGc0MPUymtKnV3o1qO7a//dFr0s0XHs+zlZhSeHrOzXFDzWvEl6p6nFt/lLrRhjKEfxKXBWS6wfKXrZu/wZ3b+7T34nGKv0ma6bNnwX529diuyLNVnNCFWHNq0l5SXiXzPQM72KzJ5XW+zraUqzVr9J2009Vp8jRC1RZ4kNXuZmdjqi1qP0vivnlsAATlIAAAAAAAAAAAAAAAAAAAAAAAAAAAAAAAAAAAAAAA+Zx300+qJzajLPeOFjUhFyqUleyteSS4opvS+nUpTr0VuynB8ua+Euf1ucTgpxcWSVWyqmpx3RjuCqTyrEKWFe6nxLk2pW8Pl8WaHTyyOYU6detWqVYSSclfd0fw14X/ACR+2GR/cKs4Quoy4qb78uz0Pa9nOe/bJ0K/W7in0a8ce/P5mZjWKE/Dkj6PPod9H6mD10066c/nUma+DllVavh8TOU5Rlv05t6uLfC0/NPT4o03ZrOPfOHjOX9RcM1/cuvda9yY2xyN1KcqlBXq4aW8rc5UZ6yT82mm+3qdDZHN/dleLb/Bq2jJ9E/yS+enckTdF2j2ZHOMc3DU4/VH35+u/U0wAGkfOAAAAAAAAAAAAAAAAAAAAAAAAAAAAAAAAAAAAAAAA4KnDUg/NNfyv2ZznBi+FRb/ACyT/h/uAeTtdk/vWg3TV6kOKPr5r5fsZZRxryytTq4TiU5Kzi7JSUrOT3raaO69Db+Zl22eRfdK01+SfFD09Oz+jM3MrUWrUj6Dsi9y1x2+GjKijhK20O5iKFVUbxUWo3lwqV5RlF6N813I3OsDUyfFVcPXt9i0pULJRTj+ZNLqpfweh7N9r4TxEsFVl+K03u2ejitX8Gl+xUbc5I81w+/hlevRe/D1VuOHdfVIkmndTrzIqXDEzHB6OOvp9vRnPshnHvWglVd6tPhn6/pl3X1TPdMz9ltfdr1/vlRyq1IrcS0goxbe7GHnre71NMJ6Jd6tPXUo59Xh3yWmi306gAE5SAAAAAAAAAAAAAAAAAAAAAAAAAAAAAAAAAAAAB8Vaf2sWn1TR9gA4cJU+1hFy521+K0Z5m1WUe9sPJQX4kOKH8x7o9DAeGX/AFz/APZnZOZwU4uL5klVkqpqcd0Z5sNjKOV1Kv3mNOnKpZ/aNJSdtNxy5v0XncramdSxGmW0pVH+p8Mfm+ZG7V5a8nxO/QXDOSqRu20pRteKi9Eutl5l5lOPjmdGnUo6KS5eT5OPZlTGk1rU3xRo50FJRyUuEvf+/cyvPsrxGzeYU68WoUpJzUYO8XPe4k7q6ST5epquV5hHNKMKtHlJcvJ9U/gzo7VZL78w04R/qR4qb/uXTutO5Kez3PPu1SWHxGim+G/Sa5x7pfNBPwbe69mTSgsvE8RfXDfp89maIAC6YgAAAAAAAAAAAAAAAAAAAAAAAAAAAAAAAAAAAAAABwYTTft+uRznWwGsL+cpP/MzsgI8raTKfe9CUY+NcUPiunfkS+xGbvCVZUK+kZ6xv0mua7r6ovTO9sstllmIVTDJRhO8lK7TjNWaUY2s03qUsiLjJWx5bmtg2KyEsafPbyfzj6l/iMVDCq9eSivUyra3dwmI+8YBTUKk1uvdklv83KMrel7F1s9h6Wb0oV6t6lR+Lfd92S5pR5czvZ9k8c6w9SjPS64X+mS8LXckth4sNV1RFiXPFu0lquTGz2brO8PCpHxcprykuf8Ar3PSMt2GziWR4qVDG8MZy3JJ/lmnZP8AjujUj3Ht8SGr35nPaGL+nuaX0viugABYKAAAAAAAAAAAAAAAAAAAAAAAAAAAAAAAAAAPx68j9AB18C1uJLRx0a9V/wAv3OapVVFN1GklzbOOrg4V3epFN+fX5o8rMcieNk40ZSinHm7zUXrrBSfi159LHp5sceJ21w1JqNGW/Jy3VZWV72s5vRao6ebUXndKSr1Yp84RSbin0vJael7vmfeX7MRytQjGnObi7yk3BqbTupPe1hrzStyPZeHqYzTFbsKf6Ytty9JS0svRfM8nGMk1yPa5yhJTW6IfYbN/duIdDEaRqu2vSa0+vL4pGjmYe0bCQyGqsRKSp06mt9bqoteFLq9H8y12P2gW0+DpYiMZxcrpqUXF3i7NpPmnzT9SniqUNa5ctmavaLrt7t8HxkuK8yG9rWT1cDKGLyqlKo5tRqKEXJppcM92OuqVr+iLPYbO6mf4OnUx1GrRqK8WqsXFy3bcaT6P/UoAWI1xi3JcylZk2WQjCb1S2AAJCuAAAAAAAAAAAAAAAAAAAAAAAAAAAAAAAAAAAAAAAAAAfFSlGtpVipL1Sf7n1GO6rR0QAB+gAAAAAAAAAAAAAAAA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7116" name="AutoShape 12" descr="data:image/jpeg;base64,/9j/4AAQSkZJRgABAQAAAQABAAD/2wCEAAkGBhMGEBASBxISEhAVFhYaFRgUFxUYGhocGRYYGRUUEhIXGyYeFxojGRgYHy8gIycpLSwsGiEyNTEqNSgrLCkBCQoKDgwOGg8PGiokHiUuKiozKzYxNCwsNDUpNS41LTQpLjIsLTQ0NSwsNSkxNSwsLCw0NC0yNTQsLCksMCwvLP/AABEIAMIBAwMBIgACEQEDEQH/xAAbAAEBAQADAQEAAAAAAAAAAAAABgcDBAUCAf/EADwQAAIBAgMGAwUHAgUFAAAAAAABAgMRBAUhBhIiMUGBMlFhBxVxkaETFCNCUrHBM2KCotHh8HKSo7LC/8QAGgEBAAMBAQEAAAAAAAAAAAAAAAMEBQIBBv/EAC4RAAICAQIDBwMEAwAAAAAAAAABAgMEETEhQXEFEhNhkbHwMlGBFCOh4SJC8f/aAAwDAQACEQMRAD8A3EAAAAAAAAAAAHzUvZ/Z23raX5X6XMx2C2pxVDEV6e1dS9SdSUWkrKEo6RUYrkmvL0NQM49o2UPL61PGYbSM2o1Gukl/Tn9LdkV8iUox70eRo9n1122Oqf8Asmk/Mt8TnEaUJNXTs91zjOMW7aJytorklsXtVWqYiVDOam/KpdweitLVumrclbkvT1KnZ3NlnWHhUfi5TXlJc/nz7kft9kjwNWGKwfDdq7XSa8Mu9voc2zairI7HWJTB2Sx7Vo3qk/s0aIDzNnc4WeYeFWOkuU15SXiX89z0yzFqS1Rnzg4ScZboAA9OAAAAAAAAAAAAAAAAAAAAAAAAAAAAAAAAAAAAAAAAdPN8sjnFCpRxHhnFr4eTXqnZncB41qtGdRk4tSW6Mq2SxtbJsRUw1aooSc9yV43SaVoS9d7z9UXWNyatmFOVPE1oShLmtz+U9CZ9pGT/AHedPGUFppCtb/xz7PT5FVsvnHvnDxlJ/iR4Z/Fde61KdP8AjJ1S/HQ2M1eJXDLr58H5NfPYjtlswezuNnh8Ut2E3uSXRTXhmvSS0+RpBE+0LI/tEsRRWqtGdv8ALLs9Pke3sjnXvnDxdV/iw4anxXKXdanVMnCbqfVEeZBXVRyYdJdV89j2wAWzJAAAAAAAAAAAAAAAAAAAAAAAAAAAAAAAAAAAAAAAAAAPO2hlRhha/vR2objU36PRWXV3tb1sZhsRiJwrThVlXjTTtUle26uVNvovh6s1jH4OOYU506y4ZK3w8mvVPUyDa6VTAJUaN4U6U/xI9Zv9cn1XkijkvuyU388jZ7Ni7YSoXP77Lz835GoT2dhXVqlWs0/79H9CE2VziODxk5YSpGph7yp1JXsrRluqevVP92WexueLOcNFzfHC0ZeunDLuv5IDajZ1ZFjKiwsPwMQ3Ujuq6U3/AFIu3K717i6S7kbInWHU1bZjWNLVNf8ANuprqd+R+k1sPnLzCh9liX+LSsnfm4/kl8tOxSluE1OKkjJuqdU3B8gADsiAAAAAAAAAAAAAAAAAAAAAAAAAAAAAAAAAAAAAAABG7fZKq0VWgla27U0vdNPdd+ln11LI4sVh44uEoVVeMk0+5HZBTjoyai6VM1OJiezFT3biHRxM5RhKWsk/yvRNX0stPqX+e7CPFYessBiK6rOL3GpJK/NLRdeXchdpcqnldSV9ZUpP/FB8n8jRtis/WZYVKtJb1NWbfWNuGXy07FOpKFkqZPX7M28z9ymGXWtOUl88/wCNCB2Zzp5VVpVney4KsXztykn6pq/Y2KnUVVJwd00mmvJ8mZdtZk33fFurlq+0o4hbz3Nd2fVu3JSWvxuU2wWaupTeHxPjpq8NecHy+T0+Qx3KubrkedowryKY5Fe+nFeX9PgVoANA+fAAAAAAAAAAAAAAAAAAAAAAAAAAAAAAAAAAAAAAAAAAJPbrKPt4RrU14dKite8Xe3ws2tTNMrvltWpTUnHed07vk1bl5LnZG6VqKxEZRqK8WmmvRmO7U5PLLaklHxU3desX/sZWZF1yVkT6XsiyF0JUWfj24FVT9n6+7TpYqvOtXqRlKFW8opPnGMYJ+FK3O/UkckzGeV1YVLNVKUnGpH4aTg+xdbFZz72wu5J/iUrOLfWP5fl4WeFtllaWJhiMvW9GsrVYxteMktJteq0fqju9eJCNsDnCn4F08W/Z/f5zRo+FxMcZCE6DvGSTT9GcpFbA5q6W9hcQ11nS1vpfij2evdlqXqp9+KZiZNHg2OG65P7oAAkK4AAAAAAAAAAAAAAAAAAAAAAAAAAAAAAAAAAAAAAAJjbjKvvNNVqVrwa37q94X4ktdH69LlOfNSmqqcZq6as18TiyCnFpktNrqmpIw7KGsqxLVbe3JNPSTXD+aMfLnc0vE7I4bGQlBRbjWg9ye9JuLto07+WvZkNtZkry+pOMfFB70H5x6fTQp9hM+WYUvsMRNKSs6N+emrjfq0+nkZmJPSTrmfSdp1d+qOVTy3/PHX1I/AyqZTUd+Gvhp2l/h/8AmS/c2DLMfHNKUKtDwyV/h5p+qehBe0PL41XSq0IXnVajVUVxJwT3ZX6eXyOX2e5q8DUlhcQ+Gd5U9eTXOPda9ieqLon3Xs/iKmVZHNq76Wko/wArn6Pj0NCABfMEAAAAAAAAAAAAAAAAAAAAAAAAAAAAAAAAAAAAAAAAAAmNt8teKhGpRUXOF7717OOl77uuiuzMqdP3fifFNQbUoJO1mndtf3W0Nsxkbxu9bO7+HJ/Rsyza7JHgak4Q6cVN+nRfwZebBwasifR9j2xsTosfDkvnUsK+zeHxNKUoqdVVKbcHKUue62rWtz/dGc0MPUymtKnV3o1qO7a//dFr0s0XHs+zlZhSeHrOzXFDzWvEl6p6nFt/lLrRhjKEfxKXBWS6wfKXrZu/wZ3b+7T34nGKv0ma6bNnwX529diuyLNVnNCFWHNq0l5SXiXzPQM72KzJ5XW+zraUqzVr9J2009Vp8jRC1RZ4kNXuZmdjqi1qP0vivnlsAATlIAAAAAAAAAAAAAAAAAAAAAAAAAAAAAAAAAAAAAAA+Zx300+qJzajLPeOFjUhFyqUleyteSS4opvS+nUpTr0VuynB8ua+Euf1ucTgpxcWSVWyqmpx3RjuCqTyrEKWFe6nxLk2pW8Pl8WaHTyyOYU6detWqVYSSclfd0fw14X/ACR+2GR/cKs4Quoy4qb78uz0Pa9nOe/bJ0K/W7in0a8ce/P5mZjWKE/Dkj6PPod9H6mD10066c/nUma+DllVavh8TOU5Rlv05t6uLfC0/NPT4o03ZrOPfOHjOX9RcM1/cuvda9yY2xyN1KcqlBXq4aW8rc5UZ6yT82mm+3qdDZHN/dleLb/Bq2jJ9E/yS+enckTdF2j2ZHOMc3DU4/VH35+u/U0wAGkfOAAAAAAAAAAAAAAAAAAAAAAAAAAAAAAAAAAAAAAAA4KnDUg/NNfyv2ZznBi+FRb/ACyT/h/uAeTtdk/vWg3TV6kOKPr5r5fsZZRxryytTq4TiU5Kzi7JSUrOT3raaO69Db+Zl22eRfdK01+SfFD09Oz+jM3MrUWrUj6Dsi9y1x2+GjKijhK20O5iKFVUbxUWo3lwqV5RlF6N813I3OsDUyfFVcPXt9i0pULJRTj+ZNLqpfweh7N9r4TxEsFVl+K03u2ejitX8Gl+xUbc5I81w+/hlevRe/D1VuOHdfVIkmndTrzIqXDEzHB6OOvp9vRnPshnHvWglVd6tPhn6/pl3X1TPdMz9ltfdr1/vlRyq1IrcS0goxbe7GHnre71NMJ6Jd6tPXUo59Xh3yWmi306gAE5SAAAAAAAAAAAAAAAAAAAAAAAAAAAAAAAAAAAAB8Vaf2sWn1TR9gA4cJU+1hFy521+K0Z5m1WUe9sPJQX4kOKH8x7o9DAeGX/AFz/APZnZOZwU4uL5klVkqpqcd0Z5sNjKOV1Kv3mNOnKpZ/aNJSdtNxy5v0XncramdSxGmW0pVH+p8Mfm+ZG7V5a8nxO/QXDOSqRu20pRteKi9Eutl5l5lOPjmdGnUo6KS5eT5OPZlTGk1rU3xRo50FJRyUuEvf+/cyvPsrxGzeYU68WoUpJzUYO8XPe4k7q6ST5epquV5hHNKMKtHlJcvJ9U/gzo7VZL78w04R/qR4qb/uXTutO5Kez3PPu1SWHxGim+G/Sa5x7pfNBPwbe69mTSgsvE8RfXDfp89maIAC6YgAAAAAAAAAAAAAAAAAAAAAAAAAAAAAAAAAAAAAABwYTTft+uRznWwGsL+cpP/MzsgI8raTKfe9CUY+NcUPiunfkS+xGbvCVZUK+kZ6xv0mua7r6ovTO9sstllmIVTDJRhO8lK7TjNWaUY2s03qUsiLjJWx5bmtg2KyEsafPbyfzj6l/iMVDCq9eSivUyra3dwmI+8YBTUKk1uvdklv83KMrel7F1s9h6Wb0oV6t6lR+Lfd92S5pR5czvZ9k8c6w9SjPS64X+mS8LXckth4sNV1RFiXPFu0lquTGz2brO8PCpHxcprykuf8Ar3PSMt2GziWR4qVDG8MZy3JJ/lmnZP8AjujUj3Ht8SGr35nPaGL+nuaX0viugABYKAAAAAAAAAAAAAAAAAAAAAAAAAAAAAAAAAAPx68j9AB18C1uJLRx0a9V/wAv3OapVVFN1GklzbOOrg4V3epFN+fX5o8rMcieNk40ZSinHm7zUXrrBSfi159LHp5sceJ21w1JqNGW/Jy3VZWV72s5vRao6ebUXndKSr1Yp84RSbin0vJael7vmfeX7MRytQjGnObi7yk3BqbTupPe1hrzStyPZeHqYzTFbsKf6Ytty9JS0svRfM8nGMk1yPa5yhJTW6IfYbN/duIdDEaRqu2vSa0+vL4pGjmYe0bCQyGqsRKSp06mt9bqoteFLq9H8y12P2gW0+DpYiMZxcrpqUXF3i7NpPmnzT9SniqUNa5ctmavaLrt7t8HxkuK8yG9rWT1cDKGLyqlKo5tRqKEXJppcM92OuqVr+iLPYbO6mf4OnUx1GrRqK8WqsXFy3bcaT6P/UoAWI1xi3JcylZk2WQjCb1S2AAJCuAAAAAAAAAAAAAAAAAAAAAAAAAAAAAAAAAAAAAAAAAAfFSlGtpVipL1Sf7n1GO6rR0QAB+gAAAAAAAAAAAAAAAA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7118" name="AutoShape 14" descr="data:image/jpeg;base64,/9j/4AAQSkZJRgABAQAAAQABAAD/2wCEAAkGBhMGEBASBxISEhAVFhYaFRgUFxUYGhocGRYYGRUUEhIXGyYeFxojGRgYHy8gIycpLSwsGiEyNTEqNSgrLCkBCQoKDgwOGg8PGiokHiUuKiozKzYxNCwsNDUpNS41LTQpLjIsLTQ0NSwsNSkxNSwsLCw0NC0yNTQsLCksMCwvLP/AABEIAMIBAwMBIgACEQEDEQH/xAAbAAEBAQADAQEAAAAAAAAAAAAABgcDBAUCAf/EADwQAAIBAgMGAwUHAgUFAAAAAAABAgMRBAUhBhIiMUGBMlFhBxVxkaETFCNCUrHBM2KCotHh8HKSo7LC/8QAGgEBAAMBAQEAAAAAAAAAAAAAAAMEBQIBBv/EAC4RAAICAQIDBwMEAwAAAAAAAAABAgMEETEhQXEFEhNhkbHwMlGBFCOh4SJC8f/aAAwDAQACEQMRAD8A3EAAAAAAAAAAAHzUvZ/Z23raX5X6XMx2C2pxVDEV6e1dS9SdSUWkrKEo6RUYrkmvL0NQM49o2UPL61PGYbSM2o1Gukl/Tn9LdkV8iUox70eRo9n1122Oqf8Asmk/Mt8TnEaUJNXTs91zjOMW7aJytorklsXtVWqYiVDOam/KpdweitLVumrclbkvT1KnZ3NlnWHhUfi5TXlJc/nz7kft9kjwNWGKwfDdq7XSa8Mu9voc2zairI7HWJTB2Sx7Vo3qk/s0aIDzNnc4WeYeFWOkuU15SXiX89z0yzFqS1Rnzg4ScZboAA9OAAAAAAAAAAAAAAAAAAAAAAAAAAAAAAAAAAAAAAAAdPN8sjnFCpRxHhnFr4eTXqnZncB41qtGdRk4tSW6Mq2SxtbJsRUw1aooSc9yV43SaVoS9d7z9UXWNyatmFOVPE1oShLmtz+U9CZ9pGT/AHedPGUFppCtb/xz7PT5FVsvnHvnDxlJ/iR4Z/Fde61KdP8AjJ1S/HQ2M1eJXDLr58H5NfPYjtlswezuNnh8Ut2E3uSXRTXhmvSS0+RpBE+0LI/tEsRRWqtGdv8ALLs9Pke3sjnXvnDxdV/iw4anxXKXdanVMnCbqfVEeZBXVRyYdJdV89j2wAWzJAAAAAAAAAAAAAAAAAAAAAAAAAAAAAAAAAAAAAAAAAAPO2hlRhha/vR2objU36PRWXV3tb1sZhsRiJwrThVlXjTTtUle26uVNvovh6s1jH4OOYU506y4ZK3w8mvVPUyDa6VTAJUaN4U6U/xI9Zv9cn1XkijkvuyU388jZ7Ni7YSoXP77Lz835GoT2dhXVqlWs0/79H9CE2VziODxk5YSpGph7yp1JXsrRluqevVP92WexueLOcNFzfHC0ZeunDLuv5IDajZ1ZFjKiwsPwMQ3Ujuq6U3/AFIu3K717i6S7kbInWHU1bZjWNLVNf8ANuprqd+R+k1sPnLzCh9liX+LSsnfm4/kl8tOxSluE1OKkjJuqdU3B8gADsiAAAAAAAAAAAAAAAAAAAAAAAAAAAAAAAAAAAAAAABG7fZKq0VWgla27U0vdNPdd+ln11LI4sVh44uEoVVeMk0+5HZBTjoyai6VM1OJiezFT3biHRxM5RhKWsk/yvRNX0stPqX+e7CPFYessBiK6rOL3GpJK/NLRdeXchdpcqnldSV9ZUpP/FB8n8jRtis/WZYVKtJb1NWbfWNuGXy07FOpKFkqZPX7M28z9ymGXWtOUl88/wCNCB2Zzp5VVpVney4KsXztykn6pq/Y2KnUVVJwd00mmvJ8mZdtZk33fFurlq+0o4hbz3Nd2fVu3JSWvxuU2wWaupTeHxPjpq8NecHy+T0+Qx3KubrkedowryKY5Fe+nFeX9PgVoANA+fAAAAAAAAAAAAAAAAAAAAAAAAAAAAAAAAAAAAAAAAAAJPbrKPt4RrU14dKite8Xe3ws2tTNMrvltWpTUnHed07vk1bl5LnZG6VqKxEZRqK8WmmvRmO7U5PLLaklHxU3desX/sZWZF1yVkT6XsiyF0JUWfj24FVT9n6+7TpYqvOtXqRlKFW8opPnGMYJ+FK3O/UkckzGeV1YVLNVKUnGpH4aTg+xdbFZz72wu5J/iUrOLfWP5fl4WeFtllaWJhiMvW9GsrVYxteMktJteq0fqju9eJCNsDnCn4F08W/Z/f5zRo+FxMcZCE6DvGSTT9GcpFbA5q6W9hcQ11nS1vpfij2evdlqXqp9+KZiZNHg2OG65P7oAAkK4AAAAAAAAAAAAAAAAAAAAAAAAAAAAAAAAAAAAAAAJjbjKvvNNVqVrwa37q94X4ktdH69LlOfNSmqqcZq6as18TiyCnFpktNrqmpIw7KGsqxLVbe3JNPSTXD+aMfLnc0vE7I4bGQlBRbjWg9ye9JuLto07+WvZkNtZkry+pOMfFB70H5x6fTQp9hM+WYUvsMRNKSs6N+emrjfq0+nkZmJPSTrmfSdp1d+qOVTy3/PHX1I/AyqZTUd+Gvhp2l/h/8AmS/c2DLMfHNKUKtDwyV/h5p+qehBe0PL41XSq0IXnVajVUVxJwT3ZX6eXyOX2e5q8DUlhcQ+Gd5U9eTXOPda9ieqLon3Xs/iKmVZHNq76Wko/wArn6Pj0NCABfMEAAAAAAAAAAAAAAAAAAAAAAAAAAAAAAAAAAAAAAAAAAmNt8teKhGpRUXOF7717OOl77uuiuzMqdP3fifFNQbUoJO1mndtf3W0Nsxkbxu9bO7+HJ/Rsyza7JHgak4Q6cVN+nRfwZebBwasifR9j2xsTosfDkvnUsK+zeHxNKUoqdVVKbcHKUue62rWtz/dGc0MPUymtKnV3o1qO7a//dFr0s0XHs+zlZhSeHrOzXFDzWvEl6p6nFt/lLrRhjKEfxKXBWS6wfKXrZu/wZ3b+7T34nGKv0ma6bNnwX529diuyLNVnNCFWHNq0l5SXiXzPQM72KzJ5XW+zraUqzVr9J2009Vp8jRC1RZ4kNXuZmdjqi1qP0vivnlsAATlIAAAAAAAAAAAAAAAAAAAAAAAAAAAAAAAAAAAAAAA+Zx300+qJzajLPeOFjUhFyqUleyteSS4opvS+nUpTr0VuynB8ua+Euf1ucTgpxcWSVWyqmpx3RjuCqTyrEKWFe6nxLk2pW8Pl8WaHTyyOYU6detWqVYSSclfd0fw14X/ACR+2GR/cKs4Quoy4qb78uz0Pa9nOe/bJ0K/W7in0a8ce/P5mZjWKE/Dkj6PPod9H6mD10066c/nUma+DllVavh8TOU5Rlv05t6uLfC0/NPT4o03ZrOPfOHjOX9RcM1/cuvda9yY2xyN1KcqlBXq4aW8rc5UZ6yT82mm+3qdDZHN/dleLb/Bq2jJ9E/yS+enckTdF2j2ZHOMc3DU4/VH35+u/U0wAGkfOAAAAAAAAAAAAAAAAAAAAAAAAAAAAAAAAAAAAAAAA4KnDUg/NNfyv2ZznBi+FRb/ACyT/h/uAeTtdk/vWg3TV6kOKPr5r5fsZZRxryytTq4TiU5Kzi7JSUrOT3raaO69Db+Zl22eRfdK01+SfFD09Oz+jM3MrUWrUj6Dsi9y1x2+GjKijhK20O5iKFVUbxUWo3lwqV5RlF6N813I3OsDUyfFVcPXt9i0pULJRTj+ZNLqpfweh7N9r4TxEsFVl+K03u2ejitX8Gl+xUbc5I81w+/hlevRe/D1VuOHdfVIkmndTrzIqXDEzHB6OOvp9vRnPshnHvWglVd6tPhn6/pl3X1TPdMz9ltfdr1/vlRyq1IrcS0goxbe7GHnre71NMJ6Jd6tPXUo59Xh3yWmi306gAE5SAAAAAAAAAAAAAAAAAAAAAAAAAAAAAAAAAAAAB8Vaf2sWn1TR9gA4cJU+1hFy521+K0Z5m1WUe9sPJQX4kOKH8x7o9DAeGX/AFz/APZnZOZwU4uL5klVkqpqcd0Z5sNjKOV1Kv3mNOnKpZ/aNJSdtNxy5v0XncramdSxGmW0pVH+p8Mfm+ZG7V5a8nxO/QXDOSqRu20pRteKi9Eutl5l5lOPjmdGnUo6KS5eT5OPZlTGk1rU3xRo50FJRyUuEvf+/cyvPsrxGzeYU68WoUpJzUYO8XPe4k7q6ST5epquV5hHNKMKtHlJcvJ9U/gzo7VZL78w04R/qR4qb/uXTutO5Kez3PPu1SWHxGim+G/Sa5x7pfNBPwbe69mTSgsvE8RfXDfp89maIAC6YgAAAAAAAAAAAAAAAAAAAAAAAAAAAAAAAAAAAAAABwYTTft+uRznWwGsL+cpP/MzsgI8raTKfe9CUY+NcUPiunfkS+xGbvCVZUK+kZ6xv0mua7r6ovTO9sstllmIVTDJRhO8lK7TjNWaUY2s03qUsiLjJWx5bmtg2KyEsafPbyfzj6l/iMVDCq9eSivUyra3dwmI+8YBTUKk1uvdklv83KMrel7F1s9h6Wb0oV6t6lR+Lfd92S5pR5czvZ9k8c6w9SjPS64X+mS8LXckth4sNV1RFiXPFu0lquTGz2brO8PCpHxcprykuf8Ar3PSMt2GziWR4qVDG8MZy3JJ/lmnZP8AjujUj3Ht8SGr35nPaGL+nuaX0viugABYKAAAAAAAAAAAAAAAAAAAAAAAAAAAAAAAAAAPx68j9AB18C1uJLRx0a9V/wAv3OapVVFN1GklzbOOrg4V3epFN+fX5o8rMcieNk40ZSinHm7zUXrrBSfi159LHp5sceJ21w1JqNGW/Jy3VZWV72s5vRao6ebUXndKSr1Yp84RSbin0vJael7vmfeX7MRytQjGnObi7yk3BqbTupPe1hrzStyPZeHqYzTFbsKf6Ytty9JS0svRfM8nGMk1yPa5yhJTW6IfYbN/duIdDEaRqu2vSa0+vL4pGjmYe0bCQyGqsRKSp06mt9bqoteFLq9H8y12P2gW0+DpYiMZxcrpqUXF3i7NpPmnzT9SniqUNa5ctmavaLrt7t8HxkuK8yG9rWT1cDKGLyqlKo5tRqKEXJppcM92OuqVr+iLPYbO6mf4OnUx1GrRqK8WqsXFy3bcaT6P/UoAWI1xi3JcylZk2WQjCb1S2AAJCuAAAAAAAAAAAAAAAAAAAAAAAAAAAAAAAAAAAAAAAAAAfFSlGtpVipL1Sf7n1GO6rR0QAB+gAAAAAAAAAAAAAAAA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7122" name="Picture 18" descr="http://t3.gstatic.com/images?q=tbn:ANd9GcR8q8dYKiR27sMG613NPfhiN_94rxPtbdSct44mJRm5-ubcsEv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1844824"/>
            <a:ext cx="1341477" cy="1895103"/>
          </a:xfrm>
          <a:prstGeom prst="rect">
            <a:avLst/>
          </a:prstGeom>
          <a:noFill/>
        </p:spPr>
      </p:pic>
      <p:pic>
        <p:nvPicPr>
          <p:cNvPr id="15" name="Picture 16" descr="http://www.andaimeslocer.com.br/imagens/Escada%20extensiva.jpg"/>
          <p:cNvPicPr>
            <a:picLocks noChangeAspect="1" noChangeArrowheads="1"/>
          </p:cNvPicPr>
          <p:nvPr/>
        </p:nvPicPr>
        <p:blipFill>
          <a:blip r:embed="rId4" cstate="print"/>
          <a:srcRect l="23256" t="1657" r="16279"/>
          <a:stretch>
            <a:fillRect/>
          </a:stretch>
        </p:blipFill>
        <p:spPr bwMode="auto">
          <a:xfrm>
            <a:off x="6588224" y="3068960"/>
            <a:ext cx="1695114" cy="2067744"/>
          </a:xfrm>
          <a:prstGeom prst="rect">
            <a:avLst/>
          </a:prstGeom>
          <a:noFill/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  Marinheiro		       De corda	      De plataforma</a:t>
            </a:r>
          </a:p>
          <a:p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6" name="Picture 4" descr="http://t0.gstatic.com/images?q=tbn:ANd9GcTo7hakPcOnv_rJnF4_NrsN38T5Cg62seE4vm2hFeGiCtebvzn-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912" y="1729408"/>
            <a:ext cx="1600200" cy="2857500"/>
          </a:xfrm>
          <a:prstGeom prst="rect">
            <a:avLst/>
          </a:prstGeom>
          <a:noFill/>
        </p:spPr>
      </p:pic>
      <p:pic>
        <p:nvPicPr>
          <p:cNvPr id="48130" name="Picture 2" descr="http://t3.gstatic.com/images?q=tbn:ANd9GcSQB5WI1mRHCesw-6weurWTSr7_e79hKwzKshrA77yZ4AZI_YU39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95311" y="1873424"/>
            <a:ext cx="1913007" cy="2668142"/>
          </a:xfrm>
          <a:prstGeom prst="rect">
            <a:avLst/>
          </a:prstGeom>
          <a:noFill/>
        </p:spPr>
      </p:pic>
      <p:pic>
        <p:nvPicPr>
          <p:cNvPr id="48132" name="Picture 4" descr="http://i00.i.aliimg.com/photo/v0/480477544/MOUTAIN_font_b_SHIP_b_font_font.sum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58208" y="1837419"/>
            <a:ext cx="2160240" cy="2700301"/>
          </a:xfrm>
          <a:prstGeom prst="rect">
            <a:avLst/>
          </a:prstGeom>
          <a:noFill/>
        </p:spPr>
      </p:pic>
      <p:sp>
        <p:nvSpPr>
          <p:cNvPr id="9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TRABALHO EM TELHADOS</a:t>
            </a:r>
          </a:p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NR35/ NR18</a:t>
            </a:r>
          </a:p>
          <a:p>
            <a:pPr>
              <a:spcBef>
                <a:spcPts val="0"/>
              </a:spcBef>
              <a:buNone/>
            </a:pPr>
            <a:endParaRPr lang="pt-BR" sz="12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endParaRPr lang="pt-BR" sz="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endParaRPr lang="pt-BR" sz="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endParaRPr lang="pt-BR" sz="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endParaRPr lang="pt-BR" sz="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endParaRPr lang="pt-BR" sz="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endParaRPr lang="pt-BR" sz="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pt-BR" sz="2600" u="sng" dirty="0" smtClean="0">
                <a:solidFill>
                  <a:srgbClr val="002060"/>
                </a:solidFill>
              </a:rPr>
              <a:t>Todo trabalho em telhado deve ser precedido de OS.</a:t>
            </a:r>
          </a:p>
          <a:p>
            <a:pPr>
              <a:spcBef>
                <a:spcPts val="0"/>
              </a:spcBef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 marL="3136900" indent="0">
              <a:spcBef>
                <a:spcPts val="0"/>
              </a:spcBef>
              <a:buNone/>
            </a:pPr>
            <a:r>
              <a:rPr lang="pt-BR" sz="2600" dirty="0" smtClean="0">
                <a:solidFill>
                  <a:srgbClr val="002060"/>
                </a:solidFill>
              </a:rPr>
              <a:t>- Pessoas habilitadas</a:t>
            </a:r>
          </a:p>
          <a:p>
            <a:pPr marL="3136900" indent="0"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Cabo Guia</a:t>
            </a:r>
          </a:p>
          <a:p>
            <a:pPr marL="3136900" indent="0"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Sinalização e isolamento</a:t>
            </a:r>
          </a:p>
          <a:p>
            <a:pPr marL="3136900" indent="0"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Fornos e emanação de gases</a:t>
            </a:r>
          </a:p>
          <a:p>
            <a:pPr marL="3136900" indent="0"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Condições climáticas</a:t>
            </a:r>
          </a:p>
          <a:p>
            <a:pPr marL="3136900" indent="0"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Utilização de passarelas</a:t>
            </a:r>
          </a:p>
          <a:p>
            <a:pPr marL="3136900" indent="0">
              <a:spcBef>
                <a:spcPts val="0"/>
              </a:spcBef>
              <a:buFontTx/>
              <a:buChar char="-"/>
            </a:pPr>
            <a:r>
              <a:rPr lang="pt-BR" sz="2600" dirty="0" smtClean="0">
                <a:solidFill>
                  <a:srgbClr val="002060"/>
                </a:solidFill>
              </a:rPr>
              <a:t> EPI adequado</a:t>
            </a:r>
          </a:p>
          <a:p>
            <a:pPr marL="176213" indent="-176213">
              <a:spcBef>
                <a:spcPts val="0"/>
              </a:spcBef>
              <a:buFontTx/>
              <a:buChar char="-"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FontTx/>
              <a:buChar char="-"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FontTx/>
              <a:buChar char="-"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2800" dirty="0">
              <a:solidFill>
                <a:srgbClr val="002060"/>
              </a:solidFill>
            </a:endParaRPr>
          </a:p>
        </p:txBody>
      </p:sp>
      <p:pic>
        <p:nvPicPr>
          <p:cNvPr id="49154" name="Picture 2" descr="http://t2.gstatic.com/images?q=tbn:ANd9GcTulTNDIyGqxVPxhxYLF0rHa5bRogn5jLw13OQwkM_JKzQK63zE"/>
          <p:cNvPicPr>
            <a:picLocks noChangeAspect="1" noChangeArrowheads="1"/>
          </p:cNvPicPr>
          <p:nvPr/>
        </p:nvPicPr>
        <p:blipFill>
          <a:blip r:embed="rId2" cstate="print"/>
          <a:srcRect b="2975"/>
          <a:stretch>
            <a:fillRect/>
          </a:stretch>
        </p:blipFill>
        <p:spPr bwMode="auto">
          <a:xfrm>
            <a:off x="4582344" y="1009328"/>
            <a:ext cx="2562225" cy="1728192"/>
          </a:xfrm>
          <a:prstGeom prst="rect">
            <a:avLst/>
          </a:prstGeom>
          <a:noFill/>
        </p:spPr>
      </p:pic>
      <p:pic>
        <p:nvPicPr>
          <p:cNvPr id="49156" name="Picture 4" descr="http://files.ctabahia.com.br/system_preview_detail_200000158-9dd699ed04/Imagem_trabalhos_em_telhado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7888" y="3241576"/>
            <a:ext cx="3062114" cy="2293184"/>
          </a:xfrm>
          <a:prstGeom prst="rect">
            <a:avLst/>
          </a:prstGeom>
          <a:noFill/>
          <a:effectLst>
            <a:softEdge rad="127000"/>
          </a:effectLst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4" name="Picture 4" descr="http://4.bp.blogspot.com/-daLkv_zaOZw/UASjuMLm1mI/AAAAAAAAEXE/3E3o538M5ZA/s1600/32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8939" y="2348880"/>
            <a:ext cx="4415061" cy="2730775"/>
          </a:xfrm>
          <a:prstGeom prst="rect">
            <a:avLst/>
          </a:prstGeom>
          <a:noFill/>
          <a:effectLst>
            <a:softEdge rad="63500"/>
          </a:effectLst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FATOR DE QUEDA</a:t>
            </a:r>
          </a:p>
          <a:p>
            <a:pPr>
              <a:buNone/>
            </a:pPr>
            <a:endParaRPr lang="pt-BR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dirty="0" smtClean="0">
              <a:solidFill>
                <a:srgbClr val="002060"/>
              </a:solidFill>
            </a:endParaRPr>
          </a:p>
          <a:p>
            <a:pPr algn="just">
              <a:buNone/>
            </a:pPr>
            <a:endParaRPr lang="pt-BR" sz="2200" dirty="0" smtClean="0">
              <a:solidFill>
                <a:srgbClr val="002060"/>
              </a:solidFill>
            </a:endParaRPr>
          </a:p>
          <a:p>
            <a:pPr algn="just">
              <a:buNone/>
            </a:pPr>
            <a:endParaRPr lang="pt-BR" sz="2100" dirty="0" smtClean="0">
              <a:solidFill>
                <a:srgbClr val="002060"/>
              </a:solidFill>
            </a:endParaRPr>
          </a:p>
          <a:p>
            <a:pPr algn="just">
              <a:buNone/>
            </a:pPr>
            <a:endParaRPr lang="pt-BR" sz="2100" dirty="0" smtClean="0">
              <a:solidFill>
                <a:srgbClr val="002060"/>
              </a:solidFill>
            </a:endParaRPr>
          </a:p>
          <a:p>
            <a:pPr algn="just">
              <a:buNone/>
            </a:pPr>
            <a:r>
              <a:rPr lang="pt-BR" sz="2100" dirty="0" smtClean="0">
                <a:solidFill>
                  <a:srgbClr val="002060"/>
                </a:solidFill>
              </a:rPr>
              <a:t>Absorvedor de energia reduz 1/5 a EP.</a:t>
            </a:r>
          </a:p>
          <a:p>
            <a:pPr algn="just">
              <a:buNone/>
            </a:pPr>
            <a:r>
              <a:rPr lang="pt-BR" sz="2200" b="1" dirty="0" smtClean="0">
                <a:solidFill>
                  <a:srgbClr val="002060"/>
                </a:solidFill>
              </a:rPr>
              <a:t>Atenção: não utilize talabartes sem absorvedor. Perigo!</a:t>
            </a:r>
            <a:endParaRPr lang="pt-BR" sz="22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23528" y="2060848"/>
            <a:ext cx="4572000" cy="33547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sz="2000" dirty="0" smtClean="0">
                <a:solidFill>
                  <a:srgbClr val="002060"/>
                </a:solidFill>
              </a:rPr>
              <a:t>Fator de queda é a relação entre a queda do trabalhador e o comprimento do talabarte que é obtida pela fórmula: hQ/CT</a:t>
            </a:r>
          </a:p>
          <a:p>
            <a:pPr algn="just"/>
            <a:r>
              <a:rPr lang="pt-BR" sz="1000" dirty="0" smtClean="0">
                <a:solidFill>
                  <a:srgbClr val="002060"/>
                </a:solidFill>
              </a:rPr>
              <a:t/>
            </a:r>
            <a:br>
              <a:rPr lang="pt-BR" sz="1000" dirty="0" smtClean="0">
                <a:solidFill>
                  <a:srgbClr val="002060"/>
                </a:solidFill>
              </a:rPr>
            </a:br>
            <a:r>
              <a:rPr lang="pt-BR" sz="2000" dirty="0" smtClean="0">
                <a:solidFill>
                  <a:srgbClr val="002060"/>
                </a:solidFill>
              </a:rPr>
              <a:t>hQ = Altura da queda</a:t>
            </a:r>
            <a:br>
              <a:rPr lang="pt-BR" sz="2000" dirty="0" smtClean="0">
                <a:solidFill>
                  <a:srgbClr val="002060"/>
                </a:solidFill>
              </a:rPr>
            </a:br>
            <a:r>
              <a:rPr lang="pt-BR" sz="2000" dirty="0" smtClean="0">
                <a:solidFill>
                  <a:srgbClr val="002060"/>
                </a:solidFill>
              </a:rPr>
              <a:t>CT = Comprimento do talabarte </a:t>
            </a:r>
            <a:br>
              <a:rPr lang="pt-BR" sz="2000" dirty="0" smtClean="0">
                <a:solidFill>
                  <a:srgbClr val="002060"/>
                </a:solidFill>
              </a:rPr>
            </a:br>
            <a:r>
              <a:rPr lang="pt-BR" sz="1000" dirty="0" smtClean="0">
                <a:solidFill>
                  <a:srgbClr val="002060"/>
                </a:solidFill>
              </a:rPr>
              <a:t/>
            </a:r>
            <a:br>
              <a:rPr lang="pt-BR" sz="1000" dirty="0" smtClean="0">
                <a:solidFill>
                  <a:srgbClr val="002060"/>
                </a:solidFill>
              </a:rPr>
            </a:br>
            <a:r>
              <a:rPr lang="pt-BR" sz="2000" dirty="0" smtClean="0">
                <a:solidFill>
                  <a:srgbClr val="002060"/>
                </a:solidFill>
              </a:rPr>
              <a:t>Essa relação determina o quanto a queda irá impactar no sistema de absorção de energia. </a:t>
            </a:r>
            <a:br>
              <a:rPr lang="pt-BR" sz="2000" dirty="0" smtClean="0">
                <a:solidFill>
                  <a:srgbClr val="002060"/>
                </a:solidFill>
              </a:rPr>
            </a:br>
            <a:endParaRPr lang="pt-BR" sz="1200" dirty="0" smtClean="0">
              <a:solidFill>
                <a:srgbClr val="002060"/>
              </a:solidFill>
            </a:endParaRP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30" name="Picture 6" descr="http://3.bp.blogspot.com/-yiIGWqzq4qc/T79yhDbK8AI/AAAAAAAALuo/GNxtKtyi8jk/s1600/ancoragem+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89648"/>
            <a:ext cx="6667500" cy="2276475"/>
          </a:xfrm>
          <a:prstGeom prst="rect">
            <a:avLst/>
          </a:prstGeom>
          <a:noFill/>
        </p:spPr>
      </p:pic>
      <p:pic>
        <p:nvPicPr>
          <p:cNvPr id="52226" name="Picture 2" descr="http://images.quebarato.com.br/T440x/pontos+de+ancoragem+para+trabalhos+em+altura+sao+paulo+sp+brasil__2450F8_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865312"/>
            <a:ext cx="3923928" cy="3103470"/>
          </a:xfrm>
          <a:prstGeom prst="rect">
            <a:avLst/>
          </a:prstGeom>
          <a:noFill/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PONTOS DE ANCORAGEM</a:t>
            </a:r>
          </a:p>
          <a:p>
            <a:pPr marL="173038" indent="-173038">
              <a:buFontTx/>
              <a:buChar char="-"/>
            </a:pPr>
            <a:r>
              <a:rPr lang="pt-BR" sz="2400" dirty="0" smtClean="0">
                <a:solidFill>
                  <a:srgbClr val="002060"/>
                </a:solidFill>
              </a:rPr>
              <a:t>Resistência de 15kn</a:t>
            </a:r>
          </a:p>
          <a:p>
            <a:pPr marL="173038" indent="-173038">
              <a:buFontTx/>
              <a:buChar char="-"/>
            </a:pPr>
            <a:r>
              <a:rPr lang="pt-BR" sz="2400" dirty="0" smtClean="0">
                <a:solidFill>
                  <a:srgbClr val="002060"/>
                </a:solidFill>
              </a:rPr>
              <a:t>Natural, mecânica e química</a:t>
            </a:r>
          </a:p>
          <a:p>
            <a:pPr>
              <a:buNone/>
            </a:pPr>
            <a:r>
              <a:rPr lang="pt-BR" sz="2400" dirty="0" smtClean="0">
                <a:solidFill>
                  <a:srgbClr val="002060"/>
                </a:solidFill>
              </a:rPr>
              <a:t>TIPOS</a:t>
            </a:r>
          </a:p>
          <a:p>
            <a:pPr>
              <a:buNone/>
            </a:pPr>
            <a:r>
              <a:rPr lang="pt-BR" sz="2400" dirty="0" smtClean="0">
                <a:solidFill>
                  <a:srgbClr val="002060"/>
                </a:solidFill>
              </a:rPr>
              <a:t>Ponto bomba/ Em Série/ </a:t>
            </a:r>
          </a:p>
          <a:p>
            <a:pPr>
              <a:buNone/>
            </a:pPr>
            <a:r>
              <a:rPr lang="pt-BR" sz="2400" dirty="0" smtClean="0">
                <a:solidFill>
                  <a:srgbClr val="002060"/>
                </a:solidFill>
              </a:rPr>
              <a:t>Semi equalizada/ Equalizada/ Tripla equalizada</a:t>
            </a:r>
          </a:p>
          <a:p>
            <a:pPr>
              <a:buFontTx/>
              <a:buChar char="-"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buFontTx/>
              <a:buChar char="-"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 descr="http://www.spinelli.blog.br/desenhos/em_serie_cuidados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13383"/>
            <a:ext cx="2777144" cy="2736304"/>
          </a:xfrm>
          <a:prstGeom prst="rect">
            <a:avLst/>
          </a:prstGeom>
          <a:noFill/>
        </p:spPr>
      </p:pic>
      <p:pic>
        <p:nvPicPr>
          <p:cNvPr id="7" name="Picture 8" descr="http://www.westcamping.com.br/portal/images/stories/img-artigos/nos_amarracoes/ancoragens2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l="55177"/>
          <a:stretch>
            <a:fillRect/>
          </a:stretch>
        </p:blipFill>
        <p:spPr bwMode="auto">
          <a:xfrm>
            <a:off x="2051720" y="3961655"/>
            <a:ext cx="2630237" cy="1689999"/>
          </a:xfrm>
          <a:prstGeom prst="rect">
            <a:avLst/>
          </a:prstGeom>
          <a:noFill/>
        </p:spPr>
      </p:pic>
      <p:sp>
        <p:nvSpPr>
          <p:cNvPr id="8" name="Espaço Reservado para Conteúdo 2"/>
          <p:cNvSpPr txBox="1">
            <a:spLocks/>
          </p:cNvSpPr>
          <p:nvPr/>
        </p:nvSpPr>
        <p:spPr>
          <a:xfrm>
            <a:off x="457200" y="908720"/>
            <a:ext cx="8686800" cy="384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PONTOS DE ANCORAGEM – Cuidados especiais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BR" sz="6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97263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 sz="2800" dirty="0" smtClean="0">
                <a:solidFill>
                  <a:srgbClr val="002060"/>
                </a:solidFill>
              </a:rPr>
              <a:t> AR feita por pessoa habilitada</a:t>
            </a:r>
          </a:p>
          <a:p>
            <a:pPr marL="3497263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 sz="2800" dirty="0" smtClean="0">
                <a:solidFill>
                  <a:srgbClr val="002060"/>
                </a:solidFill>
              </a:rPr>
              <a:t> Inspeção dos equipamentos</a:t>
            </a:r>
          </a:p>
          <a:p>
            <a:pPr marL="3497263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 sz="2800" dirty="0" smtClean="0">
                <a:solidFill>
                  <a:srgbClr val="002060"/>
                </a:solidFill>
              </a:rPr>
              <a:t> Escolha do ponto de ancoragem</a:t>
            </a:r>
          </a:p>
          <a:p>
            <a:pPr marL="3497263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 sz="2800" dirty="0" smtClean="0">
                <a:solidFill>
                  <a:srgbClr val="002060"/>
                </a:solidFill>
              </a:rPr>
              <a:t> Escolha do nó</a:t>
            </a:r>
          </a:p>
          <a:p>
            <a:pPr marL="3497263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 sz="2800" dirty="0" smtClean="0">
                <a:solidFill>
                  <a:srgbClr val="002060"/>
                </a:solidFill>
              </a:rPr>
              <a:t> Cuidados com a superfície</a:t>
            </a:r>
          </a:p>
          <a:p>
            <a:pPr marL="4395788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 sz="2800" dirty="0" smtClean="0">
                <a:solidFill>
                  <a:srgbClr val="002060"/>
                </a:solidFill>
              </a:rPr>
              <a:t> Cuidados com a corda</a:t>
            </a:r>
          </a:p>
          <a:p>
            <a:pPr marL="4395788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 sz="2800" dirty="0" smtClean="0">
                <a:solidFill>
                  <a:srgbClr val="002060"/>
                </a:solidFill>
              </a:rPr>
              <a:t> Plano de resgate</a:t>
            </a:r>
            <a:endParaRPr kumimoji="0" lang="pt-BR" sz="28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NÓS MAIS UTILIZADOS</a:t>
            </a: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Oito simples: início e final da corda</a:t>
            </a:r>
          </a:p>
          <a:p>
            <a:pPr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Oito guiado: ancoragens e segurança</a:t>
            </a:r>
          </a:p>
          <a:p>
            <a:pPr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 indent="1722438"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Nove: ancoragens</a:t>
            </a:r>
          </a:p>
          <a:p>
            <a:pPr>
              <a:buNone/>
            </a:pPr>
            <a:endParaRPr lang="pt-BR" sz="2800" dirty="0">
              <a:solidFill>
                <a:srgbClr val="002060"/>
              </a:solidFill>
            </a:endParaRPr>
          </a:p>
        </p:txBody>
      </p:sp>
      <p:sp>
        <p:nvSpPr>
          <p:cNvPr id="53250" name="AutoShape 2" descr="data:image/jpeg;base64,/9j/4AAQSkZJRgABAQAAAQABAAD/2wCEAAkGBhQQERUUEBQWFRUVGBgWFhgYGBsXHxsdHBcXHBocGh0ZHikeGx8vGxkfIC8gIycqLiwsHiAxNjArNSYrLCkBCQoKBQUFDQUFDSkYEhgpKSkpKSkpKSkpKSkpKSkpKSkpKSkpKSkpKSkpKSkpKSkpKSkpKSkpKSkpKSkpKSkpKf/AABEIALUBFwMBIgACEQEDEQH/xAAcAAEAAgIDAQAAAAAAAAAAAAAABQYEBwIDCAH/xABJEAACAQMCAgcEBgcFBgYDAAABAgMABBEFEiExBhMiQVFhcQcUMoEjQlJikaEIFXKCkrHBJDNDU6IlNIOz0fBEY5OjsuIWVFX/xAAUAQEAAAAAAAAAAAAAAAAAAAAA/8QAFBEBAAAAAAAAAAAAAAAAAAAAAP/aAAwDAQACEQMRAD8A3jUHcdLoUjnkYNi3l6qQY4g5QZ9MOG9KnK11rttn9dxDm8STL+9alOH70NBsWlY2m3XWwxyDk6K/8Sg/1rJoFKUoFKUoFKUoFKUoFKUoITppeSQWUs0Jw0O2X1VHVpF+aBhXRZas/wCsXiZsxy2yTReAKSMkmPUPGamtQsxNFJG3KRGQ+jKQf51QdHuzs0idviBa0lPm0ToQf+NCtBsalKUClKUClKUClKUClKUGDeaukUsUT8DNvCHxKLuI9duT8jXHS9ZWd50AKtBJ1bA9+UV1YeRVx+dRXT9dtqLgc7SWO4/dVsS/+0z10W7iHVVI+C7tyvrJA2R+MUh+S0FspSlApSlApSlApSlAqlalHm/vl+3Ywn87tautVG7XOp3HnZQ/825oJbodJu0+0Pjbw/8ALWpita3fTpdK0CzmGGleGBIkPedi7j6BQT64HfWw7K8WaNJIzlZFV1PiGAI/I0HfSlKBSlKBSlKBSlKBSlKBWstQUxWl+O+yvTcr5DrIrvh8nf8AE1s2qXdWQa+voDyuraJ/niWBvyCflQXNWyARyPEV9qE6E3vXadaueZhj3eoUBvzBrE6Y9JXteqjhMavIx3PIrOsaAHLbEIZiWwoAPeT3cQs1KhOinSH3yNywUSROY5NhJRjtVgyE8dpVgcHiDkHlU3QKUpQKUpQKUqF1npbDavsYSOwAaTq0L9WrHAaT7IJzgcScHAOKCTv7NZonifisisjejAg/ka16l4RYWdw/95ZTxpL+47Ws+f3WLfhWwrO8SZA8TBlPIiqY2mB5dUsj8MwEyek8RRj/AOrGx+dBeqVE9E9TNzZW8zfE8SFv2toDf6galqBSlKBSlKBSlKBVVkXOry+dnB/z56tVVWfhrH7VkP8ARc//AHoIXTLRJdG00Oivk2iHKK/Z61Cw4kYHZ4nu8DWwLe2WNQkahVUYVVGAB4ADgB5VQdI4aVZgj+6u0Q8AcbLxk7yMchx5jurYVApSlApSlApSlApSlApSlAqrawNmq2rf5tvcRn9x4ZB/WrTVY6YLtn0+T7N0UPpJbzL/ADx+VB96AHbbyw/5FzcxfLrWdf8ATIKrOqbLmG6vpixHWNHbBPrKjdVGADwJeXJHkwrLl1RrVNX6v+86yJov254Io0/9wVkjTFFxp9inGO3Q3DjxEKiOLPrK+/1Sgs/R/ShbW6RgDIGXx3seLH8eHoBUjSlApSlApSlAqodKehbTNLNbyENIEMkRxtcxghGB5q20kY5HhyPGrfSg17ods8cCzWLFpoyVuLdjgSMMb42B/u5R9VvxyGyMz9axzX1pcwnKXVvPCc8CGidJArDuYfSAjuINZvSiyNs/v8CklQBdRr/ixDPaA75EHaB713L3jFZ11Pd76yniINtc3KMSOSyPC8W4fdkjYZ80z9agtHQLsxXEP+Rd3CD0Z+tX/TKKs9Vfo32L+/j7m92n/jjaM/nBVooFKUoFKUoFKUoFUnpfqq22o2bbWkdormPq4xvc5MTIQo+ruQjccAd5qb6Ta08ISK3ANxOSsQPJQBl5X+6o447yVXvyKdq+pfqyKY2kZuroKsl1O/1ckANMw49+ViXko7gMkOVrpl+8E0CwQwpJcPOjSydY6bpRKv0casuQ2frVY312+h4yWkcyDiTBLhgO/CTBQf46p3uNwt2ItQeW8kniMkEUcr28YdG+kU9WVULtYHc2fhIGSQKyNL6ANJ10M11MLiBwyKZHlhZGLmJmic9sc0YE57HMZ4hcLPp7YyLn3iNDnaySHq3UgEkMjYYHAJ5YwOFSVhrtvcf3E8Up4cEdWPEZHAHPI59KpMFh1inqIY7XULLC7EACMCMqvAduCRRgZGVI7ivGy29pbanbRzGIDrE3Kw7EkZIwwDrhlYHKkg9xoJ+lRHR67c9bDMSzwSbN5AG9WUPGeBPHawUk4yVJxxqXoFKUoFKUoFKUoFU72gakuIYoQ01yk8E6wxjc21JBuZu6NduRucgE8KlulWsPBGqQYNxO3VQg8QCQSzsPsqoLHxwB31WbaFkeS2sWwVO69vZAHbeQDgZ4PLtOePYjUqMfVoI7VtKupJTcTyWtjGzWzkSP1xzbtKy5PYj4mQZGT8ArhHqECzGYa4olZFjLBbbZtDMwAypAGWP1vnWJ+v7JZkWytX1C4kJVbiY7lYgEnEsgPID/AA1C+FWDo/qOo3aSMIbOPq5XiaJzLkFcH4lBHIj6tBnWes3qKJEe31CHvMOIpPHKne0TnH1cpnxqy6RrEd3H1kJJGSrAgqyMODI6nirA8wao66eHnZVhFhqCr1ishDRTKDg524EyZIDBlDrkEY4Gu2w1PEtteopjE8nul7H4SAtGjHxZZl6vd3q48BQbApSlApSlApSlBFdJtbFnbmTZ1jFkjjTON7uwVFyeQyeJ7hmtdXfRLUzCkK+6iKKYTRIJJMqFl6xU3GPBA+EHw4d1bJ6QaIl5A0LllyVZXXgyOrBkZfMMAfPlVK0WPUpjN/bYdsU0kCk2oJfq8As2JBjtZGM92e/FB2WvSBre/ee9tpbaJ4EiZ8CaMMkjsCXhztXEh4uFq+210kqK8bK6MMqykMCPEEcCPSqc1/qFvxlgiuk72tyY3H/ClOG+T/Ko/ROkFvHeRe5kotzI0VxbFTGY5NjusvVsAUJ2FWxwYEHmOIbGpSlApSlApSlBTGuh7/fzvx91hiiUeA6triT8dy/wiu/QNMjGkn3k/wC8wvPdOe8zJukJ9FO0eAUDurrktwuo3UL/AA3cEcg89gaGUfJTH+NYkN636gmU5Eltby28oB2kNChQnJBxlQHBweDA0Fe0IObJL9sveWsimXgN3VxLteIY5gwSGQc9xYHwq/aypIivLXMhjXO1Mt1sL7WZVAYAtwVlJzyx31G6ggtLyOZcdRehIZPBZlXEL+jp9GfMR+NdOm61HpQkt7k7YUDS2rc90eeMAHMujMFVRxKlMcjQd9xdpLqVvJAwYPZyl2Uggp1sXVHI+8Xx+9WT0CbFtKc4QXV5t8NvvMv5ZzVUAuNPV7hYkM1621LcE7o3YsYUTHAoqlnkUD4i5HCpqyKNZ21jZyM3WJiWQbkZUGDM7ZUlJGZ+Ctg9s+FBMdEfpFnueGLmYyJjbxjVVjjOV+IFU3gnjhgO6p+uMUQVQqjAAAAHcByFcqBSlKBSlKBSlKCnarcD9ZSSNxWzst4HnK8hY/w24H41DadY9ZDp9rJxF3vu7v8A8wbRK6t4qZJUUjvUEcql9Rtd2o3cR/8AE2MYU/svcI3/ADgajtDu8nR5jwDRyWzeTmBeH8duR6mgwYYRbWqEDH6v1Fw/diN5GXPkOpuFbwwPKrT0fk6m/u4GP98I7qPz7KxS49HRT++Kxdeslgu2Moza6gogmB5LMF2x5PcHQ7M/aVPGo1beUMtuX/tln9LZyvw6+L4Srn0PVSeex/Cgnul4AuNPYfH7yyjx2NbzdYPTsr+Aqq6kMWmp7eGL5CmPt77M8PPeakE6SJdTNeurRw2EMisrjDCdwDMh81RVXI5mTh59Vnp7lLG2kH0txOb65H2QrdcwPkJWijoNjClKUClKUClKUCqf0m6CvKZJbK6mtJHO+RUwUdgoG4qfhbAAJB494Jq4UoNO2etanbW1jMsyXnve1erlUKwLRs4AkTBPwkcQam7rUUvbV7yNOpvLEOwLgbo3RCzRsfrRsmQRyIYEccVggbNOsj/+rfonoFupYf5MKkB0QhuNXuOuL7DDbymINhJDulQ9YMZYdheGcHvzQX6xuutiSTBXeqtg8xuAOD+Nd9KUClKUClKUFf6Y6c7RpcQKWntW6xFHN1IxLF+8mcfeCeFQvv0cUgu1IayvlRLg8gjEbY5T4Aj6J88sITyNXqqXqlqunyOXANhcsetBGVgkfgzEHh1Lk9r7LHPJjgM2wt0kglsLzj1Sbckntxf4cgZgMsABuI+Fx6VVdD1qHVIhbXLsJ433W0xGxpdhPVXMOeBbGCV48zwwa77vTH66HT37cZDPFNu+kS2GBNBIeZByiBvrKePaTJzJ9GtdRv8AqZQhS0jz1YO0l2AAI2kMBGh5jGGcd6ig67S/azuJLjV+ccey3mRT1O3GXPM9XM5AyGwMBQrHjUrYdGZGzdh+pvJu22AGQLgbIZVVtsoVeG/Oc5IPdWDbT3MZlEKtfWkbdWSxUzHA7YjOdtwq52ndtbIYZYivmlSGFOv0pjLbgkSWbEgqQe0Id/ahkB/wW7J5DbwNBZ9K1vrHaKZDDOoyUJyrA5w0b4AkGBxxxXIBxUrUFOsWo26TWz4cduCUABkccCDuBK8QUdSOWQazdC1Q3EIdl2uCUkXj2ZEJVwNwBI3A4OOIwe+gkKUpQKUpQKUpQVfpcOpns7rkEkNvIfBJ8KCfISrH+NV6WycJe2sX97bTLe2g8Q7dcqjy60Sx+jVfNa0pbq3lgkztlUqSOYzyYeYOCPMCqKbuXYtyVJu7AtBeIo4yR8C5UczlQs6ePFe80FzQw6lZgkb4biMHHI4YeXJgfmCPKqlNayOfdJpNt7bfTWk5/wAVR2Qx8Tg9XKnnuHMY77TXYtNZnZs2N1meF1ywSQjc8YA7pPjQfa3LzIqv9J9PnkMVz2hqcsgNrEG4QRrxKsORAU/SE/Ez7eWKDL1CAXCreRo46uRP1haDGWMJzxGO0yHDj/MQKOPZqzdDI/eDJft/4jC24P1bdSdh8i7EyH1UHlVcs9bMmb6FCs0OIdRt14khfrL9plBLKfrISvMDEzo14tlMiowayvG3QMDlYpX7Wwf+XJxZfBsr9YUFzpSlApSlApSlApSsLWtVW0t5J5MlY1LEDmfBR5k4A8zQa71Yqun6qjsq9VdXDpuIA3ZjuI8Z5nc3Ad9S2ja/BcasjQTRyCSyYEI6sQUnVgDg5ziQ/gai7O1HXu5tku9QciS4JIWC2YoAsYZgQpCgDChnbGScEVm6pptzKv8AaLK1mA4jqJWjmTzid0XtDuwy0GwqVUPZ10rN5HJFKxaa3IVmYbWZTu2M6/VfKsjL9pSeRFW+gUpSgUpSgVwmiDqVcBlYEMCMggjBBB5jHdXOlBrGwlj0+HUbsFmSF3t4A7btqQnasYJ47evdgM9wXPIVie6TWlvb2d4ydZOwaG8RzG0TySBpd7gZ3ZbKE9lyQrcuOReIo024EgBWHUHMwIyNgv1dtw8OrYMc91dmn2a24MlzFusbodTG0h3mCLe3VRSdogwtu3K4PZ3KG4YICzWN82nRrDdIBCgwlxGvYwNozMoH0blmJ4ArzORXHpDp23N/YgNKq5lVCMXMY5qccDIBko3MHs8mNcdI1B7KVLW4YvFIcWszHJzjPUSnvfAyjH4wMHtDjnydFI1bdau9q2QT1RGxuLHBiYGPiWJJABPjQQ1jfLBdQzwnNrqOA2OQmKbopB4b0BRvvKnfmpexXqdQnQA7biNJxwOA6ERPxzjJXq+AA5d9a5mS7g065T6CVLO5bY/aicdVMsoIXtKe0QoUEYGRk4q332qXAvLV3spAwSdMK8L7g0aOQrFwVAaMDiBk4oLrSqNqnSi6kacQD3VbVI3k61FlZ2kGVUBX2qoAOWyTnkOHH7pHS+8mVmSCKUIQGHWGJjkfVLAqT5HHPnQXilQ+jdKYrlzFh4p1GWhlXY4HiPquv3kLDzqYoFKUoFVjpPYtBIL6BSzIuy4jUZMkIOcqO+RCSy+I3L3irPUN0u1Vre2YxY66Rlhhz/mSMFU+YGdx8lNBR9NihZpp+tzplq/XxL9UzY3OU+1GjHKL/mM2PhFZkckyfS7f9oX3YhjbiLeIcRu8FQHe/wBqQhfCucenRrJFaLgWunxrPMTyaTtGMP3cMNM3mUqB0KSXULqa7BaG6ULJYK+VVrcEgAj6yOTh+9SwPctBar/owNOjjubQM7wA+8jm1xGSWkZvtShiZFP7Sjg3DBFpEp92J3WN8pe3ZT/dyn6TZGe4EfSx+DKwHdVz0DWlvIFlUFTxV0b4o3U4dG8wwI8+B5GqdcaOQbrT1O3aBeWLfY7e4KPJJxjH2HAoLL0S1V5Y2iuCDcW7dVKeW7gCkgHcHQhvI7h3VO1RNK1bdc2V2o2rfQmCUeEiK0kfzBEyfh5Ve6BSlKBSlKBVa9pEDNplyUOGjQTrwzxhZZQCPAlMfOrLUT0r1IW9nNIUEnZ2qh5OzkIiHyLMAfI0FBuulaafDbWdmUlu58Esx7IeTi8spHEszZIXvx3ADOJPd6ravcF7oTyQKJxCY0VJoeHWbCq7gynI589v2q53fQdTCmm22BIirPc3B4sGPBADz3Eqdv2ETxxWbo+qHUUaIui6lYOQH5qxHZJIHONx2XXuPmFoJHSXi/WdvdwYKahbOrYxgvHskRj4nZuU/sVfq1R0BsIYtRyd8at1vu8DHhBPw96hPiduHTuKM5FbXoFKUoFKUoFKUoNddK7No7iW2weq1QoAynGxwAlwMkEAmFVYeO16nejN8HjaxvApliXYQwGJ4fhWRQeDArwcdzZHIjPH2g6cs0dv1jMiJcxkujMrIWV40cbQeIkdTx4eNROpzKoWLWEKNGcxXke5UJ5bxInG2fHNWIU9xYcKDvbTRC36vusyW8wPushJ3Db2upLc+sTG9HzkgeKZPfZ9MvdYnhvCXuoSqIo+K6DZ6l0HeWxhscFZXzgCoTX9Pee1YR6srqu2SMv7sxDIdyESqAQcjnz510jXTd2UOqW6K9zZ7xKgI7S42zpkZ4YxKpHgPGgz7nS2Ftb2TkNPdz9bcFeWOt6+4YfdHCMHxK1ZdTXfqFoo5xLPM3BTgFVjHEnK5LnGBx2msfSbdLWN766lWSWRFLSICVWP4ligXixXJz9pycnuAztAsny9xOMSzY7PPq4x8EYJUH7xB+szUHzWeiUF04kk3q+0IWjdk3KDkK4Bw6gkkBgcZPjUf/8AiMtsCbCYLniY5l3q2By3Lh09Rn0NWqlBSm6vUA0NwjQXUBDYDfSRE/DLC4+JD9ocDxVgOIqY6L6xJKrw3OBc25CyYGA4IykqDuVh3dzBh3VidOIOqSO9Tg9qwL4+tAzATKfEBfpB95BXTqLdRf2c68pS9pJ5h1MkR+TxkD9s0FupSlAqr9IvpNQsYz8Ki4uMfeVUjU/LrmNWiqt0s+gubS7OOrQyQSn7KzbNjk9wEiKp/bz3UFWK+8WTA5/2lfmJyOfVmYxkD/gQY+ZrNayl2mAcbzTyJLZzw66E5Cg47mQGF+7eobwrgbRYv7FM/UMs7T2E5AwSXZwnHsl1LMpQ43IeHfj7rOq3UN3ZSXNugbrfdmmhkyjpMMYKOA64kCOB2hwPHjQZ2lasqXMFzD/u+pYVweGycISjEdzMqmJvvInzkNcOdTs9nxCG6L47kJhAz5dZtx51XriwZodRtouEkEwu7byLBbhMf8ZXHzrjpuo9cp9ylNxeXKIZrkjsW6lcqDjsrtDHbCpLFjlu9qDjaf7rbbf/AOseq/Z99lzjy2bxWzhVI0fTUkuoYYRm200cSeO6cqVVc97KjM7H7Tjvzi70ClKUClKUCqz0+/uIfAXdpu9PeE/rirNUd0h0cXltLASV6xcBhzVhxRh5hgD8qCjfrNorDUbtDiSWeYRse7a620OPQrn1qB0foR7ldXfurt11vHDPCWPB9yMJEfHNW6sg+BIPMVi3GrSW+nmwvk6q4S4RsNyljN0shdDntDJI4csccVbNQ1VbbXoY2I23Vr1Yz9tJZGT8RuX94UEL7QLsC2g1O17Il6lmB4dpQZIH4cnGGiPir47hW3kbIB8RWq9M6OPe406UbLfT598hyC0q5Z7ZFHMLsbtMeeMDvI2tQKUpQKUpQKUpQdN3aLLG0cg3I6lWHiCMEcONQaT3Fn2JUa5g5LIgzIgJICyIeLqFx9ICSe9e+rFSgqdu2kTHeFst/AnekSOCQWG5XAZTgE8RngajH1a2i1FTayRvFdBYphHhkWVVzCxK9kboyU58cJV4uLGOTBkRGxy3KGxz8R51EdMIIPcZEnlS3QrhHJCBHB3RsPMMAQB4UEN0W0pUuXt5mZxabZLSNsbVikL7XAxkurb4s54KFxxJq71pSb2w2e+zud7e8R/R3CKjYMcgxKA3AHDqsi+mO+ti9F/aPY6k2y1mBkxnq2BRsd+A3xfLNBZqUpQQ3TMD9XXmeXu0+f8A0nqA1kn3Wxz8XvFh+O+Pd+Wa4dLukyzp7i6S28txKsJ60BVMW7MjrICY2zGpUKG3ZYDFZmqL119ZW6jhGzXcg8FjUpF+MknD9g+FBb6UpQK6bu0SVGjlUOjgqykZBBGCCPSu6lBSrzRbi3QwmEahaHgEcr1yDuU9Z2JgO5iVfx3HjVJ6UxQRpE0KahAY54X6qRbjqwBKmSN+6Ncd2GxyxW66rftGH+zLonhtj3fwsrf0oIK41PqNcCEfR3NtGu7wkSS4KA+q7h6gV0dF9MuWE1jGyW0NtM6s6cZnSRjJHsGNseY3A6w7jkHAHMVrp309sTOzRXAdxbHqzGC4WeOeOWHJAxgkMMgnAzV1XV44rq1vAwWC9iELsTgBiOttyTy5GRPVloLfpumx20SxQqERRwA/Ekk8SSeJJ4kkk1k0pQKUpQKUpQKUpQVX2jWySW0SMqsz3NsiEgEgmdCdpPI7VPLuzUVq+im+vriNTtZLKExv3pL7zJJE3yaME+IqR6d36RTWHXOscazvK7McAdXby4yT95hVCX222Vre3cirLOJBAkZQBRiNGzneQR23bu7qC1/rfCw6mq7dq9TfR94QMRJn70UoZh90v4ir+rZGRWpPZ/08h1K+u4o4mSKZBMyOQe3wjlxjhhlKE+YPjV56ATMbFEc5MDy22fEQyvGpPntUGgsdKUoFKUoFKUoFKUoI3pFr0djbS3Ex7ES7jjmTyCjzJIA9a8l9LumNxqlwZbhiePYjBO1B3Ko/meZra/6R/SQgW9kp5/TyenFYx+O4/IVWfYN0RW8vmnlUNHagMAeIMjE7M+mC3qBQQel+yq9llhjlTqPeELxmTvC43ZA4ggEHacHBzXZ0i9nN/pMqyoHdUIZJ4QTtI8ccUOfHga9N67oSXaKrMyOjB4pEOHjcAgMpORyJBBBBBIIqEM9/b8JbdbpRykt2WNiPvRSkAH9lyPIUET0H9rltc2ateypFcJ2JEPNiPrqoGSDzwBwORWfq+ttqEZhtbaRkbH083WWyLgghkxtmcgjI2hR94VBa17YbWykaO4t7qOZcEoY0B4jIOQ+CPME1N6VqV5qMSy2wgt4ZBkSM/vL48kTEanuwznB5juoMK/uJ7KKOG8KanDKVj6t0UTs3DOxeKTAc+O0qOJY8656JpyLJJNo84D4VJrS63naFztTt/TQY3Nj4k48BVm0PozDbs0m5pp27LzSkM/7IwAEX7igD+dS4hXduwN2MbsccZzjPPGTyoPsRJA3AA4GQDkA94BwM+uK5UpQKUpQcZHCgliAAMknuA5k15Y9qXtIk1W4ZUYi1jYiJBkbsf4jDvJ7vAfPO6fbf0kNnpbqhw9wRCvoQS5/hBH71ef8A2fdGP1lqENufgY7pCO5FGW/HG31IoOro50Mub7tQxu0akb2Vd5Az3KOLHyFbj6W6RJH0ZSCZT1yLCqqOJ3CQbRgZ7WzgQM9/Or5d9EDE5l05kgdgoeNk3QybQApZVIKMFGN6nlzBrjaaDczTxSXzQhICXjih3sGkwVDuzgHsqThQOZyTwFBSvYX7RmukNldPumjGYmY8XQc1Piy/mv7JNbdrzV7R9Fk0HWEurUYjduvi4cAc/SR+nHl9lh4Vvjoh0wg1O3Wa3bw3oT2o271YfyPI86CdpXzcM4zx54r7QKUpQK+O4AJJwBxJNfao3tm6QGz0qbacPNiBf387/wDQGoNF+1P2gPqt0wVv7NExWFfHuMh8ScfIYHjno6H+zK61Jd8W1I+Pbc4Bx5DJ5jGcVG9B+j36wv4Lf6sj9vyRQWf/AEg/PFeo7joJb7t9uZLRyAGa2fq9wAwNy4KNw7yufOgpHQfoJHoYlurlxuZRGqqS+ASDtU7VLyMwAChfADOah/ZP7SXGo3FndgotxPK8YYYMcrOSYz68sfaHnW1dM6HQwyCV2luJlztkncyFc89g4Inqqg1pv289EWtLqPUbbKiVhvK/UlXireWQPxU+NB6BpVD9nXtVt9ShVZZEiulAEiMQu4/ajz8QPPHMfgTbo9cgaUQrNGZSpYIHUtgYycA5xxoM6lKUClK6bx3EbGJVZwCVVm2gnuBYA49cGg7q+E4rRGvfpAX1vK8LWUUMiHDLIXcj+ErnhxBHA1Sukftg1G+jaOSVY43yGSJdmQe4ni2PLPGgw/af0jF/qc8qHMYbq4z3FUG0EeRILfOt2/o/6P1Ol9aRxuJXf91ewv5qT86856VpclzKsUS5Zj8gO8nwAre2l2fURJDGSQihR545nA8+NBtmbUok+ORFz4sB/WsCXpbbL9cn0Vj/AEqjwaRM+NkTkHkdpA/HlWZF0UuW/wAPHqyj+tBVfbJYJqaJNbRsJoQQScAumc7eBOcHJHqR31pW01SaEERSyRg8wjsufXBr1HF0FkPxSIPDALf9KjtU9h9ncndKWDnm0YCEn8wfmDQaZ9m3tMl0qftlpLeVszJnJz9tM/XH+ocD3EeotM1OO5iSaBw8bjcrDvH9D4g8q15Y/o96bG4ZzcSgfVeRQp9diKfzrYthp8dvGsUCLHGgwqqMAD0FBkUpSgUrT3Tn2y32mXBgksYl70cyM6uvcy4C/McxVC1b286nOpVXigB/ykwfkXLEeooJT9IfpGs97FbIwItkJfH23wSPkqr+JrP/AEbdHzNdXJHwIsS+rnc35IPxrTnblf6zu582LEn8Sc1ujoXohs7ZUPCRzvcA955D5DA9c0G67jVoY/jlQEDONwz+HM1Hz9MLdeTFv2VP9cCqPDp8j/BG58cKT/IVnw9FLhuabfUj+hoMX2i3MWq2jQCMhgQ8TsQNrjyGeBGVPHv8q87b5rSVgGeGRTtO1ipHzU16ih6CyH4nUemTj/v1rr1H2RWd0P7Vudu5lwhHzwSfQ0HnTo303urG7W6jkZn5OHYsJF71bJyR/I4Ir1N0N6YwapbCe3PlIh+JGxxVv6HvFUtP0dtODZMl0Rn4TImPThHn86v3R7oxbafF1VpEsa8zjiWOObMeLH1oJSlK0/7Vem+r6XLmMQ+6ucRyrESQfsybmIDfIA93eAG4K89fpC9K1nuIrSJgwt9zSYOR1jYG31Cjj4FiO6qfqftY1S4BD3cgB5iPbF+aAH86q0MLyvhQXZjyHEk0G1/0dNLDXk9w5UCGMIuTjtSE8R+6hHzFb1m6R26c5VP7Pa/+Oa090H6IvbW4TYzyP232qW8gBgcgO/xzVsh6NXD4xERnvYhfyJyPwoLNN03gHwh29AB/8iKr3SfX1vraS3khGyVdpJbJB5hlwBxBAI8xWRD0JnPxFF+ZJ/IY/Os2PoF9qb0wv/U0HlrXNEktJTHKP2W7mHcR/wB8KxtP1CS3lSWFykiEMrLwIIr1tJ7PrSRds6mVT3ORj1GAKi19iekg591z5GSTH4bqDs9l/tFXV7ftDZcRYEqgHB8HU+B8OYPyJVadL0iG1jEdtEkSD6qKFHqccz5mlBmUpSgpHtJ9mkGqxh2PVTpwWULuO3PFWGRuHhx4H5g0/S/0b4Mhp7uR171RFjz8yW/lSlBsnQ+gtlZJtt7eNRjBJG8n1LZJqajgVQAqgY5YAH8qUoOylKUClKUClKUClKUEH0v6HwapbmG4XzRx8SN3Mp/mORFap039HGNuMl65HgsIU/iXP8qUoNjdGvZfYWAHVQBnHOSTtseGO/gPQACrNDZonBEVe/goH8q+0oO2lKUClKUClKUCsbUtNjuYnhnQSRuMMrciP++/ur5Sg1xD+jxpynLPcsM5xvUD04Jn86uvR3oVZ6euLSBEyMFuLMfVmyTSlBNgV9pSgUpSgUpSgUpSg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100" name="AutoShape 4" descr="data:image/jpeg;base64,/9j/4AAQSkZJRgABAQAAAQABAAD/2wCEAAkGBhEQERUSERMVFBIVFRYYFxgUGBcZGBkVFBYYGBoZFBgYICggFxojHBsWIS8gIykqLC4tGiExNTIqNScrLCsBCQoKBQUFDQUFDSkYEhgpKSkpKSkpKSkpKSkpKSkpKSkpKSkpKSkpKSkpKSkpKSkpKSkpKSkpKSkpKSkpKSkpKf/AABEIAKQBNAMBIgACEQEDEQH/xAAbAAEAAgMBAQAAAAAAAAAAAAAABQYCAwQBB//EAEYQAAIBAwIEBAMEBggEBQUAAAECAwAEERIhBRMxQQYiUWEUMoEjM0JxFRYkUnKRB0NUYmOTodE0U3OCg6Kj0/FFkpSx1P/EABQBAQAAAAAAAAAAAAAAAAAAAAD/xAAUEQEAAAAAAAAAAAAAAAAAAAAA/9oADAMBAAIRAxEAPwD7jSlKBSlKBSlKBSlKD57feK7xbmULq+HkuBFCUjBKCzMbXQYlfNzEFzp67w4G5rt4N47Z7W6vZE1RRxJKoibWBqi1GEHQv2inGvdgC/UYIFtvuIRQIZJpEjQbFpGCrk9Bk7Z9qi5PGlkpw0uDvpBSXLkdovL9q3cBMkjcUFdtf6SLiTZLNS3MjQHnMEfmy8pTE3KJZQRKSxAGIWIyCKk7rx2I7W2nKIpuSwUyS6IQqo8mtptBIVkTK+TJ1AYG+O0eK8nazvSNsMYcZGM5AZgw/IgH2rr4VxqC6yqZV0wWilRo5E/dJjcAgHGzYwcbGgpNp/SpI8xzCI4jpAWd+WyySMkYEh0YhjWRLoMW1MSowB5Q164FxM3NvHMUKFxnScnoSMqSBqU4yGwMgg9662t0PVVP5gdCc/8A73rZQKUpQKUpQKUpQKUpQKUpQKUpQUq//pHEVxPAYlXlywxRM8gAlLNCJzgAlREsyOeuRk7YOJLhvjaCRJ5ZMwxQpHLmQENyJULJKQM4DaXwvzeXcAnFSh4DbFlYwoWSSSRSRkiSUEO2fVgSD9PQVhbeG7WOF7dIUEMgIdcbMCoXzZ3OFAA9AABjAoIKD+k+0k+7SaQhlV+WiuEZ5FjQMysVYszqBoLd84wcSf63QciKbTIec7JGirqdpEEhZfKSowI3OotpwM5rpj8NWq4xCgKmMg75zE7yISfxEO7vk5yzEnJrIeHrYLEoiULCrLFjI0B1KNpI3GVJGetBFL/SLY6Vk1uImC6ZDG+hmaNZdAIGdYjYMRjpnqVYDcvjuxMscQly8jaUwrEHLtGpyBjSzKwVuhxkHBBPqeA+HgSAW66ZUMbLl9OllCNoXViMsoGWUAnqSTXTD4UtEnW4WELKiIikFgoWNWRMJnRlVZgDjIBIzQS1KUoFKUoFKUoFKUoFKUoFKUoFKUoFcHE+IFCsceDPJq0A5wAuNTvj8C5XPTJKr1YV2yOFBJ2AGT+QqK8Pwlw11IpEk+kgHqkIzyoz6EAlmH7zt2xQb7HgyRkSOTLPjeV8Ft+oQdI1/urj3yd6hHvdT/FYEkryvbWanOlcag7N6ZMUrMw30KqjfY2o1S7ZuVZ2Dtj9luFik9ARzbN2yOgDtnJ7DfHYJxuAytgte3AbG/LEKLn2XlnA/Mk+5rgubSYyrFLIBMutrS4UYJOPNFPGMK+2CVGA4BICMgItFQ/iq11W5kClpLci4jC/MXhy2kfxrqjPs5oOjgfFPiIQ7LolBKSx5zy5V2dM9wDuD3UqRsRUhUFFKFvEePeO7hLNt+OHRof82jcg53+zT0NTtApSlApSlApSlApSlBw8Z4NFdwtDOupGx0JUgqQVZWXdWBAIIqqeFP6O5+GLL8Pes7yuWb4iPmIQMhMgMrBgDuQ2DgbDGKvNKCCPHpYP+Mh0IB99Dqki/wDEGNcXrkgqP369XxjbOwW3L3RJAJtlMka5/flH2a/lqzv0r3jcBuJo7YkiAo8k2lipYKVVIiVIIVyzMcdREVOzGqvxK7ltnduHcqCJXMQgEes3UyFeb8LCmOWyDUur5WZTrCqushaP1jlGC9jdqvc4t3wPUpFMzn8lUmpHh/E4rhdcThgDpPUFWABKupwyMMjKsARnpVOsr3itwgltGGnURi/WNAQrFXXRbBnRgRjzkEb5XIrZxS0a5YKxaw4npBSSFzyp9AY6A+AJlA1eR01oDqAxuQu9KqPCPElyqEzRmZIzpl0KBcwMBkieBciXbBDwnzAgqhBBq0Wl2kqCSN1dGGQykEEexFBupWi7vooV1SyJGvq7BR/Ntq5YfEVo5wlzAx9FljJ9egNBI0rwMD0r2gUpSgUpSgUpSgUpSgUpSgUpSgiPEAMvLtR0mY8zr9xHgyDb97KR9RtIT2qXAqH4Piaaa4xtqMMZ/wAOEkOcdiZuaPcIhqYoFVriVt8LJNI0fMsrhf2hAC3LfQVaQpuXjdAquF3BUNg6nIstKCB4LdtCVt5ZObG4zbTk6uYmNQjdu8ir0bPnUatyGqdNVnifC47YEcsNYu2ZY1GOQ+Qwnh0YKrq8zY3U+cYw2enht+0DJFNJzopAPh7g6fPkZEcpXZpCPMrgAONsAjzBGcFkZPgo9WRFPd2xDNg6YRKIzpA3blxoeo2YnfO1xqowswucADT+k2AwvRW4cWY5/wCoWyff6VbqBSlKBSlKBSlKBSlKBSlKCtcV4k1tfpI4Itmt9Mj58qNzRoZh+6NRDN21qegYjRw21isb24abC/FSgwSsTpw6gvbgsfs25okk07B+ZtkqQsp4g4c76JolDyxawYzjE0MgxJCS2w1YRgTtqRc7E1DWkpMZW3iW6s945LWTSs9uyjePTKdLr0AjcjAIKsU0gBKTRC2u0dNku2KSL256xl0lG3UpGyN64j/dOZLinDI7mMxyDY4IIOGVlOVdG6q6nBBHQiqgLXh+F1wX0LIcgJHfppcAgsiwZQEgkZXqGI3zW0tZ53l4pgbAY4nt9QmTvnck9fTAAdCwTtKRqROIQKNL9Iru21HAkUdBnIOMmJzkZV8Pw2cjXTPdW7vYWrBviXblYkeMgGSAnKLgKwNx0ZcYBwGTSeBWvELgCH4kiE4mlmlvVZAyrmCJZmGlpU08w4+Qju6ss5MI5yzPpTh9pnY6eXI8O5Zh05UOnAG3nUnH2akhx2PBVmPMt4EgQkn4i4Qy3T48uqMTZKKVzhpCTj8GDmoviN34eRlN1LFeSrkZYNdFc9cxxKyR59lUbD0qQlWXigZ1bQsL7WcylRKATg3qkawsi4ZFxhdmYSHKLI8K8RtIpWGzdDHlXiZ4EaNgWCqUDnAOMg9CCCMigjbdeCsCbbTA0ZOfhVlgkBAPzJEFZu+zAjOe9d/CfFcSs8U8pIQoI5pUaPmB84Q6lUNKpU50jBBQ9SQJKPiF0XI+F0rvhmmTf02UEg1hLd3+Tot7cr2LXMin6gW5A/maDZL4ntExrnjXV8uo41fw569R09ayk8RWwBPMyBsdKuxz6YUE5rTHdcQJGq3tgO5F1IT9B8MM/wA6ydr5tWBbR9NJJll276hiPH0NBg/i61BI1SbHG0FwRt6EJg/mK8t/GFrJIIlaTV5esE6qOYSqa3ZAq6mBAyRk7DevLmDiRxy57Qbb67eZt/YCcbVC3XhniM1wkk80DRpyyVgEkHMMUiyxiYPztSq4yNJU+Zs5BxQXWlarZnKKZFCvjzBWLAHuAxCkj3wPypQbaUpQKUrnu+IRQjMsiRjBOXZVGB1OWPag6K4OOXTRwOY/vCNMf/VkOhOvbUV+ma22PFYJxmGWOUesbq4/8pNctz9rdRp+GFTK3Tdn1Rxj+XOP5haDtsrRYo0jX5UUKPyUY39630pQKUpQKrN/w9bQMNGvh8n3sZyeR/iRjfEWcalGAmNYwNVWao3xLNotJ2xk8mTA9WKkKPqSB9aCscIsXt7yC3k1yKHu50mchubrVArMVwBIqu6EY3HmHU6bzVFs4OXG9gh5lzw9Yp7fzHUy6W0xsx9ftITj8DqdicC6Wd0ssaSIdSOqsp9VYAg/yIoN1KUoFKUoFKUoFKUoFKi7rxNaxuY+ZrlX5o4VeaRe/njiDMv1ArV+tcP/AC7v/wDDvP8A2qCZqM4jwFJXEqvJBOF082EgMV3IV1YMkgBJIDqcEnGMnPP+sbPtb2txIfWSMwID/eM+lsdPlVvyO+NbcOvbkkXEiQQf8u2ZzI49HuGClF67Iqn+92oOWzN/JLIkV1G0MQVeY9tktLlg66llVWK4XJVQMsR1UgecafiEERK3ULSsdESfCtl5WzpX77Ydy3RVDE7A1ZLS0jhRY4kVI1GFVAAoA7ADYCq/+lEZpL6TJghzDbgDJdy+h3QfiaSTTEv8OQcOaDGS3aCKOxgfNzOWaWUYVlVjqnuSN9LEkqg3AZkHyqcc9/w97kiCzZYobFoyFx9lLcRlXWF8biNAFJIydTqdzGVPRLzreMuSrcQvHVF38iHDEKoPWOFOY56aiHOxfFTvCuGpbQpDH8qDGTjLHqWcjqzElie5JNBCGcXREluwhv4Bh4ZCRscFop1G7Rk/LKoIBOpSwJVsb++spQJLstZzRjGuR2gdM9VWZSFlTIzgMyEgZG1Tt/wmC4AE0aPjOksASuRglG6qfcYriXwnbdHEkq/uzzzzJn+CZ2X/AEoIZDbSHmw3V7dZXSnw8rtF5QOjRhYdWx80jdcjPYdfDfCxbW9w82JMaYfirlwgBzlmMmGcnGdICjAAzuzWSOMKAqgAAYAAwAB2A7CsqCJh8LWynUFYnGPNLKw/kzEZ961/qVw/+yQf5a/7VNUoIX9SuH/2SD/LX/an6lcP/skH+Wv+1TVKDms+GwwroijRF9EUAfyFK6aUClKUEFxO9aSdoFkMUMUXMuJQQpAYkLGrn7vKrIzNsVGnBBYMIU39tABPFbW0cbeZZ7yUQyS9Drj1RySyder6WORgEEE6OL3TSpxeOEhp4pIX0uCQY1gt2KFR5nQlJlKjY5YdzVp4JwaKNVk1CaZlBa4bBeTVvkN+FDkkIvlAOBtQVO647BNJi64dI6EZ+Jt4blinYEuYI5F9miLbDOwrn4NNdwt8bHcrNZ3RGjnDXoAfREJZkAdQ6afOwblnKupPmq4cRuPiJPhY91BBuW7KmAwiz3eQEZHZCxOMpnVxLhhgJngXMZz8RAFysqn5nRQNpQN9h5xlSCdLKHdw3jCylo2BjnQAvE3UAkgMp/HGcHDjbYg4IIEhVOSBFMScwctt7C6zqZeYA3Icn51IA05OHQAHzIGaf4PxUy6o5QEuYgvNjBJA1Z0vGSBrjbDFW9iDhlYAJKlKUCojjOJZYLfrl+c++PJblWX684w7dwG9MGXJqoz3EkkEs6HEl46QW5XGVhJKpIp7+Vprj8iB2oMOGgCS3uhnN1cXI8x/qpYy0ZAIyMpawbbYz7VL+Ej+zlOgjnuY1A/DHFcypGuOwCBAPbFazy/iVRcCGzhyQOivINKAehWJZNuuJB6jO/wnCVtIi2dUgaZsjcPcO0zA/kXI+nagl6VwXPHrWP7y4hTYnzSINh1O57VxDxdC+OQk85PQRRPj8+ZIFjA/NhmgnKVW+KeJLuKJ5lsvKik6ZZ0V2PZVESyAljhRv1ONhvUpwLibXEOt0Ebh5I3QOHAeGRo20uANQyp7A+oB2oJClKUHjNjc9KgI1lv/ADFnhsyPKq6klmB/E7bNFGeyrhiMEkZKVs8S5kMFqPlnlxKPWCNGeRfcMQkZHpIamyQBvsBQaLDh0UCCOGNI0HRUUKN/Yd/et+Kg08XRSZ+GjmugDjVCg5e3XTLIUjf/ALWNetx65H/064O/4ZLQke+DMKCcpUGPFBGQ9peIQenKD9s5DRMyn+dG4ndzeWC3MIP9bdadge6QxsXc+zmPr17UGfG7wuwtIWIllGXZc5ig3DSZ/Cx3VO5bJAIRsctnapPOpUAWlllIlGymdAY3b0KxLmMejGTuimtLusebK3laS8l3mm2LxrjDTSkbI2PLGmMZwANKsRtlgSRl4fb+WGIL8TjshGVhyerSdWO50ZzgyK1B0cEX4iQ3rfKymO3AORyCwbmemZSEb+FY++anK8AxsK9oFKUoFKUoFKUoFKUoFKUoIvxB4mtbCMSXcoiRm0gkMcnBOAFBPQVt4JxyC8hWeBtUb9D0OxxuOoPsd66L2yjnjaKVFkjcYZXAKkehBqNHgzh+APg7YhVVRqhjY6VAAGWBJwABQQDxsvEZuSytcoROsepftbSZYo5oiD8jLJGrqdhlkGcO9ewwyOCthKywHJltcrHcQkg+SEuDyQSd1PTYxso62GTwraaAqQpCVOpGgVY2Rgc6kKgYPqOhGQQQSDG8T4HO5UyQwXmgYRyTb3C+ul0BG+3ymPvt0oOmx4vDboEMFzDgEkNDNKc5OS8sYkDsTkkliT13zXSvieAqWC3BA9La5z9By81BPZunyxcUTthLiKUbdwZZmIHtt06UKzHbRxbt/WWg6e+vag1rLGJDbvb3Edlck7yDQsVyzqU5RDZjEjbjAGmQDG77diwzM+GYfpC2BKPukdzA/TmAAgBiAGxkxuoYDSwDR95wqedDE0PEWVxhllubVUK9wzRuzD6DP5da7bSSZljhvG+HvEZjby6lfmqM4DkBVdyuBJGAM41LjYoHRwvj19cxCWO3t1ySGWS4k1o6nDI4EGzKwII36bEjBrolvr1VJkNnCdsFpJHHXfOVj9QKr3EuBi4lZxb2o4mIxzIrlC9rOuVHNQ6ckr01gahlVcYKEcd5O1qPLY4ORmKDhTPn/wAWOVo8Yxvv16EgiglOLcRaeKS3l4jw+MsBqCAsxi6upUzg4ZfKSN8McYOCNUlxFLJHIeJF+TrKJa26NpLqVzp0SkYXUoPoxGd6y4bDxaVUCSmAfiaSCFI1XssMO8jkDC5fl+uPw123bXBYwwX00twDvojt+XHnvctym043OkEM3b1AQs8VoI5FkueKzJKzvIi286mQuMFWMNshwRhQNQGAB0AxrkvrVjtwriNx0w15HcSR46jPNaRgATnGj3A6VdU4TcacNey5wN0jt1wQN8Bo2G539qw/QU2MfH3Oc9dNnnvt/wAPj/4oIC1vriNf2exjgDAbxW8rHbIw6OtuQQfzyPSuo/HyEh/i126wixijPTYa5JZV3z3HvUqOBT/2+6/+2z//AJ6fq1nPMubpweo5xj39RyQhH5DA9qCAk8OvLjXYGXTv+2X8rgHIwUUcwBhjrhT061M2y3sUaxw2tnEijAQTyBVGeihbcCtx8J25ABa4bGcarq6J3x3MmewryLwXYKMfCwttg61D5/iL51H3O9BI2F6sqZDRswwH5bB1V8Alc/XuAcY2rprVb2qRjTGiovooCj+QrbQQfGzoubOVvk5kkRPo00Z0EnsCyBP4nUd61TxC/neN97W2dQy5GmafSr4cDrHGCnlOxcnI8m83eWccyNHKiujDDKwBBHuDUF4MhWJbi2Gcw3UvzMzMUlImQksSxGlwuT+6fSg2rxK4udXwYjjiViommVnDlDpbkxKV1IDkBywB07AqQxzPAbht3v7gHuIktkX6ZiZv/N1/lXBwXjMVhDHaXjLA0CiJJJPJFLHGMJIkh8gYqBqQnKtkbgqzSEvjKyGy3CSvnAjgPOkJ9o4tTfXGB3oMR4dn3H6Qu8Z9LQkewJgzj/WozivDYwwg5txdXLjIje4kRAmQC84g0qIxk7Eec7DPaR+Mu7jJVfg4P+ZLpM5Hqke6xD3k1H1QVwcJnZwU4cg5JJMl5OWfmv0LRjZrk4wOYSEGAF1BdIDCx4bFw3NtZRxvfXB5kh0BEUEkc2YJjREu4SMbscgEku4sXBuFLbRCNSWO7O7Y1SSNu8j421Mcn0HQbAU4TweO2QqmWZjqkkfBkkfu8jY3P+gGAAAAB3UClKUClKUClKUClKUClKUClKUClKUClKUClKUCtF5ZRzIUlRJEPVXUMpx0yDtUNxvxO9tIVWLmjAAAZV8wVmfUzHGAvK2xnzE9Bt28R4s8bKEjDjya8vpZeZIqLpXSQ53c9R8nvQcbeBbEsrmI61zofmS60z10Nryh2G4I6Cti8FuYxpivHI7c+NJSAOwZdDH82LGo5fHXn0mJdIjilcrMGKJNqKhhpADhEZyueg2LVt4h4y0q/JSN3UPjXMqozosRKRsAdbapVUdBkEEig7f1fkk/4m6lkH7keIE+vL+0PuC5B9KlbW1SJQkaKiKMBVAAA9gNhUTxjxCbeSOPQrasFyXCEKTjMSneQjDMVG4A9xWPD+PzSRTu8AjeJQQofXlmhWXQ3lBVhqUEY7gignaVW7bxUyZS5WIShhGOXKCJJCYVAjDKD88jqf3dGTswrt4Dxd7nW2FEeIig35g5kSynmg7DZ1AHsc0EvSlKBSlKBSlKBUXxLgQkcTRSPBOAF5keDqQEkJKjArIoJJGRqGTpK5OZSlBA8riYGC1nL+ayx6h6EZcKSPzHt2pGOJsAuLOABQMgzT798IRFgdMDJ/3nqUEGnhVXIa7ke7IwQsukQqR3WBAEJB6F9bDsanAKUoFKVV/FP6QD6rMErpQHddvvmYqrKw1FlgXJB2Zvl+YBaKVB8SjvSIxGxBEfnZBHhpSY1H3gbCAGRyAM7AA9jEu/FDKNLOAQNWqOHliUSaiq76zFoyuokHcEEnIAXKlUu8m4m9vgCZH5YRCi2/MaYRqRJKCSqRGQuCo3GgdmqQ4tbXqyWyWztykAD5CNq0snzsWUjKBxsDnV2IFBZKVX7G0vY4p8ytJKYwY+ZysCblktpKKMJrKgAjbSeoNaZbK/V1VJWMQYbsI2cgNHkyNlMDAk2Ct94dhpWgs1KrcPD7qZ7czlwkRjZhqQapI4pAWZUyGVndSFzsYgcVZKBSlKBSlKBSlKBSlKBSlKDF4lbGoA4IIyM4I6EehrKlKDULVAQQi5BJBwMgt1IPqe9ZCBQAAowvy7DbbHl9Nsis6UGJQZzgZGcHvv1x/IVlSlAxSlKBSlKBSlKBSlKBSsXcKCSQABkk7AAdyahn8Th/8AhYJrkbeePQsW5xlZJmVZB13j1UE3SoJ/EFwoJbh9yQBn7N7VvpgzA5/IGn65W6/frNb7gZnhkVd/8QAp7fNQTtK0Wt9FKNUUiSDAOUYMMHpuPWt9ApSlApSlApSlApSlApSlApSlApSlBhLKqAsxCqASSTgADqST0FRI8WW7fc8y49DBG8iE+glA5efzbuKiPi0liF5cKZhJIFtLfbT8zLEQp2Mjgcwu/wAi+mli0p+i7yXea65Q/wCXaoowD1VppQzN/EqxmgzTj0zbLZXPfdzboM475l1Y9wprwcauR81hOT/hyWrD+byoc/T60XwnF+OW6cnrqurkAjpjSjquPpXn6nWn7sn+fcf+5Qe/rNp+9tbuM9vsubn627SAdupHX2OPP1zsxs7tEf3Zopom+gkQEjruNqyPhhR93PdRnrn4iSTf8py4+mMe1eHg90u6X0hx0EsUDL/3ctYyfoR9e4dFv4ms5Dpjurd2yBhZY2OTsBgHr7VI5qBubC7ZcSpZXWQRh1kiGDgY83OyMZz67VW+Jm0gDCXh1os2PIsT27vnBweWwQkDHRQeh2wDQTXFfEdyYzJZpCU5qwo0pc8yQzCE4VMaY1YnLkk4RsLjBOPFmvYzHFBcGW7cO+looltwqlctLgcxEyVUBWZjk9cErq4NmXhNq8UZElukJ5WnDq9rhJoVEnR8LLGM43PUday4zGZWhvraSQwNHomMG8vJ1agYgc6cPkOAusjYbqAQ3XvELuBVNze2MBborQyHJA3CFrhS59gufatdj4ouwWDWk1ymnKyww/D5OT5DDdShtl0nWGIOSNiMVwReILaECazti0bkq17OXEe2QTJMweYqCCNTAJkY1ipHisHElIf4gNAAS62kKLMNxgpzjKJQBnKgBjny5OFoJmw47HK5iIeOYLq5cq6X0/vL2cDYEqSASAcGui84nDCuqWWONfWR1UfzYiqZElhdBZVtrviGCxR5Q7Jv5WMYuGSNemnygE479akbOzdDqt+FW8JON5HhjbI335CSfQ5O/p1oJN/Flt+AyS74+willGR/ejUgfz3rF+PTn7uxuG32Ltbxr16nVLrAxv8ALWm5uL1VLSzWdsu5yQ8m38TvGBj1xv6CoO9uoZtm41Ow7iz5AwT6tFE7oNzjLdupIJoJ83/ESMi2tkBP9ZcvkD3CQEZ9g1cNn4ykF8LG4jhDsoKtBNzN2WVwroyqy+WJzqGRunTVVei8PWOCTLxCYtuXmsTcM3oeZNZOxGOm+MdK7uH28EIxBLxCLPaPhyR5Jx1xYgdh1ONvagv1K5OHWjxqQ80kxJzmURAgYG32SIMfQnfrXXQV/jkQuLq3tZN4THNO6YOJDA8Coj9imqUsV7lFztkHnsYpeI5naaWG0Y/YRwkxtJGpIE0sgAkAfqqKV8uknJOF28XblcQtZW+7ljmts+kshjlj1b9GEUi5x1Kj8VZeDpeVELF8Ca0URgYxrgXywyqMnKsgAJ7Orr2oMl8FQD5ZbwH1+NvD/o0pFejwzIoGi/vFIGAS0D9sb8yJs+ueu3Wp6lBTb7wbMz81ls7p8jzSwmCcYUjy3MOSu5P4O/WtDW08GQU4jCBjz2863qdx8lwGlIHtHuD6gYvNYySBRliAPU7D+dBTbLj0xbRHxC1kfIxFdQPbznoMfOpGTnB5R6jr3mBxe8j++siw/etpUkH1WblMO/QNWq98TcLlGh5recdCi6Z+2+UTVt74qIdOGoC0EN7Hn+yQ8QjBOwyBGojboOuQcb5oJ1PF9t1k50PqZ4JolGcfjdAv+vY+lSFlxeCf7maKTbP2bq2x7+Unaqk3ELmMjkPxCTJACz2kbqAc9W+ybHQZLk9z3I5n4k7Ppv8AgzyJuedHDFIdX4iYQzuu2N1ZydwM4oLdf+I7aF+U7ky4zy40eWQL+8yRKzKvuQBXHN46skwHkdXZgixtDOsrM3QJEyB2z6gYqG4V4fs5Q83CbuW3kLEyBWd15mNP7Va3GcNsOyPtsR1rVaeOA0ktpxGKOSNcK9zbq0tmcnpcZBFuw2yGJA7kDegsQ8Y2gOJHMBwSBcJJCWA66Oao1/kuTWi68aIjonw12xlzy9MQBYAAk6WYOqjIyWCgZGeozwcOsAbmTXMXsbI5jEmMLPpJcM+2tIUKhS2cM7ZJaMadV5x5bO3a/mKRzXciRw88kLHGSeUHHVQqa5mXIOpmGRtgJ+18SozrHNHLbSPjQJ1UByfwpIjNGX/uatXtUvmvn8k9hdRETcQurhHxkrrVCVI+URRgLhhkY3BHXO9dcyWjDDfpSYnup4koIxnqmiPGPTr70FzdwBknAHUnp9TUNdeNuHxkKbqEsSBpRhIw1EAFljyVXJHmOBuN6iI+HwA614TNIwYYab4dmxnYgzzFgB1wcEZ6Zrh4pc3Mk0YezktbZAyHMXxQlR3jdlEVoWMRzGuHZvxHYnoH0ClabS6EiB1DAHoHR0brjdHAZfqBXtBVIOH+X4AuIriCQzWbncNGHZkKjILKqs0MiA50nqA6mpJPFQjwl1DNDLjfRFLNGcbExyxKQR7Npb1UVK3/AA6OdNEqhlzkdQQw6MjDBVh2YEEVGLwK4i+4vJMdluVE6gegbKyn/ukP+4ZL4ttz0Fw2Oy2t0T/IR0PihT8lvdv6/s8qY/zgmfpmvRbcQyMz2xHf9nkB+g5+K8PDL1h5rxVO/wB1bqoI26iRnOevQigxfjd233dhJvjBmlgjG53J0PIwAH93PbFZmK/kzqkht1/wlaZ8Z6h5NKqcesbCvV4FLuGvrlgRjparj3BSEEH616fCtq2DJGZiOnxDvNjcnYSlgNz2HYegoIh7ixbUkl3NeNkBljd5CMZ2aKzAGOudS+ntXbYtIi6bSwSBM/1pjhH5iOEOSemzafpU9HEqgKoAUDAAGAAOwA6VnQV1OEXcMjzxyRu0hBkg0GOJyABqRizMkuAoLbqwUZUHzDjluL1JhJbWUqhz9vHLJbCN+2uNklYpIPXRhgMHBwRbqUFRaS5Sfmw2MypJn4iNntdD7bSRhZTmXOAchQync5Vaxt+Jw26GWzkVrdR9paalDxHbaFHIMLL0MBwPQKchrhXNccNhkOqSKNzjGWVWOPTJHSgp03FLa5Vm4VPOJpst+zJ9mztnzz86Jo4t/MXwrsMfMdIqfh8LqY0WeaeZwBrbnTRh2wAxMcbhQpIJ0YwM4qbpQRlp4Zs4iDHbQqQc6hGurJ2JLYySfUnNSQXHSvaUHmKYr2lApSlBz31jHPGY5V1I2MjJByCCCCMFWBAIIIIIBG4qvXnDZ1Ci4j+NWPJSaIiK6TPoF0AnAALRupOPkNWmlBSbniojXycTe39Fv7cnAGPl1iJ2GOpZm6jf11/rLCSFk47b52+4FsCWPYazIMH0xnpv63qvMUFKS9tXGPi7+8I2HJE2CdttdpHGmenVsDPYE1geFJ80fBzK2R57ySEt1O+p2lcdc7gE53q80oION+IY0rBaQjsedJJj/sESD2+YevtWclheud7qOMYGRFB5s4GrDyuwO+ceXbuDUzSggx4dmySeIXZ9sWoA/LTBUXxmzvrXRJFezyRElZOZDDNywR5HCRIjsobAbBJAOegJFwpQfP8AFjcuJpZm4lMFKBbaP7PGclXEXl0kjpPIVyDjG9dfEpbx0S2iEVo8oIjhiEcrxxdGlmLDlrGuQCiq2okKHGrInbnwrbu7OObEzHLGCaaEMc5JZYmCsx7sRn3rgsfDVxbPJ8PLGVlbUZbgSy3Cjsmsv9oq5bTnGnPRiSSGLcHhVIeFwjEEaK84GPugx0o+MbzSBs7YKpKDjIqKvr5LszXoZJrS21wmIaTqt3VDPMD1V8YZMHDRpt96GEvY+CAFZbm5muA7s8inTGshbb7YRgGQaQq6CdGlQukDape78PWkro8tvC7x40M8aMy46aSRkAelBVIfELgLHw++hvjjKRujyyacbc24hcLGoJXzSJqx1LN1sIt+In+utFP/AEJXz/664/1qZxXtBCfoi7b575l/6EMKj/1RIcem+fUmtsHBJFIJvLl8Mpw3IwQOqkLEPKe+N9tiKlqUClKUClKUClKUClKUClKUClKUClKUCsJn0qSK8pQbKUpQKUpQKUpQKUpQKUpQKUpQKUpQKUpQKUpQKUpQKUpQKUpQKUpQ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102" name="AutoShape 6" descr="http://dc130.4shared.com/doc/xiHOAdc2/preview_html_57b3a6ad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104" name="AutoShape 8" descr="http://dc130.4shared.com/doc/xiHOAdc2/preview_html_57b3a6ad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106" name="AutoShape 10" descr="http://dc130.4shared.com/doc/xiHOAdc2/preview_html_57b3a6ad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108" name="AutoShape 12" descr="http://dc130.4shared.com/doc/xiHOAdc2/preview_html_57b3a6ad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110" name="AutoShape 14" descr="data:image/jpeg;base64,/9j/4AAQSkZJRgABAQAAAQABAAD/2wCEAAkGBhQSERUUExQUFBUUGRkVFxUYGBcaFhoYFxcXGhoZIBoYGyYeHRkkHhodIC8gIykpLy0sGh49NTI2NSYrLCkBCQoKBQUFDQUFDSkYEhgpKSkpKSkpKSkpKSkpKSkpKSkpKSkpKSkpKSkpKSkpKSkpKSkpKSkpKSkpKSkpKSkpKf/AABEIAKoBKAMBIgACEQEDEQH/xAAbAAACAwEBAQAAAAAAAAAAAAAABgQFBwMCAf/EAEMQAAIBAwMCBAQEAwUGBAcAAAECAwAEEQUSIRMxBiJBUQcUMmEjQnGBUmKRFSRygqEWM0NTsfBjkqLxJTREVHSzwf/EABQBAQAAAAAAAAAAAAAAAAAAAAD/xAAUEQEAAAAAAAAAAAAAAAAAAAAA/9oADAMBAAIRAxEAPwDcajz6jGjpG8iK8pIjQsAzlRltoPJwOTivV5dLFG8jcKil2PfhQSf9BWI+GPF6m5l1G9hmluDsS1UY6K/MDckKSEBFIjILFyMDccbmYkN0rxFKGUMpDKwBBBBBB5BBHcVjOrePZ9RgFqWht1uJJy0scpZRZ26ne5xhyGYEDyrvCMOA2RaWvxPWBxFbRrJZxW6xW6A4medZkgRWLECNMd9wyAATjcoIarRSv8PPFj6hatLKsSukrxHpMWQhMYYZ5AOfX0wexFKWufFBhqTIgItbPHW/EEbSFtpZyroSYkXdgDbvYoA3nVWDVa8QzK6hlYMp7EEEH9xWO6x8Rbq9AtkSO2W8KGNzIwdLbptLJJKRgJlF+kYJUsVJBVza/D3x0rXEFhBEotBA3QkZj13ELFDIydl3ssmF+rjJwMCg1CilH4h+NDYw7Yembl1Z41kOE2oVDHuCzeYAKOcnJwqsQv3nxgZHZxChtY+pGXJfqzTIuAsShSAvUwpckgAjJBZVYNOorJ7X4nTxXEcTKr9S5SO46kqHoPP/AMCLpKu4RKp3FgfPlc5xnWKAooooCiiigKKKKAooooCiiigKKKKAooooCiiigKKKKAooooCiiigKKKKAooooPjKCMHkHgioQ0O3EQhEEPRUgrF006YIbcCExtB3c9u9TqKCsXwxaAgi1twVcyqelHkSHGZB5eHOB5u/A9qP9mLTEo+Vt8TkGUdKPEhB3Av5fOc8+bPNWdFBzSEKoVAFCjaoAwAAMAADgAe1UHhzwTDbxJ1UinuRuMly0amR3kYs53NlsEkjGe2P0pjooKtPCtmEWMWtsEV+oqCGPaJMY3hduA+APMOeKl2mmxRFzFHHGZGLyFFVS7nuzEDzMfc81JooId/o0E5RpoYpTGcoZERyp45UsDg8Dt7CuLeGrUmQm2tyZ/wDenpR5k5z5/L5+efNnmrKigg2mhW8Th44IY3CCMMkaKwQchAVGQn8vap1FFAUUUUBRms0+JnxGmhc2OnxyPeMoYuqgiNPK24AghiRkc4x+uKkfBm5lW3mtro5uYZd75Ys7LOiyK5Yk7jksM9vLQaHRRRQFFFFAUUUUBRRRQFFFFAUUUUBRRRQFFFFAUVVeJfEcdlAZZNzchEjUZeSRs7Y1Hqxx/wBfakTQPEOppqkUVw0c0N51X2IvMGxFON2F8inau7nduJxkig1CiiigKKKKAooooCiiigKKKKAooooCiiigKKKKAqm8WeKodPtnnmYDaDsTIDSN6KoJ5P6dhk+lXNZp8XdCgln06ScMwM5gK5wh6iMy54/jVR6ZBI+4Be0DxmL7U2c27W7y2kZdTghnjkfDq/GYykijOO4HsCbmzLW+u28vlEd3C9qx+n8RMyIT7kgBR+h9gKheKYo7ea0vCAiwuYJGC8LDMjKM7RwiNjHoNxwOaqvEWuvfRCOytbl2DJLDcsoijV43yrq0nf1/h+qg3Wis5bxfqzBdtrZRkkFt80j4X8wwijn7gn9DXRfFWqpuZ4LGcZ4SKSaNwOeN0ilWJ7Z8vP68BoVFIEPxcjjOL61ubM8+fb1oeM9pIgc9vb19uaZ9N8Y2VwMw3Vu/GcCRNwGccqTuH7iguKKKKAooooCiiigKKKKAooooCvMkgUFmIAAySeAAO5J9BSr4p8atFIbazjWe6ABYMSIYQwJVpWHqcZEY8xHPAwSn6+uqTQNHJNb3EbbTLCiGF3VWVjGkhLDzYKncBx+vAdxf/OTvqMzFIIldbVWyAsQ4e4YHs8nOOBhNvfINU1pcX6u+qwsgyjhLWVXwbVfOvY5WVyu725HPoJU14t+0dtGpSJPPdxsNrp0yCluU9AzDkjjah2mrWPTjqVwbcAi0gYfMyDG2V12sLZT3x2LkdgNvGaB98O67He20VzEGCSruAYYYckEEfYgjjg+nFWVeIogqhVAVVAAAGAAOAAB2H2r3QFFFFAV4nnVFLOwVVBZmJAUADJJJ4AA9a91Q+O9GF1p9zCVLFo2KhRlt6DcmB6ncBx6/vQcfDHxAtNQlmitmZjDtJYqVVg2RuXPJXI7kDuKZKyGxiW2vtMuIlEMc/wDdpkjXyESoXhUgegkOASPbkYrXqAqm1rxjaWh2zzor9+mMtLjBOemgL4474xVf8QPErWsMccTBbi7kFvCxGQhb6pCPXaOcepK+mao9N0uK2U9Mbc5d3Y5dzyS7ueWPckk8c9hQXZ+Jlns3/wB52d93yl3t7479LHeu1t8R9OckfOQIRg4kbpHntxLtz+1KsHiBpvNa21zdpkAyxqFj9c7WlZN5H8vH3rje65AdqXcE0WSR/erdhGGBK/7xgYvUAMGx5hzzQakjggEEEHkEdiPf9K9VmUeiNb+ayle2ZTkRbma2bkkq0JO1VJPJTaR6c93Pwr4nS9iZgpjlicxTRE5Mci9xn8ynuGHcH0OQAuqKKKApW+Joh/sy4aZ+nsXqRvxuWZPNFtz+beAMeuSPWmmsfv7o6revPKw/s+yci3XdhJZI/qnbPlZAdwB4HGPRsh50zTJr7pz3qqIwA8NoORk9pJfRnwchOy57ZyKlX/jSFH6UCyXcoxmOAbwvoNz/AEqP3/WuKxnUvMzOtkCQqqWVrn+JmP1CHghQMFskn0FTZL+zsItu6GFAcCNcbi3b6VyzNnjsT70EOaTVHUMiWUGOem7SSsfUKWQBR3xx7d8V9mvdUAyLazbH5RM+T6cFlAGOe5ol8TztLFFDZuvXYxxyXTiBd4UkAoAz84OAQpPp34YbfwxqTMTJNYxDAwFinlOfUZMsfH3oKBfEV0uTNp0ypjkwyxTN/wCRdpP7ZrxazabdEp07feeWjlhWOXk99rqCTnvjP+tXd9oWqRZKC0u148q9S3kPvje0if1PYfeq43tvdMbe5h2yqATBcxjf68ru4ccfUhPce9B1g0R4GDWVxLbYPMWTLbkZ3bTFIfIM/wDLKcE478NfhfxWZyYbhFguUGSgYMki/wDMiPdkz3B5TIDdwShamsunR9WAPPbrjqQOxZok9WiZjuwB+QlhzkYANWrlLuBJYHG4fi284/JIM4b9M+VlI5BYEelBpdFVHhbXPmrdZGXZIpMc0ec7JUOGX9PzA+qsp9at6AooooCiiigKovGviD5O0d1x1XxFAp/NNJ5UGPXnk/YHmr2s68W3wn1eG2OdtpC11jnDSyN0kODwdikkEZ5Y9sGgXNTuP7OiitbbMt1dvgSPl2LHAkuH9SBxx2wPZTmS+tS2TwpeTRSpO3SWUL0pA/GCybirJ2yy4wWGRiodnCbjW55D9FlEsScnG+VSzHtjOGcH9v2i6zGL1tQm5ZLSCW2hA/5qoZJGBHOQwVR9v9QufFNpJG6XFuyxSSMltK7fQI5W6aSMMgZidgQfYkHjtpfh/RUtLeOCPsgwWPdm7s592ZssT7ms+1cG402QjlpLYuvOPMY96nJORhsH/s0/eFtSNxZW8x7yxRueAOWQE8DtzmgtKKKKAooooCsb+Jd1q1xftY28iwwhBMHQtGWRgVw7qWY+YMuABnIyOxGyUjePbcxXdndDhCXtJT9ptrQkn0AkXGcd5O9Ah6bp8p0ea2YHr2ZdV2MM9SIieNlI/wAS/c4NbXpWoLPBFMv0yokg/R1DDuB7+wrMVQQaoTt8t5D6Dgy2xJOfv034/Q96Z/hbMosTCGyba4uLc8bcbJnKgD22sv8A2KCJ8T1KSafP3SO56b9+PmI2jDZAPAOP1JFVHjONWs5BISsZaESMO4jNxEJDwDwE3eh4+3FOPxC0v5jTbqPaGYxOyDB+tBuUjHOQQMY9aT4c3mmjJGbi2GTyQHki7+5w3f8ASg1FVAGB2Fcb2ySWNo5FV0cFWVhkEHuCDUHwrq3zVlbz+ssSMw9mKjeOw5DZHYdqtaDMPDpZFlt3LM1pK9uHbuyLtaJuw56bID7kZ5zzO8BZXVNRXAw6Wsuc8/Q6e3H0/f8AX0EZ9v8Aa+o7Bxttep79XpNjH26ez9/3qX8PYzPPqF0CArutrE4OSRArBmx2I3ucH7fuQf6KXfA+sSTQGO4P95tXNvP/ADMn0yDgeWRCrg4H1H2pioE/4oavJFaLFExSW8ljtVcZygkJ3uMDuFB9sZz6UjeK3Ci30y2AQ3HlYLtAS2XPVPcckAj7+f1NMvi6YTaxbRf/AGtvLOe3edlhA7+wJxx3Bye1Jvh2+62p6heSHEVqny6k/lVCWY+mB5GOP56C28X6rNFGLaxid52jLARjcYYYwAXx/wClRxz25ABg6P4E0+azPTBk+YXJuGO6YNnOc9lYMOVHsQc08fDKwLxSX8i7ZL0hkHBKW6DEKZ9yMuT/ADDjiqbxFo8mmXMt1EhewnPUuEXloJTw84ULkxEAFsEkZJxgDAV+g3LXEL2l4ClxBtDbWIZguDFcRuPXcudw7MOe+KcvB/itnb5O6YfNxqCGxhbiPH+9T03fxKPpOccUu6lpK3PSmil2SoMxTr5lKuOVIHDxNwSP6d6X7y5fUW+V6KxzQP8AjXAO5YGG1gYXUhuoxHAJBXadwNBsGra7b2qb7iaOFecF2C5xjOAeSeRwM96z/wAU+NbW9Ro0tdRkaPmG5itTmKTHDpvZG79wQAw4PBqskl0+ymw2ZbpvOWZXuLpv5i20kds/l9wKky+Mgqsz2eoKF7E2x579sMce3mx3/XARvAXi17uN4516dzAQJEwVyD2bacYOcgj0wOwIA6zxrZXcJjASG8cxSIBhFn2kxyADgM+Cp98A+mahazrkMrW9xA7CaCeONoyrJI0dw21oyjgEggBgQCPL+4neMbhRJYIcb2vISvfOE3bmA/zAf5vtwF/4fuehqRUthL2PgE97i32jge7Qn+kI+1PtZvq2F+XlJcGG5t3G08+eVYSO/wBJWVgfsa0gUBRRRQFFFLvjHxilisYC9WedxHDCGALMfzE91jHq2DjI96CD4k+I8dvcizgia6usbmjVgiRqV3AvIwIXjBxgnke4BU9ajvmma/kmtV6MTKIljk2GPh3DSbg2fJkZBAOeBzVI7yx3NyWu5ZJp3WWSCxgDuoOMAyzA7BgDAJHGOOcVGvtKkupltencxs2Hlmluuo/y+4hkeOMmNN5xsQccEjgUFvpepGKylu1H4t7MzwoxB80rCK3Q89sKrEZ4G79uWvk6bpYgh29ZlZd3ABOwyTS8/wAoOM+rJ7Yq005RcXJdQFt7ItDCoHlaYDa7j+VF/DUfdzx2pfvrizv76ZLoEwxBbaFzuWIzZLS4kXyiT6VAJ5A4ByKBjnu+hpW8jHTtF4Oe4hChT6jnA+3/AE0DwjpxgsbWFsho4Y0IOMghBkcccHisu1SwnTowTS77N54Q9w3E0SLIDtfHlYM4VRJgbfzA5zWzig+0UUUBRRRQFKXxUuIF0yfryCLgGJsZPWU74sAAknco/bPYZNNtZf4oT5/VTHIPwNNCFV7iSeddxLZyCEVR5cZBPsaCtbQbi9Mct25tgg3RxWzlZFZ18xeUrndgldq8cdzXSL4b6eCWNuHLcku8jfcnl+9drnVZbhnW0eOKKMlZbpxvG4DLLGpIVtv5nY7eeM4NUYvtPRsG+u7mRuQqXFy7Fux2rb4AJ3YwcD29aC8/2Dtd+9VmRuACk86kAHIAw/Az7Vw8Ep0GubLOflZcxg9xDMBLGCfXGTn9vtikgt9MLvE17dIWIeSGeeaEEnzDd1VQknj1z2OexqRZWdta39tLaMjR3AktpCsvV85AkjO4s3J2bcZ9sDmgtfCGqXtmbi3iENxDbzMFgY9OUJNiZWEoBBPnbh1GSDhuMBkX4pLHzd2V3bKOWl2pLCi+hZ4mJ78cKcZGaVtUW5XUcWrwqZrcORKrMGa3kI2jbhl8s3cZ9eKgGa6vblbK6gjjSHbPcdNyySjvEnPKgtyQTk7T2oOtvqUvQLoD85q0zvDGdpKK+AhOcZSOJVYn3IrWfDegx2VrFbRZ2RLjJ7kkksx+7MSx/Wskg0tdQkurhZAJYpRFaSA5MJt9p3gA4w8mScjt9q0j4eeKWv7JZZAFmRmhmUcYljOG49MjDY9M0EbWF+U1O3uRxHef3SftjqjLW7n7/XHn7rTfVH420s3FjOiEiQJ1ImBwVliIkibPph1X9s1O0PUfmLaGYDHWijlwe43oGxx+tAkTwn+171vTp2q/vtlP9OaSNOtwNIuZeUN9K7em4JNMIgM4GfKW9/r478N3iO66dzqshGQkETY99sEpx/pVTc25TQwE5KWscnPr01SU9vTyn/vmg1+1tljRUQYVFCKPZVGAP6CujLng14hnDIGBBBAbIIIwRnIPbH3pO1rx6JGa30/E0vAa44a2hyM5LA/iSY7Iuee5GDQKvibSjaXa2ulzCMzZeW3KmSO2Ulj1ly2I8luIuxOOMYrxNJ8uYdOsgFldS7SHnpR5w8zd90rHtnjJGeMCrGQQ2ELyEM7uQWYndNPM3A5z5nY5wOwGcAAVJ0r4YyhBdGdoNQlJeZgBJDhtpEBjLYKIAAGVgc5Oe1Ar+GbUWWnXVyg3SsbiXdIdzMImdUDMACeUJPblj78dX8JzwTNMp+eLrhhNPLBKjgEbo3hIVVOeVxxgAGpnhvTzJYz2szhmWW6tpNvYEyvnA7gebcBn1FV/hLRWms4ZVvL6N2XEg6ocB0JUjbIh24IJwO2celBP03w9cs6NeTB44JDLDFkyMG24QvMVTcUy2PKASTk9hRpjrfXvzIH4NpvhgbC4kkckSyKfVAAFBB5OT7iul34YBD/M3t08fd0aVIo8EHIbpqvkIyMZAx+nHC21Bbue3s7YGOzkcxPMg2B1RHcxRcqSpEZVpFzjcMd8kLnTv77fxxRlujZuJp5FHkMqEdKDd75O9hzgIB3PGlVB0fRILSIRW8SRIOdqjAzgDJ9SeByeeKnUBRRSJrnjCS5Z7fTzhRuSW9xlY2BwUiU/7yT+b6VyOSeKC21/x7BbuYY83Nz6W8RBYfd2PliXnu5H2BpGufDBv7n5vUkjZwOnFBGSY0jBYjc3BkfLHngcfsLjSNGitk2xLjPLMTud2x9TMeWY/wDtVbqeq3EkzW1mqZUATXL+ZIWIJ2BPzyYwcZwNy7qDtq2rJarHDAkZmlO2G3Uqg+7kAeWNQpy2PTFQr1DZWzBXL3d2/TEmMM88hIVsc7UTvgcAD3Jz0sNJg09ZLmeYvI/+8upj5j6hFHOBwMIuScDvxin0zxALy8a4iguZzCOjbwiJvqfl5mdh0otw8gJbIVTxQW+pn5GzjtrUZnkxb2y8BmkfgyfsSXLHgE896NIt1tbaCyu7d4C6bNswRopXb6gJEZkZmYkhCQ327ZavCXg11l+cvdrXRBWKNTmO3jP5VP5pGH1P65wOO7FruiR3cDwyg7XHdThlYHKup9HU4IPuKDNtKIDSafN+KEj3Iz89S3clQG/nQ+Qk4zwaaPh1qZ2zWTks1iURXI+qCRMwkn1YAMh99mfWk7UhKkS3EnNzp7vHNt46kQI6nl/niKzLnsce9Xmk3CxatBJny3cDwbh2LxlZo+c45UyYP2+4oNGooooCiiig5XVysaM7nCopZjycKoyTxz2FY9BNKun71GLnUJGfvhg90zOG9OY4hu4x9Hpin74nTuulXWwAs6dIA/8AjOsXuMHz8HtnvSVqLAajYQD6Y0nkwQTjbEI0bP6bv3oCXwqLorpcMhhhhtmkbHJJJ2QA85K7w0jDjOB+3OW2ZtskEaQXln+HLbEBQY2A3Q8cdNsBo5BxkDt5trB4Bull1PUTt5hS1hz689d2/bJA/wAoqz8b+DpLho7q0dIruHygtnZLETkwybedueQfQ9sZyAVILwSy/M2yqbmJelNazjblC2dkg52OD5lkGR3HINePEOoaXcW0wEMWn34Blj6kMUM/VQ9RdsuNrhmQrkNzu9yK8X9nFcyhJOrY30fCkELNjj6WHlnh/T78KTXm+t7xYyssNtqMQ9OIpiMckqytFv8A8OPp4GSAA+a9YW98+mvL1BFPKFBQlWIngd1G7GQNyID9s/tH0dINPGqAHCQTsPM4Mm0QrsXLHJySVUHuScetVTWOnqydWG+sCrb1BM6xK57srpvUEDHI24GPautna6Wjf3S2a8nI4GJXU8fWzzfhKPdvTPFBW/Drej2RERRplnWQgELJDGoaKZgvAIkPTDnuPfOa0b4SqUm1RBu6Yuyy5A27nXL4bGSeFyPQbffmhhuEs2kvNQliSeRdixoc9OFPMIkHdyT5if4sdvV4+GlgyWfWkAEl5I106gMAvUACrh+eEVc/fPcckGe7cKjEjICkke4A7VRfDuIrpdmD/wAiNuPZlDD/AEIrn8RborYSxqfxLnbaxjjJe4YR8ZI7Bi2fQKT6UeL9V/s/Tj0AokAjtrZOMdR8RxgA8YX6seymgUPGZSPUrtJnRILmyQs8h2KHDSQ7Q2eSVycDngY+9ZZarJPZpBDaySgwJC8k34MPMW1iNw3uP8K4571b6f4YRZOvOTc3RxuuJACcj0RfpjUegUfvXTUvFNtA+yWZA/GU+phkgZIXJAGcnOOM0FfpnhicwxQ3l00sUSLGtvFmOEqgA/Ex5pc47Ngfb0qXq2t2umwKHxEnKxxIvJ9SFUfryeBkjPJ5rl8bvcZGnWk97jGZADHEMnsWcd/tx3P3q78HfC9hcC/1JhNdZ3RxAloYM8qBnOWUk4wcDuMnDUEnwV4fld/7R1BRG4BNvAx4t4iOXbPHWYdyeQOOOwlS/EI/OxRpGDauBmck7mMkohjdF9YTIQm4/VvDDyDczfdXKRozyMqIoyzMQFA9SSeAP1pM0OKLUpNQk8z28yw20Um3aCkSOxaMlQTiWViH9wuO1BH1a1+W1JxyI75esuewniULIo9t0YR/8jexwsaTptpDc6k1y9xGkGLpYo55Yo3jlTkqqOpL9QFcAgZZR9q0XxrpcMlg4uJjGIlDrcnG+OVPolGwDz7vyrjdkgDnFZbqNq17HDewwhb6zdepbvgElSGMZB5HPnQk5wTjnsEW58GwwWY6sQe7vJFiXezP05JSdoyxx+GhPmPcr37GmHWLUQtpUcTFDHd28SNhj5AjIwz6bl7gnnB74qL4duTqNz84Q6wQDp26Hg9VlAmdhnnGdgPHHpwatItMN5rNsv8Aw7BDcycnHVkOIVwPzeXeM+gPocENTFfaKi6pqKW8Mk0hwkSNIx+ygk/vxQJPxB1CW4uIrCCV4129W7ZMA9JsqkYfuGcg8Adue3B92tssaKiDCoAqgegUYFVfhe2fpGeYYnum683ABBYeROPyquAMn1PqTUbXb555hYwMVZgGuJV7wxH0BwQJZPy+w5+9BXPrranfLp1o7xx+Zrm5TG7pp3EZzwGO1d/uw4xnLtZ/Ci2hBEE15CrYJVJzgttVSx3KTk7Rn/TA4qs+DkMcgu7lEZVab5eLdjywQIoVAB2AYtn3PJ5zWkUCzpfw8tIZBMVknlXO2S4keUrk58oY7FIOcEKCMnnk0zYoooCiiigSfFGnrFeI+fLehopEJPMkUZZWGBxmMOrcgeVMc5yk2ty6aVFKDmWwfdlcnm0laN+5Gcwhs59G9OMO3juUm806MA4zcyk+gCQdP2znMw9QP3xSxpdsJP7Rte4MrjngYuYUcjK4OA5b74IoNZt51dFdCGVgGUjsQRkH+ldKWfhpfCXSbNgSfwVQk990fkb9sqf2xTNQFFFFAnfFZsaf68z2wP6fMR8UpWrBtauMgZjtYlByCcNIWPHdeSODycA9iKcfiYB8pFkgL81abs8eX5iP1yNvvn7fuFKVunqycZFzbMgPHDQPvP6Aq/8AXH3wF38NIj83qjYGDPEAcnORCCRt7DuORyc89hT/AEh+AY2S/wBSXGFb5WZRk93jkRjjOASYvYHgemKfKCs17w3BeR9O4jDgHKtyHRgQQyOMMrcDkGs58X6Tcae8Hy960puJVhit7lBIAMAljKuH2qB35OCPXmtZrPPHL9TVrCMMfwIri5dcejBYUOT35LDAoKC98S3tuIhJaRO0ziFOlc4BcqSAepHxnB5zj3+/XS9T1G8nkt4beG2MKo0kks3WCb87QBEBlyvIBPYc8EZPE8Ymu7CHggStdPxnCwIdpPoFLNj/AKetMnwntC0E92w817O8in83RQ9OIE+2FJGOMNkd6Dt4a+GcUD/MXTm8umwTJIB01K/T04vpXaOAeSOcYzinOiqrxPros7WScjcUGEQd3kYhUQfdmIH70FK5+c1YLnMOnKHI5w11OrAD2PTiJPuDIParfxZorXVpJEjBJMpJGx7CSJ1kTPB8u5ADx2Jrn4N0JrW1VZDunkLTXD/xTSnc5/QHyj7KKvKDFZPEMt1f/IbJLTbGzXAIHVyMDpxvnGwhgRKBkg8Y71N+H9kkUMqqoUrczqf4sLIQoYnzHy47mrvxs2zVrEkcSQ3MYPH1KEkOR7YX/WqvRAEvL6LyjLx3CqBg/iRKrt9/NH/X7mgrfh1fX8NoY4bi1ZIJJohFJExwVkLN+JG4YZySMqeCOKdrb4iCPi+ge2AHM6Zltj/nUb0/zqP17EottdT2uoXaJbyzW74u26Sh5VaQBchNwJXdG+cZxgYwO9/onim1ux+BMjnk7M7ZBjvlGw2MeoGP/wCA2y+GbC8dbpo4rksBscuZYsDsVUsYx27qOfWrueZY0ZmIVEBYk9gqjJP6ACsz/wBnek5ls5Xs5Tyengwuf54D5G/UbT96p9T1y81OY6fOIhHA6yXUtux2Ou3dHCUkJIJYEMMtyvbigYNQuzqU6SkEWcJ3wRsuDNIMgXDA8rGM+RTyfqPcCk3w/qssmord+RYLtpLVAu4GQQBmjmIJxnA25z2yMetXniqZ5DHYWxCNKPxWAH4NqPKxAOOWztUfZu3eujWqfN2tvEAqWaPMyjsu5DFCuB+Y5djn0BPrQeJ52gvGt7W3Z5LmITKqL+EJVcxmR8EBI9uzcw7lR+Y86B4O8LCxgKlhJNK7Szy4xvlc5JA9FHYAdgP1pDvpo49a0ti2yRjNEeQAUMZ2qfuZGAHuSR6CtaoCkv4puXtorVW2m8nSJsMAwiUNLKQD3G2Paf8AF98F0pD8Vzl9Vt48HbBbSzZyMFpZFiUEYz9KP6+v25CH4g1gW0DzFSxHCIAcvIxwiDGTktx61w8NaabeDdIS0spM8zE95HAJHbhVGFHHpS/46s5bl3WF2jOn27XpZeWMm7CJjIx5Vdt3OP8Aq3W8++BXB3B4w24djuQHIwMc9+KCw+EdmqaTbkAZl3zNgeskjNz7kDC5/lFONKfwqkDaPZkEEdIDg55DMCP1BBH7U2UBRRRQFFFQ9X1JbeF5WBIUcKO7MSAqD+ZmIUfcigRb+7FzqszqQVs41thjn8WQ9SX+gCLjnBz61WaIQt/fr3z8tLn/ABRFcf8Aozn7170h/lbN7i4PmkL3k5AP1S4cqM88Dagzz2/Sqb4WPLNFcXUxBa5lyD64QbcepCjOAPTH70D38K5ALa4hGcW93cw+wxv6gwB2UCQDHHY06Ul/Cu2It7iU/wD1F5cygYxgBxFjufWI/wBftTpQFFFFAt/EXTRPptwpz5FEvH1fgsJMA5GGIUgN6ZzSL4vm/u0V4mQbZ47kcZJjfCSLjPqj+/5e/rWuOgIIIBB4IPIIPp+lZnZ2TJ17G483TBRScjqW0gwjD9AxiJ/iTvmgl6TdCDU4pM/h3kXy+7Pl6kZaWL1wd6mQD7j71odY9on4sRsLkkXFsFG4Nh2VSDDcRsOQRhee4Yc9+WPS/iSIJRbakUikO3p3Khhby7icZznpOMYIJI9cgEUD9WbX86za1ckYb5e3hgz6q0rPKV++QFOfQjHvT/f6pFDC00jqkSLuZyfKB759ftjvkVjj6wbeyubxxsuL6V5YozgvmXywJhfqKphjxxzkZ4IQ7u66o1O/BGyOGWxhGeCq43vnPq58uP8A32TwpYdCxtouD04YkJAwCVjUE/ucn96yXxNpghsrTTk73M0VuTgk4Dq8kmBjJ34JyR9X9NtRcAAdhwKD6ayzwJ/fvko+8GnRrLJ7NdPu6Sdv+GhLnn6mX2rVKrtC8PQWcZjt0EaM7SEZJyznJOSSfYfoBQWNFFFAj/E5FU2E+AWju0jHAJ23CPGwB9B9J/yj2qgvyIdRt5SMCeJ7Ut7OHWWMHP8AFhwOO/7U9eN9Da7sZoYziQhXjPp1InWRAT6AsoBPsaSLpV1GxJTyNINykggxToeAeMhkkGD9s+4oJU1z8teW935RHzbXDHjbFKVKSFvRUlAyT6OewGRb+MfhrYXYM0ii2lHm+ZjIjYHPDMfpbnHJ59iKXfDetG6iaKdAtxHmOeE4OcDBcLjmN/TAx3HNQX+GOnLudoAFyGOZHCLtzn83CnPIzjgexoE6zm1N7prW01AXUaZ3XQG6NQSe7uhO72Cs3fg98ONtarptvHBAqyXc+MAlvxJAvnlckkiNeSe3HA5NeovEHUXo6ZEjrGdhlI22sWATgbeZD9k45GTzVpoegiDLuxmnkwZJmxknJ8qj8kYzwo4oOFpbpYQSzXEu92/EnmbjcwGAqj0UfSqDHf3NLvgrX90JeGC4vLu6kLzdOMiNHJ2ojSsNiIq49TgN/SZo5OtaiERiLGyYSOy7sTSggoM4xgEceuAT6jG1YoEjw18PmS6+evXSS5C7YkTPRgXkYXd5nbBPmOO54p3oooCs81aUnWZgey2kOP3lmJ/1rQ6QPFURj1eF84We1kjwB3eGVHGT/hkbH6H7UHnwiP8A4vd//i2//wCyaouiHCSQMDm2kktiCACVQ/hNgdg0RQ8Y7/avOm3Bt9biY56d5A1vn8omiYyJzjGSu4AZ5Jb2FTPEcAt9URhjbfxENwB+LajKnOcnMbkf5Bz6UB8HB0oLqz37vlLmRFBOWEbgOpxngElvsSG+9aDWP6tqx03UIL47vlpF+Xugi5/iMcjc84JAzjgKQPqArXYZldQykMrAEMCCCCMggjggj1oPdFFQNa1yK0iMszbVHAHdmY9kVRyznsFFBMmmVFLMQqqCWYkAAAZJJPAAHrWfajfnUJUkG4WsLLJB3VppAD+KwKhhEA2FXI3ck5UrnzeXM1/zcKYbfOUtDjc442tcHJBIIz0l4BxuLdhzt43v5Xt4WZIY+Lm4GR7gwxHsZODuf8n+I8Ava8GvElnYAabZZkk3A5u5ot2Il94d+ELcAknB4BWxtYWtLCGGJf7xIFjiXA/+ZmyxJA8oRWLMccBEPsKn61rENz09OsRm2hKdeVRmDpxEEW6PzucsFBK9gG5zkCR4Vt/nNQe4IBhsd8MTc+a4fb1XHGCEA2dzyWoHbRNLW2t4oEJKwosYJ7kKoGT9ziptFFAUUUUBS1458MvdwhreRorqDc0DgjBLDDRuDwUfAB9iAfTBZaKDHVjGoRhlzaX1s3TbjLwvxuVhx1ImAIAPB574NH9ursaHVIo4c5AdvNbyjByVY52NjPlJyMjB54dPFvg1pGNzZFIrvHmyPw51GMJIPfjAccrnvilNPFkJZre9T5SXkNBcY2MOBlX/AN26n9fQ+goK1rDS42XpjrFcOlvBJJOM+h6KsUHPqwC5PJ55l6doE81583elfwiflrcEMIwT9bMODJjHIJ5xzwALK31CygjyklpFHz9DQqpxgnG04PfOB7/evEPiIXTGGwInmK5DAZgj9mkfjjPG1ct9qCR4etVudRe5dgLbTlMaE4CfMMuZXzn/AIaYU5xgk+xpiXWr25y1pBFFDnyTXJk3SDnzLCgDBCcYZ2BI5281B1Tw4kMFjYht0c10OszDJl2pPdPu997xAHvwcc13+JmuXVnZGW16ahSod25ZQ8kcahExtLEvnLcAKeCSMBJj8QXNu6rfQxLG3HzULsYlYk7RIjqGiB4G7LLnuRmmauNzarKjJIodHBVlYAgqeCCD6EVS+A2b5GNGbeYWmtw/qy288sKseTyVjB70DBRRRQFIPiSyFlddYAi3u2AlPASO44CufZZR5WP8ap/Eafq4X9ik0TxSKGjkUo6nsVYYI457UGfatoEFzjrRhmTO1wWSRc9wHQhgD7ZxVbB4DtgQZOtcY/58zyLhQAo25ClR6Ag161ie50pis8U1zZD6LtfNLGvAAmX8xBON/GRzgmvsnj2xC7vmY24zhdzP/wCUAtn9uPXFBfKgAwMADsB2wOOMcf0pe1iOfUGexsmC48t1cHlIkbvGMfVMw/KOwyCRnKz7TTb6+wFRrC3OcyybTcsucDZF/wAIkE+Z8kYGB6l70PQobOBYYE2ov7kk92Y9yx7kmgorVlsUjsdPtxPIgXfl+nHGCAOpLLtY72xkKFZiB2wBXU3Oqxje0VlcADmKJ5YpM8fS0oZG9eG2Z45HavXw7tx8hFMcGS6HzUrYwS8/nIPJJ2ghB9kH6VWeELm5N/OhuZbqCJCk0joqRi66menEAOAiZDDLYO3mgbNI1dLmMSJkc7WRhtkRx3R1PKuPUfoRwQTNpaFuItXBTAF1bO0igYy9tLCqOfclZyucdkX9mWgKV/iHo8k1sskClprWRbiNB3k2hlePI58yMwx6nbTRRQZffWkWoWqlJWUMVkimQ4eN0PDDsQynIK8Ecjg9o/iXxFHc6ftkkSHUbDZcBJvIWeHhmQsfPHIucbSfqXPNT/G3hiezka/09WkDHNzZDcVkzgdWMKDtkHGcDkDPuDUXPiKwmAW8WOORO8N3FtdGYDIAlXHoOV9Mfag7xazZ6la7DJGVnXaY2dRIp4ONpOd6kAggdwCMiqfQvGE2gOLW4BuLJ9zwSKw6qDglMMwBA77RjJbg87a7aroWjOoeT5NV7Bo5FjBx3x0nG7kj3I4zXPRTZrn+zLNZ2QlTP9MSsMcGeXLFuc4QHPH6gHOf4hzXBK2Fs2wgEXdwDHDg/mWPiSQe30j34xmlmeOB1mvrkz3DZEbOORuKjbDAmcZIA8oLHsSaDY30p/EuYrdf4bdNz+oA6s37HOwe3FV0fwwtOqZZWnnbO7MspOOQRkqATg+59aCfc6ursBcS/JxZGbcHOozZAIRYoizQqdw5+vAONo81S3mku4xB8uLKwXgW/wBM0qj0cRnbFET3QEs2OSAcGtstas4HMFjCZpMZMdpGGxg4O9wQvp3ZvT9KuNO0PU7rAlSPT0/MVdZ7gjPZcDpJkfmO4jIwPYOQtGunFlakxxqu2eePgQIMfhIV8onYcAfkXkj6RTq8lvp1qiAbI49sUUa8szE7UjUE5Z2P9SSSe5rvoehxWkIihXCjJJJyzMeWdmPLOTySaqL8B9XtlftFbTTRr/4jPFGWxnkhCwHtvb3oPsS6nN5y9paAgERGJ7hxn0dxLGu4eygjvycZPuy12eGRIb9YlMhCxXERIhkkO49Iq/mjkwMgEsG9Dny0rfEOaJblWSdxdpLaDpb5FkETzAH5deFYt5t/EgwCCBxTj40tEk0+5V+B0XbdnG1kUurg+hVlDA+4FBd0VC0W7aW3hkfAaSNHYAYG5kBPB7cmigm0UUUBXC8sY5VKSxpIp4KuoZSD34YEV3ooFcfDDTA275KDOc/Tx79s4x9u1MFhp0UCbIY0iQZIRFVFye5woAqRRQVXiXRDcwhVYJJG6TRORkLLGwZSR6qfpI9mOOcGqPUfEVlcRNaalttm8vUimcxKxRgytHLlVdNyggq2ePMAcinGucsKtwwDDvggEf60C3c+LluMw6cyzynhpl81vACD52ceVjxxGpyT3wOaudC0dLW3igTJWJQgJ7nHdjj1JyT9zUyOMLwAAB6DgV7oCiiigKKKKD4RXKGzRDlUVT2yFAOP2rtRQFFFFAo21wNK3Rzbvk3kZ4plQsIeo5dopduSE3MdsmMYOGIIBaHpmo6LZtvtXtzI42Klu/VkbcQdojjZjknHpTy1cktkU5VVU9sgAf8ASgpdA02R53vbhenJKixRw8ExRKS21iODIzHLY4GFA7ElgoooCiiigK5zWyv9Sq2PcA/9a6UUFfD4ftkZmW3gVnOWYRoCxHqSBkn9aqtQ+HdnK7yBHhkf6pIJZIWPbkiNgpPA7g0y0UCTP8N3JUJqN6keSWU9Fn7YAWUx7lGeSDkH2Hevtz8JbOVlMz3cyjvHJcytG7c+cjPDc9lKjgcd8utFBC0rRobaMRwRJEg/KigD9Tjufuam0UUBVN4g0Z5WinhbbPblmTJwkiOAJIX4OFcAebB2sqHB24NzRQKq+O7QFfmg1pMo5SeNlYE8HZJt2Ov8yMR29653czaovSjWWOzbBlmdWjeZe5hjRwHCN2aRgARkLnJKtjGvQoCiiig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098" name="AutoShape 2" descr="data:image/jpeg;base64,/9j/4AAQSkZJRgABAQAAAQABAAD/2wCEAAkGBhEQERUSERMVFBIVFRYYFxgUGBcZGBkVFBYYGBoZFBgYICggFxojHBsWIS8gIykqLC4tGiExNTIqNScrLCsBCQoKBQUFDQUFDSkYEhgpKSkpKSkpKSkpKSkpKSkpKSkpKSkpKSkpKSkpKSkpKSkpKSkpKSkpKSkpKSkpKSkpKf/AABEIAKQBNAMBIgACEQEDEQH/xAAbAAEAAgMBAQAAAAAAAAAAAAAABQYCAwQBB//EAEYQAAIBAwIEBAMEBggEBQUAAAECAwAEERIhBRMxQQYiUWEUMoEjM0JxFRYkUnKRB0NUYmOTodE0U3OCg6Kj0/FFkpSx1P/EABQBAQAAAAAAAAAAAAAAAAAAAAD/xAAUEQEAAAAAAAAAAAAAAAAAAAAA/9oADAMBAAIRAxEAPwD7jSlKBSlKBSlKBSlKD57feK7xbmULq+HkuBFCUjBKCzMbXQYlfNzEFzp67w4G5rt4N47Z7W6vZE1RRxJKoibWBqi1GEHQv2inGvdgC/UYIFtvuIRQIZJpEjQbFpGCrk9Bk7Z9qi5PGlkpw0uDvpBSXLkdovL9q3cBMkjcUFdtf6SLiTZLNS3MjQHnMEfmy8pTE3KJZQRKSxAGIWIyCKk7rx2I7W2nKIpuSwUyS6IQqo8mtptBIVkTK+TJ1AYG+O0eK8nazvSNsMYcZGM5AZgw/IgH2rr4VxqC6yqZV0wWilRo5E/dJjcAgHGzYwcbGgpNp/SpI8xzCI4jpAWd+WyySMkYEh0YhjWRLoMW1MSowB5Q164FxM3NvHMUKFxnScnoSMqSBqU4yGwMgg9662t0PVVP5gdCc/8A73rZQKUpQKUpQKUpQKUpQKUpQKUpQUq//pHEVxPAYlXlywxRM8gAlLNCJzgAlREsyOeuRk7YOJLhvjaCRJ5ZMwxQpHLmQENyJULJKQM4DaXwvzeXcAnFSh4DbFlYwoWSSSRSRkiSUEO2fVgSD9PQVhbeG7WOF7dIUEMgIdcbMCoXzZ3OFAA9AABjAoIKD+k+0k+7SaQhlV+WiuEZ5FjQMysVYszqBoLd84wcSf63QciKbTIec7JGirqdpEEhZfKSowI3OotpwM5rpj8NWq4xCgKmMg75zE7yISfxEO7vk5yzEnJrIeHrYLEoiULCrLFjI0B1KNpI3GVJGetBFL/SLY6Vk1uImC6ZDG+hmaNZdAIGdYjYMRjpnqVYDcvjuxMscQly8jaUwrEHLtGpyBjSzKwVuhxkHBBPqeA+HgSAW66ZUMbLl9OllCNoXViMsoGWUAnqSTXTD4UtEnW4WELKiIikFgoWNWRMJnRlVZgDjIBIzQS1KUoFKUoFKUoFKUoFKUoFKUoFKUoFcHE+IFCsceDPJq0A5wAuNTvj8C5XPTJKr1YV2yOFBJ2AGT+QqK8Pwlw11IpEk+kgHqkIzyoz6EAlmH7zt2xQb7HgyRkSOTLPjeV8Ft+oQdI1/urj3yd6hHvdT/FYEkryvbWanOlcag7N6ZMUrMw30KqjfY2o1S7ZuVZ2Dtj9luFik9ARzbN2yOgDtnJ7DfHYJxuAytgte3AbG/LEKLn2XlnA/Mk+5rgubSYyrFLIBMutrS4UYJOPNFPGMK+2CVGA4BICMgItFQ/iq11W5kClpLci4jC/MXhy2kfxrqjPs5oOjgfFPiIQ7LolBKSx5zy5V2dM9wDuD3UqRsRUhUFFKFvEePeO7hLNt+OHRof82jcg53+zT0NTtApSlApSlApSlApSlBw8Z4NFdwtDOupGx0JUgqQVZWXdWBAIIqqeFP6O5+GLL8Pes7yuWb4iPmIQMhMgMrBgDuQ2DgbDGKvNKCCPHpYP+Mh0IB99Dqki/wDEGNcXrkgqP369XxjbOwW3L3RJAJtlMka5/flH2a/lqzv0r3jcBuJo7YkiAo8k2lipYKVVIiVIIVyzMcdREVOzGqvxK7ltnduHcqCJXMQgEes3UyFeb8LCmOWyDUur5WZTrCqushaP1jlGC9jdqvc4t3wPUpFMzn8lUmpHh/E4rhdcThgDpPUFWABKupwyMMjKsARnpVOsr3itwgltGGnURi/WNAQrFXXRbBnRgRjzkEb5XIrZxS0a5YKxaw4npBSSFzyp9AY6A+AJlA1eR01oDqAxuQu9KqPCPElyqEzRmZIzpl0KBcwMBkieBciXbBDwnzAgqhBBq0Wl2kqCSN1dGGQykEEexFBupWi7vooV1SyJGvq7BR/Ntq5YfEVo5wlzAx9FljJ9egNBI0rwMD0r2gUpSgUpSgUpSgUpSgUpSgUpSgiPEAMvLtR0mY8zr9xHgyDb97KR9RtIT2qXAqH4Piaaa4xtqMMZ/wAOEkOcdiZuaPcIhqYoFVriVt8LJNI0fMsrhf2hAC3LfQVaQpuXjdAquF3BUNg6nIstKCB4LdtCVt5ZObG4zbTk6uYmNQjdu8ir0bPnUatyGqdNVnifC47YEcsNYu2ZY1GOQ+Qwnh0YKrq8zY3U+cYw2enht+0DJFNJzopAPh7g6fPkZEcpXZpCPMrgAONsAjzBGcFkZPgo9WRFPd2xDNg6YRKIzpA3blxoeo2YnfO1xqowswucADT+k2AwvRW4cWY5/wCoWyff6VbqBSlKBSlKBSlKBSlKBSlKCtcV4k1tfpI4Itmt9Mj58qNzRoZh+6NRDN21qegYjRw21isb24abC/FSgwSsTpw6gvbgsfs25okk07B+ZtkqQsp4g4c76JolDyxawYzjE0MgxJCS2w1YRgTtqRc7E1DWkpMZW3iW6s945LWTSs9uyjePTKdLr0AjcjAIKsU0gBKTRC2u0dNku2KSL256xl0lG3UpGyN64j/dOZLinDI7mMxyDY4IIOGVlOVdG6q6nBBHQiqgLXh+F1wX0LIcgJHfppcAgsiwZQEgkZXqGI3zW0tZ53l4pgbAY4nt9QmTvnck9fTAAdCwTtKRqROIQKNL9Iru21HAkUdBnIOMmJzkZV8Pw2cjXTPdW7vYWrBviXblYkeMgGSAnKLgKwNx0ZcYBwGTSeBWvELgCH4kiE4mlmlvVZAyrmCJZmGlpU08w4+Qju6ss5MI5yzPpTh9pnY6eXI8O5Zh05UOnAG3nUnH2akhx2PBVmPMt4EgQkn4i4Qy3T48uqMTZKKVzhpCTj8GDmoviN34eRlN1LFeSrkZYNdFc9cxxKyR59lUbD0qQlWXigZ1bQsL7WcylRKATg3qkawsi4ZFxhdmYSHKLI8K8RtIpWGzdDHlXiZ4EaNgWCqUDnAOMg9CCCMigjbdeCsCbbTA0ZOfhVlgkBAPzJEFZu+zAjOe9d/CfFcSs8U8pIQoI5pUaPmB84Q6lUNKpU50jBBQ9SQJKPiF0XI+F0rvhmmTf02UEg1hLd3+Tot7cr2LXMin6gW5A/maDZL4ntExrnjXV8uo41fw569R09ayk8RWwBPMyBsdKuxz6YUE5rTHdcQJGq3tgO5F1IT9B8MM/wA6ydr5tWBbR9NJJll276hiPH0NBg/i61BI1SbHG0FwRt6EJg/mK8t/GFrJIIlaTV5esE6qOYSqa3ZAq6mBAyRk7DevLmDiRxy57Qbb67eZt/YCcbVC3XhniM1wkk80DRpyyVgEkHMMUiyxiYPztSq4yNJU+Zs5BxQXWlarZnKKZFCvjzBWLAHuAxCkj3wPypQbaUpQKUrnu+IRQjMsiRjBOXZVGB1OWPag6K4OOXTRwOY/vCNMf/VkOhOvbUV+ma22PFYJxmGWOUesbq4/8pNctz9rdRp+GFTK3Tdn1Rxj+XOP5haDtsrRYo0jX5UUKPyUY39630pQKUpQKrN/w9bQMNGvh8n3sZyeR/iRjfEWcalGAmNYwNVWao3xLNotJ2xk8mTA9WKkKPqSB9aCscIsXt7yC3k1yKHu50mchubrVArMVwBIqu6EY3HmHU6bzVFs4OXG9gh5lzw9Yp7fzHUy6W0xsx9ftITj8DqdicC6Wd0ssaSIdSOqsp9VYAg/yIoN1KUoFKUoFKUoFKUoFKi7rxNaxuY+ZrlX5o4VeaRe/njiDMv1ArV+tcP/AC7v/wDDvP8A2qCZqM4jwFJXEqvJBOF082EgMV3IV1YMkgBJIDqcEnGMnPP+sbPtb2txIfWSMwID/eM+lsdPlVvyO+NbcOvbkkXEiQQf8u2ZzI49HuGClF67Iqn+92oOWzN/JLIkV1G0MQVeY9tktLlg66llVWK4XJVQMsR1UgecafiEERK3ULSsdESfCtl5WzpX77Ydy3RVDE7A1ZLS0jhRY4kVI1GFVAAoA7ADYCq/+lEZpL6TJghzDbgDJdy+h3QfiaSTTEv8OQcOaDGS3aCKOxgfNzOWaWUYVlVjqnuSN9LEkqg3AZkHyqcc9/w97kiCzZYobFoyFx9lLcRlXWF8biNAFJIydTqdzGVPRLzreMuSrcQvHVF38iHDEKoPWOFOY56aiHOxfFTvCuGpbQpDH8qDGTjLHqWcjqzElie5JNBCGcXREluwhv4Bh4ZCRscFop1G7Rk/LKoIBOpSwJVsb++spQJLstZzRjGuR2gdM9VWZSFlTIzgMyEgZG1Tt/wmC4AE0aPjOksASuRglG6qfcYriXwnbdHEkq/uzzzzJn+CZ2X/AEoIZDbSHmw3V7dZXSnw8rtF5QOjRhYdWx80jdcjPYdfDfCxbW9w82JMaYfirlwgBzlmMmGcnGdICjAAzuzWSOMKAqgAAYAAwAB2A7CsqCJh8LWynUFYnGPNLKw/kzEZ961/qVw/+yQf5a/7VNUoIX9SuH/2SD/LX/an6lcP/skH+Wv+1TVKDms+GwwroijRF9EUAfyFK6aUClKUEFxO9aSdoFkMUMUXMuJQQpAYkLGrn7vKrIzNsVGnBBYMIU39tABPFbW0cbeZZ7yUQyS9Drj1RySyder6WORgEEE6OL3TSpxeOEhp4pIX0uCQY1gt2KFR5nQlJlKjY5YdzVp4JwaKNVk1CaZlBa4bBeTVvkN+FDkkIvlAOBtQVO647BNJi64dI6EZ+Jt4blinYEuYI5F9miLbDOwrn4NNdwt8bHcrNZ3RGjnDXoAfREJZkAdQ6afOwblnKupPmq4cRuPiJPhY91BBuW7KmAwiz3eQEZHZCxOMpnVxLhhgJngXMZz8RAFysqn5nRQNpQN9h5xlSCdLKHdw3jCylo2BjnQAvE3UAkgMp/HGcHDjbYg4IIEhVOSBFMScwctt7C6zqZeYA3Icn51IA05OHQAHzIGaf4PxUy6o5QEuYgvNjBJA1Z0vGSBrjbDFW9iDhlYAJKlKUCojjOJZYLfrl+c++PJblWX684w7dwG9MGXJqoz3EkkEs6HEl46QW5XGVhJKpIp7+Vprj8iB2oMOGgCS3uhnN1cXI8x/qpYy0ZAIyMpawbbYz7VL+Ej+zlOgjnuY1A/DHFcypGuOwCBAPbFazy/iVRcCGzhyQOivINKAehWJZNuuJB6jO/wnCVtIi2dUgaZsjcPcO0zA/kXI+nagl6VwXPHrWP7y4hTYnzSINh1O57VxDxdC+OQk85PQRRPj8+ZIFjA/NhmgnKVW+KeJLuKJ5lsvKik6ZZ0V2PZVESyAljhRv1ONhvUpwLibXEOt0Ebh5I3QOHAeGRo20uANQyp7A+oB2oJClKUHjNjc9KgI1lv/ADFnhsyPKq6klmB/E7bNFGeyrhiMEkZKVs8S5kMFqPlnlxKPWCNGeRfcMQkZHpIamyQBvsBQaLDh0UCCOGNI0HRUUKN/Yd/et+Kg08XRSZ+GjmugDjVCg5e3XTLIUjf/ALWNetx65H/064O/4ZLQke+DMKCcpUGPFBGQ9peIQenKD9s5DRMyn+dG4ndzeWC3MIP9bdadge6QxsXc+zmPr17UGfG7wuwtIWIllGXZc5ig3DSZ/Cx3VO5bJAIRsctnapPOpUAWlllIlGymdAY3b0KxLmMejGTuimtLusebK3laS8l3mm2LxrjDTSkbI2PLGmMZwANKsRtlgSRl4fb+WGIL8TjshGVhyerSdWO50ZzgyK1B0cEX4iQ3rfKymO3AORyCwbmemZSEb+FY++anK8AxsK9oFKUoFKUoFKUoFKUoFKUoIvxB4mtbCMSXcoiRm0gkMcnBOAFBPQVt4JxyC8hWeBtUb9D0OxxuOoPsd66L2yjnjaKVFkjcYZXAKkehBqNHgzh+APg7YhVVRqhjY6VAAGWBJwABQQDxsvEZuSytcoROsepftbSZYo5oiD8jLJGrqdhlkGcO9ewwyOCthKywHJltcrHcQkg+SEuDyQSd1PTYxso62GTwraaAqQpCVOpGgVY2Rgc6kKgYPqOhGQQQSDG8T4HO5UyQwXmgYRyTb3C+ul0BG+3ymPvt0oOmx4vDboEMFzDgEkNDNKc5OS8sYkDsTkkliT13zXSvieAqWC3BA9La5z9By81BPZunyxcUTthLiKUbdwZZmIHtt06UKzHbRxbt/WWg6e+vag1rLGJDbvb3Edlck7yDQsVyzqU5RDZjEjbjAGmQDG77diwzM+GYfpC2BKPukdzA/TmAAgBiAGxkxuoYDSwDR95wqedDE0PEWVxhllubVUK9wzRuzD6DP5da7bSSZljhvG+HvEZjby6lfmqM4DkBVdyuBJGAM41LjYoHRwvj19cxCWO3t1ySGWS4k1o6nDI4EGzKwII36bEjBrolvr1VJkNnCdsFpJHHXfOVj9QKr3EuBi4lZxb2o4mIxzIrlC9rOuVHNQ6ckr01gahlVcYKEcd5O1qPLY4ORmKDhTPn/wAWOVo8Yxvv16EgiglOLcRaeKS3l4jw+MsBqCAsxi6upUzg4ZfKSN8McYOCNUlxFLJHIeJF+TrKJa26NpLqVzp0SkYXUoPoxGd6y4bDxaVUCSmAfiaSCFI1XssMO8jkDC5fl+uPw123bXBYwwX00twDvojt+XHnvctym043OkEM3b1AQs8VoI5FkueKzJKzvIi286mQuMFWMNshwRhQNQGAB0AxrkvrVjtwriNx0w15HcSR46jPNaRgATnGj3A6VdU4TcacNey5wN0jt1wQN8Bo2G539qw/QU2MfH3Oc9dNnnvt/wAPj/4oIC1vriNf2exjgDAbxW8rHbIw6OtuQQfzyPSuo/HyEh/i126wixijPTYa5JZV3z3HvUqOBT/2+6/+2z//AJ6fq1nPMubpweo5xj39RyQhH5DA9qCAk8OvLjXYGXTv+2X8rgHIwUUcwBhjrhT061M2y3sUaxw2tnEijAQTyBVGeihbcCtx8J25ABa4bGcarq6J3x3MmewryLwXYKMfCwttg61D5/iL51H3O9BI2F6sqZDRswwH5bB1V8Alc/XuAcY2rprVb2qRjTGiovooCj+QrbQQfGzoubOVvk5kkRPo00Z0EnsCyBP4nUd61TxC/neN97W2dQy5GmafSr4cDrHGCnlOxcnI8m83eWccyNHKiujDDKwBBHuDUF4MhWJbi2Gcw3UvzMzMUlImQksSxGlwuT+6fSg2rxK4udXwYjjiViommVnDlDpbkxKV1IDkBywB07AqQxzPAbht3v7gHuIktkX6ZiZv/N1/lXBwXjMVhDHaXjLA0CiJJJPJFLHGMJIkh8gYqBqQnKtkbgqzSEvjKyGy3CSvnAjgPOkJ9o4tTfXGB3oMR4dn3H6Qu8Z9LQkewJgzj/WozivDYwwg5txdXLjIje4kRAmQC84g0qIxk7Eec7DPaR+Mu7jJVfg4P+ZLpM5Hqke6xD3k1H1QVwcJnZwU4cg5JJMl5OWfmv0LRjZrk4wOYSEGAF1BdIDCx4bFw3NtZRxvfXB5kh0BEUEkc2YJjREu4SMbscgEku4sXBuFLbRCNSWO7O7Y1SSNu8j421Mcn0HQbAU4TweO2QqmWZjqkkfBkkfu8jY3P+gGAAAAB3UClKUClKUClKUClKUClKUClKUClKUClKUClKUCtF5ZRzIUlRJEPVXUMpx0yDtUNxvxO9tIVWLmjAAAZV8wVmfUzHGAvK2xnzE9Bt28R4s8bKEjDjya8vpZeZIqLpXSQ53c9R8nvQcbeBbEsrmI61zofmS60z10Nryh2G4I6Cti8FuYxpivHI7c+NJSAOwZdDH82LGo5fHXn0mJdIjilcrMGKJNqKhhpADhEZyueg2LVt4h4y0q/JSN3UPjXMqozosRKRsAdbapVUdBkEEig7f1fkk/4m6lkH7keIE+vL+0PuC5B9KlbW1SJQkaKiKMBVAAA9gNhUTxjxCbeSOPQrasFyXCEKTjMSneQjDMVG4A9xWPD+PzSRTu8AjeJQQofXlmhWXQ3lBVhqUEY7gignaVW7bxUyZS5WIShhGOXKCJJCYVAjDKD88jqf3dGTswrt4Dxd7nW2FEeIig35g5kSynmg7DZ1AHsc0EvSlKBSlKBSlKBUXxLgQkcTRSPBOAF5keDqQEkJKjArIoJJGRqGTpK5OZSlBA8riYGC1nL+ayx6h6EZcKSPzHt2pGOJsAuLOABQMgzT798IRFgdMDJ/3nqUEGnhVXIa7ke7IwQsukQqR3WBAEJB6F9bDsanAKUoFKVV/FP6QD6rMErpQHddvvmYqrKw1FlgXJB2Zvl+YBaKVB8SjvSIxGxBEfnZBHhpSY1H3gbCAGRyAM7AA9jEu/FDKNLOAQNWqOHliUSaiq76zFoyuokHcEEnIAXKlUu8m4m9vgCZH5YRCi2/MaYRqRJKCSqRGQuCo3GgdmqQ4tbXqyWyWztykAD5CNq0snzsWUjKBxsDnV2IFBZKVX7G0vY4p8ytJKYwY+ZysCblktpKKMJrKgAjbSeoNaZbK/V1VJWMQYbsI2cgNHkyNlMDAk2Ct94dhpWgs1KrcPD7qZ7czlwkRjZhqQapI4pAWZUyGVndSFzsYgcVZKBSlKBSlKBSlKBSlKBSlKDF4lbGoA4IIyM4I6EehrKlKDULVAQQi5BJBwMgt1IPqe9ZCBQAAowvy7DbbHl9Nsis6UGJQZzgZGcHvv1x/IVlSlAxSlKBSlKBSlKBSlKBSsXcKCSQABkk7AAdyahn8Th/8AhYJrkbeePQsW5xlZJmVZB13j1UE3SoJ/EFwoJbh9yQBn7N7VvpgzA5/IGn65W6/frNb7gZnhkVd/8QAp7fNQTtK0Wt9FKNUUiSDAOUYMMHpuPWt9ApSlApSlApSlApSlApSlApSlApSlBhLKqAsxCqASSTgADqST0FRI8WW7fc8y49DBG8iE+glA5efzbuKiPi0liF5cKZhJIFtLfbT8zLEQp2Mjgcwu/wAi+mli0p+i7yXea65Q/wCXaoowD1VppQzN/EqxmgzTj0zbLZXPfdzboM475l1Y9wprwcauR81hOT/hyWrD+byoc/T60XwnF+OW6cnrqurkAjpjSjquPpXn6nWn7sn+fcf+5Qe/rNp+9tbuM9vsubn627SAdupHX2OPP1zsxs7tEf3Zopom+gkQEjruNqyPhhR93PdRnrn4iSTf8py4+mMe1eHg90u6X0hx0EsUDL/3ctYyfoR9e4dFv4ms5Dpjurd2yBhZY2OTsBgHr7VI5qBubC7ZcSpZXWQRh1kiGDgY83OyMZz67VW+Jm0gDCXh1os2PIsT27vnBweWwQkDHRQeh2wDQTXFfEdyYzJZpCU5qwo0pc8yQzCE4VMaY1YnLkk4RsLjBOPFmvYzHFBcGW7cO+looltwqlctLgcxEyVUBWZjk9cErq4NmXhNq8UZElukJ5WnDq9rhJoVEnR8LLGM43PUday4zGZWhvraSQwNHomMG8vJ1agYgc6cPkOAusjYbqAQ3XvELuBVNze2MBborQyHJA3CFrhS59gufatdj4ouwWDWk1ymnKyww/D5OT5DDdShtl0nWGIOSNiMVwReILaECazti0bkq17OXEe2QTJMweYqCCNTAJkY1ipHisHElIf4gNAAS62kKLMNxgpzjKJQBnKgBjny5OFoJmw47HK5iIeOYLq5cq6X0/vL2cDYEqSASAcGui84nDCuqWWONfWR1UfzYiqZElhdBZVtrviGCxR5Q7Jv5WMYuGSNemnygE479akbOzdDqt+FW8JON5HhjbI335CSfQ5O/p1oJN/Flt+AyS74+willGR/ejUgfz3rF+PTn7uxuG32Ltbxr16nVLrAxv8ALWm5uL1VLSzWdsu5yQ8m38TvGBj1xv6CoO9uoZtm41Ow7iz5AwT6tFE7oNzjLdupIJoJ83/ESMi2tkBP9ZcvkD3CQEZ9g1cNn4ykF8LG4jhDsoKtBNzN2WVwroyqy+WJzqGRunTVVei8PWOCTLxCYtuXmsTcM3oeZNZOxGOm+MdK7uH28EIxBLxCLPaPhyR5Jx1xYgdh1ONvagv1K5OHWjxqQ80kxJzmURAgYG32SIMfQnfrXXQV/jkQuLq3tZN4THNO6YOJDA8Coj9imqUsV7lFztkHnsYpeI5naaWG0Y/YRwkxtJGpIE0sgAkAfqqKV8uknJOF28XblcQtZW+7ljmts+kshjlj1b9GEUi5x1Kj8VZeDpeVELF8Ca0URgYxrgXywyqMnKsgAJ7Orr2oMl8FQD5ZbwH1+NvD/o0pFejwzIoGi/vFIGAS0D9sb8yJs+ueu3Wp6lBTb7wbMz81ls7p8jzSwmCcYUjy3MOSu5P4O/WtDW08GQU4jCBjz2863qdx8lwGlIHtHuD6gYvNYySBRliAPU7D+dBTbLj0xbRHxC1kfIxFdQPbznoMfOpGTnB5R6jr3mBxe8j++siw/etpUkH1WblMO/QNWq98TcLlGh5recdCi6Z+2+UTVt74qIdOGoC0EN7Hn+yQ8QjBOwyBGojboOuQcb5oJ1PF9t1k50PqZ4JolGcfjdAv+vY+lSFlxeCf7maKTbP2bq2x7+Unaqk3ELmMjkPxCTJACz2kbqAc9W+ybHQZLk9z3I5n4k7Ppv8AgzyJuedHDFIdX4iYQzuu2N1ZydwM4oLdf+I7aF+U7ky4zy40eWQL+8yRKzKvuQBXHN46skwHkdXZgixtDOsrM3QJEyB2z6gYqG4V4fs5Q83CbuW3kLEyBWd15mNP7Va3GcNsOyPtsR1rVaeOA0ktpxGKOSNcK9zbq0tmcnpcZBFuw2yGJA7kDegsQ8Y2gOJHMBwSBcJJCWA66Oao1/kuTWi68aIjonw12xlzy9MQBYAAk6WYOqjIyWCgZGeozwcOsAbmTXMXsbI5jEmMLPpJcM+2tIUKhS2cM7ZJaMadV5x5bO3a/mKRzXciRw88kLHGSeUHHVQqa5mXIOpmGRtgJ+18SozrHNHLbSPjQJ1UByfwpIjNGX/uatXtUvmvn8k9hdRETcQurhHxkrrVCVI+URRgLhhkY3BHXO9dcyWjDDfpSYnup4koIxnqmiPGPTr70FzdwBknAHUnp9TUNdeNuHxkKbqEsSBpRhIw1EAFljyVXJHmOBuN6iI+HwA614TNIwYYab4dmxnYgzzFgB1wcEZ6Zrh4pc3Mk0YezktbZAyHMXxQlR3jdlEVoWMRzGuHZvxHYnoH0ClabS6EiB1DAHoHR0brjdHAZfqBXtBVIOH+X4AuIriCQzWbncNGHZkKjILKqs0MiA50nqA6mpJPFQjwl1DNDLjfRFLNGcbExyxKQR7Npb1UVK3/AA6OdNEqhlzkdQQw6MjDBVh2YEEVGLwK4i+4vJMdluVE6gegbKyn/ukP+4ZL4ttz0Fw2Oy2t0T/IR0PihT8lvdv6/s8qY/zgmfpmvRbcQyMz2xHf9nkB+g5+K8PDL1h5rxVO/wB1bqoI26iRnOevQigxfjd233dhJvjBmlgjG53J0PIwAH93PbFZmK/kzqkht1/wlaZ8Z6h5NKqcesbCvV4FLuGvrlgRjparj3BSEEH616fCtq2DJGZiOnxDvNjcnYSlgNz2HYegoIh7ixbUkl3NeNkBljd5CMZ2aKzAGOudS+ntXbYtIi6bSwSBM/1pjhH5iOEOSemzafpU9HEqgKoAUDAAGAAOwA6VnQV1OEXcMjzxyRu0hBkg0GOJyABqRizMkuAoLbqwUZUHzDjluL1JhJbWUqhz9vHLJbCN+2uNklYpIPXRhgMHBwRbqUFRaS5Sfmw2MypJn4iNntdD7bSRhZTmXOAchQync5Vaxt+Jw26GWzkVrdR9paalDxHbaFHIMLL0MBwPQKchrhXNccNhkOqSKNzjGWVWOPTJHSgp03FLa5Vm4VPOJpst+zJ9mztnzz86Jo4t/MXwrsMfMdIqfh8LqY0WeaeZwBrbnTRh2wAxMcbhQpIJ0YwM4qbpQRlp4Zs4iDHbQqQc6hGurJ2JLYySfUnNSQXHSvaUHmKYr2lApSlBz31jHPGY5V1I2MjJByCCCCMFWBAIIIIIBG4qvXnDZ1Ci4j+NWPJSaIiK6TPoF0AnAALRupOPkNWmlBSbniojXycTe39Fv7cnAGPl1iJ2GOpZm6jf11/rLCSFk47b52+4FsCWPYazIMH0xnpv63qvMUFKS9tXGPi7+8I2HJE2CdttdpHGmenVsDPYE1geFJ80fBzK2R57ySEt1O+p2lcdc7gE53q80oION+IY0rBaQjsedJJj/sESD2+YevtWclheud7qOMYGRFB5s4GrDyuwO+ceXbuDUzSggx4dmySeIXZ9sWoA/LTBUXxmzvrXRJFezyRElZOZDDNywR5HCRIjsobAbBJAOegJFwpQfP8AFjcuJpZm4lMFKBbaP7PGclXEXl0kjpPIVyDjG9dfEpbx0S2iEVo8oIjhiEcrxxdGlmLDlrGuQCiq2okKHGrInbnwrbu7OObEzHLGCaaEMc5JZYmCsx7sRn3rgsfDVxbPJ8PLGVlbUZbgSy3Cjsmsv9oq5bTnGnPRiSSGLcHhVIeFwjEEaK84GPugx0o+MbzSBs7YKpKDjIqKvr5LszXoZJrS21wmIaTqt3VDPMD1V8YZMHDRpt96GEvY+CAFZbm5muA7s8inTGshbb7YRgGQaQq6CdGlQukDape78PWkro8tvC7x40M8aMy46aSRkAelBVIfELgLHw++hvjjKRujyyacbc24hcLGoJXzSJqx1LN1sIt+In+utFP/AEJXz/664/1qZxXtBCfoi7b575l/6EMKj/1RIcem+fUmtsHBJFIJvLl8Mpw3IwQOqkLEPKe+N9tiKlqUClKUClKUClKUClKUClKUClKUClKUCsJn0qSK8pQbKUpQKUpQKUpQKUpQKUpQKUpQKUpQKUpQKUpQKUpQKUpQKUpQKUpQ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4" descr="data:image/jpeg;base64,/9j/4AAQSkZJRgABAQAAAQABAAD/2wCEAAkGBhQSEBQUEhMWFRQQFRASEhUUEhQQFBUSFRQVFxQQEhUXGyYeFxklGRQSHy8gIycsLC0tFx4xNjEqNSYrLCoBCQoKDgwOGQ8PGi8iHyQsLCopLCspKSopKiksKSwpNSksLCwsKSkqKSwpKSwpKTUqKSwqKSksKSwpNSwpKSkpKf/AABEIAH4A5wMBIgACEQEDEQH/xAAbAAABBQEBAAAAAAAAAAAAAAAAAwQFBgcCAf/EAEgQAAEDAQQECAkICQUBAAAAAAEAAgMRBAUhMQYSQVEHFyJTVJPR0hMYMmFxgZGUswgUQlJzdKGxFSMkNDVissHwQ5Kio+EW/8QAGAEBAQEBAQAAAAAAAAAAAAAAAAECAwT/xAAhEQEAAgICAgMBAQAAAAAAAAAAAQIDERIhBDETQWEiUf/aAAwDAQACEQMRAD8An9JtJrXeNuddt2OMTYTS22wY+DGIMcZBwPlDAhznNIGqGklxZOAa79UeHM08pq6SV0rmF7zi51GnfXMk44k5o4BrI39FmalZbTNM6aQnWe8tcWtq44/WOebnHaVpKDPeIe6uak6+TtRxEXVzUnXydq0JCDPeIi6uak6+TtXh4CLq5qXr5O1aGvHZIM9bwE3VzUnXydq94iLq5qT3iTtV9jdilUGe8RF1c1J7xJ2o4iLq5qT3iTtWhIQZ7xEXVzUnvEnajiIurmpPeJO1aEhBnvERdXNSe8SdqOIi6uak94k7VoSEGe8RF1c1J7xJ2o4iLq5qT3iTtWhIQZ7xD3VzUvXydqOIi6uak94k7VoSEGe8RF1c1J7xJ2o4iLq5qT3iTtWhIQZ7xEXVzUnvEnajiIurmpPeJO1aEhBnvEPdXNSdfJ2o4iLq5qTr5O1aEhBnvERdXNSdfJ2o4h7q5qXr5O1aEhBnvERdXNSdfJ2prbuAmyAB1ilnsk7DVkzZHyUwoajWByJHJcDjtyWmIQZzoHpnaW2p12XoKWqMOfDNgG2iIVOsMgTQEggYgEEAtNRQfyhYfBR2O0xksnbJJEJI3GN/g3MJLdZuOddv0nbyhBYOAf8AgsX2to+IVoSz3gH/AILF9raPiFaEgEISMs1EC1Vy/JNYJscU7DgVdBGPNLpMx41XbnUUA51EAqOtduFaBOrJJUK6DhCEKAQhCAQhCAQhCAQhCAQhCAQhCAQhCAQhCDIflIfuVl+8O+G5CPlIfuVl+8O+G5CCb4B/4LF9raPiFaC5yzrgMkpcsX2to/rV4ltKug5kmTGaZJS2hMprUroODaqLoXpRQk1q86Ta5xwaCSdgxTZpZP0rhmmdqvSu1RUl3WgD6I20LqHOlPzXkVlNf1zvBjPWOLaVpWoU5QujqO1VKsF2y1ChI7na4F0UutSpFcN1MUnZb38G/UeaGpAwpWhxUi2zS3ITOzW4OTsPRHqF5VekoBFVw6RNZLRiroPUJgbWu2WtNB4hNTa14bcAmiTuqFHfpKpzTllrCalNwcITf5zilBOFFKIXgK9QCELl0gCDI/lIfuVl+8O+G5CS+UXOHWOygc+4/wDUUIHfA3bw26IhultH9at016jb+ayPg9vXwd3sbX6c34uTi+NIDUD6JBrQkY71r6T7aUbyDqgY03FR81u8yr9zaWRMZ4Nkbmg4l5jL5CdxByx2qXsunsbaBzHOyGLWgYnlDL1LETafprJxr3MuHWok4A+wqfuWZ7Y3Oaw67qAVBAAJzx9SYxabxvqWRkGmJ1W/VJw9lfYoq/NLJNUiOMmtfKfQAcl2QzAAy86TFpn0c6xXltI2y/pYqmV7HY5BzgQDvPkg8l2FCmX/ANdFM3kmmIqCNUihqMMWuFSPxWdW5tsmfWXyak6rTQDNxFPMHfinkMDmt8ncfa3W/LFPimPbnXyKWnqV7uFxbKHsfqmo1mg8lwwBq3ZtTvhAg1HxOZg4va3z1dkCaqs6G2CSa1xtryWkPea5NbQ6vtS3CtfzmywRRUMjpmvaMDgwjE0WNTWdOsWraNwvFhme1o12HACpxIyUrHeTRmfbUfmqLYNPptWj4gcBXVOOII/z0J7HwkRnF0bxXLkk1riDhv5XsXSItr0xbJjpOpldG29p2hevtrfrD2jtVIZp3FSvKAOqBUHbVtaau4ApLjIi8wOGBFAMifo+kLPKf8b6XGS8m/WHtCQfaxsVdGl9nkwDm7voO2kCmR2t9id2S02d4qXgZZEsrVoINMdz1eRo+ltybOvOhXbbuheARKRWmUgyr5xuLSmM1wE5SnHEYNdsy8obaj1K8oZ0WkvsNFSfMq1felz6jVwpiG1oSaGgd66KTk0XkLh+ta4DEAxuAJrQHMqm6QaG2qtWGIitTV5BJccahwHJFMqrtS9I7eTyaZbV1To4hvx5pqzN1qU8o1NT6c81LWLTZ8ZDZPz2VzB27NyrNm0ZnLaPa0ZZBu8ZUXFssDwKOB1mYNOdDQVH/pVrrI53tPjxH87/AFqFi0gElKGtfUpaC3imftWTaIXq1swjmdqhxoDkBhka+j8Vo/6asMLeXIwnzu1yfQ0elcLdTqXsx2jJXlCcjvIf5inbbQdx9fJVDtfChZWD9UNbGp1RSg20AFcKVUTa9OLZI79XFqAigLnBmORO/MtWe26zE9baZLbqZkD0HW2bckytN6RAVdJX0ED8q7KrIbbedufUl4FMcKmorUULimz7GCP2i0OLhrAta4N2vGNPMCtxiv7cY8nFMzG/R9w73jA+y2dkbgXtmcXUJOHgzv8ASF6qLpxFEGM8GSeUQc9x2nPH+yE4zHtul4vG4Suh9ra2xsaQ3B0tdY7XPGwbgCphl4x4V1BkaBhecy4478GtTPQPRozWJj6YF8oyrk5WRuhp3fgu0ZNRqIeafG3km9u/xESXyAAGvcSDUkRNANAXbd7z+CRbex+tJ5qarTg0gHLeXKyN0MO5Ks0P8yc7QZPFrknlKtSXq05MkOflSGlMBs/laPWkDKHf6eNd539lArk3RA7kuzRE7lItMOmTBW8amFXsdwSyAmOKM4YglxrjUj1ig9qf2XQe2PcAbPGwfSdjQ1djt3UHoCtdkuSSLFhod1Kp7abRa6Uo3D+U7wd/mC5Ta23WuOla8a+iNhghu2zO5QMjqmR4G/ENb5swsmnvl81rknLNatWx61Rqsyor9eGjE1oNZXEjcMBme1cs0MDBkke9y3qKxqqo/pSUu8gAbKEjd/YUToXg7HWa+h+rIKAHB1ARnqgBTM2jpaagJu+wu3Lr8lvUPJHiY+XKY7RDry88ja1zDXAVGqcsaBoACbSWrWprFhOFNZrmUJFBSmGA/EqYku87k1fdR3KxfSZfH+Sfeo/DWOysIDg1gzAaJQQK5DEY0aPaV66FgNAJG+V5JrmNtD9XErmS5zXBv+V9CRdcz8aVxrXZnnl5lOUT7W2Ka11j6PLNA6opNINvkvw+kf8AiG+1SkN4SMALnyvLcTyABUAk4kbyB61BNu6YfSd/uO4D+wRJY5yMXv8A9x9f5BJms/Rix3pG5tO0y/SqWuGs0ZGrQ7DI+vIdqY2jSuUmtdcjZVzMXGtMaigp7Uw+ayOeA55Adkf5s8fN2pR102gSUeWhhoKuxaRrVNMNpcFqa0mNRDlE56zNsluiY0ulJA1XCtKY1zrlT0p/Z7ZJI6ko5DgAXGnJdQarsfSEjG2KKjtUOdU4kU9DYxs3JsbTJO8NaNVjaGmIwoDrO3YtU+KKzDVfInLW2u9G+kkAMBcKBzHEGgqTTI4eg+xK2C2QmFh1KkgY50qTXP1JvpPayQ9jR5bmk7HZY+dLaM3LWLEV3JeONu1pb5cf89ddnMV4gYBrW8nCrdc1o2g3bCErNeDnHB0jsf5WCmsTsxyKmrJo82owU3ZNHm7lJvP01j8atK8VCZZnOIBYXDAcpzjhSlFINu2R1dVjG62tWjanGu0+lX6K4mjYpOyXMNyk2mXTFhrjjVWF8I1zuis8TnEnWlI/4koVz4fbIGWGynfaHD/qKFiZda1isahY+A2xtdc0RIx8LaP6/wDxX8XczcqPwD/wWL7W0fEK0JTbRv8AMG7kfMGbk4QmwiLI3cj5o3clkJsJCzN3LvwY3LpCgTNnbuScliadicIQRstztOwJlNo0DsCn0K7FadoqNySfoo1WpeFNppUTow3cFw7Rxu5WyQBNntCppVZLjA+imM1zjcrhJCmNohVFOtFxNIIIzVcttimZQaxLQcK44bf7ewLQZ2KPlsOtsWotpzvjjJGpZwbLITtrycTjlkRuT2w3W9gOoDV2Zz/NXWK4ATkpayXJTYpNpmSuKta8YZWdG3veC+qt103VqMpRW83F/KlmXTQZJMzPtqlK0jUIWGz0UlZmZJ0Lu8yXZYiNijbyICqkbMEybZyCnUAxRGY/KNH7DZfvDvhOQvPlFu/YbL94d8Jy8WVWDgH/AILF9raPiFaEs94B/wCCxfa2j4hWhKAQhCAQhCAQhBQCEl4cJQIPUISbq1QdOkokzITku2RAef0rtA3odqTOadkLzUCuw01U1ttmwB9SltUIcwHMJsQjbmJzS8VygblKoTYYsupoTgWVqWQmxx4Ibl74Mbl0hNjjwQ3I8EF2hNjjwQQIgu0JsZB8o8fsVl+8O+E5C9+Uh+5WX7w74bkKB/wKXh4GKe7ZRqWiwyy1FfLY52MjK0JAdtpk+M/Sw09UPTjg8+cystlil+a26DlNlAIbIADRkwFd1K0OBIIcKUoPH7bLMXQ2izwzSwvfE+Rr3Rh5jcWl2qG0qSDiAPQMkG9IWC+MnN0KPrn91e+MlN0KPrn91BvKFgvjJzdCj65/dR4yc3Qo+uf3UG9Lx5wWDeMlN0KPrn91eH5SM3Qouuf3UG7RNFckqsFHykpuhR9c/uo8ZOboUfXP7qDekLBfGTm6FH1z+6jxk5uhR9c/uoN6QsF8ZOboUfXP7qPGTm6FH1z+6g3pCwXxk5uhR9c/uo8ZOboUfXP7qDekLBfGTm6FH1z+6jxk5uhR9c/uoN6QsF8ZOboUfXP7qPGTm6FH1z+6g3pCwXxk5uhR9c/uo8ZOboUfXP7qDekLBfGTm6FH1z+6jxk5uhR9c/uoN6QsF8ZOboUfXP7qPGTm6FH1z+6g3pCwXxk5uhR9c/uruHhot94SR2WyRw2aWdzmtlc50tNVuufKYQMBSuq7PZmAleGMuvK12a67LqumZ4S0SuJ5EfIdqseW1LTSpxH0o/rYCuWgXB7HdzXPc7w9qnLnT2h9S51STqsrUtbUVONXE1OwAQ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AutoShape 6" descr="data:image/jpeg;base64,/9j/4AAQSkZJRgABAQAAAQABAAD/2wCEAAkGBhQSEBQUEhMWFRQQFRASEhUUEhQQFBUSFRQVFxQQEhUXGyYeFxklGRQSHy8gIycsLC0tFx4xNjEqNSYrLCoBCQoKDgwOGQ8PGi8iHyQsLCopLCspKSopKiksKSwpNSksLCwsKSkqKSwpKSwpKTUqKSwqKSksKSwpNSwpKSkpKf/AABEIAH4A5wMBIgACEQEDEQH/xAAbAAABBQEBAAAAAAAAAAAAAAAAAwQFBgcCAf/EAEgQAAEDAQQECAkICQUBAAAAAAEAAgMRBAUhMQYSQVEHFyJTVJPR0hMYMmFxgZGUswgUQlJzdKGxFSMkNDVissHwQ5Kio+EW/8QAGAEBAQEBAQAAAAAAAAAAAAAAAAECAwT/xAAhEQEAAgICAgMBAQAAAAAAAAAAAQIDERIhBDETQWEiUf/aAAwDAQACEQMRAD8An9JtJrXeNuddt2OMTYTS22wY+DGIMcZBwPlDAhznNIGqGklxZOAa79UeHM08pq6SV0rmF7zi51GnfXMk44k5o4BrI39FmalZbTNM6aQnWe8tcWtq44/WOebnHaVpKDPeIe6uak6+TtRxEXVzUnXydq0JCDPeIi6uak6+TtXh4CLq5qXr5O1aGvHZIM9bwE3VzUnXydq94iLq5qT3iTtV9jdilUGe8RF1c1J7xJ2o4iLq5qT3iTtWhIQZ7xEXVzUnvEnajiIurmpPeJO1aEhBnvERdXNSe8SdqOIi6uak94k7VoSEGe8RF1c1J7xJ2o4iLq5qT3iTtWhIQZ7xD3VzUvXydqOIi6uak94k7VoSEGe8RF1c1J7xJ2o4iLq5qT3iTtWhIQZ7xEXVzUnvEnajiIurmpPeJO1aEhBnvEPdXNSdfJ2o4iLq5qTr5O1aEhBnvERdXNSdfJ2o4h7q5qXr5O1aEhBnvERdXNSdfJ2prbuAmyAB1ilnsk7DVkzZHyUwoajWByJHJcDjtyWmIQZzoHpnaW2p12XoKWqMOfDNgG2iIVOsMgTQEggYgEEAtNRQfyhYfBR2O0xksnbJJEJI3GN/g3MJLdZuOddv0nbyhBYOAf8AgsX2to+IVoSz3gH/AILF9raPiFaEgEISMs1EC1Vy/JNYJscU7DgVdBGPNLpMx41XbnUUA51EAqOtduFaBOrJJUK6DhCEKAQhCAQhCAQhCAQhCAQhCAQhCAQhCAQhCDIflIfuVl+8O+G5CPlIfuVl+8O+G5CCb4B/4LF9raPiFaC5yzrgMkpcsX2to/rV4ltKug5kmTGaZJS2hMprUroODaqLoXpRQk1q86Ta5xwaCSdgxTZpZP0rhmmdqvSu1RUl3WgD6I20LqHOlPzXkVlNf1zvBjPWOLaVpWoU5QujqO1VKsF2y1ChI7na4F0UutSpFcN1MUnZb38G/UeaGpAwpWhxUi2zS3ITOzW4OTsPRHqF5VekoBFVw6RNZLRiroPUJgbWu2WtNB4hNTa14bcAmiTuqFHfpKpzTllrCalNwcITf5zilBOFFKIXgK9QCELl0gCDI/lIfuVl+8O+G5CS+UXOHWOygc+4/wDUUIHfA3bw26IhultH9at016jb+ayPg9vXwd3sbX6c34uTi+NIDUD6JBrQkY71r6T7aUbyDqgY03FR81u8yr9zaWRMZ4Nkbmg4l5jL5CdxByx2qXsunsbaBzHOyGLWgYnlDL1LETafprJxr3MuHWok4A+wqfuWZ7Y3Oaw67qAVBAAJzx9SYxabxvqWRkGmJ1W/VJw9lfYoq/NLJNUiOMmtfKfQAcl2QzAAy86TFpn0c6xXltI2y/pYqmV7HY5BzgQDvPkg8l2FCmX/ANdFM3kmmIqCNUihqMMWuFSPxWdW5tsmfWXyak6rTQDNxFPMHfinkMDmt8ncfa3W/LFPimPbnXyKWnqV7uFxbKHsfqmo1mg8lwwBq3ZtTvhAg1HxOZg4va3z1dkCaqs6G2CSa1xtryWkPea5NbQ6vtS3CtfzmywRRUMjpmvaMDgwjE0WNTWdOsWraNwvFhme1o12HACpxIyUrHeTRmfbUfmqLYNPptWj4gcBXVOOII/z0J7HwkRnF0bxXLkk1riDhv5XsXSItr0xbJjpOpldG29p2hevtrfrD2jtVIZp3FSvKAOqBUHbVtaau4ApLjIi8wOGBFAMifo+kLPKf8b6XGS8m/WHtCQfaxsVdGl9nkwDm7voO2kCmR2t9id2S02d4qXgZZEsrVoINMdz1eRo+ltybOvOhXbbuheARKRWmUgyr5xuLSmM1wE5SnHEYNdsy8obaj1K8oZ0WkvsNFSfMq1felz6jVwpiG1oSaGgd66KTk0XkLh+ta4DEAxuAJrQHMqm6QaG2qtWGIitTV5BJccahwHJFMqrtS9I7eTyaZbV1To4hvx5pqzN1qU8o1NT6c81LWLTZ8ZDZPz2VzB27NyrNm0ZnLaPa0ZZBu8ZUXFssDwKOB1mYNOdDQVH/pVrrI53tPjxH87/AFqFi0gElKGtfUpaC3imftWTaIXq1swjmdqhxoDkBhka+j8Vo/6asMLeXIwnzu1yfQ0elcLdTqXsx2jJXlCcjvIf5inbbQdx9fJVDtfChZWD9UNbGp1RSg20AFcKVUTa9OLZI79XFqAigLnBmORO/MtWe26zE9baZLbqZkD0HW2bckytN6RAVdJX0ED8q7KrIbbedufUl4FMcKmorUULimz7GCP2i0OLhrAta4N2vGNPMCtxiv7cY8nFMzG/R9w73jA+y2dkbgXtmcXUJOHgzv8ASF6qLpxFEGM8GSeUQc9x2nPH+yE4zHtul4vG4Suh9ra2xsaQ3B0tdY7XPGwbgCphl4x4V1BkaBhecy4478GtTPQPRozWJj6YF8oyrk5WRuhp3fgu0ZNRqIeafG3km9u/xESXyAAGvcSDUkRNANAXbd7z+CRbex+tJ5qarTg0gHLeXKyN0MO5Ks0P8yc7QZPFrknlKtSXq05MkOflSGlMBs/laPWkDKHf6eNd539lArk3RA7kuzRE7lItMOmTBW8amFXsdwSyAmOKM4YglxrjUj1ig9qf2XQe2PcAbPGwfSdjQ1djt3UHoCtdkuSSLFhod1Kp7abRa6Uo3D+U7wd/mC5Ta23WuOla8a+iNhghu2zO5QMjqmR4G/ENb5swsmnvl81rknLNatWx61Rqsyor9eGjE1oNZXEjcMBme1cs0MDBkke9y3qKxqqo/pSUu8gAbKEjd/YUToXg7HWa+h+rIKAHB1ARnqgBTM2jpaagJu+wu3Lr8lvUPJHiY+XKY7RDry88ja1zDXAVGqcsaBoACbSWrWprFhOFNZrmUJFBSmGA/EqYku87k1fdR3KxfSZfH+Sfeo/DWOysIDg1gzAaJQQK5DEY0aPaV66FgNAJG+V5JrmNtD9XErmS5zXBv+V9CRdcz8aVxrXZnnl5lOUT7W2Ka11j6PLNA6opNINvkvw+kf8AiG+1SkN4SMALnyvLcTyABUAk4kbyB61BNu6YfSd/uO4D+wRJY5yMXv8A9x9f5BJms/Rix3pG5tO0y/SqWuGs0ZGrQ7DI+vIdqY2jSuUmtdcjZVzMXGtMaigp7Uw+ayOeA55Adkf5s8fN2pR102gSUeWhhoKuxaRrVNMNpcFqa0mNRDlE56zNsluiY0ulJA1XCtKY1zrlT0p/Z7ZJI6ko5DgAXGnJdQarsfSEjG2KKjtUOdU4kU9DYxs3JsbTJO8NaNVjaGmIwoDrO3YtU+KKzDVfInLW2u9G+kkAMBcKBzHEGgqTTI4eg+xK2C2QmFh1KkgY50qTXP1JvpPayQ9jR5bmk7HZY+dLaM3LWLEV3JeONu1pb5cf89ddnMV4gYBrW8nCrdc1o2g3bCErNeDnHB0jsf5WCmsTsxyKmrJo82owU3ZNHm7lJvP01j8atK8VCZZnOIBYXDAcpzjhSlFINu2R1dVjG62tWjanGu0+lX6K4mjYpOyXMNyk2mXTFhrjjVWF8I1zuis8TnEnWlI/4koVz4fbIGWGynfaHD/qKFiZda1isahY+A2xtdc0RIx8LaP6/wDxX8XczcqPwD/wWL7W0fEK0JTbRv8AMG7kfMGbk4QmwiLI3cj5o3clkJsJCzN3LvwY3LpCgTNnbuScliadicIQRstztOwJlNo0DsCn0K7FadoqNySfoo1WpeFNppUTow3cFw7Rxu5WyQBNntCppVZLjA+imM1zjcrhJCmNohVFOtFxNIIIzVcttimZQaxLQcK44bf7ewLQZ2KPlsOtsWotpzvjjJGpZwbLITtrycTjlkRuT2w3W9gOoDV2Zz/NXWK4ATkpayXJTYpNpmSuKta8YZWdG3veC+qt103VqMpRW83F/KlmXTQZJMzPtqlK0jUIWGz0UlZmZJ0Lu8yXZYiNijbyICqkbMEybZyCnUAxRGY/KNH7DZfvDvhOQvPlFu/YbL94d8Jy8WVWDgH/AILF9raPiFaEs94B/wCCxfa2j4hWhKAQhCAQhCAQhBQCEl4cJQIPUISbq1QdOkokzITku2RAef0rtA3odqTOadkLzUCuw01U1ttmwB9SltUIcwHMJsQjbmJzS8VygblKoTYYsupoTgWVqWQmxx4Ibl74Mbl0hNjjwQ3I8EF2hNjjwQQIgu0JsZB8o8fsVl+8O+E5C9+Uh+5WX7w74bkKB/wKXh4GKe7ZRqWiwyy1FfLY52MjK0JAdtpk+M/Sw09UPTjg8+cystlil+a26DlNlAIbIADRkwFd1K0OBIIcKUoPH7bLMXQ2izwzSwvfE+Rr3Rh5jcWl2qG0qSDiAPQMkG9IWC+MnN0KPrn91e+MlN0KPrn91BvKFgvjJzdCj65/dR4yc3Qo+uf3UG9Lx5wWDeMlN0KPrn91eH5SM3Qouuf3UG7RNFckqsFHykpuhR9c/uo8ZOboUfXP7qDekLBfGTm6FH1z+6jxk5uhR9c/uoN6QsF8ZOboUfXP7qPGTm6FH1z+6g3pCwXxk5uhR9c/uo8ZOboUfXP7qDekLBfGTm6FH1z+6jxk5uhR9c/uoN6QsF8ZOboUfXP7qPGTm6FH1z+6g3pCwXxk5uhR9c/uo8ZOboUfXP7qDekLBfGTm6FH1z+6jxk5uhR9c/uoN6QsF8ZOboUfXP7qPGTm6FH1z+6g3pCwXxk5uhR9c/uruHhot94SR2WyRw2aWdzmtlc50tNVuufKYQMBSuq7PZmAleGMuvK12a67LqumZ4S0SuJ5EfIdqseW1LTSpxH0o/rYCuWgXB7HdzXPc7w9qnLnT2h9S51STqsrUtbUVONXE1OwAQ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" name="Picture 12" descr="http://tradfriends.files.wordpress.com/2009/07/oito-certo-1.jpg?w=450&amp;h=14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9896" y="3169568"/>
            <a:ext cx="4286250" cy="1333501"/>
          </a:xfrm>
          <a:prstGeom prst="rect">
            <a:avLst/>
          </a:prstGeom>
          <a:noFill/>
        </p:spPr>
      </p:pic>
      <p:pic>
        <p:nvPicPr>
          <p:cNvPr id="11" name="Picture 14" descr="http://upload.wikimedia.org/wikipedia/commons/thumb/5/51/Neunerknoten-3.jpg/220px-Neunerknoten-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18448" y="3889648"/>
            <a:ext cx="2095500" cy="1571626"/>
          </a:xfrm>
          <a:prstGeom prst="rect">
            <a:avLst/>
          </a:prstGeom>
          <a:noFill/>
        </p:spPr>
      </p:pic>
      <p:pic>
        <p:nvPicPr>
          <p:cNvPr id="4112" name="Picture 16" descr="http://upload.wikimedia.org/wikipedia/commons/thumb/c/c9/FigureOfEightKnot.jpg/250px-FigureOfEightKnot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66520" y="937320"/>
            <a:ext cx="2381250" cy="2381250"/>
          </a:xfrm>
          <a:prstGeom prst="rect">
            <a:avLst/>
          </a:prstGeom>
          <a:noFill/>
        </p:spPr>
      </p:pic>
      <p:sp>
        <p:nvSpPr>
          <p:cNvPr id="19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NÓS MAIS UTILIZADOS</a:t>
            </a: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Coelho: ancoragem e segurança</a:t>
            </a: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pt-BR" sz="2800" dirty="0" err="1" smtClean="0">
                <a:solidFill>
                  <a:srgbClr val="002060"/>
                </a:solidFill>
              </a:rPr>
              <a:t>Lais</a:t>
            </a:r>
            <a:r>
              <a:rPr lang="pt-BR" sz="2800" dirty="0" smtClean="0">
                <a:solidFill>
                  <a:srgbClr val="002060"/>
                </a:solidFill>
              </a:rPr>
              <a:t> de guia: ancoragem rápida e </a:t>
            </a:r>
            <a:r>
              <a:rPr lang="pt-BR" sz="2800" dirty="0" err="1" smtClean="0">
                <a:solidFill>
                  <a:srgbClr val="002060"/>
                </a:solidFill>
              </a:rPr>
              <a:t>içamento</a:t>
            </a:r>
            <a:r>
              <a:rPr lang="pt-BR" sz="2800" dirty="0" smtClean="0">
                <a:solidFill>
                  <a:srgbClr val="002060"/>
                </a:solidFill>
              </a:rPr>
              <a:t> de  carga</a:t>
            </a:r>
          </a:p>
          <a:p>
            <a:pPr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2800" dirty="0">
              <a:solidFill>
                <a:srgbClr val="002060"/>
              </a:solidFill>
            </a:endParaRPr>
          </a:p>
        </p:txBody>
      </p:sp>
      <p:pic>
        <p:nvPicPr>
          <p:cNvPr id="52226" name="Picture 2" descr="http://4.bp.blogspot.com/_pB1yfYazUeU/S_uxQItm-3I/AAAAAAAAAKM/Lm0LJti17-Q/S240/nos-de-coelh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0416" y="1081336"/>
            <a:ext cx="2286000" cy="1743076"/>
          </a:xfrm>
          <a:prstGeom prst="rect">
            <a:avLst/>
          </a:prstGeom>
          <a:noFill/>
        </p:spPr>
      </p:pic>
      <p:pic>
        <p:nvPicPr>
          <p:cNvPr id="52228" name="Picture 4" descr="http://2.bp.blogspot.com/-0hOiV__78bM/TkkmkFKtZOI/AAAAAAAAGlE/z5ZmTMKimbU/s1600/lais+de+guia_singelo+pelo+chicot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904" y="3313584"/>
            <a:ext cx="3810000" cy="2047876"/>
          </a:xfrm>
          <a:prstGeom prst="rect">
            <a:avLst/>
          </a:prstGeom>
          <a:noFill/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http://4.bp.blogspot.com/_4d3HALDVLbo/TGTe9252nyI/AAAAAAAAAFc/NIRCOH-SfDQ/s1600/N%C3%B3+volta+do+fie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22304" y="1873424"/>
            <a:ext cx="4176464" cy="1670586"/>
          </a:xfrm>
          <a:prstGeom prst="rect">
            <a:avLst/>
          </a:prstGeom>
          <a:noFill/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781128"/>
          </a:xfrm>
        </p:spPr>
        <p:txBody>
          <a:bodyPr/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NÓS MAIS UTILIZADOS</a:t>
            </a: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Volta do fiel: </a:t>
            </a:r>
            <a:r>
              <a:rPr lang="pt-BR" sz="2800" dirty="0" err="1" smtClean="0">
                <a:solidFill>
                  <a:srgbClr val="002060"/>
                </a:solidFill>
              </a:rPr>
              <a:t>içamento</a:t>
            </a:r>
            <a:endParaRPr lang="pt-BR" sz="2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 de carga</a:t>
            </a:r>
          </a:p>
          <a:p>
            <a:pPr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 marL="3400425" indent="0"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Pescador simples e duplo:  União de cordas</a:t>
            </a:r>
          </a:p>
          <a:p>
            <a:pPr>
              <a:buNone/>
            </a:pPr>
            <a:endParaRPr lang="pt-BR" sz="2800" dirty="0">
              <a:solidFill>
                <a:srgbClr val="002060"/>
              </a:solidFill>
            </a:endParaRPr>
          </a:p>
        </p:txBody>
      </p:sp>
      <p:pic>
        <p:nvPicPr>
          <p:cNvPr id="53252" name="Picture 4" descr="http://t0.gstatic.com/images?q=tbn:ANd9GcQmA6Z_RYHGxpXJKgwNaydJN7no-GBoQiTLlBU_OP261qWa11j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9896" y="3889648"/>
            <a:ext cx="3314700" cy="1381126"/>
          </a:xfrm>
          <a:prstGeom prst="rect">
            <a:avLst/>
          </a:prstGeom>
          <a:noFill/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NÓS MAIS UTILIZADOS</a:t>
            </a: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 indent="1084263">
              <a:buNone/>
            </a:pPr>
            <a:r>
              <a:rPr lang="pt-BR" sz="2800" dirty="0" err="1" smtClean="0">
                <a:solidFill>
                  <a:srgbClr val="002060"/>
                </a:solidFill>
              </a:rPr>
              <a:t>Prussik</a:t>
            </a:r>
            <a:r>
              <a:rPr lang="pt-BR" sz="2800" dirty="0" smtClean="0">
                <a:solidFill>
                  <a:srgbClr val="002060"/>
                </a:solidFill>
              </a:rPr>
              <a:t>: ascensão</a:t>
            </a:r>
          </a:p>
          <a:p>
            <a:pPr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 indent="2608263"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Marchand: ascensão</a:t>
            </a:r>
          </a:p>
          <a:p>
            <a:pPr>
              <a:buNone/>
            </a:pPr>
            <a:endParaRPr lang="pt-BR" sz="2800" dirty="0">
              <a:solidFill>
                <a:srgbClr val="002060"/>
              </a:solidFill>
            </a:endParaRPr>
          </a:p>
        </p:txBody>
      </p:sp>
      <p:pic>
        <p:nvPicPr>
          <p:cNvPr id="54274" name="Picture 2" descr="http://2.bp.blogspot.com/-nv-K906TDdA/T7Kw6ER9hnI/AAAAAAAAANM/1X_pc6-NxrI/s320/nos04.gif"/>
          <p:cNvPicPr>
            <a:picLocks noChangeAspect="1" noChangeArrowheads="1"/>
          </p:cNvPicPr>
          <p:nvPr/>
        </p:nvPicPr>
        <p:blipFill>
          <a:blip r:embed="rId2" cstate="print"/>
          <a:srcRect l="3484"/>
          <a:stretch>
            <a:fillRect/>
          </a:stretch>
        </p:blipFill>
        <p:spPr bwMode="auto">
          <a:xfrm>
            <a:off x="4942384" y="1513384"/>
            <a:ext cx="1994917" cy="1990725"/>
          </a:xfrm>
          <a:prstGeom prst="rect">
            <a:avLst/>
          </a:prstGeom>
          <a:noFill/>
        </p:spPr>
      </p:pic>
      <p:pic>
        <p:nvPicPr>
          <p:cNvPr id="54276" name="Picture 4" descr="Klemheist (Machard, French Prusik) Knot Tying (Climbing)"/>
          <p:cNvPicPr>
            <a:picLocks noChangeAspect="1" noChangeArrowheads="1"/>
          </p:cNvPicPr>
          <p:nvPr/>
        </p:nvPicPr>
        <p:blipFill>
          <a:blip r:embed="rId3" cstate="print"/>
          <a:srcRect r="35741"/>
          <a:stretch>
            <a:fillRect/>
          </a:stretch>
        </p:blipFill>
        <p:spPr bwMode="auto">
          <a:xfrm>
            <a:off x="981944" y="3169568"/>
            <a:ext cx="2359856" cy="2448272"/>
          </a:xfrm>
          <a:prstGeom prst="rect">
            <a:avLst/>
          </a:prstGeom>
          <a:noFill/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NÓS MAIS UTILIZADOS</a:t>
            </a: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- Nó UIAA: para rapel no</a:t>
            </a:r>
          </a:p>
          <a:p>
            <a:pPr>
              <a:spcBef>
                <a:spcPts val="0"/>
              </a:spcBef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mosquetão </a:t>
            </a:r>
          </a:p>
          <a:p>
            <a:pPr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- Nó de fita: emenda de fita</a:t>
            </a:r>
          </a:p>
          <a:p>
            <a:pPr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 marL="3224213" indent="0"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- Nó volta redonda: para pequenas alturas, no mosquetão</a:t>
            </a:r>
            <a:endParaRPr lang="pt-BR" sz="2800" dirty="0">
              <a:solidFill>
                <a:srgbClr val="002060"/>
              </a:solidFill>
            </a:endParaRPr>
          </a:p>
        </p:txBody>
      </p:sp>
      <p:pic>
        <p:nvPicPr>
          <p:cNvPr id="55298" name="Picture 2" descr="http://1.bp.blogspot.com/-y04RIrqIB_E/TbA2TgQPXrI/AAAAAAAAASg/EMR2pSxK2sg/s1600/uiaa.jpg"/>
          <p:cNvPicPr>
            <a:picLocks noChangeAspect="1" noChangeArrowheads="1"/>
          </p:cNvPicPr>
          <p:nvPr/>
        </p:nvPicPr>
        <p:blipFill>
          <a:blip r:embed="rId2" cstate="print"/>
          <a:srcRect l="3635" t="5860" r="3078" b="6234"/>
          <a:stretch>
            <a:fillRect/>
          </a:stretch>
        </p:blipFill>
        <p:spPr bwMode="auto">
          <a:xfrm>
            <a:off x="4294312" y="1297360"/>
            <a:ext cx="4464496" cy="1739414"/>
          </a:xfrm>
          <a:prstGeom prst="rect">
            <a:avLst/>
          </a:prstGeom>
          <a:noFill/>
        </p:spPr>
      </p:pic>
      <p:pic>
        <p:nvPicPr>
          <p:cNvPr id="55300" name="Picture 4" descr="http://t1.gstatic.com/images?q=tbn:ANd9GcQlllfgYpLztNu81_52Yv-g_pjPIj4LIm1a5vItKD3QiNBZziW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912" y="3601616"/>
            <a:ext cx="1944216" cy="1918408"/>
          </a:xfrm>
          <a:prstGeom prst="rect">
            <a:avLst/>
          </a:prstGeom>
          <a:noFill/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NÓS MAIS UTILIZADOS</a:t>
            </a: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- Nó carioca: tração	    Nó Borboleta: backup</a:t>
            </a:r>
            <a:endParaRPr lang="pt-BR" sz="2800" dirty="0">
              <a:solidFill>
                <a:srgbClr val="002060"/>
              </a:solidFill>
            </a:endParaRPr>
          </a:p>
        </p:txBody>
      </p:sp>
      <p:pic>
        <p:nvPicPr>
          <p:cNvPr id="56322" name="Picture 2" descr="http://4.bp.blogspot.com/-FOtJvtY6k5s/TawkR4HXjlI/AAAAAAAAAw4/Ys09YVuNN94/s1600/47.gif"/>
          <p:cNvPicPr>
            <a:picLocks noChangeAspect="1" noChangeArrowheads="1"/>
          </p:cNvPicPr>
          <p:nvPr/>
        </p:nvPicPr>
        <p:blipFill>
          <a:blip r:embed="rId2" cstate="print"/>
          <a:srcRect t="8628" b="6649"/>
          <a:stretch>
            <a:fillRect/>
          </a:stretch>
        </p:blipFill>
        <p:spPr bwMode="auto">
          <a:xfrm>
            <a:off x="693912" y="2089448"/>
            <a:ext cx="2813538" cy="3456384"/>
          </a:xfrm>
          <a:prstGeom prst="rect">
            <a:avLst/>
          </a:prstGeom>
          <a:noFill/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pic>
        <p:nvPicPr>
          <p:cNvPr id="10" name="Imagem 9" descr="http://www.gp.pro.br/RD/wa_files/Borboleta_203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2420888"/>
            <a:ext cx="3134053" cy="1575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Uso de polias para redução de forças</a:t>
            </a:r>
          </a:p>
          <a:p>
            <a:pPr>
              <a:buNone/>
            </a:pPr>
            <a:endParaRPr lang="pt-BR" sz="2800" dirty="0">
              <a:solidFill>
                <a:srgbClr val="002060"/>
              </a:solidFill>
            </a:endParaRPr>
          </a:p>
        </p:txBody>
      </p:sp>
      <p:pic>
        <p:nvPicPr>
          <p:cNvPr id="57346" name="Picture 2" descr="http://3.bp.blogspot.com/_z0Xoq1xIKiY/SLgw_DIAW6I/AAAAAAAAAEE/r2BzCoV7pxc/s320/2+polias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8088" y="1585392"/>
            <a:ext cx="4990784" cy="3384376"/>
          </a:xfrm>
          <a:prstGeom prst="rect">
            <a:avLst/>
          </a:prstGeom>
          <a:noFill/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RESGATE DE VÍTIMA EM ALTURA</a:t>
            </a:r>
          </a:p>
          <a:p>
            <a:pPr indent="4405313"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 indent="4405313"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- Treinar equipe</a:t>
            </a:r>
          </a:p>
          <a:p>
            <a:pPr marL="4748213" indent="0"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 Acessar</a:t>
            </a:r>
          </a:p>
          <a:p>
            <a:pPr marL="4748213" indent="0"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 Resgatar </a:t>
            </a:r>
          </a:p>
          <a:p>
            <a:pPr marL="4748213" indent="0"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 Socorrer</a:t>
            </a:r>
          </a:p>
          <a:p>
            <a:pPr marL="4748213" indent="0"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2800" dirty="0">
              <a:solidFill>
                <a:srgbClr val="002060"/>
              </a:solidFill>
            </a:endParaRPr>
          </a:p>
        </p:txBody>
      </p:sp>
      <p:pic>
        <p:nvPicPr>
          <p:cNvPr id="58370" name="Picture 2" descr="http://acaobombeiro.zip.net/images/DSC0316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9896" y="1729408"/>
            <a:ext cx="4464496" cy="3348373"/>
          </a:xfrm>
          <a:prstGeom prst="rect">
            <a:avLst/>
          </a:prstGeom>
          <a:noFill/>
          <a:effectLst>
            <a:softEdge rad="63500"/>
          </a:effectLst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5" descr="acidente 1 detalh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1864" y="1945432"/>
            <a:ext cx="2520280" cy="2803811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SÍNDROME DO CINTO</a:t>
            </a:r>
          </a:p>
          <a:p>
            <a:pPr marL="2500313" indent="0"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Compromete seriamente o retorno venoso.</a:t>
            </a:r>
          </a:p>
          <a:p>
            <a:pPr marL="2500313" indent="0"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Óbito em até 20 minutos.</a:t>
            </a:r>
          </a:p>
          <a:p>
            <a:pPr marL="2500313" indent="0"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Resgate urgente.</a:t>
            </a:r>
            <a:endParaRPr lang="pt-BR" sz="2800" dirty="0">
              <a:solidFill>
                <a:srgbClr val="002060"/>
              </a:solidFill>
            </a:endParaRPr>
          </a:p>
        </p:txBody>
      </p:sp>
      <p:pic>
        <p:nvPicPr>
          <p:cNvPr id="59396" name="Picture 4" descr="http://4.bp.blogspot.com/_Lc2NNJx3gLw/Sl8XnAVmxVI/AAAAAAAAACU/wuTHOk4JIeU/s200/arne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14592" y="2161456"/>
            <a:ext cx="1656184" cy="2349197"/>
          </a:xfrm>
          <a:prstGeom prst="rect">
            <a:avLst/>
          </a:prstGeom>
          <a:noFill/>
        </p:spPr>
      </p:pic>
      <p:sp>
        <p:nvSpPr>
          <p:cNvPr id="9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Conteúdo 10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RISCOS POTENCIAIS DO TRABALHO EM ALTURA</a:t>
            </a: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Não conhecer e respeitar os riscos e normas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Não utilizar as técnicas corretas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800" dirty="0" err="1" smtClean="0">
                <a:solidFill>
                  <a:srgbClr val="002060"/>
                </a:solidFill>
              </a:rPr>
              <a:t>EPIs</a:t>
            </a:r>
            <a:r>
              <a:rPr lang="pt-BR" sz="2800" dirty="0" smtClean="0">
                <a:solidFill>
                  <a:srgbClr val="002060"/>
                </a:solidFill>
              </a:rPr>
              <a:t> e equipamentos em mau estado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Falta de acompanhamento pelo responsável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Mau posicionamento das tábuas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Telhados molhados ou escorregadios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Mal súbito, intoxicação, choque elétrico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Calçados inadequados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Uso incorretos de </a:t>
            </a:r>
            <a:r>
              <a:rPr lang="pt-BR" sz="2800" dirty="0" err="1" smtClean="0">
                <a:solidFill>
                  <a:srgbClr val="002060"/>
                </a:solidFill>
              </a:rPr>
              <a:t>EPIs</a:t>
            </a:r>
            <a:r>
              <a:rPr lang="pt-BR" sz="2800" dirty="0" smtClean="0">
                <a:solidFill>
                  <a:srgbClr val="002060"/>
                </a:solidFill>
              </a:rPr>
              <a:t> e </a:t>
            </a:r>
            <a:r>
              <a:rPr lang="pt-BR" sz="2800" dirty="0" err="1" smtClean="0">
                <a:solidFill>
                  <a:srgbClr val="002060"/>
                </a:solidFill>
              </a:rPr>
              <a:t>EPCs</a:t>
            </a:r>
            <a:endParaRPr lang="pt-BR" sz="2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endParaRPr lang="pt-BR" sz="28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FontTx/>
              <a:buChar char="-"/>
            </a:pPr>
            <a:endParaRPr lang="pt-BR" sz="2800" dirty="0">
              <a:solidFill>
                <a:srgbClr val="002060"/>
              </a:solidFill>
            </a:endParaRP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pt-BR" sz="2800" dirty="0" smtClean="0">
                <a:solidFill>
                  <a:srgbClr val="002060"/>
                </a:solidFill>
              </a:rPr>
              <a:t>RISCOS POTENCIAIS DO TRABALHO EM ALTURA</a:t>
            </a:r>
          </a:p>
          <a:p>
            <a:pPr>
              <a:buNone/>
            </a:pPr>
            <a:endParaRPr lang="pt-BR" sz="105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sz="105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Escadas e andaimes em desacordo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Trabalho em condições climáticas desfavoráveis</a:t>
            </a:r>
          </a:p>
          <a:p>
            <a:pPr marL="2325688" indent="0"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Falta de sinalização e isolamento</a:t>
            </a:r>
          </a:p>
          <a:p>
            <a:pPr marL="2325688" indent="0">
              <a:spcBef>
                <a:spcPts val="0"/>
              </a:spcBef>
              <a:buFontTx/>
              <a:buChar char="-"/>
            </a:pPr>
            <a:r>
              <a:rPr lang="pt-BR" sz="2800" dirty="0" smtClean="0">
                <a:solidFill>
                  <a:srgbClr val="002060"/>
                </a:solidFill>
              </a:rPr>
              <a:t>Falta de ASO, PT, AR e supervisão</a:t>
            </a:r>
          </a:p>
          <a:p>
            <a:pPr>
              <a:spcBef>
                <a:spcPts val="0"/>
              </a:spcBef>
              <a:buFontTx/>
              <a:buChar char="-"/>
            </a:pPr>
            <a:endParaRPr lang="pt-BR" sz="2800" dirty="0">
              <a:solidFill>
                <a:srgbClr val="002060"/>
              </a:solidFill>
            </a:endParaRPr>
          </a:p>
        </p:txBody>
      </p:sp>
      <p:pic>
        <p:nvPicPr>
          <p:cNvPr id="60418" name="Picture 2" descr="http://t3.gstatic.com/images?q=tbn:ANd9GcQpBNKjTxeS-lkGSv3dP2TBfQAGO6BchE7AZpQH_eS0JXMUlQ2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904" y="2953544"/>
            <a:ext cx="2009775" cy="2276475"/>
          </a:xfrm>
          <a:prstGeom prst="rect">
            <a:avLst/>
          </a:prstGeom>
          <a:noFill/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www.cepolina.com/imagemgratis/f/Outras.pessoas/Andaimes.trabalhadores.X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4352" y="1009328"/>
            <a:ext cx="3698776" cy="2774082"/>
          </a:xfrm>
          <a:prstGeom prst="rect">
            <a:avLst/>
          </a:prstGeom>
          <a:noFill/>
        </p:spPr>
      </p:pic>
      <p:pic>
        <p:nvPicPr>
          <p:cNvPr id="4100" name="Picture 4" descr="http://2.bp.blogspot.com/__SYnOTzO4kg/S_BT8BsjUPI/AAAAAAAAASw/7rQJl-wddPw/s1600/Andaime_inseguro.jpg"/>
          <p:cNvPicPr>
            <a:picLocks noChangeAspect="1" noChangeArrowheads="1"/>
          </p:cNvPicPr>
          <p:nvPr/>
        </p:nvPicPr>
        <p:blipFill>
          <a:blip r:embed="rId3" cstate="print"/>
          <a:srcRect l="4396" t="1890" r="7699" b="1721"/>
          <a:stretch>
            <a:fillRect/>
          </a:stretch>
        </p:blipFill>
        <p:spPr bwMode="auto">
          <a:xfrm>
            <a:off x="1197968" y="1873424"/>
            <a:ext cx="2880320" cy="3672408"/>
          </a:xfrm>
          <a:prstGeom prst="rect">
            <a:avLst/>
          </a:prstGeom>
          <a:noFill/>
        </p:spPr>
      </p:pic>
      <p:sp>
        <p:nvSpPr>
          <p:cNvPr id="9" name="Espaço Reservado para Conteúdo 8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pt-BR" dirty="0" smtClean="0">
                <a:solidFill>
                  <a:srgbClr val="002060"/>
                </a:solidFill>
              </a:rPr>
              <a:t>Segurança em risco</a:t>
            </a:r>
          </a:p>
          <a:p>
            <a:pPr>
              <a:buNone/>
            </a:pPr>
            <a:endParaRPr lang="pt-BR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pt-BR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pt-BR" dirty="0" smtClean="0">
                <a:solidFill>
                  <a:srgbClr val="002060"/>
                </a:solidFill>
              </a:rPr>
              <a:t>						</a:t>
            </a:r>
            <a:endParaRPr lang="pt-BR" sz="1400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pt-BR" dirty="0" smtClean="0">
                <a:solidFill>
                  <a:srgbClr val="002060"/>
                </a:solidFill>
              </a:rPr>
              <a:t>						Nunca improvise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0" name="Título 1"/>
          <p:cNvSpPr txBox="1">
            <a:spLocks/>
          </p:cNvSpPr>
          <p:nvPr/>
        </p:nvSpPr>
        <p:spPr>
          <a:xfrm>
            <a:off x="827584" y="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AE2C12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Trabalho em Altura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AE2C12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2078</TotalTime>
  <Words>946</Words>
  <Application>Microsoft Office PowerPoint</Application>
  <PresentationFormat>Apresentação na tela (4:3)</PresentationFormat>
  <Paragraphs>353</Paragraphs>
  <Slides>42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3" baseType="lpstr">
      <vt:lpstr>Tema do Office</vt:lpstr>
      <vt:lpstr>Trabalho em Altura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Renata Itria</dc:creator>
  <cp:lastModifiedBy>user</cp:lastModifiedBy>
  <cp:revision>134</cp:revision>
  <dcterms:created xsi:type="dcterms:W3CDTF">2012-09-27T17:28:16Z</dcterms:created>
  <dcterms:modified xsi:type="dcterms:W3CDTF">2013-03-28T18:46:46Z</dcterms:modified>
</cp:coreProperties>
</file>