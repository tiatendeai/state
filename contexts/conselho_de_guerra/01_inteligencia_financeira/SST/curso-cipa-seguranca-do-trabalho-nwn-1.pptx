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1" r:id="rId1"/>
  </p:sldMasterIdLst>
  <p:notesMasterIdLst>
    <p:notesMasterId r:id="rId92"/>
  </p:notesMasterIdLst>
  <p:sldIdLst>
    <p:sldId id="256" r:id="rId2"/>
    <p:sldId id="257" r:id="rId3"/>
    <p:sldId id="346" r:id="rId4"/>
    <p:sldId id="34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345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  <p:sldId id="316" r:id="rId63"/>
    <p:sldId id="317" r:id="rId64"/>
    <p:sldId id="318" r:id="rId65"/>
    <p:sldId id="319" r:id="rId66"/>
    <p:sldId id="320" r:id="rId67"/>
    <p:sldId id="321" r:id="rId68"/>
    <p:sldId id="322" r:id="rId69"/>
    <p:sldId id="323" r:id="rId70"/>
    <p:sldId id="324" r:id="rId71"/>
    <p:sldId id="325" r:id="rId72"/>
    <p:sldId id="326" r:id="rId73"/>
    <p:sldId id="327" r:id="rId74"/>
    <p:sldId id="328" r:id="rId75"/>
    <p:sldId id="329" r:id="rId76"/>
    <p:sldId id="330" r:id="rId77"/>
    <p:sldId id="331" r:id="rId78"/>
    <p:sldId id="332" r:id="rId79"/>
    <p:sldId id="333" r:id="rId80"/>
    <p:sldId id="334" r:id="rId81"/>
    <p:sldId id="335" r:id="rId82"/>
    <p:sldId id="336" r:id="rId83"/>
    <p:sldId id="337" r:id="rId84"/>
    <p:sldId id="338" r:id="rId85"/>
    <p:sldId id="339" r:id="rId86"/>
    <p:sldId id="340" r:id="rId87"/>
    <p:sldId id="341" r:id="rId88"/>
    <p:sldId id="342" r:id="rId89"/>
    <p:sldId id="343" r:id="rId90"/>
    <p:sldId id="344" r:id="rId91"/>
  </p:sldIdLst>
  <p:sldSz cx="9144000" cy="6858000" type="screen4x3"/>
  <p:notesSz cx="6858000" cy="9144000"/>
  <p:defaultTextStyle>
    <a:defPPr marR="0" algn="l" rtl="0">
      <a:lnSpc>
        <a:spcPct val="100000"/>
      </a:lnSpc>
      <a:spcBef>
        <a:spcPts val="0"/>
      </a:spcBef>
      <a:spcAft>
        <a:spcPts val="0"/>
      </a:spcAft>
    </a:defPPr>
    <a:lvl1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90651C3A-4460-11DB-9652-00E08161165F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90" d="100"/>
          <a:sy n="90" d="100"/>
        </p:scale>
        <p:origin x="-1248" y="-1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indent="0" algn="l" rtl="0">
              <a:defRPr sz="1200" b="0" i="0" u="none" strike="noStrike" cap="none" baseline="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endParaRPr/>
          </a:p>
        </p:txBody>
      </p:sp>
      <p:sp>
        <p:nvSpPr>
          <p:cNvPr id="3" name="Shape 3"/>
          <p:cNvSpPr txBox="1">
            <a:spLocks noGrp="1"/>
          </p:cNvSpPr>
          <p:nvPr>
            <p:ph type="dt" idx="10"/>
          </p:nvPr>
        </p:nvSpPr>
        <p:spPr>
          <a:xfrm>
            <a:off x="3884612" y="0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indent="0" algn="r" rtl="0">
              <a:defRPr sz="1200" b="0" i="0" u="none" strike="noStrike" cap="none" baseline="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endParaRPr/>
          </a:p>
        </p:txBody>
      </p:sp>
      <p:sp>
        <p:nvSpPr>
          <p:cNvPr id="4" name="Shape 4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rnd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5" name="Shape 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endParaRPr/>
          </a:p>
        </p:txBody>
      </p:sp>
      <p:sp>
        <p:nvSpPr>
          <p:cNvPr id="6" name="Shape 6"/>
          <p:cNvSpPr txBox="1">
            <a:spLocks noGrp="1"/>
          </p:cNvSpPr>
          <p:nvPr>
            <p:ph type="ftr" idx="11"/>
          </p:nvPr>
        </p:nvSpPr>
        <p:spPr>
          <a:xfrm>
            <a:off x="0" y="8685211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indent="0" algn="l" rtl="0">
              <a:defRPr sz="1200" b="0" i="0" u="none" strike="noStrike" cap="none" baseline="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sldNum" idx="12"/>
          </p:nvPr>
        </p:nvSpPr>
        <p:spPr>
          <a:xfrm>
            <a:off x="3884612" y="8685211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indent="0" algn="r" rtl="0">
              <a:defRPr sz="1200" b="0" i="0" u="none" strike="noStrike" cap="none" baseline="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2651515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6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  <p:sp>
        <p:nvSpPr>
          <p:cNvPr id="70" name="Shape 7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Shape 7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  <p:sp>
        <p:nvSpPr>
          <p:cNvPr id="78" name="Shape 78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Shape 7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  <p:sp>
        <p:nvSpPr>
          <p:cNvPr id="78" name="Shape 78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Shape 7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  <p:sp>
        <p:nvSpPr>
          <p:cNvPr id="78" name="Shape 78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8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  <p:sp>
        <p:nvSpPr>
          <p:cNvPr id="89" name="Shape 89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  <p:sp>
        <p:nvSpPr>
          <p:cNvPr id="98" name="Shape 98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Shape 10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  <p:sp>
        <p:nvSpPr>
          <p:cNvPr id="107" name="Shape 107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Shape 11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  <p:sp>
        <p:nvSpPr>
          <p:cNvPr id="115" name="Shape 115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Shape 12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  <p:sp>
        <p:nvSpPr>
          <p:cNvPr id="122" name="Shape 122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Shape 12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  <p:sp>
        <p:nvSpPr>
          <p:cNvPr id="129" name="Shape 129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Shape 13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  <p:sp>
        <p:nvSpPr>
          <p:cNvPr id="136" name="Shape 136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Shape 14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  <p:sp>
        <p:nvSpPr>
          <p:cNvPr id="145" name="Shape 145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Shape 15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  <p:sp>
        <p:nvSpPr>
          <p:cNvPr id="154" name="Shape 15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Shape 16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  <p:sp>
        <p:nvSpPr>
          <p:cNvPr id="162" name="Shape 162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Shape 16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  <p:sp>
        <p:nvSpPr>
          <p:cNvPr id="170" name="Shape 17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Shape 17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  <p:sp>
        <p:nvSpPr>
          <p:cNvPr id="178" name="Shape 178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Shape 18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  <p:sp>
        <p:nvSpPr>
          <p:cNvPr id="185" name="Shape 185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Shape 19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  <p:sp>
        <p:nvSpPr>
          <p:cNvPr id="192" name="Shape 192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Shape 19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  <p:sp>
        <p:nvSpPr>
          <p:cNvPr id="200" name="Shape 20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hape 20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  <p:sp>
        <p:nvSpPr>
          <p:cNvPr id="207" name="Shape 207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hape 21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  <p:sp>
        <p:nvSpPr>
          <p:cNvPr id="216" name="Shape 216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Shape 22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  <p:sp>
        <p:nvSpPr>
          <p:cNvPr id="224" name="Shape 22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Shape 23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  <p:sp>
        <p:nvSpPr>
          <p:cNvPr id="234" name="Shape 23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Shape 24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  <p:sp>
        <p:nvSpPr>
          <p:cNvPr id="243" name="Shape 24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Shape 24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  <p:sp>
        <p:nvSpPr>
          <p:cNvPr id="243" name="Shape 24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Shape 25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  <p:sp>
        <p:nvSpPr>
          <p:cNvPr id="259" name="Shape 259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Shape 26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  <p:sp>
        <p:nvSpPr>
          <p:cNvPr id="269" name="Shape 269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Shape 277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8" name="Shape 27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endParaRPr/>
          </a:p>
        </p:txBody>
      </p:sp>
      <p:sp>
        <p:nvSpPr>
          <p:cNvPr id="279" name="Shape 279"/>
          <p:cNvSpPr txBox="1">
            <a:spLocks noGrp="1"/>
          </p:cNvSpPr>
          <p:nvPr>
            <p:ph type="sldNum" idx="12"/>
          </p:nvPr>
        </p:nvSpPr>
        <p:spPr>
          <a:xfrm>
            <a:off x="3884612" y="8685211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spAutoFit/>
          </a:bodyPr>
          <a:lstStyle/>
          <a:p>
            <a:pPr>
              <a:buNone/>
            </a:pPr>
            <a:r>
              <a:rPr lang="x-none"/>
              <a:t> 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Shape 2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b="0" i="0" u="none" strike="noStrike" cap="none" baseline="0" dirty="0" smtClean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Evidentemente</a:t>
            </a:r>
            <a:r>
              <a:rPr lang="pt-BR" sz="1200" b="0" i="0" u="none" strike="noStrike" cap="none" dirty="0" smtClean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o acidente de trabalho ou a doença do trabalho sempre terá muito a ver com as condições</a:t>
            </a:r>
            <a:r>
              <a:rPr lang="pt-BR" sz="1200" b="0" i="0" u="none" strike="noStrike" cap="none" baseline="0" dirty="0" smtClean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do ambiente de trabalho</a:t>
            </a:r>
            <a:endParaRPr lang="x-none" sz="1200" b="0" i="0" u="none" strike="noStrike" cap="none" baseline="0" smtClean="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endParaRPr dirty="0"/>
          </a:p>
        </p:txBody>
      </p:sp>
      <p:sp>
        <p:nvSpPr>
          <p:cNvPr id="287" name="Shape 287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Shape 29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spAutoFit/>
          </a:bodyPr>
          <a:lstStyle/>
          <a:p>
            <a:r>
              <a:rPr lang="pt-BR" dirty="0" smtClean="0"/>
              <a:t>Analisar</a:t>
            </a:r>
            <a:r>
              <a:rPr lang="pt-BR" baseline="0" dirty="0" smtClean="0"/>
              <a:t> os acidentes e doenças do trabalho que podem vir do trabalho do homem com a máquina. Fazer uma lista deles nesse ponto do curso. Perguntar para o trabalhador quais riscos ele percebe no ambiente. Isso torna o treinamento mais interativo e interessante.</a:t>
            </a:r>
            <a:endParaRPr dirty="0"/>
          </a:p>
        </p:txBody>
      </p:sp>
      <p:sp>
        <p:nvSpPr>
          <p:cNvPr id="295" name="Shape 295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Shape 30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  <p:sp>
        <p:nvSpPr>
          <p:cNvPr id="305" name="Shape 305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Shape 31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  <p:sp>
        <p:nvSpPr>
          <p:cNvPr id="313" name="Shape 31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Shape 32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  <p:sp>
        <p:nvSpPr>
          <p:cNvPr id="322" name="Shape 322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Shape 32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  <p:sp>
        <p:nvSpPr>
          <p:cNvPr id="330" name="Shape 33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Shape 33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  <p:sp>
        <p:nvSpPr>
          <p:cNvPr id="338" name="Shape 338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Shape 34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  <p:sp>
        <p:nvSpPr>
          <p:cNvPr id="345" name="Shape 345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Shape 35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  <p:sp>
        <p:nvSpPr>
          <p:cNvPr id="352" name="Shape 352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Shape 35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  <p:sp>
        <p:nvSpPr>
          <p:cNvPr id="359" name="Shape 359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Shape 36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spAutoFit/>
          </a:bodyPr>
          <a:lstStyle/>
          <a:p>
            <a:r>
              <a:rPr lang="pt-BR" dirty="0" smtClean="0"/>
              <a:t>Nesse ponto observar as </a:t>
            </a:r>
            <a:r>
              <a:rPr lang="pt-BR" dirty="0" err="1" smtClean="0"/>
              <a:t>FISPQs</a:t>
            </a:r>
            <a:r>
              <a:rPr lang="pt-BR" baseline="0" dirty="0" smtClean="0"/>
              <a:t> dos produtos no treinamento pode ser muito interessante. Estimular o debate sobre o tema trará relevância e envolverá os treinamentos. Tornando eles mesmos mais conscientes dos riscos e medidas preventivas a adotar.</a:t>
            </a:r>
            <a:endParaRPr dirty="0"/>
          </a:p>
        </p:txBody>
      </p:sp>
      <p:sp>
        <p:nvSpPr>
          <p:cNvPr id="367" name="Shape 367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Shape 37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  <p:sp>
        <p:nvSpPr>
          <p:cNvPr id="377" name="Shape 377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Shape 39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  <p:sp>
        <p:nvSpPr>
          <p:cNvPr id="392" name="Shape 392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Shape 4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  <p:sp>
        <p:nvSpPr>
          <p:cNvPr id="401" name="Shape 401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Shape 41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  <p:sp>
        <p:nvSpPr>
          <p:cNvPr id="414" name="Shape 41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Shape 42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  <p:sp>
        <p:nvSpPr>
          <p:cNvPr id="423" name="Shape 42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Shape 42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x-none" smtClean="0">
                <a:solidFill>
                  <a:schemeClr val="accent2">
                    <a:lumMod val="10000"/>
                  </a:schemeClr>
                </a:solidFill>
              </a:rPr>
              <a:t>Obs: É importante lembrar que o EPI deve sempre ser a última opção. A primeira opção deve ser sempre em caráter coletivo.</a:t>
            </a:r>
          </a:p>
          <a:p>
            <a:endParaRPr dirty="0"/>
          </a:p>
        </p:txBody>
      </p:sp>
      <p:sp>
        <p:nvSpPr>
          <p:cNvPr id="430" name="Shape 43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Shape 435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Shape 43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Shape 441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" name="Shape 44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Shape 45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  <p:sp>
        <p:nvSpPr>
          <p:cNvPr id="451" name="Shape 451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Shape 45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  <p:sp>
        <p:nvSpPr>
          <p:cNvPr id="459" name="Shape 459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Shape 46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spAutoFit/>
          </a:bodyPr>
          <a:lstStyle/>
          <a:p>
            <a:r>
              <a:rPr lang="pt-BR" dirty="0" smtClean="0"/>
              <a:t>É IMPORTANTE DURANTE O CURSO APROFUNDAR NA PARTE DE INVESTIGAÇÃO: Se possível, leve algumas fichas para que os </a:t>
            </a:r>
            <a:r>
              <a:rPr lang="pt-BR" dirty="0" err="1" smtClean="0"/>
              <a:t>cipeiros</a:t>
            </a:r>
            <a:r>
              <a:rPr lang="pt-BR" baseline="0" dirty="0" smtClean="0"/>
              <a:t> simulem uma investigação de acidente durante o curso.</a:t>
            </a:r>
            <a:endParaRPr dirty="0"/>
          </a:p>
        </p:txBody>
      </p:sp>
      <p:sp>
        <p:nvSpPr>
          <p:cNvPr id="469" name="Shape 469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Shape 47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  <p:sp>
        <p:nvSpPr>
          <p:cNvPr id="477" name="Shape 477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Shape 48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  <p:sp>
        <p:nvSpPr>
          <p:cNvPr id="486" name="Shape 486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Shape 49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  <p:sp>
        <p:nvSpPr>
          <p:cNvPr id="494" name="Shape 49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Shape 5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  <p:sp>
        <p:nvSpPr>
          <p:cNvPr id="501" name="Shape 501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Shape 51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  <p:sp>
        <p:nvSpPr>
          <p:cNvPr id="514" name="Shape 51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Shape 52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  <p:sp>
        <p:nvSpPr>
          <p:cNvPr id="523" name="Shape 52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Shape 53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  <p:sp>
        <p:nvSpPr>
          <p:cNvPr id="532" name="Shape 532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Shape 54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  <p:sp>
        <p:nvSpPr>
          <p:cNvPr id="541" name="Shape 541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Shape 55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  <p:sp>
        <p:nvSpPr>
          <p:cNvPr id="551" name="Shape 551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Shape 55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  <p:sp>
        <p:nvSpPr>
          <p:cNvPr id="560" name="Shape 56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Shape 56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  <p:sp>
        <p:nvSpPr>
          <p:cNvPr id="569" name="Shape 569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Shape 57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  <p:sp>
        <p:nvSpPr>
          <p:cNvPr id="576" name="Shape 576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Shape 58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  <p:sp>
        <p:nvSpPr>
          <p:cNvPr id="583" name="Shape 58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Shape 59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  <p:sp>
        <p:nvSpPr>
          <p:cNvPr id="591" name="Shape 591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Shape 59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  <p:sp>
        <p:nvSpPr>
          <p:cNvPr id="598" name="Shape 598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Shape 60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  <p:sp>
        <p:nvSpPr>
          <p:cNvPr id="607" name="Shape 607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Shape 61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  <p:sp>
        <p:nvSpPr>
          <p:cNvPr id="614" name="Shape 61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Shape 62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  <p:sp>
        <p:nvSpPr>
          <p:cNvPr id="621" name="Shape 621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Shape 62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  <p:sp>
        <p:nvSpPr>
          <p:cNvPr id="628" name="Shape 628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Shape 63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  <p:sp>
        <p:nvSpPr>
          <p:cNvPr id="636" name="Shape 636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Shape 64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  <p:sp>
        <p:nvSpPr>
          <p:cNvPr id="644" name="Shape 64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Shape 65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  <p:sp>
        <p:nvSpPr>
          <p:cNvPr id="651" name="Shape 651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Shape 65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  <p:sp>
        <p:nvSpPr>
          <p:cNvPr id="659" name="Shape 659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Shape 66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  <p:sp>
        <p:nvSpPr>
          <p:cNvPr id="668" name="Shape 668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Shape 67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  <p:sp>
        <p:nvSpPr>
          <p:cNvPr id="677" name="Shape 677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Shape 68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  <p:sp>
        <p:nvSpPr>
          <p:cNvPr id="685" name="Shape 685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Shape 69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  <p:sp>
        <p:nvSpPr>
          <p:cNvPr id="692" name="Shape 692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Shape 69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  <p:sp>
        <p:nvSpPr>
          <p:cNvPr id="699" name="Shape 699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Shape 70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  <p:sp>
        <p:nvSpPr>
          <p:cNvPr id="707" name="Shape 707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Shape 71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  <p:sp>
        <p:nvSpPr>
          <p:cNvPr id="714" name="Shape 71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Shape 72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  <p:sp>
        <p:nvSpPr>
          <p:cNvPr id="721" name="Shape 721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Shape 72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  <p:sp>
        <p:nvSpPr>
          <p:cNvPr id="729" name="Shape 729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Shape 73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  <p:sp>
        <p:nvSpPr>
          <p:cNvPr id="738" name="Shape 738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Shape 74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  <p:sp>
        <p:nvSpPr>
          <p:cNvPr id="745" name="Shape 745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Shape 75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  <p:sp>
        <p:nvSpPr>
          <p:cNvPr id="752" name="Shape 752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Shape 75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  <p:sp>
        <p:nvSpPr>
          <p:cNvPr id="759" name="Shape 759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Shape 76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  <p:sp>
        <p:nvSpPr>
          <p:cNvPr id="766" name="Shape 766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Shape 77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  <p:sp>
        <p:nvSpPr>
          <p:cNvPr id="774" name="Shape 77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Shape 78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  <p:sp>
        <p:nvSpPr>
          <p:cNvPr id="782" name="Shape 782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Shape 79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spAutoFit/>
          </a:bodyPr>
          <a:lstStyle/>
          <a:p>
            <a:endParaRPr/>
          </a:p>
        </p:txBody>
      </p:sp>
      <p:sp>
        <p:nvSpPr>
          <p:cNvPr id="791" name="Shape 791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43"/>
          <p:cNvSpPr txBox="1">
            <a:spLocks noGrp="1"/>
          </p:cNvSpPr>
          <p:nvPr>
            <p:ph type="ctrTitle"/>
          </p:nvPr>
        </p:nvSpPr>
        <p:spPr>
          <a:xfrm>
            <a:off x="914400" y="1447800"/>
            <a:ext cx="6629400" cy="39623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5400" b="0" i="0" u="none" strike="noStrike" cap="none" baseline="0">
                <a:solidFill>
                  <a:srgbClr val="137B33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endParaRPr/>
          </a:p>
        </p:txBody>
      </p:sp>
      <p:sp>
        <p:nvSpPr>
          <p:cNvPr id="44" name="Shape 44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49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i="0" u="none" strike="noStrike" cap="none" baseline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endParaRPr/>
          </a:p>
        </p:txBody>
      </p:sp>
      <p:sp>
        <p:nvSpPr>
          <p:cNvPr id="45" name="Shape 45"/>
          <p:cNvSpPr txBox="1">
            <a:spLocks noGrp="1"/>
          </p:cNvSpPr>
          <p:nvPr>
            <p:ph type="title" idx="2"/>
          </p:nvPr>
        </p:nvSpPr>
        <p:spPr>
          <a:xfrm>
            <a:off x="685800" y="7620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4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4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4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4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4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4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4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4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4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46" name="Shape 46"/>
          <p:cNvSpPr txBox="1">
            <a:spLocks noGrp="1"/>
          </p:cNvSpPr>
          <p:nvPr>
            <p:ph type="body" idx="1"/>
          </p:nvPr>
        </p:nvSpPr>
        <p:spPr>
          <a:xfrm>
            <a:off x="685800" y="21336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Font typeface="Arial"/>
              <a:buChar char="•"/>
              <a:defRPr sz="3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793750" indent="-228600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Font typeface="Arial"/>
              <a:buChar char="•"/>
              <a:defRPr sz="2800"/>
            </a:lvl2pPr>
            <a:lvl3pPr marL="1143000" indent="-136525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Font typeface="Arial"/>
              <a:buChar char="•"/>
              <a:defRPr sz="2400"/>
            </a:lvl3pPr>
            <a:lvl4pPr marL="1600200" indent="-152400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/>
              <a:buChar char="•"/>
              <a:defRPr sz="2000"/>
            </a:lvl4pPr>
            <a:lvl5pPr marL="2057400" indent="-152400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/>
              <a:buChar char="•"/>
              <a:defRPr sz="2000"/>
            </a:lvl5pPr>
            <a:lvl6pPr marL="2514600" indent="-10795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Font typeface="Arial"/>
              <a:buChar char="•"/>
              <a:defRPr sz="3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2971800" indent="-10795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Font typeface="Arial"/>
              <a:buChar char="•"/>
              <a:defRPr sz="3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3429000" indent="-10795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Font typeface="Arial"/>
              <a:buChar char="•"/>
              <a:defRPr sz="3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3886200" indent="-10795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Font typeface="Arial"/>
              <a:buChar char="•"/>
              <a:defRPr sz="3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47" name="Shape 47"/>
          <p:cNvSpPr txBox="1">
            <a:spLocks noGrp="1"/>
          </p:cNvSpPr>
          <p:nvPr>
            <p:ph type="dt" idx="10"/>
          </p:nvPr>
        </p:nvSpPr>
        <p:spPr>
          <a:xfrm>
            <a:off x="685800" y="6400800"/>
            <a:ext cx="19049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indent="0" algn="l" rtl="0">
              <a:defRPr sz="1400" b="0" i="0" u="none" strike="noStrike" cap="none" baseline="0">
                <a:latin typeface="Tahoma"/>
                <a:ea typeface="Tahoma"/>
                <a:cs typeface="Tahoma"/>
                <a:sym typeface="Tahoma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endParaRPr/>
          </a:p>
        </p:txBody>
      </p:sp>
      <p:sp>
        <p:nvSpPr>
          <p:cNvPr id="48" name="Shape 48"/>
          <p:cNvSpPr txBox="1">
            <a:spLocks noGrp="1"/>
          </p:cNvSpPr>
          <p:nvPr>
            <p:ph type="ftr" idx="11"/>
          </p:nvPr>
        </p:nvSpPr>
        <p:spPr>
          <a:xfrm>
            <a:off x="3124200" y="6400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indent="0" algn="ctr" rtl="0">
              <a:defRPr sz="1400" b="0" i="0" u="none" strike="noStrike" cap="none" baseline="0">
                <a:latin typeface="Tahoma"/>
                <a:ea typeface="Tahoma"/>
                <a:cs typeface="Tahoma"/>
                <a:sym typeface="Tahoma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x" type="tx">
  <p:cSld name="tx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hape 50"/>
          <p:cNvSpPr txBox="1">
            <a:spLocks noGrp="1"/>
          </p:cNvSpPr>
          <p:nvPr>
            <p:ph type="title"/>
          </p:nvPr>
        </p:nvSpPr>
        <p:spPr>
          <a:xfrm>
            <a:off x="609600" y="685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4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4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4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4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4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4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4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4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4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51" name="Shape 51"/>
          <p:cNvSpPr txBox="1">
            <a:spLocks noGrp="1"/>
          </p:cNvSpPr>
          <p:nvPr>
            <p:ph type="body" idx="1"/>
          </p:nvPr>
        </p:nvSpPr>
        <p:spPr>
          <a:xfrm>
            <a:off x="685800" y="1828800"/>
            <a:ext cx="8001000" cy="46481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Font typeface="Arial"/>
              <a:buChar char="•"/>
              <a:defRPr sz="3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793750" indent="-228600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Font typeface="Arial"/>
              <a:buChar char="•"/>
              <a:defRPr sz="2800"/>
            </a:lvl2pPr>
            <a:lvl3pPr marL="1143000" indent="-136525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Font typeface="Arial"/>
              <a:buChar char="•"/>
              <a:defRPr sz="2400"/>
            </a:lvl3pPr>
            <a:lvl4pPr marL="1600200" indent="-152400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/>
              <a:buChar char="•"/>
              <a:defRPr sz="2000"/>
            </a:lvl4pPr>
            <a:lvl5pPr marL="2057400" indent="-152400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/>
              <a:buChar char="•"/>
              <a:defRPr sz="2000"/>
            </a:lvl5pPr>
            <a:lvl6pPr marL="2514600" indent="-10795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Font typeface="Arial"/>
              <a:buChar char="•"/>
              <a:defRPr sz="3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2971800" indent="-10795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Font typeface="Arial"/>
              <a:buChar char="•"/>
              <a:defRPr sz="3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3429000" indent="-10795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Font typeface="Arial"/>
              <a:buChar char="•"/>
              <a:defRPr sz="3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3886200" indent="-10795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Font typeface="Arial"/>
              <a:buChar char="•"/>
              <a:defRPr sz="3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52" name="Shape 52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19049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i="0" u="none" strike="noStrike" cap="none" baseline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endParaRPr/>
          </a:p>
        </p:txBody>
      </p:sp>
      <p:sp>
        <p:nvSpPr>
          <p:cNvPr id="53" name="Shape 53"/>
          <p:cNvSpPr txBox="1">
            <a:spLocks noGrp="1"/>
          </p:cNvSpPr>
          <p:nvPr>
            <p:ph type="dt" idx="10"/>
          </p:nvPr>
        </p:nvSpPr>
        <p:spPr>
          <a:xfrm>
            <a:off x="685800" y="6400800"/>
            <a:ext cx="19049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indent="0" algn="l" rtl="0">
              <a:defRPr sz="1400" b="0" i="0" u="none" strike="noStrike" cap="none" baseline="0">
                <a:latin typeface="Tahoma"/>
                <a:ea typeface="Tahoma"/>
                <a:cs typeface="Tahoma"/>
                <a:sym typeface="Tahoma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endParaRPr/>
          </a:p>
        </p:txBody>
      </p:sp>
      <p:sp>
        <p:nvSpPr>
          <p:cNvPr id="54" name="Shape 54"/>
          <p:cNvSpPr txBox="1">
            <a:spLocks noGrp="1"/>
          </p:cNvSpPr>
          <p:nvPr>
            <p:ph type="ftr" idx="11"/>
          </p:nvPr>
        </p:nvSpPr>
        <p:spPr>
          <a:xfrm>
            <a:off x="3124200" y="6400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indent="0" algn="ctr" rtl="0">
              <a:defRPr sz="1400" b="0" i="0" u="none" strike="noStrike" cap="none" baseline="0">
                <a:latin typeface="Tahoma"/>
                <a:ea typeface="Tahoma"/>
                <a:cs typeface="Tahoma"/>
                <a:sym typeface="Tahoma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ColTx" type="twoColTx">
  <p:cSld name="twoColTx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56"/>
          <p:cNvSpPr txBox="1">
            <a:spLocks noGrp="1"/>
          </p:cNvSpPr>
          <p:nvPr>
            <p:ph type="body" idx="1"/>
          </p:nvPr>
        </p:nvSpPr>
        <p:spPr>
          <a:xfrm>
            <a:off x="304800" y="1447800"/>
            <a:ext cx="8153399" cy="2590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Font typeface="Arial"/>
              <a:buChar char="•"/>
              <a:defRPr sz="3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793750" indent="-228600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Font typeface="Arial"/>
              <a:buChar char="•"/>
              <a:defRPr sz="2800"/>
            </a:lvl2pPr>
            <a:lvl3pPr marL="1143000" indent="-136525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Font typeface="Arial"/>
              <a:buChar char="•"/>
              <a:defRPr sz="2400"/>
            </a:lvl3pPr>
            <a:lvl4pPr marL="1600200" indent="-152400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/>
              <a:buChar char="•"/>
              <a:defRPr sz="2000"/>
            </a:lvl4pPr>
            <a:lvl5pPr marL="2057400" indent="-152400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/>
              <a:buChar char="•"/>
              <a:defRPr sz="2000"/>
            </a:lvl5pPr>
            <a:lvl6pPr marL="2514600" indent="-10795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Font typeface="Arial"/>
              <a:buChar char="•"/>
              <a:defRPr sz="3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2971800" indent="-10795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Font typeface="Arial"/>
              <a:buChar char="•"/>
              <a:defRPr sz="3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3429000" indent="-10795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Font typeface="Arial"/>
              <a:buChar char="•"/>
              <a:defRPr sz="3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3886200" indent="-10795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Font typeface="Arial"/>
              <a:buChar char="•"/>
              <a:defRPr sz="3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57" name="Shape 57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19049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i="0" u="none" strike="noStrike" cap="none" baseline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endParaRPr/>
          </a:p>
        </p:txBody>
      </p:sp>
      <p:sp>
        <p:nvSpPr>
          <p:cNvPr id="58" name="Shape 58"/>
          <p:cNvSpPr txBox="1">
            <a:spLocks noGrp="1"/>
          </p:cNvSpPr>
          <p:nvPr>
            <p:ph type="title"/>
          </p:nvPr>
        </p:nvSpPr>
        <p:spPr>
          <a:xfrm>
            <a:off x="685800" y="7620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4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4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4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4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4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4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4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4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4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59" name="Shape 59"/>
          <p:cNvSpPr txBox="1">
            <a:spLocks noGrp="1"/>
          </p:cNvSpPr>
          <p:nvPr>
            <p:ph type="dt" idx="10"/>
          </p:nvPr>
        </p:nvSpPr>
        <p:spPr>
          <a:xfrm>
            <a:off x="685800" y="6400800"/>
            <a:ext cx="19049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indent="0" algn="l" rtl="0">
              <a:defRPr sz="1400" b="0" i="0" u="none" strike="noStrike" cap="none" baseline="0">
                <a:latin typeface="Tahoma"/>
                <a:ea typeface="Tahoma"/>
                <a:cs typeface="Tahoma"/>
                <a:sym typeface="Tahoma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endParaRPr/>
          </a:p>
        </p:txBody>
      </p:sp>
      <p:sp>
        <p:nvSpPr>
          <p:cNvPr id="60" name="Shape 60"/>
          <p:cNvSpPr txBox="1">
            <a:spLocks noGrp="1"/>
          </p:cNvSpPr>
          <p:nvPr>
            <p:ph type="ftr" idx="11"/>
          </p:nvPr>
        </p:nvSpPr>
        <p:spPr>
          <a:xfrm>
            <a:off x="3124200" y="6400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indent="0" algn="ctr" rtl="0">
              <a:defRPr sz="1400" b="0" i="0" u="none" strike="noStrike" cap="none" baseline="0">
                <a:latin typeface="Tahoma"/>
                <a:ea typeface="Tahoma"/>
                <a:cs typeface="Tahoma"/>
                <a:sym typeface="Tahoma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5"/>
          <a:stretch>
            <a:fillRect/>
          </a:stretch>
        </a:blip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Shape 9"/>
          <p:cNvGrpSpPr/>
          <p:nvPr/>
        </p:nvGrpSpPr>
        <p:grpSpPr>
          <a:xfrm>
            <a:off x="0" y="0"/>
            <a:ext cx="9169399" cy="6615113"/>
            <a:chOff x="0" y="0"/>
            <a:chExt cx="9169399" cy="6615113"/>
          </a:xfrm>
        </p:grpSpPr>
        <p:grpSp>
          <p:nvGrpSpPr>
            <p:cNvPr id="10" name="Shape 10"/>
            <p:cNvGrpSpPr/>
            <p:nvPr/>
          </p:nvGrpSpPr>
          <p:grpSpPr>
            <a:xfrm>
              <a:off x="0" y="0"/>
              <a:ext cx="9156700" cy="757236"/>
              <a:chOff x="0" y="0"/>
              <a:chExt cx="9156700" cy="757236"/>
            </a:xfrm>
          </p:grpSpPr>
          <p:sp>
            <p:nvSpPr>
              <p:cNvPr id="11" name="Shape 11"/>
              <p:cNvSpPr/>
              <p:nvPr/>
            </p:nvSpPr>
            <p:spPr>
              <a:xfrm>
                <a:off x="7937" y="0"/>
                <a:ext cx="9148761" cy="757236"/>
              </a:xfrm>
              <a:custGeom>
                <a:avLst/>
                <a:gdLst/>
                <a:ahLst/>
                <a:cxnLst/>
                <a:rect l="0" t="0" r="0" b="0"/>
                <a:pathLst>
                  <a:path w="3" h="450" extrusionOk="0">
                    <a:moveTo>
                      <a:pt x="0" y="450"/>
                    </a:moveTo>
                    <a:lnTo>
                      <a:pt x="3" y="0"/>
                    </a:lnTo>
                    <a:close/>
                  </a:path>
                </a:pathLst>
              </a:custGeom>
              <a:solidFill>
                <a:schemeClr val="accent2">
                  <a:alpha val="32549"/>
                </a:schemeClr>
              </a:solidFill>
              <a:ln>
                <a:noFill/>
              </a:ln>
            </p:spPr>
            <p:txBody>
              <a:bodyPr lIns="91425" tIns="45700" rIns="91425" bIns="45700" anchor="ctr" anchorCtr="0">
                <a:spAutoFit/>
              </a:bodyPr>
              <a:lstStyle/>
              <a:p>
                <a:endParaRPr/>
              </a:p>
            </p:txBody>
          </p:sp>
          <p:sp>
            <p:nvSpPr>
              <p:cNvPr id="12" name="Shape 12"/>
              <p:cNvSpPr/>
              <p:nvPr/>
            </p:nvSpPr>
            <p:spPr>
              <a:xfrm>
                <a:off x="0" y="155575"/>
                <a:ext cx="406400" cy="401637"/>
              </a:xfrm>
              <a:custGeom>
                <a:avLst/>
                <a:gdLst/>
                <a:ahLst/>
                <a:cxnLst/>
                <a:rect l="0" t="0" r="0" b="0"/>
                <a:pathLst>
                  <a:path w="71" h="190" extrusionOk="0">
                    <a:moveTo>
                      <a:pt x="8" y="190"/>
                    </a:moveTo>
                    <a:cubicBezTo>
                      <a:pt x="16" y="168"/>
                      <a:pt x="38" y="144"/>
                      <a:pt x="71" y="115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accent2"/>
                  </a:gs>
                </a:gsLst>
                <a:lin ang="8100000" scaled="0"/>
              </a:gradFill>
              <a:ln>
                <a:noFill/>
              </a:ln>
            </p:spPr>
            <p:txBody>
              <a:bodyPr lIns="91425" tIns="45700" rIns="91425" bIns="45700" anchor="ctr" anchorCtr="0">
                <a:spAutoFit/>
              </a:bodyPr>
              <a:lstStyle/>
              <a:p>
                <a:endParaRPr/>
              </a:p>
            </p:txBody>
          </p:sp>
          <p:sp>
            <p:nvSpPr>
              <p:cNvPr id="13" name="Shape 13"/>
              <p:cNvSpPr/>
              <p:nvPr/>
            </p:nvSpPr>
            <p:spPr>
              <a:xfrm>
                <a:off x="88900" y="0"/>
                <a:ext cx="1123949" cy="728662"/>
              </a:xfrm>
              <a:custGeom>
                <a:avLst/>
                <a:gdLst/>
                <a:ahLst/>
                <a:cxnLst/>
                <a:rect l="0" t="0" r="0" b="0"/>
                <a:pathLst>
                  <a:path w="311" h="453" extrusionOk="0">
                    <a:moveTo>
                      <a:pt x="0" y="432"/>
                    </a:moveTo>
                    <a:lnTo>
                      <a:pt x="0" y="453"/>
                    </a:lnTo>
                    <a:cubicBezTo>
                      <a:pt x="12" y="435"/>
                      <a:pt x="39" y="366"/>
                      <a:pt x="72" y="324"/>
                    </a:cubicBezTo>
                    <a:lnTo>
                      <a:pt x="105" y="282"/>
                    </a:lnTo>
                    <a:cubicBezTo>
                      <a:pt x="149" y="238"/>
                      <a:pt x="198" y="201"/>
                      <a:pt x="247" y="164"/>
                    </a:cubicBezTo>
                    <a:lnTo>
                      <a:pt x="311" y="129"/>
                    </a:lnTo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accent2"/>
                  </a:gs>
                </a:gsLst>
                <a:lin ang="16200000" scaled="0"/>
              </a:gradFill>
              <a:ln>
                <a:noFill/>
              </a:ln>
            </p:spPr>
            <p:txBody>
              <a:bodyPr lIns="91425" tIns="45700" rIns="91425" bIns="45700" anchor="ctr" anchorCtr="0">
                <a:spAutoFit/>
              </a:bodyPr>
              <a:lstStyle/>
              <a:p>
                <a:endParaRPr/>
              </a:p>
            </p:txBody>
          </p:sp>
          <p:sp>
            <p:nvSpPr>
              <p:cNvPr id="14" name="Shape 14"/>
              <p:cNvSpPr/>
              <p:nvPr/>
            </p:nvSpPr>
            <p:spPr>
              <a:xfrm>
                <a:off x="207962" y="427037"/>
                <a:ext cx="398461" cy="307975"/>
              </a:xfrm>
              <a:custGeom>
                <a:avLst/>
                <a:gdLst/>
                <a:ahLst/>
                <a:cxnLst/>
                <a:rect l="0" t="0" r="0" b="0"/>
                <a:pathLst>
                  <a:path w="21" h="194" extrusionOk="0">
                    <a:moveTo>
                      <a:pt x="21" y="163"/>
                    </a:moveTo>
                    <a:cubicBezTo>
                      <a:pt x="10" y="178"/>
                      <a:pt x="0" y="194"/>
                      <a:pt x="9" y="184"/>
                    </a:cubicBezTo>
                    <a:lnTo>
                      <a:pt x="18" y="174"/>
                    </a:lnTo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accent2"/>
                  </a:gs>
                </a:gsLst>
                <a:lin ang="8100000" scaled="0"/>
              </a:gradFill>
              <a:ln>
                <a:noFill/>
              </a:ln>
            </p:spPr>
            <p:txBody>
              <a:bodyPr lIns="91425" tIns="45700" rIns="91425" bIns="45700" anchor="ctr" anchorCtr="0">
                <a:spAutoFit/>
              </a:bodyPr>
              <a:lstStyle/>
              <a:p>
                <a:endParaRPr/>
              </a:p>
            </p:txBody>
          </p:sp>
          <p:sp>
            <p:nvSpPr>
              <p:cNvPr id="15" name="Shape 15"/>
              <p:cNvSpPr/>
              <p:nvPr/>
            </p:nvSpPr>
            <p:spPr>
              <a:xfrm>
                <a:off x="541337" y="0"/>
                <a:ext cx="252412" cy="114299"/>
              </a:xfrm>
              <a:custGeom>
                <a:avLst/>
                <a:gdLst/>
                <a:ahLst/>
                <a:cxnLst/>
                <a:rect l="0" t="0" r="0" b="0"/>
                <a:pathLst>
                  <a:path w="99" h="46" extrusionOk="0">
                    <a:moveTo>
                      <a:pt x="99" y="0"/>
                    </a:moveTo>
                    <a:cubicBezTo>
                      <a:pt x="75" y="6"/>
                      <a:pt x="30" y="26"/>
                      <a:pt x="15" y="36"/>
                    </a:cubicBezTo>
                    <a:lnTo>
                      <a:pt x="0" y="46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accent2"/>
                  </a:gs>
                </a:gsLst>
                <a:lin ang="8100000" scaled="0"/>
              </a:gradFill>
              <a:ln>
                <a:noFill/>
              </a:ln>
            </p:spPr>
            <p:txBody>
              <a:bodyPr lIns="91425" tIns="45700" rIns="91425" bIns="45700" anchor="ctr" anchorCtr="0">
                <a:spAutoFit/>
              </a:bodyPr>
              <a:lstStyle/>
              <a:p>
                <a:endParaRPr/>
              </a:p>
            </p:txBody>
          </p:sp>
          <p:sp>
            <p:nvSpPr>
              <p:cNvPr id="16" name="Shape 16"/>
              <p:cNvSpPr/>
              <p:nvPr/>
            </p:nvSpPr>
            <p:spPr>
              <a:xfrm>
                <a:off x="774700" y="0"/>
                <a:ext cx="722311" cy="342899"/>
              </a:xfrm>
              <a:custGeom>
                <a:avLst/>
                <a:gdLst/>
                <a:ahLst/>
                <a:cxnLst/>
                <a:rect l="0" t="0" r="0" b="0"/>
                <a:pathLst>
                  <a:path w="395" h="65" extrusionOk="0">
                    <a:moveTo>
                      <a:pt x="395" y="0"/>
                    </a:moveTo>
                    <a:cubicBezTo>
                      <a:pt x="376" y="8"/>
                      <a:pt x="364" y="31"/>
                      <a:pt x="338" y="48"/>
                    </a:cubicBezTo>
                    <a:lnTo>
                      <a:pt x="312" y="65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accent2"/>
                  </a:gs>
                </a:gsLst>
                <a:lin ang="2700000" scaled="0"/>
              </a:gradFill>
              <a:ln>
                <a:noFill/>
              </a:ln>
            </p:spPr>
            <p:txBody>
              <a:bodyPr lIns="91425" tIns="45700" rIns="91425" bIns="45700" anchor="ctr" anchorCtr="0">
                <a:spAutoFit/>
              </a:bodyPr>
              <a:lstStyle/>
              <a:p>
                <a:endParaRPr/>
              </a:p>
            </p:txBody>
          </p:sp>
          <p:sp>
            <p:nvSpPr>
              <p:cNvPr id="17" name="Shape 17"/>
              <p:cNvSpPr/>
              <p:nvPr/>
            </p:nvSpPr>
            <p:spPr>
              <a:xfrm>
                <a:off x="2298700" y="58736"/>
                <a:ext cx="657224" cy="171449"/>
              </a:xfrm>
              <a:custGeom>
                <a:avLst/>
                <a:gdLst/>
                <a:ahLst/>
                <a:cxnLst/>
                <a:rect l="0" t="0" r="0" b="0"/>
                <a:pathLst>
                  <a:path w="156" h="11" extrusionOk="0">
                    <a:moveTo>
                      <a:pt x="0" y="11"/>
                    </a:moveTo>
                    <a:lnTo>
                      <a:pt x="24" y="11"/>
                    </a:lnTo>
                    <a:cubicBezTo>
                      <a:pt x="50" y="9"/>
                      <a:pt x="112" y="0"/>
                      <a:pt x="156" y="2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accent2"/>
                  </a:gs>
                </a:gsLst>
                <a:lin ang="10800000" scaled="0"/>
              </a:gradFill>
              <a:ln>
                <a:noFill/>
              </a:ln>
            </p:spPr>
            <p:txBody>
              <a:bodyPr lIns="91425" tIns="45700" rIns="91425" bIns="45700" anchor="ctr" anchorCtr="0">
                <a:spAutoFit/>
              </a:bodyPr>
              <a:lstStyle/>
              <a:p>
                <a:endParaRPr/>
              </a:p>
            </p:txBody>
          </p:sp>
          <p:sp>
            <p:nvSpPr>
              <p:cNvPr id="18" name="Shape 18"/>
              <p:cNvSpPr/>
              <p:nvPr/>
            </p:nvSpPr>
            <p:spPr>
              <a:xfrm>
                <a:off x="2841625" y="0"/>
                <a:ext cx="825500" cy="357187"/>
              </a:xfrm>
              <a:custGeom>
                <a:avLst/>
                <a:gdLst/>
                <a:ahLst/>
                <a:cxnLst/>
                <a:rect l="0" t="0" r="0" b="0"/>
                <a:pathLst>
                  <a:path w="42" h="33" extrusionOk="0">
                    <a:moveTo>
                      <a:pt x="42" y="0"/>
                    </a:moveTo>
                    <a:cubicBezTo>
                      <a:pt x="24" y="4"/>
                      <a:pt x="0" y="15"/>
                      <a:pt x="12" y="24"/>
                    </a:cubicBezTo>
                    <a:lnTo>
                      <a:pt x="24" y="33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accent2"/>
                  </a:gs>
                </a:gsLst>
                <a:lin ang="8100000" scaled="0"/>
              </a:gradFill>
              <a:ln>
                <a:noFill/>
              </a:ln>
            </p:spPr>
            <p:txBody>
              <a:bodyPr lIns="91425" tIns="45700" rIns="91425" bIns="45700" anchor="ctr" anchorCtr="0">
                <a:spAutoFit/>
              </a:bodyPr>
              <a:lstStyle/>
              <a:p>
                <a:endParaRPr/>
              </a:p>
            </p:txBody>
          </p:sp>
          <p:sp>
            <p:nvSpPr>
              <p:cNvPr id="19" name="Shape 19"/>
              <p:cNvSpPr/>
              <p:nvPr/>
            </p:nvSpPr>
            <p:spPr>
              <a:xfrm>
                <a:off x="3084511" y="244475"/>
                <a:ext cx="684212" cy="369886"/>
              </a:xfrm>
              <a:custGeom>
                <a:avLst/>
                <a:gdLst/>
                <a:ahLst/>
                <a:cxnLst/>
                <a:rect l="0" t="0" r="0" b="0"/>
                <a:pathLst>
                  <a:path w="42" h="38" extrusionOk="0">
                    <a:moveTo>
                      <a:pt x="6" y="38"/>
                    </a:moveTo>
                    <a:cubicBezTo>
                      <a:pt x="0" y="26"/>
                      <a:pt x="3" y="26"/>
                      <a:pt x="9" y="20"/>
                    </a:cubicBezTo>
                    <a:cubicBezTo>
                      <a:pt x="15" y="14"/>
                      <a:pt x="29" y="0"/>
                      <a:pt x="42" y="2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accent2"/>
                  </a:gs>
                </a:gsLst>
                <a:lin ang="8100000" scaled="0"/>
              </a:gradFill>
              <a:ln>
                <a:noFill/>
              </a:ln>
            </p:spPr>
            <p:txBody>
              <a:bodyPr lIns="91425" tIns="45700" rIns="91425" bIns="45700" anchor="ctr" anchorCtr="0">
                <a:spAutoFit/>
              </a:bodyPr>
              <a:lstStyle/>
              <a:p>
                <a:endParaRPr/>
              </a:p>
            </p:txBody>
          </p:sp>
          <p:sp>
            <p:nvSpPr>
              <p:cNvPr id="20" name="Shape 20"/>
              <p:cNvSpPr/>
              <p:nvPr/>
            </p:nvSpPr>
            <p:spPr>
              <a:xfrm>
                <a:off x="3590925" y="138111"/>
                <a:ext cx="628649" cy="360362"/>
              </a:xfrm>
              <a:custGeom>
                <a:avLst/>
                <a:gdLst/>
                <a:ahLst/>
                <a:cxnLst/>
                <a:rect l="0" t="0" r="0" b="0"/>
                <a:pathLst>
                  <a:path w="53" h="66" extrusionOk="0">
                    <a:moveTo>
                      <a:pt x="2" y="9"/>
                    </a:moveTo>
                    <a:cubicBezTo>
                      <a:pt x="4" y="18"/>
                      <a:pt x="24" y="45"/>
                      <a:pt x="53" y="66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accent2"/>
                  </a:gs>
                </a:gsLst>
                <a:lin ang="8100000" scaled="0"/>
              </a:gradFill>
              <a:ln>
                <a:noFill/>
              </a:ln>
            </p:spPr>
            <p:txBody>
              <a:bodyPr lIns="91425" tIns="45700" rIns="91425" bIns="45700" anchor="ctr" anchorCtr="0">
                <a:spAutoFit/>
              </a:bodyPr>
              <a:lstStyle/>
              <a:p>
                <a:endParaRPr/>
              </a:p>
            </p:txBody>
          </p:sp>
          <p:sp>
            <p:nvSpPr>
              <p:cNvPr id="21" name="Shape 21"/>
              <p:cNvSpPr/>
              <p:nvPr/>
            </p:nvSpPr>
            <p:spPr>
              <a:xfrm>
                <a:off x="3594100" y="381000"/>
                <a:ext cx="819149" cy="354011"/>
              </a:xfrm>
              <a:custGeom>
                <a:avLst/>
                <a:gdLst/>
                <a:ahLst/>
                <a:cxnLst/>
                <a:rect l="0" t="0" r="0" b="0"/>
                <a:pathLst>
                  <a:path w="105" h="97" extrusionOk="0">
                    <a:moveTo>
                      <a:pt x="3" y="10"/>
                    </a:moveTo>
                    <a:cubicBezTo>
                      <a:pt x="0" y="20"/>
                      <a:pt x="65" y="69"/>
                      <a:pt x="105" y="97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accent2"/>
                  </a:gs>
                </a:gsLst>
                <a:lin ang="5400000" scaled="0"/>
              </a:gradFill>
              <a:ln>
                <a:noFill/>
              </a:ln>
            </p:spPr>
            <p:txBody>
              <a:bodyPr lIns="91425" tIns="45700" rIns="91425" bIns="45700" anchor="ctr" anchorCtr="0">
                <a:spAutoFit/>
              </a:bodyPr>
              <a:lstStyle/>
              <a:p>
                <a:endParaRPr/>
              </a:p>
            </p:txBody>
          </p:sp>
          <p:sp>
            <p:nvSpPr>
              <p:cNvPr id="22" name="Shape 22"/>
              <p:cNvSpPr/>
              <p:nvPr/>
            </p:nvSpPr>
            <p:spPr>
              <a:xfrm>
                <a:off x="4322762" y="514350"/>
                <a:ext cx="657225" cy="158750"/>
              </a:xfrm>
              <a:custGeom>
                <a:avLst/>
                <a:gdLst/>
                <a:ahLst/>
                <a:cxnLst/>
                <a:rect l="0" t="0" r="0" b="0"/>
                <a:pathLst>
                  <a:path w="69" h="60" extrusionOk="0">
                    <a:moveTo>
                      <a:pt x="69" y="60"/>
                    </a:moveTo>
                    <a:cubicBezTo>
                      <a:pt x="39" y="52"/>
                      <a:pt x="23" y="49"/>
                      <a:pt x="12" y="42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accent2"/>
                  </a:gs>
                </a:gsLst>
                <a:lin ang="0" scaled="0"/>
              </a:gradFill>
              <a:ln>
                <a:noFill/>
              </a:ln>
            </p:spPr>
            <p:txBody>
              <a:bodyPr lIns="91425" tIns="45700" rIns="91425" bIns="45700" anchor="ctr" anchorCtr="0">
                <a:spAutoFit/>
              </a:bodyPr>
              <a:lstStyle/>
              <a:p>
                <a:endParaRPr/>
              </a:p>
            </p:txBody>
          </p:sp>
          <p:sp>
            <p:nvSpPr>
              <p:cNvPr id="23" name="Shape 23"/>
              <p:cNvSpPr/>
              <p:nvPr/>
            </p:nvSpPr>
            <p:spPr>
              <a:xfrm>
                <a:off x="5024437" y="595312"/>
                <a:ext cx="238125" cy="114300"/>
              </a:xfrm>
              <a:custGeom>
                <a:avLst/>
                <a:gdLst/>
                <a:ahLst/>
                <a:cxnLst/>
                <a:rect l="0" t="0" r="0" b="0"/>
                <a:pathLst>
                  <a:path w="84" h="67" extrusionOk="0">
                    <a:moveTo>
                      <a:pt x="3" y="67"/>
                    </a:moveTo>
                    <a:cubicBezTo>
                      <a:pt x="16" y="59"/>
                      <a:pt x="64" y="30"/>
                      <a:pt x="84" y="19"/>
                    </a:cubicBezTo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accent2"/>
                  </a:gs>
                </a:gsLst>
                <a:lin ang="10800000" scaled="0"/>
              </a:gradFill>
              <a:ln>
                <a:noFill/>
              </a:ln>
            </p:spPr>
            <p:txBody>
              <a:bodyPr lIns="91425" tIns="45700" rIns="91425" bIns="45700" anchor="ctr" anchorCtr="0">
                <a:spAutoFit/>
              </a:bodyPr>
              <a:lstStyle/>
              <a:p>
                <a:endParaRPr/>
              </a:p>
            </p:txBody>
          </p:sp>
          <p:sp>
            <p:nvSpPr>
              <p:cNvPr id="24" name="Shape 24"/>
              <p:cNvSpPr/>
              <p:nvPr/>
            </p:nvSpPr>
            <p:spPr>
              <a:xfrm>
                <a:off x="5497512" y="423862"/>
                <a:ext cx="234950" cy="144461"/>
              </a:xfrm>
              <a:custGeom>
                <a:avLst/>
                <a:gdLst/>
                <a:ahLst/>
                <a:cxnLst/>
                <a:rect l="0" t="0" r="0" b="0"/>
                <a:pathLst>
                  <a:path w="25" h="69" extrusionOk="0">
                    <a:moveTo>
                      <a:pt x="1" y="69"/>
                    </a:moveTo>
                    <a:cubicBezTo>
                      <a:pt x="2" y="63"/>
                      <a:pt x="9" y="61"/>
                      <a:pt x="25" y="5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accent2"/>
                  </a:gs>
                </a:gsLst>
                <a:lin ang="2700000" scaled="0"/>
              </a:gradFill>
              <a:ln>
                <a:noFill/>
              </a:ln>
            </p:spPr>
            <p:txBody>
              <a:bodyPr lIns="91425" tIns="45700" rIns="91425" bIns="45700" anchor="ctr" anchorCtr="0">
                <a:spAutoFit/>
              </a:bodyPr>
              <a:lstStyle/>
              <a:p>
                <a:endParaRPr/>
              </a:p>
            </p:txBody>
          </p:sp>
          <p:sp>
            <p:nvSpPr>
              <p:cNvPr id="25" name="Shape 25"/>
              <p:cNvSpPr/>
              <p:nvPr/>
            </p:nvSpPr>
            <p:spPr>
              <a:xfrm>
                <a:off x="5683250" y="92075"/>
                <a:ext cx="1489074" cy="250824"/>
              </a:xfrm>
              <a:custGeom>
                <a:avLst/>
                <a:gdLst/>
                <a:ahLst/>
                <a:cxnLst/>
                <a:rect l="0" t="0" r="0" b="0"/>
                <a:pathLst>
                  <a:path w="172" h="137" extrusionOk="0">
                    <a:moveTo>
                      <a:pt x="172" y="86"/>
                    </a:moveTo>
                    <a:cubicBezTo>
                      <a:pt x="142" y="99"/>
                      <a:pt x="87" y="126"/>
                      <a:pt x="61" y="137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accent2"/>
                  </a:gs>
                </a:gsLst>
                <a:lin ang="0" scaled="0"/>
              </a:gradFill>
              <a:ln>
                <a:noFill/>
              </a:ln>
            </p:spPr>
            <p:txBody>
              <a:bodyPr lIns="91425" tIns="45700" rIns="91425" bIns="45700" anchor="ctr" anchorCtr="0">
                <a:spAutoFit/>
              </a:bodyPr>
              <a:lstStyle/>
              <a:p>
                <a:endParaRPr/>
              </a:p>
            </p:txBody>
          </p:sp>
          <p:sp>
            <p:nvSpPr>
              <p:cNvPr id="26" name="Shape 26"/>
              <p:cNvSpPr/>
              <p:nvPr/>
            </p:nvSpPr>
            <p:spPr>
              <a:xfrm>
                <a:off x="5851525" y="230187"/>
                <a:ext cx="590550" cy="155574"/>
              </a:xfrm>
              <a:custGeom>
                <a:avLst/>
                <a:gdLst/>
                <a:ahLst/>
                <a:cxnLst/>
                <a:rect l="0" t="0" r="0" b="0"/>
                <a:pathLst>
                  <a:path w="141" h="47" extrusionOk="0">
                    <a:moveTo>
                      <a:pt x="18" y="47"/>
                    </a:moveTo>
                    <a:cubicBezTo>
                      <a:pt x="60" y="36"/>
                      <a:pt x="103" y="25"/>
                      <a:pt x="141" y="17"/>
                    </a:cubicBezTo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accent2"/>
                  </a:gs>
                </a:gsLst>
                <a:lin ang="10800000" scaled="0"/>
              </a:gradFill>
              <a:ln>
                <a:noFill/>
              </a:ln>
            </p:spPr>
            <p:txBody>
              <a:bodyPr lIns="91425" tIns="45700" rIns="91425" bIns="45700" anchor="ctr" anchorCtr="0">
                <a:spAutoFit/>
              </a:bodyPr>
              <a:lstStyle/>
              <a:p>
                <a:endParaRPr/>
              </a:p>
            </p:txBody>
          </p:sp>
          <p:sp>
            <p:nvSpPr>
              <p:cNvPr id="27" name="Shape 27"/>
              <p:cNvSpPr/>
              <p:nvPr/>
            </p:nvSpPr>
            <p:spPr>
              <a:xfrm>
                <a:off x="5743575" y="488950"/>
                <a:ext cx="504824" cy="250825"/>
              </a:xfrm>
              <a:custGeom>
                <a:avLst/>
                <a:gdLst/>
                <a:ahLst/>
                <a:cxnLst/>
                <a:rect l="0" t="0" r="0" b="0"/>
                <a:pathLst>
                  <a:path w="162" h="158" extrusionOk="0">
                    <a:moveTo>
                      <a:pt x="0" y="158"/>
                    </a:moveTo>
                    <a:lnTo>
                      <a:pt x="12" y="137"/>
                    </a:lnTo>
                    <a:cubicBezTo>
                      <a:pt x="39" y="123"/>
                      <a:pt x="122" y="90"/>
                      <a:pt x="162" y="7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accent2"/>
                  </a:gs>
                </a:gsLst>
                <a:lin ang="13499999" scaled="0"/>
              </a:gradFill>
              <a:ln>
                <a:noFill/>
              </a:ln>
            </p:spPr>
            <p:txBody>
              <a:bodyPr lIns="91425" tIns="45700" rIns="91425" bIns="45700" anchor="ctr" anchorCtr="0">
                <a:spAutoFit/>
              </a:bodyPr>
              <a:lstStyle/>
              <a:p>
                <a:endParaRPr/>
              </a:p>
            </p:txBody>
          </p:sp>
          <p:sp>
            <p:nvSpPr>
              <p:cNvPr id="28" name="Shape 28"/>
              <p:cNvSpPr/>
              <p:nvPr/>
            </p:nvSpPr>
            <p:spPr>
              <a:xfrm>
                <a:off x="5418137" y="461962"/>
                <a:ext cx="603249" cy="276225"/>
              </a:xfrm>
              <a:custGeom>
                <a:avLst/>
                <a:gdLst/>
                <a:ahLst/>
                <a:cxnLst/>
                <a:rect l="0" t="0" r="0" b="0"/>
                <a:pathLst>
                  <a:path w="172" h="165" extrusionOk="0">
                    <a:moveTo>
                      <a:pt x="3" y="165"/>
                    </a:moveTo>
                    <a:cubicBezTo>
                      <a:pt x="24" y="153"/>
                      <a:pt x="86" y="115"/>
                      <a:pt x="129" y="93"/>
                    </a:cubicBezTo>
                    <a:lnTo>
                      <a:pt x="172" y="71"/>
                    </a:lnTo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accent2"/>
                  </a:gs>
                </a:gsLst>
                <a:lin ang="0" scaled="0"/>
              </a:gradFill>
              <a:ln>
                <a:noFill/>
              </a:ln>
            </p:spPr>
            <p:txBody>
              <a:bodyPr lIns="91425" tIns="45700" rIns="91425" bIns="45700" anchor="ctr" anchorCtr="0">
                <a:spAutoFit/>
              </a:bodyPr>
              <a:lstStyle/>
              <a:p>
                <a:endParaRPr/>
              </a:p>
            </p:txBody>
          </p:sp>
          <p:sp>
            <p:nvSpPr>
              <p:cNvPr id="29" name="Shape 29"/>
              <p:cNvSpPr/>
              <p:nvPr/>
            </p:nvSpPr>
            <p:spPr>
              <a:xfrm>
                <a:off x="6632575" y="296862"/>
                <a:ext cx="830261" cy="109537"/>
              </a:xfrm>
              <a:custGeom>
                <a:avLst/>
                <a:gdLst/>
                <a:ahLst/>
                <a:cxnLst/>
                <a:rect l="0" t="0" r="0" b="0"/>
                <a:pathLst>
                  <a:path w="84" h="11" extrusionOk="0">
                    <a:moveTo>
                      <a:pt x="84" y="11"/>
                    </a:moveTo>
                    <a:cubicBezTo>
                      <a:pt x="65" y="9"/>
                      <a:pt x="40" y="1"/>
                      <a:pt x="27" y="5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accent2"/>
                  </a:gs>
                </a:gsLst>
                <a:lin ang="18899999" scaled="0"/>
              </a:gradFill>
              <a:ln>
                <a:noFill/>
              </a:ln>
            </p:spPr>
            <p:txBody>
              <a:bodyPr lIns="91425" tIns="45700" rIns="91425" bIns="45700" anchor="ctr" anchorCtr="0">
                <a:spAutoFit/>
              </a:bodyPr>
              <a:lstStyle/>
              <a:p>
                <a:endParaRPr/>
              </a:p>
            </p:txBody>
          </p:sp>
          <p:sp>
            <p:nvSpPr>
              <p:cNvPr id="30" name="Shape 30"/>
              <p:cNvSpPr/>
              <p:nvPr/>
            </p:nvSpPr>
            <p:spPr>
              <a:xfrm>
                <a:off x="7443786" y="295275"/>
                <a:ext cx="852487" cy="190500"/>
              </a:xfrm>
              <a:custGeom>
                <a:avLst/>
                <a:gdLst/>
                <a:ahLst/>
                <a:cxnLst/>
                <a:rect l="0" t="0" r="0" b="0"/>
                <a:pathLst>
                  <a:path w="188" h="6" extrusionOk="0">
                    <a:moveTo>
                      <a:pt x="23" y="6"/>
                    </a:moveTo>
                    <a:cubicBezTo>
                      <a:pt x="46" y="0"/>
                      <a:pt x="138" y="0"/>
                      <a:pt x="188" y="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accent2"/>
                  </a:gs>
                </a:gsLst>
                <a:lin ang="8100000" scaled="0"/>
              </a:gradFill>
              <a:ln>
                <a:noFill/>
              </a:ln>
            </p:spPr>
            <p:txBody>
              <a:bodyPr lIns="91425" tIns="45700" rIns="91425" bIns="45700" anchor="ctr" anchorCtr="0">
                <a:spAutoFit/>
              </a:bodyPr>
              <a:lstStyle/>
              <a:p>
                <a:endParaRPr/>
              </a:p>
            </p:txBody>
          </p:sp>
          <p:sp>
            <p:nvSpPr>
              <p:cNvPr id="31" name="Shape 31"/>
              <p:cNvSpPr/>
              <p:nvPr/>
            </p:nvSpPr>
            <p:spPr>
              <a:xfrm>
                <a:off x="7886700" y="495300"/>
                <a:ext cx="1270000" cy="227011"/>
              </a:xfrm>
              <a:custGeom>
                <a:avLst/>
                <a:gdLst/>
                <a:ahLst/>
                <a:cxnLst/>
                <a:rect l="0" t="0" r="0" b="0"/>
                <a:pathLst>
                  <a:path w="800" h="63" extrusionOk="0">
                    <a:moveTo>
                      <a:pt x="800" y="24"/>
                    </a:moveTo>
                    <a:lnTo>
                      <a:pt x="782" y="15"/>
                    </a:lnTo>
                    <a:cubicBezTo>
                      <a:pt x="759" y="21"/>
                      <a:pt x="706" y="51"/>
                      <a:pt x="659" y="6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accent2"/>
                  </a:gs>
                </a:gsLst>
                <a:lin ang="10800000" scaled="0"/>
              </a:gradFill>
              <a:ln>
                <a:noFill/>
              </a:ln>
            </p:spPr>
            <p:txBody>
              <a:bodyPr lIns="91425" tIns="45700" rIns="91425" bIns="45700" anchor="ctr" anchorCtr="0">
                <a:spAutoFit/>
              </a:bodyPr>
              <a:lstStyle/>
              <a:p>
                <a:endParaRPr/>
              </a:p>
            </p:txBody>
          </p:sp>
          <p:sp>
            <p:nvSpPr>
              <p:cNvPr id="32" name="Shape 32"/>
              <p:cNvSpPr/>
              <p:nvPr/>
            </p:nvSpPr>
            <p:spPr>
              <a:xfrm>
                <a:off x="8442325" y="381000"/>
                <a:ext cx="638175" cy="182562"/>
              </a:xfrm>
              <a:custGeom>
                <a:avLst/>
                <a:gdLst/>
                <a:ahLst/>
                <a:cxnLst/>
                <a:rect l="0" t="0" r="0" b="0"/>
                <a:pathLst>
                  <a:path w="402" h="51" extrusionOk="0">
                    <a:moveTo>
                      <a:pt x="402" y="0"/>
                    </a:moveTo>
                    <a:lnTo>
                      <a:pt x="384" y="12"/>
                    </a:lnTo>
                    <a:cubicBezTo>
                      <a:pt x="363" y="20"/>
                      <a:pt x="312" y="42"/>
                      <a:pt x="276" y="5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accent2"/>
                  </a:gs>
                </a:gsLst>
                <a:lin ang="0" scaled="0"/>
              </a:gradFill>
              <a:ln>
                <a:noFill/>
              </a:ln>
            </p:spPr>
            <p:txBody>
              <a:bodyPr lIns="91425" tIns="45700" rIns="91425" bIns="45700" anchor="ctr" anchorCtr="0">
                <a:spAutoFit/>
              </a:bodyPr>
              <a:lstStyle/>
              <a:p>
                <a:endParaRPr/>
              </a:p>
            </p:txBody>
          </p:sp>
        </p:grpSp>
        <p:grpSp>
          <p:nvGrpSpPr>
            <p:cNvPr id="33" name="Shape 33"/>
            <p:cNvGrpSpPr/>
            <p:nvPr/>
          </p:nvGrpSpPr>
          <p:grpSpPr>
            <a:xfrm>
              <a:off x="0" y="6476999"/>
              <a:ext cx="9169399" cy="138113"/>
              <a:chOff x="0" y="6643686"/>
              <a:chExt cx="9169399" cy="138113"/>
            </a:xfrm>
          </p:grpSpPr>
          <p:sp>
            <p:nvSpPr>
              <p:cNvPr id="34" name="Shape 34"/>
              <p:cNvSpPr/>
              <p:nvPr/>
            </p:nvSpPr>
            <p:spPr>
              <a:xfrm>
                <a:off x="6415087" y="6667500"/>
                <a:ext cx="2754311" cy="114300"/>
              </a:xfrm>
              <a:custGeom>
                <a:avLst/>
                <a:gdLst/>
                <a:ahLst/>
                <a:cxnLst/>
                <a:rect l="0" t="0" r="0" b="0"/>
                <a:pathLst>
                  <a:path w="450" h="6" extrusionOk="0">
                    <a:moveTo>
                      <a:pt x="165" y="6"/>
                    </a:moveTo>
                    <a:cubicBezTo>
                      <a:pt x="236" y="1"/>
                      <a:pt x="359" y="2"/>
                      <a:pt x="450" y="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accent2"/>
                  </a:gs>
                </a:gsLst>
                <a:lin ang="16200000" scaled="0"/>
              </a:gradFill>
              <a:ln>
                <a:noFill/>
              </a:ln>
            </p:spPr>
            <p:txBody>
              <a:bodyPr lIns="91425" tIns="45700" rIns="91425" bIns="45700" anchor="ctr" anchorCtr="0">
                <a:spAutoFit/>
              </a:bodyPr>
              <a:lstStyle/>
              <a:p>
                <a:endParaRPr/>
              </a:p>
            </p:txBody>
          </p:sp>
          <p:sp>
            <p:nvSpPr>
              <p:cNvPr id="35" name="Shape 35"/>
              <p:cNvSpPr/>
              <p:nvPr/>
            </p:nvSpPr>
            <p:spPr>
              <a:xfrm>
                <a:off x="2741611" y="6653211"/>
                <a:ext cx="4214812" cy="95249"/>
              </a:xfrm>
              <a:custGeom>
                <a:avLst/>
                <a:gdLst/>
                <a:ahLst/>
                <a:cxnLst/>
                <a:rect l="0" t="0" r="0" b="0"/>
                <a:pathLst>
                  <a:path w="2641" h="45" extrusionOk="0">
                    <a:moveTo>
                      <a:pt x="2641" y="6"/>
                    </a:moveTo>
                    <a:lnTo>
                      <a:pt x="2620" y="30"/>
                    </a:lnTo>
                    <a:cubicBezTo>
                      <a:pt x="2575" y="36"/>
                      <a:pt x="2467" y="40"/>
                      <a:pt x="2368" y="45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accent2"/>
                  </a:gs>
                </a:gsLst>
                <a:lin ang="16200000" scaled="0"/>
              </a:gradFill>
              <a:ln>
                <a:noFill/>
              </a:ln>
            </p:spPr>
            <p:txBody>
              <a:bodyPr lIns="91425" tIns="45700" rIns="91425" bIns="45700" anchor="ctr" anchorCtr="0">
                <a:spAutoFit/>
              </a:bodyPr>
              <a:lstStyle/>
              <a:p>
                <a:endParaRPr/>
              </a:p>
            </p:txBody>
          </p:sp>
          <p:sp>
            <p:nvSpPr>
              <p:cNvPr id="36" name="Shape 36"/>
              <p:cNvSpPr/>
              <p:nvPr/>
            </p:nvSpPr>
            <p:spPr>
              <a:xfrm>
                <a:off x="0" y="6643686"/>
                <a:ext cx="3240087" cy="98425"/>
              </a:xfrm>
              <a:custGeom>
                <a:avLst/>
                <a:gdLst/>
                <a:ahLst/>
                <a:cxnLst/>
                <a:rect l="0" t="0" r="0" b="0"/>
                <a:pathLst>
                  <a:path w="1893" h="62" extrusionOk="0">
                    <a:moveTo>
                      <a:pt x="1893" y="39"/>
                    </a:moveTo>
                    <a:cubicBezTo>
                      <a:pt x="1817" y="41"/>
                      <a:pt x="1725" y="42"/>
                      <a:pt x="1578" y="45"/>
                    </a:cubicBezTo>
                    <a:lnTo>
                      <a:pt x="1431" y="48"/>
                    </a:lnTo>
                    <a:cubicBezTo>
                      <a:pt x="1201" y="58"/>
                      <a:pt x="1011" y="60"/>
                      <a:pt x="821" y="62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accent2"/>
                  </a:gs>
                </a:gsLst>
                <a:lin ang="16200000" scaled="0"/>
              </a:gradFill>
              <a:ln>
                <a:noFill/>
              </a:ln>
            </p:spPr>
            <p:txBody>
              <a:bodyPr lIns="91425" tIns="45700" rIns="91425" bIns="45700" anchor="ctr" anchorCtr="0">
                <a:spAutoFit/>
              </a:bodyPr>
              <a:lstStyle/>
              <a:p>
                <a:endParaRPr/>
              </a:p>
            </p:txBody>
          </p:sp>
        </p:grpSp>
      </p:grpSp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685800" y="7620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400" b="0" i="0" u="none" strike="noStrike" cap="none" baseline="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400" b="0" i="0" u="none" strike="noStrike" cap="none" baseline="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400" b="0" i="0" u="none" strike="noStrike" cap="none" baseline="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400" b="0" i="0" u="none" strike="noStrike" cap="none" baseline="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400" b="0" i="0" u="none" strike="noStrike" cap="none" baseline="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400" b="0" i="0" u="none" strike="noStrike" cap="none" baseline="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400" b="0" i="0" u="none" strike="noStrike" cap="none" baseline="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400" b="0" i="0" u="none" strike="noStrike" cap="none" baseline="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400" b="0" i="0" u="none" strike="noStrike" cap="none" baseline="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body" idx="1"/>
          </p:nvPr>
        </p:nvSpPr>
        <p:spPr>
          <a:xfrm>
            <a:off x="685800" y="21336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indent="1206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3200" b="0" i="0" u="none" strike="noStrike" cap="none" baseline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793750" marR="0" indent="-2286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Font typeface="Arial"/>
              <a:buChar char="•"/>
              <a:defRPr sz="2800" b="0" i="0" u="none" strike="noStrike" cap="none" baseline="0"/>
            </a:lvl2pPr>
            <a:lvl3pPr marL="1143000" marR="0" indent="-136525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Font typeface="Arial"/>
              <a:buChar char="•"/>
              <a:defRPr sz="2400" b="0" i="0" u="none" strike="noStrike" cap="none" baseline="0"/>
            </a:lvl3pPr>
            <a:lvl4pPr marL="1600200" marR="0" indent="-1524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/>
              <a:buChar char="•"/>
              <a:defRPr sz="2000" b="0" i="0" u="none" strike="noStrike" cap="none" baseline="0"/>
            </a:lvl4pPr>
            <a:lvl5pPr marL="2057400" marR="0" indent="-1524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/>
              <a:buChar char="•"/>
              <a:defRPr sz="2000" b="0" i="0" u="none" strike="noStrike" cap="none" baseline="0"/>
            </a:lvl5pPr>
            <a:lvl6pPr marL="2514600" marR="0" indent="-1079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3200" b="0" i="0" u="none" strike="noStrike" cap="none" baseline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2971800" marR="0" indent="-1079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3200" b="0" i="0" u="none" strike="noStrike" cap="none" baseline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3429000" marR="0" indent="-1079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3200" b="0" i="0" u="none" strike="noStrike" cap="none" baseline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3886200" marR="0" indent="-1079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3200" b="0" i="0" u="none" strike="noStrike" cap="none" baseline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dt" idx="10"/>
          </p:nvPr>
        </p:nvSpPr>
        <p:spPr>
          <a:xfrm>
            <a:off x="685800" y="6400800"/>
            <a:ext cx="19049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indent="0" algn="l" rtl="0">
              <a:defRPr sz="1400" b="0" i="0" u="none" strike="noStrike" cap="none" baseline="0">
                <a:latin typeface="Tahoma"/>
                <a:ea typeface="Tahoma"/>
                <a:cs typeface="Tahoma"/>
                <a:sym typeface="Tahoma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ftr" idx="11"/>
          </p:nvPr>
        </p:nvSpPr>
        <p:spPr>
          <a:xfrm>
            <a:off x="3124200" y="6400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indent="0" algn="ctr" rtl="0">
              <a:defRPr sz="1400" b="0" i="0" u="none" strike="noStrike" cap="none" baseline="0">
                <a:latin typeface="Tahoma"/>
                <a:ea typeface="Tahoma"/>
                <a:cs typeface="Tahoma"/>
                <a:sym typeface="Tahoma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19049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i="0" u="none" strike="noStrike" cap="none" baseline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</p:sldLayoutIdLst>
  <p:txStyles>
    <p:title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</p:titleStyle>
    <p:body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8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9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10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10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eg"/><Relationship Id="rId4" Type="http://schemas.openxmlformats.org/officeDocument/2006/relationships/image" Target="../media/image4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12.jpe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13.jpe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gif"/><Relationship Id="rId4" Type="http://schemas.openxmlformats.org/officeDocument/2006/relationships/image" Target="../media/image4.jpe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jpeg"/><Relationship Id="rId4" Type="http://schemas.openxmlformats.org/officeDocument/2006/relationships/image" Target="../media/image4.jpe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jpeg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jpeg"/><Relationship Id="rId4" Type="http://schemas.openxmlformats.org/officeDocument/2006/relationships/image" Target="../media/image4.jpe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21.jpe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jpeg"/><Relationship Id="rId5" Type="http://schemas.openxmlformats.org/officeDocument/2006/relationships/image" Target="../media/image4.jpeg"/><Relationship Id="rId4" Type="http://schemas.openxmlformats.org/officeDocument/2006/relationships/image" Target="../media/image19.jpe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jpeg"/><Relationship Id="rId4" Type="http://schemas.openxmlformats.org/officeDocument/2006/relationships/image" Target="../media/image4.jpe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jpeg"/><Relationship Id="rId4" Type="http://schemas.openxmlformats.org/officeDocument/2006/relationships/image" Target="../media/image4.jpe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jpeg"/><Relationship Id="rId4" Type="http://schemas.openxmlformats.org/officeDocument/2006/relationships/image" Target="../media/image4.jpe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jpeg"/><Relationship Id="rId4" Type="http://schemas.openxmlformats.org/officeDocument/2006/relationships/image" Target="../media/image4.jpe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25.jpe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26.jpe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eg"/><Relationship Id="rId5" Type="http://schemas.openxmlformats.org/officeDocument/2006/relationships/image" Target="../media/image27.jpeg"/><Relationship Id="rId4" Type="http://schemas.openxmlformats.org/officeDocument/2006/relationships/image" Target="../media/image26.jpe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eg"/><Relationship Id="rId5" Type="http://schemas.openxmlformats.org/officeDocument/2006/relationships/image" Target="../media/image28.jpeg"/><Relationship Id="rId4" Type="http://schemas.openxmlformats.org/officeDocument/2006/relationships/image" Target="../media/image26.jpe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jpeg"/><Relationship Id="rId4" Type="http://schemas.openxmlformats.org/officeDocument/2006/relationships/image" Target="../media/image4.jpe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jpeg"/><Relationship Id="rId4" Type="http://schemas.openxmlformats.org/officeDocument/2006/relationships/image" Target="../media/image4.jpe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jpeg"/><Relationship Id="rId4" Type="http://schemas.openxmlformats.org/officeDocument/2006/relationships/image" Target="../media/image4.jpe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jpeg"/><Relationship Id="rId4" Type="http://schemas.openxmlformats.org/officeDocument/2006/relationships/image" Target="../media/image4.jpe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jpe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jpeg"/><Relationship Id="rId4" Type="http://schemas.openxmlformats.org/officeDocument/2006/relationships/image" Target="../media/image4.jpe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jpeg"/><Relationship Id="rId4" Type="http://schemas.openxmlformats.org/officeDocument/2006/relationships/image" Target="../media/image4.jpe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jpe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3.xml"/><Relationship Id="rId6" Type="http://schemas.microsoft.com/office/2007/relationships/hdphoto" Target="../media/hdphoto1.wdp"/><Relationship Id="rId5" Type="http://schemas.openxmlformats.org/officeDocument/2006/relationships/image" Target="../media/image34.png"/><Relationship Id="rId4" Type="http://schemas.openxmlformats.org/officeDocument/2006/relationships/image" Target="../media/image4.jpe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jpeg"/><Relationship Id="rId4" Type="http://schemas.openxmlformats.org/officeDocument/2006/relationships/image" Target="../media/image4.jpe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jpeg"/><Relationship Id="rId4" Type="http://schemas.openxmlformats.org/officeDocument/2006/relationships/image" Target="../media/image4.jpe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4.jpe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6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jpeg"/><Relationship Id="rId4" Type="http://schemas.openxmlformats.org/officeDocument/2006/relationships/image" Target="../media/image4.jpe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8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eg"/><Relationship Id="rId3" Type="http://schemas.openxmlformats.org/officeDocument/2006/relationships/image" Target="../media/image1.jpeg"/><Relationship Id="rId7" Type="http://schemas.openxmlformats.org/officeDocument/2006/relationships/hyperlink" Target="http://schlee.dihitt.com.br/schlee/noticia/saiba-em-quanto-tempo-o-teste-para-hiv-fica-positivo-apos-a-exposicao-ao-virus" TargetMode="External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segurancadotrabalhonwn.com/" TargetMode="External"/><Relationship Id="rId5" Type="http://schemas.openxmlformats.org/officeDocument/2006/relationships/hyperlink" Target="http://www.aidsbrasil.com/" TargetMode="External"/><Relationship Id="rId4" Type="http://schemas.openxmlformats.org/officeDocument/2006/relationships/hyperlink" Target="http://www.aids.gov.br/" TargetMode="Externa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hape 63"/>
          <p:cNvSpPr/>
          <p:nvPr/>
        </p:nvSpPr>
        <p:spPr>
          <a:xfrm>
            <a:off x="4219575" y="308610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endParaRPr/>
          </a:p>
        </p:txBody>
      </p:sp>
      <p:sp>
        <p:nvSpPr>
          <p:cNvPr id="66" name="Shape 66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49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/>
              <a:t> </a:t>
            </a:r>
          </a:p>
        </p:txBody>
      </p:sp>
      <p:sp>
        <p:nvSpPr>
          <p:cNvPr id="67" name="Shape 67"/>
          <p:cNvSpPr txBox="1"/>
          <p:nvPr/>
        </p:nvSpPr>
        <p:spPr>
          <a:xfrm>
            <a:off x="319700" y="2040200"/>
            <a:ext cx="3657600" cy="457200"/>
          </a:xfrm>
          <a:prstGeom prst="rect">
            <a:avLst/>
          </a:prstGeom>
          <a:noFill/>
        </p:spPr>
        <p:txBody>
          <a:bodyPr lIns="91425" tIns="91425" rIns="91425" bIns="91425" anchor="t" anchorCtr="0">
            <a:spAutoFit/>
          </a:bodyPr>
          <a:lstStyle/>
          <a:p>
            <a:endParaRPr/>
          </a:p>
        </p:txBody>
      </p:sp>
      <p:pic>
        <p:nvPicPr>
          <p:cNvPr id="17411" name="Picture 3" descr="F:\Imagens\engenheiros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96552" y="332656"/>
            <a:ext cx="9570899" cy="6376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Shape 62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9143999" cy="64629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 sz="3600" b="1" i="0" u="none" strike="noStrike" cap="none" baseline="0">
                <a:solidFill>
                  <a:srgbClr val="137B33"/>
                </a:solidFill>
                <a:latin typeface="Tahoma"/>
                <a:ea typeface="Tahoma"/>
                <a:cs typeface="Tahoma"/>
                <a:sym typeface="Tahoma"/>
              </a:rPr>
              <a:t>CURSO PARA </a:t>
            </a:r>
            <a:r>
              <a:rPr lang="x-none" sz="3600" b="1" i="0" u="none" strike="noStrike" cap="none" baseline="0" smtClean="0">
                <a:solidFill>
                  <a:srgbClr val="137B33"/>
                </a:solidFill>
                <a:latin typeface="Tahoma"/>
                <a:ea typeface="Tahoma"/>
                <a:cs typeface="Tahoma"/>
                <a:sym typeface="Tahoma"/>
              </a:rPr>
              <a:t>COMPONENTES</a:t>
            </a:r>
            <a:r>
              <a:rPr lang="pt-BR" sz="3600" b="1" i="0" u="none" strike="noStrike" cap="none" baseline="0" dirty="0" smtClean="0">
                <a:solidFill>
                  <a:srgbClr val="137B33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x-none" sz="3600" b="1" i="0" u="none" strike="noStrike" cap="none" baseline="0" smtClean="0">
                <a:solidFill>
                  <a:srgbClr val="137B33"/>
                </a:solidFill>
                <a:latin typeface="Tahoma"/>
                <a:ea typeface="Tahoma"/>
                <a:cs typeface="Tahoma"/>
                <a:sym typeface="Tahoma"/>
              </a:rPr>
              <a:t>DA </a:t>
            </a:r>
            <a:r>
              <a:rPr lang="x-none" sz="3600" b="1" i="0" u="none" strike="noStrike" cap="none" baseline="0">
                <a:solidFill>
                  <a:srgbClr val="137B33"/>
                </a:solidFill>
                <a:latin typeface="Tahoma"/>
                <a:ea typeface="Tahoma"/>
                <a:cs typeface="Tahoma"/>
                <a:sym typeface="Tahoma"/>
              </a:rPr>
              <a:t>CIPA</a:t>
            </a:r>
          </a:p>
        </p:txBody>
      </p:sp>
      <p:sp>
        <p:nvSpPr>
          <p:cNvPr id="64" name="Shape 64"/>
          <p:cNvSpPr/>
          <p:nvPr/>
        </p:nvSpPr>
        <p:spPr>
          <a:xfrm>
            <a:off x="-180527" y="5315764"/>
            <a:ext cx="9354874" cy="156962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25" tIns="45700" rIns="91425" bIns="4570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pt-BR" sz="2400" b="0" i="1" u="none" strike="noStrike" cap="none" baseline="0" dirty="0" smtClean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 sz="2400" b="1" i="1" u="none" strike="noStrike" cap="none" baseline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Nestor </a:t>
            </a:r>
            <a:r>
              <a:rPr lang="x-none" sz="2400" b="1" i="1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W. Neto</a:t>
            </a:r>
            <a:br>
              <a:rPr lang="x-none" sz="2400" b="1" i="1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x-none" sz="2400" b="0" i="1" u="none" strike="noStrike" cap="none" baseline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Técnico de Segurança do </a:t>
            </a:r>
            <a:r>
              <a:rPr lang="x-none" sz="2400" b="0" i="1" u="none" strike="noStrike" cap="none" baseline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Trabalho</a:t>
            </a:r>
            <a:endParaRPr lang="pt-BR" sz="2400" b="0" i="1" u="none" strike="noStrike" cap="none" baseline="0" dirty="0" smtClean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 sz="2400" b="0" i="1" u="none" strike="noStrike" cap="none" baseline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x-none" sz="2400" b="0" i="1" u="none" strike="noStrike" cap="none" baseline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412" name="Picture 4" descr="F:\Imagens\cipa (1)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352" y="5492290"/>
            <a:ext cx="1284989" cy="1249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72"/>
          <p:cNvSpPr txBox="1">
            <a:spLocks noGrp="1"/>
          </p:cNvSpPr>
          <p:nvPr>
            <p:ph type="title"/>
          </p:nvPr>
        </p:nvSpPr>
        <p:spPr>
          <a:xfrm>
            <a:off x="609600" y="54868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 sz="4400" b="0" i="0" u="none" strike="noStrike" cap="none" baseline="0">
                <a:solidFill>
                  <a:srgbClr val="1E8650"/>
                </a:solidFill>
                <a:latin typeface="Tahoma"/>
                <a:ea typeface="Tahoma"/>
                <a:cs typeface="Tahoma"/>
                <a:sym typeface="Tahoma"/>
              </a:rPr>
              <a:t>Objetivo do Treinamento</a:t>
            </a:r>
          </a:p>
        </p:txBody>
      </p:sp>
      <p:sp>
        <p:nvSpPr>
          <p:cNvPr id="73" name="Shape 73"/>
          <p:cNvSpPr txBox="1">
            <a:spLocks noGrp="1"/>
          </p:cNvSpPr>
          <p:nvPr>
            <p:ph type="body" idx="1"/>
          </p:nvPr>
        </p:nvSpPr>
        <p:spPr>
          <a:xfrm>
            <a:off x="107504" y="1828800"/>
            <a:ext cx="8928992" cy="4819741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101190"/>
              <a:buFont typeface="Arial"/>
              <a:buChar char="•"/>
            </a:pPr>
            <a:r>
              <a:rPr lang="x-none" sz="2800" b="0" i="0" u="none" strike="noStrike" cap="none" baseline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 Levar ao conhecimento do </a:t>
            </a:r>
            <a:r>
              <a:rPr lang="pt-BR" sz="2800" b="0" i="0" u="none" strike="noStrike" cap="none" baseline="0" dirty="0" smtClean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Membro de CIPA e</a:t>
            </a:r>
            <a:r>
              <a:rPr lang="pt-BR" sz="2800" b="0" i="0" u="none" strike="noStrike" cap="none" dirty="0" smtClean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 D</a:t>
            </a:r>
            <a:r>
              <a:rPr lang="x-none" sz="2800" b="0" i="0" u="none" strike="noStrike" cap="none" baseline="0" smtClean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esignado</a:t>
            </a:r>
            <a:r>
              <a:rPr lang="pt-BR" sz="2800" b="0" i="0" u="none" strike="noStrike" cap="none" baseline="0" dirty="0" smtClean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,</a:t>
            </a:r>
            <a:r>
              <a:rPr lang="x-none" sz="2800" b="0" i="0" u="none" strike="noStrike" cap="none" baseline="0" smtClean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x-none" sz="2800" b="0" i="0" u="none" strike="noStrike" cap="none" baseline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as principais normas, instruções e rotinas sobre segurança e saúde do trabalho</a:t>
            </a:r>
            <a:r>
              <a:rPr lang="x-none" sz="2800" b="0" i="0" u="none" strike="noStrike" cap="none" baseline="0" smtClean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lang="pt-BR" sz="2800" b="0" i="0" u="none" strike="noStrike" cap="none" baseline="0" dirty="0" smtClean="0">
              <a:solidFill>
                <a:schemeClr val="accent2">
                  <a:lumMod val="10000"/>
                </a:schemeClr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just" rtl="0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101190"/>
              <a:buFont typeface="Arial"/>
              <a:buChar char="•"/>
            </a:pPr>
            <a:endParaRPr lang="x-none" sz="1800" b="0" i="0" u="none" strike="noStrike" cap="none" baseline="0">
              <a:solidFill>
                <a:schemeClr val="accent2">
                  <a:lumMod val="10000"/>
                </a:schemeClr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just" rtl="0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101190"/>
              <a:buFont typeface="Arial"/>
              <a:buChar char="•"/>
            </a:pPr>
            <a:r>
              <a:rPr lang="x-none" sz="2800" b="0" i="0" u="none" strike="noStrike" cap="none" baseline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 Definir competências relativas às atividades desenvolvidas pela CIPA</a:t>
            </a:r>
            <a:r>
              <a:rPr lang="x-none" sz="2800" b="0" i="0" u="none" strike="noStrike" cap="none" baseline="0" smtClean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lang="pt-BR" sz="2800" b="0" i="0" u="none" strike="noStrike" cap="none" baseline="0" dirty="0" smtClean="0">
              <a:solidFill>
                <a:schemeClr val="accent2">
                  <a:lumMod val="10000"/>
                </a:schemeClr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just" rtl="0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101190"/>
              <a:buFont typeface="Arial"/>
              <a:buChar char="•"/>
            </a:pPr>
            <a:endParaRPr lang="x-none" sz="1800" b="0" i="0" u="none" strike="noStrike" cap="none" baseline="0">
              <a:solidFill>
                <a:schemeClr val="accent2">
                  <a:lumMod val="10000"/>
                </a:schemeClr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just" rtl="0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101190"/>
              <a:buFont typeface="Arial"/>
              <a:buChar char="•"/>
            </a:pPr>
            <a:r>
              <a:rPr lang="x-none" sz="2800" b="0" i="0" u="none" strike="noStrike" cap="none" baseline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 Fixar diretrizes de atuação da CIPA</a:t>
            </a:r>
            <a:r>
              <a:rPr lang="x-none" sz="2800" b="0" i="0" u="none" strike="noStrike" cap="none" baseline="0" smtClean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lang="pt-BR" sz="2800" b="0" i="0" u="none" strike="noStrike" cap="none" baseline="0" dirty="0" smtClean="0">
              <a:solidFill>
                <a:schemeClr val="accent2">
                  <a:lumMod val="10000"/>
                </a:schemeClr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just" rtl="0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101190"/>
              <a:buFont typeface="Arial"/>
              <a:buChar char="•"/>
            </a:pPr>
            <a:endParaRPr lang="x-none" sz="2000" b="0" i="0" u="none" strike="noStrike" cap="none" baseline="0">
              <a:solidFill>
                <a:schemeClr val="accent2">
                  <a:lumMod val="10000"/>
                </a:schemeClr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just" rtl="0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101190"/>
              <a:buFont typeface="Arial"/>
              <a:buChar char="•"/>
            </a:pPr>
            <a:r>
              <a:rPr lang="x-none" sz="2800">
                <a:solidFill>
                  <a:schemeClr val="accent2">
                    <a:lumMod val="10000"/>
                  </a:schemeClr>
                </a:solidFill>
              </a:rPr>
              <a:t> </a:t>
            </a:r>
            <a:r>
              <a:rPr lang="x-none" sz="2800" b="0" i="0" u="none" strike="noStrike" cap="none" baseline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Conhecer e identificar Riscos no trabalho</a:t>
            </a:r>
            <a:r>
              <a:rPr lang="x-none" sz="2800" b="0" i="0" u="none" strike="noStrike" cap="none" baseline="0" smtClean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dirty="0">
              <a:solidFill>
                <a:schemeClr val="accent2">
                  <a:lumMod val="10000"/>
                </a:schemeClr>
              </a:solidFill>
            </a:endParaRPr>
          </a:p>
        </p:txBody>
      </p:sp>
      <p:sp>
        <p:nvSpPr>
          <p:cNvPr id="74" name="Shape 74"/>
          <p:cNvSpPr/>
          <p:nvPr/>
        </p:nvSpPr>
        <p:spPr>
          <a:xfrm>
            <a:off x="8001000" y="0"/>
            <a:ext cx="1143000" cy="1447799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  <p:sp>
        <p:nvSpPr>
          <p:cNvPr id="75" name="Shape 75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19049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/>
              <a:t> 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72"/>
          <p:cNvSpPr txBox="1">
            <a:spLocks noGrp="1"/>
          </p:cNvSpPr>
          <p:nvPr>
            <p:ph type="title"/>
          </p:nvPr>
        </p:nvSpPr>
        <p:spPr>
          <a:xfrm>
            <a:off x="611560" y="116632"/>
            <a:ext cx="7772400" cy="70784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0" b="1" i="0" u="none" strike="noStrike" cap="none" baseline="0" dirty="0" smtClean="0">
                <a:solidFill>
                  <a:srgbClr val="1E8650"/>
                </a:solidFill>
                <a:latin typeface="Tahoma"/>
                <a:ea typeface="Tahoma"/>
                <a:cs typeface="Tahoma"/>
                <a:sym typeface="Tahoma"/>
              </a:rPr>
              <a:t>CIPA ou Designado?</a:t>
            </a:r>
            <a:endParaRPr lang="x-none" sz="4000" b="1" i="0" u="none" strike="noStrike" cap="none" baseline="0">
              <a:solidFill>
                <a:srgbClr val="1E865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3" name="Shape 73"/>
          <p:cNvSpPr txBox="1">
            <a:spLocks noGrp="1"/>
          </p:cNvSpPr>
          <p:nvPr>
            <p:ph type="body" idx="1"/>
          </p:nvPr>
        </p:nvSpPr>
        <p:spPr>
          <a:xfrm>
            <a:off x="107504" y="991333"/>
            <a:ext cx="8928992" cy="3157747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101190"/>
              <a:buFont typeface="Arial"/>
              <a:buChar char="•"/>
            </a:pPr>
            <a:r>
              <a:rPr lang="x-none" sz="2800" b="0" i="0" u="none" strike="noStrike" cap="none" baseline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pt-BR" sz="2800" b="0" i="0" u="none" strike="noStrike" cap="none" baseline="0" dirty="0" smtClean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A CIPA para </a:t>
            </a:r>
            <a:r>
              <a:rPr lang="pt-BR" sz="2800" dirty="0" smtClean="0">
                <a:solidFill>
                  <a:schemeClr val="accent2">
                    <a:lumMod val="10000"/>
                  </a:schemeClr>
                </a:solidFill>
              </a:rPr>
              <a:t>sua formação, segundo a NR 5, leva em conta a quantidade de empregados e o risco </a:t>
            </a:r>
            <a:r>
              <a:rPr lang="pt-BR" sz="2800" dirty="0">
                <a:solidFill>
                  <a:schemeClr val="accent2">
                    <a:lumMod val="10000"/>
                  </a:schemeClr>
                </a:solidFill>
              </a:rPr>
              <a:t>d</a:t>
            </a:r>
            <a:r>
              <a:rPr lang="pt-BR" sz="2800" dirty="0" smtClean="0">
                <a:solidFill>
                  <a:schemeClr val="accent2">
                    <a:lumMod val="10000"/>
                  </a:schemeClr>
                </a:solidFill>
              </a:rPr>
              <a:t>a empresa.</a:t>
            </a:r>
          </a:p>
          <a:p>
            <a:pPr marL="0" marR="0" lvl="0" indent="0" algn="just" rtl="0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101190"/>
              <a:buFont typeface="Arial"/>
              <a:buChar char="•"/>
            </a:pPr>
            <a:endParaRPr lang="pt-BR" sz="400" b="0" i="0" u="none" strike="noStrike" cap="none" baseline="0" dirty="0">
              <a:solidFill>
                <a:schemeClr val="accent2">
                  <a:lumMod val="10000"/>
                </a:schemeClr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just" rtl="0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101190"/>
              <a:buFont typeface="Arial"/>
              <a:buChar char="•"/>
            </a:pPr>
            <a:r>
              <a:rPr lang="pt-BR" sz="2800" b="0" i="0" u="none" strike="noStrike" cap="none" baseline="0" dirty="0" smtClean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 Com base nos critérios dados, quando</a:t>
            </a:r>
            <a:r>
              <a:rPr lang="pt-BR" sz="2800" b="0" i="0" u="none" strike="noStrike" cap="none" dirty="0" smtClean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 a empresa é maior normalmente ela terá a CIPA, quando é menor, o Designado.</a:t>
            </a:r>
            <a:endParaRPr lang="x-none" sz="2000" b="0" i="0" u="none" strike="noStrike" cap="none" baseline="0">
              <a:solidFill>
                <a:schemeClr val="accent2">
                  <a:lumMod val="10000"/>
                </a:schemeClr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4" name="Shape 74"/>
          <p:cNvSpPr/>
          <p:nvPr/>
        </p:nvSpPr>
        <p:spPr>
          <a:xfrm>
            <a:off x="8100392" y="1"/>
            <a:ext cx="1043608" cy="1052735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  <p:sp>
        <p:nvSpPr>
          <p:cNvPr id="75" name="Shape 75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19049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/>
              <a:t> </a:t>
            </a:r>
          </a:p>
        </p:txBody>
      </p:sp>
      <p:pic>
        <p:nvPicPr>
          <p:cNvPr id="19458" name="Picture 2" descr="Image result for cipa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768" y="3809260"/>
            <a:ext cx="5040560" cy="288857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9006626"/>
      </p:ext>
    </p:extLst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72"/>
          <p:cNvSpPr txBox="1">
            <a:spLocks noGrp="1"/>
          </p:cNvSpPr>
          <p:nvPr>
            <p:ph type="title"/>
          </p:nvPr>
        </p:nvSpPr>
        <p:spPr>
          <a:xfrm>
            <a:off x="611560" y="116632"/>
            <a:ext cx="7772400" cy="70784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0" b="1" i="0" u="none" strike="noStrike" cap="none" baseline="0" dirty="0" smtClean="0">
                <a:solidFill>
                  <a:srgbClr val="1E8650"/>
                </a:solidFill>
                <a:latin typeface="Tahoma"/>
                <a:ea typeface="Tahoma"/>
                <a:cs typeface="Tahoma"/>
                <a:sym typeface="Tahoma"/>
              </a:rPr>
              <a:t>CIPA ou Designado?</a:t>
            </a:r>
            <a:endParaRPr lang="x-none" sz="4000" b="1" i="0" u="none" strike="noStrike" cap="none" baseline="0">
              <a:solidFill>
                <a:srgbClr val="1E865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3" name="Shape 73"/>
          <p:cNvSpPr txBox="1">
            <a:spLocks noGrp="1"/>
          </p:cNvSpPr>
          <p:nvPr>
            <p:ph type="body" idx="1"/>
          </p:nvPr>
        </p:nvSpPr>
        <p:spPr>
          <a:xfrm>
            <a:off x="107504" y="3789040"/>
            <a:ext cx="8928992" cy="2896137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101190"/>
              <a:buFont typeface="Arial"/>
              <a:buChar char="•"/>
            </a:pPr>
            <a:endParaRPr lang="pt-BR" sz="600" dirty="0">
              <a:solidFill>
                <a:schemeClr val="accent2">
                  <a:lumMod val="10000"/>
                </a:schemeClr>
              </a:solidFill>
            </a:endParaRPr>
          </a:p>
          <a:p>
            <a:pPr marL="0" marR="0" lvl="0" indent="0" algn="just" rtl="0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101190"/>
              <a:buFont typeface="Arial"/>
              <a:buChar char="•"/>
            </a:pPr>
            <a:r>
              <a:rPr lang="pt-BR" sz="2800" b="0" i="0" u="none" strike="noStrike" cap="none" baseline="0" dirty="0" smtClean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 A diferença é</a:t>
            </a:r>
            <a:r>
              <a:rPr lang="pt-BR" sz="2800" b="0" i="0" u="none" strike="noStrike" cap="none" dirty="0" smtClean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 que enquanto o Designado de CIPA é indicado pelo empregador, o membro de “convencional” participa de uma CIPA em que a metade é formada por eleitos e metade por indicados.</a:t>
            </a:r>
          </a:p>
          <a:p>
            <a:pPr marL="0" marR="0" lvl="0" indent="0" algn="just" rtl="0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101190"/>
              <a:buFont typeface="Arial"/>
              <a:buChar char="•"/>
            </a:pPr>
            <a:endParaRPr lang="pt-BR" sz="600" baseline="0" dirty="0" smtClean="0">
              <a:solidFill>
                <a:schemeClr val="accent2">
                  <a:lumMod val="10000"/>
                </a:schemeClr>
              </a:solidFill>
            </a:endParaRPr>
          </a:p>
          <a:p>
            <a:pPr marL="0" marR="0" lvl="0" indent="0" algn="just" rtl="0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101190"/>
              <a:buFont typeface="Arial"/>
              <a:buChar char="•"/>
            </a:pPr>
            <a:r>
              <a:rPr lang="pt-BR" sz="2800" b="0" i="0" u="none" strike="noStrike" cap="none" dirty="0" smtClean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 Resumindo: O Designado é CIPA de uma pessoa só.</a:t>
            </a:r>
            <a:endParaRPr lang="x-none" sz="2000" b="0" i="0" u="none" strike="noStrike" cap="none" baseline="0">
              <a:solidFill>
                <a:schemeClr val="accent2">
                  <a:lumMod val="10000"/>
                </a:schemeClr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4" name="Shape 74"/>
          <p:cNvSpPr/>
          <p:nvPr/>
        </p:nvSpPr>
        <p:spPr>
          <a:xfrm>
            <a:off x="8100392" y="1"/>
            <a:ext cx="1043608" cy="1052735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  <p:sp>
        <p:nvSpPr>
          <p:cNvPr id="75" name="Shape 75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19049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/>
              <a:t> </a:t>
            </a:r>
          </a:p>
        </p:txBody>
      </p:sp>
      <p:pic>
        <p:nvPicPr>
          <p:cNvPr id="20482" name="Picture 2" descr="Image result for cipa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162" y="836712"/>
            <a:ext cx="7704856" cy="3214822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1643598"/>
      </p:ext>
    </p:extLst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Shape 80"/>
          <p:cNvSpPr txBox="1">
            <a:spLocks noGrp="1"/>
          </p:cNvSpPr>
          <p:nvPr>
            <p:ph type="title"/>
          </p:nvPr>
        </p:nvSpPr>
        <p:spPr>
          <a:xfrm>
            <a:off x="0" y="0"/>
            <a:ext cx="2971799" cy="121919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 sz="4800" b="0" i="1" u="none" strike="noStrike" cap="none" baseline="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Módulo I</a:t>
            </a:r>
          </a:p>
        </p:txBody>
      </p:sp>
      <p:sp>
        <p:nvSpPr>
          <p:cNvPr id="81" name="Shape 81"/>
          <p:cNvSpPr/>
          <p:nvPr/>
        </p:nvSpPr>
        <p:spPr>
          <a:xfrm>
            <a:off x="272350" y="1826525"/>
            <a:ext cx="8305799" cy="137159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spAutoFit/>
          </a:bodyPr>
          <a:lstStyle/>
          <a:p>
            <a:endParaRPr/>
          </a:p>
        </p:txBody>
      </p:sp>
      <p:sp>
        <p:nvSpPr>
          <p:cNvPr id="82" name="Shape 82"/>
          <p:cNvSpPr txBox="1">
            <a:spLocks noGrp="1"/>
          </p:cNvSpPr>
          <p:nvPr>
            <p:ph type="body" idx="1"/>
          </p:nvPr>
        </p:nvSpPr>
        <p:spPr>
          <a:xfrm>
            <a:off x="0" y="2373500"/>
            <a:ext cx="9144000" cy="273558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75000"/>
              <a:buFont typeface="Tahoma"/>
              <a:buNone/>
            </a:pPr>
            <a:r>
              <a:rPr lang="x-none" sz="3600" b="0" i="0" u="none" strike="noStrike" cap="none" baseline="0" smtClean="0">
                <a:solidFill>
                  <a:srgbClr val="137B33"/>
                </a:solidFill>
                <a:latin typeface="Tahoma"/>
                <a:ea typeface="Tahoma"/>
                <a:cs typeface="Tahoma"/>
                <a:sym typeface="Tahoma"/>
              </a:rPr>
              <a:t>- </a:t>
            </a:r>
            <a:r>
              <a:rPr lang="x-none" b="0" i="0" u="none" strike="noStrike" cap="none" baseline="0">
                <a:solidFill>
                  <a:srgbClr val="137B33"/>
                </a:solidFill>
                <a:sym typeface="Tahoma"/>
              </a:rPr>
              <a:t>Quando a empresa precisa </a:t>
            </a:r>
            <a:r>
              <a:rPr lang="x-none" b="0" i="0" u="none" strike="noStrike" cap="none" baseline="0" smtClean="0">
                <a:solidFill>
                  <a:srgbClr val="137B33"/>
                </a:solidFill>
                <a:sym typeface="Tahoma"/>
              </a:rPr>
              <a:t>constituir</a:t>
            </a:r>
            <a:r>
              <a:rPr lang="pt-BR" b="0" i="0" u="none" strike="noStrike" cap="none" baseline="0" dirty="0" smtClean="0">
                <a:solidFill>
                  <a:srgbClr val="137B33"/>
                </a:solidFill>
                <a:sym typeface="Tahoma"/>
              </a:rPr>
              <a:t> </a:t>
            </a:r>
            <a:r>
              <a:rPr lang="x-none" b="0" i="0" u="none" strike="noStrike" cap="none" baseline="0" smtClean="0">
                <a:solidFill>
                  <a:srgbClr val="137B33"/>
                </a:solidFill>
                <a:sym typeface="Tahoma"/>
              </a:rPr>
              <a:t>a</a:t>
            </a:r>
            <a:r>
              <a:rPr lang="pt-BR" b="0" i="0" u="none" strike="noStrike" cap="none" baseline="0" dirty="0" smtClean="0">
                <a:solidFill>
                  <a:srgbClr val="137B33"/>
                </a:solidFill>
                <a:sym typeface="Tahoma"/>
              </a:rPr>
              <a:t> </a:t>
            </a:r>
            <a:r>
              <a:rPr lang="x-none" b="0" i="0" u="none" strike="noStrike" cap="none" baseline="0" smtClean="0">
                <a:solidFill>
                  <a:srgbClr val="137B33"/>
                </a:solidFill>
                <a:sym typeface="Tahoma"/>
              </a:rPr>
              <a:t>CIPA?</a:t>
            </a:r>
            <a:endParaRPr lang="pt-BR" b="0" i="0" u="none" strike="noStrike" cap="none" baseline="0" dirty="0" smtClean="0">
              <a:solidFill>
                <a:srgbClr val="137B33"/>
              </a:solidFill>
              <a:sym typeface="Tahoma"/>
            </a:endParaRPr>
          </a:p>
          <a:p>
            <a:pPr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75000"/>
              <a:buFont typeface="Tahoma"/>
              <a:buNone/>
            </a:pPr>
            <a:endParaRPr lang="x-none" b="0" i="0" u="none" strike="noStrike" cap="none" baseline="0">
              <a:solidFill>
                <a:srgbClr val="137B33"/>
              </a:solidFill>
              <a:sym typeface="Tahoma"/>
            </a:endParaRPr>
          </a:p>
          <a:p>
            <a:pPr marR="0" lvl="0" indent="0" algn="l" rtl="0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ct val="59722"/>
              <a:buNone/>
            </a:pPr>
            <a:r>
              <a:rPr lang="pt-BR" b="0" i="0" u="none" strike="noStrike" cap="none" baseline="0" dirty="0" smtClean="0">
                <a:solidFill>
                  <a:srgbClr val="137B33"/>
                </a:solidFill>
                <a:sym typeface="Tahoma"/>
              </a:rPr>
              <a:t>- </a:t>
            </a:r>
            <a:r>
              <a:rPr lang="x-none" b="0" i="0" u="none" strike="noStrike" cap="none" baseline="0" smtClean="0">
                <a:solidFill>
                  <a:srgbClr val="137B33"/>
                </a:solidFill>
                <a:sym typeface="Tahoma"/>
              </a:rPr>
              <a:t>Atribuições </a:t>
            </a:r>
            <a:r>
              <a:rPr lang="x-none" b="0" i="0" u="none" strike="noStrike" cap="none" baseline="0">
                <a:solidFill>
                  <a:srgbClr val="137B33"/>
                </a:solidFill>
                <a:sym typeface="Tahoma"/>
              </a:rPr>
              <a:t>da </a:t>
            </a:r>
            <a:r>
              <a:rPr lang="x-none" b="0" i="0" u="none" strike="noStrike" cap="none" baseline="0" smtClean="0">
                <a:solidFill>
                  <a:srgbClr val="137B33"/>
                </a:solidFill>
                <a:sym typeface="Tahoma"/>
              </a:rPr>
              <a:t>C</a:t>
            </a:r>
            <a:r>
              <a:rPr lang="x-none" smtClean="0">
                <a:solidFill>
                  <a:srgbClr val="137B33"/>
                </a:solidFill>
              </a:rPr>
              <a:t>IPA</a:t>
            </a:r>
            <a:endParaRPr lang="pt-BR" dirty="0" smtClean="0">
              <a:solidFill>
                <a:srgbClr val="137B33"/>
              </a:solidFill>
            </a:endParaRPr>
          </a:p>
          <a:p>
            <a:pPr marR="0" lvl="0" algn="l" rtl="0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ct val="59722"/>
              <a:buFontTx/>
              <a:buChar char="-"/>
            </a:pPr>
            <a:endParaRPr lang="x-none">
              <a:solidFill>
                <a:srgbClr val="137B33"/>
              </a:solidFill>
            </a:endParaRPr>
          </a:p>
          <a:p>
            <a:pPr marR="0" lvl="0" indent="0" algn="l" rtl="0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ct val="59722"/>
              <a:buFont typeface="Tahoma"/>
              <a:buNone/>
            </a:pPr>
            <a:r>
              <a:rPr lang="x-none" b="0" i="0" u="none" strike="noStrike" cap="none" baseline="0">
                <a:solidFill>
                  <a:srgbClr val="137B33"/>
                </a:solidFill>
                <a:sym typeface="Tahoma"/>
              </a:rPr>
              <a:t>- Designado de CIPA</a:t>
            </a:r>
          </a:p>
        </p:txBody>
      </p:sp>
      <p:sp>
        <p:nvSpPr>
          <p:cNvPr id="83" name="Shape 83"/>
          <p:cNvSpPr/>
          <p:nvPr/>
        </p:nvSpPr>
        <p:spPr>
          <a:xfrm>
            <a:off x="723899" y="1225126"/>
            <a:ext cx="7772400" cy="70784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 sz="4000" b="1" i="1" u="none" strike="noStrike" cap="none" baseline="0">
                <a:solidFill>
                  <a:schemeClr val="accent2">
                    <a:lumMod val="25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Conhecendo a CIPA</a:t>
            </a:r>
          </a:p>
        </p:txBody>
      </p:sp>
      <p:sp>
        <p:nvSpPr>
          <p:cNvPr id="84" name="Shape 84"/>
          <p:cNvSpPr/>
          <p:nvPr/>
        </p:nvSpPr>
        <p:spPr>
          <a:xfrm>
            <a:off x="8001000" y="0"/>
            <a:ext cx="1143000" cy="1447799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  <p:sp>
        <p:nvSpPr>
          <p:cNvPr id="85" name="Shape 85"/>
          <p:cNvSpPr/>
          <p:nvPr/>
        </p:nvSpPr>
        <p:spPr>
          <a:xfrm>
            <a:off x="8001000" y="0"/>
            <a:ext cx="1143000" cy="1447799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  <p:sp>
        <p:nvSpPr>
          <p:cNvPr id="86" name="Shape 86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19049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/>
              <a:t> 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 txBox="1">
            <a:spLocks noGrp="1"/>
          </p:cNvSpPr>
          <p:nvPr>
            <p:ph type="title"/>
          </p:nvPr>
        </p:nvSpPr>
        <p:spPr>
          <a:xfrm>
            <a:off x="304800" y="304800"/>
            <a:ext cx="7924799" cy="1077178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 sz="3200" b="1" i="0" u="none" strike="noStrike" cap="none" baseline="0">
                <a:solidFill>
                  <a:srgbClr val="137B33"/>
                </a:solidFill>
                <a:latin typeface="Tahoma"/>
                <a:ea typeface="Tahoma"/>
                <a:cs typeface="Tahoma"/>
                <a:sym typeface="Tahoma"/>
              </a:rPr>
              <a:t>Quando a empresa precisa constituir um CIPA?</a:t>
            </a:r>
          </a:p>
        </p:txBody>
      </p:sp>
      <p:sp>
        <p:nvSpPr>
          <p:cNvPr id="92" name="Shape 92"/>
          <p:cNvSpPr txBox="1">
            <a:spLocks noGrp="1"/>
          </p:cNvSpPr>
          <p:nvPr>
            <p:ph type="body" idx="1"/>
          </p:nvPr>
        </p:nvSpPr>
        <p:spPr>
          <a:xfrm>
            <a:off x="266700" y="1600200"/>
            <a:ext cx="8769796" cy="452427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R="0" lvl="0" indent="0" algn="just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59375"/>
              <a:buFont typeface="Tahoma"/>
              <a:buNone/>
            </a:pPr>
            <a:r>
              <a:rPr lang="x-none" b="0" i="0" u="none" strike="noStrike" cap="none" baseline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NR </a:t>
            </a:r>
            <a:r>
              <a:rPr lang="x-none" b="0" i="0" u="none" strike="noStrike" cap="none" baseline="0" smtClean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5.2</a:t>
            </a:r>
            <a:r>
              <a:rPr lang="pt-BR" b="0" i="0" u="none" strike="noStrike" cap="none" baseline="0" dirty="0" smtClean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x-none" b="0" i="0" u="none" strike="noStrike" cap="none" baseline="0" smtClean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- </a:t>
            </a:r>
            <a:r>
              <a:rPr lang="x-none" b="0" i="0" u="none" strike="noStrike" cap="none" baseline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Devem constituir a CIPA, por estabelecimento, e mantê-la em regular funcionamento, as empresas privadas, públicas, sociedades de economia mista, órgãos da administração direta e indireta, instituições beneficentes, associações recreativas, cooperativas, bem como outras instituições que </a:t>
            </a:r>
            <a:r>
              <a:rPr lang="x-none" b="1" i="0" u="none" strike="noStrike" cap="none" baseline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admitam trabalhadores como empregados</a:t>
            </a:r>
            <a:r>
              <a:rPr lang="x-none" b="0" i="0" u="none" strike="noStrike" cap="none" baseline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</a:p>
        </p:txBody>
      </p:sp>
      <p:sp>
        <p:nvSpPr>
          <p:cNvPr id="93" name="Shape 93"/>
          <p:cNvSpPr/>
          <p:nvPr/>
        </p:nvSpPr>
        <p:spPr>
          <a:xfrm>
            <a:off x="8001000" y="0"/>
            <a:ext cx="1143000" cy="1447799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  <p:sp>
        <p:nvSpPr>
          <p:cNvPr id="95" name="Shape 95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19049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/>
              <a:t> 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hape 100"/>
          <p:cNvSpPr txBox="1">
            <a:spLocks noGrp="1"/>
          </p:cNvSpPr>
          <p:nvPr>
            <p:ph type="title"/>
          </p:nvPr>
        </p:nvSpPr>
        <p:spPr>
          <a:xfrm>
            <a:off x="533400" y="26064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 sz="4400" b="0" i="0" u="none" strike="noStrike" cap="none" baseline="0">
                <a:solidFill>
                  <a:srgbClr val="137B33"/>
                </a:solidFill>
                <a:latin typeface="Tahoma"/>
                <a:ea typeface="Tahoma"/>
                <a:cs typeface="Tahoma"/>
                <a:sym typeface="Tahoma"/>
              </a:rPr>
              <a:t>Atribuições da CIPA</a:t>
            </a:r>
          </a:p>
        </p:txBody>
      </p:sp>
      <p:sp>
        <p:nvSpPr>
          <p:cNvPr id="101" name="Shape 101"/>
          <p:cNvSpPr txBox="1">
            <a:spLocks noGrp="1"/>
          </p:cNvSpPr>
          <p:nvPr>
            <p:ph type="body" idx="1"/>
          </p:nvPr>
        </p:nvSpPr>
        <p:spPr>
          <a:xfrm>
            <a:off x="107504" y="1628800"/>
            <a:ext cx="8928992" cy="4770496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R="0" lvl="0" indent="0" algn="just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59375"/>
              <a:buNone/>
            </a:pPr>
            <a:r>
              <a:rPr lang="pt-BR" sz="3200" b="0" i="0" u="none" strike="noStrike" cap="none" baseline="0" dirty="0" smtClean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- </a:t>
            </a:r>
            <a:r>
              <a:rPr lang="x-none" sz="3200" b="0" i="0" u="none" strike="noStrike" cap="none" baseline="0" smtClean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Elaborar </a:t>
            </a:r>
            <a:r>
              <a:rPr lang="x-none" sz="3200" b="0" i="0" u="none" strike="noStrike" cap="none" baseline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plano de trabalho</a:t>
            </a:r>
            <a:r>
              <a:rPr lang="x-none" sz="3200" b="0" i="0" u="none" strike="noStrike" cap="none" baseline="0" smtClean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;</a:t>
            </a:r>
            <a:endParaRPr lang="pt-BR" sz="3200" b="0" i="0" u="none" strike="noStrike" cap="none" baseline="0" dirty="0" smtClean="0">
              <a:solidFill>
                <a:schemeClr val="accent2">
                  <a:lumMod val="10000"/>
                </a:schemeClr>
              </a:solidFill>
              <a:latin typeface="Tahoma"/>
              <a:ea typeface="Tahoma"/>
              <a:cs typeface="Tahoma"/>
              <a:sym typeface="Tahoma"/>
            </a:endParaRPr>
          </a:p>
          <a:p>
            <a:pPr marR="0" lvl="0" algn="just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59375"/>
              <a:buFontTx/>
              <a:buChar char="-"/>
            </a:pPr>
            <a:endParaRPr lang="x-none" sz="1600" b="0" i="0" u="none" strike="noStrike" cap="none" baseline="0">
              <a:solidFill>
                <a:schemeClr val="accent2">
                  <a:lumMod val="10000"/>
                </a:schemeClr>
              </a:solidFill>
              <a:latin typeface="Tahoma"/>
              <a:ea typeface="Tahoma"/>
              <a:cs typeface="Tahoma"/>
              <a:sym typeface="Tahoma"/>
            </a:endParaRPr>
          </a:p>
          <a:p>
            <a:pPr marR="0" lvl="0" indent="0" algn="just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59375"/>
              <a:buNone/>
            </a:pPr>
            <a:r>
              <a:rPr lang="pt-BR" sz="3200" b="0" i="0" u="none" strike="noStrike" cap="none" baseline="0" dirty="0" smtClean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- </a:t>
            </a:r>
            <a:r>
              <a:rPr lang="x-none" sz="3200" b="0" i="0" u="none" strike="noStrike" cap="none" baseline="0" smtClean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Realizar </a:t>
            </a:r>
            <a:r>
              <a:rPr lang="x-none" sz="3200" b="0" i="0" u="none" strike="noStrike" cap="none" baseline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periodicamente verificação nos ambientes e condições de trabalho</a:t>
            </a:r>
            <a:r>
              <a:rPr lang="x-none" sz="3200" b="0" i="0" u="none" strike="noStrike" cap="none" baseline="0" smtClean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;</a:t>
            </a:r>
            <a:endParaRPr lang="pt-BR" sz="3200" b="0" i="0" u="none" strike="noStrike" cap="none" baseline="0" dirty="0" smtClean="0">
              <a:solidFill>
                <a:schemeClr val="accent2">
                  <a:lumMod val="10000"/>
                </a:schemeClr>
              </a:solidFill>
              <a:latin typeface="Tahoma"/>
              <a:ea typeface="Tahoma"/>
              <a:cs typeface="Tahoma"/>
              <a:sym typeface="Tahoma"/>
            </a:endParaRPr>
          </a:p>
          <a:p>
            <a:pPr marR="0" lvl="0" algn="just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59375"/>
              <a:buFontTx/>
              <a:buChar char="-"/>
            </a:pPr>
            <a:endParaRPr lang="x-none" sz="1600" b="0" i="0" u="none" strike="noStrike" cap="none" baseline="0">
              <a:solidFill>
                <a:schemeClr val="accent2">
                  <a:lumMod val="10000"/>
                </a:schemeClr>
              </a:solidFill>
              <a:latin typeface="Tahoma"/>
              <a:ea typeface="Tahoma"/>
              <a:cs typeface="Tahoma"/>
              <a:sym typeface="Tahoma"/>
            </a:endParaRPr>
          </a:p>
          <a:p>
            <a:pPr marR="0" lvl="0" indent="0" algn="just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59375"/>
              <a:buNone/>
            </a:pPr>
            <a:r>
              <a:rPr lang="pt-BR" sz="3200" b="0" i="0" u="none" strike="noStrike" cap="none" baseline="0" dirty="0" smtClean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- </a:t>
            </a:r>
            <a:r>
              <a:rPr lang="x-none" sz="3200" b="0" i="0" u="none" strike="noStrike" cap="none" baseline="0" smtClean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Realizar </a:t>
            </a:r>
            <a:r>
              <a:rPr lang="x-none" sz="3200" b="0" i="0" u="none" strike="noStrike" cap="none" baseline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após cada reunião, a verificação do cumprimento das metas fixadas</a:t>
            </a:r>
            <a:r>
              <a:rPr lang="x-none" sz="3200" b="0" i="0" u="none" strike="noStrike" cap="none" baseline="0" smtClean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;</a:t>
            </a:r>
            <a:endParaRPr lang="pt-BR" sz="3200" b="0" i="0" u="none" strike="noStrike" cap="none" baseline="0" dirty="0" smtClean="0">
              <a:solidFill>
                <a:schemeClr val="accent2">
                  <a:lumMod val="10000"/>
                </a:schemeClr>
              </a:solidFill>
              <a:latin typeface="Tahoma"/>
              <a:ea typeface="Tahoma"/>
              <a:cs typeface="Tahoma"/>
              <a:sym typeface="Tahoma"/>
            </a:endParaRPr>
          </a:p>
          <a:p>
            <a:pPr marR="0" lvl="0" algn="just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59375"/>
              <a:buFontTx/>
              <a:buChar char="-"/>
            </a:pPr>
            <a:endParaRPr lang="x-none" sz="1800" b="0" i="0" u="none" strike="noStrike" cap="none" baseline="0">
              <a:solidFill>
                <a:schemeClr val="accent2">
                  <a:lumMod val="10000"/>
                </a:schemeClr>
              </a:solidFill>
              <a:latin typeface="Tahoma"/>
              <a:ea typeface="Tahoma"/>
              <a:cs typeface="Tahoma"/>
              <a:sym typeface="Tahoma"/>
            </a:endParaRPr>
          </a:p>
          <a:p>
            <a:pPr marR="0" lvl="0" indent="0" algn="just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59375"/>
              <a:buFont typeface="Tahoma"/>
              <a:buNone/>
            </a:pPr>
            <a:r>
              <a:rPr lang="x-none" sz="3200" b="0" i="0" u="none" strike="noStrike" cap="none" baseline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- Divulgar aos trabalhadores informações relativas à segurança e saúde no trabalho;</a:t>
            </a:r>
          </a:p>
        </p:txBody>
      </p:sp>
      <p:sp>
        <p:nvSpPr>
          <p:cNvPr id="102" name="Shape 102"/>
          <p:cNvSpPr/>
          <p:nvPr/>
        </p:nvSpPr>
        <p:spPr>
          <a:xfrm>
            <a:off x="8153400" y="0"/>
            <a:ext cx="990599" cy="12192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  <p:sp>
        <p:nvSpPr>
          <p:cNvPr id="103" name="Shape 103"/>
          <p:cNvSpPr/>
          <p:nvPr/>
        </p:nvSpPr>
        <p:spPr>
          <a:xfrm>
            <a:off x="8001000" y="0"/>
            <a:ext cx="1143000" cy="1447799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  <p:sp>
        <p:nvSpPr>
          <p:cNvPr id="104" name="Shape 104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19049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/>
              <a:t> 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 109"/>
          <p:cNvSpPr txBox="1">
            <a:spLocks noGrp="1"/>
          </p:cNvSpPr>
          <p:nvPr>
            <p:ph type="body" idx="1"/>
          </p:nvPr>
        </p:nvSpPr>
        <p:spPr>
          <a:xfrm>
            <a:off x="179512" y="533400"/>
            <a:ext cx="8856984" cy="6309379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R="0" lvl="0" algn="just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59375"/>
              <a:buFontTx/>
              <a:buChar char="-"/>
            </a:pPr>
            <a:r>
              <a:rPr lang="x-none" sz="3200" b="0" i="0" u="none" strike="noStrike" cap="none" baseline="0" smtClean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Colaborar </a:t>
            </a:r>
            <a:r>
              <a:rPr lang="x-none" sz="3200" b="0" i="0" u="none" strike="noStrike" cap="none" baseline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no desenvolvimento e implementação do PCMSO, PPRA bem como de outros programas de segurança e saúde desenvolvidos pela empresa</a:t>
            </a:r>
            <a:r>
              <a:rPr lang="x-none" sz="3200" b="0" i="0" u="none" strike="noStrike" cap="none" baseline="0" smtClean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;</a:t>
            </a:r>
            <a:endParaRPr lang="pt-BR" sz="3200" b="0" i="0" u="none" strike="noStrike" cap="none" baseline="0" dirty="0" smtClean="0">
              <a:solidFill>
                <a:schemeClr val="accent2">
                  <a:lumMod val="10000"/>
                </a:schemeClr>
              </a:solidFill>
              <a:latin typeface="Tahoma"/>
              <a:ea typeface="Tahoma"/>
              <a:cs typeface="Tahoma"/>
              <a:sym typeface="Tahoma"/>
            </a:endParaRPr>
          </a:p>
          <a:p>
            <a:pPr marR="0" lvl="0" algn="just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59375"/>
              <a:buFontTx/>
              <a:buChar char="-"/>
            </a:pPr>
            <a:endParaRPr lang="x-none" sz="3200" b="0" i="0" u="none" strike="noStrike" cap="none" baseline="0">
              <a:solidFill>
                <a:schemeClr val="accent2">
                  <a:lumMod val="10000"/>
                </a:schemeClr>
              </a:solidFill>
              <a:latin typeface="Tahoma"/>
              <a:ea typeface="Tahoma"/>
              <a:cs typeface="Tahoma"/>
              <a:sym typeface="Tahoma"/>
            </a:endParaRPr>
          </a:p>
          <a:p>
            <a:pPr marR="0" lvl="0" indent="0" algn="just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59375"/>
              <a:buFont typeface="Tahoma"/>
              <a:buNone/>
            </a:pPr>
            <a:r>
              <a:rPr lang="x-none" sz="3200" b="0" i="0" u="none" strike="noStrike" cap="none" baseline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- Divulgar e promover o cumprimento das Normas Regulamentadoras, bem como cláusulas de acordos e convenções coletivas de trabalho e normas internas de segurança relativas à segurança no             trabalho;</a:t>
            </a:r>
          </a:p>
          <a:p>
            <a:pPr algn="just"/>
            <a:endParaRPr dirty="0">
              <a:solidFill>
                <a:schemeClr val="accent2">
                  <a:lumMod val="10000"/>
                </a:schemeClr>
              </a:solidFill>
            </a:endParaRPr>
          </a:p>
          <a:p>
            <a:pPr algn="just"/>
            <a:endParaRPr dirty="0">
              <a:solidFill>
                <a:schemeClr val="accent2">
                  <a:lumMod val="10000"/>
                </a:schemeClr>
              </a:solidFill>
            </a:endParaRPr>
          </a:p>
        </p:txBody>
      </p:sp>
      <p:sp>
        <p:nvSpPr>
          <p:cNvPr id="111" name="Shape 111"/>
          <p:cNvSpPr/>
          <p:nvPr/>
        </p:nvSpPr>
        <p:spPr>
          <a:xfrm>
            <a:off x="8244408" y="5893278"/>
            <a:ext cx="899592" cy="908719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  <p:sp>
        <p:nvSpPr>
          <p:cNvPr id="112" name="Shape 112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19049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/>
              <a:t> 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 txBox="1">
            <a:spLocks noGrp="1"/>
          </p:cNvSpPr>
          <p:nvPr>
            <p:ph type="body" idx="1"/>
          </p:nvPr>
        </p:nvSpPr>
        <p:spPr>
          <a:xfrm>
            <a:off x="158916" y="622434"/>
            <a:ext cx="8877580" cy="663254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59375"/>
              <a:buNone/>
            </a:pPr>
            <a:r>
              <a:rPr lang="pt-BR" sz="3200" b="0" i="0" u="none" strike="noStrike" cap="none" baseline="0" dirty="0" smtClean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- </a:t>
            </a:r>
            <a:r>
              <a:rPr lang="x-none" sz="3200" b="0" i="0" u="none" strike="noStrike" cap="none" baseline="0" smtClean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Participar </a:t>
            </a:r>
            <a:r>
              <a:rPr lang="x-none" sz="3200" b="0" i="0" u="none" strike="noStrike" cap="none" baseline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em conjunto com o SESMT da análise das causas das doenças e acidentes do trabalho e propor medidas de solução para os problemas identificados</a:t>
            </a:r>
            <a:r>
              <a:rPr lang="x-none" sz="3200" b="0" i="0" u="none" strike="noStrike" cap="none" baseline="0" smtClean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;</a:t>
            </a:r>
            <a:endParaRPr lang="pt-BR" sz="3200" b="0" i="0" u="none" strike="noStrike" cap="none" baseline="0" dirty="0" smtClean="0">
              <a:solidFill>
                <a:schemeClr val="accent2">
                  <a:lumMod val="10000"/>
                </a:schemeClr>
              </a:solidFill>
              <a:latin typeface="Tahoma"/>
              <a:ea typeface="Tahoma"/>
              <a:cs typeface="Tahoma"/>
              <a:sym typeface="Tahoma"/>
            </a:endParaRPr>
          </a:p>
          <a:p>
            <a:pPr marR="0" lvl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59375"/>
              <a:buFontTx/>
              <a:buChar char="-"/>
            </a:pPr>
            <a:endParaRPr lang="x-none" sz="1600" b="0" i="0" u="none" strike="noStrike" cap="none" baseline="0">
              <a:solidFill>
                <a:schemeClr val="accent2">
                  <a:lumMod val="10000"/>
                </a:schemeClr>
              </a:solidFill>
              <a:latin typeface="Tahoma"/>
              <a:ea typeface="Tahoma"/>
              <a:cs typeface="Tahoma"/>
              <a:sym typeface="Tahoma"/>
            </a:endParaRPr>
          </a:p>
          <a:p>
            <a:pPr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59375"/>
              <a:buNone/>
            </a:pPr>
            <a:r>
              <a:rPr lang="pt-BR" sz="3200" b="0" i="0" u="none" strike="noStrike" cap="none" baseline="0" dirty="0" smtClean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- </a:t>
            </a:r>
            <a:r>
              <a:rPr lang="x-none" sz="3200" b="0" i="0" u="none" strike="noStrike" cap="none" baseline="0" smtClean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Promover</a:t>
            </a:r>
            <a:r>
              <a:rPr lang="x-none" sz="3200" b="0" i="0" u="none" strike="noStrike" cap="none" baseline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, anualmente, em conjunto com o SESMT, a Semana Interna de Prevenção de Acidentes do Trabalho - SIPAT</a:t>
            </a:r>
            <a:r>
              <a:rPr lang="x-none" sz="3200" b="0" i="0" u="none" strike="noStrike" cap="none" baseline="0" smtClean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;</a:t>
            </a:r>
            <a:endParaRPr lang="pt-BR" sz="3200" b="0" i="0" u="none" strike="noStrike" cap="none" baseline="0" dirty="0" smtClean="0">
              <a:solidFill>
                <a:schemeClr val="accent2">
                  <a:lumMod val="10000"/>
                </a:schemeClr>
              </a:solidFill>
              <a:latin typeface="Tahoma"/>
              <a:ea typeface="Tahoma"/>
              <a:cs typeface="Tahoma"/>
              <a:sym typeface="Tahoma"/>
            </a:endParaRPr>
          </a:p>
          <a:p>
            <a:pPr marR="0" lvl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59375"/>
              <a:buFontTx/>
              <a:buChar char="-"/>
            </a:pPr>
            <a:endParaRPr lang="x-none" sz="1600" b="0" i="0" u="none" strike="noStrike" cap="none" baseline="0">
              <a:solidFill>
                <a:schemeClr val="accent2">
                  <a:lumMod val="10000"/>
                </a:schemeClr>
              </a:solidFill>
              <a:latin typeface="Tahoma"/>
              <a:ea typeface="Tahoma"/>
              <a:cs typeface="Tahoma"/>
              <a:sym typeface="Tahoma"/>
            </a:endParaRPr>
          </a:p>
          <a:p>
            <a:pPr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59375"/>
              <a:buFont typeface="Tahoma"/>
              <a:buNone/>
            </a:pPr>
            <a:r>
              <a:rPr lang="x-none" sz="3200" b="0" i="0" u="none" strike="noStrike" cap="none" baseline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- Participar, anualmente, em conjunto com a empresa, de Campanhas de Prevenção à AIDS e outros programas de saúde.</a:t>
            </a:r>
          </a:p>
          <a:p>
            <a:endParaRPr dirty="0">
              <a:solidFill>
                <a:schemeClr val="accent2">
                  <a:lumMod val="10000"/>
                </a:schemeClr>
              </a:solidFill>
            </a:endParaRPr>
          </a:p>
        </p:txBody>
      </p:sp>
      <p:sp>
        <p:nvSpPr>
          <p:cNvPr id="118" name="Shape 118"/>
          <p:cNvSpPr/>
          <p:nvPr/>
        </p:nvSpPr>
        <p:spPr>
          <a:xfrm>
            <a:off x="8181976" y="5949280"/>
            <a:ext cx="962024" cy="90872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  <p:sp>
        <p:nvSpPr>
          <p:cNvPr id="119" name="Shape 119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19049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/>
              <a:t> 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Shape 124"/>
          <p:cNvSpPr txBox="1">
            <a:spLocks noGrp="1"/>
          </p:cNvSpPr>
          <p:nvPr>
            <p:ph type="body" idx="1"/>
          </p:nvPr>
        </p:nvSpPr>
        <p:spPr>
          <a:xfrm>
            <a:off x="0" y="914400"/>
            <a:ext cx="9144000" cy="5586104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Font typeface="Arial"/>
              <a:buChar char="•"/>
            </a:pPr>
            <a:r>
              <a:rPr lang="x-none">
                <a:solidFill>
                  <a:schemeClr val="accent2">
                    <a:lumMod val="10000"/>
                  </a:schemeClr>
                </a:solidFill>
              </a:rPr>
              <a:t> </a:t>
            </a:r>
            <a:r>
              <a:rPr lang="x-none" sz="3200" b="0" i="0" u="none" strike="noStrike" cap="none" baseline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Fazer Mapa de Risco em parceria com </a:t>
            </a:r>
            <a:r>
              <a:rPr lang="x-none" sz="3200" b="0" i="0" u="none" strike="noStrike" cap="none" baseline="0" smtClean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o</a:t>
            </a:r>
            <a:r>
              <a:rPr lang="pt-BR" sz="3200" b="0" i="0" u="none" strike="noStrike" cap="none" baseline="0" dirty="0" smtClean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x-none" sz="3200" b="0" i="0" u="none" strike="noStrike" cap="none" baseline="0" smtClean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SESMT;</a:t>
            </a:r>
            <a:endParaRPr lang="pt-BR" sz="3200" b="0" i="0" u="none" strike="noStrike" cap="none" baseline="0" dirty="0" smtClean="0">
              <a:solidFill>
                <a:schemeClr val="accent2">
                  <a:lumMod val="10000"/>
                </a:schemeClr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Font typeface="Arial"/>
              <a:buChar char="•"/>
            </a:pPr>
            <a:endParaRPr lang="x-none" sz="2400" b="0" i="0" u="none" strike="noStrike" cap="none" baseline="0">
              <a:solidFill>
                <a:schemeClr val="accent2">
                  <a:lumMod val="10000"/>
                </a:schemeClr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Font typeface="Arial"/>
              <a:buChar char="•"/>
            </a:pPr>
            <a:r>
              <a:rPr lang="x-none">
                <a:solidFill>
                  <a:schemeClr val="accent2">
                    <a:lumMod val="10000"/>
                  </a:schemeClr>
                </a:solidFill>
              </a:rPr>
              <a:t> </a:t>
            </a:r>
            <a:r>
              <a:rPr lang="x-none" sz="3200" b="0" i="0" u="none" strike="noStrike" cap="none" baseline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Fazer todo mês uma reunião para avaliar se as medidas implantadas estão gerando resultados esperados</a:t>
            </a:r>
            <a:r>
              <a:rPr lang="x-none" sz="3200" b="0" i="0" u="none" strike="noStrike" cap="none" baseline="0" smtClean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;</a:t>
            </a:r>
            <a:endParaRPr lang="pt-BR" sz="3200" b="0" i="0" u="none" strike="noStrike" cap="none" baseline="0" dirty="0" smtClean="0">
              <a:solidFill>
                <a:schemeClr val="accent2">
                  <a:lumMod val="10000"/>
                </a:schemeClr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Font typeface="Arial"/>
              <a:buChar char="•"/>
            </a:pPr>
            <a:endParaRPr lang="x-none" sz="2000" b="0" i="0" u="none" strike="noStrike" cap="none" baseline="0">
              <a:solidFill>
                <a:schemeClr val="accent2">
                  <a:lumMod val="10000"/>
                </a:schemeClr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Font typeface="Arial"/>
              <a:buChar char="•"/>
            </a:pPr>
            <a:r>
              <a:rPr lang="x-none">
                <a:solidFill>
                  <a:schemeClr val="accent2">
                    <a:lumMod val="10000"/>
                  </a:schemeClr>
                </a:solidFill>
              </a:rPr>
              <a:t> </a:t>
            </a:r>
            <a:r>
              <a:rPr lang="x-none" sz="3200" b="0" i="0" u="none" strike="noStrike" cap="none" baseline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Requerer ao SESMT, quando houver, ou ao empregador, a paralisação de máquina ou setor onde considere haver risco grave e iminente à segurança e saúde dos trabalhadores; </a:t>
            </a:r>
          </a:p>
          <a:p>
            <a:pPr algn="just"/>
            <a:endParaRPr dirty="0">
              <a:solidFill>
                <a:schemeClr val="accent2">
                  <a:lumMod val="10000"/>
                </a:schemeClr>
              </a:solidFill>
            </a:endParaRPr>
          </a:p>
        </p:txBody>
      </p:sp>
      <p:sp>
        <p:nvSpPr>
          <p:cNvPr id="125" name="Shape 125"/>
          <p:cNvSpPr/>
          <p:nvPr/>
        </p:nvSpPr>
        <p:spPr>
          <a:xfrm>
            <a:off x="8244408" y="1"/>
            <a:ext cx="899592" cy="980727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  <p:sp>
        <p:nvSpPr>
          <p:cNvPr id="126" name="Shape 126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19049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/>
              <a:t> 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Shape 131"/>
          <p:cNvSpPr txBox="1">
            <a:spLocks noGrp="1"/>
          </p:cNvSpPr>
          <p:nvPr>
            <p:ph type="body" idx="1"/>
          </p:nvPr>
        </p:nvSpPr>
        <p:spPr>
          <a:xfrm>
            <a:off x="-24049" y="44624"/>
            <a:ext cx="9144000" cy="3693278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Font typeface="Arial"/>
              <a:buChar char="•"/>
            </a:pPr>
            <a:r>
              <a:rPr lang="x-none">
                <a:solidFill>
                  <a:schemeClr val="accent2">
                    <a:lumMod val="10000"/>
                  </a:schemeClr>
                </a:solidFill>
              </a:rPr>
              <a:t> </a:t>
            </a:r>
            <a:r>
              <a:rPr lang="x-none" sz="3200" b="0" i="0" u="none" strike="noStrike" cap="none" baseline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Requisitar à empresa as cópias das CAT emitidas; </a:t>
            </a:r>
            <a:endParaRPr lang="pt-BR" sz="3200" b="0" i="0" u="none" strike="noStrike" cap="none" baseline="0" dirty="0" smtClean="0">
              <a:solidFill>
                <a:schemeClr val="accent2">
                  <a:lumMod val="10000"/>
                </a:schemeClr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Font typeface="Arial"/>
              <a:buChar char="•"/>
            </a:pPr>
            <a:endParaRPr lang="x-none" sz="3200" b="0" i="0" u="none" strike="noStrike" cap="none" baseline="0">
              <a:solidFill>
                <a:schemeClr val="accent2">
                  <a:lumMod val="10000"/>
                </a:schemeClr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Font typeface="Arial"/>
              <a:buChar char="•"/>
            </a:pPr>
            <a:r>
              <a:rPr lang="x-none">
                <a:solidFill>
                  <a:schemeClr val="accent2">
                    <a:lumMod val="10000"/>
                  </a:schemeClr>
                </a:solidFill>
              </a:rPr>
              <a:t> </a:t>
            </a:r>
            <a:r>
              <a:rPr lang="x-none" sz="3200" b="0" i="0" u="none" strike="noStrike" cap="none" baseline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Participar, anualmente, em conjunto com a empresa e o SESMT onde houver, de Campanhas de Prevenção da AIDS (essa campanha poderá ser feita dentro da SIPAT</a:t>
            </a:r>
            <a:r>
              <a:rPr lang="x-none" sz="3200" b="0" i="0" u="none" strike="noStrike" cap="none" baseline="0" smtClean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;</a:t>
            </a:r>
            <a:endParaRPr dirty="0">
              <a:solidFill>
                <a:schemeClr val="accent2">
                  <a:lumMod val="10000"/>
                </a:schemeClr>
              </a:solidFill>
            </a:endParaRPr>
          </a:p>
        </p:txBody>
      </p:sp>
      <p:sp>
        <p:nvSpPr>
          <p:cNvPr id="133" name="Shape 133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19049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/>
              <a:t> </a:t>
            </a:r>
          </a:p>
        </p:txBody>
      </p:sp>
      <p:pic>
        <p:nvPicPr>
          <p:cNvPr id="18434" name="Picture 2" descr="Image result for comunicado de acidente de trabalh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3717032"/>
            <a:ext cx="5929169" cy="3096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4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4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Shape 138"/>
          <p:cNvSpPr txBox="1">
            <a:spLocks noGrp="1"/>
          </p:cNvSpPr>
          <p:nvPr>
            <p:ph type="title"/>
          </p:nvPr>
        </p:nvSpPr>
        <p:spPr>
          <a:xfrm>
            <a:off x="685800" y="7620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 sz="4400" b="0" i="0" u="none" strike="noStrike" cap="none" baseline="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    </a:t>
            </a:r>
            <a:r>
              <a:rPr lang="x-none" sz="4400" b="0" i="0" u="none" strike="noStrike" cap="none" baseline="0">
                <a:solidFill>
                  <a:srgbClr val="137B33"/>
                </a:solidFill>
                <a:latin typeface="Tahoma"/>
                <a:ea typeface="Tahoma"/>
                <a:cs typeface="Tahoma"/>
                <a:sym typeface="Tahoma"/>
              </a:rPr>
              <a:t>Designado da CIPA</a:t>
            </a:r>
            <a:r>
              <a:rPr lang="x-none" sz="4400" b="0" i="0" u="none" strike="noStrike" cap="none" baseline="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	 </a:t>
            </a:r>
          </a:p>
        </p:txBody>
      </p:sp>
      <p:sp>
        <p:nvSpPr>
          <p:cNvPr id="139" name="Shape 139"/>
          <p:cNvSpPr txBox="1">
            <a:spLocks noGrp="1"/>
          </p:cNvSpPr>
          <p:nvPr>
            <p:ph type="body" idx="1"/>
          </p:nvPr>
        </p:nvSpPr>
        <p:spPr>
          <a:xfrm>
            <a:off x="179512" y="1988840"/>
            <a:ext cx="8856984" cy="353939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Font typeface="Arial"/>
              <a:buChar char="•"/>
            </a:pPr>
            <a:r>
              <a:rPr lang="x-none" sz="3200" b="0" i="0" u="none" strike="noStrike" cap="none" baseline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  Atribuições: O designado da CIPA é o agente de segurança do trabalho na empresa. Para tanto, deve estar de olho no processo de trabalho, e no meio ambiente de trabalho, e comunicar qualquer situação de risco imediatamente ao superior imediato e ao SESMT.</a:t>
            </a:r>
          </a:p>
        </p:txBody>
      </p:sp>
      <p:sp>
        <p:nvSpPr>
          <p:cNvPr id="140" name="Shape 140"/>
          <p:cNvSpPr/>
          <p:nvPr/>
        </p:nvSpPr>
        <p:spPr>
          <a:xfrm>
            <a:off x="7978775" y="0"/>
            <a:ext cx="1165224" cy="1371599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  <p:sp>
        <p:nvSpPr>
          <p:cNvPr id="141" name="Shape 141"/>
          <p:cNvSpPr/>
          <p:nvPr/>
        </p:nvSpPr>
        <p:spPr>
          <a:xfrm>
            <a:off x="8001000" y="0"/>
            <a:ext cx="1143000" cy="1447799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  <p:sp>
        <p:nvSpPr>
          <p:cNvPr id="142" name="Shape 142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19049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/>
              <a:t> 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Shape 147"/>
          <p:cNvSpPr txBox="1">
            <a:spLocks noGrp="1"/>
          </p:cNvSpPr>
          <p:nvPr>
            <p:ph type="title"/>
          </p:nvPr>
        </p:nvSpPr>
        <p:spPr>
          <a:xfrm>
            <a:off x="0" y="0"/>
            <a:ext cx="2819400" cy="11430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 sz="4400" b="0" i="1" u="none" strike="noStrike" cap="none" baseline="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Módulo II</a:t>
            </a:r>
          </a:p>
        </p:txBody>
      </p:sp>
      <p:sp>
        <p:nvSpPr>
          <p:cNvPr id="148" name="Shape 148"/>
          <p:cNvSpPr txBox="1">
            <a:spLocks noGrp="1"/>
          </p:cNvSpPr>
          <p:nvPr>
            <p:ph type="body" idx="1"/>
          </p:nvPr>
        </p:nvSpPr>
        <p:spPr>
          <a:xfrm>
            <a:off x="107504" y="838200"/>
            <a:ext cx="8928992" cy="5472227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316666"/>
              <a:buFont typeface="Arial"/>
              <a:buChar char="•"/>
            </a:pPr>
            <a:r>
              <a:rPr lang="x-none" sz="1000" b="0" i="0" u="none" strike="noStrike" cap="none" baseline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x-none" sz="3200" b="0" i="0" u="none" strike="noStrike" cap="none" baseline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Tópicos:</a:t>
            </a:r>
          </a:p>
          <a:p>
            <a:endParaRPr dirty="0"/>
          </a:p>
          <a:p>
            <a:pPr marR="0" lvl="0" indent="0" algn="l" rtl="0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59375"/>
              <a:buFont typeface="Tahoma"/>
              <a:buNone/>
            </a:pPr>
            <a:r>
              <a:rPr lang="x-none" sz="3200" b="0" i="0" u="none" strike="noStrike" cap="none" baseline="0" smtClean="0">
                <a:solidFill>
                  <a:srgbClr val="137B33"/>
                </a:solidFill>
                <a:latin typeface="Tahoma"/>
                <a:ea typeface="Tahoma"/>
                <a:cs typeface="Tahoma"/>
                <a:sym typeface="Tahoma"/>
              </a:rPr>
              <a:t>-Acidente </a:t>
            </a:r>
            <a:r>
              <a:rPr lang="x-none" sz="3200" b="0" i="0" u="none" strike="noStrike" cap="none" baseline="0">
                <a:solidFill>
                  <a:srgbClr val="137B33"/>
                </a:solidFill>
                <a:latin typeface="Tahoma"/>
                <a:ea typeface="Tahoma"/>
                <a:cs typeface="Tahoma"/>
                <a:sym typeface="Tahoma"/>
              </a:rPr>
              <a:t>de trabalho no local de </a:t>
            </a:r>
            <a:r>
              <a:rPr lang="x-none" sz="3200" b="0" i="0" u="none" strike="noStrike" cap="none" baseline="0" smtClean="0">
                <a:solidFill>
                  <a:srgbClr val="137B33"/>
                </a:solidFill>
                <a:latin typeface="Tahoma"/>
                <a:ea typeface="Tahoma"/>
                <a:cs typeface="Tahoma"/>
                <a:sym typeface="Tahoma"/>
              </a:rPr>
              <a:t>trabalho</a:t>
            </a:r>
            <a:endParaRPr lang="pt-BR" sz="3200" b="0" i="0" u="none" strike="noStrike" cap="none" baseline="0" dirty="0" smtClean="0">
              <a:solidFill>
                <a:srgbClr val="137B33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R="0" lvl="0" indent="0" algn="l" rtl="0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59375"/>
              <a:buFont typeface="Tahoma"/>
              <a:buNone/>
            </a:pPr>
            <a:endParaRPr lang="x-none" sz="2000" b="0" i="0" u="none" strike="noStrike" cap="none" baseline="0">
              <a:solidFill>
                <a:srgbClr val="137B33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R="0" lvl="0" indent="0" algn="l" rtl="0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59375"/>
              <a:buFont typeface="Tahoma"/>
              <a:buNone/>
            </a:pPr>
            <a:r>
              <a:rPr lang="x-none" sz="3200" b="0" i="0" u="none" strike="noStrike" cap="none" baseline="0" smtClean="0">
                <a:solidFill>
                  <a:srgbClr val="137B33"/>
                </a:solidFill>
                <a:latin typeface="Tahoma"/>
                <a:ea typeface="Tahoma"/>
                <a:cs typeface="Tahoma"/>
                <a:sym typeface="Tahoma"/>
              </a:rPr>
              <a:t>-Acidente </a:t>
            </a:r>
            <a:r>
              <a:rPr lang="x-none" sz="3200" b="0" i="0" u="none" strike="noStrike" cap="none" baseline="0">
                <a:solidFill>
                  <a:srgbClr val="137B33"/>
                </a:solidFill>
                <a:latin typeface="Tahoma"/>
                <a:ea typeface="Tahoma"/>
                <a:cs typeface="Tahoma"/>
                <a:sym typeface="Tahoma"/>
              </a:rPr>
              <a:t>de trabalho fora do local de </a:t>
            </a:r>
            <a:r>
              <a:rPr lang="x-none" sz="3200" b="0" i="0" u="none" strike="noStrike" cap="none" baseline="0" smtClean="0">
                <a:solidFill>
                  <a:srgbClr val="137B33"/>
                </a:solidFill>
                <a:latin typeface="Tahoma"/>
                <a:ea typeface="Tahoma"/>
                <a:cs typeface="Tahoma"/>
                <a:sym typeface="Tahoma"/>
              </a:rPr>
              <a:t>trabalho</a:t>
            </a:r>
            <a:endParaRPr lang="pt-BR" sz="3200" b="0" i="0" u="none" strike="noStrike" cap="none" baseline="0" dirty="0" smtClean="0">
              <a:solidFill>
                <a:srgbClr val="137B33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R="0" lvl="0" indent="0" algn="l" rtl="0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59375"/>
              <a:buFont typeface="Tahoma"/>
              <a:buNone/>
            </a:pPr>
            <a:endParaRPr lang="x-none" sz="1600" b="0" i="0" u="none" strike="noStrike" cap="none" baseline="0">
              <a:solidFill>
                <a:srgbClr val="137B33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R="0" lvl="0" indent="0" algn="l" rtl="0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59375"/>
              <a:buFont typeface="Tahoma"/>
              <a:buNone/>
            </a:pPr>
            <a:r>
              <a:rPr lang="x-none" sz="3200" b="0" i="0" u="none" strike="noStrike" cap="none" baseline="0" smtClean="0">
                <a:solidFill>
                  <a:srgbClr val="137B33"/>
                </a:solidFill>
                <a:latin typeface="Tahoma"/>
                <a:ea typeface="Tahoma"/>
                <a:cs typeface="Tahoma"/>
                <a:sym typeface="Tahoma"/>
              </a:rPr>
              <a:t>-Acidente </a:t>
            </a:r>
            <a:r>
              <a:rPr lang="x-none" sz="3200" b="0" i="0" u="none" strike="noStrike" cap="none" baseline="0">
                <a:solidFill>
                  <a:srgbClr val="137B33"/>
                </a:solidFill>
                <a:latin typeface="Tahoma"/>
                <a:ea typeface="Tahoma"/>
                <a:cs typeface="Tahoma"/>
                <a:sym typeface="Tahoma"/>
              </a:rPr>
              <a:t>de Trabalho</a:t>
            </a:r>
            <a:r>
              <a:rPr lang="x-none" sz="3200" b="0" i="1" u="none" strike="noStrike" cap="none" baseline="0">
                <a:solidFill>
                  <a:srgbClr val="1BAB48"/>
                </a:solidFill>
                <a:latin typeface="Tahoma"/>
                <a:ea typeface="Tahoma"/>
                <a:cs typeface="Tahoma"/>
                <a:sym typeface="Tahoma"/>
              </a:rPr>
              <a:t>Definição </a:t>
            </a:r>
            <a:r>
              <a:rPr lang="x-none" sz="3200" b="0" i="1" u="none" strike="noStrike" cap="none" baseline="0" smtClean="0">
                <a:solidFill>
                  <a:srgbClr val="1BAB48"/>
                </a:solidFill>
                <a:latin typeface="Tahoma"/>
                <a:ea typeface="Tahoma"/>
                <a:cs typeface="Tahoma"/>
                <a:sym typeface="Tahoma"/>
              </a:rPr>
              <a:t>Legal</a:t>
            </a:r>
            <a:endParaRPr lang="pt-BR" sz="3200" b="0" i="1" u="none" strike="noStrike" cap="none" baseline="0" dirty="0" smtClean="0">
              <a:solidFill>
                <a:srgbClr val="1BAB48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R="0" lvl="0" indent="0" algn="l" rtl="0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59375"/>
              <a:buFont typeface="Tahoma"/>
              <a:buNone/>
            </a:pPr>
            <a:endParaRPr lang="x-none" sz="1600" b="0" i="1" u="none" strike="noStrike" cap="none" baseline="0">
              <a:solidFill>
                <a:srgbClr val="1BAB48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R="0" lvl="0" indent="0" algn="l" rtl="0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59375"/>
              <a:buFont typeface="Tahoma"/>
              <a:buNone/>
            </a:pPr>
            <a:r>
              <a:rPr lang="x-none" sz="3200" b="0" i="0" u="none" strike="noStrike" cap="none" baseline="0" smtClean="0">
                <a:solidFill>
                  <a:srgbClr val="137B33"/>
                </a:solidFill>
                <a:latin typeface="Tahoma"/>
                <a:ea typeface="Tahoma"/>
                <a:cs typeface="Tahoma"/>
                <a:sym typeface="Tahoma"/>
              </a:rPr>
              <a:t>-Acidente </a:t>
            </a:r>
            <a:r>
              <a:rPr lang="x-none" sz="3200" b="0" i="0" u="none" strike="noStrike" cap="none" baseline="0">
                <a:solidFill>
                  <a:srgbClr val="137B33"/>
                </a:solidFill>
                <a:latin typeface="Tahoma"/>
                <a:ea typeface="Tahoma"/>
                <a:cs typeface="Tahoma"/>
                <a:sym typeface="Tahoma"/>
              </a:rPr>
              <a:t>de Trabalho</a:t>
            </a:r>
            <a:r>
              <a:rPr lang="x-none" sz="3200" b="0" i="1" u="none" strike="noStrike" cap="none" baseline="0">
                <a:solidFill>
                  <a:srgbClr val="1AA244"/>
                </a:solidFill>
                <a:latin typeface="Tahoma"/>
                <a:ea typeface="Tahoma"/>
                <a:cs typeface="Tahoma"/>
                <a:sym typeface="Tahoma"/>
              </a:rPr>
              <a:t>Conceito </a:t>
            </a:r>
            <a:r>
              <a:rPr lang="x-none" sz="3200" b="0" i="1" u="none" strike="noStrike" cap="none" baseline="0" smtClean="0">
                <a:solidFill>
                  <a:srgbClr val="1AA244"/>
                </a:solidFill>
                <a:latin typeface="Tahoma"/>
                <a:ea typeface="Tahoma"/>
                <a:cs typeface="Tahoma"/>
                <a:sym typeface="Tahoma"/>
              </a:rPr>
              <a:t>Prevencionista</a:t>
            </a:r>
            <a:endParaRPr lang="pt-BR" sz="3200" b="0" i="1" u="none" strike="noStrike" cap="none" baseline="0" dirty="0" smtClean="0">
              <a:solidFill>
                <a:srgbClr val="1AA244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R="0" lvl="0" indent="0" algn="l" rtl="0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59375"/>
              <a:buFont typeface="Tahoma"/>
              <a:buNone/>
            </a:pPr>
            <a:endParaRPr lang="x-none" sz="1800" b="0" i="1" u="none" strike="noStrike" cap="none" baseline="0">
              <a:solidFill>
                <a:srgbClr val="1AA244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R="0" lvl="0" indent="0" algn="l" rtl="0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59375"/>
              <a:buFont typeface="Tahoma"/>
              <a:buNone/>
            </a:pPr>
            <a:r>
              <a:rPr lang="x-none" sz="3200" b="0" i="0" u="none" strike="noStrike" cap="none" baseline="0" smtClean="0">
                <a:solidFill>
                  <a:srgbClr val="137B33"/>
                </a:solidFill>
                <a:latin typeface="Tahoma"/>
                <a:ea typeface="Tahoma"/>
                <a:cs typeface="Tahoma"/>
                <a:sym typeface="Tahoma"/>
              </a:rPr>
              <a:t>-Doença Profissional</a:t>
            </a:r>
            <a:endParaRPr lang="pt-BR" sz="3200" b="0" i="0" u="none" strike="noStrike" cap="none" baseline="0" dirty="0" smtClean="0">
              <a:solidFill>
                <a:srgbClr val="137B33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R="0" lvl="0" indent="0" algn="l" rtl="0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59375"/>
              <a:buFont typeface="Tahoma"/>
              <a:buNone/>
            </a:pPr>
            <a:endParaRPr lang="x-none" sz="2000" b="0" i="0" u="none" strike="noStrike" cap="none" baseline="0">
              <a:solidFill>
                <a:srgbClr val="137B33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R="0" lvl="0" indent="0" algn="l" rtl="0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59375"/>
              <a:buFont typeface="Tahoma"/>
              <a:buNone/>
            </a:pPr>
            <a:r>
              <a:rPr lang="x-none" sz="3200" b="0" i="0" u="none" strike="noStrike" cap="none" baseline="0" smtClean="0">
                <a:solidFill>
                  <a:srgbClr val="137B33"/>
                </a:solidFill>
                <a:latin typeface="Tahoma"/>
                <a:ea typeface="Tahoma"/>
                <a:cs typeface="Tahoma"/>
                <a:sym typeface="Tahoma"/>
              </a:rPr>
              <a:t>-Doença </a:t>
            </a:r>
            <a:r>
              <a:rPr lang="x-none" sz="3200" b="0" i="0" u="none" strike="noStrike" cap="none" baseline="0">
                <a:solidFill>
                  <a:srgbClr val="137B33"/>
                </a:solidFill>
                <a:latin typeface="Tahoma"/>
                <a:ea typeface="Tahoma"/>
                <a:cs typeface="Tahoma"/>
                <a:sym typeface="Tahoma"/>
              </a:rPr>
              <a:t>do Trabalho</a:t>
            </a:r>
            <a:r>
              <a:rPr lang="x-none" sz="3200" b="0" i="1" u="none" strike="noStrike" cap="none" baseline="0">
                <a:solidFill>
                  <a:srgbClr val="1BAB48"/>
                </a:solidFill>
                <a:latin typeface="Tahoma"/>
                <a:ea typeface="Tahoma"/>
                <a:cs typeface="Tahoma"/>
                <a:sym typeface="Tahoma"/>
              </a:rPr>
              <a:t>   </a:t>
            </a:r>
          </a:p>
        </p:txBody>
      </p:sp>
      <p:sp>
        <p:nvSpPr>
          <p:cNvPr id="149" name="Shape 149"/>
          <p:cNvSpPr/>
          <p:nvPr/>
        </p:nvSpPr>
        <p:spPr>
          <a:xfrm>
            <a:off x="8001000" y="0"/>
            <a:ext cx="1143000" cy="1447799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  <p:sp>
        <p:nvSpPr>
          <p:cNvPr id="150" name="Shape 150"/>
          <p:cNvSpPr/>
          <p:nvPr/>
        </p:nvSpPr>
        <p:spPr>
          <a:xfrm>
            <a:off x="8001000" y="0"/>
            <a:ext cx="1143000" cy="1447799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  <p:sp>
        <p:nvSpPr>
          <p:cNvPr id="151" name="Shape 151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19049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/>
              <a:t> 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4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8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Shape 156"/>
          <p:cNvSpPr txBox="1">
            <a:spLocks noGrp="1"/>
          </p:cNvSpPr>
          <p:nvPr>
            <p:ph type="title"/>
          </p:nvPr>
        </p:nvSpPr>
        <p:spPr>
          <a:xfrm>
            <a:off x="685800" y="533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 sz="4000" b="0" i="0" u="none" strike="noStrike" cap="none" baseline="0">
                <a:solidFill>
                  <a:srgbClr val="006600"/>
                </a:solidFill>
                <a:latin typeface="Tahoma"/>
                <a:ea typeface="Tahoma"/>
                <a:cs typeface="Tahoma"/>
                <a:sym typeface="Tahoma"/>
              </a:rPr>
              <a:t>ACIDENTE DE TRABALHO</a:t>
            </a:r>
          </a:p>
        </p:txBody>
      </p:sp>
      <p:sp>
        <p:nvSpPr>
          <p:cNvPr id="157" name="Shape 157"/>
          <p:cNvSpPr txBox="1">
            <a:spLocks noGrp="1"/>
          </p:cNvSpPr>
          <p:nvPr>
            <p:ph type="body" idx="1"/>
          </p:nvPr>
        </p:nvSpPr>
        <p:spPr>
          <a:xfrm>
            <a:off x="179512" y="1676400"/>
            <a:ext cx="8458200" cy="507519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R="0" lvl="0" indent="0" algn="l" rtl="0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60714"/>
              <a:buFont typeface="Tahoma"/>
              <a:buNone/>
            </a:pPr>
            <a:r>
              <a:rPr lang="x-none" sz="2800" b="0" i="0" u="none" strike="noStrike" cap="none" baseline="0">
                <a:solidFill>
                  <a:srgbClr val="006600"/>
                </a:solidFill>
                <a:latin typeface="Tahoma"/>
                <a:ea typeface="Tahoma"/>
                <a:cs typeface="Tahoma"/>
                <a:sym typeface="Tahoma"/>
              </a:rPr>
              <a:t>* No local e horário de trabalho, em decorrência de</a:t>
            </a:r>
            <a:r>
              <a:rPr lang="x-none" sz="2800" b="0" i="0" u="none" strike="noStrike" cap="none" baseline="0" smtClean="0">
                <a:solidFill>
                  <a:srgbClr val="006600"/>
                </a:solidFill>
                <a:latin typeface="Tahoma"/>
                <a:ea typeface="Tahoma"/>
                <a:cs typeface="Tahoma"/>
                <a:sym typeface="Tahoma"/>
              </a:rPr>
              <a:t>:</a:t>
            </a:r>
            <a:endParaRPr dirty="0"/>
          </a:p>
          <a:p>
            <a:pPr marL="793750" marR="0" lvl="1" indent="-336550" algn="l" rtl="0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rgbClr val="993300"/>
              </a:buClr>
              <a:buSzPct val="71428"/>
              <a:buFont typeface="Arial"/>
              <a:buChar char="•"/>
            </a:pPr>
            <a:r>
              <a:rPr lang="x-none" sz="2800" b="0" i="0" u="none" strike="noStrike" cap="none" baseline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Ato de Terceiros</a:t>
            </a:r>
            <a:r>
              <a:rPr lang="x-none" sz="2800" b="0" i="0" u="none" strike="noStrike" cap="none" baseline="0" smtClean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;</a:t>
            </a:r>
            <a:endParaRPr lang="pt-BR" sz="2800" b="0" i="0" u="none" strike="noStrike" cap="none" baseline="0" dirty="0" smtClean="0">
              <a:solidFill>
                <a:schemeClr val="accent2">
                  <a:lumMod val="10000"/>
                </a:schemeClr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793750" marR="0" lvl="1" indent="-336550" algn="l" rtl="0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rgbClr val="993300"/>
              </a:buClr>
              <a:buSzPct val="71428"/>
              <a:buFont typeface="Arial"/>
              <a:buChar char="•"/>
            </a:pPr>
            <a:endParaRPr lang="x-none" sz="2800" b="0" i="0" u="none" strike="noStrike" cap="none" baseline="0">
              <a:solidFill>
                <a:schemeClr val="accent2">
                  <a:lumMod val="10000"/>
                </a:schemeClr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793750" marR="0" lvl="1" indent="-336550" algn="l" rtl="0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rgbClr val="993300"/>
              </a:buClr>
              <a:buSzPct val="71428"/>
              <a:buFont typeface="Arial"/>
              <a:buChar char="•"/>
            </a:pPr>
            <a:r>
              <a:rPr lang="x-none" sz="2800" b="0" i="0" u="none" strike="noStrike" cap="none" baseline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Ato de sabotagem ou terrorismo</a:t>
            </a:r>
            <a:r>
              <a:rPr lang="x-none" sz="2800" b="0" i="0" u="none" strike="noStrike" cap="none" baseline="0" smtClean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;</a:t>
            </a:r>
            <a:endParaRPr lang="pt-BR" sz="2800" b="0" i="0" u="none" strike="noStrike" cap="none" baseline="0" dirty="0" smtClean="0">
              <a:solidFill>
                <a:schemeClr val="accent2">
                  <a:lumMod val="10000"/>
                </a:schemeClr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793750" marR="0" lvl="1" indent="-336550" algn="l" rtl="0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rgbClr val="993300"/>
              </a:buClr>
              <a:buSzPct val="71428"/>
              <a:buFont typeface="Arial"/>
              <a:buChar char="•"/>
            </a:pPr>
            <a:endParaRPr lang="x-none" sz="2800" b="0" i="0" u="none" strike="noStrike" cap="none" baseline="0">
              <a:solidFill>
                <a:schemeClr val="accent2">
                  <a:lumMod val="10000"/>
                </a:schemeClr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793750" marR="0" lvl="1" indent="-336550" algn="l" rtl="0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rgbClr val="993300"/>
              </a:buClr>
              <a:buSzPct val="71428"/>
              <a:buFont typeface="Arial"/>
              <a:buChar char="•"/>
            </a:pPr>
            <a:r>
              <a:rPr lang="x-none" sz="2800" b="0" i="0" u="none" strike="noStrike" cap="none" baseline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Ato de pessoa privada do uso da razão (louca</a:t>
            </a:r>
            <a:r>
              <a:rPr lang="x-none" sz="2800" b="0" i="0" u="none" strike="noStrike" cap="none" baseline="0" smtClean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);</a:t>
            </a:r>
            <a:endParaRPr lang="pt-BR" sz="2800" b="0" i="0" u="none" strike="noStrike" cap="none" baseline="0" dirty="0" smtClean="0">
              <a:solidFill>
                <a:schemeClr val="accent2">
                  <a:lumMod val="10000"/>
                </a:schemeClr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793750" marR="0" lvl="1" indent="-336550" algn="l" rtl="0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rgbClr val="993300"/>
              </a:buClr>
              <a:buSzPct val="71428"/>
              <a:buFont typeface="Arial"/>
              <a:buChar char="•"/>
            </a:pPr>
            <a:endParaRPr lang="x-none" sz="2800" b="0" i="0" u="none" strike="noStrike" cap="none" baseline="0">
              <a:solidFill>
                <a:schemeClr val="accent2">
                  <a:lumMod val="10000"/>
                </a:schemeClr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793750" marR="0" lvl="1" indent="-336550" algn="l" rtl="0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rgbClr val="993300"/>
              </a:buClr>
              <a:buSzPct val="71428"/>
              <a:buFont typeface="Arial"/>
              <a:buChar char="•"/>
            </a:pPr>
            <a:r>
              <a:rPr lang="x-none" sz="2800" b="0" i="0" u="none" strike="noStrike" cap="none" baseline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Ofensa física</a:t>
            </a:r>
            <a:r>
              <a:rPr lang="x-none" sz="2800" b="0" i="0" u="none" strike="noStrike" cap="none" baseline="0" smtClean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;</a:t>
            </a:r>
            <a:endParaRPr lang="pt-BR" sz="2800" b="0" i="0" u="none" strike="noStrike" cap="none" baseline="0" dirty="0" smtClean="0">
              <a:solidFill>
                <a:schemeClr val="accent2">
                  <a:lumMod val="10000"/>
                </a:schemeClr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793750" marR="0" lvl="1" indent="-336550" algn="l" rtl="0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rgbClr val="993300"/>
              </a:buClr>
              <a:buSzPct val="71428"/>
              <a:buFont typeface="Arial"/>
              <a:buChar char="•"/>
            </a:pPr>
            <a:endParaRPr lang="x-none" sz="2800" b="0" i="0" u="none" strike="noStrike" cap="none" baseline="0">
              <a:solidFill>
                <a:schemeClr val="accent2">
                  <a:lumMod val="10000"/>
                </a:schemeClr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793750" marR="0" lvl="1" indent="-336550" algn="l" rtl="0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rgbClr val="993300"/>
              </a:buClr>
              <a:buSzPct val="71428"/>
              <a:buFont typeface="Arial"/>
              <a:buChar char="•"/>
            </a:pPr>
            <a:r>
              <a:rPr lang="x-none" sz="2800" b="0" i="0" u="none" strike="noStrike" cap="none" baseline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Ofensa Psicológica</a:t>
            </a:r>
            <a:r>
              <a:rPr lang="x-none" sz="2800" b="0" i="0" u="none" strike="noStrike" cap="none" baseline="0" smtClean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;</a:t>
            </a:r>
            <a:endParaRPr lang="pt-BR" sz="2800" b="0" i="0" u="none" strike="noStrike" cap="none" baseline="0" dirty="0" smtClean="0">
              <a:solidFill>
                <a:schemeClr val="accent2">
                  <a:lumMod val="10000"/>
                </a:schemeClr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793750" marR="0" lvl="1" indent="-336550" algn="l" rtl="0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rgbClr val="993300"/>
              </a:buClr>
              <a:buSzPct val="71428"/>
              <a:buFont typeface="Arial"/>
              <a:buChar char="•"/>
            </a:pPr>
            <a:endParaRPr lang="pt-BR" dirty="0" smtClean="0">
              <a:solidFill>
                <a:schemeClr val="accent2">
                  <a:lumMod val="10000"/>
                </a:schemeClr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793750" marR="0" lvl="1" indent="-336550" algn="l" rtl="0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rgbClr val="993300"/>
              </a:buClr>
              <a:buSzPct val="71428"/>
              <a:buFont typeface="Arial"/>
              <a:buChar char="•"/>
            </a:pPr>
            <a:r>
              <a:rPr lang="x-none" sz="2800" b="0" i="0" u="none" strike="noStrike" cap="none" baseline="0" smtClean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Situação </a:t>
            </a:r>
            <a:r>
              <a:rPr lang="x-none" sz="2800" b="0" i="0" u="none" strike="noStrike" cap="none" baseline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de Força Maior (Catástrofe).</a:t>
            </a:r>
          </a:p>
        </p:txBody>
      </p:sp>
      <p:sp>
        <p:nvSpPr>
          <p:cNvPr id="158" name="Shape 158"/>
          <p:cNvSpPr/>
          <p:nvPr/>
        </p:nvSpPr>
        <p:spPr>
          <a:xfrm>
            <a:off x="8001000" y="0"/>
            <a:ext cx="1143000" cy="1447799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  <p:sp>
        <p:nvSpPr>
          <p:cNvPr id="159" name="Shape 159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19049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/>
              <a:t> 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5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5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5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5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5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Shape 164"/>
          <p:cNvSpPr txBox="1">
            <a:spLocks noGrp="1"/>
          </p:cNvSpPr>
          <p:nvPr>
            <p:ph type="title"/>
          </p:nvPr>
        </p:nvSpPr>
        <p:spPr>
          <a:xfrm>
            <a:off x="685800" y="7620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 sz="4000" b="0" i="0" u="none" strike="noStrike" cap="none" baseline="0">
                <a:solidFill>
                  <a:srgbClr val="006600"/>
                </a:solidFill>
                <a:latin typeface="Tahoma"/>
                <a:ea typeface="Tahoma"/>
                <a:cs typeface="Tahoma"/>
                <a:sym typeface="Tahoma"/>
              </a:rPr>
              <a:t>ACIDENTE  DE  TRABALHO</a:t>
            </a:r>
          </a:p>
        </p:txBody>
      </p:sp>
      <p:sp>
        <p:nvSpPr>
          <p:cNvPr id="165" name="Shape 165"/>
          <p:cNvSpPr txBox="1">
            <a:spLocks noGrp="1"/>
          </p:cNvSpPr>
          <p:nvPr>
            <p:ph type="body" idx="1"/>
          </p:nvPr>
        </p:nvSpPr>
        <p:spPr>
          <a:xfrm>
            <a:off x="179512" y="1828800"/>
            <a:ext cx="8856984" cy="5466071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R="0" lvl="0" indent="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60714"/>
              <a:buFont typeface="Tahoma"/>
              <a:buNone/>
            </a:pPr>
            <a:r>
              <a:rPr lang="x-none" sz="2800" b="0" i="0" u="none" strike="noStrike" cap="none" baseline="0">
                <a:solidFill>
                  <a:srgbClr val="006600"/>
                </a:solidFill>
                <a:latin typeface="Tahoma"/>
                <a:ea typeface="Tahoma"/>
                <a:cs typeface="Tahoma"/>
                <a:sym typeface="Tahoma"/>
              </a:rPr>
              <a:t>Fora do local e horário de trabalho, em decorrência de</a:t>
            </a:r>
            <a:r>
              <a:rPr lang="x-none" sz="2800" b="0" i="0" u="none" strike="noStrike" cap="none" baseline="0" smtClean="0">
                <a:solidFill>
                  <a:srgbClr val="006600"/>
                </a:solidFill>
                <a:latin typeface="Tahoma"/>
                <a:ea typeface="Tahoma"/>
                <a:cs typeface="Tahoma"/>
                <a:sym typeface="Tahoma"/>
              </a:rPr>
              <a:t>:</a:t>
            </a:r>
            <a:endParaRPr dirty="0"/>
          </a:p>
          <a:p>
            <a:pPr marR="0" lvl="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60714"/>
              <a:buFontTx/>
              <a:buChar char="-"/>
            </a:pPr>
            <a:r>
              <a:rPr lang="x-none" sz="2800" b="0" i="0" u="none" strike="noStrike" cap="none" baseline="0" smtClean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Acidente  </a:t>
            </a:r>
            <a:r>
              <a:rPr lang="x-none" sz="2800" b="0" i="0" u="none" strike="noStrike" cap="none" baseline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de  trajeto</a:t>
            </a:r>
            <a:r>
              <a:rPr lang="x-none" sz="2800" b="0" i="0" u="none" strike="noStrike" cap="none" baseline="0" smtClean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;</a:t>
            </a:r>
            <a:endParaRPr lang="pt-BR" sz="2800" b="0" i="0" u="none" strike="noStrike" cap="none" baseline="0" dirty="0" smtClean="0">
              <a:solidFill>
                <a:schemeClr val="accent2">
                  <a:lumMod val="10000"/>
                </a:schemeClr>
              </a:solidFill>
              <a:latin typeface="Tahoma"/>
              <a:ea typeface="Tahoma"/>
              <a:cs typeface="Tahoma"/>
              <a:sym typeface="Tahoma"/>
            </a:endParaRPr>
          </a:p>
          <a:p>
            <a:pPr marR="0" lvl="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60714"/>
              <a:buFontTx/>
              <a:buChar char="-"/>
            </a:pPr>
            <a:endParaRPr lang="x-none" sz="2800" b="0" i="0" u="none" strike="noStrike" cap="none" baseline="0">
              <a:solidFill>
                <a:schemeClr val="accent2">
                  <a:lumMod val="10000"/>
                </a:schemeClr>
              </a:solidFill>
              <a:latin typeface="Tahoma"/>
              <a:ea typeface="Tahoma"/>
              <a:cs typeface="Tahoma"/>
              <a:sym typeface="Tahoma"/>
            </a:endParaRPr>
          </a:p>
          <a:p>
            <a:pPr marR="0" lvl="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60714"/>
              <a:buFontTx/>
              <a:buChar char="-"/>
            </a:pPr>
            <a:r>
              <a:rPr lang="x-none" sz="2800" b="0" i="0" u="none" strike="noStrike" cap="none" baseline="0" smtClean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Execução  </a:t>
            </a:r>
            <a:r>
              <a:rPr lang="x-none" sz="2800" b="0" i="0" u="none" strike="noStrike" cap="none" baseline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de  serviço  sob  ordem da empresa, ainda que fora dela</a:t>
            </a:r>
            <a:r>
              <a:rPr lang="x-none" sz="2800" b="0" i="0" u="none" strike="noStrike" cap="none" baseline="0" smtClean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;</a:t>
            </a:r>
            <a:endParaRPr lang="pt-BR" sz="2800" b="0" i="0" u="none" strike="noStrike" cap="none" baseline="0" dirty="0" smtClean="0">
              <a:solidFill>
                <a:schemeClr val="accent2">
                  <a:lumMod val="10000"/>
                </a:schemeClr>
              </a:solidFill>
              <a:latin typeface="Tahoma"/>
              <a:ea typeface="Tahoma"/>
              <a:cs typeface="Tahoma"/>
              <a:sym typeface="Tahoma"/>
            </a:endParaRPr>
          </a:p>
          <a:p>
            <a:pPr marR="0" lvl="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60714"/>
              <a:buFontTx/>
              <a:buChar char="-"/>
            </a:pPr>
            <a:endParaRPr lang="x-none" sz="2800" b="0" i="0" u="none" strike="noStrike" cap="none" baseline="0">
              <a:solidFill>
                <a:schemeClr val="accent2">
                  <a:lumMod val="10000"/>
                </a:schemeClr>
              </a:solidFill>
              <a:latin typeface="Tahoma"/>
              <a:ea typeface="Tahoma"/>
              <a:cs typeface="Tahoma"/>
              <a:sym typeface="Tahoma"/>
            </a:endParaRPr>
          </a:p>
          <a:p>
            <a:pPr marR="0" lvl="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60714"/>
              <a:buFontTx/>
              <a:buChar char="-"/>
            </a:pPr>
            <a:r>
              <a:rPr lang="x-none" sz="2800" b="0" i="0" u="none" strike="noStrike" cap="none" baseline="0" smtClean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Viagem </a:t>
            </a:r>
            <a:r>
              <a:rPr lang="x-none" sz="2800" b="0" i="0" u="none" strike="noStrike" cap="none" baseline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para aperfeiçoamento profissional custeado pela empresa</a:t>
            </a:r>
            <a:r>
              <a:rPr lang="x-none" sz="2800" b="0" i="0" u="none" strike="noStrike" cap="none" baseline="0" smtClean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;</a:t>
            </a:r>
            <a:endParaRPr lang="pt-BR" sz="2800" b="0" i="0" u="none" strike="noStrike" cap="none" baseline="0" dirty="0" smtClean="0">
              <a:solidFill>
                <a:schemeClr val="accent2">
                  <a:lumMod val="10000"/>
                </a:schemeClr>
              </a:solidFill>
              <a:latin typeface="Tahoma"/>
              <a:ea typeface="Tahoma"/>
              <a:cs typeface="Tahoma"/>
              <a:sym typeface="Tahoma"/>
            </a:endParaRPr>
          </a:p>
          <a:p>
            <a:pPr marR="0" lvl="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60714"/>
              <a:buFontTx/>
              <a:buChar char="-"/>
            </a:pPr>
            <a:endParaRPr lang="x-none" sz="2800" b="0" i="0" u="none" strike="noStrike" cap="none" baseline="0">
              <a:solidFill>
                <a:schemeClr val="accent2">
                  <a:lumMod val="10000"/>
                </a:schemeClr>
              </a:solidFill>
              <a:latin typeface="Tahoma"/>
              <a:ea typeface="Tahoma"/>
              <a:cs typeface="Tahoma"/>
              <a:sym typeface="Tahoma"/>
            </a:endParaRPr>
          </a:p>
          <a:p>
            <a:pPr marR="0" lvl="0" indent="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60714"/>
              <a:buFont typeface="Tahoma"/>
              <a:buNone/>
            </a:pPr>
            <a:r>
              <a:rPr lang="x-none" sz="2800" b="0" i="0" u="none" strike="noStrike" cap="none" baseline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- Prestação  espontânea  de  serviço.</a:t>
            </a:r>
          </a:p>
          <a:p>
            <a:endParaRPr dirty="0"/>
          </a:p>
        </p:txBody>
      </p:sp>
      <p:sp>
        <p:nvSpPr>
          <p:cNvPr id="166" name="Shape 166"/>
          <p:cNvSpPr/>
          <p:nvPr/>
        </p:nvSpPr>
        <p:spPr>
          <a:xfrm>
            <a:off x="8001000" y="0"/>
            <a:ext cx="1143000" cy="1447799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  <p:sp>
        <p:nvSpPr>
          <p:cNvPr id="167" name="Shape 167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19049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/>
              <a:t> 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5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Shape 172"/>
          <p:cNvSpPr txBox="1">
            <a:spLocks noGrp="1"/>
          </p:cNvSpPr>
          <p:nvPr>
            <p:ph type="title"/>
          </p:nvPr>
        </p:nvSpPr>
        <p:spPr>
          <a:xfrm>
            <a:off x="35496" y="762000"/>
            <a:ext cx="7772400" cy="64629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 sz="3600" b="0" i="0" u="none" strike="noStrike" cap="none" baseline="0">
                <a:solidFill>
                  <a:srgbClr val="137B33"/>
                </a:solidFill>
                <a:latin typeface="Tahoma"/>
                <a:ea typeface="Tahoma"/>
                <a:cs typeface="Tahoma"/>
                <a:sym typeface="Tahoma"/>
              </a:rPr>
              <a:t>Acidente de </a:t>
            </a:r>
            <a:r>
              <a:rPr lang="x-none" sz="3600" b="0" i="0" u="none" strike="noStrike" cap="none" baseline="0" smtClean="0">
                <a:solidFill>
                  <a:srgbClr val="137B33"/>
                </a:solidFill>
                <a:latin typeface="Tahoma"/>
                <a:ea typeface="Tahoma"/>
                <a:cs typeface="Tahoma"/>
                <a:sym typeface="Tahoma"/>
              </a:rPr>
              <a:t>Trabalho</a:t>
            </a:r>
            <a:r>
              <a:rPr lang="pt-BR" sz="3600" b="0" i="0" u="none" strike="noStrike" cap="none" baseline="0" dirty="0" smtClean="0">
                <a:solidFill>
                  <a:srgbClr val="137B33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x-none" sz="3600" b="0" i="1" u="none" strike="noStrike" cap="none" baseline="0" smtClean="0">
                <a:solidFill>
                  <a:srgbClr val="1BAB48"/>
                </a:solidFill>
                <a:latin typeface="Tahoma"/>
                <a:ea typeface="Tahoma"/>
                <a:cs typeface="Tahoma"/>
                <a:sym typeface="Tahoma"/>
              </a:rPr>
              <a:t>Definição </a:t>
            </a:r>
            <a:r>
              <a:rPr lang="x-none" sz="3600" b="0" i="1" u="none" strike="noStrike" cap="none" baseline="0">
                <a:solidFill>
                  <a:srgbClr val="1BAB48"/>
                </a:solidFill>
                <a:latin typeface="Tahoma"/>
                <a:ea typeface="Tahoma"/>
                <a:cs typeface="Tahoma"/>
                <a:sym typeface="Tahoma"/>
              </a:rPr>
              <a:t>Legal</a:t>
            </a:r>
          </a:p>
        </p:txBody>
      </p:sp>
      <p:sp>
        <p:nvSpPr>
          <p:cNvPr id="173" name="Shape 173"/>
          <p:cNvSpPr txBox="1">
            <a:spLocks noGrp="1"/>
          </p:cNvSpPr>
          <p:nvPr>
            <p:ph type="body" idx="1"/>
          </p:nvPr>
        </p:nvSpPr>
        <p:spPr>
          <a:xfrm>
            <a:off x="762000" y="1981200"/>
            <a:ext cx="7772400" cy="363787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Font typeface="Arial"/>
              <a:buChar char="•"/>
            </a:pPr>
            <a:r>
              <a:rPr lang="x-none" sz="3200" b="0" i="0" u="none" strike="noStrike" cap="none" baseline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   </a:t>
            </a:r>
            <a:r>
              <a:rPr lang="x-none" sz="3200" b="0" i="0" u="none" strike="noStrike" cap="none" baseline="0">
                <a:solidFill>
                  <a:schemeClr val="accent2">
                    <a:lumMod val="1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Conforme prevê o art. 19 da Lei 8.213/91, </a:t>
            </a:r>
            <a:r>
              <a:rPr lang="x-none" sz="3200" b="1" i="0" u="none" strike="noStrike" cap="none" baseline="0">
                <a:solidFill>
                  <a:schemeClr val="accent2">
                    <a:lumMod val="1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acidente do trabalho é o que ocorre pelo exercício do trabalho a serviço da empresa</a:t>
            </a:r>
            <a:r>
              <a:rPr lang="x-none" sz="3200" b="0" i="0" u="none" strike="noStrike" cap="none" baseline="0">
                <a:solidFill>
                  <a:schemeClr val="accent2">
                    <a:lumMod val="1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, provocando lesão corporal ou perturbação funcional que cause a morte ou a perda ou redução, permanente ou temporária, da capacidade para o trabalho. </a:t>
            </a:r>
          </a:p>
        </p:txBody>
      </p:sp>
      <p:sp>
        <p:nvSpPr>
          <p:cNvPr id="174" name="Shape 174"/>
          <p:cNvSpPr/>
          <p:nvPr/>
        </p:nvSpPr>
        <p:spPr>
          <a:xfrm>
            <a:off x="7913686" y="0"/>
            <a:ext cx="1230312" cy="1447799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  <p:sp>
        <p:nvSpPr>
          <p:cNvPr id="175" name="Shape 175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19049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/>
              <a:t> 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Shape 180"/>
          <p:cNvSpPr txBox="1">
            <a:spLocks noGrp="1"/>
          </p:cNvSpPr>
          <p:nvPr>
            <p:ph type="body" idx="1"/>
          </p:nvPr>
        </p:nvSpPr>
        <p:spPr>
          <a:xfrm>
            <a:off x="129480" y="1552471"/>
            <a:ext cx="8763000" cy="4678163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13095"/>
              <a:buFont typeface="Arial"/>
              <a:buChar char="•"/>
            </a:pPr>
            <a:r>
              <a:rPr lang="x-none" sz="2800" b="0" i="0" u="none" strike="noStrike" cap="none" baseline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   </a:t>
            </a:r>
            <a:r>
              <a:rPr lang="x-none" sz="3200" b="0" i="0" u="none" strike="noStrike" cap="none" baseline="0">
                <a:solidFill>
                  <a:schemeClr val="accent2">
                    <a:lumMod val="1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É importante observar que nos períodos destinados a </a:t>
            </a:r>
            <a:r>
              <a:rPr lang="x-none" sz="3200" b="1" i="0" u="none" strike="noStrike" cap="none" baseline="0">
                <a:solidFill>
                  <a:schemeClr val="accent2">
                    <a:lumMod val="1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refeição ou descanso</a:t>
            </a:r>
            <a:r>
              <a:rPr lang="x-none" sz="3200" b="0" i="0" u="none" strike="noStrike" cap="none" baseline="0">
                <a:solidFill>
                  <a:schemeClr val="accent2">
                    <a:lumMod val="1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, ou por ocasião da satisfação de outras necessidades fisiológicas, no local do trabalho ou durante este, o empregado </a:t>
            </a:r>
            <a:r>
              <a:rPr lang="x-none" sz="3200" b="1" i="0" u="none" strike="noStrike" cap="none" baseline="0">
                <a:solidFill>
                  <a:schemeClr val="accent2">
                    <a:lumMod val="1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é considerado no exercício do trabalho</a:t>
            </a:r>
            <a:r>
              <a:rPr lang="x-none" sz="3200" b="0" i="0" u="none" strike="noStrike" cap="none" baseline="0" smtClean="0">
                <a:solidFill>
                  <a:schemeClr val="accent2">
                    <a:lumMod val="1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lang="pt-BR" sz="3200" b="0" i="0" u="none" strike="noStrike" cap="none" baseline="0" dirty="0" smtClean="0">
              <a:solidFill>
                <a:schemeClr val="accent2">
                  <a:lumMod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13095"/>
              <a:buFont typeface="Arial"/>
              <a:buChar char="•"/>
            </a:pPr>
            <a:endParaRPr lang="x-none" sz="3200" b="0" i="0" u="none" strike="noStrike" cap="none" baseline="0">
              <a:solidFill>
                <a:schemeClr val="accent2">
                  <a:lumMod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Font typeface="Arial"/>
              <a:buChar char="•"/>
            </a:pPr>
            <a:r>
              <a:rPr lang="x-none" sz="3200" b="0" i="0" u="none" strike="noStrike" cap="none" baseline="0">
                <a:solidFill>
                  <a:schemeClr val="accent2">
                    <a:lumMod val="1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   Equiparam-se a ele também o acidente de   trajeto.</a:t>
            </a:r>
          </a:p>
        </p:txBody>
      </p:sp>
      <p:sp>
        <p:nvSpPr>
          <p:cNvPr id="181" name="Shape 181"/>
          <p:cNvSpPr/>
          <p:nvPr/>
        </p:nvSpPr>
        <p:spPr>
          <a:xfrm>
            <a:off x="7840661" y="0"/>
            <a:ext cx="1303336" cy="1447799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  <p:sp>
        <p:nvSpPr>
          <p:cNvPr id="182" name="Shape 182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19049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/>
              <a:t> 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Shape 187"/>
          <p:cNvSpPr txBox="1">
            <a:spLocks noGrp="1"/>
          </p:cNvSpPr>
          <p:nvPr>
            <p:ph type="body" idx="1"/>
          </p:nvPr>
        </p:nvSpPr>
        <p:spPr>
          <a:xfrm>
            <a:off x="0" y="692696"/>
            <a:ext cx="9036496" cy="5586104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Font typeface="Arial"/>
              <a:buChar char="•"/>
            </a:pPr>
            <a:r>
              <a:rPr lang="x-none" sz="3200" b="0" i="0" u="none" strike="noStrike" cap="none" baseline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   </a:t>
            </a:r>
            <a:r>
              <a:rPr lang="x-none" sz="3200" b="0" i="0" u="none" strike="noStrike" cap="none" baseline="0">
                <a:solidFill>
                  <a:schemeClr val="accent2">
                    <a:lumMod val="1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Entende-se como percurso o trajeto da residência ou do local de refeição para o trabalho ou deste para aqueles, independentemente do meio de locomoção, sem alteração ou interrupção por motivo pessoal, do percurso habitualmente realizado pelo segurado. </a:t>
            </a:r>
            <a:endParaRPr lang="pt-BR" sz="3200" b="0" i="0" u="none" strike="noStrike" cap="none" baseline="0" dirty="0" smtClean="0">
              <a:solidFill>
                <a:schemeClr val="accent2">
                  <a:lumMod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Font typeface="Arial"/>
              <a:buChar char="•"/>
            </a:pPr>
            <a:r>
              <a:rPr lang="pt-BR" dirty="0">
                <a:solidFill>
                  <a:schemeClr val="accent2">
                    <a:lumMod val="1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dirty="0" smtClean="0">
                <a:solidFill>
                  <a:schemeClr val="accent2">
                    <a:lumMod val="1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lang="x-none" sz="3200" b="0" i="0" u="none" strike="noStrike" cap="none" baseline="0" smtClean="0">
                <a:solidFill>
                  <a:schemeClr val="accent2">
                    <a:lumMod val="1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Não </a:t>
            </a:r>
            <a:r>
              <a:rPr lang="x-none" sz="3200" b="0" i="0" u="none" strike="noStrike" cap="none" baseline="0">
                <a:solidFill>
                  <a:schemeClr val="accent2">
                    <a:lumMod val="1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havendo limite de prazo estipulado para que o segurado atinja o local de residência, refeição ou do trabalho, deve ser observado o tempo necessário compatível com a distância percorrida e o meio de locomoção utilizado. </a:t>
            </a:r>
          </a:p>
        </p:txBody>
      </p:sp>
      <p:sp>
        <p:nvSpPr>
          <p:cNvPr id="188" name="Shape 188"/>
          <p:cNvSpPr/>
          <p:nvPr/>
        </p:nvSpPr>
        <p:spPr>
          <a:xfrm>
            <a:off x="8388424" y="1"/>
            <a:ext cx="755576" cy="908719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  <p:sp>
        <p:nvSpPr>
          <p:cNvPr id="189" name="Shape 189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19049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/>
              <a:t> 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7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Shape 197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19049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/>
              <a:t> </a:t>
            </a:r>
          </a:p>
        </p:txBody>
      </p:sp>
      <p:pic>
        <p:nvPicPr>
          <p:cNvPr id="1026" name="Picture 2" descr="Image result for brig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758941" cy="73448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6" name="Shape 196"/>
          <p:cNvSpPr/>
          <p:nvPr/>
        </p:nvSpPr>
        <p:spPr>
          <a:xfrm>
            <a:off x="7924800" y="0"/>
            <a:ext cx="1219200" cy="1295400"/>
          </a:xfrm>
          <a:prstGeom prst="rect">
            <a:avLst/>
          </a:prstGeom>
          <a:blipFill>
            <a:blip r:embed="rId5"/>
            <a:stretch>
              <a:fillRect/>
            </a:stretch>
          </a:blipFill>
        </p:spPr>
      </p:sp>
      <p:sp>
        <p:nvSpPr>
          <p:cNvPr id="195" name="Shape 195"/>
          <p:cNvSpPr txBox="1">
            <a:spLocks noGrp="1"/>
          </p:cNvSpPr>
          <p:nvPr>
            <p:ph type="body" idx="1"/>
          </p:nvPr>
        </p:nvSpPr>
        <p:spPr>
          <a:xfrm>
            <a:off x="611560" y="4941168"/>
            <a:ext cx="7772400" cy="156962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Font typeface="Arial"/>
              <a:buChar char="•"/>
            </a:pPr>
            <a:r>
              <a:rPr lang="x-none" sz="3200" b="1" i="0" u="none" strike="noStrike" cap="none" baseline="0">
                <a:solidFill>
                  <a:schemeClr val="accent2">
                    <a:lumMod val="1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Nota: </a:t>
            </a:r>
            <a:r>
              <a:rPr lang="x-none" sz="3200" b="0" i="0" u="none" strike="noStrike" cap="none" baseline="0">
                <a:solidFill>
                  <a:schemeClr val="accent2">
                    <a:lumMod val="1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Não será considerado acidente do trabalho o ato de agressão relacionado a motivos pessoais</a:t>
            </a:r>
            <a:r>
              <a:rPr lang="x-none" sz="3200" b="0" i="0" u="none" strike="noStrike" cap="none" baseline="0" smtClean="0">
                <a:solidFill>
                  <a:schemeClr val="accent2">
                    <a:lumMod val="1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lang="x-none" sz="3200" b="0" i="0" u="none" strike="noStrike" cap="none" baseline="0">
              <a:solidFill>
                <a:schemeClr val="accent2">
                  <a:lumMod val="10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5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5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5" grpId="0" build="p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Shape 204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19049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/>
              <a:t> </a:t>
            </a:r>
          </a:p>
        </p:txBody>
      </p:sp>
      <p:pic>
        <p:nvPicPr>
          <p:cNvPr id="2050" name="Picture 2" descr="Image result for lesã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60160" y="116632"/>
            <a:ext cx="10304160" cy="6769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2" name="Shape 202"/>
          <p:cNvSpPr txBox="1">
            <a:spLocks noGrp="1"/>
          </p:cNvSpPr>
          <p:nvPr>
            <p:ph type="body" idx="1"/>
          </p:nvPr>
        </p:nvSpPr>
        <p:spPr>
          <a:xfrm>
            <a:off x="179512" y="4509120"/>
            <a:ext cx="8856984" cy="206206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x-none" b="0" i="0" u="none" strike="noStrike" cap="none" baseline="0">
                <a:solidFill>
                  <a:schemeClr val="accent2">
                    <a:lumMod val="1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Será considerado agravamento de acidente do trabalho aquele sofrido pelo acidentado quando estiver sob a responsabilidade do Setor de Reabilitação Profissional</a:t>
            </a:r>
            <a:r>
              <a:rPr lang="x-none" b="0" i="0" u="none" strike="noStrike" cap="none" baseline="0" smtClean="0">
                <a:solidFill>
                  <a:schemeClr val="accent2">
                    <a:lumMod val="1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2400" dirty="0">
              <a:solidFill>
                <a:schemeClr val="accent2">
                  <a:lumMod val="10000"/>
                </a:schemeClr>
              </a:solidFill>
            </a:endParaRPr>
          </a:p>
        </p:txBody>
      </p:sp>
      <p:sp>
        <p:nvSpPr>
          <p:cNvPr id="203" name="Shape 203"/>
          <p:cNvSpPr/>
          <p:nvPr/>
        </p:nvSpPr>
        <p:spPr>
          <a:xfrm>
            <a:off x="7956376" y="0"/>
            <a:ext cx="1187624" cy="1124744"/>
          </a:xfrm>
          <a:prstGeom prst="rect">
            <a:avLst/>
          </a:prstGeom>
          <a:blipFill>
            <a:blip r:embed="rId5"/>
            <a:stretch>
              <a:fillRect/>
            </a:stretch>
          </a:blipFill>
        </p:spPr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Shape 209"/>
          <p:cNvSpPr txBox="1"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 sz="4000" b="0" i="0" u="none" strike="noStrike" cap="none" baseline="0">
                <a:solidFill>
                  <a:srgbClr val="137B33"/>
                </a:solidFill>
                <a:latin typeface="Tahoma"/>
                <a:ea typeface="Tahoma"/>
                <a:cs typeface="Tahoma"/>
                <a:sym typeface="Tahoma"/>
              </a:rPr>
              <a:t>Acidente de Trabalho</a:t>
            </a:r>
            <a:r>
              <a:rPr lang="x-none" sz="4000" b="0" i="1" u="none" strike="noStrike" cap="none" baseline="0">
                <a:solidFill>
                  <a:srgbClr val="1AA244"/>
                </a:solidFill>
                <a:latin typeface="Tahoma"/>
                <a:ea typeface="Tahoma"/>
                <a:cs typeface="Tahoma"/>
                <a:sym typeface="Tahoma"/>
              </a:rPr>
              <a:t>Conceito Prevencionista</a:t>
            </a:r>
          </a:p>
        </p:txBody>
      </p:sp>
      <p:sp>
        <p:nvSpPr>
          <p:cNvPr id="210" name="Shape 210"/>
          <p:cNvSpPr/>
          <p:nvPr/>
        </p:nvSpPr>
        <p:spPr>
          <a:xfrm>
            <a:off x="8001000" y="0"/>
            <a:ext cx="1143000" cy="1447799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  <p:sp>
        <p:nvSpPr>
          <p:cNvPr id="211" name="Shape 211"/>
          <p:cNvSpPr/>
          <p:nvPr/>
        </p:nvSpPr>
        <p:spPr>
          <a:xfrm>
            <a:off x="609600" y="2133600"/>
            <a:ext cx="7772400" cy="396239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spAutoFit/>
          </a:bodyPr>
          <a:lstStyle/>
          <a:p>
            <a:endParaRPr/>
          </a:p>
        </p:txBody>
      </p:sp>
      <p:sp>
        <p:nvSpPr>
          <p:cNvPr id="212" name="Shape 212"/>
          <p:cNvSpPr/>
          <p:nvPr/>
        </p:nvSpPr>
        <p:spPr>
          <a:xfrm>
            <a:off x="35496" y="2509235"/>
            <a:ext cx="9036496" cy="3046948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ctr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 sz="3200" b="0" i="0" u="none" strike="noStrike" cap="none" baseline="0">
                <a:solidFill>
                  <a:schemeClr val="accent2">
                    <a:lumMod val="1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Acidente de trabalho é qualquer ocorrência não programada, inesperada, que interfere ou interrompe o processo normal de uma atividade, trazendo como conseqüência isolada ou simultaneamente perda de tempo, </a:t>
            </a:r>
            <a:br>
              <a:rPr lang="x-none" sz="3200" b="0" i="0" u="none" strike="noStrike" cap="none" baseline="0">
                <a:solidFill>
                  <a:schemeClr val="accent2">
                    <a:lumMod val="10000"/>
                  </a:schemeClr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x-none" sz="3200" b="0" i="0" u="none" strike="noStrike" cap="none" baseline="0">
                <a:solidFill>
                  <a:schemeClr val="accent2">
                    <a:lumMod val="1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dano material ou lesões ao homem.</a:t>
            </a:r>
          </a:p>
        </p:txBody>
      </p:sp>
      <p:sp>
        <p:nvSpPr>
          <p:cNvPr id="213" name="Shape 213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19049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/>
              <a:t> 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Shape 218"/>
          <p:cNvSpPr txBox="1">
            <a:spLocks noGrp="1"/>
          </p:cNvSpPr>
          <p:nvPr>
            <p:ph type="title"/>
          </p:nvPr>
        </p:nvSpPr>
        <p:spPr>
          <a:xfrm>
            <a:off x="533400" y="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 sz="4400" b="0" i="0" u="none" strike="noStrike" cap="none" baseline="0">
                <a:solidFill>
                  <a:srgbClr val="137B33"/>
                </a:solidFill>
                <a:latin typeface="Tahoma"/>
                <a:ea typeface="Tahoma"/>
                <a:cs typeface="Tahoma"/>
                <a:sym typeface="Tahoma"/>
              </a:rPr>
              <a:t>Doença Profissional</a:t>
            </a:r>
          </a:p>
        </p:txBody>
      </p:sp>
      <p:sp>
        <p:nvSpPr>
          <p:cNvPr id="219" name="Shape 219"/>
          <p:cNvSpPr txBox="1">
            <a:spLocks noGrp="1"/>
          </p:cNvSpPr>
          <p:nvPr>
            <p:ph type="body" idx="1"/>
          </p:nvPr>
        </p:nvSpPr>
        <p:spPr>
          <a:xfrm>
            <a:off x="0" y="1295400"/>
            <a:ext cx="8991600" cy="565484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ct val="101010"/>
              <a:buFont typeface="Arial"/>
              <a:buChar char="•"/>
            </a:pPr>
            <a:r>
              <a:rPr lang="x-none" b="0" i="0" u="none" strike="noStrike" cap="none" baseline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Entende-se por doença profissional, aquela inerente ou peculiar a determinado ramo de atividade, dispensando a comprovação de nexo causal</a:t>
            </a:r>
            <a:r>
              <a:rPr lang="x-none" b="0" i="0" u="none" strike="noStrike" cap="none" baseline="0" smtClean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lang="pt-BR" b="0" i="0" u="none" strike="noStrike" cap="none" baseline="0" dirty="0" smtClean="0">
              <a:solidFill>
                <a:schemeClr val="accent2">
                  <a:lumMod val="10000"/>
                </a:schemeClr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ct val="101010"/>
              <a:buFont typeface="Arial"/>
              <a:buChar char="•"/>
            </a:pPr>
            <a:endParaRPr lang="x-none" b="0" i="0" u="none" strike="noStrike" cap="none" baseline="0">
              <a:solidFill>
                <a:schemeClr val="accent2">
                  <a:lumMod val="10000"/>
                </a:schemeClr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ct val="101010"/>
              <a:buFont typeface="Arial"/>
              <a:buChar char="•"/>
            </a:pPr>
            <a:r>
              <a:rPr lang="x-none" b="0" i="0" u="none" strike="noStrike" cap="none" baseline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Exemplo: Um trabalhador que trabalhe numa cerâmica onde é utilizada a sílica, vindo a adquirir silicose, bastará comprovar que trabalhou na cerâmica, para ficar comprovada a doença profissional, dispensando qualquer tipo de outra prova.</a:t>
            </a:r>
          </a:p>
          <a:p>
            <a:endParaRPr sz="2800" dirty="0">
              <a:solidFill>
                <a:schemeClr val="accent2">
                  <a:lumMod val="10000"/>
                </a:schemeClr>
              </a:solidFill>
            </a:endParaRPr>
          </a:p>
        </p:txBody>
      </p:sp>
      <p:sp>
        <p:nvSpPr>
          <p:cNvPr id="220" name="Shape 220"/>
          <p:cNvSpPr/>
          <p:nvPr/>
        </p:nvSpPr>
        <p:spPr>
          <a:xfrm>
            <a:off x="8001000" y="0"/>
            <a:ext cx="1143000" cy="1447799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  <p:sp>
        <p:nvSpPr>
          <p:cNvPr id="221" name="Shape 221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19049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/>
              <a:t> 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9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Shape 229"/>
          <p:cNvSpPr/>
          <p:nvPr/>
        </p:nvSpPr>
        <p:spPr>
          <a:xfrm>
            <a:off x="7924800" y="0"/>
            <a:ext cx="1219200" cy="12954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  <p:sp>
        <p:nvSpPr>
          <p:cNvPr id="230" name="Shape 230"/>
          <p:cNvSpPr/>
          <p:nvPr/>
        </p:nvSpPr>
        <p:spPr>
          <a:xfrm>
            <a:off x="7924800" y="0"/>
            <a:ext cx="1219200" cy="12954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  <p:sp>
        <p:nvSpPr>
          <p:cNvPr id="226" name="Shape 226"/>
          <p:cNvSpPr txBox="1">
            <a:spLocks noGrp="1"/>
          </p:cNvSpPr>
          <p:nvPr>
            <p:ph type="title"/>
          </p:nvPr>
        </p:nvSpPr>
        <p:spPr>
          <a:xfrm>
            <a:off x="609600" y="-171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 sz="4400" b="0" i="0" u="none" strike="noStrike" cap="none" baseline="0">
                <a:solidFill>
                  <a:srgbClr val="137B33"/>
                </a:solidFill>
                <a:latin typeface="Tahoma"/>
                <a:ea typeface="Tahoma"/>
                <a:cs typeface="Tahoma"/>
                <a:sym typeface="Tahoma"/>
              </a:rPr>
              <a:t>Doença do Trabalho</a:t>
            </a:r>
          </a:p>
        </p:txBody>
      </p:sp>
      <p:sp>
        <p:nvSpPr>
          <p:cNvPr id="231" name="Shape 231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19049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/>
              <a:t> </a:t>
            </a:r>
          </a:p>
        </p:txBody>
      </p:sp>
      <p:sp>
        <p:nvSpPr>
          <p:cNvPr id="227" name="Shape 227"/>
          <p:cNvSpPr txBox="1">
            <a:spLocks noGrp="1"/>
          </p:cNvSpPr>
          <p:nvPr>
            <p:ph type="body" idx="1"/>
          </p:nvPr>
        </p:nvSpPr>
        <p:spPr>
          <a:xfrm>
            <a:off x="107504" y="692696"/>
            <a:ext cx="8928992" cy="6592534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ct val="100574"/>
              <a:buFont typeface="Arial"/>
              <a:buChar char="•"/>
            </a:pPr>
            <a:r>
              <a:rPr lang="x-none" sz="2900" b="0" i="0" u="none" strike="noStrike" cap="none" baseline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A doença do trabalho diferencia-se da doença profissional em vários pontos. Ela resulta de condições especiais em que o trabalho é exercido e com ele relaciona-se diretamente</a:t>
            </a:r>
            <a:r>
              <a:rPr lang="x-none" sz="2900" b="0" i="0" u="none" strike="noStrike" cap="none" baseline="0" smtClean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lang="pt-BR" sz="2900" b="0" i="0" u="none" strike="noStrike" cap="none" baseline="0" dirty="0" smtClean="0">
              <a:solidFill>
                <a:schemeClr val="accent2">
                  <a:lumMod val="10000"/>
                </a:schemeClr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ct val="100574"/>
              <a:buFont typeface="Arial"/>
              <a:buChar char="•"/>
            </a:pPr>
            <a:endParaRPr lang="x-none" sz="2900" b="0" i="0" u="none" strike="noStrike" cap="none" baseline="0">
              <a:solidFill>
                <a:schemeClr val="accent2">
                  <a:lumMod val="10000"/>
                </a:schemeClr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ct val="100574"/>
              <a:buFont typeface="Arial"/>
              <a:buChar char="•"/>
            </a:pPr>
            <a:r>
              <a:rPr lang="x-none" sz="2900" b="0" i="0" u="none" strike="noStrike" cap="none" baseline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Sendo uma doença genérica (que acomete qualquer pessoa), exige a comprovação do nexo causal, ou seja, o trabalhador deverá comprovar haver adquirido a doença no exercício do trabalho</a:t>
            </a:r>
            <a:r>
              <a:rPr lang="x-none" sz="2900" b="0" i="0" u="none" strike="noStrike" cap="none" baseline="0" smtClean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lang="pt-BR" sz="2900" b="0" i="0" u="none" strike="noStrike" cap="none" baseline="0" dirty="0" smtClean="0">
              <a:solidFill>
                <a:schemeClr val="accent2">
                  <a:lumMod val="10000"/>
                </a:schemeClr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ct val="100574"/>
              <a:buFont typeface="Arial"/>
              <a:buChar char="•"/>
            </a:pPr>
            <a:endParaRPr lang="x-none" sz="2900" b="0" i="0" u="none" strike="noStrike" cap="none" baseline="0">
              <a:solidFill>
                <a:schemeClr val="accent2">
                  <a:lumMod val="10000"/>
                </a:schemeClr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ct val="100574"/>
              <a:buFont typeface="Arial"/>
              <a:buChar char="•"/>
            </a:pPr>
            <a:r>
              <a:rPr lang="x-none" sz="2900" b="0" i="0" u="none" strike="noStrike" cap="none" baseline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Exemplo: A tuberculose poderá ser “doença do trabalho” com relação àquele segurado que comprovar tê-la adquirido no exercício do trabalho em uma câmara frigorífica.</a:t>
            </a:r>
          </a:p>
          <a:p>
            <a:endParaRPr dirty="0">
              <a:solidFill>
                <a:schemeClr val="accent2">
                  <a:lumMod val="10000"/>
                </a:schemeClr>
              </a:solidFill>
            </a:endParaRP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7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Shape 240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19049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/>
              <a:t> </a:t>
            </a:r>
          </a:p>
        </p:txBody>
      </p:sp>
      <p:pic>
        <p:nvPicPr>
          <p:cNvPr id="3074" name="Picture 2" descr="F:\Imagens\INSS-e-Previdência-Social-para-que-servem-2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52536" y="1"/>
            <a:ext cx="10477013" cy="69573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7" name="Shape 237"/>
          <p:cNvSpPr txBox="1">
            <a:spLocks noGrp="1"/>
          </p:cNvSpPr>
          <p:nvPr>
            <p:ph type="body" idx="1"/>
          </p:nvPr>
        </p:nvSpPr>
        <p:spPr>
          <a:xfrm>
            <a:off x="323528" y="1196752"/>
            <a:ext cx="8917813" cy="64629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ct val="99537"/>
              <a:buFont typeface="Arial"/>
              <a:buChar char="•"/>
            </a:pPr>
            <a:r>
              <a:rPr lang="x-none" sz="3600" b="0" i="0" u="none" strike="noStrike" cap="none" baseline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Conhecendo os direitos previdenciários</a:t>
            </a:r>
          </a:p>
        </p:txBody>
      </p:sp>
      <p:sp>
        <p:nvSpPr>
          <p:cNvPr id="238" name="Shape 238"/>
          <p:cNvSpPr/>
          <p:nvPr/>
        </p:nvSpPr>
        <p:spPr>
          <a:xfrm>
            <a:off x="-187606" y="2060848"/>
            <a:ext cx="8917814" cy="64629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 sz="3600" b="0" i="0" u="none" strike="noStrike" cap="none" baseline="0">
                <a:solidFill>
                  <a:srgbClr val="8C7D0E"/>
                </a:solidFill>
                <a:latin typeface="Tahoma"/>
                <a:ea typeface="Tahoma"/>
                <a:cs typeface="Tahoma"/>
                <a:sym typeface="Tahoma"/>
              </a:rPr>
              <a:t>-Aposentadorias </a:t>
            </a:r>
          </a:p>
        </p:txBody>
      </p:sp>
      <p:sp>
        <p:nvSpPr>
          <p:cNvPr id="236" name="Shape 236"/>
          <p:cNvSpPr txBox="1">
            <a:spLocks noGrp="1"/>
          </p:cNvSpPr>
          <p:nvPr>
            <p:ph type="title"/>
          </p:nvPr>
        </p:nvSpPr>
        <p:spPr>
          <a:xfrm>
            <a:off x="-31329" y="0"/>
            <a:ext cx="3379193" cy="769401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 sz="4400" b="0" i="1" u="none" strike="noStrike" cap="none" baseline="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Módulo III</a:t>
            </a:r>
          </a:p>
        </p:txBody>
      </p:sp>
      <p:sp>
        <p:nvSpPr>
          <p:cNvPr id="239" name="Shape 239"/>
          <p:cNvSpPr/>
          <p:nvPr/>
        </p:nvSpPr>
        <p:spPr>
          <a:xfrm>
            <a:off x="8316416" y="1"/>
            <a:ext cx="827584" cy="980728"/>
          </a:xfrm>
          <a:prstGeom prst="rect">
            <a:avLst/>
          </a:prstGeom>
          <a:blipFill>
            <a:blip r:embed="rId5"/>
            <a:stretch>
              <a:fillRect/>
            </a:stretch>
          </a:blipFill>
        </p:spPr>
      </p:sp>
      <p:sp>
        <p:nvSpPr>
          <p:cNvPr id="8" name="Shape 238"/>
          <p:cNvSpPr/>
          <p:nvPr/>
        </p:nvSpPr>
        <p:spPr>
          <a:xfrm>
            <a:off x="761165" y="3155551"/>
            <a:ext cx="8917814" cy="64629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 sz="3600" b="0" i="0" u="none" strike="noStrike" cap="none" baseline="0" smtClean="0">
                <a:solidFill>
                  <a:srgbClr val="8C7D0E"/>
                </a:solidFill>
                <a:latin typeface="Tahoma"/>
                <a:ea typeface="Tahoma"/>
                <a:cs typeface="Tahoma"/>
                <a:sym typeface="Tahoma"/>
              </a:rPr>
              <a:t>-Auxílios</a:t>
            </a:r>
            <a:endParaRPr lang="x-none" sz="3600" b="0" i="0" u="none" strike="noStrike" cap="none" baseline="0">
              <a:solidFill>
                <a:srgbClr val="8C7D0E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0" name="Shape 238"/>
          <p:cNvSpPr/>
          <p:nvPr/>
        </p:nvSpPr>
        <p:spPr>
          <a:xfrm>
            <a:off x="-25334" y="4366886"/>
            <a:ext cx="8917814" cy="64629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 sz="3600" b="0" i="0" u="none" strike="noStrike" cap="none" baseline="0" smtClean="0">
                <a:solidFill>
                  <a:srgbClr val="8C7D0E"/>
                </a:solidFill>
                <a:latin typeface="Tahoma"/>
                <a:ea typeface="Tahoma"/>
                <a:cs typeface="Tahoma"/>
                <a:sym typeface="Tahoma"/>
              </a:rPr>
              <a:t>-Pensões</a:t>
            </a:r>
            <a:endParaRPr lang="x-none" sz="3600" b="0" i="0" u="none" strike="noStrike" cap="none" baseline="0">
              <a:solidFill>
                <a:srgbClr val="8C7D0E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1" name="Shape 238"/>
          <p:cNvSpPr/>
          <p:nvPr/>
        </p:nvSpPr>
        <p:spPr>
          <a:xfrm>
            <a:off x="827584" y="5599077"/>
            <a:ext cx="8917814" cy="64629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 b="0" i="0" u="none" strike="noStrike" cap="none" baseline="0" dirty="0" smtClean="0">
                <a:solidFill>
                  <a:srgbClr val="8C7D0E"/>
                </a:solidFill>
                <a:latin typeface="Tahoma"/>
                <a:ea typeface="Tahoma"/>
                <a:cs typeface="Tahoma"/>
                <a:sym typeface="Tahoma"/>
              </a:rPr>
              <a:t>- </a:t>
            </a:r>
            <a:r>
              <a:rPr lang="x-none" sz="3600" b="0" i="0" u="none" strike="noStrike" cap="none" baseline="0" smtClean="0">
                <a:solidFill>
                  <a:srgbClr val="8C7D0E"/>
                </a:solidFill>
                <a:latin typeface="Tahoma"/>
                <a:ea typeface="Tahoma"/>
                <a:cs typeface="Tahoma"/>
                <a:sym typeface="Tahoma"/>
              </a:rPr>
              <a:t>Garantia </a:t>
            </a:r>
            <a:r>
              <a:rPr lang="x-none" sz="3600" b="0" i="0" u="none" strike="noStrike" cap="none" baseline="0">
                <a:solidFill>
                  <a:srgbClr val="8C7D0E"/>
                </a:solidFill>
                <a:latin typeface="Tahoma"/>
                <a:ea typeface="Tahoma"/>
                <a:cs typeface="Tahoma"/>
                <a:sym typeface="Tahoma"/>
              </a:rPr>
              <a:t>de Emprego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8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8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8" grpId="0" uiExpand="1" build="p" animBg="1"/>
      <p:bldP spid="8" grpId="0" uiExpand="1" build="p" animBg="1"/>
      <p:bldP spid="10" grpId="0" uiExpand="1" build="p" animBg="1"/>
      <p:bldP spid="11" grpId="0" uiExpand="1" build="p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Shape 240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19049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/>
              <a:t> </a:t>
            </a:r>
          </a:p>
        </p:txBody>
      </p:sp>
      <p:pic>
        <p:nvPicPr>
          <p:cNvPr id="3074" name="Picture 2" descr="F:\Imagens\INSS-e-Previdência-Social-para-que-servem-2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52536" y="1"/>
            <a:ext cx="10477013" cy="69573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7" name="Shape 237"/>
          <p:cNvSpPr txBox="1">
            <a:spLocks noGrp="1"/>
          </p:cNvSpPr>
          <p:nvPr>
            <p:ph type="body" idx="1"/>
          </p:nvPr>
        </p:nvSpPr>
        <p:spPr>
          <a:xfrm>
            <a:off x="323528" y="1196752"/>
            <a:ext cx="8917813" cy="64629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25" tIns="45700" rIns="91425" bIns="45700" anchor="t" anchorCtr="0">
            <a:spAutoFit/>
          </a:bodyPr>
          <a:lstStyle/>
          <a:p>
            <a:pPr lvl="0" indent="0">
              <a:spcBef>
                <a:spcPts val="720"/>
              </a:spcBef>
              <a:buSzPct val="59722"/>
              <a:buNone/>
            </a:pPr>
            <a:r>
              <a:rPr lang="x-none" sz="3600">
                <a:solidFill>
                  <a:srgbClr val="8C7D0E"/>
                </a:solidFill>
              </a:rPr>
              <a:t>Pensões:</a:t>
            </a:r>
          </a:p>
        </p:txBody>
      </p:sp>
      <p:sp>
        <p:nvSpPr>
          <p:cNvPr id="238" name="Shape 238"/>
          <p:cNvSpPr/>
          <p:nvPr/>
        </p:nvSpPr>
        <p:spPr>
          <a:xfrm>
            <a:off x="-187606" y="2060848"/>
            <a:ext cx="8917814" cy="64629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25" tIns="45700" rIns="91425" bIns="45700" anchor="t" anchorCtr="0">
            <a:spAutoFit/>
          </a:bodyPr>
          <a:lstStyle/>
          <a:p>
            <a:pPr lvl="0">
              <a:spcBef>
                <a:spcPts val="720"/>
              </a:spcBef>
              <a:buClr>
                <a:schemeClr val="dk1"/>
              </a:buClr>
              <a:buSzPct val="59722"/>
            </a:pPr>
            <a:r>
              <a:rPr lang="x-none" sz="3600">
                <a:latin typeface="Tahoma"/>
                <a:ea typeface="Tahoma"/>
                <a:cs typeface="Tahoma"/>
                <a:sym typeface="Tahoma"/>
              </a:rPr>
              <a:t>- Por morte </a:t>
            </a:r>
          </a:p>
        </p:txBody>
      </p:sp>
      <p:sp>
        <p:nvSpPr>
          <p:cNvPr id="239" name="Shape 239"/>
          <p:cNvSpPr/>
          <p:nvPr/>
        </p:nvSpPr>
        <p:spPr>
          <a:xfrm>
            <a:off x="8316416" y="1"/>
            <a:ext cx="827584" cy="980728"/>
          </a:xfrm>
          <a:prstGeom prst="rect">
            <a:avLst/>
          </a:prstGeom>
          <a:blipFill>
            <a:blip r:embed="rId5"/>
            <a:stretch>
              <a:fillRect/>
            </a:stretch>
          </a:blipFill>
        </p:spPr>
      </p:sp>
      <p:sp>
        <p:nvSpPr>
          <p:cNvPr id="8" name="Shape 238"/>
          <p:cNvSpPr/>
          <p:nvPr/>
        </p:nvSpPr>
        <p:spPr>
          <a:xfrm>
            <a:off x="761165" y="3155551"/>
            <a:ext cx="8917814" cy="64629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25" tIns="45700" rIns="91425" bIns="45700" anchor="t" anchorCtr="0">
            <a:spAutoFit/>
          </a:bodyPr>
          <a:lstStyle/>
          <a:p>
            <a:pPr lvl="0">
              <a:spcBef>
                <a:spcPts val="720"/>
              </a:spcBef>
              <a:buClr>
                <a:schemeClr val="dk1"/>
              </a:buClr>
              <a:buSzPct val="59722"/>
            </a:pPr>
            <a:r>
              <a:rPr lang="x-none" sz="3600">
                <a:latin typeface="Tahoma"/>
                <a:ea typeface="Tahoma"/>
                <a:cs typeface="Tahoma"/>
                <a:sym typeface="Tahoma"/>
              </a:rPr>
              <a:t>- Especial (Talidomida)</a:t>
            </a:r>
          </a:p>
        </p:txBody>
      </p:sp>
      <p:sp>
        <p:nvSpPr>
          <p:cNvPr id="10" name="Shape 238"/>
          <p:cNvSpPr/>
          <p:nvPr/>
        </p:nvSpPr>
        <p:spPr>
          <a:xfrm>
            <a:off x="-25334" y="4366886"/>
            <a:ext cx="8917814" cy="64629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25" tIns="45700" rIns="91425" bIns="45700" anchor="t" anchorCtr="0">
            <a:spAutoFit/>
          </a:bodyPr>
          <a:lstStyle/>
          <a:p>
            <a:pPr lvl="0">
              <a:spcBef>
                <a:spcPts val="720"/>
              </a:spcBef>
              <a:buClr>
                <a:schemeClr val="dk1"/>
              </a:buClr>
              <a:buSzPct val="59722"/>
            </a:pPr>
            <a:r>
              <a:rPr lang="x-none" sz="3600">
                <a:latin typeface="Tahoma"/>
                <a:ea typeface="Tahoma"/>
                <a:cs typeface="Tahoma"/>
                <a:sym typeface="Tahoma"/>
              </a:rPr>
              <a:t>- Salário-família</a:t>
            </a:r>
          </a:p>
        </p:txBody>
      </p:sp>
      <p:sp>
        <p:nvSpPr>
          <p:cNvPr id="11" name="Shape 238"/>
          <p:cNvSpPr/>
          <p:nvPr/>
        </p:nvSpPr>
        <p:spPr>
          <a:xfrm>
            <a:off x="827584" y="5599077"/>
            <a:ext cx="8917814" cy="64629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25" tIns="45700" rIns="91425" bIns="45700" anchor="t" anchorCtr="0">
            <a:spAutoFit/>
          </a:bodyPr>
          <a:lstStyle/>
          <a:p>
            <a:pPr lvl="0">
              <a:spcBef>
                <a:spcPts val="720"/>
              </a:spcBef>
              <a:buClr>
                <a:schemeClr val="dk1"/>
              </a:buClr>
              <a:buSzPct val="59722"/>
            </a:pPr>
            <a:r>
              <a:rPr lang="x-none" sz="3600">
                <a:latin typeface="Tahoma"/>
                <a:ea typeface="Tahoma"/>
                <a:cs typeface="Tahoma"/>
                <a:sym typeface="Tahoma"/>
              </a:rPr>
              <a:t>- Salário Maternidade</a:t>
            </a:r>
          </a:p>
        </p:txBody>
      </p:sp>
      <p:sp>
        <p:nvSpPr>
          <p:cNvPr id="12" name="Shape 236"/>
          <p:cNvSpPr txBox="1">
            <a:spLocks noGrp="1"/>
          </p:cNvSpPr>
          <p:nvPr>
            <p:ph type="title"/>
          </p:nvPr>
        </p:nvSpPr>
        <p:spPr>
          <a:xfrm>
            <a:off x="-31329" y="0"/>
            <a:ext cx="5395418" cy="769401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25" tIns="45700" rIns="91425" bIns="45700" anchor="t" anchorCtr="0">
            <a:spAutoFit/>
          </a:bodyPr>
          <a:lstStyle/>
          <a:p>
            <a:pPr lvl="0">
              <a:spcBef>
                <a:spcPts val="720"/>
              </a:spcBef>
            </a:pPr>
            <a:r>
              <a:rPr lang="x-none"/>
              <a:t> </a:t>
            </a:r>
            <a:r>
              <a:rPr lang="x-none">
                <a:solidFill>
                  <a:srgbClr val="137B33"/>
                </a:solidFill>
              </a:rPr>
              <a:t>Benefícios do </a:t>
            </a:r>
            <a:r>
              <a:rPr lang="x-none" smtClean="0">
                <a:solidFill>
                  <a:srgbClr val="137B33"/>
                </a:solidFill>
              </a:rPr>
              <a:t>INS</a:t>
            </a:r>
            <a:r>
              <a:rPr lang="pt-BR" dirty="0" smtClean="0">
                <a:solidFill>
                  <a:srgbClr val="137B33"/>
                </a:solidFill>
              </a:rPr>
              <a:t>S</a:t>
            </a:r>
            <a:endParaRPr lang="x-none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2901602"/>
      </p:ext>
    </p:extLst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8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8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8" grpId="0" build="p" animBg="1"/>
      <p:bldP spid="8" grpId="0" build="p" animBg="1"/>
      <p:bldP spid="10" grpId="0" build="p" animBg="1"/>
      <p:bldP spid="11" grpId="0" build="p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/>
          <p:cNvSpPr txBox="1">
            <a:spLocks noGrp="1"/>
          </p:cNvSpPr>
          <p:nvPr>
            <p:ph type="body" idx="1"/>
          </p:nvPr>
        </p:nvSpPr>
        <p:spPr>
          <a:xfrm>
            <a:off x="228600" y="1524000"/>
            <a:ext cx="8458200" cy="58473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Font typeface="Arial"/>
              <a:buChar char="•"/>
            </a:pPr>
            <a:r>
              <a:rPr lang="x-none" sz="3200" b="0" i="0" u="none" strike="noStrike" cap="none" baseline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Lei nº 8.213/91</a:t>
            </a:r>
            <a:r>
              <a:rPr lang="x-none" sz="3200" b="0" i="0" u="none" strike="noStrike" cap="none" baseline="0" smtClean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:</a:t>
            </a:r>
            <a:endParaRPr lang="x-none" sz="3200" b="0" i="0" u="none" strike="noStrike" cap="none" baseline="0">
              <a:solidFill>
                <a:schemeClr val="accent2">
                  <a:lumMod val="10000"/>
                </a:schemeClr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54" name="Shape 254"/>
          <p:cNvSpPr txBox="1">
            <a:spLocks noGrp="1"/>
          </p:cNvSpPr>
          <p:nvPr>
            <p:ph type="title"/>
          </p:nvPr>
        </p:nvSpPr>
        <p:spPr>
          <a:xfrm>
            <a:off x="685800" y="332656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 sz="4400" b="0" i="0" u="none" strike="noStrike" cap="none" baseline="0">
                <a:solidFill>
                  <a:srgbClr val="137B33"/>
                </a:solidFill>
                <a:latin typeface="Tahoma"/>
                <a:ea typeface="Tahoma"/>
                <a:cs typeface="Tahoma"/>
                <a:sym typeface="Tahoma"/>
              </a:rPr>
              <a:t>Garantia de emprego</a:t>
            </a:r>
          </a:p>
        </p:txBody>
      </p:sp>
      <p:sp>
        <p:nvSpPr>
          <p:cNvPr id="255" name="Shape 255"/>
          <p:cNvSpPr/>
          <p:nvPr/>
        </p:nvSpPr>
        <p:spPr>
          <a:xfrm>
            <a:off x="7902575" y="0"/>
            <a:ext cx="1241424" cy="1447799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  <p:sp>
        <p:nvSpPr>
          <p:cNvPr id="256" name="Shape 256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19049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/>
              <a:t> </a:t>
            </a:r>
          </a:p>
        </p:txBody>
      </p:sp>
      <p:sp>
        <p:nvSpPr>
          <p:cNvPr id="6" name="Shape 253"/>
          <p:cNvSpPr txBox="1">
            <a:spLocks/>
          </p:cNvSpPr>
          <p:nvPr/>
        </p:nvSpPr>
        <p:spPr>
          <a:xfrm>
            <a:off x="218256" y="2337882"/>
            <a:ext cx="8458200" cy="353939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spAutoFit/>
          </a:bodyPr>
          <a:lstStyle>
            <a:def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indent="1206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3200" b="0" i="0" u="none" strike="noStrike" cap="none" baseline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793750" marR="0" indent="-2286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Font typeface="Arial"/>
              <a:buChar char="•"/>
              <a:defRPr sz="28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143000" marR="0" indent="-136525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Font typeface="Arial"/>
              <a:buChar char="•"/>
              <a:defRPr sz="2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600200" marR="0" indent="-1524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/>
              <a:buChar char="•"/>
              <a:defRPr sz="20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057400" marR="0" indent="-1524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/>
              <a:buChar char="•"/>
              <a:defRPr sz="20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514600" marR="0" indent="-1079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3200" b="0" i="0" u="none" strike="noStrike" cap="none" baseline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2971800" marR="0" indent="-1079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3200" b="0" i="0" u="none" strike="noStrike" cap="none" baseline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3429000" marR="0" indent="-1079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3200" b="0" i="0" u="none" strike="noStrike" cap="none" baseline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3886200" marR="0" indent="-1079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3200" b="0" i="0" u="none" strike="noStrike" cap="none" baseline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algn="just">
              <a:buSzPct val="98958"/>
              <a:buNone/>
            </a:pPr>
            <a:r>
              <a:rPr lang="x-none" smtClean="0">
                <a:solidFill>
                  <a:schemeClr val="accent2">
                    <a:lumMod val="10000"/>
                  </a:schemeClr>
                </a:solidFill>
              </a:rPr>
              <a:t>"Art. 118 - O segurado que </a:t>
            </a:r>
            <a:r>
              <a:rPr lang="x-none" b="1" smtClean="0">
                <a:solidFill>
                  <a:schemeClr val="accent2">
                    <a:lumMod val="10000"/>
                  </a:schemeClr>
                </a:solidFill>
              </a:rPr>
              <a:t>sofreu acidente </a:t>
            </a:r>
            <a:r>
              <a:rPr lang="x-none" smtClean="0">
                <a:solidFill>
                  <a:schemeClr val="accent2">
                    <a:lumMod val="10000"/>
                  </a:schemeClr>
                </a:solidFill>
              </a:rPr>
              <a:t>do trabalho tem garantida, pelo prazo mínimo de </a:t>
            </a:r>
            <a:r>
              <a:rPr lang="x-none" b="1" smtClean="0">
                <a:solidFill>
                  <a:schemeClr val="accent2">
                    <a:lumMod val="10000"/>
                  </a:schemeClr>
                </a:solidFill>
              </a:rPr>
              <a:t>doze meses</a:t>
            </a:r>
            <a:r>
              <a:rPr lang="x-none" smtClean="0">
                <a:solidFill>
                  <a:schemeClr val="accent2">
                    <a:lumMod val="10000"/>
                  </a:schemeClr>
                </a:solidFill>
              </a:rPr>
              <a:t>, a manutenção do seu contrato de trabalho na empresa, após a cessação do auxílio-doença acidentário, independentemente de percepção de auxílio-acidente </a:t>
            </a:r>
            <a:endParaRPr lang="x-none">
              <a:solidFill>
                <a:schemeClr val="accent2">
                  <a:lumMod val="10000"/>
                </a:schemeClr>
              </a:solidFill>
            </a:endParaRP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Shape 261"/>
          <p:cNvSpPr txBox="1">
            <a:spLocks noGrp="1"/>
          </p:cNvSpPr>
          <p:nvPr>
            <p:ph type="title"/>
          </p:nvPr>
        </p:nvSpPr>
        <p:spPr>
          <a:xfrm>
            <a:off x="0" y="0"/>
            <a:ext cx="3886200" cy="99059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 sz="4400" b="0" i="1" u="none" strike="noStrike" cap="none" baseline="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Módulo IV</a:t>
            </a:r>
          </a:p>
        </p:txBody>
      </p:sp>
      <p:sp>
        <p:nvSpPr>
          <p:cNvPr id="262" name="Shape 262"/>
          <p:cNvSpPr txBox="1">
            <a:spLocks noGrp="1"/>
          </p:cNvSpPr>
          <p:nvPr>
            <p:ph type="body" idx="1"/>
          </p:nvPr>
        </p:nvSpPr>
        <p:spPr>
          <a:xfrm>
            <a:off x="685800" y="21336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Font typeface="Arial"/>
              <a:buChar char="•"/>
            </a:pPr>
            <a:r>
              <a:rPr lang="x-none" sz="3200" b="0" i="0" u="none" strike="noStrike" cap="none" baseline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</a:p>
        </p:txBody>
      </p:sp>
      <p:sp>
        <p:nvSpPr>
          <p:cNvPr id="263" name="Shape 263"/>
          <p:cNvSpPr/>
          <p:nvPr/>
        </p:nvSpPr>
        <p:spPr>
          <a:xfrm>
            <a:off x="208387" y="1857633"/>
            <a:ext cx="8381999" cy="473971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x-none" sz="3200" b="0" i="0" u="none" strike="noStrike" cap="none" baseline="0" smtClean="0">
                <a:solidFill>
                  <a:srgbClr val="008000"/>
                </a:solidFill>
                <a:latin typeface="Tahoma"/>
                <a:ea typeface="Tahoma"/>
                <a:cs typeface="Tahoma"/>
                <a:sym typeface="Tahoma"/>
              </a:rPr>
              <a:t>Conscientização </a:t>
            </a:r>
            <a:r>
              <a:rPr lang="x-none" sz="3200" b="0" i="0" u="none" strike="noStrike" cap="none" baseline="0">
                <a:solidFill>
                  <a:srgbClr val="008000"/>
                </a:solidFill>
                <a:latin typeface="Tahoma"/>
                <a:ea typeface="Tahoma"/>
                <a:cs typeface="Tahoma"/>
                <a:sym typeface="Tahoma"/>
              </a:rPr>
              <a:t>de </a:t>
            </a:r>
            <a:r>
              <a:rPr lang="x-none" sz="3200" b="0" i="0" u="none" strike="noStrike" cap="none" baseline="0" smtClean="0">
                <a:solidFill>
                  <a:srgbClr val="008000"/>
                </a:solidFill>
                <a:latin typeface="Tahoma"/>
                <a:ea typeface="Tahoma"/>
                <a:cs typeface="Tahoma"/>
                <a:sym typeface="Tahoma"/>
              </a:rPr>
              <a:t>segurança</a:t>
            </a:r>
            <a:endParaRPr lang="pt-BR" sz="3200" b="0" i="0" u="none" strike="noStrike" cap="none" baseline="0" dirty="0" smtClean="0">
              <a:solidFill>
                <a:srgbClr val="008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pt-BR" sz="3200" b="0" i="0" u="none" strike="noStrike" cap="none" baseline="0" dirty="0" smtClean="0">
              <a:solidFill>
                <a:srgbClr val="008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x-none" sz="3200" b="0" i="0" u="none" strike="noStrike" cap="none" baseline="0" smtClean="0">
                <a:solidFill>
                  <a:srgbClr val="008000"/>
                </a:solidFill>
                <a:latin typeface="Tahoma"/>
                <a:ea typeface="Tahoma"/>
                <a:cs typeface="Tahoma"/>
                <a:sym typeface="Tahoma"/>
              </a:rPr>
              <a:t>Causas </a:t>
            </a:r>
            <a:r>
              <a:rPr lang="x-none" sz="3200" b="0" i="0" u="none" strike="noStrike" cap="none" baseline="0">
                <a:solidFill>
                  <a:srgbClr val="008000"/>
                </a:solidFill>
                <a:latin typeface="Tahoma"/>
                <a:ea typeface="Tahoma"/>
                <a:cs typeface="Tahoma"/>
                <a:sym typeface="Tahoma"/>
              </a:rPr>
              <a:t>de Acidente de </a:t>
            </a:r>
            <a:r>
              <a:rPr lang="x-none" sz="3200" b="0" i="0" u="none" strike="noStrike" cap="none" baseline="0" smtClean="0">
                <a:solidFill>
                  <a:srgbClr val="008000"/>
                </a:solidFill>
                <a:latin typeface="Tahoma"/>
                <a:ea typeface="Tahoma"/>
                <a:cs typeface="Tahoma"/>
                <a:sym typeface="Tahoma"/>
              </a:rPr>
              <a:t>Trabalho</a:t>
            </a:r>
            <a:endParaRPr lang="pt-BR" sz="3200" b="0" i="0" u="none" strike="noStrike" cap="none" baseline="0" dirty="0" smtClean="0">
              <a:solidFill>
                <a:srgbClr val="008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x-none" sz="3200" b="0" i="0" u="none" strike="noStrike" cap="none" baseline="0">
              <a:solidFill>
                <a:srgbClr val="008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x-none" sz="3200" b="0" i="0" u="none" strike="noStrike" cap="none" baseline="0" smtClean="0">
                <a:solidFill>
                  <a:srgbClr val="008000"/>
                </a:solidFill>
                <a:latin typeface="Tahoma"/>
                <a:ea typeface="Tahoma"/>
                <a:cs typeface="Tahoma"/>
                <a:sym typeface="Tahoma"/>
              </a:rPr>
              <a:t>Estudo </a:t>
            </a:r>
            <a:r>
              <a:rPr lang="x-none" sz="3200" b="0" i="0" u="none" strike="noStrike" cap="none" baseline="0">
                <a:solidFill>
                  <a:srgbClr val="008000"/>
                </a:solidFill>
                <a:latin typeface="Tahoma"/>
                <a:ea typeface="Tahoma"/>
                <a:cs typeface="Tahoma"/>
                <a:sym typeface="Tahoma"/>
              </a:rPr>
              <a:t>de Ambiente de </a:t>
            </a:r>
            <a:r>
              <a:rPr lang="x-none" sz="3200" b="0" i="0" u="none" strike="noStrike" cap="none" baseline="0" smtClean="0">
                <a:solidFill>
                  <a:srgbClr val="008000"/>
                </a:solidFill>
                <a:latin typeface="Tahoma"/>
                <a:ea typeface="Tahoma"/>
                <a:cs typeface="Tahoma"/>
                <a:sym typeface="Tahoma"/>
              </a:rPr>
              <a:t>Trabalho</a:t>
            </a:r>
            <a:endParaRPr lang="pt-BR" sz="3200" b="0" i="0" u="none" strike="noStrike" cap="none" baseline="0" dirty="0" smtClean="0">
              <a:solidFill>
                <a:srgbClr val="008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x-none" sz="3200" b="0" i="0" u="none" strike="noStrike" cap="none" baseline="0">
              <a:solidFill>
                <a:srgbClr val="008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x-none" sz="3200" b="0" i="0" u="none" strike="noStrike" cap="none" baseline="0" smtClean="0">
                <a:solidFill>
                  <a:srgbClr val="137B33"/>
                </a:solidFill>
                <a:latin typeface="Tahoma"/>
                <a:ea typeface="Tahoma"/>
                <a:cs typeface="Tahoma"/>
                <a:sym typeface="Tahoma"/>
              </a:rPr>
              <a:t>EPI</a:t>
            </a:r>
            <a:r>
              <a:rPr lang="pt-BR" sz="3200" b="0" i="0" u="none" strike="noStrike" cap="none" baseline="0" dirty="0" smtClean="0">
                <a:solidFill>
                  <a:srgbClr val="137B33"/>
                </a:solidFill>
                <a:latin typeface="Tahoma"/>
                <a:ea typeface="Tahoma"/>
                <a:cs typeface="Tahoma"/>
                <a:sym typeface="Tahoma"/>
              </a:rPr>
              <a:t>, </a:t>
            </a:r>
            <a:r>
              <a:rPr lang="x-none" sz="3200" b="0" i="0" u="none" strike="noStrike" cap="none" baseline="0" smtClean="0">
                <a:solidFill>
                  <a:srgbClr val="137B33"/>
                </a:solidFill>
                <a:latin typeface="Tahoma"/>
                <a:ea typeface="Tahoma"/>
                <a:cs typeface="Tahoma"/>
                <a:sym typeface="Tahoma"/>
              </a:rPr>
              <a:t>EPC</a:t>
            </a:r>
            <a:endParaRPr lang="pt-BR" sz="3200" b="0" i="0" u="none" strike="noStrike" cap="none" baseline="0" dirty="0" smtClean="0">
              <a:solidFill>
                <a:srgbClr val="137B33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x-none" sz="3200" b="0" i="0" u="none" strike="noStrike" cap="none" baseline="0">
              <a:solidFill>
                <a:srgbClr val="137B33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 sz="3200" b="0" i="0" u="none" strike="noStrike" cap="none" baseline="0">
                <a:solidFill>
                  <a:srgbClr val="137B33"/>
                </a:solidFill>
                <a:latin typeface="Tahoma"/>
                <a:ea typeface="Tahoma"/>
                <a:cs typeface="Tahoma"/>
                <a:sym typeface="Tahoma"/>
              </a:rPr>
              <a:t>- Etapas de uma investigação de acidente</a:t>
            </a:r>
          </a:p>
          <a:p>
            <a:endParaRPr dirty="0"/>
          </a:p>
        </p:txBody>
      </p:sp>
      <p:sp>
        <p:nvSpPr>
          <p:cNvPr id="264" name="Shape 264"/>
          <p:cNvSpPr/>
          <p:nvPr/>
        </p:nvSpPr>
        <p:spPr>
          <a:xfrm>
            <a:off x="609600" y="938808"/>
            <a:ext cx="7010400" cy="7620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 sz="3600" b="0" i="0" u="none" strike="noStrike" cap="none" baseline="0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rPr>
              <a:t>Trabalhando a causa “acidente”</a:t>
            </a:r>
          </a:p>
        </p:txBody>
      </p:sp>
      <p:sp>
        <p:nvSpPr>
          <p:cNvPr id="265" name="Shape 265"/>
          <p:cNvSpPr/>
          <p:nvPr/>
        </p:nvSpPr>
        <p:spPr>
          <a:xfrm>
            <a:off x="8001000" y="0"/>
            <a:ext cx="1143000" cy="1447799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  <p:sp>
        <p:nvSpPr>
          <p:cNvPr id="266" name="Shape 266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19049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/>
              <a:t> 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Shape 271"/>
          <p:cNvSpPr txBox="1">
            <a:spLocks noGrp="1"/>
          </p:cNvSpPr>
          <p:nvPr>
            <p:ph type="title"/>
          </p:nvPr>
        </p:nvSpPr>
        <p:spPr>
          <a:xfrm>
            <a:off x="228600" y="7620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 sz="4000" b="0" i="0" u="none" strike="noStrike" cap="none" baseline="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Causas de acidentes de trabalho</a:t>
            </a:r>
          </a:p>
        </p:txBody>
      </p:sp>
      <p:sp>
        <p:nvSpPr>
          <p:cNvPr id="272" name="Shape 272"/>
          <p:cNvSpPr txBox="1">
            <a:spLocks noGrp="1"/>
          </p:cNvSpPr>
          <p:nvPr>
            <p:ph type="body" idx="1"/>
          </p:nvPr>
        </p:nvSpPr>
        <p:spPr>
          <a:xfrm>
            <a:off x="533400" y="20574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pPr marR="0" lvl="0" indent="0" algn="l" rtl="0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ct val="59722"/>
              <a:buFont typeface="Tahoma"/>
              <a:buNone/>
            </a:pPr>
            <a:r>
              <a:rPr lang="x-none" sz="3600" b="0" i="0" u="none" strike="noStrike" cap="none" baseline="0">
                <a:solidFill>
                  <a:srgbClr val="008000"/>
                </a:solidFill>
                <a:latin typeface="Tahoma"/>
                <a:ea typeface="Tahoma"/>
                <a:cs typeface="Tahoma"/>
                <a:sym typeface="Tahoma"/>
              </a:rPr>
              <a:t>* ATOS INSEGUROS</a:t>
            </a:r>
          </a:p>
          <a:p>
            <a:pPr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59375"/>
              <a:buFont typeface="Tahoma"/>
              <a:buNone/>
            </a:pPr>
            <a:r>
              <a:rPr lang="x-none" sz="3200" b="0" i="0" u="none" strike="noStrike" cap="none" baseline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São relacionados com falhas humanas.</a:t>
            </a:r>
          </a:p>
          <a:p>
            <a:endParaRPr dirty="0"/>
          </a:p>
          <a:p>
            <a:pPr marR="0" lvl="0" indent="0" algn="l" rtl="0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ct val="59722"/>
              <a:buFont typeface="Tahoma"/>
              <a:buNone/>
            </a:pPr>
            <a:r>
              <a:rPr lang="x-none" sz="3600" b="0" i="0" u="none" strike="noStrike" cap="none" baseline="0">
                <a:solidFill>
                  <a:srgbClr val="008000"/>
                </a:solidFill>
                <a:latin typeface="Tahoma"/>
                <a:ea typeface="Tahoma"/>
                <a:cs typeface="Tahoma"/>
                <a:sym typeface="Tahoma"/>
              </a:rPr>
              <a:t>* CONDIÇÕES INSEGURAS</a:t>
            </a:r>
          </a:p>
          <a:p>
            <a:pPr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59375"/>
              <a:buFont typeface="Tahoma"/>
              <a:buNone/>
            </a:pPr>
            <a:r>
              <a:rPr lang="x-none" sz="3200" b="0" i="0" u="none" strike="noStrike" cap="none" baseline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São relacionadas com as condições de trabalho.</a:t>
            </a:r>
          </a:p>
        </p:txBody>
      </p:sp>
      <p:sp>
        <p:nvSpPr>
          <p:cNvPr id="273" name="Shape 273"/>
          <p:cNvSpPr/>
          <p:nvPr/>
        </p:nvSpPr>
        <p:spPr>
          <a:xfrm>
            <a:off x="7967661" y="0"/>
            <a:ext cx="1176337" cy="1523999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  <p:sp>
        <p:nvSpPr>
          <p:cNvPr id="274" name="Shape 274"/>
          <p:cNvSpPr/>
          <p:nvPr/>
        </p:nvSpPr>
        <p:spPr>
          <a:xfrm>
            <a:off x="3048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spAutoFit/>
          </a:bodyPr>
          <a:lstStyle/>
          <a:p>
            <a:endParaRPr/>
          </a:p>
        </p:txBody>
      </p:sp>
      <p:sp>
        <p:nvSpPr>
          <p:cNvPr id="275" name="Shape 275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19049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/>
              <a:t> 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2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Shape 281"/>
          <p:cNvSpPr txBox="1">
            <a:spLocks noGrp="1"/>
          </p:cNvSpPr>
          <p:nvPr>
            <p:ph type="title"/>
          </p:nvPr>
        </p:nvSpPr>
        <p:spPr>
          <a:xfrm>
            <a:off x="3810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 sz="4000" b="0" i="0" u="none" strike="noStrike" cap="none" baseline="0">
                <a:solidFill>
                  <a:srgbClr val="137B33"/>
                </a:solidFill>
                <a:latin typeface="Tahoma"/>
                <a:ea typeface="Tahoma"/>
                <a:cs typeface="Tahoma"/>
                <a:sym typeface="Tahoma"/>
              </a:rPr>
              <a:t>Estudo do Ambiente de Trabalho</a:t>
            </a:r>
          </a:p>
        </p:txBody>
      </p:sp>
      <p:sp>
        <p:nvSpPr>
          <p:cNvPr id="282" name="Shape 282"/>
          <p:cNvSpPr txBox="1">
            <a:spLocks noGrp="1"/>
          </p:cNvSpPr>
          <p:nvPr>
            <p:ph type="body" idx="1"/>
          </p:nvPr>
        </p:nvSpPr>
        <p:spPr>
          <a:xfrm>
            <a:off x="179512" y="1700808"/>
            <a:ext cx="8276456" cy="4895146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ct val="99537"/>
              <a:buFont typeface="Arial"/>
              <a:buChar char="•"/>
            </a:pPr>
            <a:r>
              <a:rPr lang="pt-BR" b="0" i="0" u="none" strike="noStrike" cap="none" baseline="0" dirty="0" smtClean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x-none" b="0" i="0" u="none" strike="noStrike" cap="none" baseline="0" smtClean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Queda </a:t>
            </a:r>
            <a:r>
              <a:rPr lang="x-none" b="0" i="0" u="none" strike="noStrike" cap="none" baseline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da plataforma</a:t>
            </a:r>
            <a:r>
              <a:rPr lang="x-none" b="0" i="0" u="none" strike="noStrike" cap="none" baseline="0" smtClean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;</a:t>
            </a:r>
            <a:endParaRPr lang="pt-BR" b="0" i="0" u="none" strike="noStrike" cap="none" baseline="0" dirty="0" smtClean="0">
              <a:solidFill>
                <a:schemeClr val="accent2">
                  <a:lumMod val="10000"/>
                </a:schemeClr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ct val="99537"/>
              <a:buFont typeface="Arial"/>
              <a:buChar char="•"/>
            </a:pPr>
            <a:endParaRPr lang="x-none" sz="700" b="0" i="0" u="none" strike="noStrike" cap="none" baseline="0">
              <a:solidFill>
                <a:schemeClr val="accent2">
                  <a:lumMod val="10000"/>
                </a:schemeClr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ct val="99537"/>
              <a:buFont typeface="Arial"/>
              <a:buChar char="•"/>
            </a:pPr>
            <a:r>
              <a:rPr lang="pt-BR" b="0" i="0" u="none" strike="noStrike" cap="none" baseline="0" dirty="0" smtClean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x-none" b="0" i="0" u="none" strike="noStrike" cap="none" baseline="0" smtClean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Queda </a:t>
            </a:r>
            <a:r>
              <a:rPr lang="x-none" b="0" i="0" u="none" strike="noStrike" cap="none" baseline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de pallet</a:t>
            </a:r>
            <a:r>
              <a:rPr lang="x-none" b="0" i="0" u="none" strike="noStrike" cap="none" baseline="0" smtClean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;</a:t>
            </a:r>
            <a:endParaRPr lang="pt-BR" b="0" i="0" u="none" strike="noStrike" cap="none" baseline="0" dirty="0" smtClean="0">
              <a:solidFill>
                <a:schemeClr val="accent2">
                  <a:lumMod val="10000"/>
                </a:schemeClr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ct val="99537"/>
              <a:buFont typeface="Arial"/>
              <a:buChar char="•"/>
            </a:pPr>
            <a:endParaRPr lang="x-none" sz="700" b="0" i="0" u="none" strike="noStrike" cap="none" baseline="0">
              <a:solidFill>
                <a:schemeClr val="accent2">
                  <a:lumMod val="10000"/>
                </a:schemeClr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ct val="99537"/>
              <a:buFont typeface="Arial"/>
              <a:buChar char="•"/>
            </a:pPr>
            <a:r>
              <a:rPr lang="pt-BR" b="0" i="0" u="none" strike="noStrike" cap="none" baseline="0" dirty="0" smtClean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x-none" b="0" i="0" u="none" strike="noStrike" cap="none" baseline="0" smtClean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Esforço </a:t>
            </a:r>
            <a:r>
              <a:rPr lang="x-none" b="0" i="0" u="none" strike="noStrike" cap="none" baseline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físico</a:t>
            </a:r>
            <a:r>
              <a:rPr lang="x-none" b="0" i="0" u="none" strike="noStrike" cap="none" baseline="0" smtClean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;</a:t>
            </a:r>
            <a:endParaRPr lang="pt-BR" b="0" i="0" u="none" strike="noStrike" cap="none" baseline="0" dirty="0" smtClean="0">
              <a:solidFill>
                <a:schemeClr val="accent2">
                  <a:lumMod val="10000"/>
                </a:schemeClr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ct val="99537"/>
              <a:buFont typeface="Arial"/>
              <a:buChar char="•"/>
            </a:pPr>
            <a:endParaRPr lang="x-none" sz="800" b="0" i="0" u="none" strike="noStrike" cap="none" baseline="0">
              <a:solidFill>
                <a:schemeClr val="accent2">
                  <a:lumMod val="10000"/>
                </a:schemeClr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ct val="99537"/>
              <a:buFont typeface="Arial"/>
              <a:buChar char="•"/>
            </a:pPr>
            <a:r>
              <a:rPr lang="pt-BR" b="0" i="0" u="none" strike="noStrike" cap="none" baseline="0" dirty="0" smtClean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x-none" b="0" i="0" u="none" strike="noStrike" cap="none" baseline="0" smtClean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Transporte </a:t>
            </a:r>
            <a:r>
              <a:rPr lang="x-none" b="0" i="0" u="none" strike="noStrike" cap="none" baseline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manual de carga</a:t>
            </a:r>
            <a:r>
              <a:rPr lang="x-none" b="0" i="0" u="none" strike="noStrike" cap="none" baseline="0" smtClean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;</a:t>
            </a:r>
            <a:endParaRPr lang="pt-BR" b="0" i="0" u="none" strike="noStrike" cap="none" baseline="0" dirty="0" smtClean="0">
              <a:solidFill>
                <a:schemeClr val="accent2">
                  <a:lumMod val="10000"/>
                </a:schemeClr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ct val="99537"/>
              <a:buFont typeface="Arial"/>
              <a:buChar char="•"/>
            </a:pPr>
            <a:endParaRPr lang="x-none" sz="600" b="0" i="0" u="none" strike="noStrike" cap="none" baseline="0">
              <a:solidFill>
                <a:schemeClr val="accent2">
                  <a:lumMod val="10000"/>
                </a:schemeClr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ct val="99537"/>
              <a:buFont typeface="Arial"/>
              <a:buChar char="•"/>
            </a:pPr>
            <a:r>
              <a:rPr lang="pt-BR" b="0" i="0" u="none" strike="noStrike" cap="none" baseline="0" dirty="0" smtClean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x-none" b="0" i="0" u="none" strike="noStrike" cap="none" baseline="0" smtClean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Produtos </a:t>
            </a:r>
            <a:r>
              <a:rPr lang="x-none" b="0" i="0" u="none" strike="noStrike" cap="none" baseline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químicos</a:t>
            </a:r>
            <a:r>
              <a:rPr lang="x-none" b="0" i="0" u="none" strike="noStrike" cap="none" baseline="0" smtClean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;</a:t>
            </a:r>
            <a:endParaRPr lang="pt-BR" b="0" i="0" u="none" strike="noStrike" cap="none" baseline="0" dirty="0" smtClean="0">
              <a:solidFill>
                <a:schemeClr val="accent2">
                  <a:lumMod val="10000"/>
                </a:schemeClr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ct val="99537"/>
              <a:buFont typeface="Arial"/>
              <a:buChar char="•"/>
            </a:pPr>
            <a:endParaRPr lang="x-none" sz="100" b="0" i="0" u="none" strike="noStrike" cap="none" baseline="0">
              <a:solidFill>
                <a:schemeClr val="accent2">
                  <a:lumMod val="10000"/>
                </a:schemeClr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ct val="99537"/>
              <a:buFont typeface="Arial"/>
              <a:buChar char="•"/>
            </a:pPr>
            <a:r>
              <a:rPr lang="pt-BR" b="0" i="0" u="none" strike="noStrike" cap="none" baseline="0" dirty="0" smtClean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x-none" b="0" i="0" u="none" strike="noStrike" cap="none" baseline="0" smtClean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Extintores;</a:t>
            </a:r>
            <a:endParaRPr lang="pt-BR" b="0" i="0" u="none" strike="noStrike" cap="none" baseline="0" dirty="0" smtClean="0">
              <a:solidFill>
                <a:schemeClr val="accent2">
                  <a:lumMod val="10000"/>
                </a:schemeClr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ct val="99537"/>
              <a:buFont typeface="Arial"/>
              <a:buChar char="•"/>
            </a:pPr>
            <a:endParaRPr lang="x-none" sz="400" b="0" i="0" u="none" strike="noStrike" cap="none" baseline="0">
              <a:solidFill>
                <a:schemeClr val="accent2">
                  <a:lumMod val="10000"/>
                </a:schemeClr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ct val="99537"/>
              <a:buFont typeface="Arial"/>
              <a:buChar char="•"/>
            </a:pPr>
            <a:r>
              <a:rPr lang="pt-BR" b="0" i="0" u="none" strike="noStrike" cap="none" baseline="0" dirty="0" smtClean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x-none" b="0" i="0" u="none" strike="noStrike" cap="none" baseline="0" smtClean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Sem comentários;</a:t>
            </a:r>
            <a:endParaRPr sz="2800" dirty="0">
              <a:solidFill>
                <a:schemeClr val="accent2">
                  <a:lumMod val="10000"/>
                </a:schemeClr>
              </a:solidFill>
            </a:endParaRPr>
          </a:p>
        </p:txBody>
      </p:sp>
      <p:sp>
        <p:nvSpPr>
          <p:cNvPr id="283" name="Shape 283"/>
          <p:cNvSpPr/>
          <p:nvPr/>
        </p:nvSpPr>
        <p:spPr>
          <a:xfrm>
            <a:off x="8091486" y="0"/>
            <a:ext cx="1052512" cy="12954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  <p:sp>
        <p:nvSpPr>
          <p:cNvPr id="284" name="Shape 284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19049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/>
              <a:t> 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8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8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8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8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8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8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2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Shape 289"/>
          <p:cNvSpPr txBox="1">
            <a:spLocks noGrp="1"/>
          </p:cNvSpPr>
          <p:nvPr>
            <p:ph type="body" idx="1"/>
          </p:nvPr>
        </p:nvSpPr>
        <p:spPr>
          <a:xfrm>
            <a:off x="685800" y="1600200"/>
            <a:ext cx="7848599" cy="386512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ct val="99537"/>
              <a:buFont typeface="Arial"/>
              <a:buChar char="•"/>
            </a:pPr>
            <a:r>
              <a:rPr lang="pt-BR" sz="3600" b="0" i="0" u="none" strike="noStrike" cap="none" baseline="0" dirty="0" smtClean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x-none" sz="3600" b="0" i="0" u="none" strike="noStrike" cap="none" baseline="0" smtClean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Homem </a:t>
            </a:r>
            <a:r>
              <a:rPr lang="x-none" sz="3600" b="0" i="0" u="none" strike="noStrike" cap="none" baseline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x máquina;</a:t>
            </a:r>
          </a:p>
          <a:p>
            <a:pPr marL="0" marR="0" lvl="0" indent="0" algn="l" rtl="0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ct val="99537"/>
              <a:buFont typeface="Arial"/>
              <a:buChar char="•"/>
            </a:pPr>
            <a:r>
              <a:rPr lang="pt-BR" sz="3600" b="0" i="0" u="none" strike="noStrike" cap="none" baseline="0" dirty="0" smtClean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x-none" sz="3600" b="0" i="0" u="none" strike="noStrike" cap="none" baseline="0" smtClean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Queda </a:t>
            </a:r>
            <a:r>
              <a:rPr lang="x-none" sz="3600" b="0" i="0" u="none" strike="noStrike" cap="none" baseline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de objetos;</a:t>
            </a:r>
          </a:p>
          <a:p>
            <a:pPr marL="0" marR="0" lvl="0" indent="0" algn="l" rtl="0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ct val="99537"/>
              <a:buFont typeface="Arial"/>
              <a:buChar char="•"/>
            </a:pPr>
            <a:r>
              <a:rPr lang="pt-BR" sz="3600" b="0" i="0" u="none" strike="noStrike" cap="none" baseline="0" dirty="0" smtClean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x-none" sz="3600" b="0" i="0" u="none" strike="noStrike" cap="none" baseline="0" smtClean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O </a:t>
            </a:r>
            <a:r>
              <a:rPr lang="x-none" sz="3600" b="0" i="0" u="none" strike="noStrike" cap="none" baseline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Improviso;</a:t>
            </a:r>
          </a:p>
          <a:p>
            <a:pPr marL="0" marR="0" lvl="0" indent="0" algn="l" rtl="0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ct val="99537"/>
              <a:buFont typeface="Arial"/>
              <a:buChar char="•"/>
            </a:pPr>
            <a:r>
              <a:rPr lang="pt-BR" sz="3600" b="0" i="0" u="none" strike="noStrike" cap="none" baseline="0" dirty="0" smtClean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x-none" sz="3600" b="0" i="0" u="none" strike="noStrike" cap="none" baseline="0" smtClean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Ruído</a:t>
            </a:r>
            <a:r>
              <a:rPr lang="x-none" sz="3600" b="0" i="0" u="none" strike="noStrike" cap="none" baseline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;</a:t>
            </a:r>
          </a:p>
          <a:p>
            <a:pPr marL="0" marR="0" lvl="0" indent="0" algn="l" rtl="0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ct val="99537"/>
              <a:buFont typeface="Arial"/>
              <a:buChar char="•"/>
            </a:pPr>
            <a:r>
              <a:rPr lang="pt-BR" sz="3600" b="0" i="0" u="none" strike="noStrike" cap="none" baseline="0" dirty="0" smtClean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x-none" sz="3600" b="0" i="0" u="none" strike="noStrike" cap="none" baseline="0" smtClean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EPI</a:t>
            </a:r>
            <a:r>
              <a:rPr lang="x-none" sz="3600" b="0" i="0" u="none" strike="noStrike" cap="none" baseline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;</a:t>
            </a:r>
          </a:p>
          <a:p>
            <a:pPr marL="0" marR="0" lvl="0" indent="0" algn="l" rtl="0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ct val="99537"/>
              <a:buFont typeface="Arial"/>
              <a:buChar char="•"/>
            </a:pPr>
            <a:r>
              <a:rPr lang="pt-BR" sz="3600" b="0" i="0" u="none" strike="noStrike" cap="none" baseline="0" dirty="0" smtClean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x-none" sz="3600" b="0" i="0" u="none" strike="noStrike" cap="none" baseline="0" smtClean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EPC</a:t>
            </a:r>
            <a:r>
              <a:rPr lang="x-none" sz="3600" b="0" i="0" u="none" strike="noStrike" cap="none" baseline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</a:p>
        </p:txBody>
      </p:sp>
      <p:sp>
        <p:nvSpPr>
          <p:cNvPr id="290" name="Shape 290"/>
          <p:cNvSpPr txBox="1">
            <a:spLocks noGrp="1"/>
          </p:cNvSpPr>
          <p:nvPr>
            <p:ph type="title"/>
          </p:nvPr>
        </p:nvSpPr>
        <p:spPr>
          <a:xfrm>
            <a:off x="381000" y="533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 sz="4000" b="0" i="0" u="none" strike="noStrike" cap="none" baseline="0">
                <a:solidFill>
                  <a:srgbClr val="137B33"/>
                </a:solidFill>
                <a:latin typeface="Tahoma"/>
                <a:ea typeface="Tahoma"/>
                <a:cs typeface="Tahoma"/>
                <a:sym typeface="Tahoma"/>
              </a:rPr>
              <a:t>Estudo do Ambiente de Trabalho</a:t>
            </a:r>
          </a:p>
        </p:txBody>
      </p:sp>
      <p:sp>
        <p:nvSpPr>
          <p:cNvPr id="291" name="Shape 291"/>
          <p:cNvSpPr/>
          <p:nvPr/>
        </p:nvSpPr>
        <p:spPr>
          <a:xfrm>
            <a:off x="8061325" y="0"/>
            <a:ext cx="1082674" cy="1371599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  <p:sp>
        <p:nvSpPr>
          <p:cNvPr id="292" name="Shape 292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19049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/>
              <a:t> 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Shape 297"/>
          <p:cNvSpPr txBox="1">
            <a:spLocks noGrp="1"/>
          </p:cNvSpPr>
          <p:nvPr>
            <p:ph type="title"/>
          </p:nvPr>
        </p:nvSpPr>
        <p:spPr>
          <a:xfrm>
            <a:off x="914400" y="990600"/>
            <a:ext cx="6629400" cy="83819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 sz="3200" b="0" i="0" u="none" strike="noStrike" cap="none" baseline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Cuidado com o nível do solo!</a:t>
            </a:r>
          </a:p>
        </p:txBody>
      </p:sp>
      <p:sp>
        <p:nvSpPr>
          <p:cNvPr id="298" name="Shape 298"/>
          <p:cNvSpPr/>
          <p:nvPr/>
        </p:nvSpPr>
        <p:spPr>
          <a:xfrm>
            <a:off x="8067675" y="0"/>
            <a:ext cx="1076324" cy="1523999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  <p:sp>
        <p:nvSpPr>
          <p:cNvPr id="299" name="Shape 299"/>
          <p:cNvSpPr/>
          <p:nvPr/>
        </p:nvSpPr>
        <p:spPr>
          <a:xfrm>
            <a:off x="6937375" y="3875087"/>
            <a:ext cx="2206624" cy="2982912"/>
          </a:xfrm>
          <a:prstGeom prst="rect">
            <a:avLst/>
          </a:prstGeom>
          <a:blipFill>
            <a:blip r:embed="rId5"/>
            <a:stretch>
              <a:fillRect/>
            </a:stretch>
          </a:blipFill>
        </p:spPr>
      </p:sp>
      <p:sp>
        <p:nvSpPr>
          <p:cNvPr id="300" name="Shape 300"/>
          <p:cNvSpPr/>
          <p:nvPr/>
        </p:nvSpPr>
        <p:spPr>
          <a:xfrm>
            <a:off x="381000" y="0"/>
            <a:ext cx="5105399" cy="9144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 sz="4000" b="0" i="0" u="none" strike="noStrike" cap="none" baseline="0">
                <a:solidFill>
                  <a:srgbClr val="137B33"/>
                </a:solidFill>
                <a:latin typeface="Tahoma"/>
                <a:ea typeface="Tahoma"/>
                <a:cs typeface="Tahoma"/>
                <a:sym typeface="Tahoma"/>
              </a:rPr>
              <a:t>Queda da Plataforma</a:t>
            </a:r>
          </a:p>
        </p:txBody>
      </p:sp>
      <p:sp>
        <p:nvSpPr>
          <p:cNvPr id="301" name="Shape 301"/>
          <p:cNvSpPr/>
          <p:nvPr/>
        </p:nvSpPr>
        <p:spPr>
          <a:xfrm>
            <a:off x="0" y="2737892"/>
            <a:ext cx="8153399" cy="267761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 sz="3200" b="0" i="0" u="none" strike="noStrike" cap="none" baseline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Muitos acidentes tem acontecido por causa de queda das plataformas. Quando estiver em cima da plataforma, preste muita atenção, tenha cuidado e não seja </a:t>
            </a:r>
            <a:br>
              <a:rPr lang="x-none" sz="3200" b="0" i="0" u="none" strike="noStrike" cap="none" baseline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x-none" sz="3200" b="0" i="0" u="none" strike="noStrike" cap="none" baseline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mais uma vítima.</a:t>
            </a:r>
            <a:r>
              <a:rPr lang="x-none" sz="3600" b="0" i="0" u="none" strike="noStrike" cap="none" baseline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</a:p>
        </p:txBody>
      </p:sp>
      <p:sp>
        <p:nvSpPr>
          <p:cNvPr id="302" name="Shape 302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19049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/>
              <a:t> 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Shape 307"/>
          <p:cNvSpPr txBox="1">
            <a:spLocks noGrp="1"/>
          </p:cNvSpPr>
          <p:nvPr>
            <p:ph type="title"/>
          </p:nvPr>
        </p:nvSpPr>
        <p:spPr>
          <a:xfrm>
            <a:off x="253999" y="76200"/>
            <a:ext cx="7772400" cy="6577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 sz="4400" b="0" i="0" u="none" strike="noStrike" cap="none" baseline="0">
                <a:solidFill>
                  <a:srgbClr val="137B33"/>
                </a:solidFill>
                <a:latin typeface="Tahoma"/>
                <a:ea typeface="Tahoma"/>
                <a:cs typeface="Tahoma"/>
                <a:sym typeface="Tahoma"/>
              </a:rPr>
              <a:t>Atenção na retirada de pallets</a:t>
            </a:r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 sz="3000"/>
              <a:t>Na hora de puxar pallete do monte fazer com muita atenção para evitar acidentes.</a:t>
            </a:r>
          </a:p>
          <a:p>
            <a:endParaRPr dirty="0"/>
          </a:p>
        </p:txBody>
      </p:sp>
      <p:sp>
        <p:nvSpPr>
          <p:cNvPr id="308" name="Shape 308"/>
          <p:cNvSpPr/>
          <p:nvPr/>
        </p:nvSpPr>
        <p:spPr>
          <a:xfrm>
            <a:off x="1831100" y="1043325"/>
            <a:ext cx="4068201" cy="3773897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  <p:sp>
        <p:nvSpPr>
          <p:cNvPr id="309" name="Shape 309"/>
          <p:cNvSpPr/>
          <p:nvPr/>
        </p:nvSpPr>
        <p:spPr>
          <a:xfrm>
            <a:off x="8153400" y="0"/>
            <a:ext cx="990599" cy="1295400"/>
          </a:xfrm>
          <a:prstGeom prst="rect">
            <a:avLst/>
          </a:prstGeom>
          <a:blipFill>
            <a:blip r:embed="rId5"/>
            <a:stretch>
              <a:fillRect/>
            </a:stretch>
          </a:blipFill>
        </p:spPr>
      </p:sp>
      <p:sp>
        <p:nvSpPr>
          <p:cNvPr id="310" name="Shape 310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19049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/>
              <a:t> 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Shape 315"/>
          <p:cNvSpPr txBox="1">
            <a:spLocks noGrp="1"/>
          </p:cNvSpPr>
          <p:nvPr>
            <p:ph type="title"/>
          </p:nvPr>
        </p:nvSpPr>
        <p:spPr>
          <a:xfrm>
            <a:off x="685800" y="7620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 sz="4400" b="0" i="0" u="none" strike="noStrike" cap="none" baseline="0">
                <a:solidFill>
                  <a:srgbClr val="137B33"/>
                </a:solidFill>
                <a:latin typeface="Tahoma"/>
                <a:ea typeface="Tahoma"/>
                <a:cs typeface="Tahoma"/>
                <a:sym typeface="Tahoma"/>
              </a:rPr>
              <a:t>Esforço Físico</a:t>
            </a:r>
            <a:r>
              <a:rPr lang="x-none" sz="4400" b="0" i="0" u="none" strike="noStrike" cap="none" baseline="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</a:p>
        </p:txBody>
      </p:sp>
      <p:sp>
        <p:nvSpPr>
          <p:cNvPr id="316" name="Shape 316"/>
          <p:cNvSpPr txBox="1">
            <a:spLocks noGrp="1"/>
          </p:cNvSpPr>
          <p:nvPr>
            <p:ph type="body" idx="1"/>
          </p:nvPr>
        </p:nvSpPr>
        <p:spPr>
          <a:xfrm>
            <a:off x="251520" y="2133600"/>
            <a:ext cx="8206680" cy="2256988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ct val="99537"/>
              <a:buFont typeface="Arial"/>
              <a:buChar char="•"/>
            </a:pPr>
            <a:r>
              <a:rPr lang="x-none" b="0" i="0" u="none" strike="noStrike" cap="none" baseline="0">
                <a:solidFill>
                  <a:schemeClr val="accent2">
                    <a:lumMod val="10000"/>
                  </a:schemeClr>
                </a:solidFill>
                <a:sym typeface="Tahoma"/>
              </a:rPr>
              <a:t> Respeite seus </a:t>
            </a:r>
            <a:r>
              <a:rPr lang="x-none" b="0" i="0" u="none" strike="noStrike" cap="none" baseline="0" smtClean="0">
                <a:solidFill>
                  <a:schemeClr val="accent2">
                    <a:lumMod val="10000"/>
                  </a:schemeClr>
                </a:solidFill>
                <a:sym typeface="Tahoma"/>
              </a:rPr>
              <a:t>limites</a:t>
            </a:r>
            <a:r>
              <a:rPr lang="pt-BR" b="0" i="0" u="none" strike="noStrike" cap="none" baseline="0" dirty="0" smtClean="0">
                <a:solidFill>
                  <a:schemeClr val="accent2">
                    <a:lumMod val="10000"/>
                  </a:schemeClr>
                </a:solidFill>
                <a:sym typeface="Tahoma"/>
              </a:rPr>
              <a:t>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ct val="99537"/>
              <a:buFont typeface="Arial"/>
              <a:buChar char="•"/>
            </a:pPr>
            <a:endParaRPr lang="x-none" b="0" i="0" u="none" strike="noStrike" cap="none" baseline="0">
              <a:solidFill>
                <a:schemeClr val="accent2">
                  <a:lumMod val="10000"/>
                </a:schemeClr>
              </a:solidFill>
              <a:sym typeface="Tahom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ct val="99537"/>
              <a:buFont typeface="Arial"/>
              <a:buChar char="•"/>
            </a:pPr>
            <a:r>
              <a:rPr lang="x-none">
                <a:solidFill>
                  <a:schemeClr val="accent2">
                    <a:lumMod val="10000"/>
                  </a:schemeClr>
                </a:solidFill>
              </a:rPr>
              <a:t> </a:t>
            </a:r>
            <a:r>
              <a:rPr lang="x-none" b="0" i="0" u="none" strike="noStrike" cap="none" baseline="0">
                <a:solidFill>
                  <a:schemeClr val="accent2">
                    <a:lumMod val="10000"/>
                  </a:schemeClr>
                </a:solidFill>
                <a:sym typeface="Tahoma"/>
              </a:rPr>
              <a:t>Se a carga estiver </a:t>
            </a:r>
            <a:r>
              <a:rPr lang="x-none" b="0" i="0" u="none" strike="noStrike" cap="none" baseline="0" smtClean="0">
                <a:solidFill>
                  <a:schemeClr val="accent2">
                    <a:lumMod val="10000"/>
                  </a:schemeClr>
                </a:solidFill>
                <a:sym typeface="Tahoma"/>
              </a:rPr>
              <a:t>pesada </a:t>
            </a:r>
            <a:r>
              <a:rPr lang="x-none" b="0" i="0" u="none" strike="noStrike" cap="none" baseline="0">
                <a:solidFill>
                  <a:schemeClr val="accent2">
                    <a:lumMod val="10000"/>
                  </a:schemeClr>
                </a:solidFill>
                <a:sym typeface="Tahoma"/>
              </a:rPr>
              <a:t>peça ajuda.</a:t>
            </a:r>
          </a:p>
          <a:p>
            <a:endParaRPr sz="2800" dirty="0">
              <a:solidFill>
                <a:schemeClr val="accent2">
                  <a:lumMod val="10000"/>
                </a:schemeClr>
              </a:solidFill>
            </a:endParaRPr>
          </a:p>
        </p:txBody>
      </p:sp>
      <p:sp>
        <p:nvSpPr>
          <p:cNvPr id="317" name="Shape 317"/>
          <p:cNvSpPr/>
          <p:nvPr/>
        </p:nvSpPr>
        <p:spPr>
          <a:xfrm>
            <a:off x="6553200" y="4038600"/>
            <a:ext cx="2133600" cy="23622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  <p:sp>
        <p:nvSpPr>
          <p:cNvPr id="318" name="Shape 318"/>
          <p:cNvSpPr/>
          <p:nvPr/>
        </p:nvSpPr>
        <p:spPr>
          <a:xfrm>
            <a:off x="8001000" y="0"/>
            <a:ext cx="1143000" cy="1447799"/>
          </a:xfrm>
          <a:prstGeom prst="rect">
            <a:avLst/>
          </a:prstGeom>
          <a:blipFill>
            <a:blip r:embed="rId5"/>
            <a:stretch>
              <a:fillRect/>
            </a:stretch>
          </a:blipFill>
        </p:spPr>
      </p:sp>
      <p:sp>
        <p:nvSpPr>
          <p:cNvPr id="319" name="Shape 319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19049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/>
              <a:t> 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6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Shape 324"/>
          <p:cNvSpPr txBox="1">
            <a:spLocks noGrp="1"/>
          </p:cNvSpPr>
          <p:nvPr>
            <p:ph type="title"/>
          </p:nvPr>
        </p:nvSpPr>
        <p:spPr>
          <a:xfrm>
            <a:off x="1115616" y="404664"/>
            <a:ext cx="6476999" cy="83819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 sz="3600" b="0" i="0" u="none" strike="noStrike" cap="none" baseline="0">
                <a:solidFill>
                  <a:srgbClr val="137B33"/>
                </a:solidFill>
                <a:latin typeface="Tahoma"/>
                <a:ea typeface="Tahoma"/>
                <a:cs typeface="Tahoma"/>
                <a:sym typeface="Tahoma"/>
              </a:rPr>
              <a:t>Transporte Manual de Cargas</a:t>
            </a:r>
          </a:p>
        </p:txBody>
      </p:sp>
      <p:sp>
        <p:nvSpPr>
          <p:cNvPr id="325" name="Shape 325"/>
          <p:cNvSpPr txBox="1">
            <a:spLocks noGrp="1"/>
          </p:cNvSpPr>
          <p:nvPr>
            <p:ph type="body" idx="1"/>
          </p:nvPr>
        </p:nvSpPr>
        <p:spPr>
          <a:xfrm>
            <a:off x="107504" y="1458030"/>
            <a:ext cx="8928992" cy="5093662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101190"/>
              <a:buFont typeface="Arial"/>
              <a:buChar char="•"/>
            </a:pPr>
            <a:r>
              <a:rPr lang="x-none" b="0" i="0" u="none" strike="noStrike" cap="none" baseline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O </a:t>
            </a:r>
            <a:r>
              <a:rPr lang="x-none" b="1" i="0" u="none" strike="noStrike" cap="none" baseline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transporte manual de cargas </a:t>
            </a:r>
            <a:r>
              <a:rPr lang="x-none" b="0" i="0" u="none" strike="noStrike" cap="none" baseline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é uma das formas de trabalho mais antigas e comuns, sendo </a:t>
            </a:r>
            <a:r>
              <a:rPr lang="x-none" b="1" i="0" u="none" strike="noStrike" cap="none" baseline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responsável por um grande número de lesões</a:t>
            </a:r>
            <a:r>
              <a:rPr lang="x-none" b="0" i="0" u="none" strike="noStrike" cap="none" baseline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 e acidentes do trabalho especialmente em transportadoras, estas lesões em sua grande maioria, </a:t>
            </a:r>
            <a:r>
              <a:rPr lang="x-none" b="1" i="0" u="none" strike="noStrike" cap="none" baseline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afetam a coluna vertebral</a:t>
            </a:r>
            <a:r>
              <a:rPr lang="x-none" b="0" i="0" u="none" strike="noStrike" cap="none" baseline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 mas também podem causar outros males como, por exemplo, a </a:t>
            </a:r>
            <a:r>
              <a:rPr lang="x-none" b="1" i="1" u="none" strike="noStrike" cap="none" baseline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hérnia escrotal</a:t>
            </a:r>
            <a:r>
              <a:rPr lang="x-none" b="0" i="0" u="none" strike="noStrike" cap="none" baseline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</a:p>
          <a:p>
            <a:pPr marL="0" marR="0" lvl="0" indent="0" algn="just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101190"/>
              <a:buFont typeface="Arial"/>
              <a:buChar char="•"/>
            </a:pPr>
            <a:r>
              <a:rPr lang="x-none" b="0" i="0" u="none" strike="noStrike" cap="none" baseline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Nesse texto vamos aprender a transportar uma carga de forma segura.</a:t>
            </a:r>
          </a:p>
        </p:txBody>
      </p:sp>
      <p:sp>
        <p:nvSpPr>
          <p:cNvPr id="326" name="Shape 326"/>
          <p:cNvSpPr/>
          <p:nvPr/>
        </p:nvSpPr>
        <p:spPr>
          <a:xfrm>
            <a:off x="8001000" y="0"/>
            <a:ext cx="1143000" cy="1447799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  <p:sp>
        <p:nvSpPr>
          <p:cNvPr id="327" name="Shape 327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19049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/>
              <a:t> 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Shape 333"/>
          <p:cNvSpPr txBox="1">
            <a:spLocks noGrp="1"/>
          </p:cNvSpPr>
          <p:nvPr>
            <p:ph type="body" idx="1"/>
          </p:nvPr>
        </p:nvSpPr>
        <p:spPr>
          <a:xfrm>
            <a:off x="107504" y="2895600"/>
            <a:ext cx="8856984" cy="3059259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R="0" lvl="0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59375"/>
              <a:buFontTx/>
              <a:buChar char="-"/>
            </a:pPr>
            <a:r>
              <a:rPr lang="x-none" sz="3200" b="0" i="0" u="none" strike="noStrike" cap="none" baseline="0" smtClean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Peso</a:t>
            </a:r>
            <a:r>
              <a:rPr lang="x-none" sz="3200" b="0" i="0" u="none" strike="noStrike" cap="none" baseline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, Forma, Volume, Tipo, Condições gerais</a:t>
            </a:r>
            <a:r>
              <a:rPr lang="x-none" sz="3200" b="0" i="0" u="none" strike="noStrike" cap="none" baseline="0" smtClean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;</a:t>
            </a:r>
            <a:endParaRPr lang="pt-BR" sz="3200" b="0" i="0" u="none" strike="noStrike" cap="none" baseline="0" dirty="0" smtClean="0">
              <a:solidFill>
                <a:schemeClr val="accent2">
                  <a:lumMod val="10000"/>
                </a:schemeClr>
              </a:solidFill>
              <a:latin typeface="Tahoma"/>
              <a:ea typeface="Tahoma"/>
              <a:cs typeface="Tahoma"/>
              <a:sym typeface="Tahoma"/>
            </a:endParaRPr>
          </a:p>
          <a:p>
            <a:pPr marR="0" lvl="0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59375"/>
              <a:buFontTx/>
              <a:buChar char="-"/>
            </a:pPr>
            <a:endParaRPr lang="x-none" sz="3200" b="0" i="0" u="none" strike="noStrike" cap="none" baseline="0">
              <a:solidFill>
                <a:schemeClr val="accent2">
                  <a:lumMod val="10000"/>
                </a:schemeClr>
              </a:solidFill>
              <a:latin typeface="Tahoma"/>
              <a:ea typeface="Tahoma"/>
              <a:cs typeface="Tahoma"/>
              <a:sym typeface="Tahoma"/>
            </a:endParaRPr>
          </a:p>
          <a:p>
            <a:pPr marR="0" lvl="0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59375"/>
              <a:buFontTx/>
              <a:buChar char="-"/>
            </a:pPr>
            <a:r>
              <a:rPr lang="x-none" sz="3200" b="0" i="0" u="none" strike="noStrike" cap="none" baseline="0" smtClean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Posicionar-se </a:t>
            </a:r>
            <a:r>
              <a:rPr lang="x-none" sz="3200" b="0" i="0" u="none" strike="noStrike" cap="none" baseline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sempre próximo a carga</a:t>
            </a:r>
            <a:r>
              <a:rPr lang="x-none" sz="3200" b="0" i="0" u="none" strike="noStrike" cap="none" baseline="0" smtClean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;</a:t>
            </a:r>
            <a:endParaRPr lang="pt-BR" sz="3200" b="0" i="0" u="none" strike="noStrike" cap="none" baseline="0" dirty="0" smtClean="0">
              <a:solidFill>
                <a:schemeClr val="accent2">
                  <a:lumMod val="10000"/>
                </a:schemeClr>
              </a:solidFill>
              <a:latin typeface="Tahoma"/>
              <a:ea typeface="Tahoma"/>
              <a:cs typeface="Tahoma"/>
              <a:sym typeface="Tahoma"/>
            </a:endParaRPr>
          </a:p>
          <a:p>
            <a:pPr marR="0" lvl="0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59375"/>
              <a:buFontTx/>
              <a:buChar char="-"/>
            </a:pPr>
            <a:endParaRPr lang="x-none" sz="3200" b="0" i="0" u="none" strike="noStrike" cap="none" baseline="0">
              <a:solidFill>
                <a:schemeClr val="accent2">
                  <a:lumMod val="10000"/>
                </a:schemeClr>
              </a:solidFill>
              <a:latin typeface="Tahoma"/>
              <a:ea typeface="Tahoma"/>
              <a:cs typeface="Tahoma"/>
              <a:sym typeface="Tahoma"/>
            </a:endParaRPr>
          </a:p>
          <a:p>
            <a:pPr marR="0" lvl="0" indent="0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59375"/>
              <a:buFont typeface="Tahoma"/>
              <a:buNone/>
            </a:pPr>
            <a:r>
              <a:rPr lang="x-none" sz="3200" b="0" i="0" u="none" strike="noStrike" cap="none" baseline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- Não torcer o corpo para pegar ou movimentar cargas;</a:t>
            </a:r>
          </a:p>
        </p:txBody>
      </p:sp>
      <p:sp>
        <p:nvSpPr>
          <p:cNvPr id="334" name="Shape 334"/>
          <p:cNvSpPr/>
          <p:nvPr/>
        </p:nvSpPr>
        <p:spPr>
          <a:xfrm>
            <a:off x="8001000" y="0"/>
            <a:ext cx="1143000" cy="1447799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  <p:sp>
        <p:nvSpPr>
          <p:cNvPr id="335" name="Shape 335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19049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/>
              <a:t> </a:t>
            </a:r>
          </a:p>
        </p:txBody>
      </p:sp>
      <p:sp>
        <p:nvSpPr>
          <p:cNvPr id="332" name="Shape 332"/>
          <p:cNvSpPr txBox="1">
            <a:spLocks noGrp="1"/>
          </p:cNvSpPr>
          <p:nvPr>
            <p:ph type="title"/>
          </p:nvPr>
        </p:nvSpPr>
        <p:spPr>
          <a:xfrm>
            <a:off x="74240" y="188640"/>
            <a:ext cx="8458200" cy="156962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 sz="3200" b="0" i="0" u="none" strike="noStrike" cap="none" baseline="0">
                <a:solidFill>
                  <a:srgbClr val="137B33"/>
                </a:solidFill>
                <a:latin typeface="Tahoma"/>
                <a:ea typeface="Tahoma"/>
                <a:cs typeface="Tahoma"/>
                <a:sym typeface="Tahoma"/>
              </a:rPr>
              <a:t>Nunca esqueça </a:t>
            </a:r>
            <a:r>
              <a:rPr lang="x-none" sz="3200">
                <a:solidFill>
                  <a:srgbClr val="137B33"/>
                </a:solidFill>
              </a:rPr>
              <a:t>do valor que tem uma coluna </a:t>
            </a:r>
            <a:r>
              <a:rPr lang="pt-BR" sz="3200" dirty="0" smtClean="0">
                <a:solidFill>
                  <a:srgbClr val="137B33"/>
                </a:solidFill>
              </a:rPr>
              <a:t>saudável</a:t>
            </a:r>
            <a:r>
              <a:rPr lang="x-none" sz="3200" smtClean="0">
                <a:solidFill>
                  <a:srgbClr val="137B33"/>
                </a:solidFill>
              </a:rPr>
              <a:t> </a:t>
            </a:r>
            <a:r>
              <a:rPr lang="x-none" sz="3200" b="0" i="0" u="none" strike="noStrike" cap="none" baseline="0">
                <a:solidFill>
                  <a:srgbClr val="137B33"/>
                </a:solidFill>
                <a:latin typeface="Tahoma"/>
                <a:ea typeface="Tahoma"/>
                <a:cs typeface="Tahoma"/>
                <a:sym typeface="Tahoma"/>
              </a:rPr>
              <a:t>sendo assim, ao levantar cargas</a:t>
            </a:r>
            <a:r>
              <a:rPr lang="x-none" sz="3200">
                <a:solidFill>
                  <a:srgbClr val="137B33"/>
                </a:solidFill>
              </a:rPr>
              <a:t> </a:t>
            </a:r>
            <a:r>
              <a:rPr lang="x-none" sz="3200" b="0" i="0" u="none" strike="noStrike" cap="none" baseline="0">
                <a:solidFill>
                  <a:srgbClr val="137B33"/>
                </a:solidFill>
                <a:latin typeface="Tahoma"/>
                <a:ea typeface="Tahoma"/>
                <a:cs typeface="Tahoma"/>
                <a:sym typeface="Tahoma"/>
              </a:rPr>
              <a:t>observe: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3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Shape 340"/>
          <p:cNvSpPr txBox="1">
            <a:spLocks noGrp="1"/>
          </p:cNvSpPr>
          <p:nvPr>
            <p:ph type="body" idx="1"/>
          </p:nvPr>
        </p:nvSpPr>
        <p:spPr>
          <a:xfrm>
            <a:off x="228600" y="762000"/>
            <a:ext cx="8087816" cy="5324494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Font typeface="Arial"/>
              <a:buChar char="•"/>
            </a:pPr>
            <a:r>
              <a:rPr lang="x-none" sz="3200" b="0" i="0" u="none" strike="noStrike" cap="none" baseline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Usar sempre a musculatura das pernas para erguer a carga, os pés levemente separados e o corpo equilibrado</a:t>
            </a:r>
            <a:r>
              <a:rPr lang="x-none" sz="3200" b="0" i="0" u="none" strike="noStrike" cap="none" baseline="0" smtClean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;</a:t>
            </a:r>
            <a:endParaRPr lang="pt-BR" sz="3200" b="0" i="0" u="none" strike="noStrike" cap="none" baseline="0" dirty="0" smtClean="0">
              <a:solidFill>
                <a:schemeClr val="accent2">
                  <a:lumMod val="10000"/>
                </a:schemeClr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Font typeface="Arial"/>
              <a:buChar char="•"/>
            </a:pPr>
            <a:endParaRPr lang="x-none" sz="3200" b="0" i="0" u="none" strike="noStrike" cap="none" baseline="0">
              <a:solidFill>
                <a:schemeClr val="accent2">
                  <a:lumMod val="10000"/>
                </a:schemeClr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Font typeface="Arial"/>
              <a:buChar char="•"/>
            </a:pPr>
            <a:r>
              <a:rPr lang="x-none" sz="3200" b="0" i="0" u="none" strike="noStrike" cap="none" baseline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Mantenha a carga sempre que possível perto do corpo</a:t>
            </a:r>
            <a:r>
              <a:rPr lang="x-none" sz="3200" b="0" i="0" u="none" strike="noStrike" cap="none" baseline="0" smtClean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;</a:t>
            </a:r>
            <a:endParaRPr lang="pt-BR" sz="3200" b="0" i="0" u="none" strike="noStrike" cap="none" baseline="0" dirty="0" smtClean="0">
              <a:solidFill>
                <a:schemeClr val="accent2">
                  <a:lumMod val="10000"/>
                </a:schemeClr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Font typeface="Arial"/>
              <a:buChar char="•"/>
            </a:pPr>
            <a:endParaRPr lang="x-none" sz="3200" b="0" i="0" u="none" strike="noStrike" cap="none" baseline="0">
              <a:solidFill>
                <a:schemeClr val="accent2">
                  <a:lumMod val="10000"/>
                </a:schemeClr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Font typeface="Arial"/>
              <a:buChar char="•"/>
            </a:pPr>
            <a:r>
              <a:rPr lang="x-none" sz="3200" b="0" i="0" u="none" strike="noStrike" cap="none" baseline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Procurar segurar a carga com as duas mãos sempre que possível, centralizando a carga em relação às pernas;</a:t>
            </a:r>
          </a:p>
        </p:txBody>
      </p:sp>
      <p:sp>
        <p:nvSpPr>
          <p:cNvPr id="341" name="Shape 341"/>
          <p:cNvSpPr/>
          <p:nvPr/>
        </p:nvSpPr>
        <p:spPr>
          <a:xfrm>
            <a:off x="8001000" y="0"/>
            <a:ext cx="1143000" cy="1447799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  <p:sp>
        <p:nvSpPr>
          <p:cNvPr id="342" name="Shape 342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19049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/>
              <a:t> 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0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Shape 348"/>
          <p:cNvSpPr/>
          <p:nvPr/>
        </p:nvSpPr>
        <p:spPr>
          <a:xfrm>
            <a:off x="8001000" y="0"/>
            <a:ext cx="1143000" cy="1447799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  <p:sp>
        <p:nvSpPr>
          <p:cNvPr id="347" name="Shape 347"/>
          <p:cNvSpPr txBox="1">
            <a:spLocks noGrp="1"/>
          </p:cNvSpPr>
          <p:nvPr>
            <p:ph type="body" idx="1"/>
          </p:nvPr>
        </p:nvSpPr>
        <p:spPr>
          <a:xfrm>
            <a:off x="0" y="762000"/>
            <a:ext cx="9036496" cy="597082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Font typeface="Arial"/>
              <a:buChar char="•"/>
            </a:pPr>
            <a:r>
              <a:rPr lang="x-none" sz="3200" b="0" i="0" u="none" strike="noStrike" cap="none" baseline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Utilize as pernas como apoio e sustentação do movimento</a:t>
            </a:r>
            <a:r>
              <a:rPr lang="x-none" sz="3200" b="0" i="0" u="none" strike="noStrike" cap="none" baseline="0" smtClean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;</a:t>
            </a:r>
            <a:endParaRPr lang="pt-BR" sz="3200" b="0" i="0" u="none" strike="noStrike" cap="none" baseline="0" dirty="0" smtClean="0">
              <a:solidFill>
                <a:schemeClr val="accent2">
                  <a:lumMod val="10000"/>
                </a:schemeClr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Font typeface="Arial"/>
              <a:buChar char="•"/>
            </a:pPr>
            <a:endParaRPr lang="x-none" sz="3200" b="0" i="0" u="none" strike="noStrike" cap="none" baseline="0">
              <a:solidFill>
                <a:schemeClr val="accent2">
                  <a:lumMod val="10000"/>
                </a:schemeClr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Font typeface="Arial"/>
              <a:buChar char="•"/>
            </a:pPr>
            <a:r>
              <a:rPr lang="x-none" sz="3200" b="0" i="0" u="none" strike="noStrike" cap="none" baseline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O esforço é na coluna vertebral, para levantar peso mantenha a coluna na posição vertical</a:t>
            </a:r>
            <a:r>
              <a:rPr lang="x-none" sz="3200" b="0" i="0" u="none" strike="noStrike" cap="none" baseline="0" smtClean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;</a:t>
            </a:r>
            <a:endParaRPr lang="pt-BR" sz="3200" b="0" i="0" u="none" strike="noStrike" cap="none" baseline="0" dirty="0" smtClean="0">
              <a:solidFill>
                <a:schemeClr val="accent2">
                  <a:lumMod val="10000"/>
                </a:schemeClr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Font typeface="Arial"/>
              <a:buChar char="•"/>
            </a:pPr>
            <a:endParaRPr lang="x-none" sz="3200" b="0" i="0" u="none" strike="noStrike" cap="none" baseline="0">
              <a:solidFill>
                <a:schemeClr val="accent2">
                  <a:lumMod val="10000"/>
                </a:schemeClr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Font typeface="Arial"/>
              <a:buChar char="•"/>
            </a:pPr>
            <a:r>
              <a:rPr lang="x-none" sz="3200" b="0" i="0" u="none" strike="noStrike" cap="none" baseline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Observar quais Equipamentos de Proteção Individual que a carga exige</a:t>
            </a:r>
            <a:r>
              <a:rPr lang="x-none" sz="3200" b="0" i="0" u="none" strike="noStrike" cap="none" baseline="0" smtClean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;</a:t>
            </a:r>
            <a:endParaRPr lang="pt-BR" sz="3200" b="0" i="0" u="none" strike="noStrike" cap="none" baseline="0" dirty="0" smtClean="0">
              <a:solidFill>
                <a:schemeClr val="accent2">
                  <a:lumMod val="10000"/>
                </a:schemeClr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Font typeface="Arial"/>
              <a:buChar char="•"/>
            </a:pPr>
            <a:endParaRPr lang="x-none" sz="3200" b="0" i="0" u="none" strike="noStrike" cap="none" baseline="0">
              <a:solidFill>
                <a:schemeClr val="accent2">
                  <a:lumMod val="10000"/>
                </a:schemeClr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Font typeface="Arial"/>
              <a:buChar char="•"/>
            </a:pPr>
            <a:r>
              <a:rPr lang="x-none" sz="3200" b="0" i="0" u="none" strike="noStrike" cap="none" baseline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Ao manusear peças com rebarbas use luvas de raspa ou outra;</a:t>
            </a:r>
          </a:p>
        </p:txBody>
      </p:sp>
      <p:sp>
        <p:nvSpPr>
          <p:cNvPr id="349" name="Shape 349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19049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/>
              <a:t> 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7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Shape 354"/>
          <p:cNvSpPr txBox="1">
            <a:spLocks noGrp="1"/>
          </p:cNvSpPr>
          <p:nvPr>
            <p:ph type="body" idx="1"/>
          </p:nvPr>
        </p:nvSpPr>
        <p:spPr>
          <a:xfrm>
            <a:off x="156592" y="-59868"/>
            <a:ext cx="8807896" cy="3200836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Font typeface="Arial"/>
              <a:buChar char="•"/>
            </a:pPr>
            <a:r>
              <a:rPr lang="x-none" sz="3200" b="0" i="0" u="none" strike="noStrike" cap="none" baseline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Jamais tente transportar a carga  quando </a:t>
            </a:r>
            <a:r>
              <a:rPr lang="x-none" sz="3200" b="0" i="0" u="none" strike="noStrike" cap="none" baseline="0" smtClean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tiver </a:t>
            </a:r>
            <a:r>
              <a:rPr lang="x-none" sz="3200" b="0" i="0" u="none" strike="noStrike" cap="none" baseline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peso, tamanho ou forma a adversas</a:t>
            </a:r>
            <a:r>
              <a:rPr lang="x-none" sz="3200" b="0" i="0" u="none" strike="noStrike" cap="none" baseline="0" smtClean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;</a:t>
            </a:r>
            <a:endParaRPr lang="pt-BR" sz="3200" b="0" i="0" u="none" strike="noStrike" cap="none" baseline="0" dirty="0" smtClean="0">
              <a:solidFill>
                <a:schemeClr val="accent2">
                  <a:lumMod val="10000"/>
                </a:schemeClr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Font typeface="Arial"/>
              <a:buChar char="•"/>
            </a:pPr>
            <a:endParaRPr lang="x-none" sz="3200" b="0" i="0" u="none" strike="noStrike" cap="none" baseline="0">
              <a:solidFill>
                <a:schemeClr val="accent2">
                  <a:lumMod val="10000"/>
                </a:schemeClr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Font typeface="Arial"/>
              <a:buChar char="•"/>
            </a:pPr>
            <a:r>
              <a:rPr lang="x-none" sz="3200" b="0" i="0" u="none" strike="noStrike" cap="none" baseline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Lembre-se que outros colegas de trabalho, poderão auxiliá-lo quando necessário, não tenha vergonha se precisar peça ajuda;</a:t>
            </a:r>
          </a:p>
        </p:txBody>
      </p:sp>
      <p:sp>
        <p:nvSpPr>
          <p:cNvPr id="355" name="Shape 355"/>
          <p:cNvSpPr/>
          <p:nvPr/>
        </p:nvSpPr>
        <p:spPr>
          <a:xfrm>
            <a:off x="8014341" y="5410201"/>
            <a:ext cx="1143000" cy="1447799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  <p:sp>
        <p:nvSpPr>
          <p:cNvPr id="356" name="Shape 356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19049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/>
              <a:t> </a:t>
            </a:r>
          </a:p>
        </p:txBody>
      </p:sp>
      <p:pic>
        <p:nvPicPr>
          <p:cNvPr id="4098" name="Picture 2" descr="Image result for carregar peso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80" y="2996952"/>
            <a:ext cx="7432273" cy="3854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30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4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Shape 363"/>
          <p:cNvSpPr/>
          <p:nvPr/>
        </p:nvSpPr>
        <p:spPr>
          <a:xfrm>
            <a:off x="8001000" y="0"/>
            <a:ext cx="1143000" cy="1447799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  <p:sp>
        <p:nvSpPr>
          <p:cNvPr id="364" name="Shape 364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19049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/>
              <a:t> </a:t>
            </a:r>
          </a:p>
        </p:txBody>
      </p:sp>
      <p:pic>
        <p:nvPicPr>
          <p:cNvPr id="6146" name="Picture 2" descr="Image result for produto químico perigoso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264" y="188640"/>
            <a:ext cx="9185776" cy="6518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2" name="Shape 362"/>
          <p:cNvSpPr txBox="1">
            <a:spLocks noGrp="1"/>
          </p:cNvSpPr>
          <p:nvPr>
            <p:ph type="body" idx="1"/>
          </p:nvPr>
        </p:nvSpPr>
        <p:spPr>
          <a:xfrm>
            <a:off x="159132" y="1571348"/>
            <a:ext cx="8856984" cy="156962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Font typeface="Arial"/>
              <a:buChar char="•"/>
            </a:pPr>
            <a:r>
              <a:rPr lang="x-none" sz="3200" b="0" i="0" u="none" strike="noStrike" cap="none" baseline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  O </a:t>
            </a:r>
            <a:r>
              <a:rPr lang="pt-BR" sz="3200" b="0" i="0" u="none" strike="noStrike" cap="none" baseline="0" dirty="0" smtClean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ponto principal para</a:t>
            </a:r>
            <a:r>
              <a:rPr lang="x-none" sz="3200" b="0" i="0" u="none" strike="noStrike" cap="none" baseline="0" smtClean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x-none" sz="3200" b="0" i="0" u="none" strike="noStrike" cap="none" baseline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trabalhar </a:t>
            </a:r>
            <a:r>
              <a:rPr lang="x-none" sz="3200" b="0" i="0" u="none" strike="noStrike" cap="none" baseline="0" smtClean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com </a:t>
            </a:r>
            <a:r>
              <a:rPr lang="x-none" sz="3200" b="0" i="0" u="none" strike="noStrike" cap="none" baseline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produto químico de forma segura é conhecer o mal que ele pode causar</a:t>
            </a:r>
            <a:r>
              <a:rPr lang="x-none" sz="3200" b="0" i="0" u="none" strike="noStrike" cap="none" baseline="0" smtClean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lang="x-none" sz="3200" b="0" i="0" u="none" strike="noStrike" cap="none" baseline="0">
              <a:solidFill>
                <a:schemeClr val="accent2">
                  <a:lumMod val="10000"/>
                </a:schemeClr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61" name="Shape 361"/>
          <p:cNvSpPr txBox="1">
            <a:spLocks noGrp="1"/>
          </p:cNvSpPr>
          <p:nvPr>
            <p:ph type="title"/>
          </p:nvPr>
        </p:nvSpPr>
        <p:spPr>
          <a:xfrm>
            <a:off x="1445088" y="355343"/>
            <a:ext cx="5935224" cy="769401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 sz="4400" b="0" i="0" u="none" strike="noStrike" cap="none" baseline="0">
                <a:solidFill>
                  <a:srgbClr val="137B33"/>
                </a:solidFill>
                <a:latin typeface="Tahoma"/>
                <a:ea typeface="Tahoma"/>
                <a:cs typeface="Tahoma"/>
                <a:sym typeface="Tahoma"/>
              </a:rPr>
              <a:t>Produtos Químicos</a:t>
            </a:r>
          </a:p>
        </p:txBody>
      </p:sp>
      <p:sp>
        <p:nvSpPr>
          <p:cNvPr id="7" name="Shape 362"/>
          <p:cNvSpPr txBox="1">
            <a:spLocks/>
          </p:cNvSpPr>
          <p:nvPr/>
        </p:nvSpPr>
        <p:spPr>
          <a:xfrm>
            <a:off x="107504" y="3636353"/>
            <a:ext cx="8856984" cy="58473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25" tIns="45700" rIns="91425" bIns="45700" anchor="t" anchorCtr="0">
            <a:spAutoFit/>
          </a:bodyPr>
          <a:lstStyle>
            <a:def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indent="1206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3200" b="0" i="0" u="none" strike="noStrike" cap="none" baseline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793750" marR="0" indent="-2286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Font typeface="Arial"/>
              <a:buChar char="•"/>
              <a:defRPr sz="28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143000" marR="0" indent="-136525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Font typeface="Arial"/>
              <a:buChar char="•"/>
              <a:defRPr sz="2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600200" marR="0" indent="-1524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/>
              <a:buChar char="•"/>
              <a:defRPr sz="20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057400" marR="0" indent="-1524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/>
              <a:buChar char="•"/>
              <a:defRPr sz="20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514600" marR="0" indent="-1079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3200" b="0" i="0" u="none" strike="noStrike" cap="none" baseline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2971800" marR="0" indent="-1079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3200" b="0" i="0" u="none" strike="noStrike" cap="none" baseline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3429000" marR="0" indent="-1079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3200" b="0" i="0" u="none" strike="noStrike" cap="none" baseline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3886200" marR="0" indent="-1079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3200" b="0" i="0" u="none" strike="noStrike" cap="none" baseline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>
              <a:buSzPct val="59375"/>
              <a:buFont typeface="Tahoma"/>
              <a:buNone/>
            </a:pPr>
            <a:r>
              <a:rPr lang="pt-BR" dirty="0" smtClean="0">
                <a:solidFill>
                  <a:schemeClr val="accent2">
                    <a:lumMod val="10000"/>
                  </a:schemeClr>
                </a:solidFill>
              </a:rPr>
              <a:t>  - Usar os EPIs indicados.</a:t>
            </a:r>
            <a:endParaRPr lang="pt-BR" dirty="0">
              <a:solidFill>
                <a:schemeClr val="accent2">
                  <a:lumMod val="10000"/>
                </a:schemeClr>
              </a:solidFill>
            </a:endParaRPr>
          </a:p>
        </p:txBody>
      </p:sp>
      <p:sp>
        <p:nvSpPr>
          <p:cNvPr id="8" name="Shape 362"/>
          <p:cNvSpPr txBox="1">
            <a:spLocks/>
          </p:cNvSpPr>
          <p:nvPr/>
        </p:nvSpPr>
        <p:spPr>
          <a:xfrm>
            <a:off x="107504" y="4932497"/>
            <a:ext cx="8856984" cy="58473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25" tIns="45700" rIns="91425" bIns="45700" anchor="t" anchorCtr="0">
            <a:spAutoFit/>
          </a:bodyPr>
          <a:lstStyle>
            <a:def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indent="1206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3200" b="0" i="0" u="none" strike="noStrike" cap="none" baseline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793750" marR="0" indent="-2286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Font typeface="Arial"/>
              <a:buChar char="•"/>
              <a:defRPr sz="28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143000" marR="0" indent="-136525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Font typeface="Arial"/>
              <a:buChar char="•"/>
              <a:defRPr sz="2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600200" marR="0" indent="-1524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/>
              <a:buChar char="•"/>
              <a:defRPr sz="20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057400" marR="0" indent="-1524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/>
              <a:buChar char="•"/>
              <a:defRPr sz="20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514600" marR="0" indent="-1079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3200" b="0" i="0" u="none" strike="noStrike" cap="none" baseline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2971800" marR="0" indent="-1079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3200" b="0" i="0" u="none" strike="noStrike" cap="none" baseline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3429000" marR="0" indent="-1079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3200" b="0" i="0" u="none" strike="noStrike" cap="none" baseline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3886200" marR="0" indent="-1079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3200" b="0" i="0" u="none" strike="noStrike" cap="none" baseline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>
              <a:buSzPct val="59375"/>
              <a:buFont typeface="Tahoma"/>
              <a:buNone/>
            </a:pPr>
            <a:r>
              <a:rPr lang="pt-BR" dirty="0" smtClean="0">
                <a:solidFill>
                  <a:schemeClr val="accent2">
                    <a:lumMod val="10000"/>
                  </a:schemeClr>
                </a:solidFill>
              </a:rPr>
              <a:t>  - Colocar os químicos na área correta.</a:t>
            </a:r>
            <a:endParaRPr lang="pt-BR" dirty="0">
              <a:solidFill>
                <a:schemeClr val="accent2">
                  <a:lumMod val="10000"/>
                </a:schemeClr>
              </a:solidFill>
            </a:endParaRP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62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62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2" grpId="0" uiExpand="1" build="p" animBg="1"/>
      <p:bldP spid="361" grpId="0" animBg="1"/>
      <p:bldP spid="7" grpId="0" uiExpand="1" build="p" animBg="1"/>
      <p:bldP spid="8" grpId="0" uiExpand="1" build="p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Shape 369"/>
          <p:cNvSpPr txBox="1">
            <a:spLocks noGrp="1"/>
          </p:cNvSpPr>
          <p:nvPr>
            <p:ph type="body" idx="1"/>
          </p:nvPr>
        </p:nvSpPr>
        <p:spPr>
          <a:xfrm>
            <a:off x="107504" y="1447800"/>
            <a:ext cx="8856984" cy="327778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31944"/>
              <a:buFont typeface="Arial"/>
              <a:buChar char="•"/>
            </a:pPr>
            <a:r>
              <a:rPr lang="x-none" sz="2400" b="0" i="0" u="none" strike="noStrike" cap="none" baseline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x-none" sz="3200" b="0" i="1" u="sng" strike="noStrike" cap="none" baseline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Nunca</a:t>
            </a:r>
            <a:r>
              <a:rPr lang="x-none" sz="3200" b="0" i="1" u="none" strike="noStrike" cap="none" baseline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x-none" sz="3200" b="0" i="0" u="none" strike="noStrike" cap="none" baseline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obstruir, nem permitir que obstruam o acesso aos extintores e aos corredores de passagem de emergência</a:t>
            </a:r>
            <a:r>
              <a:rPr lang="x-none" sz="3200" b="0" i="0" u="none" strike="noStrike" cap="none" baseline="0" smtClean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lang="pt-BR" sz="3200" b="0" i="0" u="none" strike="noStrike" cap="none" baseline="0" dirty="0" smtClean="0">
              <a:solidFill>
                <a:schemeClr val="accent2">
                  <a:lumMod val="10000"/>
                </a:schemeClr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31944"/>
              <a:buFont typeface="Arial"/>
              <a:buChar char="•"/>
            </a:pPr>
            <a:endParaRPr lang="x-none" sz="3200" b="0" i="0" u="none" strike="noStrike" cap="none" baseline="0">
              <a:solidFill>
                <a:schemeClr val="accent2">
                  <a:lumMod val="10000"/>
                </a:schemeClr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Font typeface="Arial"/>
              <a:buChar char="•"/>
            </a:pPr>
            <a:r>
              <a:rPr lang="x-none" sz="3200" b="0" i="0" u="none" strike="noStrike" cap="none" baseline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 Não subestime o risco.</a:t>
            </a:r>
          </a:p>
          <a:p>
            <a:pPr algn="just"/>
            <a:endParaRPr dirty="0">
              <a:solidFill>
                <a:schemeClr val="accent2">
                  <a:lumMod val="10000"/>
                </a:schemeClr>
              </a:solidFill>
            </a:endParaRPr>
          </a:p>
        </p:txBody>
      </p:sp>
      <p:sp>
        <p:nvSpPr>
          <p:cNvPr id="370" name="Shape 370"/>
          <p:cNvSpPr/>
          <p:nvPr/>
        </p:nvSpPr>
        <p:spPr>
          <a:xfrm>
            <a:off x="914400" y="4631750"/>
            <a:ext cx="3225552" cy="1965602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  <p:sp>
        <p:nvSpPr>
          <p:cNvPr id="371" name="Shape 371"/>
          <p:cNvSpPr/>
          <p:nvPr/>
        </p:nvSpPr>
        <p:spPr>
          <a:xfrm>
            <a:off x="5763958" y="4519908"/>
            <a:ext cx="2173560" cy="2189285"/>
          </a:xfrm>
          <a:prstGeom prst="rect">
            <a:avLst/>
          </a:prstGeom>
          <a:blipFill>
            <a:blip r:embed="rId5"/>
            <a:stretch>
              <a:fillRect/>
            </a:stretch>
          </a:blipFill>
        </p:spPr>
      </p:sp>
      <p:sp>
        <p:nvSpPr>
          <p:cNvPr id="372" name="Shape 372"/>
          <p:cNvSpPr/>
          <p:nvPr/>
        </p:nvSpPr>
        <p:spPr>
          <a:xfrm>
            <a:off x="7972425" y="0"/>
            <a:ext cx="1171574" cy="1447799"/>
          </a:xfrm>
          <a:prstGeom prst="rect">
            <a:avLst/>
          </a:prstGeom>
          <a:blipFill>
            <a:blip r:embed="rId6"/>
            <a:stretch>
              <a:fillRect/>
            </a:stretch>
          </a:blipFill>
        </p:spPr>
      </p:sp>
      <p:sp>
        <p:nvSpPr>
          <p:cNvPr id="373" name="Shape 373"/>
          <p:cNvSpPr/>
          <p:nvPr/>
        </p:nvSpPr>
        <p:spPr>
          <a:xfrm>
            <a:off x="2209800" y="304800"/>
            <a:ext cx="3429000" cy="11430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 sz="4000" b="0" i="0" u="none" strike="noStrike" cap="none" baseline="0">
                <a:solidFill>
                  <a:srgbClr val="137B33"/>
                </a:solidFill>
                <a:latin typeface="Tahoma"/>
                <a:ea typeface="Tahoma"/>
                <a:cs typeface="Tahoma"/>
                <a:sym typeface="Tahoma"/>
              </a:rPr>
              <a:t>Extintores</a:t>
            </a:r>
          </a:p>
        </p:txBody>
      </p:sp>
      <p:sp>
        <p:nvSpPr>
          <p:cNvPr id="374" name="Shape 374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19049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/>
              <a:t> 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Shape 386"/>
          <p:cNvSpPr txBox="1">
            <a:spLocks noGrp="1"/>
          </p:cNvSpPr>
          <p:nvPr>
            <p:ph type="title"/>
          </p:nvPr>
        </p:nvSpPr>
        <p:spPr>
          <a:xfrm>
            <a:off x="685800" y="7620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 sz="4000" b="0" i="0" u="none" strike="noStrike" cap="none" baseline="0">
                <a:solidFill>
                  <a:srgbClr val="137B33"/>
                </a:solidFill>
                <a:latin typeface="Tahoma"/>
                <a:ea typeface="Tahoma"/>
                <a:cs typeface="Tahoma"/>
                <a:sym typeface="Tahoma"/>
              </a:rPr>
              <a:t>Queda de objetos</a:t>
            </a:r>
          </a:p>
        </p:txBody>
      </p:sp>
      <p:sp>
        <p:nvSpPr>
          <p:cNvPr id="387" name="Shape 387"/>
          <p:cNvSpPr txBox="1">
            <a:spLocks noGrp="1"/>
          </p:cNvSpPr>
          <p:nvPr>
            <p:ph type="body" idx="1"/>
          </p:nvPr>
        </p:nvSpPr>
        <p:spPr>
          <a:xfrm>
            <a:off x="251520" y="2133600"/>
            <a:ext cx="8784976" cy="3693278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R="0" lvl="0" algn="just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59375"/>
              <a:buFontTx/>
              <a:buChar char="-"/>
            </a:pPr>
            <a:r>
              <a:rPr lang="x-none" sz="3200" b="0" i="0" u="none" strike="noStrike" cap="none" baseline="0" smtClean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Quando </a:t>
            </a:r>
            <a:r>
              <a:rPr lang="x-none" sz="3200" b="0" i="0" u="none" strike="noStrike" cap="none" baseline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for abrir a porta do baú de um caminhão carregado, abra devagar, observando a carga com atenção, pois pode haver objetos soltos em cima dos palletes que cairão para o lado de fora</a:t>
            </a:r>
            <a:r>
              <a:rPr lang="x-none" sz="3200" b="0" i="0" u="none" strike="noStrike" cap="none" baseline="0" smtClean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,</a:t>
            </a:r>
            <a:endParaRPr lang="pt-BR" sz="3200" b="0" i="0" u="none" strike="noStrike" cap="none" baseline="0" dirty="0" smtClean="0">
              <a:solidFill>
                <a:schemeClr val="accent2">
                  <a:lumMod val="10000"/>
                </a:schemeClr>
              </a:solidFill>
              <a:latin typeface="Tahoma"/>
              <a:ea typeface="Tahoma"/>
              <a:cs typeface="Tahoma"/>
              <a:sym typeface="Tahoma"/>
            </a:endParaRPr>
          </a:p>
          <a:p>
            <a:pPr marR="0" lvl="0" indent="0" algn="just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59375"/>
              <a:buNone/>
            </a:pPr>
            <a:endParaRPr lang="x-none" sz="3200" b="0" i="0" u="none" strike="noStrike" cap="none" baseline="0">
              <a:solidFill>
                <a:schemeClr val="accent2">
                  <a:lumMod val="10000"/>
                </a:schemeClr>
              </a:solidFill>
              <a:latin typeface="Tahoma"/>
              <a:ea typeface="Tahoma"/>
              <a:cs typeface="Tahoma"/>
              <a:sym typeface="Tahoma"/>
            </a:endParaRPr>
          </a:p>
          <a:p>
            <a:pPr marR="0" lvl="0" indent="0" algn="just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59375"/>
              <a:buFont typeface="Tahoma"/>
              <a:buNone/>
            </a:pPr>
            <a:r>
              <a:rPr lang="x-none" sz="3200" b="0" i="0" u="none" strike="noStrike" cap="none" baseline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- Trabalhador atento evita acidentes!</a:t>
            </a:r>
          </a:p>
        </p:txBody>
      </p:sp>
      <p:sp>
        <p:nvSpPr>
          <p:cNvPr id="388" name="Shape 388"/>
          <p:cNvSpPr/>
          <p:nvPr/>
        </p:nvSpPr>
        <p:spPr>
          <a:xfrm>
            <a:off x="8001000" y="0"/>
            <a:ext cx="1143000" cy="1447799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  <p:sp>
        <p:nvSpPr>
          <p:cNvPr id="389" name="Shape 389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19049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/>
              <a:t> 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7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Shape 394"/>
          <p:cNvSpPr txBox="1">
            <a:spLocks noGrp="1"/>
          </p:cNvSpPr>
          <p:nvPr>
            <p:ph type="title"/>
          </p:nvPr>
        </p:nvSpPr>
        <p:spPr>
          <a:xfrm>
            <a:off x="685800" y="7620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 sz="4000" b="0" i="0" u="none" strike="noStrike" cap="none" baseline="0">
                <a:solidFill>
                  <a:srgbClr val="137B33"/>
                </a:solidFill>
                <a:latin typeface="Tahoma"/>
                <a:ea typeface="Tahoma"/>
                <a:cs typeface="Tahoma"/>
                <a:sym typeface="Tahoma"/>
              </a:rPr>
              <a:t>O improviso</a:t>
            </a:r>
          </a:p>
        </p:txBody>
      </p:sp>
      <p:sp>
        <p:nvSpPr>
          <p:cNvPr id="395" name="Shape 395"/>
          <p:cNvSpPr txBox="1">
            <a:spLocks noGrp="1"/>
          </p:cNvSpPr>
          <p:nvPr>
            <p:ph type="body" idx="1"/>
          </p:nvPr>
        </p:nvSpPr>
        <p:spPr>
          <a:xfrm>
            <a:off x="685800" y="1628800"/>
            <a:ext cx="7772400" cy="221595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Font typeface="Arial"/>
              <a:buChar char="•"/>
            </a:pPr>
            <a:r>
              <a:rPr lang="pt-BR" sz="3200" b="0" i="0" u="none" strike="noStrike" cap="none" baseline="0" dirty="0" smtClean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x-none" sz="3200" b="0" i="0" u="none" strike="noStrike" cap="none" baseline="0" smtClean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Use </a:t>
            </a:r>
            <a:r>
              <a:rPr lang="x-none" sz="3200" b="0" i="0" u="none" strike="noStrike" cap="none" baseline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as ferramentas apenas para o uso em que se destinam</a:t>
            </a:r>
            <a:r>
              <a:rPr lang="x-none" sz="3200" b="0" i="0" u="none" strike="noStrike" cap="none" baseline="0" smtClean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lang="pt-BR" sz="3200" b="0" i="0" u="none" strike="noStrike" cap="none" baseline="0" dirty="0" smtClean="0">
              <a:solidFill>
                <a:schemeClr val="accent2">
                  <a:lumMod val="10000"/>
                </a:schemeClr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Font typeface="Arial"/>
              <a:buChar char="•"/>
            </a:pPr>
            <a:endParaRPr lang="x-none" sz="3200" b="0" i="0" u="none" strike="noStrike" cap="none" baseline="0">
              <a:solidFill>
                <a:schemeClr val="accent2">
                  <a:lumMod val="10000"/>
                </a:schemeClr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Font typeface="Arial"/>
              <a:buChar char="•"/>
            </a:pPr>
            <a:r>
              <a:rPr lang="pt-BR" sz="3200" b="0" i="0" u="none" strike="noStrike" cap="none" baseline="0" dirty="0" smtClean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x-none" sz="3200" b="0" i="0" u="none" strike="noStrike" cap="none" baseline="0" smtClean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Cuidado </a:t>
            </a:r>
            <a:r>
              <a:rPr lang="x-none" sz="3200" b="0" i="0" u="none" strike="noStrike" cap="none" baseline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com improvisações</a:t>
            </a:r>
          </a:p>
        </p:txBody>
      </p:sp>
      <p:sp>
        <p:nvSpPr>
          <p:cNvPr id="397" name="Shape 397"/>
          <p:cNvSpPr/>
          <p:nvPr/>
        </p:nvSpPr>
        <p:spPr>
          <a:xfrm>
            <a:off x="8001000" y="0"/>
            <a:ext cx="1143000" cy="1447799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  <p:sp>
        <p:nvSpPr>
          <p:cNvPr id="398" name="Shape 398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19049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/>
              <a:t> </a:t>
            </a:r>
          </a:p>
        </p:txBody>
      </p:sp>
      <p:pic>
        <p:nvPicPr>
          <p:cNvPr id="7170" name="Picture 2" descr="Image result for improviso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0103" y="3738671"/>
            <a:ext cx="4286250" cy="3086101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5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Shape 403"/>
          <p:cNvSpPr txBox="1">
            <a:spLocks noGrp="1"/>
          </p:cNvSpPr>
          <p:nvPr>
            <p:ph type="title"/>
          </p:nvPr>
        </p:nvSpPr>
        <p:spPr>
          <a:xfrm>
            <a:off x="35496" y="260648"/>
            <a:ext cx="8153399" cy="20574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 sz="3600" b="0" i="0" u="none" strike="noStrike" cap="none" baseline="0">
                <a:solidFill>
                  <a:srgbClr val="137B33"/>
                </a:solidFill>
                <a:latin typeface="Tahoma"/>
                <a:ea typeface="Tahoma"/>
                <a:cs typeface="Tahoma"/>
                <a:sym typeface="Tahoma"/>
              </a:rPr>
              <a:t>Vocês são reprodutores de segurança do trabalho, portanto colaborem cobrando o uso de EPI</a:t>
            </a:r>
          </a:p>
        </p:txBody>
      </p:sp>
      <p:sp>
        <p:nvSpPr>
          <p:cNvPr id="404" name="Shape 404"/>
          <p:cNvSpPr/>
          <p:nvPr/>
        </p:nvSpPr>
        <p:spPr>
          <a:xfrm>
            <a:off x="7211379" y="1713614"/>
            <a:ext cx="1579241" cy="2108448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  <p:sp>
        <p:nvSpPr>
          <p:cNvPr id="405" name="Shape 405"/>
          <p:cNvSpPr/>
          <p:nvPr/>
        </p:nvSpPr>
        <p:spPr>
          <a:xfrm>
            <a:off x="8001000" y="0"/>
            <a:ext cx="1143000" cy="1447799"/>
          </a:xfrm>
          <a:prstGeom prst="rect">
            <a:avLst/>
          </a:prstGeom>
          <a:blipFill>
            <a:blip r:embed="rId5"/>
            <a:stretch>
              <a:fillRect/>
            </a:stretch>
          </a:blipFill>
        </p:spPr>
      </p:sp>
      <p:sp>
        <p:nvSpPr>
          <p:cNvPr id="406" name="Shape 406"/>
          <p:cNvSpPr/>
          <p:nvPr/>
        </p:nvSpPr>
        <p:spPr>
          <a:xfrm>
            <a:off x="1981200" y="16764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endParaRPr/>
          </a:p>
        </p:txBody>
      </p:sp>
      <p:sp>
        <p:nvSpPr>
          <p:cNvPr id="407" name="Shape 407"/>
          <p:cNvSpPr/>
          <p:nvPr/>
        </p:nvSpPr>
        <p:spPr>
          <a:xfrm>
            <a:off x="304800" y="2133600"/>
            <a:ext cx="8153399" cy="2590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 sz="2800" b="0" i="0" u="none" strike="noStrike" cap="none" baseline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</a:t>
            </a:r>
          </a:p>
        </p:txBody>
      </p:sp>
      <p:sp>
        <p:nvSpPr>
          <p:cNvPr id="408" name="Shape 408"/>
          <p:cNvSpPr/>
          <p:nvPr/>
        </p:nvSpPr>
        <p:spPr>
          <a:xfrm>
            <a:off x="304800" y="2244969"/>
            <a:ext cx="7848599" cy="341627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 sz="3200" b="0" i="0" u="none" strike="noStrike" cap="none" baseline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Os mais usados na sua empresa:</a:t>
            </a:r>
          </a:p>
          <a:p>
            <a:pPr algn="just"/>
            <a:endParaRPr dirty="0">
              <a:solidFill>
                <a:schemeClr val="accent2">
                  <a:lumMod val="10000"/>
                </a:schemeClr>
              </a:solidFill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 sz="3200" b="0" i="0" u="none" strike="noStrike" cap="none" baseline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Botina com biqueira de aço</a:t>
            </a:r>
            <a:r>
              <a:rPr lang="x-none" sz="3200" b="0" i="0" u="none" strike="noStrike" cap="none" baseline="0" smtClean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;</a:t>
            </a:r>
            <a:endParaRPr lang="pt-BR" sz="3200" b="0" i="0" u="none" strike="noStrike" cap="none" baseline="0" dirty="0" smtClean="0">
              <a:solidFill>
                <a:schemeClr val="accent2">
                  <a:lumMod val="10000"/>
                </a:schemeClr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x-none" sz="1100" b="0" i="0" u="none" strike="noStrike" cap="none" baseline="0">
              <a:solidFill>
                <a:schemeClr val="accent2">
                  <a:lumMod val="10000"/>
                </a:schemeClr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 sz="3200" b="0" i="0" u="none" strike="noStrike" cap="none" baseline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Luva de raspa</a:t>
            </a:r>
            <a:r>
              <a:rPr lang="x-none" sz="3200" b="0" i="0" u="none" strike="noStrike" cap="none" baseline="0" smtClean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;</a:t>
            </a:r>
            <a:endParaRPr lang="pt-BR" sz="3200" b="0" i="0" u="none" strike="noStrike" cap="none" baseline="0" dirty="0" smtClean="0">
              <a:solidFill>
                <a:schemeClr val="accent2">
                  <a:lumMod val="10000"/>
                </a:schemeClr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x-none" sz="1100" b="0" i="0" u="none" strike="noStrike" cap="none" baseline="0">
              <a:solidFill>
                <a:schemeClr val="accent2">
                  <a:lumMod val="10000"/>
                </a:schemeClr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 sz="3200" b="0" i="0" u="none" strike="noStrike" cap="none" baseline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Protetor </a:t>
            </a:r>
            <a:r>
              <a:rPr lang="x-none" sz="3200" b="0" i="0" u="none" strike="noStrike" cap="none" baseline="0" smtClean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A</a:t>
            </a:r>
            <a:r>
              <a:rPr lang="pt-BR" sz="3200" b="0" i="0" u="none" strike="noStrike" cap="none" baseline="0" dirty="0" err="1" smtClean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uditivo</a:t>
            </a:r>
            <a:r>
              <a:rPr lang="x-none" sz="3200" b="0" i="0" u="none" strike="noStrike" cap="none" baseline="0" smtClean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;</a:t>
            </a:r>
            <a:endParaRPr lang="pt-BR" sz="3200" b="0" i="0" u="none" strike="noStrike" cap="none" baseline="0" dirty="0" smtClean="0">
              <a:solidFill>
                <a:schemeClr val="accent2">
                  <a:lumMod val="10000"/>
                </a:schemeClr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x-none" b="0" i="0" u="none" strike="noStrike" cap="none" baseline="0">
              <a:solidFill>
                <a:schemeClr val="accent2">
                  <a:lumMod val="10000"/>
                </a:schemeClr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 sz="3200" b="0" i="0" u="none" strike="noStrike" cap="none" baseline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Máscara PFF2.</a:t>
            </a:r>
          </a:p>
        </p:txBody>
      </p:sp>
      <p:sp>
        <p:nvSpPr>
          <p:cNvPr id="409" name="Shape 409"/>
          <p:cNvSpPr/>
          <p:nvPr/>
        </p:nvSpPr>
        <p:spPr>
          <a:xfrm>
            <a:off x="6019231" y="4293096"/>
            <a:ext cx="2438968" cy="2037184"/>
          </a:xfrm>
          <a:prstGeom prst="rect">
            <a:avLst/>
          </a:prstGeom>
          <a:blipFill>
            <a:blip r:embed="rId6"/>
            <a:stretch>
              <a:fillRect/>
            </a:stretch>
          </a:blipFill>
        </p:spPr>
      </p:sp>
      <p:sp>
        <p:nvSpPr>
          <p:cNvPr id="410" name="Shape 410"/>
          <p:cNvSpPr/>
          <p:nvPr/>
        </p:nvSpPr>
        <p:spPr>
          <a:xfrm>
            <a:off x="3353365" y="5029200"/>
            <a:ext cx="2056267" cy="1562099"/>
          </a:xfrm>
          <a:prstGeom prst="rect">
            <a:avLst/>
          </a:prstGeom>
          <a:blipFill>
            <a:blip r:embed="rId7"/>
            <a:stretch>
              <a:fillRect/>
            </a:stretch>
          </a:blipFill>
        </p:spPr>
      </p:sp>
      <p:sp>
        <p:nvSpPr>
          <p:cNvPr id="411" name="Shape 411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19049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/>
              <a:t> 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0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0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0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0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8" grpId="0" uiExpand="1" build="p"/>
      <p:bldP spid="411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Shape 416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 sz="4400" b="0" i="0" u="none" strike="noStrike" cap="none" baseline="0">
                <a:solidFill>
                  <a:srgbClr val="137B33"/>
                </a:solidFill>
                <a:latin typeface="Tahoma"/>
                <a:ea typeface="Tahoma"/>
                <a:cs typeface="Tahoma"/>
                <a:sym typeface="Tahoma"/>
              </a:rPr>
              <a:t>Falando Nisso...</a:t>
            </a:r>
            <a:r>
              <a:rPr lang="x-none" sz="4400" b="0" i="0" u="none" strike="noStrike" cap="none" baseline="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</a:p>
        </p:txBody>
      </p:sp>
      <p:sp>
        <p:nvSpPr>
          <p:cNvPr id="417" name="Shape 417"/>
          <p:cNvSpPr txBox="1">
            <a:spLocks noGrp="1"/>
          </p:cNvSpPr>
          <p:nvPr>
            <p:ph type="body" idx="1"/>
          </p:nvPr>
        </p:nvSpPr>
        <p:spPr>
          <a:xfrm>
            <a:off x="533400" y="2152075"/>
            <a:ext cx="8503096" cy="3046948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R="0" lvl="0" indent="0" algn="just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59375"/>
              <a:buFont typeface="Tahoma"/>
              <a:buNone/>
            </a:pPr>
            <a:r>
              <a:rPr lang="x-none" sz="3200" b="0" i="0" u="none" strike="noStrike" cap="none" baseline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Conforme Norma Regulamentadora nº.6, Equipamento de Proteção Individual – EPI é todo dispositivo de uso individual utilizado pelo empregado, destinado à  proteção de riscos suscetíveis de ameaçar a segurança e a saúde no trabalho.</a:t>
            </a:r>
          </a:p>
        </p:txBody>
      </p:sp>
      <p:sp>
        <p:nvSpPr>
          <p:cNvPr id="418" name="Shape 418"/>
          <p:cNvSpPr/>
          <p:nvPr/>
        </p:nvSpPr>
        <p:spPr>
          <a:xfrm>
            <a:off x="8001000" y="0"/>
            <a:ext cx="1143000" cy="1447799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  <p:sp>
        <p:nvSpPr>
          <p:cNvPr id="419" name="Shape 419"/>
          <p:cNvSpPr/>
          <p:nvPr/>
        </p:nvSpPr>
        <p:spPr>
          <a:xfrm>
            <a:off x="0" y="2152075"/>
            <a:ext cx="533400" cy="762000"/>
          </a:xfrm>
          <a:prstGeom prst="rect">
            <a:avLst/>
          </a:prstGeom>
          <a:blipFill>
            <a:blip r:embed="rId5"/>
            <a:stretch>
              <a:fillRect/>
            </a:stretch>
          </a:blipFill>
        </p:spPr>
      </p:sp>
      <p:sp>
        <p:nvSpPr>
          <p:cNvPr id="420" name="Shape 420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19049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/>
              <a:t> 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7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Shape 425"/>
          <p:cNvSpPr txBox="1">
            <a:spLocks noGrp="1"/>
          </p:cNvSpPr>
          <p:nvPr>
            <p:ph type="body" idx="1"/>
          </p:nvPr>
        </p:nvSpPr>
        <p:spPr>
          <a:xfrm>
            <a:off x="107504" y="990600"/>
            <a:ext cx="8731695" cy="5401438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None/>
            </a:pPr>
            <a:r>
              <a:rPr lang="pt-BR" sz="3200" b="0" i="0" u="none" strike="noStrike" cap="none" baseline="0" dirty="0" smtClean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 O EPI</a:t>
            </a:r>
            <a:r>
              <a:rPr lang="pt-BR" sz="3200" b="0" i="0" u="none" strike="noStrike" cap="none" dirty="0" smtClean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 DEVE SER UTILIZADO:</a:t>
            </a:r>
            <a:endParaRPr lang="pt-BR" sz="3200" b="0" i="0" u="none" strike="noStrike" cap="none" baseline="0" dirty="0" smtClean="0">
              <a:solidFill>
                <a:schemeClr val="accent2">
                  <a:lumMod val="10000"/>
                </a:schemeClr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Font typeface="Arial"/>
              <a:buChar char="•"/>
            </a:pPr>
            <a:r>
              <a:rPr lang="pt-BR" sz="3200" b="0" i="0" u="none" strike="noStrike" cap="none" baseline="0" dirty="0" smtClean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x-none" sz="3200" b="0" i="0" u="none" strike="noStrike" cap="none" baseline="0" smtClean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Sempre </a:t>
            </a:r>
            <a:r>
              <a:rPr lang="x-none" sz="3200" b="0" i="0" u="none" strike="noStrike" cap="none" baseline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que as medidas de ordem geral </a:t>
            </a:r>
            <a:r>
              <a:rPr lang="x-none" sz="3200" b="0" i="0" u="none" strike="noStrike" cap="none" baseline="0" smtClean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não </a:t>
            </a:r>
            <a:r>
              <a:rPr lang="x-none" sz="3200" b="0" i="0" u="none" strike="noStrike" cap="none" baseline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ofereçam completa </a:t>
            </a:r>
            <a:r>
              <a:rPr lang="x-none" sz="3200" b="0" i="0" u="none" strike="noStrike" cap="none" baseline="0" smtClean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proteção</a:t>
            </a:r>
            <a:r>
              <a:rPr lang="pt-BR" sz="3200" b="0" i="0" u="none" strike="noStrike" cap="none" baseline="0" dirty="0" smtClean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x-none" sz="3200" b="0" i="0" u="none" strike="noStrike" cap="none" baseline="0" smtClean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contra </a:t>
            </a:r>
            <a:r>
              <a:rPr lang="x-none" sz="3200" b="0" i="0" u="none" strike="noStrike" cap="none" baseline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os riscos de acidentes do trabalho ou de doenças ocupacionais</a:t>
            </a:r>
            <a:r>
              <a:rPr lang="x-none" sz="3200" b="0" i="0" u="none" strike="noStrike" cap="none" baseline="0" smtClean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;</a:t>
            </a:r>
            <a:endParaRPr lang="pt-BR" sz="3200" b="0" i="0" u="none" strike="noStrike" cap="none" baseline="0" dirty="0" smtClean="0">
              <a:solidFill>
                <a:schemeClr val="accent2">
                  <a:lumMod val="10000"/>
                </a:schemeClr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Font typeface="Arial"/>
              <a:buChar char="•"/>
            </a:pPr>
            <a:endParaRPr lang="x-none" sz="3200" b="0" i="0" u="none" strike="noStrike" cap="none" baseline="0">
              <a:solidFill>
                <a:schemeClr val="accent2">
                  <a:lumMod val="10000"/>
                </a:schemeClr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Font typeface="Arial"/>
              <a:buChar char="•"/>
            </a:pPr>
            <a:r>
              <a:rPr lang="pt-BR" sz="3200" b="0" i="0" u="none" strike="noStrike" cap="none" baseline="0" dirty="0" smtClean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x-none" sz="3200" b="0" i="0" u="none" strike="noStrike" cap="none" baseline="0" smtClean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Enquanto </a:t>
            </a:r>
            <a:r>
              <a:rPr lang="x-none" sz="3200" b="0" i="0" u="none" strike="noStrike" cap="none" baseline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as medidas de proteção coletiva estiverem sendo implantadas</a:t>
            </a:r>
            <a:r>
              <a:rPr lang="x-none" sz="3200" b="0" i="0" u="none" strike="noStrike" cap="none" baseline="0" smtClean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;</a:t>
            </a:r>
            <a:endParaRPr lang="pt-BR" sz="3200" b="0" i="0" u="none" strike="noStrike" cap="none" baseline="0" dirty="0" smtClean="0">
              <a:solidFill>
                <a:schemeClr val="accent2">
                  <a:lumMod val="10000"/>
                </a:schemeClr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Font typeface="Arial"/>
              <a:buChar char="•"/>
            </a:pPr>
            <a:endParaRPr lang="x-none" sz="3200" b="0" i="0" u="none" strike="noStrike" cap="none" baseline="0">
              <a:solidFill>
                <a:schemeClr val="accent2">
                  <a:lumMod val="10000"/>
                </a:schemeClr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Font typeface="Arial"/>
              <a:buChar char="•"/>
            </a:pPr>
            <a:r>
              <a:rPr lang="pt-BR" sz="3200" b="0" i="0" u="none" strike="noStrike" cap="none" baseline="0" dirty="0" smtClean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x-none" sz="3200" b="0" i="0" u="none" strike="noStrike" cap="none" baseline="0" smtClean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Para </a:t>
            </a:r>
            <a:r>
              <a:rPr lang="x-none" sz="3200" b="0" i="0" u="none" strike="noStrike" cap="none" baseline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atender situações de emergência</a:t>
            </a:r>
            <a:r>
              <a:rPr lang="x-none" sz="3200" b="0" i="0" u="none" strike="noStrike" cap="none" baseline="0" smtClean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lang="x-none" sz="3200" b="0" i="0" u="none" strike="noStrike" cap="none" baseline="0">
              <a:solidFill>
                <a:schemeClr val="accent2">
                  <a:lumMod val="10000"/>
                </a:schemeClr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26" name="Shape 426"/>
          <p:cNvSpPr/>
          <p:nvPr/>
        </p:nvSpPr>
        <p:spPr>
          <a:xfrm>
            <a:off x="8001000" y="0"/>
            <a:ext cx="1143000" cy="1447799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  <p:sp>
        <p:nvSpPr>
          <p:cNvPr id="427" name="Shape 427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19049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/>
              <a:t> 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5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Shape 432"/>
          <p:cNvSpPr txBox="1">
            <a:spLocks noGrp="1"/>
          </p:cNvSpPr>
          <p:nvPr>
            <p:ph type="title"/>
          </p:nvPr>
        </p:nvSpPr>
        <p:spPr>
          <a:xfrm>
            <a:off x="94275" y="0"/>
            <a:ext cx="7772400" cy="884099"/>
          </a:xfrm>
          <a:prstGeom prst="rect">
            <a:avLst/>
          </a:prstGeom>
        </p:spPr>
        <p:txBody>
          <a:bodyPr lIns="91425" tIns="91425" rIns="91425" bIns="91425" anchor="t" anchorCtr="0">
            <a:spAutoFit/>
          </a:bodyPr>
          <a:lstStyle/>
          <a:p>
            <a:pPr>
              <a:buNone/>
            </a:pPr>
            <a:r>
              <a:rPr lang="x-none" sz="3600">
                <a:solidFill>
                  <a:srgbClr val="38761D"/>
                </a:solidFill>
              </a:rPr>
              <a:t>Quanto ao empregador cabe ao EPI</a:t>
            </a:r>
          </a:p>
        </p:txBody>
      </p:sp>
      <p:sp>
        <p:nvSpPr>
          <p:cNvPr id="433" name="Shape 433"/>
          <p:cNvSpPr txBox="1">
            <a:spLocks noGrp="1"/>
          </p:cNvSpPr>
          <p:nvPr>
            <p:ph type="body" idx="1"/>
          </p:nvPr>
        </p:nvSpPr>
        <p:spPr>
          <a:xfrm>
            <a:off x="179512" y="1301884"/>
            <a:ext cx="8784976" cy="5693836"/>
          </a:xfrm>
          <a:prstGeom prst="rect">
            <a:avLst/>
          </a:prstGeom>
        </p:spPr>
        <p:txBody>
          <a:bodyPr wrap="square" lIns="91425" tIns="91425" rIns="91425" bIns="91425" anchor="t" anchorCtr="0">
            <a:spAutoFit/>
          </a:bodyPr>
          <a:lstStyle/>
          <a:p>
            <a:pPr lvl="0" rtl="0">
              <a:buNone/>
            </a:pPr>
            <a:r>
              <a:rPr lang="x-none" sz="3000">
                <a:solidFill>
                  <a:schemeClr val="accent2">
                    <a:lumMod val="10000"/>
                  </a:schemeClr>
                </a:solidFill>
              </a:rPr>
              <a:t>NR 6.6.1 letras "A" até "H</a:t>
            </a:r>
            <a:r>
              <a:rPr lang="x-none" sz="3000" smtClean="0">
                <a:solidFill>
                  <a:schemeClr val="accent2">
                    <a:lumMod val="10000"/>
                  </a:schemeClr>
                </a:solidFill>
              </a:rPr>
              <a:t>".</a:t>
            </a:r>
            <a:endParaRPr lang="pt-BR" sz="3000" dirty="0" smtClean="0">
              <a:solidFill>
                <a:schemeClr val="accent2">
                  <a:lumMod val="10000"/>
                </a:schemeClr>
              </a:solidFill>
            </a:endParaRPr>
          </a:p>
          <a:p>
            <a:pPr lvl="0" rtl="0">
              <a:buNone/>
            </a:pPr>
            <a:endParaRPr lang="x-none" sz="900">
              <a:solidFill>
                <a:schemeClr val="accent2">
                  <a:lumMod val="10000"/>
                </a:schemeClr>
              </a:solidFill>
            </a:endParaRPr>
          </a:p>
          <a:p>
            <a:pPr lvl="0" rtl="0">
              <a:buNone/>
            </a:pPr>
            <a:r>
              <a:rPr lang="x-none" sz="3000" smtClean="0">
                <a:solidFill>
                  <a:schemeClr val="accent2">
                    <a:lumMod val="10000"/>
                  </a:schemeClr>
                </a:solidFill>
              </a:rPr>
              <a:t>-</a:t>
            </a:r>
            <a:r>
              <a:rPr lang="pt-BR" sz="3000" dirty="0" smtClean="0">
                <a:solidFill>
                  <a:schemeClr val="accent2">
                    <a:lumMod val="10000"/>
                  </a:schemeClr>
                </a:solidFill>
              </a:rPr>
              <a:t> </a:t>
            </a:r>
            <a:r>
              <a:rPr lang="x-none" sz="3000" smtClean="0">
                <a:solidFill>
                  <a:schemeClr val="accent2">
                    <a:lumMod val="10000"/>
                  </a:schemeClr>
                </a:solidFill>
              </a:rPr>
              <a:t>Adquirir </a:t>
            </a:r>
            <a:r>
              <a:rPr lang="x-none" sz="3000">
                <a:solidFill>
                  <a:schemeClr val="accent2">
                    <a:lumMod val="10000"/>
                  </a:schemeClr>
                </a:solidFill>
              </a:rPr>
              <a:t>o EPI adequado ao risco de cada atividade</a:t>
            </a:r>
            <a:r>
              <a:rPr lang="x-none" sz="3000" smtClean="0">
                <a:solidFill>
                  <a:schemeClr val="accent2">
                    <a:lumMod val="10000"/>
                  </a:schemeClr>
                </a:solidFill>
              </a:rPr>
              <a:t>;</a:t>
            </a:r>
            <a:endParaRPr lang="pt-BR" sz="3000" dirty="0" smtClean="0">
              <a:solidFill>
                <a:schemeClr val="accent2">
                  <a:lumMod val="10000"/>
                </a:schemeClr>
              </a:solidFill>
            </a:endParaRPr>
          </a:p>
          <a:p>
            <a:pPr lvl="0" rtl="0">
              <a:buNone/>
            </a:pPr>
            <a:endParaRPr lang="x-none" sz="1400">
              <a:solidFill>
                <a:schemeClr val="accent2">
                  <a:lumMod val="10000"/>
                </a:schemeClr>
              </a:solidFill>
            </a:endParaRPr>
          </a:p>
          <a:p>
            <a:pPr lvl="0" rtl="0">
              <a:buNone/>
            </a:pPr>
            <a:r>
              <a:rPr lang="x-none" sz="3000" smtClean="0">
                <a:solidFill>
                  <a:schemeClr val="accent2">
                    <a:lumMod val="10000"/>
                  </a:schemeClr>
                </a:solidFill>
              </a:rPr>
              <a:t>-</a:t>
            </a:r>
            <a:r>
              <a:rPr lang="pt-BR" sz="3000" dirty="0" smtClean="0">
                <a:solidFill>
                  <a:schemeClr val="accent2">
                    <a:lumMod val="10000"/>
                  </a:schemeClr>
                </a:solidFill>
              </a:rPr>
              <a:t> </a:t>
            </a:r>
            <a:r>
              <a:rPr lang="x-none" sz="3000" smtClean="0">
                <a:solidFill>
                  <a:schemeClr val="accent2">
                    <a:lumMod val="10000"/>
                  </a:schemeClr>
                </a:solidFill>
              </a:rPr>
              <a:t>Exigir </a:t>
            </a:r>
            <a:r>
              <a:rPr lang="x-none" sz="3000">
                <a:solidFill>
                  <a:schemeClr val="accent2">
                    <a:lumMod val="10000"/>
                  </a:schemeClr>
                </a:solidFill>
              </a:rPr>
              <a:t>o seu uso</a:t>
            </a:r>
            <a:r>
              <a:rPr lang="x-none" sz="3000" smtClean="0">
                <a:solidFill>
                  <a:schemeClr val="accent2">
                    <a:lumMod val="10000"/>
                  </a:schemeClr>
                </a:solidFill>
              </a:rPr>
              <a:t>;</a:t>
            </a:r>
            <a:endParaRPr lang="pt-BR" sz="3000" dirty="0" smtClean="0">
              <a:solidFill>
                <a:schemeClr val="accent2">
                  <a:lumMod val="10000"/>
                </a:schemeClr>
              </a:solidFill>
            </a:endParaRPr>
          </a:p>
          <a:p>
            <a:pPr lvl="0" rtl="0">
              <a:buNone/>
            </a:pPr>
            <a:endParaRPr lang="x-none" sz="900">
              <a:solidFill>
                <a:schemeClr val="accent2">
                  <a:lumMod val="10000"/>
                </a:schemeClr>
              </a:solidFill>
            </a:endParaRPr>
          </a:p>
          <a:p>
            <a:pPr lvl="0" rtl="0">
              <a:buNone/>
            </a:pPr>
            <a:r>
              <a:rPr lang="x-none" sz="3000" smtClean="0">
                <a:solidFill>
                  <a:schemeClr val="accent2">
                    <a:lumMod val="10000"/>
                  </a:schemeClr>
                </a:solidFill>
              </a:rPr>
              <a:t>-</a:t>
            </a:r>
            <a:r>
              <a:rPr lang="pt-BR" sz="3000" dirty="0" smtClean="0">
                <a:solidFill>
                  <a:schemeClr val="accent2">
                    <a:lumMod val="10000"/>
                  </a:schemeClr>
                </a:solidFill>
              </a:rPr>
              <a:t> </a:t>
            </a:r>
            <a:r>
              <a:rPr lang="x-none" sz="3000" smtClean="0">
                <a:solidFill>
                  <a:schemeClr val="accent2">
                    <a:lumMod val="10000"/>
                  </a:schemeClr>
                </a:solidFill>
              </a:rPr>
              <a:t>Fornecer </a:t>
            </a:r>
            <a:r>
              <a:rPr lang="x-none" sz="3000">
                <a:solidFill>
                  <a:schemeClr val="accent2">
                    <a:lumMod val="10000"/>
                  </a:schemeClr>
                </a:solidFill>
              </a:rPr>
              <a:t>ao empregado somente EPI’s aprovados pelo órgão nacional competente em matéria de segurança e saúde no trabalho</a:t>
            </a:r>
            <a:r>
              <a:rPr lang="x-none" sz="3000" smtClean="0">
                <a:solidFill>
                  <a:schemeClr val="accent2">
                    <a:lumMod val="10000"/>
                  </a:schemeClr>
                </a:solidFill>
              </a:rPr>
              <a:t>;</a:t>
            </a:r>
            <a:endParaRPr lang="pt-BR" sz="3000" dirty="0" smtClean="0">
              <a:solidFill>
                <a:schemeClr val="accent2">
                  <a:lumMod val="10000"/>
                </a:schemeClr>
              </a:solidFill>
            </a:endParaRPr>
          </a:p>
          <a:p>
            <a:pPr lvl="0" rtl="0">
              <a:buNone/>
            </a:pPr>
            <a:endParaRPr lang="x-none" sz="1100">
              <a:solidFill>
                <a:schemeClr val="accent2">
                  <a:lumMod val="10000"/>
                </a:schemeClr>
              </a:solidFill>
            </a:endParaRPr>
          </a:p>
          <a:p>
            <a:pPr lvl="0" rtl="0">
              <a:buNone/>
            </a:pPr>
            <a:r>
              <a:rPr lang="x-none" sz="3000" smtClean="0">
                <a:solidFill>
                  <a:schemeClr val="accent2">
                    <a:lumMod val="10000"/>
                  </a:schemeClr>
                </a:solidFill>
              </a:rPr>
              <a:t>-</a:t>
            </a:r>
            <a:r>
              <a:rPr lang="pt-BR" sz="3000" dirty="0" smtClean="0">
                <a:solidFill>
                  <a:schemeClr val="accent2">
                    <a:lumMod val="10000"/>
                  </a:schemeClr>
                </a:solidFill>
              </a:rPr>
              <a:t> </a:t>
            </a:r>
            <a:r>
              <a:rPr lang="x-none" sz="3000" smtClean="0">
                <a:solidFill>
                  <a:schemeClr val="accent2">
                    <a:lumMod val="10000"/>
                  </a:schemeClr>
                </a:solidFill>
              </a:rPr>
              <a:t>Orientar </a:t>
            </a:r>
            <a:r>
              <a:rPr lang="x-none" sz="3000">
                <a:solidFill>
                  <a:schemeClr val="accent2">
                    <a:lumMod val="10000"/>
                  </a:schemeClr>
                </a:solidFill>
              </a:rPr>
              <a:t>e capacitar o empregado quanto ao uso adequado acondicionamento e conservação</a:t>
            </a:r>
            <a:r>
              <a:rPr lang="x-none" sz="3000" smtClean="0">
                <a:solidFill>
                  <a:schemeClr val="accent2">
                    <a:lumMod val="10000"/>
                  </a:schemeClr>
                </a:solidFill>
              </a:rPr>
              <a:t>;</a:t>
            </a:r>
            <a:endParaRPr dirty="0">
              <a:solidFill>
                <a:schemeClr val="accent2">
                  <a:lumMod val="10000"/>
                </a:schemeClr>
              </a:solidFill>
            </a:endParaRP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3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3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3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3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3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Shape 439"/>
          <p:cNvSpPr txBox="1">
            <a:spLocks noGrp="1"/>
          </p:cNvSpPr>
          <p:nvPr>
            <p:ph type="body" idx="1"/>
          </p:nvPr>
        </p:nvSpPr>
        <p:spPr>
          <a:xfrm>
            <a:off x="251520" y="904550"/>
            <a:ext cx="8712968" cy="6201667"/>
          </a:xfrm>
          <a:prstGeom prst="rect">
            <a:avLst/>
          </a:prstGeom>
        </p:spPr>
        <p:txBody>
          <a:bodyPr wrap="square" lIns="91425" tIns="91425" rIns="91425" bIns="91425" anchor="t" anchorCtr="0">
            <a:spAutoFit/>
          </a:bodyPr>
          <a:lstStyle/>
          <a:p>
            <a:pPr lvl="0" algn="just" rtl="0">
              <a:buNone/>
            </a:pPr>
            <a:r>
              <a:rPr lang="x-none" smtClean="0">
                <a:solidFill>
                  <a:schemeClr val="accent2">
                    <a:lumMod val="10000"/>
                  </a:schemeClr>
                </a:solidFill>
              </a:rPr>
              <a:t>-</a:t>
            </a:r>
            <a:r>
              <a:rPr lang="pt-BR" dirty="0" smtClean="0">
                <a:solidFill>
                  <a:schemeClr val="accent2">
                    <a:lumMod val="10000"/>
                  </a:schemeClr>
                </a:solidFill>
              </a:rPr>
              <a:t> </a:t>
            </a:r>
            <a:r>
              <a:rPr lang="x-none" smtClean="0">
                <a:solidFill>
                  <a:schemeClr val="accent2">
                    <a:lumMod val="10000"/>
                  </a:schemeClr>
                </a:solidFill>
              </a:rPr>
              <a:t>Substituir </a:t>
            </a:r>
            <a:r>
              <a:rPr lang="x-none">
                <a:solidFill>
                  <a:schemeClr val="accent2">
                    <a:lumMod val="10000"/>
                  </a:schemeClr>
                </a:solidFill>
              </a:rPr>
              <a:t>imediatamente, quando danificado ou extraviado</a:t>
            </a:r>
            <a:r>
              <a:rPr lang="x-none" smtClean="0">
                <a:solidFill>
                  <a:schemeClr val="accent2">
                    <a:lumMod val="10000"/>
                  </a:schemeClr>
                </a:solidFill>
              </a:rPr>
              <a:t>;</a:t>
            </a:r>
            <a:endParaRPr lang="pt-BR" dirty="0" smtClean="0">
              <a:solidFill>
                <a:schemeClr val="accent2">
                  <a:lumMod val="10000"/>
                </a:schemeClr>
              </a:solidFill>
            </a:endParaRPr>
          </a:p>
          <a:p>
            <a:pPr lvl="0" algn="just" rtl="0">
              <a:buNone/>
            </a:pPr>
            <a:endParaRPr lang="x-none" sz="1100">
              <a:solidFill>
                <a:schemeClr val="accent2">
                  <a:lumMod val="10000"/>
                </a:schemeClr>
              </a:solidFill>
            </a:endParaRPr>
          </a:p>
          <a:p>
            <a:pPr lvl="0" algn="just" rtl="0">
              <a:buNone/>
            </a:pPr>
            <a:r>
              <a:rPr lang="x-none" smtClean="0">
                <a:solidFill>
                  <a:schemeClr val="accent2">
                    <a:lumMod val="10000"/>
                  </a:schemeClr>
                </a:solidFill>
              </a:rPr>
              <a:t>-</a:t>
            </a:r>
            <a:r>
              <a:rPr lang="pt-BR" dirty="0" smtClean="0">
                <a:solidFill>
                  <a:schemeClr val="accent2">
                    <a:lumMod val="10000"/>
                  </a:schemeClr>
                </a:solidFill>
              </a:rPr>
              <a:t> </a:t>
            </a:r>
            <a:r>
              <a:rPr lang="x-none" smtClean="0">
                <a:solidFill>
                  <a:schemeClr val="accent2">
                    <a:lumMod val="10000"/>
                  </a:schemeClr>
                </a:solidFill>
              </a:rPr>
              <a:t>Responsabilizar-se </a:t>
            </a:r>
            <a:r>
              <a:rPr lang="x-none">
                <a:solidFill>
                  <a:schemeClr val="accent2">
                    <a:lumMod val="10000"/>
                  </a:schemeClr>
                </a:solidFill>
              </a:rPr>
              <a:t>pela higienização e manutenção periódica</a:t>
            </a:r>
            <a:r>
              <a:rPr lang="x-none" smtClean="0">
                <a:solidFill>
                  <a:schemeClr val="accent2">
                    <a:lumMod val="10000"/>
                  </a:schemeClr>
                </a:solidFill>
              </a:rPr>
              <a:t>;</a:t>
            </a:r>
            <a:endParaRPr lang="pt-BR" dirty="0" smtClean="0">
              <a:solidFill>
                <a:schemeClr val="accent2">
                  <a:lumMod val="10000"/>
                </a:schemeClr>
              </a:solidFill>
            </a:endParaRPr>
          </a:p>
          <a:p>
            <a:pPr lvl="0" algn="just" rtl="0">
              <a:buNone/>
            </a:pPr>
            <a:endParaRPr lang="x-none" sz="1100">
              <a:solidFill>
                <a:schemeClr val="accent2">
                  <a:lumMod val="10000"/>
                </a:schemeClr>
              </a:solidFill>
            </a:endParaRPr>
          </a:p>
          <a:p>
            <a:pPr lvl="0" algn="just" rtl="0">
              <a:buNone/>
            </a:pPr>
            <a:r>
              <a:rPr lang="x-none" smtClean="0">
                <a:solidFill>
                  <a:schemeClr val="accent2">
                    <a:lumMod val="10000"/>
                  </a:schemeClr>
                </a:solidFill>
              </a:rPr>
              <a:t>-</a:t>
            </a:r>
            <a:r>
              <a:rPr lang="pt-BR" dirty="0" smtClean="0">
                <a:solidFill>
                  <a:schemeClr val="accent2">
                    <a:lumMod val="10000"/>
                  </a:schemeClr>
                </a:solidFill>
              </a:rPr>
              <a:t> </a:t>
            </a:r>
            <a:r>
              <a:rPr lang="x-none" smtClean="0">
                <a:solidFill>
                  <a:schemeClr val="accent2">
                    <a:lumMod val="10000"/>
                  </a:schemeClr>
                </a:solidFill>
              </a:rPr>
              <a:t>Comunicar </a:t>
            </a:r>
            <a:r>
              <a:rPr lang="x-none">
                <a:solidFill>
                  <a:schemeClr val="accent2">
                    <a:lumMod val="10000"/>
                  </a:schemeClr>
                </a:solidFill>
              </a:rPr>
              <a:t>ao MTE (Ministério do Trabalho e Emprego) qualquer irregularidade observada</a:t>
            </a:r>
            <a:r>
              <a:rPr lang="x-none" smtClean="0">
                <a:solidFill>
                  <a:schemeClr val="accent2">
                    <a:lumMod val="10000"/>
                  </a:schemeClr>
                </a:solidFill>
              </a:rPr>
              <a:t>.</a:t>
            </a:r>
            <a:endParaRPr lang="pt-BR" dirty="0" smtClean="0">
              <a:solidFill>
                <a:schemeClr val="accent2">
                  <a:lumMod val="10000"/>
                </a:schemeClr>
              </a:solidFill>
            </a:endParaRPr>
          </a:p>
          <a:p>
            <a:pPr lvl="0" algn="just" rtl="0">
              <a:buNone/>
            </a:pPr>
            <a:endParaRPr lang="x-none" sz="1200">
              <a:solidFill>
                <a:schemeClr val="accent2">
                  <a:lumMod val="10000"/>
                </a:schemeClr>
              </a:solidFill>
            </a:endParaRPr>
          </a:p>
          <a:p>
            <a:pPr lvl="0" algn="just" rtl="0">
              <a:buNone/>
            </a:pPr>
            <a:r>
              <a:rPr lang="x-none" smtClean="0">
                <a:solidFill>
                  <a:schemeClr val="accent2">
                    <a:lumMod val="10000"/>
                  </a:schemeClr>
                </a:solidFill>
              </a:rPr>
              <a:t>-</a:t>
            </a:r>
            <a:r>
              <a:rPr lang="pt-BR" dirty="0" smtClean="0">
                <a:solidFill>
                  <a:schemeClr val="accent2">
                    <a:lumMod val="10000"/>
                  </a:schemeClr>
                </a:solidFill>
              </a:rPr>
              <a:t> </a:t>
            </a:r>
            <a:r>
              <a:rPr lang="x-none" smtClean="0">
                <a:solidFill>
                  <a:schemeClr val="accent2">
                    <a:lumMod val="10000"/>
                  </a:schemeClr>
                </a:solidFill>
              </a:rPr>
              <a:t>Registrar </a:t>
            </a:r>
            <a:r>
              <a:rPr lang="x-none">
                <a:solidFill>
                  <a:schemeClr val="accent2">
                    <a:lumMod val="10000"/>
                  </a:schemeClr>
                </a:solidFill>
              </a:rPr>
              <a:t>seu fornecimento ao trabalhador, podendo ser adotados livros, fichas ou sistema eletrônico. </a:t>
            </a:r>
          </a:p>
          <a:p>
            <a:pPr algn="just"/>
            <a:endParaRPr dirty="0">
              <a:solidFill>
                <a:schemeClr val="accent2">
                  <a:lumMod val="10000"/>
                </a:schemeClr>
              </a:solidFill>
            </a:endParaRP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9" grpId="0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Shape 444"/>
          <p:cNvSpPr txBox="1">
            <a:spLocks noGrp="1"/>
          </p:cNvSpPr>
          <p:nvPr>
            <p:ph type="title"/>
          </p:nvPr>
        </p:nvSpPr>
        <p:spPr>
          <a:xfrm>
            <a:off x="0" y="404664"/>
            <a:ext cx="8534399" cy="83819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 sz="3600" b="0" i="0" u="none" strike="noStrike" cap="none" baseline="0">
                <a:solidFill>
                  <a:srgbClr val="137B33"/>
                </a:solidFill>
                <a:latin typeface="Tahoma"/>
                <a:ea typeface="Tahoma"/>
                <a:cs typeface="Tahoma"/>
                <a:sym typeface="Tahoma"/>
              </a:rPr>
              <a:t>Cabe ao empregado quanto ao EPI:</a:t>
            </a:r>
          </a:p>
        </p:txBody>
      </p:sp>
      <p:sp>
        <p:nvSpPr>
          <p:cNvPr id="445" name="Shape 445"/>
          <p:cNvSpPr txBox="1">
            <a:spLocks noGrp="1"/>
          </p:cNvSpPr>
          <p:nvPr>
            <p:ph type="body" idx="1"/>
          </p:nvPr>
        </p:nvSpPr>
        <p:spPr>
          <a:xfrm>
            <a:off x="228600" y="1600200"/>
            <a:ext cx="8735888" cy="4912074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R="0" lvl="0" indent="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60714"/>
              <a:buFont typeface="Tahoma"/>
              <a:buNone/>
            </a:pPr>
            <a:r>
              <a:rPr lang="x-none" sz="2800" b="0" i="0" u="none" strike="noStrike" cap="none" baseline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NR 6 Item 6.7.1 </a:t>
            </a:r>
          </a:p>
          <a:p>
            <a:endParaRPr dirty="0">
              <a:solidFill>
                <a:schemeClr val="accent2">
                  <a:lumMod val="10000"/>
                </a:schemeClr>
              </a:solidFill>
            </a:endParaRPr>
          </a:p>
          <a:p>
            <a:pPr marR="0" lvl="0" indent="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60714"/>
              <a:buFont typeface="Tahoma"/>
              <a:buNone/>
            </a:pPr>
            <a:r>
              <a:rPr lang="x-none" sz="2800" b="0" i="0" u="none" strike="noStrike" cap="none" baseline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a</a:t>
            </a:r>
            <a:r>
              <a:rPr lang="x-none" sz="2800" b="0" i="0" u="none" strike="noStrike" cap="none" baseline="0" smtClean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r>
              <a:rPr lang="pt-BR" sz="2800" b="0" i="0" u="none" strike="noStrike" cap="none" baseline="0" dirty="0" smtClean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x-none" sz="2800" b="0" i="0" u="none" strike="noStrike" cap="none" baseline="0" smtClean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Utilizar </a:t>
            </a:r>
            <a:r>
              <a:rPr lang="x-none" sz="2800" b="0" i="0" u="none" strike="noStrike" cap="none" baseline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apenas para a finalidade a que se destina</a:t>
            </a:r>
            <a:r>
              <a:rPr lang="x-none" sz="2800" b="0" i="0" u="none" strike="noStrike" cap="none" baseline="0" smtClean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;</a:t>
            </a:r>
            <a:endParaRPr lang="pt-BR" sz="2800" b="0" i="0" u="none" strike="noStrike" cap="none" baseline="0" dirty="0" smtClean="0">
              <a:solidFill>
                <a:schemeClr val="accent2">
                  <a:lumMod val="10000"/>
                </a:schemeClr>
              </a:solidFill>
              <a:latin typeface="Tahoma"/>
              <a:ea typeface="Tahoma"/>
              <a:cs typeface="Tahoma"/>
              <a:sym typeface="Tahoma"/>
            </a:endParaRPr>
          </a:p>
          <a:p>
            <a:pPr marR="0" lvl="0" indent="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60714"/>
              <a:buFont typeface="Tahoma"/>
              <a:buNone/>
            </a:pPr>
            <a:endParaRPr lang="x-none" sz="1600" b="0" i="0" u="none" strike="noStrike" cap="none" baseline="0">
              <a:solidFill>
                <a:schemeClr val="accent2">
                  <a:lumMod val="10000"/>
                </a:schemeClr>
              </a:solidFill>
              <a:latin typeface="Tahoma"/>
              <a:ea typeface="Tahoma"/>
              <a:cs typeface="Tahoma"/>
              <a:sym typeface="Tahoma"/>
            </a:endParaRPr>
          </a:p>
          <a:p>
            <a:pPr marR="0" lvl="0" indent="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60714"/>
              <a:buFont typeface="Tahoma"/>
              <a:buNone/>
            </a:pPr>
            <a:r>
              <a:rPr lang="x-none" sz="2800" b="0" i="0" u="none" strike="noStrike" cap="none" baseline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b</a:t>
            </a:r>
            <a:r>
              <a:rPr lang="x-none" sz="2800" b="0" i="0" u="none" strike="noStrike" cap="none" baseline="0" smtClean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r>
              <a:rPr lang="pt-BR" sz="2800" b="0" i="0" u="none" strike="noStrike" cap="none" baseline="0" dirty="0" smtClean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x-none" sz="2800" b="0" i="0" u="none" strike="noStrike" cap="none" baseline="0" smtClean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Responsabilizar-se </a:t>
            </a:r>
            <a:r>
              <a:rPr lang="x-none" sz="2800" b="0" i="0" u="none" strike="noStrike" cap="none" baseline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pelo acondicionamento e conservação</a:t>
            </a:r>
            <a:r>
              <a:rPr lang="x-none" sz="2800" b="0" i="0" u="none" strike="noStrike" cap="none" baseline="0" smtClean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;</a:t>
            </a:r>
            <a:endParaRPr lang="pt-BR" sz="2800" b="0" i="0" u="none" strike="noStrike" cap="none" baseline="0" dirty="0" smtClean="0">
              <a:solidFill>
                <a:schemeClr val="accent2">
                  <a:lumMod val="10000"/>
                </a:schemeClr>
              </a:solidFill>
              <a:latin typeface="Tahoma"/>
              <a:ea typeface="Tahoma"/>
              <a:cs typeface="Tahoma"/>
              <a:sym typeface="Tahoma"/>
            </a:endParaRPr>
          </a:p>
          <a:p>
            <a:pPr marR="0" lvl="0" indent="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60714"/>
              <a:buFont typeface="Tahoma"/>
              <a:buNone/>
            </a:pPr>
            <a:endParaRPr lang="x-none" sz="1200" b="0" i="0" u="none" strike="noStrike" cap="none" baseline="0">
              <a:solidFill>
                <a:schemeClr val="accent2">
                  <a:lumMod val="10000"/>
                </a:schemeClr>
              </a:solidFill>
              <a:latin typeface="Tahoma"/>
              <a:ea typeface="Tahoma"/>
              <a:cs typeface="Tahoma"/>
              <a:sym typeface="Tahoma"/>
            </a:endParaRPr>
          </a:p>
          <a:p>
            <a:pPr marR="0" lvl="0" indent="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60714"/>
              <a:buFont typeface="Tahoma"/>
              <a:buNone/>
            </a:pPr>
            <a:r>
              <a:rPr lang="x-none" sz="2800" b="0" i="0" u="none" strike="noStrike" cap="none" baseline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c</a:t>
            </a:r>
            <a:r>
              <a:rPr lang="x-none" sz="2800" b="0" i="0" u="none" strike="noStrike" cap="none" baseline="0" smtClean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r>
              <a:rPr lang="pt-BR" sz="2800" b="0" i="0" u="none" strike="noStrike" cap="none" baseline="0" dirty="0" smtClean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x-none" sz="2800" b="0" i="0" u="none" strike="noStrike" cap="none" baseline="0" smtClean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Comunicar </a:t>
            </a:r>
            <a:r>
              <a:rPr lang="x-none" sz="2800" b="0" i="0" u="none" strike="noStrike" cap="none" baseline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ao empregador qualquer alteração que o torne impróprio para uso</a:t>
            </a:r>
            <a:r>
              <a:rPr lang="x-none" sz="2800" b="0" i="0" u="none" strike="noStrike" cap="none" baseline="0" smtClean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;</a:t>
            </a:r>
            <a:endParaRPr lang="pt-BR" sz="2800" b="0" i="0" u="none" strike="noStrike" cap="none" baseline="0" dirty="0" smtClean="0">
              <a:solidFill>
                <a:schemeClr val="accent2">
                  <a:lumMod val="10000"/>
                </a:schemeClr>
              </a:solidFill>
              <a:latin typeface="Tahoma"/>
              <a:ea typeface="Tahoma"/>
              <a:cs typeface="Tahoma"/>
              <a:sym typeface="Tahoma"/>
            </a:endParaRPr>
          </a:p>
          <a:p>
            <a:pPr marR="0" lvl="0" indent="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60714"/>
              <a:buFont typeface="Tahoma"/>
              <a:buNone/>
            </a:pPr>
            <a:endParaRPr lang="x-none" sz="1600" b="0" i="0" u="none" strike="noStrike" cap="none" baseline="0">
              <a:solidFill>
                <a:schemeClr val="accent2">
                  <a:lumMod val="10000"/>
                </a:schemeClr>
              </a:solidFill>
              <a:latin typeface="Tahoma"/>
              <a:ea typeface="Tahoma"/>
              <a:cs typeface="Tahoma"/>
              <a:sym typeface="Tahoma"/>
            </a:endParaRPr>
          </a:p>
          <a:p>
            <a:pPr marR="0" lvl="0" indent="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60714"/>
              <a:buFont typeface="Tahoma"/>
              <a:buNone/>
            </a:pPr>
            <a:r>
              <a:rPr lang="x-none" sz="2800" b="0" i="0" u="none" strike="noStrike" cap="none" baseline="0" smtClean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d)</a:t>
            </a:r>
            <a:r>
              <a:rPr lang="pt-BR" sz="2800" b="0" i="0" u="none" strike="noStrike" cap="none" dirty="0" smtClean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x-none" sz="2800" b="0" i="0" u="none" strike="noStrike" cap="none" baseline="0" smtClean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Cumprir </a:t>
            </a:r>
            <a:r>
              <a:rPr lang="x-none" sz="2800" b="0" i="0" u="none" strike="noStrike" cap="none" baseline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as determinações do empregador sobre o uso adequado</a:t>
            </a:r>
            <a:r>
              <a:rPr lang="x-none" sz="2800" b="0" i="0" u="none" strike="noStrike" cap="none" baseline="0" smtClean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dirty="0">
              <a:solidFill>
                <a:schemeClr val="accent2">
                  <a:lumMod val="10000"/>
                </a:schemeClr>
              </a:solidFill>
            </a:endParaRPr>
          </a:p>
        </p:txBody>
      </p:sp>
      <p:sp>
        <p:nvSpPr>
          <p:cNvPr id="446" name="Shape 446"/>
          <p:cNvSpPr/>
          <p:nvPr/>
        </p:nvSpPr>
        <p:spPr>
          <a:xfrm>
            <a:off x="8001000" y="0"/>
            <a:ext cx="1143000" cy="1447799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  <p:sp>
        <p:nvSpPr>
          <p:cNvPr id="447" name="Shape 447"/>
          <p:cNvSpPr/>
          <p:nvPr/>
        </p:nvSpPr>
        <p:spPr>
          <a:xfrm>
            <a:off x="228600" y="1371600"/>
            <a:ext cx="533400" cy="762000"/>
          </a:xfrm>
          <a:prstGeom prst="rect">
            <a:avLst/>
          </a:prstGeom>
          <a:blipFill>
            <a:blip r:embed="rId5"/>
            <a:stretch>
              <a:fillRect/>
            </a:stretch>
          </a:blipFill>
        </p:spPr>
      </p:sp>
      <p:sp>
        <p:nvSpPr>
          <p:cNvPr id="448" name="Shape 448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19049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/>
              <a:t> 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4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4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4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4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5" grpId="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Shape 453"/>
          <p:cNvSpPr txBox="1">
            <a:spLocks noGrp="1"/>
          </p:cNvSpPr>
          <p:nvPr>
            <p:ph type="title"/>
          </p:nvPr>
        </p:nvSpPr>
        <p:spPr>
          <a:xfrm>
            <a:off x="381000" y="7620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 sz="3600" b="0" i="0" u="none" strike="noStrike" cap="none" baseline="0">
                <a:solidFill>
                  <a:srgbClr val="137B33"/>
                </a:solidFill>
                <a:latin typeface="Tahoma"/>
                <a:ea typeface="Tahoma"/>
                <a:cs typeface="Tahoma"/>
                <a:sym typeface="Tahoma"/>
              </a:rPr>
              <a:t>Equipamentos de Proteção Coletivas - EPC’s</a:t>
            </a:r>
          </a:p>
        </p:txBody>
      </p:sp>
      <p:sp>
        <p:nvSpPr>
          <p:cNvPr id="454" name="Shape 454"/>
          <p:cNvSpPr txBox="1">
            <a:spLocks noGrp="1"/>
          </p:cNvSpPr>
          <p:nvPr>
            <p:ph type="body" idx="1"/>
          </p:nvPr>
        </p:nvSpPr>
        <p:spPr>
          <a:xfrm>
            <a:off x="685800" y="2133600"/>
            <a:ext cx="7772400" cy="320083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pPr marR="0" lvl="0" indent="0" algn="just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59375"/>
              <a:buFont typeface="Tahoma"/>
              <a:buNone/>
            </a:pPr>
            <a:r>
              <a:rPr lang="x-none" sz="3200" b="0" i="0" u="none" strike="noStrike" cap="none" baseline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São os equipamentos que neutralizam o risco na fonte, dispensando em </a:t>
            </a:r>
            <a:r>
              <a:rPr lang="x-none">
                <a:solidFill>
                  <a:schemeClr val="accent2">
                    <a:lumMod val="10000"/>
                  </a:schemeClr>
                </a:solidFill>
              </a:rPr>
              <a:t>muitos </a:t>
            </a:r>
            <a:r>
              <a:rPr lang="x-none" sz="3200" b="0" i="0" u="none" strike="noStrike" cap="none" baseline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casos, o uso dos equipamentos de proteção individual.</a:t>
            </a:r>
          </a:p>
          <a:p>
            <a:pPr algn="just"/>
            <a:endParaRPr dirty="0">
              <a:solidFill>
                <a:schemeClr val="accent2">
                  <a:lumMod val="10000"/>
                </a:schemeClr>
              </a:solidFill>
            </a:endParaRPr>
          </a:p>
          <a:p>
            <a:pPr marR="0" lvl="0" indent="0" algn="just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59375"/>
              <a:buFont typeface="Tahoma"/>
              <a:buNone/>
            </a:pPr>
            <a:r>
              <a:rPr lang="x-none" sz="3200" b="0" i="0" u="none" strike="noStrike" cap="none" baseline="0">
                <a:solidFill>
                  <a:schemeClr val="accent2">
                    <a:lumMod val="10000"/>
                  </a:schemeClr>
                </a:solidFill>
                <a:latin typeface="Tahoma"/>
                <a:ea typeface="Tahoma"/>
                <a:cs typeface="Tahoma"/>
                <a:sym typeface="Tahoma"/>
              </a:rPr>
              <a:t>Exemplo:Corrimão de escadas</a:t>
            </a:r>
          </a:p>
        </p:txBody>
      </p:sp>
      <p:sp>
        <p:nvSpPr>
          <p:cNvPr id="455" name="Shape 455"/>
          <p:cNvSpPr/>
          <p:nvPr/>
        </p:nvSpPr>
        <p:spPr>
          <a:xfrm>
            <a:off x="8001000" y="0"/>
            <a:ext cx="1143000" cy="1447799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  <p:sp>
        <p:nvSpPr>
          <p:cNvPr id="456" name="Shape 456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19049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/>
              <a:t> 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4" grpId="0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Shape 461"/>
          <p:cNvSpPr txBox="1">
            <a:spLocks noGrp="1"/>
          </p:cNvSpPr>
          <p:nvPr>
            <p:ph type="title"/>
          </p:nvPr>
        </p:nvSpPr>
        <p:spPr>
          <a:xfrm>
            <a:off x="-304800" y="381000"/>
            <a:ext cx="8534399" cy="83819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 sz="4000" b="0" i="0" u="none" strike="noStrike" cap="none" baseline="0">
                <a:solidFill>
                  <a:srgbClr val="137B33"/>
                </a:solidFill>
                <a:latin typeface="Tahoma"/>
                <a:ea typeface="Tahoma"/>
                <a:cs typeface="Tahoma"/>
                <a:sym typeface="Tahoma"/>
              </a:rPr>
              <a:t>Etapas de uma Investigação de Acidente</a:t>
            </a:r>
          </a:p>
        </p:txBody>
      </p:sp>
      <p:sp>
        <p:nvSpPr>
          <p:cNvPr id="463" name="Shape 463"/>
          <p:cNvSpPr/>
          <p:nvPr/>
        </p:nvSpPr>
        <p:spPr>
          <a:xfrm>
            <a:off x="609600" y="2743200"/>
            <a:ext cx="7772400" cy="2590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endParaRPr/>
          </a:p>
        </p:txBody>
      </p:sp>
      <p:sp>
        <p:nvSpPr>
          <p:cNvPr id="464" name="Shape 464"/>
          <p:cNvSpPr/>
          <p:nvPr/>
        </p:nvSpPr>
        <p:spPr>
          <a:xfrm>
            <a:off x="107505" y="1844824"/>
            <a:ext cx="5472608" cy="4949007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x-none" sz="3200" b="0" i="0" u="none" strike="noStrike" cap="none" baseline="0" smtClean="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Coletar </a:t>
            </a:r>
            <a:r>
              <a:rPr lang="x-none" sz="3200" b="0" i="0" u="none" strike="noStrike" cap="none" baseline="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os fatos, descrevendo o ocorrido detalhadamente</a:t>
            </a:r>
            <a:r>
              <a:rPr lang="x-none" sz="3200" b="0" i="0" u="none" strike="noStrike" cap="none" baseline="0" smtClean="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;</a:t>
            </a:r>
            <a:endParaRPr lang="pt-BR" sz="3200" b="0" i="0" u="none" strike="noStrike" cap="none" baseline="0" dirty="0" smtClean="0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x-none" sz="3200" b="0" i="0" u="none" strike="noStrike" cap="none" baseline="0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algn="just"/>
            <a:endParaRPr sz="1200" dirty="0"/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x-none" sz="3200" b="0" i="0" u="none" strike="noStrike" cap="none" baseline="0" smtClean="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Analisar </a:t>
            </a:r>
            <a:r>
              <a:rPr lang="x-none" sz="3200" b="0" i="0" u="none" strike="noStrike" cap="none" baseline="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o acidente</a:t>
            </a:r>
            <a:r>
              <a:rPr lang="x-none" sz="3600" b="0" i="0" u="none" strike="noStrike" cap="none" baseline="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, </a:t>
            </a:r>
            <a:r>
              <a:rPr lang="x-none" sz="3200" b="0" i="0" u="none" strike="noStrike" cap="none" baseline="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identificando suas causas</a:t>
            </a:r>
            <a:r>
              <a:rPr lang="x-none" sz="3200" b="0" i="0" u="none" strike="noStrike" cap="none" baseline="0" smtClean="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;</a:t>
            </a:r>
            <a:endParaRPr lang="pt-BR" sz="3200" b="0" i="0" u="none" strike="noStrike" cap="none" baseline="0" dirty="0" smtClean="0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x-none" sz="3200" b="0" i="0" u="none" strike="noStrike" cap="none" baseline="0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algn="just"/>
            <a:endParaRPr sz="1200" dirty="0"/>
          </a:p>
          <a:p>
            <a:pPr marL="0" marR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 sz="3200" b="1" i="0" u="none" strike="noStrike" cap="none" baseline="0">
                <a:solidFill>
                  <a:srgbClr val="413185"/>
                </a:solidFill>
                <a:latin typeface="Tahoma"/>
                <a:ea typeface="Tahoma"/>
                <a:cs typeface="Tahoma"/>
                <a:sym typeface="Tahoma"/>
              </a:rPr>
              <a:t>-</a:t>
            </a:r>
            <a:r>
              <a:rPr lang="x-none" sz="3200" b="0" i="0" u="none" strike="noStrike" cap="none" baseline="0">
                <a:solidFill>
                  <a:srgbClr val="413185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x-none" sz="3200" b="0" i="0" u="none" strike="noStrike" cap="none" baseline="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Definir as medidas preventivas, e acompanhar sua execução.</a:t>
            </a:r>
          </a:p>
        </p:txBody>
      </p:sp>
      <p:sp>
        <p:nvSpPr>
          <p:cNvPr id="465" name="Shape 465"/>
          <p:cNvSpPr/>
          <p:nvPr/>
        </p:nvSpPr>
        <p:spPr>
          <a:xfrm>
            <a:off x="8001000" y="0"/>
            <a:ext cx="1143000" cy="1447799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  <p:sp>
        <p:nvSpPr>
          <p:cNvPr id="466" name="Shape 466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19049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/>
              <a:t> </a:t>
            </a:r>
          </a:p>
        </p:txBody>
      </p:sp>
      <p:pic>
        <p:nvPicPr>
          <p:cNvPr id="8194" name="Picture 2" descr="Image result for investigar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7645" y="1611181"/>
            <a:ext cx="3141365" cy="4854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8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4" grpId="0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Shape 473"/>
          <p:cNvSpPr/>
          <p:nvPr/>
        </p:nvSpPr>
        <p:spPr>
          <a:xfrm>
            <a:off x="8001000" y="0"/>
            <a:ext cx="1143000" cy="1447799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  <p:sp>
        <p:nvSpPr>
          <p:cNvPr id="474" name="Shape 474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19049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/>
              <a:t> </a:t>
            </a:r>
          </a:p>
        </p:txBody>
      </p:sp>
      <p:pic>
        <p:nvPicPr>
          <p:cNvPr id="9218" name="Picture 2" descr="Image result for incêndio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12576" y="-10027"/>
            <a:ext cx="10388565" cy="68954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71" name="Shape 471"/>
          <p:cNvSpPr txBox="1">
            <a:spLocks noGrp="1"/>
          </p:cNvSpPr>
          <p:nvPr>
            <p:ph type="title"/>
          </p:nvPr>
        </p:nvSpPr>
        <p:spPr>
          <a:xfrm>
            <a:off x="0" y="149772"/>
            <a:ext cx="3995936" cy="83095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 sz="4800" b="0" i="1" u="none" strike="noStrike" cap="none" baseline="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Módulo V</a:t>
            </a:r>
          </a:p>
        </p:txBody>
      </p:sp>
      <p:sp>
        <p:nvSpPr>
          <p:cNvPr id="472" name="Shape 472"/>
          <p:cNvSpPr txBox="1">
            <a:spLocks noGrp="1"/>
          </p:cNvSpPr>
          <p:nvPr>
            <p:ph type="body" idx="1"/>
          </p:nvPr>
        </p:nvSpPr>
        <p:spPr>
          <a:xfrm>
            <a:off x="107504" y="1484784"/>
            <a:ext cx="7627799" cy="70784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25" tIns="45700" rIns="91425" bIns="45700" anchor="t" anchorCtr="0">
            <a:spAutoFit/>
          </a:bodyPr>
          <a:lstStyle/>
          <a:p>
            <a:pPr marR="0" lvl="0" indent="0" algn="l" rtl="0">
              <a:lnSpc>
                <a:spcPct val="100000"/>
              </a:lnSpc>
              <a:spcBef>
                <a:spcPts val="880"/>
              </a:spcBef>
              <a:spcAft>
                <a:spcPts val="0"/>
              </a:spcAft>
              <a:buClr>
                <a:schemeClr val="dk1"/>
              </a:buClr>
              <a:buSzPct val="60227"/>
              <a:buNone/>
            </a:pPr>
            <a:r>
              <a:rPr lang="pt-BR" sz="4000" b="0" i="0" u="none" strike="noStrike" cap="none" baseline="0" dirty="0" smtClean="0">
                <a:solidFill>
                  <a:srgbClr val="8C7D0E"/>
                </a:solidFill>
                <a:latin typeface="Tahoma"/>
                <a:ea typeface="Tahoma"/>
                <a:cs typeface="Tahoma"/>
                <a:sym typeface="Tahoma"/>
              </a:rPr>
              <a:t>- </a:t>
            </a:r>
            <a:r>
              <a:rPr lang="x-none" sz="4000" b="0" i="0" u="none" strike="noStrike" cap="none" baseline="0" smtClean="0">
                <a:solidFill>
                  <a:srgbClr val="8C7D0E"/>
                </a:solidFill>
                <a:latin typeface="Tahoma"/>
                <a:ea typeface="Tahoma"/>
                <a:cs typeface="Tahoma"/>
                <a:sym typeface="Tahoma"/>
              </a:rPr>
              <a:t>Fogo;</a:t>
            </a:r>
            <a:endParaRPr lang="x-none" sz="4000" b="0" i="0" u="none" strike="noStrike" cap="none" baseline="0">
              <a:solidFill>
                <a:srgbClr val="8C7D0E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" name="Shape 472"/>
          <p:cNvSpPr txBox="1">
            <a:spLocks/>
          </p:cNvSpPr>
          <p:nvPr/>
        </p:nvSpPr>
        <p:spPr>
          <a:xfrm>
            <a:off x="179512" y="2780928"/>
            <a:ext cx="7627799" cy="70784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25" tIns="45700" rIns="91425" bIns="45700" anchor="t" anchorCtr="0">
            <a:spAutoFit/>
          </a:bodyPr>
          <a:lstStyle>
            <a:def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indent="1206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3200" b="0" i="0" u="none" strike="noStrike" cap="none" baseline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793750" marR="0" indent="-2286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Font typeface="Arial"/>
              <a:buChar char="•"/>
              <a:defRPr sz="2800" b="0" i="0" u="none" strike="noStrike" cap="none" baseline="0">
                <a:solidFill>
                  <a:schemeClr val="dk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1143000" marR="0" indent="-136525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Font typeface="Arial"/>
              <a:buChar char="•"/>
              <a:defRPr sz="2400" b="0" i="0" u="none" strike="noStrike" cap="none" baseline="0">
                <a:solidFill>
                  <a:schemeClr val="dk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600200" marR="0" indent="-1524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/>
              <a:buChar char="•"/>
              <a:defRPr sz="2000" b="0" i="0" u="none" strike="noStrike" cap="none" baseline="0">
                <a:solidFill>
                  <a:schemeClr val="dk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2057400" marR="0" indent="-1524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/>
              <a:buChar char="•"/>
              <a:defRPr sz="2000" b="0" i="0" u="none" strike="noStrike" cap="none" baseline="0">
                <a:solidFill>
                  <a:schemeClr val="dk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2514600" marR="0" indent="-1079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3200" b="0" i="0" u="none" strike="noStrike" cap="none" baseline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2971800" marR="0" indent="-1079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3200" b="0" i="0" u="none" strike="noStrike" cap="none" baseline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3429000" marR="0" indent="-1079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3200" b="0" i="0" u="none" strike="noStrike" cap="none" baseline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3886200" marR="0" indent="-1079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3200" b="0" i="0" u="none" strike="noStrike" cap="none" baseline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>
              <a:spcBef>
                <a:spcPts val="880"/>
              </a:spcBef>
              <a:buSzPct val="60227"/>
              <a:buNone/>
            </a:pPr>
            <a:r>
              <a:rPr lang="pt-BR" sz="4000" dirty="0" smtClean="0">
                <a:solidFill>
                  <a:srgbClr val="8C7D0E"/>
                </a:solidFill>
              </a:rPr>
              <a:t>- </a:t>
            </a:r>
            <a:r>
              <a:rPr lang="x-none" sz="4000" smtClean="0">
                <a:solidFill>
                  <a:srgbClr val="8C7D0E"/>
                </a:solidFill>
              </a:rPr>
              <a:t>Classes de Fogo;</a:t>
            </a:r>
            <a:endParaRPr lang="x-none" sz="4000">
              <a:solidFill>
                <a:srgbClr val="8C7D0E"/>
              </a:solidFill>
            </a:endParaRPr>
          </a:p>
        </p:txBody>
      </p:sp>
      <p:sp>
        <p:nvSpPr>
          <p:cNvPr id="8" name="Shape 472"/>
          <p:cNvSpPr txBox="1">
            <a:spLocks/>
          </p:cNvSpPr>
          <p:nvPr/>
        </p:nvSpPr>
        <p:spPr>
          <a:xfrm>
            <a:off x="200702" y="4293096"/>
            <a:ext cx="7627799" cy="70784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25" tIns="45700" rIns="91425" bIns="45700" anchor="t" anchorCtr="0">
            <a:spAutoFit/>
          </a:bodyPr>
          <a:lstStyle>
            <a:def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indent="1206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3200" b="0" i="0" u="none" strike="noStrike" cap="none" baseline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793750" marR="0" indent="-2286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Font typeface="Arial"/>
              <a:buChar char="•"/>
              <a:defRPr sz="2800" b="0" i="0" u="none" strike="noStrike" cap="none" baseline="0">
                <a:solidFill>
                  <a:schemeClr val="dk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1143000" marR="0" indent="-136525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Font typeface="Arial"/>
              <a:buChar char="•"/>
              <a:defRPr sz="2400" b="0" i="0" u="none" strike="noStrike" cap="none" baseline="0">
                <a:solidFill>
                  <a:schemeClr val="dk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600200" marR="0" indent="-1524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/>
              <a:buChar char="•"/>
              <a:defRPr sz="2000" b="0" i="0" u="none" strike="noStrike" cap="none" baseline="0">
                <a:solidFill>
                  <a:schemeClr val="dk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2057400" marR="0" indent="-1524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/>
              <a:buChar char="•"/>
              <a:defRPr sz="2000" b="0" i="0" u="none" strike="noStrike" cap="none" baseline="0">
                <a:solidFill>
                  <a:schemeClr val="dk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2514600" marR="0" indent="-1079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3200" b="0" i="0" u="none" strike="noStrike" cap="none" baseline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2971800" marR="0" indent="-1079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3200" b="0" i="0" u="none" strike="noStrike" cap="none" baseline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3429000" marR="0" indent="-1079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3200" b="0" i="0" u="none" strike="noStrike" cap="none" baseline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3886200" marR="0" indent="-1079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3200" b="0" i="0" u="none" strike="noStrike" cap="none" baseline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>
              <a:spcBef>
                <a:spcPts val="880"/>
              </a:spcBef>
              <a:buSzPct val="60227"/>
              <a:buNone/>
            </a:pPr>
            <a:r>
              <a:rPr lang="pt-BR" sz="4000" dirty="0" smtClean="0">
                <a:solidFill>
                  <a:srgbClr val="8C7D0E"/>
                </a:solidFill>
              </a:rPr>
              <a:t>- </a:t>
            </a:r>
            <a:r>
              <a:rPr lang="x-none" sz="4000" smtClean="0">
                <a:solidFill>
                  <a:srgbClr val="8C7D0E"/>
                </a:solidFill>
              </a:rPr>
              <a:t>Como Evitar um Incêndio;</a:t>
            </a:r>
            <a:endParaRPr lang="x-none" sz="4000">
              <a:solidFill>
                <a:srgbClr val="8C7D0E"/>
              </a:solidFill>
            </a:endParaRPr>
          </a:p>
        </p:txBody>
      </p:sp>
      <p:sp>
        <p:nvSpPr>
          <p:cNvPr id="9" name="Shape 472"/>
          <p:cNvSpPr txBox="1">
            <a:spLocks/>
          </p:cNvSpPr>
          <p:nvPr/>
        </p:nvSpPr>
        <p:spPr>
          <a:xfrm>
            <a:off x="226293" y="5877272"/>
            <a:ext cx="7627799" cy="70784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25" tIns="45700" rIns="91425" bIns="45700" anchor="t" anchorCtr="0">
            <a:spAutoFit/>
          </a:bodyPr>
          <a:lstStyle>
            <a:def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indent="1206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3200" b="0" i="0" u="none" strike="noStrike" cap="none" baseline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793750" marR="0" indent="-2286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Font typeface="Arial"/>
              <a:buChar char="•"/>
              <a:defRPr sz="2800" b="0" i="0" u="none" strike="noStrike" cap="none" baseline="0">
                <a:solidFill>
                  <a:schemeClr val="dk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1143000" marR="0" indent="-136525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Font typeface="Arial"/>
              <a:buChar char="•"/>
              <a:defRPr sz="2400" b="0" i="0" u="none" strike="noStrike" cap="none" baseline="0">
                <a:solidFill>
                  <a:schemeClr val="dk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600200" marR="0" indent="-1524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/>
              <a:buChar char="•"/>
              <a:defRPr sz="2000" b="0" i="0" u="none" strike="noStrike" cap="none" baseline="0">
                <a:solidFill>
                  <a:schemeClr val="dk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2057400" marR="0" indent="-1524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/>
              <a:buChar char="•"/>
              <a:defRPr sz="2000" b="0" i="0" u="none" strike="noStrike" cap="none" baseline="0">
                <a:solidFill>
                  <a:schemeClr val="dk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2514600" marR="0" indent="-1079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3200" b="0" i="0" u="none" strike="noStrike" cap="none" baseline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2971800" marR="0" indent="-1079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3200" b="0" i="0" u="none" strike="noStrike" cap="none" baseline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3429000" marR="0" indent="-1079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3200" b="0" i="0" u="none" strike="noStrike" cap="none" baseline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3886200" marR="0" indent="-1079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3200" b="0" i="0" u="none" strike="noStrike" cap="none" baseline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>
              <a:spcBef>
                <a:spcPts val="880"/>
              </a:spcBef>
              <a:buSzPct val="60227"/>
              <a:buFont typeface="Tahoma"/>
              <a:buNone/>
            </a:pPr>
            <a:r>
              <a:rPr lang="pt-BR" sz="4000" dirty="0" smtClean="0">
                <a:solidFill>
                  <a:srgbClr val="8C7D0E"/>
                </a:solidFill>
              </a:rPr>
              <a:t>-</a:t>
            </a:r>
            <a:r>
              <a:rPr lang="x-none" sz="4000" smtClean="0">
                <a:solidFill>
                  <a:srgbClr val="8C7D0E"/>
                </a:solidFill>
              </a:rPr>
              <a:t> Tipos de Extintores.</a:t>
            </a:r>
            <a:endParaRPr lang="x-none" sz="4000">
              <a:solidFill>
                <a:srgbClr val="8C7D0E"/>
              </a:solidFill>
            </a:endParaRP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72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72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4" grpId="0" build="p"/>
      <p:bldP spid="471" grpId="0" animBg="1"/>
      <p:bldP spid="472" grpId="0" build="p" animBg="1"/>
      <p:bldP spid="7" grpId="0" build="p" animBg="1"/>
      <p:bldP spid="8" grpId="0" build="p" animBg="1"/>
      <p:bldP spid="9" grpId="0" build="p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Shape 479"/>
          <p:cNvSpPr txBox="1">
            <a:spLocks noGrp="1"/>
          </p:cNvSpPr>
          <p:nvPr>
            <p:ph type="title"/>
          </p:nvPr>
        </p:nvSpPr>
        <p:spPr>
          <a:xfrm>
            <a:off x="533400" y="3810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 sz="4400" b="0" i="0" u="none" strike="noStrike" cap="none" baseline="0">
                <a:solidFill>
                  <a:srgbClr val="8C7D0E"/>
                </a:solidFill>
                <a:latin typeface="Tahoma"/>
                <a:ea typeface="Tahoma"/>
                <a:cs typeface="Tahoma"/>
                <a:sym typeface="Tahoma"/>
              </a:rPr>
              <a:t>Fogo</a:t>
            </a:r>
          </a:p>
        </p:txBody>
      </p:sp>
      <p:sp>
        <p:nvSpPr>
          <p:cNvPr id="481" name="Shape 481"/>
          <p:cNvSpPr/>
          <p:nvPr/>
        </p:nvSpPr>
        <p:spPr>
          <a:xfrm>
            <a:off x="6084168" y="4797152"/>
            <a:ext cx="3059756" cy="2026932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  <p:sp>
        <p:nvSpPr>
          <p:cNvPr id="482" name="Shape 482"/>
          <p:cNvSpPr/>
          <p:nvPr/>
        </p:nvSpPr>
        <p:spPr>
          <a:xfrm>
            <a:off x="8001000" y="0"/>
            <a:ext cx="1143000" cy="1447799"/>
          </a:xfrm>
          <a:prstGeom prst="rect">
            <a:avLst/>
          </a:prstGeom>
          <a:blipFill>
            <a:blip r:embed="rId5"/>
            <a:stretch>
              <a:fillRect/>
            </a:stretch>
          </a:blipFill>
        </p:spPr>
      </p:sp>
      <p:sp>
        <p:nvSpPr>
          <p:cNvPr id="483" name="Shape 483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19049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/>
              <a:t> </a:t>
            </a:r>
          </a:p>
        </p:txBody>
      </p:sp>
      <p:sp>
        <p:nvSpPr>
          <p:cNvPr id="480" name="Shape 480"/>
          <p:cNvSpPr txBox="1">
            <a:spLocks noGrp="1"/>
          </p:cNvSpPr>
          <p:nvPr>
            <p:ph type="body" idx="1"/>
          </p:nvPr>
        </p:nvSpPr>
        <p:spPr>
          <a:xfrm>
            <a:off x="107504" y="1295400"/>
            <a:ext cx="8928992" cy="361633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25" tIns="45700" rIns="91425" bIns="45700" anchor="t" anchorCtr="0">
            <a:spAutoFit/>
          </a:bodyPr>
          <a:lstStyle/>
          <a:p>
            <a:pPr marR="0" lvl="0" indent="0" algn="just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59375"/>
              <a:buFont typeface="Tahoma"/>
              <a:buNone/>
            </a:pPr>
            <a:r>
              <a:rPr lang="x-none" sz="3200" b="0" i="0" u="none" strike="noStrike" cap="none" baseline="0">
                <a:solidFill>
                  <a:srgbClr val="000099"/>
                </a:solidFill>
                <a:latin typeface="Tahoma"/>
                <a:ea typeface="Tahoma"/>
                <a:cs typeface="Tahoma"/>
                <a:sym typeface="Tahoma"/>
              </a:rPr>
              <a:t>Reação química de oxidação, onde há liberação de luz e calor.</a:t>
            </a:r>
          </a:p>
          <a:p>
            <a:pPr marR="0" lvl="0" indent="0" algn="just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59375"/>
              <a:buFont typeface="Tahoma"/>
              <a:buNone/>
            </a:pPr>
            <a:r>
              <a:rPr lang="x-none" sz="3200" b="0" i="0" u="none" strike="noStrike" cap="none" baseline="0">
                <a:solidFill>
                  <a:srgbClr val="000099"/>
                </a:solidFill>
                <a:latin typeface="Tahoma"/>
                <a:ea typeface="Tahoma"/>
                <a:cs typeface="Tahoma"/>
                <a:sym typeface="Tahoma"/>
              </a:rPr>
              <a:t>Para ocorrer o fogo é necessário que haja, </a:t>
            </a:r>
            <a:r>
              <a:rPr lang="x-none" sz="3200" b="0" i="1" u="none" strike="noStrike" cap="none" baseline="0">
                <a:solidFill>
                  <a:srgbClr val="000099"/>
                </a:solidFill>
                <a:latin typeface="Tahoma"/>
                <a:ea typeface="Tahoma"/>
                <a:cs typeface="Tahoma"/>
                <a:sym typeface="Tahoma"/>
              </a:rPr>
              <a:t>calor, oxigênio, e combustível</a:t>
            </a:r>
            <a:r>
              <a:rPr lang="x-none" sz="3200" b="0" i="0" u="none" strike="noStrike" cap="none" baseline="0">
                <a:solidFill>
                  <a:srgbClr val="000099"/>
                </a:solidFill>
                <a:latin typeface="Tahoma"/>
                <a:ea typeface="Tahoma"/>
                <a:cs typeface="Tahoma"/>
                <a:sym typeface="Tahoma"/>
              </a:rPr>
              <a:t>, é o que conhecemos por triângulo do fogo, e na falta de algum desses elementos é impossível, que haja fogo.</a:t>
            </a:r>
            <a:br>
              <a:rPr lang="x-none" sz="3200" b="0" i="0" u="none" strike="noStrike" cap="none" baseline="0">
                <a:solidFill>
                  <a:srgbClr val="000099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x-none" sz="3200" b="0" i="0" u="none" strike="noStrike" cap="none" baseline="0">
                <a:solidFill>
                  <a:srgbClr val="000099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Shape 488"/>
          <p:cNvSpPr txBox="1">
            <a:spLocks noGrp="1"/>
          </p:cNvSpPr>
          <p:nvPr>
            <p:ph type="title"/>
          </p:nvPr>
        </p:nvSpPr>
        <p:spPr>
          <a:xfrm>
            <a:off x="685800" y="533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 sz="4000" b="0" i="0" u="none" strike="noStrike" cap="none" baseline="0">
                <a:solidFill>
                  <a:srgbClr val="8C7D0E"/>
                </a:solidFill>
                <a:latin typeface="Tahoma"/>
                <a:ea typeface="Tahoma"/>
                <a:cs typeface="Tahoma"/>
                <a:sym typeface="Tahoma"/>
              </a:rPr>
              <a:t>Classes de Fogo</a:t>
            </a:r>
          </a:p>
        </p:txBody>
      </p:sp>
      <p:sp>
        <p:nvSpPr>
          <p:cNvPr id="489" name="Shape 489"/>
          <p:cNvSpPr txBox="1">
            <a:spLocks noGrp="1"/>
          </p:cNvSpPr>
          <p:nvPr>
            <p:ph type="body" idx="1"/>
          </p:nvPr>
        </p:nvSpPr>
        <p:spPr>
          <a:xfrm>
            <a:off x="914400" y="1600200"/>
            <a:ext cx="7543800" cy="464819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pPr marR="0" lvl="0" indent="0" algn="just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ct val="60000"/>
              <a:buFont typeface="Tahoma"/>
              <a:buNone/>
            </a:pPr>
            <a:r>
              <a:rPr lang="x-none" sz="3500" b="0" i="0" u="none" strike="noStrike" cap="none" baseline="0">
                <a:solidFill>
                  <a:srgbClr val="008000"/>
                </a:solidFill>
                <a:latin typeface="Tahoma"/>
                <a:ea typeface="Tahoma"/>
                <a:cs typeface="Tahoma"/>
                <a:sym typeface="Tahoma"/>
              </a:rPr>
              <a:t>* </a:t>
            </a:r>
            <a:r>
              <a:rPr lang="x-none" sz="3200" b="0" i="0" u="none" strike="noStrike" cap="none" baseline="0">
                <a:solidFill>
                  <a:srgbClr val="008000"/>
                </a:solidFill>
                <a:latin typeface="Tahoma"/>
                <a:ea typeface="Tahoma"/>
                <a:cs typeface="Tahoma"/>
                <a:sym typeface="Tahoma"/>
              </a:rPr>
              <a:t>CLASSE “A</a:t>
            </a:r>
            <a:r>
              <a:rPr lang="x-none" sz="3200" b="0" i="0" u="none" strike="noStrike" cap="none" baseline="0">
                <a:solidFill>
                  <a:srgbClr val="137B33"/>
                </a:solidFill>
                <a:latin typeface="Tahoma"/>
                <a:ea typeface="Tahoma"/>
                <a:cs typeface="Tahoma"/>
                <a:sym typeface="Tahoma"/>
              </a:rPr>
              <a:t>”</a:t>
            </a:r>
            <a:r>
              <a:rPr lang="x-none" sz="3200" b="0" i="0" u="none" strike="noStrike" cap="none" baseline="0">
                <a:solidFill>
                  <a:srgbClr val="000099"/>
                </a:solidFill>
                <a:latin typeface="Tahoma"/>
                <a:ea typeface="Tahoma"/>
                <a:cs typeface="Tahoma"/>
                <a:sym typeface="Tahoma"/>
              </a:rPr>
              <a:t>:</a:t>
            </a:r>
            <a:r>
              <a:rPr lang="x-none" sz="3200" b="0" i="0" u="none" strike="noStrike" cap="none" baseline="0">
                <a:solidFill>
                  <a:srgbClr val="FF0066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x-none" sz="3200" b="0" i="0" u="none" strike="noStrike" cap="none" baseline="0">
                <a:solidFill>
                  <a:srgbClr val="000099"/>
                </a:solidFill>
                <a:latin typeface="Tahoma"/>
                <a:ea typeface="Tahoma"/>
                <a:cs typeface="Tahoma"/>
                <a:sym typeface="Tahoma"/>
              </a:rPr>
              <a:t>São materiais de fácil combustão, queimam tanto na superfície como em profundidade, deixando resíduos. Ex.: madeira, papel, etc.</a:t>
            </a:r>
          </a:p>
          <a:p>
            <a:pPr marR="0" lvl="0" indent="0" algn="just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59375"/>
              <a:buFont typeface="Tahoma"/>
              <a:buNone/>
            </a:pPr>
            <a:r>
              <a:rPr lang="x-none" sz="3200" b="0" i="0" u="none" strike="noStrike" cap="none" baseline="0">
                <a:solidFill>
                  <a:srgbClr val="008000"/>
                </a:solidFill>
                <a:latin typeface="Tahoma"/>
                <a:ea typeface="Tahoma"/>
                <a:cs typeface="Tahoma"/>
                <a:sym typeface="Tahoma"/>
              </a:rPr>
              <a:t>* CLASSE “B</a:t>
            </a:r>
            <a:r>
              <a:rPr lang="x-none" sz="3200" b="0" i="0" u="none" strike="noStrike" cap="none" baseline="0">
                <a:solidFill>
                  <a:srgbClr val="137B33"/>
                </a:solidFill>
                <a:latin typeface="Tahoma"/>
                <a:ea typeface="Tahoma"/>
                <a:cs typeface="Tahoma"/>
                <a:sym typeface="Tahoma"/>
              </a:rPr>
              <a:t>”</a:t>
            </a:r>
            <a:r>
              <a:rPr lang="x-none" sz="3200" b="0" i="0" u="none" strike="noStrike" cap="none" baseline="0">
                <a:solidFill>
                  <a:srgbClr val="000099"/>
                </a:solidFill>
                <a:latin typeface="Tahoma"/>
                <a:ea typeface="Tahoma"/>
                <a:cs typeface="Tahoma"/>
                <a:sym typeface="Tahoma"/>
              </a:rPr>
              <a:t>: São os produtos que </a:t>
            </a:r>
          </a:p>
          <a:p>
            <a:pPr marR="0" lvl="0" indent="0" algn="just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59375"/>
              <a:buFont typeface="Tahoma"/>
              <a:buNone/>
            </a:pPr>
            <a:r>
              <a:rPr lang="x-none" sz="3200" b="0" i="0" u="none" strike="noStrike" cap="none" baseline="0">
                <a:solidFill>
                  <a:srgbClr val="000099"/>
                </a:solidFill>
                <a:latin typeface="Tahoma"/>
                <a:ea typeface="Tahoma"/>
                <a:cs typeface="Tahoma"/>
                <a:sym typeface="Tahoma"/>
              </a:rPr>
              <a:t>queimam somente na superfície. </a:t>
            </a:r>
          </a:p>
          <a:p>
            <a:pPr marR="0" lvl="0" indent="0" algn="just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59375"/>
              <a:buFont typeface="Tahoma"/>
              <a:buNone/>
            </a:pPr>
            <a:r>
              <a:rPr lang="x-none" sz="3200" b="0" i="0" u="none" strike="noStrike" cap="none" baseline="0">
                <a:solidFill>
                  <a:srgbClr val="000099"/>
                </a:solidFill>
                <a:latin typeface="Tahoma"/>
                <a:ea typeface="Tahoma"/>
                <a:cs typeface="Tahoma"/>
                <a:sym typeface="Tahoma"/>
              </a:rPr>
              <a:t>  </a:t>
            </a:r>
            <a:r>
              <a:rPr lang="x-none" sz="3200" b="0" i="0" u="none" strike="noStrike" cap="none" baseline="0">
                <a:solidFill>
                  <a:srgbClr val="CC0000"/>
                </a:solidFill>
                <a:latin typeface="Tahoma"/>
                <a:ea typeface="Tahoma"/>
                <a:cs typeface="Tahoma"/>
                <a:sym typeface="Tahoma"/>
              </a:rPr>
              <a:t>Ex.: gasolina, óleos, graxas, etc.</a:t>
            </a:r>
          </a:p>
        </p:txBody>
      </p:sp>
      <p:sp>
        <p:nvSpPr>
          <p:cNvPr id="490" name="Shape 490"/>
          <p:cNvSpPr/>
          <p:nvPr/>
        </p:nvSpPr>
        <p:spPr>
          <a:xfrm>
            <a:off x="8001000" y="0"/>
            <a:ext cx="1143000" cy="1447799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  <p:sp>
        <p:nvSpPr>
          <p:cNvPr id="491" name="Shape 491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19049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/>
              <a:t> 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Shape 496"/>
          <p:cNvSpPr txBox="1">
            <a:spLocks noGrp="1"/>
          </p:cNvSpPr>
          <p:nvPr>
            <p:ph type="body" idx="1"/>
          </p:nvPr>
        </p:nvSpPr>
        <p:spPr>
          <a:xfrm>
            <a:off x="228600" y="762000"/>
            <a:ext cx="8686800" cy="525779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pPr marR="0" lvl="0" indent="0" algn="just" rtl="0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ct val="67187"/>
              <a:buFont typeface="Tahoma"/>
              <a:buNone/>
            </a:pPr>
            <a:r>
              <a:rPr lang="x-none" sz="3200" b="0" i="0" u="none" strike="noStrike" cap="none" baseline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
</a:t>
            </a:r>
            <a:r>
              <a:rPr lang="x-none" sz="3600" b="0" i="0" u="none" strike="noStrike" cap="none" baseline="0">
                <a:solidFill>
                  <a:srgbClr val="008000"/>
                </a:solidFill>
                <a:latin typeface="Tahoma"/>
                <a:ea typeface="Tahoma"/>
                <a:cs typeface="Tahoma"/>
                <a:sym typeface="Tahoma"/>
              </a:rPr>
              <a:t>* CLASSE “C”</a:t>
            </a:r>
            <a:r>
              <a:rPr lang="x-none" sz="3600" b="0" i="0" u="none" strike="noStrike" cap="none" baseline="0">
                <a:solidFill>
                  <a:srgbClr val="000099"/>
                </a:solidFill>
                <a:latin typeface="Tahoma"/>
                <a:ea typeface="Tahoma"/>
                <a:cs typeface="Tahoma"/>
                <a:sym typeface="Tahoma"/>
              </a:rPr>
              <a:t>:</a:t>
            </a:r>
            <a:r>
              <a:rPr lang="x-none" sz="3600" b="0" i="0" u="none" strike="noStrike" cap="none" baseline="0">
                <a:solidFill>
                  <a:srgbClr val="FF33CC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x-none" sz="3600" b="0" i="0" u="none" strike="noStrike" cap="none" baseline="0">
                <a:solidFill>
                  <a:srgbClr val="000099"/>
                </a:solidFill>
                <a:latin typeface="Tahoma"/>
                <a:ea typeface="Tahoma"/>
                <a:cs typeface="Tahoma"/>
                <a:sym typeface="Tahoma"/>
              </a:rPr>
              <a:t>Ocorre em equipamentos elétricos energizados. </a:t>
            </a:r>
          </a:p>
          <a:p>
            <a:pPr marR="0" lvl="0" indent="0" algn="just" rtl="0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ct val="59722"/>
              <a:buFont typeface="Tahoma"/>
              <a:buNone/>
            </a:pPr>
            <a:r>
              <a:rPr lang="x-none" sz="3600" b="0" i="0" u="none" strike="noStrike" cap="none" baseline="0">
                <a:solidFill>
                  <a:srgbClr val="000099"/>
                </a:solidFill>
                <a:latin typeface="Tahoma"/>
                <a:ea typeface="Tahoma"/>
                <a:cs typeface="Tahoma"/>
                <a:sym typeface="Tahoma"/>
              </a:rPr>
              <a:t>   Ex: motores, quadros de distribuição, etc.</a:t>
            </a:r>
          </a:p>
          <a:p>
            <a:endParaRPr/>
          </a:p>
          <a:p>
            <a:pPr marR="0" lvl="0" indent="0" algn="just" rtl="0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ct val="59722"/>
              <a:buFont typeface="Tahoma"/>
              <a:buNone/>
            </a:pPr>
            <a:r>
              <a:rPr lang="x-none" sz="3600" b="0" i="0" u="none" strike="noStrike" cap="none" baseline="0">
                <a:solidFill>
                  <a:srgbClr val="008000"/>
                </a:solidFill>
                <a:latin typeface="Tahoma"/>
                <a:ea typeface="Tahoma"/>
                <a:cs typeface="Tahoma"/>
                <a:sym typeface="Tahoma"/>
              </a:rPr>
              <a:t>* CLASSE “D”</a:t>
            </a:r>
            <a:r>
              <a:rPr lang="x-none" sz="3600" b="0" i="0" u="none" strike="noStrike" cap="none" baseline="0">
                <a:solidFill>
                  <a:srgbClr val="000099"/>
                </a:solidFill>
                <a:latin typeface="Tahoma"/>
                <a:ea typeface="Tahoma"/>
                <a:cs typeface="Tahoma"/>
                <a:sym typeface="Tahoma"/>
              </a:rPr>
              <a:t>: Ocorre em materiais pirofóricos como magnésio, zircônio, titânio, etc.</a:t>
            </a:r>
          </a:p>
          <a:p>
            <a:endParaRPr/>
          </a:p>
        </p:txBody>
      </p:sp>
      <p:sp>
        <p:nvSpPr>
          <p:cNvPr id="497" name="Shape 497"/>
          <p:cNvSpPr/>
          <p:nvPr/>
        </p:nvSpPr>
        <p:spPr>
          <a:xfrm>
            <a:off x="8001000" y="0"/>
            <a:ext cx="1143000" cy="1447799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  <p:sp>
        <p:nvSpPr>
          <p:cNvPr id="498" name="Shape 498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19049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/>
              <a:t> 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Shape 503"/>
          <p:cNvSpPr txBox="1">
            <a:spLocks noGrp="1"/>
          </p:cNvSpPr>
          <p:nvPr>
            <p:ph type="title"/>
          </p:nvPr>
        </p:nvSpPr>
        <p:spPr>
          <a:xfrm>
            <a:off x="914400" y="228600"/>
            <a:ext cx="6781800" cy="17526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 sz="4000" b="0" i="0" u="none" strike="noStrike" cap="none" baseline="0">
                <a:solidFill>
                  <a:srgbClr val="8C7D0E"/>
                </a:solidFill>
                <a:latin typeface="Tahoma"/>
                <a:ea typeface="Tahoma"/>
                <a:cs typeface="Tahoma"/>
                <a:sym typeface="Tahoma"/>
              </a:rPr>
              <a:t>Tipos de extintores:</a:t>
            </a:r>
          </a:p>
        </p:txBody>
      </p:sp>
      <p:sp>
        <p:nvSpPr>
          <p:cNvPr id="504" name="Shape 504"/>
          <p:cNvSpPr txBox="1">
            <a:spLocks noGrp="1"/>
          </p:cNvSpPr>
          <p:nvPr>
            <p:ph type="body" idx="1"/>
          </p:nvPr>
        </p:nvSpPr>
        <p:spPr>
          <a:xfrm>
            <a:off x="685800" y="21336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Font typeface="Arial"/>
              <a:buChar char="•"/>
            </a:pPr>
            <a:r>
              <a:rPr lang="x-none" sz="3200" b="0" i="0" u="none" strike="noStrike" cap="none" baseline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</a:p>
        </p:txBody>
      </p:sp>
      <p:sp>
        <p:nvSpPr>
          <p:cNvPr id="505" name="Shape 505"/>
          <p:cNvSpPr/>
          <p:nvPr/>
        </p:nvSpPr>
        <p:spPr>
          <a:xfrm>
            <a:off x="685800" y="22098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endParaRPr/>
          </a:p>
        </p:txBody>
      </p:sp>
      <p:sp>
        <p:nvSpPr>
          <p:cNvPr id="506" name="Shape 506"/>
          <p:cNvSpPr/>
          <p:nvPr/>
        </p:nvSpPr>
        <p:spPr>
          <a:xfrm>
            <a:off x="0" y="21336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endParaRPr/>
          </a:p>
        </p:txBody>
      </p:sp>
      <p:sp>
        <p:nvSpPr>
          <p:cNvPr id="507" name="Shape 507"/>
          <p:cNvSpPr/>
          <p:nvPr/>
        </p:nvSpPr>
        <p:spPr>
          <a:xfrm>
            <a:off x="914400" y="1172790"/>
            <a:ext cx="7924799" cy="416129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 sz="3600" b="0" i="0" u="none" strike="noStrike" cap="none" baseline="0">
                <a:solidFill>
                  <a:srgbClr val="8C7D0E"/>
                </a:solidFill>
                <a:latin typeface="Tahoma"/>
                <a:ea typeface="Tahoma"/>
                <a:cs typeface="Tahoma"/>
                <a:sym typeface="Tahoma"/>
              </a:rPr>
              <a:t>Para  incêndios de classe A 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 sz="3600" b="0" i="0" u="none" strike="noStrike" cap="none" baseline="0">
                <a:solidFill>
                  <a:srgbClr val="000099"/>
                </a:solidFill>
                <a:latin typeface="Tahoma"/>
                <a:ea typeface="Tahoma"/>
                <a:cs typeface="Tahoma"/>
                <a:sym typeface="Tahoma"/>
              </a:rPr>
              <a:t>O eficiente é o extintor de água. </a:t>
            </a:r>
            <a:br>
              <a:rPr lang="x-none" sz="3600" b="0" i="0" u="none" strike="noStrike" cap="none" baseline="0">
                <a:solidFill>
                  <a:srgbClr val="000099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x-none" sz="3600" b="0" i="0" u="none" strike="noStrike" cap="none" baseline="0">
                <a:solidFill>
                  <a:srgbClr val="000099"/>
                </a:solidFill>
                <a:latin typeface="Tahoma"/>
                <a:ea typeface="Tahoma"/>
                <a:cs typeface="Tahoma"/>
                <a:sym typeface="Tahoma"/>
              </a:rPr>
              <a:t/>
            </a:r>
            <a:br>
              <a:rPr lang="x-none" sz="3600" b="0" i="0" u="none" strike="noStrike" cap="none" baseline="0">
                <a:solidFill>
                  <a:srgbClr val="000099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x-none" sz="3600" b="0" i="0" u="none" strike="noStrike" cap="none" baseline="0">
                <a:solidFill>
                  <a:srgbClr val="000099"/>
                </a:solidFill>
                <a:latin typeface="Tahoma"/>
                <a:ea typeface="Tahoma"/>
                <a:cs typeface="Tahoma"/>
                <a:sym typeface="Tahoma"/>
              </a:rPr>
              <a:t>Pode-se usar também o extintor de pó químico e c0² porém não é eficiente para esse tipo de incêndio</a:t>
            </a:r>
          </a:p>
        </p:txBody>
      </p:sp>
      <p:sp>
        <p:nvSpPr>
          <p:cNvPr id="508" name="Shape 508"/>
          <p:cNvSpPr/>
          <p:nvPr/>
        </p:nvSpPr>
        <p:spPr>
          <a:xfrm>
            <a:off x="7696200" y="4953000"/>
            <a:ext cx="1371600" cy="19050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  <p:sp>
        <p:nvSpPr>
          <p:cNvPr id="509" name="Shape 509"/>
          <p:cNvSpPr/>
          <p:nvPr/>
        </p:nvSpPr>
        <p:spPr>
          <a:xfrm>
            <a:off x="533400" y="1447800"/>
            <a:ext cx="380999" cy="5334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  <p:sp>
        <p:nvSpPr>
          <p:cNvPr id="510" name="Shape 510"/>
          <p:cNvSpPr/>
          <p:nvPr/>
        </p:nvSpPr>
        <p:spPr>
          <a:xfrm>
            <a:off x="8001000" y="0"/>
            <a:ext cx="1143000" cy="1447799"/>
          </a:xfrm>
          <a:prstGeom prst="rect">
            <a:avLst/>
          </a:prstGeom>
          <a:blipFill>
            <a:blip r:embed="rId5"/>
            <a:stretch>
              <a:fillRect/>
            </a:stretch>
          </a:blipFill>
        </p:spPr>
      </p:sp>
      <p:sp>
        <p:nvSpPr>
          <p:cNvPr id="511" name="Shape 511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19049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/>
              <a:t> 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Shape 516"/>
          <p:cNvSpPr txBox="1">
            <a:spLocks noGrp="1"/>
          </p:cNvSpPr>
          <p:nvPr>
            <p:ph type="body" idx="1"/>
          </p:nvPr>
        </p:nvSpPr>
        <p:spPr>
          <a:xfrm>
            <a:off x="179512" y="914400"/>
            <a:ext cx="8712968" cy="5527114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ct val="111979"/>
              <a:buFont typeface="Arial"/>
              <a:buChar char="•"/>
            </a:pPr>
            <a:r>
              <a:rPr lang="x-none" sz="3200" b="0" i="0" u="none" strike="noStrike" cap="none" baseline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</a:t>
            </a:r>
            <a:r>
              <a:rPr lang="x-none" sz="3600" b="0" i="0" u="none" strike="noStrike" cap="none" baseline="0">
                <a:solidFill>
                  <a:srgbClr val="8C7D0E"/>
                </a:solidFill>
                <a:latin typeface="Tahoma"/>
                <a:ea typeface="Tahoma"/>
                <a:cs typeface="Tahoma"/>
                <a:sym typeface="Tahoma"/>
              </a:rPr>
              <a:t>Para classe </a:t>
            </a:r>
            <a:r>
              <a:rPr lang="x-none" sz="3600" b="0" i="0" u="none" strike="noStrike" cap="none" baseline="0" smtClean="0">
                <a:solidFill>
                  <a:srgbClr val="8C7D0E"/>
                </a:solidFill>
                <a:latin typeface="Tahoma"/>
                <a:ea typeface="Tahoma"/>
                <a:cs typeface="Tahoma"/>
                <a:sym typeface="Tahoma"/>
              </a:rPr>
              <a:t>B</a:t>
            </a:r>
            <a:r>
              <a:rPr lang="pt-BR" sz="3600" b="0" i="0" u="none" strike="noStrike" cap="none" baseline="0" dirty="0" smtClean="0">
                <a:solidFill>
                  <a:srgbClr val="8C7D0E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</a:p>
          <a:p>
            <a:pPr marL="0" marR="0" lvl="0" indent="0" algn="l" rtl="0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ct val="111979"/>
              <a:buFont typeface="Arial"/>
              <a:buChar char="•"/>
            </a:pPr>
            <a:endParaRPr lang="pt-BR" sz="3600" dirty="0">
              <a:solidFill>
                <a:srgbClr val="8C7D0E"/>
              </a:solidFill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ct val="111979"/>
              <a:buNone/>
            </a:pPr>
            <a:r>
              <a:rPr lang="x-none" sz="3600" b="0" i="0" u="none" strike="noStrike" cap="none" baseline="0" smtClean="0">
                <a:solidFill>
                  <a:srgbClr val="000099"/>
                </a:solidFill>
                <a:latin typeface="Tahoma"/>
                <a:ea typeface="Tahoma"/>
                <a:cs typeface="Tahoma"/>
                <a:sym typeface="Tahoma"/>
              </a:rPr>
              <a:t>O </a:t>
            </a:r>
            <a:r>
              <a:rPr lang="x-none" sz="3600" b="0" i="0" u="none" strike="noStrike" cap="none" baseline="0">
                <a:solidFill>
                  <a:srgbClr val="000099"/>
                </a:solidFill>
                <a:latin typeface="Tahoma"/>
                <a:ea typeface="Tahoma"/>
                <a:cs typeface="Tahoma"/>
                <a:sym typeface="Tahoma"/>
              </a:rPr>
              <a:t>indicado é o Pó químico</a:t>
            </a:r>
            <a:r>
              <a:rPr lang="x-none" sz="3600" b="0" i="0" u="none" strike="noStrike" cap="none" baseline="0" smtClean="0">
                <a:solidFill>
                  <a:srgbClr val="000099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lang="pt-BR" sz="3600" b="0" i="0" u="none" strike="noStrike" cap="none" baseline="0" dirty="0" smtClean="0">
              <a:solidFill>
                <a:srgbClr val="000099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ct val="111979"/>
              <a:buNone/>
            </a:pPr>
            <a:endParaRPr lang="x-none" sz="3600" b="0" i="0" u="none" strike="noStrike" cap="none" baseline="0">
              <a:solidFill>
                <a:srgbClr val="000099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R="0" lvl="0" indent="0" algn="l" rtl="0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ct val="59722"/>
              <a:buFont typeface="Tahoma"/>
              <a:buNone/>
            </a:pPr>
            <a:r>
              <a:rPr lang="x-none" sz="3600" b="0" i="0" u="none" strike="noStrike" cap="none" baseline="0">
                <a:solidFill>
                  <a:srgbClr val="000099"/>
                </a:solidFill>
                <a:latin typeface="Tahoma"/>
                <a:ea typeface="Tahoma"/>
                <a:cs typeface="Tahoma"/>
                <a:sym typeface="Tahoma"/>
              </a:rPr>
              <a:t>Nesse caso nunca deve ser usado o extintor de água, pois ele pode aumentar o as chamas</a:t>
            </a:r>
            <a:r>
              <a:rPr lang="x-none" sz="3600" b="0" i="0" u="none" strike="noStrike" cap="none" baseline="0" smtClean="0">
                <a:solidFill>
                  <a:srgbClr val="000099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lang="pt-BR" sz="3600" b="0" i="0" u="none" strike="noStrike" cap="none" baseline="0" dirty="0" smtClean="0">
              <a:solidFill>
                <a:srgbClr val="000099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R="0" lvl="0" indent="0" algn="l" rtl="0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ct val="59722"/>
              <a:buFont typeface="Tahoma"/>
              <a:buNone/>
            </a:pPr>
            <a:r>
              <a:rPr lang="x-none" sz="3600" b="0" i="0" u="none" strike="noStrike" cap="none" baseline="0">
                <a:solidFill>
                  <a:srgbClr val="000099"/>
                </a:solidFill>
                <a:latin typeface="Tahoma"/>
                <a:ea typeface="Tahoma"/>
                <a:cs typeface="Tahoma"/>
                <a:sym typeface="Tahoma"/>
              </a:rPr>
              <a:t/>
            </a:r>
            <a:br>
              <a:rPr lang="x-none" sz="3600" b="0" i="0" u="none" strike="noStrike" cap="none" baseline="0">
                <a:solidFill>
                  <a:srgbClr val="000099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x-none" sz="3600" b="0" i="0" u="none" strike="noStrike" cap="none" baseline="0">
                <a:solidFill>
                  <a:srgbClr val="000099"/>
                </a:solidFill>
                <a:latin typeface="Tahoma"/>
                <a:ea typeface="Tahoma"/>
                <a:cs typeface="Tahoma"/>
                <a:sym typeface="Tahoma"/>
              </a:rPr>
              <a:t>Nesse tipo de incêndio o c0² não é eficiente.</a:t>
            </a:r>
          </a:p>
        </p:txBody>
      </p:sp>
      <p:sp>
        <p:nvSpPr>
          <p:cNvPr id="517" name="Shape 517"/>
          <p:cNvSpPr/>
          <p:nvPr/>
        </p:nvSpPr>
        <p:spPr>
          <a:xfrm>
            <a:off x="408722" y="968448"/>
            <a:ext cx="380999" cy="5334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  <p:sp>
        <p:nvSpPr>
          <p:cNvPr id="518" name="Shape 518"/>
          <p:cNvSpPr/>
          <p:nvPr/>
        </p:nvSpPr>
        <p:spPr>
          <a:xfrm>
            <a:off x="8033939" y="5377551"/>
            <a:ext cx="1077120" cy="1480447"/>
          </a:xfrm>
          <a:prstGeom prst="rect">
            <a:avLst/>
          </a:prstGeom>
          <a:blipFill>
            <a:blip r:embed="rId5"/>
            <a:stretch>
              <a:fillRect/>
            </a:stretch>
          </a:blipFill>
        </p:spPr>
      </p:sp>
      <p:sp>
        <p:nvSpPr>
          <p:cNvPr id="519" name="Shape 519"/>
          <p:cNvSpPr/>
          <p:nvPr/>
        </p:nvSpPr>
        <p:spPr>
          <a:xfrm>
            <a:off x="8001000" y="0"/>
            <a:ext cx="1143000" cy="1447799"/>
          </a:xfrm>
          <a:prstGeom prst="rect">
            <a:avLst/>
          </a:prstGeom>
          <a:blipFill>
            <a:blip r:embed="rId6"/>
            <a:stretch>
              <a:fillRect/>
            </a:stretch>
          </a:blipFill>
        </p:spPr>
      </p:sp>
      <p:sp>
        <p:nvSpPr>
          <p:cNvPr id="520" name="Shape 520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19049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/>
              <a:t> 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Shape 525"/>
          <p:cNvSpPr txBox="1">
            <a:spLocks noGrp="1"/>
          </p:cNvSpPr>
          <p:nvPr>
            <p:ph type="body" idx="1"/>
          </p:nvPr>
        </p:nvSpPr>
        <p:spPr>
          <a:xfrm>
            <a:off x="244799" y="914400"/>
            <a:ext cx="8359649" cy="294692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ct val="99537"/>
              <a:buFont typeface="Arial"/>
              <a:buChar char="•"/>
            </a:pPr>
            <a:r>
              <a:rPr lang="x-none" sz="3600" b="0" i="0" u="none" strike="noStrike" cap="none" baseline="0">
                <a:solidFill>
                  <a:srgbClr val="8C7D0E"/>
                </a:solidFill>
                <a:latin typeface="Tahoma"/>
                <a:ea typeface="Tahoma"/>
                <a:cs typeface="Tahoma"/>
                <a:sym typeface="Tahoma"/>
              </a:rPr>
              <a:t>Para classe C</a:t>
            </a:r>
            <a:r>
              <a:rPr lang="x-none" sz="3200" b="0" i="0" u="none" strike="noStrike" cap="none" baseline="0">
                <a:solidFill>
                  <a:srgbClr val="000099"/>
                </a:solidFill>
                <a:latin typeface="Tahoma"/>
                <a:ea typeface="Tahoma"/>
                <a:cs typeface="Tahoma"/>
                <a:sym typeface="Tahoma"/>
              </a:rPr>
              <a:t>  </a:t>
            </a:r>
            <a:endParaRPr lang="pt-BR" sz="3200" b="0" i="0" u="none" strike="noStrike" cap="none" baseline="0" dirty="0" smtClean="0">
              <a:solidFill>
                <a:srgbClr val="000099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ct val="99537"/>
              <a:buFont typeface="Arial"/>
              <a:buChar char="•"/>
            </a:pPr>
            <a:endParaRPr lang="pt-BR" dirty="0">
              <a:solidFill>
                <a:srgbClr val="000099"/>
              </a:solidFill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ct val="99537"/>
              <a:buFont typeface="Arial"/>
              <a:buChar char="•"/>
            </a:pPr>
            <a:r>
              <a:rPr lang="pt-BR" sz="3600" b="0" i="0" u="none" strike="noStrike" cap="none" baseline="0" dirty="0" smtClean="0">
                <a:solidFill>
                  <a:srgbClr val="000099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x-none" b="0" i="0" u="none" strike="noStrike" cap="none" baseline="0" smtClean="0">
                <a:solidFill>
                  <a:srgbClr val="000099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x-none" b="0" i="0" u="none" strike="noStrike" cap="none" baseline="0">
                <a:solidFill>
                  <a:srgbClr val="000099"/>
                </a:solidFill>
                <a:latin typeface="Tahoma"/>
                <a:ea typeface="Tahoma"/>
                <a:cs typeface="Tahoma"/>
                <a:sym typeface="Tahoma"/>
              </a:rPr>
              <a:t>CO²)Gás carbono</a:t>
            </a:r>
          </a:p>
          <a:p>
            <a:pPr marR="0" lvl="0" indent="0" algn="just" rtl="0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ct val="59722"/>
              <a:buFont typeface="Tahoma"/>
              <a:buNone/>
            </a:pPr>
            <a:r>
              <a:rPr lang="x-none" b="0" i="0" u="none" strike="noStrike" cap="none" baseline="0">
                <a:solidFill>
                  <a:srgbClr val="000099"/>
                </a:solidFill>
                <a:latin typeface="Tahoma"/>
                <a:ea typeface="Tahoma"/>
                <a:cs typeface="Tahoma"/>
                <a:sym typeface="Tahoma"/>
              </a:rPr>
              <a:t>Pode ser usado também o pó químico, mas seu uso pode estragar os equipamentos.</a:t>
            </a:r>
          </a:p>
        </p:txBody>
      </p:sp>
      <p:sp>
        <p:nvSpPr>
          <p:cNvPr id="526" name="Shape 526"/>
          <p:cNvSpPr/>
          <p:nvPr/>
        </p:nvSpPr>
        <p:spPr>
          <a:xfrm>
            <a:off x="98551" y="914399"/>
            <a:ext cx="380999" cy="5334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  <p:sp>
        <p:nvSpPr>
          <p:cNvPr id="527" name="Shape 527"/>
          <p:cNvSpPr/>
          <p:nvPr/>
        </p:nvSpPr>
        <p:spPr>
          <a:xfrm>
            <a:off x="7453423" y="4146698"/>
            <a:ext cx="1511065" cy="2482702"/>
          </a:xfrm>
          <a:prstGeom prst="rect">
            <a:avLst/>
          </a:prstGeom>
          <a:blipFill>
            <a:blip r:embed="rId5"/>
            <a:srcRect/>
            <a:stretch>
              <a:fillRect l="-19160" t="-4354" r="-30642"/>
            </a:stretch>
          </a:blipFill>
        </p:spPr>
      </p:sp>
      <p:sp>
        <p:nvSpPr>
          <p:cNvPr id="528" name="Shape 528"/>
          <p:cNvSpPr/>
          <p:nvPr/>
        </p:nvSpPr>
        <p:spPr>
          <a:xfrm>
            <a:off x="8001000" y="0"/>
            <a:ext cx="1143000" cy="1447799"/>
          </a:xfrm>
          <a:prstGeom prst="rect">
            <a:avLst/>
          </a:prstGeom>
          <a:blipFill>
            <a:blip r:embed="rId6"/>
            <a:stretch>
              <a:fillRect/>
            </a:stretch>
          </a:blipFill>
        </p:spPr>
      </p:sp>
      <p:sp>
        <p:nvSpPr>
          <p:cNvPr id="529" name="Shape 529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19049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/>
              <a:t> 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Shape 534"/>
          <p:cNvSpPr txBox="1">
            <a:spLocks noGrp="1"/>
          </p:cNvSpPr>
          <p:nvPr>
            <p:ph type="title"/>
          </p:nvPr>
        </p:nvSpPr>
        <p:spPr>
          <a:xfrm>
            <a:off x="685800" y="762000"/>
            <a:ext cx="7772400" cy="76940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 b="0" i="0" u="none" strike="noStrike" cap="none" baseline="0">
                <a:solidFill>
                  <a:srgbClr val="8C7D0E"/>
                </a:solidFill>
                <a:latin typeface="Tahoma"/>
                <a:ea typeface="Tahoma"/>
                <a:cs typeface="Tahoma"/>
                <a:sym typeface="Tahoma"/>
              </a:rPr>
              <a:t>Trocando em miúdos</a:t>
            </a:r>
          </a:p>
        </p:txBody>
      </p:sp>
      <p:sp>
        <p:nvSpPr>
          <p:cNvPr id="535" name="Shape 535"/>
          <p:cNvSpPr txBox="1">
            <a:spLocks noGrp="1"/>
          </p:cNvSpPr>
          <p:nvPr>
            <p:ph type="body" idx="1"/>
          </p:nvPr>
        </p:nvSpPr>
        <p:spPr>
          <a:xfrm>
            <a:off x="107504" y="2133600"/>
            <a:ext cx="8928992" cy="3290604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R="0" lvl="0" indent="0" algn="just" rtl="0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ct val="59722"/>
              <a:buFont typeface="Tahoma"/>
              <a:buNone/>
            </a:pPr>
            <a:r>
              <a:rPr lang="x-none" b="0" i="0" u="none" strike="noStrike" cap="none" baseline="0">
                <a:solidFill>
                  <a:srgbClr val="000099"/>
                </a:solidFill>
                <a:latin typeface="Tahoma"/>
                <a:ea typeface="Tahoma"/>
                <a:cs typeface="Tahoma"/>
                <a:sym typeface="Tahoma"/>
              </a:rPr>
              <a:t>Todo combate a incêndio se baseia na retirada algum dos itens do triângulo do fogo, retirando qualquer um o fogo não </a:t>
            </a:r>
          </a:p>
          <a:p>
            <a:pPr marR="0" lvl="0" indent="0" algn="just" rtl="0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ct val="59722"/>
              <a:buFont typeface="Tahoma"/>
              <a:buNone/>
            </a:pPr>
            <a:r>
              <a:rPr lang="x-none" b="0" i="0" u="none" strike="noStrike" cap="none" baseline="0">
                <a:solidFill>
                  <a:srgbClr val="000099"/>
                </a:solidFill>
                <a:latin typeface="Tahoma"/>
                <a:ea typeface="Tahoma"/>
                <a:cs typeface="Tahoma"/>
                <a:sym typeface="Tahoma"/>
              </a:rPr>
              <a:t>existirá.</a:t>
            </a:r>
          </a:p>
          <a:p>
            <a:pPr algn="just"/>
            <a:endParaRPr sz="2800" dirty="0"/>
          </a:p>
          <a:p>
            <a:pPr algn="just"/>
            <a:endParaRPr sz="2800" dirty="0"/>
          </a:p>
        </p:txBody>
      </p:sp>
      <p:sp>
        <p:nvSpPr>
          <p:cNvPr id="536" name="Shape 536"/>
          <p:cNvSpPr/>
          <p:nvPr/>
        </p:nvSpPr>
        <p:spPr>
          <a:xfrm>
            <a:off x="8001000" y="0"/>
            <a:ext cx="1143000" cy="1447799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  <p:sp>
        <p:nvSpPr>
          <p:cNvPr id="537" name="Shape 537"/>
          <p:cNvSpPr/>
          <p:nvPr/>
        </p:nvSpPr>
        <p:spPr>
          <a:xfrm>
            <a:off x="4572000" y="3789040"/>
            <a:ext cx="4343400" cy="2755775"/>
          </a:xfrm>
          <a:prstGeom prst="rect">
            <a:avLst/>
          </a:prstGeom>
          <a:blipFill>
            <a:blip r:embed="rId5"/>
            <a:stretch>
              <a:fillRect/>
            </a:stretch>
          </a:blipFill>
        </p:spPr>
      </p:sp>
      <p:sp>
        <p:nvSpPr>
          <p:cNvPr id="538" name="Shape 538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19049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/>
              <a:t> 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Shape 543"/>
          <p:cNvSpPr txBox="1">
            <a:spLocks noGrp="1"/>
          </p:cNvSpPr>
          <p:nvPr>
            <p:ph type="title"/>
          </p:nvPr>
        </p:nvSpPr>
        <p:spPr>
          <a:xfrm>
            <a:off x="0" y="0"/>
            <a:ext cx="3048000" cy="11430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 sz="4400" b="0" i="1" u="none" strike="noStrike" cap="none" baseline="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Módulo VI</a:t>
            </a:r>
          </a:p>
        </p:txBody>
      </p:sp>
      <p:sp>
        <p:nvSpPr>
          <p:cNvPr id="544" name="Shape 544"/>
          <p:cNvSpPr txBox="1">
            <a:spLocks noGrp="1"/>
          </p:cNvSpPr>
          <p:nvPr>
            <p:ph type="body" idx="1"/>
          </p:nvPr>
        </p:nvSpPr>
        <p:spPr>
          <a:xfrm>
            <a:off x="533400" y="1219200"/>
            <a:ext cx="7340600" cy="62229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pPr marR="0" lvl="0" indent="0" algn="l" rtl="0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ct val="59722"/>
              <a:buFont typeface="Tahoma"/>
              <a:buNone/>
            </a:pPr>
            <a:r>
              <a:rPr lang="x-none" sz="3600" b="0" i="0" u="none" strike="noStrike" cap="none" baseline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Primeiros Socorros</a:t>
            </a:r>
          </a:p>
        </p:txBody>
      </p:sp>
      <p:sp>
        <p:nvSpPr>
          <p:cNvPr id="545" name="Shape 545"/>
          <p:cNvSpPr/>
          <p:nvPr/>
        </p:nvSpPr>
        <p:spPr>
          <a:xfrm>
            <a:off x="152400" y="2209800"/>
            <a:ext cx="8884096" cy="3970277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 sz="3600" b="0" i="0" u="none" strike="noStrike" cap="none" baseline="0">
                <a:solidFill>
                  <a:srgbClr val="B8004A"/>
                </a:solidFill>
                <a:latin typeface="Tahoma"/>
                <a:ea typeface="Tahoma"/>
                <a:cs typeface="Tahoma"/>
                <a:sym typeface="Tahoma"/>
              </a:rPr>
              <a:t>-Noções Básicas de Primeiros </a:t>
            </a:r>
            <a:r>
              <a:rPr lang="x-none" sz="3600" b="0" i="0" u="none" strike="noStrike" cap="none" baseline="0" smtClean="0">
                <a:solidFill>
                  <a:srgbClr val="B8004A"/>
                </a:solidFill>
                <a:latin typeface="Tahoma"/>
                <a:ea typeface="Tahoma"/>
                <a:cs typeface="Tahoma"/>
                <a:sym typeface="Tahoma"/>
              </a:rPr>
              <a:t>Socorros</a:t>
            </a:r>
            <a:endParaRPr lang="pt-BR" sz="3600" b="0" i="0" u="none" strike="noStrike" cap="none" baseline="0" dirty="0" smtClean="0">
              <a:solidFill>
                <a:srgbClr val="B8004A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x-none" sz="3600" b="0" i="0" u="none" strike="noStrike" cap="none" baseline="0">
              <a:solidFill>
                <a:srgbClr val="B8004A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 sz="3600" b="0" i="0" u="none" strike="noStrike" cap="none" baseline="0">
                <a:solidFill>
                  <a:srgbClr val="B8004A"/>
                </a:solidFill>
                <a:latin typeface="Tahoma"/>
                <a:ea typeface="Tahoma"/>
                <a:cs typeface="Tahoma"/>
                <a:sym typeface="Tahoma"/>
              </a:rPr>
              <a:t>-Fatores emocionais em primeiros </a:t>
            </a:r>
            <a:r>
              <a:rPr lang="x-none" sz="3600" b="0" i="0" u="none" strike="noStrike" cap="none" baseline="0" smtClean="0">
                <a:solidFill>
                  <a:srgbClr val="B8004A"/>
                </a:solidFill>
                <a:latin typeface="Tahoma"/>
                <a:ea typeface="Tahoma"/>
                <a:cs typeface="Tahoma"/>
                <a:sym typeface="Tahoma"/>
              </a:rPr>
              <a:t>socorros</a:t>
            </a:r>
            <a:endParaRPr lang="pt-BR" sz="3600" b="0" i="0" u="none" strike="noStrike" cap="none" baseline="0" dirty="0" smtClean="0">
              <a:solidFill>
                <a:srgbClr val="B8004A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x-none" sz="3600" b="0" i="0" u="none" strike="noStrike" cap="none" baseline="0">
              <a:solidFill>
                <a:srgbClr val="B8004A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 sz="3600" b="0" i="0" u="none" strike="noStrike" cap="none" baseline="0">
                <a:solidFill>
                  <a:srgbClr val="B8004A"/>
                </a:solidFill>
                <a:latin typeface="Tahoma"/>
                <a:ea typeface="Tahoma"/>
                <a:cs typeface="Tahoma"/>
                <a:sym typeface="Tahoma"/>
              </a:rPr>
              <a:t>-Plano de ação do </a:t>
            </a:r>
            <a:r>
              <a:rPr lang="x-none" sz="3600" b="0" i="0" u="none" strike="noStrike" cap="none" baseline="0" smtClean="0">
                <a:solidFill>
                  <a:srgbClr val="B8004A"/>
                </a:solidFill>
                <a:latin typeface="Tahoma"/>
                <a:ea typeface="Tahoma"/>
                <a:cs typeface="Tahoma"/>
                <a:sym typeface="Tahoma"/>
              </a:rPr>
              <a:t>socorrista</a:t>
            </a:r>
            <a:endParaRPr lang="pt-BR" sz="3600" b="0" i="0" u="none" strike="noStrike" cap="none" baseline="0" dirty="0" smtClean="0">
              <a:solidFill>
                <a:srgbClr val="B8004A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x-none" sz="3600" b="0" i="0" u="none" strike="noStrike" cap="none" baseline="0">
              <a:solidFill>
                <a:srgbClr val="B8004A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 sz="3600" b="0" i="0" u="none" strike="noStrike" cap="none" baseline="0">
                <a:solidFill>
                  <a:srgbClr val="B8004A"/>
                </a:solidFill>
                <a:latin typeface="Tahoma"/>
                <a:ea typeface="Tahoma"/>
                <a:cs typeface="Tahoma"/>
                <a:sym typeface="Tahoma"/>
              </a:rPr>
              <a:t>-Telefones de emergência</a:t>
            </a:r>
          </a:p>
        </p:txBody>
      </p:sp>
      <p:sp>
        <p:nvSpPr>
          <p:cNvPr id="546" name="Shape 546"/>
          <p:cNvSpPr/>
          <p:nvPr/>
        </p:nvSpPr>
        <p:spPr>
          <a:xfrm>
            <a:off x="8001000" y="0"/>
            <a:ext cx="1143000" cy="1447799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  <p:sp>
        <p:nvSpPr>
          <p:cNvPr id="547" name="Shape 547"/>
          <p:cNvSpPr/>
          <p:nvPr/>
        </p:nvSpPr>
        <p:spPr>
          <a:xfrm>
            <a:off x="152400" y="1295400"/>
            <a:ext cx="380999" cy="533400"/>
          </a:xfrm>
          <a:prstGeom prst="rect">
            <a:avLst/>
          </a:prstGeom>
          <a:blipFill>
            <a:blip r:embed="rId5"/>
            <a:stretch>
              <a:fillRect/>
            </a:stretch>
          </a:blipFill>
        </p:spPr>
      </p:sp>
      <p:sp>
        <p:nvSpPr>
          <p:cNvPr id="548" name="Shape 548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19049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/>
              <a:t> 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4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4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5" grpId="0" build="p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Shape 553"/>
          <p:cNvSpPr txBox="1">
            <a:spLocks noGrp="1"/>
          </p:cNvSpPr>
          <p:nvPr>
            <p:ph type="title"/>
          </p:nvPr>
        </p:nvSpPr>
        <p:spPr>
          <a:xfrm>
            <a:off x="457200" y="304800"/>
            <a:ext cx="7848599" cy="17526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 sz="3600" b="0" i="0" u="none" strike="noStrike" cap="none" baseline="0">
                <a:solidFill>
                  <a:srgbClr val="B8004A"/>
                </a:solidFill>
                <a:latin typeface="Tahoma"/>
                <a:ea typeface="Tahoma"/>
                <a:cs typeface="Tahoma"/>
                <a:sym typeface="Tahoma"/>
              </a:rPr>
              <a:t>Noções Básicas de Primeiros Socorros</a:t>
            </a:r>
          </a:p>
        </p:txBody>
      </p:sp>
      <p:sp>
        <p:nvSpPr>
          <p:cNvPr id="554" name="Shape 554"/>
          <p:cNvSpPr txBox="1">
            <a:spLocks noGrp="1"/>
          </p:cNvSpPr>
          <p:nvPr>
            <p:ph type="body" idx="1"/>
          </p:nvPr>
        </p:nvSpPr>
        <p:spPr>
          <a:xfrm>
            <a:off x="838200" y="1981200"/>
            <a:ext cx="8126288" cy="458583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R="0" lvl="0" indent="0" algn="just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59375"/>
              <a:buFont typeface="Tahoma"/>
              <a:buNone/>
            </a:pPr>
            <a:r>
              <a:rPr lang="x-none" sz="3200" b="0" i="0" u="none" strike="noStrike" cap="none" baseline="0">
                <a:solidFill>
                  <a:srgbClr val="032455"/>
                </a:solidFill>
                <a:latin typeface="Tahoma"/>
                <a:ea typeface="Tahoma"/>
                <a:cs typeface="Tahoma"/>
                <a:sym typeface="Tahoma"/>
              </a:rPr>
              <a:t>Conceito: Primeiros socorros é o cuidado imediato á alguém ferido ou doente, com a finalidade de:</a:t>
            </a:r>
          </a:p>
          <a:p>
            <a:endParaRPr dirty="0"/>
          </a:p>
          <a:p>
            <a:pPr marR="0" lvl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59375"/>
              <a:buFontTx/>
              <a:buChar char="-"/>
            </a:pPr>
            <a:r>
              <a:rPr lang="x-none" sz="3200" b="0" i="0" u="none" strike="noStrike" cap="none" baseline="0" smtClean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Preservar </a:t>
            </a:r>
            <a:r>
              <a:rPr lang="x-none" sz="3200" b="0" i="0" u="none" strike="noStrike" cap="none" baseline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 vida</a:t>
            </a:r>
            <a:r>
              <a:rPr lang="x-none" sz="3200" b="0" i="0" u="none" strike="noStrike" cap="none" baseline="0" smtClean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lang="pt-BR" sz="3200" b="0" i="0" u="none" strike="noStrike" cap="none" baseline="0" dirty="0" smtClean="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R="0" lvl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59375"/>
              <a:buFontTx/>
              <a:buChar char="-"/>
            </a:pPr>
            <a:endParaRPr lang="x-none" sz="1800" b="0" i="0" u="none" strike="noStrike" cap="none" baseline="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R="0" lvl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59375"/>
              <a:buFontTx/>
              <a:buChar char="-"/>
            </a:pPr>
            <a:r>
              <a:rPr lang="x-none" sz="3200" b="0" i="0" u="none" strike="noStrike" cap="none" baseline="0" smtClean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Promover </a:t>
            </a:r>
            <a:r>
              <a:rPr lang="x-none" sz="3200" b="0" i="0" u="none" strike="noStrike" cap="none" baseline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 recuperação</a:t>
            </a:r>
            <a:r>
              <a:rPr lang="x-none" sz="3200" b="0" i="0" u="none" strike="noStrike" cap="none" baseline="0" smtClean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lang="pt-BR" sz="3200" b="0" i="0" u="none" strike="noStrike" cap="none" baseline="0" dirty="0" smtClean="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R="0" lvl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59375"/>
              <a:buFontTx/>
              <a:buChar char="-"/>
            </a:pPr>
            <a:endParaRPr lang="x-none" sz="1800" b="0" i="0" u="none" strike="noStrike" cap="none" baseline="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R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59375"/>
              <a:buFont typeface="Tahoma"/>
              <a:buNone/>
            </a:pPr>
            <a:r>
              <a:rPr lang="x-none" sz="3200" b="0" i="0" u="none" strike="noStrike" cap="none" baseline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- Evitar que o caso piore.</a:t>
            </a:r>
          </a:p>
        </p:txBody>
      </p:sp>
      <p:sp>
        <p:nvSpPr>
          <p:cNvPr id="555" name="Shape 555"/>
          <p:cNvSpPr/>
          <p:nvPr/>
        </p:nvSpPr>
        <p:spPr>
          <a:xfrm>
            <a:off x="8001000" y="0"/>
            <a:ext cx="1143000" cy="1447799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  <p:sp>
        <p:nvSpPr>
          <p:cNvPr id="556" name="Shape 556"/>
          <p:cNvSpPr/>
          <p:nvPr/>
        </p:nvSpPr>
        <p:spPr>
          <a:xfrm>
            <a:off x="457200" y="2057400"/>
            <a:ext cx="380999" cy="533400"/>
          </a:xfrm>
          <a:prstGeom prst="rect">
            <a:avLst/>
          </a:prstGeom>
          <a:blipFill>
            <a:blip r:embed="rId5"/>
            <a:stretch>
              <a:fillRect/>
            </a:stretch>
          </a:blipFill>
        </p:spPr>
      </p:sp>
      <p:sp>
        <p:nvSpPr>
          <p:cNvPr id="557" name="Shape 557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19049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/>
              <a:t> 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4" grpId="0" build="p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Shape 562"/>
          <p:cNvSpPr txBox="1">
            <a:spLocks noGrp="1"/>
          </p:cNvSpPr>
          <p:nvPr>
            <p:ph type="title"/>
          </p:nvPr>
        </p:nvSpPr>
        <p:spPr>
          <a:xfrm>
            <a:off x="914400" y="381000"/>
            <a:ext cx="6781800" cy="20574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 sz="4400" b="0" i="0" u="none" strike="noStrike" cap="none" baseline="0">
                <a:solidFill>
                  <a:srgbClr val="B8004A"/>
                </a:solidFill>
                <a:latin typeface="Tahoma"/>
                <a:ea typeface="Tahoma"/>
                <a:cs typeface="Tahoma"/>
                <a:sym typeface="Tahoma"/>
              </a:rPr>
              <a:t>Fatores emocionais em primeiros socorros</a:t>
            </a:r>
            <a:r>
              <a:rPr lang="x-none" sz="4400" b="0" i="0" u="none" strike="noStrike" cap="none" baseline="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</a:p>
        </p:txBody>
      </p:sp>
      <p:sp>
        <p:nvSpPr>
          <p:cNvPr id="563" name="Shape 563"/>
          <p:cNvSpPr/>
          <p:nvPr/>
        </p:nvSpPr>
        <p:spPr>
          <a:xfrm>
            <a:off x="8001000" y="0"/>
            <a:ext cx="1143000" cy="1447799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  <p:sp>
        <p:nvSpPr>
          <p:cNvPr id="564" name="Shape 564"/>
          <p:cNvSpPr txBox="1">
            <a:spLocks noGrp="1"/>
          </p:cNvSpPr>
          <p:nvPr>
            <p:ph type="body" idx="1"/>
          </p:nvPr>
        </p:nvSpPr>
        <p:spPr>
          <a:xfrm>
            <a:off x="107504" y="2132856"/>
            <a:ext cx="8928992" cy="4693552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R="0" lvl="0" indent="0" algn="just" rtl="0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ct val="67187"/>
              <a:buFont typeface="Tahoma"/>
              <a:buNone/>
            </a:pPr>
            <a:r>
              <a:rPr lang="x-none" sz="2800" b="0" i="0" u="none" strike="noStrike" cap="none" baseline="0">
                <a:solidFill>
                  <a:srgbClr val="032455"/>
                </a:solidFill>
                <a:latin typeface="Tahoma"/>
                <a:ea typeface="Tahoma"/>
                <a:cs typeface="Tahoma"/>
                <a:sym typeface="Tahoma"/>
              </a:rPr>
              <a:t>  </a:t>
            </a:r>
            <a:r>
              <a:rPr lang="x-none" b="0" i="0" u="none" strike="noStrike" cap="none" baseline="0">
                <a:solidFill>
                  <a:srgbClr val="032455"/>
                </a:solidFill>
                <a:latin typeface="Tahoma"/>
                <a:ea typeface="Tahoma"/>
                <a:cs typeface="Tahoma"/>
                <a:sym typeface="Tahoma"/>
              </a:rPr>
              <a:t>Diante de uma emergência as pessoas apresentam reações emocionais variadas: </a:t>
            </a:r>
          </a:p>
          <a:p>
            <a:pPr algn="just"/>
            <a:endParaRPr lang="pt-BR" sz="2800" dirty="0" smtClean="0"/>
          </a:p>
          <a:p>
            <a:pPr lvl="0" indent="0" algn="just">
              <a:buNone/>
            </a:pPr>
            <a:r>
              <a:rPr lang="x-none" sz="2800">
                <a:solidFill>
                  <a:srgbClr val="032455"/>
                </a:solidFill>
              </a:rPr>
              <a:t>- </a:t>
            </a:r>
            <a:r>
              <a:rPr lang="x-none">
                <a:solidFill>
                  <a:srgbClr val="032455"/>
                </a:solidFill>
              </a:rPr>
              <a:t>Ansiedade: É normal e compreensivo que fiquemos ansiosos diante de uma emergência, porem de forma controlada que nos permita tomar as medidas emergenciais corretas, tão logo seja possível;</a:t>
            </a:r>
          </a:p>
          <a:p>
            <a:pPr algn="just"/>
            <a:endParaRPr dirty="0"/>
          </a:p>
        </p:txBody>
      </p:sp>
      <p:sp>
        <p:nvSpPr>
          <p:cNvPr id="565" name="Shape 565"/>
          <p:cNvSpPr/>
          <p:nvPr/>
        </p:nvSpPr>
        <p:spPr>
          <a:xfrm>
            <a:off x="990600" y="838200"/>
            <a:ext cx="380999" cy="533400"/>
          </a:xfrm>
          <a:prstGeom prst="rect">
            <a:avLst/>
          </a:prstGeom>
          <a:blipFill>
            <a:blip r:embed="rId5"/>
            <a:stretch>
              <a:fillRect/>
            </a:stretch>
          </a:blipFill>
        </p:spPr>
      </p:sp>
      <p:sp>
        <p:nvSpPr>
          <p:cNvPr id="566" name="Shape 566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19049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/>
              <a:t> 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4" grpId="0" build="p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Shape 573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19049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/>
              <a:t> </a:t>
            </a:r>
          </a:p>
        </p:txBody>
      </p:sp>
      <p:pic>
        <p:nvPicPr>
          <p:cNvPr id="10242" name="Picture 2" descr="Image result for cara de pânic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60648" y="13345"/>
            <a:ext cx="10644876" cy="6844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1" name="Shape 571"/>
          <p:cNvSpPr txBox="1">
            <a:spLocks noGrp="1"/>
          </p:cNvSpPr>
          <p:nvPr>
            <p:ph type="body" idx="1"/>
          </p:nvPr>
        </p:nvSpPr>
        <p:spPr>
          <a:xfrm>
            <a:off x="107504" y="4293096"/>
            <a:ext cx="8712968" cy="1421887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25" tIns="45700" rIns="91425" bIns="45700" anchor="t" anchorCtr="0">
            <a:spAutoFit/>
          </a:bodyPr>
          <a:lstStyle/>
          <a:p>
            <a:pPr marR="0" lvl="0" indent="0" algn="just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59375"/>
              <a:buFont typeface="Tahoma"/>
              <a:buNone/>
            </a:pPr>
            <a:r>
              <a:rPr lang="x-none" sz="3200" b="0" i="0" u="none" strike="noStrike" cap="none" baseline="0" smtClean="0">
                <a:solidFill>
                  <a:srgbClr val="032455"/>
                </a:solidFill>
                <a:latin typeface="Tahoma"/>
                <a:ea typeface="Tahoma"/>
                <a:cs typeface="Tahoma"/>
                <a:sym typeface="Tahoma"/>
              </a:rPr>
              <a:t>- </a:t>
            </a:r>
            <a:r>
              <a:rPr lang="x-none" sz="3200" b="0" i="0" u="none" strike="noStrike" cap="none" baseline="0">
                <a:solidFill>
                  <a:srgbClr val="032455"/>
                </a:solidFill>
                <a:latin typeface="Tahoma"/>
                <a:ea typeface="Tahoma"/>
                <a:cs typeface="Tahoma"/>
                <a:sym typeface="Tahoma"/>
              </a:rPr>
              <a:t>Pânico: Algumas pessoas tendem a entrar em pânico e não conseguem tomar qualquer atitude</a:t>
            </a:r>
            <a:r>
              <a:rPr lang="x-none" sz="3200" b="0" i="0" u="none" strike="noStrike" cap="none" baseline="0" smtClean="0">
                <a:solidFill>
                  <a:srgbClr val="032455"/>
                </a:solidFill>
                <a:latin typeface="Tahoma"/>
                <a:ea typeface="Tahoma"/>
                <a:cs typeface="Tahoma"/>
                <a:sym typeface="Tahoma"/>
              </a:rPr>
              <a:t>;</a:t>
            </a:r>
            <a:endParaRPr dirty="0"/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71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71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5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1" grpId="0" uiExpand="1" build="p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Shape 578"/>
          <p:cNvSpPr txBox="1">
            <a:spLocks noGrp="1"/>
          </p:cNvSpPr>
          <p:nvPr>
            <p:ph type="body" idx="1"/>
          </p:nvPr>
        </p:nvSpPr>
        <p:spPr>
          <a:xfrm>
            <a:off x="107504" y="838200"/>
            <a:ext cx="8928992" cy="4981836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58333"/>
              <a:buFont typeface="Arial"/>
              <a:buChar char="•"/>
            </a:pPr>
            <a:r>
              <a:rPr lang="x-none" sz="2000" b="0" i="0" u="none" strike="noStrike" cap="none" baseline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x-none" sz="3200" b="0" i="0" u="none" strike="noStrike" cap="none" baseline="0">
                <a:solidFill>
                  <a:srgbClr val="032455"/>
                </a:solidFill>
                <a:latin typeface="Tahoma"/>
                <a:ea typeface="Tahoma"/>
                <a:cs typeface="Tahoma"/>
                <a:sym typeface="Tahoma"/>
              </a:rPr>
              <a:t>Disfunção orgânica: Apresentam desmaios, tremores, etc. Tornando-se mais uma “vítima a ser socorrida”;</a:t>
            </a:r>
          </a:p>
          <a:p>
            <a:pPr algn="just"/>
            <a:endParaRPr dirty="0"/>
          </a:p>
          <a:p>
            <a:pPr marL="0" marR="0" lvl="0" indent="0" algn="just" rtl="0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Font typeface="Arial"/>
              <a:buChar char="•"/>
            </a:pPr>
            <a:r>
              <a:rPr lang="x-none" sz="3200" b="0" i="0" u="none" strike="noStrike" cap="none" baseline="0">
                <a:solidFill>
                  <a:srgbClr val="032455"/>
                </a:solidFill>
                <a:latin typeface="Tahoma"/>
                <a:ea typeface="Tahoma"/>
                <a:cs typeface="Tahoma"/>
                <a:sym typeface="Tahoma"/>
              </a:rPr>
              <a:t>Depressão: Outras entram em depressão, choram, se isolam das vítimas e também ficam incapazes de ajudar;</a:t>
            </a:r>
          </a:p>
          <a:p>
            <a:pPr algn="just"/>
            <a:endParaRPr dirty="0"/>
          </a:p>
          <a:p>
            <a:pPr marL="0" marR="0" lvl="0" indent="0" algn="just" rtl="0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98958"/>
              <a:buFont typeface="Arial"/>
              <a:buChar char="•"/>
            </a:pPr>
            <a:r>
              <a:rPr lang="x-none" sz="3200" b="0" i="0" u="none" strike="noStrike" cap="none" baseline="0">
                <a:solidFill>
                  <a:srgbClr val="032455"/>
                </a:solidFill>
                <a:latin typeface="Tahoma"/>
                <a:ea typeface="Tahoma"/>
                <a:cs typeface="Tahoma"/>
                <a:sym typeface="Tahoma"/>
              </a:rPr>
              <a:t> Hiperatividade: Agitado corre para todo lado tentando ajudar a todos.</a:t>
            </a:r>
          </a:p>
          <a:p>
            <a:pPr marR="0" lvl="0" indent="0" algn="just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Tahoma"/>
              <a:buNone/>
            </a:pPr>
            <a:endParaRPr dirty="0"/>
          </a:p>
        </p:txBody>
      </p:sp>
      <p:sp>
        <p:nvSpPr>
          <p:cNvPr id="580" name="Shape 580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19049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/>
              <a:t> 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8" grpId="0" build="p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Shape 585"/>
          <p:cNvSpPr txBox="1">
            <a:spLocks noGrp="1"/>
          </p:cNvSpPr>
          <p:nvPr>
            <p:ph type="title"/>
          </p:nvPr>
        </p:nvSpPr>
        <p:spPr>
          <a:xfrm>
            <a:off x="304800" y="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 sz="4400" b="0" i="0" u="none" strike="noStrike" cap="none" baseline="0">
                <a:solidFill>
                  <a:srgbClr val="B8004A"/>
                </a:solidFill>
                <a:latin typeface="Tahoma"/>
                <a:ea typeface="Tahoma"/>
                <a:cs typeface="Tahoma"/>
                <a:sym typeface="Tahoma"/>
              </a:rPr>
              <a:t>Lembre-se</a:t>
            </a:r>
          </a:p>
        </p:txBody>
      </p:sp>
      <p:sp>
        <p:nvSpPr>
          <p:cNvPr id="586" name="Shape 586"/>
          <p:cNvSpPr txBox="1">
            <a:spLocks noGrp="1"/>
          </p:cNvSpPr>
          <p:nvPr>
            <p:ph type="body" idx="1"/>
          </p:nvPr>
        </p:nvSpPr>
        <p:spPr>
          <a:xfrm>
            <a:off x="107505" y="1066800"/>
            <a:ext cx="8928992" cy="524755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R="0" lvl="0" algn="just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59375"/>
              <a:buFontTx/>
              <a:buChar char="-"/>
            </a:pPr>
            <a:r>
              <a:rPr lang="x-none" sz="3200" b="0" i="0" u="none" strike="noStrike" cap="none" baseline="0" smtClean="0">
                <a:solidFill>
                  <a:srgbClr val="032455"/>
                </a:solidFill>
                <a:latin typeface="Tahoma"/>
                <a:ea typeface="Tahoma"/>
                <a:cs typeface="Tahoma"/>
                <a:sym typeface="Tahoma"/>
              </a:rPr>
              <a:t>Sempre </a:t>
            </a:r>
            <a:r>
              <a:rPr lang="x-none" sz="3200" b="0" i="0" u="none" strike="noStrike" cap="none" baseline="0">
                <a:solidFill>
                  <a:srgbClr val="032455"/>
                </a:solidFill>
                <a:latin typeface="Tahoma"/>
                <a:ea typeface="Tahoma"/>
                <a:cs typeface="Tahoma"/>
                <a:sym typeface="Tahoma"/>
              </a:rPr>
              <a:t>manter a calma e ser positivo com a vítima</a:t>
            </a:r>
            <a:r>
              <a:rPr lang="x-none" sz="3200" b="0" i="0" u="none" strike="noStrike" cap="none" baseline="0" smtClean="0">
                <a:solidFill>
                  <a:srgbClr val="032455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lang="pt-BR" sz="3200" b="0" i="0" u="none" strike="noStrike" cap="none" baseline="0" dirty="0" smtClean="0">
              <a:solidFill>
                <a:srgbClr val="032455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R="0" lvl="0" algn="just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59375"/>
              <a:buFontTx/>
              <a:buChar char="-"/>
            </a:pPr>
            <a:endParaRPr lang="x-none" sz="3200" b="0" i="0" u="none" strike="noStrike" cap="none" baseline="0">
              <a:solidFill>
                <a:srgbClr val="032455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R="0" lvl="0" indent="0" algn="just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59375"/>
              <a:buFont typeface="Tahoma"/>
              <a:buNone/>
            </a:pPr>
            <a:r>
              <a:rPr lang="x-none">
                <a:solidFill>
                  <a:srgbClr val="032455"/>
                </a:solidFill>
              </a:rPr>
              <a:t>- </a:t>
            </a:r>
            <a:r>
              <a:rPr lang="x-none" sz="3200" b="0" i="0" u="none" strike="noStrike" cap="none" baseline="0">
                <a:solidFill>
                  <a:srgbClr val="032455"/>
                </a:solidFill>
                <a:latin typeface="Tahoma"/>
                <a:ea typeface="Tahoma"/>
                <a:cs typeface="Tahoma"/>
                <a:sym typeface="Tahoma"/>
              </a:rPr>
              <a:t> Jamais expresse com palavras </a:t>
            </a:r>
            <a:r>
              <a:rPr lang="x-none">
                <a:solidFill>
                  <a:srgbClr val="032455"/>
                </a:solidFill>
              </a:rPr>
              <a:t>e</a:t>
            </a:r>
            <a:r>
              <a:rPr lang="x-none" sz="3200" b="0" i="0" u="none" strike="noStrike" cap="none" baseline="0">
                <a:solidFill>
                  <a:srgbClr val="032455"/>
                </a:solidFill>
                <a:latin typeface="Tahoma"/>
                <a:ea typeface="Tahoma"/>
                <a:cs typeface="Tahoma"/>
                <a:sym typeface="Tahoma"/>
              </a:rPr>
              <a:t>xpressões faciais ou comentários paralelos sobre a gravidade das lesões, pois isso nada ajudará o atendimento e tornará a vítima mais assustada do que já está, podendo causar-lhe reações psicoemocionais, como aumentar a frequência cardíaca e com isso piorar a situação.</a:t>
            </a:r>
          </a:p>
          <a:p>
            <a:pPr algn="just"/>
            <a:endParaRPr dirty="0"/>
          </a:p>
        </p:txBody>
      </p:sp>
      <p:sp>
        <p:nvSpPr>
          <p:cNvPr id="587" name="Shape 587"/>
          <p:cNvSpPr/>
          <p:nvPr/>
        </p:nvSpPr>
        <p:spPr>
          <a:xfrm>
            <a:off x="8316416" y="1"/>
            <a:ext cx="827584" cy="980728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  <p:sp>
        <p:nvSpPr>
          <p:cNvPr id="588" name="Shape 588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19049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/>
              <a:t> 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6" grpId="0" build="p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Shape 594"/>
          <p:cNvSpPr/>
          <p:nvPr/>
        </p:nvSpPr>
        <p:spPr>
          <a:xfrm>
            <a:off x="8001000" y="0"/>
            <a:ext cx="1143000" cy="1447799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  <p:sp>
        <p:nvSpPr>
          <p:cNvPr id="595" name="Shape 595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19049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/>
              <a:t> </a:t>
            </a:r>
          </a:p>
        </p:txBody>
      </p:sp>
      <p:pic>
        <p:nvPicPr>
          <p:cNvPr id="11266" name="Picture 2" descr="Image result for desmaiado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50" r="14409"/>
          <a:stretch/>
        </p:blipFill>
        <p:spPr bwMode="auto">
          <a:xfrm>
            <a:off x="-612576" y="-171400"/>
            <a:ext cx="10337204" cy="8999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93" name="Shape 593"/>
          <p:cNvSpPr txBox="1">
            <a:spLocks noGrp="1"/>
          </p:cNvSpPr>
          <p:nvPr>
            <p:ph type="body" idx="1"/>
          </p:nvPr>
        </p:nvSpPr>
        <p:spPr>
          <a:xfrm>
            <a:off x="35496" y="4221088"/>
            <a:ext cx="8856984" cy="206206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25" tIns="45700" rIns="91425" bIns="45700" anchor="t" anchorCtr="0">
            <a:spAutoFit/>
          </a:bodyPr>
          <a:lstStyle/>
          <a:p>
            <a:pPr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75000"/>
              <a:buFont typeface="Tahoma"/>
              <a:buNone/>
            </a:pPr>
            <a:r>
              <a:rPr lang="x-none" sz="2400" b="0" i="0" u="none" strike="noStrike" cap="none" baseline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x-none" b="0" i="0" u="none" strike="noStrike" cap="none" baseline="0">
                <a:solidFill>
                  <a:srgbClr val="032455"/>
                </a:solidFill>
                <a:latin typeface="Tahoma"/>
                <a:ea typeface="Tahoma"/>
                <a:cs typeface="Tahoma"/>
                <a:sym typeface="Tahoma"/>
              </a:rPr>
              <a:t>Atue desta maneira mesmo que acredite que a vítima esteja inconsciente, pois ela pode estar semi-acordada a ouvindo tudo que acontece ao seu redor</a:t>
            </a:r>
            <a:r>
              <a:rPr lang="x-none" b="0" i="0" u="none" strike="noStrike" cap="none" baseline="0" smtClean="0">
                <a:solidFill>
                  <a:srgbClr val="032455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sz="2400" dirty="0"/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9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9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3" grpId="0" uiExpand="1" build="p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Shape 600"/>
          <p:cNvSpPr txBox="1">
            <a:spLocks noGrp="1"/>
          </p:cNvSpPr>
          <p:nvPr>
            <p:ph type="title"/>
          </p:nvPr>
        </p:nvSpPr>
        <p:spPr>
          <a:xfrm>
            <a:off x="304800" y="4572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 sz="4400" b="0" i="0" u="none" strike="noStrike" cap="none" baseline="0">
                <a:solidFill>
                  <a:srgbClr val="B8004A"/>
                </a:solidFill>
                <a:latin typeface="Tahoma"/>
                <a:ea typeface="Tahoma"/>
                <a:cs typeface="Tahoma"/>
                <a:sym typeface="Tahoma"/>
              </a:rPr>
              <a:t>Plano de ação do socorrista</a:t>
            </a:r>
          </a:p>
        </p:txBody>
      </p:sp>
      <p:sp>
        <p:nvSpPr>
          <p:cNvPr id="601" name="Shape 601"/>
          <p:cNvSpPr txBox="1">
            <a:spLocks noGrp="1"/>
          </p:cNvSpPr>
          <p:nvPr>
            <p:ph type="body" idx="1"/>
          </p:nvPr>
        </p:nvSpPr>
        <p:spPr>
          <a:xfrm>
            <a:off x="179512" y="1916832"/>
            <a:ext cx="8964488" cy="3528618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R="0" lvl="0" indent="0" algn="l" rtl="0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ct val="67187"/>
              <a:buFont typeface="Tahoma"/>
              <a:buNone/>
            </a:pPr>
            <a:r>
              <a:rPr lang="x-none" sz="2800" smtClean="0">
                <a:solidFill>
                  <a:srgbClr val="FF0000"/>
                </a:solidFill>
              </a:rPr>
              <a:t>*</a:t>
            </a:r>
            <a:r>
              <a:rPr lang="x-none" sz="2800" b="0" i="0" u="none" strike="noStrike" cap="none" baseline="0" smtClean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x-none" b="0" i="0" u="none" strike="noStrike" cap="none" baseline="0" smtClean="0">
                <a:solidFill>
                  <a:srgbClr val="032455"/>
                </a:solidFill>
                <a:sym typeface="Tahoma"/>
              </a:rPr>
              <a:t>Check- </a:t>
            </a:r>
            <a:r>
              <a:rPr lang="x-none" b="0" i="0" u="none" strike="noStrike" cap="none" baseline="0">
                <a:solidFill>
                  <a:srgbClr val="032455"/>
                </a:solidFill>
                <a:sym typeface="Tahoma"/>
              </a:rPr>
              <a:t>Procure na cena do acidente se novos perigos são eminentes</a:t>
            </a:r>
            <a:r>
              <a:rPr lang="x-none" b="0" i="0" u="none" strike="noStrike" cap="none" baseline="0" smtClean="0">
                <a:solidFill>
                  <a:srgbClr val="032455"/>
                </a:solidFill>
                <a:sym typeface="Tahoma"/>
              </a:rPr>
              <a:t>.</a:t>
            </a:r>
            <a:endParaRPr lang="pt-BR" b="0" i="0" u="none" strike="noStrike" cap="none" baseline="0" dirty="0" smtClean="0">
              <a:solidFill>
                <a:srgbClr val="032455"/>
              </a:solidFill>
              <a:sym typeface="Tahoma"/>
            </a:endParaRPr>
          </a:p>
          <a:p>
            <a:pPr marR="0" lvl="0" indent="0" algn="l" rtl="0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ct val="67187"/>
              <a:buFont typeface="Tahoma"/>
              <a:buNone/>
            </a:pPr>
            <a:endParaRPr lang="x-none" b="0" i="0" u="none" strike="noStrike" cap="none" baseline="0">
              <a:solidFill>
                <a:srgbClr val="032455"/>
              </a:solidFill>
              <a:sym typeface="Tahoma"/>
            </a:endParaRPr>
          </a:p>
          <a:p>
            <a:pPr marR="0" lvl="0" indent="0" algn="l" rtl="0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ct val="59722"/>
              <a:buFont typeface="Tahoma"/>
              <a:buNone/>
            </a:pPr>
            <a:r>
              <a:rPr lang="x-none">
                <a:solidFill>
                  <a:srgbClr val="FF0000"/>
                </a:solidFill>
              </a:rPr>
              <a:t>*</a:t>
            </a:r>
            <a:r>
              <a:rPr lang="x-none" b="0" i="0" u="none" strike="noStrike" cap="none" baseline="0">
                <a:solidFill>
                  <a:srgbClr val="032455"/>
                </a:solidFill>
                <a:sym typeface="Tahoma"/>
              </a:rPr>
              <a:t> Ajuda </a:t>
            </a:r>
            <a:r>
              <a:rPr lang="pt-BR" b="0" i="0" u="none" strike="noStrike" cap="none" baseline="0" dirty="0" smtClean="0">
                <a:solidFill>
                  <a:srgbClr val="032455"/>
                </a:solidFill>
                <a:sym typeface="Tahoma"/>
              </a:rPr>
              <a:t>-</a:t>
            </a:r>
            <a:r>
              <a:rPr lang="x-none" b="0" i="0" u="none" strike="noStrike" cap="none" baseline="0" smtClean="0">
                <a:solidFill>
                  <a:srgbClr val="032455"/>
                </a:solidFill>
                <a:sym typeface="Tahoma"/>
              </a:rPr>
              <a:t> </a:t>
            </a:r>
            <a:r>
              <a:rPr lang="x-none" b="0" i="0" u="none" strike="noStrike" cap="none" baseline="0">
                <a:solidFill>
                  <a:srgbClr val="032455"/>
                </a:solidFill>
                <a:sym typeface="Tahoma"/>
              </a:rPr>
              <a:t>peça especializada.</a:t>
            </a:r>
          </a:p>
          <a:p>
            <a:endParaRPr sz="2800" dirty="0"/>
          </a:p>
          <a:p>
            <a:pPr marR="0" lvl="0" indent="0" algn="l" rtl="0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ct val="59722"/>
              <a:buFont typeface="Tahoma"/>
              <a:buNone/>
            </a:pPr>
            <a:r>
              <a:rPr lang="x-none">
                <a:solidFill>
                  <a:srgbClr val="FF0000"/>
                </a:solidFill>
              </a:rPr>
              <a:t>*</a:t>
            </a:r>
            <a:r>
              <a:rPr lang="x-none" b="0" i="0" u="none" strike="noStrike" cap="none" baseline="0">
                <a:solidFill>
                  <a:srgbClr val="032455"/>
                </a:solidFill>
                <a:sym typeface="Tahoma"/>
              </a:rPr>
              <a:t> Cuide, não fique omisso, aplique seus conhecimentos de socorro.</a:t>
            </a:r>
          </a:p>
        </p:txBody>
      </p:sp>
      <p:sp>
        <p:nvSpPr>
          <p:cNvPr id="602" name="Shape 602"/>
          <p:cNvSpPr/>
          <p:nvPr/>
        </p:nvSpPr>
        <p:spPr>
          <a:xfrm>
            <a:off x="8001000" y="0"/>
            <a:ext cx="1143000" cy="1447799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  <p:sp>
        <p:nvSpPr>
          <p:cNvPr id="603" name="Shape 603"/>
          <p:cNvSpPr/>
          <p:nvPr/>
        </p:nvSpPr>
        <p:spPr>
          <a:xfrm>
            <a:off x="304800" y="762000"/>
            <a:ext cx="380999" cy="533400"/>
          </a:xfrm>
          <a:prstGeom prst="rect">
            <a:avLst/>
          </a:prstGeom>
          <a:blipFill>
            <a:blip r:embed="rId5"/>
            <a:stretch>
              <a:fillRect/>
            </a:stretch>
          </a:blipFill>
        </p:spPr>
      </p:sp>
      <p:sp>
        <p:nvSpPr>
          <p:cNvPr id="604" name="Shape 604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19049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/>
              <a:t> 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0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0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1" grpId="0" build="p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Shape 609"/>
          <p:cNvSpPr txBox="1">
            <a:spLocks noGrp="1"/>
          </p:cNvSpPr>
          <p:nvPr>
            <p:ph type="body" idx="1"/>
          </p:nvPr>
        </p:nvSpPr>
        <p:spPr>
          <a:xfrm>
            <a:off x="195210" y="116632"/>
            <a:ext cx="8928992" cy="2610931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R="0" lvl="0" indent="0" algn="just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66666"/>
              <a:buFont typeface="Tahoma"/>
              <a:buNone/>
            </a:pPr>
            <a:r>
              <a:rPr lang="x-none" sz="2800" b="0" i="0" u="none" strike="noStrike" cap="none" baseline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- </a:t>
            </a:r>
            <a:r>
              <a:rPr lang="x-none" b="0" i="0" u="none" strike="noStrike" cap="none" baseline="0">
                <a:solidFill>
                  <a:srgbClr val="032455"/>
                </a:solidFill>
                <a:latin typeface="Tahoma"/>
                <a:ea typeface="Tahoma"/>
                <a:cs typeface="Tahoma"/>
                <a:sym typeface="Tahoma"/>
              </a:rPr>
              <a:t>Mantenha a vítima estável e aguarde a ajuda chegar.</a:t>
            </a:r>
          </a:p>
          <a:p>
            <a:pPr algn="just"/>
            <a:endParaRPr sz="2400" dirty="0"/>
          </a:p>
          <a:p>
            <a:pPr marR="0" lvl="0" indent="0" algn="just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60000"/>
              <a:buFont typeface="Tahoma"/>
              <a:buNone/>
            </a:pPr>
            <a:r>
              <a:rPr lang="x-none" b="0" i="0" u="none" strike="noStrike" cap="none" baseline="0">
                <a:solidFill>
                  <a:srgbClr val="032455"/>
                </a:solidFill>
                <a:latin typeface="Tahoma"/>
                <a:ea typeface="Tahoma"/>
                <a:cs typeface="Tahoma"/>
                <a:sym typeface="Tahoma"/>
              </a:rPr>
              <a:t>- No caso de mais de uma vítima, escolha a pessoa que mais precisa de ajuda.</a:t>
            </a:r>
          </a:p>
        </p:txBody>
      </p:sp>
      <p:sp>
        <p:nvSpPr>
          <p:cNvPr id="611" name="Shape 611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19049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/>
              <a:t> </a:t>
            </a:r>
          </a:p>
        </p:txBody>
      </p:sp>
      <p:pic>
        <p:nvPicPr>
          <p:cNvPr id="12290" name="Picture 2" descr="Image result for primeiros socorr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2595799"/>
            <a:ext cx="7416824" cy="4262202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9" grpId="0" build="p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Shape 616"/>
          <p:cNvSpPr txBox="1">
            <a:spLocks noGrp="1"/>
          </p:cNvSpPr>
          <p:nvPr>
            <p:ph type="body" idx="1"/>
          </p:nvPr>
        </p:nvSpPr>
        <p:spPr>
          <a:xfrm>
            <a:off x="184138" y="908720"/>
            <a:ext cx="8928992" cy="156962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R="0" lvl="0" algn="just" rtl="0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ct val="67187"/>
              <a:buFontTx/>
              <a:buChar char="-"/>
            </a:pPr>
            <a:r>
              <a:rPr lang="x-none" b="0" i="0" u="none" strike="noStrike" cap="none" baseline="0" smtClean="0">
                <a:solidFill>
                  <a:srgbClr val="032455"/>
                </a:solidFill>
                <a:latin typeface="Tahoma"/>
                <a:ea typeface="Tahoma"/>
                <a:cs typeface="Tahoma"/>
                <a:sym typeface="Tahoma"/>
              </a:rPr>
              <a:t>Toda </a:t>
            </a:r>
            <a:r>
              <a:rPr lang="x-none" b="0" i="0" u="none" strike="noStrike" cap="none" baseline="0">
                <a:solidFill>
                  <a:srgbClr val="032455"/>
                </a:solidFill>
                <a:latin typeface="Tahoma"/>
                <a:ea typeface="Tahoma"/>
                <a:cs typeface="Tahoma"/>
                <a:sym typeface="Tahoma"/>
              </a:rPr>
              <a:t>pessoa que estiver prestando atendimento de primeiros socorros deve, antes de tudo, atentar para a sua própria </a:t>
            </a:r>
            <a:r>
              <a:rPr lang="x-none" b="0" i="0" u="none" strike="noStrike" cap="none" baseline="0" smtClean="0">
                <a:solidFill>
                  <a:srgbClr val="032455"/>
                </a:solidFill>
                <a:latin typeface="Tahoma"/>
                <a:ea typeface="Tahoma"/>
                <a:cs typeface="Tahoma"/>
                <a:sym typeface="Tahoma"/>
              </a:rPr>
              <a:t>segurança</a:t>
            </a:r>
            <a:endParaRPr lang="x-none" sz="2800" b="0" i="0" u="none" strike="noStrike" cap="none" baseline="0">
              <a:solidFill>
                <a:srgbClr val="032455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18" name="Shape 618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19049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/>
              <a:t> </a:t>
            </a:r>
          </a:p>
        </p:txBody>
      </p:sp>
      <p:sp>
        <p:nvSpPr>
          <p:cNvPr id="5" name="Shape 616"/>
          <p:cNvSpPr txBox="1">
            <a:spLocks/>
          </p:cNvSpPr>
          <p:nvPr/>
        </p:nvSpPr>
        <p:spPr>
          <a:xfrm>
            <a:off x="107504" y="3068960"/>
            <a:ext cx="8928992" cy="2062063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>
            <a:def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indent="1206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3200" b="0" i="0" u="none" strike="noStrike" cap="none" baseline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793750" marR="0" indent="-2286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Font typeface="Arial"/>
              <a:buChar char="•"/>
              <a:defRPr sz="28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143000" marR="0" indent="-136525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Font typeface="Arial"/>
              <a:buChar char="•"/>
              <a:defRPr sz="2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600200" marR="0" indent="-1524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/>
              <a:buChar char="•"/>
              <a:defRPr sz="20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057400" marR="0" indent="-1524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Arial"/>
              <a:buChar char="•"/>
              <a:defRPr sz="20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514600" marR="0" indent="-1079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3200" b="0" i="0" u="none" strike="noStrike" cap="none" baseline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2971800" marR="0" indent="-1079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3200" b="0" i="0" u="none" strike="noStrike" cap="none" baseline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3429000" marR="0" indent="-1079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3200" b="0" i="0" u="none" strike="noStrike" cap="none" baseline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3886200" marR="0" indent="-1079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Font typeface="Arial"/>
              <a:buChar char="•"/>
              <a:defRPr sz="3200" b="0" i="0" u="none" strike="noStrike" cap="none" baseline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algn="just">
              <a:spcBef>
                <a:spcPts val="720"/>
              </a:spcBef>
              <a:buSzPct val="59722"/>
              <a:buFont typeface="Tahoma"/>
              <a:buNone/>
            </a:pPr>
            <a:r>
              <a:rPr lang="x-none" smtClean="0">
                <a:solidFill>
                  <a:srgbClr val="032455"/>
                </a:solidFill>
              </a:rPr>
              <a:t>- O impulso de ajudar a outras pessoas não justifica a tomada de atitudes inconsequentes, que acabem  o transformando em mais uma vítima</a:t>
            </a:r>
            <a:r>
              <a:rPr lang="x-none" sz="2800" smtClean="0">
                <a:solidFill>
                  <a:srgbClr val="032455"/>
                </a:solidFill>
              </a:rPr>
              <a:t>.</a:t>
            </a:r>
            <a:endParaRPr lang="x-none" sz="2800">
              <a:solidFill>
                <a:srgbClr val="032455"/>
              </a:solidFill>
            </a:endParaRP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6" grpId="0" build="p"/>
      <p:bldP spid="5" grpId="0" build="p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Shape 623"/>
          <p:cNvSpPr txBox="1">
            <a:spLocks noGrp="1"/>
          </p:cNvSpPr>
          <p:nvPr>
            <p:ph type="body" idx="1"/>
          </p:nvPr>
        </p:nvSpPr>
        <p:spPr>
          <a:xfrm>
            <a:off x="251520" y="188640"/>
            <a:ext cx="8784976" cy="3629158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R="0" lvl="0" indent="0" algn="just" rtl="0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ct val="67187"/>
              <a:buFont typeface="Tahoma"/>
              <a:buNone/>
            </a:pPr>
            <a:r>
              <a:rPr lang="x-none" sz="2800" b="0" i="0" u="none" strike="noStrike" cap="none" baseline="0" smtClean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-</a:t>
            </a:r>
            <a:r>
              <a:rPr lang="pt-BR" sz="2800" b="0" i="0" u="none" strike="noStrike" cap="none" baseline="0" dirty="0" smtClean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x-none" b="0" i="0" u="none" strike="noStrike" cap="none" baseline="0" smtClean="0">
                <a:solidFill>
                  <a:srgbClr val="032455"/>
                </a:solidFill>
                <a:sym typeface="Tahoma"/>
              </a:rPr>
              <a:t>A </a:t>
            </a:r>
            <a:r>
              <a:rPr lang="x-none" b="0" i="0" u="none" strike="noStrike" cap="none" baseline="0">
                <a:solidFill>
                  <a:srgbClr val="032455"/>
                </a:solidFill>
                <a:sym typeface="Tahoma"/>
              </a:rPr>
              <a:t>seriedade e o respeito são o primeiro passo para um bom atendimento de primeiros socorros. </a:t>
            </a:r>
          </a:p>
          <a:p>
            <a:pPr marR="0" lvl="0" indent="0" algn="just" rtl="0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ct val="59722"/>
              <a:buFont typeface="Tahoma"/>
              <a:buNone/>
            </a:pPr>
            <a:r>
              <a:rPr lang="x-none" b="0" i="0" u="none" strike="noStrike" cap="none" baseline="0" smtClean="0">
                <a:solidFill>
                  <a:srgbClr val="032455"/>
                </a:solidFill>
                <a:sym typeface="Tahoma"/>
              </a:rPr>
              <a:t>-</a:t>
            </a:r>
            <a:r>
              <a:rPr lang="pt-BR" b="0" i="0" u="none" strike="noStrike" cap="none" baseline="0" dirty="0" smtClean="0">
                <a:solidFill>
                  <a:srgbClr val="032455"/>
                </a:solidFill>
                <a:sym typeface="Tahoma"/>
              </a:rPr>
              <a:t> </a:t>
            </a:r>
            <a:r>
              <a:rPr lang="x-none" b="0" i="0" u="none" strike="noStrike" cap="none" baseline="0" smtClean="0">
                <a:solidFill>
                  <a:srgbClr val="032455"/>
                </a:solidFill>
                <a:sym typeface="Tahoma"/>
              </a:rPr>
              <a:t>Para </a:t>
            </a:r>
            <a:r>
              <a:rPr lang="x-none" b="0" i="0" u="none" strike="noStrike" cap="none" baseline="0">
                <a:solidFill>
                  <a:srgbClr val="032455"/>
                </a:solidFill>
                <a:sym typeface="Tahoma"/>
              </a:rPr>
              <a:t>tanto, evite que a vítima seja exposta desnecessariamente e mantenha o devido sigilo sobre as informações pessoais de quem você prestou atendimento.</a:t>
            </a:r>
          </a:p>
        </p:txBody>
      </p:sp>
      <p:sp>
        <p:nvSpPr>
          <p:cNvPr id="625" name="Shape 625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19049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/>
              <a:t> </a:t>
            </a:r>
          </a:p>
        </p:txBody>
      </p:sp>
      <p:pic>
        <p:nvPicPr>
          <p:cNvPr id="14338" name="Picture 2" descr="Image result for vítim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3753073"/>
            <a:ext cx="6740152" cy="3114455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43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43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43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3" grpId="0" build="p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Shape 630"/>
          <p:cNvSpPr txBox="1">
            <a:spLocks noGrp="1"/>
          </p:cNvSpPr>
          <p:nvPr>
            <p:ph type="title"/>
          </p:nvPr>
        </p:nvSpPr>
        <p:spPr>
          <a:xfrm>
            <a:off x="304800" y="650776"/>
            <a:ext cx="2854324" cy="7620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 sz="4400" b="0" i="0" u="none" strike="noStrike" cap="none" baseline="0">
                <a:solidFill>
                  <a:srgbClr val="B8004A"/>
                </a:solidFill>
                <a:latin typeface="Tahoma"/>
                <a:ea typeface="Tahoma"/>
                <a:cs typeface="Tahoma"/>
                <a:sym typeface="Tahoma"/>
              </a:rPr>
              <a:t>Desmaio</a:t>
            </a:r>
          </a:p>
        </p:txBody>
      </p:sp>
      <p:sp>
        <p:nvSpPr>
          <p:cNvPr id="631" name="Shape 631"/>
          <p:cNvSpPr txBox="1">
            <a:spLocks noGrp="1"/>
          </p:cNvSpPr>
          <p:nvPr>
            <p:ph type="body" idx="1"/>
          </p:nvPr>
        </p:nvSpPr>
        <p:spPr>
          <a:xfrm>
            <a:off x="251520" y="1859380"/>
            <a:ext cx="8712968" cy="156962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R="0" lvl="0" indent="0" algn="just" rtl="0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ct val="59722"/>
              <a:buFont typeface="Tahoma"/>
              <a:buNone/>
            </a:pPr>
            <a:r>
              <a:rPr lang="x-none" b="0" i="0" u="none" strike="noStrike" cap="none" baseline="0">
                <a:solidFill>
                  <a:srgbClr val="032455"/>
                </a:solidFill>
                <a:latin typeface="Tahoma"/>
                <a:ea typeface="Tahoma"/>
                <a:cs typeface="Tahoma"/>
                <a:sym typeface="Tahoma"/>
              </a:rPr>
              <a:t>Normalmente, o desmaio não passa de um acidente leve, só se agravando quando é causado por grandes hemorragias.</a:t>
            </a:r>
          </a:p>
        </p:txBody>
      </p:sp>
      <p:sp>
        <p:nvSpPr>
          <p:cNvPr id="632" name="Shape 632"/>
          <p:cNvSpPr/>
          <p:nvPr/>
        </p:nvSpPr>
        <p:spPr>
          <a:xfrm>
            <a:off x="8001000" y="0"/>
            <a:ext cx="1143000" cy="1447799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  <p:sp>
        <p:nvSpPr>
          <p:cNvPr id="633" name="Shape 633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19049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/>
              <a:t> </a:t>
            </a:r>
          </a:p>
        </p:txBody>
      </p:sp>
      <p:pic>
        <p:nvPicPr>
          <p:cNvPr id="15362" name="Picture 2" descr="Image result for desmaio"/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856" b="99279" l="0" r="97245">
                        <a14:foregroundMark x1="52026" y1="40865" x2="52026" y2="40865"/>
                        <a14:foregroundMark x1="51540" y1="39663" x2="51540" y2="39663"/>
                        <a14:foregroundMark x1="50405" y1="39423" x2="50405" y2="39423"/>
                        <a14:foregroundMark x1="48784" y1="39423" x2="48784" y2="39423"/>
                        <a14:foregroundMark x1="51702" y1="40385" x2="51702" y2="40385"/>
                        <a14:foregroundMark x1="50567" y1="41827" x2="50567" y2="41827"/>
                        <a14:foregroundMark x1="53160" y1="40625" x2="53160" y2="40625"/>
                        <a14:foregroundMark x1="55105" y1="39904" x2="55105" y2="39904"/>
                        <a14:foregroundMark x1="55592" y1="39183" x2="55592" y2="39183"/>
                        <a14:foregroundMark x1="41977" y1="40625" x2="41977" y2="40625"/>
                        <a14:foregroundMark x1="41329" y1="40865" x2="41329" y2="40865"/>
                        <a14:foregroundMark x1="40681" y1="41346" x2="40681" y2="41346"/>
                        <a14:foregroundMark x1="39870" y1="41346" x2="39870" y2="41346"/>
                        <a14:foregroundMark x1="39222" y1="41346" x2="39222" y2="41346"/>
                        <a14:foregroundMark x1="38898" y1="41346" x2="38898" y2="41346"/>
                        <a14:foregroundMark x1="39384" y1="43029" x2="39384" y2="43029"/>
                        <a14:foregroundMark x1="47488" y1="40865" x2="47488" y2="40865"/>
                        <a14:foregroundMark x1="47164" y1="39183" x2="47164" y2="39183"/>
                        <a14:foregroundMark x1="44733" y1="39183" x2="44733" y2="39183"/>
                        <a14:foregroundMark x1="53647" y1="40144" x2="53647" y2="4014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3068960"/>
            <a:ext cx="6942019" cy="4680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1" grpId="0" build="p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Shape 638"/>
          <p:cNvSpPr txBox="1">
            <a:spLocks noGrp="1"/>
          </p:cNvSpPr>
          <p:nvPr>
            <p:ph type="body" idx="1"/>
          </p:nvPr>
        </p:nvSpPr>
        <p:spPr>
          <a:xfrm>
            <a:off x="179512" y="332656"/>
            <a:ext cx="8894137" cy="6509434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R="0" lvl="0" indent="0" algn="just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59375"/>
              <a:buFont typeface="Tahoma"/>
              <a:buNone/>
            </a:pPr>
            <a:r>
              <a:rPr lang="x-none" sz="3200" b="0" i="0" u="none" strike="noStrike" cap="none" baseline="0">
                <a:solidFill>
                  <a:srgbClr val="032455"/>
                </a:solidFill>
                <a:latin typeface="Tahoma"/>
                <a:ea typeface="Tahoma"/>
                <a:cs typeface="Tahoma"/>
                <a:sym typeface="Tahoma"/>
              </a:rPr>
              <a:t>Como socorrer:</a:t>
            </a:r>
          </a:p>
          <a:p>
            <a:pPr marR="0" lvl="0" indent="0" algn="just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59375"/>
              <a:buNone/>
            </a:pPr>
            <a:r>
              <a:rPr lang="pt-BR" sz="3200" b="0" i="0" u="none" strike="noStrike" cap="none" baseline="0" dirty="0" smtClean="0">
                <a:solidFill>
                  <a:srgbClr val="032455"/>
                </a:solidFill>
                <a:latin typeface="Tahoma"/>
                <a:ea typeface="Tahoma"/>
                <a:cs typeface="Tahoma"/>
                <a:sym typeface="Tahoma"/>
              </a:rPr>
              <a:t>- </a:t>
            </a:r>
            <a:r>
              <a:rPr lang="x-none" sz="3200" b="0" i="0" u="none" strike="noStrike" cap="none" baseline="0" smtClean="0">
                <a:solidFill>
                  <a:srgbClr val="032455"/>
                </a:solidFill>
                <a:latin typeface="Tahoma"/>
                <a:ea typeface="Tahoma"/>
                <a:cs typeface="Tahoma"/>
                <a:sym typeface="Tahoma"/>
              </a:rPr>
              <a:t>Se </a:t>
            </a:r>
            <a:r>
              <a:rPr lang="x-none" sz="3200" b="0" i="0" u="none" strike="noStrike" cap="none" baseline="0">
                <a:solidFill>
                  <a:srgbClr val="032455"/>
                </a:solidFill>
                <a:latin typeface="Tahoma"/>
                <a:ea typeface="Tahoma"/>
                <a:cs typeface="Tahoma"/>
                <a:sym typeface="Tahoma"/>
              </a:rPr>
              <a:t>a pessoa estiver prestes a desmaiar, coloque-a sentada com a cabeça entre as pernas</a:t>
            </a:r>
            <a:r>
              <a:rPr lang="x-none" sz="3200" b="0" i="0" u="none" strike="noStrike" cap="none" baseline="0" smtClean="0">
                <a:solidFill>
                  <a:srgbClr val="032455"/>
                </a:solidFill>
                <a:latin typeface="Tahoma"/>
                <a:ea typeface="Tahoma"/>
                <a:cs typeface="Tahoma"/>
                <a:sym typeface="Tahoma"/>
              </a:rPr>
              <a:t>;</a:t>
            </a:r>
            <a:endParaRPr lang="pt-BR" sz="3200" b="0" i="0" u="none" strike="noStrike" cap="none" baseline="0" dirty="0" smtClean="0">
              <a:solidFill>
                <a:srgbClr val="032455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R="0" lvl="0" algn="just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59375"/>
              <a:buFontTx/>
              <a:buChar char="-"/>
            </a:pPr>
            <a:endParaRPr lang="x-none" sz="1200" b="0" i="0" u="none" strike="noStrike" cap="none" baseline="0">
              <a:solidFill>
                <a:srgbClr val="032455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R="0" lvl="0" indent="0" algn="just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59375"/>
              <a:buNone/>
            </a:pPr>
            <a:r>
              <a:rPr lang="pt-BR" sz="3200" b="0" i="0" u="none" strike="noStrike" cap="none" baseline="0" dirty="0" smtClean="0">
                <a:solidFill>
                  <a:srgbClr val="032455"/>
                </a:solidFill>
                <a:latin typeface="Tahoma"/>
                <a:ea typeface="Tahoma"/>
                <a:cs typeface="Tahoma"/>
                <a:sym typeface="Tahoma"/>
              </a:rPr>
              <a:t>- </a:t>
            </a:r>
            <a:r>
              <a:rPr lang="x-none" sz="3200" b="0" i="0" u="none" strike="noStrike" cap="none" baseline="0" smtClean="0">
                <a:solidFill>
                  <a:srgbClr val="032455"/>
                </a:solidFill>
                <a:latin typeface="Tahoma"/>
                <a:ea typeface="Tahoma"/>
                <a:cs typeface="Tahoma"/>
                <a:sym typeface="Tahoma"/>
              </a:rPr>
              <a:t>Se </a:t>
            </a:r>
            <a:r>
              <a:rPr lang="x-none" sz="3200" b="0" i="0" u="none" strike="noStrike" cap="none" baseline="0">
                <a:solidFill>
                  <a:srgbClr val="032455"/>
                </a:solidFill>
                <a:latin typeface="Tahoma"/>
                <a:ea typeface="Tahoma"/>
                <a:cs typeface="Tahoma"/>
                <a:sym typeface="Tahoma"/>
              </a:rPr>
              <a:t>o desmaio já ocorreu, deitar a vítima no chão, verificar respiração e palidez</a:t>
            </a:r>
            <a:r>
              <a:rPr lang="x-none" sz="3200" b="0" i="0" u="none" strike="noStrike" cap="none" baseline="0" smtClean="0">
                <a:solidFill>
                  <a:srgbClr val="032455"/>
                </a:solidFill>
                <a:latin typeface="Tahoma"/>
                <a:ea typeface="Tahoma"/>
                <a:cs typeface="Tahoma"/>
                <a:sym typeface="Tahoma"/>
              </a:rPr>
              <a:t>;</a:t>
            </a:r>
            <a:endParaRPr lang="pt-BR" sz="3200" b="0" i="0" u="none" strike="noStrike" cap="none" baseline="0" dirty="0" smtClean="0">
              <a:solidFill>
                <a:srgbClr val="032455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R="0" lvl="0" algn="just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59375"/>
              <a:buFontTx/>
              <a:buChar char="-"/>
            </a:pPr>
            <a:endParaRPr lang="x-none" sz="1200" b="0" i="0" u="none" strike="noStrike" cap="none" baseline="0">
              <a:solidFill>
                <a:srgbClr val="032455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R="0" lvl="0" indent="0" algn="just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59375"/>
              <a:buNone/>
            </a:pPr>
            <a:r>
              <a:rPr lang="pt-BR" sz="3200" b="0" i="0" u="none" strike="noStrike" cap="none" baseline="0" dirty="0" smtClean="0">
                <a:solidFill>
                  <a:srgbClr val="032455"/>
                </a:solidFill>
                <a:latin typeface="Tahoma"/>
                <a:ea typeface="Tahoma"/>
                <a:cs typeface="Tahoma"/>
                <a:sym typeface="Tahoma"/>
              </a:rPr>
              <a:t>- </a:t>
            </a:r>
            <a:r>
              <a:rPr lang="x-none" sz="3200" b="0" i="0" u="none" strike="noStrike" cap="none" baseline="0" smtClean="0">
                <a:solidFill>
                  <a:srgbClr val="032455"/>
                </a:solidFill>
                <a:latin typeface="Tahoma"/>
                <a:ea typeface="Tahoma"/>
                <a:cs typeface="Tahoma"/>
                <a:sym typeface="Tahoma"/>
              </a:rPr>
              <a:t>Afrouxar </a:t>
            </a:r>
            <a:r>
              <a:rPr lang="x-none" sz="3200" b="0" i="0" u="none" strike="noStrike" cap="none" baseline="0">
                <a:solidFill>
                  <a:srgbClr val="032455"/>
                </a:solidFill>
                <a:latin typeface="Tahoma"/>
                <a:ea typeface="Tahoma"/>
                <a:cs typeface="Tahoma"/>
                <a:sym typeface="Tahoma"/>
              </a:rPr>
              <a:t>as roupas</a:t>
            </a:r>
            <a:r>
              <a:rPr lang="x-none" sz="3200" b="0" i="0" u="none" strike="noStrike" cap="none" baseline="0" smtClean="0">
                <a:solidFill>
                  <a:srgbClr val="032455"/>
                </a:solidFill>
                <a:latin typeface="Tahoma"/>
                <a:ea typeface="Tahoma"/>
                <a:cs typeface="Tahoma"/>
                <a:sym typeface="Tahoma"/>
              </a:rPr>
              <a:t>;</a:t>
            </a:r>
            <a:endParaRPr lang="pt-BR" sz="3200" b="0" i="0" u="none" strike="noStrike" cap="none" baseline="0" dirty="0" smtClean="0">
              <a:solidFill>
                <a:srgbClr val="032455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R="0" lvl="0" algn="just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59375"/>
              <a:buFontTx/>
              <a:buChar char="-"/>
            </a:pPr>
            <a:endParaRPr lang="x-none" sz="800" b="0" i="0" u="none" strike="noStrike" cap="none" baseline="0">
              <a:solidFill>
                <a:srgbClr val="032455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R="0" lvl="0" indent="0" algn="just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59375"/>
              <a:buNone/>
            </a:pPr>
            <a:r>
              <a:rPr lang="pt-BR" sz="3200" b="0" i="0" u="none" strike="noStrike" cap="none" baseline="0" dirty="0" smtClean="0">
                <a:solidFill>
                  <a:srgbClr val="032455"/>
                </a:solidFill>
                <a:latin typeface="Tahoma"/>
                <a:ea typeface="Tahoma"/>
                <a:cs typeface="Tahoma"/>
                <a:sym typeface="Tahoma"/>
              </a:rPr>
              <a:t>-  </a:t>
            </a:r>
            <a:r>
              <a:rPr lang="x-none" sz="3200" b="0" i="0" u="none" strike="noStrike" cap="none" baseline="0" smtClean="0">
                <a:solidFill>
                  <a:srgbClr val="032455"/>
                </a:solidFill>
                <a:latin typeface="Tahoma"/>
                <a:ea typeface="Tahoma"/>
                <a:cs typeface="Tahoma"/>
                <a:sym typeface="Tahoma"/>
              </a:rPr>
              <a:t>Erguer </a:t>
            </a:r>
            <a:r>
              <a:rPr lang="x-none" sz="3200" b="0" i="0" u="none" strike="noStrike" cap="none" baseline="0">
                <a:solidFill>
                  <a:srgbClr val="032455"/>
                </a:solidFill>
                <a:latin typeface="Tahoma"/>
                <a:ea typeface="Tahoma"/>
                <a:cs typeface="Tahoma"/>
                <a:sym typeface="Tahoma"/>
              </a:rPr>
              <a:t>os membros inferiores</a:t>
            </a:r>
            <a:r>
              <a:rPr lang="x-none" sz="3200" b="0" i="0" u="none" strike="noStrike" cap="none" baseline="0" smtClean="0">
                <a:solidFill>
                  <a:srgbClr val="032455"/>
                </a:solidFill>
                <a:latin typeface="Tahoma"/>
                <a:ea typeface="Tahoma"/>
                <a:cs typeface="Tahoma"/>
                <a:sym typeface="Tahoma"/>
              </a:rPr>
              <a:t>;</a:t>
            </a:r>
            <a:endParaRPr lang="pt-BR" sz="3200" b="0" i="0" u="none" strike="noStrike" cap="none" baseline="0" dirty="0" smtClean="0">
              <a:solidFill>
                <a:srgbClr val="032455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R="0" lvl="0" algn="just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59375"/>
              <a:buFontTx/>
              <a:buChar char="-"/>
            </a:pPr>
            <a:endParaRPr lang="x-none" sz="1400" b="0" i="0" u="none" strike="noStrike" cap="none" baseline="0">
              <a:solidFill>
                <a:srgbClr val="032455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R="0" lvl="0" indent="0" algn="just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59375"/>
              <a:buFont typeface="Tahoma"/>
              <a:buNone/>
            </a:pPr>
            <a:r>
              <a:rPr lang="x-none" sz="3200" b="0" i="0" u="none" strike="noStrike" cap="none" baseline="0">
                <a:solidFill>
                  <a:srgbClr val="FF0066"/>
                </a:solidFill>
                <a:latin typeface="Tahoma"/>
                <a:ea typeface="Tahoma"/>
                <a:cs typeface="Tahoma"/>
                <a:sym typeface="Tahoma"/>
              </a:rPr>
              <a:t>- </a:t>
            </a:r>
            <a:r>
              <a:rPr lang="x-none" sz="3200" b="0" i="0" u="none" strike="noStrike" cap="none" baseline="0">
                <a:solidFill>
                  <a:srgbClr val="CC0099"/>
                </a:solidFill>
                <a:latin typeface="Tahoma"/>
                <a:ea typeface="Tahoma"/>
                <a:cs typeface="Tahoma"/>
                <a:sym typeface="Tahoma"/>
              </a:rPr>
              <a:t>Obs.: Se a vítima não se recuperar de 2 a 3 minutos, procurar assistência médica.</a:t>
            </a:r>
          </a:p>
        </p:txBody>
      </p:sp>
      <p:sp>
        <p:nvSpPr>
          <p:cNvPr id="639" name="Shape 639"/>
          <p:cNvSpPr/>
          <p:nvPr/>
        </p:nvSpPr>
        <p:spPr>
          <a:xfrm>
            <a:off x="8001000" y="0"/>
            <a:ext cx="1143000" cy="1447799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  <p:sp>
        <p:nvSpPr>
          <p:cNvPr id="640" name="Shape 640"/>
          <p:cNvSpPr/>
          <p:nvPr/>
        </p:nvSpPr>
        <p:spPr>
          <a:xfrm>
            <a:off x="-36512" y="393576"/>
            <a:ext cx="272479" cy="443136"/>
          </a:xfrm>
          <a:prstGeom prst="rect">
            <a:avLst/>
          </a:prstGeom>
          <a:blipFill>
            <a:blip r:embed="rId5"/>
            <a:stretch>
              <a:fillRect/>
            </a:stretch>
          </a:blipFill>
        </p:spPr>
      </p:sp>
      <p:sp>
        <p:nvSpPr>
          <p:cNvPr id="641" name="Shape 641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19049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/>
              <a:t> 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3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3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8" grpId="0" build="p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Shape 646"/>
          <p:cNvSpPr txBox="1">
            <a:spLocks noGrp="1"/>
          </p:cNvSpPr>
          <p:nvPr>
            <p:ph type="body" idx="1"/>
          </p:nvPr>
        </p:nvSpPr>
        <p:spPr>
          <a:xfrm>
            <a:off x="179512" y="1219200"/>
            <a:ext cx="8784976" cy="5391179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R="0" lvl="0" algn="just" rtl="0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ct val="59722"/>
              <a:buFontTx/>
              <a:buChar char="-"/>
            </a:pPr>
            <a:r>
              <a:rPr lang="x-none" b="0" i="0" u="none" strike="noStrike" cap="none" baseline="0" smtClean="0">
                <a:solidFill>
                  <a:srgbClr val="032455"/>
                </a:solidFill>
                <a:latin typeface="Tahoma"/>
                <a:ea typeface="Tahoma"/>
                <a:cs typeface="Tahoma"/>
                <a:sym typeface="Tahoma"/>
              </a:rPr>
              <a:t>Não </a:t>
            </a:r>
            <a:r>
              <a:rPr lang="x-none" b="0" i="0" u="none" strike="noStrike" cap="none" baseline="0">
                <a:solidFill>
                  <a:srgbClr val="032455"/>
                </a:solidFill>
                <a:latin typeface="Tahoma"/>
                <a:ea typeface="Tahoma"/>
                <a:cs typeface="Tahoma"/>
                <a:sym typeface="Tahoma"/>
              </a:rPr>
              <a:t>dê líquido à pessoas que estejam inconscientes</a:t>
            </a:r>
            <a:r>
              <a:rPr lang="x-none" b="0" i="0" u="none" strike="noStrike" cap="none" baseline="0" smtClean="0">
                <a:solidFill>
                  <a:srgbClr val="032455"/>
                </a:solidFill>
                <a:latin typeface="Tahoma"/>
                <a:ea typeface="Tahoma"/>
                <a:cs typeface="Tahoma"/>
                <a:sym typeface="Tahoma"/>
              </a:rPr>
              <a:t>;</a:t>
            </a:r>
            <a:endParaRPr lang="pt-BR" b="0" i="0" u="none" strike="noStrike" cap="none" baseline="0" dirty="0" smtClean="0">
              <a:solidFill>
                <a:srgbClr val="032455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R="0" lvl="0" algn="just" rtl="0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ct val="59722"/>
              <a:buFontTx/>
              <a:buChar char="-"/>
            </a:pPr>
            <a:endParaRPr lang="x-none" b="0" i="0" u="none" strike="noStrike" cap="none" baseline="0">
              <a:solidFill>
                <a:srgbClr val="032455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R="0" lvl="0" algn="just" rtl="0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ct val="59722"/>
              <a:buFontTx/>
              <a:buChar char="-"/>
            </a:pPr>
            <a:r>
              <a:rPr lang="x-none" b="0" i="0" u="none" strike="noStrike" cap="none" baseline="0" smtClean="0">
                <a:solidFill>
                  <a:srgbClr val="032455"/>
                </a:solidFill>
                <a:latin typeface="Tahoma"/>
                <a:ea typeface="Tahoma"/>
                <a:cs typeface="Tahoma"/>
                <a:sym typeface="Tahoma"/>
              </a:rPr>
              <a:t>Cessada </a:t>
            </a:r>
            <a:r>
              <a:rPr lang="x-none" b="0" i="0" u="none" strike="noStrike" cap="none" baseline="0">
                <a:solidFill>
                  <a:srgbClr val="032455"/>
                </a:solidFill>
                <a:latin typeface="Tahoma"/>
                <a:ea typeface="Tahoma"/>
                <a:cs typeface="Tahoma"/>
                <a:sym typeface="Tahoma"/>
              </a:rPr>
              <a:t>a convulsão, deixa a vítima repousar calmamente, pois poderá dormir por minutos ou horas</a:t>
            </a:r>
            <a:r>
              <a:rPr lang="x-none" b="0" i="0" u="none" strike="noStrike" cap="none" baseline="0" smtClean="0">
                <a:solidFill>
                  <a:srgbClr val="032455"/>
                </a:solidFill>
                <a:latin typeface="Tahoma"/>
                <a:ea typeface="Tahoma"/>
                <a:cs typeface="Tahoma"/>
                <a:sym typeface="Tahoma"/>
              </a:rPr>
              <a:t>;</a:t>
            </a:r>
            <a:endParaRPr lang="pt-BR" b="0" i="0" u="none" strike="noStrike" cap="none" baseline="0" dirty="0" smtClean="0">
              <a:solidFill>
                <a:srgbClr val="032455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R="0" lvl="0" algn="just" rtl="0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ct val="59722"/>
              <a:buFontTx/>
              <a:buChar char="-"/>
            </a:pPr>
            <a:endParaRPr lang="x-none" b="0" i="0" u="none" strike="noStrike" cap="none" baseline="0">
              <a:solidFill>
                <a:srgbClr val="032455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R="0" lvl="0" indent="0" algn="just" rtl="0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ct val="59722"/>
              <a:buFont typeface="Tahoma"/>
              <a:buNone/>
            </a:pPr>
            <a:r>
              <a:rPr lang="x-none" b="0" i="0" u="none" strike="noStrike" cap="none" baseline="0">
                <a:solidFill>
                  <a:srgbClr val="032455"/>
                </a:solidFill>
                <a:latin typeface="Tahoma"/>
                <a:ea typeface="Tahoma"/>
                <a:cs typeface="Tahoma"/>
                <a:sym typeface="Tahoma"/>
              </a:rPr>
              <a:t>- Nunca deixa de prestar socorro à vítima de convulsão.</a:t>
            </a:r>
          </a:p>
          <a:p>
            <a:pPr algn="just"/>
            <a:endParaRPr sz="2800" dirty="0"/>
          </a:p>
        </p:txBody>
      </p:sp>
      <p:sp>
        <p:nvSpPr>
          <p:cNvPr id="647" name="Shape 647"/>
          <p:cNvSpPr/>
          <p:nvPr/>
        </p:nvSpPr>
        <p:spPr>
          <a:xfrm>
            <a:off x="8001000" y="0"/>
            <a:ext cx="1143000" cy="1447799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  <p:sp>
        <p:nvSpPr>
          <p:cNvPr id="648" name="Shape 648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19049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/>
              <a:t> 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6" grpId="0" build="p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Shape 653"/>
          <p:cNvSpPr txBox="1">
            <a:spLocks noGrp="1"/>
          </p:cNvSpPr>
          <p:nvPr>
            <p:ph type="body" idx="1"/>
          </p:nvPr>
        </p:nvSpPr>
        <p:spPr>
          <a:xfrm>
            <a:off x="685800" y="620688"/>
            <a:ext cx="7924799" cy="558302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pPr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60000"/>
              <a:buFont typeface="Tahoma"/>
              <a:buNone/>
            </a:pPr>
            <a:r>
              <a:rPr lang="x-none" b="0" i="0" u="none" strike="noStrike" cap="none" baseline="0">
                <a:solidFill>
                  <a:srgbClr val="B8004A"/>
                </a:solidFill>
                <a:latin typeface="Tahoma"/>
                <a:ea typeface="Tahoma"/>
                <a:cs typeface="Tahoma"/>
                <a:sym typeface="Tahoma"/>
              </a:rPr>
              <a:t> Telefones de </a:t>
            </a:r>
            <a:r>
              <a:rPr lang="x-none" b="0" i="0" u="none" strike="noStrike" cap="none" baseline="0" smtClean="0">
                <a:solidFill>
                  <a:srgbClr val="B8004A"/>
                </a:solidFill>
                <a:latin typeface="Tahoma"/>
                <a:ea typeface="Tahoma"/>
                <a:cs typeface="Tahoma"/>
                <a:sym typeface="Tahoma"/>
              </a:rPr>
              <a:t>emergência</a:t>
            </a:r>
            <a:endParaRPr lang="pt-BR" b="0" i="0" u="none" strike="noStrike" cap="none" baseline="0" dirty="0" smtClean="0">
              <a:solidFill>
                <a:srgbClr val="B8004A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60000"/>
              <a:buFont typeface="Tahoma"/>
              <a:buNone/>
            </a:pPr>
            <a:endParaRPr lang="pt-BR" dirty="0">
              <a:solidFill>
                <a:srgbClr val="B8004A"/>
              </a:solidFill>
            </a:endParaRPr>
          </a:p>
          <a:p>
            <a:pPr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60000"/>
              <a:buFont typeface="Tahoma"/>
              <a:buNone/>
            </a:pPr>
            <a:r>
              <a:rPr lang="x-none" b="0" i="0" u="none" strike="noStrike" cap="none" baseline="0" smtClean="0">
                <a:solidFill>
                  <a:srgbClr val="032455"/>
                </a:solidFill>
                <a:latin typeface="Tahoma"/>
                <a:ea typeface="Tahoma"/>
                <a:cs typeface="Tahoma"/>
                <a:sym typeface="Tahoma"/>
              </a:rPr>
              <a:t>Samu 192</a:t>
            </a:r>
            <a:endParaRPr lang="pt-BR" b="0" i="0" u="none" strike="noStrike" cap="none" baseline="0" dirty="0" smtClean="0">
              <a:solidFill>
                <a:srgbClr val="032455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60000"/>
              <a:buFont typeface="Tahoma"/>
              <a:buNone/>
            </a:pPr>
            <a:r>
              <a:rPr lang="x-none" b="0" i="0" u="none" strike="noStrike" cap="none" baseline="0">
                <a:solidFill>
                  <a:srgbClr val="032455"/>
                </a:solidFill>
                <a:latin typeface="Tahoma"/>
                <a:ea typeface="Tahoma"/>
                <a:cs typeface="Tahoma"/>
                <a:sym typeface="Tahoma"/>
              </a:rPr>
              <a:t/>
            </a:r>
            <a:br>
              <a:rPr lang="x-none" b="0" i="0" u="none" strike="noStrike" cap="none" baseline="0">
                <a:solidFill>
                  <a:srgbClr val="032455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x-none" b="0" i="0" u="none" strike="noStrike" cap="none" baseline="0">
                <a:solidFill>
                  <a:srgbClr val="032455"/>
                </a:solidFill>
                <a:latin typeface="Tahoma"/>
                <a:ea typeface="Tahoma"/>
                <a:cs typeface="Tahoma"/>
                <a:sym typeface="Tahoma"/>
              </a:rPr>
              <a:t>Corpo Bombeiros </a:t>
            </a:r>
            <a:r>
              <a:rPr lang="x-none" b="0" i="0" u="none" strike="noStrike" cap="none" baseline="0" smtClean="0">
                <a:solidFill>
                  <a:srgbClr val="032455"/>
                </a:solidFill>
                <a:latin typeface="Tahoma"/>
                <a:ea typeface="Tahoma"/>
                <a:cs typeface="Tahoma"/>
                <a:sym typeface="Tahoma"/>
              </a:rPr>
              <a:t>193</a:t>
            </a:r>
            <a:endParaRPr lang="pt-BR" b="0" i="0" u="none" strike="noStrike" cap="none" baseline="0" dirty="0" smtClean="0">
              <a:solidFill>
                <a:srgbClr val="032455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60000"/>
              <a:buFont typeface="Tahoma"/>
              <a:buNone/>
            </a:pPr>
            <a:r>
              <a:rPr lang="x-none" b="0" i="0" u="none" strike="noStrike" cap="none" baseline="0">
                <a:solidFill>
                  <a:srgbClr val="032455"/>
                </a:solidFill>
                <a:latin typeface="Tahoma"/>
                <a:ea typeface="Tahoma"/>
                <a:cs typeface="Tahoma"/>
                <a:sym typeface="Tahoma"/>
              </a:rPr>
              <a:t/>
            </a:r>
            <a:br>
              <a:rPr lang="x-none" b="0" i="0" u="none" strike="noStrike" cap="none" baseline="0">
                <a:solidFill>
                  <a:srgbClr val="032455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x-none" b="0" i="0" u="none" strike="noStrike" cap="none" baseline="0">
                <a:solidFill>
                  <a:srgbClr val="032455"/>
                </a:solidFill>
                <a:latin typeface="Tahoma"/>
                <a:ea typeface="Tahoma"/>
                <a:cs typeface="Tahoma"/>
                <a:sym typeface="Tahoma"/>
              </a:rPr>
              <a:t>Polícia Militar 190 </a:t>
            </a:r>
            <a:endParaRPr lang="pt-BR" b="0" i="0" u="none" strike="noStrike" cap="none" baseline="0" dirty="0" smtClean="0">
              <a:solidFill>
                <a:srgbClr val="032455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60000"/>
              <a:buFont typeface="Tahoma"/>
              <a:buNone/>
            </a:pPr>
            <a:r>
              <a:rPr lang="x-none" b="0" i="0" u="none" strike="noStrike" cap="none" baseline="0">
                <a:solidFill>
                  <a:srgbClr val="032455"/>
                </a:solidFill>
                <a:latin typeface="Tahoma"/>
                <a:ea typeface="Tahoma"/>
                <a:cs typeface="Tahoma"/>
                <a:sym typeface="Tahoma"/>
              </a:rPr>
              <a:t/>
            </a:r>
            <a:br>
              <a:rPr lang="x-none" b="0" i="0" u="none" strike="noStrike" cap="none" baseline="0">
                <a:solidFill>
                  <a:srgbClr val="032455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x-none" b="0" i="0" u="none" strike="noStrike" cap="none" baseline="0">
                <a:solidFill>
                  <a:srgbClr val="032455"/>
                </a:solidFill>
                <a:latin typeface="Tahoma"/>
                <a:ea typeface="Tahoma"/>
                <a:cs typeface="Tahoma"/>
                <a:sym typeface="Tahoma"/>
              </a:rPr>
              <a:t>Defesa civil </a:t>
            </a:r>
            <a:r>
              <a:rPr lang="x-none" b="0" i="0" u="none" strike="noStrike" cap="none" baseline="0" smtClean="0">
                <a:solidFill>
                  <a:srgbClr val="032455"/>
                </a:solidFill>
                <a:latin typeface="Tahoma"/>
                <a:ea typeface="Tahoma"/>
                <a:cs typeface="Tahoma"/>
                <a:sym typeface="Tahoma"/>
              </a:rPr>
              <a:t>199</a:t>
            </a:r>
            <a:endParaRPr lang="pt-BR" b="0" i="0" u="none" strike="noStrike" cap="none" baseline="0" dirty="0" smtClean="0">
              <a:solidFill>
                <a:srgbClr val="032455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60000"/>
              <a:buFont typeface="Tahoma"/>
              <a:buNone/>
            </a:pPr>
            <a:r>
              <a:rPr lang="x-none" b="0" i="0" u="none" strike="noStrike" cap="none" baseline="0">
                <a:solidFill>
                  <a:srgbClr val="032455"/>
                </a:solidFill>
                <a:latin typeface="Tahoma"/>
                <a:ea typeface="Tahoma"/>
                <a:cs typeface="Tahoma"/>
                <a:sym typeface="Tahoma"/>
              </a:rPr>
              <a:t/>
            </a:r>
            <a:br>
              <a:rPr lang="x-none" b="0" i="0" u="none" strike="noStrike" cap="none" baseline="0">
                <a:solidFill>
                  <a:srgbClr val="032455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x-none" b="0" i="0" u="none" strike="noStrike" cap="none" baseline="0">
                <a:solidFill>
                  <a:srgbClr val="032455"/>
                </a:solidFill>
                <a:latin typeface="Tahoma"/>
                <a:ea typeface="Tahoma"/>
                <a:cs typeface="Tahoma"/>
                <a:sym typeface="Tahoma"/>
              </a:rPr>
              <a:t>Polícia Civil 197</a:t>
            </a:r>
          </a:p>
        </p:txBody>
      </p:sp>
      <p:sp>
        <p:nvSpPr>
          <p:cNvPr id="654" name="Shape 654"/>
          <p:cNvSpPr/>
          <p:nvPr/>
        </p:nvSpPr>
        <p:spPr>
          <a:xfrm>
            <a:off x="8001000" y="0"/>
            <a:ext cx="1143000" cy="1447799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  <p:sp>
        <p:nvSpPr>
          <p:cNvPr id="655" name="Shape 655"/>
          <p:cNvSpPr/>
          <p:nvPr/>
        </p:nvSpPr>
        <p:spPr>
          <a:xfrm>
            <a:off x="381000" y="620688"/>
            <a:ext cx="380999" cy="533400"/>
          </a:xfrm>
          <a:prstGeom prst="rect">
            <a:avLst/>
          </a:prstGeom>
          <a:blipFill>
            <a:blip r:embed="rId5"/>
            <a:stretch>
              <a:fillRect/>
            </a:stretch>
          </a:blipFill>
        </p:spPr>
      </p:sp>
      <p:sp>
        <p:nvSpPr>
          <p:cNvPr id="656" name="Shape 656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19049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/>
              <a:t> 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5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5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5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5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3" grpId="0" build="p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Shape 661"/>
          <p:cNvSpPr txBox="1">
            <a:spLocks noGrp="1"/>
          </p:cNvSpPr>
          <p:nvPr>
            <p:ph type="title"/>
          </p:nvPr>
        </p:nvSpPr>
        <p:spPr>
          <a:xfrm>
            <a:off x="0" y="0"/>
            <a:ext cx="3276600" cy="11430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 sz="4800" b="0" i="1" u="none" strike="noStrike" cap="none" baseline="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Módulo VII</a:t>
            </a:r>
          </a:p>
        </p:txBody>
      </p:sp>
      <p:sp>
        <p:nvSpPr>
          <p:cNvPr id="662" name="Shape 662"/>
          <p:cNvSpPr txBox="1">
            <a:spLocks noGrp="1"/>
          </p:cNvSpPr>
          <p:nvPr>
            <p:ph type="body" idx="1"/>
          </p:nvPr>
        </p:nvSpPr>
        <p:spPr>
          <a:xfrm>
            <a:off x="685800" y="2819400"/>
            <a:ext cx="7772400" cy="198119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pPr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60000"/>
              <a:buFont typeface="Tahoma"/>
              <a:buNone/>
            </a:pPr>
            <a:r>
              <a:rPr lang="x-none" sz="4000" b="0" i="0" u="none" strike="noStrike" cap="none" baseline="0">
                <a:solidFill>
                  <a:srgbClr val="22647C"/>
                </a:solidFill>
                <a:latin typeface="Tahoma"/>
                <a:ea typeface="Tahoma"/>
                <a:cs typeface="Tahoma"/>
                <a:sym typeface="Tahoma"/>
              </a:rPr>
              <a:t>HIV e AIDS - Síndrome da Imunodeficiência Adquirida.</a:t>
            </a:r>
          </a:p>
        </p:txBody>
      </p:sp>
      <p:sp>
        <p:nvSpPr>
          <p:cNvPr id="663" name="Shape 663"/>
          <p:cNvSpPr/>
          <p:nvPr/>
        </p:nvSpPr>
        <p:spPr>
          <a:xfrm>
            <a:off x="8001000" y="0"/>
            <a:ext cx="1143000" cy="1447799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  <p:sp>
        <p:nvSpPr>
          <p:cNvPr id="664" name="Shape 664"/>
          <p:cNvSpPr/>
          <p:nvPr/>
        </p:nvSpPr>
        <p:spPr>
          <a:xfrm>
            <a:off x="8839200" y="6172200"/>
            <a:ext cx="304800" cy="304800"/>
          </a:xfrm>
          <a:prstGeom prst="rect">
            <a:avLst/>
          </a:prstGeom>
          <a:blipFill>
            <a:blip r:embed="rId5"/>
            <a:stretch>
              <a:fillRect/>
            </a:stretch>
          </a:blipFill>
        </p:spPr>
      </p:sp>
      <p:sp>
        <p:nvSpPr>
          <p:cNvPr id="665" name="Shape 665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19049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/>
              <a:t> 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Shape 670"/>
          <p:cNvSpPr txBox="1">
            <a:spLocks noGrp="1"/>
          </p:cNvSpPr>
          <p:nvPr>
            <p:ph type="title"/>
          </p:nvPr>
        </p:nvSpPr>
        <p:spPr>
          <a:xfrm>
            <a:off x="0" y="533400"/>
            <a:ext cx="8915400" cy="372405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 sz="2800" b="0" i="0" u="none" strike="noStrike" cap="none" baseline="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HIV é a sigla em inglês do vírus da </a:t>
            </a:r>
            <a:br>
              <a:rPr lang="x-none" sz="2800" b="0" i="0" u="none" strike="noStrike" cap="none" baseline="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x-none" sz="2800" b="0" i="0" u="none" strike="noStrike" cap="none" baseline="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imunodeficiência humana. Causador da AIDS ataca o sistema imunológico, responsável por defender o organismo de doenças. As células mais atingidas são os Linfócitos T CD4+. E é alterando o DNA dessa célula que o HIV faz cópias de si mesmo. Depois de se multiplicar, rompe os linfócitos em busca de outros para continuar a infecção.</a:t>
            </a:r>
            <a:r>
              <a:rPr lang="x-none" sz="4000" b="0" i="0" u="none" strike="noStrike" cap="none" baseline="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</a:p>
        </p:txBody>
      </p:sp>
      <p:sp>
        <p:nvSpPr>
          <p:cNvPr id="671" name="Shape 671"/>
          <p:cNvSpPr txBox="1">
            <a:spLocks noGrp="1"/>
          </p:cNvSpPr>
          <p:nvPr>
            <p:ph type="body" idx="1"/>
          </p:nvPr>
        </p:nvSpPr>
        <p:spPr>
          <a:xfrm>
            <a:off x="228599" y="5049925"/>
            <a:ext cx="6324600" cy="1261844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pPr marR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60416"/>
              <a:buFont typeface="Tahoma"/>
              <a:buNone/>
            </a:pPr>
            <a:r>
              <a:rPr lang="x-none" sz="2800" b="0" i="0" u="none" strike="noStrike" cap="none" baseline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</a:t>
            </a:r>
            <a:r>
              <a:rPr lang="x-none" sz="2400" b="0" i="0" u="none" strike="noStrike" cap="none" baseline="0">
                <a:solidFill>
                  <a:srgbClr val="22647C"/>
                </a:solidFill>
                <a:latin typeface="Tahoma"/>
                <a:ea typeface="Tahoma"/>
                <a:cs typeface="Tahoma"/>
                <a:sym typeface="Tahoma"/>
              </a:rPr>
              <a:t>O HIV usa a membrana da própria célula para se proteger enquanto se locomove para outra célula </a:t>
            </a:r>
          </a:p>
        </p:txBody>
      </p:sp>
      <p:sp>
        <p:nvSpPr>
          <p:cNvPr id="672" name="Shape 672"/>
          <p:cNvSpPr/>
          <p:nvPr/>
        </p:nvSpPr>
        <p:spPr>
          <a:xfrm>
            <a:off x="6629400" y="3962400"/>
            <a:ext cx="2514600" cy="2582861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  <p:sp>
        <p:nvSpPr>
          <p:cNvPr id="674" name="Shape 674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19049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/>
              <a:t> 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Shape 679"/>
          <p:cNvSpPr txBox="1">
            <a:spLocks noGrp="1"/>
          </p:cNvSpPr>
          <p:nvPr>
            <p:ph type="body" idx="1"/>
          </p:nvPr>
        </p:nvSpPr>
        <p:spPr>
          <a:xfrm>
            <a:off x="107504" y="1981200"/>
            <a:ext cx="8928992" cy="3046948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R="0" lvl="0" indent="0" algn="just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59375"/>
              <a:buFont typeface="Tahoma"/>
              <a:buNone/>
            </a:pPr>
            <a:r>
              <a:rPr lang="x-none" sz="3200" b="0" i="0" u="none" strike="noStrike" cap="none" baseline="0">
                <a:solidFill>
                  <a:srgbClr val="217375"/>
                </a:solidFill>
                <a:latin typeface="Tahoma"/>
                <a:ea typeface="Tahoma"/>
                <a:cs typeface="Tahoma"/>
                <a:sym typeface="Tahoma"/>
              </a:rPr>
              <a:t>A infecção manifesta-se em geral como um quadro gripal (febre, mal estar e dores no corpo) que pode estar acompanhada de manchas vermelhas pelo corpo e adenopatia (íngua) generalizada (em diferentes locais do organismo). </a:t>
            </a:r>
          </a:p>
        </p:txBody>
      </p:sp>
      <p:sp>
        <p:nvSpPr>
          <p:cNvPr id="680" name="Shape 680"/>
          <p:cNvSpPr/>
          <p:nvPr/>
        </p:nvSpPr>
        <p:spPr>
          <a:xfrm>
            <a:off x="8001000" y="0"/>
            <a:ext cx="1143000" cy="1447799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  <p:sp>
        <p:nvSpPr>
          <p:cNvPr id="681" name="Shape 681"/>
          <p:cNvSpPr txBox="1">
            <a:spLocks noGrp="1"/>
          </p:cNvSpPr>
          <p:nvPr>
            <p:ph type="title"/>
          </p:nvPr>
        </p:nvSpPr>
        <p:spPr>
          <a:xfrm>
            <a:off x="304800" y="381000"/>
            <a:ext cx="4572000" cy="12954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 sz="4000" b="0" i="0" u="none" strike="noStrike" cap="none" baseline="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A manifestação</a:t>
            </a:r>
          </a:p>
        </p:txBody>
      </p:sp>
      <p:sp>
        <p:nvSpPr>
          <p:cNvPr id="682" name="Shape 682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19049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/>
              <a:t> 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Shape 687"/>
          <p:cNvSpPr txBox="1">
            <a:spLocks noGrp="1"/>
          </p:cNvSpPr>
          <p:nvPr>
            <p:ph type="body" idx="1"/>
          </p:nvPr>
        </p:nvSpPr>
        <p:spPr>
          <a:xfrm>
            <a:off x="35496" y="685800"/>
            <a:ext cx="9036496" cy="5487616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R="0" lvl="0" indent="0" algn="just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59375"/>
              <a:buFont typeface="Tahoma"/>
              <a:buNone/>
            </a:pPr>
            <a:r>
              <a:rPr lang="x-none" sz="3200" b="0" i="0" u="none" strike="noStrike" cap="none" baseline="0">
                <a:solidFill>
                  <a:srgbClr val="217375"/>
                </a:solidFill>
                <a:latin typeface="Tahoma"/>
                <a:ea typeface="Tahoma"/>
                <a:cs typeface="Tahoma"/>
                <a:sym typeface="Tahoma"/>
              </a:rPr>
              <a:t>A fase aguda dura, em geral, de 1 a 2 semanas e pode ser confundida com outras viroses (gripe, etc) bem como pode também passar despercebida</a:t>
            </a:r>
            <a:r>
              <a:rPr lang="x-none" sz="3200" b="0" i="0" u="none" strike="noStrike" cap="none" baseline="0" smtClean="0">
                <a:solidFill>
                  <a:srgbClr val="217375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lang="pt-BR" sz="3200" b="0" i="0" u="none" strike="noStrike" cap="none" baseline="0" dirty="0" smtClean="0">
              <a:solidFill>
                <a:srgbClr val="217375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R="0" lvl="0" indent="0" algn="just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59375"/>
              <a:buFont typeface="Tahoma"/>
              <a:buNone/>
            </a:pPr>
            <a:r>
              <a:rPr lang="x-none" sz="3200" b="0" i="0" u="none" strike="noStrike" cap="none" baseline="0">
                <a:solidFill>
                  <a:srgbClr val="217375"/>
                </a:solidFill>
                <a:latin typeface="Tahoma"/>
                <a:ea typeface="Tahoma"/>
                <a:cs typeface="Tahoma"/>
                <a:sym typeface="Tahoma"/>
              </a:rPr>
              <a:t/>
            </a:r>
            <a:br>
              <a:rPr lang="x-none" sz="3200" b="0" i="0" u="none" strike="noStrike" cap="none" baseline="0">
                <a:solidFill>
                  <a:srgbClr val="217375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x-none" sz="3200" b="0" i="0" u="none" strike="noStrike" cap="none" baseline="0">
                <a:solidFill>
                  <a:srgbClr val="217375"/>
                </a:solidFill>
                <a:latin typeface="Tahoma"/>
                <a:ea typeface="Tahoma"/>
                <a:cs typeface="Tahoma"/>
                <a:sym typeface="Tahoma"/>
              </a:rPr>
              <a:t>Os sintomas da fase aguda são portanto inespecíficos e comuns a várias doenças, não permitindo por si só o diagnóstico de infecção pelo HIV, o qual somente pode ser confirmado pelo teste anti-HIV, o qual deve ser feito após 90 dias (3 meses) da data da exposição ou provável contaminação.</a:t>
            </a:r>
          </a:p>
        </p:txBody>
      </p:sp>
      <p:sp>
        <p:nvSpPr>
          <p:cNvPr id="689" name="Shape 689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19049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/>
              <a:t> 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7" grpId="0" build="p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Shape 694"/>
          <p:cNvSpPr txBox="1">
            <a:spLocks noGrp="1"/>
          </p:cNvSpPr>
          <p:nvPr>
            <p:ph type="body" idx="1"/>
          </p:nvPr>
        </p:nvSpPr>
        <p:spPr>
          <a:xfrm>
            <a:off x="107504" y="1196752"/>
            <a:ext cx="8856984" cy="381741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R="0" lvl="0" indent="0" algn="just" rtl="0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ct val="67187"/>
              <a:buFont typeface="Tahoma"/>
              <a:buNone/>
            </a:pPr>
            <a:r>
              <a:rPr lang="x-none" sz="2800" b="1" i="0" u="none" strike="noStrike" cap="none" baseline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</a:t>
            </a:r>
            <a:r>
              <a:rPr lang="x-none" b="0" i="0" u="none" strike="noStrike" cap="none" baseline="0">
                <a:solidFill>
                  <a:srgbClr val="22647C"/>
                </a:solidFill>
                <a:sym typeface="Tahoma"/>
              </a:rPr>
              <a:t>Biologia: HIV é um retrovírus, classificado na subfamília dos </a:t>
            </a:r>
            <a:r>
              <a:rPr lang="x-none" b="0" i="1" u="none" strike="noStrike" cap="none" baseline="0">
                <a:solidFill>
                  <a:srgbClr val="22647C"/>
                </a:solidFill>
                <a:sym typeface="Tahoma"/>
              </a:rPr>
              <a:t>Lentiviridae</a:t>
            </a:r>
            <a:r>
              <a:rPr lang="x-none" b="0" i="0" u="none" strike="noStrike" cap="none" baseline="0">
                <a:solidFill>
                  <a:srgbClr val="22647C"/>
                </a:solidFill>
                <a:sym typeface="Tahoma"/>
              </a:rPr>
              <a:t>. </a:t>
            </a:r>
            <a:endParaRPr lang="pt-BR" b="0" i="0" u="none" strike="noStrike" cap="none" baseline="0" dirty="0" smtClean="0">
              <a:solidFill>
                <a:srgbClr val="22647C"/>
              </a:solidFill>
              <a:sym typeface="Tahoma"/>
            </a:endParaRPr>
          </a:p>
          <a:p>
            <a:pPr marR="0" lvl="0" indent="0" algn="just" rtl="0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ct val="67187"/>
              <a:buFont typeface="Tahoma"/>
              <a:buNone/>
            </a:pPr>
            <a:endParaRPr lang="x-none" b="0" i="0" u="none" strike="noStrike" cap="none" baseline="0">
              <a:solidFill>
                <a:srgbClr val="22647C"/>
              </a:solidFill>
              <a:sym typeface="Tahoma"/>
            </a:endParaRPr>
          </a:p>
          <a:p>
            <a:pPr marR="0" lvl="0" indent="0" algn="just" rtl="0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ct val="59722"/>
              <a:buFont typeface="Tahoma"/>
              <a:buNone/>
            </a:pPr>
            <a:r>
              <a:rPr lang="x-none">
                <a:solidFill>
                  <a:srgbClr val="22647C"/>
                </a:solidFill>
              </a:rPr>
              <a:t> </a:t>
            </a:r>
            <a:r>
              <a:rPr lang="x-none" b="0" i="0" u="none" strike="noStrike" cap="none" baseline="0">
                <a:solidFill>
                  <a:srgbClr val="22647C"/>
                </a:solidFill>
                <a:sym typeface="Tahoma"/>
              </a:rPr>
              <a:t>Esses vírus compartilham algumas propriedades comuns: período de incubação prolongado antes do surgimento dos sintomas da doença, infecção das células do sangue e do sistema nervoso e supressão do sistema imune.</a:t>
            </a:r>
            <a:r>
              <a:rPr lang="x-none" sz="2800" b="0" i="0" u="none" strike="noStrike" cap="none" baseline="0">
                <a:solidFill>
                  <a:srgbClr val="22647C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</a:p>
        </p:txBody>
      </p:sp>
      <p:sp>
        <p:nvSpPr>
          <p:cNvPr id="695" name="Shape 695"/>
          <p:cNvSpPr/>
          <p:nvPr/>
        </p:nvSpPr>
        <p:spPr>
          <a:xfrm>
            <a:off x="8388424" y="1"/>
            <a:ext cx="755576" cy="90872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  <p:sp>
        <p:nvSpPr>
          <p:cNvPr id="696" name="Shape 696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19049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/>
              <a:t> 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4" grpId="0" build="p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Shape 701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7848599" cy="167639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 sz="3600" b="0" i="0" u="none" strike="noStrike" cap="none" baseline="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Qual o tempo de sobrevida de um indivíduo portador do HIV?</a:t>
            </a:r>
          </a:p>
        </p:txBody>
      </p:sp>
      <p:sp>
        <p:nvSpPr>
          <p:cNvPr id="702" name="Shape 702"/>
          <p:cNvSpPr txBox="1">
            <a:spLocks noGrp="1"/>
          </p:cNvSpPr>
          <p:nvPr>
            <p:ph type="body" idx="1"/>
          </p:nvPr>
        </p:nvSpPr>
        <p:spPr>
          <a:xfrm>
            <a:off x="107504" y="2133600"/>
            <a:ext cx="8928992" cy="353939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R="0" lvl="0" indent="0" algn="just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59375"/>
              <a:buFont typeface="Tahoma"/>
              <a:buNone/>
            </a:pPr>
            <a:r>
              <a:rPr lang="x-none" sz="3200" b="0" i="0" u="none" strike="noStrike" cap="none" baseline="0">
                <a:solidFill>
                  <a:srgbClr val="22647C"/>
                </a:solidFill>
                <a:latin typeface="Tahoma"/>
                <a:ea typeface="Tahoma"/>
                <a:cs typeface="Tahoma"/>
                <a:sym typeface="Tahoma"/>
              </a:rPr>
              <a:t>Até o começo da década de 1990, a aids era considerada uma doença que levava à morte em um prazo relativamente curto. Porém, com o surgimento do coquetel (combinação de medicamentos responsáveis pelo atual tratamento de pacientes HIV positivo) as pessoas infectadas passaram a viver mais. </a:t>
            </a:r>
          </a:p>
        </p:txBody>
      </p:sp>
      <p:sp>
        <p:nvSpPr>
          <p:cNvPr id="703" name="Shape 703"/>
          <p:cNvSpPr/>
          <p:nvPr/>
        </p:nvSpPr>
        <p:spPr>
          <a:xfrm>
            <a:off x="8001000" y="0"/>
            <a:ext cx="1143000" cy="1447799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  <p:sp>
        <p:nvSpPr>
          <p:cNvPr id="704" name="Shape 704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19049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/>
              <a:t> 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Shape 710"/>
          <p:cNvSpPr/>
          <p:nvPr/>
        </p:nvSpPr>
        <p:spPr>
          <a:xfrm>
            <a:off x="8001000" y="0"/>
            <a:ext cx="1143000" cy="1447799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  <p:sp>
        <p:nvSpPr>
          <p:cNvPr id="711" name="Shape 711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19049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/>
              <a:t> </a:t>
            </a:r>
          </a:p>
        </p:txBody>
      </p:sp>
      <p:sp>
        <p:nvSpPr>
          <p:cNvPr id="709" name="Shape 709"/>
          <p:cNvSpPr txBox="1">
            <a:spLocks noGrp="1"/>
          </p:cNvSpPr>
          <p:nvPr>
            <p:ph type="body" idx="1"/>
          </p:nvPr>
        </p:nvSpPr>
        <p:spPr>
          <a:xfrm>
            <a:off x="0" y="1207900"/>
            <a:ext cx="8964488" cy="4678163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R="0" lvl="0" indent="0" algn="just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59375"/>
              <a:buFont typeface="Tahoma"/>
              <a:buNone/>
            </a:pPr>
            <a:r>
              <a:rPr lang="x-none" sz="3200" b="0" i="0" u="none" strike="noStrike" cap="none" baseline="0">
                <a:solidFill>
                  <a:srgbClr val="22647C"/>
                </a:solidFill>
                <a:latin typeface="Tahoma"/>
                <a:ea typeface="Tahoma"/>
                <a:cs typeface="Tahoma"/>
                <a:sym typeface="Tahoma"/>
              </a:rPr>
              <a:t>Esse coquetel é capaz de manter a carga viral do sangue baixa, o que diminui os danos causados pelo HIV no organismo e aumenta o tempo de vida da pessoa infectada. </a:t>
            </a:r>
            <a:endParaRPr lang="pt-BR" sz="3200" b="0" i="0" u="none" strike="noStrike" cap="none" baseline="0" dirty="0" smtClean="0">
              <a:solidFill>
                <a:srgbClr val="22647C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R="0" lvl="0" indent="0" algn="just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59375"/>
              <a:buFont typeface="Tahoma"/>
              <a:buNone/>
            </a:pPr>
            <a:endParaRPr lang="x-none" sz="3200" b="0" i="0" u="none" strike="noStrike" cap="none" baseline="0">
              <a:solidFill>
                <a:srgbClr val="22647C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R="0" lvl="0" indent="0" algn="just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59375"/>
              <a:buFont typeface="Tahoma"/>
              <a:buNone/>
            </a:pPr>
            <a:r>
              <a:rPr lang="x-none" sz="3200" b="0" i="0" u="none" strike="noStrike" cap="none" baseline="0">
                <a:solidFill>
                  <a:srgbClr val="22647C"/>
                </a:solidFill>
                <a:latin typeface="Tahoma"/>
                <a:ea typeface="Tahoma"/>
                <a:cs typeface="Tahoma"/>
                <a:sym typeface="Tahoma"/>
              </a:rPr>
              <a:t>O tempo de sobrevida (ou seja, os anos de vida pós-infecção) é indefinido e varia de indivíduo para indivíduo. Por exemplo, algumas pessoas começaram a usar o coquetel em meados dos anos noventa e ainda hoje gozam de boa saúde. 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9" grpId="0" build="p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Shape 716"/>
          <p:cNvSpPr txBox="1">
            <a:spLocks noGrp="1"/>
          </p:cNvSpPr>
          <p:nvPr>
            <p:ph type="body" idx="1"/>
          </p:nvPr>
        </p:nvSpPr>
        <p:spPr>
          <a:xfrm>
            <a:off x="107504" y="990600"/>
            <a:ext cx="8928992" cy="4185721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R="0" lvl="0" indent="0" algn="just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59375"/>
              <a:buFont typeface="Tahoma"/>
              <a:buNone/>
            </a:pPr>
            <a:r>
              <a:rPr lang="x-none" sz="3200" b="0" i="0" u="none" strike="noStrike" cap="none" baseline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x-none" sz="3200" b="0" i="0" u="none" strike="noStrike" cap="none" baseline="0">
                <a:solidFill>
                  <a:srgbClr val="22647C"/>
                </a:solidFill>
                <a:latin typeface="Tahoma"/>
                <a:ea typeface="Tahoma"/>
                <a:cs typeface="Tahoma"/>
                <a:sym typeface="Tahoma"/>
              </a:rPr>
              <a:t>Outras apresentam complicações mais cedo e têm reações adversas aos medicamentos. </a:t>
            </a:r>
            <a:endParaRPr lang="pt-BR" sz="3200" b="0" i="0" u="none" strike="noStrike" cap="none" baseline="0" dirty="0" smtClean="0">
              <a:solidFill>
                <a:srgbClr val="22647C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R="0" lvl="0" indent="0" algn="just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59375"/>
              <a:buFont typeface="Tahoma"/>
              <a:buNone/>
            </a:pPr>
            <a:endParaRPr lang="x-none" sz="3200" b="0" i="0" u="none" strike="noStrike" cap="none" baseline="0">
              <a:solidFill>
                <a:srgbClr val="22647C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R="0" lvl="0" indent="0" algn="just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59375"/>
              <a:buFont typeface="Tahoma"/>
              <a:buNone/>
            </a:pPr>
            <a:r>
              <a:rPr lang="x-none">
                <a:solidFill>
                  <a:srgbClr val="22647C"/>
                </a:solidFill>
              </a:rPr>
              <a:t> </a:t>
            </a:r>
            <a:r>
              <a:rPr lang="x-none" sz="3200" b="0" i="0" u="none" strike="noStrike" cap="none" baseline="0">
                <a:solidFill>
                  <a:srgbClr val="22647C"/>
                </a:solidFill>
                <a:latin typeface="Tahoma"/>
                <a:ea typeface="Tahoma"/>
                <a:cs typeface="Tahoma"/>
                <a:sym typeface="Tahoma"/>
              </a:rPr>
              <a:t>Há, ainda, casos de pessoas que, mesmo com os remédios, têm infecções oportunistas (infecções que se instalam, aproveitando-se de um momento de fragilidade do sistema de defesa do corpo, o sistema imunológico). </a:t>
            </a:r>
          </a:p>
        </p:txBody>
      </p:sp>
      <p:sp>
        <p:nvSpPr>
          <p:cNvPr id="718" name="Shape 718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19049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/>
              <a:t> 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" grpId="0" build="p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Shape 723"/>
          <p:cNvSpPr txBox="1">
            <a:spLocks noGrp="1"/>
          </p:cNvSpPr>
          <p:nvPr>
            <p:ph type="body" idx="1"/>
          </p:nvPr>
        </p:nvSpPr>
        <p:spPr>
          <a:xfrm>
            <a:off x="685800" y="1905000"/>
            <a:ext cx="7772400" cy="426719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pPr marR="0" lvl="0" indent="0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59375"/>
              <a:buFont typeface="Tahoma"/>
              <a:buNone/>
            </a:pPr>
            <a:r>
              <a:rPr lang="x-none" sz="3200" b="0" i="0" u="none" strike="noStrike" cap="none" baseline="0">
                <a:solidFill>
                  <a:srgbClr val="22647C"/>
                </a:solidFill>
                <a:latin typeface="Tahoma"/>
                <a:ea typeface="Tahoma"/>
                <a:cs typeface="Tahoma"/>
                <a:sym typeface="Tahoma"/>
              </a:rPr>
              <a:t>O vírus da aids é bastante sensível ao meio externo. Estima-se que ele possa viver em torno de uma hora fora do organismo humano. </a:t>
            </a:r>
          </a:p>
          <a:p>
            <a:pPr marR="0" lvl="0" indent="0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59375"/>
              <a:buFont typeface="Tahoma"/>
              <a:buNone/>
            </a:pPr>
            <a:r>
              <a:rPr lang="x-none" sz="3200" b="0" i="0" u="none" strike="noStrike" cap="none" baseline="0">
                <a:solidFill>
                  <a:srgbClr val="22647C"/>
                </a:solidFill>
                <a:latin typeface="Tahoma"/>
                <a:ea typeface="Tahoma"/>
                <a:cs typeface="Tahoma"/>
                <a:sym typeface="Tahoma"/>
              </a:rPr>
              <a:t>Graças a uma variedade de agentes físicos (calor, por exemplo) e químicos (água sanitária, glutaraldeído, álcool, água oxigenada) pode tornar-se inativo rapidamente</a:t>
            </a:r>
            <a:r>
              <a:rPr lang="x-none" sz="3200" b="0" i="0" u="none" strike="noStrike" cap="none" baseline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. </a:t>
            </a:r>
          </a:p>
        </p:txBody>
      </p:sp>
      <p:sp>
        <p:nvSpPr>
          <p:cNvPr id="724" name="Shape 724"/>
          <p:cNvSpPr txBox="1">
            <a:spLocks noGrp="1"/>
          </p:cNvSpPr>
          <p:nvPr>
            <p:ph type="title"/>
          </p:nvPr>
        </p:nvSpPr>
        <p:spPr>
          <a:xfrm>
            <a:off x="0" y="609600"/>
            <a:ext cx="8153399" cy="167639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 sz="3600" b="0" i="0" u="none" strike="noStrike" cap="none" baseline="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Quanto tempo o HIV sobrevive em ambiente externo?</a:t>
            </a:r>
          </a:p>
        </p:txBody>
      </p:sp>
      <p:sp>
        <p:nvSpPr>
          <p:cNvPr id="725" name="Shape 725"/>
          <p:cNvSpPr/>
          <p:nvPr/>
        </p:nvSpPr>
        <p:spPr>
          <a:xfrm>
            <a:off x="8001000" y="0"/>
            <a:ext cx="1143000" cy="1447799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  <p:sp>
        <p:nvSpPr>
          <p:cNvPr id="726" name="Shape 726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19049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/>
              <a:t> 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Shape 731"/>
          <p:cNvSpPr txBox="1">
            <a:spLocks noGrp="1"/>
          </p:cNvSpPr>
          <p:nvPr>
            <p:ph type="title"/>
          </p:nvPr>
        </p:nvSpPr>
        <p:spPr>
          <a:xfrm>
            <a:off x="539552" y="152399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 sz="4400" b="0" i="0" u="none" strike="noStrike" cap="none" baseline="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Como se pega o HIV</a:t>
            </a:r>
          </a:p>
        </p:txBody>
      </p:sp>
      <p:sp>
        <p:nvSpPr>
          <p:cNvPr id="733" name="Shape 733"/>
          <p:cNvSpPr/>
          <p:nvPr/>
        </p:nvSpPr>
        <p:spPr>
          <a:xfrm>
            <a:off x="164554" y="1452238"/>
            <a:ext cx="8784976" cy="5262939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0714"/>
              <a:buFont typeface="Tahoma"/>
              <a:buNone/>
            </a:pPr>
            <a:r>
              <a:rPr lang="x-none" sz="2800" smtClean="0">
                <a:solidFill>
                  <a:srgbClr val="22647C"/>
                </a:solidFill>
                <a:latin typeface="Tahoma"/>
                <a:ea typeface="Tahoma"/>
                <a:cs typeface="Tahoma"/>
                <a:sym typeface="Tahoma"/>
              </a:rPr>
              <a:t>- </a:t>
            </a:r>
            <a:r>
              <a:rPr lang="x-none" sz="2800" b="0" i="0" u="none" strike="noStrike" cap="none" baseline="0" smtClean="0">
                <a:solidFill>
                  <a:srgbClr val="22647C"/>
                </a:solidFill>
                <a:latin typeface="Tahoma"/>
                <a:ea typeface="Tahoma"/>
                <a:cs typeface="Tahoma"/>
                <a:sym typeface="Tahoma"/>
              </a:rPr>
              <a:t>Sexo </a:t>
            </a:r>
            <a:r>
              <a:rPr lang="x-none" sz="2800" b="0" i="0" u="none" strike="noStrike" cap="none" baseline="0">
                <a:solidFill>
                  <a:srgbClr val="22647C"/>
                </a:solidFill>
                <a:latin typeface="Tahoma"/>
                <a:ea typeface="Tahoma"/>
                <a:cs typeface="Tahoma"/>
                <a:sym typeface="Tahoma"/>
              </a:rPr>
              <a:t>sem camisinha (vaginal, anal ou oral). </a:t>
            </a:r>
            <a:endParaRPr lang="pt-BR" sz="2800" b="0" i="0" u="none" strike="noStrike" cap="none" baseline="0" dirty="0" smtClean="0">
              <a:solidFill>
                <a:srgbClr val="22647C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0714"/>
              <a:buFont typeface="Tahoma"/>
              <a:buNone/>
            </a:pPr>
            <a:endParaRPr lang="pt-BR" sz="2800" dirty="0" smtClean="0">
              <a:solidFill>
                <a:srgbClr val="22647C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0714"/>
            </a:pPr>
            <a:r>
              <a:rPr lang="pt-BR" sz="2800" b="0" i="0" u="none" strike="noStrike" cap="none" baseline="0" dirty="0" smtClean="0">
                <a:solidFill>
                  <a:srgbClr val="22647C"/>
                </a:solidFill>
                <a:latin typeface="Tahoma"/>
                <a:ea typeface="Tahoma"/>
                <a:cs typeface="Tahoma"/>
                <a:sym typeface="Tahoma"/>
              </a:rPr>
              <a:t>- </a:t>
            </a:r>
            <a:r>
              <a:rPr lang="x-none" sz="2800" b="0" i="0" u="none" strike="noStrike" cap="none" baseline="0" smtClean="0">
                <a:solidFill>
                  <a:srgbClr val="22647C"/>
                </a:solidFill>
                <a:latin typeface="Tahoma"/>
                <a:ea typeface="Tahoma"/>
                <a:cs typeface="Tahoma"/>
                <a:sym typeface="Tahoma"/>
              </a:rPr>
              <a:t>De </a:t>
            </a:r>
            <a:r>
              <a:rPr lang="x-none" sz="2800" b="0" i="0" u="none" strike="noStrike" cap="none" baseline="0">
                <a:solidFill>
                  <a:srgbClr val="22647C"/>
                </a:solidFill>
                <a:latin typeface="Tahoma"/>
                <a:ea typeface="Tahoma"/>
                <a:cs typeface="Tahoma"/>
                <a:sym typeface="Tahoma"/>
              </a:rPr>
              <a:t>mãe infectada para filho durante a gestação, o parto ou a amamentação. </a:t>
            </a:r>
            <a:endParaRPr lang="pt-BR" sz="2800" b="0" i="0" u="none" strike="noStrike" cap="none" baseline="0" dirty="0" smtClean="0">
              <a:solidFill>
                <a:srgbClr val="22647C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0714"/>
              <a:buFontTx/>
              <a:buChar char="-"/>
            </a:pPr>
            <a:endParaRPr lang="x-none" sz="2800" b="0" i="0" u="none" strike="noStrike" cap="none" baseline="0">
              <a:solidFill>
                <a:srgbClr val="22647C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0714"/>
            </a:pPr>
            <a:r>
              <a:rPr lang="pt-BR" sz="2800" b="0" i="0" u="none" strike="noStrike" cap="none" baseline="0" dirty="0" smtClean="0">
                <a:solidFill>
                  <a:srgbClr val="22647C"/>
                </a:solidFill>
                <a:latin typeface="Tahoma"/>
                <a:ea typeface="Tahoma"/>
                <a:cs typeface="Tahoma"/>
                <a:sym typeface="Tahoma"/>
              </a:rPr>
              <a:t>- </a:t>
            </a:r>
            <a:r>
              <a:rPr lang="x-none" sz="2800" b="0" i="0" u="none" strike="noStrike" cap="none" baseline="0" smtClean="0">
                <a:solidFill>
                  <a:srgbClr val="22647C"/>
                </a:solidFill>
                <a:latin typeface="Tahoma"/>
                <a:ea typeface="Tahoma"/>
                <a:cs typeface="Tahoma"/>
                <a:sym typeface="Tahoma"/>
              </a:rPr>
              <a:t>Uso </a:t>
            </a:r>
            <a:r>
              <a:rPr lang="x-none" sz="2800" b="0" i="0" u="none" strike="noStrike" cap="none" baseline="0">
                <a:solidFill>
                  <a:srgbClr val="22647C"/>
                </a:solidFill>
                <a:latin typeface="Tahoma"/>
                <a:ea typeface="Tahoma"/>
                <a:cs typeface="Tahoma"/>
                <a:sym typeface="Tahoma"/>
              </a:rPr>
              <a:t>da mesma seringa ou agulha contaminada por mais de uma pessoa. </a:t>
            </a:r>
            <a:endParaRPr lang="pt-BR" sz="2800" b="0" i="0" u="none" strike="noStrike" cap="none" baseline="0" dirty="0" smtClean="0">
              <a:solidFill>
                <a:srgbClr val="22647C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0714"/>
              <a:buFontTx/>
              <a:buChar char="-"/>
            </a:pPr>
            <a:endParaRPr lang="x-none" sz="2800" b="0" i="0" u="none" strike="noStrike" cap="none" baseline="0">
              <a:solidFill>
                <a:srgbClr val="22647C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0714"/>
            </a:pPr>
            <a:r>
              <a:rPr lang="pt-BR" sz="2800" b="0" i="0" u="none" strike="noStrike" cap="none" baseline="0" dirty="0" smtClean="0">
                <a:solidFill>
                  <a:srgbClr val="22647C"/>
                </a:solidFill>
                <a:latin typeface="Tahoma"/>
                <a:ea typeface="Tahoma"/>
                <a:cs typeface="Tahoma"/>
                <a:sym typeface="Tahoma"/>
              </a:rPr>
              <a:t>- </a:t>
            </a:r>
            <a:r>
              <a:rPr lang="x-none" sz="2800" b="0" i="0" u="none" strike="noStrike" cap="none" baseline="0" smtClean="0">
                <a:solidFill>
                  <a:srgbClr val="22647C"/>
                </a:solidFill>
                <a:latin typeface="Tahoma"/>
                <a:ea typeface="Tahoma"/>
                <a:cs typeface="Tahoma"/>
                <a:sym typeface="Tahoma"/>
              </a:rPr>
              <a:t>Transfusão </a:t>
            </a:r>
            <a:r>
              <a:rPr lang="x-none" sz="2800" b="0" i="0" u="none" strike="noStrike" cap="none" baseline="0">
                <a:solidFill>
                  <a:srgbClr val="22647C"/>
                </a:solidFill>
                <a:latin typeface="Tahoma"/>
                <a:ea typeface="Tahoma"/>
                <a:cs typeface="Tahoma"/>
                <a:sym typeface="Tahoma"/>
              </a:rPr>
              <a:t>de sangue contaminado com o HIV</a:t>
            </a:r>
            <a:r>
              <a:rPr lang="x-none" sz="2800" b="0" i="0" u="none" strike="noStrike" cap="none" baseline="0" smtClean="0">
                <a:solidFill>
                  <a:srgbClr val="22647C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lang="pt-BR" sz="2800" dirty="0">
              <a:solidFill>
                <a:srgbClr val="22647C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0714"/>
            </a:pPr>
            <a:r>
              <a:rPr lang="x-none" sz="2800" b="0" i="0" u="none" strike="noStrike" cap="none" baseline="0" smtClean="0">
                <a:solidFill>
                  <a:srgbClr val="22647C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 lang="x-none" sz="2800" b="0" i="0" u="none" strike="noStrike" cap="none" baseline="0">
              <a:solidFill>
                <a:srgbClr val="22647C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0714"/>
              <a:buFont typeface="Tahoma"/>
              <a:buNone/>
            </a:pPr>
            <a:r>
              <a:rPr lang="x-none" sz="2800">
                <a:solidFill>
                  <a:srgbClr val="22647C"/>
                </a:solidFill>
                <a:latin typeface="Tahoma"/>
                <a:ea typeface="Tahoma"/>
                <a:cs typeface="Tahoma"/>
                <a:sym typeface="Tahoma"/>
              </a:rPr>
              <a:t>- </a:t>
            </a:r>
            <a:r>
              <a:rPr lang="x-none" sz="2800" b="0" i="0" u="none" strike="noStrike" cap="none" baseline="0">
                <a:solidFill>
                  <a:srgbClr val="22647C"/>
                </a:solidFill>
                <a:latin typeface="Tahoma"/>
                <a:ea typeface="Tahoma"/>
                <a:cs typeface="Tahoma"/>
                <a:sym typeface="Tahoma"/>
              </a:rPr>
              <a:t>Instrumentos que furam ou cortam, não esterilizados. </a:t>
            </a:r>
          </a:p>
        </p:txBody>
      </p:sp>
      <p:sp>
        <p:nvSpPr>
          <p:cNvPr id="734" name="Shape 734"/>
          <p:cNvSpPr/>
          <p:nvPr/>
        </p:nvSpPr>
        <p:spPr>
          <a:xfrm>
            <a:off x="8001000" y="0"/>
            <a:ext cx="1143000" cy="1447799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  <p:sp>
        <p:nvSpPr>
          <p:cNvPr id="735" name="Shape 735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19049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/>
              <a:t> 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3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3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3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3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3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3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3" grpId="0" build="p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Shape 740"/>
          <p:cNvSpPr txBox="1">
            <a:spLocks noGrp="1"/>
          </p:cNvSpPr>
          <p:nvPr>
            <p:ph type="body" idx="1"/>
          </p:nvPr>
        </p:nvSpPr>
        <p:spPr>
          <a:xfrm>
            <a:off x="179512" y="479614"/>
            <a:ext cx="8856984" cy="1077178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R="0" lvl="0" indent="0" algn="just" rtl="0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ct val="67187"/>
              <a:buFont typeface="Tahoma"/>
              <a:buNone/>
            </a:pPr>
            <a:r>
              <a:rPr lang="x-none" sz="2800" b="0" i="0" u="none" strike="noStrike" cap="none" baseline="0" smtClean="0">
                <a:solidFill>
                  <a:srgbClr val="22647C"/>
                </a:solidFill>
                <a:latin typeface="Tahoma"/>
                <a:ea typeface="Tahoma"/>
                <a:cs typeface="Tahoma"/>
                <a:sym typeface="Tahoma"/>
              </a:rPr>
              <a:t>- </a:t>
            </a:r>
            <a:r>
              <a:rPr lang="x-none" b="0" i="0" u="none" strike="noStrike" cap="none" baseline="0">
                <a:solidFill>
                  <a:srgbClr val="22647C"/>
                </a:solidFill>
                <a:latin typeface="Tahoma"/>
                <a:ea typeface="Tahoma"/>
                <a:cs typeface="Tahoma"/>
                <a:sym typeface="Tahoma"/>
              </a:rPr>
              <a:t>Quanto tempo após me expor a uma situação de risco deve fazer o exame</a:t>
            </a:r>
            <a:r>
              <a:rPr lang="x-none" b="0" i="0" u="none" strike="noStrike" cap="none" baseline="0" smtClean="0">
                <a:solidFill>
                  <a:srgbClr val="22647C"/>
                </a:solidFill>
                <a:latin typeface="Tahoma"/>
                <a:ea typeface="Tahoma"/>
                <a:cs typeface="Tahoma"/>
                <a:sym typeface="Tahoma"/>
              </a:rPr>
              <a:t>?</a:t>
            </a:r>
            <a:endParaRPr sz="2800" dirty="0"/>
          </a:p>
        </p:txBody>
      </p:sp>
      <p:sp>
        <p:nvSpPr>
          <p:cNvPr id="741" name="Shape 741"/>
          <p:cNvSpPr/>
          <p:nvPr/>
        </p:nvSpPr>
        <p:spPr>
          <a:xfrm>
            <a:off x="0" y="5442211"/>
            <a:ext cx="1143000" cy="1447799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  <p:sp>
        <p:nvSpPr>
          <p:cNvPr id="742" name="Shape 742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19049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/>
              <a:t> </a:t>
            </a:r>
          </a:p>
        </p:txBody>
      </p:sp>
      <p:pic>
        <p:nvPicPr>
          <p:cNvPr id="16386" name="Picture 2" descr="Image result for janela imunologica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1627403"/>
            <a:ext cx="6948264" cy="521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6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0" grpId="0" build="p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Shape 747"/>
          <p:cNvSpPr txBox="1">
            <a:spLocks noGrp="1"/>
          </p:cNvSpPr>
          <p:nvPr>
            <p:ph type="body" idx="1"/>
          </p:nvPr>
        </p:nvSpPr>
        <p:spPr>
          <a:xfrm>
            <a:off x="107504" y="1196752"/>
            <a:ext cx="8839199" cy="524755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R="0" lvl="0" indent="0" algn="just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59375"/>
              <a:buFont typeface="Tahoma"/>
              <a:buNone/>
            </a:pPr>
            <a:r>
              <a:rPr lang="x-none" sz="3200" b="0" i="0" u="none" strike="noStrike" cap="none" baseline="0">
                <a:solidFill>
                  <a:srgbClr val="22647C"/>
                </a:solidFill>
                <a:latin typeface="Tahoma"/>
                <a:ea typeface="Tahoma"/>
                <a:cs typeface="Tahoma"/>
                <a:sym typeface="Tahoma"/>
              </a:rPr>
              <a:t>- Resposta:</a:t>
            </a:r>
          </a:p>
          <a:p>
            <a:pPr marR="0" lvl="0" indent="0" algn="just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59375"/>
              <a:buFont typeface="Tahoma"/>
              <a:buNone/>
            </a:pPr>
            <a:r>
              <a:rPr lang="x-none" sz="3200" b="0" i="0" u="none" strike="noStrike" cap="none" baseline="0">
                <a:solidFill>
                  <a:srgbClr val="22647C"/>
                </a:solidFill>
                <a:latin typeface="Tahoma"/>
                <a:ea typeface="Tahoma"/>
                <a:cs typeface="Tahoma"/>
                <a:sym typeface="Tahoma"/>
              </a:rPr>
              <a:t>Os testes mais novos conseguem detectar a presença de anticorpos até </a:t>
            </a:r>
            <a:r>
              <a:rPr lang="x-none" sz="3200" b="1" i="0" u="none" strike="noStrike" cap="none" baseline="0">
                <a:solidFill>
                  <a:srgbClr val="22647C"/>
                </a:solidFill>
                <a:latin typeface="Tahoma"/>
                <a:ea typeface="Tahoma"/>
                <a:cs typeface="Tahoma"/>
                <a:sym typeface="Tahoma"/>
              </a:rPr>
              <a:t>6 semanas </a:t>
            </a:r>
            <a:r>
              <a:rPr lang="x-none" sz="3200" b="0" i="0" u="none" strike="noStrike" cap="none" baseline="0">
                <a:solidFill>
                  <a:srgbClr val="22647C"/>
                </a:solidFill>
                <a:latin typeface="Tahoma"/>
                <a:ea typeface="Tahoma"/>
                <a:cs typeface="Tahoma"/>
                <a:sym typeface="Tahoma"/>
              </a:rPr>
              <a:t>após a </a:t>
            </a:r>
            <a:r>
              <a:rPr lang="x-none" sz="3200" b="1" i="0" u="none" strike="noStrike" cap="none" baseline="0">
                <a:solidFill>
                  <a:srgbClr val="22647C"/>
                </a:solidFill>
                <a:latin typeface="Tahoma"/>
                <a:ea typeface="Tahoma"/>
                <a:cs typeface="Tahoma"/>
                <a:sym typeface="Tahoma"/>
              </a:rPr>
              <a:t>exposição ao vírus</a:t>
            </a:r>
            <a:r>
              <a:rPr lang="x-none" sz="3200" b="0" i="0" u="none" strike="noStrike" cap="none" baseline="0">
                <a:solidFill>
                  <a:srgbClr val="22647C"/>
                </a:solidFill>
                <a:latin typeface="Tahoma"/>
                <a:ea typeface="Tahoma"/>
                <a:cs typeface="Tahoma"/>
                <a:sym typeface="Tahoma"/>
              </a:rPr>
              <a:t>. </a:t>
            </a:r>
            <a:endParaRPr lang="pt-BR" sz="3200" b="0" i="0" u="none" strike="noStrike" cap="none" baseline="0" dirty="0" smtClean="0">
              <a:solidFill>
                <a:srgbClr val="22647C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R="0" lvl="0" indent="0" algn="just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59375"/>
              <a:buFont typeface="Tahoma"/>
              <a:buNone/>
            </a:pPr>
            <a:endParaRPr lang="pt-BR" dirty="0">
              <a:solidFill>
                <a:srgbClr val="22647C"/>
              </a:solidFill>
            </a:endParaRPr>
          </a:p>
          <a:p>
            <a:pPr marR="0" lvl="0" indent="0" algn="just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59375"/>
              <a:buFont typeface="Tahoma"/>
              <a:buNone/>
            </a:pPr>
            <a:r>
              <a:rPr lang="x-none" sz="3200" b="0" i="0" u="none" strike="noStrike" cap="none" baseline="0" smtClean="0">
                <a:solidFill>
                  <a:srgbClr val="22647C"/>
                </a:solidFill>
                <a:latin typeface="Tahoma"/>
                <a:ea typeface="Tahoma"/>
                <a:cs typeface="Tahoma"/>
                <a:sym typeface="Tahoma"/>
              </a:rPr>
              <a:t>Para </a:t>
            </a:r>
            <a:r>
              <a:rPr lang="x-none" sz="3200" b="0" i="0" u="none" strike="noStrike" cap="none" baseline="0">
                <a:solidFill>
                  <a:srgbClr val="22647C"/>
                </a:solidFill>
                <a:latin typeface="Tahoma"/>
                <a:ea typeface="Tahoma"/>
                <a:cs typeface="Tahoma"/>
                <a:sym typeface="Tahoma"/>
              </a:rPr>
              <a:t>se ter total certeza da infecção ou não, o teste deve ser repetido com 12 e 24 semanas quando o primeiro é negativo. Não adianta fazer o teste antes desse período que é chamado de janela imunológica. </a:t>
            </a:r>
          </a:p>
        </p:txBody>
      </p:sp>
      <p:sp>
        <p:nvSpPr>
          <p:cNvPr id="748" name="Shape 748"/>
          <p:cNvSpPr/>
          <p:nvPr/>
        </p:nvSpPr>
        <p:spPr>
          <a:xfrm>
            <a:off x="8001000" y="0"/>
            <a:ext cx="1143000" cy="1447799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  <p:sp>
        <p:nvSpPr>
          <p:cNvPr id="749" name="Shape 749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19049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/>
              <a:t> 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" grpId="0" build="p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Shape 754"/>
          <p:cNvSpPr txBox="1">
            <a:spLocks noGrp="1"/>
          </p:cNvSpPr>
          <p:nvPr>
            <p:ph type="body" idx="1"/>
          </p:nvPr>
        </p:nvSpPr>
        <p:spPr>
          <a:xfrm>
            <a:off x="107504" y="1295400"/>
            <a:ext cx="8928992" cy="4185721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R="0" lvl="0" algn="just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59375"/>
              <a:buFontTx/>
              <a:buChar char="-"/>
            </a:pPr>
            <a:r>
              <a:rPr lang="x-none" sz="3200" b="0" i="0" u="none" strike="noStrike" cap="none" baseline="0" smtClean="0">
                <a:solidFill>
                  <a:srgbClr val="22647C"/>
                </a:solidFill>
                <a:latin typeface="Tahoma"/>
                <a:ea typeface="Tahoma"/>
                <a:cs typeface="Tahoma"/>
                <a:sym typeface="Tahoma"/>
              </a:rPr>
              <a:t>É </a:t>
            </a:r>
            <a:r>
              <a:rPr lang="x-none" sz="3200" b="0" i="0" u="none" strike="noStrike" cap="none" baseline="0">
                <a:solidFill>
                  <a:srgbClr val="22647C"/>
                </a:solidFill>
                <a:latin typeface="Tahoma"/>
                <a:ea typeface="Tahoma"/>
                <a:cs typeface="Tahoma"/>
                <a:sym typeface="Tahoma"/>
              </a:rPr>
              <a:t>sempre bom lembrar que um exame negativo para HIV reflete o estado do paciente há pelo menos 6 semanas. </a:t>
            </a:r>
            <a:endParaRPr lang="pt-BR" sz="3200" b="0" i="0" u="none" strike="noStrike" cap="none" baseline="0" dirty="0" smtClean="0">
              <a:solidFill>
                <a:srgbClr val="22647C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R="0" lvl="0" algn="just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59375"/>
              <a:buFontTx/>
              <a:buChar char="-"/>
            </a:pPr>
            <a:endParaRPr lang="pt-BR" dirty="0">
              <a:solidFill>
                <a:srgbClr val="22647C"/>
              </a:solidFill>
            </a:endParaRPr>
          </a:p>
          <a:p>
            <a:pPr marR="0" lvl="0" algn="just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59375"/>
              <a:buFontTx/>
              <a:buChar char="-"/>
            </a:pPr>
            <a:r>
              <a:rPr lang="x-none" sz="3200" b="0" i="0" u="none" strike="noStrike" cap="none" baseline="0" smtClean="0">
                <a:solidFill>
                  <a:srgbClr val="22647C"/>
                </a:solidFill>
                <a:latin typeface="Tahoma"/>
                <a:ea typeface="Tahoma"/>
                <a:cs typeface="Tahoma"/>
                <a:sym typeface="Tahoma"/>
              </a:rPr>
              <a:t>Se </a:t>
            </a:r>
            <a:r>
              <a:rPr lang="x-none" sz="3200" b="0" i="0" u="none" strike="noStrike" cap="none" baseline="0">
                <a:solidFill>
                  <a:srgbClr val="22647C"/>
                </a:solidFill>
                <a:latin typeface="Tahoma"/>
                <a:ea typeface="Tahoma"/>
                <a:cs typeface="Tahoma"/>
                <a:sym typeface="Tahoma"/>
              </a:rPr>
              <a:t>o seu parceiro apresentar um exame negativo para HIV, mas tiver tido alguma relação não protegida nas últimas 6 semanas, esse teste de nada vale. </a:t>
            </a:r>
          </a:p>
        </p:txBody>
      </p:sp>
      <p:sp>
        <p:nvSpPr>
          <p:cNvPr id="755" name="Shape 755"/>
          <p:cNvSpPr/>
          <p:nvPr/>
        </p:nvSpPr>
        <p:spPr>
          <a:xfrm>
            <a:off x="8001000" y="0"/>
            <a:ext cx="1143000" cy="1447799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  <p:sp>
        <p:nvSpPr>
          <p:cNvPr id="756" name="Shape 756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19049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/>
              <a:t> 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4" grpId="0" build="p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Shape 761"/>
          <p:cNvSpPr txBox="1">
            <a:spLocks noGrp="1"/>
          </p:cNvSpPr>
          <p:nvPr>
            <p:ph type="body" idx="1"/>
          </p:nvPr>
        </p:nvSpPr>
        <p:spPr>
          <a:xfrm>
            <a:off x="179512" y="914400"/>
            <a:ext cx="8784976" cy="5663048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R="0" lvl="0" indent="0" algn="just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59375"/>
              <a:buNone/>
            </a:pPr>
            <a:r>
              <a:rPr lang="x-none" sz="3200" b="0" i="0" u="none" strike="noStrike" cap="none" baseline="0" smtClean="0">
                <a:solidFill>
                  <a:srgbClr val="217375"/>
                </a:solidFill>
                <a:latin typeface="Tahoma"/>
                <a:ea typeface="Tahoma"/>
                <a:cs typeface="Tahoma"/>
                <a:sym typeface="Tahoma"/>
              </a:rPr>
              <a:t>A </a:t>
            </a:r>
            <a:r>
              <a:rPr lang="x-none" sz="3200" b="0" i="0" u="none" strike="noStrike" cap="none" baseline="0">
                <a:solidFill>
                  <a:srgbClr val="217375"/>
                </a:solidFill>
                <a:latin typeface="Tahoma"/>
                <a:ea typeface="Tahoma"/>
                <a:cs typeface="Tahoma"/>
                <a:sym typeface="Tahoma"/>
              </a:rPr>
              <a:t>prevenção ainda é o melhor remédio para qualquer DST, use camisinha em qualquer relação sexual, a camisinha evita o contato direto do pênis com a vagina, ânus, boca, impedindo que a doença seja transmitida ou adquirida. </a:t>
            </a:r>
            <a:endParaRPr lang="pt-BR" sz="3200" b="0" i="0" u="none" strike="noStrike" cap="none" baseline="0" dirty="0" smtClean="0">
              <a:solidFill>
                <a:srgbClr val="217375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R="0" lvl="0" algn="just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59375"/>
              <a:buFontTx/>
              <a:buChar char="-"/>
            </a:pPr>
            <a:endParaRPr lang="pt-BR" dirty="0">
              <a:solidFill>
                <a:srgbClr val="217375"/>
              </a:solidFill>
            </a:endParaRPr>
          </a:p>
          <a:p>
            <a:pPr marR="0" lvl="0" indent="0" algn="just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59375"/>
              <a:buNone/>
            </a:pPr>
            <a:r>
              <a:rPr lang="x-none" sz="3200" b="0" i="0" u="none" strike="noStrike" cap="none" baseline="0" smtClean="0">
                <a:solidFill>
                  <a:srgbClr val="217375"/>
                </a:solidFill>
                <a:latin typeface="Tahoma"/>
                <a:ea typeface="Tahoma"/>
                <a:cs typeface="Tahoma"/>
                <a:sym typeface="Tahoma"/>
              </a:rPr>
              <a:t>Diminua </a:t>
            </a:r>
            <a:r>
              <a:rPr lang="x-none" sz="3200" b="0" i="0" u="none" strike="noStrike" cap="none" baseline="0">
                <a:solidFill>
                  <a:srgbClr val="217375"/>
                </a:solidFill>
                <a:latin typeface="Tahoma"/>
                <a:ea typeface="Tahoma"/>
                <a:cs typeface="Tahoma"/>
                <a:sym typeface="Tahoma"/>
              </a:rPr>
              <a:t>a quantidade de parceiros e faça exames quando perceber algum corrimento, ardência ou qualquer outra situação anormal em seu órgão sexual.</a:t>
            </a:r>
          </a:p>
        </p:txBody>
      </p:sp>
      <p:sp>
        <p:nvSpPr>
          <p:cNvPr id="762" name="Shape 762"/>
          <p:cNvSpPr/>
          <p:nvPr/>
        </p:nvSpPr>
        <p:spPr>
          <a:xfrm>
            <a:off x="8172400" y="1"/>
            <a:ext cx="971600" cy="908719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  <p:sp>
        <p:nvSpPr>
          <p:cNvPr id="763" name="Shape 763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19049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/>
              <a:t> 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1" grpId="0" build="p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Shape 768"/>
          <p:cNvSpPr txBox="1">
            <a:spLocks noGrp="1"/>
          </p:cNvSpPr>
          <p:nvPr>
            <p:ph type="title"/>
          </p:nvPr>
        </p:nvSpPr>
        <p:spPr>
          <a:xfrm>
            <a:off x="304800" y="914400"/>
            <a:ext cx="7924799" cy="121919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 sz="4000" b="0" i="0" u="none" strike="noStrike" cap="none" baseline="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Bibliografia</a:t>
            </a:r>
          </a:p>
        </p:txBody>
      </p:sp>
      <p:sp>
        <p:nvSpPr>
          <p:cNvPr id="769" name="Shape 769"/>
          <p:cNvSpPr txBox="1">
            <a:spLocks noGrp="1"/>
          </p:cNvSpPr>
          <p:nvPr>
            <p:ph type="body" idx="1"/>
          </p:nvPr>
        </p:nvSpPr>
        <p:spPr>
          <a:xfrm>
            <a:off x="457200" y="1905000"/>
            <a:ext cx="7772400" cy="3733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pPr marL="0" marR="0" lvl="0" indent="698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Tahoma"/>
              <a:buNone/>
            </a:pPr>
            <a:r>
              <a:rPr lang="x-none" sz="3200" b="0" i="0" u="none" strike="noStrike" cap="none" baseline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
</a:t>
            </a:r>
          </a:p>
          <a:p>
            <a:pPr marL="0" marR="0" lvl="0" indent="0" algn="l" rtl="0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101190"/>
              <a:buFont typeface="Arial"/>
              <a:buChar char="•"/>
            </a:pPr>
            <a:r>
              <a:rPr lang="x-none" sz="2800" b="0" i="0" u="sng" strike="noStrike" cap="none" baseline="0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  <a:hlinkClick r:id="rId4"/>
              </a:rPr>
              <a:t>WWW.aids.gov.br</a:t>
            </a:r>
          </a:p>
          <a:p>
            <a:pPr marL="0" marR="0" lvl="0" indent="0" algn="l" rtl="0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101190"/>
              <a:buFont typeface="Arial"/>
              <a:buChar char="•"/>
            </a:pPr>
            <a:r>
              <a:rPr lang="x-none" sz="2800" b="0" i="0" u="sng" strike="noStrike" cap="none" baseline="0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  <a:hlinkClick r:id="rId5"/>
              </a:rPr>
              <a:t>http://www.aidsbrasil.com/</a:t>
            </a:r>
          </a:p>
          <a:p>
            <a:pPr marL="0" marR="0" lvl="0" indent="0" algn="l" rtl="0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101190"/>
              <a:buFont typeface="Arial"/>
              <a:buChar char="•"/>
            </a:pPr>
            <a:r>
              <a:rPr lang="x-none" sz="2800" b="0" i="0" u="sng" strike="noStrike" cap="none" baseline="0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  <a:hlinkClick r:id="rId6"/>
              </a:rPr>
              <a:t>http://www.segurancadotrabalhonwn.com</a:t>
            </a:r>
          </a:p>
          <a:p>
            <a:pPr marL="0" marR="0" lvl="0" indent="0" algn="l" rtl="0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101190"/>
              <a:buFont typeface="Arial"/>
              <a:buChar char="•"/>
            </a:pPr>
            <a:r>
              <a:rPr lang="x-none" sz="2800" b="0" i="0" u="none" strike="noStrike" cap="none" baseline="0">
                <a:solidFill>
                  <a:srgbClr val="000099"/>
                </a:solidFill>
                <a:latin typeface="Tahoma"/>
                <a:ea typeface="Tahoma"/>
                <a:cs typeface="Tahoma"/>
                <a:sym typeface="Tahoma"/>
              </a:rPr>
              <a:t>Norma Regulamentadora </a:t>
            </a:r>
          </a:p>
          <a:p>
            <a:pPr marL="0" marR="0" lvl="0" indent="0" algn="l" rtl="0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101190"/>
              <a:buFont typeface="Arial"/>
              <a:buChar char="•"/>
            </a:pPr>
            <a:r>
              <a:rPr lang="x-none" sz="2800" b="0" i="0" u="sng" strike="noStrike" cap="none" baseline="0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  <a:hlinkClick r:id="rId7"/>
              </a:rPr>
              <a:t>http://schlee.dihitt.com.br/schlee/noticia/saiba-em-quanto-tempo-o-teste-para-hiv-fica-positivo-apos-a-exposicao-ao-virus</a:t>
            </a:r>
          </a:p>
        </p:txBody>
      </p:sp>
      <p:sp>
        <p:nvSpPr>
          <p:cNvPr id="770" name="Shape 770"/>
          <p:cNvSpPr/>
          <p:nvPr/>
        </p:nvSpPr>
        <p:spPr>
          <a:xfrm>
            <a:off x="8001000" y="0"/>
            <a:ext cx="1143000" cy="1447799"/>
          </a:xfrm>
          <a:prstGeom prst="rect">
            <a:avLst/>
          </a:prstGeom>
          <a:blipFill>
            <a:blip r:embed="rId8"/>
            <a:stretch>
              <a:fillRect/>
            </a:stretch>
          </a:blipFill>
        </p:spPr>
      </p:sp>
      <p:sp>
        <p:nvSpPr>
          <p:cNvPr id="771" name="Shape 771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19049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/>
              <a:t> 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Shape 776"/>
          <p:cNvSpPr txBox="1">
            <a:spLocks noGrp="1"/>
          </p:cNvSpPr>
          <p:nvPr>
            <p:ph type="title"/>
          </p:nvPr>
        </p:nvSpPr>
        <p:spPr>
          <a:xfrm>
            <a:off x="1143000" y="533400"/>
            <a:ext cx="4648199" cy="70784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 sz="4000" b="0" i="0" u="none" strike="noStrike" cap="none" baseline="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Chegamos ao fim...</a:t>
            </a:r>
          </a:p>
        </p:txBody>
      </p:sp>
      <p:sp>
        <p:nvSpPr>
          <p:cNvPr id="777" name="Shape 777"/>
          <p:cNvSpPr txBox="1">
            <a:spLocks noGrp="1"/>
          </p:cNvSpPr>
          <p:nvPr>
            <p:ph type="body" idx="1"/>
          </p:nvPr>
        </p:nvSpPr>
        <p:spPr>
          <a:xfrm>
            <a:off x="107504" y="1828800"/>
            <a:ext cx="8928992" cy="3693278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R="0" lvl="0" indent="0" algn="just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59375"/>
              <a:buFont typeface="Tahoma"/>
              <a:buNone/>
            </a:pPr>
            <a:r>
              <a:rPr lang="x-none" sz="3200" b="0" i="0" u="none" strike="noStrike" cap="none" baseline="0">
                <a:solidFill>
                  <a:srgbClr val="4B1B55"/>
                </a:solidFill>
                <a:latin typeface="Tahoma"/>
                <a:ea typeface="Tahoma"/>
                <a:cs typeface="Tahoma"/>
                <a:sym typeface="Tahoma"/>
              </a:rPr>
              <a:t>Este estudo foi criado com a principal função de informar o colaborador. </a:t>
            </a:r>
          </a:p>
          <a:p>
            <a:pPr algn="just"/>
            <a:endParaRPr dirty="0"/>
          </a:p>
          <a:p>
            <a:pPr marR="0" lvl="0" indent="0" algn="just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59375"/>
              <a:buFont typeface="Tahoma"/>
              <a:buNone/>
            </a:pPr>
            <a:r>
              <a:rPr lang="x-none" sz="3200" b="0" i="0" u="none" strike="noStrike" cap="none" baseline="0">
                <a:solidFill>
                  <a:srgbClr val="4B1B55"/>
                </a:solidFill>
                <a:latin typeface="Tahoma"/>
                <a:ea typeface="Tahoma"/>
                <a:cs typeface="Tahoma"/>
                <a:sym typeface="Tahoma"/>
              </a:rPr>
              <a:t>Nós da xxxxxxxxxx acreditamos no poder da informação, acreditamos que funcionário bem informado é funcionário mais atento precavido e ativo.</a:t>
            </a:r>
            <a:r>
              <a:rPr lang="x-none" sz="3200" b="0" i="0" u="none" strike="noStrike" cap="none" baseline="0">
                <a:solidFill>
                  <a:srgbClr val="217375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</a:p>
        </p:txBody>
      </p:sp>
      <p:sp>
        <p:nvSpPr>
          <p:cNvPr id="778" name="Shape 778"/>
          <p:cNvSpPr/>
          <p:nvPr/>
        </p:nvSpPr>
        <p:spPr>
          <a:xfrm>
            <a:off x="8001000" y="0"/>
            <a:ext cx="1143000" cy="1447799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  <p:sp>
        <p:nvSpPr>
          <p:cNvPr id="779" name="Shape 779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19049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/>
              <a:t> 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7" grpId="0" build="p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Shape 784"/>
          <p:cNvSpPr txBox="1">
            <a:spLocks noGrp="1"/>
          </p:cNvSpPr>
          <p:nvPr>
            <p:ph type="body" idx="1"/>
          </p:nvPr>
        </p:nvSpPr>
        <p:spPr>
          <a:xfrm>
            <a:off x="179512" y="914400"/>
            <a:ext cx="8812088" cy="3908722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R="0" lvl="0" indent="0" algn="just" rtl="0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ct val="59722"/>
              <a:buFont typeface="Tahoma"/>
              <a:buNone/>
            </a:pPr>
            <a:r>
              <a:rPr lang="x-none" sz="3600" b="0" i="0" u="none" strike="noStrike" cap="none" baseline="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Obrigado por sua Atenção!</a:t>
            </a:r>
          </a:p>
          <a:p>
            <a:pPr algn="just"/>
            <a:endParaRPr dirty="0"/>
          </a:p>
          <a:p>
            <a:pPr marR="0" lvl="0" indent="0" algn="just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59375"/>
              <a:buFont typeface="Tahoma"/>
              <a:buNone/>
            </a:pPr>
            <a:r>
              <a:rPr lang="x-none" sz="3200" b="0" i="0" u="none" strike="noStrike" cap="none" baseline="0">
                <a:solidFill>
                  <a:srgbClr val="4B1B55"/>
                </a:solidFill>
                <a:latin typeface="Tahoma"/>
                <a:ea typeface="Tahoma"/>
                <a:cs typeface="Tahoma"/>
                <a:sym typeface="Tahoma"/>
              </a:rPr>
              <a:t>Ter um ambiente de trabalho seguro é  bom para todos.</a:t>
            </a:r>
          </a:p>
          <a:p>
            <a:pPr algn="just"/>
            <a:endParaRPr dirty="0"/>
          </a:p>
          <a:p>
            <a:pPr marR="0" lvl="0" indent="0" algn="just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59375"/>
              <a:buFont typeface="Tahoma"/>
              <a:buNone/>
            </a:pPr>
            <a:r>
              <a:rPr lang="x-none" sz="3200" b="0" i="0" u="none" strike="noStrike" cap="none" baseline="0">
                <a:solidFill>
                  <a:srgbClr val="4B1B55"/>
                </a:solidFill>
                <a:latin typeface="Tahoma"/>
                <a:ea typeface="Tahoma"/>
                <a:cs typeface="Tahoma"/>
                <a:sym typeface="Tahoma"/>
              </a:rPr>
              <a:t>Ninguém faz segurança do trabalho sozinho, a empresa xxxxx conta com todos nós!!!</a:t>
            </a:r>
          </a:p>
        </p:txBody>
      </p:sp>
      <p:sp>
        <p:nvSpPr>
          <p:cNvPr id="785" name="Shape 785"/>
          <p:cNvSpPr/>
          <p:nvPr/>
        </p:nvSpPr>
        <p:spPr>
          <a:xfrm>
            <a:off x="2133600" y="5638800"/>
            <a:ext cx="4800600" cy="9144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 sz="2000" b="0" i="0" u="none" strike="noStrike" cap="none" baseline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         Nestor W. Neto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 sz="2000" b="0" i="0" u="none" strike="noStrike" cap="none" baseline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Técnico de Segurança do Trabalho </a:t>
            </a:r>
          </a:p>
        </p:txBody>
      </p:sp>
      <p:sp>
        <p:nvSpPr>
          <p:cNvPr id="786" name="Shape 786"/>
          <p:cNvSpPr/>
          <p:nvPr/>
        </p:nvSpPr>
        <p:spPr>
          <a:xfrm>
            <a:off x="8001000" y="0"/>
            <a:ext cx="1143000" cy="1447799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sp>
      <p:sp>
        <p:nvSpPr>
          <p:cNvPr id="787" name="Shape 787"/>
          <p:cNvSpPr/>
          <p:nvPr/>
        </p:nvSpPr>
        <p:spPr>
          <a:xfrm>
            <a:off x="8686800" y="5867400"/>
            <a:ext cx="304800" cy="304800"/>
          </a:xfrm>
          <a:prstGeom prst="rect">
            <a:avLst/>
          </a:prstGeom>
          <a:blipFill>
            <a:blip r:embed="rId5"/>
            <a:stretch>
              <a:fillRect/>
            </a:stretch>
          </a:blipFill>
        </p:spPr>
      </p:sp>
      <p:sp>
        <p:nvSpPr>
          <p:cNvPr id="788" name="Shape 788"/>
          <p:cNvSpPr txBox="1">
            <a:spLocks noGrp="1"/>
          </p:cNvSpPr>
          <p:nvPr>
            <p:ph type="sldNum" idx="12"/>
          </p:nvPr>
        </p:nvSpPr>
        <p:spPr>
          <a:xfrm>
            <a:off x="6553200" y="6400800"/>
            <a:ext cx="19049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x-none"/>
              <a:t> 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>
  <a:themeElements>
    <a:clrScheme name="Design padrão 1">
      <a:dk1>
        <a:srgbClr val="545472"/>
      </a:dk1>
      <a:lt1>
        <a:srgbClr val="FFFFFF"/>
      </a:lt1>
      <a:dk2>
        <a:srgbClr val="892D5B"/>
      </a:dk2>
      <a:lt2>
        <a:srgbClr val="9797B7"/>
      </a:lt2>
      <a:accent1>
        <a:srgbClr val="A7CCD9"/>
      </a:accent1>
      <a:accent2>
        <a:srgbClr val="C7C7DF"/>
      </a:accent2>
      <a:accent3>
        <a:srgbClr val="FFFFFF"/>
      </a:accent3>
      <a:accent4>
        <a:srgbClr val="A7CCD9"/>
      </a:accent4>
      <a:accent5>
        <a:srgbClr val="C7C7DF"/>
      </a:accent5>
      <a:accent6>
        <a:srgbClr val="FFFFFF"/>
      </a:accent6>
      <a:hlink>
        <a:srgbClr val="CCCCFF"/>
      </a:hlink>
      <a:folHlink>
        <a:srgbClr val="D9D9E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3827</Words>
  <Application>Microsoft Office PowerPoint</Application>
  <PresentationFormat>Apresentação na tela (4:3)</PresentationFormat>
  <Paragraphs>538</Paragraphs>
  <Slides>90</Slides>
  <Notes>90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90</vt:i4>
      </vt:variant>
    </vt:vector>
  </HeadingPairs>
  <TitlesOfParts>
    <vt:vector size="91" baseType="lpstr">
      <vt:lpstr/>
      <vt:lpstr>CURSO PARA COMPONENTES DA CIPA</vt:lpstr>
      <vt:lpstr>Objetivo do Treinamento</vt:lpstr>
      <vt:lpstr>CIPA ou Designado?</vt:lpstr>
      <vt:lpstr>CIPA ou Designado?</vt:lpstr>
      <vt:lpstr>Módulo I</vt:lpstr>
      <vt:lpstr>Quando a empresa precisa constituir um CIPA?</vt:lpstr>
      <vt:lpstr>Atribuições da CIPA</vt:lpstr>
      <vt:lpstr>Apresentação do PowerPoint</vt:lpstr>
      <vt:lpstr>Apresentação do PowerPoint</vt:lpstr>
      <vt:lpstr>Apresentação do PowerPoint</vt:lpstr>
      <vt:lpstr>Apresentação do PowerPoint</vt:lpstr>
      <vt:lpstr>    Designado da CIPA  </vt:lpstr>
      <vt:lpstr>Módulo II</vt:lpstr>
      <vt:lpstr>ACIDENTE DE TRABALHO</vt:lpstr>
      <vt:lpstr>ACIDENTE  DE  TRABALHO</vt:lpstr>
      <vt:lpstr>Acidente de Trabalho Definição Legal</vt:lpstr>
      <vt:lpstr>Apresentação do PowerPoint</vt:lpstr>
      <vt:lpstr>Apresentação do PowerPoint</vt:lpstr>
      <vt:lpstr>Apresentação do PowerPoint</vt:lpstr>
      <vt:lpstr>Apresentação do PowerPoint</vt:lpstr>
      <vt:lpstr>Acidente de TrabalhoConceito Prevencionista</vt:lpstr>
      <vt:lpstr>Doença Profissional</vt:lpstr>
      <vt:lpstr>Doença do Trabalho</vt:lpstr>
      <vt:lpstr>Módulo III</vt:lpstr>
      <vt:lpstr> Benefícios do INSS</vt:lpstr>
      <vt:lpstr>Garantia de emprego</vt:lpstr>
      <vt:lpstr>Módulo IV</vt:lpstr>
      <vt:lpstr>Causas de acidentes de trabalho</vt:lpstr>
      <vt:lpstr>Estudo do Ambiente de Trabalho</vt:lpstr>
      <vt:lpstr>Estudo do Ambiente de Trabalho</vt:lpstr>
      <vt:lpstr>Cuidado com o nível do solo!</vt:lpstr>
      <vt:lpstr>Atenção na retirada de pallets       Na hora de puxar pallete do monte fazer com muita atenção para evitar acidentes. </vt:lpstr>
      <vt:lpstr>Esforço Físico </vt:lpstr>
      <vt:lpstr>Transporte Manual de Cargas</vt:lpstr>
      <vt:lpstr>Nunca esqueça do valor que tem uma coluna saudável sendo assim, ao levantar cargas observe:</vt:lpstr>
      <vt:lpstr>Apresentação do PowerPoint</vt:lpstr>
      <vt:lpstr>Apresentação do PowerPoint</vt:lpstr>
      <vt:lpstr>Apresentação do PowerPoint</vt:lpstr>
      <vt:lpstr>Produtos Químicos</vt:lpstr>
      <vt:lpstr>Apresentação do PowerPoint</vt:lpstr>
      <vt:lpstr>Queda de objetos</vt:lpstr>
      <vt:lpstr>O improviso</vt:lpstr>
      <vt:lpstr>Vocês são reprodutores de segurança do trabalho, portanto colaborem cobrando o uso de EPI</vt:lpstr>
      <vt:lpstr>Falando Nisso... </vt:lpstr>
      <vt:lpstr>Apresentação do PowerPoint</vt:lpstr>
      <vt:lpstr>Quanto ao empregador cabe ao EPI</vt:lpstr>
      <vt:lpstr>Apresentação do PowerPoint</vt:lpstr>
      <vt:lpstr>Cabe ao empregado quanto ao EPI:</vt:lpstr>
      <vt:lpstr>Equipamentos de Proteção Coletivas - EPC’s</vt:lpstr>
      <vt:lpstr>Etapas de uma Investigação de Acidente</vt:lpstr>
      <vt:lpstr>Módulo V</vt:lpstr>
      <vt:lpstr>Fogo</vt:lpstr>
      <vt:lpstr>Classes de Fogo</vt:lpstr>
      <vt:lpstr>Apresentação do PowerPoint</vt:lpstr>
      <vt:lpstr>Tipos de extintores:</vt:lpstr>
      <vt:lpstr>Apresentação do PowerPoint</vt:lpstr>
      <vt:lpstr>Apresentação do PowerPoint</vt:lpstr>
      <vt:lpstr>Trocando em miúdos</vt:lpstr>
      <vt:lpstr>Módulo VI</vt:lpstr>
      <vt:lpstr>Noções Básicas de Primeiros Socorros</vt:lpstr>
      <vt:lpstr>Fatores emocionais em primeiros socorros </vt:lpstr>
      <vt:lpstr>Apresentação do PowerPoint</vt:lpstr>
      <vt:lpstr>Apresentação do PowerPoint</vt:lpstr>
      <vt:lpstr>Lembre-se</vt:lpstr>
      <vt:lpstr>Apresentação do PowerPoint</vt:lpstr>
      <vt:lpstr>Plano de ação do socorrista</vt:lpstr>
      <vt:lpstr>Apresentação do PowerPoint</vt:lpstr>
      <vt:lpstr>Apresentação do PowerPoint</vt:lpstr>
      <vt:lpstr>Apresentação do PowerPoint</vt:lpstr>
      <vt:lpstr>Desmaio</vt:lpstr>
      <vt:lpstr>Apresentação do PowerPoint</vt:lpstr>
      <vt:lpstr>Apresentação do PowerPoint</vt:lpstr>
      <vt:lpstr>Apresentação do PowerPoint</vt:lpstr>
      <vt:lpstr>Módulo VII</vt:lpstr>
      <vt:lpstr>HIV é a sigla em inglês do vírus da  imunodeficiência humana. Causador da AIDS ataca o sistema imunológico, responsável por defender o organismo de doenças. As células mais atingidas são os Linfócitos T CD4+. E é alterando o DNA dessa célula que o HIV faz cópias de si mesmo. Depois de se multiplicar, rompe os linfócitos em busca de outros para continuar a infecção. </vt:lpstr>
      <vt:lpstr>A manifestação</vt:lpstr>
      <vt:lpstr>Apresentação do PowerPoint</vt:lpstr>
      <vt:lpstr>Apresentação do PowerPoint</vt:lpstr>
      <vt:lpstr>Qual o tempo de sobrevida de um indivíduo portador do HIV?</vt:lpstr>
      <vt:lpstr>Apresentação do PowerPoint</vt:lpstr>
      <vt:lpstr>Apresentação do PowerPoint</vt:lpstr>
      <vt:lpstr>Quanto tempo o HIV sobrevive em ambiente externo?</vt:lpstr>
      <vt:lpstr>Como se pega o HIV</vt:lpstr>
      <vt:lpstr>Apresentação do PowerPoint</vt:lpstr>
      <vt:lpstr>Apresentação do PowerPoint</vt:lpstr>
      <vt:lpstr>Apresentação do PowerPoint</vt:lpstr>
      <vt:lpstr>Apresentação do PowerPoint</vt:lpstr>
      <vt:lpstr>Bibliografia</vt:lpstr>
      <vt:lpstr>Chegamos ao fim...</vt:lpstr>
      <vt:lpstr>Apresentação do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CURSO PARA COMPONENTES DA CIPA</dc:title>
  <dc:creator>Nestor</dc:creator>
  <cp:lastModifiedBy>Nestor</cp:lastModifiedBy>
  <cp:revision>24</cp:revision>
  <dcterms:modified xsi:type="dcterms:W3CDTF">2017-08-22T18:19:48Z</dcterms:modified>
</cp:coreProperties>
</file>