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6699"/>
    <a:srgbClr val="A50021"/>
    <a:srgbClr val="F0EFE0"/>
    <a:srgbClr val="1F408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6" autoAdjust="0"/>
    <p:restoredTop sz="94575" autoAdjust="0"/>
  </p:normalViewPr>
  <p:slideViewPr>
    <p:cSldViewPr>
      <p:cViewPr varScale="1">
        <p:scale>
          <a:sx n="70" d="100"/>
          <a:sy n="70" d="100"/>
        </p:scale>
        <p:origin x="138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/>
            </a:lvl1pPr>
          </a:lstStyle>
          <a:p>
            <a:endParaRPr lang="pt-BR"/>
          </a:p>
        </p:txBody>
      </p:sp>
      <p:sp>
        <p:nvSpPr>
          <p:cNvPr id="5836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endParaRPr lang="pt-BR"/>
          </a:p>
        </p:txBody>
      </p:sp>
      <p:sp>
        <p:nvSpPr>
          <p:cNvPr id="5836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/>
            </a:lvl1pPr>
          </a:lstStyle>
          <a:p>
            <a:endParaRPr lang="pt-BR"/>
          </a:p>
        </p:txBody>
      </p:sp>
      <p:sp>
        <p:nvSpPr>
          <p:cNvPr id="5836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A38C03D6-AD71-48CA-85B1-1DF1BDA0A89F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54889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/>
            </a:lvl1pPr>
          </a:lstStyle>
          <a:p>
            <a:endParaRPr lang="pt-BR"/>
          </a:p>
        </p:txBody>
      </p:sp>
      <p:sp>
        <p:nvSpPr>
          <p:cNvPr id="5826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endParaRPr lang="pt-BR"/>
          </a:p>
        </p:txBody>
      </p:sp>
      <p:sp>
        <p:nvSpPr>
          <p:cNvPr id="58266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26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5826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/>
            </a:lvl1pPr>
          </a:lstStyle>
          <a:p>
            <a:endParaRPr lang="pt-BR"/>
          </a:p>
        </p:txBody>
      </p:sp>
      <p:sp>
        <p:nvSpPr>
          <p:cNvPr id="5826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fld id="{237BB58A-FBB4-4FA9-AC2D-FB8C929D1F9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60446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1E2D0E-1B0B-4427-A68D-AFE5E02503BA}" type="slidenum">
              <a:rPr lang="pt-BR"/>
              <a:pPr/>
              <a:t>1</a:t>
            </a:fld>
            <a:endParaRPr lang="pt-BR"/>
          </a:p>
        </p:txBody>
      </p:sp>
      <p:sp>
        <p:nvSpPr>
          <p:cNvPr id="58470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4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044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A3023-592A-401F-B4AB-644A599A4700}" type="slidenum">
              <a:rPr lang="pt-BR"/>
              <a:pPr/>
              <a:t>2</a:t>
            </a:fld>
            <a:endParaRPr lang="pt-BR"/>
          </a:p>
        </p:txBody>
      </p:sp>
      <p:sp>
        <p:nvSpPr>
          <p:cNvPr id="58573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5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2932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97BF98-E974-43E1-88E7-91461E42BC1A}" type="slidenum">
              <a:rPr lang="pt-BR"/>
              <a:pPr/>
              <a:t>3</a:t>
            </a:fld>
            <a:endParaRPr lang="pt-BR"/>
          </a:p>
        </p:txBody>
      </p:sp>
      <p:sp>
        <p:nvSpPr>
          <p:cNvPr id="58675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6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48804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623108-769E-41A8-AF9F-C7ADF7FF843D}" type="slidenum">
              <a:rPr lang="pt-BR"/>
              <a:pPr/>
              <a:t>4</a:t>
            </a:fld>
            <a:endParaRPr lang="pt-BR"/>
          </a:p>
        </p:txBody>
      </p:sp>
      <p:sp>
        <p:nvSpPr>
          <p:cNvPr id="58777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7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7409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FE1B4D-6CD3-4964-90AC-BCF99A22C18E}" type="slidenum">
              <a:rPr lang="pt-BR"/>
              <a:pPr/>
              <a:t>5</a:t>
            </a:fld>
            <a:endParaRPr lang="pt-BR"/>
          </a:p>
        </p:txBody>
      </p:sp>
      <p:sp>
        <p:nvSpPr>
          <p:cNvPr id="58880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2727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FAB198-16F1-4BAC-8CD7-36795E11A4C3}" type="slidenum">
              <a:rPr lang="pt-BR"/>
              <a:pPr/>
              <a:t>6</a:t>
            </a:fld>
            <a:endParaRPr lang="pt-BR"/>
          </a:p>
        </p:txBody>
      </p:sp>
      <p:sp>
        <p:nvSpPr>
          <p:cNvPr id="5898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9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6756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4FCC97-C7CD-45C0-92A8-9BC94912B452}" type="slidenum">
              <a:rPr lang="pt-BR"/>
              <a:pPr/>
              <a:t>7</a:t>
            </a:fld>
            <a:endParaRPr lang="pt-BR"/>
          </a:p>
        </p:txBody>
      </p:sp>
      <p:sp>
        <p:nvSpPr>
          <p:cNvPr id="590850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08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118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5BDE7E-9502-4023-99D6-1C1D8748AD38}" type="slidenum">
              <a:rPr lang="pt-BR"/>
              <a:pPr/>
              <a:t>8</a:t>
            </a:fld>
            <a:endParaRPr lang="pt-BR"/>
          </a:p>
        </p:txBody>
      </p:sp>
      <p:sp>
        <p:nvSpPr>
          <p:cNvPr id="59187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75341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4DF1DA-2BB1-4FF2-B909-D5277F6541D2}" type="slidenum">
              <a:rPr lang="pt-BR"/>
              <a:pPr/>
              <a:t>9</a:t>
            </a:fld>
            <a:endParaRPr lang="pt-BR"/>
          </a:p>
        </p:txBody>
      </p:sp>
      <p:sp>
        <p:nvSpPr>
          <p:cNvPr id="592898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2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871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511937-7036-480C-B038-4ACF22B88090}" type="slidenum">
              <a:rPr lang="pt-BR"/>
              <a:pPr/>
              <a:t>10</a:t>
            </a:fld>
            <a:endParaRPr lang="pt-BR"/>
          </a:p>
        </p:txBody>
      </p:sp>
      <p:sp>
        <p:nvSpPr>
          <p:cNvPr id="59392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5482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ADD62D-88BE-42A4-87A7-87DF296C83E4}" type="slidenum">
              <a:rPr lang="pt-BR"/>
              <a:pPr/>
              <a:t>11</a:t>
            </a:fld>
            <a:endParaRPr lang="pt-BR"/>
          </a:p>
        </p:txBody>
      </p:sp>
      <p:sp>
        <p:nvSpPr>
          <p:cNvPr id="5949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3257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42" name="Rectangle 2"/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/>
          </a:p>
        </p:txBody>
      </p:sp>
      <p:sp>
        <p:nvSpPr>
          <p:cNvPr id="573443" name="AutoShape 3"/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/>
          </a:p>
        </p:txBody>
      </p:sp>
      <p:sp>
        <p:nvSpPr>
          <p:cNvPr id="5734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3657600" cy="1822450"/>
          </a:xfrm>
        </p:spPr>
        <p:txBody>
          <a:bodyPr anchor="b"/>
          <a:lstStyle>
            <a:lvl1pPr marL="0" indent="0">
              <a:buFont typeface="Wingdings" panose="05000000000000000000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pt-BR" noProof="0" smtClean="0"/>
              <a:t>Clique para editar o estilo do subtítulo mestre</a:t>
            </a:r>
          </a:p>
        </p:txBody>
      </p:sp>
      <p:sp>
        <p:nvSpPr>
          <p:cNvPr id="573446" name="AutoShape 6"/>
          <p:cNvSpPr>
            <a:spLocks noChangeArrowheads="1"/>
          </p:cNvSpPr>
          <p:nvPr/>
        </p:nvSpPr>
        <p:spPr bwMode="auto">
          <a:xfrm flipH="1">
            <a:off x="3632200" y="4889500"/>
            <a:ext cx="4625975" cy="317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chemeClr val="tx1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3447" name="AutoShape 7"/>
          <p:cNvSpPr>
            <a:spLocks noChangeArrowheads="1"/>
          </p:cNvSpPr>
          <p:nvPr/>
        </p:nvSpPr>
        <p:spPr bwMode="auto">
          <a:xfrm>
            <a:off x="8248650" y="4889500"/>
            <a:ext cx="260350" cy="319088"/>
          </a:xfrm>
          <a:prstGeom prst="flowChartDelay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3448" name="Rectangle 8"/>
          <p:cNvSpPr>
            <a:spLocks noGrp="1" noChangeArrowheads="1"/>
          </p:cNvSpPr>
          <p:nvPr>
            <p:ph type="dt" sz="quarter" idx="2"/>
          </p:nvPr>
        </p:nvSpPr>
        <p:spPr>
          <a:xfrm>
            <a:off x="1258888" y="6553200"/>
            <a:ext cx="19050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573450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525" y="5962650"/>
            <a:ext cx="587375" cy="885825"/>
          </a:xfrm>
        </p:spPr>
        <p:txBody>
          <a:bodyPr anchorCtr="0"/>
          <a:lstStyle>
            <a:lvl1pPr>
              <a:defRPr/>
            </a:lvl1pPr>
          </a:lstStyle>
          <a:p>
            <a:fld id="{9FD66835-A8D4-4707-B83E-22078E6DA153}" type="slidenum">
              <a:rPr lang="pt-BR"/>
              <a:pPr/>
              <a:t>‹nº›</a:t>
            </a:fld>
            <a:endParaRPr lang="pt-BR"/>
          </a:p>
        </p:txBody>
      </p:sp>
      <p:sp>
        <p:nvSpPr>
          <p:cNvPr id="573451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936625" y="1425575"/>
            <a:ext cx="7772400" cy="1143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 smtClean="0"/>
              <a:t>Clique para editar o estilo do título mestre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C05AB8-1EA3-4C40-8FD2-ABCF5B34DF69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9826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A97FDE6-8087-4850-B714-BCC07689DAB3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856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4400" y="2362200"/>
            <a:ext cx="3924300" cy="3733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91100" y="2362200"/>
            <a:ext cx="3924300" cy="3733800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F92F985-1CA6-4729-9E0C-D1BF62DF1436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20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BC980A2-A07F-4A8C-9BEB-06E9E63C275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199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D61E0F6-9821-4F4E-9DB3-1BB469DE0E70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150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B112417-4EBF-44B7-9244-4B2DD19BFF44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432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5D78AF-83C2-4520-BBEF-FADB411EE842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73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8CE808-38C3-4548-8F13-13E9F0E3BC5E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925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0146FF7-66EA-4B2B-B16A-345432FF241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38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915150" y="762000"/>
            <a:ext cx="2000250" cy="5334000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762000"/>
            <a:ext cx="5848350" cy="5334000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8A6B11-6D92-4F0C-B7A7-EF60735D7A09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9" name="Rectangle 3"/>
          <p:cNvSpPr>
            <a:spLocks noChangeArrowheads="1"/>
          </p:cNvSpPr>
          <p:nvPr/>
        </p:nvSpPr>
        <p:spPr bwMode="auto">
          <a:xfrm>
            <a:off x="0" y="0"/>
            <a:ext cx="762000" cy="68580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accent1"/>
              </a:gs>
            </a:gsLst>
            <a:path path="rect">
              <a:fillToRect l="100000" b="100000"/>
            </a:path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2420" name="Rectangle 4"/>
          <p:cNvSpPr>
            <a:spLocks noChangeArrowheads="1"/>
          </p:cNvSpPr>
          <p:nvPr/>
        </p:nvSpPr>
        <p:spPr bwMode="auto">
          <a:xfrm>
            <a:off x="685800" y="0"/>
            <a:ext cx="2514600" cy="106680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2421" name="AutoShape 5"/>
          <p:cNvSpPr>
            <a:spLocks noChangeArrowheads="1"/>
          </p:cNvSpPr>
          <p:nvPr/>
        </p:nvSpPr>
        <p:spPr bwMode="auto"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/>
          </a:p>
        </p:txBody>
      </p:sp>
      <p:sp>
        <p:nvSpPr>
          <p:cNvPr id="57242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762000"/>
            <a:ext cx="8001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 estilo do título mestre</a:t>
            </a:r>
          </a:p>
        </p:txBody>
      </p:sp>
      <p:sp>
        <p:nvSpPr>
          <p:cNvPr id="572423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362200"/>
            <a:ext cx="80010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</a:p>
        </p:txBody>
      </p:sp>
      <p:sp>
        <p:nvSpPr>
          <p:cNvPr id="57242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400"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57242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5946775"/>
            <a:ext cx="5873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  <a:spAutoFit/>
          </a:bodyPr>
          <a:lstStyle>
            <a:lvl1pPr>
              <a:defRPr sz="2600" b="1">
                <a:solidFill>
                  <a:schemeClr val="bg1"/>
                </a:solidFill>
                <a:latin typeface="+mn-lt"/>
              </a:defRPr>
            </a:lvl1pPr>
          </a:lstStyle>
          <a:p>
            <a:fld id="{62F6180A-2E9A-4EFC-A0A2-C1E46995855B}" type="slidenum">
              <a:rPr lang="pt-BR"/>
              <a:pPr/>
              <a:t>‹nº›</a:t>
            </a:fld>
            <a:endParaRPr lang="pt-BR"/>
          </a:p>
        </p:txBody>
      </p:sp>
      <p:sp>
        <p:nvSpPr>
          <p:cNvPr id="572428" name="AutoShape 12"/>
          <p:cNvSpPr>
            <a:spLocks noChangeArrowheads="1"/>
          </p:cNvSpPr>
          <p:nvPr/>
        </p:nvSpPr>
        <p:spPr bwMode="auto">
          <a:xfrm>
            <a:off x="609600" y="1981200"/>
            <a:ext cx="7010400" cy="3175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chemeClr val="bg2"/>
              </a:gs>
              <a:gs pos="100000">
                <a:schemeClr val="bg2">
                  <a:gamma/>
                  <a:tint val="53725"/>
                  <a:invGamma/>
                </a:scheme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2429" name="AutoShape 13"/>
          <p:cNvSpPr>
            <a:spLocks noChangeArrowheads="1"/>
          </p:cNvSpPr>
          <p:nvPr/>
        </p:nvSpPr>
        <p:spPr bwMode="auto">
          <a:xfrm flipH="1">
            <a:off x="228600" y="1981200"/>
            <a:ext cx="393700" cy="319088"/>
          </a:xfrm>
          <a:prstGeom prst="flowChartDelay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l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l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/>
              <a:t>Treinamento de Segurança</a:t>
            </a:r>
          </a:p>
        </p:txBody>
      </p:sp>
      <p:sp>
        <p:nvSpPr>
          <p:cNvPr id="5683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pt-BR" sz="3600" i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INCIDENTES</a:t>
            </a:r>
            <a:r>
              <a:rPr lang="pt-BR" sz="3600" i="1">
                <a:solidFill>
                  <a:srgbClr val="1F408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NO TRABALHO</a:t>
            </a:r>
          </a:p>
        </p:txBody>
      </p:sp>
      <p:sp>
        <p:nvSpPr>
          <p:cNvPr id="568324" name="Text Box 4"/>
          <p:cNvSpPr txBox="1">
            <a:spLocks noChangeArrowheads="1"/>
          </p:cNvSpPr>
          <p:nvPr/>
        </p:nvSpPr>
        <p:spPr bwMode="auto">
          <a:xfrm>
            <a:off x="5003800" y="5949950"/>
            <a:ext cx="414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/>
              <a:t>José Aparecido Leal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8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68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8322" grpId="0"/>
      <p:bldP spid="56832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0"/>
              <a:t>Por que ocorre </a:t>
            </a:r>
            <a:r>
              <a:rPr lang="pt-BR" b="0">
                <a:solidFill>
                  <a:srgbClr val="A50021"/>
                </a:solidFill>
              </a:rPr>
              <a:t>Acidentes</a:t>
            </a:r>
            <a:r>
              <a:rPr lang="pt-BR" b="0"/>
              <a:t>?</a:t>
            </a:r>
          </a:p>
        </p:txBody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Todo </a:t>
            </a:r>
            <a:r>
              <a:rPr lang="pt-BR">
                <a:solidFill>
                  <a:srgbClr val="A50021"/>
                </a:solidFill>
              </a:rPr>
              <a:t>Acidente</a:t>
            </a:r>
            <a:r>
              <a:rPr lang="pt-BR"/>
              <a:t> tem uma causa.</a:t>
            </a:r>
          </a:p>
          <a:p>
            <a:pPr lvl="1"/>
            <a:r>
              <a:rPr lang="pt-BR"/>
              <a:t>Falta de conhecimento</a:t>
            </a:r>
          </a:p>
          <a:p>
            <a:pPr lvl="1"/>
            <a:r>
              <a:rPr lang="pt-BR"/>
              <a:t>Pressa</a:t>
            </a:r>
          </a:p>
          <a:p>
            <a:pPr lvl="1"/>
            <a:r>
              <a:rPr lang="pt-BR"/>
              <a:t>Auto confiança</a:t>
            </a:r>
          </a:p>
          <a:p>
            <a:pPr lvl="1"/>
            <a:r>
              <a:rPr lang="pt-BR"/>
              <a:t>Falta de proteção</a:t>
            </a:r>
          </a:p>
          <a:p>
            <a:pPr lvl="1"/>
            <a:r>
              <a:rPr lang="pt-BR"/>
              <a:t>Desconhecimento dos riscos</a:t>
            </a:r>
          </a:p>
          <a:p>
            <a:pPr lvl="1"/>
            <a:r>
              <a:rPr lang="pt-BR"/>
              <a:t>ETC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6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569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69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569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569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1000"/>
                                        <p:tgtEl>
                                          <p:spTgt spid="569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569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1000"/>
                                        <p:tgtEl>
                                          <p:spTgt spid="569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9346" grpId="0"/>
      <p:bldP spid="56934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7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762000"/>
            <a:ext cx="8382000" cy="1143000"/>
          </a:xfrm>
        </p:spPr>
        <p:txBody>
          <a:bodyPr/>
          <a:lstStyle/>
          <a:p>
            <a:r>
              <a:rPr lang="pt-BR"/>
              <a:t>O que essas causas tem em comum?</a:t>
            </a:r>
          </a:p>
        </p:txBody>
      </p:sp>
      <p:sp>
        <p:nvSpPr>
          <p:cNvPr id="570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2743200"/>
            <a:ext cx="8077200" cy="3003550"/>
          </a:xfrm>
        </p:spPr>
        <p:txBody>
          <a:bodyPr/>
          <a:lstStyle/>
          <a:p>
            <a:r>
              <a:rPr lang="pt-BR"/>
              <a:t>Desvios dos padrões aceitáveis de desempenho, normas, procedimentos, bom senso comum.</a:t>
            </a:r>
          </a:p>
          <a:p>
            <a:endParaRPr lang="pt-BR"/>
          </a:p>
          <a:p>
            <a:r>
              <a:rPr lang="pt-BR"/>
              <a:t>ou seja são </a:t>
            </a:r>
            <a:r>
              <a:rPr lang="pt-BR">
                <a:solidFill>
                  <a:srgbClr val="A50021"/>
                </a:solidFill>
              </a:rPr>
              <a:t>INCIDENTES</a:t>
            </a:r>
            <a:r>
              <a:rPr lang="pt-BR"/>
              <a:t> 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03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0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0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4" dur="2000"/>
                                        <p:tgtEl>
                                          <p:spTgt spid="570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570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0370" grpId="0"/>
      <p:bldP spid="57037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394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0"/>
            <a:ext cx="4378325" cy="838200"/>
          </a:xfrm>
        </p:spPr>
        <p:txBody>
          <a:bodyPr/>
          <a:lstStyle/>
          <a:p>
            <a:pPr algn="ctr"/>
            <a:r>
              <a:rPr lang="pt-BR"/>
              <a:t>Pirâmide de Bird</a:t>
            </a:r>
          </a:p>
        </p:txBody>
      </p:sp>
      <p:sp>
        <p:nvSpPr>
          <p:cNvPr id="571396" name="AutoShape 4"/>
          <p:cNvSpPr>
            <a:spLocks noChangeArrowheads="1"/>
          </p:cNvSpPr>
          <p:nvPr/>
        </p:nvSpPr>
        <p:spPr bwMode="auto">
          <a:xfrm>
            <a:off x="2484438" y="2636838"/>
            <a:ext cx="5256212" cy="38862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tx2"/>
              </a:gs>
              <a:gs pos="100000">
                <a:srgbClr val="FFFFFF"/>
              </a:gs>
            </a:gsLst>
            <a:lin ang="5400000" scaled="1"/>
          </a:gra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571414" name="Group 22"/>
          <p:cNvGrpSpPr>
            <a:grpSpLocks/>
          </p:cNvGrpSpPr>
          <p:nvPr/>
        </p:nvGrpSpPr>
        <p:grpSpPr bwMode="auto">
          <a:xfrm>
            <a:off x="4572000" y="2819400"/>
            <a:ext cx="3810000" cy="685800"/>
            <a:chOff x="2352" y="1776"/>
            <a:chExt cx="2400" cy="432"/>
          </a:xfrm>
        </p:grpSpPr>
        <p:sp>
          <p:nvSpPr>
            <p:cNvPr id="571398" name="Line 6"/>
            <p:cNvSpPr>
              <a:spLocks noChangeShapeType="1"/>
            </p:cNvSpPr>
            <p:nvPr/>
          </p:nvSpPr>
          <p:spPr bwMode="auto">
            <a:xfrm>
              <a:off x="2352" y="2208"/>
              <a:ext cx="6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571399" name="Text Box 7"/>
            <p:cNvSpPr txBox="1">
              <a:spLocks noChangeArrowheads="1"/>
            </p:cNvSpPr>
            <p:nvPr/>
          </p:nvSpPr>
          <p:spPr bwMode="auto">
            <a:xfrm>
              <a:off x="2544" y="187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b="1"/>
                <a:t>01</a:t>
              </a:r>
            </a:p>
          </p:txBody>
        </p:sp>
        <p:sp>
          <p:nvSpPr>
            <p:cNvPr id="571400" name="Text Box 8"/>
            <p:cNvSpPr txBox="1">
              <a:spLocks noChangeArrowheads="1"/>
            </p:cNvSpPr>
            <p:nvPr/>
          </p:nvSpPr>
          <p:spPr bwMode="auto">
            <a:xfrm>
              <a:off x="3120" y="1776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b="1">
                  <a:solidFill>
                    <a:srgbClr val="A50021"/>
                  </a:solidFill>
                </a:rPr>
                <a:t>Acidente Grave</a:t>
              </a:r>
            </a:p>
          </p:txBody>
        </p:sp>
      </p:grpSp>
      <p:grpSp>
        <p:nvGrpSpPr>
          <p:cNvPr id="571415" name="Group 23"/>
          <p:cNvGrpSpPr>
            <a:grpSpLocks/>
          </p:cNvGrpSpPr>
          <p:nvPr/>
        </p:nvGrpSpPr>
        <p:grpSpPr bwMode="auto">
          <a:xfrm>
            <a:off x="3851275" y="3733800"/>
            <a:ext cx="5029200" cy="685800"/>
            <a:chOff x="1920" y="2352"/>
            <a:chExt cx="3168" cy="432"/>
          </a:xfrm>
        </p:grpSpPr>
        <p:sp>
          <p:nvSpPr>
            <p:cNvPr id="571401" name="Line 9"/>
            <p:cNvSpPr>
              <a:spLocks noChangeShapeType="1"/>
            </p:cNvSpPr>
            <p:nvPr/>
          </p:nvSpPr>
          <p:spPr bwMode="auto">
            <a:xfrm>
              <a:off x="1920" y="2784"/>
              <a:ext cx="15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571402" name="Text Box 10"/>
            <p:cNvSpPr txBox="1">
              <a:spLocks noChangeArrowheads="1"/>
            </p:cNvSpPr>
            <p:nvPr/>
          </p:nvSpPr>
          <p:spPr bwMode="auto">
            <a:xfrm>
              <a:off x="2496" y="2352"/>
              <a:ext cx="38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b="1"/>
                <a:t>30</a:t>
              </a:r>
            </a:p>
          </p:txBody>
        </p:sp>
        <p:sp>
          <p:nvSpPr>
            <p:cNvPr id="571403" name="Text Box 11"/>
            <p:cNvSpPr txBox="1">
              <a:spLocks noChangeArrowheads="1"/>
            </p:cNvSpPr>
            <p:nvPr/>
          </p:nvSpPr>
          <p:spPr bwMode="auto">
            <a:xfrm>
              <a:off x="3456" y="2352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b="1">
                  <a:solidFill>
                    <a:srgbClr val="A50021"/>
                  </a:solidFill>
                </a:rPr>
                <a:t>Acidentes Leves</a:t>
              </a:r>
            </a:p>
          </p:txBody>
        </p:sp>
      </p:grpSp>
      <p:sp>
        <p:nvSpPr>
          <p:cNvPr id="571410" name="Text Box 18"/>
          <p:cNvSpPr txBox="1">
            <a:spLocks noChangeArrowheads="1"/>
          </p:cNvSpPr>
          <p:nvPr/>
        </p:nvSpPr>
        <p:spPr bwMode="auto">
          <a:xfrm>
            <a:off x="3048000" y="57912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kumimoji="1" lang="pt-BR"/>
          </a:p>
        </p:txBody>
      </p:sp>
      <p:sp>
        <p:nvSpPr>
          <p:cNvPr id="571404" name="Line 12"/>
          <p:cNvSpPr>
            <a:spLocks noChangeShapeType="1"/>
          </p:cNvSpPr>
          <p:nvPr/>
        </p:nvSpPr>
        <p:spPr bwMode="auto">
          <a:xfrm>
            <a:off x="3140075" y="5567363"/>
            <a:ext cx="3952875" cy="22225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grpSp>
        <p:nvGrpSpPr>
          <p:cNvPr id="571421" name="Group 29"/>
          <p:cNvGrpSpPr>
            <a:grpSpLocks/>
          </p:cNvGrpSpPr>
          <p:nvPr/>
        </p:nvGrpSpPr>
        <p:grpSpPr bwMode="auto">
          <a:xfrm>
            <a:off x="4740275" y="4652963"/>
            <a:ext cx="4403725" cy="533400"/>
            <a:chOff x="2986" y="2931"/>
            <a:chExt cx="2774" cy="336"/>
          </a:xfrm>
        </p:grpSpPr>
        <p:sp>
          <p:nvSpPr>
            <p:cNvPr id="571409" name="Text Box 17"/>
            <p:cNvSpPr txBox="1">
              <a:spLocks noChangeArrowheads="1"/>
            </p:cNvSpPr>
            <p:nvPr/>
          </p:nvSpPr>
          <p:spPr bwMode="auto">
            <a:xfrm>
              <a:off x="2986" y="2979"/>
              <a:ext cx="4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b="1"/>
                <a:t>600 </a:t>
              </a:r>
            </a:p>
          </p:txBody>
        </p:sp>
        <p:sp>
          <p:nvSpPr>
            <p:cNvPr id="571412" name="Text Box 20"/>
            <p:cNvSpPr txBox="1">
              <a:spLocks noChangeArrowheads="1"/>
            </p:cNvSpPr>
            <p:nvPr/>
          </p:nvSpPr>
          <p:spPr bwMode="auto">
            <a:xfrm>
              <a:off x="4378" y="2931"/>
              <a:ext cx="138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sz="2200" b="1">
                  <a:solidFill>
                    <a:srgbClr val="A50021"/>
                  </a:solidFill>
                </a:rPr>
                <a:t>Quase Acidentes </a:t>
              </a:r>
            </a:p>
          </p:txBody>
        </p:sp>
      </p:grpSp>
      <p:grpSp>
        <p:nvGrpSpPr>
          <p:cNvPr id="571422" name="Group 30"/>
          <p:cNvGrpSpPr>
            <a:grpSpLocks/>
          </p:cNvGrpSpPr>
          <p:nvPr/>
        </p:nvGrpSpPr>
        <p:grpSpPr bwMode="auto">
          <a:xfrm>
            <a:off x="3832225" y="5791200"/>
            <a:ext cx="5311775" cy="457200"/>
            <a:chOff x="2414" y="3648"/>
            <a:chExt cx="3346" cy="288"/>
          </a:xfrm>
        </p:grpSpPr>
        <p:sp>
          <p:nvSpPr>
            <p:cNvPr id="571411" name="Text Box 19"/>
            <p:cNvSpPr txBox="1">
              <a:spLocks noChangeArrowheads="1"/>
            </p:cNvSpPr>
            <p:nvPr/>
          </p:nvSpPr>
          <p:spPr bwMode="auto">
            <a:xfrm>
              <a:off x="4649" y="3648"/>
              <a:ext cx="111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b="1">
                  <a:solidFill>
                    <a:srgbClr val="A50021"/>
                  </a:solidFill>
                </a:rPr>
                <a:t>Incidentes </a:t>
              </a:r>
              <a:r>
                <a:rPr kumimoji="1" lang="pt-BR">
                  <a:solidFill>
                    <a:srgbClr val="A50021"/>
                  </a:solidFill>
                </a:rPr>
                <a:t>?</a:t>
              </a:r>
            </a:p>
          </p:txBody>
        </p:sp>
        <p:sp>
          <p:nvSpPr>
            <p:cNvPr id="571413" name="Text Box 21"/>
            <p:cNvSpPr txBox="1">
              <a:spLocks noChangeArrowheads="1"/>
            </p:cNvSpPr>
            <p:nvPr/>
          </p:nvSpPr>
          <p:spPr bwMode="auto">
            <a:xfrm>
              <a:off x="2414" y="3648"/>
              <a:ext cx="182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pt-BR" b="1"/>
                <a:t>Desvios de padrões?</a:t>
              </a:r>
            </a:p>
          </p:txBody>
        </p:sp>
      </p:grpSp>
      <p:sp>
        <p:nvSpPr>
          <p:cNvPr id="571418" name="Text Box 26"/>
          <p:cNvSpPr txBox="1">
            <a:spLocks noChangeArrowheads="1"/>
          </p:cNvSpPr>
          <p:nvPr/>
        </p:nvSpPr>
        <p:spPr bwMode="auto">
          <a:xfrm>
            <a:off x="323850" y="4221163"/>
            <a:ext cx="2016125" cy="19177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b="1">
                <a:solidFill>
                  <a:schemeClr val="bg1"/>
                </a:solidFill>
                <a:latin typeface="Arial" panose="020B0604020202020204" pitchFamily="34" charset="0"/>
              </a:rPr>
              <a:t>Será que teremos que alterar a Pirâmide de Bird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1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1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57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57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714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71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71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14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14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71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571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1394" grpId="0"/>
      <p:bldP spid="571396" grpId="0" animBg="1"/>
      <p:bldP spid="571404" grpId="0" animBg="1"/>
      <p:bldP spid="5714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3276600"/>
            <a:ext cx="8001000" cy="2209800"/>
          </a:xfrm>
        </p:spPr>
        <p:txBody>
          <a:bodyPr/>
          <a:lstStyle/>
          <a:p>
            <a:r>
              <a:rPr lang="pt-BR"/>
              <a:t>Todo </a:t>
            </a:r>
            <a:r>
              <a:rPr lang="pt-BR">
                <a:solidFill>
                  <a:srgbClr val="A50021"/>
                </a:solidFill>
              </a:rPr>
              <a:t>Acidente</a:t>
            </a:r>
            <a:r>
              <a:rPr lang="pt-BR"/>
              <a:t> foi causado necessariamente por um </a:t>
            </a:r>
            <a:r>
              <a:rPr lang="pt-BR">
                <a:solidFill>
                  <a:srgbClr val="A50021"/>
                </a:solidFill>
              </a:rPr>
              <a:t>Incidente</a:t>
            </a:r>
            <a:r>
              <a:rPr lang="pt-BR"/>
              <a:t>.</a:t>
            </a:r>
          </a:p>
          <a:p>
            <a:endParaRPr lang="pt-BR"/>
          </a:p>
          <a:p>
            <a:r>
              <a:rPr lang="pt-BR"/>
              <a:t>Nem todo </a:t>
            </a:r>
            <a:r>
              <a:rPr lang="pt-BR">
                <a:solidFill>
                  <a:srgbClr val="A50021"/>
                </a:solidFill>
              </a:rPr>
              <a:t>Incidente</a:t>
            </a:r>
            <a:r>
              <a:rPr lang="pt-BR"/>
              <a:t> gera </a:t>
            </a:r>
            <a:r>
              <a:rPr lang="pt-BR">
                <a:solidFill>
                  <a:srgbClr val="A50021"/>
                </a:solidFill>
              </a:rPr>
              <a:t>Acidente</a:t>
            </a:r>
            <a:r>
              <a:rPr lang="pt-BR"/>
              <a:t>.</a:t>
            </a:r>
          </a:p>
          <a:p>
            <a:pPr lvl="1"/>
            <a:endParaRPr lang="pt-BR"/>
          </a:p>
        </p:txBody>
      </p:sp>
      <p:sp>
        <p:nvSpPr>
          <p:cNvPr id="574468" name="Text Box 4"/>
          <p:cNvSpPr txBox="1">
            <a:spLocks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pPr algn="ctr">
              <a:lnSpc>
                <a:spcPct val="100000"/>
              </a:lnSpc>
              <a:spcBef>
                <a:spcPct val="50000"/>
              </a:spcBef>
            </a:pPr>
            <a:r>
              <a:rPr kumimoji="1" lang="pt-BR" sz="3200">
                <a:solidFill>
                  <a:schemeClr val="tx1"/>
                </a:solidFill>
                <a:latin typeface="Times New Roman" panose="02020603050405020304" pitchFamily="18" charset="0"/>
              </a:rPr>
              <a:t>O que necessita para haver um  </a:t>
            </a:r>
            <a:r>
              <a:rPr kumimoji="1" lang="pt-BR" sz="3200">
                <a:solidFill>
                  <a:srgbClr val="A50021"/>
                </a:solidFill>
                <a:latin typeface="Times New Roman" panose="02020603050405020304" pitchFamily="18" charset="0"/>
              </a:rPr>
              <a:t>Acidente</a:t>
            </a:r>
            <a:r>
              <a:rPr kumimoji="1" lang="pt-BR" sz="3200">
                <a:solidFill>
                  <a:schemeClr val="tx1"/>
                </a:solidFill>
                <a:latin typeface="Times New Roman" panose="02020603050405020304" pitchFamily="18" charset="0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44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44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74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74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7" grpId="0" build="p"/>
      <p:bldP spid="5744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49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0"/>
            <a:ext cx="8229600" cy="1143000"/>
          </a:xfrm>
        </p:spPr>
        <p:txBody>
          <a:bodyPr/>
          <a:lstStyle/>
          <a:p>
            <a:pPr algn="ctr"/>
            <a:r>
              <a:rPr lang="pt-BR"/>
              <a:t>Fluxograma do Acidente</a:t>
            </a:r>
          </a:p>
        </p:txBody>
      </p:sp>
      <p:sp>
        <p:nvSpPr>
          <p:cNvPr id="575491" name="Text Box 3"/>
          <p:cNvSpPr txBox="1">
            <a:spLocks noChangeArrowheads="1"/>
          </p:cNvSpPr>
          <p:nvPr/>
        </p:nvSpPr>
        <p:spPr bwMode="auto">
          <a:xfrm>
            <a:off x="2590800" y="6019800"/>
            <a:ext cx="3886200" cy="5143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b="1">
                <a:solidFill>
                  <a:srgbClr val="A50021"/>
                </a:solidFill>
              </a:rPr>
              <a:t>Acidente</a:t>
            </a:r>
          </a:p>
        </p:txBody>
      </p:sp>
      <p:sp>
        <p:nvSpPr>
          <p:cNvPr id="575494" name="Text Box 6"/>
          <p:cNvSpPr txBox="1">
            <a:spLocks noChangeArrowheads="1"/>
          </p:cNvSpPr>
          <p:nvPr/>
        </p:nvSpPr>
        <p:spPr bwMode="auto">
          <a:xfrm>
            <a:off x="2590800" y="2514600"/>
            <a:ext cx="3886200" cy="5143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b="1">
                <a:solidFill>
                  <a:srgbClr val="A50021"/>
                </a:solidFill>
              </a:rPr>
              <a:t>Incidente</a:t>
            </a:r>
          </a:p>
        </p:txBody>
      </p:sp>
      <p:sp>
        <p:nvSpPr>
          <p:cNvPr id="575495" name="Text Box 7"/>
          <p:cNvSpPr txBox="1">
            <a:spLocks noChangeArrowheads="1"/>
          </p:cNvSpPr>
          <p:nvPr/>
        </p:nvSpPr>
        <p:spPr bwMode="auto">
          <a:xfrm>
            <a:off x="2590800" y="4343400"/>
            <a:ext cx="3886200" cy="5143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b="1"/>
              <a:t>Risco</a:t>
            </a:r>
          </a:p>
        </p:txBody>
      </p:sp>
      <p:sp>
        <p:nvSpPr>
          <p:cNvPr id="575497" name="AutoShape 9"/>
          <p:cNvSpPr>
            <a:spLocks noChangeArrowheads="1"/>
          </p:cNvSpPr>
          <p:nvPr/>
        </p:nvSpPr>
        <p:spPr bwMode="auto">
          <a:xfrm>
            <a:off x="4267200" y="3276600"/>
            <a:ext cx="457200" cy="838200"/>
          </a:xfrm>
          <a:prstGeom prst="downArrow">
            <a:avLst>
              <a:gd name="adj1" fmla="val 50000"/>
              <a:gd name="adj2" fmla="val 45833"/>
            </a:avLst>
          </a:prstGeom>
          <a:solidFill>
            <a:srgbClr val="66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5498" name="AutoShape 10"/>
          <p:cNvSpPr>
            <a:spLocks noChangeArrowheads="1"/>
          </p:cNvSpPr>
          <p:nvPr/>
        </p:nvSpPr>
        <p:spPr bwMode="auto">
          <a:xfrm>
            <a:off x="4267200" y="5105400"/>
            <a:ext cx="457200" cy="838200"/>
          </a:xfrm>
          <a:prstGeom prst="downArrow">
            <a:avLst>
              <a:gd name="adj1" fmla="val 50000"/>
              <a:gd name="adj2" fmla="val 45833"/>
            </a:avLst>
          </a:prstGeom>
          <a:solidFill>
            <a:srgbClr val="6666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5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5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5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5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5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57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5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5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754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75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5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5490" grpId="0"/>
      <p:bldP spid="575491" grpId="0" animBg="1"/>
      <p:bldP spid="575494" grpId="0" animBg="1"/>
      <p:bldP spid="575495" grpId="0" animBg="1"/>
      <p:bldP spid="575497" grpId="0" animBg="1"/>
      <p:bldP spid="57549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 que é Risco  de </a:t>
            </a:r>
            <a:r>
              <a:rPr lang="pt-BR">
                <a:solidFill>
                  <a:srgbClr val="A50021"/>
                </a:solidFill>
              </a:rPr>
              <a:t>Acidente</a:t>
            </a:r>
            <a:r>
              <a:rPr lang="pt-BR"/>
              <a:t>?</a:t>
            </a:r>
          </a:p>
        </p:txBody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É a possibilita de perigo incerto, mas previsível, que ameaça a pessoa ou material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78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2" grpId="0"/>
      <p:bldP spid="57856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762000"/>
            <a:ext cx="8229600" cy="1143000"/>
          </a:xfrm>
        </p:spPr>
        <p:txBody>
          <a:bodyPr/>
          <a:lstStyle/>
          <a:p>
            <a:pPr algn="ctr"/>
            <a:r>
              <a:rPr lang="pt-BR"/>
              <a:t>Como Eliminar os Acidentes?</a:t>
            </a:r>
          </a:p>
        </p:txBody>
      </p:sp>
      <p:sp>
        <p:nvSpPr>
          <p:cNvPr id="577539" name="Text Box 3"/>
          <p:cNvSpPr txBox="1">
            <a:spLocks noChangeArrowheads="1"/>
          </p:cNvSpPr>
          <p:nvPr/>
        </p:nvSpPr>
        <p:spPr bwMode="auto">
          <a:xfrm>
            <a:off x="2590800" y="6019800"/>
            <a:ext cx="3886200" cy="5143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b="1">
                <a:solidFill>
                  <a:srgbClr val="A50021"/>
                </a:solidFill>
              </a:rPr>
              <a:t>Incidente</a:t>
            </a:r>
          </a:p>
        </p:txBody>
      </p:sp>
      <p:sp>
        <p:nvSpPr>
          <p:cNvPr id="577540" name="Text Box 4"/>
          <p:cNvSpPr txBox="1">
            <a:spLocks noChangeArrowheads="1"/>
          </p:cNvSpPr>
          <p:nvPr/>
        </p:nvSpPr>
        <p:spPr bwMode="auto">
          <a:xfrm>
            <a:off x="2590800" y="2514600"/>
            <a:ext cx="3886200" cy="5143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b="1">
                <a:solidFill>
                  <a:srgbClr val="A50021"/>
                </a:solidFill>
              </a:rPr>
              <a:t>Acidente</a:t>
            </a:r>
          </a:p>
        </p:txBody>
      </p:sp>
      <p:sp>
        <p:nvSpPr>
          <p:cNvPr id="577541" name="Text Box 5"/>
          <p:cNvSpPr txBox="1">
            <a:spLocks noChangeArrowheads="1"/>
          </p:cNvSpPr>
          <p:nvPr/>
        </p:nvSpPr>
        <p:spPr bwMode="auto">
          <a:xfrm>
            <a:off x="2590800" y="4343400"/>
            <a:ext cx="3886200" cy="514350"/>
          </a:xfrm>
          <a:prstGeom prst="rect">
            <a:avLst/>
          </a:prstGeom>
          <a:noFill/>
          <a:ln w="57150" cmpd="thickThin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b="1"/>
              <a:t>Risco</a:t>
            </a:r>
          </a:p>
        </p:txBody>
      </p:sp>
      <p:grpSp>
        <p:nvGrpSpPr>
          <p:cNvPr id="577552" name="Group 16"/>
          <p:cNvGrpSpPr>
            <a:grpSpLocks/>
          </p:cNvGrpSpPr>
          <p:nvPr/>
        </p:nvGrpSpPr>
        <p:grpSpPr bwMode="auto">
          <a:xfrm>
            <a:off x="3124200" y="2286000"/>
            <a:ext cx="2667000" cy="1066800"/>
            <a:chOff x="1968" y="1440"/>
            <a:chExt cx="1680" cy="672"/>
          </a:xfrm>
        </p:grpSpPr>
        <p:sp>
          <p:nvSpPr>
            <p:cNvPr id="577544" name="Line 8"/>
            <p:cNvSpPr>
              <a:spLocks noChangeShapeType="1"/>
            </p:cNvSpPr>
            <p:nvPr/>
          </p:nvSpPr>
          <p:spPr bwMode="auto">
            <a:xfrm>
              <a:off x="2112" y="1440"/>
              <a:ext cx="1488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577545" name="Line 9"/>
            <p:cNvSpPr>
              <a:spLocks noChangeShapeType="1"/>
            </p:cNvSpPr>
            <p:nvPr/>
          </p:nvSpPr>
          <p:spPr bwMode="auto">
            <a:xfrm flipV="1">
              <a:off x="1968" y="1488"/>
              <a:ext cx="168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</p:grpSp>
      <p:grpSp>
        <p:nvGrpSpPr>
          <p:cNvPr id="577551" name="Group 15"/>
          <p:cNvGrpSpPr>
            <a:grpSpLocks/>
          </p:cNvGrpSpPr>
          <p:nvPr/>
        </p:nvGrpSpPr>
        <p:grpSpPr bwMode="auto">
          <a:xfrm>
            <a:off x="3124200" y="4114800"/>
            <a:ext cx="2667000" cy="1066800"/>
            <a:chOff x="1968" y="2592"/>
            <a:chExt cx="1680" cy="672"/>
          </a:xfrm>
        </p:grpSpPr>
        <p:sp>
          <p:nvSpPr>
            <p:cNvPr id="577546" name="Line 10"/>
            <p:cNvSpPr>
              <a:spLocks noChangeShapeType="1"/>
            </p:cNvSpPr>
            <p:nvPr/>
          </p:nvSpPr>
          <p:spPr bwMode="auto">
            <a:xfrm>
              <a:off x="2112" y="2592"/>
              <a:ext cx="1488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577547" name="Line 11"/>
            <p:cNvSpPr>
              <a:spLocks noChangeShapeType="1"/>
            </p:cNvSpPr>
            <p:nvPr/>
          </p:nvSpPr>
          <p:spPr bwMode="auto">
            <a:xfrm flipV="1">
              <a:off x="1968" y="2640"/>
              <a:ext cx="1680" cy="62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</p:grpSp>
      <p:grpSp>
        <p:nvGrpSpPr>
          <p:cNvPr id="577550" name="Group 14"/>
          <p:cNvGrpSpPr>
            <a:grpSpLocks/>
          </p:cNvGrpSpPr>
          <p:nvPr/>
        </p:nvGrpSpPr>
        <p:grpSpPr bwMode="auto">
          <a:xfrm>
            <a:off x="3200400" y="5638800"/>
            <a:ext cx="2667000" cy="1066800"/>
            <a:chOff x="2016" y="3552"/>
            <a:chExt cx="1680" cy="672"/>
          </a:xfrm>
        </p:grpSpPr>
        <p:sp>
          <p:nvSpPr>
            <p:cNvPr id="577548" name="Line 12"/>
            <p:cNvSpPr>
              <a:spLocks noChangeShapeType="1"/>
            </p:cNvSpPr>
            <p:nvPr/>
          </p:nvSpPr>
          <p:spPr bwMode="auto">
            <a:xfrm>
              <a:off x="2160" y="3552"/>
              <a:ext cx="1488" cy="672"/>
            </a:xfrm>
            <a:prstGeom prst="line">
              <a:avLst/>
            </a:prstGeom>
            <a:noFill/>
            <a:ln w="57150">
              <a:solidFill>
                <a:srgbClr val="1F408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  <p:sp>
          <p:nvSpPr>
            <p:cNvPr id="577549" name="Line 13"/>
            <p:cNvSpPr>
              <a:spLocks noChangeShapeType="1"/>
            </p:cNvSpPr>
            <p:nvPr/>
          </p:nvSpPr>
          <p:spPr bwMode="auto">
            <a:xfrm flipV="1">
              <a:off x="2016" y="3600"/>
              <a:ext cx="1680" cy="624"/>
            </a:xfrm>
            <a:prstGeom prst="line">
              <a:avLst/>
            </a:prstGeom>
            <a:noFill/>
            <a:ln w="57150">
              <a:solidFill>
                <a:srgbClr val="1F408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pt-BR"/>
            </a:p>
          </p:txBody>
        </p:sp>
      </p:grpSp>
      <p:sp>
        <p:nvSpPr>
          <p:cNvPr id="577553" name="AutoShape 17"/>
          <p:cNvSpPr>
            <a:spLocks noChangeArrowheads="1"/>
          </p:cNvSpPr>
          <p:nvPr/>
        </p:nvSpPr>
        <p:spPr bwMode="auto">
          <a:xfrm>
            <a:off x="4267200" y="3200400"/>
            <a:ext cx="533400" cy="990600"/>
          </a:xfrm>
          <a:prstGeom prst="upArrow">
            <a:avLst>
              <a:gd name="adj1" fmla="val 50000"/>
              <a:gd name="adj2" fmla="val 46429"/>
            </a:avLst>
          </a:prstGeom>
          <a:solidFill>
            <a:srgbClr val="1F408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77554" name="AutoShape 18"/>
          <p:cNvSpPr>
            <a:spLocks noChangeArrowheads="1"/>
          </p:cNvSpPr>
          <p:nvPr/>
        </p:nvSpPr>
        <p:spPr bwMode="auto">
          <a:xfrm>
            <a:off x="4267200" y="5105400"/>
            <a:ext cx="533400" cy="762000"/>
          </a:xfrm>
          <a:prstGeom prst="upArrow">
            <a:avLst>
              <a:gd name="adj1" fmla="val 50000"/>
              <a:gd name="adj2" fmla="val 35714"/>
            </a:avLst>
          </a:prstGeom>
          <a:solidFill>
            <a:srgbClr val="1F408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577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7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577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2000"/>
                                        <p:tgtEl>
                                          <p:spTgt spid="57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57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2000"/>
                                        <p:tgtEl>
                                          <p:spTgt spid="57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5775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57755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57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57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38" grpId="0"/>
      <p:bldP spid="577539" grpId="0" animBg="1"/>
      <p:bldP spid="577540" grpId="0" animBg="1"/>
      <p:bldP spid="577541" grpId="0" animBg="1"/>
      <p:bldP spid="577553" grpId="0" animBg="1"/>
      <p:bldP spid="57755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Como fazer para eliminar os </a:t>
            </a:r>
            <a:r>
              <a:rPr lang="pt-BR">
                <a:solidFill>
                  <a:srgbClr val="A50021"/>
                </a:solidFill>
              </a:rPr>
              <a:t>Acidentes</a:t>
            </a:r>
            <a:r>
              <a:rPr lang="pt-BR"/>
              <a:t>?</a:t>
            </a:r>
          </a:p>
        </p:txBody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362200"/>
            <a:ext cx="8001000" cy="4114800"/>
          </a:xfrm>
        </p:spPr>
        <p:txBody>
          <a:bodyPr/>
          <a:lstStyle/>
          <a:p>
            <a:r>
              <a:rPr lang="pt-BR" sz="2400"/>
              <a:t>Identificar</a:t>
            </a:r>
          </a:p>
          <a:p>
            <a:pPr lvl="1"/>
            <a:r>
              <a:rPr lang="pt-BR" sz="2000"/>
              <a:t>Está atento nos desvios dos padrões aceitáveis.</a:t>
            </a:r>
          </a:p>
          <a:p>
            <a:r>
              <a:rPr lang="pt-BR" sz="2400"/>
              <a:t>Relatar</a:t>
            </a:r>
          </a:p>
          <a:p>
            <a:pPr lvl="1">
              <a:spcBef>
                <a:spcPts val="500"/>
              </a:spcBef>
            </a:pPr>
            <a:r>
              <a:rPr lang="pt-BR" sz="2000"/>
              <a:t>Colocar no relatório de </a:t>
            </a:r>
            <a:r>
              <a:rPr lang="pt-BR" sz="2000">
                <a:solidFill>
                  <a:srgbClr val="A50021"/>
                </a:solidFill>
              </a:rPr>
              <a:t>Incidentes</a:t>
            </a:r>
            <a:r>
              <a:rPr lang="pt-BR" sz="2000"/>
              <a:t>  todos os fatos.</a:t>
            </a:r>
          </a:p>
          <a:p>
            <a:pPr>
              <a:spcBef>
                <a:spcPts val="500"/>
              </a:spcBef>
            </a:pPr>
            <a:r>
              <a:rPr lang="pt-BR" sz="2400"/>
              <a:t>Analisar </a:t>
            </a:r>
          </a:p>
          <a:p>
            <a:pPr lvl="1">
              <a:spcBef>
                <a:spcPts val="500"/>
              </a:spcBef>
            </a:pPr>
            <a:r>
              <a:rPr lang="pt-BR" sz="2000"/>
              <a:t>Fazer estatística dos principais desvios de padrões</a:t>
            </a:r>
          </a:p>
          <a:p>
            <a:pPr lvl="1">
              <a:spcBef>
                <a:spcPts val="500"/>
              </a:spcBef>
            </a:pPr>
            <a:r>
              <a:rPr lang="pt-BR" sz="2000"/>
              <a:t>Levantamento causas para montar um plano de ações</a:t>
            </a:r>
          </a:p>
          <a:p>
            <a:r>
              <a:rPr lang="pt-BR" sz="2400"/>
              <a:t>Controle</a:t>
            </a:r>
          </a:p>
          <a:p>
            <a:pPr lvl="1"/>
            <a:r>
              <a:rPr lang="pt-BR" sz="2000"/>
              <a:t>Tomar as ações para eliminar ou minimizar o risco em cima dos principais desvios encontrados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4" grpId="0"/>
      <p:bldP spid="57651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/>
              <a:t>Principais Desvios de padrões 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2362200"/>
            <a:ext cx="8001000" cy="4235450"/>
          </a:xfrm>
        </p:spPr>
        <p:txBody>
          <a:bodyPr/>
          <a:lstStyle/>
          <a:p>
            <a:r>
              <a:rPr lang="pt-BR"/>
              <a:t>Falta de treinamentos</a:t>
            </a:r>
          </a:p>
          <a:p>
            <a:r>
              <a:rPr lang="pt-BR"/>
              <a:t>Falta de conhecimento dos riscos</a:t>
            </a:r>
          </a:p>
          <a:p>
            <a:r>
              <a:rPr lang="pt-BR"/>
              <a:t>Falta de informação</a:t>
            </a:r>
          </a:p>
          <a:p>
            <a:r>
              <a:rPr lang="pt-BR"/>
              <a:t>Falta de Aptidão</a:t>
            </a:r>
          </a:p>
          <a:p>
            <a:r>
              <a:rPr lang="pt-BR"/>
              <a:t>Falta de equipamentos adequados</a:t>
            </a:r>
          </a:p>
          <a:p>
            <a:r>
              <a:rPr lang="pt-BR"/>
              <a:t>Falta de capacitação</a:t>
            </a:r>
          </a:p>
          <a:p>
            <a:r>
              <a:rPr lang="pt-BR"/>
              <a:t>Falta de motivação</a:t>
            </a:r>
          </a:p>
          <a:p>
            <a:r>
              <a:rPr lang="pt-BR"/>
              <a:t>Falta de segurança em máquinas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9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7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7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79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9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9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79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6" grpId="0"/>
      <p:bldP spid="57958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2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pt-BR" sz="6600"/>
              <a:t>Obrigado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as">
  <a:themeElements>
    <a:clrScheme name="Capsulas 5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00CC66"/>
      </a:accent1>
      <a:accent2>
        <a:srgbClr val="33CCCC"/>
      </a:accent2>
      <a:accent3>
        <a:srgbClr val="FFFFFF"/>
      </a:accent3>
      <a:accent4>
        <a:srgbClr val="002A56"/>
      </a:accent4>
      <a:accent5>
        <a:srgbClr val="AAE2B8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apsula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a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a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a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as 5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00CC66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AAE2B8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apresentação\Capsulas.pot</Template>
  <TotalTime>163</TotalTime>
  <Words>251</Words>
  <Application>Microsoft Office PowerPoint</Application>
  <PresentationFormat>Apresentação na tela (4:3)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Wingdings</vt:lpstr>
      <vt:lpstr>Arial Narrow</vt:lpstr>
      <vt:lpstr>Capsulas</vt:lpstr>
      <vt:lpstr>Treinamento de Segurança</vt:lpstr>
      <vt:lpstr>Por que ocorre Acidentes?</vt:lpstr>
      <vt:lpstr>O que essas causas tem em comum?</vt:lpstr>
      <vt:lpstr>Pirâmide de Bird</vt:lpstr>
      <vt:lpstr>O que necessita para haver um  Acidente?</vt:lpstr>
      <vt:lpstr>Fluxograma do Acidente</vt:lpstr>
      <vt:lpstr>O que é Risco  de Acidente?</vt:lpstr>
      <vt:lpstr>Como Eliminar os Acidentes?</vt:lpstr>
      <vt:lpstr>Como fazer para eliminar os Acidentes?</vt:lpstr>
      <vt:lpstr>Principais Desvios de padrões </vt:lpstr>
      <vt:lpstr>Obrigado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 SIPAT -TECORI</dc:title>
  <dc:creator>Alexandre Roque</dc:creator>
  <cp:lastModifiedBy>José Leal</cp:lastModifiedBy>
  <cp:revision>19</cp:revision>
  <cp:lastPrinted>1601-01-01T00:00:00Z</cp:lastPrinted>
  <dcterms:created xsi:type="dcterms:W3CDTF">1998-12-10T03:46:23Z</dcterms:created>
  <dcterms:modified xsi:type="dcterms:W3CDTF">2018-06-29T02:07:20Z</dcterms:modified>
</cp:coreProperties>
</file>