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handoutMasterIdLst>
    <p:handoutMasterId r:id="rId21"/>
  </p:handoutMasterIdLst>
  <p:sldIdLst>
    <p:sldId id="263" r:id="rId2"/>
    <p:sldId id="257" r:id="rId3"/>
    <p:sldId id="312" r:id="rId4"/>
    <p:sldId id="313" r:id="rId5"/>
    <p:sldId id="318" r:id="rId6"/>
    <p:sldId id="314" r:id="rId7"/>
    <p:sldId id="331" r:id="rId8"/>
    <p:sldId id="320" r:id="rId9"/>
    <p:sldId id="332" r:id="rId10"/>
    <p:sldId id="333" r:id="rId11"/>
    <p:sldId id="334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</p:sldIdLst>
  <p:sldSz cx="9144000" cy="6858000" type="screen4x3"/>
  <p:notesSz cx="6858000" cy="9906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00"/>
    <a:srgbClr val="006699"/>
    <a:srgbClr val="0000CC"/>
    <a:srgbClr val="0000FF"/>
    <a:srgbClr val="FFFFFF"/>
    <a:srgbClr val="5F5F5F"/>
    <a:srgbClr val="969696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8303" autoAdjust="0"/>
    <p:restoredTop sz="90929"/>
  </p:normalViewPr>
  <p:slideViewPr>
    <p:cSldViewPr>
      <p:cViewPr varScale="1">
        <p:scale>
          <a:sx n="73" d="100"/>
          <a:sy n="73" d="100"/>
        </p:scale>
        <p:origin x="1698" y="78"/>
      </p:cViewPr>
      <p:guideLst>
        <p:guide orient="horz" pos="2448"/>
        <p:guide pos="2880"/>
      </p:guideLst>
    </p:cSldViewPr>
  </p:slideViewPr>
  <p:outlineViewPr>
    <p:cViewPr>
      <p:scale>
        <a:sx n="20" d="100"/>
        <a:sy n="20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4"/>
    </p:cViewPr>
  </p:sorterViewPr>
  <p:notesViewPr>
    <p:cSldViewPr>
      <p:cViewPr varScale="1">
        <p:scale>
          <a:sx n="69" d="100"/>
          <a:sy n="69" d="100"/>
        </p:scale>
        <p:origin x="-2268" y="-90"/>
      </p:cViewPr>
      <p:guideLst>
        <p:guide orient="horz" pos="312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.xml"/><Relationship Id="rId2" Type="http://schemas.openxmlformats.org/officeDocument/2006/relationships/slide" Target="slides/slide5.xml"/><Relationship Id="rId1" Type="http://schemas.openxmlformats.org/officeDocument/2006/relationships/slide" Target="slides/slide1.xml"/><Relationship Id="rId6" Type="http://schemas.openxmlformats.org/officeDocument/2006/relationships/slide" Target="slides/slide18.xml"/><Relationship Id="rId5" Type="http://schemas.openxmlformats.org/officeDocument/2006/relationships/slide" Target="slides/slide16.xml"/><Relationship Id="rId4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/>
          <p:cNvSpPr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pt-BR" altLang="pt-BR" sz="1200"/>
          </a:p>
        </p:txBody>
      </p:sp>
      <p:sp>
        <p:nvSpPr>
          <p:cNvPr id="13319" name="Rectangle 7"/>
          <p:cNvSpPr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0" hangingPunct="0"/>
            <a:endParaRPr lang="pt-BR" altLang="pt-BR" sz="1200"/>
          </a:p>
        </p:txBody>
      </p:sp>
      <p:sp>
        <p:nvSpPr>
          <p:cNvPr id="13320" name="Rectangle 8"/>
          <p:cNvSpPr>
            <a:spLocks noGrp="1" noChangeArrowheads="1"/>
          </p:cNvSpPr>
          <p:nvPr/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eaLnBrk="0" hangingPunct="0"/>
            <a:endParaRPr lang="pt-BR" altLang="pt-BR" sz="1200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458788" y="9448800"/>
            <a:ext cx="59388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876300" y="9491663"/>
            <a:ext cx="5486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pt-BR" altLang="pt-BR" sz="600">
                <a:latin typeface="Arial" panose="020B0604020202020204" pitchFamily="34" charset="0"/>
              </a:rPr>
              <a:t>COMISSÃO TRIPARTITE PERMANENTE DE NEGOCIAÇÃO DO SETOR ELETRICO NO ESTADO DE SP - </a:t>
            </a:r>
            <a:fld id="{4D3B2415-33BC-4502-84BE-2891AFB0313F}" type="slidenum">
              <a:rPr lang="pt-BR" altLang="pt-BR" sz="1000" b="1">
                <a:solidFill>
                  <a:srgbClr val="FF3300"/>
                </a:solidFill>
                <a:latin typeface="Arial" panose="020B0604020202020204" pitchFamily="34" charset="0"/>
              </a:rPr>
              <a:pPr algn="r" eaLnBrk="0" hangingPunct="0"/>
              <a:t>‹nº›</a:t>
            </a:fld>
            <a:endParaRPr lang="pt-BR" altLang="pt-BR" sz="1000" b="1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pic>
        <p:nvPicPr>
          <p:cNvPr id="13323" name="Picture 11" descr="cabecalh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63525"/>
            <a:ext cx="5938837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05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4267200"/>
            <a:ext cx="7772400" cy="1143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pt-BR" altLang="pt-BR" noProof="0" smtClean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042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00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2590800"/>
            <a:ext cx="3810000" cy="38862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590800"/>
            <a:ext cx="3810000" cy="38862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22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05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48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80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61540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0696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3473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1752600"/>
            <a:ext cx="1943100" cy="47244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1752600"/>
            <a:ext cx="5676900" cy="472440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54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526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estilo do título mestre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590800"/>
            <a:ext cx="77724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400" kern="12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defRPr kern="1200">
          <a:solidFill>
            <a:srgbClr val="5F5F5F"/>
          </a:solidFill>
          <a:latin typeface="+mn-lt"/>
          <a:ea typeface="+mn-ea"/>
          <a:cs typeface="+mn-cs"/>
        </a:defRPr>
      </a:lvl1pPr>
      <a:lvl2pPr marL="377825" indent="-187325" algn="l" rtl="0" fontAlgn="base">
        <a:spcBef>
          <a:spcPct val="20000"/>
        </a:spcBef>
        <a:spcAft>
          <a:spcPct val="0"/>
        </a:spcAft>
        <a:buClr>
          <a:srgbClr val="FF3300"/>
        </a:buClr>
        <a:buSzPct val="7000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2pPr>
      <a:lvl3pPr marL="763588" indent="-195263" algn="l" rtl="0" fontAlgn="base">
        <a:spcBef>
          <a:spcPct val="20000"/>
        </a:spcBef>
        <a:spcAft>
          <a:spcPct val="0"/>
        </a:spcAft>
        <a:buClr>
          <a:srgbClr val="969696"/>
        </a:buClr>
        <a:buSzPct val="7000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141413" indent="-187325" algn="l" rtl="0" fontAlgn="base">
        <a:spcBef>
          <a:spcPct val="20000"/>
        </a:spcBef>
        <a:spcAft>
          <a:spcPct val="0"/>
        </a:spcAft>
        <a:buChar char="-"/>
        <a:defRPr kern="1200">
          <a:solidFill>
            <a:srgbClr val="5F5F5F"/>
          </a:solidFill>
          <a:latin typeface="+mn-lt"/>
          <a:ea typeface="+mn-ea"/>
          <a:cs typeface="+mn-cs"/>
        </a:defRPr>
      </a:lvl4pPr>
      <a:lvl5pPr marL="1528763" indent="-19685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rgbClr val="5F5F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1029"/>
          <p:cNvSpPr>
            <a:spLocks noGrp="1" noChangeArrowheads="1"/>
          </p:cNvSpPr>
          <p:nvPr>
            <p:ph type="ctrTitle"/>
          </p:nvPr>
        </p:nvSpPr>
        <p:spPr>
          <a:noFill/>
          <a:ln/>
        </p:spPr>
        <p:txBody>
          <a:bodyPr anchor="b"/>
          <a:lstStyle/>
          <a:p>
            <a:r>
              <a:rPr lang="pt-BR" altLang="pt-BR"/>
              <a:t>Riscos adicionais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4"/>
          <p:cNvSpPr>
            <a:spLocks noGrp="1" noChangeArrowheads="1"/>
          </p:cNvSpPr>
          <p:nvPr>
            <p:ph type="title"/>
          </p:nvPr>
        </p:nvSpPr>
        <p:spPr>
          <a:xfrm>
            <a:off x="685800" y="2514600"/>
            <a:ext cx="7772400" cy="838200"/>
          </a:xfrm>
        </p:spPr>
        <p:txBody>
          <a:bodyPr/>
          <a:lstStyle/>
          <a:p>
            <a:r>
              <a:rPr lang="pt-BR" altLang="pt-BR"/>
              <a:t>Riscos adicionais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685800" y="3352800"/>
            <a:ext cx="7772400" cy="3886200"/>
          </a:xfrm>
        </p:spPr>
        <p:txBody>
          <a:bodyPr/>
          <a:lstStyle/>
          <a:p>
            <a:pPr lvl="1"/>
            <a:r>
              <a:rPr lang="pt-BR" altLang="pt-BR" sz="2400"/>
              <a:t>De altura;</a:t>
            </a:r>
          </a:p>
          <a:p>
            <a:pPr lvl="1"/>
            <a:r>
              <a:rPr lang="pt-BR" altLang="pt-BR" sz="2400"/>
              <a:t>De ambientes confinados;</a:t>
            </a:r>
          </a:p>
          <a:p>
            <a:pPr lvl="1"/>
            <a:r>
              <a:rPr lang="pt-BR" altLang="pt-BR" sz="2400"/>
              <a:t>De áreas classificadas;</a:t>
            </a:r>
          </a:p>
          <a:p>
            <a:pPr lvl="1"/>
            <a:r>
              <a:rPr lang="pt-BR" altLang="pt-BR" sz="2400"/>
              <a:t>De umidade;</a:t>
            </a:r>
          </a:p>
          <a:p>
            <a:pPr lvl="1"/>
            <a:r>
              <a:rPr lang="pt-BR" altLang="pt-BR" sz="2400"/>
              <a:t>Condições atmosféricas.</a:t>
            </a:r>
          </a:p>
        </p:txBody>
      </p:sp>
      <p:pic>
        <p:nvPicPr>
          <p:cNvPr id="1040" name="Picture 16" descr="C:\CPN 10 08 2005\02 Riscos Adicionais\Espaco Confinado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724150"/>
            <a:ext cx="42672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1447800"/>
            <a:ext cx="7772400" cy="838200"/>
          </a:xfrm>
        </p:spPr>
        <p:txBody>
          <a:bodyPr/>
          <a:lstStyle/>
          <a:p>
            <a:r>
              <a:rPr lang="pt-BR" altLang="pt-BR"/>
              <a:t>Altura</a:t>
            </a:r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2362200"/>
            <a:ext cx="87630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400"/>
              <a:t>Trabalho em altura é qualquer atividade onde o trabalhador atue </a:t>
            </a:r>
            <a:r>
              <a:rPr lang="pt-BR" altLang="pt-BR" sz="2400" b="1"/>
              <a:t>acima do nível do solo e/ou desníveis</a:t>
            </a:r>
            <a:r>
              <a:rPr lang="pt-BR" altLang="pt-BR" sz="2400"/>
              <a:t> de pisos. </a:t>
            </a:r>
          </a:p>
          <a:p>
            <a:pPr>
              <a:lnSpc>
                <a:spcPct val="90000"/>
              </a:lnSpc>
            </a:pPr>
            <a:r>
              <a:rPr lang="pt-BR" altLang="pt-BR" sz="2400"/>
              <a:t>Para trabalhos com desníveis acima de 2 metros é obrigatório o uso de EPI’s básicos.</a:t>
            </a:r>
          </a:p>
          <a:p>
            <a:pPr>
              <a:lnSpc>
                <a:spcPct val="90000"/>
              </a:lnSpc>
            </a:pPr>
            <a:endParaRPr lang="pt-BR" altLang="pt-BR" sz="2400"/>
          </a:p>
          <a:p>
            <a:pPr>
              <a:lnSpc>
                <a:spcPct val="90000"/>
              </a:lnSpc>
            </a:pPr>
            <a:r>
              <a:rPr lang="pt-BR" altLang="pt-BR" sz="2400" b="1"/>
              <a:t>Para a realização de atividades em altura os trabalhadores devem: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Possuir os exames específicos da função ASO - Atestado de Saúde Ocupacional;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Estar em perfeitas condições físicas e psicológicas;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Estar treinado e orientado sobre todos os riscos envolvidos.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9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1981200"/>
            <a:ext cx="7772400" cy="838200"/>
          </a:xfrm>
        </p:spPr>
        <p:txBody>
          <a:bodyPr/>
          <a:lstStyle/>
          <a:p>
            <a:r>
              <a:rPr lang="pt-BR" altLang="pt-BR"/>
              <a:t>Evolução da segurança,</a:t>
            </a:r>
            <a:br>
              <a:rPr lang="pt-BR" altLang="pt-BR"/>
            </a:br>
            <a:r>
              <a:rPr lang="pt-BR" altLang="pt-BR"/>
              <a:t>transmissão.</a:t>
            </a:r>
          </a:p>
        </p:txBody>
      </p:sp>
      <p:sp>
        <p:nvSpPr>
          <p:cNvPr id="727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2819400"/>
            <a:ext cx="5486400" cy="3886200"/>
          </a:xfrm>
        </p:spPr>
        <p:txBody>
          <a:bodyPr/>
          <a:lstStyle/>
          <a:p>
            <a:r>
              <a:rPr lang="pt-BR" altLang="pt-BR" sz="2400"/>
              <a:t>Com o advento do </a:t>
            </a:r>
            <a:r>
              <a:rPr lang="pt-BR" altLang="pt-BR" sz="2400" b="1"/>
              <a:t>novo texto</a:t>
            </a:r>
            <a:r>
              <a:rPr lang="pt-BR" altLang="pt-BR" sz="2400"/>
              <a:t> da NR 10, a preocupação constante em relação à segurança dos trabalhadores, exigiu a aplicação de um novo sistema de segurança para trabalhos em estruturas elevadas que possibilitam outros métodos de escalada, movimentação e resgate, para todos os setores do SEP.</a:t>
            </a:r>
          </a:p>
        </p:txBody>
      </p:sp>
      <p:pic>
        <p:nvPicPr>
          <p:cNvPr id="72708" name="Picture 4" descr="C:\WINDOWS\Desktop\EMPRESAS\CPFL\pptCPFL\TORRE1.jpg"/>
          <p:cNvPicPr>
            <a:picLocks noChangeAspect="1" noChangeArrowheads="1"/>
          </p:cNvPicPr>
          <p:nvPr/>
        </p:nvPicPr>
        <p:blipFill>
          <a:blip r:embed="rId2">
            <a:lum bright="-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1752600"/>
            <a:ext cx="23876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6" name="Rectangle 2060"/>
          <p:cNvSpPr>
            <a:spLocks noGrp="1" noChangeArrowheads="1"/>
          </p:cNvSpPr>
          <p:nvPr>
            <p:ph type="title"/>
          </p:nvPr>
        </p:nvSpPr>
        <p:spPr>
          <a:xfrm>
            <a:off x="685800" y="1371600"/>
            <a:ext cx="7772400" cy="838200"/>
          </a:xfrm>
        </p:spPr>
        <p:txBody>
          <a:bodyPr/>
          <a:lstStyle/>
          <a:p>
            <a:r>
              <a:rPr lang="pt-BR" altLang="pt-BR"/>
              <a:t>Evolução da segurança</a:t>
            </a:r>
          </a:p>
        </p:txBody>
      </p:sp>
      <p:sp>
        <p:nvSpPr>
          <p:cNvPr id="77837" name="Rectangle 206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400" b="1">
                <a:solidFill>
                  <a:srgbClr val="006699"/>
                </a:solidFill>
              </a:rPr>
              <a:t>Equipamentos utilizados</a:t>
            </a:r>
            <a:r>
              <a:rPr lang="pt-BR" altLang="pt-BR" b="1">
                <a:solidFill>
                  <a:srgbClr val="006699"/>
                </a:solidFill>
              </a:rPr>
              <a:t> </a:t>
            </a:r>
          </a:p>
        </p:txBody>
      </p:sp>
      <p:sp>
        <p:nvSpPr>
          <p:cNvPr id="77829" name="Rectangle 2053"/>
          <p:cNvSpPr>
            <a:spLocks noChangeArrowheads="1"/>
          </p:cNvSpPr>
          <p:nvPr/>
        </p:nvSpPr>
        <p:spPr bwMode="auto">
          <a:xfrm>
            <a:off x="598488" y="3049588"/>
            <a:ext cx="2982912" cy="68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800"/>
              <a:t>Cinturão de segurança</a:t>
            </a:r>
            <a:br>
              <a:rPr lang="pt-BR" altLang="pt-BR" sz="1800"/>
            </a:br>
            <a:r>
              <a:rPr lang="pt-BR" altLang="pt-BR" sz="1800"/>
              <a:t>tipo pára-quedista</a:t>
            </a:r>
          </a:p>
        </p:txBody>
      </p:sp>
      <p:graphicFrame>
        <p:nvGraphicFramePr>
          <p:cNvPr id="77830" name="Object 2054"/>
          <p:cNvGraphicFramePr>
            <a:graphicFrameLocks noChangeAspect="1"/>
          </p:cNvGraphicFramePr>
          <p:nvPr/>
        </p:nvGraphicFramePr>
        <p:xfrm>
          <a:off x="1201738" y="3781425"/>
          <a:ext cx="1606550" cy="269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8" name="Documento" r:id="rId3" imgW="1287000" imgH="2160000" progId="Word.Document.8">
                  <p:embed/>
                </p:oleObj>
              </mc:Choice>
              <mc:Fallback>
                <p:oleObj name="Documento" r:id="rId3" imgW="1287000" imgH="2160000" progId="Word.Document.8">
                  <p:embed/>
                  <p:pic>
                    <p:nvPicPr>
                      <p:cNvPr id="0" name="Object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3781425"/>
                        <a:ext cx="1606550" cy="269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Object 2055"/>
          <p:cNvGraphicFramePr>
            <a:graphicFrameLocks noChangeAspect="1"/>
          </p:cNvGraphicFramePr>
          <p:nvPr/>
        </p:nvGraphicFramePr>
        <p:xfrm>
          <a:off x="3733800" y="4391025"/>
          <a:ext cx="1998663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9" name="Documento" r:id="rId5" imgW="1999080" imgH="1476720" progId="Word.Document.8">
                  <p:embed/>
                </p:oleObj>
              </mc:Choice>
              <mc:Fallback>
                <p:oleObj name="Documento" r:id="rId5" imgW="1999080" imgH="1476720" progId="Word.Document.8">
                  <p:embed/>
                  <p:pic>
                    <p:nvPicPr>
                      <p:cNvPr id="0" name="Object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391025"/>
                        <a:ext cx="1998663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2" name="Object 2056"/>
          <p:cNvGraphicFramePr>
            <a:graphicFrameLocks noChangeAspect="1"/>
          </p:cNvGraphicFramePr>
          <p:nvPr/>
        </p:nvGraphicFramePr>
        <p:xfrm>
          <a:off x="6858000" y="2824163"/>
          <a:ext cx="1127125" cy="205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0" name="Documento" r:id="rId7" imgW="1127880" imgH="2052000" progId="Word.Document.8">
                  <p:embed/>
                </p:oleObj>
              </mc:Choice>
              <mc:Fallback>
                <p:oleObj name="Documento" r:id="rId7" imgW="1127880" imgH="2052000" progId="Word.Document.8">
                  <p:embed/>
                  <p:pic>
                    <p:nvPicPr>
                      <p:cNvPr id="0" name="Object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824163"/>
                        <a:ext cx="1127125" cy="205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3" name="Object 2057"/>
          <p:cNvGraphicFramePr>
            <a:graphicFrameLocks noChangeAspect="1"/>
          </p:cNvGraphicFramePr>
          <p:nvPr/>
        </p:nvGraphicFramePr>
        <p:xfrm>
          <a:off x="5943600" y="4856163"/>
          <a:ext cx="2871788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1" name="Documento" r:id="rId9" imgW="2860200" imgH="706680" progId="Word.Document.8">
                  <p:embed/>
                </p:oleObj>
              </mc:Choice>
              <mc:Fallback>
                <p:oleObj name="Documento" r:id="rId9" imgW="2860200" imgH="706680" progId="Word.Document.8">
                  <p:embed/>
                  <p:pic>
                    <p:nvPicPr>
                      <p:cNvPr id="0" name="Object 2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856163"/>
                        <a:ext cx="2871788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4" name="Rectangle 2058"/>
          <p:cNvSpPr>
            <a:spLocks noChangeArrowheads="1"/>
          </p:cNvSpPr>
          <p:nvPr/>
        </p:nvSpPr>
        <p:spPr bwMode="auto">
          <a:xfrm>
            <a:off x="3352800" y="3962400"/>
            <a:ext cx="2743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800"/>
              <a:t>Talabartes ajustáveis</a:t>
            </a:r>
          </a:p>
        </p:txBody>
      </p:sp>
      <p:sp>
        <p:nvSpPr>
          <p:cNvPr id="77835" name="Rectangle 2059"/>
          <p:cNvSpPr>
            <a:spLocks noChangeArrowheads="1"/>
          </p:cNvSpPr>
          <p:nvPr/>
        </p:nvSpPr>
        <p:spPr bwMode="auto">
          <a:xfrm>
            <a:off x="5715000" y="2209800"/>
            <a:ext cx="3276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800"/>
              <a:t>Linha de vida Dispositivo trava-quedas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43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Sistema de ancoragem</a:t>
            </a:r>
          </a:p>
        </p:txBody>
      </p:sp>
      <p:sp>
        <p:nvSpPr>
          <p:cNvPr id="73744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685800" y="2895600"/>
            <a:ext cx="5181600" cy="3124200"/>
          </a:xfrm>
        </p:spPr>
        <p:txBody>
          <a:bodyPr/>
          <a:lstStyle/>
          <a:p>
            <a:r>
              <a:rPr lang="pt-BR" altLang="pt-BR" sz="2400"/>
              <a:t>Não menos importante que o próprio EPI, é considerado como o coração do sistema de segurança, a ancoragem onde conectamos a corda com um ponto mecânico, seja na vertical ou horizontal, deve estar dimensionada para receber uma queda ou impacto.</a:t>
            </a:r>
          </a:p>
        </p:txBody>
      </p:sp>
      <p:pic>
        <p:nvPicPr>
          <p:cNvPr id="73745" name="Picture 17" descr="C:\Documents and Settings\m539487\Meus documentos\DHÉBORA\NR-10\FOTOS\cordas\ANCORAGEM COM BECAP colorid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676400"/>
            <a:ext cx="2524125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9" name="Picture 7" descr="Resg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97" t="8727" r="13498" b="4736"/>
          <a:stretch>
            <a:fillRect/>
          </a:stretch>
        </p:blipFill>
        <p:spPr bwMode="auto">
          <a:xfrm>
            <a:off x="3382963" y="3962400"/>
            <a:ext cx="2378075" cy="2436813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246" name="Rectangle 14"/>
          <p:cNvSpPr>
            <a:spLocks noGrp="1" noChangeArrowheads="1"/>
          </p:cNvSpPr>
          <p:nvPr>
            <p:ph type="title"/>
          </p:nvPr>
        </p:nvSpPr>
        <p:spPr>
          <a:xfrm>
            <a:off x="685800" y="1447800"/>
            <a:ext cx="7772400" cy="838200"/>
          </a:xfrm>
        </p:spPr>
        <p:txBody>
          <a:bodyPr/>
          <a:lstStyle/>
          <a:p>
            <a:r>
              <a:rPr lang="pt-BR" altLang="pt-BR"/>
              <a:t>Resgate</a:t>
            </a:r>
          </a:p>
        </p:txBody>
      </p:sp>
      <p:sp>
        <p:nvSpPr>
          <p:cNvPr id="95247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0"/>
            <a:ext cx="8153400" cy="3886200"/>
          </a:xfrm>
        </p:spPr>
        <p:txBody>
          <a:bodyPr/>
          <a:lstStyle/>
          <a:p>
            <a:r>
              <a:rPr lang="pt-BR" altLang="pt-BR" sz="2400"/>
              <a:t>Podemos considerar um bom sistema de resgate aquele que necessita de um </a:t>
            </a:r>
            <a:r>
              <a:rPr lang="pt-BR" altLang="pt-BR" sz="2400" b="1"/>
              <a:t>menor número de equipamentos</a:t>
            </a:r>
            <a:r>
              <a:rPr lang="pt-BR" altLang="pt-BR" sz="2400"/>
              <a:t> para sua aplicação, tornando com isso um </a:t>
            </a:r>
            <a:r>
              <a:rPr lang="pt-BR" altLang="pt-BR" sz="2400" b="1"/>
              <a:t>ato simplificado</a:t>
            </a:r>
            <a:r>
              <a:rPr lang="pt-BR" altLang="pt-BR" sz="2400"/>
              <a:t>, rápido, sem colocar a vida da pessoa em perigo.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85" name="Rectangle 13"/>
          <p:cNvSpPr>
            <a:spLocks noGrp="1" noChangeArrowheads="1"/>
          </p:cNvSpPr>
          <p:nvPr>
            <p:ph type="title"/>
          </p:nvPr>
        </p:nvSpPr>
        <p:spPr>
          <a:xfrm>
            <a:off x="685800" y="1371600"/>
            <a:ext cx="7772400" cy="838200"/>
          </a:xfrm>
        </p:spPr>
        <p:txBody>
          <a:bodyPr/>
          <a:lstStyle/>
          <a:p>
            <a:r>
              <a:rPr lang="pt-BR" altLang="pt-BR"/>
              <a:t>Outros meios para trabalho em altura</a:t>
            </a:r>
          </a:p>
        </p:txBody>
      </p:sp>
      <p:sp>
        <p:nvSpPr>
          <p:cNvPr id="79886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152400" y="2209800"/>
            <a:ext cx="8839200" cy="3886200"/>
          </a:xfrm>
        </p:spPr>
        <p:txBody>
          <a:bodyPr/>
          <a:lstStyle/>
          <a:p>
            <a:pPr lvl="1"/>
            <a:r>
              <a:rPr lang="pt-BR" altLang="pt-BR" sz="2400"/>
              <a:t>As escadas guardadas em abrigos, fora da exposição de sol ou umidade, repousada em ganchos na parede;</a:t>
            </a:r>
          </a:p>
          <a:p>
            <a:pPr lvl="1"/>
            <a:r>
              <a:rPr lang="pt-BR" altLang="pt-BR" sz="2400"/>
              <a:t>Não apoiar escadas em vidros, portas ou locais escorregadios;</a:t>
            </a:r>
          </a:p>
          <a:p>
            <a:pPr lvl="1"/>
            <a:r>
              <a:rPr lang="pt-BR" altLang="pt-BR" sz="2400"/>
              <a:t>Toda a escada deve ter uma</a:t>
            </a:r>
          </a:p>
          <a:p>
            <a:pPr lvl="1">
              <a:buFontTx/>
              <a:buNone/>
            </a:pPr>
            <a:r>
              <a:rPr lang="pt-BR" altLang="pt-BR" sz="2400"/>
              <a:t>   base sólida,com extremos </a:t>
            </a:r>
          </a:p>
          <a:p>
            <a:pPr lvl="1">
              <a:buFontTx/>
              <a:buNone/>
            </a:pPr>
            <a:r>
              <a:rPr lang="pt-BR" altLang="pt-BR" sz="2400"/>
              <a:t>   inferiores (pés) nivelados.</a:t>
            </a:r>
          </a:p>
        </p:txBody>
      </p:sp>
      <p:pic>
        <p:nvPicPr>
          <p:cNvPr id="79876" name="Picture 4" descr="A:\MVC-002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10" t="77797" r="51674" b="6685"/>
          <a:stretch>
            <a:fillRect/>
          </a:stretch>
        </p:blipFill>
        <p:spPr bwMode="auto">
          <a:xfrm>
            <a:off x="4727575" y="3502025"/>
            <a:ext cx="4033838" cy="2971800"/>
          </a:xfrm>
          <a:prstGeom prst="rect">
            <a:avLst/>
          </a:prstGeom>
          <a:noFill/>
          <a:ln w="57150" cmpd="thinThick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295400"/>
            <a:ext cx="7772400" cy="838200"/>
          </a:xfrm>
        </p:spPr>
        <p:txBody>
          <a:bodyPr/>
          <a:lstStyle/>
          <a:p>
            <a:r>
              <a:rPr lang="pt-BR" altLang="pt-BR"/>
              <a:t>Outros meios para trabalho em altura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286000"/>
            <a:ext cx="8534400" cy="38862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pt-BR" altLang="pt-BR" sz="2400"/>
              <a:t>Não subir/descer transportando cargas volumosas; 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Isolamento da área ao redor da escada;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Os pés do usuário devem estar sobre os degraus da escada.</a:t>
            </a:r>
          </a:p>
          <a:p>
            <a:pPr lvl="1">
              <a:lnSpc>
                <a:spcPct val="90000"/>
              </a:lnSpc>
            </a:pPr>
            <a:endParaRPr lang="pt-BR" altLang="pt-BR" sz="2400"/>
          </a:p>
          <a:p>
            <a:pPr lvl="1">
              <a:lnSpc>
                <a:spcPct val="90000"/>
              </a:lnSpc>
              <a:buFontTx/>
              <a:buNone/>
            </a:pPr>
            <a:endParaRPr lang="pt-BR" altLang="pt-BR" sz="2400"/>
          </a:p>
          <a:p>
            <a:pPr lvl="1">
              <a:lnSpc>
                <a:spcPct val="90000"/>
              </a:lnSpc>
            </a:pPr>
            <a:endParaRPr lang="pt-BR" altLang="pt-BR" sz="2400"/>
          </a:p>
          <a:p>
            <a:pPr lvl="1">
              <a:lnSpc>
                <a:spcPct val="90000"/>
              </a:lnSpc>
            </a:pPr>
            <a:endParaRPr lang="pt-BR" altLang="pt-BR" sz="2400"/>
          </a:p>
          <a:p>
            <a:pPr lvl="1">
              <a:lnSpc>
                <a:spcPct val="90000"/>
              </a:lnSpc>
            </a:pPr>
            <a:r>
              <a:rPr lang="pt-BR" altLang="pt-BR" sz="2400"/>
              <a:t>As escadas devem ser amarradas no seu topo, de modo a evitar escorregamento ou quedas frontais ou laterais. Quando não for possível, outro empregado pode segurá-la.</a:t>
            </a:r>
          </a:p>
        </p:txBody>
      </p:sp>
      <p:pic>
        <p:nvPicPr>
          <p:cNvPr id="96261" name="Picture 5" descr="A:\MVC-001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6" t="63321" r="4152"/>
          <a:stretch>
            <a:fillRect/>
          </a:stretch>
        </p:blipFill>
        <p:spPr bwMode="auto">
          <a:xfrm>
            <a:off x="990600" y="3886200"/>
            <a:ext cx="24384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262" name="Picture 6" descr="A:\MVC-005F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0" t="15543" r="24176" b="36664"/>
          <a:stretch>
            <a:fillRect/>
          </a:stretch>
        </p:blipFill>
        <p:spPr bwMode="auto">
          <a:xfrm>
            <a:off x="5791200" y="3884613"/>
            <a:ext cx="2362200" cy="137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0"/>
            <a:ext cx="7772400" cy="838200"/>
          </a:xfrm>
        </p:spPr>
        <p:txBody>
          <a:bodyPr/>
          <a:lstStyle/>
          <a:p>
            <a:r>
              <a:rPr lang="pt-BR" altLang="pt-BR"/>
              <a:t>Outros meios para trabalho em altura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90800"/>
            <a:ext cx="6477000" cy="38862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pt-BR" altLang="pt-BR" sz="2400"/>
              <a:t>Os andaimes deverão ter assoalhos fixos e travados;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Devem ser construídos, amarrados em estruturas e contraventados (estaiados), de modo a suportar a carga as quais estarão sujeitos;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Obrigatório o uso do cinto de segurança com dois talabartes, e somente liberar um após certificar que o outro esteja devidamente preso;</a:t>
            </a:r>
          </a:p>
        </p:txBody>
      </p:sp>
      <p:pic>
        <p:nvPicPr>
          <p:cNvPr id="97284" name="Picture 4" descr="http://www.rimaik.com.br/imagens/ferramenta_andaime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6"/>
          <a:stretch>
            <a:fillRect/>
          </a:stretch>
        </p:blipFill>
        <p:spPr bwMode="auto">
          <a:xfrm>
            <a:off x="7010400" y="2057400"/>
            <a:ext cx="195897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3743325" y="4229100"/>
            <a:ext cx="1692275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447800"/>
            <a:ext cx="7772400" cy="838200"/>
          </a:xfrm>
        </p:spPr>
        <p:txBody>
          <a:bodyPr/>
          <a:lstStyle/>
          <a:p>
            <a:r>
              <a:rPr lang="pt-BR" altLang="pt-BR"/>
              <a:t>Outros meios para trabalho em altura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6477000" cy="38862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pt-BR" altLang="pt-BR" sz="2400"/>
              <a:t>Isolamento da área ao redor do andaime;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Não é permitido o uso de arames prendendo andaimes;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Deve ficar perfeitamente na vertical, sendo necessário para terrenos irregulares a utilização de placa de base ajustável (macaco).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Devem ser tomadas precauções especiais quando da montagem, desmontagem e movimentação de andaime próximo a circuitos e equipamento elétricos.</a:t>
            </a:r>
          </a:p>
        </p:txBody>
      </p:sp>
      <p:pic>
        <p:nvPicPr>
          <p:cNvPr id="98308" name="Picture 4" descr="http://www.rimaik.com.br/imagens/ferramenta_andaime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6"/>
          <a:stretch>
            <a:fillRect/>
          </a:stretch>
        </p:blipFill>
        <p:spPr bwMode="auto">
          <a:xfrm>
            <a:off x="7010400" y="2057400"/>
            <a:ext cx="195897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3743325" y="4229100"/>
            <a:ext cx="1692275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1371600"/>
            <a:ext cx="7772400" cy="838200"/>
          </a:xfrm>
        </p:spPr>
        <p:txBody>
          <a:bodyPr/>
          <a:lstStyle/>
          <a:p>
            <a:r>
              <a:rPr lang="pt-BR" altLang="pt-BR"/>
              <a:t>Outros meios para trabalho em altura</a:t>
            </a:r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2209800"/>
            <a:ext cx="9144000" cy="38862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pt-BR" altLang="pt-BR" sz="2000" b="1"/>
              <a:t>As torres</a:t>
            </a:r>
            <a:r>
              <a:rPr lang="pt-BR" altLang="pt-BR" sz="2000"/>
              <a:t> deverão ser inspecionadas antes da escalada;</a:t>
            </a:r>
          </a:p>
          <a:p>
            <a:pPr lvl="1">
              <a:lnSpc>
                <a:spcPct val="90000"/>
              </a:lnSpc>
            </a:pPr>
            <a:r>
              <a:rPr lang="pt-BR" altLang="pt-BR" sz="2000"/>
              <a:t>Para trabalhos em transmissão é obrigatório, além dos EPI’s básicos a utilização da linha de vida </a:t>
            </a:r>
            <a:r>
              <a:rPr lang="pt-BR" altLang="pt-BR" sz="2000" b="1"/>
              <a:t>(período de transição para Distribuição);</a:t>
            </a:r>
          </a:p>
          <a:p>
            <a:pPr lvl="1">
              <a:lnSpc>
                <a:spcPct val="90000"/>
              </a:lnSpc>
            </a:pPr>
            <a:r>
              <a:rPr lang="pt-BR" altLang="pt-BR" sz="2000" b="1"/>
              <a:t>Obrigatório</a:t>
            </a:r>
            <a:r>
              <a:rPr lang="pt-BR" altLang="pt-BR" sz="2000"/>
              <a:t> o uso do cinto de segurança com </a:t>
            </a:r>
            <a:r>
              <a:rPr lang="pt-BR" altLang="pt-BR" sz="2000" b="1"/>
              <a:t>dois pontos de ancoragem</a:t>
            </a:r>
            <a:r>
              <a:rPr lang="pt-BR" altLang="pt-BR" sz="2000"/>
              <a:t>, e somente liberar um após certificar que o outro esteja devidamente “preso”;</a:t>
            </a:r>
          </a:p>
          <a:p>
            <a:pPr lvl="1">
              <a:lnSpc>
                <a:spcPct val="90000"/>
              </a:lnSpc>
            </a:pPr>
            <a:r>
              <a:rPr lang="pt-BR" altLang="pt-BR" sz="2000"/>
              <a:t>A </a:t>
            </a:r>
            <a:r>
              <a:rPr lang="pt-BR" altLang="pt-BR" sz="2000" b="1"/>
              <a:t>filosofia de trabalho</a:t>
            </a:r>
            <a:r>
              <a:rPr lang="pt-BR" altLang="pt-BR" sz="2000"/>
              <a:t> adotada é de que em </a:t>
            </a:r>
            <a:r>
              <a:rPr lang="pt-BR" altLang="pt-BR" sz="2000" b="1"/>
              <a:t>nenhum momento</a:t>
            </a:r>
            <a:r>
              <a:rPr lang="pt-BR" altLang="pt-BR" sz="2000"/>
              <a:t>, nas movimentações durante a execução das tarefas, </a:t>
            </a:r>
            <a:r>
              <a:rPr lang="pt-BR" altLang="pt-BR" sz="2000" b="1"/>
              <a:t>o trabalhador não poderá ficar desamarrado da estrutura;</a:t>
            </a:r>
          </a:p>
          <a:p>
            <a:pPr lvl="1">
              <a:lnSpc>
                <a:spcPct val="90000"/>
              </a:lnSpc>
            </a:pPr>
            <a:r>
              <a:rPr lang="pt-BR" altLang="pt-BR" sz="2000"/>
              <a:t>Estudos comprovam que a </a:t>
            </a:r>
            <a:r>
              <a:rPr lang="pt-BR" altLang="pt-BR" sz="2000" b="1"/>
              <a:t>suspensão inerte</a:t>
            </a:r>
            <a:r>
              <a:rPr lang="pt-BR" altLang="pt-BR" sz="2000"/>
              <a:t>, mesmo em períodos curtos de tempo, podem desencadear </a:t>
            </a:r>
            <a:r>
              <a:rPr lang="pt-BR" altLang="pt-BR" sz="2000" b="1"/>
              <a:t>transtornos fisiológicos </a:t>
            </a:r>
            <a:r>
              <a:rPr lang="pt-BR" altLang="pt-BR" sz="2000"/>
              <a:t>graves, em função da </a:t>
            </a:r>
            <a:r>
              <a:rPr lang="pt-BR" altLang="pt-BR" sz="2000" b="1"/>
              <a:t>compressão dos vasos sangüíneos e problemas de circulação</a:t>
            </a:r>
            <a:r>
              <a:rPr lang="pt-BR" altLang="pt-BR" sz="2000"/>
              <a:t>. Estes transtornos podem levar a morte se o resgate não for realizado em rapidamente.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9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1295400"/>
            <a:ext cx="7772400" cy="838200"/>
          </a:xfrm>
        </p:spPr>
        <p:txBody>
          <a:bodyPr/>
          <a:lstStyle/>
          <a:p>
            <a:r>
              <a:rPr lang="pt-BR" altLang="pt-BR"/>
              <a:t>Ambientes confinados</a:t>
            </a:r>
          </a:p>
        </p:txBody>
      </p:sp>
      <p:sp>
        <p:nvSpPr>
          <p:cNvPr id="8295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2133600"/>
            <a:ext cx="86106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400"/>
              <a:t>É qualquer </a:t>
            </a:r>
            <a:r>
              <a:rPr lang="pt-BR" altLang="pt-BR" sz="2400" b="1"/>
              <a:t>aérea</a:t>
            </a:r>
            <a:r>
              <a:rPr lang="pt-BR" altLang="pt-BR" sz="2400"/>
              <a:t> não projetada para </a:t>
            </a:r>
            <a:r>
              <a:rPr lang="pt-BR" altLang="pt-BR" sz="2400" b="1"/>
              <a:t>ocupação continua</a:t>
            </a:r>
            <a:r>
              <a:rPr lang="pt-BR" altLang="pt-BR" sz="2400"/>
              <a:t>, a qual tem </a:t>
            </a:r>
            <a:r>
              <a:rPr lang="pt-BR" altLang="pt-BR" sz="2400" b="1"/>
              <a:t>meios limitados de entrada e saída</a:t>
            </a:r>
            <a:r>
              <a:rPr lang="pt-BR" altLang="pt-BR" sz="2400"/>
              <a:t> e a </a:t>
            </a:r>
            <a:r>
              <a:rPr lang="pt-BR" altLang="pt-BR" sz="2400" b="1"/>
              <a:t>ventilação</a:t>
            </a:r>
            <a:r>
              <a:rPr lang="pt-BR" altLang="pt-BR" sz="2400"/>
              <a:t> existente é </a:t>
            </a:r>
            <a:r>
              <a:rPr lang="pt-BR" altLang="pt-BR" sz="2400" b="1"/>
              <a:t>insuficiente</a:t>
            </a:r>
            <a:r>
              <a:rPr lang="pt-BR" altLang="pt-BR" sz="2400"/>
              <a:t> para remover </a:t>
            </a:r>
            <a:r>
              <a:rPr lang="pt-BR" altLang="pt-BR" sz="2400" b="1"/>
              <a:t>contaminantes perigosos</a:t>
            </a:r>
            <a:r>
              <a:rPr lang="pt-BR" altLang="pt-BR" sz="2400"/>
              <a:t> e/ou </a:t>
            </a:r>
            <a:r>
              <a:rPr lang="pt-BR" altLang="pt-BR" sz="2400" b="1"/>
              <a:t>deficiência/enriquecimento de oxigênio</a:t>
            </a:r>
            <a:r>
              <a:rPr lang="pt-BR" altLang="pt-BR" sz="2400"/>
              <a:t> que possam existir ou se desenvolver.</a:t>
            </a:r>
          </a:p>
          <a:p>
            <a:pPr>
              <a:lnSpc>
                <a:spcPct val="90000"/>
              </a:lnSpc>
            </a:pPr>
            <a:r>
              <a:rPr lang="pt-BR" altLang="pt-BR" sz="2400"/>
              <a:t>Podemos citar como exemplos de </a:t>
            </a:r>
            <a:r>
              <a:rPr lang="pt-BR" altLang="pt-BR" sz="2400" b="1"/>
              <a:t>ambientes</a:t>
            </a:r>
          </a:p>
          <a:p>
            <a:pPr>
              <a:lnSpc>
                <a:spcPct val="90000"/>
              </a:lnSpc>
            </a:pPr>
            <a:r>
              <a:rPr lang="pt-BR" altLang="pt-BR" sz="2400" b="1"/>
              <a:t>confinados: 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Dutos de ventilação, tanques em geral,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pt-BR" altLang="pt-BR" sz="2400"/>
              <a:t>tonéis, containeres, cisternas, minas,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pt-BR" altLang="pt-BR" sz="2400"/>
              <a:t>valas, Vasos, colunas, silos, poços de inspeção,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pt-BR" altLang="pt-BR" sz="2400"/>
              <a:t>caixas subterrâneas, etc.</a:t>
            </a:r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6248400" y="4289425"/>
          <a:ext cx="2819400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1" name="Clip" r:id="rId3" imgW="3655800" imgH="2521800" progId="MS_ClipArt_Gallery.2">
                  <p:embed/>
                </p:oleObj>
              </mc:Choice>
              <mc:Fallback>
                <p:oleObj name="Clip" r:id="rId3" imgW="3655800" imgH="2521800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289425"/>
                        <a:ext cx="2819400" cy="194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7" name="Rectangle 9"/>
          <p:cNvSpPr>
            <a:spLocks noGrp="1" noChangeArrowheads="1"/>
          </p:cNvSpPr>
          <p:nvPr>
            <p:ph type="title"/>
          </p:nvPr>
        </p:nvSpPr>
        <p:spPr>
          <a:xfrm>
            <a:off x="685800" y="1295400"/>
            <a:ext cx="7772400" cy="838200"/>
          </a:xfrm>
        </p:spPr>
        <p:txBody>
          <a:bodyPr/>
          <a:lstStyle/>
          <a:p>
            <a:r>
              <a:rPr lang="pt-BR" altLang="pt-BR"/>
              <a:t>Ambientes confinados</a:t>
            </a:r>
          </a:p>
        </p:txBody>
      </p:sp>
      <p:sp>
        <p:nvSpPr>
          <p:cNvPr id="83978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381000" y="2362200"/>
            <a:ext cx="7772400" cy="3886200"/>
          </a:xfrm>
        </p:spPr>
        <p:txBody>
          <a:bodyPr/>
          <a:lstStyle/>
          <a:p>
            <a:r>
              <a:rPr lang="pt-BR" altLang="pt-BR" sz="2400"/>
              <a:t>Estes ambientes podem possuir uma ou mais das seguintes características:</a:t>
            </a:r>
          </a:p>
          <a:p>
            <a:pPr lvl="1"/>
            <a:r>
              <a:rPr lang="pt-BR" altLang="pt-BR" sz="2400"/>
              <a:t>Potencial de risco na atmosfera;</a:t>
            </a:r>
          </a:p>
          <a:p>
            <a:pPr lvl="1"/>
            <a:r>
              <a:rPr lang="pt-BR" altLang="pt-BR" sz="2400"/>
              <a:t>Deficiência de O2 (menos de 19,5%) ou  excesso (mais de 23%);</a:t>
            </a:r>
          </a:p>
          <a:p>
            <a:pPr lvl="1"/>
            <a:r>
              <a:rPr lang="pt-BR" altLang="pt-BR" sz="2400"/>
              <a:t>Configuração interna tal que possa provocar asfixia, claustrofobia, ou que dificultem a saída rápida de pessoas;</a:t>
            </a:r>
          </a:p>
          <a:p>
            <a:pPr lvl="1"/>
            <a:r>
              <a:rPr lang="pt-BR" altLang="pt-BR" sz="2400"/>
              <a:t>Agentes contaminantes tóxicos ou inflamáveis.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8" name="Rectangle 6"/>
          <p:cNvSpPr>
            <a:spLocks noGrp="1" noChangeArrowheads="1"/>
          </p:cNvSpPr>
          <p:nvPr>
            <p:ph type="title"/>
          </p:nvPr>
        </p:nvSpPr>
        <p:spPr>
          <a:xfrm>
            <a:off x="685800" y="1295400"/>
            <a:ext cx="7772400" cy="838200"/>
          </a:xfrm>
        </p:spPr>
        <p:txBody>
          <a:bodyPr/>
          <a:lstStyle/>
          <a:p>
            <a:r>
              <a:rPr lang="pt-BR" altLang="pt-BR"/>
              <a:t>Ambientes confinados</a:t>
            </a:r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04800" y="2133600"/>
            <a:ext cx="6096000" cy="38862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pt-BR" altLang="pt-BR" sz="2400"/>
              <a:t>Manter procedimento de acesso;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Identificar e avaliar os riscos;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Treinamento periódico aos empregados;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Documentar os todos procedimentos de acesso em locais confinados, com os respectivos  nomes e assinaturas;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Manter um plano de emergência;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Efetuar teste de resposta do equipamento de detecção de gases;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Realizar a avaliação da atmosfera para detectar gases ou vapores inflamáveis, tóxicos e concentração de oxigênio;</a:t>
            </a:r>
            <a:r>
              <a:rPr lang="pt-BR" altLang="pt-BR" sz="1600"/>
              <a:t> </a:t>
            </a:r>
          </a:p>
        </p:txBody>
      </p:sp>
      <p:pic>
        <p:nvPicPr>
          <p:cNvPr id="84997" name="Picture 5" descr="C:\WINDOWS\TEMP\auto0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0" y="2667000"/>
            <a:ext cx="2524125" cy="3581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30" name="Rectangle 114"/>
          <p:cNvSpPr>
            <a:spLocks noGrp="1" noChangeArrowheads="1"/>
          </p:cNvSpPr>
          <p:nvPr>
            <p:ph type="title"/>
          </p:nvPr>
        </p:nvSpPr>
        <p:spPr>
          <a:xfrm>
            <a:off x="685800" y="1295400"/>
            <a:ext cx="7772400" cy="838200"/>
          </a:xfrm>
        </p:spPr>
        <p:txBody>
          <a:bodyPr/>
          <a:lstStyle/>
          <a:p>
            <a:r>
              <a:rPr lang="pt-BR" altLang="pt-BR"/>
              <a:t>Áreas classificadas</a:t>
            </a:r>
          </a:p>
        </p:txBody>
      </p:sp>
      <p:sp>
        <p:nvSpPr>
          <p:cNvPr id="86131" name="Rectangle 115"/>
          <p:cNvSpPr>
            <a:spLocks noGrp="1" noChangeArrowheads="1"/>
          </p:cNvSpPr>
          <p:nvPr>
            <p:ph type="body" idx="1"/>
          </p:nvPr>
        </p:nvSpPr>
        <p:spPr>
          <a:xfrm>
            <a:off x="685800" y="2362200"/>
            <a:ext cx="77724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400"/>
              <a:t>Área na qual a probabilidade da presença de uma </a:t>
            </a:r>
            <a:r>
              <a:rPr lang="pt-BR" altLang="pt-BR" sz="2400" b="1"/>
              <a:t>atmosfera explosiva</a:t>
            </a:r>
            <a:r>
              <a:rPr lang="pt-BR" altLang="pt-BR" sz="2400"/>
              <a:t> é tal que exige precauções para a construção, instalação e utilização de equipamentos elétricos.</a:t>
            </a:r>
          </a:p>
        </p:txBody>
      </p:sp>
      <p:grpSp>
        <p:nvGrpSpPr>
          <p:cNvPr id="86024" name="Group 8"/>
          <p:cNvGrpSpPr>
            <a:grpSpLocks/>
          </p:cNvGrpSpPr>
          <p:nvPr/>
        </p:nvGrpSpPr>
        <p:grpSpPr bwMode="auto">
          <a:xfrm>
            <a:off x="5867400" y="3733800"/>
            <a:ext cx="2413000" cy="2667000"/>
            <a:chOff x="4803" y="2124"/>
            <a:chExt cx="565" cy="753"/>
          </a:xfrm>
        </p:grpSpPr>
        <p:sp>
          <p:nvSpPr>
            <p:cNvPr id="86025" name="Freeform 9"/>
            <p:cNvSpPr>
              <a:spLocks/>
            </p:cNvSpPr>
            <p:nvPr/>
          </p:nvSpPr>
          <p:spPr bwMode="auto">
            <a:xfrm>
              <a:off x="4848" y="2431"/>
              <a:ext cx="520" cy="349"/>
            </a:xfrm>
            <a:custGeom>
              <a:avLst/>
              <a:gdLst>
                <a:gd name="T0" fmla="*/ 0 w 520"/>
                <a:gd name="T1" fmla="*/ 195 h 349"/>
                <a:gd name="T2" fmla="*/ 0 w 520"/>
                <a:gd name="T3" fmla="*/ 211 h 349"/>
                <a:gd name="T4" fmla="*/ 5 w 520"/>
                <a:gd name="T5" fmla="*/ 226 h 349"/>
                <a:gd name="T6" fmla="*/ 36 w 520"/>
                <a:gd name="T7" fmla="*/ 274 h 349"/>
                <a:gd name="T8" fmla="*/ 54 w 520"/>
                <a:gd name="T9" fmla="*/ 295 h 349"/>
                <a:gd name="T10" fmla="*/ 75 w 520"/>
                <a:gd name="T11" fmla="*/ 308 h 349"/>
                <a:gd name="T12" fmla="*/ 96 w 520"/>
                <a:gd name="T13" fmla="*/ 314 h 349"/>
                <a:gd name="T14" fmla="*/ 113 w 520"/>
                <a:gd name="T15" fmla="*/ 312 h 349"/>
                <a:gd name="T16" fmla="*/ 146 w 520"/>
                <a:gd name="T17" fmla="*/ 268 h 349"/>
                <a:gd name="T18" fmla="*/ 144 w 520"/>
                <a:gd name="T19" fmla="*/ 293 h 349"/>
                <a:gd name="T20" fmla="*/ 140 w 520"/>
                <a:gd name="T21" fmla="*/ 310 h 349"/>
                <a:gd name="T22" fmla="*/ 142 w 520"/>
                <a:gd name="T23" fmla="*/ 322 h 349"/>
                <a:gd name="T24" fmla="*/ 177 w 520"/>
                <a:gd name="T25" fmla="*/ 335 h 349"/>
                <a:gd name="T26" fmla="*/ 233 w 520"/>
                <a:gd name="T27" fmla="*/ 345 h 349"/>
                <a:gd name="T28" fmla="*/ 291 w 520"/>
                <a:gd name="T29" fmla="*/ 349 h 349"/>
                <a:gd name="T30" fmla="*/ 345 w 520"/>
                <a:gd name="T31" fmla="*/ 347 h 349"/>
                <a:gd name="T32" fmla="*/ 393 w 520"/>
                <a:gd name="T33" fmla="*/ 337 h 349"/>
                <a:gd name="T34" fmla="*/ 422 w 520"/>
                <a:gd name="T35" fmla="*/ 326 h 349"/>
                <a:gd name="T36" fmla="*/ 433 w 520"/>
                <a:gd name="T37" fmla="*/ 316 h 349"/>
                <a:gd name="T38" fmla="*/ 437 w 520"/>
                <a:gd name="T39" fmla="*/ 249 h 349"/>
                <a:gd name="T40" fmla="*/ 468 w 520"/>
                <a:gd name="T41" fmla="*/ 253 h 349"/>
                <a:gd name="T42" fmla="*/ 495 w 520"/>
                <a:gd name="T43" fmla="*/ 255 h 349"/>
                <a:gd name="T44" fmla="*/ 507 w 520"/>
                <a:gd name="T45" fmla="*/ 247 h 349"/>
                <a:gd name="T46" fmla="*/ 514 w 520"/>
                <a:gd name="T47" fmla="*/ 232 h 349"/>
                <a:gd name="T48" fmla="*/ 520 w 520"/>
                <a:gd name="T49" fmla="*/ 184 h 349"/>
                <a:gd name="T50" fmla="*/ 497 w 520"/>
                <a:gd name="T51" fmla="*/ 94 h 349"/>
                <a:gd name="T52" fmla="*/ 483 w 520"/>
                <a:gd name="T53" fmla="*/ 44 h 349"/>
                <a:gd name="T54" fmla="*/ 472 w 520"/>
                <a:gd name="T55" fmla="*/ 25 h 349"/>
                <a:gd name="T56" fmla="*/ 455 w 520"/>
                <a:gd name="T57" fmla="*/ 11 h 349"/>
                <a:gd name="T58" fmla="*/ 433 w 520"/>
                <a:gd name="T59" fmla="*/ 2 h 349"/>
                <a:gd name="T60" fmla="*/ 412 w 520"/>
                <a:gd name="T61" fmla="*/ 0 h 349"/>
                <a:gd name="T62" fmla="*/ 389 w 520"/>
                <a:gd name="T63" fmla="*/ 5 h 349"/>
                <a:gd name="T64" fmla="*/ 358 w 520"/>
                <a:gd name="T65" fmla="*/ 44 h 349"/>
                <a:gd name="T66" fmla="*/ 231 w 520"/>
                <a:gd name="T67" fmla="*/ 74 h 349"/>
                <a:gd name="T68" fmla="*/ 190 w 520"/>
                <a:gd name="T69" fmla="*/ 17 h 349"/>
                <a:gd name="T70" fmla="*/ 152 w 520"/>
                <a:gd name="T71" fmla="*/ 4 h 349"/>
                <a:gd name="T72" fmla="*/ 133 w 520"/>
                <a:gd name="T73" fmla="*/ 7 h 349"/>
                <a:gd name="T74" fmla="*/ 111 w 520"/>
                <a:gd name="T75" fmla="*/ 15 h 349"/>
                <a:gd name="T76" fmla="*/ 94 w 520"/>
                <a:gd name="T77" fmla="*/ 32 h 349"/>
                <a:gd name="T78" fmla="*/ 86 w 520"/>
                <a:gd name="T79" fmla="*/ 53 h 349"/>
                <a:gd name="T80" fmla="*/ 7 w 520"/>
                <a:gd name="T81" fmla="*/ 18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20" h="349">
                  <a:moveTo>
                    <a:pt x="7" y="180"/>
                  </a:moveTo>
                  <a:lnTo>
                    <a:pt x="0" y="195"/>
                  </a:lnTo>
                  <a:lnTo>
                    <a:pt x="0" y="203"/>
                  </a:lnTo>
                  <a:lnTo>
                    <a:pt x="0" y="211"/>
                  </a:lnTo>
                  <a:lnTo>
                    <a:pt x="2" y="218"/>
                  </a:lnTo>
                  <a:lnTo>
                    <a:pt x="5" y="226"/>
                  </a:lnTo>
                  <a:lnTo>
                    <a:pt x="17" y="237"/>
                  </a:lnTo>
                  <a:lnTo>
                    <a:pt x="36" y="274"/>
                  </a:lnTo>
                  <a:lnTo>
                    <a:pt x="44" y="285"/>
                  </a:lnTo>
                  <a:lnTo>
                    <a:pt x="54" y="295"/>
                  </a:lnTo>
                  <a:lnTo>
                    <a:pt x="63" y="303"/>
                  </a:lnTo>
                  <a:lnTo>
                    <a:pt x="75" y="308"/>
                  </a:lnTo>
                  <a:lnTo>
                    <a:pt x="86" y="312"/>
                  </a:lnTo>
                  <a:lnTo>
                    <a:pt x="96" y="314"/>
                  </a:lnTo>
                  <a:lnTo>
                    <a:pt x="106" y="314"/>
                  </a:lnTo>
                  <a:lnTo>
                    <a:pt x="113" y="312"/>
                  </a:lnTo>
                  <a:lnTo>
                    <a:pt x="125" y="301"/>
                  </a:lnTo>
                  <a:lnTo>
                    <a:pt x="146" y="268"/>
                  </a:lnTo>
                  <a:lnTo>
                    <a:pt x="146" y="283"/>
                  </a:lnTo>
                  <a:lnTo>
                    <a:pt x="144" y="293"/>
                  </a:lnTo>
                  <a:lnTo>
                    <a:pt x="144" y="301"/>
                  </a:lnTo>
                  <a:lnTo>
                    <a:pt x="140" y="310"/>
                  </a:lnTo>
                  <a:lnTo>
                    <a:pt x="140" y="316"/>
                  </a:lnTo>
                  <a:lnTo>
                    <a:pt x="142" y="322"/>
                  </a:lnTo>
                  <a:lnTo>
                    <a:pt x="144" y="326"/>
                  </a:lnTo>
                  <a:lnTo>
                    <a:pt x="177" y="335"/>
                  </a:lnTo>
                  <a:lnTo>
                    <a:pt x="212" y="341"/>
                  </a:lnTo>
                  <a:lnTo>
                    <a:pt x="233" y="345"/>
                  </a:lnTo>
                  <a:lnTo>
                    <a:pt x="271" y="349"/>
                  </a:lnTo>
                  <a:lnTo>
                    <a:pt x="291" y="349"/>
                  </a:lnTo>
                  <a:lnTo>
                    <a:pt x="310" y="349"/>
                  </a:lnTo>
                  <a:lnTo>
                    <a:pt x="345" y="347"/>
                  </a:lnTo>
                  <a:lnTo>
                    <a:pt x="377" y="341"/>
                  </a:lnTo>
                  <a:lnTo>
                    <a:pt x="393" y="337"/>
                  </a:lnTo>
                  <a:lnTo>
                    <a:pt x="406" y="331"/>
                  </a:lnTo>
                  <a:lnTo>
                    <a:pt x="422" y="326"/>
                  </a:lnTo>
                  <a:lnTo>
                    <a:pt x="431" y="320"/>
                  </a:lnTo>
                  <a:lnTo>
                    <a:pt x="433" y="316"/>
                  </a:lnTo>
                  <a:lnTo>
                    <a:pt x="431" y="305"/>
                  </a:lnTo>
                  <a:lnTo>
                    <a:pt x="437" y="249"/>
                  </a:lnTo>
                  <a:lnTo>
                    <a:pt x="451" y="251"/>
                  </a:lnTo>
                  <a:lnTo>
                    <a:pt x="468" y="253"/>
                  </a:lnTo>
                  <a:lnTo>
                    <a:pt x="489" y="255"/>
                  </a:lnTo>
                  <a:lnTo>
                    <a:pt x="495" y="255"/>
                  </a:lnTo>
                  <a:lnTo>
                    <a:pt x="501" y="251"/>
                  </a:lnTo>
                  <a:lnTo>
                    <a:pt x="507" y="247"/>
                  </a:lnTo>
                  <a:lnTo>
                    <a:pt x="510" y="241"/>
                  </a:lnTo>
                  <a:lnTo>
                    <a:pt x="514" y="232"/>
                  </a:lnTo>
                  <a:lnTo>
                    <a:pt x="520" y="195"/>
                  </a:lnTo>
                  <a:lnTo>
                    <a:pt x="520" y="184"/>
                  </a:lnTo>
                  <a:lnTo>
                    <a:pt x="518" y="170"/>
                  </a:lnTo>
                  <a:lnTo>
                    <a:pt x="497" y="94"/>
                  </a:lnTo>
                  <a:lnTo>
                    <a:pt x="487" y="55"/>
                  </a:lnTo>
                  <a:lnTo>
                    <a:pt x="483" y="44"/>
                  </a:lnTo>
                  <a:lnTo>
                    <a:pt x="478" y="34"/>
                  </a:lnTo>
                  <a:lnTo>
                    <a:pt x="472" y="25"/>
                  </a:lnTo>
                  <a:lnTo>
                    <a:pt x="464" y="17"/>
                  </a:lnTo>
                  <a:lnTo>
                    <a:pt x="455" y="11"/>
                  </a:lnTo>
                  <a:lnTo>
                    <a:pt x="445" y="5"/>
                  </a:lnTo>
                  <a:lnTo>
                    <a:pt x="433" y="2"/>
                  </a:lnTo>
                  <a:lnTo>
                    <a:pt x="424" y="0"/>
                  </a:lnTo>
                  <a:lnTo>
                    <a:pt x="412" y="0"/>
                  </a:lnTo>
                  <a:lnTo>
                    <a:pt x="399" y="2"/>
                  </a:lnTo>
                  <a:lnTo>
                    <a:pt x="389" y="5"/>
                  </a:lnTo>
                  <a:lnTo>
                    <a:pt x="376" y="23"/>
                  </a:lnTo>
                  <a:lnTo>
                    <a:pt x="358" y="44"/>
                  </a:lnTo>
                  <a:lnTo>
                    <a:pt x="323" y="74"/>
                  </a:lnTo>
                  <a:lnTo>
                    <a:pt x="231" y="74"/>
                  </a:lnTo>
                  <a:lnTo>
                    <a:pt x="208" y="34"/>
                  </a:lnTo>
                  <a:lnTo>
                    <a:pt x="190" y="17"/>
                  </a:lnTo>
                  <a:lnTo>
                    <a:pt x="175" y="5"/>
                  </a:lnTo>
                  <a:lnTo>
                    <a:pt x="152" y="4"/>
                  </a:lnTo>
                  <a:lnTo>
                    <a:pt x="142" y="5"/>
                  </a:lnTo>
                  <a:lnTo>
                    <a:pt x="133" y="7"/>
                  </a:lnTo>
                  <a:lnTo>
                    <a:pt x="123" y="9"/>
                  </a:lnTo>
                  <a:lnTo>
                    <a:pt x="111" y="15"/>
                  </a:lnTo>
                  <a:lnTo>
                    <a:pt x="102" y="23"/>
                  </a:lnTo>
                  <a:lnTo>
                    <a:pt x="94" y="32"/>
                  </a:lnTo>
                  <a:lnTo>
                    <a:pt x="88" y="44"/>
                  </a:lnTo>
                  <a:lnTo>
                    <a:pt x="86" y="53"/>
                  </a:lnTo>
                  <a:lnTo>
                    <a:pt x="88" y="63"/>
                  </a:lnTo>
                  <a:lnTo>
                    <a:pt x="7" y="180"/>
                  </a:lnTo>
                  <a:close/>
                </a:path>
              </a:pathLst>
            </a:custGeom>
            <a:solidFill>
              <a:srgbClr val="00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26" name="Freeform 10"/>
            <p:cNvSpPr>
              <a:spLocks/>
            </p:cNvSpPr>
            <p:nvPr/>
          </p:nvSpPr>
          <p:spPr bwMode="auto">
            <a:xfrm>
              <a:off x="4857" y="2571"/>
              <a:ext cx="93" cy="71"/>
            </a:xfrm>
            <a:custGeom>
              <a:avLst/>
              <a:gdLst>
                <a:gd name="T0" fmla="*/ 93 w 93"/>
                <a:gd name="T1" fmla="*/ 5 h 71"/>
                <a:gd name="T2" fmla="*/ 93 w 93"/>
                <a:gd name="T3" fmla="*/ 11 h 71"/>
                <a:gd name="T4" fmla="*/ 93 w 93"/>
                <a:gd name="T5" fmla="*/ 17 h 71"/>
                <a:gd name="T6" fmla="*/ 91 w 93"/>
                <a:gd name="T7" fmla="*/ 23 h 71"/>
                <a:gd name="T8" fmla="*/ 89 w 93"/>
                <a:gd name="T9" fmla="*/ 28 h 71"/>
                <a:gd name="T10" fmla="*/ 83 w 93"/>
                <a:gd name="T11" fmla="*/ 36 h 71"/>
                <a:gd name="T12" fmla="*/ 77 w 93"/>
                <a:gd name="T13" fmla="*/ 42 h 71"/>
                <a:gd name="T14" fmla="*/ 70 w 93"/>
                <a:gd name="T15" fmla="*/ 50 h 71"/>
                <a:gd name="T16" fmla="*/ 60 w 93"/>
                <a:gd name="T17" fmla="*/ 55 h 71"/>
                <a:gd name="T18" fmla="*/ 50 w 93"/>
                <a:gd name="T19" fmla="*/ 61 h 71"/>
                <a:gd name="T20" fmla="*/ 41 w 93"/>
                <a:gd name="T21" fmla="*/ 65 h 71"/>
                <a:gd name="T22" fmla="*/ 33 w 93"/>
                <a:gd name="T23" fmla="*/ 69 h 71"/>
                <a:gd name="T24" fmla="*/ 23 w 93"/>
                <a:gd name="T25" fmla="*/ 71 h 71"/>
                <a:gd name="T26" fmla="*/ 18 w 93"/>
                <a:gd name="T27" fmla="*/ 71 h 71"/>
                <a:gd name="T28" fmla="*/ 10 w 93"/>
                <a:gd name="T29" fmla="*/ 71 h 71"/>
                <a:gd name="T30" fmla="*/ 6 w 93"/>
                <a:gd name="T31" fmla="*/ 69 h 71"/>
                <a:gd name="T32" fmla="*/ 2 w 93"/>
                <a:gd name="T33" fmla="*/ 65 h 71"/>
                <a:gd name="T34" fmla="*/ 0 w 93"/>
                <a:gd name="T35" fmla="*/ 59 h 71"/>
                <a:gd name="T36" fmla="*/ 0 w 93"/>
                <a:gd name="T37" fmla="*/ 53 h 71"/>
                <a:gd name="T38" fmla="*/ 2 w 93"/>
                <a:gd name="T39" fmla="*/ 48 h 71"/>
                <a:gd name="T40" fmla="*/ 6 w 93"/>
                <a:gd name="T41" fmla="*/ 42 h 71"/>
                <a:gd name="T42" fmla="*/ 10 w 93"/>
                <a:gd name="T43" fmla="*/ 34 h 71"/>
                <a:gd name="T44" fmla="*/ 18 w 93"/>
                <a:gd name="T45" fmla="*/ 28 h 71"/>
                <a:gd name="T46" fmla="*/ 25 w 93"/>
                <a:gd name="T47" fmla="*/ 21 h 71"/>
                <a:gd name="T48" fmla="*/ 33 w 93"/>
                <a:gd name="T49" fmla="*/ 15 h 71"/>
                <a:gd name="T50" fmla="*/ 43 w 93"/>
                <a:gd name="T51" fmla="*/ 9 h 71"/>
                <a:gd name="T52" fmla="*/ 52 w 93"/>
                <a:gd name="T53" fmla="*/ 5 h 71"/>
                <a:gd name="T54" fmla="*/ 62 w 93"/>
                <a:gd name="T55" fmla="*/ 2 h 71"/>
                <a:gd name="T56" fmla="*/ 70 w 93"/>
                <a:gd name="T57" fmla="*/ 0 h 71"/>
                <a:gd name="T58" fmla="*/ 81 w 93"/>
                <a:gd name="T59" fmla="*/ 0 h 71"/>
                <a:gd name="T60" fmla="*/ 87 w 93"/>
                <a:gd name="T61" fmla="*/ 2 h 71"/>
                <a:gd name="T62" fmla="*/ 93 w 93"/>
                <a:gd name="T63" fmla="*/ 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71">
                  <a:moveTo>
                    <a:pt x="93" y="5"/>
                  </a:moveTo>
                  <a:lnTo>
                    <a:pt x="93" y="11"/>
                  </a:lnTo>
                  <a:lnTo>
                    <a:pt x="93" y="17"/>
                  </a:lnTo>
                  <a:lnTo>
                    <a:pt x="91" y="23"/>
                  </a:lnTo>
                  <a:lnTo>
                    <a:pt x="89" y="28"/>
                  </a:lnTo>
                  <a:lnTo>
                    <a:pt x="83" y="36"/>
                  </a:lnTo>
                  <a:lnTo>
                    <a:pt x="77" y="42"/>
                  </a:lnTo>
                  <a:lnTo>
                    <a:pt x="70" y="50"/>
                  </a:lnTo>
                  <a:lnTo>
                    <a:pt x="60" y="55"/>
                  </a:lnTo>
                  <a:lnTo>
                    <a:pt x="50" y="61"/>
                  </a:lnTo>
                  <a:lnTo>
                    <a:pt x="41" y="65"/>
                  </a:lnTo>
                  <a:lnTo>
                    <a:pt x="33" y="69"/>
                  </a:lnTo>
                  <a:lnTo>
                    <a:pt x="23" y="71"/>
                  </a:lnTo>
                  <a:lnTo>
                    <a:pt x="18" y="71"/>
                  </a:lnTo>
                  <a:lnTo>
                    <a:pt x="10" y="71"/>
                  </a:lnTo>
                  <a:lnTo>
                    <a:pt x="6" y="69"/>
                  </a:lnTo>
                  <a:lnTo>
                    <a:pt x="2" y="65"/>
                  </a:lnTo>
                  <a:lnTo>
                    <a:pt x="0" y="59"/>
                  </a:lnTo>
                  <a:lnTo>
                    <a:pt x="0" y="53"/>
                  </a:lnTo>
                  <a:lnTo>
                    <a:pt x="2" y="48"/>
                  </a:lnTo>
                  <a:lnTo>
                    <a:pt x="6" y="42"/>
                  </a:lnTo>
                  <a:lnTo>
                    <a:pt x="10" y="34"/>
                  </a:lnTo>
                  <a:lnTo>
                    <a:pt x="18" y="28"/>
                  </a:lnTo>
                  <a:lnTo>
                    <a:pt x="25" y="21"/>
                  </a:lnTo>
                  <a:lnTo>
                    <a:pt x="33" y="15"/>
                  </a:lnTo>
                  <a:lnTo>
                    <a:pt x="43" y="9"/>
                  </a:lnTo>
                  <a:lnTo>
                    <a:pt x="52" y="5"/>
                  </a:lnTo>
                  <a:lnTo>
                    <a:pt x="62" y="2"/>
                  </a:lnTo>
                  <a:lnTo>
                    <a:pt x="70" y="0"/>
                  </a:lnTo>
                  <a:lnTo>
                    <a:pt x="81" y="0"/>
                  </a:lnTo>
                  <a:lnTo>
                    <a:pt x="87" y="2"/>
                  </a:lnTo>
                  <a:lnTo>
                    <a:pt x="93" y="5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27" name="Freeform 11"/>
            <p:cNvSpPr>
              <a:spLocks/>
            </p:cNvSpPr>
            <p:nvPr/>
          </p:nvSpPr>
          <p:spPr bwMode="auto">
            <a:xfrm>
              <a:off x="5154" y="2653"/>
              <a:ext cx="131" cy="50"/>
            </a:xfrm>
            <a:custGeom>
              <a:avLst/>
              <a:gdLst>
                <a:gd name="T0" fmla="*/ 131 w 131"/>
                <a:gd name="T1" fmla="*/ 27 h 50"/>
                <a:gd name="T2" fmla="*/ 64 w 131"/>
                <a:gd name="T3" fmla="*/ 14 h 50"/>
                <a:gd name="T4" fmla="*/ 52 w 131"/>
                <a:gd name="T5" fmla="*/ 14 h 50"/>
                <a:gd name="T6" fmla="*/ 33 w 131"/>
                <a:gd name="T7" fmla="*/ 14 h 50"/>
                <a:gd name="T8" fmla="*/ 21 w 131"/>
                <a:gd name="T9" fmla="*/ 12 h 50"/>
                <a:gd name="T10" fmla="*/ 12 w 131"/>
                <a:gd name="T11" fmla="*/ 8 h 50"/>
                <a:gd name="T12" fmla="*/ 0 w 131"/>
                <a:gd name="T13" fmla="*/ 0 h 50"/>
                <a:gd name="T14" fmla="*/ 2 w 131"/>
                <a:gd name="T15" fmla="*/ 10 h 50"/>
                <a:gd name="T16" fmla="*/ 8 w 131"/>
                <a:gd name="T17" fmla="*/ 17 h 50"/>
                <a:gd name="T18" fmla="*/ 19 w 131"/>
                <a:gd name="T19" fmla="*/ 23 h 50"/>
                <a:gd name="T20" fmla="*/ 31 w 131"/>
                <a:gd name="T21" fmla="*/ 27 h 50"/>
                <a:gd name="T22" fmla="*/ 50 w 131"/>
                <a:gd name="T23" fmla="*/ 31 h 50"/>
                <a:gd name="T24" fmla="*/ 75 w 131"/>
                <a:gd name="T25" fmla="*/ 33 h 50"/>
                <a:gd name="T26" fmla="*/ 91 w 131"/>
                <a:gd name="T27" fmla="*/ 38 h 50"/>
                <a:gd name="T28" fmla="*/ 102 w 131"/>
                <a:gd name="T29" fmla="*/ 42 h 50"/>
                <a:gd name="T30" fmla="*/ 116 w 131"/>
                <a:gd name="T31" fmla="*/ 44 h 50"/>
                <a:gd name="T32" fmla="*/ 129 w 131"/>
                <a:gd name="T33" fmla="*/ 50 h 50"/>
                <a:gd name="T34" fmla="*/ 131 w 131"/>
                <a:gd name="T3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1" h="50">
                  <a:moveTo>
                    <a:pt x="131" y="27"/>
                  </a:moveTo>
                  <a:lnTo>
                    <a:pt x="64" y="14"/>
                  </a:lnTo>
                  <a:lnTo>
                    <a:pt x="52" y="14"/>
                  </a:lnTo>
                  <a:lnTo>
                    <a:pt x="33" y="14"/>
                  </a:lnTo>
                  <a:lnTo>
                    <a:pt x="21" y="12"/>
                  </a:lnTo>
                  <a:lnTo>
                    <a:pt x="12" y="8"/>
                  </a:lnTo>
                  <a:lnTo>
                    <a:pt x="0" y="0"/>
                  </a:lnTo>
                  <a:lnTo>
                    <a:pt x="2" y="10"/>
                  </a:lnTo>
                  <a:lnTo>
                    <a:pt x="8" y="17"/>
                  </a:lnTo>
                  <a:lnTo>
                    <a:pt x="19" y="23"/>
                  </a:lnTo>
                  <a:lnTo>
                    <a:pt x="31" y="27"/>
                  </a:lnTo>
                  <a:lnTo>
                    <a:pt x="50" y="31"/>
                  </a:lnTo>
                  <a:lnTo>
                    <a:pt x="75" y="33"/>
                  </a:lnTo>
                  <a:lnTo>
                    <a:pt x="91" y="38"/>
                  </a:lnTo>
                  <a:lnTo>
                    <a:pt x="102" y="42"/>
                  </a:lnTo>
                  <a:lnTo>
                    <a:pt x="116" y="44"/>
                  </a:lnTo>
                  <a:lnTo>
                    <a:pt x="129" y="50"/>
                  </a:lnTo>
                  <a:lnTo>
                    <a:pt x="131" y="27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28" name="Freeform 12"/>
            <p:cNvSpPr>
              <a:spLocks/>
            </p:cNvSpPr>
            <p:nvPr/>
          </p:nvSpPr>
          <p:spPr bwMode="auto">
            <a:xfrm>
              <a:off x="5148" y="2573"/>
              <a:ext cx="201" cy="80"/>
            </a:xfrm>
            <a:custGeom>
              <a:avLst/>
              <a:gdLst>
                <a:gd name="T0" fmla="*/ 6 w 201"/>
                <a:gd name="T1" fmla="*/ 80 h 80"/>
                <a:gd name="T2" fmla="*/ 2 w 201"/>
                <a:gd name="T3" fmla="*/ 74 h 80"/>
                <a:gd name="T4" fmla="*/ 0 w 201"/>
                <a:gd name="T5" fmla="*/ 67 h 80"/>
                <a:gd name="T6" fmla="*/ 2 w 201"/>
                <a:gd name="T7" fmla="*/ 48 h 80"/>
                <a:gd name="T8" fmla="*/ 4 w 201"/>
                <a:gd name="T9" fmla="*/ 38 h 80"/>
                <a:gd name="T10" fmla="*/ 6 w 201"/>
                <a:gd name="T11" fmla="*/ 26 h 80"/>
                <a:gd name="T12" fmla="*/ 12 w 201"/>
                <a:gd name="T13" fmla="*/ 15 h 80"/>
                <a:gd name="T14" fmla="*/ 18 w 201"/>
                <a:gd name="T15" fmla="*/ 7 h 80"/>
                <a:gd name="T16" fmla="*/ 25 w 201"/>
                <a:gd name="T17" fmla="*/ 2 h 80"/>
                <a:gd name="T18" fmla="*/ 29 w 201"/>
                <a:gd name="T19" fmla="*/ 0 h 80"/>
                <a:gd name="T20" fmla="*/ 31 w 201"/>
                <a:gd name="T21" fmla="*/ 2 h 80"/>
                <a:gd name="T22" fmla="*/ 43 w 201"/>
                <a:gd name="T23" fmla="*/ 3 h 80"/>
                <a:gd name="T24" fmla="*/ 54 w 201"/>
                <a:gd name="T25" fmla="*/ 7 h 80"/>
                <a:gd name="T26" fmla="*/ 70 w 201"/>
                <a:gd name="T27" fmla="*/ 9 h 80"/>
                <a:gd name="T28" fmla="*/ 145 w 201"/>
                <a:gd name="T29" fmla="*/ 11 h 80"/>
                <a:gd name="T30" fmla="*/ 162 w 201"/>
                <a:gd name="T31" fmla="*/ 13 h 80"/>
                <a:gd name="T32" fmla="*/ 176 w 201"/>
                <a:gd name="T33" fmla="*/ 17 h 80"/>
                <a:gd name="T34" fmla="*/ 189 w 201"/>
                <a:gd name="T35" fmla="*/ 23 h 80"/>
                <a:gd name="T36" fmla="*/ 201 w 201"/>
                <a:gd name="T37" fmla="*/ 3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1" h="80">
                  <a:moveTo>
                    <a:pt x="6" y="80"/>
                  </a:moveTo>
                  <a:lnTo>
                    <a:pt x="2" y="74"/>
                  </a:lnTo>
                  <a:lnTo>
                    <a:pt x="0" y="67"/>
                  </a:lnTo>
                  <a:lnTo>
                    <a:pt x="2" y="48"/>
                  </a:lnTo>
                  <a:lnTo>
                    <a:pt x="4" y="38"/>
                  </a:lnTo>
                  <a:lnTo>
                    <a:pt x="6" y="26"/>
                  </a:lnTo>
                  <a:lnTo>
                    <a:pt x="12" y="15"/>
                  </a:lnTo>
                  <a:lnTo>
                    <a:pt x="18" y="7"/>
                  </a:lnTo>
                  <a:lnTo>
                    <a:pt x="25" y="2"/>
                  </a:lnTo>
                  <a:lnTo>
                    <a:pt x="29" y="0"/>
                  </a:lnTo>
                  <a:lnTo>
                    <a:pt x="31" y="2"/>
                  </a:lnTo>
                  <a:lnTo>
                    <a:pt x="43" y="3"/>
                  </a:lnTo>
                  <a:lnTo>
                    <a:pt x="54" y="7"/>
                  </a:lnTo>
                  <a:lnTo>
                    <a:pt x="70" y="9"/>
                  </a:lnTo>
                  <a:lnTo>
                    <a:pt x="145" y="11"/>
                  </a:lnTo>
                  <a:lnTo>
                    <a:pt x="162" y="13"/>
                  </a:lnTo>
                  <a:lnTo>
                    <a:pt x="176" y="17"/>
                  </a:lnTo>
                  <a:lnTo>
                    <a:pt x="189" y="23"/>
                  </a:lnTo>
                  <a:lnTo>
                    <a:pt x="201" y="3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29" name="Freeform 13"/>
            <p:cNvSpPr>
              <a:spLocks/>
            </p:cNvSpPr>
            <p:nvPr/>
          </p:nvSpPr>
          <p:spPr bwMode="auto">
            <a:xfrm>
              <a:off x="5281" y="2565"/>
              <a:ext cx="50" cy="19"/>
            </a:xfrm>
            <a:custGeom>
              <a:avLst/>
              <a:gdLst>
                <a:gd name="T0" fmla="*/ 0 w 50"/>
                <a:gd name="T1" fmla="*/ 19 h 19"/>
                <a:gd name="T2" fmla="*/ 6 w 50"/>
                <a:gd name="T3" fmla="*/ 11 h 19"/>
                <a:gd name="T4" fmla="*/ 10 w 50"/>
                <a:gd name="T5" fmla="*/ 8 h 19"/>
                <a:gd name="T6" fmla="*/ 14 w 50"/>
                <a:gd name="T7" fmla="*/ 4 h 19"/>
                <a:gd name="T8" fmla="*/ 18 w 50"/>
                <a:gd name="T9" fmla="*/ 2 h 19"/>
                <a:gd name="T10" fmla="*/ 23 w 50"/>
                <a:gd name="T11" fmla="*/ 0 h 19"/>
                <a:gd name="T12" fmla="*/ 35 w 50"/>
                <a:gd name="T13" fmla="*/ 0 h 19"/>
                <a:gd name="T14" fmla="*/ 50 w 50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19">
                  <a:moveTo>
                    <a:pt x="0" y="19"/>
                  </a:moveTo>
                  <a:lnTo>
                    <a:pt x="6" y="11"/>
                  </a:lnTo>
                  <a:lnTo>
                    <a:pt x="10" y="8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35" y="0"/>
                  </a:lnTo>
                  <a:lnTo>
                    <a:pt x="5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30" name="Freeform 14"/>
            <p:cNvSpPr>
              <a:spLocks/>
            </p:cNvSpPr>
            <p:nvPr/>
          </p:nvSpPr>
          <p:spPr bwMode="auto">
            <a:xfrm>
              <a:off x="5277" y="2496"/>
              <a:ext cx="4" cy="88"/>
            </a:xfrm>
            <a:custGeom>
              <a:avLst/>
              <a:gdLst>
                <a:gd name="T0" fmla="*/ 4 w 4"/>
                <a:gd name="T1" fmla="*/ 88 h 88"/>
                <a:gd name="T2" fmla="*/ 4 w 4"/>
                <a:gd name="T3" fmla="*/ 79 h 88"/>
                <a:gd name="T4" fmla="*/ 2 w 4"/>
                <a:gd name="T5" fmla="*/ 71 h 88"/>
                <a:gd name="T6" fmla="*/ 0 w 4"/>
                <a:gd name="T7" fmla="*/ 57 h 88"/>
                <a:gd name="T8" fmla="*/ 0 w 4"/>
                <a:gd name="T9" fmla="*/ 38 h 88"/>
                <a:gd name="T10" fmla="*/ 0 w 4"/>
                <a:gd name="T11" fmla="*/ 21 h 88"/>
                <a:gd name="T12" fmla="*/ 4 w 4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8">
                  <a:moveTo>
                    <a:pt x="4" y="88"/>
                  </a:moveTo>
                  <a:lnTo>
                    <a:pt x="4" y="79"/>
                  </a:lnTo>
                  <a:lnTo>
                    <a:pt x="2" y="71"/>
                  </a:lnTo>
                  <a:lnTo>
                    <a:pt x="0" y="57"/>
                  </a:lnTo>
                  <a:lnTo>
                    <a:pt x="0" y="38"/>
                  </a:lnTo>
                  <a:lnTo>
                    <a:pt x="0" y="21"/>
                  </a:lnTo>
                  <a:lnTo>
                    <a:pt x="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31" name="Freeform 15"/>
            <p:cNvSpPr>
              <a:spLocks/>
            </p:cNvSpPr>
            <p:nvPr/>
          </p:nvSpPr>
          <p:spPr bwMode="auto">
            <a:xfrm>
              <a:off x="4973" y="2498"/>
              <a:ext cx="27" cy="201"/>
            </a:xfrm>
            <a:custGeom>
              <a:avLst/>
              <a:gdLst>
                <a:gd name="T0" fmla="*/ 21 w 27"/>
                <a:gd name="T1" fmla="*/ 201 h 201"/>
                <a:gd name="T2" fmla="*/ 25 w 27"/>
                <a:gd name="T3" fmla="*/ 190 h 201"/>
                <a:gd name="T4" fmla="*/ 27 w 27"/>
                <a:gd name="T5" fmla="*/ 174 h 201"/>
                <a:gd name="T6" fmla="*/ 27 w 27"/>
                <a:gd name="T7" fmla="*/ 159 h 201"/>
                <a:gd name="T8" fmla="*/ 25 w 27"/>
                <a:gd name="T9" fmla="*/ 144 h 201"/>
                <a:gd name="T10" fmla="*/ 10 w 27"/>
                <a:gd name="T11" fmla="*/ 69 h 201"/>
                <a:gd name="T12" fmla="*/ 6 w 27"/>
                <a:gd name="T13" fmla="*/ 50 h 201"/>
                <a:gd name="T14" fmla="*/ 2 w 27"/>
                <a:gd name="T15" fmla="*/ 32 h 201"/>
                <a:gd name="T16" fmla="*/ 0 w 27"/>
                <a:gd name="T17" fmla="*/ 15 h 201"/>
                <a:gd name="T18" fmla="*/ 0 w 27"/>
                <a:gd name="T19" fmla="*/ 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01">
                  <a:moveTo>
                    <a:pt x="21" y="201"/>
                  </a:moveTo>
                  <a:lnTo>
                    <a:pt x="25" y="190"/>
                  </a:lnTo>
                  <a:lnTo>
                    <a:pt x="27" y="174"/>
                  </a:lnTo>
                  <a:lnTo>
                    <a:pt x="27" y="159"/>
                  </a:lnTo>
                  <a:lnTo>
                    <a:pt x="25" y="144"/>
                  </a:lnTo>
                  <a:lnTo>
                    <a:pt x="10" y="69"/>
                  </a:lnTo>
                  <a:lnTo>
                    <a:pt x="6" y="50"/>
                  </a:lnTo>
                  <a:lnTo>
                    <a:pt x="2" y="32"/>
                  </a:lnTo>
                  <a:lnTo>
                    <a:pt x="0" y="15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32" name="Freeform 16"/>
            <p:cNvSpPr>
              <a:spLocks/>
            </p:cNvSpPr>
            <p:nvPr/>
          </p:nvSpPr>
          <p:spPr bwMode="auto">
            <a:xfrm>
              <a:off x="4936" y="2567"/>
              <a:ext cx="58" cy="92"/>
            </a:xfrm>
            <a:custGeom>
              <a:avLst/>
              <a:gdLst>
                <a:gd name="T0" fmla="*/ 0 w 58"/>
                <a:gd name="T1" fmla="*/ 0 h 92"/>
                <a:gd name="T2" fmla="*/ 14 w 58"/>
                <a:gd name="T3" fmla="*/ 0 h 92"/>
                <a:gd name="T4" fmla="*/ 18 w 58"/>
                <a:gd name="T5" fmla="*/ 2 h 92"/>
                <a:gd name="T6" fmla="*/ 21 w 58"/>
                <a:gd name="T7" fmla="*/ 6 h 92"/>
                <a:gd name="T8" fmla="*/ 27 w 58"/>
                <a:gd name="T9" fmla="*/ 17 h 92"/>
                <a:gd name="T10" fmla="*/ 29 w 58"/>
                <a:gd name="T11" fmla="*/ 31 h 92"/>
                <a:gd name="T12" fmla="*/ 33 w 58"/>
                <a:gd name="T13" fmla="*/ 42 h 92"/>
                <a:gd name="T14" fmla="*/ 37 w 58"/>
                <a:gd name="T15" fmla="*/ 50 h 92"/>
                <a:gd name="T16" fmla="*/ 52 w 58"/>
                <a:gd name="T17" fmla="*/ 73 h 92"/>
                <a:gd name="T18" fmla="*/ 56 w 58"/>
                <a:gd name="T19" fmla="*/ 80 h 92"/>
                <a:gd name="T20" fmla="*/ 58 w 58"/>
                <a:gd name="T21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92">
                  <a:moveTo>
                    <a:pt x="0" y="0"/>
                  </a:moveTo>
                  <a:lnTo>
                    <a:pt x="14" y="0"/>
                  </a:lnTo>
                  <a:lnTo>
                    <a:pt x="18" y="2"/>
                  </a:lnTo>
                  <a:lnTo>
                    <a:pt x="21" y="6"/>
                  </a:lnTo>
                  <a:lnTo>
                    <a:pt x="27" y="17"/>
                  </a:lnTo>
                  <a:lnTo>
                    <a:pt x="29" y="31"/>
                  </a:lnTo>
                  <a:lnTo>
                    <a:pt x="33" y="42"/>
                  </a:lnTo>
                  <a:lnTo>
                    <a:pt x="37" y="50"/>
                  </a:lnTo>
                  <a:lnTo>
                    <a:pt x="52" y="73"/>
                  </a:lnTo>
                  <a:lnTo>
                    <a:pt x="56" y="80"/>
                  </a:lnTo>
                  <a:lnTo>
                    <a:pt x="58" y="9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33" name="Freeform 17"/>
            <p:cNvSpPr>
              <a:spLocks/>
            </p:cNvSpPr>
            <p:nvPr/>
          </p:nvSpPr>
          <p:spPr bwMode="auto">
            <a:xfrm>
              <a:off x="4971" y="2615"/>
              <a:ext cx="21" cy="17"/>
            </a:xfrm>
            <a:custGeom>
              <a:avLst/>
              <a:gdLst>
                <a:gd name="T0" fmla="*/ 0 w 21"/>
                <a:gd name="T1" fmla="*/ 0 h 17"/>
                <a:gd name="T2" fmla="*/ 2 w 21"/>
                <a:gd name="T3" fmla="*/ 0 h 17"/>
                <a:gd name="T4" fmla="*/ 6 w 21"/>
                <a:gd name="T5" fmla="*/ 0 h 17"/>
                <a:gd name="T6" fmla="*/ 10 w 21"/>
                <a:gd name="T7" fmla="*/ 2 h 17"/>
                <a:gd name="T8" fmla="*/ 12 w 21"/>
                <a:gd name="T9" fmla="*/ 4 h 17"/>
                <a:gd name="T10" fmla="*/ 15 w 21"/>
                <a:gd name="T11" fmla="*/ 6 h 17"/>
                <a:gd name="T12" fmla="*/ 17 w 21"/>
                <a:gd name="T13" fmla="*/ 9 h 17"/>
                <a:gd name="T14" fmla="*/ 19 w 21"/>
                <a:gd name="T15" fmla="*/ 13 h 17"/>
                <a:gd name="T16" fmla="*/ 21 w 21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7">
                  <a:moveTo>
                    <a:pt x="0" y="0"/>
                  </a:moveTo>
                  <a:lnTo>
                    <a:pt x="2" y="0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4"/>
                  </a:lnTo>
                  <a:lnTo>
                    <a:pt x="15" y="6"/>
                  </a:lnTo>
                  <a:lnTo>
                    <a:pt x="17" y="9"/>
                  </a:lnTo>
                  <a:lnTo>
                    <a:pt x="19" y="13"/>
                  </a:lnTo>
                  <a:lnTo>
                    <a:pt x="21" y="1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34" name="Freeform 18"/>
            <p:cNvSpPr>
              <a:spLocks/>
            </p:cNvSpPr>
            <p:nvPr/>
          </p:nvSpPr>
          <p:spPr bwMode="auto">
            <a:xfrm>
              <a:off x="5008" y="2599"/>
              <a:ext cx="50" cy="102"/>
            </a:xfrm>
            <a:custGeom>
              <a:avLst/>
              <a:gdLst>
                <a:gd name="T0" fmla="*/ 0 w 50"/>
                <a:gd name="T1" fmla="*/ 0 h 102"/>
                <a:gd name="T2" fmla="*/ 2 w 50"/>
                <a:gd name="T3" fmla="*/ 10 h 102"/>
                <a:gd name="T4" fmla="*/ 3 w 50"/>
                <a:gd name="T5" fmla="*/ 20 h 102"/>
                <a:gd name="T6" fmla="*/ 7 w 50"/>
                <a:gd name="T7" fmla="*/ 31 h 102"/>
                <a:gd name="T8" fmla="*/ 11 w 50"/>
                <a:gd name="T9" fmla="*/ 41 h 102"/>
                <a:gd name="T10" fmla="*/ 15 w 50"/>
                <a:gd name="T11" fmla="*/ 52 h 102"/>
                <a:gd name="T12" fmla="*/ 21 w 50"/>
                <a:gd name="T13" fmla="*/ 62 h 102"/>
                <a:gd name="T14" fmla="*/ 25 w 50"/>
                <a:gd name="T15" fmla="*/ 71 h 102"/>
                <a:gd name="T16" fmla="*/ 30 w 50"/>
                <a:gd name="T17" fmla="*/ 79 h 102"/>
                <a:gd name="T18" fmla="*/ 38 w 50"/>
                <a:gd name="T19" fmla="*/ 91 h 102"/>
                <a:gd name="T20" fmla="*/ 50 w 50"/>
                <a:gd name="T21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102">
                  <a:moveTo>
                    <a:pt x="0" y="0"/>
                  </a:moveTo>
                  <a:lnTo>
                    <a:pt x="2" y="10"/>
                  </a:lnTo>
                  <a:lnTo>
                    <a:pt x="3" y="20"/>
                  </a:lnTo>
                  <a:lnTo>
                    <a:pt x="7" y="31"/>
                  </a:lnTo>
                  <a:lnTo>
                    <a:pt x="11" y="41"/>
                  </a:lnTo>
                  <a:lnTo>
                    <a:pt x="15" y="52"/>
                  </a:lnTo>
                  <a:lnTo>
                    <a:pt x="21" y="62"/>
                  </a:lnTo>
                  <a:lnTo>
                    <a:pt x="25" y="71"/>
                  </a:lnTo>
                  <a:lnTo>
                    <a:pt x="30" y="79"/>
                  </a:lnTo>
                  <a:lnTo>
                    <a:pt x="38" y="91"/>
                  </a:lnTo>
                  <a:lnTo>
                    <a:pt x="50" y="10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35" name="Freeform 19"/>
            <p:cNvSpPr>
              <a:spLocks/>
            </p:cNvSpPr>
            <p:nvPr/>
          </p:nvSpPr>
          <p:spPr bwMode="auto">
            <a:xfrm>
              <a:off x="5013" y="2542"/>
              <a:ext cx="153" cy="115"/>
            </a:xfrm>
            <a:custGeom>
              <a:avLst/>
              <a:gdLst>
                <a:gd name="T0" fmla="*/ 153 w 153"/>
                <a:gd name="T1" fmla="*/ 40 h 115"/>
                <a:gd name="T2" fmla="*/ 120 w 153"/>
                <a:gd name="T3" fmla="*/ 21 h 115"/>
                <a:gd name="T4" fmla="*/ 103 w 153"/>
                <a:gd name="T5" fmla="*/ 13 h 115"/>
                <a:gd name="T6" fmla="*/ 85 w 153"/>
                <a:gd name="T7" fmla="*/ 6 h 115"/>
                <a:gd name="T8" fmla="*/ 64 w 153"/>
                <a:gd name="T9" fmla="*/ 4 h 115"/>
                <a:gd name="T10" fmla="*/ 49 w 153"/>
                <a:gd name="T11" fmla="*/ 0 h 115"/>
                <a:gd name="T12" fmla="*/ 31 w 153"/>
                <a:gd name="T13" fmla="*/ 0 h 115"/>
                <a:gd name="T14" fmla="*/ 22 w 153"/>
                <a:gd name="T15" fmla="*/ 10 h 115"/>
                <a:gd name="T16" fmla="*/ 2 w 153"/>
                <a:gd name="T17" fmla="*/ 34 h 115"/>
                <a:gd name="T18" fmla="*/ 0 w 153"/>
                <a:gd name="T19" fmla="*/ 38 h 115"/>
                <a:gd name="T20" fmla="*/ 4 w 153"/>
                <a:gd name="T21" fmla="*/ 52 h 115"/>
                <a:gd name="T22" fmla="*/ 4 w 153"/>
                <a:gd name="T23" fmla="*/ 80 h 115"/>
                <a:gd name="T24" fmla="*/ 6 w 153"/>
                <a:gd name="T25" fmla="*/ 88 h 115"/>
                <a:gd name="T26" fmla="*/ 10 w 153"/>
                <a:gd name="T27" fmla="*/ 94 h 115"/>
                <a:gd name="T28" fmla="*/ 24 w 153"/>
                <a:gd name="T29" fmla="*/ 102 h 115"/>
                <a:gd name="T30" fmla="*/ 52 w 153"/>
                <a:gd name="T31" fmla="*/ 115 h 115"/>
                <a:gd name="T32" fmla="*/ 70 w 153"/>
                <a:gd name="T33" fmla="*/ 113 h 115"/>
                <a:gd name="T34" fmla="*/ 87 w 153"/>
                <a:gd name="T35" fmla="*/ 111 h 115"/>
                <a:gd name="T36" fmla="*/ 93 w 153"/>
                <a:gd name="T37" fmla="*/ 109 h 115"/>
                <a:gd name="T38" fmla="*/ 95 w 153"/>
                <a:gd name="T39" fmla="*/ 105 h 115"/>
                <a:gd name="T40" fmla="*/ 95 w 153"/>
                <a:gd name="T41" fmla="*/ 102 h 115"/>
                <a:gd name="T42" fmla="*/ 85 w 153"/>
                <a:gd name="T43" fmla="*/ 98 h 115"/>
                <a:gd name="T44" fmla="*/ 116 w 153"/>
                <a:gd name="T45" fmla="*/ 102 h 115"/>
                <a:gd name="T46" fmla="*/ 135 w 153"/>
                <a:gd name="T47" fmla="*/ 98 h 115"/>
                <a:gd name="T48" fmla="*/ 139 w 153"/>
                <a:gd name="T49" fmla="*/ 67 h 115"/>
                <a:gd name="T50" fmla="*/ 141 w 153"/>
                <a:gd name="T51" fmla="*/ 56 h 115"/>
                <a:gd name="T52" fmla="*/ 147 w 153"/>
                <a:gd name="T53" fmla="*/ 46 h 115"/>
                <a:gd name="T54" fmla="*/ 153 w 153"/>
                <a:gd name="T55" fmla="*/ 4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3" h="115">
                  <a:moveTo>
                    <a:pt x="153" y="40"/>
                  </a:moveTo>
                  <a:lnTo>
                    <a:pt x="120" y="21"/>
                  </a:lnTo>
                  <a:lnTo>
                    <a:pt x="103" y="13"/>
                  </a:lnTo>
                  <a:lnTo>
                    <a:pt x="85" y="6"/>
                  </a:lnTo>
                  <a:lnTo>
                    <a:pt x="64" y="4"/>
                  </a:lnTo>
                  <a:lnTo>
                    <a:pt x="49" y="0"/>
                  </a:lnTo>
                  <a:lnTo>
                    <a:pt x="31" y="0"/>
                  </a:lnTo>
                  <a:lnTo>
                    <a:pt x="22" y="10"/>
                  </a:lnTo>
                  <a:lnTo>
                    <a:pt x="2" y="34"/>
                  </a:lnTo>
                  <a:lnTo>
                    <a:pt x="0" y="38"/>
                  </a:lnTo>
                  <a:lnTo>
                    <a:pt x="4" y="52"/>
                  </a:lnTo>
                  <a:lnTo>
                    <a:pt x="4" y="80"/>
                  </a:lnTo>
                  <a:lnTo>
                    <a:pt x="6" y="88"/>
                  </a:lnTo>
                  <a:lnTo>
                    <a:pt x="10" y="94"/>
                  </a:lnTo>
                  <a:lnTo>
                    <a:pt x="24" y="102"/>
                  </a:lnTo>
                  <a:lnTo>
                    <a:pt x="52" y="115"/>
                  </a:lnTo>
                  <a:lnTo>
                    <a:pt x="70" y="113"/>
                  </a:lnTo>
                  <a:lnTo>
                    <a:pt x="87" y="111"/>
                  </a:lnTo>
                  <a:lnTo>
                    <a:pt x="93" y="109"/>
                  </a:lnTo>
                  <a:lnTo>
                    <a:pt x="95" y="105"/>
                  </a:lnTo>
                  <a:lnTo>
                    <a:pt x="95" y="102"/>
                  </a:lnTo>
                  <a:lnTo>
                    <a:pt x="85" y="98"/>
                  </a:lnTo>
                  <a:lnTo>
                    <a:pt x="116" y="102"/>
                  </a:lnTo>
                  <a:lnTo>
                    <a:pt x="135" y="98"/>
                  </a:lnTo>
                  <a:lnTo>
                    <a:pt x="139" y="67"/>
                  </a:lnTo>
                  <a:lnTo>
                    <a:pt x="141" y="56"/>
                  </a:lnTo>
                  <a:lnTo>
                    <a:pt x="147" y="46"/>
                  </a:lnTo>
                  <a:lnTo>
                    <a:pt x="153" y="40"/>
                  </a:lnTo>
                  <a:close/>
                </a:path>
              </a:pathLst>
            </a:custGeom>
            <a:solidFill>
              <a:srgbClr val="F2C2A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36" name="Freeform 20"/>
            <p:cNvSpPr>
              <a:spLocks/>
            </p:cNvSpPr>
            <p:nvPr/>
          </p:nvSpPr>
          <p:spPr bwMode="auto">
            <a:xfrm>
              <a:off x="5046" y="2638"/>
              <a:ext cx="50" cy="4"/>
            </a:xfrm>
            <a:custGeom>
              <a:avLst/>
              <a:gdLst>
                <a:gd name="T0" fmla="*/ 50 w 50"/>
                <a:gd name="T1" fmla="*/ 2 h 4"/>
                <a:gd name="T2" fmla="*/ 44 w 50"/>
                <a:gd name="T3" fmla="*/ 4 h 4"/>
                <a:gd name="T4" fmla="*/ 33 w 50"/>
                <a:gd name="T5" fmla="*/ 4 h 4"/>
                <a:gd name="T6" fmla="*/ 21 w 50"/>
                <a:gd name="T7" fmla="*/ 2 h 4"/>
                <a:gd name="T8" fmla="*/ 0 w 5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4">
                  <a:moveTo>
                    <a:pt x="50" y="2"/>
                  </a:moveTo>
                  <a:lnTo>
                    <a:pt x="44" y="4"/>
                  </a:lnTo>
                  <a:lnTo>
                    <a:pt x="33" y="4"/>
                  </a:lnTo>
                  <a:lnTo>
                    <a:pt x="21" y="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37" name="Freeform 21"/>
            <p:cNvSpPr>
              <a:spLocks/>
            </p:cNvSpPr>
            <p:nvPr/>
          </p:nvSpPr>
          <p:spPr bwMode="auto">
            <a:xfrm>
              <a:off x="5058" y="2642"/>
              <a:ext cx="13" cy="3"/>
            </a:xfrm>
            <a:custGeom>
              <a:avLst/>
              <a:gdLst>
                <a:gd name="T0" fmla="*/ 13 w 13"/>
                <a:gd name="T1" fmla="*/ 0 h 3"/>
                <a:gd name="T2" fmla="*/ 9 w 13"/>
                <a:gd name="T3" fmla="*/ 2 h 3"/>
                <a:gd name="T4" fmla="*/ 7 w 13"/>
                <a:gd name="T5" fmla="*/ 3 h 3"/>
                <a:gd name="T6" fmla="*/ 4 w 13"/>
                <a:gd name="T7" fmla="*/ 3 h 3"/>
                <a:gd name="T8" fmla="*/ 0 w 13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3">
                  <a:moveTo>
                    <a:pt x="13" y="0"/>
                  </a:moveTo>
                  <a:lnTo>
                    <a:pt x="9" y="2"/>
                  </a:lnTo>
                  <a:lnTo>
                    <a:pt x="7" y="3"/>
                  </a:lnTo>
                  <a:lnTo>
                    <a:pt x="4" y="3"/>
                  </a:lnTo>
                  <a:lnTo>
                    <a:pt x="0" y="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38" name="Freeform 22"/>
            <p:cNvSpPr>
              <a:spLocks/>
            </p:cNvSpPr>
            <p:nvPr/>
          </p:nvSpPr>
          <p:spPr bwMode="auto">
            <a:xfrm>
              <a:off x="5083" y="2642"/>
              <a:ext cx="2" cy="5"/>
            </a:xfrm>
            <a:custGeom>
              <a:avLst/>
              <a:gdLst>
                <a:gd name="T0" fmla="*/ 2 w 2"/>
                <a:gd name="T1" fmla="*/ 0 h 5"/>
                <a:gd name="T2" fmla="*/ 2 w 2"/>
                <a:gd name="T3" fmla="*/ 3 h 5"/>
                <a:gd name="T4" fmla="*/ 0 w 2"/>
                <a:gd name="T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2" y="3"/>
                  </a:lnTo>
                  <a:lnTo>
                    <a:pt x="0" y="5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39" name="Freeform 23"/>
            <p:cNvSpPr>
              <a:spLocks/>
            </p:cNvSpPr>
            <p:nvPr/>
          </p:nvSpPr>
          <p:spPr bwMode="auto">
            <a:xfrm>
              <a:off x="4936" y="2826"/>
              <a:ext cx="291" cy="51"/>
            </a:xfrm>
            <a:custGeom>
              <a:avLst/>
              <a:gdLst>
                <a:gd name="T0" fmla="*/ 0 w 291"/>
                <a:gd name="T1" fmla="*/ 28 h 51"/>
                <a:gd name="T2" fmla="*/ 291 w 291"/>
                <a:gd name="T3" fmla="*/ 0 h 51"/>
                <a:gd name="T4" fmla="*/ 291 w 291"/>
                <a:gd name="T5" fmla="*/ 4 h 51"/>
                <a:gd name="T6" fmla="*/ 291 w 291"/>
                <a:gd name="T7" fmla="*/ 5 h 51"/>
                <a:gd name="T8" fmla="*/ 289 w 291"/>
                <a:gd name="T9" fmla="*/ 9 h 51"/>
                <a:gd name="T10" fmla="*/ 288 w 291"/>
                <a:gd name="T11" fmla="*/ 13 h 51"/>
                <a:gd name="T12" fmla="*/ 286 w 291"/>
                <a:gd name="T13" fmla="*/ 15 h 51"/>
                <a:gd name="T14" fmla="*/ 280 w 291"/>
                <a:gd name="T15" fmla="*/ 19 h 51"/>
                <a:gd name="T16" fmla="*/ 274 w 291"/>
                <a:gd name="T17" fmla="*/ 23 h 51"/>
                <a:gd name="T18" fmla="*/ 266 w 291"/>
                <a:gd name="T19" fmla="*/ 25 h 51"/>
                <a:gd name="T20" fmla="*/ 259 w 291"/>
                <a:gd name="T21" fmla="*/ 28 h 51"/>
                <a:gd name="T22" fmla="*/ 249 w 291"/>
                <a:gd name="T23" fmla="*/ 30 h 51"/>
                <a:gd name="T24" fmla="*/ 239 w 291"/>
                <a:gd name="T25" fmla="*/ 34 h 51"/>
                <a:gd name="T26" fmla="*/ 228 w 291"/>
                <a:gd name="T27" fmla="*/ 36 h 51"/>
                <a:gd name="T28" fmla="*/ 216 w 291"/>
                <a:gd name="T29" fmla="*/ 38 h 51"/>
                <a:gd name="T30" fmla="*/ 205 w 291"/>
                <a:gd name="T31" fmla="*/ 42 h 51"/>
                <a:gd name="T32" fmla="*/ 191 w 291"/>
                <a:gd name="T33" fmla="*/ 44 h 51"/>
                <a:gd name="T34" fmla="*/ 178 w 291"/>
                <a:gd name="T35" fmla="*/ 46 h 51"/>
                <a:gd name="T36" fmla="*/ 162 w 291"/>
                <a:gd name="T37" fmla="*/ 48 h 51"/>
                <a:gd name="T38" fmla="*/ 149 w 291"/>
                <a:gd name="T39" fmla="*/ 50 h 51"/>
                <a:gd name="T40" fmla="*/ 133 w 291"/>
                <a:gd name="T41" fmla="*/ 50 h 51"/>
                <a:gd name="T42" fmla="*/ 120 w 291"/>
                <a:gd name="T43" fmla="*/ 51 h 51"/>
                <a:gd name="T44" fmla="*/ 106 w 291"/>
                <a:gd name="T45" fmla="*/ 51 h 51"/>
                <a:gd name="T46" fmla="*/ 93 w 291"/>
                <a:gd name="T47" fmla="*/ 51 h 51"/>
                <a:gd name="T48" fmla="*/ 79 w 291"/>
                <a:gd name="T49" fmla="*/ 51 h 51"/>
                <a:gd name="T50" fmla="*/ 68 w 291"/>
                <a:gd name="T51" fmla="*/ 51 h 51"/>
                <a:gd name="T52" fmla="*/ 56 w 291"/>
                <a:gd name="T53" fmla="*/ 51 h 51"/>
                <a:gd name="T54" fmla="*/ 45 w 291"/>
                <a:gd name="T55" fmla="*/ 51 h 51"/>
                <a:gd name="T56" fmla="*/ 35 w 291"/>
                <a:gd name="T57" fmla="*/ 50 h 51"/>
                <a:gd name="T58" fmla="*/ 27 w 291"/>
                <a:gd name="T59" fmla="*/ 48 h 51"/>
                <a:gd name="T60" fmla="*/ 20 w 291"/>
                <a:gd name="T61" fmla="*/ 46 h 51"/>
                <a:gd name="T62" fmla="*/ 14 w 291"/>
                <a:gd name="T63" fmla="*/ 44 h 51"/>
                <a:gd name="T64" fmla="*/ 8 w 291"/>
                <a:gd name="T65" fmla="*/ 42 h 51"/>
                <a:gd name="T66" fmla="*/ 4 w 291"/>
                <a:gd name="T67" fmla="*/ 40 h 51"/>
                <a:gd name="T68" fmla="*/ 2 w 291"/>
                <a:gd name="T69" fmla="*/ 38 h 51"/>
                <a:gd name="T70" fmla="*/ 0 w 291"/>
                <a:gd name="T71" fmla="*/ 34 h 51"/>
                <a:gd name="T72" fmla="*/ 0 w 291"/>
                <a:gd name="T73" fmla="*/ 32 h 51"/>
                <a:gd name="T74" fmla="*/ 0 w 291"/>
                <a:gd name="T75" fmla="*/ 2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91" h="51">
                  <a:moveTo>
                    <a:pt x="0" y="28"/>
                  </a:moveTo>
                  <a:lnTo>
                    <a:pt x="291" y="0"/>
                  </a:lnTo>
                  <a:lnTo>
                    <a:pt x="291" y="4"/>
                  </a:lnTo>
                  <a:lnTo>
                    <a:pt x="291" y="5"/>
                  </a:lnTo>
                  <a:lnTo>
                    <a:pt x="289" y="9"/>
                  </a:lnTo>
                  <a:lnTo>
                    <a:pt x="288" y="13"/>
                  </a:lnTo>
                  <a:lnTo>
                    <a:pt x="286" y="15"/>
                  </a:lnTo>
                  <a:lnTo>
                    <a:pt x="280" y="19"/>
                  </a:lnTo>
                  <a:lnTo>
                    <a:pt x="274" y="23"/>
                  </a:lnTo>
                  <a:lnTo>
                    <a:pt x="266" y="25"/>
                  </a:lnTo>
                  <a:lnTo>
                    <a:pt x="259" y="28"/>
                  </a:lnTo>
                  <a:lnTo>
                    <a:pt x="249" y="30"/>
                  </a:lnTo>
                  <a:lnTo>
                    <a:pt x="239" y="34"/>
                  </a:lnTo>
                  <a:lnTo>
                    <a:pt x="228" y="36"/>
                  </a:lnTo>
                  <a:lnTo>
                    <a:pt x="216" y="38"/>
                  </a:lnTo>
                  <a:lnTo>
                    <a:pt x="205" y="42"/>
                  </a:lnTo>
                  <a:lnTo>
                    <a:pt x="191" y="44"/>
                  </a:lnTo>
                  <a:lnTo>
                    <a:pt x="178" y="46"/>
                  </a:lnTo>
                  <a:lnTo>
                    <a:pt x="162" y="48"/>
                  </a:lnTo>
                  <a:lnTo>
                    <a:pt x="149" y="50"/>
                  </a:lnTo>
                  <a:lnTo>
                    <a:pt x="133" y="50"/>
                  </a:lnTo>
                  <a:lnTo>
                    <a:pt x="120" y="51"/>
                  </a:lnTo>
                  <a:lnTo>
                    <a:pt x="106" y="51"/>
                  </a:lnTo>
                  <a:lnTo>
                    <a:pt x="93" y="51"/>
                  </a:lnTo>
                  <a:lnTo>
                    <a:pt x="79" y="51"/>
                  </a:lnTo>
                  <a:lnTo>
                    <a:pt x="68" y="51"/>
                  </a:lnTo>
                  <a:lnTo>
                    <a:pt x="56" y="51"/>
                  </a:lnTo>
                  <a:lnTo>
                    <a:pt x="45" y="51"/>
                  </a:lnTo>
                  <a:lnTo>
                    <a:pt x="35" y="50"/>
                  </a:lnTo>
                  <a:lnTo>
                    <a:pt x="27" y="48"/>
                  </a:lnTo>
                  <a:lnTo>
                    <a:pt x="20" y="46"/>
                  </a:lnTo>
                  <a:lnTo>
                    <a:pt x="14" y="44"/>
                  </a:lnTo>
                  <a:lnTo>
                    <a:pt x="8" y="42"/>
                  </a:lnTo>
                  <a:lnTo>
                    <a:pt x="4" y="40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B0B0B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40" name="Freeform 24"/>
            <p:cNvSpPr>
              <a:spLocks/>
            </p:cNvSpPr>
            <p:nvPr/>
          </p:nvSpPr>
          <p:spPr bwMode="auto">
            <a:xfrm>
              <a:off x="4927" y="2697"/>
              <a:ext cx="300" cy="175"/>
            </a:xfrm>
            <a:custGeom>
              <a:avLst/>
              <a:gdLst>
                <a:gd name="T0" fmla="*/ 9 w 300"/>
                <a:gd name="T1" fmla="*/ 159 h 175"/>
                <a:gd name="T2" fmla="*/ 23 w 300"/>
                <a:gd name="T3" fmla="*/ 167 h 175"/>
                <a:gd name="T4" fmla="*/ 38 w 300"/>
                <a:gd name="T5" fmla="*/ 171 h 175"/>
                <a:gd name="T6" fmla="*/ 69 w 300"/>
                <a:gd name="T7" fmla="*/ 175 h 175"/>
                <a:gd name="T8" fmla="*/ 100 w 300"/>
                <a:gd name="T9" fmla="*/ 175 h 175"/>
                <a:gd name="T10" fmla="*/ 175 w 300"/>
                <a:gd name="T11" fmla="*/ 169 h 175"/>
                <a:gd name="T12" fmla="*/ 214 w 300"/>
                <a:gd name="T13" fmla="*/ 163 h 175"/>
                <a:gd name="T14" fmla="*/ 250 w 300"/>
                <a:gd name="T15" fmla="*/ 156 h 175"/>
                <a:gd name="T16" fmla="*/ 270 w 300"/>
                <a:gd name="T17" fmla="*/ 150 h 175"/>
                <a:gd name="T18" fmla="*/ 289 w 300"/>
                <a:gd name="T19" fmla="*/ 142 h 175"/>
                <a:gd name="T20" fmla="*/ 297 w 300"/>
                <a:gd name="T21" fmla="*/ 136 h 175"/>
                <a:gd name="T22" fmla="*/ 300 w 300"/>
                <a:gd name="T23" fmla="*/ 127 h 175"/>
                <a:gd name="T24" fmla="*/ 289 w 300"/>
                <a:gd name="T25" fmla="*/ 21 h 175"/>
                <a:gd name="T26" fmla="*/ 281 w 300"/>
                <a:gd name="T27" fmla="*/ 16 h 175"/>
                <a:gd name="T28" fmla="*/ 271 w 300"/>
                <a:gd name="T29" fmla="*/ 10 h 175"/>
                <a:gd name="T30" fmla="*/ 239 w 300"/>
                <a:gd name="T31" fmla="*/ 4 h 175"/>
                <a:gd name="T32" fmla="*/ 190 w 300"/>
                <a:gd name="T33" fmla="*/ 0 h 175"/>
                <a:gd name="T34" fmla="*/ 144 w 300"/>
                <a:gd name="T35" fmla="*/ 0 h 175"/>
                <a:gd name="T36" fmla="*/ 98 w 300"/>
                <a:gd name="T37" fmla="*/ 8 h 175"/>
                <a:gd name="T38" fmla="*/ 52 w 300"/>
                <a:gd name="T39" fmla="*/ 21 h 175"/>
                <a:gd name="T40" fmla="*/ 27 w 300"/>
                <a:gd name="T41" fmla="*/ 33 h 175"/>
                <a:gd name="T42" fmla="*/ 13 w 300"/>
                <a:gd name="T43" fmla="*/ 40 h 175"/>
                <a:gd name="T44" fmla="*/ 0 w 300"/>
                <a:gd name="T45" fmla="*/ 52 h 175"/>
                <a:gd name="T46" fmla="*/ 9 w 300"/>
                <a:gd name="T47" fmla="*/ 15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0" h="175">
                  <a:moveTo>
                    <a:pt x="9" y="159"/>
                  </a:moveTo>
                  <a:lnTo>
                    <a:pt x="23" y="167"/>
                  </a:lnTo>
                  <a:lnTo>
                    <a:pt x="38" y="171"/>
                  </a:lnTo>
                  <a:lnTo>
                    <a:pt x="69" y="175"/>
                  </a:lnTo>
                  <a:lnTo>
                    <a:pt x="100" y="175"/>
                  </a:lnTo>
                  <a:lnTo>
                    <a:pt x="175" y="169"/>
                  </a:lnTo>
                  <a:lnTo>
                    <a:pt x="214" y="163"/>
                  </a:lnTo>
                  <a:lnTo>
                    <a:pt x="250" y="156"/>
                  </a:lnTo>
                  <a:lnTo>
                    <a:pt x="270" y="150"/>
                  </a:lnTo>
                  <a:lnTo>
                    <a:pt x="289" y="142"/>
                  </a:lnTo>
                  <a:lnTo>
                    <a:pt x="297" y="136"/>
                  </a:lnTo>
                  <a:lnTo>
                    <a:pt x="300" y="127"/>
                  </a:lnTo>
                  <a:lnTo>
                    <a:pt x="289" y="21"/>
                  </a:lnTo>
                  <a:lnTo>
                    <a:pt x="281" y="16"/>
                  </a:lnTo>
                  <a:lnTo>
                    <a:pt x="271" y="10"/>
                  </a:lnTo>
                  <a:lnTo>
                    <a:pt x="239" y="4"/>
                  </a:lnTo>
                  <a:lnTo>
                    <a:pt x="190" y="0"/>
                  </a:lnTo>
                  <a:lnTo>
                    <a:pt x="144" y="0"/>
                  </a:lnTo>
                  <a:lnTo>
                    <a:pt x="98" y="8"/>
                  </a:lnTo>
                  <a:lnTo>
                    <a:pt x="52" y="21"/>
                  </a:lnTo>
                  <a:lnTo>
                    <a:pt x="27" y="33"/>
                  </a:lnTo>
                  <a:lnTo>
                    <a:pt x="13" y="40"/>
                  </a:lnTo>
                  <a:lnTo>
                    <a:pt x="0" y="52"/>
                  </a:lnTo>
                  <a:lnTo>
                    <a:pt x="9" y="159"/>
                  </a:lnTo>
                  <a:close/>
                </a:path>
              </a:pathLst>
            </a:custGeom>
            <a:solidFill>
              <a:srgbClr val="E5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41" name="Freeform 25"/>
            <p:cNvSpPr>
              <a:spLocks/>
            </p:cNvSpPr>
            <p:nvPr/>
          </p:nvSpPr>
          <p:spPr bwMode="auto">
            <a:xfrm>
              <a:off x="4927" y="2718"/>
              <a:ext cx="289" cy="46"/>
            </a:xfrm>
            <a:custGeom>
              <a:avLst/>
              <a:gdLst>
                <a:gd name="T0" fmla="*/ 289 w 289"/>
                <a:gd name="T1" fmla="*/ 0 h 46"/>
                <a:gd name="T2" fmla="*/ 283 w 289"/>
                <a:gd name="T3" fmla="*/ 10 h 46"/>
                <a:gd name="T4" fmla="*/ 258 w 289"/>
                <a:gd name="T5" fmla="*/ 21 h 46"/>
                <a:gd name="T6" fmla="*/ 223 w 289"/>
                <a:gd name="T7" fmla="*/ 31 h 46"/>
                <a:gd name="T8" fmla="*/ 189 w 289"/>
                <a:gd name="T9" fmla="*/ 39 h 46"/>
                <a:gd name="T10" fmla="*/ 119 w 289"/>
                <a:gd name="T11" fmla="*/ 46 h 46"/>
                <a:gd name="T12" fmla="*/ 71 w 289"/>
                <a:gd name="T13" fmla="*/ 46 h 46"/>
                <a:gd name="T14" fmla="*/ 27 w 289"/>
                <a:gd name="T15" fmla="*/ 43 h 46"/>
                <a:gd name="T16" fmla="*/ 11 w 289"/>
                <a:gd name="T17" fmla="*/ 39 h 46"/>
                <a:gd name="T18" fmla="*/ 0 w 289"/>
                <a:gd name="T19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9" h="46">
                  <a:moveTo>
                    <a:pt x="289" y="0"/>
                  </a:moveTo>
                  <a:lnTo>
                    <a:pt x="283" y="10"/>
                  </a:lnTo>
                  <a:lnTo>
                    <a:pt x="258" y="21"/>
                  </a:lnTo>
                  <a:lnTo>
                    <a:pt x="223" y="31"/>
                  </a:lnTo>
                  <a:lnTo>
                    <a:pt x="189" y="39"/>
                  </a:lnTo>
                  <a:lnTo>
                    <a:pt x="119" y="46"/>
                  </a:lnTo>
                  <a:lnTo>
                    <a:pt x="71" y="46"/>
                  </a:lnTo>
                  <a:lnTo>
                    <a:pt x="27" y="43"/>
                  </a:lnTo>
                  <a:lnTo>
                    <a:pt x="11" y="39"/>
                  </a:lnTo>
                  <a:lnTo>
                    <a:pt x="0" y="31"/>
                  </a:lnTo>
                </a:path>
              </a:pathLst>
            </a:custGeom>
            <a:noFill/>
            <a:ln w="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42" name="Freeform 26"/>
            <p:cNvSpPr>
              <a:spLocks/>
            </p:cNvSpPr>
            <p:nvPr/>
          </p:nvSpPr>
          <p:spPr bwMode="auto">
            <a:xfrm>
              <a:off x="5193" y="2734"/>
              <a:ext cx="25" cy="109"/>
            </a:xfrm>
            <a:custGeom>
              <a:avLst/>
              <a:gdLst>
                <a:gd name="T0" fmla="*/ 15 w 25"/>
                <a:gd name="T1" fmla="*/ 0 h 109"/>
                <a:gd name="T2" fmla="*/ 25 w 25"/>
                <a:gd name="T3" fmla="*/ 101 h 109"/>
                <a:gd name="T4" fmla="*/ 19 w 25"/>
                <a:gd name="T5" fmla="*/ 105 h 109"/>
                <a:gd name="T6" fmla="*/ 9 w 25"/>
                <a:gd name="T7" fmla="*/ 109 h 109"/>
                <a:gd name="T8" fmla="*/ 0 w 25"/>
                <a:gd name="T9" fmla="*/ 7 h 109"/>
                <a:gd name="T10" fmla="*/ 7 w 25"/>
                <a:gd name="T11" fmla="*/ 3 h 109"/>
                <a:gd name="T12" fmla="*/ 15 w 25"/>
                <a:gd name="T1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09">
                  <a:moveTo>
                    <a:pt x="15" y="0"/>
                  </a:moveTo>
                  <a:lnTo>
                    <a:pt x="25" y="101"/>
                  </a:lnTo>
                  <a:lnTo>
                    <a:pt x="19" y="105"/>
                  </a:lnTo>
                  <a:lnTo>
                    <a:pt x="9" y="109"/>
                  </a:lnTo>
                  <a:lnTo>
                    <a:pt x="0" y="7"/>
                  </a:lnTo>
                  <a:lnTo>
                    <a:pt x="7" y="3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43" name="Freeform 27"/>
            <p:cNvSpPr>
              <a:spLocks/>
            </p:cNvSpPr>
            <p:nvPr/>
          </p:nvSpPr>
          <p:spPr bwMode="auto">
            <a:xfrm>
              <a:off x="5006" y="2699"/>
              <a:ext cx="58" cy="25"/>
            </a:xfrm>
            <a:custGeom>
              <a:avLst/>
              <a:gdLst>
                <a:gd name="T0" fmla="*/ 58 w 58"/>
                <a:gd name="T1" fmla="*/ 6 h 25"/>
                <a:gd name="T2" fmla="*/ 58 w 58"/>
                <a:gd name="T3" fmla="*/ 14 h 25"/>
                <a:gd name="T4" fmla="*/ 56 w 58"/>
                <a:gd name="T5" fmla="*/ 17 h 25"/>
                <a:gd name="T6" fmla="*/ 34 w 58"/>
                <a:gd name="T7" fmla="*/ 25 h 25"/>
                <a:gd name="T8" fmla="*/ 11 w 58"/>
                <a:gd name="T9" fmla="*/ 25 h 25"/>
                <a:gd name="T10" fmla="*/ 5 w 58"/>
                <a:gd name="T11" fmla="*/ 25 h 25"/>
                <a:gd name="T12" fmla="*/ 2 w 58"/>
                <a:gd name="T13" fmla="*/ 21 h 25"/>
                <a:gd name="T14" fmla="*/ 0 w 58"/>
                <a:gd name="T15" fmla="*/ 14 h 25"/>
                <a:gd name="T16" fmla="*/ 2 w 58"/>
                <a:gd name="T17" fmla="*/ 10 h 25"/>
                <a:gd name="T18" fmla="*/ 13 w 58"/>
                <a:gd name="T19" fmla="*/ 4 h 25"/>
                <a:gd name="T20" fmla="*/ 25 w 58"/>
                <a:gd name="T21" fmla="*/ 2 h 25"/>
                <a:gd name="T22" fmla="*/ 48 w 58"/>
                <a:gd name="T23" fmla="*/ 0 h 25"/>
                <a:gd name="T24" fmla="*/ 54 w 58"/>
                <a:gd name="T25" fmla="*/ 2 h 25"/>
                <a:gd name="T26" fmla="*/ 58 w 58"/>
                <a:gd name="T27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25">
                  <a:moveTo>
                    <a:pt x="58" y="6"/>
                  </a:moveTo>
                  <a:lnTo>
                    <a:pt x="58" y="14"/>
                  </a:lnTo>
                  <a:lnTo>
                    <a:pt x="56" y="17"/>
                  </a:lnTo>
                  <a:lnTo>
                    <a:pt x="34" y="25"/>
                  </a:lnTo>
                  <a:lnTo>
                    <a:pt x="11" y="25"/>
                  </a:lnTo>
                  <a:lnTo>
                    <a:pt x="5" y="25"/>
                  </a:lnTo>
                  <a:lnTo>
                    <a:pt x="2" y="21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13" y="4"/>
                  </a:lnTo>
                  <a:lnTo>
                    <a:pt x="25" y="2"/>
                  </a:lnTo>
                  <a:lnTo>
                    <a:pt x="48" y="0"/>
                  </a:lnTo>
                  <a:lnTo>
                    <a:pt x="54" y="2"/>
                  </a:lnTo>
                  <a:lnTo>
                    <a:pt x="58" y="6"/>
                  </a:lnTo>
                  <a:close/>
                </a:path>
              </a:pathLst>
            </a:custGeom>
            <a:solidFill>
              <a:srgbClr val="B0B0B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44" name="Freeform 28"/>
            <p:cNvSpPr>
              <a:spLocks/>
            </p:cNvSpPr>
            <p:nvPr/>
          </p:nvSpPr>
          <p:spPr bwMode="auto">
            <a:xfrm>
              <a:off x="5008" y="2705"/>
              <a:ext cx="56" cy="11"/>
            </a:xfrm>
            <a:custGeom>
              <a:avLst/>
              <a:gdLst>
                <a:gd name="T0" fmla="*/ 56 w 56"/>
                <a:gd name="T1" fmla="*/ 0 h 11"/>
                <a:gd name="T2" fmla="*/ 44 w 56"/>
                <a:gd name="T3" fmla="*/ 8 h 11"/>
                <a:gd name="T4" fmla="*/ 29 w 56"/>
                <a:gd name="T5" fmla="*/ 9 h 11"/>
                <a:gd name="T6" fmla="*/ 15 w 56"/>
                <a:gd name="T7" fmla="*/ 11 h 11"/>
                <a:gd name="T8" fmla="*/ 0 w 56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11">
                  <a:moveTo>
                    <a:pt x="56" y="0"/>
                  </a:moveTo>
                  <a:lnTo>
                    <a:pt x="44" y="8"/>
                  </a:lnTo>
                  <a:lnTo>
                    <a:pt x="29" y="9"/>
                  </a:lnTo>
                  <a:lnTo>
                    <a:pt x="15" y="11"/>
                  </a:lnTo>
                  <a:lnTo>
                    <a:pt x="0" y="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45" name="Freeform 29"/>
            <p:cNvSpPr>
              <a:spLocks/>
            </p:cNvSpPr>
            <p:nvPr/>
          </p:nvSpPr>
          <p:spPr bwMode="auto">
            <a:xfrm>
              <a:off x="4998" y="2638"/>
              <a:ext cx="62" cy="136"/>
            </a:xfrm>
            <a:custGeom>
              <a:avLst/>
              <a:gdLst>
                <a:gd name="T0" fmla="*/ 56 w 62"/>
                <a:gd name="T1" fmla="*/ 0 h 136"/>
                <a:gd name="T2" fmla="*/ 62 w 62"/>
                <a:gd name="T3" fmla="*/ 2 h 136"/>
                <a:gd name="T4" fmla="*/ 44 w 62"/>
                <a:gd name="T5" fmla="*/ 9 h 136"/>
                <a:gd name="T6" fmla="*/ 31 w 62"/>
                <a:gd name="T7" fmla="*/ 23 h 136"/>
                <a:gd name="T8" fmla="*/ 21 w 62"/>
                <a:gd name="T9" fmla="*/ 38 h 136"/>
                <a:gd name="T10" fmla="*/ 15 w 62"/>
                <a:gd name="T11" fmla="*/ 57 h 136"/>
                <a:gd name="T12" fmla="*/ 10 w 62"/>
                <a:gd name="T13" fmla="*/ 96 h 136"/>
                <a:gd name="T14" fmla="*/ 10 w 62"/>
                <a:gd name="T15" fmla="*/ 134 h 136"/>
                <a:gd name="T16" fmla="*/ 4 w 62"/>
                <a:gd name="T17" fmla="*/ 136 h 136"/>
                <a:gd name="T18" fmla="*/ 0 w 62"/>
                <a:gd name="T19" fmla="*/ 134 h 136"/>
                <a:gd name="T20" fmla="*/ 2 w 62"/>
                <a:gd name="T21" fmla="*/ 88 h 136"/>
                <a:gd name="T22" fmla="*/ 8 w 62"/>
                <a:gd name="T23" fmla="*/ 61 h 136"/>
                <a:gd name="T24" fmla="*/ 15 w 62"/>
                <a:gd name="T25" fmla="*/ 36 h 136"/>
                <a:gd name="T26" fmla="*/ 21 w 62"/>
                <a:gd name="T27" fmla="*/ 25 h 136"/>
                <a:gd name="T28" fmla="*/ 31 w 62"/>
                <a:gd name="T29" fmla="*/ 13 h 136"/>
                <a:gd name="T30" fmla="*/ 42 w 62"/>
                <a:gd name="T31" fmla="*/ 6 h 136"/>
                <a:gd name="T32" fmla="*/ 56 w 62"/>
                <a:gd name="T3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" h="136">
                  <a:moveTo>
                    <a:pt x="56" y="0"/>
                  </a:moveTo>
                  <a:lnTo>
                    <a:pt x="62" y="2"/>
                  </a:lnTo>
                  <a:lnTo>
                    <a:pt x="44" y="9"/>
                  </a:lnTo>
                  <a:lnTo>
                    <a:pt x="31" y="23"/>
                  </a:lnTo>
                  <a:lnTo>
                    <a:pt x="21" y="38"/>
                  </a:lnTo>
                  <a:lnTo>
                    <a:pt x="15" y="57"/>
                  </a:lnTo>
                  <a:lnTo>
                    <a:pt x="10" y="96"/>
                  </a:lnTo>
                  <a:lnTo>
                    <a:pt x="10" y="134"/>
                  </a:lnTo>
                  <a:lnTo>
                    <a:pt x="4" y="136"/>
                  </a:lnTo>
                  <a:lnTo>
                    <a:pt x="0" y="134"/>
                  </a:lnTo>
                  <a:lnTo>
                    <a:pt x="2" y="88"/>
                  </a:lnTo>
                  <a:lnTo>
                    <a:pt x="8" y="61"/>
                  </a:lnTo>
                  <a:lnTo>
                    <a:pt x="15" y="36"/>
                  </a:lnTo>
                  <a:lnTo>
                    <a:pt x="21" y="25"/>
                  </a:lnTo>
                  <a:lnTo>
                    <a:pt x="31" y="13"/>
                  </a:lnTo>
                  <a:lnTo>
                    <a:pt x="42" y="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0B0B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46" name="Line 30"/>
            <p:cNvSpPr>
              <a:spLocks noChangeShapeType="1"/>
            </p:cNvSpPr>
            <p:nvPr/>
          </p:nvSpPr>
          <p:spPr bwMode="auto">
            <a:xfrm>
              <a:off x="4948" y="2764"/>
              <a:ext cx="9" cy="98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47" name="Line 31"/>
            <p:cNvSpPr>
              <a:spLocks noChangeShapeType="1"/>
            </p:cNvSpPr>
            <p:nvPr/>
          </p:nvSpPr>
          <p:spPr bwMode="auto">
            <a:xfrm>
              <a:off x="4961" y="2764"/>
              <a:ext cx="10" cy="104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48" name="Line 32"/>
            <p:cNvSpPr>
              <a:spLocks noChangeShapeType="1"/>
            </p:cNvSpPr>
            <p:nvPr/>
          </p:nvSpPr>
          <p:spPr bwMode="auto">
            <a:xfrm>
              <a:off x="4942" y="2762"/>
              <a:ext cx="6" cy="68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49" name="Freeform 33"/>
            <p:cNvSpPr>
              <a:spLocks/>
            </p:cNvSpPr>
            <p:nvPr/>
          </p:nvSpPr>
          <p:spPr bwMode="auto">
            <a:xfrm>
              <a:off x="5010" y="2782"/>
              <a:ext cx="44" cy="78"/>
            </a:xfrm>
            <a:custGeom>
              <a:avLst/>
              <a:gdLst>
                <a:gd name="T0" fmla="*/ 21 w 44"/>
                <a:gd name="T1" fmla="*/ 36 h 78"/>
                <a:gd name="T2" fmla="*/ 40 w 44"/>
                <a:gd name="T3" fmla="*/ 34 h 78"/>
                <a:gd name="T4" fmla="*/ 44 w 44"/>
                <a:gd name="T5" fmla="*/ 74 h 78"/>
                <a:gd name="T6" fmla="*/ 40 w 44"/>
                <a:gd name="T7" fmla="*/ 74 h 78"/>
                <a:gd name="T8" fmla="*/ 38 w 44"/>
                <a:gd name="T9" fmla="*/ 65 h 78"/>
                <a:gd name="T10" fmla="*/ 30 w 44"/>
                <a:gd name="T11" fmla="*/ 76 h 78"/>
                <a:gd name="T12" fmla="*/ 25 w 44"/>
                <a:gd name="T13" fmla="*/ 78 h 78"/>
                <a:gd name="T14" fmla="*/ 17 w 44"/>
                <a:gd name="T15" fmla="*/ 76 h 78"/>
                <a:gd name="T16" fmla="*/ 9 w 44"/>
                <a:gd name="T17" fmla="*/ 72 h 78"/>
                <a:gd name="T18" fmla="*/ 5 w 44"/>
                <a:gd name="T19" fmla="*/ 65 h 78"/>
                <a:gd name="T20" fmla="*/ 1 w 44"/>
                <a:gd name="T21" fmla="*/ 51 h 78"/>
                <a:gd name="T22" fmla="*/ 0 w 44"/>
                <a:gd name="T23" fmla="*/ 34 h 78"/>
                <a:gd name="T24" fmla="*/ 0 w 44"/>
                <a:gd name="T25" fmla="*/ 19 h 78"/>
                <a:gd name="T26" fmla="*/ 7 w 44"/>
                <a:gd name="T27" fmla="*/ 5 h 78"/>
                <a:gd name="T28" fmla="*/ 13 w 44"/>
                <a:gd name="T29" fmla="*/ 2 h 78"/>
                <a:gd name="T30" fmla="*/ 19 w 44"/>
                <a:gd name="T31" fmla="*/ 0 h 78"/>
                <a:gd name="T32" fmla="*/ 28 w 44"/>
                <a:gd name="T33" fmla="*/ 2 h 78"/>
                <a:gd name="T34" fmla="*/ 34 w 44"/>
                <a:gd name="T35" fmla="*/ 7 h 78"/>
                <a:gd name="T36" fmla="*/ 40 w 44"/>
                <a:gd name="T37" fmla="*/ 23 h 78"/>
                <a:gd name="T38" fmla="*/ 32 w 44"/>
                <a:gd name="T39" fmla="*/ 23 h 78"/>
                <a:gd name="T40" fmla="*/ 30 w 44"/>
                <a:gd name="T41" fmla="*/ 15 h 78"/>
                <a:gd name="T42" fmla="*/ 25 w 44"/>
                <a:gd name="T43" fmla="*/ 9 h 78"/>
                <a:gd name="T44" fmla="*/ 17 w 44"/>
                <a:gd name="T45" fmla="*/ 7 h 78"/>
                <a:gd name="T46" fmla="*/ 11 w 44"/>
                <a:gd name="T47" fmla="*/ 11 h 78"/>
                <a:gd name="T48" fmla="*/ 7 w 44"/>
                <a:gd name="T49" fmla="*/ 17 h 78"/>
                <a:gd name="T50" fmla="*/ 5 w 44"/>
                <a:gd name="T51" fmla="*/ 25 h 78"/>
                <a:gd name="T52" fmla="*/ 5 w 44"/>
                <a:gd name="T53" fmla="*/ 36 h 78"/>
                <a:gd name="T54" fmla="*/ 7 w 44"/>
                <a:gd name="T55" fmla="*/ 49 h 78"/>
                <a:gd name="T56" fmla="*/ 11 w 44"/>
                <a:gd name="T57" fmla="*/ 63 h 78"/>
                <a:gd name="T58" fmla="*/ 21 w 44"/>
                <a:gd name="T59" fmla="*/ 69 h 78"/>
                <a:gd name="T60" fmla="*/ 28 w 44"/>
                <a:gd name="T61" fmla="*/ 67 h 78"/>
                <a:gd name="T62" fmla="*/ 34 w 44"/>
                <a:gd name="T63" fmla="*/ 61 h 78"/>
                <a:gd name="T64" fmla="*/ 36 w 44"/>
                <a:gd name="T65" fmla="*/ 44 h 78"/>
                <a:gd name="T66" fmla="*/ 21 w 44"/>
                <a:gd name="T67" fmla="*/ 44 h 78"/>
                <a:gd name="T68" fmla="*/ 21 w 44"/>
                <a:gd name="T69" fmla="*/ 36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" h="78">
                  <a:moveTo>
                    <a:pt x="21" y="36"/>
                  </a:moveTo>
                  <a:lnTo>
                    <a:pt x="40" y="34"/>
                  </a:lnTo>
                  <a:lnTo>
                    <a:pt x="44" y="74"/>
                  </a:lnTo>
                  <a:lnTo>
                    <a:pt x="40" y="74"/>
                  </a:lnTo>
                  <a:lnTo>
                    <a:pt x="38" y="65"/>
                  </a:lnTo>
                  <a:lnTo>
                    <a:pt x="30" y="76"/>
                  </a:lnTo>
                  <a:lnTo>
                    <a:pt x="25" y="78"/>
                  </a:lnTo>
                  <a:lnTo>
                    <a:pt x="17" y="76"/>
                  </a:lnTo>
                  <a:lnTo>
                    <a:pt x="9" y="72"/>
                  </a:lnTo>
                  <a:lnTo>
                    <a:pt x="5" y="65"/>
                  </a:lnTo>
                  <a:lnTo>
                    <a:pt x="1" y="51"/>
                  </a:lnTo>
                  <a:lnTo>
                    <a:pt x="0" y="34"/>
                  </a:lnTo>
                  <a:lnTo>
                    <a:pt x="0" y="19"/>
                  </a:lnTo>
                  <a:lnTo>
                    <a:pt x="7" y="5"/>
                  </a:lnTo>
                  <a:lnTo>
                    <a:pt x="13" y="2"/>
                  </a:lnTo>
                  <a:lnTo>
                    <a:pt x="19" y="0"/>
                  </a:lnTo>
                  <a:lnTo>
                    <a:pt x="28" y="2"/>
                  </a:lnTo>
                  <a:lnTo>
                    <a:pt x="34" y="7"/>
                  </a:lnTo>
                  <a:lnTo>
                    <a:pt x="40" y="23"/>
                  </a:lnTo>
                  <a:lnTo>
                    <a:pt x="32" y="23"/>
                  </a:lnTo>
                  <a:lnTo>
                    <a:pt x="30" y="15"/>
                  </a:lnTo>
                  <a:lnTo>
                    <a:pt x="25" y="9"/>
                  </a:lnTo>
                  <a:lnTo>
                    <a:pt x="17" y="7"/>
                  </a:lnTo>
                  <a:lnTo>
                    <a:pt x="11" y="11"/>
                  </a:lnTo>
                  <a:lnTo>
                    <a:pt x="7" y="17"/>
                  </a:lnTo>
                  <a:lnTo>
                    <a:pt x="5" y="25"/>
                  </a:lnTo>
                  <a:lnTo>
                    <a:pt x="5" y="36"/>
                  </a:lnTo>
                  <a:lnTo>
                    <a:pt x="7" y="49"/>
                  </a:lnTo>
                  <a:lnTo>
                    <a:pt x="11" y="63"/>
                  </a:lnTo>
                  <a:lnTo>
                    <a:pt x="21" y="69"/>
                  </a:lnTo>
                  <a:lnTo>
                    <a:pt x="28" y="67"/>
                  </a:lnTo>
                  <a:lnTo>
                    <a:pt x="34" y="61"/>
                  </a:lnTo>
                  <a:lnTo>
                    <a:pt x="36" y="44"/>
                  </a:lnTo>
                  <a:lnTo>
                    <a:pt x="21" y="44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FFFF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50" name="Freeform 34"/>
            <p:cNvSpPr>
              <a:spLocks/>
            </p:cNvSpPr>
            <p:nvPr/>
          </p:nvSpPr>
          <p:spPr bwMode="auto">
            <a:xfrm>
              <a:off x="5060" y="2780"/>
              <a:ext cx="40" cy="76"/>
            </a:xfrm>
            <a:custGeom>
              <a:avLst/>
              <a:gdLst>
                <a:gd name="T0" fmla="*/ 0 w 40"/>
                <a:gd name="T1" fmla="*/ 76 h 76"/>
                <a:gd name="T2" fmla="*/ 11 w 40"/>
                <a:gd name="T3" fmla="*/ 0 h 76"/>
                <a:gd name="T4" fmla="*/ 17 w 40"/>
                <a:gd name="T5" fmla="*/ 0 h 76"/>
                <a:gd name="T6" fmla="*/ 30 w 40"/>
                <a:gd name="T7" fmla="*/ 44 h 76"/>
                <a:gd name="T8" fmla="*/ 25 w 40"/>
                <a:gd name="T9" fmla="*/ 44 h 76"/>
                <a:gd name="T10" fmla="*/ 15 w 40"/>
                <a:gd name="T11" fmla="*/ 11 h 76"/>
                <a:gd name="T12" fmla="*/ 9 w 40"/>
                <a:gd name="T13" fmla="*/ 46 h 76"/>
                <a:gd name="T14" fmla="*/ 25 w 40"/>
                <a:gd name="T15" fmla="*/ 44 h 76"/>
                <a:gd name="T16" fmla="*/ 30 w 40"/>
                <a:gd name="T17" fmla="*/ 44 h 76"/>
                <a:gd name="T18" fmla="*/ 40 w 40"/>
                <a:gd name="T19" fmla="*/ 74 h 76"/>
                <a:gd name="T20" fmla="*/ 32 w 40"/>
                <a:gd name="T21" fmla="*/ 74 h 76"/>
                <a:gd name="T22" fmla="*/ 27 w 40"/>
                <a:gd name="T23" fmla="*/ 51 h 76"/>
                <a:gd name="T24" fmla="*/ 9 w 40"/>
                <a:gd name="T25" fmla="*/ 53 h 76"/>
                <a:gd name="T26" fmla="*/ 5 w 40"/>
                <a:gd name="T27" fmla="*/ 76 h 76"/>
                <a:gd name="T28" fmla="*/ 0 w 40"/>
                <a:gd name="T2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" h="76">
                  <a:moveTo>
                    <a:pt x="0" y="76"/>
                  </a:moveTo>
                  <a:lnTo>
                    <a:pt x="11" y="0"/>
                  </a:lnTo>
                  <a:lnTo>
                    <a:pt x="17" y="0"/>
                  </a:lnTo>
                  <a:lnTo>
                    <a:pt x="30" y="44"/>
                  </a:lnTo>
                  <a:lnTo>
                    <a:pt x="25" y="44"/>
                  </a:lnTo>
                  <a:lnTo>
                    <a:pt x="15" y="11"/>
                  </a:lnTo>
                  <a:lnTo>
                    <a:pt x="9" y="46"/>
                  </a:lnTo>
                  <a:lnTo>
                    <a:pt x="25" y="44"/>
                  </a:lnTo>
                  <a:lnTo>
                    <a:pt x="30" y="44"/>
                  </a:lnTo>
                  <a:lnTo>
                    <a:pt x="40" y="74"/>
                  </a:lnTo>
                  <a:lnTo>
                    <a:pt x="32" y="74"/>
                  </a:lnTo>
                  <a:lnTo>
                    <a:pt x="27" y="51"/>
                  </a:lnTo>
                  <a:lnTo>
                    <a:pt x="9" y="53"/>
                  </a:lnTo>
                  <a:lnTo>
                    <a:pt x="5" y="76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FFFF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51" name="Freeform 35"/>
            <p:cNvSpPr>
              <a:spLocks/>
            </p:cNvSpPr>
            <p:nvPr/>
          </p:nvSpPr>
          <p:spPr bwMode="auto">
            <a:xfrm>
              <a:off x="5100" y="2776"/>
              <a:ext cx="39" cy="78"/>
            </a:xfrm>
            <a:custGeom>
              <a:avLst/>
              <a:gdLst>
                <a:gd name="T0" fmla="*/ 0 w 39"/>
                <a:gd name="T1" fmla="*/ 52 h 78"/>
                <a:gd name="T2" fmla="*/ 6 w 39"/>
                <a:gd name="T3" fmla="*/ 52 h 78"/>
                <a:gd name="T4" fmla="*/ 12 w 39"/>
                <a:gd name="T5" fmla="*/ 65 h 78"/>
                <a:gd name="T6" fmla="*/ 17 w 39"/>
                <a:gd name="T7" fmla="*/ 71 h 78"/>
                <a:gd name="T8" fmla="*/ 25 w 39"/>
                <a:gd name="T9" fmla="*/ 69 h 78"/>
                <a:gd name="T10" fmla="*/ 31 w 39"/>
                <a:gd name="T11" fmla="*/ 63 h 78"/>
                <a:gd name="T12" fmla="*/ 33 w 39"/>
                <a:gd name="T13" fmla="*/ 55 h 78"/>
                <a:gd name="T14" fmla="*/ 31 w 39"/>
                <a:gd name="T15" fmla="*/ 46 h 78"/>
                <a:gd name="T16" fmla="*/ 4 w 39"/>
                <a:gd name="T17" fmla="*/ 34 h 78"/>
                <a:gd name="T18" fmla="*/ 0 w 39"/>
                <a:gd name="T19" fmla="*/ 25 h 78"/>
                <a:gd name="T20" fmla="*/ 0 w 39"/>
                <a:gd name="T21" fmla="*/ 13 h 78"/>
                <a:gd name="T22" fmla="*/ 4 w 39"/>
                <a:gd name="T23" fmla="*/ 6 h 78"/>
                <a:gd name="T24" fmla="*/ 14 w 39"/>
                <a:gd name="T25" fmla="*/ 0 h 78"/>
                <a:gd name="T26" fmla="*/ 21 w 39"/>
                <a:gd name="T27" fmla="*/ 0 h 78"/>
                <a:gd name="T28" fmla="*/ 29 w 39"/>
                <a:gd name="T29" fmla="*/ 6 h 78"/>
                <a:gd name="T30" fmla="*/ 33 w 39"/>
                <a:gd name="T31" fmla="*/ 13 h 78"/>
                <a:gd name="T32" fmla="*/ 35 w 39"/>
                <a:gd name="T33" fmla="*/ 23 h 78"/>
                <a:gd name="T34" fmla="*/ 29 w 39"/>
                <a:gd name="T35" fmla="*/ 23 h 78"/>
                <a:gd name="T36" fmla="*/ 25 w 39"/>
                <a:gd name="T37" fmla="*/ 13 h 78"/>
                <a:gd name="T38" fmla="*/ 23 w 39"/>
                <a:gd name="T39" fmla="*/ 9 h 78"/>
                <a:gd name="T40" fmla="*/ 17 w 39"/>
                <a:gd name="T41" fmla="*/ 8 h 78"/>
                <a:gd name="T42" fmla="*/ 12 w 39"/>
                <a:gd name="T43" fmla="*/ 8 h 78"/>
                <a:gd name="T44" fmla="*/ 6 w 39"/>
                <a:gd name="T45" fmla="*/ 15 h 78"/>
                <a:gd name="T46" fmla="*/ 8 w 39"/>
                <a:gd name="T47" fmla="*/ 25 h 78"/>
                <a:gd name="T48" fmla="*/ 12 w 39"/>
                <a:gd name="T49" fmla="*/ 31 h 78"/>
                <a:gd name="T50" fmla="*/ 27 w 39"/>
                <a:gd name="T51" fmla="*/ 34 h 78"/>
                <a:gd name="T52" fmla="*/ 31 w 39"/>
                <a:gd name="T53" fmla="*/ 38 h 78"/>
                <a:gd name="T54" fmla="*/ 37 w 39"/>
                <a:gd name="T55" fmla="*/ 42 h 78"/>
                <a:gd name="T56" fmla="*/ 39 w 39"/>
                <a:gd name="T57" fmla="*/ 57 h 78"/>
                <a:gd name="T58" fmla="*/ 35 w 39"/>
                <a:gd name="T59" fmla="*/ 71 h 78"/>
                <a:gd name="T60" fmla="*/ 29 w 39"/>
                <a:gd name="T61" fmla="*/ 75 h 78"/>
                <a:gd name="T62" fmla="*/ 21 w 39"/>
                <a:gd name="T63" fmla="*/ 78 h 78"/>
                <a:gd name="T64" fmla="*/ 12 w 39"/>
                <a:gd name="T65" fmla="*/ 77 h 78"/>
                <a:gd name="T66" fmla="*/ 6 w 39"/>
                <a:gd name="T67" fmla="*/ 69 h 78"/>
                <a:gd name="T68" fmla="*/ 0 w 39"/>
                <a:gd name="T69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" h="78">
                  <a:moveTo>
                    <a:pt x="0" y="52"/>
                  </a:moveTo>
                  <a:lnTo>
                    <a:pt x="6" y="52"/>
                  </a:lnTo>
                  <a:lnTo>
                    <a:pt x="12" y="65"/>
                  </a:lnTo>
                  <a:lnTo>
                    <a:pt x="17" y="71"/>
                  </a:lnTo>
                  <a:lnTo>
                    <a:pt x="25" y="69"/>
                  </a:lnTo>
                  <a:lnTo>
                    <a:pt x="31" y="63"/>
                  </a:lnTo>
                  <a:lnTo>
                    <a:pt x="33" y="55"/>
                  </a:lnTo>
                  <a:lnTo>
                    <a:pt x="31" y="46"/>
                  </a:lnTo>
                  <a:lnTo>
                    <a:pt x="4" y="34"/>
                  </a:lnTo>
                  <a:lnTo>
                    <a:pt x="0" y="25"/>
                  </a:lnTo>
                  <a:lnTo>
                    <a:pt x="0" y="13"/>
                  </a:lnTo>
                  <a:lnTo>
                    <a:pt x="4" y="6"/>
                  </a:lnTo>
                  <a:lnTo>
                    <a:pt x="14" y="0"/>
                  </a:lnTo>
                  <a:lnTo>
                    <a:pt x="21" y="0"/>
                  </a:lnTo>
                  <a:lnTo>
                    <a:pt x="29" y="6"/>
                  </a:lnTo>
                  <a:lnTo>
                    <a:pt x="33" y="13"/>
                  </a:lnTo>
                  <a:lnTo>
                    <a:pt x="35" y="23"/>
                  </a:lnTo>
                  <a:lnTo>
                    <a:pt x="29" y="23"/>
                  </a:lnTo>
                  <a:lnTo>
                    <a:pt x="25" y="13"/>
                  </a:lnTo>
                  <a:lnTo>
                    <a:pt x="23" y="9"/>
                  </a:lnTo>
                  <a:lnTo>
                    <a:pt x="17" y="8"/>
                  </a:lnTo>
                  <a:lnTo>
                    <a:pt x="12" y="8"/>
                  </a:lnTo>
                  <a:lnTo>
                    <a:pt x="6" y="15"/>
                  </a:lnTo>
                  <a:lnTo>
                    <a:pt x="8" y="25"/>
                  </a:lnTo>
                  <a:lnTo>
                    <a:pt x="12" y="31"/>
                  </a:lnTo>
                  <a:lnTo>
                    <a:pt x="27" y="34"/>
                  </a:lnTo>
                  <a:lnTo>
                    <a:pt x="31" y="38"/>
                  </a:lnTo>
                  <a:lnTo>
                    <a:pt x="37" y="42"/>
                  </a:lnTo>
                  <a:lnTo>
                    <a:pt x="39" y="57"/>
                  </a:lnTo>
                  <a:lnTo>
                    <a:pt x="35" y="71"/>
                  </a:lnTo>
                  <a:lnTo>
                    <a:pt x="29" y="75"/>
                  </a:lnTo>
                  <a:lnTo>
                    <a:pt x="21" y="78"/>
                  </a:lnTo>
                  <a:lnTo>
                    <a:pt x="12" y="77"/>
                  </a:lnTo>
                  <a:lnTo>
                    <a:pt x="6" y="69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FF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52" name="Freeform 36"/>
            <p:cNvSpPr>
              <a:spLocks/>
            </p:cNvSpPr>
            <p:nvPr/>
          </p:nvSpPr>
          <p:spPr bwMode="auto">
            <a:xfrm>
              <a:off x="4824" y="2469"/>
              <a:ext cx="124" cy="167"/>
            </a:xfrm>
            <a:custGeom>
              <a:avLst/>
              <a:gdLst>
                <a:gd name="T0" fmla="*/ 0 w 124"/>
                <a:gd name="T1" fmla="*/ 113 h 167"/>
                <a:gd name="T2" fmla="*/ 18 w 124"/>
                <a:gd name="T3" fmla="*/ 129 h 167"/>
                <a:gd name="T4" fmla="*/ 22 w 124"/>
                <a:gd name="T5" fmla="*/ 129 h 167"/>
                <a:gd name="T6" fmla="*/ 47 w 124"/>
                <a:gd name="T7" fmla="*/ 134 h 167"/>
                <a:gd name="T8" fmla="*/ 56 w 124"/>
                <a:gd name="T9" fmla="*/ 136 h 167"/>
                <a:gd name="T10" fmla="*/ 74 w 124"/>
                <a:gd name="T11" fmla="*/ 167 h 167"/>
                <a:gd name="T12" fmla="*/ 101 w 124"/>
                <a:gd name="T13" fmla="*/ 152 h 167"/>
                <a:gd name="T14" fmla="*/ 112 w 124"/>
                <a:gd name="T15" fmla="*/ 140 h 167"/>
                <a:gd name="T16" fmla="*/ 122 w 124"/>
                <a:gd name="T17" fmla="*/ 129 h 167"/>
                <a:gd name="T18" fmla="*/ 124 w 124"/>
                <a:gd name="T19" fmla="*/ 125 h 167"/>
                <a:gd name="T20" fmla="*/ 112 w 124"/>
                <a:gd name="T21" fmla="*/ 104 h 167"/>
                <a:gd name="T22" fmla="*/ 112 w 124"/>
                <a:gd name="T23" fmla="*/ 98 h 167"/>
                <a:gd name="T24" fmla="*/ 112 w 124"/>
                <a:gd name="T25" fmla="*/ 92 h 167"/>
                <a:gd name="T26" fmla="*/ 110 w 124"/>
                <a:gd name="T27" fmla="*/ 83 h 167"/>
                <a:gd name="T28" fmla="*/ 112 w 124"/>
                <a:gd name="T29" fmla="*/ 73 h 167"/>
                <a:gd name="T30" fmla="*/ 120 w 124"/>
                <a:gd name="T31" fmla="*/ 56 h 167"/>
                <a:gd name="T32" fmla="*/ 120 w 124"/>
                <a:gd name="T33" fmla="*/ 50 h 167"/>
                <a:gd name="T34" fmla="*/ 118 w 124"/>
                <a:gd name="T35" fmla="*/ 38 h 167"/>
                <a:gd name="T36" fmla="*/ 112 w 124"/>
                <a:gd name="T37" fmla="*/ 17 h 167"/>
                <a:gd name="T38" fmla="*/ 112 w 124"/>
                <a:gd name="T39" fmla="*/ 2 h 167"/>
                <a:gd name="T40" fmla="*/ 103 w 124"/>
                <a:gd name="T41" fmla="*/ 0 h 167"/>
                <a:gd name="T42" fmla="*/ 95 w 124"/>
                <a:gd name="T43" fmla="*/ 6 h 167"/>
                <a:gd name="T44" fmla="*/ 91 w 124"/>
                <a:gd name="T45" fmla="*/ 17 h 167"/>
                <a:gd name="T46" fmla="*/ 91 w 124"/>
                <a:gd name="T47" fmla="*/ 23 h 167"/>
                <a:gd name="T48" fmla="*/ 93 w 124"/>
                <a:gd name="T49" fmla="*/ 33 h 167"/>
                <a:gd name="T50" fmla="*/ 54 w 124"/>
                <a:gd name="T51" fmla="*/ 38 h 167"/>
                <a:gd name="T52" fmla="*/ 47 w 124"/>
                <a:gd name="T53" fmla="*/ 31 h 167"/>
                <a:gd name="T54" fmla="*/ 0 w 124"/>
                <a:gd name="T55" fmla="*/ 11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4" h="167">
                  <a:moveTo>
                    <a:pt x="0" y="113"/>
                  </a:moveTo>
                  <a:lnTo>
                    <a:pt x="18" y="129"/>
                  </a:lnTo>
                  <a:lnTo>
                    <a:pt x="22" y="129"/>
                  </a:lnTo>
                  <a:lnTo>
                    <a:pt x="47" y="134"/>
                  </a:lnTo>
                  <a:lnTo>
                    <a:pt x="56" y="136"/>
                  </a:lnTo>
                  <a:lnTo>
                    <a:pt x="74" y="167"/>
                  </a:lnTo>
                  <a:lnTo>
                    <a:pt x="101" y="152"/>
                  </a:lnTo>
                  <a:lnTo>
                    <a:pt x="112" y="140"/>
                  </a:lnTo>
                  <a:lnTo>
                    <a:pt x="122" y="129"/>
                  </a:lnTo>
                  <a:lnTo>
                    <a:pt x="124" y="125"/>
                  </a:lnTo>
                  <a:lnTo>
                    <a:pt x="112" y="104"/>
                  </a:lnTo>
                  <a:lnTo>
                    <a:pt x="112" y="98"/>
                  </a:lnTo>
                  <a:lnTo>
                    <a:pt x="112" y="92"/>
                  </a:lnTo>
                  <a:lnTo>
                    <a:pt x="110" y="83"/>
                  </a:lnTo>
                  <a:lnTo>
                    <a:pt x="112" y="73"/>
                  </a:lnTo>
                  <a:lnTo>
                    <a:pt x="120" y="56"/>
                  </a:lnTo>
                  <a:lnTo>
                    <a:pt x="120" y="50"/>
                  </a:lnTo>
                  <a:lnTo>
                    <a:pt x="118" y="38"/>
                  </a:lnTo>
                  <a:lnTo>
                    <a:pt x="112" y="17"/>
                  </a:lnTo>
                  <a:lnTo>
                    <a:pt x="112" y="2"/>
                  </a:lnTo>
                  <a:lnTo>
                    <a:pt x="103" y="0"/>
                  </a:lnTo>
                  <a:lnTo>
                    <a:pt x="95" y="6"/>
                  </a:lnTo>
                  <a:lnTo>
                    <a:pt x="91" y="17"/>
                  </a:lnTo>
                  <a:lnTo>
                    <a:pt x="91" y="23"/>
                  </a:lnTo>
                  <a:lnTo>
                    <a:pt x="93" y="33"/>
                  </a:lnTo>
                  <a:lnTo>
                    <a:pt x="54" y="38"/>
                  </a:lnTo>
                  <a:lnTo>
                    <a:pt x="47" y="31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2C2A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53" name="Freeform 37"/>
            <p:cNvSpPr>
              <a:spLocks/>
            </p:cNvSpPr>
            <p:nvPr/>
          </p:nvSpPr>
          <p:spPr bwMode="auto">
            <a:xfrm>
              <a:off x="4886" y="2519"/>
              <a:ext cx="23" cy="75"/>
            </a:xfrm>
            <a:custGeom>
              <a:avLst/>
              <a:gdLst>
                <a:gd name="T0" fmla="*/ 23 w 23"/>
                <a:gd name="T1" fmla="*/ 0 h 75"/>
                <a:gd name="T2" fmla="*/ 19 w 23"/>
                <a:gd name="T3" fmla="*/ 4 h 75"/>
                <a:gd name="T4" fmla="*/ 16 w 23"/>
                <a:gd name="T5" fmla="*/ 8 h 75"/>
                <a:gd name="T6" fmla="*/ 12 w 23"/>
                <a:gd name="T7" fmla="*/ 11 h 75"/>
                <a:gd name="T8" fmla="*/ 10 w 23"/>
                <a:gd name="T9" fmla="*/ 15 h 75"/>
                <a:gd name="T10" fmla="*/ 6 w 23"/>
                <a:gd name="T11" fmla="*/ 19 h 75"/>
                <a:gd name="T12" fmla="*/ 4 w 23"/>
                <a:gd name="T13" fmla="*/ 25 h 75"/>
                <a:gd name="T14" fmla="*/ 2 w 23"/>
                <a:gd name="T15" fmla="*/ 31 h 75"/>
                <a:gd name="T16" fmla="*/ 2 w 23"/>
                <a:gd name="T17" fmla="*/ 34 h 75"/>
                <a:gd name="T18" fmla="*/ 0 w 23"/>
                <a:gd name="T19" fmla="*/ 40 h 75"/>
                <a:gd name="T20" fmla="*/ 2 w 23"/>
                <a:gd name="T21" fmla="*/ 46 h 75"/>
                <a:gd name="T22" fmla="*/ 2 w 23"/>
                <a:gd name="T23" fmla="*/ 52 h 75"/>
                <a:gd name="T24" fmla="*/ 4 w 23"/>
                <a:gd name="T25" fmla="*/ 57 h 75"/>
                <a:gd name="T26" fmla="*/ 6 w 23"/>
                <a:gd name="T27" fmla="*/ 59 h 75"/>
                <a:gd name="T28" fmla="*/ 8 w 23"/>
                <a:gd name="T29" fmla="*/ 63 h 75"/>
                <a:gd name="T30" fmla="*/ 12 w 23"/>
                <a:gd name="T31" fmla="*/ 65 h 75"/>
                <a:gd name="T32" fmla="*/ 14 w 23"/>
                <a:gd name="T33" fmla="*/ 69 h 75"/>
                <a:gd name="T34" fmla="*/ 17 w 23"/>
                <a:gd name="T35" fmla="*/ 71 h 75"/>
                <a:gd name="T36" fmla="*/ 21 w 23"/>
                <a:gd name="T3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75">
                  <a:moveTo>
                    <a:pt x="23" y="0"/>
                  </a:moveTo>
                  <a:lnTo>
                    <a:pt x="19" y="4"/>
                  </a:lnTo>
                  <a:lnTo>
                    <a:pt x="16" y="8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6" y="19"/>
                  </a:lnTo>
                  <a:lnTo>
                    <a:pt x="4" y="25"/>
                  </a:lnTo>
                  <a:lnTo>
                    <a:pt x="2" y="31"/>
                  </a:lnTo>
                  <a:lnTo>
                    <a:pt x="2" y="34"/>
                  </a:lnTo>
                  <a:lnTo>
                    <a:pt x="0" y="40"/>
                  </a:lnTo>
                  <a:lnTo>
                    <a:pt x="2" y="46"/>
                  </a:lnTo>
                  <a:lnTo>
                    <a:pt x="2" y="52"/>
                  </a:lnTo>
                  <a:lnTo>
                    <a:pt x="4" y="57"/>
                  </a:lnTo>
                  <a:lnTo>
                    <a:pt x="6" y="59"/>
                  </a:lnTo>
                  <a:lnTo>
                    <a:pt x="8" y="63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7" y="71"/>
                  </a:lnTo>
                  <a:lnTo>
                    <a:pt x="21" y="75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54" name="Freeform 38"/>
            <p:cNvSpPr>
              <a:spLocks/>
            </p:cNvSpPr>
            <p:nvPr/>
          </p:nvSpPr>
          <p:spPr bwMode="auto">
            <a:xfrm>
              <a:off x="4902" y="2490"/>
              <a:ext cx="11" cy="6"/>
            </a:xfrm>
            <a:custGeom>
              <a:avLst/>
              <a:gdLst>
                <a:gd name="T0" fmla="*/ 11 w 11"/>
                <a:gd name="T1" fmla="*/ 6 h 6"/>
                <a:gd name="T2" fmla="*/ 9 w 11"/>
                <a:gd name="T3" fmla="*/ 2 h 6"/>
                <a:gd name="T4" fmla="*/ 5 w 11"/>
                <a:gd name="T5" fmla="*/ 0 h 6"/>
                <a:gd name="T6" fmla="*/ 1 w 11"/>
                <a:gd name="T7" fmla="*/ 2 h 6"/>
                <a:gd name="T8" fmla="*/ 0 w 11"/>
                <a:gd name="T9" fmla="*/ 6 h 6"/>
                <a:gd name="T10" fmla="*/ 5 w 11"/>
                <a:gd name="T11" fmla="*/ 2 h 6"/>
                <a:gd name="T12" fmla="*/ 11 w 1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6">
                  <a:moveTo>
                    <a:pt x="11" y="6"/>
                  </a:moveTo>
                  <a:lnTo>
                    <a:pt x="9" y="2"/>
                  </a:lnTo>
                  <a:lnTo>
                    <a:pt x="5" y="0"/>
                  </a:lnTo>
                  <a:lnTo>
                    <a:pt x="1" y="2"/>
                  </a:lnTo>
                  <a:lnTo>
                    <a:pt x="0" y="6"/>
                  </a:lnTo>
                  <a:lnTo>
                    <a:pt x="5" y="2"/>
                  </a:lnTo>
                  <a:lnTo>
                    <a:pt x="11" y="6"/>
                  </a:lnTo>
                  <a:close/>
                </a:path>
              </a:pathLst>
            </a:custGeom>
            <a:solidFill>
              <a:srgbClr val="B0B0B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55" name="Freeform 39"/>
            <p:cNvSpPr>
              <a:spLocks/>
            </p:cNvSpPr>
            <p:nvPr/>
          </p:nvSpPr>
          <p:spPr bwMode="auto">
            <a:xfrm>
              <a:off x="4878" y="2492"/>
              <a:ext cx="35" cy="35"/>
            </a:xfrm>
            <a:custGeom>
              <a:avLst/>
              <a:gdLst>
                <a:gd name="T0" fmla="*/ 0 w 35"/>
                <a:gd name="T1" fmla="*/ 12 h 35"/>
                <a:gd name="T2" fmla="*/ 12 w 35"/>
                <a:gd name="T3" fmla="*/ 0 h 35"/>
                <a:gd name="T4" fmla="*/ 35 w 35"/>
                <a:gd name="T5" fmla="*/ 17 h 35"/>
                <a:gd name="T6" fmla="*/ 20 w 35"/>
                <a:gd name="T7" fmla="*/ 35 h 35"/>
                <a:gd name="T8" fmla="*/ 20 w 35"/>
                <a:gd name="T9" fmla="*/ 33 h 35"/>
                <a:gd name="T10" fmla="*/ 16 w 35"/>
                <a:gd name="T11" fmla="*/ 29 h 35"/>
                <a:gd name="T12" fmla="*/ 0 w 35"/>
                <a:gd name="T13" fmla="*/ 1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5">
                  <a:moveTo>
                    <a:pt x="0" y="12"/>
                  </a:moveTo>
                  <a:lnTo>
                    <a:pt x="12" y="0"/>
                  </a:lnTo>
                  <a:lnTo>
                    <a:pt x="35" y="17"/>
                  </a:lnTo>
                  <a:lnTo>
                    <a:pt x="20" y="35"/>
                  </a:lnTo>
                  <a:lnTo>
                    <a:pt x="20" y="33"/>
                  </a:lnTo>
                  <a:lnTo>
                    <a:pt x="16" y="29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56" name="Freeform 40"/>
            <p:cNvSpPr>
              <a:spLocks/>
            </p:cNvSpPr>
            <p:nvPr/>
          </p:nvSpPr>
          <p:spPr bwMode="auto">
            <a:xfrm>
              <a:off x="4896" y="2492"/>
              <a:ext cx="25" cy="17"/>
            </a:xfrm>
            <a:custGeom>
              <a:avLst/>
              <a:gdLst>
                <a:gd name="T0" fmla="*/ 0 w 25"/>
                <a:gd name="T1" fmla="*/ 6 h 17"/>
                <a:gd name="T2" fmla="*/ 11 w 25"/>
                <a:gd name="T3" fmla="*/ 0 h 17"/>
                <a:gd name="T4" fmla="*/ 25 w 25"/>
                <a:gd name="T5" fmla="*/ 8 h 17"/>
                <a:gd name="T6" fmla="*/ 17 w 25"/>
                <a:gd name="T7" fmla="*/ 17 h 17"/>
                <a:gd name="T8" fmla="*/ 0 w 2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7">
                  <a:moveTo>
                    <a:pt x="0" y="6"/>
                  </a:moveTo>
                  <a:lnTo>
                    <a:pt x="11" y="0"/>
                  </a:lnTo>
                  <a:lnTo>
                    <a:pt x="25" y="8"/>
                  </a:lnTo>
                  <a:lnTo>
                    <a:pt x="17" y="17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0B0B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57" name="Freeform 41"/>
            <p:cNvSpPr>
              <a:spLocks/>
            </p:cNvSpPr>
            <p:nvPr/>
          </p:nvSpPr>
          <p:spPr bwMode="auto">
            <a:xfrm>
              <a:off x="4892" y="2488"/>
              <a:ext cx="8" cy="10"/>
            </a:xfrm>
            <a:custGeom>
              <a:avLst/>
              <a:gdLst>
                <a:gd name="T0" fmla="*/ 6 w 8"/>
                <a:gd name="T1" fmla="*/ 8 h 10"/>
                <a:gd name="T2" fmla="*/ 8 w 8"/>
                <a:gd name="T3" fmla="*/ 8 h 10"/>
                <a:gd name="T4" fmla="*/ 2 w 8"/>
                <a:gd name="T5" fmla="*/ 0 h 10"/>
                <a:gd name="T6" fmla="*/ 0 w 8"/>
                <a:gd name="T7" fmla="*/ 2 h 10"/>
                <a:gd name="T8" fmla="*/ 2 w 8"/>
                <a:gd name="T9" fmla="*/ 4 h 10"/>
                <a:gd name="T10" fmla="*/ 0 w 8"/>
                <a:gd name="T11" fmla="*/ 6 h 10"/>
                <a:gd name="T12" fmla="*/ 4 w 8"/>
                <a:gd name="T13" fmla="*/ 10 h 10"/>
                <a:gd name="T14" fmla="*/ 6 w 8"/>
                <a:gd name="T15" fmla="*/ 8 h 10"/>
                <a:gd name="T16" fmla="*/ 6 w 8"/>
                <a:gd name="T17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0">
                  <a:moveTo>
                    <a:pt x="6" y="8"/>
                  </a:moveTo>
                  <a:lnTo>
                    <a:pt x="8" y="8"/>
                  </a:ln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4" y="10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solidFill>
              <a:srgbClr val="E5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58" name="Freeform 42"/>
            <p:cNvSpPr>
              <a:spLocks/>
            </p:cNvSpPr>
            <p:nvPr/>
          </p:nvSpPr>
          <p:spPr bwMode="auto">
            <a:xfrm>
              <a:off x="4803" y="2479"/>
              <a:ext cx="97" cy="113"/>
            </a:xfrm>
            <a:custGeom>
              <a:avLst/>
              <a:gdLst>
                <a:gd name="T0" fmla="*/ 68 w 97"/>
                <a:gd name="T1" fmla="*/ 103 h 113"/>
                <a:gd name="T2" fmla="*/ 66 w 97"/>
                <a:gd name="T3" fmla="*/ 109 h 113"/>
                <a:gd name="T4" fmla="*/ 62 w 97"/>
                <a:gd name="T5" fmla="*/ 111 h 113"/>
                <a:gd name="T6" fmla="*/ 48 w 97"/>
                <a:gd name="T7" fmla="*/ 113 h 113"/>
                <a:gd name="T8" fmla="*/ 47 w 97"/>
                <a:gd name="T9" fmla="*/ 113 h 113"/>
                <a:gd name="T10" fmla="*/ 20 w 97"/>
                <a:gd name="T11" fmla="*/ 103 h 113"/>
                <a:gd name="T12" fmla="*/ 18 w 97"/>
                <a:gd name="T13" fmla="*/ 101 h 113"/>
                <a:gd name="T14" fmla="*/ 0 w 97"/>
                <a:gd name="T15" fmla="*/ 80 h 113"/>
                <a:gd name="T16" fmla="*/ 0 w 97"/>
                <a:gd name="T17" fmla="*/ 76 h 113"/>
                <a:gd name="T18" fmla="*/ 2 w 97"/>
                <a:gd name="T19" fmla="*/ 71 h 113"/>
                <a:gd name="T20" fmla="*/ 12 w 97"/>
                <a:gd name="T21" fmla="*/ 67 h 113"/>
                <a:gd name="T22" fmla="*/ 14 w 97"/>
                <a:gd name="T23" fmla="*/ 67 h 113"/>
                <a:gd name="T24" fmla="*/ 10 w 97"/>
                <a:gd name="T25" fmla="*/ 57 h 113"/>
                <a:gd name="T26" fmla="*/ 14 w 97"/>
                <a:gd name="T27" fmla="*/ 46 h 113"/>
                <a:gd name="T28" fmla="*/ 20 w 97"/>
                <a:gd name="T29" fmla="*/ 42 h 113"/>
                <a:gd name="T30" fmla="*/ 25 w 97"/>
                <a:gd name="T31" fmla="*/ 44 h 113"/>
                <a:gd name="T32" fmla="*/ 25 w 97"/>
                <a:gd name="T33" fmla="*/ 32 h 113"/>
                <a:gd name="T34" fmla="*/ 31 w 97"/>
                <a:gd name="T35" fmla="*/ 25 h 113"/>
                <a:gd name="T36" fmla="*/ 41 w 97"/>
                <a:gd name="T37" fmla="*/ 23 h 113"/>
                <a:gd name="T38" fmla="*/ 35 w 97"/>
                <a:gd name="T39" fmla="*/ 17 h 113"/>
                <a:gd name="T40" fmla="*/ 31 w 97"/>
                <a:gd name="T41" fmla="*/ 7 h 113"/>
                <a:gd name="T42" fmla="*/ 37 w 97"/>
                <a:gd name="T43" fmla="*/ 0 h 113"/>
                <a:gd name="T44" fmla="*/ 47 w 97"/>
                <a:gd name="T45" fmla="*/ 0 h 113"/>
                <a:gd name="T46" fmla="*/ 48 w 97"/>
                <a:gd name="T47" fmla="*/ 0 h 113"/>
                <a:gd name="T48" fmla="*/ 52 w 97"/>
                <a:gd name="T49" fmla="*/ 3 h 113"/>
                <a:gd name="T50" fmla="*/ 91 w 97"/>
                <a:gd name="T51" fmla="*/ 40 h 113"/>
                <a:gd name="T52" fmla="*/ 97 w 97"/>
                <a:gd name="T53" fmla="*/ 48 h 113"/>
                <a:gd name="T54" fmla="*/ 97 w 97"/>
                <a:gd name="T55" fmla="*/ 53 h 113"/>
                <a:gd name="T56" fmla="*/ 95 w 97"/>
                <a:gd name="T57" fmla="*/ 57 h 113"/>
                <a:gd name="T58" fmla="*/ 89 w 97"/>
                <a:gd name="T59" fmla="*/ 59 h 113"/>
                <a:gd name="T60" fmla="*/ 81 w 97"/>
                <a:gd name="T61" fmla="*/ 59 h 113"/>
                <a:gd name="T62" fmla="*/ 91 w 97"/>
                <a:gd name="T63" fmla="*/ 69 h 113"/>
                <a:gd name="T64" fmla="*/ 95 w 97"/>
                <a:gd name="T65" fmla="*/ 74 h 113"/>
                <a:gd name="T66" fmla="*/ 95 w 97"/>
                <a:gd name="T67" fmla="*/ 80 h 113"/>
                <a:gd name="T68" fmla="*/ 93 w 97"/>
                <a:gd name="T69" fmla="*/ 84 h 113"/>
                <a:gd name="T70" fmla="*/ 87 w 97"/>
                <a:gd name="T71" fmla="*/ 86 h 113"/>
                <a:gd name="T72" fmla="*/ 75 w 97"/>
                <a:gd name="T73" fmla="*/ 84 h 113"/>
                <a:gd name="T74" fmla="*/ 83 w 97"/>
                <a:gd name="T75" fmla="*/ 92 h 113"/>
                <a:gd name="T76" fmla="*/ 83 w 97"/>
                <a:gd name="T77" fmla="*/ 96 h 113"/>
                <a:gd name="T78" fmla="*/ 81 w 97"/>
                <a:gd name="T79" fmla="*/ 99 h 113"/>
                <a:gd name="T80" fmla="*/ 75 w 97"/>
                <a:gd name="T81" fmla="*/ 103 h 113"/>
                <a:gd name="T82" fmla="*/ 68 w 97"/>
                <a:gd name="T83" fmla="*/ 10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7" h="113">
                  <a:moveTo>
                    <a:pt x="68" y="103"/>
                  </a:moveTo>
                  <a:lnTo>
                    <a:pt x="66" y="109"/>
                  </a:lnTo>
                  <a:lnTo>
                    <a:pt x="62" y="111"/>
                  </a:lnTo>
                  <a:lnTo>
                    <a:pt x="48" y="113"/>
                  </a:lnTo>
                  <a:lnTo>
                    <a:pt x="47" y="113"/>
                  </a:lnTo>
                  <a:lnTo>
                    <a:pt x="20" y="103"/>
                  </a:lnTo>
                  <a:lnTo>
                    <a:pt x="18" y="101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2" y="71"/>
                  </a:lnTo>
                  <a:lnTo>
                    <a:pt x="12" y="67"/>
                  </a:lnTo>
                  <a:lnTo>
                    <a:pt x="14" y="67"/>
                  </a:lnTo>
                  <a:lnTo>
                    <a:pt x="10" y="57"/>
                  </a:lnTo>
                  <a:lnTo>
                    <a:pt x="14" y="4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5" y="32"/>
                  </a:lnTo>
                  <a:lnTo>
                    <a:pt x="31" y="25"/>
                  </a:lnTo>
                  <a:lnTo>
                    <a:pt x="41" y="23"/>
                  </a:lnTo>
                  <a:lnTo>
                    <a:pt x="35" y="17"/>
                  </a:lnTo>
                  <a:lnTo>
                    <a:pt x="31" y="7"/>
                  </a:lnTo>
                  <a:lnTo>
                    <a:pt x="37" y="0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91" y="40"/>
                  </a:lnTo>
                  <a:lnTo>
                    <a:pt x="97" y="48"/>
                  </a:lnTo>
                  <a:lnTo>
                    <a:pt x="97" y="53"/>
                  </a:lnTo>
                  <a:lnTo>
                    <a:pt x="95" y="57"/>
                  </a:lnTo>
                  <a:lnTo>
                    <a:pt x="89" y="59"/>
                  </a:lnTo>
                  <a:lnTo>
                    <a:pt x="81" y="59"/>
                  </a:lnTo>
                  <a:lnTo>
                    <a:pt x="91" y="69"/>
                  </a:lnTo>
                  <a:lnTo>
                    <a:pt x="95" y="74"/>
                  </a:lnTo>
                  <a:lnTo>
                    <a:pt x="95" y="80"/>
                  </a:lnTo>
                  <a:lnTo>
                    <a:pt x="93" y="84"/>
                  </a:lnTo>
                  <a:lnTo>
                    <a:pt x="87" y="86"/>
                  </a:lnTo>
                  <a:lnTo>
                    <a:pt x="75" y="84"/>
                  </a:lnTo>
                  <a:lnTo>
                    <a:pt x="83" y="92"/>
                  </a:lnTo>
                  <a:lnTo>
                    <a:pt x="83" y="96"/>
                  </a:lnTo>
                  <a:lnTo>
                    <a:pt x="81" y="99"/>
                  </a:lnTo>
                  <a:lnTo>
                    <a:pt x="75" y="103"/>
                  </a:lnTo>
                  <a:lnTo>
                    <a:pt x="68" y="103"/>
                  </a:lnTo>
                  <a:close/>
                </a:path>
              </a:pathLst>
            </a:custGeom>
            <a:solidFill>
              <a:srgbClr val="F2C2A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59" name="Freeform 43"/>
            <p:cNvSpPr>
              <a:spLocks/>
            </p:cNvSpPr>
            <p:nvPr/>
          </p:nvSpPr>
          <p:spPr bwMode="auto">
            <a:xfrm>
              <a:off x="4817" y="2546"/>
              <a:ext cx="54" cy="36"/>
            </a:xfrm>
            <a:custGeom>
              <a:avLst/>
              <a:gdLst>
                <a:gd name="T0" fmla="*/ 0 w 54"/>
                <a:gd name="T1" fmla="*/ 0 h 36"/>
                <a:gd name="T2" fmla="*/ 17 w 54"/>
                <a:gd name="T3" fmla="*/ 25 h 36"/>
                <a:gd name="T4" fmla="*/ 36 w 54"/>
                <a:gd name="T5" fmla="*/ 36 h 36"/>
                <a:gd name="T6" fmla="*/ 54 w 54"/>
                <a:gd name="T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36">
                  <a:moveTo>
                    <a:pt x="0" y="0"/>
                  </a:moveTo>
                  <a:lnTo>
                    <a:pt x="17" y="25"/>
                  </a:lnTo>
                  <a:lnTo>
                    <a:pt x="36" y="36"/>
                  </a:lnTo>
                  <a:lnTo>
                    <a:pt x="54" y="3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60" name="Freeform 44"/>
            <p:cNvSpPr>
              <a:spLocks/>
            </p:cNvSpPr>
            <p:nvPr/>
          </p:nvSpPr>
          <p:spPr bwMode="auto">
            <a:xfrm>
              <a:off x="4828" y="2523"/>
              <a:ext cx="50" cy="40"/>
            </a:xfrm>
            <a:custGeom>
              <a:avLst/>
              <a:gdLst>
                <a:gd name="T0" fmla="*/ 0 w 50"/>
                <a:gd name="T1" fmla="*/ 0 h 40"/>
                <a:gd name="T2" fmla="*/ 22 w 50"/>
                <a:gd name="T3" fmla="*/ 29 h 40"/>
                <a:gd name="T4" fmla="*/ 41 w 50"/>
                <a:gd name="T5" fmla="*/ 38 h 40"/>
                <a:gd name="T6" fmla="*/ 50 w 50"/>
                <a:gd name="T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40">
                  <a:moveTo>
                    <a:pt x="0" y="0"/>
                  </a:moveTo>
                  <a:lnTo>
                    <a:pt x="22" y="29"/>
                  </a:lnTo>
                  <a:lnTo>
                    <a:pt x="41" y="38"/>
                  </a:lnTo>
                  <a:lnTo>
                    <a:pt x="50" y="4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61" name="Freeform 45"/>
            <p:cNvSpPr>
              <a:spLocks/>
            </p:cNvSpPr>
            <p:nvPr/>
          </p:nvSpPr>
          <p:spPr bwMode="auto">
            <a:xfrm>
              <a:off x="4844" y="2502"/>
              <a:ext cx="40" cy="36"/>
            </a:xfrm>
            <a:custGeom>
              <a:avLst/>
              <a:gdLst>
                <a:gd name="T0" fmla="*/ 0 w 40"/>
                <a:gd name="T1" fmla="*/ 0 h 36"/>
                <a:gd name="T2" fmla="*/ 19 w 40"/>
                <a:gd name="T3" fmla="*/ 23 h 36"/>
                <a:gd name="T4" fmla="*/ 21 w 40"/>
                <a:gd name="T5" fmla="*/ 26 h 36"/>
                <a:gd name="T6" fmla="*/ 40 w 40"/>
                <a:gd name="T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6">
                  <a:moveTo>
                    <a:pt x="0" y="0"/>
                  </a:moveTo>
                  <a:lnTo>
                    <a:pt x="19" y="23"/>
                  </a:lnTo>
                  <a:lnTo>
                    <a:pt x="21" y="26"/>
                  </a:lnTo>
                  <a:lnTo>
                    <a:pt x="40" y="3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62" name="Freeform 46"/>
            <p:cNvSpPr>
              <a:spLocks/>
            </p:cNvSpPr>
            <p:nvPr/>
          </p:nvSpPr>
          <p:spPr bwMode="auto">
            <a:xfrm>
              <a:off x="4888" y="2377"/>
              <a:ext cx="39" cy="113"/>
            </a:xfrm>
            <a:custGeom>
              <a:avLst/>
              <a:gdLst>
                <a:gd name="T0" fmla="*/ 14 w 39"/>
                <a:gd name="T1" fmla="*/ 113 h 113"/>
                <a:gd name="T2" fmla="*/ 17 w 39"/>
                <a:gd name="T3" fmla="*/ 107 h 113"/>
                <a:gd name="T4" fmla="*/ 31 w 39"/>
                <a:gd name="T5" fmla="*/ 86 h 113"/>
                <a:gd name="T6" fmla="*/ 33 w 39"/>
                <a:gd name="T7" fmla="*/ 77 h 113"/>
                <a:gd name="T8" fmla="*/ 33 w 39"/>
                <a:gd name="T9" fmla="*/ 56 h 113"/>
                <a:gd name="T10" fmla="*/ 27 w 39"/>
                <a:gd name="T11" fmla="*/ 33 h 113"/>
                <a:gd name="T12" fmla="*/ 29 w 39"/>
                <a:gd name="T13" fmla="*/ 15 h 113"/>
                <a:gd name="T14" fmla="*/ 39 w 39"/>
                <a:gd name="T15" fmla="*/ 0 h 113"/>
                <a:gd name="T16" fmla="*/ 19 w 39"/>
                <a:gd name="T17" fmla="*/ 13 h 113"/>
                <a:gd name="T18" fmla="*/ 6 w 39"/>
                <a:gd name="T19" fmla="*/ 33 h 113"/>
                <a:gd name="T20" fmla="*/ 2 w 39"/>
                <a:gd name="T21" fmla="*/ 42 h 113"/>
                <a:gd name="T22" fmla="*/ 0 w 39"/>
                <a:gd name="T23" fmla="*/ 52 h 113"/>
                <a:gd name="T24" fmla="*/ 0 w 39"/>
                <a:gd name="T25" fmla="*/ 75 h 113"/>
                <a:gd name="T26" fmla="*/ 2 w 39"/>
                <a:gd name="T27" fmla="*/ 88 h 113"/>
                <a:gd name="T28" fmla="*/ 14 w 39"/>
                <a:gd name="T2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" h="113">
                  <a:moveTo>
                    <a:pt x="14" y="113"/>
                  </a:moveTo>
                  <a:lnTo>
                    <a:pt x="17" y="107"/>
                  </a:lnTo>
                  <a:lnTo>
                    <a:pt x="31" y="86"/>
                  </a:lnTo>
                  <a:lnTo>
                    <a:pt x="33" y="77"/>
                  </a:lnTo>
                  <a:lnTo>
                    <a:pt x="33" y="56"/>
                  </a:lnTo>
                  <a:lnTo>
                    <a:pt x="27" y="33"/>
                  </a:lnTo>
                  <a:lnTo>
                    <a:pt x="29" y="15"/>
                  </a:lnTo>
                  <a:lnTo>
                    <a:pt x="39" y="0"/>
                  </a:lnTo>
                  <a:lnTo>
                    <a:pt x="19" y="13"/>
                  </a:lnTo>
                  <a:lnTo>
                    <a:pt x="6" y="33"/>
                  </a:lnTo>
                  <a:lnTo>
                    <a:pt x="2" y="42"/>
                  </a:lnTo>
                  <a:lnTo>
                    <a:pt x="0" y="52"/>
                  </a:lnTo>
                  <a:lnTo>
                    <a:pt x="0" y="75"/>
                  </a:lnTo>
                  <a:lnTo>
                    <a:pt x="2" y="88"/>
                  </a:lnTo>
                  <a:lnTo>
                    <a:pt x="14" y="113"/>
                  </a:lnTo>
                  <a:close/>
                </a:path>
              </a:pathLst>
            </a:custGeom>
            <a:solidFill>
              <a:srgbClr val="E5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63" name="Freeform 47"/>
            <p:cNvSpPr>
              <a:spLocks/>
            </p:cNvSpPr>
            <p:nvPr/>
          </p:nvSpPr>
          <p:spPr bwMode="auto">
            <a:xfrm>
              <a:off x="4894" y="2415"/>
              <a:ext cx="17" cy="67"/>
            </a:xfrm>
            <a:custGeom>
              <a:avLst/>
              <a:gdLst>
                <a:gd name="T0" fmla="*/ 8 w 17"/>
                <a:gd name="T1" fmla="*/ 67 h 67"/>
                <a:gd name="T2" fmla="*/ 13 w 17"/>
                <a:gd name="T3" fmla="*/ 58 h 67"/>
                <a:gd name="T4" fmla="*/ 17 w 17"/>
                <a:gd name="T5" fmla="*/ 48 h 67"/>
                <a:gd name="T6" fmla="*/ 17 w 17"/>
                <a:gd name="T7" fmla="*/ 37 h 67"/>
                <a:gd name="T8" fmla="*/ 15 w 17"/>
                <a:gd name="T9" fmla="*/ 23 h 67"/>
                <a:gd name="T10" fmla="*/ 13 w 17"/>
                <a:gd name="T11" fmla="*/ 12 h 67"/>
                <a:gd name="T12" fmla="*/ 11 w 17"/>
                <a:gd name="T13" fmla="*/ 4 h 67"/>
                <a:gd name="T14" fmla="*/ 9 w 17"/>
                <a:gd name="T15" fmla="*/ 0 h 67"/>
                <a:gd name="T16" fmla="*/ 0 w 17"/>
                <a:gd name="T17" fmla="*/ 33 h 67"/>
                <a:gd name="T18" fmla="*/ 0 w 17"/>
                <a:gd name="T19" fmla="*/ 43 h 67"/>
                <a:gd name="T20" fmla="*/ 8 w 17"/>
                <a:gd name="T2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67">
                  <a:moveTo>
                    <a:pt x="8" y="67"/>
                  </a:moveTo>
                  <a:lnTo>
                    <a:pt x="13" y="58"/>
                  </a:lnTo>
                  <a:lnTo>
                    <a:pt x="17" y="48"/>
                  </a:lnTo>
                  <a:lnTo>
                    <a:pt x="17" y="37"/>
                  </a:lnTo>
                  <a:lnTo>
                    <a:pt x="15" y="23"/>
                  </a:lnTo>
                  <a:lnTo>
                    <a:pt x="13" y="12"/>
                  </a:lnTo>
                  <a:lnTo>
                    <a:pt x="11" y="4"/>
                  </a:lnTo>
                  <a:lnTo>
                    <a:pt x="9" y="0"/>
                  </a:lnTo>
                  <a:lnTo>
                    <a:pt x="0" y="33"/>
                  </a:lnTo>
                  <a:lnTo>
                    <a:pt x="0" y="43"/>
                  </a:lnTo>
                  <a:lnTo>
                    <a:pt x="8" y="67"/>
                  </a:lnTo>
                  <a:close/>
                </a:path>
              </a:pathLst>
            </a:custGeom>
            <a:solidFill>
              <a:srgbClr val="FFFF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64" name="Freeform 48"/>
            <p:cNvSpPr>
              <a:spLocks/>
            </p:cNvSpPr>
            <p:nvPr/>
          </p:nvSpPr>
          <p:spPr bwMode="auto">
            <a:xfrm>
              <a:off x="5252" y="2770"/>
              <a:ext cx="31" cy="81"/>
            </a:xfrm>
            <a:custGeom>
              <a:avLst/>
              <a:gdLst>
                <a:gd name="T0" fmla="*/ 18 w 31"/>
                <a:gd name="T1" fmla="*/ 0 h 81"/>
                <a:gd name="T2" fmla="*/ 16 w 31"/>
                <a:gd name="T3" fmla="*/ 17 h 81"/>
                <a:gd name="T4" fmla="*/ 12 w 31"/>
                <a:gd name="T5" fmla="*/ 33 h 81"/>
                <a:gd name="T6" fmla="*/ 2 w 31"/>
                <a:gd name="T7" fmla="*/ 52 h 81"/>
                <a:gd name="T8" fmla="*/ 0 w 31"/>
                <a:gd name="T9" fmla="*/ 63 h 81"/>
                <a:gd name="T10" fmla="*/ 2 w 31"/>
                <a:gd name="T11" fmla="*/ 73 h 81"/>
                <a:gd name="T12" fmla="*/ 10 w 31"/>
                <a:gd name="T13" fmla="*/ 79 h 81"/>
                <a:gd name="T14" fmla="*/ 18 w 31"/>
                <a:gd name="T15" fmla="*/ 81 h 81"/>
                <a:gd name="T16" fmla="*/ 27 w 31"/>
                <a:gd name="T17" fmla="*/ 77 h 81"/>
                <a:gd name="T18" fmla="*/ 31 w 31"/>
                <a:gd name="T19" fmla="*/ 69 h 81"/>
                <a:gd name="T20" fmla="*/ 31 w 31"/>
                <a:gd name="T21" fmla="*/ 60 h 81"/>
                <a:gd name="T22" fmla="*/ 29 w 31"/>
                <a:gd name="T23" fmla="*/ 50 h 81"/>
                <a:gd name="T24" fmla="*/ 24 w 31"/>
                <a:gd name="T25" fmla="*/ 37 h 81"/>
                <a:gd name="T26" fmla="*/ 20 w 31"/>
                <a:gd name="T27" fmla="*/ 19 h 81"/>
                <a:gd name="T28" fmla="*/ 18 w 31"/>
                <a:gd name="T29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81">
                  <a:moveTo>
                    <a:pt x="18" y="0"/>
                  </a:moveTo>
                  <a:lnTo>
                    <a:pt x="16" y="17"/>
                  </a:lnTo>
                  <a:lnTo>
                    <a:pt x="12" y="33"/>
                  </a:lnTo>
                  <a:lnTo>
                    <a:pt x="2" y="52"/>
                  </a:lnTo>
                  <a:lnTo>
                    <a:pt x="0" y="63"/>
                  </a:lnTo>
                  <a:lnTo>
                    <a:pt x="2" y="73"/>
                  </a:lnTo>
                  <a:lnTo>
                    <a:pt x="10" y="79"/>
                  </a:lnTo>
                  <a:lnTo>
                    <a:pt x="18" y="81"/>
                  </a:lnTo>
                  <a:lnTo>
                    <a:pt x="27" y="77"/>
                  </a:lnTo>
                  <a:lnTo>
                    <a:pt x="31" y="69"/>
                  </a:lnTo>
                  <a:lnTo>
                    <a:pt x="31" y="60"/>
                  </a:lnTo>
                  <a:lnTo>
                    <a:pt x="29" y="50"/>
                  </a:lnTo>
                  <a:lnTo>
                    <a:pt x="24" y="37"/>
                  </a:lnTo>
                  <a:lnTo>
                    <a:pt x="20" y="19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0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65" name="Freeform 49"/>
            <p:cNvSpPr>
              <a:spLocks/>
            </p:cNvSpPr>
            <p:nvPr/>
          </p:nvSpPr>
          <p:spPr bwMode="auto">
            <a:xfrm>
              <a:off x="5258" y="2703"/>
              <a:ext cx="14" cy="46"/>
            </a:xfrm>
            <a:custGeom>
              <a:avLst/>
              <a:gdLst>
                <a:gd name="T0" fmla="*/ 6 w 14"/>
                <a:gd name="T1" fmla="*/ 0 h 46"/>
                <a:gd name="T2" fmla="*/ 8 w 14"/>
                <a:gd name="T3" fmla="*/ 17 h 46"/>
                <a:gd name="T4" fmla="*/ 14 w 14"/>
                <a:gd name="T5" fmla="*/ 34 h 46"/>
                <a:gd name="T6" fmla="*/ 12 w 14"/>
                <a:gd name="T7" fmla="*/ 42 h 46"/>
                <a:gd name="T8" fmla="*/ 8 w 14"/>
                <a:gd name="T9" fmla="*/ 46 h 46"/>
                <a:gd name="T10" fmla="*/ 4 w 14"/>
                <a:gd name="T11" fmla="*/ 46 h 46"/>
                <a:gd name="T12" fmla="*/ 0 w 14"/>
                <a:gd name="T13" fmla="*/ 40 h 46"/>
                <a:gd name="T14" fmla="*/ 0 w 14"/>
                <a:gd name="T15" fmla="*/ 34 h 46"/>
                <a:gd name="T16" fmla="*/ 2 w 14"/>
                <a:gd name="T17" fmla="*/ 25 h 46"/>
                <a:gd name="T18" fmla="*/ 4 w 14"/>
                <a:gd name="T19" fmla="*/ 11 h 46"/>
                <a:gd name="T20" fmla="*/ 6 w 14"/>
                <a:gd name="T2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46">
                  <a:moveTo>
                    <a:pt x="6" y="0"/>
                  </a:moveTo>
                  <a:lnTo>
                    <a:pt x="8" y="17"/>
                  </a:lnTo>
                  <a:lnTo>
                    <a:pt x="14" y="34"/>
                  </a:lnTo>
                  <a:lnTo>
                    <a:pt x="12" y="42"/>
                  </a:lnTo>
                  <a:lnTo>
                    <a:pt x="8" y="46"/>
                  </a:lnTo>
                  <a:lnTo>
                    <a:pt x="4" y="46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25"/>
                  </a:lnTo>
                  <a:lnTo>
                    <a:pt x="4" y="1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0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66" name="Freeform 50"/>
            <p:cNvSpPr>
              <a:spLocks/>
            </p:cNvSpPr>
            <p:nvPr/>
          </p:nvSpPr>
          <p:spPr bwMode="auto">
            <a:xfrm>
              <a:off x="5250" y="2638"/>
              <a:ext cx="14" cy="36"/>
            </a:xfrm>
            <a:custGeom>
              <a:avLst/>
              <a:gdLst>
                <a:gd name="T0" fmla="*/ 8 w 14"/>
                <a:gd name="T1" fmla="*/ 0 h 36"/>
                <a:gd name="T2" fmla="*/ 6 w 14"/>
                <a:gd name="T3" fmla="*/ 7 h 36"/>
                <a:gd name="T4" fmla="*/ 2 w 14"/>
                <a:gd name="T5" fmla="*/ 19 h 36"/>
                <a:gd name="T6" fmla="*/ 0 w 14"/>
                <a:gd name="T7" fmla="*/ 27 h 36"/>
                <a:gd name="T8" fmla="*/ 0 w 14"/>
                <a:gd name="T9" fmla="*/ 32 h 36"/>
                <a:gd name="T10" fmla="*/ 4 w 14"/>
                <a:gd name="T11" fmla="*/ 36 h 36"/>
                <a:gd name="T12" fmla="*/ 10 w 14"/>
                <a:gd name="T13" fmla="*/ 36 h 36"/>
                <a:gd name="T14" fmla="*/ 14 w 14"/>
                <a:gd name="T15" fmla="*/ 30 h 36"/>
                <a:gd name="T16" fmla="*/ 14 w 14"/>
                <a:gd name="T17" fmla="*/ 25 h 36"/>
                <a:gd name="T18" fmla="*/ 10 w 14"/>
                <a:gd name="T19" fmla="*/ 13 h 36"/>
                <a:gd name="T20" fmla="*/ 8 w 14"/>
                <a:gd name="T2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36">
                  <a:moveTo>
                    <a:pt x="8" y="0"/>
                  </a:moveTo>
                  <a:lnTo>
                    <a:pt x="6" y="7"/>
                  </a:lnTo>
                  <a:lnTo>
                    <a:pt x="2" y="19"/>
                  </a:lnTo>
                  <a:lnTo>
                    <a:pt x="0" y="27"/>
                  </a:lnTo>
                  <a:lnTo>
                    <a:pt x="0" y="32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4" y="30"/>
                  </a:lnTo>
                  <a:lnTo>
                    <a:pt x="14" y="25"/>
                  </a:lnTo>
                  <a:lnTo>
                    <a:pt x="10" y="13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0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67" name="Freeform 51"/>
            <p:cNvSpPr>
              <a:spLocks/>
            </p:cNvSpPr>
            <p:nvPr/>
          </p:nvSpPr>
          <p:spPr bwMode="auto">
            <a:xfrm>
              <a:off x="5114" y="2642"/>
              <a:ext cx="19" cy="34"/>
            </a:xfrm>
            <a:custGeom>
              <a:avLst/>
              <a:gdLst>
                <a:gd name="T0" fmla="*/ 0 w 19"/>
                <a:gd name="T1" fmla="*/ 0 h 34"/>
                <a:gd name="T2" fmla="*/ 9 w 19"/>
                <a:gd name="T3" fmla="*/ 17 h 34"/>
                <a:gd name="T4" fmla="*/ 13 w 19"/>
                <a:gd name="T5" fmla="*/ 34 h 34"/>
                <a:gd name="T6" fmla="*/ 17 w 19"/>
                <a:gd name="T7" fmla="*/ 30 h 34"/>
                <a:gd name="T8" fmla="*/ 19 w 19"/>
                <a:gd name="T9" fmla="*/ 26 h 34"/>
                <a:gd name="T10" fmla="*/ 7 w 19"/>
                <a:gd name="T11" fmla="*/ 2 h 34"/>
                <a:gd name="T12" fmla="*/ 0 w 19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4">
                  <a:moveTo>
                    <a:pt x="0" y="0"/>
                  </a:moveTo>
                  <a:lnTo>
                    <a:pt x="9" y="17"/>
                  </a:lnTo>
                  <a:lnTo>
                    <a:pt x="13" y="34"/>
                  </a:lnTo>
                  <a:lnTo>
                    <a:pt x="17" y="30"/>
                  </a:lnTo>
                  <a:lnTo>
                    <a:pt x="19" y="26"/>
                  </a:lnTo>
                  <a:lnTo>
                    <a:pt x="7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0B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68" name="Freeform 52"/>
            <p:cNvSpPr>
              <a:spLocks/>
            </p:cNvSpPr>
            <p:nvPr/>
          </p:nvSpPr>
          <p:spPr bwMode="auto">
            <a:xfrm>
              <a:off x="5108" y="2619"/>
              <a:ext cx="152" cy="124"/>
            </a:xfrm>
            <a:custGeom>
              <a:avLst/>
              <a:gdLst>
                <a:gd name="T0" fmla="*/ 0 w 152"/>
                <a:gd name="T1" fmla="*/ 118 h 124"/>
                <a:gd name="T2" fmla="*/ 8 w 152"/>
                <a:gd name="T3" fmla="*/ 124 h 124"/>
                <a:gd name="T4" fmla="*/ 19 w 152"/>
                <a:gd name="T5" fmla="*/ 122 h 124"/>
                <a:gd name="T6" fmla="*/ 23 w 152"/>
                <a:gd name="T7" fmla="*/ 120 h 124"/>
                <a:gd name="T8" fmla="*/ 25 w 152"/>
                <a:gd name="T9" fmla="*/ 117 h 124"/>
                <a:gd name="T10" fmla="*/ 27 w 152"/>
                <a:gd name="T11" fmla="*/ 101 h 124"/>
                <a:gd name="T12" fmla="*/ 33 w 152"/>
                <a:gd name="T13" fmla="*/ 86 h 124"/>
                <a:gd name="T14" fmla="*/ 38 w 152"/>
                <a:gd name="T15" fmla="*/ 72 h 124"/>
                <a:gd name="T16" fmla="*/ 46 w 152"/>
                <a:gd name="T17" fmla="*/ 59 h 124"/>
                <a:gd name="T18" fmla="*/ 52 w 152"/>
                <a:gd name="T19" fmla="*/ 51 h 124"/>
                <a:gd name="T20" fmla="*/ 58 w 152"/>
                <a:gd name="T21" fmla="*/ 46 h 124"/>
                <a:gd name="T22" fmla="*/ 79 w 152"/>
                <a:gd name="T23" fmla="*/ 30 h 124"/>
                <a:gd name="T24" fmla="*/ 104 w 152"/>
                <a:gd name="T25" fmla="*/ 21 h 124"/>
                <a:gd name="T26" fmla="*/ 123 w 152"/>
                <a:gd name="T27" fmla="*/ 19 h 124"/>
                <a:gd name="T28" fmla="*/ 142 w 152"/>
                <a:gd name="T29" fmla="*/ 19 h 124"/>
                <a:gd name="T30" fmla="*/ 150 w 152"/>
                <a:gd name="T31" fmla="*/ 21 h 124"/>
                <a:gd name="T32" fmla="*/ 152 w 152"/>
                <a:gd name="T33" fmla="*/ 2 h 124"/>
                <a:gd name="T34" fmla="*/ 121 w 152"/>
                <a:gd name="T35" fmla="*/ 0 h 124"/>
                <a:gd name="T36" fmla="*/ 96 w 152"/>
                <a:gd name="T37" fmla="*/ 2 h 124"/>
                <a:gd name="T38" fmla="*/ 71 w 152"/>
                <a:gd name="T39" fmla="*/ 9 h 124"/>
                <a:gd name="T40" fmla="*/ 54 w 152"/>
                <a:gd name="T41" fmla="*/ 19 h 124"/>
                <a:gd name="T42" fmla="*/ 38 w 152"/>
                <a:gd name="T43" fmla="*/ 30 h 124"/>
                <a:gd name="T44" fmla="*/ 33 w 152"/>
                <a:gd name="T45" fmla="*/ 38 h 124"/>
                <a:gd name="T46" fmla="*/ 23 w 152"/>
                <a:gd name="T47" fmla="*/ 51 h 124"/>
                <a:gd name="T48" fmla="*/ 13 w 152"/>
                <a:gd name="T49" fmla="*/ 69 h 124"/>
                <a:gd name="T50" fmla="*/ 8 w 152"/>
                <a:gd name="T51" fmla="*/ 84 h 124"/>
                <a:gd name="T52" fmla="*/ 0 w 152"/>
                <a:gd name="T53" fmla="*/ 118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" h="124">
                  <a:moveTo>
                    <a:pt x="0" y="118"/>
                  </a:moveTo>
                  <a:lnTo>
                    <a:pt x="8" y="124"/>
                  </a:lnTo>
                  <a:lnTo>
                    <a:pt x="19" y="122"/>
                  </a:lnTo>
                  <a:lnTo>
                    <a:pt x="23" y="120"/>
                  </a:lnTo>
                  <a:lnTo>
                    <a:pt x="25" y="117"/>
                  </a:lnTo>
                  <a:lnTo>
                    <a:pt x="27" y="101"/>
                  </a:lnTo>
                  <a:lnTo>
                    <a:pt x="33" y="86"/>
                  </a:lnTo>
                  <a:lnTo>
                    <a:pt x="38" y="72"/>
                  </a:lnTo>
                  <a:lnTo>
                    <a:pt x="46" y="59"/>
                  </a:lnTo>
                  <a:lnTo>
                    <a:pt x="52" y="51"/>
                  </a:lnTo>
                  <a:lnTo>
                    <a:pt x="58" y="46"/>
                  </a:lnTo>
                  <a:lnTo>
                    <a:pt x="79" y="30"/>
                  </a:lnTo>
                  <a:lnTo>
                    <a:pt x="104" y="21"/>
                  </a:lnTo>
                  <a:lnTo>
                    <a:pt x="123" y="19"/>
                  </a:lnTo>
                  <a:lnTo>
                    <a:pt x="142" y="19"/>
                  </a:lnTo>
                  <a:lnTo>
                    <a:pt x="150" y="21"/>
                  </a:lnTo>
                  <a:lnTo>
                    <a:pt x="152" y="2"/>
                  </a:lnTo>
                  <a:lnTo>
                    <a:pt x="121" y="0"/>
                  </a:lnTo>
                  <a:lnTo>
                    <a:pt x="96" y="2"/>
                  </a:lnTo>
                  <a:lnTo>
                    <a:pt x="71" y="9"/>
                  </a:lnTo>
                  <a:lnTo>
                    <a:pt x="54" y="19"/>
                  </a:lnTo>
                  <a:lnTo>
                    <a:pt x="38" y="30"/>
                  </a:lnTo>
                  <a:lnTo>
                    <a:pt x="33" y="38"/>
                  </a:lnTo>
                  <a:lnTo>
                    <a:pt x="23" y="51"/>
                  </a:lnTo>
                  <a:lnTo>
                    <a:pt x="13" y="69"/>
                  </a:lnTo>
                  <a:lnTo>
                    <a:pt x="8" y="84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B0B0B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69" name="Freeform 53"/>
            <p:cNvSpPr>
              <a:spLocks/>
            </p:cNvSpPr>
            <p:nvPr/>
          </p:nvSpPr>
          <p:spPr bwMode="auto">
            <a:xfrm>
              <a:off x="5254" y="2621"/>
              <a:ext cx="8" cy="19"/>
            </a:xfrm>
            <a:custGeom>
              <a:avLst/>
              <a:gdLst>
                <a:gd name="T0" fmla="*/ 4 w 8"/>
                <a:gd name="T1" fmla="*/ 0 h 19"/>
                <a:gd name="T2" fmla="*/ 8 w 8"/>
                <a:gd name="T3" fmla="*/ 1 h 19"/>
                <a:gd name="T4" fmla="*/ 8 w 8"/>
                <a:gd name="T5" fmla="*/ 7 h 19"/>
                <a:gd name="T6" fmla="*/ 6 w 8"/>
                <a:gd name="T7" fmla="*/ 17 h 19"/>
                <a:gd name="T8" fmla="*/ 4 w 8"/>
                <a:gd name="T9" fmla="*/ 19 h 19"/>
                <a:gd name="T10" fmla="*/ 2 w 8"/>
                <a:gd name="T11" fmla="*/ 19 h 19"/>
                <a:gd name="T12" fmla="*/ 0 w 8"/>
                <a:gd name="T13" fmla="*/ 7 h 19"/>
                <a:gd name="T14" fmla="*/ 4 w 8"/>
                <a:gd name="T15" fmla="*/ 0 h 19"/>
                <a:gd name="T16" fmla="*/ 4 w 8"/>
                <a:gd name="T1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9">
                  <a:moveTo>
                    <a:pt x="4" y="0"/>
                  </a:moveTo>
                  <a:lnTo>
                    <a:pt x="8" y="1"/>
                  </a:lnTo>
                  <a:lnTo>
                    <a:pt x="8" y="7"/>
                  </a:lnTo>
                  <a:lnTo>
                    <a:pt x="6" y="17"/>
                  </a:lnTo>
                  <a:lnTo>
                    <a:pt x="4" y="19"/>
                  </a:lnTo>
                  <a:lnTo>
                    <a:pt x="2" y="19"/>
                  </a:lnTo>
                  <a:lnTo>
                    <a:pt x="0" y="7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70" name="Freeform 54"/>
            <p:cNvSpPr>
              <a:spLocks/>
            </p:cNvSpPr>
            <p:nvPr/>
          </p:nvSpPr>
          <p:spPr bwMode="auto">
            <a:xfrm>
              <a:off x="5116" y="2734"/>
              <a:ext cx="19" cy="2"/>
            </a:xfrm>
            <a:custGeom>
              <a:avLst/>
              <a:gdLst>
                <a:gd name="T0" fmla="*/ 0 w 19"/>
                <a:gd name="T1" fmla="*/ 0 h 2"/>
                <a:gd name="T2" fmla="*/ 9 w 19"/>
                <a:gd name="T3" fmla="*/ 2 h 2"/>
                <a:gd name="T4" fmla="*/ 19 w 19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2">
                  <a:moveTo>
                    <a:pt x="0" y="0"/>
                  </a:moveTo>
                  <a:lnTo>
                    <a:pt x="9" y="2"/>
                  </a:lnTo>
                  <a:lnTo>
                    <a:pt x="1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71" name="Freeform 55"/>
            <p:cNvSpPr>
              <a:spLocks/>
            </p:cNvSpPr>
            <p:nvPr/>
          </p:nvSpPr>
          <p:spPr bwMode="auto">
            <a:xfrm>
              <a:off x="5117" y="2722"/>
              <a:ext cx="18" cy="2"/>
            </a:xfrm>
            <a:custGeom>
              <a:avLst/>
              <a:gdLst>
                <a:gd name="T0" fmla="*/ 0 w 18"/>
                <a:gd name="T1" fmla="*/ 0 h 2"/>
                <a:gd name="T2" fmla="*/ 10 w 18"/>
                <a:gd name="T3" fmla="*/ 2 h 2"/>
                <a:gd name="T4" fmla="*/ 18 w 18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2">
                  <a:moveTo>
                    <a:pt x="0" y="0"/>
                  </a:moveTo>
                  <a:lnTo>
                    <a:pt x="10" y="2"/>
                  </a:lnTo>
                  <a:lnTo>
                    <a:pt x="18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72" name="Freeform 56"/>
            <p:cNvSpPr>
              <a:spLocks/>
            </p:cNvSpPr>
            <p:nvPr/>
          </p:nvSpPr>
          <p:spPr bwMode="auto">
            <a:xfrm>
              <a:off x="5121" y="2711"/>
              <a:ext cx="18" cy="2"/>
            </a:xfrm>
            <a:custGeom>
              <a:avLst/>
              <a:gdLst>
                <a:gd name="T0" fmla="*/ 0 w 18"/>
                <a:gd name="T1" fmla="*/ 0 h 2"/>
                <a:gd name="T2" fmla="*/ 8 w 18"/>
                <a:gd name="T3" fmla="*/ 2 h 2"/>
                <a:gd name="T4" fmla="*/ 18 w 18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2">
                  <a:moveTo>
                    <a:pt x="0" y="0"/>
                  </a:moveTo>
                  <a:lnTo>
                    <a:pt x="8" y="2"/>
                  </a:lnTo>
                  <a:lnTo>
                    <a:pt x="18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73" name="Freeform 57"/>
            <p:cNvSpPr>
              <a:spLocks/>
            </p:cNvSpPr>
            <p:nvPr/>
          </p:nvSpPr>
          <p:spPr bwMode="auto">
            <a:xfrm>
              <a:off x="5125" y="2697"/>
              <a:ext cx="16" cy="4"/>
            </a:xfrm>
            <a:custGeom>
              <a:avLst/>
              <a:gdLst>
                <a:gd name="T0" fmla="*/ 0 w 16"/>
                <a:gd name="T1" fmla="*/ 0 h 4"/>
                <a:gd name="T2" fmla="*/ 8 w 16"/>
                <a:gd name="T3" fmla="*/ 4 h 4"/>
                <a:gd name="T4" fmla="*/ 16 w 16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4">
                  <a:moveTo>
                    <a:pt x="0" y="0"/>
                  </a:moveTo>
                  <a:lnTo>
                    <a:pt x="8" y="4"/>
                  </a:lnTo>
                  <a:lnTo>
                    <a:pt x="16" y="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74" name="Freeform 58"/>
            <p:cNvSpPr>
              <a:spLocks/>
            </p:cNvSpPr>
            <p:nvPr/>
          </p:nvSpPr>
          <p:spPr bwMode="auto">
            <a:xfrm>
              <a:off x="5133" y="2684"/>
              <a:ext cx="13" cy="7"/>
            </a:xfrm>
            <a:custGeom>
              <a:avLst/>
              <a:gdLst>
                <a:gd name="T0" fmla="*/ 0 w 13"/>
                <a:gd name="T1" fmla="*/ 0 h 7"/>
                <a:gd name="T2" fmla="*/ 6 w 13"/>
                <a:gd name="T3" fmla="*/ 6 h 7"/>
                <a:gd name="T4" fmla="*/ 13 w 13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7">
                  <a:moveTo>
                    <a:pt x="0" y="0"/>
                  </a:moveTo>
                  <a:lnTo>
                    <a:pt x="6" y="6"/>
                  </a:lnTo>
                  <a:lnTo>
                    <a:pt x="13" y="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75" name="Line 59"/>
            <p:cNvSpPr>
              <a:spLocks noChangeShapeType="1"/>
            </p:cNvSpPr>
            <p:nvPr/>
          </p:nvSpPr>
          <p:spPr bwMode="auto">
            <a:xfrm>
              <a:off x="5247" y="2626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76" name="Freeform 60"/>
            <p:cNvSpPr>
              <a:spLocks/>
            </p:cNvSpPr>
            <p:nvPr/>
          </p:nvSpPr>
          <p:spPr bwMode="auto">
            <a:xfrm>
              <a:off x="5235" y="2624"/>
              <a:ext cx="4" cy="12"/>
            </a:xfrm>
            <a:custGeom>
              <a:avLst/>
              <a:gdLst>
                <a:gd name="T0" fmla="*/ 0 w 4"/>
                <a:gd name="T1" fmla="*/ 0 h 12"/>
                <a:gd name="T2" fmla="*/ 0 w 4"/>
                <a:gd name="T3" fmla="*/ 8 h 12"/>
                <a:gd name="T4" fmla="*/ 4 w 4"/>
                <a:gd name="T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2">
                  <a:moveTo>
                    <a:pt x="0" y="0"/>
                  </a:moveTo>
                  <a:lnTo>
                    <a:pt x="0" y="8"/>
                  </a:lnTo>
                  <a:lnTo>
                    <a:pt x="4" y="1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77" name="Line 61"/>
            <p:cNvSpPr>
              <a:spLocks noChangeShapeType="1"/>
            </p:cNvSpPr>
            <p:nvPr/>
          </p:nvSpPr>
          <p:spPr bwMode="auto">
            <a:xfrm>
              <a:off x="5224" y="2626"/>
              <a:ext cx="3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78" name="Line 62"/>
            <p:cNvSpPr>
              <a:spLocks noChangeShapeType="1"/>
            </p:cNvSpPr>
            <p:nvPr/>
          </p:nvSpPr>
          <p:spPr bwMode="auto">
            <a:xfrm>
              <a:off x="5214" y="2626"/>
              <a:ext cx="4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79" name="Freeform 63"/>
            <p:cNvSpPr>
              <a:spLocks/>
            </p:cNvSpPr>
            <p:nvPr/>
          </p:nvSpPr>
          <p:spPr bwMode="auto">
            <a:xfrm>
              <a:off x="5202" y="2628"/>
              <a:ext cx="6" cy="12"/>
            </a:xfrm>
            <a:custGeom>
              <a:avLst/>
              <a:gdLst>
                <a:gd name="T0" fmla="*/ 0 w 6"/>
                <a:gd name="T1" fmla="*/ 0 h 12"/>
                <a:gd name="T2" fmla="*/ 2 w 6"/>
                <a:gd name="T3" fmla="*/ 6 h 12"/>
                <a:gd name="T4" fmla="*/ 6 w 6"/>
                <a:gd name="T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lnTo>
                    <a:pt x="2" y="6"/>
                  </a:lnTo>
                  <a:lnTo>
                    <a:pt x="6" y="1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80" name="Line 64"/>
            <p:cNvSpPr>
              <a:spLocks noChangeShapeType="1"/>
            </p:cNvSpPr>
            <p:nvPr/>
          </p:nvSpPr>
          <p:spPr bwMode="auto">
            <a:xfrm>
              <a:off x="5191" y="2632"/>
              <a:ext cx="4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81" name="Freeform 65"/>
            <p:cNvSpPr>
              <a:spLocks/>
            </p:cNvSpPr>
            <p:nvPr/>
          </p:nvSpPr>
          <p:spPr bwMode="auto">
            <a:xfrm>
              <a:off x="5179" y="2640"/>
              <a:ext cx="8" cy="9"/>
            </a:xfrm>
            <a:custGeom>
              <a:avLst/>
              <a:gdLst>
                <a:gd name="T0" fmla="*/ 0 w 8"/>
                <a:gd name="T1" fmla="*/ 0 h 9"/>
                <a:gd name="T2" fmla="*/ 2 w 8"/>
                <a:gd name="T3" fmla="*/ 5 h 9"/>
                <a:gd name="T4" fmla="*/ 8 w 8"/>
                <a:gd name="T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lnTo>
                    <a:pt x="2" y="5"/>
                  </a:lnTo>
                  <a:lnTo>
                    <a:pt x="8" y="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82" name="Freeform 66"/>
            <p:cNvSpPr>
              <a:spLocks/>
            </p:cNvSpPr>
            <p:nvPr/>
          </p:nvSpPr>
          <p:spPr bwMode="auto">
            <a:xfrm>
              <a:off x="5168" y="2645"/>
              <a:ext cx="9" cy="8"/>
            </a:xfrm>
            <a:custGeom>
              <a:avLst/>
              <a:gdLst>
                <a:gd name="T0" fmla="*/ 0 w 9"/>
                <a:gd name="T1" fmla="*/ 0 h 8"/>
                <a:gd name="T2" fmla="*/ 3 w 9"/>
                <a:gd name="T3" fmla="*/ 6 h 8"/>
                <a:gd name="T4" fmla="*/ 9 w 9"/>
                <a:gd name="T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8">
                  <a:moveTo>
                    <a:pt x="0" y="0"/>
                  </a:moveTo>
                  <a:lnTo>
                    <a:pt x="3" y="6"/>
                  </a:lnTo>
                  <a:lnTo>
                    <a:pt x="9" y="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83" name="Freeform 67"/>
            <p:cNvSpPr>
              <a:spLocks/>
            </p:cNvSpPr>
            <p:nvPr/>
          </p:nvSpPr>
          <p:spPr bwMode="auto">
            <a:xfrm>
              <a:off x="5158" y="2653"/>
              <a:ext cx="12" cy="8"/>
            </a:xfrm>
            <a:custGeom>
              <a:avLst/>
              <a:gdLst>
                <a:gd name="T0" fmla="*/ 0 w 12"/>
                <a:gd name="T1" fmla="*/ 0 h 8"/>
                <a:gd name="T2" fmla="*/ 4 w 12"/>
                <a:gd name="T3" fmla="*/ 6 h 8"/>
                <a:gd name="T4" fmla="*/ 12 w 12"/>
                <a:gd name="T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8">
                  <a:moveTo>
                    <a:pt x="0" y="0"/>
                  </a:moveTo>
                  <a:lnTo>
                    <a:pt x="4" y="6"/>
                  </a:lnTo>
                  <a:lnTo>
                    <a:pt x="12" y="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84" name="Freeform 68"/>
            <p:cNvSpPr>
              <a:spLocks/>
            </p:cNvSpPr>
            <p:nvPr/>
          </p:nvSpPr>
          <p:spPr bwMode="auto">
            <a:xfrm>
              <a:off x="5150" y="2663"/>
              <a:ext cx="10" cy="7"/>
            </a:xfrm>
            <a:custGeom>
              <a:avLst/>
              <a:gdLst>
                <a:gd name="T0" fmla="*/ 0 w 10"/>
                <a:gd name="T1" fmla="*/ 0 h 7"/>
                <a:gd name="T2" fmla="*/ 4 w 10"/>
                <a:gd name="T3" fmla="*/ 5 h 7"/>
                <a:gd name="T4" fmla="*/ 10 w 10"/>
                <a:gd name="T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7">
                  <a:moveTo>
                    <a:pt x="0" y="0"/>
                  </a:moveTo>
                  <a:lnTo>
                    <a:pt x="4" y="5"/>
                  </a:lnTo>
                  <a:lnTo>
                    <a:pt x="10" y="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85" name="Freeform 69"/>
            <p:cNvSpPr>
              <a:spLocks/>
            </p:cNvSpPr>
            <p:nvPr/>
          </p:nvSpPr>
          <p:spPr bwMode="auto">
            <a:xfrm>
              <a:off x="5141" y="2672"/>
              <a:ext cx="13" cy="8"/>
            </a:xfrm>
            <a:custGeom>
              <a:avLst/>
              <a:gdLst>
                <a:gd name="T0" fmla="*/ 0 w 13"/>
                <a:gd name="T1" fmla="*/ 0 h 8"/>
                <a:gd name="T2" fmla="*/ 5 w 13"/>
                <a:gd name="T3" fmla="*/ 6 h 8"/>
                <a:gd name="T4" fmla="*/ 13 w 13"/>
                <a:gd name="T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8">
                  <a:moveTo>
                    <a:pt x="0" y="0"/>
                  </a:moveTo>
                  <a:lnTo>
                    <a:pt x="5" y="6"/>
                  </a:lnTo>
                  <a:lnTo>
                    <a:pt x="13" y="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86" name="Freeform 70"/>
            <p:cNvSpPr>
              <a:spLocks/>
            </p:cNvSpPr>
            <p:nvPr/>
          </p:nvSpPr>
          <p:spPr bwMode="auto">
            <a:xfrm>
              <a:off x="5212" y="2266"/>
              <a:ext cx="56" cy="115"/>
            </a:xfrm>
            <a:custGeom>
              <a:avLst/>
              <a:gdLst>
                <a:gd name="T0" fmla="*/ 0 w 56"/>
                <a:gd name="T1" fmla="*/ 34 h 115"/>
                <a:gd name="T2" fmla="*/ 10 w 56"/>
                <a:gd name="T3" fmla="*/ 15 h 115"/>
                <a:gd name="T4" fmla="*/ 17 w 56"/>
                <a:gd name="T5" fmla="*/ 6 h 115"/>
                <a:gd name="T6" fmla="*/ 29 w 56"/>
                <a:gd name="T7" fmla="*/ 0 h 115"/>
                <a:gd name="T8" fmla="*/ 35 w 56"/>
                <a:gd name="T9" fmla="*/ 0 h 115"/>
                <a:gd name="T10" fmla="*/ 38 w 56"/>
                <a:gd name="T11" fmla="*/ 2 h 115"/>
                <a:gd name="T12" fmla="*/ 40 w 56"/>
                <a:gd name="T13" fmla="*/ 7 h 115"/>
                <a:gd name="T14" fmla="*/ 42 w 56"/>
                <a:gd name="T15" fmla="*/ 13 h 115"/>
                <a:gd name="T16" fmla="*/ 37 w 56"/>
                <a:gd name="T17" fmla="*/ 34 h 115"/>
                <a:gd name="T18" fmla="*/ 33 w 56"/>
                <a:gd name="T19" fmla="*/ 44 h 115"/>
                <a:gd name="T20" fmla="*/ 31 w 56"/>
                <a:gd name="T21" fmla="*/ 53 h 115"/>
                <a:gd name="T22" fmla="*/ 31 w 56"/>
                <a:gd name="T23" fmla="*/ 59 h 115"/>
                <a:gd name="T24" fmla="*/ 56 w 56"/>
                <a:gd name="T25" fmla="*/ 94 h 115"/>
                <a:gd name="T26" fmla="*/ 56 w 56"/>
                <a:gd name="T27" fmla="*/ 105 h 115"/>
                <a:gd name="T28" fmla="*/ 50 w 56"/>
                <a:gd name="T29" fmla="*/ 115 h 115"/>
                <a:gd name="T30" fmla="*/ 40 w 56"/>
                <a:gd name="T31" fmla="*/ 98 h 115"/>
                <a:gd name="T32" fmla="*/ 29 w 56"/>
                <a:gd name="T33" fmla="*/ 78 h 115"/>
                <a:gd name="T34" fmla="*/ 13 w 56"/>
                <a:gd name="T35" fmla="*/ 57 h 115"/>
                <a:gd name="T36" fmla="*/ 0 w 56"/>
                <a:gd name="T37" fmla="*/ 3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115">
                  <a:moveTo>
                    <a:pt x="0" y="34"/>
                  </a:moveTo>
                  <a:lnTo>
                    <a:pt x="10" y="15"/>
                  </a:lnTo>
                  <a:lnTo>
                    <a:pt x="17" y="6"/>
                  </a:lnTo>
                  <a:lnTo>
                    <a:pt x="29" y="0"/>
                  </a:lnTo>
                  <a:lnTo>
                    <a:pt x="35" y="0"/>
                  </a:lnTo>
                  <a:lnTo>
                    <a:pt x="38" y="2"/>
                  </a:lnTo>
                  <a:lnTo>
                    <a:pt x="40" y="7"/>
                  </a:lnTo>
                  <a:lnTo>
                    <a:pt x="42" y="13"/>
                  </a:lnTo>
                  <a:lnTo>
                    <a:pt x="37" y="34"/>
                  </a:lnTo>
                  <a:lnTo>
                    <a:pt x="33" y="44"/>
                  </a:lnTo>
                  <a:lnTo>
                    <a:pt x="31" y="53"/>
                  </a:lnTo>
                  <a:lnTo>
                    <a:pt x="31" y="59"/>
                  </a:lnTo>
                  <a:lnTo>
                    <a:pt x="56" y="94"/>
                  </a:lnTo>
                  <a:lnTo>
                    <a:pt x="56" y="105"/>
                  </a:lnTo>
                  <a:lnTo>
                    <a:pt x="50" y="115"/>
                  </a:lnTo>
                  <a:lnTo>
                    <a:pt x="40" y="98"/>
                  </a:lnTo>
                  <a:lnTo>
                    <a:pt x="29" y="78"/>
                  </a:lnTo>
                  <a:lnTo>
                    <a:pt x="13" y="57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2C2A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87" name="Freeform 71"/>
            <p:cNvSpPr>
              <a:spLocks/>
            </p:cNvSpPr>
            <p:nvPr/>
          </p:nvSpPr>
          <p:spPr bwMode="auto">
            <a:xfrm>
              <a:off x="5002" y="2260"/>
              <a:ext cx="63" cy="113"/>
            </a:xfrm>
            <a:custGeom>
              <a:avLst/>
              <a:gdLst>
                <a:gd name="T0" fmla="*/ 63 w 63"/>
                <a:gd name="T1" fmla="*/ 44 h 113"/>
                <a:gd name="T2" fmla="*/ 56 w 63"/>
                <a:gd name="T3" fmla="*/ 21 h 113"/>
                <a:gd name="T4" fmla="*/ 52 w 63"/>
                <a:gd name="T5" fmla="*/ 12 h 113"/>
                <a:gd name="T6" fmla="*/ 44 w 63"/>
                <a:gd name="T7" fmla="*/ 2 h 113"/>
                <a:gd name="T8" fmla="*/ 36 w 63"/>
                <a:gd name="T9" fmla="*/ 0 h 113"/>
                <a:gd name="T10" fmla="*/ 31 w 63"/>
                <a:gd name="T11" fmla="*/ 0 h 113"/>
                <a:gd name="T12" fmla="*/ 25 w 63"/>
                <a:gd name="T13" fmla="*/ 4 h 113"/>
                <a:gd name="T14" fmla="*/ 23 w 63"/>
                <a:gd name="T15" fmla="*/ 10 h 113"/>
                <a:gd name="T16" fmla="*/ 25 w 63"/>
                <a:gd name="T17" fmla="*/ 29 h 113"/>
                <a:gd name="T18" fmla="*/ 31 w 63"/>
                <a:gd name="T19" fmla="*/ 50 h 113"/>
                <a:gd name="T20" fmla="*/ 31 w 63"/>
                <a:gd name="T21" fmla="*/ 54 h 113"/>
                <a:gd name="T22" fmla="*/ 29 w 63"/>
                <a:gd name="T23" fmla="*/ 59 h 113"/>
                <a:gd name="T24" fmla="*/ 4 w 63"/>
                <a:gd name="T25" fmla="*/ 90 h 113"/>
                <a:gd name="T26" fmla="*/ 2 w 63"/>
                <a:gd name="T27" fmla="*/ 96 h 113"/>
                <a:gd name="T28" fmla="*/ 0 w 63"/>
                <a:gd name="T29" fmla="*/ 102 h 113"/>
                <a:gd name="T30" fmla="*/ 2 w 63"/>
                <a:gd name="T31" fmla="*/ 107 h 113"/>
                <a:gd name="T32" fmla="*/ 8 w 63"/>
                <a:gd name="T33" fmla="*/ 113 h 113"/>
                <a:gd name="T34" fmla="*/ 17 w 63"/>
                <a:gd name="T35" fmla="*/ 98 h 113"/>
                <a:gd name="T36" fmla="*/ 31 w 63"/>
                <a:gd name="T37" fmla="*/ 81 h 113"/>
                <a:gd name="T38" fmla="*/ 63 w 63"/>
                <a:gd name="T39" fmla="*/ 4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3" h="113">
                  <a:moveTo>
                    <a:pt x="63" y="44"/>
                  </a:moveTo>
                  <a:lnTo>
                    <a:pt x="56" y="21"/>
                  </a:lnTo>
                  <a:lnTo>
                    <a:pt x="52" y="12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1" y="0"/>
                  </a:lnTo>
                  <a:lnTo>
                    <a:pt x="25" y="4"/>
                  </a:lnTo>
                  <a:lnTo>
                    <a:pt x="23" y="10"/>
                  </a:lnTo>
                  <a:lnTo>
                    <a:pt x="25" y="29"/>
                  </a:lnTo>
                  <a:lnTo>
                    <a:pt x="31" y="50"/>
                  </a:lnTo>
                  <a:lnTo>
                    <a:pt x="31" y="54"/>
                  </a:lnTo>
                  <a:lnTo>
                    <a:pt x="29" y="59"/>
                  </a:lnTo>
                  <a:lnTo>
                    <a:pt x="4" y="90"/>
                  </a:lnTo>
                  <a:lnTo>
                    <a:pt x="2" y="96"/>
                  </a:lnTo>
                  <a:lnTo>
                    <a:pt x="0" y="102"/>
                  </a:lnTo>
                  <a:lnTo>
                    <a:pt x="2" y="107"/>
                  </a:lnTo>
                  <a:lnTo>
                    <a:pt x="8" y="113"/>
                  </a:lnTo>
                  <a:lnTo>
                    <a:pt x="17" y="98"/>
                  </a:lnTo>
                  <a:lnTo>
                    <a:pt x="31" y="81"/>
                  </a:lnTo>
                  <a:lnTo>
                    <a:pt x="63" y="44"/>
                  </a:lnTo>
                  <a:close/>
                </a:path>
              </a:pathLst>
            </a:custGeom>
            <a:solidFill>
              <a:srgbClr val="F2C2A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88" name="Freeform 72"/>
            <p:cNvSpPr>
              <a:spLocks/>
            </p:cNvSpPr>
            <p:nvPr/>
          </p:nvSpPr>
          <p:spPr bwMode="auto">
            <a:xfrm>
              <a:off x="5002" y="2170"/>
              <a:ext cx="266" cy="378"/>
            </a:xfrm>
            <a:custGeom>
              <a:avLst/>
              <a:gdLst>
                <a:gd name="T0" fmla="*/ 94 w 266"/>
                <a:gd name="T1" fmla="*/ 19 h 378"/>
                <a:gd name="T2" fmla="*/ 87 w 266"/>
                <a:gd name="T3" fmla="*/ 38 h 378"/>
                <a:gd name="T4" fmla="*/ 79 w 266"/>
                <a:gd name="T5" fmla="*/ 103 h 378"/>
                <a:gd name="T6" fmla="*/ 75 w 266"/>
                <a:gd name="T7" fmla="*/ 109 h 378"/>
                <a:gd name="T8" fmla="*/ 62 w 266"/>
                <a:gd name="T9" fmla="*/ 134 h 378"/>
                <a:gd name="T10" fmla="*/ 42 w 266"/>
                <a:gd name="T11" fmla="*/ 153 h 378"/>
                <a:gd name="T12" fmla="*/ 25 w 266"/>
                <a:gd name="T13" fmla="*/ 174 h 378"/>
                <a:gd name="T14" fmla="*/ 9 w 266"/>
                <a:gd name="T15" fmla="*/ 197 h 378"/>
                <a:gd name="T16" fmla="*/ 4 w 266"/>
                <a:gd name="T17" fmla="*/ 213 h 378"/>
                <a:gd name="T18" fmla="*/ 0 w 266"/>
                <a:gd name="T19" fmla="*/ 228 h 378"/>
                <a:gd name="T20" fmla="*/ 0 w 266"/>
                <a:gd name="T21" fmla="*/ 243 h 378"/>
                <a:gd name="T22" fmla="*/ 4 w 266"/>
                <a:gd name="T23" fmla="*/ 261 h 378"/>
                <a:gd name="T24" fmla="*/ 8 w 266"/>
                <a:gd name="T25" fmla="*/ 266 h 378"/>
                <a:gd name="T26" fmla="*/ 11 w 266"/>
                <a:gd name="T27" fmla="*/ 274 h 378"/>
                <a:gd name="T28" fmla="*/ 33 w 266"/>
                <a:gd name="T29" fmla="*/ 293 h 378"/>
                <a:gd name="T30" fmla="*/ 54 w 266"/>
                <a:gd name="T31" fmla="*/ 311 h 378"/>
                <a:gd name="T32" fmla="*/ 62 w 266"/>
                <a:gd name="T33" fmla="*/ 322 h 378"/>
                <a:gd name="T34" fmla="*/ 63 w 266"/>
                <a:gd name="T35" fmla="*/ 334 h 378"/>
                <a:gd name="T36" fmla="*/ 69 w 266"/>
                <a:gd name="T37" fmla="*/ 351 h 378"/>
                <a:gd name="T38" fmla="*/ 77 w 266"/>
                <a:gd name="T39" fmla="*/ 362 h 378"/>
                <a:gd name="T40" fmla="*/ 90 w 266"/>
                <a:gd name="T41" fmla="*/ 372 h 378"/>
                <a:gd name="T42" fmla="*/ 106 w 266"/>
                <a:gd name="T43" fmla="*/ 376 h 378"/>
                <a:gd name="T44" fmla="*/ 125 w 266"/>
                <a:gd name="T45" fmla="*/ 378 h 378"/>
                <a:gd name="T46" fmla="*/ 142 w 266"/>
                <a:gd name="T47" fmla="*/ 376 h 378"/>
                <a:gd name="T48" fmla="*/ 162 w 266"/>
                <a:gd name="T49" fmla="*/ 372 h 378"/>
                <a:gd name="T50" fmla="*/ 179 w 266"/>
                <a:gd name="T51" fmla="*/ 362 h 378"/>
                <a:gd name="T52" fmla="*/ 187 w 266"/>
                <a:gd name="T53" fmla="*/ 353 h 378"/>
                <a:gd name="T54" fmla="*/ 193 w 266"/>
                <a:gd name="T55" fmla="*/ 339 h 378"/>
                <a:gd name="T56" fmla="*/ 193 w 266"/>
                <a:gd name="T57" fmla="*/ 334 h 378"/>
                <a:gd name="T58" fmla="*/ 200 w 266"/>
                <a:gd name="T59" fmla="*/ 320 h 378"/>
                <a:gd name="T60" fmla="*/ 208 w 266"/>
                <a:gd name="T61" fmla="*/ 311 h 378"/>
                <a:gd name="T62" fmla="*/ 229 w 266"/>
                <a:gd name="T63" fmla="*/ 291 h 378"/>
                <a:gd name="T64" fmla="*/ 250 w 266"/>
                <a:gd name="T65" fmla="*/ 270 h 378"/>
                <a:gd name="T66" fmla="*/ 258 w 266"/>
                <a:gd name="T67" fmla="*/ 261 h 378"/>
                <a:gd name="T68" fmla="*/ 266 w 266"/>
                <a:gd name="T69" fmla="*/ 247 h 378"/>
                <a:gd name="T70" fmla="*/ 266 w 266"/>
                <a:gd name="T71" fmla="*/ 242 h 378"/>
                <a:gd name="T72" fmla="*/ 266 w 266"/>
                <a:gd name="T73" fmla="*/ 234 h 378"/>
                <a:gd name="T74" fmla="*/ 266 w 266"/>
                <a:gd name="T75" fmla="*/ 226 h 378"/>
                <a:gd name="T76" fmla="*/ 260 w 266"/>
                <a:gd name="T77" fmla="*/ 209 h 378"/>
                <a:gd name="T78" fmla="*/ 252 w 266"/>
                <a:gd name="T79" fmla="*/ 192 h 378"/>
                <a:gd name="T80" fmla="*/ 231 w 266"/>
                <a:gd name="T81" fmla="*/ 161 h 378"/>
                <a:gd name="T82" fmla="*/ 212 w 266"/>
                <a:gd name="T83" fmla="*/ 132 h 378"/>
                <a:gd name="T84" fmla="*/ 204 w 266"/>
                <a:gd name="T85" fmla="*/ 115 h 378"/>
                <a:gd name="T86" fmla="*/ 202 w 266"/>
                <a:gd name="T87" fmla="*/ 96 h 378"/>
                <a:gd name="T88" fmla="*/ 202 w 266"/>
                <a:gd name="T89" fmla="*/ 50 h 378"/>
                <a:gd name="T90" fmla="*/ 196 w 266"/>
                <a:gd name="T91" fmla="*/ 27 h 378"/>
                <a:gd name="T92" fmla="*/ 193 w 266"/>
                <a:gd name="T93" fmla="*/ 17 h 378"/>
                <a:gd name="T94" fmla="*/ 185 w 266"/>
                <a:gd name="T95" fmla="*/ 10 h 378"/>
                <a:gd name="T96" fmla="*/ 168 w 266"/>
                <a:gd name="T97" fmla="*/ 4 h 378"/>
                <a:gd name="T98" fmla="*/ 150 w 266"/>
                <a:gd name="T99" fmla="*/ 0 h 378"/>
                <a:gd name="T100" fmla="*/ 133 w 266"/>
                <a:gd name="T101" fmla="*/ 0 h 378"/>
                <a:gd name="T102" fmla="*/ 115 w 266"/>
                <a:gd name="T103" fmla="*/ 4 h 378"/>
                <a:gd name="T104" fmla="*/ 104 w 266"/>
                <a:gd name="T105" fmla="*/ 10 h 378"/>
                <a:gd name="T106" fmla="*/ 94 w 266"/>
                <a:gd name="T107" fmla="*/ 19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6" h="378">
                  <a:moveTo>
                    <a:pt x="94" y="19"/>
                  </a:moveTo>
                  <a:lnTo>
                    <a:pt x="87" y="38"/>
                  </a:lnTo>
                  <a:lnTo>
                    <a:pt x="79" y="103"/>
                  </a:lnTo>
                  <a:lnTo>
                    <a:pt x="75" y="109"/>
                  </a:lnTo>
                  <a:lnTo>
                    <a:pt x="62" y="134"/>
                  </a:lnTo>
                  <a:lnTo>
                    <a:pt x="42" y="153"/>
                  </a:lnTo>
                  <a:lnTo>
                    <a:pt x="25" y="174"/>
                  </a:lnTo>
                  <a:lnTo>
                    <a:pt x="9" y="197"/>
                  </a:lnTo>
                  <a:lnTo>
                    <a:pt x="4" y="213"/>
                  </a:lnTo>
                  <a:lnTo>
                    <a:pt x="0" y="228"/>
                  </a:lnTo>
                  <a:lnTo>
                    <a:pt x="0" y="243"/>
                  </a:lnTo>
                  <a:lnTo>
                    <a:pt x="4" y="261"/>
                  </a:lnTo>
                  <a:lnTo>
                    <a:pt x="8" y="266"/>
                  </a:lnTo>
                  <a:lnTo>
                    <a:pt x="11" y="274"/>
                  </a:lnTo>
                  <a:lnTo>
                    <a:pt x="33" y="293"/>
                  </a:lnTo>
                  <a:lnTo>
                    <a:pt x="54" y="311"/>
                  </a:lnTo>
                  <a:lnTo>
                    <a:pt x="62" y="322"/>
                  </a:lnTo>
                  <a:lnTo>
                    <a:pt x="63" y="334"/>
                  </a:lnTo>
                  <a:lnTo>
                    <a:pt x="69" y="351"/>
                  </a:lnTo>
                  <a:lnTo>
                    <a:pt x="77" y="362"/>
                  </a:lnTo>
                  <a:lnTo>
                    <a:pt x="90" y="372"/>
                  </a:lnTo>
                  <a:lnTo>
                    <a:pt x="106" y="376"/>
                  </a:lnTo>
                  <a:lnTo>
                    <a:pt x="125" y="378"/>
                  </a:lnTo>
                  <a:lnTo>
                    <a:pt x="142" y="376"/>
                  </a:lnTo>
                  <a:lnTo>
                    <a:pt x="162" y="372"/>
                  </a:lnTo>
                  <a:lnTo>
                    <a:pt x="179" y="362"/>
                  </a:lnTo>
                  <a:lnTo>
                    <a:pt x="187" y="353"/>
                  </a:lnTo>
                  <a:lnTo>
                    <a:pt x="193" y="339"/>
                  </a:lnTo>
                  <a:lnTo>
                    <a:pt x="193" y="334"/>
                  </a:lnTo>
                  <a:lnTo>
                    <a:pt x="200" y="320"/>
                  </a:lnTo>
                  <a:lnTo>
                    <a:pt x="208" y="311"/>
                  </a:lnTo>
                  <a:lnTo>
                    <a:pt x="229" y="291"/>
                  </a:lnTo>
                  <a:lnTo>
                    <a:pt x="250" y="270"/>
                  </a:lnTo>
                  <a:lnTo>
                    <a:pt x="258" y="261"/>
                  </a:lnTo>
                  <a:lnTo>
                    <a:pt x="266" y="247"/>
                  </a:lnTo>
                  <a:lnTo>
                    <a:pt x="266" y="242"/>
                  </a:lnTo>
                  <a:lnTo>
                    <a:pt x="266" y="234"/>
                  </a:lnTo>
                  <a:lnTo>
                    <a:pt x="266" y="226"/>
                  </a:lnTo>
                  <a:lnTo>
                    <a:pt x="260" y="209"/>
                  </a:lnTo>
                  <a:lnTo>
                    <a:pt x="252" y="192"/>
                  </a:lnTo>
                  <a:lnTo>
                    <a:pt x="231" y="161"/>
                  </a:lnTo>
                  <a:lnTo>
                    <a:pt x="212" y="132"/>
                  </a:lnTo>
                  <a:lnTo>
                    <a:pt x="204" y="115"/>
                  </a:lnTo>
                  <a:lnTo>
                    <a:pt x="202" y="96"/>
                  </a:lnTo>
                  <a:lnTo>
                    <a:pt x="202" y="50"/>
                  </a:lnTo>
                  <a:lnTo>
                    <a:pt x="196" y="27"/>
                  </a:lnTo>
                  <a:lnTo>
                    <a:pt x="193" y="17"/>
                  </a:lnTo>
                  <a:lnTo>
                    <a:pt x="185" y="10"/>
                  </a:lnTo>
                  <a:lnTo>
                    <a:pt x="168" y="4"/>
                  </a:lnTo>
                  <a:lnTo>
                    <a:pt x="150" y="0"/>
                  </a:lnTo>
                  <a:lnTo>
                    <a:pt x="133" y="0"/>
                  </a:lnTo>
                  <a:lnTo>
                    <a:pt x="115" y="4"/>
                  </a:lnTo>
                  <a:lnTo>
                    <a:pt x="104" y="10"/>
                  </a:lnTo>
                  <a:lnTo>
                    <a:pt x="94" y="19"/>
                  </a:lnTo>
                  <a:close/>
                </a:path>
              </a:pathLst>
            </a:custGeom>
            <a:solidFill>
              <a:srgbClr val="F2C2A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89" name="Freeform 73"/>
            <p:cNvSpPr>
              <a:spLocks/>
            </p:cNvSpPr>
            <p:nvPr/>
          </p:nvSpPr>
          <p:spPr bwMode="auto">
            <a:xfrm>
              <a:off x="5110" y="2404"/>
              <a:ext cx="19" cy="34"/>
            </a:xfrm>
            <a:custGeom>
              <a:avLst/>
              <a:gdLst>
                <a:gd name="T0" fmla="*/ 17 w 19"/>
                <a:gd name="T1" fmla="*/ 4 h 34"/>
                <a:gd name="T2" fmla="*/ 13 w 19"/>
                <a:gd name="T3" fmla="*/ 2 h 34"/>
                <a:gd name="T4" fmla="*/ 9 w 19"/>
                <a:gd name="T5" fmla="*/ 0 h 34"/>
                <a:gd name="T6" fmla="*/ 7 w 19"/>
                <a:gd name="T7" fmla="*/ 0 h 34"/>
                <a:gd name="T8" fmla="*/ 0 w 19"/>
                <a:gd name="T9" fmla="*/ 2 h 34"/>
                <a:gd name="T10" fmla="*/ 6 w 19"/>
                <a:gd name="T11" fmla="*/ 0 h 34"/>
                <a:gd name="T12" fmla="*/ 11 w 19"/>
                <a:gd name="T13" fmla="*/ 0 h 34"/>
                <a:gd name="T14" fmla="*/ 17 w 19"/>
                <a:gd name="T15" fmla="*/ 4 h 34"/>
                <a:gd name="T16" fmla="*/ 19 w 19"/>
                <a:gd name="T17" fmla="*/ 8 h 34"/>
                <a:gd name="T18" fmla="*/ 19 w 19"/>
                <a:gd name="T19" fmla="*/ 25 h 34"/>
                <a:gd name="T20" fmla="*/ 15 w 19"/>
                <a:gd name="T21" fmla="*/ 32 h 34"/>
                <a:gd name="T22" fmla="*/ 7 w 19"/>
                <a:gd name="T23" fmla="*/ 34 h 34"/>
                <a:gd name="T24" fmla="*/ 6 w 19"/>
                <a:gd name="T25" fmla="*/ 34 h 34"/>
                <a:gd name="T26" fmla="*/ 2 w 19"/>
                <a:gd name="T27" fmla="*/ 32 h 34"/>
                <a:gd name="T28" fmla="*/ 19 w 19"/>
                <a:gd name="T29" fmla="*/ 25 h 34"/>
                <a:gd name="T30" fmla="*/ 19 w 19"/>
                <a:gd name="T31" fmla="*/ 15 h 34"/>
                <a:gd name="T32" fmla="*/ 17 w 19"/>
                <a:gd name="T33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34">
                  <a:moveTo>
                    <a:pt x="17" y="4"/>
                  </a:moveTo>
                  <a:lnTo>
                    <a:pt x="13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0" y="2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7" y="4"/>
                  </a:lnTo>
                  <a:lnTo>
                    <a:pt x="19" y="8"/>
                  </a:lnTo>
                  <a:lnTo>
                    <a:pt x="19" y="25"/>
                  </a:lnTo>
                  <a:lnTo>
                    <a:pt x="15" y="32"/>
                  </a:lnTo>
                  <a:lnTo>
                    <a:pt x="7" y="34"/>
                  </a:lnTo>
                  <a:lnTo>
                    <a:pt x="6" y="34"/>
                  </a:lnTo>
                  <a:lnTo>
                    <a:pt x="2" y="32"/>
                  </a:lnTo>
                  <a:lnTo>
                    <a:pt x="19" y="25"/>
                  </a:lnTo>
                  <a:lnTo>
                    <a:pt x="19" y="15"/>
                  </a:lnTo>
                  <a:lnTo>
                    <a:pt x="17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90" name="Freeform 74"/>
            <p:cNvSpPr>
              <a:spLocks/>
            </p:cNvSpPr>
            <p:nvPr/>
          </p:nvSpPr>
          <p:spPr bwMode="auto">
            <a:xfrm>
              <a:off x="4984" y="2404"/>
              <a:ext cx="147" cy="78"/>
            </a:xfrm>
            <a:custGeom>
              <a:avLst/>
              <a:gdLst>
                <a:gd name="T0" fmla="*/ 0 w 147"/>
                <a:gd name="T1" fmla="*/ 40 h 78"/>
                <a:gd name="T2" fmla="*/ 12 w 147"/>
                <a:gd name="T3" fmla="*/ 78 h 78"/>
                <a:gd name="T4" fmla="*/ 145 w 147"/>
                <a:gd name="T5" fmla="*/ 27 h 78"/>
                <a:gd name="T6" fmla="*/ 147 w 147"/>
                <a:gd name="T7" fmla="*/ 17 h 78"/>
                <a:gd name="T8" fmla="*/ 145 w 147"/>
                <a:gd name="T9" fmla="*/ 9 h 78"/>
                <a:gd name="T10" fmla="*/ 143 w 147"/>
                <a:gd name="T11" fmla="*/ 2 h 78"/>
                <a:gd name="T12" fmla="*/ 135 w 147"/>
                <a:gd name="T13" fmla="*/ 0 h 78"/>
                <a:gd name="T14" fmla="*/ 0 w 147"/>
                <a:gd name="T15" fmla="*/ 4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7" h="78">
                  <a:moveTo>
                    <a:pt x="0" y="40"/>
                  </a:moveTo>
                  <a:lnTo>
                    <a:pt x="12" y="78"/>
                  </a:lnTo>
                  <a:lnTo>
                    <a:pt x="145" y="27"/>
                  </a:lnTo>
                  <a:lnTo>
                    <a:pt x="147" y="17"/>
                  </a:lnTo>
                  <a:lnTo>
                    <a:pt x="145" y="9"/>
                  </a:lnTo>
                  <a:lnTo>
                    <a:pt x="143" y="2"/>
                  </a:lnTo>
                  <a:lnTo>
                    <a:pt x="135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91" name="Freeform 75"/>
            <p:cNvSpPr>
              <a:spLocks/>
            </p:cNvSpPr>
            <p:nvPr/>
          </p:nvSpPr>
          <p:spPr bwMode="auto">
            <a:xfrm>
              <a:off x="4984" y="2438"/>
              <a:ext cx="39" cy="44"/>
            </a:xfrm>
            <a:custGeom>
              <a:avLst/>
              <a:gdLst>
                <a:gd name="T0" fmla="*/ 12 w 39"/>
                <a:gd name="T1" fmla="*/ 44 h 44"/>
                <a:gd name="T2" fmla="*/ 0 w 39"/>
                <a:gd name="T3" fmla="*/ 6 h 44"/>
                <a:gd name="T4" fmla="*/ 22 w 39"/>
                <a:gd name="T5" fmla="*/ 0 h 44"/>
                <a:gd name="T6" fmla="*/ 26 w 39"/>
                <a:gd name="T7" fmla="*/ 0 h 44"/>
                <a:gd name="T8" fmla="*/ 29 w 39"/>
                <a:gd name="T9" fmla="*/ 2 h 44"/>
                <a:gd name="T10" fmla="*/ 33 w 39"/>
                <a:gd name="T11" fmla="*/ 8 h 44"/>
                <a:gd name="T12" fmla="*/ 39 w 39"/>
                <a:gd name="T13" fmla="*/ 21 h 44"/>
                <a:gd name="T14" fmla="*/ 37 w 39"/>
                <a:gd name="T15" fmla="*/ 35 h 44"/>
                <a:gd name="T16" fmla="*/ 12 w 39"/>
                <a:gd name="T1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44">
                  <a:moveTo>
                    <a:pt x="12" y="44"/>
                  </a:moveTo>
                  <a:lnTo>
                    <a:pt x="0" y="6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29" y="2"/>
                  </a:lnTo>
                  <a:lnTo>
                    <a:pt x="33" y="8"/>
                  </a:lnTo>
                  <a:lnTo>
                    <a:pt x="39" y="21"/>
                  </a:lnTo>
                  <a:lnTo>
                    <a:pt x="37" y="35"/>
                  </a:lnTo>
                  <a:lnTo>
                    <a:pt x="12" y="44"/>
                  </a:lnTo>
                  <a:close/>
                </a:path>
              </a:pathLst>
            </a:custGeom>
            <a:solidFill>
              <a:srgbClr val="B0B0B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92" name="Freeform 76"/>
            <p:cNvSpPr>
              <a:spLocks/>
            </p:cNvSpPr>
            <p:nvPr/>
          </p:nvSpPr>
          <p:spPr bwMode="auto">
            <a:xfrm>
              <a:off x="4979" y="2444"/>
              <a:ext cx="23" cy="38"/>
            </a:xfrm>
            <a:custGeom>
              <a:avLst/>
              <a:gdLst>
                <a:gd name="T0" fmla="*/ 5 w 23"/>
                <a:gd name="T1" fmla="*/ 0 h 38"/>
                <a:gd name="T2" fmla="*/ 11 w 23"/>
                <a:gd name="T3" fmla="*/ 2 h 38"/>
                <a:gd name="T4" fmla="*/ 17 w 23"/>
                <a:gd name="T5" fmla="*/ 8 h 38"/>
                <a:gd name="T6" fmla="*/ 23 w 23"/>
                <a:gd name="T7" fmla="*/ 17 h 38"/>
                <a:gd name="T8" fmla="*/ 23 w 23"/>
                <a:gd name="T9" fmla="*/ 27 h 38"/>
                <a:gd name="T10" fmla="*/ 21 w 23"/>
                <a:gd name="T11" fmla="*/ 35 h 38"/>
                <a:gd name="T12" fmla="*/ 15 w 23"/>
                <a:gd name="T13" fmla="*/ 38 h 38"/>
                <a:gd name="T14" fmla="*/ 11 w 23"/>
                <a:gd name="T15" fmla="*/ 37 h 38"/>
                <a:gd name="T16" fmla="*/ 5 w 23"/>
                <a:gd name="T17" fmla="*/ 33 h 38"/>
                <a:gd name="T18" fmla="*/ 2 w 23"/>
                <a:gd name="T19" fmla="*/ 27 h 38"/>
                <a:gd name="T20" fmla="*/ 0 w 23"/>
                <a:gd name="T21" fmla="*/ 12 h 38"/>
                <a:gd name="T22" fmla="*/ 0 w 23"/>
                <a:gd name="T23" fmla="*/ 4 h 38"/>
                <a:gd name="T24" fmla="*/ 5 w 23"/>
                <a:gd name="T2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" h="38">
                  <a:moveTo>
                    <a:pt x="5" y="0"/>
                  </a:moveTo>
                  <a:lnTo>
                    <a:pt x="11" y="2"/>
                  </a:lnTo>
                  <a:lnTo>
                    <a:pt x="17" y="8"/>
                  </a:lnTo>
                  <a:lnTo>
                    <a:pt x="23" y="17"/>
                  </a:lnTo>
                  <a:lnTo>
                    <a:pt x="23" y="27"/>
                  </a:lnTo>
                  <a:lnTo>
                    <a:pt x="21" y="35"/>
                  </a:lnTo>
                  <a:lnTo>
                    <a:pt x="15" y="38"/>
                  </a:lnTo>
                  <a:lnTo>
                    <a:pt x="11" y="37"/>
                  </a:lnTo>
                  <a:lnTo>
                    <a:pt x="5" y="33"/>
                  </a:lnTo>
                  <a:lnTo>
                    <a:pt x="2" y="27"/>
                  </a:lnTo>
                  <a:lnTo>
                    <a:pt x="0" y="12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B0B0B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93" name="Freeform 77"/>
            <p:cNvSpPr>
              <a:spLocks/>
            </p:cNvSpPr>
            <p:nvPr/>
          </p:nvSpPr>
          <p:spPr bwMode="auto">
            <a:xfrm>
              <a:off x="4998" y="2442"/>
              <a:ext cx="2" cy="2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94" name="Freeform 78"/>
            <p:cNvSpPr>
              <a:spLocks/>
            </p:cNvSpPr>
            <p:nvPr/>
          </p:nvSpPr>
          <p:spPr bwMode="auto">
            <a:xfrm>
              <a:off x="5008" y="2446"/>
              <a:ext cx="1" cy="2"/>
            </a:xfrm>
            <a:custGeom>
              <a:avLst/>
              <a:gdLst>
                <a:gd name="T0" fmla="*/ 0 h 2"/>
                <a:gd name="T1" fmla="*/ 2 h 2"/>
                <a:gd name="T2" fmla="*/ 2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95" name="Line 79"/>
            <p:cNvSpPr>
              <a:spLocks noChangeShapeType="1"/>
            </p:cNvSpPr>
            <p:nvPr/>
          </p:nvSpPr>
          <p:spPr bwMode="auto">
            <a:xfrm>
              <a:off x="5004" y="2456"/>
              <a:ext cx="2" cy="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96" name="Freeform 80"/>
            <p:cNvSpPr>
              <a:spLocks/>
            </p:cNvSpPr>
            <p:nvPr/>
          </p:nvSpPr>
          <p:spPr bwMode="auto">
            <a:xfrm>
              <a:off x="5015" y="2463"/>
              <a:ext cx="2" cy="2"/>
            </a:xfrm>
            <a:custGeom>
              <a:avLst/>
              <a:gdLst>
                <a:gd name="T0" fmla="*/ 2 w 2"/>
                <a:gd name="T1" fmla="*/ 0 h 2"/>
                <a:gd name="T2" fmla="*/ 2 w 2"/>
                <a:gd name="T3" fmla="*/ 2 h 2"/>
                <a:gd name="T4" fmla="*/ 2 w 2"/>
                <a:gd name="T5" fmla="*/ 2 h 2"/>
                <a:gd name="T6" fmla="*/ 0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97" name="Freeform 81"/>
            <p:cNvSpPr>
              <a:spLocks/>
            </p:cNvSpPr>
            <p:nvPr/>
          </p:nvSpPr>
          <p:spPr bwMode="auto">
            <a:xfrm>
              <a:off x="5006" y="2475"/>
              <a:ext cx="1" cy="2"/>
            </a:xfrm>
            <a:custGeom>
              <a:avLst/>
              <a:gdLst>
                <a:gd name="T0" fmla="*/ 2 h 2"/>
                <a:gd name="T1" fmla="*/ 2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98" name="Line 82"/>
            <p:cNvSpPr>
              <a:spLocks noChangeShapeType="1"/>
            </p:cNvSpPr>
            <p:nvPr/>
          </p:nvSpPr>
          <p:spPr bwMode="auto">
            <a:xfrm>
              <a:off x="5006" y="2467"/>
              <a:ext cx="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099" name="Line 83"/>
            <p:cNvSpPr>
              <a:spLocks noChangeShapeType="1"/>
            </p:cNvSpPr>
            <p:nvPr/>
          </p:nvSpPr>
          <p:spPr bwMode="auto">
            <a:xfrm flipH="1">
              <a:off x="5015" y="2469"/>
              <a:ext cx="2" cy="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0" name="Freeform 84"/>
            <p:cNvSpPr>
              <a:spLocks/>
            </p:cNvSpPr>
            <p:nvPr/>
          </p:nvSpPr>
          <p:spPr bwMode="auto">
            <a:xfrm>
              <a:off x="5017" y="2456"/>
              <a:ext cx="2" cy="2"/>
            </a:xfrm>
            <a:custGeom>
              <a:avLst/>
              <a:gdLst>
                <a:gd name="T0" fmla="*/ 2 w 2"/>
                <a:gd name="T1" fmla="*/ 2 h 2"/>
                <a:gd name="T2" fmla="*/ 2 w 2"/>
                <a:gd name="T3" fmla="*/ 2 h 2"/>
                <a:gd name="T4" fmla="*/ 2 w 2"/>
                <a:gd name="T5" fmla="*/ 2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1" name="Rectangle 85"/>
            <p:cNvSpPr>
              <a:spLocks noChangeArrowheads="1"/>
            </p:cNvSpPr>
            <p:nvPr/>
          </p:nvSpPr>
          <p:spPr bwMode="auto">
            <a:xfrm>
              <a:off x="5015" y="2444"/>
              <a:ext cx="0" cy="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2" name="Freeform 86"/>
            <p:cNvSpPr>
              <a:spLocks/>
            </p:cNvSpPr>
            <p:nvPr/>
          </p:nvSpPr>
          <p:spPr bwMode="auto">
            <a:xfrm>
              <a:off x="5006" y="2440"/>
              <a:ext cx="2" cy="2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0 h 2"/>
                <a:gd name="T6" fmla="*/ 2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3" name="Freeform 87"/>
            <p:cNvSpPr>
              <a:spLocks/>
            </p:cNvSpPr>
            <p:nvPr/>
          </p:nvSpPr>
          <p:spPr bwMode="auto">
            <a:xfrm>
              <a:off x="4986" y="2450"/>
              <a:ext cx="2" cy="2"/>
            </a:xfrm>
            <a:custGeom>
              <a:avLst/>
              <a:gdLst>
                <a:gd name="T0" fmla="*/ 2 w 2"/>
                <a:gd name="T1" fmla="*/ 0 h 2"/>
                <a:gd name="T2" fmla="*/ 2 w 2"/>
                <a:gd name="T3" fmla="*/ 0 h 2"/>
                <a:gd name="T4" fmla="*/ 2 w 2"/>
                <a:gd name="T5" fmla="*/ 0 h 2"/>
                <a:gd name="T6" fmla="*/ 0 w 2"/>
                <a:gd name="T7" fmla="*/ 0 h 2"/>
                <a:gd name="T8" fmla="*/ 0 w 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4" name="Freeform 88"/>
            <p:cNvSpPr>
              <a:spLocks/>
            </p:cNvSpPr>
            <p:nvPr/>
          </p:nvSpPr>
          <p:spPr bwMode="auto">
            <a:xfrm>
              <a:off x="4981" y="2454"/>
              <a:ext cx="1" cy="2"/>
            </a:xfrm>
            <a:custGeom>
              <a:avLst/>
              <a:gdLst>
                <a:gd name="T0" fmla="*/ 0 h 2"/>
                <a:gd name="T1" fmla="*/ 0 h 2"/>
                <a:gd name="T2" fmla="*/ 0 h 2"/>
                <a:gd name="T3" fmla="*/ 2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5" name="Freeform 89"/>
            <p:cNvSpPr>
              <a:spLocks/>
            </p:cNvSpPr>
            <p:nvPr/>
          </p:nvSpPr>
          <p:spPr bwMode="auto">
            <a:xfrm>
              <a:off x="4983" y="2461"/>
              <a:ext cx="3" cy="2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0 h 2"/>
                <a:gd name="T4" fmla="*/ 1 w 3"/>
                <a:gd name="T5" fmla="*/ 0 h 2"/>
                <a:gd name="T6" fmla="*/ 3 w 3"/>
                <a:gd name="T7" fmla="*/ 0 h 2"/>
                <a:gd name="T8" fmla="*/ 3 w 3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6" name="Freeform 90"/>
            <p:cNvSpPr>
              <a:spLocks/>
            </p:cNvSpPr>
            <p:nvPr/>
          </p:nvSpPr>
          <p:spPr bwMode="auto">
            <a:xfrm>
              <a:off x="4996" y="2467"/>
              <a:ext cx="2" cy="2"/>
            </a:xfrm>
            <a:custGeom>
              <a:avLst/>
              <a:gdLst>
                <a:gd name="T0" fmla="*/ 2 w 2"/>
                <a:gd name="T1" fmla="*/ 0 h 2"/>
                <a:gd name="T2" fmla="*/ 2 w 2"/>
                <a:gd name="T3" fmla="*/ 0 h 2"/>
                <a:gd name="T4" fmla="*/ 0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7" name="Freeform 91"/>
            <p:cNvSpPr>
              <a:spLocks/>
            </p:cNvSpPr>
            <p:nvPr/>
          </p:nvSpPr>
          <p:spPr bwMode="auto">
            <a:xfrm>
              <a:off x="4988" y="2473"/>
              <a:ext cx="1" cy="4"/>
            </a:xfrm>
            <a:custGeom>
              <a:avLst/>
              <a:gdLst>
                <a:gd name="T0" fmla="*/ 4 h 4"/>
                <a:gd name="T1" fmla="*/ 2 h 4"/>
                <a:gd name="T2" fmla="*/ 2 h 4"/>
                <a:gd name="T3" fmla="*/ 2 h 4"/>
                <a:gd name="T4" fmla="*/ 0 h 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">
                  <a:moveTo>
                    <a:pt x="0" y="4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8" name="Freeform 92"/>
            <p:cNvSpPr>
              <a:spLocks/>
            </p:cNvSpPr>
            <p:nvPr/>
          </p:nvSpPr>
          <p:spPr bwMode="auto">
            <a:xfrm>
              <a:off x="4983" y="2467"/>
              <a:ext cx="3" cy="2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0 h 2"/>
                <a:gd name="T4" fmla="*/ 1 w 3"/>
                <a:gd name="T5" fmla="*/ 0 h 2"/>
                <a:gd name="T6" fmla="*/ 1 w 3"/>
                <a:gd name="T7" fmla="*/ 2 h 2"/>
                <a:gd name="T8" fmla="*/ 3 w 3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3" y="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09" name="Freeform 93"/>
            <p:cNvSpPr>
              <a:spLocks/>
            </p:cNvSpPr>
            <p:nvPr/>
          </p:nvSpPr>
          <p:spPr bwMode="auto">
            <a:xfrm>
              <a:off x="4994" y="2458"/>
              <a:ext cx="2" cy="1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10" name="Freeform 94"/>
            <p:cNvSpPr>
              <a:spLocks/>
            </p:cNvSpPr>
            <p:nvPr/>
          </p:nvSpPr>
          <p:spPr bwMode="auto">
            <a:xfrm>
              <a:off x="4994" y="2479"/>
              <a:ext cx="6" cy="1"/>
            </a:xfrm>
            <a:custGeom>
              <a:avLst/>
              <a:gdLst>
                <a:gd name="T0" fmla="*/ 6 w 6"/>
                <a:gd name="T1" fmla="*/ 4 w 6"/>
                <a:gd name="T2" fmla="*/ 4 w 6"/>
                <a:gd name="T3" fmla="*/ 2 w 6"/>
                <a:gd name="T4" fmla="*/ 2 w 6"/>
                <a:gd name="T5" fmla="*/ 2 w 6"/>
                <a:gd name="T6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</a:cxnLst>
              <a:rect l="0" t="0" r="r" b="b"/>
              <a:pathLst>
                <a:path w="6">
                  <a:moveTo>
                    <a:pt x="6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11" name="Freeform 95"/>
            <p:cNvSpPr>
              <a:spLocks/>
            </p:cNvSpPr>
            <p:nvPr/>
          </p:nvSpPr>
          <p:spPr bwMode="auto">
            <a:xfrm>
              <a:off x="4992" y="2454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12" name="Freeform 96"/>
            <p:cNvSpPr>
              <a:spLocks/>
            </p:cNvSpPr>
            <p:nvPr/>
          </p:nvSpPr>
          <p:spPr bwMode="auto">
            <a:xfrm>
              <a:off x="4983" y="2448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13" name="Freeform 97"/>
            <p:cNvSpPr>
              <a:spLocks/>
            </p:cNvSpPr>
            <p:nvPr/>
          </p:nvSpPr>
          <p:spPr bwMode="auto">
            <a:xfrm>
              <a:off x="4992" y="2463"/>
              <a:ext cx="1" cy="2"/>
            </a:xfrm>
            <a:custGeom>
              <a:avLst/>
              <a:gdLst>
                <a:gd name="T0" fmla="*/ 2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14" name="Freeform 98"/>
            <p:cNvSpPr>
              <a:spLocks/>
            </p:cNvSpPr>
            <p:nvPr/>
          </p:nvSpPr>
          <p:spPr bwMode="auto">
            <a:xfrm>
              <a:off x="5102" y="2425"/>
              <a:ext cx="58" cy="48"/>
            </a:xfrm>
            <a:custGeom>
              <a:avLst/>
              <a:gdLst>
                <a:gd name="T0" fmla="*/ 0 w 58"/>
                <a:gd name="T1" fmla="*/ 19 h 48"/>
                <a:gd name="T2" fmla="*/ 4 w 58"/>
                <a:gd name="T3" fmla="*/ 29 h 48"/>
                <a:gd name="T4" fmla="*/ 10 w 58"/>
                <a:gd name="T5" fmla="*/ 34 h 48"/>
                <a:gd name="T6" fmla="*/ 17 w 58"/>
                <a:gd name="T7" fmla="*/ 36 h 48"/>
                <a:gd name="T8" fmla="*/ 27 w 58"/>
                <a:gd name="T9" fmla="*/ 33 h 48"/>
                <a:gd name="T10" fmla="*/ 58 w 58"/>
                <a:gd name="T11" fmla="*/ 0 h 48"/>
                <a:gd name="T12" fmla="*/ 48 w 58"/>
                <a:gd name="T13" fmla="*/ 15 h 48"/>
                <a:gd name="T14" fmla="*/ 39 w 58"/>
                <a:gd name="T15" fmla="*/ 36 h 48"/>
                <a:gd name="T16" fmla="*/ 27 w 58"/>
                <a:gd name="T17" fmla="*/ 46 h 48"/>
                <a:gd name="T18" fmla="*/ 19 w 58"/>
                <a:gd name="T19" fmla="*/ 48 h 48"/>
                <a:gd name="T20" fmla="*/ 12 w 58"/>
                <a:gd name="T21" fmla="*/ 48 h 48"/>
                <a:gd name="T22" fmla="*/ 6 w 58"/>
                <a:gd name="T23" fmla="*/ 42 h 48"/>
                <a:gd name="T24" fmla="*/ 0 w 58"/>
                <a:gd name="T25" fmla="*/ 34 h 48"/>
                <a:gd name="T26" fmla="*/ 0 w 58"/>
                <a:gd name="T27" fmla="*/ 27 h 48"/>
                <a:gd name="T28" fmla="*/ 0 w 58"/>
                <a:gd name="T29" fmla="*/ 1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" h="48">
                  <a:moveTo>
                    <a:pt x="0" y="19"/>
                  </a:moveTo>
                  <a:lnTo>
                    <a:pt x="4" y="29"/>
                  </a:lnTo>
                  <a:lnTo>
                    <a:pt x="10" y="34"/>
                  </a:lnTo>
                  <a:lnTo>
                    <a:pt x="17" y="36"/>
                  </a:lnTo>
                  <a:lnTo>
                    <a:pt x="27" y="33"/>
                  </a:lnTo>
                  <a:lnTo>
                    <a:pt x="58" y="0"/>
                  </a:lnTo>
                  <a:lnTo>
                    <a:pt x="48" y="15"/>
                  </a:lnTo>
                  <a:lnTo>
                    <a:pt x="39" y="36"/>
                  </a:lnTo>
                  <a:lnTo>
                    <a:pt x="27" y="46"/>
                  </a:lnTo>
                  <a:lnTo>
                    <a:pt x="19" y="48"/>
                  </a:lnTo>
                  <a:lnTo>
                    <a:pt x="12" y="48"/>
                  </a:lnTo>
                  <a:lnTo>
                    <a:pt x="6" y="42"/>
                  </a:lnTo>
                  <a:lnTo>
                    <a:pt x="0" y="34"/>
                  </a:lnTo>
                  <a:lnTo>
                    <a:pt x="0" y="27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15" name="Freeform 99"/>
            <p:cNvSpPr>
              <a:spLocks/>
            </p:cNvSpPr>
            <p:nvPr/>
          </p:nvSpPr>
          <p:spPr bwMode="auto">
            <a:xfrm>
              <a:off x="5071" y="2312"/>
              <a:ext cx="60" cy="15"/>
            </a:xfrm>
            <a:custGeom>
              <a:avLst/>
              <a:gdLst>
                <a:gd name="T0" fmla="*/ 29 w 60"/>
                <a:gd name="T1" fmla="*/ 0 h 15"/>
                <a:gd name="T2" fmla="*/ 35 w 60"/>
                <a:gd name="T3" fmla="*/ 0 h 15"/>
                <a:gd name="T4" fmla="*/ 46 w 60"/>
                <a:gd name="T5" fmla="*/ 2 h 15"/>
                <a:gd name="T6" fmla="*/ 54 w 60"/>
                <a:gd name="T7" fmla="*/ 4 h 15"/>
                <a:gd name="T8" fmla="*/ 60 w 60"/>
                <a:gd name="T9" fmla="*/ 9 h 15"/>
                <a:gd name="T10" fmla="*/ 52 w 60"/>
                <a:gd name="T11" fmla="*/ 13 h 15"/>
                <a:gd name="T12" fmla="*/ 27 w 60"/>
                <a:gd name="T13" fmla="*/ 15 h 15"/>
                <a:gd name="T14" fmla="*/ 16 w 60"/>
                <a:gd name="T15" fmla="*/ 15 h 15"/>
                <a:gd name="T16" fmla="*/ 2 w 60"/>
                <a:gd name="T17" fmla="*/ 11 h 15"/>
                <a:gd name="T18" fmla="*/ 0 w 60"/>
                <a:gd name="T19" fmla="*/ 7 h 15"/>
                <a:gd name="T20" fmla="*/ 2 w 60"/>
                <a:gd name="T21" fmla="*/ 6 h 15"/>
                <a:gd name="T22" fmla="*/ 10 w 60"/>
                <a:gd name="T23" fmla="*/ 2 h 15"/>
                <a:gd name="T24" fmla="*/ 29 w 60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15">
                  <a:moveTo>
                    <a:pt x="29" y="0"/>
                  </a:moveTo>
                  <a:lnTo>
                    <a:pt x="35" y="0"/>
                  </a:lnTo>
                  <a:lnTo>
                    <a:pt x="46" y="2"/>
                  </a:lnTo>
                  <a:lnTo>
                    <a:pt x="54" y="4"/>
                  </a:lnTo>
                  <a:lnTo>
                    <a:pt x="60" y="9"/>
                  </a:lnTo>
                  <a:lnTo>
                    <a:pt x="52" y="13"/>
                  </a:lnTo>
                  <a:lnTo>
                    <a:pt x="27" y="15"/>
                  </a:lnTo>
                  <a:lnTo>
                    <a:pt x="16" y="15"/>
                  </a:lnTo>
                  <a:lnTo>
                    <a:pt x="2" y="11"/>
                  </a:lnTo>
                  <a:lnTo>
                    <a:pt x="0" y="7"/>
                  </a:lnTo>
                  <a:lnTo>
                    <a:pt x="2" y="6"/>
                  </a:lnTo>
                  <a:lnTo>
                    <a:pt x="10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16" name="Freeform 100"/>
            <p:cNvSpPr>
              <a:spLocks/>
            </p:cNvSpPr>
            <p:nvPr/>
          </p:nvSpPr>
          <p:spPr bwMode="auto">
            <a:xfrm>
              <a:off x="5137" y="2314"/>
              <a:ext cx="61" cy="15"/>
            </a:xfrm>
            <a:custGeom>
              <a:avLst/>
              <a:gdLst>
                <a:gd name="T0" fmla="*/ 31 w 61"/>
                <a:gd name="T1" fmla="*/ 0 h 15"/>
                <a:gd name="T2" fmla="*/ 44 w 61"/>
                <a:gd name="T3" fmla="*/ 0 h 15"/>
                <a:gd name="T4" fmla="*/ 58 w 61"/>
                <a:gd name="T5" fmla="*/ 4 h 15"/>
                <a:gd name="T6" fmla="*/ 61 w 61"/>
                <a:gd name="T7" fmla="*/ 7 h 15"/>
                <a:gd name="T8" fmla="*/ 58 w 61"/>
                <a:gd name="T9" fmla="*/ 11 h 15"/>
                <a:gd name="T10" fmla="*/ 46 w 61"/>
                <a:gd name="T11" fmla="*/ 15 h 15"/>
                <a:gd name="T12" fmla="*/ 33 w 61"/>
                <a:gd name="T13" fmla="*/ 15 h 15"/>
                <a:gd name="T14" fmla="*/ 7 w 61"/>
                <a:gd name="T15" fmla="*/ 13 h 15"/>
                <a:gd name="T16" fmla="*/ 2 w 61"/>
                <a:gd name="T17" fmla="*/ 9 h 15"/>
                <a:gd name="T18" fmla="*/ 0 w 61"/>
                <a:gd name="T19" fmla="*/ 7 h 15"/>
                <a:gd name="T20" fmla="*/ 2 w 61"/>
                <a:gd name="T21" fmla="*/ 5 h 15"/>
                <a:gd name="T22" fmla="*/ 15 w 61"/>
                <a:gd name="T23" fmla="*/ 0 h 15"/>
                <a:gd name="T24" fmla="*/ 31 w 61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" h="15">
                  <a:moveTo>
                    <a:pt x="31" y="0"/>
                  </a:moveTo>
                  <a:lnTo>
                    <a:pt x="44" y="0"/>
                  </a:lnTo>
                  <a:lnTo>
                    <a:pt x="58" y="4"/>
                  </a:lnTo>
                  <a:lnTo>
                    <a:pt x="61" y="7"/>
                  </a:lnTo>
                  <a:lnTo>
                    <a:pt x="58" y="11"/>
                  </a:lnTo>
                  <a:lnTo>
                    <a:pt x="46" y="15"/>
                  </a:lnTo>
                  <a:lnTo>
                    <a:pt x="33" y="15"/>
                  </a:lnTo>
                  <a:lnTo>
                    <a:pt x="7" y="13"/>
                  </a:lnTo>
                  <a:lnTo>
                    <a:pt x="2" y="9"/>
                  </a:lnTo>
                  <a:lnTo>
                    <a:pt x="0" y="7"/>
                  </a:lnTo>
                  <a:lnTo>
                    <a:pt x="2" y="5"/>
                  </a:lnTo>
                  <a:lnTo>
                    <a:pt x="15" y="0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17" name="Freeform 101"/>
            <p:cNvSpPr>
              <a:spLocks/>
            </p:cNvSpPr>
            <p:nvPr/>
          </p:nvSpPr>
          <p:spPr bwMode="auto">
            <a:xfrm>
              <a:off x="5087" y="2316"/>
              <a:ext cx="29" cy="11"/>
            </a:xfrm>
            <a:custGeom>
              <a:avLst/>
              <a:gdLst>
                <a:gd name="T0" fmla="*/ 13 w 29"/>
                <a:gd name="T1" fmla="*/ 0 h 11"/>
                <a:gd name="T2" fmla="*/ 23 w 29"/>
                <a:gd name="T3" fmla="*/ 0 h 11"/>
                <a:gd name="T4" fmla="*/ 29 w 29"/>
                <a:gd name="T5" fmla="*/ 5 h 11"/>
                <a:gd name="T6" fmla="*/ 23 w 29"/>
                <a:gd name="T7" fmla="*/ 11 h 11"/>
                <a:gd name="T8" fmla="*/ 15 w 29"/>
                <a:gd name="T9" fmla="*/ 11 h 11"/>
                <a:gd name="T10" fmla="*/ 2 w 29"/>
                <a:gd name="T11" fmla="*/ 9 h 11"/>
                <a:gd name="T12" fmla="*/ 0 w 29"/>
                <a:gd name="T13" fmla="*/ 5 h 11"/>
                <a:gd name="T14" fmla="*/ 2 w 29"/>
                <a:gd name="T15" fmla="*/ 2 h 11"/>
                <a:gd name="T16" fmla="*/ 13 w 2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1">
                  <a:moveTo>
                    <a:pt x="13" y="0"/>
                  </a:moveTo>
                  <a:lnTo>
                    <a:pt x="23" y="0"/>
                  </a:lnTo>
                  <a:lnTo>
                    <a:pt x="29" y="5"/>
                  </a:lnTo>
                  <a:lnTo>
                    <a:pt x="23" y="11"/>
                  </a:lnTo>
                  <a:lnTo>
                    <a:pt x="15" y="11"/>
                  </a:lnTo>
                  <a:lnTo>
                    <a:pt x="2" y="9"/>
                  </a:lnTo>
                  <a:lnTo>
                    <a:pt x="0" y="5"/>
                  </a:lnTo>
                  <a:lnTo>
                    <a:pt x="2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18" name="Freeform 102"/>
            <p:cNvSpPr>
              <a:spLocks/>
            </p:cNvSpPr>
            <p:nvPr/>
          </p:nvSpPr>
          <p:spPr bwMode="auto">
            <a:xfrm>
              <a:off x="5154" y="2318"/>
              <a:ext cx="29" cy="11"/>
            </a:xfrm>
            <a:custGeom>
              <a:avLst/>
              <a:gdLst>
                <a:gd name="T0" fmla="*/ 14 w 29"/>
                <a:gd name="T1" fmla="*/ 0 h 11"/>
                <a:gd name="T2" fmla="*/ 23 w 29"/>
                <a:gd name="T3" fmla="*/ 0 h 11"/>
                <a:gd name="T4" fmla="*/ 29 w 29"/>
                <a:gd name="T5" fmla="*/ 5 h 11"/>
                <a:gd name="T6" fmla="*/ 25 w 29"/>
                <a:gd name="T7" fmla="*/ 9 h 11"/>
                <a:gd name="T8" fmla="*/ 19 w 29"/>
                <a:gd name="T9" fmla="*/ 11 h 11"/>
                <a:gd name="T10" fmla="*/ 6 w 29"/>
                <a:gd name="T11" fmla="*/ 9 h 11"/>
                <a:gd name="T12" fmla="*/ 0 w 29"/>
                <a:gd name="T13" fmla="*/ 5 h 11"/>
                <a:gd name="T14" fmla="*/ 6 w 29"/>
                <a:gd name="T15" fmla="*/ 0 h 11"/>
                <a:gd name="T16" fmla="*/ 14 w 2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1">
                  <a:moveTo>
                    <a:pt x="14" y="0"/>
                  </a:moveTo>
                  <a:lnTo>
                    <a:pt x="23" y="0"/>
                  </a:lnTo>
                  <a:lnTo>
                    <a:pt x="29" y="5"/>
                  </a:lnTo>
                  <a:lnTo>
                    <a:pt x="25" y="9"/>
                  </a:lnTo>
                  <a:lnTo>
                    <a:pt x="19" y="11"/>
                  </a:lnTo>
                  <a:lnTo>
                    <a:pt x="6" y="9"/>
                  </a:lnTo>
                  <a:lnTo>
                    <a:pt x="0" y="5"/>
                  </a:lnTo>
                  <a:lnTo>
                    <a:pt x="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19" name="Freeform 103"/>
            <p:cNvSpPr>
              <a:spLocks/>
            </p:cNvSpPr>
            <p:nvPr/>
          </p:nvSpPr>
          <p:spPr bwMode="auto">
            <a:xfrm>
              <a:off x="5090" y="2319"/>
              <a:ext cx="18" cy="8"/>
            </a:xfrm>
            <a:custGeom>
              <a:avLst/>
              <a:gdLst>
                <a:gd name="T0" fmla="*/ 10 w 18"/>
                <a:gd name="T1" fmla="*/ 0 h 8"/>
                <a:gd name="T2" fmla="*/ 16 w 18"/>
                <a:gd name="T3" fmla="*/ 2 h 8"/>
                <a:gd name="T4" fmla="*/ 18 w 18"/>
                <a:gd name="T5" fmla="*/ 4 h 8"/>
                <a:gd name="T6" fmla="*/ 18 w 18"/>
                <a:gd name="T7" fmla="*/ 6 h 8"/>
                <a:gd name="T8" fmla="*/ 10 w 18"/>
                <a:gd name="T9" fmla="*/ 8 h 8"/>
                <a:gd name="T10" fmla="*/ 2 w 18"/>
                <a:gd name="T11" fmla="*/ 6 h 8"/>
                <a:gd name="T12" fmla="*/ 0 w 18"/>
                <a:gd name="T13" fmla="*/ 4 h 8"/>
                <a:gd name="T14" fmla="*/ 2 w 18"/>
                <a:gd name="T15" fmla="*/ 2 h 8"/>
                <a:gd name="T16" fmla="*/ 10 w 18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8">
                  <a:moveTo>
                    <a:pt x="10" y="0"/>
                  </a:moveTo>
                  <a:lnTo>
                    <a:pt x="16" y="2"/>
                  </a:lnTo>
                  <a:lnTo>
                    <a:pt x="18" y="4"/>
                  </a:lnTo>
                  <a:lnTo>
                    <a:pt x="18" y="6"/>
                  </a:lnTo>
                  <a:lnTo>
                    <a:pt x="10" y="8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20" name="Freeform 104"/>
            <p:cNvSpPr>
              <a:spLocks/>
            </p:cNvSpPr>
            <p:nvPr/>
          </p:nvSpPr>
          <p:spPr bwMode="auto">
            <a:xfrm>
              <a:off x="5158" y="2321"/>
              <a:ext cx="19" cy="8"/>
            </a:xfrm>
            <a:custGeom>
              <a:avLst/>
              <a:gdLst>
                <a:gd name="T0" fmla="*/ 10 w 19"/>
                <a:gd name="T1" fmla="*/ 0 h 8"/>
                <a:gd name="T2" fmla="*/ 15 w 19"/>
                <a:gd name="T3" fmla="*/ 0 h 8"/>
                <a:gd name="T4" fmla="*/ 19 w 19"/>
                <a:gd name="T5" fmla="*/ 4 h 8"/>
                <a:gd name="T6" fmla="*/ 10 w 19"/>
                <a:gd name="T7" fmla="*/ 8 h 8"/>
                <a:gd name="T8" fmla="*/ 2 w 19"/>
                <a:gd name="T9" fmla="*/ 6 h 8"/>
                <a:gd name="T10" fmla="*/ 0 w 19"/>
                <a:gd name="T11" fmla="*/ 4 h 8"/>
                <a:gd name="T12" fmla="*/ 6 w 19"/>
                <a:gd name="T13" fmla="*/ 0 h 8"/>
                <a:gd name="T14" fmla="*/ 10 w 19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8">
                  <a:moveTo>
                    <a:pt x="10" y="0"/>
                  </a:moveTo>
                  <a:lnTo>
                    <a:pt x="15" y="0"/>
                  </a:lnTo>
                  <a:lnTo>
                    <a:pt x="19" y="4"/>
                  </a:lnTo>
                  <a:lnTo>
                    <a:pt x="10" y="8"/>
                  </a:lnTo>
                  <a:lnTo>
                    <a:pt x="2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21" name="Freeform 105"/>
            <p:cNvSpPr>
              <a:spLocks/>
            </p:cNvSpPr>
            <p:nvPr/>
          </p:nvSpPr>
          <p:spPr bwMode="auto">
            <a:xfrm>
              <a:off x="5100" y="2325"/>
              <a:ext cx="73" cy="73"/>
            </a:xfrm>
            <a:custGeom>
              <a:avLst/>
              <a:gdLst>
                <a:gd name="T0" fmla="*/ 33 w 73"/>
                <a:gd name="T1" fmla="*/ 0 h 73"/>
                <a:gd name="T2" fmla="*/ 19 w 73"/>
                <a:gd name="T3" fmla="*/ 2 h 73"/>
                <a:gd name="T4" fmla="*/ 10 w 73"/>
                <a:gd name="T5" fmla="*/ 10 h 73"/>
                <a:gd name="T6" fmla="*/ 2 w 73"/>
                <a:gd name="T7" fmla="*/ 21 h 73"/>
                <a:gd name="T8" fmla="*/ 0 w 73"/>
                <a:gd name="T9" fmla="*/ 33 h 73"/>
                <a:gd name="T10" fmla="*/ 0 w 73"/>
                <a:gd name="T11" fmla="*/ 46 h 73"/>
                <a:gd name="T12" fmla="*/ 4 w 73"/>
                <a:gd name="T13" fmla="*/ 58 h 73"/>
                <a:gd name="T14" fmla="*/ 19 w 73"/>
                <a:gd name="T15" fmla="*/ 69 h 73"/>
                <a:gd name="T16" fmla="*/ 27 w 73"/>
                <a:gd name="T17" fmla="*/ 71 h 73"/>
                <a:gd name="T18" fmla="*/ 37 w 73"/>
                <a:gd name="T19" fmla="*/ 73 h 73"/>
                <a:gd name="T20" fmla="*/ 44 w 73"/>
                <a:gd name="T21" fmla="*/ 67 h 73"/>
                <a:gd name="T22" fmla="*/ 44 w 73"/>
                <a:gd name="T23" fmla="*/ 60 h 73"/>
                <a:gd name="T24" fmla="*/ 46 w 73"/>
                <a:gd name="T25" fmla="*/ 54 h 73"/>
                <a:gd name="T26" fmla="*/ 54 w 73"/>
                <a:gd name="T27" fmla="*/ 50 h 73"/>
                <a:gd name="T28" fmla="*/ 62 w 73"/>
                <a:gd name="T29" fmla="*/ 60 h 73"/>
                <a:gd name="T30" fmla="*/ 66 w 73"/>
                <a:gd name="T31" fmla="*/ 60 h 73"/>
                <a:gd name="T32" fmla="*/ 71 w 73"/>
                <a:gd name="T33" fmla="*/ 52 h 73"/>
                <a:gd name="T34" fmla="*/ 73 w 73"/>
                <a:gd name="T35" fmla="*/ 41 h 73"/>
                <a:gd name="T36" fmla="*/ 70 w 73"/>
                <a:gd name="T37" fmla="*/ 35 h 73"/>
                <a:gd name="T38" fmla="*/ 62 w 73"/>
                <a:gd name="T39" fmla="*/ 31 h 73"/>
                <a:gd name="T40" fmla="*/ 56 w 73"/>
                <a:gd name="T41" fmla="*/ 31 h 73"/>
                <a:gd name="T42" fmla="*/ 48 w 73"/>
                <a:gd name="T43" fmla="*/ 35 h 73"/>
                <a:gd name="T44" fmla="*/ 46 w 73"/>
                <a:gd name="T45" fmla="*/ 3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3" h="73">
                  <a:moveTo>
                    <a:pt x="33" y="0"/>
                  </a:moveTo>
                  <a:lnTo>
                    <a:pt x="19" y="2"/>
                  </a:lnTo>
                  <a:lnTo>
                    <a:pt x="10" y="10"/>
                  </a:lnTo>
                  <a:lnTo>
                    <a:pt x="2" y="21"/>
                  </a:lnTo>
                  <a:lnTo>
                    <a:pt x="0" y="33"/>
                  </a:lnTo>
                  <a:lnTo>
                    <a:pt x="0" y="46"/>
                  </a:lnTo>
                  <a:lnTo>
                    <a:pt x="4" y="58"/>
                  </a:lnTo>
                  <a:lnTo>
                    <a:pt x="19" y="69"/>
                  </a:lnTo>
                  <a:lnTo>
                    <a:pt x="27" y="71"/>
                  </a:lnTo>
                  <a:lnTo>
                    <a:pt x="37" y="73"/>
                  </a:lnTo>
                  <a:lnTo>
                    <a:pt x="44" y="67"/>
                  </a:lnTo>
                  <a:lnTo>
                    <a:pt x="44" y="60"/>
                  </a:lnTo>
                  <a:lnTo>
                    <a:pt x="46" y="54"/>
                  </a:lnTo>
                  <a:lnTo>
                    <a:pt x="54" y="50"/>
                  </a:lnTo>
                  <a:lnTo>
                    <a:pt x="62" y="60"/>
                  </a:lnTo>
                  <a:lnTo>
                    <a:pt x="66" y="60"/>
                  </a:lnTo>
                  <a:lnTo>
                    <a:pt x="71" y="52"/>
                  </a:lnTo>
                  <a:lnTo>
                    <a:pt x="73" y="41"/>
                  </a:lnTo>
                  <a:lnTo>
                    <a:pt x="70" y="35"/>
                  </a:lnTo>
                  <a:lnTo>
                    <a:pt x="62" y="31"/>
                  </a:lnTo>
                  <a:lnTo>
                    <a:pt x="56" y="31"/>
                  </a:lnTo>
                  <a:lnTo>
                    <a:pt x="48" y="35"/>
                  </a:lnTo>
                  <a:lnTo>
                    <a:pt x="46" y="3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22" name="Freeform 106"/>
            <p:cNvSpPr>
              <a:spLocks/>
            </p:cNvSpPr>
            <p:nvPr/>
          </p:nvSpPr>
          <p:spPr bwMode="auto">
            <a:xfrm>
              <a:off x="5079" y="2352"/>
              <a:ext cx="23" cy="27"/>
            </a:xfrm>
            <a:custGeom>
              <a:avLst/>
              <a:gdLst>
                <a:gd name="T0" fmla="*/ 21 w 23"/>
                <a:gd name="T1" fmla="*/ 4 h 27"/>
                <a:gd name="T2" fmla="*/ 13 w 23"/>
                <a:gd name="T3" fmla="*/ 0 h 27"/>
                <a:gd name="T4" fmla="*/ 6 w 23"/>
                <a:gd name="T5" fmla="*/ 2 h 27"/>
                <a:gd name="T6" fmla="*/ 0 w 23"/>
                <a:gd name="T7" fmla="*/ 10 h 27"/>
                <a:gd name="T8" fmla="*/ 0 w 23"/>
                <a:gd name="T9" fmla="*/ 19 h 27"/>
                <a:gd name="T10" fmla="*/ 4 w 23"/>
                <a:gd name="T11" fmla="*/ 25 h 27"/>
                <a:gd name="T12" fmla="*/ 10 w 23"/>
                <a:gd name="T13" fmla="*/ 27 h 27"/>
                <a:gd name="T14" fmla="*/ 13 w 23"/>
                <a:gd name="T15" fmla="*/ 19 h 27"/>
                <a:gd name="T16" fmla="*/ 23 w 23"/>
                <a:gd name="T17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7">
                  <a:moveTo>
                    <a:pt x="21" y="4"/>
                  </a:moveTo>
                  <a:lnTo>
                    <a:pt x="13" y="0"/>
                  </a:lnTo>
                  <a:lnTo>
                    <a:pt x="6" y="2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4" y="25"/>
                  </a:lnTo>
                  <a:lnTo>
                    <a:pt x="10" y="27"/>
                  </a:lnTo>
                  <a:lnTo>
                    <a:pt x="13" y="19"/>
                  </a:lnTo>
                  <a:lnTo>
                    <a:pt x="23" y="2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23" name="Freeform 107"/>
            <p:cNvSpPr>
              <a:spLocks/>
            </p:cNvSpPr>
            <p:nvPr/>
          </p:nvSpPr>
          <p:spPr bwMode="auto">
            <a:xfrm>
              <a:off x="5075" y="2302"/>
              <a:ext cx="42" cy="44"/>
            </a:xfrm>
            <a:custGeom>
              <a:avLst/>
              <a:gdLst>
                <a:gd name="T0" fmla="*/ 42 w 42"/>
                <a:gd name="T1" fmla="*/ 25 h 44"/>
                <a:gd name="T2" fmla="*/ 41 w 42"/>
                <a:gd name="T3" fmla="*/ 17 h 44"/>
                <a:gd name="T4" fmla="*/ 39 w 42"/>
                <a:gd name="T5" fmla="*/ 12 h 44"/>
                <a:gd name="T6" fmla="*/ 33 w 42"/>
                <a:gd name="T7" fmla="*/ 6 h 44"/>
                <a:gd name="T8" fmla="*/ 27 w 42"/>
                <a:gd name="T9" fmla="*/ 2 h 44"/>
                <a:gd name="T10" fmla="*/ 15 w 42"/>
                <a:gd name="T11" fmla="*/ 0 h 44"/>
                <a:gd name="T12" fmla="*/ 6 w 42"/>
                <a:gd name="T13" fmla="*/ 8 h 44"/>
                <a:gd name="T14" fmla="*/ 0 w 42"/>
                <a:gd name="T15" fmla="*/ 17 h 44"/>
                <a:gd name="T16" fmla="*/ 0 w 42"/>
                <a:gd name="T17" fmla="*/ 29 h 44"/>
                <a:gd name="T18" fmla="*/ 4 w 42"/>
                <a:gd name="T19" fmla="*/ 37 h 44"/>
                <a:gd name="T20" fmla="*/ 12 w 42"/>
                <a:gd name="T21" fmla="*/ 42 h 44"/>
                <a:gd name="T22" fmla="*/ 19 w 42"/>
                <a:gd name="T23" fmla="*/ 44 h 44"/>
                <a:gd name="T24" fmla="*/ 27 w 42"/>
                <a:gd name="T25" fmla="*/ 4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44">
                  <a:moveTo>
                    <a:pt x="42" y="25"/>
                  </a:moveTo>
                  <a:lnTo>
                    <a:pt x="41" y="17"/>
                  </a:lnTo>
                  <a:lnTo>
                    <a:pt x="39" y="12"/>
                  </a:lnTo>
                  <a:lnTo>
                    <a:pt x="33" y="6"/>
                  </a:lnTo>
                  <a:lnTo>
                    <a:pt x="27" y="2"/>
                  </a:lnTo>
                  <a:lnTo>
                    <a:pt x="15" y="0"/>
                  </a:lnTo>
                  <a:lnTo>
                    <a:pt x="6" y="8"/>
                  </a:lnTo>
                  <a:lnTo>
                    <a:pt x="0" y="17"/>
                  </a:lnTo>
                  <a:lnTo>
                    <a:pt x="0" y="29"/>
                  </a:lnTo>
                  <a:lnTo>
                    <a:pt x="4" y="37"/>
                  </a:lnTo>
                  <a:lnTo>
                    <a:pt x="12" y="42"/>
                  </a:lnTo>
                  <a:lnTo>
                    <a:pt x="19" y="44"/>
                  </a:lnTo>
                  <a:lnTo>
                    <a:pt x="27" y="4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24" name="Freeform 108"/>
            <p:cNvSpPr>
              <a:spLocks/>
            </p:cNvSpPr>
            <p:nvPr/>
          </p:nvSpPr>
          <p:spPr bwMode="auto">
            <a:xfrm>
              <a:off x="5110" y="2298"/>
              <a:ext cx="36" cy="14"/>
            </a:xfrm>
            <a:custGeom>
              <a:avLst/>
              <a:gdLst>
                <a:gd name="T0" fmla="*/ 34 w 36"/>
                <a:gd name="T1" fmla="*/ 14 h 14"/>
                <a:gd name="T2" fmla="*/ 27 w 36"/>
                <a:gd name="T3" fmla="*/ 6 h 14"/>
                <a:gd name="T4" fmla="*/ 15 w 36"/>
                <a:gd name="T5" fmla="*/ 4 h 14"/>
                <a:gd name="T6" fmla="*/ 9 w 36"/>
                <a:gd name="T7" fmla="*/ 6 h 14"/>
                <a:gd name="T8" fmla="*/ 4 w 36"/>
                <a:gd name="T9" fmla="*/ 12 h 14"/>
                <a:gd name="T10" fmla="*/ 0 w 36"/>
                <a:gd name="T11" fmla="*/ 10 h 14"/>
                <a:gd name="T12" fmla="*/ 7 w 36"/>
                <a:gd name="T13" fmla="*/ 2 h 14"/>
                <a:gd name="T14" fmla="*/ 17 w 36"/>
                <a:gd name="T15" fmla="*/ 0 h 14"/>
                <a:gd name="T16" fmla="*/ 29 w 36"/>
                <a:gd name="T17" fmla="*/ 4 h 14"/>
                <a:gd name="T18" fmla="*/ 36 w 36"/>
                <a:gd name="T19" fmla="*/ 10 h 14"/>
                <a:gd name="T20" fmla="*/ 34 w 36"/>
                <a:gd name="T2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14">
                  <a:moveTo>
                    <a:pt x="34" y="14"/>
                  </a:moveTo>
                  <a:lnTo>
                    <a:pt x="27" y="6"/>
                  </a:lnTo>
                  <a:lnTo>
                    <a:pt x="15" y="4"/>
                  </a:lnTo>
                  <a:lnTo>
                    <a:pt x="9" y="6"/>
                  </a:lnTo>
                  <a:lnTo>
                    <a:pt x="4" y="12"/>
                  </a:lnTo>
                  <a:lnTo>
                    <a:pt x="0" y="10"/>
                  </a:lnTo>
                  <a:lnTo>
                    <a:pt x="7" y="2"/>
                  </a:lnTo>
                  <a:lnTo>
                    <a:pt x="17" y="0"/>
                  </a:lnTo>
                  <a:lnTo>
                    <a:pt x="29" y="4"/>
                  </a:lnTo>
                  <a:lnTo>
                    <a:pt x="36" y="10"/>
                  </a:lnTo>
                  <a:lnTo>
                    <a:pt x="34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25" name="Freeform 109"/>
            <p:cNvSpPr>
              <a:spLocks/>
            </p:cNvSpPr>
            <p:nvPr/>
          </p:nvSpPr>
          <p:spPr bwMode="auto">
            <a:xfrm>
              <a:off x="5139" y="2304"/>
              <a:ext cx="44" cy="44"/>
            </a:xfrm>
            <a:custGeom>
              <a:avLst/>
              <a:gdLst>
                <a:gd name="T0" fmla="*/ 13 w 44"/>
                <a:gd name="T1" fmla="*/ 2 h 44"/>
                <a:gd name="T2" fmla="*/ 4 w 44"/>
                <a:gd name="T3" fmla="*/ 12 h 44"/>
                <a:gd name="T4" fmla="*/ 0 w 44"/>
                <a:gd name="T5" fmla="*/ 19 h 44"/>
                <a:gd name="T6" fmla="*/ 2 w 44"/>
                <a:gd name="T7" fmla="*/ 27 h 44"/>
                <a:gd name="T8" fmla="*/ 5 w 44"/>
                <a:gd name="T9" fmla="*/ 35 h 44"/>
                <a:gd name="T10" fmla="*/ 11 w 44"/>
                <a:gd name="T11" fmla="*/ 40 h 44"/>
                <a:gd name="T12" fmla="*/ 19 w 44"/>
                <a:gd name="T13" fmla="*/ 44 h 44"/>
                <a:gd name="T14" fmla="*/ 27 w 44"/>
                <a:gd name="T15" fmla="*/ 42 h 44"/>
                <a:gd name="T16" fmla="*/ 34 w 44"/>
                <a:gd name="T17" fmla="*/ 40 h 44"/>
                <a:gd name="T18" fmla="*/ 40 w 44"/>
                <a:gd name="T19" fmla="*/ 35 h 44"/>
                <a:gd name="T20" fmla="*/ 44 w 44"/>
                <a:gd name="T21" fmla="*/ 27 h 44"/>
                <a:gd name="T22" fmla="*/ 44 w 44"/>
                <a:gd name="T23" fmla="*/ 17 h 44"/>
                <a:gd name="T24" fmla="*/ 40 w 44"/>
                <a:gd name="T25" fmla="*/ 10 h 44"/>
                <a:gd name="T26" fmla="*/ 34 w 44"/>
                <a:gd name="T27" fmla="*/ 4 h 44"/>
                <a:gd name="T28" fmla="*/ 29 w 44"/>
                <a:gd name="T29" fmla="*/ 0 h 44"/>
                <a:gd name="T30" fmla="*/ 21 w 44"/>
                <a:gd name="T31" fmla="*/ 0 h 44"/>
                <a:gd name="T32" fmla="*/ 13 w 44"/>
                <a:gd name="T33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44">
                  <a:moveTo>
                    <a:pt x="13" y="2"/>
                  </a:moveTo>
                  <a:lnTo>
                    <a:pt x="4" y="12"/>
                  </a:lnTo>
                  <a:lnTo>
                    <a:pt x="0" y="19"/>
                  </a:lnTo>
                  <a:lnTo>
                    <a:pt x="2" y="27"/>
                  </a:lnTo>
                  <a:lnTo>
                    <a:pt x="5" y="35"/>
                  </a:lnTo>
                  <a:lnTo>
                    <a:pt x="11" y="40"/>
                  </a:lnTo>
                  <a:lnTo>
                    <a:pt x="19" y="44"/>
                  </a:lnTo>
                  <a:lnTo>
                    <a:pt x="27" y="42"/>
                  </a:lnTo>
                  <a:lnTo>
                    <a:pt x="34" y="40"/>
                  </a:lnTo>
                  <a:lnTo>
                    <a:pt x="40" y="35"/>
                  </a:lnTo>
                  <a:lnTo>
                    <a:pt x="44" y="27"/>
                  </a:lnTo>
                  <a:lnTo>
                    <a:pt x="44" y="17"/>
                  </a:lnTo>
                  <a:lnTo>
                    <a:pt x="40" y="10"/>
                  </a:lnTo>
                  <a:lnTo>
                    <a:pt x="34" y="4"/>
                  </a:lnTo>
                  <a:lnTo>
                    <a:pt x="29" y="0"/>
                  </a:lnTo>
                  <a:lnTo>
                    <a:pt x="21" y="0"/>
                  </a:lnTo>
                  <a:lnTo>
                    <a:pt x="13" y="2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6126" name="Freeform 110"/>
            <p:cNvSpPr>
              <a:spLocks/>
            </p:cNvSpPr>
            <p:nvPr/>
          </p:nvSpPr>
          <p:spPr bwMode="auto">
            <a:xfrm>
              <a:off x="5062" y="2289"/>
              <a:ext cx="17" cy="30"/>
            </a:xfrm>
            <a:custGeom>
              <a:avLst/>
              <a:gdLst>
                <a:gd name="T0" fmla="*/ 17 w 17"/>
                <a:gd name="T1" fmla="*/ 23 h 30"/>
                <a:gd name="T2" fmla="*/ 0 w 17"/>
                <a:gd name="T3" fmla="*/ 0 h 30"/>
                <a:gd name="T4" fmla="*/ 0 w 17"/>
                <a:gd name="T5" fmla="*/ 4 h 30"/>
                <a:gd name="T6" fmla="*/ 13 w 17"/>
                <a:gd name="T7" fmla="*/ 30 h 30"/>
                <a:gd name="T8" fmla="*/ 13 w 17"/>
                <a:gd name="T9" fmla="*/ 29 h 30"/>
                <a:gd name="T10" fmla="*/ 15 w 17"/>
                <a:gd name="T11" fmla="*/ 25 h 30"/>
                <a:gd name="T12" fmla="*/ 17 w 17"/>
                <a:gd name="T13" fmla="*/ 2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0">
                  <a:moveTo>
                    <a:pt x="17" y="23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3" y="30"/>
                  </a:lnTo>
                  <a:lnTo>
                    <a:pt x="13" y="29"/>
                  </a:lnTo>
                  <a:lnTo>
                    <a:pt x="15" y="25"/>
                  </a:lnTo>
                  <a:lnTo>
                    <a:pt x="17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27" name="Freeform 111"/>
            <p:cNvSpPr>
              <a:spLocks/>
            </p:cNvSpPr>
            <p:nvPr/>
          </p:nvSpPr>
          <p:spPr bwMode="auto">
            <a:xfrm>
              <a:off x="5179" y="2289"/>
              <a:ext cx="37" cy="34"/>
            </a:xfrm>
            <a:custGeom>
              <a:avLst/>
              <a:gdLst>
                <a:gd name="T0" fmla="*/ 0 w 37"/>
                <a:gd name="T1" fmla="*/ 27 h 34"/>
                <a:gd name="T2" fmla="*/ 35 w 37"/>
                <a:gd name="T3" fmla="*/ 0 h 34"/>
                <a:gd name="T4" fmla="*/ 37 w 37"/>
                <a:gd name="T5" fmla="*/ 4 h 34"/>
                <a:gd name="T6" fmla="*/ 4 w 37"/>
                <a:gd name="T7" fmla="*/ 34 h 34"/>
                <a:gd name="T8" fmla="*/ 4 w 37"/>
                <a:gd name="T9" fmla="*/ 30 h 34"/>
                <a:gd name="T10" fmla="*/ 2 w 37"/>
                <a:gd name="T11" fmla="*/ 29 h 34"/>
                <a:gd name="T12" fmla="*/ 0 w 37"/>
                <a:gd name="T13" fmla="*/ 2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4">
                  <a:moveTo>
                    <a:pt x="0" y="27"/>
                  </a:moveTo>
                  <a:lnTo>
                    <a:pt x="35" y="0"/>
                  </a:lnTo>
                  <a:lnTo>
                    <a:pt x="37" y="4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2" y="29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28" name="Freeform 112"/>
            <p:cNvSpPr>
              <a:spLocks/>
            </p:cNvSpPr>
            <p:nvPr/>
          </p:nvSpPr>
          <p:spPr bwMode="auto">
            <a:xfrm>
              <a:off x="5110" y="2124"/>
              <a:ext cx="65" cy="113"/>
            </a:xfrm>
            <a:custGeom>
              <a:avLst/>
              <a:gdLst>
                <a:gd name="T0" fmla="*/ 15 w 65"/>
                <a:gd name="T1" fmla="*/ 46 h 113"/>
                <a:gd name="T2" fmla="*/ 9 w 65"/>
                <a:gd name="T3" fmla="*/ 34 h 113"/>
                <a:gd name="T4" fmla="*/ 7 w 65"/>
                <a:gd name="T5" fmla="*/ 21 h 113"/>
                <a:gd name="T6" fmla="*/ 9 w 65"/>
                <a:gd name="T7" fmla="*/ 13 h 113"/>
                <a:gd name="T8" fmla="*/ 15 w 65"/>
                <a:gd name="T9" fmla="*/ 8 h 113"/>
                <a:gd name="T10" fmla="*/ 25 w 65"/>
                <a:gd name="T11" fmla="*/ 2 h 113"/>
                <a:gd name="T12" fmla="*/ 36 w 65"/>
                <a:gd name="T13" fmla="*/ 0 h 113"/>
                <a:gd name="T14" fmla="*/ 48 w 65"/>
                <a:gd name="T15" fmla="*/ 2 h 113"/>
                <a:gd name="T16" fmla="*/ 60 w 65"/>
                <a:gd name="T17" fmla="*/ 6 h 113"/>
                <a:gd name="T18" fmla="*/ 63 w 65"/>
                <a:gd name="T19" fmla="*/ 13 h 113"/>
                <a:gd name="T20" fmla="*/ 65 w 65"/>
                <a:gd name="T21" fmla="*/ 21 h 113"/>
                <a:gd name="T22" fmla="*/ 65 w 65"/>
                <a:gd name="T23" fmla="*/ 29 h 113"/>
                <a:gd name="T24" fmla="*/ 61 w 65"/>
                <a:gd name="T25" fmla="*/ 34 h 113"/>
                <a:gd name="T26" fmla="*/ 52 w 65"/>
                <a:gd name="T27" fmla="*/ 48 h 113"/>
                <a:gd name="T28" fmla="*/ 40 w 65"/>
                <a:gd name="T29" fmla="*/ 57 h 113"/>
                <a:gd name="T30" fmla="*/ 25 w 65"/>
                <a:gd name="T31" fmla="*/ 71 h 113"/>
                <a:gd name="T32" fmla="*/ 21 w 65"/>
                <a:gd name="T33" fmla="*/ 79 h 113"/>
                <a:gd name="T34" fmla="*/ 19 w 65"/>
                <a:gd name="T35" fmla="*/ 90 h 113"/>
                <a:gd name="T36" fmla="*/ 23 w 65"/>
                <a:gd name="T37" fmla="*/ 100 h 113"/>
                <a:gd name="T38" fmla="*/ 31 w 65"/>
                <a:gd name="T39" fmla="*/ 105 h 113"/>
                <a:gd name="T40" fmla="*/ 36 w 65"/>
                <a:gd name="T41" fmla="*/ 107 h 113"/>
                <a:gd name="T42" fmla="*/ 42 w 65"/>
                <a:gd name="T43" fmla="*/ 109 h 113"/>
                <a:gd name="T44" fmla="*/ 46 w 65"/>
                <a:gd name="T45" fmla="*/ 107 h 113"/>
                <a:gd name="T46" fmla="*/ 48 w 65"/>
                <a:gd name="T47" fmla="*/ 107 h 113"/>
                <a:gd name="T48" fmla="*/ 42 w 65"/>
                <a:gd name="T49" fmla="*/ 111 h 113"/>
                <a:gd name="T50" fmla="*/ 33 w 65"/>
                <a:gd name="T51" fmla="*/ 113 h 113"/>
                <a:gd name="T52" fmla="*/ 17 w 65"/>
                <a:gd name="T53" fmla="*/ 109 h 113"/>
                <a:gd name="T54" fmla="*/ 4 w 65"/>
                <a:gd name="T55" fmla="*/ 100 h 113"/>
                <a:gd name="T56" fmla="*/ 0 w 65"/>
                <a:gd name="T57" fmla="*/ 92 h 113"/>
                <a:gd name="T58" fmla="*/ 0 w 65"/>
                <a:gd name="T59" fmla="*/ 86 h 113"/>
                <a:gd name="T60" fmla="*/ 2 w 65"/>
                <a:gd name="T61" fmla="*/ 75 h 113"/>
                <a:gd name="T62" fmla="*/ 9 w 65"/>
                <a:gd name="T63" fmla="*/ 65 h 113"/>
                <a:gd name="T64" fmla="*/ 21 w 65"/>
                <a:gd name="T65" fmla="*/ 56 h 113"/>
                <a:gd name="T66" fmla="*/ 36 w 65"/>
                <a:gd name="T67" fmla="*/ 42 h 113"/>
                <a:gd name="T68" fmla="*/ 42 w 65"/>
                <a:gd name="T69" fmla="*/ 34 h 113"/>
                <a:gd name="T70" fmla="*/ 42 w 65"/>
                <a:gd name="T71" fmla="*/ 23 h 113"/>
                <a:gd name="T72" fmla="*/ 38 w 65"/>
                <a:gd name="T73" fmla="*/ 21 h 113"/>
                <a:gd name="T74" fmla="*/ 34 w 65"/>
                <a:gd name="T75" fmla="*/ 19 h 113"/>
                <a:gd name="T76" fmla="*/ 31 w 65"/>
                <a:gd name="T77" fmla="*/ 21 h 113"/>
                <a:gd name="T78" fmla="*/ 27 w 65"/>
                <a:gd name="T79" fmla="*/ 25 h 113"/>
                <a:gd name="T80" fmla="*/ 27 w 65"/>
                <a:gd name="T81" fmla="*/ 34 h 113"/>
                <a:gd name="T82" fmla="*/ 29 w 65"/>
                <a:gd name="T83" fmla="*/ 46 h 113"/>
                <a:gd name="T84" fmla="*/ 15 w 65"/>
                <a:gd name="T85" fmla="*/ 4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5" h="113">
                  <a:moveTo>
                    <a:pt x="15" y="46"/>
                  </a:moveTo>
                  <a:lnTo>
                    <a:pt x="9" y="34"/>
                  </a:lnTo>
                  <a:lnTo>
                    <a:pt x="7" y="21"/>
                  </a:lnTo>
                  <a:lnTo>
                    <a:pt x="9" y="13"/>
                  </a:lnTo>
                  <a:lnTo>
                    <a:pt x="15" y="8"/>
                  </a:lnTo>
                  <a:lnTo>
                    <a:pt x="25" y="2"/>
                  </a:lnTo>
                  <a:lnTo>
                    <a:pt x="36" y="0"/>
                  </a:lnTo>
                  <a:lnTo>
                    <a:pt x="48" y="2"/>
                  </a:lnTo>
                  <a:lnTo>
                    <a:pt x="60" y="6"/>
                  </a:lnTo>
                  <a:lnTo>
                    <a:pt x="63" y="13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61" y="34"/>
                  </a:lnTo>
                  <a:lnTo>
                    <a:pt x="52" y="48"/>
                  </a:lnTo>
                  <a:lnTo>
                    <a:pt x="40" y="57"/>
                  </a:lnTo>
                  <a:lnTo>
                    <a:pt x="25" y="71"/>
                  </a:lnTo>
                  <a:lnTo>
                    <a:pt x="21" y="79"/>
                  </a:lnTo>
                  <a:lnTo>
                    <a:pt x="19" y="90"/>
                  </a:lnTo>
                  <a:lnTo>
                    <a:pt x="23" y="100"/>
                  </a:lnTo>
                  <a:lnTo>
                    <a:pt x="31" y="105"/>
                  </a:lnTo>
                  <a:lnTo>
                    <a:pt x="36" y="107"/>
                  </a:lnTo>
                  <a:lnTo>
                    <a:pt x="42" y="109"/>
                  </a:lnTo>
                  <a:lnTo>
                    <a:pt x="46" y="107"/>
                  </a:lnTo>
                  <a:lnTo>
                    <a:pt x="48" y="107"/>
                  </a:lnTo>
                  <a:lnTo>
                    <a:pt x="42" y="111"/>
                  </a:lnTo>
                  <a:lnTo>
                    <a:pt x="33" y="113"/>
                  </a:lnTo>
                  <a:lnTo>
                    <a:pt x="17" y="109"/>
                  </a:lnTo>
                  <a:lnTo>
                    <a:pt x="4" y="100"/>
                  </a:lnTo>
                  <a:lnTo>
                    <a:pt x="0" y="92"/>
                  </a:lnTo>
                  <a:lnTo>
                    <a:pt x="0" y="86"/>
                  </a:lnTo>
                  <a:lnTo>
                    <a:pt x="2" y="75"/>
                  </a:lnTo>
                  <a:lnTo>
                    <a:pt x="9" y="65"/>
                  </a:lnTo>
                  <a:lnTo>
                    <a:pt x="21" y="56"/>
                  </a:lnTo>
                  <a:lnTo>
                    <a:pt x="36" y="42"/>
                  </a:lnTo>
                  <a:lnTo>
                    <a:pt x="42" y="34"/>
                  </a:lnTo>
                  <a:lnTo>
                    <a:pt x="42" y="23"/>
                  </a:lnTo>
                  <a:lnTo>
                    <a:pt x="38" y="21"/>
                  </a:lnTo>
                  <a:lnTo>
                    <a:pt x="34" y="19"/>
                  </a:lnTo>
                  <a:lnTo>
                    <a:pt x="31" y="21"/>
                  </a:lnTo>
                  <a:lnTo>
                    <a:pt x="27" y="25"/>
                  </a:lnTo>
                  <a:lnTo>
                    <a:pt x="27" y="34"/>
                  </a:lnTo>
                  <a:lnTo>
                    <a:pt x="29" y="46"/>
                  </a:lnTo>
                  <a:lnTo>
                    <a:pt x="15" y="46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29" name="Freeform 113"/>
            <p:cNvSpPr>
              <a:spLocks/>
            </p:cNvSpPr>
            <p:nvPr/>
          </p:nvSpPr>
          <p:spPr bwMode="auto">
            <a:xfrm>
              <a:off x="5092" y="2270"/>
              <a:ext cx="85" cy="21"/>
            </a:xfrm>
            <a:custGeom>
              <a:avLst/>
              <a:gdLst>
                <a:gd name="T0" fmla="*/ 0 w 85"/>
                <a:gd name="T1" fmla="*/ 19 h 21"/>
                <a:gd name="T2" fmla="*/ 14 w 85"/>
                <a:gd name="T3" fmla="*/ 19 h 21"/>
                <a:gd name="T4" fmla="*/ 27 w 85"/>
                <a:gd name="T5" fmla="*/ 13 h 21"/>
                <a:gd name="T6" fmla="*/ 41 w 85"/>
                <a:gd name="T7" fmla="*/ 9 h 21"/>
                <a:gd name="T8" fmla="*/ 47 w 85"/>
                <a:gd name="T9" fmla="*/ 9 h 21"/>
                <a:gd name="T10" fmla="*/ 54 w 85"/>
                <a:gd name="T11" fmla="*/ 11 h 21"/>
                <a:gd name="T12" fmla="*/ 72 w 85"/>
                <a:gd name="T13" fmla="*/ 21 h 21"/>
                <a:gd name="T14" fmla="*/ 79 w 85"/>
                <a:gd name="T15" fmla="*/ 21 h 21"/>
                <a:gd name="T16" fmla="*/ 85 w 85"/>
                <a:gd name="T17" fmla="*/ 19 h 21"/>
                <a:gd name="T18" fmla="*/ 72 w 85"/>
                <a:gd name="T19" fmla="*/ 19 h 21"/>
                <a:gd name="T20" fmla="*/ 54 w 85"/>
                <a:gd name="T21" fmla="*/ 3 h 21"/>
                <a:gd name="T22" fmla="*/ 45 w 85"/>
                <a:gd name="T23" fmla="*/ 0 h 21"/>
                <a:gd name="T24" fmla="*/ 33 w 85"/>
                <a:gd name="T25" fmla="*/ 2 h 21"/>
                <a:gd name="T26" fmla="*/ 18 w 85"/>
                <a:gd name="T27" fmla="*/ 11 h 21"/>
                <a:gd name="T28" fmla="*/ 0 w 85"/>
                <a:gd name="T29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" h="21">
                  <a:moveTo>
                    <a:pt x="0" y="19"/>
                  </a:moveTo>
                  <a:lnTo>
                    <a:pt x="14" y="19"/>
                  </a:lnTo>
                  <a:lnTo>
                    <a:pt x="27" y="13"/>
                  </a:lnTo>
                  <a:lnTo>
                    <a:pt x="41" y="9"/>
                  </a:lnTo>
                  <a:lnTo>
                    <a:pt x="47" y="9"/>
                  </a:lnTo>
                  <a:lnTo>
                    <a:pt x="54" y="11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5" y="19"/>
                  </a:lnTo>
                  <a:lnTo>
                    <a:pt x="72" y="19"/>
                  </a:lnTo>
                  <a:lnTo>
                    <a:pt x="54" y="3"/>
                  </a:lnTo>
                  <a:lnTo>
                    <a:pt x="45" y="0"/>
                  </a:lnTo>
                  <a:lnTo>
                    <a:pt x="33" y="2"/>
                  </a:lnTo>
                  <a:lnTo>
                    <a:pt x="18" y="1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6132" name="Rectangle 116"/>
          <p:cNvSpPr>
            <a:spLocks noChangeArrowheads="1"/>
          </p:cNvSpPr>
          <p:nvPr/>
        </p:nvSpPr>
        <p:spPr bwMode="auto">
          <a:xfrm>
            <a:off x="685800" y="3810000"/>
            <a:ext cx="50292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anose="020B0A04020102020204" pitchFamily="34" charset="0"/>
              </a:rPr>
              <a:t>Atmosfera Explosiva</a:t>
            </a:r>
          </a:p>
          <a:p>
            <a:r>
              <a:rPr lang="pt-BR" altLang="pt-BR"/>
              <a:t>Misturas de </a:t>
            </a:r>
            <a:r>
              <a:rPr lang="pt-BR" altLang="pt-BR" b="1"/>
              <a:t>substâncias inflamáveis</a:t>
            </a:r>
            <a:r>
              <a:rPr lang="pt-BR" altLang="pt-BR"/>
              <a:t> com o ar na forma de: gás, vapor, névoa, poeira ou fibras, na qual após a ignição, a combustão se propaga através da mistura.</a:t>
            </a:r>
          </a:p>
          <a:p>
            <a:endParaRPr lang="pt-BR" altLang="pt-BR"/>
          </a:p>
          <a:p>
            <a:endParaRPr lang="pt-BR" altLang="pt-BR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1295400"/>
            <a:ext cx="7772400" cy="838200"/>
          </a:xfrm>
        </p:spPr>
        <p:txBody>
          <a:bodyPr/>
          <a:lstStyle/>
          <a:p>
            <a:r>
              <a:rPr lang="pt-BR" altLang="pt-BR"/>
              <a:t>Áreas classificadas</a:t>
            </a:r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2590800"/>
            <a:ext cx="83820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000" b="1">
                <a:solidFill>
                  <a:srgbClr val="006699"/>
                </a:solidFill>
              </a:rPr>
              <a:t>Classificação das Áreas</a:t>
            </a:r>
          </a:p>
          <a:p>
            <a:pPr algn="just">
              <a:lnSpc>
                <a:spcPct val="90000"/>
              </a:lnSpc>
            </a:pPr>
            <a:r>
              <a:rPr lang="pt-BR" altLang="pt-BR" sz="2000"/>
              <a:t>Exista a</a:t>
            </a:r>
            <a:r>
              <a:rPr lang="pt-BR" altLang="pt-BR" sz="2000" b="1"/>
              <a:t> probabilidade</a:t>
            </a:r>
            <a:r>
              <a:rPr lang="pt-BR" altLang="pt-BR" sz="2000"/>
              <a:t> de que se formem </a:t>
            </a:r>
            <a:r>
              <a:rPr lang="pt-BR" altLang="pt-BR" sz="2000" b="1"/>
              <a:t>misturas explosivas</a:t>
            </a:r>
            <a:r>
              <a:rPr lang="pt-BR" altLang="pt-BR" sz="2000"/>
              <a:t>, em um determinado local, deve ser </a:t>
            </a:r>
            <a:r>
              <a:rPr lang="pt-BR" altLang="pt-BR" sz="2000" b="1"/>
              <a:t>definida a classificação desse local</a:t>
            </a:r>
            <a:r>
              <a:rPr lang="pt-BR" altLang="pt-BR" sz="2000"/>
              <a:t>, segundo critérios já estabelecidos em normas, de acordo com o </a:t>
            </a:r>
            <a:r>
              <a:rPr lang="pt-BR" altLang="pt-BR" sz="2000" b="1"/>
              <a:t>grau de probabilidade</a:t>
            </a:r>
            <a:r>
              <a:rPr lang="pt-BR" altLang="pt-BR" sz="2000"/>
              <a:t> da presença de atmosfera explosiva, como segue:</a:t>
            </a:r>
            <a:endParaRPr lang="pt-BR" altLang="pt-BR" sz="2000" b="1"/>
          </a:p>
          <a:p>
            <a:pPr lvl="1">
              <a:lnSpc>
                <a:spcPct val="90000"/>
              </a:lnSpc>
            </a:pPr>
            <a:r>
              <a:rPr lang="pt-BR" altLang="pt-BR" sz="2000" b="1"/>
              <a:t>Zona 0</a:t>
            </a:r>
            <a:r>
              <a:rPr lang="pt-BR" altLang="pt-BR" sz="2000"/>
              <a:t> - em que a mistura explosiva é </a:t>
            </a:r>
            <a:r>
              <a:rPr lang="pt-BR" altLang="pt-BR" sz="2000" b="1"/>
              <a:t>encontrada permanentemente</a:t>
            </a:r>
            <a:r>
              <a:rPr lang="pt-BR" altLang="pt-BR" sz="2000"/>
              <a:t> ou na maior parte do tempo;</a:t>
            </a:r>
          </a:p>
          <a:p>
            <a:pPr lvl="1">
              <a:lnSpc>
                <a:spcPct val="90000"/>
              </a:lnSpc>
            </a:pPr>
            <a:r>
              <a:rPr lang="pt-BR" altLang="pt-BR" sz="2000" b="1"/>
              <a:t>Zona 1</a:t>
            </a:r>
            <a:r>
              <a:rPr lang="pt-BR" altLang="pt-BR" sz="2000"/>
              <a:t> - em que a mistura explosiva é </a:t>
            </a:r>
            <a:r>
              <a:rPr lang="pt-BR" altLang="pt-BR" sz="2000" b="1"/>
              <a:t>provável durante a operação</a:t>
            </a:r>
            <a:r>
              <a:rPr lang="pt-BR" altLang="pt-BR" sz="2000"/>
              <a:t> normal, mas quando ocorrer, será por tempo limitado;</a:t>
            </a:r>
          </a:p>
          <a:p>
            <a:pPr lvl="1">
              <a:lnSpc>
                <a:spcPct val="90000"/>
              </a:lnSpc>
            </a:pPr>
            <a:r>
              <a:rPr lang="pt-BR" altLang="pt-BR" sz="2000" b="1"/>
              <a:t>Zona 2</a:t>
            </a:r>
            <a:r>
              <a:rPr lang="pt-BR" altLang="pt-BR" sz="2000"/>
              <a:t> - em que a mistura explosiva </a:t>
            </a:r>
            <a:r>
              <a:rPr lang="pt-BR" altLang="pt-BR" sz="2000" b="1"/>
              <a:t>só é provável em caso de falhas do equipamento ou do processo</a:t>
            </a:r>
            <a:r>
              <a:rPr lang="pt-BR" altLang="pt-BR" sz="2000"/>
              <a:t>. O tempo de duração desta situação é curto.</a:t>
            </a:r>
          </a:p>
          <a:p>
            <a:pPr>
              <a:lnSpc>
                <a:spcPct val="90000"/>
              </a:lnSpc>
            </a:pPr>
            <a:endParaRPr lang="pt-BR" altLang="pt-BR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6" name="Rectangle 12"/>
          <p:cNvSpPr>
            <a:spLocks noGrp="1" noChangeArrowheads="1"/>
          </p:cNvSpPr>
          <p:nvPr>
            <p:ph type="title"/>
          </p:nvPr>
        </p:nvSpPr>
        <p:spPr>
          <a:xfrm>
            <a:off x="685800" y="1371600"/>
            <a:ext cx="7772400" cy="838200"/>
          </a:xfrm>
        </p:spPr>
        <p:txBody>
          <a:bodyPr/>
          <a:lstStyle/>
          <a:p>
            <a:r>
              <a:rPr lang="pt-BR" altLang="pt-BR"/>
              <a:t>Umidade</a:t>
            </a:r>
          </a:p>
        </p:txBody>
      </p:sp>
      <p:sp>
        <p:nvSpPr>
          <p:cNvPr id="88077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52400" y="2286000"/>
            <a:ext cx="8839200" cy="1219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pt-BR" altLang="pt-BR" sz="2000"/>
              <a:t>A umidade esta relacionada a diversos fatores que, no conjunto devem ser considerados na concepção e na execução das  instalações elétricas.Cada condição de influência externa designada compreende sempre um grupo de fatores como: meio ambiente, utilização e construção das edificações.</a:t>
            </a:r>
          </a:p>
        </p:txBody>
      </p:sp>
      <p:pic>
        <p:nvPicPr>
          <p:cNvPr id="88071" name="Picture 7" descr="C:\pmw\USER001\ART\molhado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" t="46715" r="8070"/>
          <a:stretch>
            <a:fillRect/>
          </a:stretch>
        </p:blipFill>
        <p:spPr bwMode="auto">
          <a:xfrm>
            <a:off x="7086600" y="3657600"/>
            <a:ext cx="19431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8" name="Rectangle 14"/>
          <p:cNvSpPr>
            <a:spLocks noChangeArrowheads="1"/>
          </p:cNvSpPr>
          <p:nvPr/>
        </p:nvSpPr>
        <p:spPr bwMode="auto">
          <a:xfrm>
            <a:off x="152400" y="3657600"/>
            <a:ext cx="71628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2000" b="1"/>
              <a:t>Influencias externas a fatores tais como:</a:t>
            </a:r>
          </a:p>
          <a:p>
            <a:pPr lvl="1"/>
            <a:r>
              <a:rPr lang="pt-BR" altLang="pt-BR" sz="2000"/>
              <a:t>temperatura ambiente;		</a:t>
            </a:r>
          </a:p>
          <a:p>
            <a:pPr lvl="1"/>
            <a:r>
              <a:rPr lang="pt-BR" altLang="pt-BR" sz="2000"/>
              <a:t>condições climáticas,</a:t>
            </a:r>
          </a:p>
          <a:p>
            <a:pPr lvl="1"/>
            <a:r>
              <a:rPr lang="pt-BR" altLang="pt-BR" sz="2000"/>
              <a:t>presença de água e solicitações mecânicas, etc;</a:t>
            </a:r>
          </a:p>
          <a:p>
            <a:pPr lvl="1"/>
            <a:r>
              <a:rPr lang="pt-BR" altLang="pt-BR" sz="2000"/>
              <a:t>Por exemplo, a qualificação das pessoas (sua consciência e preparo para lidar com os riscos da eletricidade), situações que reforçam (pele seca) ou prejudicam (pele molhada, imersão) a resistência elétrica do corpo humano.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Condições atmosféricas</a:t>
            </a:r>
          </a:p>
        </p:txBody>
      </p:sp>
      <p:sp>
        <p:nvSpPr>
          <p:cNvPr id="890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2590800"/>
            <a:ext cx="5486400" cy="3886200"/>
          </a:xfrm>
        </p:spPr>
        <p:txBody>
          <a:bodyPr/>
          <a:lstStyle/>
          <a:p>
            <a:r>
              <a:rPr lang="pt-BR" altLang="pt-BR" sz="2400"/>
              <a:t>Com atrito de partículas ocorre uma separação de cargas elétricas, carregando assim as o meio de forma a proporcionar gradativamente uma DDP entre atmosfera e solo.</a:t>
            </a:r>
          </a:p>
          <a:p>
            <a:endParaRPr lang="pt-BR" altLang="pt-BR" sz="2400"/>
          </a:p>
          <a:p>
            <a:r>
              <a:rPr lang="pt-BR" altLang="pt-BR" sz="2400"/>
              <a:t>Rompida a resistência dielétrica ocorre a centelha de equipotencialização.</a:t>
            </a:r>
          </a:p>
        </p:txBody>
      </p:sp>
      <p:pic>
        <p:nvPicPr>
          <p:cNvPr id="89093" name="Picture 5" descr="raio normal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743200"/>
            <a:ext cx="1962150" cy="361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DELO">
  <a:themeElements>
    <a:clrScheme name="MODELO 2">
      <a:dk1>
        <a:srgbClr val="000000"/>
      </a:dk1>
      <a:lt1>
        <a:srgbClr val="609494"/>
      </a:lt1>
      <a:dk2>
        <a:srgbClr val="FFC545"/>
      </a:dk2>
      <a:lt2>
        <a:srgbClr val="476F6E"/>
      </a:lt2>
      <a:accent1>
        <a:srgbClr val="FFFFCC"/>
      </a:accent1>
      <a:accent2>
        <a:srgbClr val="FF9900"/>
      </a:accent2>
      <a:accent3>
        <a:srgbClr val="B6C8C8"/>
      </a:accent3>
      <a:accent4>
        <a:srgbClr val="000000"/>
      </a:accent4>
      <a:accent5>
        <a:srgbClr val="FFFFE2"/>
      </a:accent5>
      <a:accent6>
        <a:srgbClr val="E78A00"/>
      </a:accent6>
      <a:hlink>
        <a:srgbClr val="3E7D7C"/>
      </a:hlink>
      <a:folHlink>
        <a:srgbClr val="99CCCC"/>
      </a:folHlink>
    </a:clrScheme>
    <a:fontScheme name="MODELO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ODELO 1">
        <a:dk1>
          <a:srgbClr val="264D4C"/>
        </a:dk1>
        <a:lt1>
          <a:srgbClr val="F8F8F8"/>
        </a:lt1>
        <a:dk2>
          <a:srgbClr val="336666"/>
        </a:dk2>
        <a:lt2>
          <a:srgbClr val="FFFFCC"/>
        </a:lt2>
        <a:accent1>
          <a:srgbClr val="C0C0C0"/>
        </a:accent1>
        <a:accent2>
          <a:srgbClr val="FF9900"/>
        </a:accent2>
        <a:accent3>
          <a:srgbClr val="ADB8B8"/>
        </a:accent3>
        <a:accent4>
          <a:srgbClr val="D4D4D4"/>
        </a:accent4>
        <a:accent5>
          <a:srgbClr val="DCDCDC"/>
        </a:accent5>
        <a:accent6>
          <a:srgbClr val="E78A00"/>
        </a:accent6>
        <a:hlink>
          <a:srgbClr val="FFCC00"/>
        </a:hlink>
        <a:folHlink>
          <a:srgbClr val="99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2">
        <a:dk1>
          <a:srgbClr val="000000"/>
        </a:dk1>
        <a:lt1>
          <a:srgbClr val="609494"/>
        </a:lt1>
        <a:dk2>
          <a:srgbClr val="FFC545"/>
        </a:dk2>
        <a:lt2>
          <a:srgbClr val="476F6E"/>
        </a:lt2>
        <a:accent1>
          <a:srgbClr val="FFFFCC"/>
        </a:accent1>
        <a:accent2>
          <a:srgbClr val="FF9900"/>
        </a:accent2>
        <a:accent3>
          <a:srgbClr val="B6C8C8"/>
        </a:accent3>
        <a:accent4>
          <a:srgbClr val="000000"/>
        </a:accent4>
        <a:accent5>
          <a:srgbClr val="FFFFE2"/>
        </a:accent5>
        <a:accent6>
          <a:srgbClr val="E78A00"/>
        </a:accent6>
        <a:hlink>
          <a:srgbClr val="3E7D7C"/>
        </a:hlink>
        <a:folHlink>
          <a:srgbClr val="99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0C0C0"/>
        </a:accent1>
        <a:accent2>
          <a:srgbClr val="F8F8F8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E1E1E1"/>
        </a:accent6>
        <a:hlink>
          <a:srgbClr val="4D4D4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G:\NR-10\Apresentações\MODELO.ppt</Template>
  <TotalTime>715</TotalTime>
  <Words>1139</Words>
  <Application>Microsoft Office PowerPoint</Application>
  <PresentationFormat>Apresentação na tela (4:3)</PresentationFormat>
  <Paragraphs>99</Paragraphs>
  <Slides>19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19</vt:i4>
      </vt:variant>
    </vt:vector>
  </HeadingPairs>
  <TitlesOfParts>
    <vt:vector size="29" baseType="lpstr">
      <vt:lpstr>Times New Roman</vt:lpstr>
      <vt:lpstr>Arial Black</vt:lpstr>
      <vt:lpstr>Arial Narrow</vt:lpstr>
      <vt:lpstr>Tahoma</vt:lpstr>
      <vt:lpstr>Wingdings</vt:lpstr>
      <vt:lpstr>Arial</vt:lpstr>
      <vt:lpstr>MODELO</vt:lpstr>
      <vt:lpstr>Documento do Microsoft Word </vt:lpstr>
      <vt:lpstr>Documento do Microsoft Word</vt:lpstr>
      <vt:lpstr>Microsoft Clip Gallery</vt:lpstr>
      <vt:lpstr>Riscos adicionais</vt:lpstr>
      <vt:lpstr>Riscos adicionais</vt:lpstr>
      <vt:lpstr>Altura</vt:lpstr>
      <vt:lpstr>Evolução da segurança, transmissão.</vt:lpstr>
      <vt:lpstr>Evolução da segurança</vt:lpstr>
      <vt:lpstr>Sistema de ancoragem</vt:lpstr>
      <vt:lpstr>Resgate</vt:lpstr>
      <vt:lpstr>Outros meios para trabalho em altura</vt:lpstr>
      <vt:lpstr>Outros meios para trabalho em altura</vt:lpstr>
      <vt:lpstr>Outros meios para trabalho em altura</vt:lpstr>
      <vt:lpstr>Outros meios para trabalho em altura</vt:lpstr>
      <vt:lpstr>Outros meios para trabalho em altura</vt:lpstr>
      <vt:lpstr>Ambientes confinados</vt:lpstr>
      <vt:lpstr>Ambientes confinados</vt:lpstr>
      <vt:lpstr>Ambientes confinados</vt:lpstr>
      <vt:lpstr>Áreas classificadas</vt:lpstr>
      <vt:lpstr>Áreas classificadas</vt:lpstr>
      <vt:lpstr>Umidade</vt:lpstr>
      <vt:lpstr>Condições atmosféricas</vt:lpstr>
    </vt:vector>
  </TitlesOfParts>
  <Company>AES Eletropaulo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Michel Lucas de Oliveira</dc:creator>
  <cp:lastModifiedBy>Usuário do Windows</cp:lastModifiedBy>
  <cp:revision>141</cp:revision>
  <dcterms:created xsi:type="dcterms:W3CDTF">2005-06-20T14:11:47Z</dcterms:created>
  <dcterms:modified xsi:type="dcterms:W3CDTF">2017-10-15T20:24:38Z</dcterms:modified>
</cp:coreProperties>
</file>