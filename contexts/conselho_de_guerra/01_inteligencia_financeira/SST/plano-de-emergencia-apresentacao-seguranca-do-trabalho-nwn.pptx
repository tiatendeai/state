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0"/>
  </p:notesMasterIdLst>
  <p:sldIdLst>
    <p:sldId id="256" r:id="rId2"/>
    <p:sldId id="258" r:id="rId3"/>
    <p:sldId id="25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8" r:id="rId21"/>
    <p:sldId id="269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3" r:id="rId32"/>
    <p:sldId id="287" r:id="rId33"/>
    <p:sldId id="288" r:id="rId34"/>
    <p:sldId id="289" r:id="rId35"/>
    <p:sldId id="290" r:id="rId36"/>
    <p:sldId id="291" r:id="rId37"/>
    <p:sldId id="294" r:id="rId38"/>
    <p:sldId id="292" r:id="rId3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147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08239-C9D6-4B04-BEE9-14B41AE733AD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AF500-17B5-4C0E-8CB4-FC98DBFF15F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67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AF500-17B5-4C0E-8CB4-FC98DBFF15FB}" type="slidenum">
              <a:rPr lang="pt-BR" smtClean="0"/>
              <a:pPr/>
              <a:t>26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12/01/2014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F:\TRABALHOS%20CEEP\COMUNICA&#199;&#195;O\2&#186;%20SEMESTRE\videos%20p%20trab\Projeto%20S&#233;rie%20100%25%20Seguro%20%20%20Plano%20de%20Emerg&#234;ncia.avi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F:\TRABALHOS%20CEEP\COMUNICA&#199;&#195;O\2&#186;%20SEMESTRE\videos%20p%20trab\Plano%20de%20Emerg&#234;ncia%20e%20Abandono%20de%20&#193;rea%201wmv.avi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audio" Target="file:///F:\MUSICAS\Metal\060-BLACK%20-%20PEARL%20JAN%20.mp3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pt-BR" sz="2800" dirty="0" smtClean="0">
                <a:solidFill>
                  <a:srgbClr val="FF0000"/>
                </a:solidFill>
              </a:rPr>
              <a:t>PLANO DE EMERGÊNCIA</a:t>
            </a:r>
            <a:r>
              <a:rPr lang="pt-BR" sz="2000" dirty="0" smtClean="0">
                <a:solidFill>
                  <a:srgbClr val="FF0000"/>
                </a:solidFill>
              </a:rPr>
              <a:t/>
            </a:r>
            <a:br>
              <a:rPr lang="pt-BR" sz="2000" dirty="0" smtClean="0">
                <a:solidFill>
                  <a:srgbClr val="FF0000"/>
                </a:solidFill>
              </a:rPr>
            </a:br>
            <a:r>
              <a:rPr lang="pt-BR" sz="2000" dirty="0" smtClean="0"/>
              <a:t>NBR 15219/2005 - Plano de Emergência contra Incêndio /  NR- 23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0000"/>
                </a:solidFill>
              </a:rPr>
              <a:t>Wellington H.C. da Silva 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half" idx="3"/>
          </p:nvPr>
        </p:nvSpPr>
        <p:spPr/>
        <p:txBody>
          <a:bodyPr>
            <a:normAutofit/>
          </a:bodyPr>
          <a:lstStyle/>
          <a:p>
            <a:r>
              <a:rPr lang="pt-BR" dirty="0" err="1" smtClean="0">
                <a:solidFill>
                  <a:srgbClr val="FF0000"/>
                </a:solidFill>
              </a:rPr>
              <a:t>Téc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err="1" smtClean="0">
                <a:solidFill>
                  <a:srgbClr val="FF0000"/>
                </a:solidFill>
              </a:rPr>
              <a:t>Seg</a:t>
            </a:r>
            <a:r>
              <a:rPr lang="pt-BR" dirty="0" smtClean="0">
                <a:solidFill>
                  <a:srgbClr val="FF0000"/>
                </a:solidFill>
              </a:rPr>
              <a:t> do Trabalho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11" name="Espaço Reservado para Conteúdo 10" descr="logo plan emg.gif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67544" y="1412776"/>
            <a:ext cx="4464496" cy="4104456"/>
          </a:xfrm>
        </p:spPr>
      </p:pic>
      <p:pic>
        <p:nvPicPr>
          <p:cNvPr id="14" name="Espaço Reservado para Conteúdo 13" descr="sinalizacao-de-seguranca-fotoluminescente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999036" y="1412776"/>
            <a:ext cx="3677419" cy="410445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INTRODUÇÃO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5" name="Espaço Reservado para Conteúdo 4" descr="boat kiss.jpe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07504" y="1340768"/>
            <a:ext cx="4176464" cy="5112568"/>
          </a:xfrm>
        </p:spPr>
      </p:pic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340768"/>
            <a:ext cx="4409256" cy="5112568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Em virtude do </a:t>
            </a:r>
            <a:r>
              <a:rPr lang="pt-BR" u="sng" dirty="0" smtClean="0"/>
              <a:t>grande</a:t>
            </a:r>
            <a:r>
              <a:rPr lang="pt-BR" dirty="0" smtClean="0"/>
              <a:t> número de </a:t>
            </a:r>
            <a:r>
              <a:rPr lang="pt-BR" u="sng" dirty="0" smtClean="0"/>
              <a:t>vítimas</a:t>
            </a:r>
            <a:r>
              <a:rPr lang="pt-BR" dirty="0" smtClean="0"/>
              <a:t> que os </a:t>
            </a:r>
            <a:r>
              <a:rPr lang="pt-BR" u="sng" dirty="0" smtClean="0"/>
              <a:t>incêndios</a:t>
            </a:r>
            <a:r>
              <a:rPr lang="pt-BR" dirty="0" smtClean="0"/>
              <a:t> </a:t>
            </a:r>
            <a:r>
              <a:rPr lang="pt-BR" u="sng" dirty="0" smtClean="0"/>
              <a:t>tem causado </a:t>
            </a:r>
            <a:r>
              <a:rPr lang="pt-BR" dirty="0" smtClean="0"/>
              <a:t>nos </a:t>
            </a:r>
            <a:r>
              <a:rPr lang="pt-BR" u="sng" dirty="0" smtClean="0"/>
              <a:t>locais</a:t>
            </a:r>
            <a:r>
              <a:rPr lang="pt-BR" dirty="0" smtClean="0"/>
              <a:t> de </a:t>
            </a:r>
            <a:r>
              <a:rPr lang="pt-BR" u="sng" dirty="0" smtClean="0"/>
              <a:t>maior concentração humana</a:t>
            </a:r>
            <a:r>
              <a:rPr lang="pt-BR" dirty="0" smtClean="0"/>
              <a:t>, principalmente </a:t>
            </a:r>
            <a:r>
              <a:rPr lang="pt-BR" u="sng" dirty="0" smtClean="0"/>
              <a:t>edifícios</a:t>
            </a:r>
            <a:r>
              <a:rPr lang="pt-BR" dirty="0" smtClean="0"/>
              <a:t> e, tendo como causas principais à </a:t>
            </a:r>
            <a:r>
              <a:rPr lang="pt-BR" u="sng" dirty="0" smtClean="0"/>
              <a:t>falta de conhecimento </a:t>
            </a:r>
            <a:r>
              <a:rPr lang="pt-BR" dirty="0" smtClean="0"/>
              <a:t>dos melhores </a:t>
            </a:r>
            <a:r>
              <a:rPr lang="pt-BR" u="sng" dirty="0" smtClean="0"/>
              <a:t>locais de saída</a:t>
            </a:r>
            <a:r>
              <a:rPr lang="pt-BR" dirty="0" smtClean="0"/>
              <a:t>, causando pânico, correria, ocasionando quedas e </a:t>
            </a:r>
            <a:r>
              <a:rPr lang="pt-BR" dirty="0" err="1" smtClean="0"/>
              <a:t>pisoteamentos</a:t>
            </a:r>
            <a:r>
              <a:rPr lang="pt-BR" dirty="0" smtClean="0"/>
              <a:t>, pessoas retidas em elevadores e outras falhas, </a:t>
            </a:r>
            <a:r>
              <a:rPr lang="pt-BR" u="sng" dirty="0" smtClean="0"/>
              <a:t>se faz necessário o planejamento </a:t>
            </a:r>
            <a:r>
              <a:rPr lang="pt-BR" dirty="0" smtClean="0"/>
              <a:t>e a </a:t>
            </a:r>
            <a:r>
              <a:rPr lang="pt-BR" u="sng" dirty="0" smtClean="0"/>
              <a:t>execução</a:t>
            </a:r>
            <a:r>
              <a:rPr lang="pt-BR" dirty="0" smtClean="0"/>
              <a:t> de </a:t>
            </a:r>
            <a:r>
              <a:rPr lang="pt-BR" u="sng" dirty="0" smtClean="0"/>
              <a:t>exercícios de abandono de emergência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OBJETIVO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u="sng" dirty="0" smtClean="0"/>
              <a:t>Preparar</a:t>
            </a:r>
            <a:r>
              <a:rPr lang="pt-BR" b="1" dirty="0" smtClean="0"/>
              <a:t> </a:t>
            </a:r>
            <a:r>
              <a:rPr lang="pt-BR" dirty="0" smtClean="0"/>
              <a:t>os funcionários </a:t>
            </a:r>
            <a:r>
              <a:rPr lang="pt-BR" u="sng" dirty="0" smtClean="0"/>
              <a:t>para um rápido e eficiente abandono do edifício, fábrica, escolas, hospitais</a:t>
            </a:r>
            <a:r>
              <a:rPr lang="pt-BR" dirty="0" smtClean="0"/>
              <a:t> </a:t>
            </a:r>
            <a:r>
              <a:rPr lang="pt-BR" dirty="0" err="1" smtClean="0"/>
              <a:t>etc</a:t>
            </a:r>
            <a:r>
              <a:rPr lang="pt-BR" dirty="0" smtClean="0"/>
              <a:t>, </a:t>
            </a:r>
            <a:r>
              <a:rPr lang="pt-BR" u="sng" dirty="0" smtClean="0"/>
              <a:t>em caso real de incêndio ou qualquer outra emergência</a:t>
            </a:r>
            <a:r>
              <a:rPr lang="pt-BR" dirty="0" smtClean="0"/>
              <a:t>. </a:t>
            </a:r>
            <a:r>
              <a:rPr lang="pt-BR" u="sng" dirty="0" smtClean="0"/>
              <a:t>Definir</a:t>
            </a:r>
            <a:r>
              <a:rPr lang="pt-BR" dirty="0" smtClean="0"/>
              <a:t> o atendimento e as potenciais situações de emergência conforme plano vigente e nas considerações do departamento de segurança.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RAZÕES PARA A ELABORAÇÃO DE UM PLANO DE EMERGÊNCIA</a:t>
            </a:r>
            <a:endParaRPr lang="pt-BR" sz="32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Estabelece</a:t>
            </a:r>
            <a:r>
              <a:rPr lang="pt-BR" u="sng" dirty="0" smtClean="0"/>
              <a:t> cenários de acidentes </a:t>
            </a:r>
            <a:r>
              <a:rPr lang="pt-BR" dirty="0" smtClean="0"/>
              <a:t>para os riscos identificados.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Define</a:t>
            </a:r>
            <a:r>
              <a:rPr lang="pt-BR" dirty="0" smtClean="0"/>
              <a:t> princípios, normas e regras de atuação aplicada aos cenários possíveis.</a:t>
            </a:r>
          </a:p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Organiza</a:t>
            </a:r>
            <a:r>
              <a:rPr lang="pt-BR" u="sng" dirty="0" smtClean="0"/>
              <a:t> os meios de socorro </a:t>
            </a:r>
            <a:r>
              <a:rPr lang="pt-BR" dirty="0" smtClean="0"/>
              <a:t>o prevê missões que competem a cada um dos intervenientes.</a:t>
            </a:r>
          </a:p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Permite</a:t>
            </a:r>
            <a:r>
              <a:rPr lang="pt-BR" dirty="0" smtClean="0"/>
              <a:t> desencadear </a:t>
            </a:r>
            <a:r>
              <a:rPr lang="pt-BR" u="sng" dirty="0" smtClean="0"/>
              <a:t>ações oportunas</a:t>
            </a:r>
            <a:r>
              <a:rPr lang="pt-BR" dirty="0" smtClean="0"/>
              <a:t>, </a:t>
            </a:r>
            <a:r>
              <a:rPr lang="pt-BR" u="sng" dirty="0" smtClean="0"/>
              <a:t>destinadas</a:t>
            </a:r>
            <a:r>
              <a:rPr lang="pt-BR" dirty="0" smtClean="0"/>
              <a:t> a </a:t>
            </a:r>
            <a:r>
              <a:rPr lang="pt-BR" u="sng" dirty="0" smtClean="0"/>
              <a:t>minimizar</a:t>
            </a:r>
            <a:r>
              <a:rPr lang="pt-BR" dirty="0" smtClean="0"/>
              <a:t> as </a:t>
            </a:r>
            <a:r>
              <a:rPr lang="pt-BR" u="sng" dirty="0" smtClean="0"/>
              <a:t>consequências do sinistro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Evita</a:t>
            </a:r>
            <a:r>
              <a:rPr lang="pt-BR" u="sng" dirty="0" smtClean="0"/>
              <a:t> confusões</a:t>
            </a:r>
            <a:r>
              <a:rPr lang="pt-BR" dirty="0" smtClean="0"/>
              <a:t>, erros, atropelos e a duplicação de atuações.</a:t>
            </a:r>
          </a:p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Prevê</a:t>
            </a:r>
            <a:r>
              <a:rPr lang="pt-BR" u="sng" dirty="0" smtClean="0"/>
              <a:t> e organiza </a:t>
            </a:r>
            <a:r>
              <a:rPr lang="pt-BR" dirty="0" smtClean="0"/>
              <a:t>antecipadamente a atuação e a evacuação.</a:t>
            </a:r>
          </a:p>
          <a:p>
            <a:pPr>
              <a:buFont typeface="Wingdings" pitchFamily="2" charset="2"/>
              <a:buChar char="Ø"/>
            </a:pPr>
            <a:r>
              <a:rPr lang="pt-BR" b="1" u="sng" dirty="0" smtClean="0"/>
              <a:t>Permite rotina e procedimentos</a:t>
            </a:r>
            <a:r>
              <a:rPr lang="pt-BR" dirty="0" smtClean="0"/>
              <a:t>, os quais poderão ser testados, através de exercícios de simulação. 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/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Aplicações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pt-BR" sz="3600" dirty="0" smtClean="0"/>
          </a:p>
          <a:p>
            <a:pPr>
              <a:buFont typeface="Wingdings" pitchFamily="2" charset="2"/>
              <a:buChar char="Ø"/>
            </a:pPr>
            <a:r>
              <a:rPr lang="pt-BR" sz="3600" dirty="0" smtClean="0"/>
              <a:t>Visando em princípio o bem estar e a vida, as instalações e dependência a o meio ambiente.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7385248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Detalhamento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Toda situação de emergência é tratada com padronização obtendo várias etapas.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/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Responsabilidades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Todas as responsabilidades, </a:t>
            </a:r>
            <a:r>
              <a:rPr lang="pt-BR" u="sng" dirty="0" smtClean="0"/>
              <a:t>de ação</a:t>
            </a:r>
            <a:r>
              <a:rPr lang="pt-BR" dirty="0" smtClean="0"/>
              <a:t>, </a:t>
            </a:r>
            <a:r>
              <a:rPr lang="pt-BR" u="sng" dirty="0" smtClean="0"/>
              <a:t>prevenção</a:t>
            </a:r>
            <a:r>
              <a:rPr lang="pt-BR" dirty="0" smtClean="0"/>
              <a:t>, dentre outras, serão de responsabilidades dos setores diretamente voltados para o evento e de </a:t>
            </a:r>
            <a:r>
              <a:rPr lang="pt-BR" u="sng" dirty="0" smtClean="0"/>
              <a:t>forma alguma serão tomadas decisões isoladas</a:t>
            </a:r>
            <a:r>
              <a:rPr lang="pt-BR" dirty="0" smtClean="0"/>
              <a:t>, tendo como objetivo que as decisões sejam tomadas no </a:t>
            </a:r>
            <a:r>
              <a:rPr lang="pt-BR" u="sng" dirty="0" smtClean="0"/>
              <a:t>mínimo com duas pessoas sendo estas voltadas para o acontecimento.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 smtClean="0">
                <a:solidFill>
                  <a:srgbClr val="FF0000"/>
                </a:solidFill>
              </a:rPr>
              <a:t>Um plano de emergência deve, por isso, ter as seguintes características:</a:t>
            </a:r>
            <a:r>
              <a:rPr lang="pt-BR" sz="3200" dirty="0" smtClean="0"/>
              <a:t/>
            </a:r>
            <a:br>
              <a:rPr lang="pt-BR" sz="3200" dirty="0" smtClean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b="1" dirty="0" smtClean="0"/>
              <a:t>Simplicidade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Flexibilidade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Dinamismo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Adequação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Precisão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i="1" dirty="0" smtClean="0"/>
              <a:t>Observar e se adequar atentamente ás mudanças vigentes: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LEGISLAÇÃO CONTRA INCÊNDIO.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LEGISLAÇÃO AMBIENTAL.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NR.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NBR.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pt-BR" sz="5400" dirty="0" smtClean="0"/>
              <a:t>Quem pode elaborar um plano de emergência??????</a:t>
            </a:r>
            <a:endParaRPr lang="pt-BR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0000"/>
                </a:solidFill>
              </a:rPr>
              <a:t>Pessoa Habilitada.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7" name="Espaço Reservado para Conteúdo 6" descr="BRIG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716017" y="1484784"/>
            <a:ext cx="4176464" cy="4824535"/>
          </a:xfrm>
        </p:spPr>
      </p:pic>
      <p:pic>
        <p:nvPicPr>
          <p:cNvPr id="10" name="Espaço Reservado para Conteúdo 9" descr="bom ind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79512" y="1484784"/>
            <a:ext cx="4392488" cy="482453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i="1" dirty="0" smtClean="0"/>
              <a:t>O plano se desenvolve a partir de uma </a:t>
            </a:r>
            <a:r>
              <a:rPr lang="pt-BR" i="1" u="sng" dirty="0" smtClean="0"/>
              <a:t>emergência</a:t>
            </a:r>
            <a:r>
              <a:rPr lang="pt-BR" i="1" dirty="0" smtClean="0"/>
              <a:t>, podendo evoluir para um plano de </a:t>
            </a:r>
            <a:r>
              <a:rPr lang="pt-BR" i="1" u="sng" dirty="0" smtClean="0"/>
              <a:t>abandono</a:t>
            </a:r>
            <a:r>
              <a:rPr lang="pt-BR" i="1" dirty="0" smtClean="0"/>
              <a:t> ou </a:t>
            </a:r>
            <a:r>
              <a:rPr lang="pt-BR" i="1" u="sng" dirty="0" smtClean="0"/>
              <a:t>evacuação</a:t>
            </a:r>
            <a:r>
              <a:rPr lang="pt-BR" i="1" dirty="0" smtClean="0"/>
              <a:t>.</a:t>
            </a:r>
            <a:endParaRPr lang="pt-BR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600" b="1" dirty="0" smtClean="0">
                <a:solidFill>
                  <a:srgbClr val="FF0000"/>
                </a:solidFill>
              </a:rPr>
              <a:t>CONSTATAÇÃO DA EMERGÊNCIA</a:t>
            </a:r>
            <a:r>
              <a:rPr lang="pt-BR" dirty="0" smtClean="0">
                <a:solidFill>
                  <a:srgbClr val="FF0000"/>
                </a:solidFill>
              </a:rPr>
              <a:t/>
            </a:r>
            <a:br>
              <a:rPr lang="pt-BR" dirty="0" smtClean="0">
                <a:solidFill>
                  <a:srgbClr val="FF0000"/>
                </a:solidFill>
              </a:rPr>
            </a:b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pt-BR" sz="3300" dirty="0" smtClean="0"/>
              <a:t>O alarme de incêndio </a:t>
            </a:r>
          </a:p>
          <a:p>
            <a:pPr lvl="0">
              <a:buFont typeface="Wingdings" pitchFamily="2" charset="2"/>
              <a:buChar char="Ø"/>
            </a:pPr>
            <a:r>
              <a:rPr lang="pt-BR" sz="3300" dirty="0" smtClean="0"/>
              <a:t>acionamento poderá se dar manualmente através de botoeiras ou automaticamente por detectores.</a:t>
            </a:r>
          </a:p>
          <a:p>
            <a:pPr lvl="0">
              <a:buFont typeface="Wingdings" pitchFamily="2" charset="2"/>
              <a:buChar char="Ø"/>
            </a:pPr>
            <a:endParaRPr lang="pt-BR" dirty="0" smtClean="0"/>
          </a:p>
          <a:p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pt-BR" dirty="0" smtClean="0"/>
              <a:t>O alarme de incêndio quando acionado irá </a:t>
            </a:r>
            <a:r>
              <a:rPr lang="pt-BR" u="sng" dirty="0" smtClean="0"/>
              <a:t>disparar os indicadores sonoro e visual </a:t>
            </a:r>
            <a:r>
              <a:rPr lang="pt-BR" dirty="0" smtClean="0"/>
              <a:t>no </a:t>
            </a:r>
            <a:r>
              <a:rPr lang="pt-BR" u="sng" dirty="0" smtClean="0"/>
              <a:t>setor correspondente</a:t>
            </a:r>
            <a:r>
              <a:rPr lang="pt-BR" dirty="0" smtClean="0"/>
              <a:t> e também será notado na </a:t>
            </a:r>
            <a:r>
              <a:rPr lang="pt-BR" u="sng" dirty="0" smtClean="0"/>
              <a:t>central de alarme </a:t>
            </a:r>
            <a:r>
              <a:rPr lang="pt-BR" dirty="0" smtClean="0"/>
              <a:t>e detecção localizada na portaria. Sendo setorizado, o alarme só </a:t>
            </a:r>
            <a:r>
              <a:rPr lang="pt-BR" u="sng" dirty="0" smtClean="0"/>
              <a:t>será audível para as pessoas daquele setor até</a:t>
            </a:r>
            <a:r>
              <a:rPr lang="pt-BR" dirty="0" smtClean="0"/>
              <a:t> que </a:t>
            </a:r>
            <a:r>
              <a:rPr lang="pt-BR" u="sng" dirty="0" smtClean="0"/>
              <a:t>se acione </a:t>
            </a:r>
            <a:r>
              <a:rPr lang="pt-BR" dirty="0" smtClean="0"/>
              <a:t>o </a:t>
            </a:r>
            <a:r>
              <a:rPr lang="pt-BR" u="sng" dirty="0" smtClean="0"/>
              <a:t>alarme geral na central </a:t>
            </a:r>
            <a:r>
              <a:rPr lang="pt-BR" dirty="0" smtClean="0"/>
              <a:t>de alarme.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</a:rPr>
              <a:t>ACIONAMENTO DO ALARME PARA TREINAMENTO E MANUTENÇÃO</a:t>
            </a:r>
            <a:endParaRPr lang="pt-BR" sz="32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O acionamento do alarme fora das situações de emergência </a:t>
            </a:r>
            <a:r>
              <a:rPr lang="pt-BR" u="sng" dirty="0" smtClean="0"/>
              <a:t>dependerá de planejamento </a:t>
            </a:r>
            <a:r>
              <a:rPr lang="pt-BR" dirty="0" smtClean="0"/>
              <a:t>próprio executado pelo Grupo </a:t>
            </a:r>
            <a:r>
              <a:rPr lang="pt-BR" u="sng" dirty="0" smtClean="0"/>
              <a:t>Coordenador</a:t>
            </a:r>
            <a:r>
              <a:rPr lang="pt-BR" dirty="0" smtClean="0"/>
              <a:t> do Plano de Emergência.</a:t>
            </a:r>
          </a:p>
          <a:p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setor devem ser avisadas 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De preferência, os testes serão feitos nos fins de semana ou em horários fora do expediente normal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800" dirty="0" smtClean="0">
                <a:solidFill>
                  <a:srgbClr val="FF0000"/>
                </a:solidFill>
              </a:rPr>
              <a:t/>
            </a:r>
            <a:br>
              <a:rPr lang="pt-BR" sz="4800" dirty="0" smtClean="0">
                <a:solidFill>
                  <a:srgbClr val="FF0000"/>
                </a:solidFill>
              </a:rPr>
            </a:br>
            <a:r>
              <a:rPr lang="pt-BR" sz="4800" dirty="0" smtClean="0">
                <a:solidFill>
                  <a:srgbClr val="FF0000"/>
                </a:solidFill>
              </a:rPr>
              <a:t/>
            </a:r>
            <a:br>
              <a:rPr lang="pt-BR" sz="4800" dirty="0" smtClean="0">
                <a:solidFill>
                  <a:srgbClr val="FF0000"/>
                </a:solidFill>
              </a:rPr>
            </a:br>
            <a:r>
              <a:rPr lang="pt-BR" sz="4900" dirty="0" smtClean="0">
                <a:solidFill>
                  <a:srgbClr val="FF0000"/>
                </a:solidFill>
              </a:rPr>
              <a:t>Quem pode acionar o alarme de emergência?</a:t>
            </a:r>
            <a:r>
              <a:rPr lang="pt-BR" sz="4800" dirty="0" smtClean="0">
                <a:solidFill>
                  <a:srgbClr val="FF0000"/>
                </a:solidFill>
              </a:rPr>
              <a:t/>
            </a:r>
            <a:br>
              <a:rPr lang="pt-BR" sz="4800" dirty="0" smtClean="0">
                <a:solidFill>
                  <a:srgbClr val="FF0000"/>
                </a:solidFill>
              </a:rPr>
            </a:br>
            <a:endParaRPr lang="pt-BR" dirty="0"/>
          </a:p>
        </p:txBody>
      </p:sp>
      <p:pic>
        <p:nvPicPr>
          <p:cNvPr id="9" name="Espaço Reservado para Conteúdo 8" descr="emergenci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7624" y="1916832"/>
            <a:ext cx="6337153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6480048" cy="2301240"/>
          </a:xfrm>
        </p:spPr>
        <p:txBody>
          <a:bodyPr>
            <a:normAutofit fontScale="90000"/>
          </a:bodyPr>
          <a:lstStyle/>
          <a:p>
            <a:pPr algn="l"/>
            <a:r>
              <a:rPr lang="pt-BR" sz="3200" dirty="0" smtClean="0">
                <a:solidFill>
                  <a:srgbClr val="C00000"/>
                </a:solidFill>
              </a:rPr>
              <a:t>Qualquer pessoa que se encontre no interior da fábrica, ou que  visualize uma situação de emergência, seja ele um colaborador fixo, terceirizado ou visitante.</a:t>
            </a:r>
            <a:r>
              <a:rPr lang="pt-BR" sz="3200" dirty="0" smtClean="0"/>
              <a:t/>
            </a:r>
            <a:br>
              <a:rPr lang="pt-BR" sz="3200" dirty="0" smtClean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27584" y="476672"/>
            <a:ext cx="6480048" cy="1752600"/>
          </a:xfrm>
        </p:spPr>
        <p:txBody>
          <a:bodyPr/>
          <a:lstStyle/>
          <a:p>
            <a:pPr algn="l"/>
            <a:r>
              <a:rPr lang="pt-BR" sz="3600" dirty="0" smtClean="0">
                <a:solidFill>
                  <a:srgbClr val="FF0000"/>
                </a:solidFill>
              </a:rPr>
              <a:t>Quem pode acionar o alarme de emergência?</a:t>
            </a:r>
          </a:p>
          <a:p>
            <a:pPr algn="l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1143000"/>
          </a:xfrm>
        </p:spPr>
        <p:txBody>
          <a:bodyPr>
            <a:noAutofit/>
          </a:bodyPr>
          <a:lstStyle/>
          <a:p>
            <a:r>
              <a:rPr lang="pt-BR" sz="3600" b="1" dirty="0" smtClean="0">
                <a:solidFill>
                  <a:srgbClr val="FF0000"/>
                </a:solidFill>
              </a:rPr>
              <a:t/>
            </a:r>
            <a:br>
              <a:rPr lang="pt-BR" sz="3600" b="1" dirty="0" smtClean="0">
                <a:solidFill>
                  <a:srgbClr val="FF0000"/>
                </a:solidFill>
              </a:rPr>
            </a:br>
            <a:r>
              <a:rPr lang="pt-BR" sz="3600" b="1" dirty="0" smtClean="0">
                <a:solidFill>
                  <a:srgbClr val="FF0000"/>
                </a:solidFill>
              </a:rPr>
              <a:t>Como se Divide um Plano de Emergência.</a:t>
            </a:r>
            <a:r>
              <a:rPr lang="pt-BR" sz="3600" dirty="0" smtClean="0">
                <a:solidFill>
                  <a:srgbClr val="FF0000"/>
                </a:solidFill>
              </a:rPr>
              <a:t/>
            </a:r>
            <a:br>
              <a:rPr lang="pt-BR" sz="3600" dirty="0" smtClean="0">
                <a:solidFill>
                  <a:srgbClr val="FF0000"/>
                </a:solidFill>
              </a:rPr>
            </a:br>
            <a:endParaRPr lang="pt-BR" sz="36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pt-BR" b="1" dirty="0" smtClean="0"/>
          </a:p>
          <a:p>
            <a:pPr>
              <a:buFont typeface="Wingdings" pitchFamily="2" charset="2"/>
              <a:buChar char="Ø"/>
            </a:pPr>
            <a:endParaRPr lang="pt-BR" b="1" dirty="0" smtClean="0"/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A Emergência ou toque de brigada (toque intermitente)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O Abandono (toque contínuo)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A Evacuação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endParaRPr lang="pt-BR" dirty="0" smtClean="0"/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pt-BR" sz="4400" b="1" dirty="0" smtClean="0"/>
              <a:t/>
            </a:r>
            <a:br>
              <a:rPr lang="pt-BR" sz="4400" b="1" dirty="0" smtClean="0"/>
            </a:br>
            <a:r>
              <a:rPr lang="pt-BR" sz="4400" b="1" dirty="0" smtClean="0">
                <a:solidFill>
                  <a:srgbClr val="FF0000"/>
                </a:solidFill>
              </a:rPr>
              <a:t>A Emergência ou chamada de brigada (toque intermitente)</a:t>
            </a:r>
            <a:r>
              <a:rPr lang="pt-BR" dirty="0" smtClean="0">
                <a:solidFill>
                  <a:srgbClr val="FF0000"/>
                </a:solidFill>
              </a:rPr>
              <a:t/>
            </a:r>
            <a:br>
              <a:rPr lang="pt-BR" dirty="0" smtClean="0">
                <a:solidFill>
                  <a:srgbClr val="FF0000"/>
                </a:solidFill>
              </a:rPr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Um fato, um acontecimento que vai proporciona ou ocasiona o abandono de uma fábrica ou de outro estabelecimento.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/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O Abandono (toque contínuo)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Saída voluntária dos funcionários do local onde se encontra até uma área de segurança.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A Evacuação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È a retirada de algumas pessoas até a área de segurança, que por algum motivo </a:t>
            </a:r>
            <a:r>
              <a:rPr lang="pt-BR" u="sng" dirty="0" smtClean="0"/>
              <a:t>não conseguiram </a:t>
            </a:r>
            <a:r>
              <a:rPr lang="pt-BR" dirty="0" smtClean="0"/>
              <a:t>se ausentar da fábrica, e isto só </a:t>
            </a:r>
            <a:r>
              <a:rPr lang="pt-BR" b="1" u="sng" dirty="0" smtClean="0">
                <a:solidFill>
                  <a:srgbClr val="FF0000"/>
                </a:solidFill>
              </a:rPr>
              <a:t>poderá ser executado por uma brigada de emergência ou um bombeiro.</a:t>
            </a:r>
            <a:endParaRPr lang="pt-BR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EFETIVO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Todo o efetivo utilizado no evento </a:t>
            </a:r>
            <a:r>
              <a:rPr lang="pt-BR" u="sng" dirty="0" smtClean="0"/>
              <a:t>terá funções especificas</a:t>
            </a:r>
            <a:r>
              <a:rPr lang="pt-BR" dirty="0" smtClean="0"/>
              <a:t> bem como sua </a:t>
            </a:r>
            <a:r>
              <a:rPr lang="pt-BR" u="sng" dirty="0" smtClean="0"/>
              <a:t>hierarquia imputada dentro do efetivo </a:t>
            </a:r>
            <a:r>
              <a:rPr lang="pt-BR" dirty="0" smtClean="0"/>
              <a:t>envolvido no evento.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Grupo coordenador do plano de emergência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i="1" u="sng" dirty="0" smtClean="0"/>
              <a:t>Analisar</a:t>
            </a:r>
            <a:r>
              <a:rPr lang="pt-BR" u="sng" dirty="0" smtClean="0"/>
              <a:t>, </a:t>
            </a:r>
            <a:r>
              <a:rPr lang="pt-BR" i="1" u="sng" dirty="0" smtClean="0"/>
              <a:t>comandar</a:t>
            </a:r>
            <a:r>
              <a:rPr lang="pt-BR" u="sng" dirty="0" smtClean="0"/>
              <a:t> e </a:t>
            </a:r>
            <a:r>
              <a:rPr lang="pt-BR" i="1" u="sng" dirty="0" smtClean="0"/>
              <a:t>executar</a:t>
            </a:r>
            <a:r>
              <a:rPr lang="pt-BR" u="sng" dirty="0" smtClean="0"/>
              <a:t> as ações de emergência.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1	Segurança do trabalho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2	Medicina do trabalho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3	Segurança patrimonial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4	Coordenadores de abandono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5	Manutenção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6	Brigada de incêndio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b="1" dirty="0" smtClean="0"/>
              <a:t> </a:t>
            </a:r>
            <a:r>
              <a:rPr lang="pt-BR" sz="4000" b="1" dirty="0" smtClean="0">
                <a:solidFill>
                  <a:srgbClr val="FF0000"/>
                </a:solidFill>
              </a:rPr>
              <a:t>COMPOSIÇÃO DA BRIGADA DE INCÊNDIO</a:t>
            </a:r>
            <a:endParaRPr lang="pt-BR" sz="40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131840" y="1772816"/>
            <a:ext cx="194421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GERENTE DE BRIGADA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899592" y="3284984"/>
            <a:ext cx="18722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CORDENADOR DE BRIGADA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3203848" y="3212976"/>
            <a:ext cx="180020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LÍDER E SUB LÍDER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5652120" y="3284984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BRIGADISTA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3131840" y="4581128"/>
            <a:ext cx="201622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PORTARIA</a:t>
            </a:r>
            <a:endParaRPr lang="pt-BR" dirty="0"/>
          </a:p>
        </p:txBody>
      </p:sp>
      <p:cxnSp>
        <p:nvCxnSpPr>
          <p:cNvPr id="12" name="Conector reto 11"/>
          <p:cNvCxnSpPr>
            <a:stCxn id="4" idx="2"/>
            <a:endCxn id="6" idx="0"/>
          </p:cNvCxnSpPr>
          <p:nvPr/>
        </p:nvCxnSpPr>
        <p:spPr>
          <a:xfrm>
            <a:off x="4103948" y="2420888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endCxn id="4" idx="1"/>
          </p:cNvCxnSpPr>
          <p:nvPr/>
        </p:nvCxnSpPr>
        <p:spPr>
          <a:xfrm>
            <a:off x="1835696" y="2096852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4" idx="3"/>
            <a:endCxn id="4" idx="3"/>
          </p:cNvCxnSpPr>
          <p:nvPr/>
        </p:nvCxnSpPr>
        <p:spPr>
          <a:xfrm>
            <a:off x="5076056" y="20968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4" idx="3"/>
          </p:cNvCxnSpPr>
          <p:nvPr/>
        </p:nvCxnSpPr>
        <p:spPr>
          <a:xfrm>
            <a:off x="5076056" y="2096852"/>
            <a:ext cx="1368152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endCxn id="7" idx="0"/>
          </p:cNvCxnSpPr>
          <p:nvPr/>
        </p:nvCxnSpPr>
        <p:spPr>
          <a:xfrm>
            <a:off x="6444208" y="2132856"/>
            <a:ext cx="36004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endCxn id="5" idx="0"/>
          </p:cNvCxnSpPr>
          <p:nvPr/>
        </p:nvCxnSpPr>
        <p:spPr>
          <a:xfrm>
            <a:off x="1835696" y="2132856"/>
            <a:ext cx="0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endCxn id="8" idx="0"/>
          </p:cNvCxnSpPr>
          <p:nvPr/>
        </p:nvCxnSpPr>
        <p:spPr>
          <a:xfrm>
            <a:off x="4139952" y="3933056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b="1" dirty="0" smtClean="0">
                <a:solidFill>
                  <a:srgbClr val="FF0000"/>
                </a:solidFill>
              </a:rPr>
              <a:t/>
            </a:r>
            <a:br>
              <a:rPr lang="pt-BR" sz="3600" b="1" dirty="0" smtClean="0">
                <a:solidFill>
                  <a:srgbClr val="FF0000"/>
                </a:solidFill>
              </a:rPr>
            </a:br>
            <a:r>
              <a:rPr lang="pt-BR" sz="3600" b="1" dirty="0" smtClean="0">
                <a:solidFill>
                  <a:srgbClr val="FF0000"/>
                </a:solidFill>
              </a:rPr>
              <a:t>COMPONENTES ENVOLVIDOS</a:t>
            </a:r>
            <a:r>
              <a:rPr lang="pt-BR" sz="3600" dirty="0" smtClean="0"/>
              <a:t/>
            </a:r>
            <a:br>
              <a:rPr lang="pt-BR" sz="3600" dirty="0" smtClean="0"/>
            </a:b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pt-BR" b="1" dirty="0" smtClean="0"/>
              <a:t>Administração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Público (1) fixo que desenvolve funções administrativas no interior das dependências da empresa.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Produção 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Público (2) fixo que desenvolve funções na área da produção da empresa.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Visitantes e terceiros 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Público (3 e 4) flutuante que desenvolve no interior da fábrica ações consideradas de curto prazo.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 smtClean="0">
                <a:solidFill>
                  <a:srgbClr val="FF0000"/>
                </a:solidFill>
              </a:rPr>
              <a:t>Seguimento do plano de emergência</a:t>
            </a:r>
            <a:endParaRPr lang="pt-BR" sz="40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pt-BR" u="sng" dirty="0" smtClean="0"/>
              <a:t>Primeiramente calma</a:t>
            </a:r>
            <a:r>
              <a:rPr lang="pt-BR" dirty="0" smtClean="0"/>
              <a:t>, ao </a:t>
            </a:r>
            <a:r>
              <a:rPr lang="pt-BR" u="sng" dirty="0" smtClean="0"/>
              <a:t>ouvir o alarme </a:t>
            </a:r>
            <a:r>
              <a:rPr lang="pt-BR" dirty="0" smtClean="0"/>
              <a:t>de </a:t>
            </a:r>
            <a:r>
              <a:rPr lang="pt-BR" u="sng" dirty="0" smtClean="0"/>
              <a:t>emergência</a:t>
            </a:r>
            <a:r>
              <a:rPr lang="pt-BR" dirty="0" smtClean="0"/>
              <a:t>, todos os funcionários devem </a:t>
            </a:r>
            <a:r>
              <a:rPr lang="pt-BR" u="sng" dirty="0" smtClean="0"/>
              <a:t>manter a calma</a:t>
            </a:r>
            <a:r>
              <a:rPr lang="pt-BR" dirty="0" smtClean="0"/>
              <a:t>, </a:t>
            </a:r>
            <a:r>
              <a:rPr lang="pt-BR" u="sng" dirty="0" smtClean="0"/>
              <a:t>desligar</a:t>
            </a:r>
            <a:r>
              <a:rPr lang="pt-BR" dirty="0" smtClean="0"/>
              <a:t> seus </a:t>
            </a:r>
            <a:r>
              <a:rPr lang="pt-BR" u="sng" dirty="0" smtClean="0"/>
              <a:t>equipamentos</a:t>
            </a:r>
            <a:r>
              <a:rPr lang="pt-BR" dirty="0" smtClean="0"/>
              <a:t> e </a:t>
            </a:r>
            <a:r>
              <a:rPr lang="pt-BR" u="sng" dirty="0" smtClean="0"/>
              <a:t>preparar-se</a:t>
            </a:r>
            <a:r>
              <a:rPr lang="pt-BR" dirty="0" smtClean="0"/>
              <a:t> para a </a:t>
            </a:r>
            <a:r>
              <a:rPr lang="pt-BR" u="sng" dirty="0" smtClean="0"/>
              <a:t>evacuação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pt-BR" u="sng" dirty="0" smtClean="0"/>
              <a:t>Deflagrada a emergência</a:t>
            </a:r>
            <a:r>
              <a:rPr lang="pt-BR" dirty="0" smtClean="0"/>
              <a:t>, os funcionário com </a:t>
            </a:r>
            <a:r>
              <a:rPr lang="pt-BR" u="sng" dirty="0" smtClean="0"/>
              <a:t>nível de liderança </a:t>
            </a:r>
            <a:r>
              <a:rPr lang="pt-BR" dirty="0" smtClean="0"/>
              <a:t>(gerente / encarregado ) deverão </a:t>
            </a:r>
            <a:r>
              <a:rPr lang="pt-BR" u="sng" dirty="0" smtClean="0"/>
              <a:t>permanecer</a:t>
            </a:r>
            <a:r>
              <a:rPr lang="pt-BR" dirty="0" smtClean="0"/>
              <a:t> no seu local de trabalho e </a:t>
            </a:r>
            <a:r>
              <a:rPr lang="pt-BR" u="sng" dirty="0" smtClean="0"/>
              <a:t>preparar</a:t>
            </a:r>
            <a:r>
              <a:rPr lang="pt-BR" dirty="0" smtClean="0"/>
              <a:t> os demais f</a:t>
            </a:r>
            <a:r>
              <a:rPr lang="pt-BR" u="sng" dirty="0" smtClean="0"/>
              <a:t>uncionários</a:t>
            </a:r>
            <a:r>
              <a:rPr lang="pt-BR" dirty="0" smtClean="0"/>
              <a:t> / </a:t>
            </a:r>
            <a:r>
              <a:rPr lang="pt-BR" u="sng" dirty="0" smtClean="0"/>
              <a:t>terceiros e visitantes</a:t>
            </a:r>
            <a:r>
              <a:rPr lang="pt-BR" dirty="0" smtClean="0"/>
              <a:t>, para uma </a:t>
            </a:r>
            <a:r>
              <a:rPr lang="pt-BR" u="sng" dirty="0" smtClean="0"/>
              <a:t>eventual evacuação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Abandono de Fábrica.</a:t>
            </a:r>
            <a:r>
              <a:rPr lang="pt-BR" dirty="0" smtClean="0">
                <a:solidFill>
                  <a:srgbClr val="FF0000"/>
                </a:solidFill>
              </a:rPr>
              <a:t/>
            </a:r>
            <a:br>
              <a:rPr lang="pt-BR" dirty="0" smtClean="0">
                <a:solidFill>
                  <a:srgbClr val="FF0000"/>
                </a:solidFill>
              </a:rPr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pt-BR" dirty="0" smtClean="0"/>
              <a:t>É a </a:t>
            </a:r>
            <a:r>
              <a:rPr lang="pt-BR" u="sng" dirty="0" smtClean="0"/>
              <a:t>saída</a:t>
            </a:r>
            <a:r>
              <a:rPr lang="pt-BR" dirty="0" smtClean="0"/>
              <a:t> </a:t>
            </a:r>
            <a:r>
              <a:rPr lang="pt-BR" u="sng" dirty="0" smtClean="0"/>
              <a:t>organizada</a:t>
            </a:r>
            <a:r>
              <a:rPr lang="pt-BR" dirty="0" smtClean="0"/>
              <a:t> total ou parcial dos funcionários e parceiros que estejam na empresa ou setor, </a:t>
            </a:r>
            <a:r>
              <a:rPr lang="pt-BR" u="sng" dirty="0" smtClean="0"/>
              <a:t>em fila </a:t>
            </a:r>
            <a:r>
              <a:rPr lang="pt-BR" dirty="0" smtClean="0"/>
              <a:t>(um funcionário atrás do outro) para a </a:t>
            </a:r>
            <a:r>
              <a:rPr lang="pt-BR" u="sng" dirty="0" smtClean="0"/>
              <a:t>área de  segurança</a:t>
            </a:r>
            <a:r>
              <a:rPr lang="pt-BR" dirty="0" smtClean="0"/>
              <a:t>, no caso de situações de emergências </a:t>
            </a:r>
            <a:r>
              <a:rPr lang="pt-BR" u="sng" dirty="0" smtClean="0"/>
              <a:t>internas</a:t>
            </a:r>
            <a:r>
              <a:rPr lang="pt-BR" dirty="0" smtClean="0"/>
              <a:t> ou </a:t>
            </a:r>
            <a:r>
              <a:rPr lang="pt-BR" u="sng" dirty="0" smtClean="0"/>
              <a:t>externas</a:t>
            </a:r>
            <a:r>
              <a:rPr lang="pt-BR" dirty="0" smtClean="0"/>
              <a:t>, que </a:t>
            </a:r>
            <a:r>
              <a:rPr lang="pt-BR" u="sng" dirty="0" smtClean="0"/>
              <a:t>coloquem em risco </a:t>
            </a:r>
            <a:r>
              <a:rPr lang="pt-BR" dirty="0" smtClean="0"/>
              <a:t>a </a:t>
            </a:r>
            <a:r>
              <a:rPr lang="pt-BR" u="sng" dirty="0" smtClean="0"/>
              <a:t>integridade física </a:t>
            </a:r>
            <a:r>
              <a:rPr lang="pt-BR" dirty="0" smtClean="0"/>
              <a:t>das pessoas.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5937523"/>
          </a:xfrm>
        </p:spPr>
        <p:txBody>
          <a:bodyPr>
            <a:normAutofit fontScale="85000" lnSpcReduction="10000"/>
          </a:bodyPr>
          <a:lstStyle/>
          <a:p>
            <a:pPr lvl="0">
              <a:buFont typeface="Wingdings" pitchFamily="2" charset="2"/>
              <a:buChar char="Ø"/>
            </a:pPr>
            <a:r>
              <a:rPr lang="pt-BR" dirty="0" smtClean="0"/>
              <a:t>Todos  deverão dar as mãos (a noite) para evitar correrias ou tumultos;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Cuidados adicionais devem ser tomados com relação a decidas de escadas;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Os grupos de abandono ou evacuados deverão ser orientados para avançarem degrau a degrau, ou seja, passo a passo;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Suspender toda as ligações internas e/ou externas que não estejam ligadas a e emergência;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Somente poderão dirigir-se ao local da emergência, os funcionários integrantes da brigada de emergência;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Fica suspenso a entrada de qualquer pessoa a unidade, salvo dos membros da brigada e/ou corpo de bombeiros.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ÁREA DE SEGURANÇA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pic>
        <p:nvPicPr>
          <p:cNvPr id="4" name="Espaço Reservado para Conteúdo 3" descr="plant animad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268760"/>
            <a:ext cx="7704856" cy="50405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É um </a:t>
            </a:r>
            <a:r>
              <a:rPr lang="pt-BR" u="sng" dirty="0" smtClean="0"/>
              <a:t>local externo </a:t>
            </a:r>
            <a:r>
              <a:rPr lang="pt-BR" dirty="0" smtClean="0"/>
              <a:t>onde serão </a:t>
            </a:r>
            <a:r>
              <a:rPr lang="pt-BR" u="sng" dirty="0" smtClean="0"/>
              <a:t>conduzidos os funcionários </a:t>
            </a:r>
            <a:r>
              <a:rPr lang="pt-BR" dirty="0" smtClean="0"/>
              <a:t>/ terceiros e visitantes, em situações de emergências, para uma área </a:t>
            </a:r>
            <a:r>
              <a:rPr lang="pt-BR" u="sng" dirty="0" smtClean="0"/>
              <a:t>considerada segura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/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Rota de fuga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sz="3200" dirty="0" smtClean="0"/>
              <a:t>É o itinerário do local onde você se encontra até o local de segurança que se percorre </a:t>
            </a:r>
            <a:r>
              <a:rPr lang="pt-BR" sz="3200" u="sng" dirty="0" smtClean="0"/>
              <a:t>andando</a:t>
            </a:r>
            <a:r>
              <a:rPr lang="pt-BR" sz="3200" dirty="0" smtClean="0"/>
              <a:t>.</a:t>
            </a:r>
          </a:p>
          <a:p>
            <a:endParaRPr lang="pt-BR" dirty="0"/>
          </a:p>
        </p:txBody>
      </p:sp>
      <p:pic>
        <p:nvPicPr>
          <p:cNvPr id="6" name="Espaço Reservado para Conteúdo 5" descr="placas-fuga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267200" y="908720"/>
            <a:ext cx="4625280" cy="532859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ROTA DE FUGA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16" name="Projeto Série 100% Seguro   Plano de Emergência.avi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0" y="1079393"/>
            <a:ext cx="9143999" cy="57786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10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</a:rPr>
              <a:t>AREA DE SEGURANÇA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pt-BR" b="1" dirty="0" smtClean="0"/>
              <a:t>PONTO A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Destinado ao pessoal da administração, localização a decidir.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None/>
            </a:pPr>
            <a:r>
              <a:rPr lang="pt-BR" b="1" dirty="0" smtClean="0"/>
              <a:t> 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PONTO B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Destinado ao pessoal da produção, local a decidir.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PONTO C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Destinado aos terceiros, localização , o mais próximos possível da portaria.</a:t>
            </a:r>
          </a:p>
          <a:p>
            <a:pPr>
              <a:buNone/>
            </a:pPr>
            <a:r>
              <a:rPr lang="pt-BR" dirty="0" smtClean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PONTO D</a:t>
            </a: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Destinado a visitantes, localização, o mais próximo possível da portaria. Os pontos C e D são controlados e monitorados pela portaria. 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Portaria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buFont typeface="Wingdings" pitchFamily="2" charset="2"/>
              <a:buChar char="Ø"/>
            </a:pPr>
            <a:r>
              <a:rPr lang="pt-BR" dirty="0" smtClean="0"/>
              <a:t>Suspender as atividades normais de entrada e saída de pessoas, materiais, veículos e comunicação por telefone;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Ficar alerta quanto á comunicação no rádio;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Coibir retorno e funcionários à área sinistrada ;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Aguarda instruções do líder da brigada;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Revisar minuciosamente os visitantes, que na sequência serão libertados.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AO TÉMINO DO EVENTO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Retornará para as atividades normais após ser liberado pela equipe de segurança: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1º- O ponto B</a:t>
            </a:r>
            <a:r>
              <a:rPr lang="pt-BR" dirty="0" smtClean="0"/>
              <a:t> para que a empresa rapidamente retorne sua atividade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2º - O ponto A</a:t>
            </a:r>
            <a:r>
              <a:rPr lang="pt-BR" dirty="0" smtClean="0"/>
              <a:t>  Para que os trabalhos administrativos sejam retomados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3 º- O ponto C</a:t>
            </a:r>
            <a:r>
              <a:rPr lang="pt-BR" dirty="0" smtClean="0"/>
              <a:t> Para que os terceiros assumam novamente suas atividades, seus veículos e funções. </a:t>
            </a:r>
          </a:p>
          <a:p>
            <a:pPr>
              <a:buFont typeface="Wingdings" pitchFamily="2" charset="2"/>
              <a:buChar char="Ø"/>
            </a:pPr>
            <a:r>
              <a:rPr lang="pt-BR" b="1" dirty="0" smtClean="0"/>
              <a:t>4º - O ponto D</a:t>
            </a:r>
            <a:r>
              <a:rPr lang="pt-BR" dirty="0" smtClean="0"/>
              <a:t> Geralmente são dispensados para seguirem seus destinos, salvo por determinação contraria.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>
                <a:solidFill>
                  <a:srgbClr val="FF0000"/>
                </a:solidFill>
              </a:rPr>
              <a:t>ATITUDES SIMPLES CONTRA INCÊNDIOS: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 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4" name="Espaço Reservado para Conteúdo 3" descr="como-apagar-um-incendio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844824"/>
            <a:ext cx="7246168" cy="46085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-108520" y="116632"/>
            <a:ext cx="9144000" cy="6858000"/>
          </a:xfrm>
        </p:spPr>
        <p:txBody>
          <a:bodyPr>
            <a:normAutofit fontScale="70000" lnSpcReduction="20000"/>
          </a:bodyPr>
          <a:lstStyle/>
          <a:p>
            <a:pPr lvl="0">
              <a:buFont typeface="Wingdings" pitchFamily="2" charset="2"/>
              <a:buChar char="Ø"/>
            </a:pPr>
            <a:r>
              <a:rPr lang="pt-BR" u="sng" dirty="0" smtClean="0"/>
              <a:t>O fogo procura espaço para queimar e irá busca-lo, se você as pessoa não estiverem protegidos.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Se alguém ficar isolado, </a:t>
            </a:r>
            <a:r>
              <a:rPr lang="pt-BR" u="sng" dirty="0" smtClean="0"/>
              <a:t>mantenha a calma </a:t>
            </a:r>
            <a:r>
              <a:rPr lang="pt-BR" dirty="0" smtClean="0"/>
              <a:t>tente de alguma forma anunciar sua presença (</a:t>
            </a:r>
            <a:r>
              <a:rPr lang="pt-BR" u="sng" dirty="0" smtClean="0"/>
              <a:t>gritos barulho, quebra vidros </a:t>
            </a:r>
            <a:r>
              <a:rPr lang="pt-BR" dirty="0" smtClean="0"/>
              <a:t>etc...) 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Mantenha-se vestido e </a:t>
            </a:r>
            <a:r>
              <a:rPr lang="pt-BR" u="sng" dirty="0" smtClean="0"/>
              <a:t>molhe suas roupas</a:t>
            </a:r>
            <a:r>
              <a:rPr lang="pt-BR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Se estiver dentro de uma sala, </a:t>
            </a:r>
            <a:r>
              <a:rPr lang="pt-BR" u="sng" dirty="0" smtClean="0"/>
              <a:t>jogue pela janela tudo que puder queimar facilmente</a:t>
            </a:r>
            <a:r>
              <a:rPr lang="pt-BR" dirty="0" smtClean="0"/>
              <a:t>: cortinas, tapetes, cadeiras, plásticos, etc.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Com a ajuda de uma </a:t>
            </a:r>
            <a:r>
              <a:rPr lang="pt-BR" u="sng" dirty="0" smtClean="0"/>
              <a:t>mesa deitada</a:t>
            </a:r>
            <a:r>
              <a:rPr lang="pt-BR" dirty="0" smtClean="0"/>
              <a:t>, tampo voltado para o fogo, </a:t>
            </a:r>
            <a:r>
              <a:rPr lang="pt-BR" u="sng" dirty="0" smtClean="0"/>
              <a:t>proteja-se do calor irradiado</a:t>
            </a:r>
            <a:r>
              <a:rPr lang="pt-BR" dirty="0" smtClean="0"/>
              <a:t>, que </a:t>
            </a:r>
            <a:r>
              <a:rPr lang="pt-BR" u="sng" dirty="0" smtClean="0"/>
              <a:t>se propaga em linha reta</a:t>
            </a:r>
            <a:r>
              <a:rPr lang="pt-BR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pt-BR" u="sng" dirty="0" smtClean="0"/>
              <a:t>Não tente salvar objetos</a:t>
            </a:r>
            <a:r>
              <a:rPr lang="pt-BR" dirty="0" smtClean="0"/>
              <a:t>. Primeiro salve sua vida depois dos demais.</a:t>
            </a:r>
          </a:p>
          <a:p>
            <a:pPr lvl="0">
              <a:buFont typeface="Wingdings" pitchFamily="2" charset="2"/>
              <a:buChar char="Ø"/>
            </a:pPr>
            <a:r>
              <a:rPr lang="pt-BR" u="sng" dirty="0" smtClean="0"/>
              <a:t>Oriente a todos que ao abrir uma porta, proteja-se contra a parede</a:t>
            </a:r>
            <a:r>
              <a:rPr lang="pt-BR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O fogo que deve estar do </a:t>
            </a:r>
            <a:r>
              <a:rPr lang="pt-BR" u="sng" dirty="0" smtClean="0"/>
              <a:t>outro lado </a:t>
            </a:r>
            <a:r>
              <a:rPr lang="pt-BR" dirty="0" smtClean="0"/>
              <a:t>poderá atingi-lo diretamente no rosto, ao receber ao </a:t>
            </a:r>
            <a:r>
              <a:rPr lang="pt-BR" u="sng" dirty="0" smtClean="0"/>
              <a:t>jato frio da porta aberta</a:t>
            </a:r>
            <a:r>
              <a:rPr lang="pt-BR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Se um </a:t>
            </a:r>
            <a:r>
              <a:rPr lang="pt-BR" u="sng" dirty="0" smtClean="0"/>
              <a:t>incêndio ocorrer em um escritório ou apartamento</a:t>
            </a:r>
            <a:r>
              <a:rPr lang="pt-BR" dirty="0" smtClean="0"/>
              <a:t>, </a:t>
            </a:r>
            <a:r>
              <a:rPr lang="pt-BR" u="sng" dirty="0" smtClean="0"/>
              <a:t>abandone</a:t>
            </a:r>
            <a:r>
              <a:rPr lang="pt-BR" dirty="0" smtClean="0"/>
              <a:t> </a:t>
            </a:r>
            <a:r>
              <a:rPr lang="pt-BR" u="sng" dirty="0" smtClean="0"/>
              <a:t>imediatamente</a:t>
            </a:r>
            <a:r>
              <a:rPr lang="pt-BR" dirty="0" smtClean="0"/>
              <a:t>. Muitas </a:t>
            </a:r>
            <a:r>
              <a:rPr lang="pt-BR" u="sng" dirty="0" smtClean="0"/>
              <a:t>pessoas morrem </a:t>
            </a:r>
            <a:r>
              <a:rPr lang="pt-BR" dirty="0" smtClean="0"/>
              <a:t>por </a:t>
            </a:r>
            <a:r>
              <a:rPr lang="pt-BR" u="sng" dirty="0" smtClean="0"/>
              <a:t>não acreditarem </a:t>
            </a:r>
            <a:r>
              <a:rPr lang="pt-BR" dirty="0" smtClean="0"/>
              <a:t>que o </a:t>
            </a:r>
            <a:r>
              <a:rPr lang="pt-BR" u="sng" dirty="0" smtClean="0"/>
              <a:t>fogo</a:t>
            </a:r>
            <a:r>
              <a:rPr lang="pt-BR" dirty="0" smtClean="0"/>
              <a:t> pode se </a:t>
            </a:r>
            <a:r>
              <a:rPr lang="pt-BR" u="sng" dirty="0" smtClean="0"/>
              <a:t>alastrar com rapidez</a:t>
            </a:r>
            <a:r>
              <a:rPr lang="pt-BR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pt-BR" u="sng" dirty="0" smtClean="0"/>
              <a:t>Não é </a:t>
            </a:r>
            <a:r>
              <a:rPr lang="pt-BR" u="sng" dirty="0" err="1" smtClean="0"/>
              <a:t>autorizido</a:t>
            </a:r>
            <a:r>
              <a:rPr lang="pt-BR" u="sng" dirty="0" smtClean="0"/>
              <a:t> terceiros e colaboradores manusear, equipamentos de combate á incêndio.</a:t>
            </a:r>
          </a:p>
          <a:p>
            <a:pPr lvl="0">
              <a:buFont typeface="Wingdings" pitchFamily="2" charset="2"/>
              <a:buChar char="Ø"/>
            </a:pPr>
            <a:r>
              <a:rPr lang="pt-BR" dirty="0" smtClean="0"/>
              <a:t>Não deixe que pessoas saltem de planos elevados.</a:t>
            </a:r>
          </a:p>
          <a:p>
            <a:pPr lvl="0">
              <a:buFont typeface="Wingdings" pitchFamily="2" charset="2"/>
              <a:buChar char="Ø"/>
            </a:pPr>
            <a:r>
              <a:rPr lang="pt-BR" u="sng" dirty="0" smtClean="0"/>
              <a:t>Muitas pessoas morrem, sem imaginar que o socorro pode chegar em minutos</a:t>
            </a:r>
            <a:r>
              <a:rPr lang="pt-BR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Plano de emergência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4" name="Plano de Emergência e Abandono de Área 1wmv.avi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0" y="1146368"/>
            <a:ext cx="9144000" cy="5711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0"/>
            <a:ext cx="7467600" cy="98072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OBRIGADO!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4" name="Espaço Reservado para Conteúdo 3" descr="BOMBEIROS SALAVA CRIANÇA IMAGEM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483768" y="1628800"/>
            <a:ext cx="4724908" cy="3600400"/>
          </a:xfrm>
        </p:spPr>
      </p:pic>
      <p:pic>
        <p:nvPicPr>
          <p:cNvPr id="6" name="060-BLACK - PEARL JAN 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4175550" y="4165848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7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écnica">
  <a:themeElements>
    <a:clrScheme name="Técnica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321</TotalTime>
  <Words>1376</Words>
  <Application>Microsoft Office PowerPoint</Application>
  <PresentationFormat>Apresentação na tela (4:3)</PresentationFormat>
  <Paragraphs>145</Paragraphs>
  <Slides>38</Slides>
  <Notes>1</Notes>
  <HiddenSlides>0</HiddenSlides>
  <MMClips>3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39" baseType="lpstr">
      <vt:lpstr>Técnica</vt:lpstr>
      <vt:lpstr>PLANO DE EMERGÊNCIA NBR 15219/2005 - Plano de Emergência contra Incêndio /  NR- 23</vt:lpstr>
      <vt:lpstr>INTRODUÇÃO</vt:lpstr>
      <vt:lpstr>OBJETIVO</vt:lpstr>
      <vt:lpstr>RAZÕES PARA A ELABORAÇÃO DE UM PLANO DE EMERGÊNCIA</vt:lpstr>
      <vt:lpstr> Aplicações </vt:lpstr>
      <vt:lpstr> Detalhamento </vt:lpstr>
      <vt:lpstr> Responsabilidades </vt:lpstr>
      <vt:lpstr>Um plano de emergência deve, por isso, ter as seguintes características: </vt:lpstr>
      <vt:lpstr>Apresentação do PowerPoint</vt:lpstr>
      <vt:lpstr>Apresentação do PowerPoint</vt:lpstr>
      <vt:lpstr>Pessoa Habilitada.</vt:lpstr>
      <vt:lpstr>Apresentação do PowerPoint</vt:lpstr>
      <vt:lpstr> CONSTATAÇÃO DA EMERGÊNCIA </vt:lpstr>
      <vt:lpstr>ACIONAMENTO DO ALARME PARA TREINAMENTO E MANUTENÇÃO</vt:lpstr>
      <vt:lpstr>  Quem pode acionar o alarme de emergência? </vt:lpstr>
      <vt:lpstr>Qualquer pessoa que se encontre no interior da fábrica, ou que  visualize uma situação de emergência, seja ele um colaborador fixo, terceirizado ou visitante. </vt:lpstr>
      <vt:lpstr> Como se Divide um Plano de Emergência. </vt:lpstr>
      <vt:lpstr> A Emergência ou chamada de brigada (toque intermitente)  </vt:lpstr>
      <vt:lpstr> O Abandono (toque contínuo) </vt:lpstr>
      <vt:lpstr> A Evacuação </vt:lpstr>
      <vt:lpstr> EFETIVO </vt:lpstr>
      <vt:lpstr> Grupo coordenador do plano de emergência </vt:lpstr>
      <vt:lpstr> COMPOSIÇÃO DA BRIGADA DE INCÊNDIO</vt:lpstr>
      <vt:lpstr> COMPONENTES ENVOLVIDOS </vt:lpstr>
      <vt:lpstr>Seguimento do plano de emergência</vt:lpstr>
      <vt:lpstr>  Abandono de Fábrica.  </vt:lpstr>
      <vt:lpstr>Apresentação do PowerPoint</vt:lpstr>
      <vt:lpstr> ÁREA DE SEGURANÇA </vt:lpstr>
      <vt:lpstr>Apresentação do PowerPoint</vt:lpstr>
      <vt:lpstr> Rota de fuga </vt:lpstr>
      <vt:lpstr>ROTA DE FUGA</vt:lpstr>
      <vt:lpstr>AREA DE SEGURANÇA</vt:lpstr>
      <vt:lpstr> Portaria </vt:lpstr>
      <vt:lpstr> AO TÉMINO DO EVENTO </vt:lpstr>
      <vt:lpstr>  ATITUDES SIMPLES CONTRA INCÊNDIOS:   </vt:lpstr>
      <vt:lpstr>Apresentação do PowerPoint</vt:lpstr>
      <vt:lpstr>Plano de emergência</vt:lpstr>
      <vt:lpstr>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PALNO DE EMERGÊNCIA</dc:title>
  <cp:lastModifiedBy>higor</cp:lastModifiedBy>
  <cp:revision>39</cp:revision>
  <dcterms:modified xsi:type="dcterms:W3CDTF">2014-01-12T23:09:16Z</dcterms:modified>
</cp:coreProperties>
</file>