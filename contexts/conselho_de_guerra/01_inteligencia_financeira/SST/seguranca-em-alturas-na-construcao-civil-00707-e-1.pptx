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63" r:id="rId10"/>
    <p:sldId id="264" r:id="rId11"/>
    <p:sldId id="265" r:id="rId12"/>
    <p:sldId id="266" r:id="rId13"/>
    <p:sldId id="267" r:id="rId14"/>
    <p:sldId id="268" r:id="rId15"/>
    <p:sldId id="274" r:id="rId16"/>
    <p:sldId id="281" r:id="rId17"/>
    <p:sldId id="269" r:id="rId18"/>
    <p:sldId id="277" r:id="rId19"/>
    <p:sldId id="270" r:id="rId20"/>
    <p:sldId id="271" r:id="rId21"/>
    <p:sldId id="272" r:id="rId22"/>
    <p:sldId id="273" r:id="rId23"/>
    <p:sldId id="275" r:id="rId24"/>
    <p:sldId id="280" r:id="rId25"/>
    <p:sldId id="276" r:id="rId26"/>
    <p:sldId id="282" r:id="rId27"/>
    <p:sldId id="283" r:id="rId2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4A0CB5CA-2C1A-4238-9340-5E75E777ACAD}" type="datetimeFigureOut">
              <a:rPr lang="pt-BR" smtClean="0"/>
              <a:pPr/>
              <a:t>22/03/2012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pt-BR"/>
          </a:p>
        </p:txBody>
      </p:sp>
      <p:sp>
        <p:nvSpPr>
          <p:cNvPr id="10" name="Retângulo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tângulo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Conector reto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Conector reto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tângulo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8F7F6CD6-097F-44CB-9552-49364DE46DE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A0CB5CA-2C1A-4238-9340-5E75E777ACAD}" type="datetimeFigureOut">
              <a:rPr lang="pt-BR" smtClean="0"/>
              <a:pPr/>
              <a:t>22/03/2012</a:t>
            </a:fld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8F7F6CD6-097F-44CB-9552-49364DE46DE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4A0CB5CA-2C1A-4238-9340-5E75E777ACAD}" type="datetimeFigureOut">
              <a:rPr lang="pt-BR" smtClean="0"/>
              <a:pPr/>
              <a:t>22/03/2012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pt-BR"/>
          </a:p>
        </p:txBody>
      </p:sp>
      <p:sp>
        <p:nvSpPr>
          <p:cNvPr id="9" name="Retângulo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Conector reto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Conector reto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tângulo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ector reto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8F7F6CD6-097F-44CB-9552-49364DE46DE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CB5CA-2C1A-4238-9340-5E75E777ACAD}" type="datetimeFigureOut">
              <a:rPr lang="pt-BR" smtClean="0"/>
              <a:pPr/>
              <a:t>22/03/2012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6CD6-097F-44CB-9552-49364DE46DE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CB5CA-2C1A-4238-9340-5E75E777ACAD}" type="datetimeFigureOut">
              <a:rPr lang="pt-BR" smtClean="0"/>
              <a:pPr/>
              <a:t>22/03/2012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6CD6-097F-44CB-9552-49364DE46DE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6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A0CB5CA-2C1A-4238-9340-5E75E777ACAD}" type="datetimeFigureOut">
              <a:rPr lang="pt-BR" smtClean="0"/>
              <a:pPr/>
              <a:t>22/03/2012</a:t>
            </a:fld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F7F6CD6-097F-44CB-9552-49364DE46DE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CB5CA-2C1A-4238-9340-5E75E777ACAD}" type="datetimeFigureOut">
              <a:rPr lang="pt-BR" smtClean="0"/>
              <a:pPr/>
              <a:t>22/03/2012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6CD6-097F-44CB-9552-49364DE46DE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ço Reservado para Conteúdo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1" name="Espaço Reservado para Data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A0CB5CA-2C1A-4238-9340-5E75E777ACAD}" type="datetimeFigureOut">
              <a:rPr lang="pt-BR" smtClean="0"/>
              <a:pPr/>
              <a:t>22/03/2012</a:t>
            </a:fld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8F7F6CD6-097F-44CB-9552-49364DE46DE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E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ector reto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Conector reto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ço Reservado para Data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A0CB5CA-2C1A-4238-9340-5E75E777ACAD}" type="datetimeFigureOut">
              <a:rPr lang="pt-BR" smtClean="0"/>
              <a:pPr/>
              <a:t>22/03/2012</a:t>
            </a:fld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F7F6CD6-097F-44CB-9552-49364DE46DE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1" name="Espaço Reservado para Rodapé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CB5CA-2C1A-4238-9340-5E75E777ACAD}" type="datetimeFigureOut">
              <a:rPr lang="pt-BR" smtClean="0"/>
              <a:pPr/>
              <a:t>22/03/2012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6CD6-097F-44CB-9552-49364DE46DE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CB5CA-2C1A-4238-9340-5E75E777ACAD}" type="datetimeFigureOut">
              <a:rPr lang="pt-BR" smtClean="0"/>
              <a:pPr/>
              <a:t>22/03/2012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F6CD6-097F-44CB-9552-49364DE46DE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A0CB5CA-2C1A-4238-9340-5E75E777ACAD}" type="datetimeFigureOut">
              <a:rPr lang="pt-BR" smtClean="0"/>
              <a:pPr/>
              <a:t>22/03/2012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E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8F7F6CD6-097F-44CB-9552-49364DE46DE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://www.google.com.br/imgres?q=placas+de+seguran%C3%A7a+do+trabalho+na+constru%C3%A7%C3%A3o+civil&amp;um=1&amp;hl=pt-BR&amp;sa=X&amp;biw=1024&amp;bih=571&amp;tbs=isz:m&amp;tbm=isch&amp;tbnid=Lvm2TlRoggZP2M:&amp;imgrefurl=http://www.sevenseg.blogspot.com/&amp;docid=1WDVrSrqZMRP4M&amp;w=340&amp;h=453&amp;ei=xht6Tri1EobW0QHTiemmAg&amp;zoom=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Segurança em Alturas na Construção Civil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Técnico em Segurança do Trabalho</a:t>
            </a:r>
          </a:p>
          <a:p>
            <a:r>
              <a:rPr lang="pt-BR" dirty="0" smtClean="0"/>
              <a:t>Rodolfo Paz da Silva</a:t>
            </a:r>
            <a:endParaRPr lang="pt-BR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763688" cy="2060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m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>
                <a:solidFill>
                  <a:srgbClr val="92D050"/>
                </a:solidFill>
              </a:rPr>
              <a:t>A altura na construção civil na atualidade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Hoje em dia, os maiores casos de mortes e afastamentos permanente na industria da construção civil é ocasionado por quedas  de profissionais em variáveis alturas.</a:t>
            </a:r>
          </a:p>
        </p:txBody>
      </p:sp>
      <p:pic>
        <p:nvPicPr>
          <p:cNvPr id="1026" name="Picture 2" descr="C:\Users\jose\Desktop\Rodolfo Paz\Segurança do Trabalho\Imagens\Alturas\errad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1010435">
            <a:off x="1490295" y="3787032"/>
            <a:ext cx="5238328" cy="2309614"/>
          </a:xfrm>
          <a:prstGeom prst="rect">
            <a:avLst/>
          </a:prstGeom>
          <a:noFill/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>
                <a:solidFill>
                  <a:srgbClr val="92D050"/>
                </a:solidFill>
              </a:rPr>
              <a:t>O que causa tantos acidentes em alturas?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Falta de Segurança</a:t>
            </a:r>
          </a:p>
          <a:p>
            <a:r>
              <a:rPr lang="pt-BR" dirty="0" smtClean="0"/>
              <a:t>Falta de Sinalização</a:t>
            </a:r>
          </a:p>
          <a:p>
            <a:r>
              <a:rPr lang="pt-BR" dirty="0" smtClean="0"/>
              <a:t>Imprudência dos Funcionários</a:t>
            </a:r>
          </a:p>
          <a:p>
            <a:r>
              <a:rPr lang="pt-BR" dirty="0" smtClean="0"/>
              <a:t>Falta de Treinamento</a:t>
            </a:r>
          </a:p>
          <a:p>
            <a:r>
              <a:rPr lang="pt-BR" dirty="0" smtClean="0"/>
              <a:t>Uso incorreto de </a:t>
            </a:r>
            <a:r>
              <a:rPr lang="pt-BR" dirty="0" err="1" smtClean="0"/>
              <a:t>EPI’s</a:t>
            </a:r>
            <a:endParaRPr lang="pt-BR" dirty="0" smtClean="0"/>
          </a:p>
          <a:p>
            <a:r>
              <a:rPr lang="pt-BR" dirty="0" smtClean="0"/>
              <a:t>Má Condições Estruturais</a:t>
            </a:r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2051" name="Picture 3" descr="C:\Users\jose\Desktop\Rodolfo Paz\Segurança do Trabalho\Imagens\Alturas\queda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980728"/>
            <a:ext cx="2908920" cy="4029422"/>
          </a:xfrm>
          <a:prstGeom prst="rect">
            <a:avLst/>
          </a:prstGeom>
          <a:noFill/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>
                <a:solidFill>
                  <a:srgbClr val="92D050"/>
                </a:solidFill>
              </a:rPr>
              <a:t>Quando se deve usar o Cinto de Segurança?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Aparte </a:t>
            </a:r>
            <a:r>
              <a:rPr lang="pt-BR" dirty="0" smtClean="0"/>
              <a:t>de uma altura equivalente há 2 ( metros ) é obrigatório o uso do cinto de segurança em qualquer local.</a:t>
            </a:r>
          </a:p>
          <a:p>
            <a:pPr algn="just"/>
            <a:r>
              <a:rPr lang="pt-BR" dirty="0" smtClean="0"/>
              <a:t>É considerado a altura de 2 metros, quando o profissional estiver em atrito com o solo diretamente.</a:t>
            </a:r>
            <a:endParaRPr lang="pt-BR" dirty="0"/>
          </a:p>
        </p:txBody>
      </p:sp>
      <p:pic>
        <p:nvPicPr>
          <p:cNvPr id="3074" name="Picture 2" descr="C:\Users\jose\Desktop\Rodolfo Paz\Segurança do Trabalho\Imagens\Alturas\imagesCAVT2RJ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3789040"/>
            <a:ext cx="4248472" cy="2736304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>
                <a:solidFill>
                  <a:srgbClr val="92D050"/>
                </a:solidFill>
              </a:rPr>
              <a:t>Os acidentes em buracos é considerado queda em altura?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67544" y="1484784"/>
            <a:ext cx="7467600" cy="4873752"/>
          </a:xfrm>
        </p:spPr>
        <p:txBody>
          <a:bodyPr>
            <a:normAutofit/>
          </a:bodyPr>
          <a:lstStyle/>
          <a:p>
            <a:pPr algn="just"/>
            <a:r>
              <a:rPr lang="pt-BR" sz="2200" dirty="0" smtClean="0"/>
              <a:t>Sim.Todo impacto que você tiver de um solo abaixo é considerado queda.</a:t>
            </a:r>
          </a:p>
          <a:p>
            <a:pPr algn="just"/>
            <a:r>
              <a:rPr lang="pt-BR" sz="2200" dirty="0" smtClean="0"/>
              <a:t>Os buracos são grades inimigos da Segurança na Construção Civil. Isso por que fica imperceptível a atenção do profissional e dos buracos tudo em um tempo só.</a:t>
            </a:r>
          </a:p>
          <a:p>
            <a:pPr algn="just"/>
            <a:r>
              <a:rPr lang="pt-BR" sz="2200" dirty="0" smtClean="0"/>
              <a:t>Todo buraco que tiver uma profundidade maior que 2 metros, deve ser obrigatoriamente sinalizados com fitas isolantes.</a:t>
            </a:r>
          </a:p>
        </p:txBody>
      </p:sp>
      <p:pic>
        <p:nvPicPr>
          <p:cNvPr id="2050" name="Picture 2" descr="C:\Users\jose\Desktop\Rodolfo Paz\Est. Téc.Seg Rodolfo Paz\Fotos da Obra\DSC_000004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4797152"/>
            <a:ext cx="5382344" cy="1751856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>
                <a:solidFill>
                  <a:srgbClr val="92D050"/>
                </a:solidFill>
              </a:rPr>
              <a:t>Como sinalizar os buracos de uma obra?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179512" y="1628800"/>
            <a:ext cx="7467600" cy="4873752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Sinalização é todo método de chamar atenção de alguém ou adverti.</a:t>
            </a:r>
          </a:p>
          <a:p>
            <a:pPr algn="just"/>
            <a:r>
              <a:rPr lang="pt-BR" dirty="0" smtClean="0"/>
              <a:t>As sinalizações podem ser por meio de:</a:t>
            </a:r>
          </a:p>
          <a:p>
            <a:pPr marL="457200" indent="-457200" algn="just">
              <a:buFont typeface="+mj-lt"/>
              <a:buAutoNum type="arabicPeriod"/>
            </a:pPr>
            <a:endParaRPr lang="pt-BR" dirty="0" smtClean="0"/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Placas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Fitas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Cavaletes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Madeiras Reforçadas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Lembrando que de toda maneira, o profissional deve estar atentado a qualquer alteração que tiver na obra e no buraco.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m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>
                <a:solidFill>
                  <a:srgbClr val="92D050"/>
                </a:solidFill>
              </a:rPr>
              <a:t>Movimentações sobre buracos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É muito comum na construção civil os funcionários transportarem materiais por cima de madeiras improvisadas, fazendo ligação de um local ao outro.</a:t>
            </a:r>
          </a:p>
          <a:p>
            <a:pPr algn="just"/>
            <a:r>
              <a:rPr lang="pt-BR" dirty="0" smtClean="0"/>
              <a:t>Muitos acidentes são frequentes por meio dessa movimentação. Isso se deve pela a má condição do maderite que serve como passarela.</a:t>
            </a:r>
          </a:p>
        </p:txBody>
      </p:sp>
      <p:pic>
        <p:nvPicPr>
          <p:cNvPr id="4098" name="Picture 2" descr="C:\Users\jose\Desktop\Rodolfo Paz\Segurança do Trabalho\Imagens\Falta de ep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4653136"/>
            <a:ext cx="5400600" cy="1800200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>
                <a:solidFill>
                  <a:srgbClr val="92D050"/>
                </a:solidFill>
              </a:rPr>
              <a:t>Buracos de espaços confinados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Esse buracos devem ser totalmente sinalizado e com uma proteção rígida.</a:t>
            </a:r>
          </a:p>
          <a:p>
            <a:pPr algn="just"/>
            <a:r>
              <a:rPr lang="pt-BR" dirty="0" smtClean="0"/>
              <a:t>Os buracos confinados são locais onde só têm uma entrada, sendo que o risco tem maiores proporções.</a:t>
            </a:r>
            <a:endParaRPr lang="pt-BR" dirty="0"/>
          </a:p>
        </p:txBody>
      </p:sp>
      <p:pic>
        <p:nvPicPr>
          <p:cNvPr id="4" name="rg_hi" descr="http://t2.gstatic.com/images?q=tbn:ANd9GcR4ad2wVtz3F0_OciZk2FCbtFjaULtWBwqNbqWtI8rrDeLMOwfh">
            <a:hlinkClick r:id="rId2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3789040"/>
            <a:ext cx="4610100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>
                <a:solidFill>
                  <a:srgbClr val="92D050"/>
                </a:solidFill>
              </a:rPr>
              <a:t>Quais medidas devem ser tomadas para evitar acidentes em buracos?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Verificar a qualidade do maderite, identificando se o mesmo está apropriado e resistente.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Verificar se não a materiais pontiagudos no maderite.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Avaliar de o maderite está bem posicionado e bem fixado com o solo.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Sinalizar os locais sempre que deixar de operar no local.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Usar </a:t>
            </a:r>
            <a:r>
              <a:rPr lang="pt-BR" dirty="0" err="1" smtClean="0"/>
              <a:t>EPI’s</a:t>
            </a:r>
            <a:r>
              <a:rPr lang="pt-BR" dirty="0" smtClean="0"/>
              <a:t> de acordo com o ambiente.</a:t>
            </a:r>
            <a:endParaRPr lang="pt-BR" dirty="0"/>
          </a:p>
        </p:txBody>
      </p:sp>
      <p:pic>
        <p:nvPicPr>
          <p:cNvPr id="5122" name="Picture 2" descr="C:\Users\jose\Desktop\Rodolfo Paz\Segurança do Trabalho\Imagens\Alturas\imagesCAA8EG2V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0192" y="4509120"/>
            <a:ext cx="2519164" cy="2348881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92D050"/>
                </a:solidFill>
              </a:rPr>
              <a:t>A imprudência na altura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Muitos dos acidentes e mortes é causado, infelizmente, por atos de imprudência, a qual os profissionais têm conhecimento do perigo e da situação e, assim mesmo, ousa ir contra os limites de segurança.</a:t>
            </a:r>
            <a:endParaRPr lang="pt-BR" dirty="0"/>
          </a:p>
        </p:txBody>
      </p:sp>
      <p:pic>
        <p:nvPicPr>
          <p:cNvPr id="6146" name="Picture 2" descr="C:\Users\jose\Desktop\Rodolfo Paz\Segurança do Trabalho\Imagens\Alturas\imagesCA2ZIV6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3861048"/>
            <a:ext cx="4680520" cy="2592288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>
                <a:solidFill>
                  <a:srgbClr val="92D050"/>
                </a:solidFill>
              </a:rPr>
              <a:t>A eficácia do Cinto de Segurança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O Cinto de Segurança é um dispositivo de Segurança muito complexo onde evita, em inúmeras vezes acidente e até a morte.</a:t>
            </a:r>
            <a:endParaRPr lang="pt-BR" dirty="0"/>
          </a:p>
        </p:txBody>
      </p:sp>
      <p:pic>
        <p:nvPicPr>
          <p:cNvPr id="7171" name="Picture 3" descr="C:\Users\jose\Desktop\Rodolfo Paz\Segurança do Trabalho\Imagens\Alturas\imagesCANE2BX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924944"/>
            <a:ext cx="6336704" cy="3576811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>
                <a:solidFill>
                  <a:srgbClr val="92D050"/>
                </a:solidFill>
              </a:rPr>
              <a:t>Dispositivos do Cinto de Segurança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indent="-457200" algn="just"/>
            <a:r>
              <a:rPr lang="pt-BR" dirty="0" smtClean="0"/>
              <a:t>O cinto de Segurança é um dispositivo parecido com um macacão. O seu uso é semelhante e fácil.</a:t>
            </a:r>
          </a:p>
          <a:p>
            <a:pPr marL="457200" indent="-457200">
              <a:buFont typeface="+mj-lt"/>
              <a:buAutoNum type="arabicPeriod"/>
            </a:pPr>
            <a:endParaRPr lang="pt-BR" dirty="0" smtClean="0"/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Colocar as pernas na abertura inferior.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Encaixar a parte do tronco do corpo com o dispositivo.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Colocar os braços abaixo do local apropriado.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Colocar a trava junto a um equipamento fixo.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Verificar todos os procedimentos.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m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>
                <a:solidFill>
                  <a:srgbClr val="92D050"/>
                </a:solidFill>
              </a:rPr>
              <a:t>Tipos de Cintos de Seguranças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4" algn="just">
              <a:buNone/>
            </a:pPr>
            <a:r>
              <a:rPr lang="pt-BR" dirty="0" smtClean="0"/>
              <a:t>                             </a:t>
            </a:r>
            <a:r>
              <a:rPr lang="pt-BR" sz="2800" dirty="0" smtClean="0"/>
              <a:t>Cinto com Trava-Queda</a:t>
            </a:r>
          </a:p>
          <a:p>
            <a:pPr lvl="4" algn="just">
              <a:buNone/>
            </a:pPr>
            <a:endParaRPr lang="pt-BR" sz="2800" dirty="0" smtClean="0"/>
          </a:p>
          <a:p>
            <a:pPr lvl="4" algn="just">
              <a:buNone/>
            </a:pPr>
            <a:endParaRPr lang="pt-BR" sz="2800" dirty="0" smtClean="0"/>
          </a:p>
          <a:p>
            <a:pPr lvl="4" algn="just">
              <a:buNone/>
            </a:pPr>
            <a:endParaRPr lang="pt-BR" sz="2800" dirty="0" smtClean="0"/>
          </a:p>
          <a:p>
            <a:pPr lvl="4" algn="just">
              <a:buNone/>
            </a:pPr>
            <a:r>
              <a:rPr lang="pt-BR" sz="2800" dirty="0" smtClean="0"/>
              <a:t>          Cinto de operações em alturas</a:t>
            </a:r>
          </a:p>
          <a:p>
            <a:pPr lvl="4" algn="just">
              <a:buNone/>
            </a:pPr>
            <a:endParaRPr lang="pt-BR" sz="2800" dirty="0" smtClean="0"/>
          </a:p>
          <a:p>
            <a:pPr lvl="4" algn="just">
              <a:buNone/>
            </a:pPr>
            <a:endParaRPr lang="pt-BR" sz="2800" dirty="0" smtClean="0"/>
          </a:p>
          <a:p>
            <a:pPr lvl="4" algn="just">
              <a:buNone/>
            </a:pPr>
            <a:r>
              <a:rPr lang="pt-BR" sz="2800" dirty="0" smtClean="0"/>
              <a:t>                    Procedimento de uso</a:t>
            </a:r>
            <a:endParaRPr lang="pt-BR" sz="2800" dirty="0"/>
          </a:p>
        </p:txBody>
      </p:sp>
      <p:pic>
        <p:nvPicPr>
          <p:cNvPr id="8194" name="Picture 2" descr="C:\Users\jose\Desktop\Rodolfo Paz\Segurança do Trabalho\Imagens\Alturas\cinto e cab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357298"/>
            <a:ext cx="1857388" cy="1728192"/>
          </a:xfrm>
          <a:prstGeom prst="rect">
            <a:avLst/>
          </a:prstGeom>
          <a:noFill/>
        </p:spPr>
      </p:pic>
      <p:pic>
        <p:nvPicPr>
          <p:cNvPr id="8195" name="Picture 3" descr="C:\Users\jose\Desktop\Rodolfo Paz\Segurança do Trabalho\Imagens\Alturas\cinto no corp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373216"/>
            <a:ext cx="3667125" cy="1247775"/>
          </a:xfrm>
          <a:prstGeom prst="rect">
            <a:avLst/>
          </a:prstGeom>
          <a:noFill/>
        </p:spPr>
      </p:pic>
      <p:pic>
        <p:nvPicPr>
          <p:cNvPr id="8196" name="Picture 4" descr="C:\Users\jose\Desktop\Rodolfo Paz\Segurança do Trabalho\Imagens\Alturas\Cint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7158" y="3286124"/>
            <a:ext cx="2051720" cy="1752600"/>
          </a:xfrm>
          <a:prstGeom prst="rect">
            <a:avLst/>
          </a:prstGeom>
          <a:noFill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Imagem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92D050"/>
                </a:solidFill>
              </a:rPr>
              <a:t>Bandejas de proteção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As badejas são muito usadas na área da construção civil. Isso porque ela é muito eficaz para evitar acidentes de quedas de materiais e até mesmo de pessoas. </a:t>
            </a:r>
          </a:p>
          <a:p>
            <a:pPr algn="just"/>
            <a:r>
              <a:rPr lang="pt-BR" dirty="0" smtClean="0"/>
              <a:t>Em cada laje é obrigatória o uso das bandejas.</a:t>
            </a:r>
          </a:p>
          <a:p>
            <a:pPr algn="just">
              <a:buNone/>
            </a:pPr>
            <a:endParaRPr lang="pt-BR" dirty="0"/>
          </a:p>
        </p:txBody>
      </p:sp>
      <p:pic>
        <p:nvPicPr>
          <p:cNvPr id="9218" name="Picture 2" descr="C:\Users\jose\Desktop\Rodolfo Paz\Segurança do Trabalho\Imagens\Alturas\bandej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3861048"/>
            <a:ext cx="6768752" cy="2520280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92D050"/>
                </a:solidFill>
              </a:rPr>
              <a:t>O tamanho ideal da bandeja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67544" y="1412776"/>
            <a:ext cx="7467600" cy="4873752"/>
          </a:xfrm>
        </p:spPr>
        <p:txBody>
          <a:bodyPr/>
          <a:lstStyle/>
          <a:p>
            <a:pPr algn="just"/>
            <a:r>
              <a:rPr lang="pt-BR" dirty="0" smtClean="0"/>
              <a:t>A bandeja deve conter a comprimento de 2,50cm sendo que 80cm deve está em um ângulo de  45°.</a:t>
            </a:r>
          </a:p>
          <a:p>
            <a:pPr algn="just"/>
            <a:r>
              <a:rPr lang="pt-BR" dirty="0" smtClean="0"/>
              <a:t>A bandeja tem que conter esse tamanho se por ventura uma pessoa cair, ela ter a capacidade de segurar a vítima.</a:t>
            </a:r>
          </a:p>
          <a:p>
            <a:pPr algn="just"/>
            <a:r>
              <a:rPr lang="pt-BR" dirty="0" smtClean="0"/>
              <a:t>Deve haver um estrutura capaz de sustentar a bandeja em intermédio da laje. 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4293096"/>
            <a:ext cx="6408712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92D050"/>
                </a:solidFill>
              </a:rPr>
              <a:t>O que é um guarda-corpo?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Guarda-Corpo é um equipamento de Segurança muito importante em qualquer localidade de trabalho e social, a qual protege a total exposição do corpo de uma pessoa para fora de um local sem apoio.</a:t>
            </a:r>
            <a:endParaRPr lang="pt-BR" dirty="0"/>
          </a:p>
        </p:txBody>
      </p:sp>
      <p:pic>
        <p:nvPicPr>
          <p:cNvPr id="8194" name="Picture 2" descr="C:\Users\jose\Desktop\Rodolfo Paz\Segurança do Trabalho\Imagens\Alturas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3645024"/>
            <a:ext cx="5472608" cy="2736304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92D050"/>
                </a:solidFill>
              </a:rPr>
              <a:t>Telas de Proteção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As telas é um dos equipamentos mais eficientes para evitar quedas de tijolos e outros objetos.</a:t>
            </a:r>
          </a:p>
          <a:p>
            <a:pPr algn="just"/>
            <a:r>
              <a:rPr lang="pt-BR" dirty="0" smtClean="0"/>
              <a:t>Na medida em que o objeto cai, o seu trajeto pode mudar com a influência do vento e do seu próprio peso.</a:t>
            </a:r>
            <a:endParaRPr lang="pt-BR" dirty="0"/>
          </a:p>
        </p:txBody>
      </p:sp>
      <p:pic>
        <p:nvPicPr>
          <p:cNvPr id="10242" name="Picture 2" descr="C:\Users\jose\Desktop\Rodolfo Paz\Segurança do Trabalho\Imagens\Alturas\tella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3356992"/>
            <a:ext cx="5616624" cy="2952328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92D050"/>
                </a:solidFill>
              </a:rPr>
              <a:t>Principais medidas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As telas de proteção devem ser verificadas semanalmente, observando-a se tem algum tipo de danificação ou anormalidade segundo a Norma Regulamentadora.</a:t>
            </a:r>
          </a:p>
          <a:p>
            <a:pPr algn="just"/>
            <a:r>
              <a:rPr lang="pt-BR" dirty="0" smtClean="0"/>
              <a:t>Caso tenha alguma deficiência, a mesma deve ser trocada imediatamente.</a:t>
            </a:r>
            <a:endParaRPr lang="pt-BR" dirty="0"/>
          </a:p>
        </p:txBody>
      </p:sp>
      <p:pic>
        <p:nvPicPr>
          <p:cNvPr id="5122" name="Picture 2" descr="C:\Users\jose\Desktop\Rodolfo Paz\Segurança do Trabalho\Imagens\Alturas\tel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4509120"/>
            <a:ext cx="6048672" cy="1857375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40352" y="5589240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92D050"/>
                </a:solidFill>
              </a:rPr>
              <a:t>Ricos em andaimes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Os andaimes são equipamentos muito importante dentro de uma obra.</a:t>
            </a:r>
          </a:p>
          <a:p>
            <a:pPr algn="just"/>
            <a:r>
              <a:rPr lang="pt-BR" dirty="0" smtClean="0"/>
              <a:t>O andaime também é um grande causador de acidente em alturas, isso por conta de:</a:t>
            </a:r>
          </a:p>
          <a:p>
            <a:pPr marL="457200" indent="-457200" algn="just">
              <a:buNone/>
            </a:pPr>
            <a:endParaRPr lang="pt-BR" dirty="0" smtClean="0"/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Onde está sendo colocado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Como está sendo colocado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Se é fixo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Se é móvel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Se contém proteção</a:t>
            </a:r>
          </a:p>
          <a:p>
            <a:pPr marL="457200" indent="-457200">
              <a:buNone/>
            </a:pPr>
            <a:endParaRPr lang="pt-BR" dirty="0"/>
          </a:p>
        </p:txBody>
      </p:sp>
      <p:pic>
        <p:nvPicPr>
          <p:cNvPr id="11266" name="Picture 2" descr="C:\Users\jose\Desktop\Rodolfo Paz\Segurança do Trabalho\Imagens\Alturas\andame com roda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8024" y="3429000"/>
            <a:ext cx="3456384" cy="3240360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92D050"/>
                </a:solidFill>
              </a:rPr>
              <a:t>A estrutura do andaime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323528" y="1628800"/>
            <a:ext cx="7467600" cy="4873752"/>
          </a:xfrm>
        </p:spPr>
        <p:txBody>
          <a:bodyPr>
            <a:normAutofit/>
          </a:bodyPr>
          <a:lstStyle/>
          <a:p>
            <a:pPr algn="just"/>
            <a:r>
              <a:rPr lang="pt-BR" dirty="0" smtClean="0"/>
              <a:t>A maior parte de sua estrutura é aberta, fazendo como que o risco fica mais visível.</a:t>
            </a:r>
          </a:p>
          <a:p>
            <a:pPr algn="just"/>
            <a:r>
              <a:rPr lang="pt-BR" dirty="0" smtClean="0"/>
              <a:t>Os andaimes devem ser sempre vistoriados e bem encaixados.</a:t>
            </a:r>
          </a:p>
          <a:p>
            <a:pPr algn="just"/>
            <a:r>
              <a:rPr lang="pt-BR" dirty="0" smtClean="0"/>
              <a:t>Ter supervisão especializada</a:t>
            </a:r>
          </a:p>
          <a:p>
            <a:pPr algn="just"/>
            <a:r>
              <a:rPr lang="pt-BR" dirty="0" smtClean="0"/>
              <a:t>Conter guarda-corpo de proteção</a:t>
            </a:r>
          </a:p>
          <a:p>
            <a:pPr algn="just"/>
            <a:r>
              <a:rPr lang="pt-BR" dirty="0" smtClean="0"/>
              <a:t>Conter alguma superfície segura e concreta</a:t>
            </a:r>
          </a:p>
          <a:p>
            <a:pPr algn="just"/>
            <a:r>
              <a:rPr lang="pt-BR" dirty="0" smtClean="0"/>
              <a:t>Está em bom estado de conservação</a:t>
            </a:r>
          </a:p>
          <a:p>
            <a:pPr algn="just"/>
            <a:r>
              <a:rPr lang="pt-BR" dirty="0" smtClean="0"/>
              <a:t>Está fixado com a parede</a:t>
            </a:r>
          </a:p>
          <a:p>
            <a:pPr algn="just"/>
            <a:r>
              <a:rPr lang="pt-BR" dirty="0" smtClean="0"/>
              <a:t>O funcionário deve estar usando cinto de segurança com uma trava na mesma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m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92D050"/>
                </a:solidFill>
              </a:rPr>
              <a:t>Medidas de segurança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Colocar andaime em superfície sólida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Não movimentar o andaime com pessoas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Amarrar os andaimes a cada 3 pavimentos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Não podem receber cargas acima do permitido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Não é permitido colocar andaimes em pisos escorregadios e molhados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A plataforma mínima deve ser de 65cm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Todo andaime deve conter guarda-corpo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Os andaimes com rodas devem ter travas</a:t>
            </a:r>
          </a:p>
        </p:txBody>
      </p:sp>
      <p:pic>
        <p:nvPicPr>
          <p:cNvPr id="12290" name="Picture 2" descr="C:\Users\jose\Desktop\Rodolfo Paz\Segurança do Trabalho\Imagens\Alturas\andam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04248" y="3861048"/>
            <a:ext cx="1944216" cy="2996952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>
                <a:solidFill>
                  <a:srgbClr val="92D050"/>
                </a:solidFill>
              </a:rPr>
              <a:t>Passarelas ou rampas improvisadas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As passarelas são muito comuns na construção civil, pois, seu uso é extremamente necessário para ligações com locais deficientes.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3356992"/>
            <a:ext cx="5544616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92D050"/>
                </a:solidFill>
              </a:rPr>
              <a:t>Medidas de segurança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Não é permitido pintar as madeiras que foram usadas como rampas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Sempre tirar os materiais pontiagudos das madeiras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Não cobrir a madeira com outros equipamentos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dirty="0" smtClean="0"/>
              <a:t>Trocar a madeira quando danificada ou fadigada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581128"/>
            <a:ext cx="5760640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>
                <a:solidFill>
                  <a:srgbClr val="92D050"/>
                </a:solidFill>
              </a:rPr>
              <a:t>Principais Equipamentos de Proteção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Cinto de Segurança</a:t>
            </a:r>
          </a:p>
          <a:p>
            <a:r>
              <a:rPr lang="pt-BR" dirty="0" smtClean="0"/>
              <a:t>Capacete</a:t>
            </a:r>
          </a:p>
          <a:p>
            <a:r>
              <a:rPr lang="pt-BR" dirty="0" smtClean="0"/>
              <a:t>Luva</a:t>
            </a:r>
          </a:p>
          <a:p>
            <a:r>
              <a:rPr lang="pt-BR" dirty="0" smtClean="0"/>
              <a:t>Bota</a:t>
            </a:r>
          </a:p>
          <a:p>
            <a:r>
              <a:rPr lang="pt-BR" dirty="0" smtClean="0"/>
              <a:t>Óculos</a:t>
            </a:r>
            <a:endParaRPr lang="pt-BR" dirty="0"/>
          </a:p>
        </p:txBody>
      </p:sp>
      <p:pic>
        <p:nvPicPr>
          <p:cNvPr id="7170" name="Picture 2" descr="C:\Users\jose\Desktop\Rodolfo Paz\Segurança do Trabalho\Imagens\hgjhn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5856" y="2204864"/>
            <a:ext cx="4736926" cy="3291234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>
                <a:solidFill>
                  <a:srgbClr val="92D050"/>
                </a:solidFill>
              </a:rPr>
              <a:t>Em caso de um acidente fatal, qual medida deve ser tomada?</a:t>
            </a:r>
            <a:endParaRPr lang="pt-BR" b="1" dirty="0">
              <a:solidFill>
                <a:srgbClr val="92D05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 smtClean="0"/>
              <a:t>As medidas investigativas e de perícia, são de competência da Polícia e do Ministério do Trabalho.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 smtClean="0"/>
              <a:t>Deve-se comunicar imediatamente a esses órgãos.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 smtClean="0"/>
              <a:t>No prazo de 72 horas, será constado a falha que ocasionou o acidente</a:t>
            </a:r>
            <a:endParaRPr lang="pt-B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4365104"/>
            <a:ext cx="4248472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147248" cy="3096344"/>
          </a:xfrm>
        </p:spPr>
        <p:txBody>
          <a:bodyPr>
            <a:noAutofit/>
          </a:bodyPr>
          <a:lstStyle/>
          <a:p>
            <a:pPr algn="just"/>
            <a:r>
              <a:rPr lang="pt-BR" sz="4500" b="1" dirty="0" smtClean="0">
                <a:solidFill>
                  <a:srgbClr val="92D050"/>
                </a:solidFill>
              </a:rPr>
              <a:t>Se você não adota medidas de Segurança, é bom que seja doador de órgãos!</a:t>
            </a:r>
            <a:endParaRPr lang="pt-BR" sz="4500" b="1" dirty="0">
              <a:solidFill>
                <a:srgbClr val="92D050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3645024"/>
            <a:ext cx="5383485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Obrigado Pela Atenção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699792" y="5877272"/>
            <a:ext cx="5112568" cy="648072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pt-BR" dirty="0" smtClean="0"/>
              <a:t>Técnico em Segurança do Trabalho</a:t>
            </a:r>
          </a:p>
          <a:p>
            <a:pPr>
              <a:buNone/>
            </a:pPr>
            <a:r>
              <a:rPr lang="pt-BR" dirty="0" smtClean="0"/>
              <a:t>Rodolfo Paz da Silva</a:t>
            </a:r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24875" y="0"/>
            <a:ext cx="619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m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40352" y="5627687"/>
            <a:ext cx="1403648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G:\Segurança do Trabalho\Imagens\c.jpe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85852" y="1428736"/>
            <a:ext cx="6357982" cy="40005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lcão Envidraçado">
  <a:themeElements>
    <a:clrScheme name="Personalizada 2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5EA226"/>
      </a:accent2>
      <a:accent3>
        <a:srgbClr val="3F6C19"/>
      </a:accent3>
      <a:accent4>
        <a:srgbClr val="00566E"/>
      </a:accent4>
      <a:accent5>
        <a:srgbClr val="B3BCCA"/>
      </a:accent5>
      <a:accent6>
        <a:srgbClr val="D1D6DF"/>
      </a:accent6>
      <a:hlink>
        <a:srgbClr val="EB8803"/>
      </a:hlink>
      <a:folHlink>
        <a:srgbClr val="F272AF"/>
      </a:folHlink>
    </a:clrScheme>
    <a:fontScheme name="Balcão Envidraçado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Balcão Envidraçad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301</TotalTime>
  <Words>1113</Words>
  <Application>Microsoft Office PowerPoint</Application>
  <PresentationFormat>Apresentação na tela (4:3)</PresentationFormat>
  <Paragraphs>126</Paragraphs>
  <Slides>27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28" baseType="lpstr">
      <vt:lpstr>Balcão Envidraçado</vt:lpstr>
      <vt:lpstr>Segurança em Alturas na Construção Civil</vt:lpstr>
      <vt:lpstr>A altura na construção civil na atualidade</vt:lpstr>
      <vt:lpstr>O que causa tantos acidentes em alturas?</vt:lpstr>
      <vt:lpstr>Quando se deve usar o Cinto de Segurança?</vt:lpstr>
      <vt:lpstr>Os acidentes em buracos é considerado queda em altura?</vt:lpstr>
      <vt:lpstr>Como sinalizar os buracos de uma obra?</vt:lpstr>
      <vt:lpstr>Movimentações sobre buracos</vt:lpstr>
      <vt:lpstr>Buracos de espaços confinados</vt:lpstr>
      <vt:lpstr>Quais medidas devem ser tomadas para evitar acidentes em buracos?</vt:lpstr>
      <vt:lpstr>A imprudência na altura</vt:lpstr>
      <vt:lpstr>A eficácia do Cinto de Segurança</vt:lpstr>
      <vt:lpstr>Dispositivos do Cinto de Segurança</vt:lpstr>
      <vt:lpstr>Tipos de Cintos de Seguranças</vt:lpstr>
      <vt:lpstr>Bandejas de proteção</vt:lpstr>
      <vt:lpstr>O tamanho ideal da bandeja</vt:lpstr>
      <vt:lpstr>O que é um guarda-corpo?</vt:lpstr>
      <vt:lpstr>Telas de Proteção</vt:lpstr>
      <vt:lpstr>Principais medidas</vt:lpstr>
      <vt:lpstr>Ricos em andaimes</vt:lpstr>
      <vt:lpstr>A estrutura do andaime</vt:lpstr>
      <vt:lpstr>Medidas de segurança</vt:lpstr>
      <vt:lpstr>Passarelas ou rampas improvisadas</vt:lpstr>
      <vt:lpstr>Medidas de segurança</vt:lpstr>
      <vt:lpstr>Principais Equipamentos de Proteção</vt:lpstr>
      <vt:lpstr>Em caso de um acidente fatal, qual medida deve ser tomada?</vt:lpstr>
      <vt:lpstr>Se você não adota medidas de Segurança, é bom que seja doador de órgãos!</vt:lpstr>
      <vt:lpstr>Obrigado Pela Atenção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Segurança em Alturas na Construção Civil</dc:title>
  <dc:creator>jose</dc:creator>
  <cp:lastModifiedBy>Obra Belas Aguas</cp:lastModifiedBy>
  <cp:revision>36</cp:revision>
  <dcterms:created xsi:type="dcterms:W3CDTF">2011-11-13T20:35:30Z</dcterms:created>
  <dcterms:modified xsi:type="dcterms:W3CDTF">2012-03-22T17:41:34Z</dcterms:modified>
</cp:coreProperties>
</file>