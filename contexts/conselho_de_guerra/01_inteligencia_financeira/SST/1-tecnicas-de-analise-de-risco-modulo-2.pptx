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handoutMasterIdLst>
    <p:handoutMasterId r:id="rId18"/>
  </p:handoutMasterIdLst>
  <p:sldIdLst>
    <p:sldId id="263" r:id="rId2"/>
    <p:sldId id="257" r:id="rId3"/>
    <p:sldId id="275" r:id="rId4"/>
    <p:sldId id="276" r:id="rId5"/>
    <p:sldId id="277" r:id="rId6"/>
    <p:sldId id="278" r:id="rId7"/>
    <p:sldId id="279" r:id="rId8"/>
    <p:sldId id="265" r:id="rId9"/>
    <p:sldId id="266" r:id="rId10"/>
    <p:sldId id="267" r:id="rId11"/>
    <p:sldId id="264" r:id="rId12"/>
    <p:sldId id="268" r:id="rId13"/>
    <p:sldId id="273" r:id="rId14"/>
    <p:sldId id="269" r:id="rId15"/>
    <p:sldId id="270" r:id="rId16"/>
    <p:sldId id="271" r:id="rId17"/>
  </p:sldIdLst>
  <p:sldSz cx="9144000" cy="6858000" type="screen4x3"/>
  <p:notesSz cx="6858000" cy="9906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99CC"/>
    <a:srgbClr val="006699"/>
    <a:srgbClr val="0000CC"/>
    <a:srgbClr val="0000FF"/>
    <a:srgbClr val="FFFFFF"/>
    <a:srgbClr val="5F5F5F"/>
    <a:srgbClr val="FF3300"/>
    <a:srgbClr val="33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8303" autoAdjust="0"/>
    <p:restoredTop sz="93632" autoAdjust="0"/>
  </p:normalViewPr>
  <p:slideViewPr>
    <p:cSldViewPr snapToGrid="0">
      <p:cViewPr varScale="1">
        <p:scale>
          <a:sx n="73" d="100"/>
          <a:sy n="73" d="100"/>
        </p:scale>
        <p:origin x="1746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9" d="100"/>
          <a:sy n="69" d="100"/>
        </p:scale>
        <p:origin x="-2268" y="-90"/>
      </p:cViewPr>
      <p:guideLst>
        <p:guide orient="horz" pos="312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13.xml"/><Relationship Id="rId3" Type="http://schemas.openxmlformats.org/officeDocument/2006/relationships/slide" Target="slides/slide4.xml"/><Relationship Id="rId7" Type="http://schemas.openxmlformats.org/officeDocument/2006/relationships/slide" Target="slides/slide12.xml"/><Relationship Id="rId2" Type="http://schemas.openxmlformats.org/officeDocument/2006/relationships/slide" Target="slides/slide3.xml"/><Relationship Id="rId1" Type="http://schemas.openxmlformats.org/officeDocument/2006/relationships/slide" Target="slides/slide1.xml"/><Relationship Id="rId6" Type="http://schemas.openxmlformats.org/officeDocument/2006/relationships/slide" Target="slides/slide7.xml"/><Relationship Id="rId5" Type="http://schemas.openxmlformats.org/officeDocument/2006/relationships/slide" Target="slides/slide6.xml"/><Relationship Id="rId10" Type="http://schemas.openxmlformats.org/officeDocument/2006/relationships/slide" Target="slides/slide16.xml"/><Relationship Id="rId4" Type="http://schemas.openxmlformats.org/officeDocument/2006/relationships/slide" Target="slides/slide5.xml"/><Relationship Id="rId9" Type="http://schemas.openxmlformats.org/officeDocument/2006/relationships/slide" Target="slides/slide15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4" name="Rectangle 12"/>
          <p:cNvSpPr>
            <a:spLocks noGrp="1"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endParaRPr lang="pt-BR" altLang="pt-BR" sz="1200"/>
          </a:p>
        </p:txBody>
      </p:sp>
      <p:sp>
        <p:nvSpPr>
          <p:cNvPr id="13325" name="Rectangle 13"/>
          <p:cNvSpPr>
            <a:spLocks noGrp="1"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 eaLnBrk="0" hangingPunct="0"/>
            <a:endParaRPr lang="pt-BR" altLang="pt-BR" sz="1200"/>
          </a:p>
        </p:txBody>
      </p:sp>
      <p:sp>
        <p:nvSpPr>
          <p:cNvPr id="13326" name="Rectangle 14"/>
          <p:cNvSpPr>
            <a:spLocks noGrp="1" noChangeArrowheads="1"/>
          </p:cNvSpPr>
          <p:nvPr/>
        </p:nvSpPr>
        <p:spPr bwMode="auto">
          <a:xfrm>
            <a:off x="0" y="9448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pPr eaLnBrk="0" hangingPunct="0"/>
            <a:endParaRPr lang="pt-BR" altLang="pt-BR" sz="1200"/>
          </a:p>
        </p:txBody>
      </p:sp>
      <p:sp>
        <p:nvSpPr>
          <p:cNvPr id="13327" name="Line 15"/>
          <p:cNvSpPr>
            <a:spLocks noChangeShapeType="1"/>
          </p:cNvSpPr>
          <p:nvPr/>
        </p:nvSpPr>
        <p:spPr bwMode="auto">
          <a:xfrm>
            <a:off x="458788" y="9448800"/>
            <a:ext cx="593883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pt-BR"/>
          </a:p>
        </p:txBody>
      </p:sp>
      <p:sp>
        <p:nvSpPr>
          <p:cNvPr id="13328" name="Text Box 16"/>
          <p:cNvSpPr txBox="1">
            <a:spLocks noChangeArrowheads="1"/>
          </p:cNvSpPr>
          <p:nvPr/>
        </p:nvSpPr>
        <p:spPr bwMode="auto">
          <a:xfrm>
            <a:off x="876300" y="9491663"/>
            <a:ext cx="54864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r" eaLnBrk="0" hangingPunct="0"/>
            <a:r>
              <a:rPr lang="pt-BR" altLang="pt-BR" sz="600">
                <a:latin typeface="Arial" panose="020B0604020202020204" pitchFamily="34" charset="0"/>
              </a:rPr>
              <a:t>COMISSÃO TRIPARTITE PERMANENTE DE NEGOCIAÇÃO DO SETOR ELETRICO NO ESTADO DE SP - </a:t>
            </a:r>
            <a:fld id="{8291CC81-8BFB-453C-B4C8-01A7BAECCD03}" type="slidenum">
              <a:rPr lang="pt-BR" altLang="pt-BR" sz="1000" b="1">
                <a:solidFill>
                  <a:srgbClr val="FF3300"/>
                </a:solidFill>
                <a:latin typeface="Arial" panose="020B0604020202020204" pitchFamily="34" charset="0"/>
              </a:rPr>
              <a:pPr algn="r" eaLnBrk="0" hangingPunct="0"/>
              <a:t>‹nº›</a:t>
            </a:fld>
            <a:endParaRPr lang="pt-BR" altLang="pt-BR" sz="1000" b="1">
              <a:solidFill>
                <a:srgbClr val="FF3300"/>
              </a:solidFill>
              <a:latin typeface="Arial" panose="020B0604020202020204" pitchFamily="34" charset="0"/>
            </a:endParaRPr>
          </a:p>
        </p:txBody>
      </p:sp>
      <p:pic>
        <p:nvPicPr>
          <p:cNvPr id="13329" name="Picture 17" descr="cabecalho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788" y="263525"/>
            <a:ext cx="5938837" cy="59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4267200"/>
            <a:ext cx="7772400" cy="1143000"/>
          </a:xfrm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pt-BR" altLang="pt-BR" noProof="0" smtClean="0"/>
              <a:t>Clique para editar o estilo do título mestre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8315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2459549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85800" y="2590800"/>
            <a:ext cx="3810000" cy="3886200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2590800"/>
            <a:ext cx="3810000" cy="3886200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4067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0526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8197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8648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3438373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3601457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9346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15100" y="1752600"/>
            <a:ext cx="1943100" cy="4724400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85800" y="1752600"/>
            <a:ext cx="5676900" cy="4724400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7409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050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752600"/>
            <a:ext cx="77724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 smtClean="0"/>
              <a:t>Clique para editar o estilo do título mestre</a:t>
            </a:r>
          </a:p>
        </p:txBody>
      </p:sp>
      <p:sp>
        <p:nvSpPr>
          <p:cNvPr id="77827" name="Rectangle 2051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2590800"/>
            <a:ext cx="77724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 smtClean="0"/>
              <a:t>Clique para editar os estilos do texto mestre</a:t>
            </a:r>
          </a:p>
          <a:p>
            <a:pPr lvl="1"/>
            <a:r>
              <a:rPr lang="pt-BR" altLang="pt-BR" smtClean="0"/>
              <a:t>Segundo nível</a:t>
            </a:r>
          </a:p>
          <a:p>
            <a:pPr lvl="2"/>
            <a:r>
              <a:rPr lang="pt-BR" altLang="pt-BR" smtClean="0"/>
              <a:t>Terceiro nível</a:t>
            </a:r>
          </a:p>
          <a:p>
            <a:pPr lvl="3"/>
            <a:r>
              <a:rPr lang="pt-BR" altLang="pt-BR" smtClean="0"/>
              <a:t>Quarto nível</a:t>
            </a:r>
          </a:p>
          <a:p>
            <a:pPr lvl="4"/>
            <a:r>
              <a:rPr lang="pt-BR" altLang="pt-BR" smtClean="0"/>
              <a:t>Quinto nível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2400" kern="1200">
          <a:solidFill>
            <a:srgbClr val="CC0000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400">
          <a:solidFill>
            <a:srgbClr val="CC0000"/>
          </a:solidFill>
          <a:effectLst>
            <a:outerShdw blurRad="38100" dist="38100" dir="2700000" algn="tl">
              <a:srgbClr val="000000"/>
            </a:outerShdw>
          </a:effectLst>
          <a:latin typeface="Arial Black" panose="020B0A0402010202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2400">
          <a:solidFill>
            <a:srgbClr val="CC0000"/>
          </a:solidFill>
          <a:effectLst>
            <a:outerShdw blurRad="38100" dist="38100" dir="2700000" algn="tl">
              <a:srgbClr val="000000"/>
            </a:outerShdw>
          </a:effectLst>
          <a:latin typeface="Arial Black" panose="020B0A0402010202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2400">
          <a:solidFill>
            <a:srgbClr val="CC0000"/>
          </a:solidFill>
          <a:effectLst>
            <a:outerShdw blurRad="38100" dist="38100" dir="2700000" algn="tl">
              <a:srgbClr val="000000"/>
            </a:outerShdw>
          </a:effectLst>
          <a:latin typeface="Arial Black" panose="020B0A0402010202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2400">
          <a:solidFill>
            <a:srgbClr val="CC0000"/>
          </a:solidFill>
          <a:effectLst>
            <a:outerShdw blurRad="38100" dist="38100" dir="2700000" algn="tl">
              <a:srgbClr val="000000"/>
            </a:outerShdw>
          </a:effectLst>
          <a:latin typeface="Arial Black" panose="020B0A040201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rgbClr val="CC0000"/>
          </a:solidFill>
          <a:effectLst>
            <a:outerShdw blurRad="38100" dist="38100" dir="2700000" algn="tl">
              <a:srgbClr val="000000"/>
            </a:outerShdw>
          </a:effectLst>
          <a:latin typeface="Arial Black" panose="020B0A040201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rgbClr val="CC0000"/>
          </a:solidFill>
          <a:effectLst>
            <a:outerShdw blurRad="38100" dist="38100" dir="2700000" algn="tl">
              <a:srgbClr val="000000"/>
            </a:outerShdw>
          </a:effectLst>
          <a:latin typeface="Arial Black" panose="020B0A040201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rgbClr val="CC0000"/>
          </a:solidFill>
          <a:effectLst>
            <a:outerShdw blurRad="38100" dist="38100" dir="2700000" algn="tl">
              <a:srgbClr val="000000"/>
            </a:outerShdw>
          </a:effectLst>
          <a:latin typeface="Arial Black" panose="020B0A040201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rgbClr val="CC0000"/>
          </a:solidFill>
          <a:effectLst>
            <a:outerShdw blurRad="38100" dist="38100" dir="2700000" algn="tl">
              <a:srgbClr val="000000"/>
            </a:outerShdw>
          </a:effectLst>
          <a:latin typeface="Arial Black" panose="020B0A04020102020204" pitchFamily="34" charset="0"/>
        </a:defRPr>
      </a:lvl9pPr>
    </p:titleStyle>
    <p:bodyStyle>
      <a:lvl1pPr algn="l" rtl="0" fontAlgn="base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defRPr kern="1200">
          <a:solidFill>
            <a:srgbClr val="5F5F5F"/>
          </a:solidFill>
          <a:latin typeface="+mn-lt"/>
          <a:ea typeface="+mn-ea"/>
          <a:cs typeface="+mn-cs"/>
        </a:defRPr>
      </a:lvl1pPr>
      <a:lvl2pPr marL="377825" indent="-187325" algn="l" rtl="0" fontAlgn="base">
        <a:spcBef>
          <a:spcPct val="20000"/>
        </a:spcBef>
        <a:spcAft>
          <a:spcPct val="0"/>
        </a:spcAft>
        <a:buClr>
          <a:srgbClr val="FF3300"/>
        </a:buClr>
        <a:buSzPct val="70000"/>
        <a:buChar char="•"/>
        <a:defRPr kern="1200">
          <a:solidFill>
            <a:srgbClr val="5F5F5F"/>
          </a:solidFill>
          <a:latin typeface="+mn-lt"/>
          <a:ea typeface="+mn-ea"/>
          <a:cs typeface="+mn-cs"/>
        </a:defRPr>
      </a:lvl2pPr>
      <a:lvl3pPr marL="763588" indent="-195263" algn="l" rtl="0" fontAlgn="base">
        <a:spcBef>
          <a:spcPct val="20000"/>
        </a:spcBef>
        <a:spcAft>
          <a:spcPct val="0"/>
        </a:spcAft>
        <a:buClr>
          <a:srgbClr val="969696"/>
        </a:buClr>
        <a:buSzPct val="70000"/>
        <a:buChar char="•"/>
        <a:defRPr kern="1200">
          <a:solidFill>
            <a:srgbClr val="5F5F5F"/>
          </a:solidFill>
          <a:latin typeface="+mn-lt"/>
          <a:ea typeface="+mn-ea"/>
          <a:cs typeface="+mn-cs"/>
        </a:defRPr>
      </a:lvl3pPr>
      <a:lvl4pPr marL="1141413" indent="-187325" algn="l" rtl="0" fontAlgn="base">
        <a:spcBef>
          <a:spcPct val="20000"/>
        </a:spcBef>
        <a:spcAft>
          <a:spcPct val="0"/>
        </a:spcAft>
        <a:buChar char="-"/>
        <a:defRPr kern="1200">
          <a:solidFill>
            <a:srgbClr val="5F5F5F"/>
          </a:solidFill>
          <a:latin typeface="+mn-lt"/>
          <a:ea typeface="+mn-ea"/>
          <a:cs typeface="+mn-cs"/>
        </a:defRPr>
      </a:lvl4pPr>
      <a:lvl5pPr marL="1528763" indent="-196850" algn="l" rtl="0" fontAlgn="base">
        <a:spcBef>
          <a:spcPct val="20000"/>
        </a:spcBef>
        <a:spcAft>
          <a:spcPct val="0"/>
        </a:spcAft>
        <a:buChar char="»"/>
        <a:defRPr kern="1200">
          <a:solidFill>
            <a:srgbClr val="5F5F5F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image" Target="../media/image6.emf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3.png"/><Relationship Id="rId5" Type="http://schemas.openxmlformats.org/officeDocument/2006/relationships/oleObject" Target="../embeddings/oleObject2.bin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7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Rectangle 5"/>
          <p:cNvSpPr>
            <a:spLocks noGrp="1" noChangeArrowheads="1"/>
          </p:cNvSpPr>
          <p:nvPr>
            <p:ph type="ctrTitle"/>
          </p:nvPr>
        </p:nvSpPr>
        <p:spPr>
          <a:noFill/>
          <a:ln/>
        </p:spPr>
        <p:txBody>
          <a:bodyPr anchor="b"/>
          <a:lstStyle/>
          <a:p>
            <a:r>
              <a:rPr lang="pt-BR" altLang="pt-BR"/>
              <a:t>Técnicas de</a:t>
            </a:r>
            <a:br>
              <a:rPr lang="pt-BR" altLang="pt-BR"/>
            </a:br>
            <a:r>
              <a:rPr lang="pt-BR" altLang="pt-BR"/>
              <a:t>ANÁLISE DE RISCO</a:t>
            </a:r>
          </a:p>
        </p:txBody>
      </p:sp>
    </p:spTree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Rectangle 1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Riscos</a:t>
            </a:r>
          </a:p>
        </p:txBody>
      </p:sp>
      <p:sp>
        <p:nvSpPr>
          <p:cNvPr id="1039" name="Rectangle 1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pt-BR" altLang="pt-BR" sz="2400"/>
              <a:t>De origem elétrica;</a:t>
            </a:r>
          </a:p>
          <a:p>
            <a:pPr lvl="1"/>
            <a:r>
              <a:rPr lang="pt-BR" altLang="pt-BR" sz="2400"/>
              <a:t>De queda;</a:t>
            </a:r>
          </a:p>
          <a:p>
            <a:pPr lvl="1"/>
            <a:r>
              <a:rPr lang="pt-BR" altLang="pt-BR" sz="2400"/>
              <a:t>Transporte e com equipamentos;</a:t>
            </a:r>
          </a:p>
          <a:p>
            <a:pPr lvl="1"/>
            <a:r>
              <a:rPr lang="pt-BR" altLang="pt-BR" sz="2400"/>
              <a:t>Ataques de insetos;</a:t>
            </a:r>
          </a:p>
          <a:p>
            <a:pPr lvl="1"/>
            <a:r>
              <a:rPr lang="pt-BR" altLang="pt-BR" sz="2400"/>
              <a:t>Riscos Ocupacionais;</a:t>
            </a:r>
          </a:p>
          <a:p>
            <a:pPr lvl="1"/>
            <a:r>
              <a:rPr lang="pt-BR" altLang="pt-BR" sz="2400"/>
              <a:t>Riscos Ergonômicos;</a:t>
            </a:r>
          </a:p>
          <a:p>
            <a:pPr lvl="1"/>
            <a:r>
              <a:rPr lang="pt-BR" altLang="pt-BR" sz="2400"/>
              <a:t>Ataque de animais peçonhentos/domésticos.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90513" y="2084388"/>
            <a:ext cx="8561387" cy="3886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pt-BR" altLang="pt-BR" sz="2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ahoma" panose="020B0604030504040204" pitchFamily="34" charset="0"/>
              </a:rPr>
              <a:t>Riscos de origem elétrica</a:t>
            </a:r>
          </a:p>
          <a:p>
            <a:pPr algn="just">
              <a:lnSpc>
                <a:spcPct val="90000"/>
              </a:lnSpc>
            </a:pPr>
            <a:r>
              <a:rPr lang="pt-BR" altLang="pt-BR" sz="2400">
                <a:solidFill>
                  <a:srgbClr val="993300"/>
                </a:solidFill>
                <a:cs typeface="Times New Roman" panose="02020603050405020304" pitchFamily="18" charset="0"/>
              </a:rPr>
              <a:t> </a:t>
            </a:r>
            <a:r>
              <a:rPr lang="pt-BR" altLang="pt-BR" sz="2400">
                <a:solidFill>
                  <a:srgbClr val="333333"/>
                </a:solidFill>
                <a:cs typeface="Times New Roman" panose="02020603050405020304" pitchFamily="18" charset="0"/>
              </a:rPr>
              <a:t>Choque elétrico;</a:t>
            </a:r>
          </a:p>
          <a:p>
            <a:pPr algn="just">
              <a:lnSpc>
                <a:spcPct val="90000"/>
              </a:lnSpc>
            </a:pPr>
            <a:r>
              <a:rPr lang="pt-BR" altLang="pt-BR" sz="2400">
                <a:solidFill>
                  <a:srgbClr val="993300"/>
                </a:solidFill>
                <a:cs typeface="Times New Roman" panose="02020603050405020304" pitchFamily="18" charset="0"/>
              </a:rPr>
              <a:t> </a:t>
            </a:r>
            <a:r>
              <a:rPr lang="pt-BR" altLang="pt-BR" sz="2400">
                <a:solidFill>
                  <a:srgbClr val="333333"/>
                </a:solidFill>
                <a:cs typeface="Times New Roman" panose="02020603050405020304" pitchFamily="18" charset="0"/>
              </a:rPr>
              <a:t>Campo elétrico;</a:t>
            </a:r>
          </a:p>
          <a:p>
            <a:pPr algn="just">
              <a:lnSpc>
                <a:spcPct val="90000"/>
              </a:lnSpc>
            </a:pPr>
            <a:r>
              <a:rPr lang="pt-BR" altLang="pt-BR" sz="2400">
                <a:solidFill>
                  <a:srgbClr val="993300"/>
                </a:solidFill>
                <a:cs typeface="Times New Roman" panose="02020603050405020304" pitchFamily="18" charset="0"/>
              </a:rPr>
              <a:t> </a:t>
            </a:r>
            <a:r>
              <a:rPr lang="pt-BR" altLang="pt-BR" sz="2400">
                <a:solidFill>
                  <a:srgbClr val="333333"/>
                </a:solidFill>
                <a:cs typeface="Times New Roman" panose="02020603050405020304" pitchFamily="18" charset="0"/>
              </a:rPr>
              <a:t>Campo eletromagnético.</a:t>
            </a:r>
          </a:p>
          <a:p>
            <a:pPr algn="just">
              <a:lnSpc>
                <a:spcPct val="90000"/>
              </a:lnSpc>
            </a:pPr>
            <a:endParaRPr lang="pt-BR" altLang="pt-BR" sz="2400">
              <a:solidFill>
                <a:srgbClr val="333333"/>
              </a:solidFill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pt-BR" altLang="pt-BR" sz="2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ahoma" panose="020B0604030504040204" pitchFamily="34" charset="0"/>
              </a:rPr>
              <a:t>Riscos de queda</a:t>
            </a:r>
          </a:p>
          <a:p>
            <a:pPr algn="just">
              <a:lnSpc>
                <a:spcPct val="90000"/>
              </a:lnSpc>
            </a:pPr>
            <a:r>
              <a:rPr lang="pt-BR" altLang="pt-BR" sz="2400">
                <a:solidFill>
                  <a:srgbClr val="333333"/>
                </a:solidFill>
                <a:cs typeface="Times New Roman" panose="02020603050405020304" pitchFamily="18" charset="0"/>
              </a:rPr>
              <a:t>	As quedas, conseqüência de choques elétricos, de utilização inadequada de equipamentos de elevação (escadas, cestas, plataformas), falta ou uso inadequado de EPI, falta de treinamento dos trabalhadores, falta de delimitação e de sinalização do canteiro do serviço e ataque de insetos.</a:t>
            </a:r>
          </a:p>
        </p:txBody>
      </p:sp>
      <p:grpSp>
        <p:nvGrpSpPr>
          <p:cNvPr id="82950" name="Group 6"/>
          <p:cNvGrpSpPr>
            <a:grpSpLocks/>
          </p:cNvGrpSpPr>
          <p:nvPr/>
        </p:nvGrpSpPr>
        <p:grpSpPr bwMode="auto">
          <a:xfrm>
            <a:off x="5588000" y="1685925"/>
            <a:ext cx="2693988" cy="3019425"/>
            <a:chOff x="3442" y="1728"/>
            <a:chExt cx="1956" cy="2515"/>
          </a:xfrm>
        </p:grpSpPr>
        <p:sp>
          <p:nvSpPr>
            <p:cNvPr id="82951" name="Oval 7"/>
            <p:cNvSpPr>
              <a:spLocks noChangeArrowheads="1"/>
            </p:cNvSpPr>
            <p:nvPr/>
          </p:nvSpPr>
          <p:spPr bwMode="auto">
            <a:xfrm>
              <a:off x="4416" y="2064"/>
              <a:ext cx="432" cy="52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pic>
          <p:nvPicPr>
            <p:cNvPr id="82952" name="Picture 8" descr="D:\Treinamento\Desenhos\Desenhos M&amp;M\Eletricidade\Coloridos\Choque_1.gif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42" y="1728"/>
              <a:ext cx="1956" cy="25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42900" y="2043113"/>
            <a:ext cx="8458200" cy="2084387"/>
          </a:xfrm>
        </p:spPr>
        <p:txBody>
          <a:bodyPr/>
          <a:lstStyle/>
          <a:p>
            <a:r>
              <a:rPr lang="pt-BR" altLang="pt-BR" sz="28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ahoma" panose="020B0604030504040204" pitchFamily="34" charset="0"/>
              </a:rPr>
              <a:t>Riscos no transporte e com equipamentos</a:t>
            </a:r>
          </a:p>
          <a:p>
            <a:r>
              <a:rPr lang="pt-BR" altLang="pt-BR" sz="2800">
                <a:solidFill>
                  <a:srgbClr val="993300"/>
                </a:solidFill>
                <a:cs typeface="Times New Roman" panose="02020603050405020304" pitchFamily="18" charset="0"/>
              </a:rPr>
              <a:t> </a:t>
            </a:r>
            <a:r>
              <a:rPr lang="pt-BR" altLang="pt-BR" sz="2800">
                <a:solidFill>
                  <a:srgbClr val="333333"/>
                </a:solidFill>
                <a:cs typeface="Times New Roman" panose="02020603050405020304" pitchFamily="18" charset="0"/>
              </a:rPr>
              <a:t>Veículos a caminho dos locais de trabalho em campo, o deslocamento diário dos trabalhadores até os efetivos pontos de prestação de serviços. </a:t>
            </a:r>
          </a:p>
        </p:txBody>
      </p:sp>
      <p:sp>
        <p:nvSpPr>
          <p:cNvPr id="83974" name="Text Box 6"/>
          <p:cNvSpPr txBox="1">
            <a:spLocks noChangeArrowheads="1"/>
          </p:cNvSpPr>
          <p:nvPr/>
        </p:nvSpPr>
        <p:spPr bwMode="auto">
          <a:xfrm>
            <a:off x="347663" y="3943350"/>
            <a:ext cx="4141787" cy="2227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sz="2800">
                <a:solidFill>
                  <a:srgbClr val="333333"/>
                </a:solidFill>
                <a:latin typeface="Tahoma" panose="020B0604030504040204" pitchFamily="34" charset="0"/>
                <a:cs typeface="Times New Roman" panose="02020603050405020304" pitchFamily="18" charset="0"/>
              </a:rPr>
              <a:t>Esses deslocamentos expõem os trabalhadores aos riscos característicos das vias de transporte.</a:t>
            </a:r>
          </a:p>
        </p:txBody>
      </p:sp>
      <p:grpSp>
        <p:nvGrpSpPr>
          <p:cNvPr id="84774" name="Group 806"/>
          <p:cNvGrpSpPr>
            <a:grpSpLocks/>
          </p:cNvGrpSpPr>
          <p:nvPr/>
        </p:nvGrpSpPr>
        <p:grpSpPr bwMode="auto">
          <a:xfrm>
            <a:off x="2798763" y="5324475"/>
            <a:ext cx="6061075" cy="1087438"/>
            <a:chOff x="1763" y="3354"/>
            <a:chExt cx="3818" cy="685"/>
          </a:xfrm>
        </p:grpSpPr>
        <p:pic>
          <p:nvPicPr>
            <p:cNvPr id="83976" name="Picture 8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63" y="3628"/>
              <a:ext cx="3429" cy="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84573" name="Group 605"/>
            <p:cNvGrpSpPr>
              <a:grpSpLocks/>
            </p:cNvGrpSpPr>
            <p:nvPr/>
          </p:nvGrpSpPr>
          <p:grpSpPr bwMode="auto">
            <a:xfrm>
              <a:off x="5389" y="3518"/>
              <a:ext cx="192" cy="424"/>
              <a:chOff x="2319" y="2646"/>
              <a:chExt cx="290" cy="545"/>
            </a:xfrm>
          </p:grpSpPr>
          <p:sp>
            <p:nvSpPr>
              <p:cNvPr id="84574" name="Freeform 606"/>
              <p:cNvSpPr>
                <a:spLocks/>
              </p:cNvSpPr>
              <p:nvPr/>
            </p:nvSpPr>
            <p:spPr bwMode="auto">
              <a:xfrm>
                <a:off x="2504" y="2646"/>
                <a:ext cx="105" cy="114"/>
              </a:xfrm>
              <a:custGeom>
                <a:avLst/>
                <a:gdLst>
                  <a:gd name="T0" fmla="*/ 36 w 105"/>
                  <a:gd name="T1" fmla="*/ 33 h 114"/>
                  <a:gd name="T2" fmla="*/ 49 w 105"/>
                  <a:gd name="T3" fmla="*/ 12 h 114"/>
                  <a:gd name="T4" fmla="*/ 62 w 105"/>
                  <a:gd name="T5" fmla="*/ 0 h 114"/>
                  <a:gd name="T6" fmla="*/ 78 w 105"/>
                  <a:gd name="T7" fmla="*/ 0 h 114"/>
                  <a:gd name="T8" fmla="*/ 95 w 105"/>
                  <a:gd name="T9" fmla="*/ 7 h 114"/>
                  <a:gd name="T10" fmla="*/ 102 w 105"/>
                  <a:gd name="T11" fmla="*/ 20 h 114"/>
                  <a:gd name="T12" fmla="*/ 105 w 105"/>
                  <a:gd name="T13" fmla="*/ 37 h 114"/>
                  <a:gd name="T14" fmla="*/ 102 w 105"/>
                  <a:gd name="T15" fmla="*/ 60 h 114"/>
                  <a:gd name="T16" fmla="*/ 92 w 105"/>
                  <a:gd name="T17" fmla="*/ 85 h 114"/>
                  <a:gd name="T18" fmla="*/ 74 w 105"/>
                  <a:gd name="T19" fmla="*/ 102 h 114"/>
                  <a:gd name="T20" fmla="*/ 60 w 105"/>
                  <a:gd name="T21" fmla="*/ 111 h 114"/>
                  <a:gd name="T22" fmla="*/ 46 w 105"/>
                  <a:gd name="T23" fmla="*/ 114 h 114"/>
                  <a:gd name="T24" fmla="*/ 34 w 105"/>
                  <a:gd name="T25" fmla="*/ 110 h 114"/>
                  <a:gd name="T26" fmla="*/ 27 w 105"/>
                  <a:gd name="T27" fmla="*/ 102 h 114"/>
                  <a:gd name="T28" fmla="*/ 23 w 105"/>
                  <a:gd name="T29" fmla="*/ 85 h 114"/>
                  <a:gd name="T30" fmla="*/ 25 w 105"/>
                  <a:gd name="T31" fmla="*/ 65 h 114"/>
                  <a:gd name="T32" fmla="*/ 29 w 105"/>
                  <a:gd name="T33" fmla="*/ 49 h 114"/>
                  <a:gd name="T34" fmla="*/ 3 w 105"/>
                  <a:gd name="T35" fmla="*/ 33 h 114"/>
                  <a:gd name="T36" fmla="*/ 0 w 105"/>
                  <a:gd name="T37" fmla="*/ 26 h 114"/>
                  <a:gd name="T38" fmla="*/ 3 w 105"/>
                  <a:gd name="T39" fmla="*/ 23 h 114"/>
                  <a:gd name="T40" fmla="*/ 31 w 105"/>
                  <a:gd name="T41" fmla="*/ 41 h 114"/>
                  <a:gd name="T42" fmla="*/ 36 w 105"/>
                  <a:gd name="T43" fmla="*/ 3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5" h="114">
                    <a:moveTo>
                      <a:pt x="36" y="33"/>
                    </a:moveTo>
                    <a:lnTo>
                      <a:pt x="49" y="12"/>
                    </a:lnTo>
                    <a:lnTo>
                      <a:pt x="62" y="0"/>
                    </a:lnTo>
                    <a:lnTo>
                      <a:pt x="78" y="0"/>
                    </a:lnTo>
                    <a:lnTo>
                      <a:pt x="95" y="7"/>
                    </a:lnTo>
                    <a:lnTo>
                      <a:pt x="102" y="20"/>
                    </a:lnTo>
                    <a:lnTo>
                      <a:pt x="105" y="37"/>
                    </a:lnTo>
                    <a:lnTo>
                      <a:pt x="102" y="60"/>
                    </a:lnTo>
                    <a:lnTo>
                      <a:pt x="92" y="85"/>
                    </a:lnTo>
                    <a:lnTo>
                      <a:pt x="74" y="102"/>
                    </a:lnTo>
                    <a:lnTo>
                      <a:pt x="60" y="111"/>
                    </a:lnTo>
                    <a:lnTo>
                      <a:pt x="46" y="114"/>
                    </a:lnTo>
                    <a:lnTo>
                      <a:pt x="34" y="110"/>
                    </a:lnTo>
                    <a:lnTo>
                      <a:pt x="27" y="102"/>
                    </a:lnTo>
                    <a:lnTo>
                      <a:pt x="23" y="85"/>
                    </a:lnTo>
                    <a:lnTo>
                      <a:pt x="25" y="65"/>
                    </a:lnTo>
                    <a:lnTo>
                      <a:pt x="29" y="49"/>
                    </a:lnTo>
                    <a:lnTo>
                      <a:pt x="3" y="33"/>
                    </a:lnTo>
                    <a:lnTo>
                      <a:pt x="0" y="26"/>
                    </a:lnTo>
                    <a:lnTo>
                      <a:pt x="3" y="23"/>
                    </a:lnTo>
                    <a:lnTo>
                      <a:pt x="31" y="41"/>
                    </a:lnTo>
                    <a:lnTo>
                      <a:pt x="36" y="3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4575" name="Freeform 607"/>
              <p:cNvSpPr>
                <a:spLocks/>
              </p:cNvSpPr>
              <p:nvPr/>
            </p:nvSpPr>
            <p:spPr bwMode="auto">
              <a:xfrm>
                <a:off x="2499" y="2766"/>
                <a:ext cx="79" cy="188"/>
              </a:xfrm>
              <a:custGeom>
                <a:avLst/>
                <a:gdLst>
                  <a:gd name="T0" fmla="*/ 10 w 79"/>
                  <a:gd name="T1" fmla="*/ 59 h 188"/>
                  <a:gd name="T2" fmla="*/ 18 w 79"/>
                  <a:gd name="T3" fmla="*/ 24 h 188"/>
                  <a:gd name="T4" fmla="*/ 27 w 79"/>
                  <a:gd name="T5" fmla="*/ 7 h 188"/>
                  <a:gd name="T6" fmla="*/ 47 w 79"/>
                  <a:gd name="T7" fmla="*/ 0 h 188"/>
                  <a:gd name="T8" fmla="*/ 66 w 79"/>
                  <a:gd name="T9" fmla="*/ 3 h 188"/>
                  <a:gd name="T10" fmla="*/ 75 w 79"/>
                  <a:gd name="T11" fmla="*/ 21 h 188"/>
                  <a:gd name="T12" fmla="*/ 74 w 79"/>
                  <a:gd name="T13" fmla="*/ 44 h 188"/>
                  <a:gd name="T14" fmla="*/ 69 w 79"/>
                  <a:gd name="T15" fmla="*/ 80 h 188"/>
                  <a:gd name="T16" fmla="*/ 69 w 79"/>
                  <a:gd name="T17" fmla="*/ 113 h 188"/>
                  <a:gd name="T18" fmla="*/ 75 w 79"/>
                  <a:gd name="T19" fmla="*/ 141 h 188"/>
                  <a:gd name="T20" fmla="*/ 79 w 79"/>
                  <a:gd name="T21" fmla="*/ 157 h 188"/>
                  <a:gd name="T22" fmla="*/ 76 w 79"/>
                  <a:gd name="T23" fmla="*/ 171 h 188"/>
                  <a:gd name="T24" fmla="*/ 67 w 79"/>
                  <a:gd name="T25" fmla="*/ 178 h 188"/>
                  <a:gd name="T26" fmla="*/ 56 w 79"/>
                  <a:gd name="T27" fmla="*/ 185 h 188"/>
                  <a:gd name="T28" fmla="*/ 44 w 79"/>
                  <a:gd name="T29" fmla="*/ 188 h 188"/>
                  <a:gd name="T30" fmla="*/ 30 w 79"/>
                  <a:gd name="T31" fmla="*/ 188 h 188"/>
                  <a:gd name="T32" fmla="*/ 13 w 79"/>
                  <a:gd name="T33" fmla="*/ 174 h 188"/>
                  <a:gd name="T34" fmla="*/ 0 w 79"/>
                  <a:gd name="T35" fmla="*/ 144 h 188"/>
                  <a:gd name="T36" fmla="*/ 1 w 79"/>
                  <a:gd name="T37" fmla="*/ 117 h 188"/>
                  <a:gd name="T38" fmla="*/ 9 w 79"/>
                  <a:gd name="T39" fmla="*/ 86 h 188"/>
                  <a:gd name="T40" fmla="*/ 10 w 79"/>
                  <a:gd name="T41" fmla="*/ 59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79" h="188">
                    <a:moveTo>
                      <a:pt x="10" y="59"/>
                    </a:moveTo>
                    <a:lnTo>
                      <a:pt x="18" y="24"/>
                    </a:lnTo>
                    <a:lnTo>
                      <a:pt x="27" y="7"/>
                    </a:lnTo>
                    <a:lnTo>
                      <a:pt x="47" y="0"/>
                    </a:lnTo>
                    <a:lnTo>
                      <a:pt x="66" y="3"/>
                    </a:lnTo>
                    <a:lnTo>
                      <a:pt x="75" y="21"/>
                    </a:lnTo>
                    <a:lnTo>
                      <a:pt x="74" y="44"/>
                    </a:lnTo>
                    <a:lnTo>
                      <a:pt x="69" y="80"/>
                    </a:lnTo>
                    <a:lnTo>
                      <a:pt x="69" y="113"/>
                    </a:lnTo>
                    <a:lnTo>
                      <a:pt x="75" y="141"/>
                    </a:lnTo>
                    <a:lnTo>
                      <a:pt x="79" y="157"/>
                    </a:lnTo>
                    <a:lnTo>
                      <a:pt x="76" y="171"/>
                    </a:lnTo>
                    <a:lnTo>
                      <a:pt x="67" y="178"/>
                    </a:lnTo>
                    <a:lnTo>
                      <a:pt x="56" y="185"/>
                    </a:lnTo>
                    <a:lnTo>
                      <a:pt x="44" y="188"/>
                    </a:lnTo>
                    <a:lnTo>
                      <a:pt x="30" y="188"/>
                    </a:lnTo>
                    <a:lnTo>
                      <a:pt x="13" y="174"/>
                    </a:lnTo>
                    <a:lnTo>
                      <a:pt x="0" y="144"/>
                    </a:lnTo>
                    <a:lnTo>
                      <a:pt x="1" y="117"/>
                    </a:lnTo>
                    <a:lnTo>
                      <a:pt x="9" y="86"/>
                    </a:lnTo>
                    <a:lnTo>
                      <a:pt x="10" y="5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4576" name="Freeform 608"/>
              <p:cNvSpPr>
                <a:spLocks/>
              </p:cNvSpPr>
              <p:nvPr/>
            </p:nvSpPr>
            <p:spPr bwMode="auto">
              <a:xfrm>
                <a:off x="2542" y="2919"/>
                <a:ext cx="60" cy="272"/>
              </a:xfrm>
              <a:custGeom>
                <a:avLst/>
                <a:gdLst>
                  <a:gd name="T0" fmla="*/ 3 w 60"/>
                  <a:gd name="T1" fmla="*/ 4 h 272"/>
                  <a:gd name="T2" fmla="*/ 18 w 60"/>
                  <a:gd name="T3" fmla="*/ 0 h 272"/>
                  <a:gd name="T4" fmla="*/ 28 w 60"/>
                  <a:gd name="T5" fmla="*/ 4 h 272"/>
                  <a:gd name="T6" fmla="*/ 31 w 60"/>
                  <a:gd name="T7" fmla="*/ 18 h 272"/>
                  <a:gd name="T8" fmla="*/ 28 w 60"/>
                  <a:gd name="T9" fmla="*/ 96 h 272"/>
                  <a:gd name="T10" fmla="*/ 28 w 60"/>
                  <a:gd name="T11" fmla="*/ 115 h 272"/>
                  <a:gd name="T12" fmla="*/ 33 w 60"/>
                  <a:gd name="T13" fmla="*/ 149 h 272"/>
                  <a:gd name="T14" fmla="*/ 34 w 60"/>
                  <a:gd name="T15" fmla="*/ 188 h 272"/>
                  <a:gd name="T16" fmla="*/ 31 w 60"/>
                  <a:gd name="T17" fmla="*/ 208 h 272"/>
                  <a:gd name="T18" fmla="*/ 34 w 60"/>
                  <a:gd name="T19" fmla="*/ 219 h 272"/>
                  <a:gd name="T20" fmla="*/ 52 w 60"/>
                  <a:gd name="T21" fmla="*/ 236 h 272"/>
                  <a:gd name="T22" fmla="*/ 60 w 60"/>
                  <a:gd name="T23" fmla="*/ 258 h 272"/>
                  <a:gd name="T24" fmla="*/ 58 w 60"/>
                  <a:gd name="T25" fmla="*/ 265 h 272"/>
                  <a:gd name="T26" fmla="*/ 44 w 60"/>
                  <a:gd name="T27" fmla="*/ 272 h 272"/>
                  <a:gd name="T28" fmla="*/ 41 w 60"/>
                  <a:gd name="T29" fmla="*/ 269 h 272"/>
                  <a:gd name="T30" fmla="*/ 39 w 60"/>
                  <a:gd name="T31" fmla="*/ 256 h 272"/>
                  <a:gd name="T32" fmla="*/ 35 w 60"/>
                  <a:gd name="T33" fmla="*/ 238 h 272"/>
                  <a:gd name="T34" fmla="*/ 29 w 60"/>
                  <a:gd name="T35" fmla="*/ 230 h 272"/>
                  <a:gd name="T36" fmla="*/ 21 w 60"/>
                  <a:gd name="T37" fmla="*/ 224 h 272"/>
                  <a:gd name="T38" fmla="*/ 15 w 60"/>
                  <a:gd name="T39" fmla="*/ 217 h 272"/>
                  <a:gd name="T40" fmla="*/ 13 w 60"/>
                  <a:gd name="T41" fmla="*/ 211 h 272"/>
                  <a:gd name="T42" fmla="*/ 17 w 60"/>
                  <a:gd name="T43" fmla="*/ 204 h 272"/>
                  <a:gd name="T44" fmla="*/ 21 w 60"/>
                  <a:gd name="T45" fmla="*/ 200 h 272"/>
                  <a:gd name="T46" fmla="*/ 24 w 60"/>
                  <a:gd name="T47" fmla="*/ 183 h 272"/>
                  <a:gd name="T48" fmla="*/ 21 w 60"/>
                  <a:gd name="T49" fmla="*/ 147 h 272"/>
                  <a:gd name="T50" fmla="*/ 12 w 60"/>
                  <a:gd name="T51" fmla="*/ 106 h 272"/>
                  <a:gd name="T52" fmla="*/ 3 w 60"/>
                  <a:gd name="T53" fmla="*/ 74 h 272"/>
                  <a:gd name="T54" fmla="*/ 0 w 60"/>
                  <a:gd name="T55" fmla="*/ 34 h 272"/>
                  <a:gd name="T56" fmla="*/ 3 w 60"/>
                  <a:gd name="T57" fmla="*/ 4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60" h="272">
                    <a:moveTo>
                      <a:pt x="3" y="4"/>
                    </a:moveTo>
                    <a:lnTo>
                      <a:pt x="18" y="0"/>
                    </a:lnTo>
                    <a:lnTo>
                      <a:pt x="28" y="4"/>
                    </a:lnTo>
                    <a:lnTo>
                      <a:pt x="31" y="18"/>
                    </a:lnTo>
                    <a:lnTo>
                      <a:pt x="28" y="96"/>
                    </a:lnTo>
                    <a:lnTo>
                      <a:pt x="28" y="115"/>
                    </a:lnTo>
                    <a:lnTo>
                      <a:pt x="33" y="149"/>
                    </a:lnTo>
                    <a:lnTo>
                      <a:pt x="34" y="188"/>
                    </a:lnTo>
                    <a:lnTo>
                      <a:pt x="31" y="208"/>
                    </a:lnTo>
                    <a:lnTo>
                      <a:pt x="34" y="219"/>
                    </a:lnTo>
                    <a:lnTo>
                      <a:pt x="52" y="236"/>
                    </a:lnTo>
                    <a:lnTo>
                      <a:pt x="60" y="258"/>
                    </a:lnTo>
                    <a:lnTo>
                      <a:pt x="58" y="265"/>
                    </a:lnTo>
                    <a:lnTo>
                      <a:pt x="44" y="272"/>
                    </a:lnTo>
                    <a:lnTo>
                      <a:pt x="41" y="269"/>
                    </a:lnTo>
                    <a:lnTo>
                      <a:pt x="39" y="256"/>
                    </a:lnTo>
                    <a:lnTo>
                      <a:pt x="35" y="238"/>
                    </a:lnTo>
                    <a:lnTo>
                      <a:pt x="29" y="230"/>
                    </a:lnTo>
                    <a:lnTo>
                      <a:pt x="21" y="224"/>
                    </a:lnTo>
                    <a:lnTo>
                      <a:pt x="15" y="217"/>
                    </a:lnTo>
                    <a:lnTo>
                      <a:pt x="13" y="211"/>
                    </a:lnTo>
                    <a:lnTo>
                      <a:pt x="17" y="204"/>
                    </a:lnTo>
                    <a:lnTo>
                      <a:pt x="21" y="200"/>
                    </a:lnTo>
                    <a:lnTo>
                      <a:pt x="24" y="183"/>
                    </a:lnTo>
                    <a:lnTo>
                      <a:pt x="21" y="147"/>
                    </a:lnTo>
                    <a:lnTo>
                      <a:pt x="12" y="106"/>
                    </a:lnTo>
                    <a:lnTo>
                      <a:pt x="3" y="74"/>
                    </a:lnTo>
                    <a:lnTo>
                      <a:pt x="0" y="34"/>
                    </a:lnTo>
                    <a:lnTo>
                      <a:pt x="3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4577" name="Freeform 609"/>
              <p:cNvSpPr>
                <a:spLocks/>
              </p:cNvSpPr>
              <p:nvPr/>
            </p:nvSpPr>
            <p:spPr bwMode="auto">
              <a:xfrm>
                <a:off x="2439" y="2919"/>
                <a:ext cx="98" cy="229"/>
              </a:xfrm>
              <a:custGeom>
                <a:avLst/>
                <a:gdLst>
                  <a:gd name="T0" fmla="*/ 66 w 98"/>
                  <a:gd name="T1" fmla="*/ 34 h 229"/>
                  <a:gd name="T2" fmla="*/ 68 w 98"/>
                  <a:gd name="T3" fmla="*/ 11 h 229"/>
                  <a:gd name="T4" fmla="*/ 80 w 98"/>
                  <a:gd name="T5" fmla="*/ 0 h 229"/>
                  <a:gd name="T6" fmla="*/ 97 w 98"/>
                  <a:gd name="T7" fmla="*/ 1 h 229"/>
                  <a:gd name="T8" fmla="*/ 98 w 98"/>
                  <a:gd name="T9" fmla="*/ 11 h 229"/>
                  <a:gd name="T10" fmla="*/ 97 w 98"/>
                  <a:gd name="T11" fmla="*/ 33 h 229"/>
                  <a:gd name="T12" fmla="*/ 88 w 98"/>
                  <a:gd name="T13" fmla="*/ 65 h 229"/>
                  <a:gd name="T14" fmla="*/ 81 w 98"/>
                  <a:gd name="T15" fmla="*/ 89 h 229"/>
                  <a:gd name="T16" fmla="*/ 73 w 98"/>
                  <a:gd name="T17" fmla="*/ 121 h 229"/>
                  <a:gd name="T18" fmla="*/ 71 w 98"/>
                  <a:gd name="T19" fmla="*/ 150 h 229"/>
                  <a:gd name="T20" fmla="*/ 71 w 98"/>
                  <a:gd name="T21" fmla="*/ 172 h 229"/>
                  <a:gd name="T22" fmla="*/ 75 w 98"/>
                  <a:gd name="T23" fmla="*/ 189 h 229"/>
                  <a:gd name="T24" fmla="*/ 79 w 98"/>
                  <a:gd name="T25" fmla="*/ 195 h 229"/>
                  <a:gd name="T26" fmla="*/ 79 w 98"/>
                  <a:gd name="T27" fmla="*/ 201 h 229"/>
                  <a:gd name="T28" fmla="*/ 73 w 98"/>
                  <a:gd name="T29" fmla="*/ 209 h 229"/>
                  <a:gd name="T30" fmla="*/ 65 w 98"/>
                  <a:gd name="T31" fmla="*/ 212 h 229"/>
                  <a:gd name="T32" fmla="*/ 50 w 98"/>
                  <a:gd name="T33" fmla="*/ 212 h 229"/>
                  <a:gd name="T34" fmla="*/ 24 w 98"/>
                  <a:gd name="T35" fmla="*/ 219 h 229"/>
                  <a:gd name="T36" fmla="*/ 17 w 98"/>
                  <a:gd name="T37" fmla="*/ 229 h 229"/>
                  <a:gd name="T38" fmla="*/ 5 w 98"/>
                  <a:gd name="T39" fmla="*/ 223 h 229"/>
                  <a:gd name="T40" fmla="*/ 0 w 98"/>
                  <a:gd name="T41" fmla="*/ 209 h 229"/>
                  <a:gd name="T42" fmla="*/ 5 w 98"/>
                  <a:gd name="T43" fmla="*/ 204 h 229"/>
                  <a:gd name="T44" fmla="*/ 27 w 98"/>
                  <a:gd name="T45" fmla="*/ 201 h 229"/>
                  <a:gd name="T46" fmla="*/ 52 w 98"/>
                  <a:gd name="T47" fmla="*/ 201 h 229"/>
                  <a:gd name="T48" fmla="*/ 62 w 98"/>
                  <a:gd name="T49" fmla="*/ 199 h 229"/>
                  <a:gd name="T50" fmla="*/ 65 w 98"/>
                  <a:gd name="T51" fmla="*/ 191 h 229"/>
                  <a:gd name="T52" fmla="*/ 62 w 98"/>
                  <a:gd name="T53" fmla="*/ 175 h 229"/>
                  <a:gd name="T54" fmla="*/ 60 w 98"/>
                  <a:gd name="T55" fmla="*/ 148 h 229"/>
                  <a:gd name="T56" fmla="*/ 63 w 98"/>
                  <a:gd name="T57" fmla="*/ 119 h 229"/>
                  <a:gd name="T58" fmla="*/ 67 w 98"/>
                  <a:gd name="T59" fmla="*/ 79 h 229"/>
                  <a:gd name="T60" fmla="*/ 66 w 98"/>
                  <a:gd name="T61" fmla="*/ 45 h 229"/>
                  <a:gd name="T62" fmla="*/ 66 w 98"/>
                  <a:gd name="T63" fmla="*/ 34 h 2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98" h="229">
                    <a:moveTo>
                      <a:pt x="66" y="34"/>
                    </a:moveTo>
                    <a:lnTo>
                      <a:pt x="68" y="11"/>
                    </a:lnTo>
                    <a:lnTo>
                      <a:pt x="80" y="0"/>
                    </a:lnTo>
                    <a:lnTo>
                      <a:pt x="97" y="1"/>
                    </a:lnTo>
                    <a:lnTo>
                      <a:pt x="98" y="11"/>
                    </a:lnTo>
                    <a:lnTo>
                      <a:pt x="97" y="33"/>
                    </a:lnTo>
                    <a:lnTo>
                      <a:pt x="88" y="65"/>
                    </a:lnTo>
                    <a:lnTo>
                      <a:pt x="81" y="89"/>
                    </a:lnTo>
                    <a:lnTo>
                      <a:pt x="73" y="121"/>
                    </a:lnTo>
                    <a:lnTo>
                      <a:pt x="71" y="150"/>
                    </a:lnTo>
                    <a:lnTo>
                      <a:pt x="71" y="172"/>
                    </a:lnTo>
                    <a:lnTo>
                      <a:pt x="75" y="189"/>
                    </a:lnTo>
                    <a:lnTo>
                      <a:pt x="79" y="195"/>
                    </a:lnTo>
                    <a:lnTo>
                      <a:pt x="79" y="201"/>
                    </a:lnTo>
                    <a:lnTo>
                      <a:pt x="73" y="209"/>
                    </a:lnTo>
                    <a:lnTo>
                      <a:pt x="65" y="212"/>
                    </a:lnTo>
                    <a:lnTo>
                      <a:pt x="50" y="212"/>
                    </a:lnTo>
                    <a:lnTo>
                      <a:pt x="24" y="219"/>
                    </a:lnTo>
                    <a:lnTo>
                      <a:pt x="17" y="229"/>
                    </a:lnTo>
                    <a:lnTo>
                      <a:pt x="5" y="223"/>
                    </a:lnTo>
                    <a:lnTo>
                      <a:pt x="0" y="209"/>
                    </a:lnTo>
                    <a:lnTo>
                      <a:pt x="5" y="204"/>
                    </a:lnTo>
                    <a:lnTo>
                      <a:pt x="27" y="201"/>
                    </a:lnTo>
                    <a:lnTo>
                      <a:pt x="52" y="201"/>
                    </a:lnTo>
                    <a:lnTo>
                      <a:pt x="62" y="199"/>
                    </a:lnTo>
                    <a:lnTo>
                      <a:pt x="65" y="191"/>
                    </a:lnTo>
                    <a:lnTo>
                      <a:pt x="62" y="175"/>
                    </a:lnTo>
                    <a:lnTo>
                      <a:pt x="60" y="148"/>
                    </a:lnTo>
                    <a:lnTo>
                      <a:pt x="63" y="119"/>
                    </a:lnTo>
                    <a:lnTo>
                      <a:pt x="67" y="79"/>
                    </a:lnTo>
                    <a:lnTo>
                      <a:pt x="66" y="45"/>
                    </a:lnTo>
                    <a:lnTo>
                      <a:pt x="66" y="3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4578" name="Freeform 610"/>
              <p:cNvSpPr>
                <a:spLocks/>
              </p:cNvSpPr>
              <p:nvPr/>
            </p:nvSpPr>
            <p:spPr bwMode="auto">
              <a:xfrm>
                <a:off x="2337" y="2718"/>
                <a:ext cx="194" cy="112"/>
              </a:xfrm>
              <a:custGeom>
                <a:avLst/>
                <a:gdLst>
                  <a:gd name="T0" fmla="*/ 183 w 194"/>
                  <a:gd name="T1" fmla="*/ 77 h 112"/>
                  <a:gd name="T2" fmla="*/ 189 w 194"/>
                  <a:gd name="T3" fmla="*/ 83 h 112"/>
                  <a:gd name="T4" fmla="*/ 194 w 194"/>
                  <a:gd name="T5" fmla="*/ 94 h 112"/>
                  <a:gd name="T6" fmla="*/ 187 w 194"/>
                  <a:gd name="T7" fmla="*/ 99 h 112"/>
                  <a:gd name="T8" fmla="*/ 165 w 194"/>
                  <a:gd name="T9" fmla="*/ 107 h 112"/>
                  <a:gd name="T10" fmla="*/ 139 w 194"/>
                  <a:gd name="T11" fmla="*/ 112 h 112"/>
                  <a:gd name="T12" fmla="*/ 113 w 194"/>
                  <a:gd name="T13" fmla="*/ 110 h 112"/>
                  <a:gd name="T14" fmla="*/ 92 w 194"/>
                  <a:gd name="T15" fmla="*/ 100 h 112"/>
                  <a:gd name="T16" fmla="*/ 64 w 194"/>
                  <a:gd name="T17" fmla="*/ 76 h 112"/>
                  <a:gd name="T18" fmla="*/ 44 w 194"/>
                  <a:gd name="T19" fmla="*/ 51 h 112"/>
                  <a:gd name="T20" fmla="*/ 36 w 194"/>
                  <a:gd name="T21" fmla="*/ 38 h 112"/>
                  <a:gd name="T22" fmla="*/ 26 w 194"/>
                  <a:gd name="T23" fmla="*/ 33 h 112"/>
                  <a:gd name="T24" fmla="*/ 16 w 194"/>
                  <a:gd name="T25" fmla="*/ 35 h 112"/>
                  <a:gd name="T26" fmla="*/ 8 w 194"/>
                  <a:gd name="T27" fmla="*/ 39 h 112"/>
                  <a:gd name="T28" fmla="*/ 5 w 194"/>
                  <a:gd name="T29" fmla="*/ 36 h 112"/>
                  <a:gd name="T30" fmla="*/ 16 w 194"/>
                  <a:gd name="T31" fmla="*/ 30 h 112"/>
                  <a:gd name="T32" fmla="*/ 16 w 194"/>
                  <a:gd name="T33" fmla="*/ 26 h 112"/>
                  <a:gd name="T34" fmla="*/ 0 w 194"/>
                  <a:gd name="T35" fmla="*/ 20 h 112"/>
                  <a:gd name="T36" fmla="*/ 0 w 194"/>
                  <a:gd name="T37" fmla="*/ 16 h 112"/>
                  <a:gd name="T38" fmla="*/ 3 w 194"/>
                  <a:gd name="T39" fmla="*/ 17 h 112"/>
                  <a:gd name="T40" fmla="*/ 16 w 194"/>
                  <a:gd name="T41" fmla="*/ 20 h 112"/>
                  <a:gd name="T42" fmla="*/ 17 w 194"/>
                  <a:gd name="T43" fmla="*/ 19 h 112"/>
                  <a:gd name="T44" fmla="*/ 9 w 194"/>
                  <a:gd name="T45" fmla="*/ 5 h 112"/>
                  <a:gd name="T46" fmla="*/ 9 w 194"/>
                  <a:gd name="T47" fmla="*/ 2 h 112"/>
                  <a:gd name="T48" fmla="*/ 13 w 194"/>
                  <a:gd name="T49" fmla="*/ 1 h 112"/>
                  <a:gd name="T50" fmla="*/ 21 w 194"/>
                  <a:gd name="T51" fmla="*/ 17 h 112"/>
                  <a:gd name="T52" fmla="*/ 24 w 194"/>
                  <a:gd name="T53" fmla="*/ 17 h 112"/>
                  <a:gd name="T54" fmla="*/ 26 w 194"/>
                  <a:gd name="T55" fmla="*/ 4 h 112"/>
                  <a:gd name="T56" fmla="*/ 31 w 194"/>
                  <a:gd name="T57" fmla="*/ 0 h 112"/>
                  <a:gd name="T58" fmla="*/ 32 w 194"/>
                  <a:gd name="T59" fmla="*/ 4 h 112"/>
                  <a:gd name="T60" fmla="*/ 30 w 194"/>
                  <a:gd name="T61" fmla="*/ 18 h 112"/>
                  <a:gd name="T62" fmla="*/ 33 w 194"/>
                  <a:gd name="T63" fmla="*/ 24 h 112"/>
                  <a:gd name="T64" fmla="*/ 42 w 194"/>
                  <a:gd name="T65" fmla="*/ 32 h 112"/>
                  <a:gd name="T66" fmla="*/ 48 w 194"/>
                  <a:gd name="T67" fmla="*/ 41 h 112"/>
                  <a:gd name="T68" fmla="*/ 58 w 194"/>
                  <a:gd name="T69" fmla="*/ 56 h 112"/>
                  <a:gd name="T70" fmla="*/ 74 w 194"/>
                  <a:gd name="T71" fmla="*/ 73 h 112"/>
                  <a:gd name="T72" fmla="*/ 85 w 194"/>
                  <a:gd name="T73" fmla="*/ 83 h 112"/>
                  <a:gd name="T74" fmla="*/ 101 w 194"/>
                  <a:gd name="T75" fmla="*/ 94 h 112"/>
                  <a:gd name="T76" fmla="*/ 116 w 194"/>
                  <a:gd name="T77" fmla="*/ 101 h 112"/>
                  <a:gd name="T78" fmla="*/ 126 w 194"/>
                  <a:gd name="T79" fmla="*/ 104 h 112"/>
                  <a:gd name="T80" fmla="*/ 144 w 194"/>
                  <a:gd name="T81" fmla="*/ 99 h 112"/>
                  <a:gd name="T82" fmla="*/ 159 w 194"/>
                  <a:gd name="T83" fmla="*/ 93 h 112"/>
                  <a:gd name="T84" fmla="*/ 174 w 194"/>
                  <a:gd name="T85" fmla="*/ 86 h 112"/>
                  <a:gd name="T86" fmla="*/ 183 w 194"/>
                  <a:gd name="T87" fmla="*/ 77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94" h="112">
                    <a:moveTo>
                      <a:pt x="183" y="77"/>
                    </a:moveTo>
                    <a:lnTo>
                      <a:pt x="189" y="83"/>
                    </a:lnTo>
                    <a:lnTo>
                      <a:pt x="194" y="94"/>
                    </a:lnTo>
                    <a:lnTo>
                      <a:pt x="187" y="99"/>
                    </a:lnTo>
                    <a:lnTo>
                      <a:pt x="165" y="107"/>
                    </a:lnTo>
                    <a:lnTo>
                      <a:pt x="139" y="112"/>
                    </a:lnTo>
                    <a:lnTo>
                      <a:pt x="113" y="110"/>
                    </a:lnTo>
                    <a:lnTo>
                      <a:pt x="92" y="100"/>
                    </a:lnTo>
                    <a:lnTo>
                      <a:pt x="64" y="76"/>
                    </a:lnTo>
                    <a:lnTo>
                      <a:pt x="44" y="51"/>
                    </a:lnTo>
                    <a:lnTo>
                      <a:pt x="36" y="38"/>
                    </a:lnTo>
                    <a:lnTo>
                      <a:pt x="26" y="33"/>
                    </a:lnTo>
                    <a:lnTo>
                      <a:pt x="16" y="35"/>
                    </a:lnTo>
                    <a:lnTo>
                      <a:pt x="8" y="39"/>
                    </a:lnTo>
                    <a:lnTo>
                      <a:pt x="5" y="36"/>
                    </a:lnTo>
                    <a:lnTo>
                      <a:pt x="16" y="30"/>
                    </a:lnTo>
                    <a:lnTo>
                      <a:pt x="16" y="26"/>
                    </a:lnTo>
                    <a:lnTo>
                      <a:pt x="0" y="20"/>
                    </a:lnTo>
                    <a:lnTo>
                      <a:pt x="0" y="16"/>
                    </a:lnTo>
                    <a:lnTo>
                      <a:pt x="3" y="17"/>
                    </a:lnTo>
                    <a:lnTo>
                      <a:pt x="16" y="20"/>
                    </a:lnTo>
                    <a:lnTo>
                      <a:pt x="17" y="19"/>
                    </a:lnTo>
                    <a:lnTo>
                      <a:pt x="9" y="5"/>
                    </a:lnTo>
                    <a:lnTo>
                      <a:pt x="9" y="2"/>
                    </a:lnTo>
                    <a:lnTo>
                      <a:pt x="13" y="1"/>
                    </a:lnTo>
                    <a:lnTo>
                      <a:pt x="21" y="17"/>
                    </a:lnTo>
                    <a:lnTo>
                      <a:pt x="24" y="17"/>
                    </a:lnTo>
                    <a:lnTo>
                      <a:pt x="26" y="4"/>
                    </a:lnTo>
                    <a:lnTo>
                      <a:pt x="31" y="0"/>
                    </a:lnTo>
                    <a:lnTo>
                      <a:pt x="32" y="4"/>
                    </a:lnTo>
                    <a:lnTo>
                      <a:pt x="30" y="18"/>
                    </a:lnTo>
                    <a:lnTo>
                      <a:pt x="33" y="24"/>
                    </a:lnTo>
                    <a:lnTo>
                      <a:pt x="42" y="32"/>
                    </a:lnTo>
                    <a:lnTo>
                      <a:pt x="48" y="41"/>
                    </a:lnTo>
                    <a:lnTo>
                      <a:pt x="58" y="56"/>
                    </a:lnTo>
                    <a:lnTo>
                      <a:pt x="74" y="73"/>
                    </a:lnTo>
                    <a:lnTo>
                      <a:pt x="85" y="83"/>
                    </a:lnTo>
                    <a:lnTo>
                      <a:pt x="101" y="94"/>
                    </a:lnTo>
                    <a:lnTo>
                      <a:pt x="116" y="101"/>
                    </a:lnTo>
                    <a:lnTo>
                      <a:pt x="126" y="104"/>
                    </a:lnTo>
                    <a:lnTo>
                      <a:pt x="144" y="99"/>
                    </a:lnTo>
                    <a:lnTo>
                      <a:pt x="159" y="93"/>
                    </a:lnTo>
                    <a:lnTo>
                      <a:pt x="174" y="86"/>
                    </a:lnTo>
                    <a:lnTo>
                      <a:pt x="183" y="7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4579" name="Freeform 611"/>
              <p:cNvSpPr>
                <a:spLocks/>
              </p:cNvSpPr>
              <p:nvPr/>
            </p:nvSpPr>
            <p:spPr bwMode="auto">
              <a:xfrm>
                <a:off x="2319" y="2804"/>
                <a:ext cx="245" cy="77"/>
              </a:xfrm>
              <a:custGeom>
                <a:avLst/>
                <a:gdLst>
                  <a:gd name="T0" fmla="*/ 237 w 245"/>
                  <a:gd name="T1" fmla="*/ 12 h 77"/>
                  <a:gd name="T2" fmla="*/ 243 w 245"/>
                  <a:gd name="T3" fmla="*/ 15 h 77"/>
                  <a:gd name="T4" fmla="*/ 245 w 245"/>
                  <a:gd name="T5" fmla="*/ 25 h 77"/>
                  <a:gd name="T6" fmla="*/ 233 w 245"/>
                  <a:gd name="T7" fmla="*/ 32 h 77"/>
                  <a:gd name="T8" fmla="*/ 198 w 245"/>
                  <a:gd name="T9" fmla="*/ 50 h 77"/>
                  <a:gd name="T10" fmla="*/ 158 w 245"/>
                  <a:gd name="T11" fmla="*/ 67 h 77"/>
                  <a:gd name="T12" fmla="*/ 122 w 245"/>
                  <a:gd name="T13" fmla="*/ 77 h 77"/>
                  <a:gd name="T14" fmla="*/ 96 w 245"/>
                  <a:gd name="T15" fmla="*/ 75 h 77"/>
                  <a:gd name="T16" fmla="*/ 67 w 245"/>
                  <a:gd name="T17" fmla="*/ 64 h 77"/>
                  <a:gd name="T18" fmla="*/ 49 w 245"/>
                  <a:gd name="T19" fmla="*/ 46 h 77"/>
                  <a:gd name="T20" fmla="*/ 43 w 245"/>
                  <a:gd name="T21" fmla="*/ 37 h 77"/>
                  <a:gd name="T22" fmla="*/ 32 w 245"/>
                  <a:gd name="T23" fmla="*/ 36 h 77"/>
                  <a:gd name="T24" fmla="*/ 16 w 245"/>
                  <a:gd name="T25" fmla="*/ 42 h 77"/>
                  <a:gd name="T26" fmla="*/ 3 w 245"/>
                  <a:gd name="T27" fmla="*/ 51 h 77"/>
                  <a:gd name="T28" fmla="*/ 0 w 245"/>
                  <a:gd name="T29" fmla="*/ 49 h 77"/>
                  <a:gd name="T30" fmla="*/ 19 w 245"/>
                  <a:gd name="T31" fmla="*/ 37 h 77"/>
                  <a:gd name="T32" fmla="*/ 21 w 245"/>
                  <a:gd name="T33" fmla="*/ 33 h 77"/>
                  <a:gd name="T34" fmla="*/ 0 w 245"/>
                  <a:gd name="T35" fmla="*/ 35 h 77"/>
                  <a:gd name="T36" fmla="*/ 2 w 245"/>
                  <a:gd name="T37" fmla="*/ 31 h 77"/>
                  <a:gd name="T38" fmla="*/ 6 w 245"/>
                  <a:gd name="T39" fmla="*/ 30 h 77"/>
                  <a:gd name="T40" fmla="*/ 22 w 245"/>
                  <a:gd name="T41" fmla="*/ 28 h 77"/>
                  <a:gd name="T42" fmla="*/ 25 w 245"/>
                  <a:gd name="T43" fmla="*/ 26 h 77"/>
                  <a:gd name="T44" fmla="*/ 19 w 245"/>
                  <a:gd name="T45" fmla="*/ 16 h 77"/>
                  <a:gd name="T46" fmla="*/ 21 w 245"/>
                  <a:gd name="T47" fmla="*/ 12 h 77"/>
                  <a:gd name="T48" fmla="*/ 26 w 245"/>
                  <a:gd name="T49" fmla="*/ 10 h 77"/>
                  <a:gd name="T50" fmla="*/ 32 w 245"/>
                  <a:gd name="T51" fmla="*/ 22 h 77"/>
                  <a:gd name="T52" fmla="*/ 35 w 245"/>
                  <a:gd name="T53" fmla="*/ 21 h 77"/>
                  <a:gd name="T54" fmla="*/ 44 w 245"/>
                  <a:gd name="T55" fmla="*/ 7 h 77"/>
                  <a:gd name="T56" fmla="*/ 53 w 245"/>
                  <a:gd name="T57" fmla="*/ 0 h 77"/>
                  <a:gd name="T58" fmla="*/ 53 w 245"/>
                  <a:gd name="T59" fmla="*/ 4 h 77"/>
                  <a:gd name="T60" fmla="*/ 44 w 245"/>
                  <a:gd name="T61" fmla="*/ 20 h 77"/>
                  <a:gd name="T62" fmla="*/ 46 w 245"/>
                  <a:gd name="T63" fmla="*/ 23 h 77"/>
                  <a:gd name="T64" fmla="*/ 55 w 245"/>
                  <a:gd name="T65" fmla="*/ 28 h 77"/>
                  <a:gd name="T66" fmla="*/ 60 w 245"/>
                  <a:gd name="T67" fmla="*/ 35 h 77"/>
                  <a:gd name="T68" fmla="*/ 67 w 245"/>
                  <a:gd name="T69" fmla="*/ 46 h 77"/>
                  <a:gd name="T70" fmla="*/ 82 w 245"/>
                  <a:gd name="T71" fmla="*/ 56 h 77"/>
                  <a:gd name="T72" fmla="*/ 94 w 245"/>
                  <a:gd name="T73" fmla="*/ 61 h 77"/>
                  <a:gd name="T74" fmla="*/ 112 w 245"/>
                  <a:gd name="T75" fmla="*/ 65 h 77"/>
                  <a:gd name="T76" fmla="*/ 131 w 245"/>
                  <a:gd name="T77" fmla="*/ 66 h 77"/>
                  <a:gd name="T78" fmla="*/ 143 w 245"/>
                  <a:gd name="T79" fmla="*/ 64 h 77"/>
                  <a:gd name="T80" fmla="*/ 171 w 245"/>
                  <a:gd name="T81" fmla="*/ 52 h 77"/>
                  <a:gd name="T82" fmla="*/ 195 w 245"/>
                  <a:gd name="T83" fmla="*/ 39 h 77"/>
                  <a:gd name="T84" fmla="*/ 220 w 245"/>
                  <a:gd name="T85" fmla="*/ 25 h 77"/>
                  <a:gd name="T86" fmla="*/ 237 w 245"/>
                  <a:gd name="T87" fmla="*/ 12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245" h="77">
                    <a:moveTo>
                      <a:pt x="237" y="12"/>
                    </a:moveTo>
                    <a:lnTo>
                      <a:pt x="243" y="15"/>
                    </a:lnTo>
                    <a:lnTo>
                      <a:pt x="245" y="25"/>
                    </a:lnTo>
                    <a:lnTo>
                      <a:pt x="233" y="32"/>
                    </a:lnTo>
                    <a:lnTo>
                      <a:pt x="198" y="50"/>
                    </a:lnTo>
                    <a:lnTo>
                      <a:pt x="158" y="67"/>
                    </a:lnTo>
                    <a:lnTo>
                      <a:pt x="122" y="77"/>
                    </a:lnTo>
                    <a:lnTo>
                      <a:pt x="96" y="75"/>
                    </a:lnTo>
                    <a:lnTo>
                      <a:pt x="67" y="64"/>
                    </a:lnTo>
                    <a:lnTo>
                      <a:pt x="49" y="46"/>
                    </a:lnTo>
                    <a:lnTo>
                      <a:pt x="43" y="37"/>
                    </a:lnTo>
                    <a:lnTo>
                      <a:pt x="32" y="36"/>
                    </a:lnTo>
                    <a:lnTo>
                      <a:pt x="16" y="42"/>
                    </a:lnTo>
                    <a:lnTo>
                      <a:pt x="3" y="51"/>
                    </a:lnTo>
                    <a:lnTo>
                      <a:pt x="0" y="49"/>
                    </a:lnTo>
                    <a:lnTo>
                      <a:pt x="19" y="37"/>
                    </a:lnTo>
                    <a:lnTo>
                      <a:pt x="21" y="33"/>
                    </a:lnTo>
                    <a:lnTo>
                      <a:pt x="0" y="35"/>
                    </a:lnTo>
                    <a:lnTo>
                      <a:pt x="2" y="31"/>
                    </a:lnTo>
                    <a:lnTo>
                      <a:pt x="6" y="30"/>
                    </a:lnTo>
                    <a:lnTo>
                      <a:pt x="22" y="28"/>
                    </a:lnTo>
                    <a:lnTo>
                      <a:pt x="25" y="26"/>
                    </a:lnTo>
                    <a:lnTo>
                      <a:pt x="19" y="16"/>
                    </a:lnTo>
                    <a:lnTo>
                      <a:pt x="21" y="12"/>
                    </a:lnTo>
                    <a:lnTo>
                      <a:pt x="26" y="10"/>
                    </a:lnTo>
                    <a:lnTo>
                      <a:pt x="32" y="22"/>
                    </a:lnTo>
                    <a:lnTo>
                      <a:pt x="35" y="21"/>
                    </a:lnTo>
                    <a:lnTo>
                      <a:pt x="44" y="7"/>
                    </a:lnTo>
                    <a:lnTo>
                      <a:pt x="53" y="0"/>
                    </a:lnTo>
                    <a:lnTo>
                      <a:pt x="53" y="4"/>
                    </a:lnTo>
                    <a:lnTo>
                      <a:pt x="44" y="20"/>
                    </a:lnTo>
                    <a:lnTo>
                      <a:pt x="46" y="23"/>
                    </a:lnTo>
                    <a:lnTo>
                      <a:pt x="55" y="28"/>
                    </a:lnTo>
                    <a:lnTo>
                      <a:pt x="60" y="35"/>
                    </a:lnTo>
                    <a:lnTo>
                      <a:pt x="67" y="46"/>
                    </a:lnTo>
                    <a:lnTo>
                      <a:pt x="82" y="56"/>
                    </a:lnTo>
                    <a:lnTo>
                      <a:pt x="94" y="61"/>
                    </a:lnTo>
                    <a:lnTo>
                      <a:pt x="112" y="65"/>
                    </a:lnTo>
                    <a:lnTo>
                      <a:pt x="131" y="66"/>
                    </a:lnTo>
                    <a:lnTo>
                      <a:pt x="143" y="64"/>
                    </a:lnTo>
                    <a:lnTo>
                      <a:pt x="171" y="52"/>
                    </a:lnTo>
                    <a:lnTo>
                      <a:pt x="195" y="39"/>
                    </a:lnTo>
                    <a:lnTo>
                      <a:pt x="220" y="25"/>
                    </a:lnTo>
                    <a:lnTo>
                      <a:pt x="237" y="1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84581" name="Freeform 613"/>
            <p:cNvSpPr>
              <a:spLocks/>
            </p:cNvSpPr>
            <p:nvPr/>
          </p:nvSpPr>
          <p:spPr bwMode="auto">
            <a:xfrm>
              <a:off x="3757" y="3644"/>
              <a:ext cx="143" cy="140"/>
            </a:xfrm>
            <a:custGeom>
              <a:avLst/>
              <a:gdLst>
                <a:gd name="T0" fmla="*/ 0 w 227"/>
                <a:gd name="T1" fmla="*/ 89 h 223"/>
                <a:gd name="T2" fmla="*/ 227 w 227"/>
                <a:gd name="T3" fmla="*/ 0 h 223"/>
                <a:gd name="T4" fmla="*/ 182 w 227"/>
                <a:gd name="T5" fmla="*/ 223 h 223"/>
                <a:gd name="T6" fmla="*/ 0 w 227"/>
                <a:gd name="T7" fmla="*/ 89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7" h="223">
                  <a:moveTo>
                    <a:pt x="0" y="89"/>
                  </a:moveTo>
                  <a:lnTo>
                    <a:pt x="227" y="0"/>
                  </a:lnTo>
                  <a:lnTo>
                    <a:pt x="182" y="223"/>
                  </a:lnTo>
                  <a:lnTo>
                    <a:pt x="0" y="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4583" name="Freeform 615"/>
            <p:cNvSpPr>
              <a:spLocks/>
            </p:cNvSpPr>
            <p:nvPr/>
          </p:nvSpPr>
          <p:spPr bwMode="auto">
            <a:xfrm>
              <a:off x="4239" y="3497"/>
              <a:ext cx="769" cy="433"/>
            </a:xfrm>
            <a:custGeom>
              <a:avLst/>
              <a:gdLst>
                <a:gd name="T0" fmla="*/ 0 w 1224"/>
                <a:gd name="T1" fmla="*/ 467 h 688"/>
                <a:gd name="T2" fmla="*/ 0 w 1224"/>
                <a:gd name="T3" fmla="*/ 688 h 688"/>
                <a:gd name="T4" fmla="*/ 1174 w 1224"/>
                <a:gd name="T5" fmla="*/ 688 h 688"/>
                <a:gd name="T6" fmla="*/ 1224 w 1224"/>
                <a:gd name="T7" fmla="*/ 590 h 688"/>
                <a:gd name="T8" fmla="*/ 1224 w 1224"/>
                <a:gd name="T9" fmla="*/ 123 h 688"/>
                <a:gd name="T10" fmla="*/ 1049 w 1224"/>
                <a:gd name="T11" fmla="*/ 98 h 688"/>
                <a:gd name="T12" fmla="*/ 1049 w 1224"/>
                <a:gd name="T13" fmla="*/ 0 h 688"/>
                <a:gd name="T14" fmla="*/ 350 w 1224"/>
                <a:gd name="T15" fmla="*/ 0 h 688"/>
                <a:gd name="T16" fmla="*/ 350 w 1224"/>
                <a:gd name="T17" fmla="*/ 442 h 688"/>
                <a:gd name="T18" fmla="*/ 0 w 1224"/>
                <a:gd name="T19" fmla="*/ 467 h 6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4" h="688">
                  <a:moveTo>
                    <a:pt x="0" y="467"/>
                  </a:moveTo>
                  <a:lnTo>
                    <a:pt x="0" y="688"/>
                  </a:lnTo>
                  <a:lnTo>
                    <a:pt x="1174" y="688"/>
                  </a:lnTo>
                  <a:lnTo>
                    <a:pt x="1224" y="590"/>
                  </a:lnTo>
                  <a:lnTo>
                    <a:pt x="1224" y="123"/>
                  </a:lnTo>
                  <a:lnTo>
                    <a:pt x="1049" y="98"/>
                  </a:lnTo>
                  <a:lnTo>
                    <a:pt x="1049" y="0"/>
                  </a:lnTo>
                  <a:lnTo>
                    <a:pt x="350" y="0"/>
                  </a:lnTo>
                  <a:lnTo>
                    <a:pt x="350" y="442"/>
                  </a:lnTo>
                  <a:lnTo>
                    <a:pt x="0" y="46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4584" name="Freeform 616"/>
            <p:cNvSpPr>
              <a:spLocks/>
            </p:cNvSpPr>
            <p:nvPr/>
          </p:nvSpPr>
          <p:spPr bwMode="auto">
            <a:xfrm>
              <a:off x="3547" y="3698"/>
              <a:ext cx="346" cy="216"/>
            </a:xfrm>
            <a:custGeom>
              <a:avLst/>
              <a:gdLst>
                <a:gd name="T0" fmla="*/ 150 w 550"/>
                <a:gd name="T1" fmla="*/ 344 h 344"/>
                <a:gd name="T2" fmla="*/ 0 w 550"/>
                <a:gd name="T3" fmla="*/ 344 h 344"/>
                <a:gd name="T4" fmla="*/ 25 w 550"/>
                <a:gd name="T5" fmla="*/ 49 h 344"/>
                <a:gd name="T6" fmla="*/ 450 w 550"/>
                <a:gd name="T7" fmla="*/ 0 h 344"/>
                <a:gd name="T8" fmla="*/ 550 w 550"/>
                <a:gd name="T9" fmla="*/ 344 h 344"/>
                <a:gd name="T10" fmla="*/ 150 w 550"/>
                <a:gd name="T11" fmla="*/ 34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50" h="344">
                  <a:moveTo>
                    <a:pt x="150" y="344"/>
                  </a:moveTo>
                  <a:lnTo>
                    <a:pt x="0" y="344"/>
                  </a:lnTo>
                  <a:lnTo>
                    <a:pt x="25" y="49"/>
                  </a:lnTo>
                  <a:lnTo>
                    <a:pt x="450" y="0"/>
                  </a:lnTo>
                  <a:lnTo>
                    <a:pt x="550" y="344"/>
                  </a:lnTo>
                  <a:lnTo>
                    <a:pt x="150" y="344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4585" name="Freeform 617"/>
            <p:cNvSpPr>
              <a:spLocks/>
            </p:cNvSpPr>
            <p:nvPr/>
          </p:nvSpPr>
          <p:spPr bwMode="auto">
            <a:xfrm>
              <a:off x="4237" y="3686"/>
              <a:ext cx="763" cy="112"/>
            </a:xfrm>
            <a:custGeom>
              <a:avLst/>
              <a:gdLst>
                <a:gd name="T0" fmla="*/ 1214 w 1214"/>
                <a:gd name="T1" fmla="*/ 0 h 179"/>
                <a:gd name="T2" fmla="*/ 362 w 1214"/>
                <a:gd name="T3" fmla="*/ 0 h 179"/>
                <a:gd name="T4" fmla="*/ 362 w 1214"/>
                <a:gd name="T5" fmla="*/ 134 h 179"/>
                <a:gd name="T6" fmla="*/ 0 w 1214"/>
                <a:gd name="T7" fmla="*/ 134 h 179"/>
                <a:gd name="T8" fmla="*/ 0 w 1214"/>
                <a:gd name="T9" fmla="*/ 179 h 179"/>
                <a:gd name="T10" fmla="*/ 532 w 1214"/>
                <a:gd name="T11" fmla="*/ 179 h 179"/>
                <a:gd name="T12" fmla="*/ 554 w 1214"/>
                <a:gd name="T13" fmla="*/ 157 h 179"/>
                <a:gd name="T14" fmla="*/ 831 w 1214"/>
                <a:gd name="T15" fmla="*/ 157 h 179"/>
                <a:gd name="T16" fmla="*/ 852 w 1214"/>
                <a:gd name="T17" fmla="*/ 179 h 179"/>
                <a:gd name="T18" fmla="*/ 1214 w 1214"/>
                <a:gd name="T19" fmla="*/ 179 h 179"/>
                <a:gd name="T20" fmla="*/ 1214 w 1214"/>
                <a:gd name="T21" fmla="*/ 0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14" h="179">
                  <a:moveTo>
                    <a:pt x="1214" y="0"/>
                  </a:moveTo>
                  <a:lnTo>
                    <a:pt x="362" y="0"/>
                  </a:lnTo>
                  <a:lnTo>
                    <a:pt x="362" y="134"/>
                  </a:lnTo>
                  <a:lnTo>
                    <a:pt x="0" y="134"/>
                  </a:lnTo>
                  <a:lnTo>
                    <a:pt x="0" y="179"/>
                  </a:lnTo>
                  <a:lnTo>
                    <a:pt x="532" y="179"/>
                  </a:lnTo>
                  <a:lnTo>
                    <a:pt x="554" y="157"/>
                  </a:lnTo>
                  <a:lnTo>
                    <a:pt x="831" y="157"/>
                  </a:lnTo>
                  <a:lnTo>
                    <a:pt x="852" y="179"/>
                  </a:lnTo>
                  <a:lnTo>
                    <a:pt x="1214" y="179"/>
                  </a:lnTo>
                  <a:lnTo>
                    <a:pt x="1214" y="0"/>
                  </a:lnTo>
                  <a:close/>
                </a:path>
              </a:pathLst>
            </a:custGeom>
            <a:solidFill>
              <a:srgbClr val="000066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4586" name="Freeform 618"/>
            <p:cNvSpPr>
              <a:spLocks/>
            </p:cNvSpPr>
            <p:nvPr/>
          </p:nvSpPr>
          <p:spPr bwMode="auto">
            <a:xfrm>
              <a:off x="3902" y="3700"/>
              <a:ext cx="322" cy="98"/>
            </a:xfrm>
            <a:custGeom>
              <a:avLst/>
              <a:gdLst>
                <a:gd name="T0" fmla="*/ 511 w 511"/>
                <a:gd name="T1" fmla="*/ 157 h 157"/>
                <a:gd name="T2" fmla="*/ 511 w 511"/>
                <a:gd name="T3" fmla="*/ 0 h 157"/>
                <a:gd name="T4" fmla="*/ 0 w 511"/>
                <a:gd name="T5" fmla="*/ 0 h 157"/>
                <a:gd name="T6" fmla="*/ 49 w 511"/>
                <a:gd name="T7" fmla="*/ 45 h 157"/>
                <a:gd name="T8" fmla="*/ 73 w 511"/>
                <a:gd name="T9" fmla="*/ 90 h 157"/>
                <a:gd name="T10" fmla="*/ 97 w 511"/>
                <a:gd name="T11" fmla="*/ 157 h 157"/>
                <a:gd name="T12" fmla="*/ 511 w 511"/>
                <a:gd name="T13" fmla="*/ 157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1" h="157">
                  <a:moveTo>
                    <a:pt x="511" y="157"/>
                  </a:moveTo>
                  <a:lnTo>
                    <a:pt x="511" y="0"/>
                  </a:lnTo>
                  <a:lnTo>
                    <a:pt x="0" y="0"/>
                  </a:lnTo>
                  <a:lnTo>
                    <a:pt x="49" y="45"/>
                  </a:lnTo>
                  <a:lnTo>
                    <a:pt x="73" y="90"/>
                  </a:lnTo>
                  <a:lnTo>
                    <a:pt x="97" y="157"/>
                  </a:lnTo>
                  <a:lnTo>
                    <a:pt x="511" y="157"/>
                  </a:lnTo>
                  <a:close/>
                </a:path>
              </a:pathLst>
            </a:custGeom>
            <a:solidFill>
              <a:srgbClr val="000066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4587" name="Freeform 619"/>
            <p:cNvSpPr>
              <a:spLocks/>
            </p:cNvSpPr>
            <p:nvPr/>
          </p:nvSpPr>
          <p:spPr bwMode="auto">
            <a:xfrm>
              <a:off x="5021" y="3489"/>
              <a:ext cx="17" cy="98"/>
            </a:xfrm>
            <a:custGeom>
              <a:avLst/>
              <a:gdLst>
                <a:gd name="T0" fmla="*/ 8 w 26"/>
                <a:gd name="T1" fmla="*/ 156 h 156"/>
                <a:gd name="T2" fmla="*/ 10 w 26"/>
                <a:gd name="T3" fmla="*/ 137 h 156"/>
                <a:gd name="T4" fmla="*/ 9 w 26"/>
                <a:gd name="T5" fmla="*/ 117 h 156"/>
                <a:gd name="T6" fmla="*/ 8 w 26"/>
                <a:gd name="T7" fmla="*/ 98 h 156"/>
                <a:gd name="T8" fmla="*/ 5 w 26"/>
                <a:gd name="T9" fmla="*/ 78 h 156"/>
                <a:gd name="T10" fmla="*/ 3 w 26"/>
                <a:gd name="T11" fmla="*/ 59 h 156"/>
                <a:gd name="T12" fmla="*/ 1 w 26"/>
                <a:gd name="T13" fmla="*/ 39 h 156"/>
                <a:gd name="T14" fmla="*/ 0 w 26"/>
                <a:gd name="T15" fmla="*/ 20 h 156"/>
                <a:gd name="T16" fmla="*/ 2 w 26"/>
                <a:gd name="T17" fmla="*/ 0 h 156"/>
                <a:gd name="T18" fmla="*/ 18 w 26"/>
                <a:gd name="T19" fmla="*/ 0 h 156"/>
                <a:gd name="T20" fmla="*/ 16 w 26"/>
                <a:gd name="T21" fmla="*/ 19 h 156"/>
                <a:gd name="T22" fmla="*/ 17 w 26"/>
                <a:gd name="T23" fmla="*/ 39 h 156"/>
                <a:gd name="T24" fmla="*/ 19 w 26"/>
                <a:gd name="T25" fmla="*/ 58 h 156"/>
                <a:gd name="T26" fmla="*/ 21 w 26"/>
                <a:gd name="T27" fmla="*/ 78 h 156"/>
                <a:gd name="T28" fmla="*/ 24 w 26"/>
                <a:gd name="T29" fmla="*/ 97 h 156"/>
                <a:gd name="T30" fmla="*/ 25 w 26"/>
                <a:gd name="T31" fmla="*/ 117 h 156"/>
                <a:gd name="T32" fmla="*/ 26 w 26"/>
                <a:gd name="T33" fmla="*/ 136 h 156"/>
                <a:gd name="T34" fmla="*/ 24 w 26"/>
                <a:gd name="T35" fmla="*/ 156 h 156"/>
                <a:gd name="T36" fmla="*/ 8 w 26"/>
                <a:gd name="T37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6" h="156">
                  <a:moveTo>
                    <a:pt x="8" y="156"/>
                  </a:moveTo>
                  <a:lnTo>
                    <a:pt x="10" y="137"/>
                  </a:lnTo>
                  <a:lnTo>
                    <a:pt x="9" y="117"/>
                  </a:lnTo>
                  <a:lnTo>
                    <a:pt x="8" y="98"/>
                  </a:lnTo>
                  <a:lnTo>
                    <a:pt x="5" y="78"/>
                  </a:lnTo>
                  <a:lnTo>
                    <a:pt x="3" y="59"/>
                  </a:lnTo>
                  <a:lnTo>
                    <a:pt x="1" y="39"/>
                  </a:lnTo>
                  <a:lnTo>
                    <a:pt x="0" y="20"/>
                  </a:lnTo>
                  <a:lnTo>
                    <a:pt x="2" y="0"/>
                  </a:lnTo>
                  <a:lnTo>
                    <a:pt x="18" y="0"/>
                  </a:lnTo>
                  <a:lnTo>
                    <a:pt x="16" y="19"/>
                  </a:lnTo>
                  <a:lnTo>
                    <a:pt x="17" y="39"/>
                  </a:lnTo>
                  <a:lnTo>
                    <a:pt x="19" y="58"/>
                  </a:lnTo>
                  <a:lnTo>
                    <a:pt x="21" y="78"/>
                  </a:lnTo>
                  <a:lnTo>
                    <a:pt x="24" y="97"/>
                  </a:lnTo>
                  <a:lnTo>
                    <a:pt x="25" y="117"/>
                  </a:lnTo>
                  <a:lnTo>
                    <a:pt x="26" y="136"/>
                  </a:lnTo>
                  <a:lnTo>
                    <a:pt x="24" y="156"/>
                  </a:lnTo>
                  <a:lnTo>
                    <a:pt x="8" y="156"/>
                  </a:lnTo>
                  <a:close/>
                </a:path>
              </a:pathLst>
            </a:custGeom>
            <a:solidFill>
              <a:srgbClr val="CC33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grpSp>
          <p:nvGrpSpPr>
            <p:cNvPr id="84588" name="Group 620"/>
            <p:cNvGrpSpPr>
              <a:grpSpLocks/>
            </p:cNvGrpSpPr>
            <p:nvPr/>
          </p:nvGrpSpPr>
          <p:grpSpPr bwMode="auto">
            <a:xfrm>
              <a:off x="3702" y="3354"/>
              <a:ext cx="1337" cy="148"/>
              <a:chOff x="2966" y="3094"/>
              <a:chExt cx="2127" cy="236"/>
            </a:xfrm>
          </p:grpSpPr>
          <p:grpSp>
            <p:nvGrpSpPr>
              <p:cNvPr id="84589" name="Group 621"/>
              <p:cNvGrpSpPr>
                <a:grpSpLocks/>
              </p:cNvGrpSpPr>
              <p:nvPr/>
            </p:nvGrpSpPr>
            <p:grpSpPr bwMode="auto">
              <a:xfrm>
                <a:off x="2966" y="3094"/>
                <a:ext cx="2085" cy="214"/>
                <a:chOff x="2966" y="3094"/>
                <a:chExt cx="2085" cy="214"/>
              </a:xfrm>
            </p:grpSpPr>
            <p:grpSp>
              <p:nvGrpSpPr>
                <p:cNvPr id="84590" name="Group 622"/>
                <p:cNvGrpSpPr>
                  <a:grpSpLocks/>
                </p:cNvGrpSpPr>
                <p:nvPr/>
              </p:nvGrpSpPr>
              <p:grpSpPr bwMode="auto">
                <a:xfrm>
                  <a:off x="2966" y="3094"/>
                  <a:ext cx="2085" cy="214"/>
                  <a:chOff x="2966" y="3094"/>
                  <a:chExt cx="2085" cy="214"/>
                </a:xfrm>
              </p:grpSpPr>
              <p:pic>
                <p:nvPicPr>
                  <p:cNvPr id="84591" name="Picture 623"/>
                  <p:cNvPicPr>
                    <a:picLocks noChangeAspect="1" noChangeArrowheads="1"/>
                  </p:cNvPicPr>
                  <p:nvPr/>
                </p:nvPicPr>
                <p:blipFill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966" y="3094"/>
                    <a:ext cx="984" cy="21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pic>
                <p:nvPicPr>
                  <p:cNvPr id="84592" name="Picture 624"/>
                  <p:cNvPicPr>
                    <a:picLocks noChangeAspect="1" noChangeArrowheads="1"/>
                  </p:cNvPicPr>
                  <p:nvPr/>
                </p:nvPicPr>
                <p:blipFill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3950" y="3094"/>
                    <a:ext cx="984" cy="21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pic>
                <p:nvPicPr>
                  <p:cNvPr id="84593" name="Picture 625"/>
                  <p:cNvPicPr>
                    <a:picLocks noChangeAspect="1" noChangeArrowheads="1"/>
                  </p:cNvPicPr>
                  <p:nvPr/>
                </p:nvPicPr>
                <p:blipFill>
                  <a:blip r:embed="rId4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4934" y="3094"/>
                    <a:ext cx="117" cy="21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84594" name="Freeform 626"/>
                  <p:cNvSpPr>
                    <a:spLocks/>
                  </p:cNvSpPr>
                  <p:nvPr/>
                </p:nvSpPr>
                <p:spPr bwMode="auto">
                  <a:xfrm>
                    <a:off x="2966" y="3094"/>
                    <a:ext cx="2084" cy="213"/>
                  </a:xfrm>
                  <a:custGeom>
                    <a:avLst/>
                    <a:gdLst>
                      <a:gd name="T0" fmla="*/ 2084 w 2084"/>
                      <a:gd name="T1" fmla="*/ 156 h 213"/>
                      <a:gd name="T2" fmla="*/ 2080 w 2084"/>
                      <a:gd name="T3" fmla="*/ 213 h 213"/>
                      <a:gd name="T4" fmla="*/ 0 w 2084"/>
                      <a:gd name="T5" fmla="*/ 57 h 213"/>
                      <a:gd name="T6" fmla="*/ 4 w 2084"/>
                      <a:gd name="T7" fmla="*/ 0 h 213"/>
                      <a:gd name="T8" fmla="*/ 2084 w 2084"/>
                      <a:gd name="T9" fmla="*/ 156 h 21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084" h="213">
                        <a:moveTo>
                          <a:pt x="2084" y="156"/>
                        </a:moveTo>
                        <a:lnTo>
                          <a:pt x="2080" y="213"/>
                        </a:lnTo>
                        <a:lnTo>
                          <a:pt x="0" y="57"/>
                        </a:lnTo>
                        <a:lnTo>
                          <a:pt x="4" y="0"/>
                        </a:lnTo>
                        <a:lnTo>
                          <a:pt x="2084" y="156"/>
                        </a:lnTo>
                        <a:close/>
                      </a:path>
                    </a:pathLst>
                  </a:custGeom>
                  <a:noFill/>
                  <a:ln w="0">
                    <a:solidFill>
                      <a:srgbClr val="FFFFFF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84595" name="Freeform 627"/>
                  <p:cNvSpPr>
                    <a:spLocks/>
                  </p:cNvSpPr>
                  <p:nvPr/>
                </p:nvSpPr>
                <p:spPr bwMode="auto">
                  <a:xfrm>
                    <a:off x="2966" y="3094"/>
                    <a:ext cx="2084" cy="213"/>
                  </a:xfrm>
                  <a:custGeom>
                    <a:avLst/>
                    <a:gdLst>
                      <a:gd name="T0" fmla="*/ 2084 w 2084"/>
                      <a:gd name="T1" fmla="*/ 156 h 213"/>
                      <a:gd name="T2" fmla="*/ 2080 w 2084"/>
                      <a:gd name="T3" fmla="*/ 213 h 213"/>
                      <a:gd name="T4" fmla="*/ 0 w 2084"/>
                      <a:gd name="T5" fmla="*/ 57 h 213"/>
                      <a:gd name="T6" fmla="*/ 4 w 2084"/>
                      <a:gd name="T7" fmla="*/ 0 h 213"/>
                      <a:gd name="T8" fmla="*/ 2084 w 2084"/>
                      <a:gd name="T9" fmla="*/ 156 h 21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084" h="213">
                        <a:moveTo>
                          <a:pt x="2084" y="156"/>
                        </a:moveTo>
                        <a:lnTo>
                          <a:pt x="2080" y="213"/>
                        </a:lnTo>
                        <a:lnTo>
                          <a:pt x="0" y="57"/>
                        </a:lnTo>
                        <a:lnTo>
                          <a:pt x="4" y="0"/>
                        </a:lnTo>
                        <a:lnTo>
                          <a:pt x="2084" y="156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pic>
                <p:nvPicPr>
                  <p:cNvPr id="84596" name="Picture 628"/>
                  <p:cNvPicPr>
                    <a:picLocks noChangeAspect="1" noChangeArrowheads="1"/>
                  </p:cNvPicPr>
                  <p:nvPr/>
                </p:nvPicPr>
                <p:blipFill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966" y="3094"/>
                    <a:ext cx="984" cy="21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pic>
                <p:nvPicPr>
                  <p:cNvPr id="84597" name="Picture 629"/>
                  <p:cNvPicPr>
                    <a:picLocks noChangeAspect="1" noChangeArrowheads="1"/>
                  </p:cNvPicPr>
                  <p:nvPr/>
                </p:nvPicPr>
                <p:blipFill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3950" y="3094"/>
                    <a:ext cx="984" cy="21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pic>
                <p:nvPicPr>
                  <p:cNvPr id="84598" name="Picture 630"/>
                  <p:cNvPicPr>
                    <a:picLocks noChangeAspect="1" noChangeArrowheads="1"/>
                  </p:cNvPicPr>
                  <p:nvPr/>
                </p:nvPicPr>
                <p:blipFill>
                  <a:blip r:embed="rId4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4934" y="3094"/>
                    <a:ext cx="117" cy="21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  <p:sp>
              <p:nvSpPr>
                <p:cNvPr id="84599" name="Freeform 631"/>
                <p:cNvSpPr>
                  <a:spLocks/>
                </p:cNvSpPr>
                <p:nvPr/>
              </p:nvSpPr>
              <p:spPr bwMode="auto">
                <a:xfrm>
                  <a:off x="2966" y="3094"/>
                  <a:ext cx="2084" cy="213"/>
                </a:xfrm>
                <a:custGeom>
                  <a:avLst/>
                  <a:gdLst>
                    <a:gd name="T0" fmla="*/ 2084 w 2084"/>
                    <a:gd name="T1" fmla="*/ 156 h 213"/>
                    <a:gd name="T2" fmla="*/ 2080 w 2084"/>
                    <a:gd name="T3" fmla="*/ 213 h 213"/>
                    <a:gd name="T4" fmla="*/ 0 w 2084"/>
                    <a:gd name="T5" fmla="*/ 57 h 213"/>
                    <a:gd name="T6" fmla="*/ 4 w 2084"/>
                    <a:gd name="T7" fmla="*/ 0 h 213"/>
                    <a:gd name="T8" fmla="*/ 2084 w 2084"/>
                    <a:gd name="T9" fmla="*/ 156 h 2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84" h="213">
                      <a:moveTo>
                        <a:pt x="2084" y="156"/>
                      </a:moveTo>
                      <a:lnTo>
                        <a:pt x="2080" y="213"/>
                      </a:lnTo>
                      <a:lnTo>
                        <a:pt x="0" y="57"/>
                      </a:lnTo>
                      <a:lnTo>
                        <a:pt x="4" y="0"/>
                      </a:lnTo>
                      <a:lnTo>
                        <a:pt x="2084" y="156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84600" name="Group 632"/>
              <p:cNvGrpSpPr>
                <a:grpSpLocks/>
              </p:cNvGrpSpPr>
              <p:nvPr/>
            </p:nvGrpSpPr>
            <p:grpSpPr bwMode="auto">
              <a:xfrm>
                <a:off x="3008" y="3116"/>
                <a:ext cx="2085" cy="214"/>
                <a:chOff x="3008" y="3116"/>
                <a:chExt cx="2085" cy="214"/>
              </a:xfrm>
            </p:grpSpPr>
            <p:grpSp>
              <p:nvGrpSpPr>
                <p:cNvPr id="84601" name="Group 633"/>
                <p:cNvGrpSpPr>
                  <a:grpSpLocks/>
                </p:cNvGrpSpPr>
                <p:nvPr/>
              </p:nvGrpSpPr>
              <p:grpSpPr bwMode="auto">
                <a:xfrm>
                  <a:off x="3008" y="3116"/>
                  <a:ext cx="2085" cy="214"/>
                  <a:chOff x="3008" y="3116"/>
                  <a:chExt cx="2085" cy="214"/>
                </a:xfrm>
              </p:grpSpPr>
              <p:pic>
                <p:nvPicPr>
                  <p:cNvPr id="84602" name="Picture 634"/>
                  <p:cNvPicPr>
                    <a:picLocks noChangeAspect="1" noChangeArrowheads="1"/>
                  </p:cNvPicPr>
                  <p:nvPr/>
                </p:nvPicPr>
                <p:blipFill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3008" y="3116"/>
                    <a:ext cx="984" cy="21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pic>
                <p:nvPicPr>
                  <p:cNvPr id="84603" name="Picture 635"/>
                  <p:cNvPicPr>
                    <a:picLocks noChangeAspect="1" noChangeArrowheads="1"/>
                  </p:cNvPicPr>
                  <p:nvPr/>
                </p:nvPicPr>
                <p:blipFill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3992" y="3116"/>
                    <a:ext cx="984" cy="21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pic>
                <p:nvPicPr>
                  <p:cNvPr id="84604" name="Picture 636"/>
                  <p:cNvPicPr>
                    <a:picLocks noChangeAspect="1" noChangeArrowheads="1"/>
                  </p:cNvPicPr>
                  <p:nvPr/>
                </p:nvPicPr>
                <p:blipFill>
                  <a:blip r:embed="rId4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4976" y="3116"/>
                    <a:ext cx="117" cy="21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84605" name="Freeform 637"/>
                  <p:cNvSpPr>
                    <a:spLocks/>
                  </p:cNvSpPr>
                  <p:nvPr/>
                </p:nvSpPr>
                <p:spPr bwMode="auto">
                  <a:xfrm>
                    <a:off x="3008" y="3116"/>
                    <a:ext cx="2084" cy="213"/>
                  </a:xfrm>
                  <a:custGeom>
                    <a:avLst/>
                    <a:gdLst>
                      <a:gd name="T0" fmla="*/ 2084 w 2084"/>
                      <a:gd name="T1" fmla="*/ 156 h 213"/>
                      <a:gd name="T2" fmla="*/ 2080 w 2084"/>
                      <a:gd name="T3" fmla="*/ 213 h 213"/>
                      <a:gd name="T4" fmla="*/ 0 w 2084"/>
                      <a:gd name="T5" fmla="*/ 57 h 213"/>
                      <a:gd name="T6" fmla="*/ 4 w 2084"/>
                      <a:gd name="T7" fmla="*/ 0 h 213"/>
                      <a:gd name="T8" fmla="*/ 2084 w 2084"/>
                      <a:gd name="T9" fmla="*/ 156 h 21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084" h="213">
                        <a:moveTo>
                          <a:pt x="2084" y="156"/>
                        </a:moveTo>
                        <a:lnTo>
                          <a:pt x="2080" y="213"/>
                        </a:lnTo>
                        <a:lnTo>
                          <a:pt x="0" y="57"/>
                        </a:lnTo>
                        <a:lnTo>
                          <a:pt x="4" y="0"/>
                        </a:lnTo>
                        <a:lnTo>
                          <a:pt x="2084" y="156"/>
                        </a:lnTo>
                        <a:close/>
                      </a:path>
                    </a:pathLst>
                  </a:custGeom>
                  <a:noFill/>
                  <a:ln w="0">
                    <a:solidFill>
                      <a:srgbClr val="FFFFFF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84606" name="Freeform 638"/>
                  <p:cNvSpPr>
                    <a:spLocks/>
                  </p:cNvSpPr>
                  <p:nvPr/>
                </p:nvSpPr>
                <p:spPr bwMode="auto">
                  <a:xfrm>
                    <a:off x="3008" y="3116"/>
                    <a:ext cx="2084" cy="213"/>
                  </a:xfrm>
                  <a:custGeom>
                    <a:avLst/>
                    <a:gdLst>
                      <a:gd name="T0" fmla="*/ 2084 w 2084"/>
                      <a:gd name="T1" fmla="*/ 156 h 213"/>
                      <a:gd name="T2" fmla="*/ 2080 w 2084"/>
                      <a:gd name="T3" fmla="*/ 213 h 213"/>
                      <a:gd name="T4" fmla="*/ 0 w 2084"/>
                      <a:gd name="T5" fmla="*/ 57 h 213"/>
                      <a:gd name="T6" fmla="*/ 4 w 2084"/>
                      <a:gd name="T7" fmla="*/ 0 h 213"/>
                      <a:gd name="T8" fmla="*/ 2084 w 2084"/>
                      <a:gd name="T9" fmla="*/ 156 h 21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084" h="213">
                        <a:moveTo>
                          <a:pt x="2084" y="156"/>
                        </a:moveTo>
                        <a:lnTo>
                          <a:pt x="2080" y="213"/>
                        </a:lnTo>
                        <a:lnTo>
                          <a:pt x="0" y="57"/>
                        </a:lnTo>
                        <a:lnTo>
                          <a:pt x="4" y="0"/>
                        </a:lnTo>
                        <a:lnTo>
                          <a:pt x="2084" y="156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pic>
                <p:nvPicPr>
                  <p:cNvPr id="84607" name="Picture 639"/>
                  <p:cNvPicPr>
                    <a:picLocks noChangeAspect="1" noChangeArrowheads="1"/>
                  </p:cNvPicPr>
                  <p:nvPr/>
                </p:nvPicPr>
                <p:blipFill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3008" y="3116"/>
                    <a:ext cx="984" cy="21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pic>
                <p:nvPicPr>
                  <p:cNvPr id="84608" name="Picture 640"/>
                  <p:cNvPicPr>
                    <a:picLocks noChangeAspect="1" noChangeArrowheads="1"/>
                  </p:cNvPicPr>
                  <p:nvPr/>
                </p:nvPicPr>
                <p:blipFill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3992" y="3116"/>
                    <a:ext cx="984" cy="21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pic>
                <p:nvPicPr>
                  <p:cNvPr id="84609" name="Picture 641"/>
                  <p:cNvPicPr>
                    <a:picLocks noChangeAspect="1" noChangeArrowheads="1"/>
                  </p:cNvPicPr>
                  <p:nvPr/>
                </p:nvPicPr>
                <p:blipFill>
                  <a:blip r:embed="rId4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4976" y="3116"/>
                    <a:ext cx="117" cy="21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  <p:sp>
              <p:nvSpPr>
                <p:cNvPr id="84610" name="Freeform 642"/>
                <p:cNvSpPr>
                  <a:spLocks/>
                </p:cNvSpPr>
                <p:nvPr/>
              </p:nvSpPr>
              <p:spPr bwMode="auto">
                <a:xfrm>
                  <a:off x="3008" y="3116"/>
                  <a:ext cx="2084" cy="213"/>
                </a:xfrm>
                <a:custGeom>
                  <a:avLst/>
                  <a:gdLst>
                    <a:gd name="T0" fmla="*/ 2084 w 2084"/>
                    <a:gd name="T1" fmla="*/ 156 h 213"/>
                    <a:gd name="T2" fmla="*/ 2080 w 2084"/>
                    <a:gd name="T3" fmla="*/ 213 h 213"/>
                    <a:gd name="T4" fmla="*/ 0 w 2084"/>
                    <a:gd name="T5" fmla="*/ 57 h 213"/>
                    <a:gd name="T6" fmla="*/ 4 w 2084"/>
                    <a:gd name="T7" fmla="*/ 0 h 213"/>
                    <a:gd name="T8" fmla="*/ 2084 w 2084"/>
                    <a:gd name="T9" fmla="*/ 156 h 2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84" h="213">
                      <a:moveTo>
                        <a:pt x="2084" y="156"/>
                      </a:moveTo>
                      <a:lnTo>
                        <a:pt x="2080" y="213"/>
                      </a:lnTo>
                      <a:lnTo>
                        <a:pt x="0" y="57"/>
                      </a:lnTo>
                      <a:lnTo>
                        <a:pt x="4" y="0"/>
                      </a:lnTo>
                      <a:lnTo>
                        <a:pt x="2084" y="156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</p:grpSp>
        <p:grpSp>
          <p:nvGrpSpPr>
            <p:cNvPr id="84611" name="Group 643"/>
            <p:cNvGrpSpPr>
              <a:grpSpLocks/>
            </p:cNvGrpSpPr>
            <p:nvPr/>
          </p:nvGrpSpPr>
          <p:grpSpPr bwMode="auto">
            <a:xfrm>
              <a:off x="4745" y="3588"/>
              <a:ext cx="238" cy="170"/>
              <a:chOff x="4626" y="3467"/>
              <a:chExt cx="378" cy="270"/>
            </a:xfrm>
          </p:grpSpPr>
          <p:sp>
            <p:nvSpPr>
              <p:cNvPr id="84612" name="Rectangle 644"/>
              <p:cNvSpPr>
                <a:spLocks noChangeArrowheads="1"/>
              </p:cNvSpPr>
              <p:nvPr/>
            </p:nvSpPr>
            <p:spPr bwMode="auto">
              <a:xfrm>
                <a:off x="4626" y="3491"/>
                <a:ext cx="378" cy="216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4613" name="Rectangle 645"/>
              <p:cNvSpPr>
                <a:spLocks noChangeArrowheads="1"/>
              </p:cNvSpPr>
              <p:nvPr/>
            </p:nvSpPr>
            <p:spPr bwMode="auto">
              <a:xfrm>
                <a:off x="4626" y="3467"/>
                <a:ext cx="378" cy="27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4614" name="Rectangle 646"/>
              <p:cNvSpPr>
                <a:spLocks noChangeArrowheads="1"/>
              </p:cNvSpPr>
              <p:nvPr/>
            </p:nvSpPr>
            <p:spPr bwMode="auto">
              <a:xfrm>
                <a:off x="4805" y="3507"/>
                <a:ext cx="26" cy="109"/>
              </a:xfrm>
              <a:prstGeom prst="rect">
                <a:avLst/>
              </a:prstGeom>
              <a:solidFill>
                <a:srgbClr val="80808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84615" name="Group 647"/>
            <p:cNvGrpSpPr>
              <a:grpSpLocks/>
            </p:cNvGrpSpPr>
            <p:nvPr/>
          </p:nvGrpSpPr>
          <p:grpSpPr bwMode="auto">
            <a:xfrm>
              <a:off x="4251" y="3785"/>
              <a:ext cx="216" cy="113"/>
              <a:chOff x="3839" y="3779"/>
              <a:chExt cx="344" cy="181"/>
            </a:xfrm>
          </p:grpSpPr>
          <p:sp>
            <p:nvSpPr>
              <p:cNvPr id="84616" name="Rectangle 648"/>
              <p:cNvSpPr>
                <a:spLocks noChangeArrowheads="1"/>
              </p:cNvSpPr>
              <p:nvPr/>
            </p:nvSpPr>
            <p:spPr bwMode="auto">
              <a:xfrm>
                <a:off x="3839" y="3795"/>
                <a:ext cx="344" cy="145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4617" name="Rectangle 649"/>
              <p:cNvSpPr>
                <a:spLocks noChangeArrowheads="1"/>
              </p:cNvSpPr>
              <p:nvPr/>
            </p:nvSpPr>
            <p:spPr bwMode="auto">
              <a:xfrm>
                <a:off x="3839" y="3779"/>
                <a:ext cx="344" cy="181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4618" name="Rectangle 650"/>
              <p:cNvSpPr>
                <a:spLocks noChangeArrowheads="1"/>
              </p:cNvSpPr>
              <p:nvPr/>
            </p:nvSpPr>
            <p:spPr bwMode="auto">
              <a:xfrm>
                <a:off x="4002" y="3806"/>
                <a:ext cx="24" cy="73"/>
              </a:xfrm>
              <a:prstGeom prst="rect">
                <a:avLst/>
              </a:prstGeom>
              <a:solidFill>
                <a:srgbClr val="80808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84619" name="Freeform 651"/>
            <p:cNvSpPr>
              <a:spLocks/>
            </p:cNvSpPr>
            <p:nvPr/>
          </p:nvSpPr>
          <p:spPr bwMode="auto">
            <a:xfrm>
              <a:off x="4974" y="3880"/>
              <a:ext cx="65" cy="45"/>
            </a:xfrm>
            <a:custGeom>
              <a:avLst/>
              <a:gdLst>
                <a:gd name="T0" fmla="*/ 0 w 103"/>
                <a:gd name="T1" fmla="*/ 72 h 72"/>
                <a:gd name="T2" fmla="*/ 103 w 103"/>
                <a:gd name="T3" fmla="*/ 36 h 72"/>
                <a:gd name="T4" fmla="*/ 103 w 103"/>
                <a:gd name="T5" fmla="*/ 0 h 72"/>
                <a:gd name="T6" fmla="*/ 34 w 103"/>
                <a:gd name="T7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3" h="72">
                  <a:moveTo>
                    <a:pt x="0" y="72"/>
                  </a:moveTo>
                  <a:lnTo>
                    <a:pt x="103" y="36"/>
                  </a:lnTo>
                  <a:lnTo>
                    <a:pt x="103" y="0"/>
                  </a:lnTo>
                  <a:lnTo>
                    <a:pt x="34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4620" name="Freeform 652"/>
            <p:cNvSpPr>
              <a:spLocks/>
            </p:cNvSpPr>
            <p:nvPr/>
          </p:nvSpPr>
          <p:spPr bwMode="auto">
            <a:xfrm>
              <a:off x="4990" y="3909"/>
              <a:ext cx="22" cy="30"/>
            </a:xfrm>
            <a:custGeom>
              <a:avLst/>
              <a:gdLst>
                <a:gd name="T0" fmla="*/ 35 w 35"/>
                <a:gd name="T1" fmla="*/ 0 h 47"/>
                <a:gd name="T2" fmla="*/ 35 w 35"/>
                <a:gd name="T3" fmla="*/ 47 h 47"/>
                <a:gd name="T4" fmla="*/ 0 w 35"/>
                <a:gd name="T5" fmla="*/ 47 h 47"/>
                <a:gd name="T6" fmla="*/ 0 w 35"/>
                <a:gd name="T7" fmla="*/ 23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47">
                  <a:moveTo>
                    <a:pt x="35" y="0"/>
                  </a:moveTo>
                  <a:lnTo>
                    <a:pt x="35" y="47"/>
                  </a:lnTo>
                  <a:lnTo>
                    <a:pt x="0" y="47"/>
                  </a:lnTo>
                  <a:lnTo>
                    <a:pt x="0" y="23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4621" name="Line 653"/>
            <p:cNvSpPr>
              <a:spLocks noChangeShapeType="1"/>
            </p:cNvSpPr>
            <p:nvPr/>
          </p:nvSpPr>
          <p:spPr bwMode="auto">
            <a:xfrm flipH="1">
              <a:off x="4495" y="3916"/>
              <a:ext cx="324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4622" name="Line 654"/>
            <p:cNvSpPr>
              <a:spLocks noChangeShapeType="1"/>
            </p:cNvSpPr>
            <p:nvPr/>
          </p:nvSpPr>
          <p:spPr bwMode="auto">
            <a:xfrm flipH="1">
              <a:off x="4521" y="3881"/>
              <a:ext cx="28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4623" name="Line 655"/>
            <p:cNvSpPr>
              <a:spLocks noChangeShapeType="1"/>
            </p:cNvSpPr>
            <p:nvPr/>
          </p:nvSpPr>
          <p:spPr bwMode="auto">
            <a:xfrm flipH="1">
              <a:off x="4548" y="3839"/>
              <a:ext cx="238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4624" name="Line 656"/>
            <p:cNvSpPr>
              <a:spLocks noChangeShapeType="1"/>
            </p:cNvSpPr>
            <p:nvPr/>
          </p:nvSpPr>
          <p:spPr bwMode="auto">
            <a:xfrm flipH="1">
              <a:off x="4561" y="3820"/>
              <a:ext cx="2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4625" name="Line 657"/>
            <p:cNvSpPr>
              <a:spLocks noChangeShapeType="1"/>
            </p:cNvSpPr>
            <p:nvPr/>
          </p:nvSpPr>
          <p:spPr bwMode="auto">
            <a:xfrm>
              <a:off x="4191" y="3524"/>
              <a:ext cx="1" cy="39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4626" name="Line 658"/>
            <p:cNvSpPr>
              <a:spLocks noChangeShapeType="1"/>
            </p:cNvSpPr>
            <p:nvPr/>
          </p:nvSpPr>
          <p:spPr bwMode="auto">
            <a:xfrm>
              <a:off x="4223" y="3561"/>
              <a:ext cx="1" cy="35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84627" name="Group 659"/>
            <p:cNvGrpSpPr>
              <a:grpSpLocks/>
            </p:cNvGrpSpPr>
            <p:nvPr/>
          </p:nvGrpSpPr>
          <p:grpSpPr bwMode="auto">
            <a:xfrm>
              <a:off x="3861" y="3524"/>
              <a:ext cx="358" cy="393"/>
              <a:chOff x="3219" y="3364"/>
              <a:chExt cx="569" cy="626"/>
            </a:xfrm>
          </p:grpSpPr>
          <p:sp>
            <p:nvSpPr>
              <p:cNvPr id="84628" name="Freeform 660"/>
              <p:cNvSpPr>
                <a:spLocks/>
              </p:cNvSpPr>
              <p:nvPr/>
            </p:nvSpPr>
            <p:spPr bwMode="auto">
              <a:xfrm>
                <a:off x="3219" y="3364"/>
                <a:ext cx="569" cy="626"/>
              </a:xfrm>
              <a:custGeom>
                <a:avLst/>
                <a:gdLst>
                  <a:gd name="T0" fmla="*/ 569 w 569"/>
                  <a:gd name="T1" fmla="*/ 60 h 626"/>
                  <a:gd name="T2" fmla="*/ 541 w 569"/>
                  <a:gd name="T3" fmla="*/ 0 h 626"/>
                  <a:gd name="T4" fmla="*/ 284 w 569"/>
                  <a:gd name="T5" fmla="*/ 0 h 626"/>
                  <a:gd name="T6" fmla="*/ 28 w 569"/>
                  <a:gd name="T7" fmla="*/ 209 h 626"/>
                  <a:gd name="T8" fmla="*/ 0 w 569"/>
                  <a:gd name="T9" fmla="*/ 238 h 626"/>
                  <a:gd name="T10" fmla="*/ 0 w 569"/>
                  <a:gd name="T11" fmla="*/ 298 h 626"/>
                  <a:gd name="T12" fmla="*/ 0 w 569"/>
                  <a:gd name="T13" fmla="*/ 507 h 626"/>
                  <a:gd name="T14" fmla="*/ 28 w 569"/>
                  <a:gd name="T15" fmla="*/ 626 h 626"/>
                  <a:gd name="T16" fmla="*/ 569 w 569"/>
                  <a:gd name="T17" fmla="*/ 626 h 626"/>
                  <a:gd name="T18" fmla="*/ 569 w 569"/>
                  <a:gd name="T19" fmla="*/ 60 h 6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69" h="626">
                    <a:moveTo>
                      <a:pt x="569" y="60"/>
                    </a:moveTo>
                    <a:lnTo>
                      <a:pt x="541" y="0"/>
                    </a:lnTo>
                    <a:lnTo>
                      <a:pt x="284" y="0"/>
                    </a:lnTo>
                    <a:lnTo>
                      <a:pt x="28" y="209"/>
                    </a:lnTo>
                    <a:lnTo>
                      <a:pt x="0" y="238"/>
                    </a:lnTo>
                    <a:lnTo>
                      <a:pt x="0" y="298"/>
                    </a:lnTo>
                    <a:lnTo>
                      <a:pt x="0" y="507"/>
                    </a:lnTo>
                    <a:lnTo>
                      <a:pt x="28" y="626"/>
                    </a:lnTo>
                    <a:lnTo>
                      <a:pt x="569" y="626"/>
                    </a:lnTo>
                    <a:lnTo>
                      <a:pt x="569" y="6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4629" name="Freeform 661"/>
              <p:cNvSpPr>
                <a:spLocks/>
              </p:cNvSpPr>
              <p:nvPr/>
            </p:nvSpPr>
            <p:spPr bwMode="auto">
              <a:xfrm>
                <a:off x="3219" y="3364"/>
                <a:ext cx="569" cy="626"/>
              </a:xfrm>
              <a:custGeom>
                <a:avLst/>
                <a:gdLst>
                  <a:gd name="T0" fmla="*/ 569 w 569"/>
                  <a:gd name="T1" fmla="*/ 60 h 626"/>
                  <a:gd name="T2" fmla="*/ 541 w 569"/>
                  <a:gd name="T3" fmla="*/ 0 h 626"/>
                  <a:gd name="T4" fmla="*/ 284 w 569"/>
                  <a:gd name="T5" fmla="*/ 0 h 626"/>
                  <a:gd name="T6" fmla="*/ 28 w 569"/>
                  <a:gd name="T7" fmla="*/ 209 h 626"/>
                  <a:gd name="T8" fmla="*/ 0 w 569"/>
                  <a:gd name="T9" fmla="*/ 238 h 626"/>
                  <a:gd name="T10" fmla="*/ 0 w 569"/>
                  <a:gd name="T11" fmla="*/ 298 h 626"/>
                  <a:gd name="T12" fmla="*/ 0 w 569"/>
                  <a:gd name="T13" fmla="*/ 507 h 626"/>
                  <a:gd name="T14" fmla="*/ 28 w 569"/>
                  <a:gd name="T15" fmla="*/ 626 h 626"/>
                  <a:gd name="T16" fmla="*/ 569 w 569"/>
                  <a:gd name="T17" fmla="*/ 626 h 6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69" h="626">
                    <a:moveTo>
                      <a:pt x="569" y="60"/>
                    </a:moveTo>
                    <a:lnTo>
                      <a:pt x="541" y="0"/>
                    </a:lnTo>
                    <a:lnTo>
                      <a:pt x="284" y="0"/>
                    </a:lnTo>
                    <a:lnTo>
                      <a:pt x="28" y="209"/>
                    </a:lnTo>
                    <a:lnTo>
                      <a:pt x="0" y="238"/>
                    </a:lnTo>
                    <a:lnTo>
                      <a:pt x="0" y="298"/>
                    </a:lnTo>
                    <a:lnTo>
                      <a:pt x="0" y="507"/>
                    </a:lnTo>
                    <a:lnTo>
                      <a:pt x="28" y="626"/>
                    </a:lnTo>
                    <a:lnTo>
                      <a:pt x="569" y="626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84630" name="Line 662"/>
            <p:cNvSpPr>
              <a:spLocks noChangeShapeType="1"/>
            </p:cNvSpPr>
            <p:nvPr/>
          </p:nvSpPr>
          <p:spPr bwMode="auto">
            <a:xfrm flipH="1">
              <a:off x="3861" y="3828"/>
              <a:ext cx="358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4631" name="Line 663"/>
            <p:cNvSpPr>
              <a:spLocks noChangeShapeType="1"/>
            </p:cNvSpPr>
            <p:nvPr/>
          </p:nvSpPr>
          <p:spPr bwMode="auto">
            <a:xfrm flipH="1">
              <a:off x="3861" y="3817"/>
              <a:ext cx="361" cy="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4632" name="Line 664"/>
            <p:cNvSpPr>
              <a:spLocks noChangeShapeType="1"/>
            </p:cNvSpPr>
            <p:nvPr/>
          </p:nvSpPr>
          <p:spPr bwMode="auto">
            <a:xfrm flipH="1">
              <a:off x="3860" y="3707"/>
              <a:ext cx="360" cy="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4633" name="Freeform 665"/>
            <p:cNvSpPr>
              <a:spLocks/>
            </p:cNvSpPr>
            <p:nvPr/>
          </p:nvSpPr>
          <p:spPr bwMode="auto">
            <a:xfrm>
              <a:off x="3900" y="3553"/>
              <a:ext cx="259" cy="150"/>
            </a:xfrm>
            <a:custGeom>
              <a:avLst/>
              <a:gdLst>
                <a:gd name="T0" fmla="*/ 412 w 412"/>
                <a:gd name="T1" fmla="*/ 30 h 239"/>
                <a:gd name="T2" fmla="*/ 412 w 412"/>
                <a:gd name="T3" fmla="*/ 209 h 239"/>
                <a:gd name="T4" fmla="*/ 206 w 412"/>
                <a:gd name="T5" fmla="*/ 209 h 239"/>
                <a:gd name="T6" fmla="*/ 154 w 412"/>
                <a:gd name="T7" fmla="*/ 239 h 239"/>
                <a:gd name="T8" fmla="*/ 0 w 412"/>
                <a:gd name="T9" fmla="*/ 239 h 239"/>
                <a:gd name="T10" fmla="*/ 26 w 412"/>
                <a:gd name="T11" fmla="*/ 149 h 239"/>
                <a:gd name="T12" fmla="*/ 206 w 412"/>
                <a:gd name="T13" fmla="*/ 0 h 239"/>
                <a:gd name="T14" fmla="*/ 386 w 412"/>
                <a:gd name="T15" fmla="*/ 0 h 239"/>
                <a:gd name="T16" fmla="*/ 412 w 412"/>
                <a:gd name="T17" fmla="*/ 3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2" h="239">
                  <a:moveTo>
                    <a:pt x="412" y="30"/>
                  </a:moveTo>
                  <a:lnTo>
                    <a:pt x="412" y="209"/>
                  </a:lnTo>
                  <a:lnTo>
                    <a:pt x="206" y="209"/>
                  </a:lnTo>
                  <a:lnTo>
                    <a:pt x="154" y="239"/>
                  </a:lnTo>
                  <a:lnTo>
                    <a:pt x="0" y="239"/>
                  </a:lnTo>
                  <a:lnTo>
                    <a:pt x="26" y="149"/>
                  </a:lnTo>
                  <a:lnTo>
                    <a:pt x="206" y="0"/>
                  </a:lnTo>
                  <a:lnTo>
                    <a:pt x="386" y="0"/>
                  </a:lnTo>
                  <a:lnTo>
                    <a:pt x="412" y="3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grpSp>
          <p:nvGrpSpPr>
            <p:cNvPr id="84634" name="Group 666"/>
            <p:cNvGrpSpPr>
              <a:grpSpLocks/>
            </p:cNvGrpSpPr>
            <p:nvPr/>
          </p:nvGrpSpPr>
          <p:grpSpPr bwMode="auto">
            <a:xfrm>
              <a:off x="3503" y="3805"/>
              <a:ext cx="125" cy="18"/>
              <a:chOff x="2650" y="3811"/>
              <a:chExt cx="199" cy="29"/>
            </a:xfrm>
          </p:grpSpPr>
          <p:sp>
            <p:nvSpPr>
              <p:cNvPr id="84635" name="Freeform 667"/>
              <p:cNvSpPr>
                <a:spLocks/>
              </p:cNvSpPr>
              <p:nvPr/>
            </p:nvSpPr>
            <p:spPr bwMode="auto">
              <a:xfrm>
                <a:off x="2650" y="3811"/>
                <a:ext cx="199" cy="29"/>
              </a:xfrm>
              <a:custGeom>
                <a:avLst/>
                <a:gdLst>
                  <a:gd name="T0" fmla="*/ 199 w 199"/>
                  <a:gd name="T1" fmla="*/ 0 h 29"/>
                  <a:gd name="T2" fmla="*/ 0 w 199"/>
                  <a:gd name="T3" fmla="*/ 0 h 29"/>
                  <a:gd name="T4" fmla="*/ 0 w 199"/>
                  <a:gd name="T5" fmla="*/ 29 h 29"/>
                  <a:gd name="T6" fmla="*/ 171 w 199"/>
                  <a:gd name="T7" fmla="*/ 29 h 29"/>
                  <a:gd name="T8" fmla="*/ 199 w 199"/>
                  <a:gd name="T9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9" h="29">
                    <a:moveTo>
                      <a:pt x="199" y="0"/>
                    </a:moveTo>
                    <a:lnTo>
                      <a:pt x="0" y="0"/>
                    </a:lnTo>
                    <a:lnTo>
                      <a:pt x="0" y="29"/>
                    </a:lnTo>
                    <a:lnTo>
                      <a:pt x="171" y="29"/>
                    </a:lnTo>
                    <a:lnTo>
                      <a:pt x="19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4636" name="Freeform 668"/>
              <p:cNvSpPr>
                <a:spLocks/>
              </p:cNvSpPr>
              <p:nvPr/>
            </p:nvSpPr>
            <p:spPr bwMode="auto">
              <a:xfrm>
                <a:off x="2650" y="3811"/>
                <a:ext cx="199" cy="29"/>
              </a:xfrm>
              <a:custGeom>
                <a:avLst/>
                <a:gdLst>
                  <a:gd name="T0" fmla="*/ 199 w 199"/>
                  <a:gd name="T1" fmla="*/ 0 h 29"/>
                  <a:gd name="T2" fmla="*/ 0 w 199"/>
                  <a:gd name="T3" fmla="*/ 0 h 29"/>
                  <a:gd name="T4" fmla="*/ 0 w 199"/>
                  <a:gd name="T5" fmla="*/ 29 h 29"/>
                  <a:gd name="T6" fmla="*/ 171 w 199"/>
                  <a:gd name="T7" fmla="*/ 29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99" h="29">
                    <a:moveTo>
                      <a:pt x="199" y="0"/>
                    </a:moveTo>
                    <a:lnTo>
                      <a:pt x="0" y="0"/>
                    </a:lnTo>
                    <a:lnTo>
                      <a:pt x="0" y="29"/>
                    </a:lnTo>
                    <a:lnTo>
                      <a:pt x="171" y="29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84637" name="Group 669"/>
            <p:cNvGrpSpPr>
              <a:grpSpLocks/>
            </p:cNvGrpSpPr>
            <p:nvPr/>
          </p:nvGrpSpPr>
          <p:grpSpPr bwMode="auto">
            <a:xfrm>
              <a:off x="3500" y="3823"/>
              <a:ext cx="125" cy="94"/>
              <a:chOff x="2645" y="3840"/>
              <a:chExt cx="199" cy="150"/>
            </a:xfrm>
          </p:grpSpPr>
          <p:sp>
            <p:nvSpPr>
              <p:cNvPr id="84638" name="Freeform 670"/>
              <p:cNvSpPr>
                <a:spLocks/>
              </p:cNvSpPr>
              <p:nvPr/>
            </p:nvSpPr>
            <p:spPr bwMode="auto">
              <a:xfrm>
                <a:off x="2645" y="3840"/>
                <a:ext cx="199" cy="150"/>
              </a:xfrm>
              <a:custGeom>
                <a:avLst/>
                <a:gdLst>
                  <a:gd name="T0" fmla="*/ 199 w 199"/>
                  <a:gd name="T1" fmla="*/ 0 h 150"/>
                  <a:gd name="T2" fmla="*/ 0 w 199"/>
                  <a:gd name="T3" fmla="*/ 0 h 150"/>
                  <a:gd name="T4" fmla="*/ 0 w 199"/>
                  <a:gd name="T5" fmla="*/ 25 h 150"/>
                  <a:gd name="T6" fmla="*/ 25 w 199"/>
                  <a:gd name="T7" fmla="*/ 50 h 150"/>
                  <a:gd name="T8" fmla="*/ 0 w 199"/>
                  <a:gd name="T9" fmla="*/ 75 h 150"/>
                  <a:gd name="T10" fmla="*/ 50 w 199"/>
                  <a:gd name="T11" fmla="*/ 150 h 150"/>
                  <a:gd name="T12" fmla="*/ 149 w 199"/>
                  <a:gd name="T13" fmla="*/ 150 h 150"/>
                  <a:gd name="T14" fmla="*/ 199 w 199"/>
                  <a:gd name="T15" fmla="*/ 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9" h="150">
                    <a:moveTo>
                      <a:pt x="199" y="0"/>
                    </a:moveTo>
                    <a:lnTo>
                      <a:pt x="0" y="0"/>
                    </a:lnTo>
                    <a:lnTo>
                      <a:pt x="0" y="25"/>
                    </a:lnTo>
                    <a:lnTo>
                      <a:pt x="25" y="50"/>
                    </a:lnTo>
                    <a:lnTo>
                      <a:pt x="0" y="75"/>
                    </a:lnTo>
                    <a:lnTo>
                      <a:pt x="50" y="150"/>
                    </a:lnTo>
                    <a:lnTo>
                      <a:pt x="149" y="150"/>
                    </a:lnTo>
                    <a:lnTo>
                      <a:pt x="19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4639" name="Freeform 671"/>
              <p:cNvSpPr>
                <a:spLocks/>
              </p:cNvSpPr>
              <p:nvPr/>
            </p:nvSpPr>
            <p:spPr bwMode="auto">
              <a:xfrm>
                <a:off x="2645" y="3840"/>
                <a:ext cx="199" cy="150"/>
              </a:xfrm>
              <a:custGeom>
                <a:avLst/>
                <a:gdLst>
                  <a:gd name="T0" fmla="*/ 199 w 199"/>
                  <a:gd name="T1" fmla="*/ 0 h 150"/>
                  <a:gd name="T2" fmla="*/ 0 w 199"/>
                  <a:gd name="T3" fmla="*/ 0 h 150"/>
                  <a:gd name="T4" fmla="*/ 0 w 199"/>
                  <a:gd name="T5" fmla="*/ 25 h 150"/>
                  <a:gd name="T6" fmla="*/ 25 w 199"/>
                  <a:gd name="T7" fmla="*/ 50 h 150"/>
                  <a:gd name="T8" fmla="*/ 0 w 199"/>
                  <a:gd name="T9" fmla="*/ 75 h 150"/>
                  <a:gd name="T10" fmla="*/ 50 w 199"/>
                  <a:gd name="T11" fmla="*/ 150 h 150"/>
                  <a:gd name="T12" fmla="*/ 149 w 199"/>
                  <a:gd name="T13" fmla="*/ 15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9" h="150">
                    <a:moveTo>
                      <a:pt x="199" y="0"/>
                    </a:moveTo>
                    <a:lnTo>
                      <a:pt x="0" y="0"/>
                    </a:lnTo>
                    <a:lnTo>
                      <a:pt x="0" y="25"/>
                    </a:lnTo>
                    <a:lnTo>
                      <a:pt x="25" y="50"/>
                    </a:lnTo>
                    <a:lnTo>
                      <a:pt x="0" y="75"/>
                    </a:lnTo>
                    <a:lnTo>
                      <a:pt x="50" y="150"/>
                    </a:lnTo>
                    <a:lnTo>
                      <a:pt x="149" y="15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84640" name="Line 672"/>
            <p:cNvSpPr>
              <a:spLocks noChangeShapeType="1"/>
            </p:cNvSpPr>
            <p:nvPr/>
          </p:nvSpPr>
          <p:spPr bwMode="auto">
            <a:xfrm>
              <a:off x="3509" y="3864"/>
              <a:ext cx="8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4641" name="Line 673"/>
            <p:cNvSpPr>
              <a:spLocks noChangeShapeType="1"/>
            </p:cNvSpPr>
            <p:nvPr/>
          </p:nvSpPr>
          <p:spPr bwMode="auto">
            <a:xfrm>
              <a:off x="3513" y="3851"/>
              <a:ext cx="8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84642" name="Group 674"/>
            <p:cNvGrpSpPr>
              <a:grpSpLocks/>
            </p:cNvGrpSpPr>
            <p:nvPr/>
          </p:nvGrpSpPr>
          <p:grpSpPr bwMode="auto">
            <a:xfrm>
              <a:off x="3510" y="3673"/>
              <a:ext cx="323" cy="132"/>
              <a:chOff x="2661" y="3602"/>
              <a:chExt cx="513" cy="209"/>
            </a:xfrm>
          </p:grpSpPr>
          <p:sp>
            <p:nvSpPr>
              <p:cNvPr id="84643" name="Freeform 675"/>
              <p:cNvSpPr>
                <a:spLocks/>
              </p:cNvSpPr>
              <p:nvPr/>
            </p:nvSpPr>
            <p:spPr bwMode="auto">
              <a:xfrm>
                <a:off x="2661" y="3602"/>
                <a:ext cx="513" cy="209"/>
              </a:xfrm>
              <a:custGeom>
                <a:avLst/>
                <a:gdLst>
                  <a:gd name="T0" fmla="*/ 114 w 513"/>
                  <a:gd name="T1" fmla="*/ 209 h 209"/>
                  <a:gd name="T2" fmla="*/ 114 w 513"/>
                  <a:gd name="T3" fmla="*/ 119 h 209"/>
                  <a:gd name="T4" fmla="*/ 85 w 513"/>
                  <a:gd name="T5" fmla="*/ 90 h 209"/>
                  <a:gd name="T6" fmla="*/ 57 w 513"/>
                  <a:gd name="T7" fmla="*/ 90 h 209"/>
                  <a:gd name="T8" fmla="*/ 28 w 513"/>
                  <a:gd name="T9" fmla="*/ 119 h 209"/>
                  <a:gd name="T10" fmla="*/ 28 w 513"/>
                  <a:gd name="T11" fmla="*/ 209 h 209"/>
                  <a:gd name="T12" fmla="*/ 0 w 513"/>
                  <a:gd name="T13" fmla="*/ 209 h 209"/>
                  <a:gd name="T14" fmla="*/ 0 w 513"/>
                  <a:gd name="T15" fmla="*/ 119 h 209"/>
                  <a:gd name="T16" fmla="*/ 28 w 513"/>
                  <a:gd name="T17" fmla="*/ 60 h 209"/>
                  <a:gd name="T18" fmla="*/ 142 w 513"/>
                  <a:gd name="T19" fmla="*/ 30 h 209"/>
                  <a:gd name="T20" fmla="*/ 314 w 513"/>
                  <a:gd name="T21" fmla="*/ 0 h 209"/>
                  <a:gd name="T22" fmla="*/ 513 w 513"/>
                  <a:gd name="T23" fmla="*/ 0 h 209"/>
                  <a:gd name="T24" fmla="*/ 114 w 513"/>
                  <a:gd name="T25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13" h="209">
                    <a:moveTo>
                      <a:pt x="114" y="209"/>
                    </a:moveTo>
                    <a:lnTo>
                      <a:pt x="114" y="119"/>
                    </a:lnTo>
                    <a:lnTo>
                      <a:pt x="85" y="90"/>
                    </a:lnTo>
                    <a:lnTo>
                      <a:pt x="57" y="90"/>
                    </a:lnTo>
                    <a:lnTo>
                      <a:pt x="28" y="119"/>
                    </a:lnTo>
                    <a:lnTo>
                      <a:pt x="28" y="209"/>
                    </a:lnTo>
                    <a:lnTo>
                      <a:pt x="0" y="209"/>
                    </a:lnTo>
                    <a:lnTo>
                      <a:pt x="0" y="119"/>
                    </a:lnTo>
                    <a:lnTo>
                      <a:pt x="28" y="60"/>
                    </a:lnTo>
                    <a:lnTo>
                      <a:pt x="142" y="30"/>
                    </a:lnTo>
                    <a:lnTo>
                      <a:pt x="314" y="0"/>
                    </a:lnTo>
                    <a:lnTo>
                      <a:pt x="513" y="0"/>
                    </a:lnTo>
                    <a:lnTo>
                      <a:pt x="114" y="20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4644" name="Freeform 676"/>
              <p:cNvSpPr>
                <a:spLocks/>
              </p:cNvSpPr>
              <p:nvPr/>
            </p:nvSpPr>
            <p:spPr bwMode="auto">
              <a:xfrm>
                <a:off x="2661" y="3602"/>
                <a:ext cx="513" cy="209"/>
              </a:xfrm>
              <a:custGeom>
                <a:avLst/>
                <a:gdLst>
                  <a:gd name="T0" fmla="*/ 114 w 513"/>
                  <a:gd name="T1" fmla="*/ 209 h 209"/>
                  <a:gd name="T2" fmla="*/ 114 w 513"/>
                  <a:gd name="T3" fmla="*/ 119 h 209"/>
                  <a:gd name="T4" fmla="*/ 85 w 513"/>
                  <a:gd name="T5" fmla="*/ 90 h 209"/>
                  <a:gd name="T6" fmla="*/ 57 w 513"/>
                  <a:gd name="T7" fmla="*/ 90 h 209"/>
                  <a:gd name="T8" fmla="*/ 28 w 513"/>
                  <a:gd name="T9" fmla="*/ 119 h 209"/>
                  <a:gd name="T10" fmla="*/ 28 w 513"/>
                  <a:gd name="T11" fmla="*/ 209 h 209"/>
                  <a:gd name="T12" fmla="*/ 0 w 513"/>
                  <a:gd name="T13" fmla="*/ 209 h 209"/>
                  <a:gd name="T14" fmla="*/ 0 w 513"/>
                  <a:gd name="T15" fmla="*/ 119 h 209"/>
                  <a:gd name="T16" fmla="*/ 28 w 513"/>
                  <a:gd name="T17" fmla="*/ 60 h 209"/>
                  <a:gd name="T18" fmla="*/ 142 w 513"/>
                  <a:gd name="T19" fmla="*/ 30 h 209"/>
                  <a:gd name="T20" fmla="*/ 314 w 513"/>
                  <a:gd name="T21" fmla="*/ 0 h 209"/>
                  <a:gd name="T22" fmla="*/ 513 w 513"/>
                  <a:gd name="T23" fmla="*/ 0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13" h="209">
                    <a:moveTo>
                      <a:pt x="114" y="209"/>
                    </a:moveTo>
                    <a:lnTo>
                      <a:pt x="114" y="119"/>
                    </a:lnTo>
                    <a:lnTo>
                      <a:pt x="85" y="90"/>
                    </a:lnTo>
                    <a:lnTo>
                      <a:pt x="57" y="90"/>
                    </a:lnTo>
                    <a:lnTo>
                      <a:pt x="28" y="119"/>
                    </a:lnTo>
                    <a:lnTo>
                      <a:pt x="28" y="209"/>
                    </a:lnTo>
                    <a:lnTo>
                      <a:pt x="0" y="209"/>
                    </a:lnTo>
                    <a:lnTo>
                      <a:pt x="0" y="119"/>
                    </a:lnTo>
                    <a:lnTo>
                      <a:pt x="28" y="60"/>
                    </a:lnTo>
                    <a:lnTo>
                      <a:pt x="142" y="30"/>
                    </a:lnTo>
                    <a:lnTo>
                      <a:pt x="314" y="0"/>
                    </a:lnTo>
                    <a:lnTo>
                      <a:pt x="513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84645" name="Line 677"/>
            <p:cNvSpPr>
              <a:spLocks noChangeShapeType="1"/>
            </p:cNvSpPr>
            <p:nvPr/>
          </p:nvSpPr>
          <p:spPr bwMode="auto">
            <a:xfrm flipH="1">
              <a:off x="3926" y="3936"/>
              <a:ext cx="19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4646" name="Line 678"/>
            <p:cNvSpPr>
              <a:spLocks noChangeShapeType="1"/>
            </p:cNvSpPr>
            <p:nvPr/>
          </p:nvSpPr>
          <p:spPr bwMode="auto">
            <a:xfrm flipH="1">
              <a:off x="3914" y="3953"/>
              <a:ext cx="214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4647" name="Line 679"/>
            <p:cNvSpPr>
              <a:spLocks noChangeShapeType="1"/>
            </p:cNvSpPr>
            <p:nvPr/>
          </p:nvSpPr>
          <p:spPr bwMode="auto">
            <a:xfrm>
              <a:off x="4129" y="3917"/>
              <a:ext cx="1" cy="3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4648" name="Line 680"/>
            <p:cNvSpPr>
              <a:spLocks noChangeShapeType="1"/>
            </p:cNvSpPr>
            <p:nvPr/>
          </p:nvSpPr>
          <p:spPr bwMode="auto">
            <a:xfrm>
              <a:off x="3915" y="3917"/>
              <a:ext cx="1" cy="3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4649" name="Line 681"/>
            <p:cNvSpPr>
              <a:spLocks noChangeShapeType="1"/>
            </p:cNvSpPr>
            <p:nvPr/>
          </p:nvSpPr>
          <p:spPr bwMode="auto">
            <a:xfrm>
              <a:off x="4117" y="3917"/>
              <a:ext cx="1" cy="1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4650" name="Line 682"/>
            <p:cNvSpPr>
              <a:spLocks noChangeShapeType="1"/>
            </p:cNvSpPr>
            <p:nvPr/>
          </p:nvSpPr>
          <p:spPr bwMode="auto">
            <a:xfrm>
              <a:off x="3931" y="3917"/>
              <a:ext cx="0" cy="1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4651" name="Line 683"/>
            <p:cNvSpPr>
              <a:spLocks noChangeShapeType="1"/>
            </p:cNvSpPr>
            <p:nvPr/>
          </p:nvSpPr>
          <p:spPr bwMode="auto">
            <a:xfrm flipH="1">
              <a:off x="3594" y="3911"/>
              <a:ext cx="278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4652" name="Line 684"/>
            <p:cNvSpPr>
              <a:spLocks noChangeShapeType="1"/>
            </p:cNvSpPr>
            <p:nvPr/>
          </p:nvSpPr>
          <p:spPr bwMode="auto">
            <a:xfrm flipH="1">
              <a:off x="3603" y="3847"/>
              <a:ext cx="231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4653" name="Rectangle 685"/>
            <p:cNvSpPr>
              <a:spLocks noChangeArrowheads="1"/>
            </p:cNvSpPr>
            <p:nvPr/>
          </p:nvSpPr>
          <p:spPr bwMode="auto">
            <a:xfrm>
              <a:off x="4222" y="3775"/>
              <a:ext cx="15" cy="108"/>
            </a:xfrm>
            <a:prstGeom prst="rect">
              <a:avLst/>
            </a:prstGeom>
            <a:solidFill>
              <a:srgbClr val="B2B2B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grpSp>
          <p:nvGrpSpPr>
            <p:cNvPr id="84654" name="Group 686"/>
            <p:cNvGrpSpPr>
              <a:grpSpLocks/>
            </p:cNvGrpSpPr>
            <p:nvPr/>
          </p:nvGrpSpPr>
          <p:grpSpPr bwMode="auto">
            <a:xfrm>
              <a:off x="4571" y="3827"/>
              <a:ext cx="201" cy="211"/>
              <a:chOff x="4349" y="3846"/>
              <a:chExt cx="320" cy="336"/>
            </a:xfrm>
          </p:grpSpPr>
          <p:sp>
            <p:nvSpPr>
              <p:cNvPr id="84655" name="Oval 687"/>
              <p:cNvSpPr>
                <a:spLocks noChangeArrowheads="1"/>
              </p:cNvSpPr>
              <p:nvPr/>
            </p:nvSpPr>
            <p:spPr bwMode="auto">
              <a:xfrm>
                <a:off x="4397" y="3907"/>
                <a:ext cx="215" cy="225"/>
              </a:xfrm>
              <a:prstGeom prst="ellipse">
                <a:avLst/>
              </a:prstGeom>
              <a:solidFill>
                <a:srgbClr val="B2B2B2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84656" name="Group 688"/>
              <p:cNvGrpSpPr>
                <a:grpSpLocks/>
              </p:cNvGrpSpPr>
              <p:nvPr/>
            </p:nvGrpSpPr>
            <p:grpSpPr bwMode="auto">
              <a:xfrm>
                <a:off x="4349" y="3846"/>
                <a:ext cx="320" cy="336"/>
                <a:chOff x="4349" y="3846"/>
                <a:chExt cx="320" cy="336"/>
              </a:xfrm>
            </p:grpSpPr>
            <p:sp>
              <p:nvSpPr>
                <p:cNvPr id="84657" name="Oval 689"/>
                <p:cNvSpPr>
                  <a:spLocks noChangeArrowheads="1"/>
                </p:cNvSpPr>
                <p:nvPr/>
              </p:nvSpPr>
              <p:spPr bwMode="auto">
                <a:xfrm>
                  <a:off x="4485" y="4070"/>
                  <a:ext cx="49" cy="52"/>
                </a:xfrm>
                <a:prstGeom prst="ellipse">
                  <a:avLst/>
                </a:prstGeom>
                <a:solidFill>
                  <a:srgbClr val="FFFF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84658" name="Oval 690"/>
                <p:cNvSpPr>
                  <a:spLocks noChangeArrowheads="1"/>
                </p:cNvSpPr>
                <p:nvPr/>
              </p:nvSpPr>
              <p:spPr bwMode="auto">
                <a:xfrm>
                  <a:off x="4485" y="3897"/>
                  <a:ext cx="49" cy="52"/>
                </a:xfrm>
                <a:prstGeom prst="ellipse">
                  <a:avLst/>
                </a:prstGeom>
                <a:solidFill>
                  <a:srgbClr val="FFFF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84659" name="Oval 691"/>
                <p:cNvSpPr>
                  <a:spLocks noChangeArrowheads="1"/>
                </p:cNvSpPr>
                <p:nvPr/>
              </p:nvSpPr>
              <p:spPr bwMode="auto">
                <a:xfrm>
                  <a:off x="4407" y="3986"/>
                  <a:ext cx="50" cy="52"/>
                </a:xfrm>
                <a:prstGeom prst="ellipse">
                  <a:avLst/>
                </a:prstGeom>
                <a:solidFill>
                  <a:srgbClr val="FFFF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84660" name="Oval 692"/>
                <p:cNvSpPr>
                  <a:spLocks noChangeArrowheads="1"/>
                </p:cNvSpPr>
                <p:nvPr/>
              </p:nvSpPr>
              <p:spPr bwMode="auto">
                <a:xfrm>
                  <a:off x="4562" y="3989"/>
                  <a:ext cx="50" cy="51"/>
                </a:xfrm>
                <a:prstGeom prst="ellipse">
                  <a:avLst/>
                </a:prstGeom>
                <a:solidFill>
                  <a:srgbClr val="FFFF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84661" name="Oval 693"/>
                <p:cNvSpPr>
                  <a:spLocks noChangeArrowheads="1"/>
                </p:cNvSpPr>
                <p:nvPr/>
              </p:nvSpPr>
              <p:spPr bwMode="auto">
                <a:xfrm>
                  <a:off x="4485" y="3989"/>
                  <a:ext cx="49" cy="51"/>
                </a:xfrm>
                <a:prstGeom prst="ellipse">
                  <a:avLst/>
                </a:prstGeom>
                <a:solidFill>
                  <a:srgbClr val="FFFF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84662" name="Freeform 694"/>
                <p:cNvSpPr>
                  <a:spLocks noEditPoints="1"/>
                </p:cNvSpPr>
                <p:nvPr/>
              </p:nvSpPr>
              <p:spPr bwMode="auto">
                <a:xfrm>
                  <a:off x="4349" y="3846"/>
                  <a:ext cx="320" cy="336"/>
                </a:xfrm>
                <a:custGeom>
                  <a:avLst/>
                  <a:gdLst>
                    <a:gd name="T0" fmla="*/ 319 w 320"/>
                    <a:gd name="T1" fmla="*/ 151 h 336"/>
                    <a:gd name="T2" fmla="*/ 313 w 320"/>
                    <a:gd name="T3" fmla="*/ 118 h 336"/>
                    <a:gd name="T4" fmla="*/ 301 w 320"/>
                    <a:gd name="T5" fmla="*/ 88 h 336"/>
                    <a:gd name="T6" fmla="*/ 283 w 320"/>
                    <a:gd name="T7" fmla="*/ 61 h 336"/>
                    <a:gd name="T8" fmla="*/ 262 w 320"/>
                    <a:gd name="T9" fmla="*/ 38 h 336"/>
                    <a:gd name="T10" fmla="*/ 236 w 320"/>
                    <a:gd name="T11" fmla="*/ 20 h 336"/>
                    <a:gd name="T12" fmla="*/ 207 w 320"/>
                    <a:gd name="T13" fmla="*/ 8 h 336"/>
                    <a:gd name="T14" fmla="*/ 176 w 320"/>
                    <a:gd name="T15" fmla="*/ 1 h 336"/>
                    <a:gd name="T16" fmla="*/ 144 w 320"/>
                    <a:gd name="T17" fmla="*/ 1 h 336"/>
                    <a:gd name="T18" fmla="*/ 113 w 320"/>
                    <a:gd name="T19" fmla="*/ 8 h 336"/>
                    <a:gd name="T20" fmla="*/ 84 w 320"/>
                    <a:gd name="T21" fmla="*/ 20 h 336"/>
                    <a:gd name="T22" fmla="*/ 58 w 320"/>
                    <a:gd name="T23" fmla="*/ 38 h 336"/>
                    <a:gd name="T24" fmla="*/ 37 w 320"/>
                    <a:gd name="T25" fmla="*/ 61 h 336"/>
                    <a:gd name="T26" fmla="*/ 19 w 320"/>
                    <a:gd name="T27" fmla="*/ 88 h 336"/>
                    <a:gd name="T28" fmla="*/ 7 w 320"/>
                    <a:gd name="T29" fmla="*/ 118 h 336"/>
                    <a:gd name="T30" fmla="*/ 1 w 320"/>
                    <a:gd name="T31" fmla="*/ 151 h 336"/>
                    <a:gd name="T32" fmla="*/ 1 w 320"/>
                    <a:gd name="T33" fmla="*/ 185 h 336"/>
                    <a:gd name="T34" fmla="*/ 7 w 320"/>
                    <a:gd name="T35" fmla="*/ 218 h 336"/>
                    <a:gd name="T36" fmla="*/ 19 w 320"/>
                    <a:gd name="T37" fmla="*/ 248 h 336"/>
                    <a:gd name="T38" fmla="*/ 37 w 320"/>
                    <a:gd name="T39" fmla="*/ 275 h 336"/>
                    <a:gd name="T40" fmla="*/ 58 w 320"/>
                    <a:gd name="T41" fmla="*/ 298 h 336"/>
                    <a:gd name="T42" fmla="*/ 84 w 320"/>
                    <a:gd name="T43" fmla="*/ 316 h 336"/>
                    <a:gd name="T44" fmla="*/ 113 w 320"/>
                    <a:gd name="T45" fmla="*/ 328 h 336"/>
                    <a:gd name="T46" fmla="*/ 144 w 320"/>
                    <a:gd name="T47" fmla="*/ 335 h 336"/>
                    <a:gd name="T48" fmla="*/ 176 w 320"/>
                    <a:gd name="T49" fmla="*/ 335 h 336"/>
                    <a:gd name="T50" fmla="*/ 207 w 320"/>
                    <a:gd name="T51" fmla="*/ 328 h 336"/>
                    <a:gd name="T52" fmla="*/ 236 w 320"/>
                    <a:gd name="T53" fmla="*/ 316 h 336"/>
                    <a:gd name="T54" fmla="*/ 262 w 320"/>
                    <a:gd name="T55" fmla="*/ 298 h 336"/>
                    <a:gd name="T56" fmla="*/ 283 w 320"/>
                    <a:gd name="T57" fmla="*/ 275 h 336"/>
                    <a:gd name="T58" fmla="*/ 301 w 320"/>
                    <a:gd name="T59" fmla="*/ 248 h 336"/>
                    <a:gd name="T60" fmla="*/ 313 w 320"/>
                    <a:gd name="T61" fmla="*/ 218 h 336"/>
                    <a:gd name="T62" fmla="*/ 319 w 320"/>
                    <a:gd name="T63" fmla="*/ 185 h 336"/>
                    <a:gd name="T64" fmla="*/ 320 w 320"/>
                    <a:gd name="T65" fmla="*/ 168 h 336"/>
                    <a:gd name="T66" fmla="*/ 246 w 320"/>
                    <a:gd name="T67" fmla="*/ 187 h 336"/>
                    <a:gd name="T68" fmla="*/ 233 w 320"/>
                    <a:gd name="T69" fmla="*/ 220 h 336"/>
                    <a:gd name="T70" fmla="*/ 209 w 320"/>
                    <a:gd name="T71" fmla="*/ 244 h 336"/>
                    <a:gd name="T72" fmla="*/ 178 w 320"/>
                    <a:gd name="T73" fmla="*/ 258 h 336"/>
                    <a:gd name="T74" fmla="*/ 142 w 320"/>
                    <a:gd name="T75" fmla="*/ 258 h 336"/>
                    <a:gd name="T76" fmla="*/ 111 w 320"/>
                    <a:gd name="T77" fmla="*/ 244 h 336"/>
                    <a:gd name="T78" fmla="*/ 87 w 320"/>
                    <a:gd name="T79" fmla="*/ 220 h 336"/>
                    <a:gd name="T80" fmla="*/ 74 w 320"/>
                    <a:gd name="T81" fmla="*/ 187 h 336"/>
                    <a:gd name="T82" fmla="*/ 74 w 320"/>
                    <a:gd name="T83" fmla="*/ 149 h 336"/>
                    <a:gd name="T84" fmla="*/ 87 w 320"/>
                    <a:gd name="T85" fmla="*/ 117 h 336"/>
                    <a:gd name="T86" fmla="*/ 111 w 320"/>
                    <a:gd name="T87" fmla="*/ 92 h 336"/>
                    <a:gd name="T88" fmla="*/ 142 w 320"/>
                    <a:gd name="T89" fmla="*/ 78 h 336"/>
                    <a:gd name="T90" fmla="*/ 178 w 320"/>
                    <a:gd name="T91" fmla="*/ 78 h 336"/>
                    <a:gd name="T92" fmla="*/ 209 w 320"/>
                    <a:gd name="T93" fmla="*/ 92 h 336"/>
                    <a:gd name="T94" fmla="*/ 233 w 320"/>
                    <a:gd name="T95" fmla="*/ 117 h 336"/>
                    <a:gd name="T96" fmla="*/ 246 w 320"/>
                    <a:gd name="T97" fmla="*/ 149 h 336"/>
                    <a:gd name="T98" fmla="*/ 248 w 320"/>
                    <a:gd name="T99" fmla="*/ 168 h 3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320" h="336">
                      <a:moveTo>
                        <a:pt x="320" y="168"/>
                      </a:moveTo>
                      <a:lnTo>
                        <a:pt x="319" y="151"/>
                      </a:lnTo>
                      <a:lnTo>
                        <a:pt x="317" y="134"/>
                      </a:lnTo>
                      <a:lnTo>
                        <a:pt x="313" y="118"/>
                      </a:lnTo>
                      <a:lnTo>
                        <a:pt x="307" y="103"/>
                      </a:lnTo>
                      <a:lnTo>
                        <a:pt x="301" y="88"/>
                      </a:lnTo>
                      <a:lnTo>
                        <a:pt x="293" y="74"/>
                      </a:lnTo>
                      <a:lnTo>
                        <a:pt x="283" y="61"/>
                      </a:lnTo>
                      <a:lnTo>
                        <a:pt x="273" y="49"/>
                      </a:lnTo>
                      <a:lnTo>
                        <a:pt x="262" y="38"/>
                      </a:lnTo>
                      <a:lnTo>
                        <a:pt x="249" y="29"/>
                      </a:lnTo>
                      <a:lnTo>
                        <a:pt x="236" y="20"/>
                      </a:lnTo>
                      <a:lnTo>
                        <a:pt x="222" y="13"/>
                      </a:lnTo>
                      <a:lnTo>
                        <a:pt x="207" y="8"/>
                      </a:lnTo>
                      <a:lnTo>
                        <a:pt x="192" y="3"/>
                      </a:lnTo>
                      <a:lnTo>
                        <a:pt x="176" y="1"/>
                      </a:lnTo>
                      <a:lnTo>
                        <a:pt x="160" y="0"/>
                      </a:lnTo>
                      <a:lnTo>
                        <a:pt x="144" y="1"/>
                      </a:lnTo>
                      <a:lnTo>
                        <a:pt x="128" y="3"/>
                      </a:lnTo>
                      <a:lnTo>
                        <a:pt x="113" y="8"/>
                      </a:lnTo>
                      <a:lnTo>
                        <a:pt x="98" y="13"/>
                      </a:lnTo>
                      <a:lnTo>
                        <a:pt x="84" y="20"/>
                      </a:lnTo>
                      <a:lnTo>
                        <a:pt x="71" y="29"/>
                      </a:lnTo>
                      <a:lnTo>
                        <a:pt x="58" y="38"/>
                      </a:lnTo>
                      <a:lnTo>
                        <a:pt x="47" y="49"/>
                      </a:lnTo>
                      <a:lnTo>
                        <a:pt x="37" y="61"/>
                      </a:lnTo>
                      <a:lnTo>
                        <a:pt x="27" y="74"/>
                      </a:lnTo>
                      <a:lnTo>
                        <a:pt x="19" y="88"/>
                      </a:lnTo>
                      <a:lnTo>
                        <a:pt x="13" y="103"/>
                      </a:lnTo>
                      <a:lnTo>
                        <a:pt x="7" y="118"/>
                      </a:lnTo>
                      <a:lnTo>
                        <a:pt x="3" y="134"/>
                      </a:lnTo>
                      <a:lnTo>
                        <a:pt x="1" y="151"/>
                      </a:lnTo>
                      <a:lnTo>
                        <a:pt x="0" y="168"/>
                      </a:lnTo>
                      <a:lnTo>
                        <a:pt x="1" y="185"/>
                      </a:lnTo>
                      <a:lnTo>
                        <a:pt x="3" y="202"/>
                      </a:lnTo>
                      <a:lnTo>
                        <a:pt x="7" y="218"/>
                      </a:lnTo>
                      <a:lnTo>
                        <a:pt x="13" y="234"/>
                      </a:lnTo>
                      <a:lnTo>
                        <a:pt x="19" y="248"/>
                      </a:lnTo>
                      <a:lnTo>
                        <a:pt x="27" y="262"/>
                      </a:lnTo>
                      <a:lnTo>
                        <a:pt x="37" y="275"/>
                      </a:lnTo>
                      <a:lnTo>
                        <a:pt x="47" y="287"/>
                      </a:lnTo>
                      <a:lnTo>
                        <a:pt x="58" y="298"/>
                      </a:lnTo>
                      <a:lnTo>
                        <a:pt x="71" y="307"/>
                      </a:lnTo>
                      <a:lnTo>
                        <a:pt x="84" y="316"/>
                      </a:lnTo>
                      <a:lnTo>
                        <a:pt x="98" y="323"/>
                      </a:lnTo>
                      <a:lnTo>
                        <a:pt x="113" y="328"/>
                      </a:lnTo>
                      <a:lnTo>
                        <a:pt x="128" y="333"/>
                      </a:lnTo>
                      <a:lnTo>
                        <a:pt x="144" y="335"/>
                      </a:lnTo>
                      <a:lnTo>
                        <a:pt x="160" y="336"/>
                      </a:lnTo>
                      <a:lnTo>
                        <a:pt x="176" y="335"/>
                      </a:lnTo>
                      <a:lnTo>
                        <a:pt x="192" y="333"/>
                      </a:lnTo>
                      <a:lnTo>
                        <a:pt x="207" y="328"/>
                      </a:lnTo>
                      <a:lnTo>
                        <a:pt x="222" y="323"/>
                      </a:lnTo>
                      <a:lnTo>
                        <a:pt x="236" y="316"/>
                      </a:lnTo>
                      <a:lnTo>
                        <a:pt x="249" y="307"/>
                      </a:lnTo>
                      <a:lnTo>
                        <a:pt x="262" y="298"/>
                      </a:lnTo>
                      <a:lnTo>
                        <a:pt x="273" y="287"/>
                      </a:lnTo>
                      <a:lnTo>
                        <a:pt x="283" y="275"/>
                      </a:lnTo>
                      <a:lnTo>
                        <a:pt x="293" y="262"/>
                      </a:lnTo>
                      <a:lnTo>
                        <a:pt x="301" y="248"/>
                      </a:lnTo>
                      <a:lnTo>
                        <a:pt x="307" y="234"/>
                      </a:lnTo>
                      <a:lnTo>
                        <a:pt x="313" y="218"/>
                      </a:lnTo>
                      <a:lnTo>
                        <a:pt x="317" y="202"/>
                      </a:lnTo>
                      <a:lnTo>
                        <a:pt x="319" y="185"/>
                      </a:lnTo>
                      <a:lnTo>
                        <a:pt x="320" y="168"/>
                      </a:lnTo>
                      <a:lnTo>
                        <a:pt x="320" y="168"/>
                      </a:lnTo>
                      <a:close/>
                      <a:moveTo>
                        <a:pt x="248" y="168"/>
                      </a:moveTo>
                      <a:lnTo>
                        <a:pt x="246" y="187"/>
                      </a:lnTo>
                      <a:lnTo>
                        <a:pt x="241" y="204"/>
                      </a:lnTo>
                      <a:lnTo>
                        <a:pt x="233" y="220"/>
                      </a:lnTo>
                      <a:lnTo>
                        <a:pt x="222" y="233"/>
                      </a:lnTo>
                      <a:lnTo>
                        <a:pt x="209" y="244"/>
                      </a:lnTo>
                      <a:lnTo>
                        <a:pt x="194" y="253"/>
                      </a:lnTo>
                      <a:lnTo>
                        <a:pt x="178" y="258"/>
                      </a:lnTo>
                      <a:lnTo>
                        <a:pt x="160" y="260"/>
                      </a:lnTo>
                      <a:lnTo>
                        <a:pt x="142" y="258"/>
                      </a:lnTo>
                      <a:lnTo>
                        <a:pt x="126" y="253"/>
                      </a:lnTo>
                      <a:lnTo>
                        <a:pt x="111" y="244"/>
                      </a:lnTo>
                      <a:lnTo>
                        <a:pt x="98" y="233"/>
                      </a:lnTo>
                      <a:lnTo>
                        <a:pt x="87" y="220"/>
                      </a:lnTo>
                      <a:lnTo>
                        <a:pt x="79" y="204"/>
                      </a:lnTo>
                      <a:lnTo>
                        <a:pt x="74" y="187"/>
                      </a:lnTo>
                      <a:lnTo>
                        <a:pt x="72" y="168"/>
                      </a:lnTo>
                      <a:lnTo>
                        <a:pt x="74" y="149"/>
                      </a:lnTo>
                      <a:lnTo>
                        <a:pt x="79" y="132"/>
                      </a:lnTo>
                      <a:lnTo>
                        <a:pt x="87" y="117"/>
                      </a:lnTo>
                      <a:lnTo>
                        <a:pt x="98" y="103"/>
                      </a:lnTo>
                      <a:lnTo>
                        <a:pt x="111" y="92"/>
                      </a:lnTo>
                      <a:lnTo>
                        <a:pt x="126" y="83"/>
                      </a:lnTo>
                      <a:lnTo>
                        <a:pt x="142" y="78"/>
                      </a:lnTo>
                      <a:lnTo>
                        <a:pt x="160" y="76"/>
                      </a:lnTo>
                      <a:lnTo>
                        <a:pt x="178" y="78"/>
                      </a:lnTo>
                      <a:lnTo>
                        <a:pt x="194" y="83"/>
                      </a:lnTo>
                      <a:lnTo>
                        <a:pt x="209" y="92"/>
                      </a:lnTo>
                      <a:lnTo>
                        <a:pt x="222" y="103"/>
                      </a:lnTo>
                      <a:lnTo>
                        <a:pt x="233" y="117"/>
                      </a:lnTo>
                      <a:lnTo>
                        <a:pt x="241" y="132"/>
                      </a:lnTo>
                      <a:lnTo>
                        <a:pt x="246" y="149"/>
                      </a:lnTo>
                      <a:lnTo>
                        <a:pt x="248" y="168"/>
                      </a:lnTo>
                      <a:lnTo>
                        <a:pt x="248" y="16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84663" name="Freeform 695"/>
                <p:cNvSpPr>
                  <a:spLocks/>
                </p:cNvSpPr>
                <p:nvPr/>
              </p:nvSpPr>
              <p:spPr bwMode="auto">
                <a:xfrm>
                  <a:off x="4500" y="3967"/>
                  <a:ext cx="20" cy="18"/>
                </a:xfrm>
                <a:custGeom>
                  <a:avLst/>
                  <a:gdLst>
                    <a:gd name="T0" fmla="*/ 15 w 20"/>
                    <a:gd name="T1" fmla="*/ 0 h 18"/>
                    <a:gd name="T2" fmla="*/ 20 w 20"/>
                    <a:gd name="T3" fmla="*/ 9 h 18"/>
                    <a:gd name="T4" fmla="*/ 15 w 20"/>
                    <a:gd name="T5" fmla="*/ 18 h 18"/>
                    <a:gd name="T6" fmla="*/ 5 w 20"/>
                    <a:gd name="T7" fmla="*/ 18 h 18"/>
                    <a:gd name="T8" fmla="*/ 0 w 20"/>
                    <a:gd name="T9" fmla="*/ 9 h 18"/>
                    <a:gd name="T10" fmla="*/ 5 w 20"/>
                    <a:gd name="T11" fmla="*/ 0 h 18"/>
                    <a:gd name="T12" fmla="*/ 15 w 20"/>
                    <a:gd name="T13" fmla="*/ 0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0" h="18">
                      <a:moveTo>
                        <a:pt x="15" y="0"/>
                      </a:moveTo>
                      <a:lnTo>
                        <a:pt x="20" y="9"/>
                      </a:lnTo>
                      <a:lnTo>
                        <a:pt x="15" y="18"/>
                      </a:lnTo>
                      <a:lnTo>
                        <a:pt x="5" y="18"/>
                      </a:lnTo>
                      <a:lnTo>
                        <a:pt x="0" y="9"/>
                      </a:lnTo>
                      <a:lnTo>
                        <a:pt x="5" y="0"/>
                      </a:lnTo>
                      <a:lnTo>
                        <a:pt x="1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84664" name="Freeform 696"/>
                <p:cNvSpPr>
                  <a:spLocks/>
                </p:cNvSpPr>
                <p:nvPr/>
              </p:nvSpPr>
              <p:spPr bwMode="auto">
                <a:xfrm>
                  <a:off x="4501" y="4042"/>
                  <a:ext cx="19" cy="18"/>
                </a:xfrm>
                <a:custGeom>
                  <a:avLst/>
                  <a:gdLst>
                    <a:gd name="T0" fmla="*/ 14 w 19"/>
                    <a:gd name="T1" fmla="*/ 0 h 18"/>
                    <a:gd name="T2" fmla="*/ 19 w 19"/>
                    <a:gd name="T3" fmla="*/ 9 h 18"/>
                    <a:gd name="T4" fmla="*/ 14 w 19"/>
                    <a:gd name="T5" fmla="*/ 18 h 18"/>
                    <a:gd name="T6" fmla="*/ 5 w 19"/>
                    <a:gd name="T7" fmla="*/ 18 h 18"/>
                    <a:gd name="T8" fmla="*/ 0 w 19"/>
                    <a:gd name="T9" fmla="*/ 9 h 18"/>
                    <a:gd name="T10" fmla="*/ 5 w 19"/>
                    <a:gd name="T11" fmla="*/ 0 h 18"/>
                    <a:gd name="T12" fmla="*/ 14 w 19"/>
                    <a:gd name="T13" fmla="*/ 0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9" h="18">
                      <a:moveTo>
                        <a:pt x="14" y="0"/>
                      </a:moveTo>
                      <a:lnTo>
                        <a:pt x="19" y="9"/>
                      </a:lnTo>
                      <a:lnTo>
                        <a:pt x="14" y="18"/>
                      </a:lnTo>
                      <a:lnTo>
                        <a:pt x="5" y="18"/>
                      </a:lnTo>
                      <a:lnTo>
                        <a:pt x="0" y="9"/>
                      </a:lnTo>
                      <a:lnTo>
                        <a:pt x="5" y="0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84665" name="Freeform 697"/>
                <p:cNvSpPr>
                  <a:spLocks/>
                </p:cNvSpPr>
                <p:nvPr/>
              </p:nvSpPr>
              <p:spPr bwMode="auto">
                <a:xfrm>
                  <a:off x="4463" y="4003"/>
                  <a:ext cx="19" cy="18"/>
                </a:xfrm>
                <a:custGeom>
                  <a:avLst/>
                  <a:gdLst>
                    <a:gd name="T0" fmla="*/ 14 w 19"/>
                    <a:gd name="T1" fmla="*/ 0 h 18"/>
                    <a:gd name="T2" fmla="*/ 19 w 19"/>
                    <a:gd name="T3" fmla="*/ 9 h 18"/>
                    <a:gd name="T4" fmla="*/ 14 w 19"/>
                    <a:gd name="T5" fmla="*/ 18 h 18"/>
                    <a:gd name="T6" fmla="*/ 5 w 19"/>
                    <a:gd name="T7" fmla="*/ 18 h 18"/>
                    <a:gd name="T8" fmla="*/ 0 w 19"/>
                    <a:gd name="T9" fmla="*/ 9 h 18"/>
                    <a:gd name="T10" fmla="*/ 5 w 19"/>
                    <a:gd name="T11" fmla="*/ 0 h 18"/>
                    <a:gd name="T12" fmla="*/ 14 w 19"/>
                    <a:gd name="T13" fmla="*/ 0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9" h="18">
                      <a:moveTo>
                        <a:pt x="14" y="0"/>
                      </a:moveTo>
                      <a:lnTo>
                        <a:pt x="19" y="9"/>
                      </a:lnTo>
                      <a:lnTo>
                        <a:pt x="14" y="18"/>
                      </a:lnTo>
                      <a:lnTo>
                        <a:pt x="5" y="18"/>
                      </a:lnTo>
                      <a:lnTo>
                        <a:pt x="0" y="9"/>
                      </a:lnTo>
                      <a:lnTo>
                        <a:pt x="5" y="0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84666" name="Freeform 698"/>
                <p:cNvSpPr>
                  <a:spLocks/>
                </p:cNvSpPr>
                <p:nvPr/>
              </p:nvSpPr>
              <p:spPr bwMode="auto">
                <a:xfrm>
                  <a:off x="4535" y="4005"/>
                  <a:ext cx="20" cy="18"/>
                </a:xfrm>
                <a:custGeom>
                  <a:avLst/>
                  <a:gdLst>
                    <a:gd name="T0" fmla="*/ 15 w 20"/>
                    <a:gd name="T1" fmla="*/ 0 h 18"/>
                    <a:gd name="T2" fmla="*/ 20 w 20"/>
                    <a:gd name="T3" fmla="*/ 9 h 18"/>
                    <a:gd name="T4" fmla="*/ 15 w 20"/>
                    <a:gd name="T5" fmla="*/ 18 h 18"/>
                    <a:gd name="T6" fmla="*/ 5 w 20"/>
                    <a:gd name="T7" fmla="*/ 18 h 18"/>
                    <a:gd name="T8" fmla="*/ 0 w 20"/>
                    <a:gd name="T9" fmla="*/ 9 h 18"/>
                    <a:gd name="T10" fmla="*/ 5 w 20"/>
                    <a:gd name="T11" fmla="*/ 0 h 18"/>
                    <a:gd name="T12" fmla="*/ 15 w 20"/>
                    <a:gd name="T13" fmla="*/ 0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0" h="18">
                      <a:moveTo>
                        <a:pt x="15" y="0"/>
                      </a:moveTo>
                      <a:lnTo>
                        <a:pt x="20" y="9"/>
                      </a:lnTo>
                      <a:lnTo>
                        <a:pt x="15" y="18"/>
                      </a:lnTo>
                      <a:lnTo>
                        <a:pt x="5" y="18"/>
                      </a:lnTo>
                      <a:lnTo>
                        <a:pt x="0" y="9"/>
                      </a:lnTo>
                      <a:lnTo>
                        <a:pt x="5" y="0"/>
                      </a:lnTo>
                      <a:lnTo>
                        <a:pt x="1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84667" name="Freeform 699"/>
                <p:cNvSpPr>
                  <a:spLocks/>
                </p:cNvSpPr>
                <p:nvPr/>
              </p:nvSpPr>
              <p:spPr bwMode="auto">
                <a:xfrm>
                  <a:off x="4528" y="3978"/>
                  <a:ext cx="19" cy="17"/>
                </a:xfrm>
                <a:custGeom>
                  <a:avLst/>
                  <a:gdLst>
                    <a:gd name="T0" fmla="*/ 14 w 19"/>
                    <a:gd name="T1" fmla="*/ 0 h 17"/>
                    <a:gd name="T2" fmla="*/ 19 w 19"/>
                    <a:gd name="T3" fmla="*/ 8 h 17"/>
                    <a:gd name="T4" fmla="*/ 14 w 19"/>
                    <a:gd name="T5" fmla="*/ 17 h 17"/>
                    <a:gd name="T6" fmla="*/ 5 w 19"/>
                    <a:gd name="T7" fmla="*/ 17 h 17"/>
                    <a:gd name="T8" fmla="*/ 0 w 19"/>
                    <a:gd name="T9" fmla="*/ 8 h 17"/>
                    <a:gd name="T10" fmla="*/ 5 w 19"/>
                    <a:gd name="T11" fmla="*/ 0 h 17"/>
                    <a:gd name="T12" fmla="*/ 14 w 19"/>
                    <a:gd name="T13" fmla="*/ 0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9" h="17">
                      <a:moveTo>
                        <a:pt x="14" y="0"/>
                      </a:moveTo>
                      <a:lnTo>
                        <a:pt x="19" y="8"/>
                      </a:lnTo>
                      <a:lnTo>
                        <a:pt x="14" y="17"/>
                      </a:lnTo>
                      <a:lnTo>
                        <a:pt x="5" y="17"/>
                      </a:lnTo>
                      <a:lnTo>
                        <a:pt x="0" y="8"/>
                      </a:lnTo>
                      <a:lnTo>
                        <a:pt x="5" y="0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84668" name="Freeform 700"/>
                <p:cNvSpPr>
                  <a:spLocks/>
                </p:cNvSpPr>
                <p:nvPr/>
              </p:nvSpPr>
              <p:spPr bwMode="auto">
                <a:xfrm>
                  <a:off x="4472" y="3978"/>
                  <a:ext cx="19" cy="18"/>
                </a:xfrm>
                <a:custGeom>
                  <a:avLst/>
                  <a:gdLst>
                    <a:gd name="T0" fmla="*/ 14 w 19"/>
                    <a:gd name="T1" fmla="*/ 0 h 18"/>
                    <a:gd name="T2" fmla="*/ 19 w 19"/>
                    <a:gd name="T3" fmla="*/ 9 h 18"/>
                    <a:gd name="T4" fmla="*/ 14 w 19"/>
                    <a:gd name="T5" fmla="*/ 18 h 18"/>
                    <a:gd name="T6" fmla="*/ 5 w 19"/>
                    <a:gd name="T7" fmla="*/ 18 h 18"/>
                    <a:gd name="T8" fmla="*/ 0 w 19"/>
                    <a:gd name="T9" fmla="*/ 9 h 18"/>
                    <a:gd name="T10" fmla="*/ 5 w 19"/>
                    <a:gd name="T11" fmla="*/ 0 h 18"/>
                    <a:gd name="T12" fmla="*/ 14 w 19"/>
                    <a:gd name="T13" fmla="*/ 0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9" h="18">
                      <a:moveTo>
                        <a:pt x="14" y="0"/>
                      </a:moveTo>
                      <a:lnTo>
                        <a:pt x="19" y="9"/>
                      </a:lnTo>
                      <a:lnTo>
                        <a:pt x="14" y="18"/>
                      </a:lnTo>
                      <a:lnTo>
                        <a:pt x="5" y="18"/>
                      </a:lnTo>
                      <a:lnTo>
                        <a:pt x="0" y="9"/>
                      </a:lnTo>
                      <a:lnTo>
                        <a:pt x="5" y="0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84669" name="Freeform 701"/>
                <p:cNvSpPr>
                  <a:spLocks/>
                </p:cNvSpPr>
                <p:nvPr/>
              </p:nvSpPr>
              <p:spPr bwMode="auto">
                <a:xfrm>
                  <a:off x="4527" y="4031"/>
                  <a:ext cx="19" cy="18"/>
                </a:xfrm>
                <a:custGeom>
                  <a:avLst/>
                  <a:gdLst>
                    <a:gd name="T0" fmla="*/ 14 w 19"/>
                    <a:gd name="T1" fmla="*/ 0 h 18"/>
                    <a:gd name="T2" fmla="*/ 19 w 19"/>
                    <a:gd name="T3" fmla="*/ 9 h 18"/>
                    <a:gd name="T4" fmla="*/ 14 w 19"/>
                    <a:gd name="T5" fmla="*/ 18 h 18"/>
                    <a:gd name="T6" fmla="*/ 5 w 19"/>
                    <a:gd name="T7" fmla="*/ 18 h 18"/>
                    <a:gd name="T8" fmla="*/ 0 w 19"/>
                    <a:gd name="T9" fmla="*/ 9 h 18"/>
                    <a:gd name="T10" fmla="*/ 5 w 19"/>
                    <a:gd name="T11" fmla="*/ 0 h 18"/>
                    <a:gd name="T12" fmla="*/ 14 w 19"/>
                    <a:gd name="T13" fmla="*/ 0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9" h="18">
                      <a:moveTo>
                        <a:pt x="14" y="0"/>
                      </a:moveTo>
                      <a:lnTo>
                        <a:pt x="19" y="9"/>
                      </a:lnTo>
                      <a:lnTo>
                        <a:pt x="14" y="18"/>
                      </a:lnTo>
                      <a:lnTo>
                        <a:pt x="5" y="18"/>
                      </a:lnTo>
                      <a:lnTo>
                        <a:pt x="0" y="9"/>
                      </a:lnTo>
                      <a:lnTo>
                        <a:pt x="5" y="0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84670" name="Freeform 702"/>
                <p:cNvSpPr>
                  <a:spLocks/>
                </p:cNvSpPr>
                <p:nvPr/>
              </p:nvSpPr>
              <p:spPr bwMode="auto">
                <a:xfrm>
                  <a:off x="4471" y="4032"/>
                  <a:ext cx="19" cy="18"/>
                </a:xfrm>
                <a:custGeom>
                  <a:avLst/>
                  <a:gdLst>
                    <a:gd name="T0" fmla="*/ 14 w 19"/>
                    <a:gd name="T1" fmla="*/ 0 h 18"/>
                    <a:gd name="T2" fmla="*/ 19 w 19"/>
                    <a:gd name="T3" fmla="*/ 9 h 18"/>
                    <a:gd name="T4" fmla="*/ 14 w 19"/>
                    <a:gd name="T5" fmla="*/ 18 h 18"/>
                    <a:gd name="T6" fmla="*/ 5 w 19"/>
                    <a:gd name="T7" fmla="*/ 18 h 18"/>
                    <a:gd name="T8" fmla="*/ 0 w 19"/>
                    <a:gd name="T9" fmla="*/ 9 h 18"/>
                    <a:gd name="T10" fmla="*/ 5 w 19"/>
                    <a:gd name="T11" fmla="*/ 0 h 18"/>
                    <a:gd name="T12" fmla="*/ 14 w 19"/>
                    <a:gd name="T13" fmla="*/ 0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9" h="18">
                      <a:moveTo>
                        <a:pt x="14" y="0"/>
                      </a:moveTo>
                      <a:lnTo>
                        <a:pt x="19" y="9"/>
                      </a:lnTo>
                      <a:lnTo>
                        <a:pt x="14" y="18"/>
                      </a:lnTo>
                      <a:lnTo>
                        <a:pt x="5" y="18"/>
                      </a:lnTo>
                      <a:lnTo>
                        <a:pt x="0" y="9"/>
                      </a:lnTo>
                      <a:lnTo>
                        <a:pt x="5" y="0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</p:grpSp>
        <p:sp>
          <p:nvSpPr>
            <p:cNvPr id="84671" name="Freeform 703"/>
            <p:cNvSpPr>
              <a:spLocks/>
            </p:cNvSpPr>
            <p:nvPr/>
          </p:nvSpPr>
          <p:spPr bwMode="auto">
            <a:xfrm>
              <a:off x="4237" y="3573"/>
              <a:ext cx="763" cy="352"/>
            </a:xfrm>
            <a:custGeom>
              <a:avLst/>
              <a:gdLst>
                <a:gd name="T0" fmla="*/ 0 w 1214"/>
                <a:gd name="T1" fmla="*/ 560 h 560"/>
                <a:gd name="T2" fmla="*/ 0 w 1214"/>
                <a:gd name="T3" fmla="*/ 314 h 560"/>
                <a:gd name="T4" fmla="*/ 362 w 1214"/>
                <a:gd name="T5" fmla="*/ 314 h 560"/>
                <a:gd name="T6" fmla="*/ 362 w 1214"/>
                <a:gd name="T7" fmla="*/ 0 h 560"/>
                <a:gd name="T8" fmla="*/ 1214 w 1214"/>
                <a:gd name="T9" fmla="*/ 0 h 560"/>
                <a:gd name="T10" fmla="*/ 1214 w 1214"/>
                <a:gd name="T11" fmla="*/ 493 h 560"/>
                <a:gd name="T12" fmla="*/ 1171 w 1214"/>
                <a:gd name="T13" fmla="*/ 560 h 560"/>
                <a:gd name="T14" fmla="*/ 937 w 1214"/>
                <a:gd name="T15" fmla="*/ 560 h 560"/>
                <a:gd name="T16" fmla="*/ 831 w 1214"/>
                <a:gd name="T17" fmla="*/ 336 h 560"/>
                <a:gd name="T18" fmla="*/ 554 w 1214"/>
                <a:gd name="T19" fmla="*/ 336 h 560"/>
                <a:gd name="T20" fmla="*/ 405 w 1214"/>
                <a:gd name="T21" fmla="*/ 560 h 560"/>
                <a:gd name="T22" fmla="*/ 0 w 1214"/>
                <a:gd name="T23" fmla="*/ 560 h 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14" h="560">
                  <a:moveTo>
                    <a:pt x="0" y="560"/>
                  </a:moveTo>
                  <a:lnTo>
                    <a:pt x="0" y="314"/>
                  </a:lnTo>
                  <a:lnTo>
                    <a:pt x="362" y="314"/>
                  </a:lnTo>
                  <a:lnTo>
                    <a:pt x="362" y="0"/>
                  </a:lnTo>
                  <a:lnTo>
                    <a:pt x="1214" y="0"/>
                  </a:lnTo>
                  <a:lnTo>
                    <a:pt x="1214" y="493"/>
                  </a:lnTo>
                  <a:lnTo>
                    <a:pt x="1171" y="560"/>
                  </a:lnTo>
                  <a:lnTo>
                    <a:pt x="937" y="560"/>
                  </a:lnTo>
                  <a:lnTo>
                    <a:pt x="831" y="336"/>
                  </a:lnTo>
                  <a:lnTo>
                    <a:pt x="554" y="336"/>
                  </a:lnTo>
                  <a:lnTo>
                    <a:pt x="405" y="560"/>
                  </a:lnTo>
                  <a:lnTo>
                    <a:pt x="0" y="560"/>
                  </a:lnTo>
                  <a:close/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84672" name="Group 704"/>
            <p:cNvGrpSpPr>
              <a:grpSpLocks/>
            </p:cNvGrpSpPr>
            <p:nvPr/>
          </p:nvGrpSpPr>
          <p:grpSpPr bwMode="auto">
            <a:xfrm>
              <a:off x="4840" y="3780"/>
              <a:ext cx="143" cy="114"/>
              <a:chOff x="4777" y="3771"/>
              <a:chExt cx="227" cy="182"/>
            </a:xfrm>
          </p:grpSpPr>
          <p:sp>
            <p:nvSpPr>
              <p:cNvPr id="84673" name="Rectangle 705"/>
              <p:cNvSpPr>
                <a:spLocks noChangeArrowheads="1"/>
              </p:cNvSpPr>
              <p:nvPr/>
            </p:nvSpPr>
            <p:spPr bwMode="auto">
              <a:xfrm>
                <a:off x="4777" y="3787"/>
                <a:ext cx="227" cy="146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4674" name="Rectangle 706"/>
              <p:cNvSpPr>
                <a:spLocks noChangeArrowheads="1"/>
              </p:cNvSpPr>
              <p:nvPr/>
            </p:nvSpPr>
            <p:spPr bwMode="auto">
              <a:xfrm>
                <a:off x="4777" y="3771"/>
                <a:ext cx="227" cy="182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4675" name="Rectangle 707"/>
              <p:cNvSpPr>
                <a:spLocks noChangeArrowheads="1"/>
              </p:cNvSpPr>
              <p:nvPr/>
            </p:nvSpPr>
            <p:spPr bwMode="auto">
              <a:xfrm>
                <a:off x="4884" y="3798"/>
                <a:ext cx="16" cy="74"/>
              </a:xfrm>
              <a:prstGeom prst="rect">
                <a:avLst/>
              </a:prstGeom>
              <a:solidFill>
                <a:srgbClr val="80808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84676" name="Group 708"/>
            <p:cNvGrpSpPr>
              <a:grpSpLocks/>
            </p:cNvGrpSpPr>
            <p:nvPr/>
          </p:nvGrpSpPr>
          <p:grpSpPr bwMode="auto">
            <a:xfrm>
              <a:off x="4478" y="3587"/>
              <a:ext cx="252" cy="170"/>
              <a:chOff x="4200" y="3465"/>
              <a:chExt cx="401" cy="270"/>
            </a:xfrm>
          </p:grpSpPr>
          <p:sp>
            <p:nvSpPr>
              <p:cNvPr id="84677" name="Rectangle 709"/>
              <p:cNvSpPr>
                <a:spLocks noChangeArrowheads="1"/>
              </p:cNvSpPr>
              <p:nvPr/>
            </p:nvSpPr>
            <p:spPr bwMode="auto">
              <a:xfrm>
                <a:off x="4200" y="3489"/>
                <a:ext cx="401" cy="216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4678" name="Rectangle 710"/>
              <p:cNvSpPr>
                <a:spLocks noChangeArrowheads="1"/>
              </p:cNvSpPr>
              <p:nvPr/>
            </p:nvSpPr>
            <p:spPr bwMode="auto">
              <a:xfrm>
                <a:off x="4200" y="3465"/>
                <a:ext cx="401" cy="27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4679" name="Rectangle 711"/>
              <p:cNvSpPr>
                <a:spLocks noChangeArrowheads="1"/>
              </p:cNvSpPr>
              <p:nvPr/>
            </p:nvSpPr>
            <p:spPr bwMode="auto">
              <a:xfrm>
                <a:off x="4390" y="3505"/>
                <a:ext cx="28" cy="109"/>
              </a:xfrm>
              <a:prstGeom prst="rect">
                <a:avLst/>
              </a:prstGeom>
              <a:solidFill>
                <a:srgbClr val="80808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84680" name="Group 712"/>
            <p:cNvGrpSpPr>
              <a:grpSpLocks/>
            </p:cNvGrpSpPr>
            <p:nvPr/>
          </p:nvGrpSpPr>
          <p:grpSpPr bwMode="auto">
            <a:xfrm>
              <a:off x="4264" y="3559"/>
              <a:ext cx="66" cy="197"/>
              <a:chOff x="3860" y="3420"/>
              <a:chExt cx="106" cy="314"/>
            </a:xfrm>
          </p:grpSpPr>
          <p:sp>
            <p:nvSpPr>
              <p:cNvPr id="84681" name="Freeform 713"/>
              <p:cNvSpPr>
                <a:spLocks/>
              </p:cNvSpPr>
              <p:nvPr/>
            </p:nvSpPr>
            <p:spPr bwMode="auto">
              <a:xfrm>
                <a:off x="3860" y="3420"/>
                <a:ext cx="106" cy="314"/>
              </a:xfrm>
              <a:custGeom>
                <a:avLst/>
                <a:gdLst>
                  <a:gd name="T0" fmla="*/ 88 w 106"/>
                  <a:gd name="T1" fmla="*/ 0 h 314"/>
                  <a:gd name="T2" fmla="*/ 95 w 106"/>
                  <a:gd name="T3" fmla="*/ 1 h 314"/>
                  <a:gd name="T4" fmla="*/ 101 w 106"/>
                  <a:gd name="T5" fmla="*/ 5 h 314"/>
                  <a:gd name="T6" fmla="*/ 105 w 106"/>
                  <a:gd name="T7" fmla="*/ 11 h 314"/>
                  <a:gd name="T8" fmla="*/ 106 w 106"/>
                  <a:gd name="T9" fmla="*/ 18 h 314"/>
                  <a:gd name="T10" fmla="*/ 106 w 106"/>
                  <a:gd name="T11" fmla="*/ 296 h 314"/>
                  <a:gd name="T12" fmla="*/ 105 w 106"/>
                  <a:gd name="T13" fmla="*/ 303 h 314"/>
                  <a:gd name="T14" fmla="*/ 101 w 106"/>
                  <a:gd name="T15" fmla="*/ 309 h 314"/>
                  <a:gd name="T16" fmla="*/ 95 w 106"/>
                  <a:gd name="T17" fmla="*/ 313 h 314"/>
                  <a:gd name="T18" fmla="*/ 88 w 106"/>
                  <a:gd name="T19" fmla="*/ 314 h 314"/>
                  <a:gd name="T20" fmla="*/ 18 w 106"/>
                  <a:gd name="T21" fmla="*/ 314 h 314"/>
                  <a:gd name="T22" fmla="*/ 11 w 106"/>
                  <a:gd name="T23" fmla="*/ 313 h 314"/>
                  <a:gd name="T24" fmla="*/ 5 w 106"/>
                  <a:gd name="T25" fmla="*/ 309 h 314"/>
                  <a:gd name="T26" fmla="*/ 1 w 106"/>
                  <a:gd name="T27" fmla="*/ 303 h 314"/>
                  <a:gd name="T28" fmla="*/ 0 w 106"/>
                  <a:gd name="T29" fmla="*/ 296 h 314"/>
                  <a:gd name="T30" fmla="*/ 0 w 106"/>
                  <a:gd name="T31" fmla="*/ 18 h 314"/>
                  <a:gd name="T32" fmla="*/ 1 w 106"/>
                  <a:gd name="T33" fmla="*/ 11 h 314"/>
                  <a:gd name="T34" fmla="*/ 5 w 106"/>
                  <a:gd name="T35" fmla="*/ 5 h 314"/>
                  <a:gd name="T36" fmla="*/ 11 w 106"/>
                  <a:gd name="T37" fmla="*/ 1 h 314"/>
                  <a:gd name="T38" fmla="*/ 18 w 106"/>
                  <a:gd name="T39" fmla="*/ 0 h 314"/>
                  <a:gd name="T40" fmla="*/ 88 w 106"/>
                  <a:gd name="T41" fmla="*/ 0 h 3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6" h="314">
                    <a:moveTo>
                      <a:pt x="88" y="0"/>
                    </a:moveTo>
                    <a:lnTo>
                      <a:pt x="95" y="1"/>
                    </a:lnTo>
                    <a:lnTo>
                      <a:pt x="101" y="5"/>
                    </a:lnTo>
                    <a:lnTo>
                      <a:pt x="105" y="11"/>
                    </a:lnTo>
                    <a:lnTo>
                      <a:pt x="106" y="18"/>
                    </a:lnTo>
                    <a:lnTo>
                      <a:pt x="106" y="296"/>
                    </a:lnTo>
                    <a:lnTo>
                      <a:pt x="105" y="303"/>
                    </a:lnTo>
                    <a:lnTo>
                      <a:pt x="101" y="309"/>
                    </a:lnTo>
                    <a:lnTo>
                      <a:pt x="95" y="313"/>
                    </a:lnTo>
                    <a:lnTo>
                      <a:pt x="88" y="314"/>
                    </a:lnTo>
                    <a:lnTo>
                      <a:pt x="18" y="314"/>
                    </a:lnTo>
                    <a:lnTo>
                      <a:pt x="11" y="313"/>
                    </a:lnTo>
                    <a:lnTo>
                      <a:pt x="5" y="309"/>
                    </a:lnTo>
                    <a:lnTo>
                      <a:pt x="1" y="303"/>
                    </a:lnTo>
                    <a:lnTo>
                      <a:pt x="0" y="296"/>
                    </a:lnTo>
                    <a:lnTo>
                      <a:pt x="0" y="18"/>
                    </a:lnTo>
                    <a:lnTo>
                      <a:pt x="1" y="11"/>
                    </a:lnTo>
                    <a:lnTo>
                      <a:pt x="5" y="5"/>
                    </a:lnTo>
                    <a:lnTo>
                      <a:pt x="11" y="1"/>
                    </a:lnTo>
                    <a:lnTo>
                      <a:pt x="18" y="0"/>
                    </a:lnTo>
                    <a:lnTo>
                      <a:pt x="88" y="0"/>
                    </a:lnTo>
                    <a:close/>
                  </a:path>
                </a:pathLst>
              </a:custGeom>
              <a:blipFill dpi="0" rotWithShape="0">
                <a:blip r:embed="rId5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4682" name="Freeform 714"/>
              <p:cNvSpPr>
                <a:spLocks/>
              </p:cNvSpPr>
              <p:nvPr/>
            </p:nvSpPr>
            <p:spPr bwMode="auto">
              <a:xfrm>
                <a:off x="3860" y="3420"/>
                <a:ext cx="106" cy="314"/>
              </a:xfrm>
              <a:custGeom>
                <a:avLst/>
                <a:gdLst>
                  <a:gd name="T0" fmla="*/ 88 w 106"/>
                  <a:gd name="T1" fmla="*/ 0 h 314"/>
                  <a:gd name="T2" fmla="*/ 95 w 106"/>
                  <a:gd name="T3" fmla="*/ 1 h 314"/>
                  <a:gd name="T4" fmla="*/ 101 w 106"/>
                  <a:gd name="T5" fmla="*/ 5 h 314"/>
                  <a:gd name="T6" fmla="*/ 105 w 106"/>
                  <a:gd name="T7" fmla="*/ 11 h 314"/>
                  <a:gd name="T8" fmla="*/ 106 w 106"/>
                  <a:gd name="T9" fmla="*/ 18 h 314"/>
                  <a:gd name="T10" fmla="*/ 106 w 106"/>
                  <a:gd name="T11" fmla="*/ 296 h 314"/>
                  <a:gd name="T12" fmla="*/ 105 w 106"/>
                  <a:gd name="T13" fmla="*/ 303 h 314"/>
                  <a:gd name="T14" fmla="*/ 101 w 106"/>
                  <a:gd name="T15" fmla="*/ 309 h 314"/>
                  <a:gd name="T16" fmla="*/ 95 w 106"/>
                  <a:gd name="T17" fmla="*/ 313 h 314"/>
                  <a:gd name="T18" fmla="*/ 88 w 106"/>
                  <a:gd name="T19" fmla="*/ 314 h 314"/>
                  <a:gd name="T20" fmla="*/ 18 w 106"/>
                  <a:gd name="T21" fmla="*/ 314 h 314"/>
                  <a:gd name="T22" fmla="*/ 11 w 106"/>
                  <a:gd name="T23" fmla="*/ 313 h 314"/>
                  <a:gd name="T24" fmla="*/ 5 w 106"/>
                  <a:gd name="T25" fmla="*/ 309 h 314"/>
                  <a:gd name="T26" fmla="*/ 1 w 106"/>
                  <a:gd name="T27" fmla="*/ 303 h 314"/>
                  <a:gd name="T28" fmla="*/ 0 w 106"/>
                  <a:gd name="T29" fmla="*/ 296 h 314"/>
                  <a:gd name="T30" fmla="*/ 0 w 106"/>
                  <a:gd name="T31" fmla="*/ 18 h 314"/>
                  <a:gd name="T32" fmla="*/ 1 w 106"/>
                  <a:gd name="T33" fmla="*/ 11 h 314"/>
                  <a:gd name="T34" fmla="*/ 5 w 106"/>
                  <a:gd name="T35" fmla="*/ 5 h 314"/>
                  <a:gd name="T36" fmla="*/ 11 w 106"/>
                  <a:gd name="T37" fmla="*/ 1 h 314"/>
                  <a:gd name="T38" fmla="*/ 18 w 106"/>
                  <a:gd name="T39" fmla="*/ 0 h 314"/>
                  <a:gd name="T40" fmla="*/ 88 w 106"/>
                  <a:gd name="T41" fmla="*/ 0 h 3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6" h="314">
                    <a:moveTo>
                      <a:pt x="88" y="0"/>
                    </a:moveTo>
                    <a:lnTo>
                      <a:pt x="95" y="1"/>
                    </a:lnTo>
                    <a:lnTo>
                      <a:pt x="101" y="5"/>
                    </a:lnTo>
                    <a:lnTo>
                      <a:pt x="105" y="11"/>
                    </a:lnTo>
                    <a:lnTo>
                      <a:pt x="106" y="18"/>
                    </a:lnTo>
                    <a:lnTo>
                      <a:pt x="106" y="296"/>
                    </a:lnTo>
                    <a:lnTo>
                      <a:pt x="105" y="303"/>
                    </a:lnTo>
                    <a:lnTo>
                      <a:pt x="101" y="309"/>
                    </a:lnTo>
                    <a:lnTo>
                      <a:pt x="95" y="313"/>
                    </a:lnTo>
                    <a:lnTo>
                      <a:pt x="88" y="314"/>
                    </a:lnTo>
                    <a:lnTo>
                      <a:pt x="18" y="314"/>
                    </a:lnTo>
                    <a:lnTo>
                      <a:pt x="11" y="313"/>
                    </a:lnTo>
                    <a:lnTo>
                      <a:pt x="5" y="309"/>
                    </a:lnTo>
                    <a:lnTo>
                      <a:pt x="1" y="303"/>
                    </a:lnTo>
                    <a:lnTo>
                      <a:pt x="0" y="296"/>
                    </a:lnTo>
                    <a:lnTo>
                      <a:pt x="0" y="18"/>
                    </a:lnTo>
                    <a:lnTo>
                      <a:pt x="1" y="11"/>
                    </a:lnTo>
                    <a:lnTo>
                      <a:pt x="5" y="5"/>
                    </a:lnTo>
                    <a:lnTo>
                      <a:pt x="11" y="1"/>
                    </a:lnTo>
                    <a:lnTo>
                      <a:pt x="18" y="0"/>
                    </a:lnTo>
                    <a:lnTo>
                      <a:pt x="88" y="0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84683" name="Line 715"/>
            <p:cNvSpPr>
              <a:spLocks noChangeShapeType="1"/>
            </p:cNvSpPr>
            <p:nvPr/>
          </p:nvSpPr>
          <p:spPr bwMode="auto">
            <a:xfrm>
              <a:off x="4344" y="3559"/>
              <a:ext cx="1" cy="19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4684" name="Line 716"/>
            <p:cNvSpPr>
              <a:spLocks noChangeShapeType="1"/>
            </p:cNvSpPr>
            <p:nvPr/>
          </p:nvSpPr>
          <p:spPr bwMode="auto">
            <a:xfrm>
              <a:off x="4385" y="3559"/>
              <a:ext cx="0" cy="19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4685" name="Line 717"/>
            <p:cNvSpPr>
              <a:spLocks noChangeShapeType="1"/>
            </p:cNvSpPr>
            <p:nvPr/>
          </p:nvSpPr>
          <p:spPr bwMode="auto">
            <a:xfrm>
              <a:off x="4411" y="3559"/>
              <a:ext cx="1" cy="19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4686" name="Line 718"/>
            <p:cNvSpPr>
              <a:spLocks noChangeShapeType="1"/>
            </p:cNvSpPr>
            <p:nvPr/>
          </p:nvSpPr>
          <p:spPr bwMode="auto">
            <a:xfrm>
              <a:off x="4451" y="3559"/>
              <a:ext cx="1" cy="19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84687" name="Group 719"/>
            <p:cNvGrpSpPr>
              <a:grpSpLocks/>
            </p:cNvGrpSpPr>
            <p:nvPr/>
          </p:nvGrpSpPr>
          <p:grpSpPr bwMode="auto">
            <a:xfrm>
              <a:off x="4411" y="3587"/>
              <a:ext cx="41" cy="142"/>
              <a:chOff x="4094" y="3465"/>
              <a:chExt cx="65" cy="225"/>
            </a:xfrm>
          </p:grpSpPr>
          <p:sp>
            <p:nvSpPr>
              <p:cNvPr id="84688" name="Rectangle 720"/>
              <p:cNvSpPr>
                <a:spLocks noChangeArrowheads="1"/>
              </p:cNvSpPr>
              <p:nvPr/>
            </p:nvSpPr>
            <p:spPr bwMode="auto">
              <a:xfrm>
                <a:off x="4094" y="3465"/>
                <a:ext cx="64" cy="224"/>
              </a:xfrm>
              <a:prstGeom prst="rect">
                <a:avLst/>
              </a:prstGeom>
              <a:blipFill dpi="0" rotWithShape="0">
                <a:blip r:embed="rId6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4689" name="Rectangle 721"/>
              <p:cNvSpPr>
                <a:spLocks noChangeArrowheads="1"/>
              </p:cNvSpPr>
              <p:nvPr/>
            </p:nvSpPr>
            <p:spPr bwMode="auto">
              <a:xfrm>
                <a:off x="4094" y="3465"/>
                <a:ext cx="65" cy="225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84690" name="Group 722"/>
            <p:cNvGrpSpPr>
              <a:grpSpLocks/>
            </p:cNvGrpSpPr>
            <p:nvPr/>
          </p:nvGrpSpPr>
          <p:grpSpPr bwMode="auto">
            <a:xfrm>
              <a:off x="4344" y="3587"/>
              <a:ext cx="41" cy="142"/>
              <a:chOff x="3988" y="3465"/>
              <a:chExt cx="65" cy="225"/>
            </a:xfrm>
          </p:grpSpPr>
          <p:sp>
            <p:nvSpPr>
              <p:cNvPr id="84691" name="Rectangle 723"/>
              <p:cNvSpPr>
                <a:spLocks noChangeArrowheads="1"/>
              </p:cNvSpPr>
              <p:nvPr/>
            </p:nvSpPr>
            <p:spPr bwMode="auto">
              <a:xfrm>
                <a:off x="3988" y="3465"/>
                <a:ext cx="64" cy="224"/>
              </a:xfrm>
              <a:prstGeom prst="rect">
                <a:avLst/>
              </a:prstGeom>
              <a:blipFill dpi="0" rotWithShape="0">
                <a:blip r:embed="rId7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4692" name="Rectangle 724"/>
              <p:cNvSpPr>
                <a:spLocks noChangeArrowheads="1"/>
              </p:cNvSpPr>
              <p:nvPr/>
            </p:nvSpPr>
            <p:spPr bwMode="auto">
              <a:xfrm>
                <a:off x="3988" y="3465"/>
                <a:ext cx="65" cy="225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84693" name="Rectangle 725"/>
            <p:cNvSpPr>
              <a:spLocks noChangeArrowheads="1"/>
            </p:cNvSpPr>
            <p:nvPr/>
          </p:nvSpPr>
          <p:spPr bwMode="auto">
            <a:xfrm>
              <a:off x="4465" y="3503"/>
              <a:ext cx="442" cy="71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84694" name="Group 726"/>
            <p:cNvGrpSpPr>
              <a:grpSpLocks/>
            </p:cNvGrpSpPr>
            <p:nvPr/>
          </p:nvGrpSpPr>
          <p:grpSpPr bwMode="auto">
            <a:xfrm>
              <a:off x="4478" y="3510"/>
              <a:ext cx="416" cy="57"/>
              <a:chOff x="4200" y="3342"/>
              <a:chExt cx="662" cy="91"/>
            </a:xfrm>
          </p:grpSpPr>
          <p:sp>
            <p:nvSpPr>
              <p:cNvPr id="84695" name="Rectangle 727"/>
              <p:cNvSpPr>
                <a:spLocks noChangeArrowheads="1"/>
              </p:cNvSpPr>
              <p:nvPr/>
            </p:nvSpPr>
            <p:spPr bwMode="auto">
              <a:xfrm>
                <a:off x="4200" y="3350"/>
                <a:ext cx="662" cy="73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4696" name="Rectangle 728"/>
              <p:cNvSpPr>
                <a:spLocks noChangeArrowheads="1"/>
              </p:cNvSpPr>
              <p:nvPr/>
            </p:nvSpPr>
            <p:spPr bwMode="auto">
              <a:xfrm>
                <a:off x="4200" y="3342"/>
                <a:ext cx="662" cy="91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4697" name="Rectangle 729"/>
              <p:cNvSpPr>
                <a:spLocks noChangeArrowheads="1"/>
              </p:cNvSpPr>
              <p:nvPr/>
            </p:nvSpPr>
            <p:spPr bwMode="auto">
              <a:xfrm>
                <a:off x="4514" y="3356"/>
                <a:ext cx="45" cy="37"/>
              </a:xfrm>
              <a:prstGeom prst="rect">
                <a:avLst/>
              </a:prstGeom>
              <a:solidFill>
                <a:srgbClr val="80808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84698" name="Rectangle 730"/>
            <p:cNvSpPr>
              <a:spLocks noChangeArrowheads="1"/>
            </p:cNvSpPr>
            <p:nvPr/>
          </p:nvSpPr>
          <p:spPr bwMode="auto">
            <a:xfrm>
              <a:off x="4237" y="3418"/>
              <a:ext cx="14" cy="353"/>
            </a:xfrm>
            <a:prstGeom prst="rect">
              <a:avLst/>
            </a:prstGeom>
            <a:solidFill>
              <a:srgbClr val="80808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4699" name="Rectangle 731"/>
            <p:cNvSpPr>
              <a:spLocks noChangeArrowheads="1"/>
            </p:cNvSpPr>
            <p:nvPr/>
          </p:nvSpPr>
          <p:spPr bwMode="auto">
            <a:xfrm>
              <a:off x="4987" y="3489"/>
              <a:ext cx="14" cy="85"/>
            </a:xfrm>
            <a:prstGeom prst="rect">
              <a:avLst/>
            </a:prstGeom>
            <a:solidFill>
              <a:srgbClr val="80808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grpSp>
          <p:nvGrpSpPr>
            <p:cNvPr id="84700" name="Group 732"/>
            <p:cNvGrpSpPr>
              <a:grpSpLocks/>
            </p:cNvGrpSpPr>
            <p:nvPr/>
          </p:nvGrpSpPr>
          <p:grpSpPr bwMode="auto">
            <a:xfrm>
              <a:off x="3889" y="3390"/>
              <a:ext cx="616" cy="74"/>
              <a:chOff x="3264" y="3151"/>
              <a:chExt cx="979" cy="118"/>
            </a:xfrm>
          </p:grpSpPr>
          <p:grpSp>
            <p:nvGrpSpPr>
              <p:cNvPr id="84701" name="Group 733"/>
              <p:cNvGrpSpPr>
                <a:grpSpLocks/>
              </p:cNvGrpSpPr>
              <p:nvPr/>
            </p:nvGrpSpPr>
            <p:grpSpPr bwMode="auto">
              <a:xfrm>
                <a:off x="3264" y="3151"/>
                <a:ext cx="960" cy="106"/>
                <a:chOff x="3264" y="3151"/>
                <a:chExt cx="960" cy="106"/>
              </a:xfrm>
            </p:grpSpPr>
            <p:grpSp>
              <p:nvGrpSpPr>
                <p:cNvPr id="84702" name="Group 734"/>
                <p:cNvGrpSpPr>
                  <a:grpSpLocks/>
                </p:cNvGrpSpPr>
                <p:nvPr/>
              </p:nvGrpSpPr>
              <p:grpSpPr bwMode="auto">
                <a:xfrm>
                  <a:off x="3264" y="3151"/>
                  <a:ext cx="960" cy="106"/>
                  <a:chOff x="3264" y="3151"/>
                  <a:chExt cx="960" cy="106"/>
                </a:xfrm>
              </p:grpSpPr>
              <p:pic>
                <p:nvPicPr>
                  <p:cNvPr id="84703" name="Picture 735"/>
                  <p:cNvPicPr>
                    <a:picLocks noChangeAspect="1" noChangeArrowheads="1"/>
                  </p:cNvPicPr>
                  <p:nvPr/>
                </p:nvPicPr>
                <p:blipFill>
                  <a:blip r:embed="rId8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3264" y="3151"/>
                    <a:ext cx="960" cy="10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84704" name="Freeform 736"/>
                  <p:cNvSpPr>
                    <a:spLocks/>
                  </p:cNvSpPr>
                  <p:nvPr/>
                </p:nvSpPr>
                <p:spPr bwMode="auto">
                  <a:xfrm>
                    <a:off x="3264" y="3151"/>
                    <a:ext cx="959" cy="105"/>
                  </a:xfrm>
                  <a:custGeom>
                    <a:avLst/>
                    <a:gdLst>
                      <a:gd name="T0" fmla="*/ 959 w 959"/>
                      <a:gd name="T1" fmla="*/ 72 h 105"/>
                      <a:gd name="T2" fmla="*/ 956 w 959"/>
                      <a:gd name="T3" fmla="*/ 105 h 105"/>
                      <a:gd name="T4" fmla="*/ 0 w 959"/>
                      <a:gd name="T5" fmla="*/ 33 h 105"/>
                      <a:gd name="T6" fmla="*/ 3 w 959"/>
                      <a:gd name="T7" fmla="*/ 0 h 105"/>
                      <a:gd name="T8" fmla="*/ 959 w 959"/>
                      <a:gd name="T9" fmla="*/ 72 h 10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959" h="105">
                        <a:moveTo>
                          <a:pt x="959" y="72"/>
                        </a:moveTo>
                        <a:lnTo>
                          <a:pt x="956" y="105"/>
                        </a:lnTo>
                        <a:lnTo>
                          <a:pt x="0" y="33"/>
                        </a:lnTo>
                        <a:lnTo>
                          <a:pt x="3" y="0"/>
                        </a:lnTo>
                        <a:lnTo>
                          <a:pt x="959" y="72"/>
                        </a:lnTo>
                        <a:close/>
                      </a:path>
                    </a:pathLst>
                  </a:custGeom>
                  <a:noFill/>
                  <a:ln w="0">
                    <a:solidFill>
                      <a:srgbClr val="FFFFFF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84705" name="Freeform 737"/>
                  <p:cNvSpPr>
                    <a:spLocks/>
                  </p:cNvSpPr>
                  <p:nvPr/>
                </p:nvSpPr>
                <p:spPr bwMode="auto">
                  <a:xfrm>
                    <a:off x="3264" y="3151"/>
                    <a:ext cx="959" cy="105"/>
                  </a:xfrm>
                  <a:custGeom>
                    <a:avLst/>
                    <a:gdLst>
                      <a:gd name="T0" fmla="*/ 959 w 959"/>
                      <a:gd name="T1" fmla="*/ 72 h 105"/>
                      <a:gd name="T2" fmla="*/ 956 w 959"/>
                      <a:gd name="T3" fmla="*/ 105 h 105"/>
                      <a:gd name="T4" fmla="*/ 0 w 959"/>
                      <a:gd name="T5" fmla="*/ 33 h 105"/>
                      <a:gd name="T6" fmla="*/ 3 w 959"/>
                      <a:gd name="T7" fmla="*/ 0 h 105"/>
                      <a:gd name="T8" fmla="*/ 959 w 959"/>
                      <a:gd name="T9" fmla="*/ 72 h 10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959" h="105">
                        <a:moveTo>
                          <a:pt x="959" y="72"/>
                        </a:moveTo>
                        <a:lnTo>
                          <a:pt x="956" y="105"/>
                        </a:lnTo>
                        <a:lnTo>
                          <a:pt x="0" y="33"/>
                        </a:lnTo>
                        <a:lnTo>
                          <a:pt x="3" y="0"/>
                        </a:lnTo>
                        <a:lnTo>
                          <a:pt x="959" y="72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pic>
                <p:nvPicPr>
                  <p:cNvPr id="84706" name="Picture 738"/>
                  <p:cNvPicPr>
                    <a:picLocks noChangeAspect="1" noChangeArrowheads="1"/>
                  </p:cNvPicPr>
                  <p:nvPr/>
                </p:nvPicPr>
                <p:blipFill>
                  <a:blip r:embed="rId8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3264" y="3151"/>
                    <a:ext cx="960" cy="10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  <p:sp>
              <p:nvSpPr>
                <p:cNvPr id="84707" name="Freeform 739"/>
                <p:cNvSpPr>
                  <a:spLocks/>
                </p:cNvSpPr>
                <p:nvPr/>
              </p:nvSpPr>
              <p:spPr bwMode="auto">
                <a:xfrm>
                  <a:off x="3264" y="3151"/>
                  <a:ext cx="959" cy="105"/>
                </a:xfrm>
                <a:custGeom>
                  <a:avLst/>
                  <a:gdLst>
                    <a:gd name="T0" fmla="*/ 959 w 959"/>
                    <a:gd name="T1" fmla="*/ 72 h 105"/>
                    <a:gd name="T2" fmla="*/ 956 w 959"/>
                    <a:gd name="T3" fmla="*/ 105 h 105"/>
                    <a:gd name="T4" fmla="*/ 0 w 959"/>
                    <a:gd name="T5" fmla="*/ 33 h 105"/>
                    <a:gd name="T6" fmla="*/ 3 w 959"/>
                    <a:gd name="T7" fmla="*/ 0 h 105"/>
                    <a:gd name="T8" fmla="*/ 959 w 959"/>
                    <a:gd name="T9" fmla="*/ 72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59" h="105">
                      <a:moveTo>
                        <a:pt x="959" y="72"/>
                      </a:moveTo>
                      <a:lnTo>
                        <a:pt x="956" y="105"/>
                      </a:lnTo>
                      <a:lnTo>
                        <a:pt x="0" y="33"/>
                      </a:lnTo>
                      <a:lnTo>
                        <a:pt x="3" y="0"/>
                      </a:lnTo>
                      <a:lnTo>
                        <a:pt x="959" y="72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84708" name="Group 740"/>
              <p:cNvGrpSpPr>
                <a:grpSpLocks/>
              </p:cNvGrpSpPr>
              <p:nvPr/>
            </p:nvGrpSpPr>
            <p:grpSpPr bwMode="auto">
              <a:xfrm>
                <a:off x="3283" y="3163"/>
                <a:ext cx="960" cy="106"/>
                <a:chOff x="3283" y="3163"/>
                <a:chExt cx="960" cy="106"/>
              </a:xfrm>
            </p:grpSpPr>
            <p:grpSp>
              <p:nvGrpSpPr>
                <p:cNvPr id="84709" name="Group 741"/>
                <p:cNvGrpSpPr>
                  <a:grpSpLocks/>
                </p:cNvGrpSpPr>
                <p:nvPr/>
              </p:nvGrpSpPr>
              <p:grpSpPr bwMode="auto">
                <a:xfrm>
                  <a:off x="3283" y="3163"/>
                  <a:ext cx="960" cy="106"/>
                  <a:chOff x="3283" y="3163"/>
                  <a:chExt cx="960" cy="106"/>
                </a:xfrm>
              </p:grpSpPr>
              <p:pic>
                <p:nvPicPr>
                  <p:cNvPr id="84710" name="Picture 742"/>
                  <p:cNvPicPr>
                    <a:picLocks noChangeAspect="1" noChangeArrowheads="1"/>
                  </p:cNvPicPr>
                  <p:nvPr/>
                </p:nvPicPr>
                <p:blipFill>
                  <a:blip r:embed="rId8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3283" y="3163"/>
                    <a:ext cx="960" cy="10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84711" name="Freeform 743"/>
                  <p:cNvSpPr>
                    <a:spLocks/>
                  </p:cNvSpPr>
                  <p:nvPr/>
                </p:nvSpPr>
                <p:spPr bwMode="auto">
                  <a:xfrm>
                    <a:off x="3283" y="3163"/>
                    <a:ext cx="959" cy="105"/>
                  </a:xfrm>
                  <a:custGeom>
                    <a:avLst/>
                    <a:gdLst>
                      <a:gd name="T0" fmla="*/ 959 w 959"/>
                      <a:gd name="T1" fmla="*/ 72 h 105"/>
                      <a:gd name="T2" fmla="*/ 956 w 959"/>
                      <a:gd name="T3" fmla="*/ 105 h 105"/>
                      <a:gd name="T4" fmla="*/ 0 w 959"/>
                      <a:gd name="T5" fmla="*/ 33 h 105"/>
                      <a:gd name="T6" fmla="*/ 3 w 959"/>
                      <a:gd name="T7" fmla="*/ 0 h 105"/>
                      <a:gd name="T8" fmla="*/ 959 w 959"/>
                      <a:gd name="T9" fmla="*/ 72 h 10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959" h="105">
                        <a:moveTo>
                          <a:pt x="959" y="72"/>
                        </a:moveTo>
                        <a:lnTo>
                          <a:pt x="956" y="105"/>
                        </a:lnTo>
                        <a:lnTo>
                          <a:pt x="0" y="33"/>
                        </a:lnTo>
                        <a:lnTo>
                          <a:pt x="3" y="0"/>
                        </a:lnTo>
                        <a:lnTo>
                          <a:pt x="959" y="72"/>
                        </a:lnTo>
                        <a:close/>
                      </a:path>
                    </a:pathLst>
                  </a:custGeom>
                  <a:noFill/>
                  <a:ln w="0">
                    <a:solidFill>
                      <a:srgbClr val="FFFFFF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84712" name="Freeform 744"/>
                  <p:cNvSpPr>
                    <a:spLocks/>
                  </p:cNvSpPr>
                  <p:nvPr/>
                </p:nvSpPr>
                <p:spPr bwMode="auto">
                  <a:xfrm>
                    <a:off x="3283" y="3163"/>
                    <a:ext cx="959" cy="105"/>
                  </a:xfrm>
                  <a:custGeom>
                    <a:avLst/>
                    <a:gdLst>
                      <a:gd name="T0" fmla="*/ 959 w 959"/>
                      <a:gd name="T1" fmla="*/ 72 h 105"/>
                      <a:gd name="T2" fmla="*/ 956 w 959"/>
                      <a:gd name="T3" fmla="*/ 105 h 105"/>
                      <a:gd name="T4" fmla="*/ 0 w 959"/>
                      <a:gd name="T5" fmla="*/ 33 h 105"/>
                      <a:gd name="T6" fmla="*/ 3 w 959"/>
                      <a:gd name="T7" fmla="*/ 0 h 105"/>
                      <a:gd name="T8" fmla="*/ 959 w 959"/>
                      <a:gd name="T9" fmla="*/ 72 h 10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959" h="105">
                        <a:moveTo>
                          <a:pt x="959" y="72"/>
                        </a:moveTo>
                        <a:lnTo>
                          <a:pt x="956" y="105"/>
                        </a:lnTo>
                        <a:lnTo>
                          <a:pt x="0" y="33"/>
                        </a:lnTo>
                        <a:lnTo>
                          <a:pt x="3" y="0"/>
                        </a:lnTo>
                        <a:lnTo>
                          <a:pt x="959" y="72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pic>
                <p:nvPicPr>
                  <p:cNvPr id="84713" name="Picture 745"/>
                  <p:cNvPicPr>
                    <a:picLocks noChangeAspect="1" noChangeArrowheads="1"/>
                  </p:cNvPicPr>
                  <p:nvPr/>
                </p:nvPicPr>
                <p:blipFill>
                  <a:blip r:embed="rId8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3283" y="3163"/>
                    <a:ext cx="960" cy="10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  <p:sp>
              <p:nvSpPr>
                <p:cNvPr id="84714" name="Freeform 746"/>
                <p:cNvSpPr>
                  <a:spLocks/>
                </p:cNvSpPr>
                <p:nvPr/>
              </p:nvSpPr>
              <p:spPr bwMode="auto">
                <a:xfrm>
                  <a:off x="3283" y="3163"/>
                  <a:ext cx="959" cy="105"/>
                </a:xfrm>
                <a:custGeom>
                  <a:avLst/>
                  <a:gdLst>
                    <a:gd name="T0" fmla="*/ 959 w 959"/>
                    <a:gd name="T1" fmla="*/ 72 h 105"/>
                    <a:gd name="T2" fmla="*/ 956 w 959"/>
                    <a:gd name="T3" fmla="*/ 105 h 105"/>
                    <a:gd name="T4" fmla="*/ 0 w 959"/>
                    <a:gd name="T5" fmla="*/ 33 h 105"/>
                    <a:gd name="T6" fmla="*/ 3 w 959"/>
                    <a:gd name="T7" fmla="*/ 0 h 105"/>
                    <a:gd name="T8" fmla="*/ 959 w 959"/>
                    <a:gd name="T9" fmla="*/ 72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59" h="105">
                      <a:moveTo>
                        <a:pt x="959" y="72"/>
                      </a:moveTo>
                      <a:lnTo>
                        <a:pt x="956" y="105"/>
                      </a:lnTo>
                      <a:lnTo>
                        <a:pt x="0" y="33"/>
                      </a:lnTo>
                      <a:lnTo>
                        <a:pt x="3" y="0"/>
                      </a:lnTo>
                      <a:lnTo>
                        <a:pt x="959" y="72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</p:grpSp>
        <p:sp>
          <p:nvSpPr>
            <p:cNvPr id="84715" name="Freeform 747"/>
            <p:cNvSpPr>
              <a:spLocks/>
            </p:cNvSpPr>
            <p:nvPr/>
          </p:nvSpPr>
          <p:spPr bwMode="auto">
            <a:xfrm>
              <a:off x="4195" y="3402"/>
              <a:ext cx="819" cy="104"/>
            </a:xfrm>
            <a:custGeom>
              <a:avLst/>
              <a:gdLst>
                <a:gd name="T0" fmla="*/ 1302 w 1302"/>
                <a:gd name="T1" fmla="*/ 98 h 165"/>
                <a:gd name="T2" fmla="*/ 1297 w 1302"/>
                <a:gd name="T3" fmla="*/ 165 h 165"/>
                <a:gd name="T4" fmla="*/ 0 w 1302"/>
                <a:gd name="T5" fmla="*/ 67 h 165"/>
                <a:gd name="T6" fmla="*/ 5 w 1302"/>
                <a:gd name="T7" fmla="*/ 0 h 165"/>
                <a:gd name="T8" fmla="*/ 1302 w 1302"/>
                <a:gd name="T9" fmla="*/ 98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02" h="165">
                  <a:moveTo>
                    <a:pt x="1302" y="98"/>
                  </a:moveTo>
                  <a:lnTo>
                    <a:pt x="1297" y="165"/>
                  </a:lnTo>
                  <a:lnTo>
                    <a:pt x="0" y="67"/>
                  </a:lnTo>
                  <a:lnTo>
                    <a:pt x="5" y="0"/>
                  </a:lnTo>
                  <a:lnTo>
                    <a:pt x="1302" y="9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grpSp>
          <p:nvGrpSpPr>
            <p:cNvPr id="84716" name="Group 748"/>
            <p:cNvGrpSpPr>
              <a:grpSpLocks/>
            </p:cNvGrpSpPr>
            <p:nvPr/>
          </p:nvGrpSpPr>
          <p:grpSpPr bwMode="auto">
            <a:xfrm>
              <a:off x="3621" y="3813"/>
              <a:ext cx="202" cy="211"/>
              <a:chOff x="2837" y="3824"/>
              <a:chExt cx="321" cy="336"/>
            </a:xfrm>
          </p:grpSpPr>
          <p:sp>
            <p:nvSpPr>
              <p:cNvPr id="84717" name="Oval 749"/>
              <p:cNvSpPr>
                <a:spLocks noChangeArrowheads="1"/>
              </p:cNvSpPr>
              <p:nvPr/>
            </p:nvSpPr>
            <p:spPr bwMode="auto">
              <a:xfrm>
                <a:off x="2886" y="3885"/>
                <a:ext cx="215" cy="225"/>
              </a:xfrm>
              <a:prstGeom prst="ellipse">
                <a:avLst/>
              </a:prstGeom>
              <a:solidFill>
                <a:srgbClr val="B2B2B2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84718" name="Group 750"/>
              <p:cNvGrpSpPr>
                <a:grpSpLocks/>
              </p:cNvGrpSpPr>
              <p:nvPr/>
            </p:nvGrpSpPr>
            <p:grpSpPr bwMode="auto">
              <a:xfrm>
                <a:off x="2837" y="3824"/>
                <a:ext cx="321" cy="336"/>
                <a:chOff x="2837" y="3824"/>
                <a:chExt cx="321" cy="336"/>
              </a:xfrm>
            </p:grpSpPr>
            <p:sp>
              <p:nvSpPr>
                <p:cNvPr id="84719" name="Oval 751"/>
                <p:cNvSpPr>
                  <a:spLocks noChangeArrowheads="1"/>
                </p:cNvSpPr>
                <p:nvPr/>
              </p:nvSpPr>
              <p:spPr bwMode="auto">
                <a:xfrm>
                  <a:off x="2974" y="4048"/>
                  <a:ext cx="49" cy="52"/>
                </a:xfrm>
                <a:prstGeom prst="ellipse">
                  <a:avLst/>
                </a:prstGeom>
                <a:solidFill>
                  <a:srgbClr val="FFFF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84720" name="Oval 752"/>
                <p:cNvSpPr>
                  <a:spLocks noChangeArrowheads="1"/>
                </p:cNvSpPr>
                <p:nvPr/>
              </p:nvSpPr>
              <p:spPr bwMode="auto">
                <a:xfrm>
                  <a:off x="2974" y="3875"/>
                  <a:ext cx="49" cy="52"/>
                </a:xfrm>
                <a:prstGeom prst="ellipse">
                  <a:avLst/>
                </a:prstGeom>
                <a:solidFill>
                  <a:srgbClr val="FFFF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84721" name="Oval 753"/>
                <p:cNvSpPr>
                  <a:spLocks noChangeArrowheads="1"/>
                </p:cNvSpPr>
                <p:nvPr/>
              </p:nvSpPr>
              <p:spPr bwMode="auto">
                <a:xfrm>
                  <a:off x="2896" y="3964"/>
                  <a:ext cx="50" cy="52"/>
                </a:xfrm>
                <a:prstGeom prst="ellipse">
                  <a:avLst/>
                </a:prstGeom>
                <a:solidFill>
                  <a:srgbClr val="FFFF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84722" name="Oval 754"/>
                <p:cNvSpPr>
                  <a:spLocks noChangeArrowheads="1"/>
                </p:cNvSpPr>
                <p:nvPr/>
              </p:nvSpPr>
              <p:spPr bwMode="auto">
                <a:xfrm>
                  <a:off x="3051" y="3967"/>
                  <a:ext cx="50" cy="51"/>
                </a:xfrm>
                <a:prstGeom prst="ellipse">
                  <a:avLst/>
                </a:prstGeom>
                <a:solidFill>
                  <a:srgbClr val="FFFF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84723" name="Oval 755"/>
                <p:cNvSpPr>
                  <a:spLocks noChangeArrowheads="1"/>
                </p:cNvSpPr>
                <p:nvPr/>
              </p:nvSpPr>
              <p:spPr bwMode="auto">
                <a:xfrm>
                  <a:off x="2974" y="3967"/>
                  <a:ext cx="49" cy="51"/>
                </a:xfrm>
                <a:prstGeom prst="ellipse">
                  <a:avLst/>
                </a:prstGeom>
                <a:solidFill>
                  <a:srgbClr val="FFFF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84724" name="Freeform 756"/>
                <p:cNvSpPr>
                  <a:spLocks noEditPoints="1"/>
                </p:cNvSpPr>
                <p:nvPr/>
              </p:nvSpPr>
              <p:spPr bwMode="auto">
                <a:xfrm>
                  <a:off x="2837" y="3824"/>
                  <a:ext cx="321" cy="336"/>
                </a:xfrm>
                <a:custGeom>
                  <a:avLst/>
                  <a:gdLst>
                    <a:gd name="T0" fmla="*/ 320 w 321"/>
                    <a:gd name="T1" fmla="*/ 151 h 336"/>
                    <a:gd name="T2" fmla="*/ 314 w 321"/>
                    <a:gd name="T3" fmla="*/ 118 h 336"/>
                    <a:gd name="T4" fmla="*/ 302 w 321"/>
                    <a:gd name="T5" fmla="*/ 88 h 336"/>
                    <a:gd name="T6" fmla="*/ 284 w 321"/>
                    <a:gd name="T7" fmla="*/ 61 h 336"/>
                    <a:gd name="T8" fmla="*/ 263 w 321"/>
                    <a:gd name="T9" fmla="*/ 38 h 336"/>
                    <a:gd name="T10" fmla="*/ 237 w 321"/>
                    <a:gd name="T11" fmla="*/ 20 h 336"/>
                    <a:gd name="T12" fmla="*/ 208 w 321"/>
                    <a:gd name="T13" fmla="*/ 8 h 336"/>
                    <a:gd name="T14" fmla="*/ 177 w 321"/>
                    <a:gd name="T15" fmla="*/ 1 h 336"/>
                    <a:gd name="T16" fmla="*/ 145 w 321"/>
                    <a:gd name="T17" fmla="*/ 1 h 336"/>
                    <a:gd name="T18" fmla="*/ 114 w 321"/>
                    <a:gd name="T19" fmla="*/ 8 h 336"/>
                    <a:gd name="T20" fmla="*/ 85 w 321"/>
                    <a:gd name="T21" fmla="*/ 20 h 336"/>
                    <a:gd name="T22" fmla="*/ 59 w 321"/>
                    <a:gd name="T23" fmla="*/ 38 h 336"/>
                    <a:gd name="T24" fmla="*/ 37 w 321"/>
                    <a:gd name="T25" fmla="*/ 61 h 336"/>
                    <a:gd name="T26" fmla="*/ 19 w 321"/>
                    <a:gd name="T27" fmla="*/ 88 h 336"/>
                    <a:gd name="T28" fmla="*/ 7 w 321"/>
                    <a:gd name="T29" fmla="*/ 118 h 336"/>
                    <a:gd name="T30" fmla="*/ 1 w 321"/>
                    <a:gd name="T31" fmla="*/ 151 h 336"/>
                    <a:gd name="T32" fmla="*/ 1 w 321"/>
                    <a:gd name="T33" fmla="*/ 185 h 336"/>
                    <a:gd name="T34" fmla="*/ 7 w 321"/>
                    <a:gd name="T35" fmla="*/ 218 h 336"/>
                    <a:gd name="T36" fmla="*/ 19 w 321"/>
                    <a:gd name="T37" fmla="*/ 248 h 336"/>
                    <a:gd name="T38" fmla="*/ 37 w 321"/>
                    <a:gd name="T39" fmla="*/ 275 h 336"/>
                    <a:gd name="T40" fmla="*/ 59 w 321"/>
                    <a:gd name="T41" fmla="*/ 298 h 336"/>
                    <a:gd name="T42" fmla="*/ 85 w 321"/>
                    <a:gd name="T43" fmla="*/ 316 h 336"/>
                    <a:gd name="T44" fmla="*/ 114 w 321"/>
                    <a:gd name="T45" fmla="*/ 328 h 336"/>
                    <a:gd name="T46" fmla="*/ 145 w 321"/>
                    <a:gd name="T47" fmla="*/ 335 h 336"/>
                    <a:gd name="T48" fmla="*/ 177 w 321"/>
                    <a:gd name="T49" fmla="*/ 335 h 336"/>
                    <a:gd name="T50" fmla="*/ 208 w 321"/>
                    <a:gd name="T51" fmla="*/ 328 h 336"/>
                    <a:gd name="T52" fmla="*/ 237 w 321"/>
                    <a:gd name="T53" fmla="*/ 316 h 336"/>
                    <a:gd name="T54" fmla="*/ 263 w 321"/>
                    <a:gd name="T55" fmla="*/ 298 h 336"/>
                    <a:gd name="T56" fmla="*/ 284 w 321"/>
                    <a:gd name="T57" fmla="*/ 275 h 336"/>
                    <a:gd name="T58" fmla="*/ 302 w 321"/>
                    <a:gd name="T59" fmla="*/ 248 h 336"/>
                    <a:gd name="T60" fmla="*/ 314 w 321"/>
                    <a:gd name="T61" fmla="*/ 218 h 336"/>
                    <a:gd name="T62" fmla="*/ 320 w 321"/>
                    <a:gd name="T63" fmla="*/ 185 h 336"/>
                    <a:gd name="T64" fmla="*/ 321 w 321"/>
                    <a:gd name="T65" fmla="*/ 168 h 336"/>
                    <a:gd name="T66" fmla="*/ 247 w 321"/>
                    <a:gd name="T67" fmla="*/ 187 h 336"/>
                    <a:gd name="T68" fmla="*/ 234 w 321"/>
                    <a:gd name="T69" fmla="*/ 220 h 336"/>
                    <a:gd name="T70" fmla="*/ 210 w 321"/>
                    <a:gd name="T71" fmla="*/ 244 h 336"/>
                    <a:gd name="T72" fmla="*/ 179 w 321"/>
                    <a:gd name="T73" fmla="*/ 258 h 336"/>
                    <a:gd name="T74" fmla="*/ 143 w 321"/>
                    <a:gd name="T75" fmla="*/ 258 h 336"/>
                    <a:gd name="T76" fmla="*/ 112 w 321"/>
                    <a:gd name="T77" fmla="*/ 244 h 336"/>
                    <a:gd name="T78" fmla="*/ 88 w 321"/>
                    <a:gd name="T79" fmla="*/ 220 h 336"/>
                    <a:gd name="T80" fmla="*/ 75 w 321"/>
                    <a:gd name="T81" fmla="*/ 187 h 336"/>
                    <a:gd name="T82" fmla="*/ 75 w 321"/>
                    <a:gd name="T83" fmla="*/ 149 h 336"/>
                    <a:gd name="T84" fmla="*/ 88 w 321"/>
                    <a:gd name="T85" fmla="*/ 117 h 336"/>
                    <a:gd name="T86" fmla="*/ 112 w 321"/>
                    <a:gd name="T87" fmla="*/ 92 h 336"/>
                    <a:gd name="T88" fmla="*/ 143 w 321"/>
                    <a:gd name="T89" fmla="*/ 78 h 336"/>
                    <a:gd name="T90" fmla="*/ 179 w 321"/>
                    <a:gd name="T91" fmla="*/ 78 h 336"/>
                    <a:gd name="T92" fmla="*/ 210 w 321"/>
                    <a:gd name="T93" fmla="*/ 92 h 336"/>
                    <a:gd name="T94" fmla="*/ 234 w 321"/>
                    <a:gd name="T95" fmla="*/ 117 h 336"/>
                    <a:gd name="T96" fmla="*/ 247 w 321"/>
                    <a:gd name="T97" fmla="*/ 149 h 336"/>
                    <a:gd name="T98" fmla="*/ 249 w 321"/>
                    <a:gd name="T99" fmla="*/ 168 h 3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321" h="336">
                      <a:moveTo>
                        <a:pt x="321" y="168"/>
                      </a:moveTo>
                      <a:lnTo>
                        <a:pt x="320" y="151"/>
                      </a:lnTo>
                      <a:lnTo>
                        <a:pt x="318" y="134"/>
                      </a:lnTo>
                      <a:lnTo>
                        <a:pt x="314" y="118"/>
                      </a:lnTo>
                      <a:lnTo>
                        <a:pt x="308" y="103"/>
                      </a:lnTo>
                      <a:lnTo>
                        <a:pt x="302" y="88"/>
                      </a:lnTo>
                      <a:lnTo>
                        <a:pt x="294" y="74"/>
                      </a:lnTo>
                      <a:lnTo>
                        <a:pt x="284" y="61"/>
                      </a:lnTo>
                      <a:lnTo>
                        <a:pt x="274" y="49"/>
                      </a:lnTo>
                      <a:lnTo>
                        <a:pt x="263" y="38"/>
                      </a:lnTo>
                      <a:lnTo>
                        <a:pt x="250" y="29"/>
                      </a:lnTo>
                      <a:lnTo>
                        <a:pt x="237" y="20"/>
                      </a:lnTo>
                      <a:lnTo>
                        <a:pt x="223" y="13"/>
                      </a:lnTo>
                      <a:lnTo>
                        <a:pt x="208" y="8"/>
                      </a:lnTo>
                      <a:lnTo>
                        <a:pt x="193" y="3"/>
                      </a:lnTo>
                      <a:lnTo>
                        <a:pt x="177" y="1"/>
                      </a:lnTo>
                      <a:lnTo>
                        <a:pt x="161" y="0"/>
                      </a:lnTo>
                      <a:lnTo>
                        <a:pt x="145" y="1"/>
                      </a:lnTo>
                      <a:lnTo>
                        <a:pt x="129" y="3"/>
                      </a:lnTo>
                      <a:lnTo>
                        <a:pt x="114" y="8"/>
                      </a:lnTo>
                      <a:lnTo>
                        <a:pt x="99" y="13"/>
                      </a:lnTo>
                      <a:lnTo>
                        <a:pt x="85" y="20"/>
                      </a:lnTo>
                      <a:lnTo>
                        <a:pt x="72" y="29"/>
                      </a:lnTo>
                      <a:lnTo>
                        <a:pt x="59" y="38"/>
                      </a:lnTo>
                      <a:lnTo>
                        <a:pt x="48" y="49"/>
                      </a:lnTo>
                      <a:lnTo>
                        <a:pt x="37" y="61"/>
                      </a:lnTo>
                      <a:lnTo>
                        <a:pt x="27" y="74"/>
                      </a:lnTo>
                      <a:lnTo>
                        <a:pt x="19" y="88"/>
                      </a:lnTo>
                      <a:lnTo>
                        <a:pt x="13" y="103"/>
                      </a:lnTo>
                      <a:lnTo>
                        <a:pt x="7" y="118"/>
                      </a:lnTo>
                      <a:lnTo>
                        <a:pt x="3" y="134"/>
                      </a:lnTo>
                      <a:lnTo>
                        <a:pt x="1" y="151"/>
                      </a:lnTo>
                      <a:lnTo>
                        <a:pt x="0" y="168"/>
                      </a:lnTo>
                      <a:lnTo>
                        <a:pt x="1" y="185"/>
                      </a:lnTo>
                      <a:lnTo>
                        <a:pt x="3" y="202"/>
                      </a:lnTo>
                      <a:lnTo>
                        <a:pt x="7" y="218"/>
                      </a:lnTo>
                      <a:lnTo>
                        <a:pt x="13" y="234"/>
                      </a:lnTo>
                      <a:lnTo>
                        <a:pt x="19" y="248"/>
                      </a:lnTo>
                      <a:lnTo>
                        <a:pt x="27" y="262"/>
                      </a:lnTo>
                      <a:lnTo>
                        <a:pt x="37" y="275"/>
                      </a:lnTo>
                      <a:lnTo>
                        <a:pt x="48" y="287"/>
                      </a:lnTo>
                      <a:lnTo>
                        <a:pt x="59" y="298"/>
                      </a:lnTo>
                      <a:lnTo>
                        <a:pt x="72" y="307"/>
                      </a:lnTo>
                      <a:lnTo>
                        <a:pt x="85" y="316"/>
                      </a:lnTo>
                      <a:lnTo>
                        <a:pt x="99" y="323"/>
                      </a:lnTo>
                      <a:lnTo>
                        <a:pt x="114" y="328"/>
                      </a:lnTo>
                      <a:lnTo>
                        <a:pt x="129" y="333"/>
                      </a:lnTo>
                      <a:lnTo>
                        <a:pt x="145" y="335"/>
                      </a:lnTo>
                      <a:lnTo>
                        <a:pt x="161" y="336"/>
                      </a:lnTo>
                      <a:lnTo>
                        <a:pt x="177" y="335"/>
                      </a:lnTo>
                      <a:lnTo>
                        <a:pt x="193" y="333"/>
                      </a:lnTo>
                      <a:lnTo>
                        <a:pt x="208" y="328"/>
                      </a:lnTo>
                      <a:lnTo>
                        <a:pt x="223" y="323"/>
                      </a:lnTo>
                      <a:lnTo>
                        <a:pt x="237" y="316"/>
                      </a:lnTo>
                      <a:lnTo>
                        <a:pt x="250" y="307"/>
                      </a:lnTo>
                      <a:lnTo>
                        <a:pt x="263" y="298"/>
                      </a:lnTo>
                      <a:lnTo>
                        <a:pt x="274" y="287"/>
                      </a:lnTo>
                      <a:lnTo>
                        <a:pt x="284" y="275"/>
                      </a:lnTo>
                      <a:lnTo>
                        <a:pt x="294" y="262"/>
                      </a:lnTo>
                      <a:lnTo>
                        <a:pt x="302" y="248"/>
                      </a:lnTo>
                      <a:lnTo>
                        <a:pt x="308" y="234"/>
                      </a:lnTo>
                      <a:lnTo>
                        <a:pt x="314" y="218"/>
                      </a:lnTo>
                      <a:lnTo>
                        <a:pt x="318" y="202"/>
                      </a:lnTo>
                      <a:lnTo>
                        <a:pt x="320" y="185"/>
                      </a:lnTo>
                      <a:lnTo>
                        <a:pt x="321" y="168"/>
                      </a:lnTo>
                      <a:lnTo>
                        <a:pt x="321" y="168"/>
                      </a:lnTo>
                      <a:close/>
                      <a:moveTo>
                        <a:pt x="249" y="168"/>
                      </a:moveTo>
                      <a:lnTo>
                        <a:pt x="247" y="187"/>
                      </a:lnTo>
                      <a:lnTo>
                        <a:pt x="242" y="204"/>
                      </a:lnTo>
                      <a:lnTo>
                        <a:pt x="234" y="220"/>
                      </a:lnTo>
                      <a:lnTo>
                        <a:pt x="223" y="233"/>
                      </a:lnTo>
                      <a:lnTo>
                        <a:pt x="210" y="244"/>
                      </a:lnTo>
                      <a:lnTo>
                        <a:pt x="195" y="253"/>
                      </a:lnTo>
                      <a:lnTo>
                        <a:pt x="179" y="258"/>
                      </a:lnTo>
                      <a:lnTo>
                        <a:pt x="161" y="260"/>
                      </a:lnTo>
                      <a:lnTo>
                        <a:pt x="143" y="258"/>
                      </a:lnTo>
                      <a:lnTo>
                        <a:pt x="127" y="253"/>
                      </a:lnTo>
                      <a:lnTo>
                        <a:pt x="112" y="244"/>
                      </a:lnTo>
                      <a:lnTo>
                        <a:pt x="99" y="233"/>
                      </a:lnTo>
                      <a:lnTo>
                        <a:pt x="88" y="220"/>
                      </a:lnTo>
                      <a:lnTo>
                        <a:pt x="80" y="204"/>
                      </a:lnTo>
                      <a:lnTo>
                        <a:pt x="75" y="187"/>
                      </a:lnTo>
                      <a:lnTo>
                        <a:pt x="73" y="168"/>
                      </a:lnTo>
                      <a:lnTo>
                        <a:pt x="75" y="149"/>
                      </a:lnTo>
                      <a:lnTo>
                        <a:pt x="80" y="132"/>
                      </a:lnTo>
                      <a:lnTo>
                        <a:pt x="88" y="117"/>
                      </a:lnTo>
                      <a:lnTo>
                        <a:pt x="99" y="103"/>
                      </a:lnTo>
                      <a:lnTo>
                        <a:pt x="112" y="92"/>
                      </a:lnTo>
                      <a:lnTo>
                        <a:pt x="127" y="83"/>
                      </a:lnTo>
                      <a:lnTo>
                        <a:pt x="143" y="78"/>
                      </a:lnTo>
                      <a:lnTo>
                        <a:pt x="161" y="76"/>
                      </a:lnTo>
                      <a:lnTo>
                        <a:pt x="179" y="78"/>
                      </a:lnTo>
                      <a:lnTo>
                        <a:pt x="195" y="83"/>
                      </a:lnTo>
                      <a:lnTo>
                        <a:pt x="210" y="92"/>
                      </a:lnTo>
                      <a:lnTo>
                        <a:pt x="223" y="103"/>
                      </a:lnTo>
                      <a:lnTo>
                        <a:pt x="234" y="117"/>
                      </a:lnTo>
                      <a:lnTo>
                        <a:pt x="242" y="132"/>
                      </a:lnTo>
                      <a:lnTo>
                        <a:pt x="247" y="149"/>
                      </a:lnTo>
                      <a:lnTo>
                        <a:pt x="249" y="168"/>
                      </a:lnTo>
                      <a:lnTo>
                        <a:pt x="249" y="16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84725" name="Freeform 757"/>
                <p:cNvSpPr>
                  <a:spLocks/>
                </p:cNvSpPr>
                <p:nvPr/>
              </p:nvSpPr>
              <p:spPr bwMode="auto">
                <a:xfrm>
                  <a:off x="2989" y="3945"/>
                  <a:ext cx="20" cy="18"/>
                </a:xfrm>
                <a:custGeom>
                  <a:avLst/>
                  <a:gdLst>
                    <a:gd name="T0" fmla="*/ 15 w 20"/>
                    <a:gd name="T1" fmla="*/ 0 h 18"/>
                    <a:gd name="T2" fmla="*/ 20 w 20"/>
                    <a:gd name="T3" fmla="*/ 9 h 18"/>
                    <a:gd name="T4" fmla="*/ 15 w 20"/>
                    <a:gd name="T5" fmla="*/ 18 h 18"/>
                    <a:gd name="T6" fmla="*/ 5 w 20"/>
                    <a:gd name="T7" fmla="*/ 18 h 18"/>
                    <a:gd name="T8" fmla="*/ 0 w 20"/>
                    <a:gd name="T9" fmla="*/ 9 h 18"/>
                    <a:gd name="T10" fmla="*/ 5 w 20"/>
                    <a:gd name="T11" fmla="*/ 0 h 18"/>
                    <a:gd name="T12" fmla="*/ 15 w 20"/>
                    <a:gd name="T13" fmla="*/ 0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0" h="18">
                      <a:moveTo>
                        <a:pt x="15" y="0"/>
                      </a:moveTo>
                      <a:lnTo>
                        <a:pt x="20" y="9"/>
                      </a:lnTo>
                      <a:lnTo>
                        <a:pt x="15" y="18"/>
                      </a:lnTo>
                      <a:lnTo>
                        <a:pt x="5" y="18"/>
                      </a:lnTo>
                      <a:lnTo>
                        <a:pt x="0" y="9"/>
                      </a:lnTo>
                      <a:lnTo>
                        <a:pt x="5" y="0"/>
                      </a:lnTo>
                      <a:lnTo>
                        <a:pt x="1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84726" name="Freeform 758"/>
                <p:cNvSpPr>
                  <a:spLocks/>
                </p:cNvSpPr>
                <p:nvPr/>
              </p:nvSpPr>
              <p:spPr bwMode="auto">
                <a:xfrm>
                  <a:off x="2990" y="4020"/>
                  <a:ext cx="19" cy="18"/>
                </a:xfrm>
                <a:custGeom>
                  <a:avLst/>
                  <a:gdLst>
                    <a:gd name="T0" fmla="*/ 14 w 19"/>
                    <a:gd name="T1" fmla="*/ 0 h 18"/>
                    <a:gd name="T2" fmla="*/ 19 w 19"/>
                    <a:gd name="T3" fmla="*/ 9 h 18"/>
                    <a:gd name="T4" fmla="*/ 14 w 19"/>
                    <a:gd name="T5" fmla="*/ 18 h 18"/>
                    <a:gd name="T6" fmla="*/ 5 w 19"/>
                    <a:gd name="T7" fmla="*/ 18 h 18"/>
                    <a:gd name="T8" fmla="*/ 0 w 19"/>
                    <a:gd name="T9" fmla="*/ 9 h 18"/>
                    <a:gd name="T10" fmla="*/ 5 w 19"/>
                    <a:gd name="T11" fmla="*/ 0 h 18"/>
                    <a:gd name="T12" fmla="*/ 14 w 19"/>
                    <a:gd name="T13" fmla="*/ 0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9" h="18">
                      <a:moveTo>
                        <a:pt x="14" y="0"/>
                      </a:moveTo>
                      <a:lnTo>
                        <a:pt x="19" y="9"/>
                      </a:lnTo>
                      <a:lnTo>
                        <a:pt x="14" y="18"/>
                      </a:lnTo>
                      <a:lnTo>
                        <a:pt x="5" y="18"/>
                      </a:lnTo>
                      <a:lnTo>
                        <a:pt x="0" y="9"/>
                      </a:lnTo>
                      <a:lnTo>
                        <a:pt x="5" y="0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84727" name="Freeform 759"/>
                <p:cNvSpPr>
                  <a:spLocks/>
                </p:cNvSpPr>
                <p:nvPr/>
              </p:nvSpPr>
              <p:spPr bwMode="auto">
                <a:xfrm>
                  <a:off x="2952" y="3981"/>
                  <a:ext cx="19" cy="18"/>
                </a:xfrm>
                <a:custGeom>
                  <a:avLst/>
                  <a:gdLst>
                    <a:gd name="T0" fmla="*/ 14 w 19"/>
                    <a:gd name="T1" fmla="*/ 0 h 18"/>
                    <a:gd name="T2" fmla="*/ 19 w 19"/>
                    <a:gd name="T3" fmla="*/ 9 h 18"/>
                    <a:gd name="T4" fmla="*/ 14 w 19"/>
                    <a:gd name="T5" fmla="*/ 18 h 18"/>
                    <a:gd name="T6" fmla="*/ 5 w 19"/>
                    <a:gd name="T7" fmla="*/ 18 h 18"/>
                    <a:gd name="T8" fmla="*/ 0 w 19"/>
                    <a:gd name="T9" fmla="*/ 9 h 18"/>
                    <a:gd name="T10" fmla="*/ 5 w 19"/>
                    <a:gd name="T11" fmla="*/ 0 h 18"/>
                    <a:gd name="T12" fmla="*/ 14 w 19"/>
                    <a:gd name="T13" fmla="*/ 0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9" h="18">
                      <a:moveTo>
                        <a:pt x="14" y="0"/>
                      </a:moveTo>
                      <a:lnTo>
                        <a:pt x="19" y="9"/>
                      </a:lnTo>
                      <a:lnTo>
                        <a:pt x="14" y="18"/>
                      </a:lnTo>
                      <a:lnTo>
                        <a:pt x="5" y="18"/>
                      </a:lnTo>
                      <a:lnTo>
                        <a:pt x="0" y="9"/>
                      </a:lnTo>
                      <a:lnTo>
                        <a:pt x="5" y="0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84728" name="Freeform 760"/>
                <p:cNvSpPr>
                  <a:spLocks/>
                </p:cNvSpPr>
                <p:nvPr/>
              </p:nvSpPr>
              <p:spPr bwMode="auto">
                <a:xfrm>
                  <a:off x="3024" y="3983"/>
                  <a:ext cx="20" cy="18"/>
                </a:xfrm>
                <a:custGeom>
                  <a:avLst/>
                  <a:gdLst>
                    <a:gd name="T0" fmla="*/ 15 w 20"/>
                    <a:gd name="T1" fmla="*/ 0 h 18"/>
                    <a:gd name="T2" fmla="*/ 20 w 20"/>
                    <a:gd name="T3" fmla="*/ 9 h 18"/>
                    <a:gd name="T4" fmla="*/ 15 w 20"/>
                    <a:gd name="T5" fmla="*/ 18 h 18"/>
                    <a:gd name="T6" fmla="*/ 5 w 20"/>
                    <a:gd name="T7" fmla="*/ 18 h 18"/>
                    <a:gd name="T8" fmla="*/ 0 w 20"/>
                    <a:gd name="T9" fmla="*/ 9 h 18"/>
                    <a:gd name="T10" fmla="*/ 5 w 20"/>
                    <a:gd name="T11" fmla="*/ 0 h 18"/>
                    <a:gd name="T12" fmla="*/ 15 w 20"/>
                    <a:gd name="T13" fmla="*/ 0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0" h="18">
                      <a:moveTo>
                        <a:pt x="15" y="0"/>
                      </a:moveTo>
                      <a:lnTo>
                        <a:pt x="20" y="9"/>
                      </a:lnTo>
                      <a:lnTo>
                        <a:pt x="15" y="18"/>
                      </a:lnTo>
                      <a:lnTo>
                        <a:pt x="5" y="18"/>
                      </a:lnTo>
                      <a:lnTo>
                        <a:pt x="0" y="9"/>
                      </a:lnTo>
                      <a:lnTo>
                        <a:pt x="5" y="0"/>
                      </a:lnTo>
                      <a:lnTo>
                        <a:pt x="1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84729" name="Freeform 761"/>
                <p:cNvSpPr>
                  <a:spLocks/>
                </p:cNvSpPr>
                <p:nvPr/>
              </p:nvSpPr>
              <p:spPr bwMode="auto">
                <a:xfrm>
                  <a:off x="3017" y="3956"/>
                  <a:ext cx="19" cy="17"/>
                </a:xfrm>
                <a:custGeom>
                  <a:avLst/>
                  <a:gdLst>
                    <a:gd name="T0" fmla="*/ 14 w 19"/>
                    <a:gd name="T1" fmla="*/ 0 h 17"/>
                    <a:gd name="T2" fmla="*/ 19 w 19"/>
                    <a:gd name="T3" fmla="*/ 8 h 17"/>
                    <a:gd name="T4" fmla="*/ 14 w 19"/>
                    <a:gd name="T5" fmla="*/ 17 h 17"/>
                    <a:gd name="T6" fmla="*/ 5 w 19"/>
                    <a:gd name="T7" fmla="*/ 17 h 17"/>
                    <a:gd name="T8" fmla="*/ 0 w 19"/>
                    <a:gd name="T9" fmla="*/ 8 h 17"/>
                    <a:gd name="T10" fmla="*/ 5 w 19"/>
                    <a:gd name="T11" fmla="*/ 0 h 17"/>
                    <a:gd name="T12" fmla="*/ 14 w 19"/>
                    <a:gd name="T13" fmla="*/ 0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9" h="17">
                      <a:moveTo>
                        <a:pt x="14" y="0"/>
                      </a:moveTo>
                      <a:lnTo>
                        <a:pt x="19" y="8"/>
                      </a:lnTo>
                      <a:lnTo>
                        <a:pt x="14" y="17"/>
                      </a:lnTo>
                      <a:lnTo>
                        <a:pt x="5" y="17"/>
                      </a:lnTo>
                      <a:lnTo>
                        <a:pt x="0" y="8"/>
                      </a:lnTo>
                      <a:lnTo>
                        <a:pt x="5" y="0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84730" name="Freeform 762"/>
                <p:cNvSpPr>
                  <a:spLocks/>
                </p:cNvSpPr>
                <p:nvPr/>
              </p:nvSpPr>
              <p:spPr bwMode="auto">
                <a:xfrm>
                  <a:off x="2961" y="3956"/>
                  <a:ext cx="19" cy="18"/>
                </a:xfrm>
                <a:custGeom>
                  <a:avLst/>
                  <a:gdLst>
                    <a:gd name="T0" fmla="*/ 14 w 19"/>
                    <a:gd name="T1" fmla="*/ 0 h 18"/>
                    <a:gd name="T2" fmla="*/ 19 w 19"/>
                    <a:gd name="T3" fmla="*/ 9 h 18"/>
                    <a:gd name="T4" fmla="*/ 14 w 19"/>
                    <a:gd name="T5" fmla="*/ 18 h 18"/>
                    <a:gd name="T6" fmla="*/ 5 w 19"/>
                    <a:gd name="T7" fmla="*/ 18 h 18"/>
                    <a:gd name="T8" fmla="*/ 0 w 19"/>
                    <a:gd name="T9" fmla="*/ 9 h 18"/>
                    <a:gd name="T10" fmla="*/ 5 w 19"/>
                    <a:gd name="T11" fmla="*/ 0 h 18"/>
                    <a:gd name="T12" fmla="*/ 14 w 19"/>
                    <a:gd name="T13" fmla="*/ 0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9" h="18">
                      <a:moveTo>
                        <a:pt x="14" y="0"/>
                      </a:moveTo>
                      <a:lnTo>
                        <a:pt x="19" y="9"/>
                      </a:lnTo>
                      <a:lnTo>
                        <a:pt x="14" y="18"/>
                      </a:lnTo>
                      <a:lnTo>
                        <a:pt x="5" y="18"/>
                      </a:lnTo>
                      <a:lnTo>
                        <a:pt x="0" y="9"/>
                      </a:lnTo>
                      <a:lnTo>
                        <a:pt x="5" y="0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84731" name="Freeform 763"/>
                <p:cNvSpPr>
                  <a:spLocks/>
                </p:cNvSpPr>
                <p:nvPr/>
              </p:nvSpPr>
              <p:spPr bwMode="auto">
                <a:xfrm>
                  <a:off x="3016" y="4009"/>
                  <a:ext cx="19" cy="18"/>
                </a:xfrm>
                <a:custGeom>
                  <a:avLst/>
                  <a:gdLst>
                    <a:gd name="T0" fmla="*/ 14 w 19"/>
                    <a:gd name="T1" fmla="*/ 0 h 18"/>
                    <a:gd name="T2" fmla="*/ 19 w 19"/>
                    <a:gd name="T3" fmla="*/ 9 h 18"/>
                    <a:gd name="T4" fmla="*/ 14 w 19"/>
                    <a:gd name="T5" fmla="*/ 18 h 18"/>
                    <a:gd name="T6" fmla="*/ 5 w 19"/>
                    <a:gd name="T7" fmla="*/ 18 h 18"/>
                    <a:gd name="T8" fmla="*/ 0 w 19"/>
                    <a:gd name="T9" fmla="*/ 9 h 18"/>
                    <a:gd name="T10" fmla="*/ 5 w 19"/>
                    <a:gd name="T11" fmla="*/ 0 h 18"/>
                    <a:gd name="T12" fmla="*/ 14 w 19"/>
                    <a:gd name="T13" fmla="*/ 0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9" h="18">
                      <a:moveTo>
                        <a:pt x="14" y="0"/>
                      </a:moveTo>
                      <a:lnTo>
                        <a:pt x="19" y="9"/>
                      </a:lnTo>
                      <a:lnTo>
                        <a:pt x="14" y="18"/>
                      </a:lnTo>
                      <a:lnTo>
                        <a:pt x="5" y="18"/>
                      </a:lnTo>
                      <a:lnTo>
                        <a:pt x="0" y="9"/>
                      </a:lnTo>
                      <a:lnTo>
                        <a:pt x="5" y="0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84732" name="Freeform 764"/>
                <p:cNvSpPr>
                  <a:spLocks/>
                </p:cNvSpPr>
                <p:nvPr/>
              </p:nvSpPr>
              <p:spPr bwMode="auto">
                <a:xfrm>
                  <a:off x="2960" y="4010"/>
                  <a:ext cx="19" cy="18"/>
                </a:xfrm>
                <a:custGeom>
                  <a:avLst/>
                  <a:gdLst>
                    <a:gd name="T0" fmla="*/ 14 w 19"/>
                    <a:gd name="T1" fmla="*/ 0 h 18"/>
                    <a:gd name="T2" fmla="*/ 19 w 19"/>
                    <a:gd name="T3" fmla="*/ 9 h 18"/>
                    <a:gd name="T4" fmla="*/ 14 w 19"/>
                    <a:gd name="T5" fmla="*/ 18 h 18"/>
                    <a:gd name="T6" fmla="*/ 5 w 19"/>
                    <a:gd name="T7" fmla="*/ 18 h 18"/>
                    <a:gd name="T8" fmla="*/ 0 w 19"/>
                    <a:gd name="T9" fmla="*/ 9 h 18"/>
                    <a:gd name="T10" fmla="*/ 5 w 19"/>
                    <a:gd name="T11" fmla="*/ 0 h 18"/>
                    <a:gd name="T12" fmla="*/ 14 w 19"/>
                    <a:gd name="T13" fmla="*/ 0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9" h="18">
                      <a:moveTo>
                        <a:pt x="14" y="0"/>
                      </a:moveTo>
                      <a:lnTo>
                        <a:pt x="19" y="9"/>
                      </a:lnTo>
                      <a:lnTo>
                        <a:pt x="14" y="18"/>
                      </a:lnTo>
                      <a:lnTo>
                        <a:pt x="5" y="18"/>
                      </a:lnTo>
                      <a:lnTo>
                        <a:pt x="0" y="9"/>
                      </a:lnTo>
                      <a:lnTo>
                        <a:pt x="5" y="0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</p:grpSp>
        <p:grpSp>
          <p:nvGrpSpPr>
            <p:cNvPr id="84734" name="Group 766"/>
            <p:cNvGrpSpPr>
              <a:grpSpLocks/>
            </p:cNvGrpSpPr>
            <p:nvPr/>
          </p:nvGrpSpPr>
          <p:grpSpPr bwMode="auto">
            <a:xfrm>
              <a:off x="3826" y="3524"/>
              <a:ext cx="214" cy="149"/>
              <a:chOff x="3163" y="3364"/>
              <a:chExt cx="341" cy="238"/>
            </a:xfrm>
          </p:grpSpPr>
          <p:sp>
            <p:nvSpPr>
              <p:cNvPr id="84735" name="Freeform 767"/>
              <p:cNvSpPr>
                <a:spLocks/>
              </p:cNvSpPr>
              <p:nvPr/>
            </p:nvSpPr>
            <p:spPr bwMode="auto">
              <a:xfrm>
                <a:off x="3163" y="3364"/>
                <a:ext cx="341" cy="238"/>
              </a:xfrm>
              <a:custGeom>
                <a:avLst/>
                <a:gdLst>
                  <a:gd name="T0" fmla="*/ 341 w 341"/>
                  <a:gd name="T1" fmla="*/ 0 h 238"/>
                  <a:gd name="T2" fmla="*/ 256 w 341"/>
                  <a:gd name="T3" fmla="*/ 30 h 238"/>
                  <a:gd name="T4" fmla="*/ 0 w 341"/>
                  <a:gd name="T5" fmla="*/ 238 h 238"/>
                  <a:gd name="T6" fmla="*/ 28 w 341"/>
                  <a:gd name="T7" fmla="*/ 238 h 238"/>
                  <a:gd name="T8" fmla="*/ 57 w 341"/>
                  <a:gd name="T9" fmla="*/ 238 h 238"/>
                  <a:gd name="T10" fmla="*/ 341 w 341"/>
                  <a:gd name="T11" fmla="*/ 0 h 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41" h="238">
                    <a:moveTo>
                      <a:pt x="341" y="0"/>
                    </a:moveTo>
                    <a:lnTo>
                      <a:pt x="256" y="30"/>
                    </a:lnTo>
                    <a:lnTo>
                      <a:pt x="0" y="238"/>
                    </a:lnTo>
                    <a:lnTo>
                      <a:pt x="28" y="238"/>
                    </a:lnTo>
                    <a:lnTo>
                      <a:pt x="57" y="238"/>
                    </a:lnTo>
                    <a:lnTo>
                      <a:pt x="34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4736" name="Freeform 768"/>
              <p:cNvSpPr>
                <a:spLocks/>
              </p:cNvSpPr>
              <p:nvPr/>
            </p:nvSpPr>
            <p:spPr bwMode="auto">
              <a:xfrm>
                <a:off x="3163" y="3364"/>
                <a:ext cx="341" cy="238"/>
              </a:xfrm>
              <a:custGeom>
                <a:avLst/>
                <a:gdLst>
                  <a:gd name="T0" fmla="*/ 341 w 341"/>
                  <a:gd name="T1" fmla="*/ 0 h 238"/>
                  <a:gd name="T2" fmla="*/ 256 w 341"/>
                  <a:gd name="T3" fmla="*/ 30 h 238"/>
                  <a:gd name="T4" fmla="*/ 0 w 341"/>
                  <a:gd name="T5" fmla="*/ 238 h 238"/>
                  <a:gd name="T6" fmla="*/ 28 w 341"/>
                  <a:gd name="T7" fmla="*/ 238 h 238"/>
                  <a:gd name="T8" fmla="*/ 57 w 341"/>
                  <a:gd name="T9" fmla="*/ 238 h 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1" h="238">
                    <a:moveTo>
                      <a:pt x="341" y="0"/>
                    </a:moveTo>
                    <a:lnTo>
                      <a:pt x="256" y="30"/>
                    </a:lnTo>
                    <a:lnTo>
                      <a:pt x="0" y="238"/>
                    </a:lnTo>
                    <a:lnTo>
                      <a:pt x="28" y="238"/>
                    </a:lnTo>
                    <a:lnTo>
                      <a:pt x="57" y="238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84737" name="Line 769"/>
            <p:cNvSpPr>
              <a:spLocks noChangeShapeType="1"/>
            </p:cNvSpPr>
            <p:nvPr/>
          </p:nvSpPr>
          <p:spPr bwMode="auto">
            <a:xfrm flipH="1">
              <a:off x="3862" y="3528"/>
              <a:ext cx="172" cy="1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4738" name="Line 770"/>
            <p:cNvSpPr>
              <a:spLocks noChangeShapeType="1"/>
            </p:cNvSpPr>
            <p:nvPr/>
          </p:nvSpPr>
          <p:spPr bwMode="auto">
            <a:xfrm flipH="1">
              <a:off x="3557" y="3713"/>
              <a:ext cx="306" cy="1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4739" name="Freeform 771"/>
            <p:cNvSpPr>
              <a:spLocks/>
            </p:cNvSpPr>
            <p:nvPr/>
          </p:nvSpPr>
          <p:spPr bwMode="auto">
            <a:xfrm>
              <a:off x="3575" y="3729"/>
              <a:ext cx="286" cy="99"/>
            </a:xfrm>
            <a:custGeom>
              <a:avLst/>
              <a:gdLst>
                <a:gd name="T0" fmla="*/ 0 w 455"/>
                <a:gd name="T1" fmla="*/ 118 h 157"/>
                <a:gd name="T2" fmla="*/ 20 w 455"/>
                <a:gd name="T3" fmla="*/ 92 h 157"/>
                <a:gd name="T4" fmla="*/ 43 w 455"/>
                <a:gd name="T5" fmla="*/ 68 h 157"/>
                <a:gd name="T6" fmla="*/ 68 w 455"/>
                <a:gd name="T7" fmla="*/ 48 h 157"/>
                <a:gd name="T8" fmla="*/ 95 w 455"/>
                <a:gd name="T9" fmla="*/ 31 h 157"/>
                <a:gd name="T10" fmla="*/ 124 w 455"/>
                <a:gd name="T11" fmla="*/ 18 h 157"/>
                <a:gd name="T12" fmla="*/ 154 w 455"/>
                <a:gd name="T13" fmla="*/ 8 h 157"/>
                <a:gd name="T14" fmla="*/ 185 w 455"/>
                <a:gd name="T15" fmla="*/ 2 h 157"/>
                <a:gd name="T16" fmla="*/ 201 w 455"/>
                <a:gd name="T17" fmla="*/ 1 h 157"/>
                <a:gd name="T18" fmla="*/ 217 w 455"/>
                <a:gd name="T19" fmla="*/ 0 h 157"/>
                <a:gd name="T20" fmla="*/ 236 w 455"/>
                <a:gd name="T21" fmla="*/ 1 h 157"/>
                <a:gd name="T22" fmla="*/ 254 w 455"/>
                <a:gd name="T23" fmla="*/ 3 h 157"/>
                <a:gd name="T24" fmla="*/ 273 w 455"/>
                <a:gd name="T25" fmla="*/ 6 h 157"/>
                <a:gd name="T26" fmla="*/ 291 w 455"/>
                <a:gd name="T27" fmla="*/ 11 h 157"/>
                <a:gd name="T28" fmla="*/ 308 w 455"/>
                <a:gd name="T29" fmla="*/ 17 h 157"/>
                <a:gd name="T30" fmla="*/ 325 w 455"/>
                <a:gd name="T31" fmla="*/ 24 h 157"/>
                <a:gd name="T32" fmla="*/ 341 w 455"/>
                <a:gd name="T33" fmla="*/ 33 h 157"/>
                <a:gd name="T34" fmla="*/ 357 w 455"/>
                <a:gd name="T35" fmla="*/ 43 h 157"/>
                <a:gd name="T36" fmla="*/ 372 w 455"/>
                <a:gd name="T37" fmla="*/ 53 h 157"/>
                <a:gd name="T38" fmla="*/ 387 w 455"/>
                <a:gd name="T39" fmla="*/ 65 h 157"/>
                <a:gd name="T40" fmla="*/ 400 w 455"/>
                <a:gd name="T41" fmla="*/ 78 h 157"/>
                <a:gd name="T42" fmla="*/ 413 w 455"/>
                <a:gd name="T43" fmla="*/ 92 h 157"/>
                <a:gd name="T44" fmla="*/ 436 w 455"/>
                <a:gd name="T45" fmla="*/ 123 h 157"/>
                <a:gd name="T46" fmla="*/ 446 w 455"/>
                <a:gd name="T47" fmla="*/ 139 h 157"/>
                <a:gd name="T48" fmla="*/ 455 w 455"/>
                <a:gd name="T49" fmla="*/ 157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55" h="157">
                  <a:moveTo>
                    <a:pt x="0" y="118"/>
                  </a:moveTo>
                  <a:lnTo>
                    <a:pt x="20" y="92"/>
                  </a:lnTo>
                  <a:lnTo>
                    <a:pt x="43" y="68"/>
                  </a:lnTo>
                  <a:lnTo>
                    <a:pt x="68" y="48"/>
                  </a:lnTo>
                  <a:lnTo>
                    <a:pt x="95" y="31"/>
                  </a:lnTo>
                  <a:lnTo>
                    <a:pt x="124" y="18"/>
                  </a:lnTo>
                  <a:lnTo>
                    <a:pt x="154" y="8"/>
                  </a:lnTo>
                  <a:lnTo>
                    <a:pt x="185" y="2"/>
                  </a:lnTo>
                  <a:lnTo>
                    <a:pt x="201" y="1"/>
                  </a:lnTo>
                  <a:lnTo>
                    <a:pt x="217" y="0"/>
                  </a:lnTo>
                  <a:lnTo>
                    <a:pt x="236" y="1"/>
                  </a:lnTo>
                  <a:lnTo>
                    <a:pt x="254" y="3"/>
                  </a:lnTo>
                  <a:lnTo>
                    <a:pt x="273" y="6"/>
                  </a:lnTo>
                  <a:lnTo>
                    <a:pt x="291" y="11"/>
                  </a:lnTo>
                  <a:lnTo>
                    <a:pt x="308" y="17"/>
                  </a:lnTo>
                  <a:lnTo>
                    <a:pt x="325" y="24"/>
                  </a:lnTo>
                  <a:lnTo>
                    <a:pt x="341" y="33"/>
                  </a:lnTo>
                  <a:lnTo>
                    <a:pt x="357" y="43"/>
                  </a:lnTo>
                  <a:lnTo>
                    <a:pt x="372" y="53"/>
                  </a:lnTo>
                  <a:lnTo>
                    <a:pt x="387" y="65"/>
                  </a:lnTo>
                  <a:lnTo>
                    <a:pt x="400" y="78"/>
                  </a:lnTo>
                  <a:lnTo>
                    <a:pt x="413" y="92"/>
                  </a:lnTo>
                  <a:lnTo>
                    <a:pt x="436" y="123"/>
                  </a:lnTo>
                  <a:lnTo>
                    <a:pt x="446" y="139"/>
                  </a:lnTo>
                  <a:lnTo>
                    <a:pt x="455" y="15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4740" name="Freeform 772"/>
            <p:cNvSpPr>
              <a:spLocks/>
            </p:cNvSpPr>
            <p:nvPr/>
          </p:nvSpPr>
          <p:spPr bwMode="auto">
            <a:xfrm>
              <a:off x="3611" y="3755"/>
              <a:ext cx="234" cy="159"/>
            </a:xfrm>
            <a:custGeom>
              <a:avLst/>
              <a:gdLst>
                <a:gd name="T0" fmla="*/ 0 w 372"/>
                <a:gd name="T1" fmla="*/ 74 h 253"/>
                <a:gd name="T2" fmla="*/ 16 w 372"/>
                <a:gd name="T3" fmla="*/ 57 h 253"/>
                <a:gd name="T4" fmla="*/ 33 w 372"/>
                <a:gd name="T5" fmla="*/ 43 h 253"/>
                <a:gd name="T6" fmla="*/ 51 w 372"/>
                <a:gd name="T7" fmla="*/ 30 h 253"/>
                <a:gd name="T8" fmla="*/ 72 w 372"/>
                <a:gd name="T9" fmla="*/ 19 h 253"/>
                <a:gd name="T10" fmla="*/ 91 w 372"/>
                <a:gd name="T11" fmla="*/ 11 h 253"/>
                <a:gd name="T12" fmla="*/ 112 w 372"/>
                <a:gd name="T13" fmla="*/ 5 h 253"/>
                <a:gd name="T14" fmla="*/ 133 w 372"/>
                <a:gd name="T15" fmla="*/ 1 h 253"/>
                <a:gd name="T16" fmla="*/ 154 w 372"/>
                <a:gd name="T17" fmla="*/ 0 h 253"/>
                <a:gd name="T18" fmla="*/ 176 w 372"/>
                <a:gd name="T19" fmla="*/ 1 h 253"/>
                <a:gd name="T20" fmla="*/ 198 w 372"/>
                <a:gd name="T21" fmla="*/ 5 h 253"/>
                <a:gd name="T22" fmla="*/ 219 w 372"/>
                <a:gd name="T23" fmla="*/ 11 h 253"/>
                <a:gd name="T24" fmla="*/ 239 w 372"/>
                <a:gd name="T25" fmla="*/ 20 h 253"/>
                <a:gd name="T26" fmla="*/ 258 w 372"/>
                <a:gd name="T27" fmla="*/ 31 h 253"/>
                <a:gd name="T28" fmla="*/ 275 w 372"/>
                <a:gd name="T29" fmla="*/ 43 h 253"/>
                <a:gd name="T30" fmla="*/ 292 w 372"/>
                <a:gd name="T31" fmla="*/ 58 h 253"/>
                <a:gd name="T32" fmla="*/ 308 w 372"/>
                <a:gd name="T33" fmla="*/ 74 h 253"/>
                <a:gd name="T34" fmla="*/ 322 w 372"/>
                <a:gd name="T35" fmla="*/ 92 h 253"/>
                <a:gd name="T36" fmla="*/ 334 w 372"/>
                <a:gd name="T37" fmla="*/ 111 h 253"/>
                <a:gd name="T38" fmla="*/ 345 w 372"/>
                <a:gd name="T39" fmla="*/ 132 h 253"/>
                <a:gd name="T40" fmla="*/ 354 w 372"/>
                <a:gd name="T41" fmla="*/ 154 h 253"/>
                <a:gd name="T42" fmla="*/ 362 w 372"/>
                <a:gd name="T43" fmla="*/ 178 h 253"/>
                <a:gd name="T44" fmla="*/ 367 w 372"/>
                <a:gd name="T45" fmla="*/ 202 h 253"/>
                <a:gd name="T46" fmla="*/ 371 w 372"/>
                <a:gd name="T47" fmla="*/ 227 h 253"/>
                <a:gd name="T48" fmla="*/ 372 w 372"/>
                <a:gd name="T49" fmla="*/ 253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72" h="253">
                  <a:moveTo>
                    <a:pt x="0" y="74"/>
                  </a:moveTo>
                  <a:lnTo>
                    <a:pt x="16" y="57"/>
                  </a:lnTo>
                  <a:lnTo>
                    <a:pt x="33" y="43"/>
                  </a:lnTo>
                  <a:lnTo>
                    <a:pt x="51" y="30"/>
                  </a:lnTo>
                  <a:lnTo>
                    <a:pt x="72" y="19"/>
                  </a:lnTo>
                  <a:lnTo>
                    <a:pt x="91" y="11"/>
                  </a:lnTo>
                  <a:lnTo>
                    <a:pt x="112" y="5"/>
                  </a:lnTo>
                  <a:lnTo>
                    <a:pt x="133" y="1"/>
                  </a:lnTo>
                  <a:lnTo>
                    <a:pt x="154" y="0"/>
                  </a:lnTo>
                  <a:lnTo>
                    <a:pt x="176" y="1"/>
                  </a:lnTo>
                  <a:lnTo>
                    <a:pt x="198" y="5"/>
                  </a:lnTo>
                  <a:lnTo>
                    <a:pt x="219" y="11"/>
                  </a:lnTo>
                  <a:lnTo>
                    <a:pt x="239" y="20"/>
                  </a:lnTo>
                  <a:lnTo>
                    <a:pt x="258" y="31"/>
                  </a:lnTo>
                  <a:lnTo>
                    <a:pt x="275" y="43"/>
                  </a:lnTo>
                  <a:lnTo>
                    <a:pt x="292" y="58"/>
                  </a:lnTo>
                  <a:lnTo>
                    <a:pt x="308" y="74"/>
                  </a:lnTo>
                  <a:lnTo>
                    <a:pt x="322" y="92"/>
                  </a:lnTo>
                  <a:lnTo>
                    <a:pt x="334" y="111"/>
                  </a:lnTo>
                  <a:lnTo>
                    <a:pt x="345" y="132"/>
                  </a:lnTo>
                  <a:lnTo>
                    <a:pt x="354" y="154"/>
                  </a:lnTo>
                  <a:lnTo>
                    <a:pt x="362" y="178"/>
                  </a:lnTo>
                  <a:lnTo>
                    <a:pt x="367" y="202"/>
                  </a:lnTo>
                  <a:lnTo>
                    <a:pt x="371" y="227"/>
                  </a:lnTo>
                  <a:lnTo>
                    <a:pt x="372" y="253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4741" name="Freeform 773"/>
            <p:cNvSpPr>
              <a:spLocks/>
            </p:cNvSpPr>
            <p:nvPr/>
          </p:nvSpPr>
          <p:spPr bwMode="auto">
            <a:xfrm>
              <a:off x="3592" y="3767"/>
              <a:ext cx="251" cy="151"/>
            </a:xfrm>
            <a:custGeom>
              <a:avLst/>
              <a:gdLst>
                <a:gd name="T0" fmla="*/ 0 w 399"/>
                <a:gd name="T1" fmla="*/ 240 h 240"/>
                <a:gd name="T2" fmla="*/ 0 w 399"/>
                <a:gd name="T3" fmla="*/ 239 h 240"/>
                <a:gd name="T4" fmla="*/ 0 w 399"/>
                <a:gd name="T5" fmla="*/ 238 h 240"/>
                <a:gd name="T6" fmla="*/ 1 w 399"/>
                <a:gd name="T7" fmla="*/ 214 h 240"/>
                <a:gd name="T8" fmla="*/ 4 w 399"/>
                <a:gd name="T9" fmla="*/ 190 h 240"/>
                <a:gd name="T10" fmla="*/ 9 w 399"/>
                <a:gd name="T11" fmla="*/ 167 h 240"/>
                <a:gd name="T12" fmla="*/ 16 w 399"/>
                <a:gd name="T13" fmla="*/ 145 h 240"/>
                <a:gd name="T14" fmla="*/ 24 w 399"/>
                <a:gd name="T15" fmla="*/ 124 h 240"/>
                <a:gd name="T16" fmla="*/ 34 w 399"/>
                <a:gd name="T17" fmla="*/ 105 h 240"/>
                <a:gd name="T18" fmla="*/ 45 w 399"/>
                <a:gd name="T19" fmla="*/ 86 h 240"/>
                <a:gd name="T20" fmla="*/ 58 w 399"/>
                <a:gd name="T21" fmla="*/ 70 h 240"/>
                <a:gd name="T22" fmla="*/ 72 w 399"/>
                <a:gd name="T23" fmla="*/ 54 h 240"/>
                <a:gd name="T24" fmla="*/ 88 w 399"/>
                <a:gd name="T25" fmla="*/ 41 h 240"/>
                <a:gd name="T26" fmla="*/ 105 w 399"/>
                <a:gd name="T27" fmla="*/ 29 h 240"/>
                <a:gd name="T28" fmla="*/ 123 w 399"/>
                <a:gd name="T29" fmla="*/ 19 h 240"/>
                <a:gd name="T30" fmla="*/ 141 w 399"/>
                <a:gd name="T31" fmla="*/ 11 h 240"/>
                <a:gd name="T32" fmla="*/ 160 w 399"/>
                <a:gd name="T33" fmla="*/ 5 h 240"/>
                <a:gd name="T34" fmla="*/ 180 w 399"/>
                <a:gd name="T35" fmla="*/ 1 h 240"/>
                <a:gd name="T36" fmla="*/ 200 w 399"/>
                <a:gd name="T37" fmla="*/ 0 h 240"/>
                <a:gd name="T38" fmla="*/ 220 w 399"/>
                <a:gd name="T39" fmla="*/ 1 h 240"/>
                <a:gd name="T40" fmla="*/ 240 w 399"/>
                <a:gd name="T41" fmla="*/ 5 h 240"/>
                <a:gd name="T42" fmla="*/ 259 w 399"/>
                <a:gd name="T43" fmla="*/ 11 h 240"/>
                <a:gd name="T44" fmla="*/ 277 w 399"/>
                <a:gd name="T45" fmla="*/ 18 h 240"/>
                <a:gd name="T46" fmla="*/ 294 w 399"/>
                <a:gd name="T47" fmla="*/ 28 h 240"/>
                <a:gd name="T48" fmla="*/ 311 w 399"/>
                <a:gd name="T49" fmla="*/ 40 h 240"/>
                <a:gd name="T50" fmla="*/ 326 w 399"/>
                <a:gd name="T51" fmla="*/ 54 h 240"/>
                <a:gd name="T52" fmla="*/ 340 w 399"/>
                <a:gd name="T53" fmla="*/ 69 h 240"/>
                <a:gd name="T54" fmla="*/ 353 w 399"/>
                <a:gd name="T55" fmla="*/ 86 h 240"/>
                <a:gd name="T56" fmla="*/ 364 w 399"/>
                <a:gd name="T57" fmla="*/ 104 h 240"/>
                <a:gd name="T58" fmla="*/ 374 w 399"/>
                <a:gd name="T59" fmla="*/ 123 h 240"/>
                <a:gd name="T60" fmla="*/ 383 w 399"/>
                <a:gd name="T61" fmla="*/ 144 h 240"/>
                <a:gd name="T62" fmla="*/ 390 w 399"/>
                <a:gd name="T63" fmla="*/ 166 h 240"/>
                <a:gd name="T64" fmla="*/ 395 w 399"/>
                <a:gd name="T65" fmla="*/ 188 h 240"/>
                <a:gd name="T66" fmla="*/ 398 w 399"/>
                <a:gd name="T67" fmla="*/ 212 h 240"/>
                <a:gd name="T68" fmla="*/ 399 w 399"/>
                <a:gd name="T69" fmla="*/ 236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99" h="240">
                  <a:moveTo>
                    <a:pt x="0" y="240"/>
                  </a:moveTo>
                  <a:lnTo>
                    <a:pt x="0" y="239"/>
                  </a:lnTo>
                  <a:lnTo>
                    <a:pt x="0" y="238"/>
                  </a:lnTo>
                  <a:lnTo>
                    <a:pt x="1" y="214"/>
                  </a:lnTo>
                  <a:lnTo>
                    <a:pt x="4" y="190"/>
                  </a:lnTo>
                  <a:lnTo>
                    <a:pt x="9" y="167"/>
                  </a:lnTo>
                  <a:lnTo>
                    <a:pt x="16" y="145"/>
                  </a:lnTo>
                  <a:lnTo>
                    <a:pt x="24" y="124"/>
                  </a:lnTo>
                  <a:lnTo>
                    <a:pt x="34" y="105"/>
                  </a:lnTo>
                  <a:lnTo>
                    <a:pt x="45" y="86"/>
                  </a:lnTo>
                  <a:lnTo>
                    <a:pt x="58" y="70"/>
                  </a:lnTo>
                  <a:lnTo>
                    <a:pt x="72" y="54"/>
                  </a:lnTo>
                  <a:lnTo>
                    <a:pt x="88" y="41"/>
                  </a:lnTo>
                  <a:lnTo>
                    <a:pt x="105" y="29"/>
                  </a:lnTo>
                  <a:lnTo>
                    <a:pt x="123" y="19"/>
                  </a:lnTo>
                  <a:lnTo>
                    <a:pt x="141" y="11"/>
                  </a:lnTo>
                  <a:lnTo>
                    <a:pt x="160" y="5"/>
                  </a:lnTo>
                  <a:lnTo>
                    <a:pt x="180" y="1"/>
                  </a:lnTo>
                  <a:lnTo>
                    <a:pt x="200" y="0"/>
                  </a:lnTo>
                  <a:lnTo>
                    <a:pt x="220" y="1"/>
                  </a:lnTo>
                  <a:lnTo>
                    <a:pt x="240" y="5"/>
                  </a:lnTo>
                  <a:lnTo>
                    <a:pt x="259" y="11"/>
                  </a:lnTo>
                  <a:lnTo>
                    <a:pt x="277" y="18"/>
                  </a:lnTo>
                  <a:lnTo>
                    <a:pt x="294" y="28"/>
                  </a:lnTo>
                  <a:lnTo>
                    <a:pt x="311" y="40"/>
                  </a:lnTo>
                  <a:lnTo>
                    <a:pt x="326" y="54"/>
                  </a:lnTo>
                  <a:lnTo>
                    <a:pt x="340" y="69"/>
                  </a:lnTo>
                  <a:lnTo>
                    <a:pt x="353" y="86"/>
                  </a:lnTo>
                  <a:lnTo>
                    <a:pt x="364" y="104"/>
                  </a:lnTo>
                  <a:lnTo>
                    <a:pt x="374" y="123"/>
                  </a:lnTo>
                  <a:lnTo>
                    <a:pt x="383" y="144"/>
                  </a:lnTo>
                  <a:lnTo>
                    <a:pt x="390" y="166"/>
                  </a:lnTo>
                  <a:lnTo>
                    <a:pt x="395" y="188"/>
                  </a:lnTo>
                  <a:lnTo>
                    <a:pt x="398" y="212"/>
                  </a:lnTo>
                  <a:lnTo>
                    <a:pt x="399" y="236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84742" name="Group 774"/>
            <p:cNvGrpSpPr>
              <a:grpSpLocks/>
            </p:cNvGrpSpPr>
            <p:nvPr/>
          </p:nvGrpSpPr>
          <p:grpSpPr bwMode="auto">
            <a:xfrm>
              <a:off x="5011" y="3797"/>
              <a:ext cx="149" cy="242"/>
              <a:chOff x="5046" y="3798"/>
              <a:chExt cx="237" cy="385"/>
            </a:xfrm>
          </p:grpSpPr>
          <p:sp>
            <p:nvSpPr>
              <p:cNvPr id="84743" name="Freeform 775"/>
              <p:cNvSpPr>
                <a:spLocks/>
              </p:cNvSpPr>
              <p:nvPr/>
            </p:nvSpPr>
            <p:spPr bwMode="auto">
              <a:xfrm>
                <a:off x="5076" y="3798"/>
                <a:ext cx="177" cy="341"/>
              </a:xfrm>
              <a:custGeom>
                <a:avLst/>
                <a:gdLst>
                  <a:gd name="T0" fmla="*/ 0 w 177"/>
                  <a:gd name="T1" fmla="*/ 341 h 341"/>
                  <a:gd name="T2" fmla="*/ 71 w 177"/>
                  <a:gd name="T3" fmla="*/ 0 h 341"/>
                  <a:gd name="T4" fmla="*/ 106 w 177"/>
                  <a:gd name="T5" fmla="*/ 0 h 341"/>
                  <a:gd name="T6" fmla="*/ 177 w 177"/>
                  <a:gd name="T7" fmla="*/ 341 h 341"/>
                  <a:gd name="T8" fmla="*/ 0 w 177"/>
                  <a:gd name="T9" fmla="*/ 341 h 3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7" h="341">
                    <a:moveTo>
                      <a:pt x="0" y="341"/>
                    </a:moveTo>
                    <a:lnTo>
                      <a:pt x="71" y="0"/>
                    </a:lnTo>
                    <a:lnTo>
                      <a:pt x="106" y="0"/>
                    </a:lnTo>
                    <a:lnTo>
                      <a:pt x="177" y="341"/>
                    </a:lnTo>
                    <a:lnTo>
                      <a:pt x="0" y="341"/>
                    </a:ln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4744" name="Freeform 776"/>
              <p:cNvSpPr>
                <a:spLocks/>
              </p:cNvSpPr>
              <p:nvPr/>
            </p:nvSpPr>
            <p:spPr bwMode="auto">
              <a:xfrm>
                <a:off x="5094" y="3970"/>
                <a:ext cx="139" cy="86"/>
              </a:xfrm>
              <a:custGeom>
                <a:avLst/>
                <a:gdLst>
                  <a:gd name="T0" fmla="*/ 0 w 139"/>
                  <a:gd name="T1" fmla="*/ 86 h 86"/>
                  <a:gd name="T2" fmla="*/ 18 w 139"/>
                  <a:gd name="T3" fmla="*/ 0 h 86"/>
                  <a:gd name="T4" fmla="*/ 121 w 139"/>
                  <a:gd name="T5" fmla="*/ 0 h 86"/>
                  <a:gd name="T6" fmla="*/ 139 w 139"/>
                  <a:gd name="T7" fmla="*/ 86 h 86"/>
                  <a:gd name="T8" fmla="*/ 0 w 139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9" h="86">
                    <a:moveTo>
                      <a:pt x="0" y="86"/>
                    </a:moveTo>
                    <a:lnTo>
                      <a:pt x="18" y="0"/>
                    </a:lnTo>
                    <a:lnTo>
                      <a:pt x="121" y="0"/>
                    </a:lnTo>
                    <a:lnTo>
                      <a:pt x="139" y="86"/>
                    </a:lnTo>
                    <a:lnTo>
                      <a:pt x="0" y="86"/>
                    </a:ln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4745" name="Freeform 777"/>
              <p:cNvSpPr>
                <a:spLocks/>
              </p:cNvSpPr>
              <p:nvPr/>
            </p:nvSpPr>
            <p:spPr bwMode="auto">
              <a:xfrm>
                <a:off x="5111" y="3883"/>
                <a:ext cx="105" cy="86"/>
              </a:xfrm>
              <a:custGeom>
                <a:avLst/>
                <a:gdLst>
                  <a:gd name="T0" fmla="*/ 0 w 105"/>
                  <a:gd name="T1" fmla="*/ 86 h 86"/>
                  <a:gd name="T2" fmla="*/ 19 w 105"/>
                  <a:gd name="T3" fmla="*/ 0 h 86"/>
                  <a:gd name="T4" fmla="*/ 86 w 105"/>
                  <a:gd name="T5" fmla="*/ 0 h 86"/>
                  <a:gd name="T6" fmla="*/ 105 w 105"/>
                  <a:gd name="T7" fmla="*/ 86 h 86"/>
                  <a:gd name="T8" fmla="*/ 0 w 105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5" h="86">
                    <a:moveTo>
                      <a:pt x="0" y="86"/>
                    </a:moveTo>
                    <a:lnTo>
                      <a:pt x="19" y="0"/>
                    </a:lnTo>
                    <a:lnTo>
                      <a:pt x="86" y="0"/>
                    </a:lnTo>
                    <a:lnTo>
                      <a:pt x="105" y="86"/>
                    </a:lnTo>
                    <a:lnTo>
                      <a:pt x="0" y="86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4746" name="Freeform 778"/>
              <p:cNvSpPr>
                <a:spLocks/>
              </p:cNvSpPr>
              <p:nvPr/>
            </p:nvSpPr>
            <p:spPr bwMode="auto">
              <a:xfrm>
                <a:off x="5076" y="4054"/>
                <a:ext cx="177" cy="85"/>
              </a:xfrm>
              <a:custGeom>
                <a:avLst/>
                <a:gdLst>
                  <a:gd name="T0" fmla="*/ 0 w 177"/>
                  <a:gd name="T1" fmla="*/ 85 h 85"/>
                  <a:gd name="T2" fmla="*/ 18 w 177"/>
                  <a:gd name="T3" fmla="*/ 0 h 85"/>
                  <a:gd name="T4" fmla="*/ 159 w 177"/>
                  <a:gd name="T5" fmla="*/ 0 h 85"/>
                  <a:gd name="T6" fmla="*/ 177 w 177"/>
                  <a:gd name="T7" fmla="*/ 85 h 85"/>
                  <a:gd name="T8" fmla="*/ 0 w 177"/>
                  <a:gd name="T9" fmla="*/ 85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7" h="85">
                    <a:moveTo>
                      <a:pt x="0" y="85"/>
                    </a:moveTo>
                    <a:lnTo>
                      <a:pt x="18" y="0"/>
                    </a:lnTo>
                    <a:lnTo>
                      <a:pt x="159" y="0"/>
                    </a:lnTo>
                    <a:lnTo>
                      <a:pt x="177" y="85"/>
                    </a:lnTo>
                    <a:lnTo>
                      <a:pt x="0" y="8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4747" name="Rectangle 779"/>
              <p:cNvSpPr>
                <a:spLocks noChangeArrowheads="1"/>
              </p:cNvSpPr>
              <p:nvPr/>
            </p:nvSpPr>
            <p:spPr bwMode="auto">
              <a:xfrm>
                <a:off x="5046" y="4139"/>
                <a:ext cx="237" cy="44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84748" name="Group 780"/>
            <p:cNvGrpSpPr>
              <a:grpSpLocks/>
            </p:cNvGrpSpPr>
            <p:nvPr/>
          </p:nvGrpSpPr>
          <p:grpSpPr bwMode="auto">
            <a:xfrm>
              <a:off x="5255" y="3676"/>
              <a:ext cx="149" cy="242"/>
              <a:chOff x="5434" y="3606"/>
              <a:chExt cx="237" cy="385"/>
            </a:xfrm>
          </p:grpSpPr>
          <p:sp>
            <p:nvSpPr>
              <p:cNvPr id="84749" name="Freeform 781"/>
              <p:cNvSpPr>
                <a:spLocks/>
              </p:cNvSpPr>
              <p:nvPr/>
            </p:nvSpPr>
            <p:spPr bwMode="auto">
              <a:xfrm>
                <a:off x="5464" y="3606"/>
                <a:ext cx="177" cy="341"/>
              </a:xfrm>
              <a:custGeom>
                <a:avLst/>
                <a:gdLst>
                  <a:gd name="T0" fmla="*/ 0 w 177"/>
                  <a:gd name="T1" fmla="*/ 341 h 341"/>
                  <a:gd name="T2" fmla="*/ 71 w 177"/>
                  <a:gd name="T3" fmla="*/ 0 h 341"/>
                  <a:gd name="T4" fmla="*/ 106 w 177"/>
                  <a:gd name="T5" fmla="*/ 0 h 341"/>
                  <a:gd name="T6" fmla="*/ 177 w 177"/>
                  <a:gd name="T7" fmla="*/ 341 h 341"/>
                  <a:gd name="T8" fmla="*/ 0 w 177"/>
                  <a:gd name="T9" fmla="*/ 341 h 3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7" h="341">
                    <a:moveTo>
                      <a:pt x="0" y="341"/>
                    </a:moveTo>
                    <a:lnTo>
                      <a:pt x="71" y="0"/>
                    </a:lnTo>
                    <a:lnTo>
                      <a:pt x="106" y="0"/>
                    </a:lnTo>
                    <a:lnTo>
                      <a:pt x="177" y="341"/>
                    </a:lnTo>
                    <a:lnTo>
                      <a:pt x="0" y="341"/>
                    </a:ln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4750" name="Freeform 782"/>
              <p:cNvSpPr>
                <a:spLocks/>
              </p:cNvSpPr>
              <p:nvPr/>
            </p:nvSpPr>
            <p:spPr bwMode="auto">
              <a:xfrm>
                <a:off x="5482" y="3778"/>
                <a:ext cx="139" cy="86"/>
              </a:xfrm>
              <a:custGeom>
                <a:avLst/>
                <a:gdLst>
                  <a:gd name="T0" fmla="*/ 0 w 139"/>
                  <a:gd name="T1" fmla="*/ 86 h 86"/>
                  <a:gd name="T2" fmla="*/ 18 w 139"/>
                  <a:gd name="T3" fmla="*/ 0 h 86"/>
                  <a:gd name="T4" fmla="*/ 121 w 139"/>
                  <a:gd name="T5" fmla="*/ 0 h 86"/>
                  <a:gd name="T6" fmla="*/ 139 w 139"/>
                  <a:gd name="T7" fmla="*/ 86 h 86"/>
                  <a:gd name="T8" fmla="*/ 0 w 139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9" h="86">
                    <a:moveTo>
                      <a:pt x="0" y="86"/>
                    </a:moveTo>
                    <a:lnTo>
                      <a:pt x="18" y="0"/>
                    </a:lnTo>
                    <a:lnTo>
                      <a:pt x="121" y="0"/>
                    </a:lnTo>
                    <a:lnTo>
                      <a:pt x="139" y="86"/>
                    </a:lnTo>
                    <a:lnTo>
                      <a:pt x="0" y="86"/>
                    </a:ln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4751" name="Freeform 783"/>
              <p:cNvSpPr>
                <a:spLocks/>
              </p:cNvSpPr>
              <p:nvPr/>
            </p:nvSpPr>
            <p:spPr bwMode="auto">
              <a:xfrm>
                <a:off x="5499" y="3691"/>
                <a:ext cx="105" cy="86"/>
              </a:xfrm>
              <a:custGeom>
                <a:avLst/>
                <a:gdLst>
                  <a:gd name="T0" fmla="*/ 0 w 105"/>
                  <a:gd name="T1" fmla="*/ 86 h 86"/>
                  <a:gd name="T2" fmla="*/ 19 w 105"/>
                  <a:gd name="T3" fmla="*/ 0 h 86"/>
                  <a:gd name="T4" fmla="*/ 86 w 105"/>
                  <a:gd name="T5" fmla="*/ 0 h 86"/>
                  <a:gd name="T6" fmla="*/ 105 w 105"/>
                  <a:gd name="T7" fmla="*/ 86 h 86"/>
                  <a:gd name="T8" fmla="*/ 0 w 105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5" h="86">
                    <a:moveTo>
                      <a:pt x="0" y="86"/>
                    </a:moveTo>
                    <a:lnTo>
                      <a:pt x="19" y="0"/>
                    </a:lnTo>
                    <a:lnTo>
                      <a:pt x="86" y="0"/>
                    </a:lnTo>
                    <a:lnTo>
                      <a:pt x="105" y="86"/>
                    </a:lnTo>
                    <a:lnTo>
                      <a:pt x="0" y="86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4752" name="Freeform 784"/>
              <p:cNvSpPr>
                <a:spLocks/>
              </p:cNvSpPr>
              <p:nvPr/>
            </p:nvSpPr>
            <p:spPr bwMode="auto">
              <a:xfrm>
                <a:off x="5464" y="3862"/>
                <a:ext cx="177" cy="85"/>
              </a:xfrm>
              <a:custGeom>
                <a:avLst/>
                <a:gdLst>
                  <a:gd name="T0" fmla="*/ 0 w 177"/>
                  <a:gd name="T1" fmla="*/ 85 h 85"/>
                  <a:gd name="T2" fmla="*/ 18 w 177"/>
                  <a:gd name="T3" fmla="*/ 0 h 85"/>
                  <a:gd name="T4" fmla="*/ 159 w 177"/>
                  <a:gd name="T5" fmla="*/ 0 h 85"/>
                  <a:gd name="T6" fmla="*/ 177 w 177"/>
                  <a:gd name="T7" fmla="*/ 85 h 85"/>
                  <a:gd name="T8" fmla="*/ 0 w 177"/>
                  <a:gd name="T9" fmla="*/ 85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7" h="85">
                    <a:moveTo>
                      <a:pt x="0" y="85"/>
                    </a:moveTo>
                    <a:lnTo>
                      <a:pt x="18" y="0"/>
                    </a:lnTo>
                    <a:lnTo>
                      <a:pt x="159" y="0"/>
                    </a:lnTo>
                    <a:lnTo>
                      <a:pt x="177" y="85"/>
                    </a:lnTo>
                    <a:lnTo>
                      <a:pt x="0" y="8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4753" name="Rectangle 785"/>
              <p:cNvSpPr>
                <a:spLocks noChangeArrowheads="1"/>
              </p:cNvSpPr>
              <p:nvPr/>
            </p:nvSpPr>
            <p:spPr bwMode="auto">
              <a:xfrm>
                <a:off x="5434" y="3947"/>
                <a:ext cx="237" cy="44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84754" name="Group 786"/>
            <p:cNvGrpSpPr>
              <a:grpSpLocks/>
            </p:cNvGrpSpPr>
            <p:nvPr/>
          </p:nvGrpSpPr>
          <p:grpSpPr bwMode="auto">
            <a:xfrm>
              <a:off x="4317" y="3797"/>
              <a:ext cx="149" cy="242"/>
              <a:chOff x="3942" y="3798"/>
              <a:chExt cx="237" cy="385"/>
            </a:xfrm>
          </p:grpSpPr>
          <p:sp>
            <p:nvSpPr>
              <p:cNvPr id="84755" name="Freeform 787"/>
              <p:cNvSpPr>
                <a:spLocks/>
              </p:cNvSpPr>
              <p:nvPr/>
            </p:nvSpPr>
            <p:spPr bwMode="auto">
              <a:xfrm>
                <a:off x="3972" y="3798"/>
                <a:ext cx="177" cy="341"/>
              </a:xfrm>
              <a:custGeom>
                <a:avLst/>
                <a:gdLst>
                  <a:gd name="T0" fmla="*/ 0 w 177"/>
                  <a:gd name="T1" fmla="*/ 341 h 341"/>
                  <a:gd name="T2" fmla="*/ 71 w 177"/>
                  <a:gd name="T3" fmla="*/ 0 h 341"/>
                  <a:gd name="T4" fmla="*/ 106 w 177"/>
                  <a:gd name="T5" fmla="*/ 0 h 341"/>
                  <a:gd name="T6" fmla="*/ 177 w 177"/>
                  <a:gd name="T7" fmla="*/ 341 h 341"/>
                  <a:gd name="T8" fmla="*/ 0 w 177"/>
                  <a:gd name="T9" fmla="*/ 341 h 3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7" h="341">
                    <a:moveTo>
                      <a:pt x="0" y="341"/>
                    </a:moveTo>
                    <a:lnTo>
                      <a:pt x="71" y="0"/>
                    </a:lnTo>
                    <a:lnTo>
                      <a:pt x="106" y="0"/>
                    </a:lnTo>
                    <a:lnTo>
                      <a:pt x="177" y="341"/>
                    </a:lnTo>
                    <a:lnTo>
                      <a:pt x="0" y="341"/>
                    </a:ln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4756" name="Freeform 788"/>
              <p:cNvSpPr>
                <a:spLocks/>
              </p:cNvSpPr>
              <p:nvPr/>
            </p:nvSpPr>
            <p:spPr bwMode="auto">
              <a:xfrm>
                <a:off x="3990" y="3970"/>
                <a:ext cx="139" cy="86"/>
              </a:xfrm>
              <a:custGeom>
                <a:avLst/>
                <a:gdLst>
                  <a:gd name="T0" fmla="*/ 0 w 139"/>
                  <a:gd name="T1" fmla="*/ 86 h 86"/>
                  <a:gd name="T2" fmla="*/ 18 w 139"/>
                  <a:gd name="T3" fmla="*/ 0 h 86"/>
                  <a:gd name="T4" fmla="*/ 121 w 139"/>
                  <a:gd name="T5" fmla="*/ 0 h 86"/>
                  <a:gd name="T6" fmla="*/ 139 w 139"/>
                  <a:gd name="T7" fmla="*/ 86 h 86"/>
                  <a:gd name="T8" fmla="*/ 0 w 139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9" h="86">
                    <a:moveTo>
                      <a:pt x="0" y="86"/>
                    </a:moveTo>
                    <a:lnTo>
                      <a:pt x="18" y="0"/>
                    </a:lnTo>
                    <a:lnTo>
                      <a:pt x="121" y="0"/>
                    </a:lnTo>
                    <a:lnTo>
                      <a:pt x="139" y="86"/>
                    </a:lnTo>
                    <a:lnTo>
                      <a:pt x="0" y="86"/>
                    </a:ln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4757" name="Freeform 789"/>
              <p:cNvSpPr>
                <a:spLocks/>
              </p:cNvSpPr>
              <p:nvPr/>
            </p:nvSpPr>
            <p:spPr bwMode="auto">
              <a:xfrm>
                <a:off x="4007" y="3883"/>
                <a:ext cx="105" cy="86"/>
              </a:xfrm>
              <a:custGeom>
                <a:avLst/>
                <a:gdLst>
                  <a:gd name="T0" fmla="*/ 0 w 105"/>
                  <a:gd name="T1" fmla="*/ 86 h 86"/>
                  <a:gd name="T2" fmla="*/ 19 w 105"/>
                  <a:gd name="T3" fmla="*/ 0 h 86"/>
                  <a:gd name="T4" fmla="*/ 86 w 105"/>
                  <a:gd name="T5" fmla="*/ 0 h 86"/>
                  <a:gd name="T6" fmla="*/ 105 w 105"/>
                  <a:gd name="T7" fmla="*/ 86 h 86"/>
                  <a:gd name="T8" fmla="*/ 0 w 105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5" h="86">
                    <a:moveTo>
                      <a:pt x="0" y="86"/>
                    </a:moveTo>
                    <a:lnTo>
                      <a:pt x="19" y="0"/>
                    </a:lnTo>
                    <a:lnTo>
                      <a:pt x="86" y="0"/>
                    </a:lnTo>
                    <a:lnTo>
                      <a:pt x="105" y="86"/>
                    </a:lnTo>
                    <a:lnTo>
                      <a:pt x="0" y="86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4758" name="Freeform 790"/>
              <p:cNvSpPr>
                <a:spLocks/>
              </p:cNvSpPr>
              <p:nvPr/>
            </p:nvSpPr>
            <p:spPr bwMode="auto">
              <a:xfrm>
                <a:off x="3972" y="4054"/>
                <a:ext cx="177" cy="85"/>
              </a:xfrm>
              <a:custGeom>
                <a:avLst/>
                <a:gdLst>
                  <a:gd name="T0" fmla="*/ 0 w 177"/>
                  <a:gd name="T1" fmla="*/ 85 h 85"/>
                  <a:gd name="T2" fmla="*/ 18 w 177"/>
                  <a:gd name="T3" fmla="*/ 0 h 85"/>
                  <a:gd name="T4" fmla="*/ 159 w 177"/>
                  <a:gd name="T5" fmla="*/ 0 h 85"/>
                  <a:gd name="T6" fmla="*/ 177 w 177"/>
                  <a:gd name="T7" fmla="*/ 85 h 85"/>
                  <a:gd name="T8" fmla="*/ 0 w 177"/>
                  <a:gd name="T9" fmla="*/ 85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7" h="85">
                    <a:moveTo>
                      <a:pt x="0" y="85"/>
                    </a:moveTo>
                    <a:lnTo>
                      <a:pt x="18" y="0"/>
                    </a:lnTo>
                    <a:lnTo>
                      <a:pt x="159" y="0"/>
                    </a:lnTo>
                    <a:lnTo>
                      <a:pt x="177" y="85"/>
                    </a:lnTo>
                    <a:lnTo>
                      <a:pt x="0" y="8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4759" name="Rectangle 791"/>
              <p:cNvSpPr>
                <a:spLocks noChangeArrowheads="1"/>
              </p:cNvSpPr>
              <p:nvPr/>
            </p:nvSpPr>
            <p:spPr bwMode="auto">
              <a:xfrm>
                <a:off x="3942" y="4139"/>
                <a:ext cx="237" cy="44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84760" name="Group 792"/>
            <p:cNvGrpSpPr>
              <a:grpSpLocks/>
            </p:cNvGrpSpPr>
            <p:nvPr/>
          </p:nvGrpSpPr>
          <p:grpSpPr bwMode="auto">
            <a:xfrm>
              <a:off x="3351" y="3797"/>
              <a:ext cx="149" cy="242"/>
              <a:chOff x="2405" y="3798"/>
              <a:chExt cx="237" cy="385"/>
            </a:xfrm>
          </p:grpSpPr>
          <p:sp>
            <p:nvSpPr>
              <p:cNvPr id="84761" name="Freeform 793"/>
              <p:cNvSpPr>
                <a:spLocks/>
              </p:cNvSpPr>
              <p:nvPr/>
            </p:nvSpPr>
            <p:spPr bwMode="auto">
              <a:xfrm>
                <a:off x="2435" y="3798"/>
                <a:ext cx="177" cy="341"/>
              </a:xfrm>
              <a:custGeom>
                <a:avLst/>
                <a:gdLst>
                  <a:gd name="T0" fmla="*/ 0 w 177"/>
                  <a:gd name="T1" fmla="*/ 341 h 341"/>
                  <a:gd name="T2" fmla="*/ 71 w 177"/>
                  <a:gd name="T3" fmla="*/ 0 h 341"/>
                  <a:gd name="T4" fmla="*/ 106 w 177"/>
                  <a:gd name="T5" fmla="*/ 0 h 341"/>
                  <a:gd name="T6" fmla="*/ 177 w 177"/>
                  <a:gd name="T7" fmla="*/ 341 h 341"/>
                  <a:gd name="T8" fmla="*/ 0 w 177"/>
                  <a:gd name="T9" fmla="*/ 341 h 3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7" h="341">
                    <a:moveTo>
                      <a:pt x="0" y="341"/>
                    </a:moveTo>
                    <a:lnTo>
                      <a:pt x="71" y="0"/>
                    </a:lnTo>
                    <a:lnTo>
                      <a:pt x="106" y="0"/>
                    </a:lnTo>
                    <a:lnTo>
                      <a:pt x="177" y="341"/>
                    </a:lnTo>
                    <a:lnTo>
                      <a:pt x="0" y="341"/>
                    </a:ln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4762" name="Freeform 794"/>
              <p:cNvSpPr>
                <a:spLocks/>
              </p:cNvSpPr>
              <p:nvPr/>
            </p:nvSpPr>
            <p:spPr bwMode="auto">
              <a:xfrm>
                <a:off x="2453" y="3970"/>
                <a:ext cx="139" cy="86"/>
              </a:xfrm>
              <a:custGeom>
                <a:avLst/>
                <a:gdLst>
                  <a:gd name="T0" fmla="*/ 0 w 139"/>
                  <a:gd name="T1" fmla="*/ 86 h 86"/>
                  <a:gd name="T2" fmla="*/ 18 w 139"/>
                  <a:gd name="T3" fmla="*/ 0 h 86"/>
                  <a:gd name="T4" fmla="*/ 121 w 139"/>
                  <a:gd name="T5" fmla="*/ 0 h 86"/>
                  <a:gd name="T6" fmla="*/ 139 w 139"/>
                  <a:gd name="T7" fmla="*/ 86 h 86"/>
                  <a:gd name="T8" fmla="*/ 0 w 139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9" h="86">
                    <a:moveTo>
                      <a:pt x="0" y="86"/>
                    </a:moveTo>
                    <a:lnTo>
                      <a:pt x="18" y="0"/>
                    </a:lnTo>
                    <a:lnTo>
                      <a:pt x="121" y="0"/>
                    </a:lnTo>
                    <a:lnTo>
                      <a:pt x="139" y="86"/>
                    </a:lnTo>
                    <a:lnTo>
                      <a:pt x="0" y="86"/>
                    </a:ln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4763" name="Freeform 795"/>
              <p:cNvSpPr>
                <a:spLocks/>
              </p:cNvSpPr>
              <p:nvPr/>
            </p:nvSpPr>
            <p:spPr bwMode="auto">
              <a:xfrm>
                <a:off x="2470" y="3883"/>
                <a:ext cx="105" cy="86"/>
              </a:xfrm>
              <a:custGeom>
                <a:avLst/>
                <a:gdLst>
                  <a:gd name="T0" fmla="*/ 0 w 105"/>
                  <a:gd name="T1" fmla="*/ 86 h 86"/>
                  <a:gd name="T2" fmla="*/ 19 w 105"/>
                  <a:gd name="T3" fmla="*/ 0 h 86"/>
                  <a:gd name="T4" fmla="*/ 86 w 105"/>
                  <a:gd name="T5" fmla="*/ 0 h 86"/>
                  <a:gd name="T6" fmla="*/ 105 w 105"/>
                  <a:gd name="T7" fmla="*/ 86 h 86"/>
                  <a:gd name="T8" fmla="*/ 0 w 105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5" h="86">
                    <a:moveTo>
                      <a:pt x="0" y="86"/>
                    </a:moveTo>
                    <a:lnTo>
                      <a:pt x="19" y="0"/>
                    </a:lnTo>
                    <a:lnTo>
                      <a:pt x="86" y="0"/>
                    </a:lnTo>
                    <a:lnTo>
                      <a:pt x="105" y="86"/>
                    </a:lnTo>
                    <a:lnTo>
                      <a:pt x="0" y="86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4764" name="Freeform 796"/>
              <p:cNvSpPr>
                <a:spLocks/>
              </p:cNvSpPr>
              <p:nvPr/>
            </p:nvSpPr>
            <p:spPr bwMode="auto">
              <a:xfrm>
                <a:off x="2435" y="4054"/>
                <a:ext cx="177" cy="85"/>
              </a:xfrm>
              <a:custGeom>
                <a:avLst/>
                <a:gdLst>
                  <a:gd name="T0" fmla="*/ 0 w 177"/>
                  <a:gd name="T1" fmla="*/ 85 h 85"/>
                  <a:gd name="T2" fmla="*/ 18 w 177"/>
                  <a:gd name="T3" fmla="*/ 0 h 85"/>
                  <a:gd name="T4" fmla="*/ 159 w 177"/>
                  <a:gd name="T5" fmla="*/ 0 h 85"/>
                  <a:gd name="T6" fmla="*/ 177 w 177"/>
                  <a:gd name="T7" fmla="*/ 85 h 85"/>
                  <a:gd name="T8" fmla="*/ 0 w 177"/>
                  <a:gd name="T9" fmla="*/ 85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7" h="85">
                    <a:moveTo>
                      <a:pt x="0" y="85"/>
                    </a:moveTo>
                    <a:lnTo>
                      <a:pt x="18" y="0"/>
                    </a:lnTo>
                    <a:lnTo>
                      <a:pt x="159" y="0"/>
                    </a:lnTo>
                    <a:lnTo>
                      <a:pt x="177" y="85"/>
                    </a:lnTo>
                    <a:lnTo>
                      <a:pt x="0" y="8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4765" name="Rectangle 797"/>
              <p:cNvSpPr>
                <a:spLocks noChangeArrowheads="1"/>
              </p:cNvSpPr>
              <p:nvPr/>
            </p:nvSpPr>
            <p:spPr bwMode="auto">
              <a:xfrm>
                <a:off x="2405" y="4139"/>
                <a:ext cx="237" cy="44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84766" name="Group 798"/>
            <p:cNvGrpSpPr>
              <a:grpSpLocks/>
            </p:cNvGrpSpPr>
            <p:nvPr/>
          </p:nvGrpSpPr>
          <p:grpSpPr bwMode="auto">
            <a:xfrm>
              <a:off x="3078" y="3646"/>
              <a:ext cx="150" cy="242"/>
              <a:chOff x="1973" y="3558"/>
              <a:chExt cx="237" cy="385"/>
            </a:xfrm>
          </p:grpSpPr>
          <p:sp>
            <p:nvSpPr>
              <p:cNvPr id="84767" name="Freeform 799"/>
              <p:cNvSpPr>
                <a:spLocks/>
              </p:cNvSpPr>
              <p:nvPr/>
            </p:nvSpPr>
            <p:spPr bwMode="auto">
              <a:xfrm>
                <a:off x="2003" y="3558"/>
                <a:ext cx="177" cy="341"/>
              </a:xfrm>
              <a:custGeom>
                <a:avLst/>
                <a:gdLst>
                  <a:gd name="T0" fmla="*/ 0 w 177"/>
                  <a:gd name="T1" fmla="*/ 341 h 341"/>
                  <a:gd name="T2" fmla="*/ 71 w 177"/>
                  <a:gd name="T3" fmla="*/ 0 h 341"/>
                  <a:gd name="T4" fmla="*/ 106 w 177"/>
                  <a:gd name="T5" fmla="*/ 0 h 341"/>
                  <a:gd name="T6" fmla="*/ 177 w 177"/>
                  <a:gd name="T7" fmla="*/ 341 h 341"/>
                  <a:gd name="T8" fmla="*/ 0 w 177"/>
                  <a:gd name="T9" fmla="*/ 341 h 3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7" h="341">
                    <a:moveTo>
                      <a:pt x="0" y="341"/>
                    </a:moveTo>
                    <a:lnTo>
                      <a:pt x="71" y="0"/>
                    </a:lnTo>
                    <a:lnTo>
                      <a:pt x="106" y="0"/>
                    </a:lnTo>
                    <a:lnTo>
                      <a:pt x="177" y="341"/>
                    </a:lnTo>
                    <a:lnTo>
                      <a:pt x="0" y="341"/>
                    </a:ln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4768" name="Freeform 800"/>
              <p:cNvSpPr>
                <a:spLocks/>
              </p:cNvSpPr>
              <p:nvPr/>
            </p:nvSpPr>
            <p:spPr bwMode="auto">
              <a:xfrm>
                <a:off x="2021" y="3730"/>
                <a:ext cx="139" cy="86"/>
              </a:xfrm>
              <a:custGeom>
                <a:avLst/>
                <a:gdLst>
                  <a:gd name="T0" fmla="*/ 0 w 139"/>
                  <a:gd name="T1" fmla="*/ 86 h 86"/>
                  <a:gd name="T2" fmla="*/ 18 w 139"/>
                  <a:gd name="T3" fmla="*/ 0 h 86"/>
                  <a:gd name="T4" fmla="*/ 121 w 139"/>
                  <a:gd name="T5" fmla="*/ 0 h 86"/>
                  <a:gd name="T6" fmla="*/ 139 w 139"/>
                  <a:gd name="T7" fmla="*/ 86 h 86"/>
                  <a:gd name="T8" fmla="*/ 0 w 139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9" h="86">
                    <a:moveTo>
                      <a:pt x="0" y="86"/>
                    </a:moveTo>
                    <a:lnTo>
                      <a:pt x="18" y="0"/>
                    </a:lnTo>
                    <a:lnTo>
                      <a:pt x="121" y="0"/>
                    </a:lnTo>
                    <a:lnTo>
                      <a:pt x="139" y="86"/>
                    </a:lnTo>
                    <a:lnTo>
                      <a:pt x="0" y="86"/>
                    </a:ln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4769" name="Freeform 801"/>
              <p:cNvSpPr>
                <a:spLocks/>
              </p:cNvSpPr>
              <p:nvPr/>
            </p:nvSpPr>
            <p:spPr bwMode="auto">
              <a:xfrm>
                <a:off x="2038" y="3643"/>
                <a:ext cx="105" cy="86"/>
              </a:xfrm>
              <a:custGeom>
                <a:avLst/>
                <a:gdLst>
                  <a:gd name="T0" fmla="*/ 0 w 105"/>
                  <a:gd name="T1" fmla="*/ 86 h 86"/>
                  <a:gd name="T2" fmla="*/ 19 w 105"/>
                  <a:gd name="T3" fmla="*/ 0 h 86"/>
                  <a:gd name="T4" fmla="*/ 86 w 105"/>
                  <a:gd name="T5" fmla="*/ 0 h 86"/>
                  <a:gd name="T6" fmla="*/ 105 w 105"/>
                  <a:gd name="T7" fmla="*/ 86 h 86"/>
                  <a:gd name="T8" fmla="*/ 0 w 105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5" h="86">
                    <a:moveTo>
                      <a:pt x="0" y="86"/>
                    </a:moveTo>
                    <a:lnTo>
                      <a:pt x="19" y="0"/>
                    </a:lnTo>
                    <a:lnTo>
                      <a:pt x="86" y="0"/>
                    </a:lnTo>
                    <a:lnTo>
                      <a:pt x="105" y="86"/>
                    </a:lnTo>
                    <a:lnTo>
                      <a:pt x="0" y="86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4770" name="Freeform 802"/>
              <p:cNvSpPr>
                <a:spLocks/>
              </p:cNvSpPr>
              <p:nvPr/>
            </p:nvSpPr>
            <p:spPr bwMode="auto">
              <a:xfrm>
                <a:off x="2003" y="3814"/>
                <a:ext cx="177" cy="85"/>
              </a:xfrm>
              <a:custGeom>
                <a:avLst/>
                <a:gdLst>
                  <a:gd name="T0" fmla="*/ 0 w 177"/>
                  <a:gd name="T1" fmla="*/ 85 h 85"/>
                  <a:gd name="T2" fmla="*/ 18 w 177"/>
                  <a:gd name="T3" fmla="*/ 0 h 85"/>
                  <a:gd name="T4" fmla="*/ 159 w 177"/>
                  <a:gd name="T5" fmla="*/ 0 h 85"/>
                  <a:gd name="T6" fmla="*/ 177 w 177"/>
                  <a:gd name="T7" fmla="*/ 85 h 85"/>
                  <a:gd name="T8" fmla="*/ 0 w 177"/>
                  <a:gd name="T9" fmla="*/ 85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7" h="85">
                    <a:moveTo>
                      <a:pt x="0" y="85"/>
                    </a:moveTo>
                    <a:lnTo>
                      <a:pt x="18" y="0"/>
                    </a:lnTo>
                    <a:lnTo>
                      <a:pt x="159" y="0"/>
                    </a:lnTo>
                    <a:lnTo>
                      <a:pt x="177" y="85"/>
                    </a:lnTo>
                    <a:lnTo>
                      <a:pt x="0" y="8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4771" name="Rectangle 803"/>
              <p:cNvSpPr>
                <a:spLocks noChangeArrowheads="1"/>
              </p:cNvSpPr>
              <p:nvPr/>
            </p:nvSpPr>
            <p:spPr bwMode="auto">
              <a:xfrm>
                <a:off x="1973" y="3899"/>
                <a:ext cx="237" cy="44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5000" name="Object 1032"/>
          <p:cNvGraphicFramePr>
            <a:graphicFrameLocks noChangeAspect="1"/>
          </p:cNvGraphicFramePr>
          <p:nvPr/>
        </p:nvGraphicFramePr>
        <p:xfrm>
          <a:off x="5588000" y="3568700"/>
          <a:ext cx="2568575" cy="304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01" name="Imagem de bitmap" r:id="rId3" imgW="2905531" imgH="3448531" progId="Paint.Picture">
                  <p:embed/>
                </p:oleObj>
              </mc:Choice>
              <mc:Fallback>
                <p:oleObj name="Imagem de bitmap" r:id="rId3" imgW="2905531" imgH="3448531" progId="Paint.Picture">
                  <p:embed/>
                  <p:pic>
                    <p:nvPicPr>
                      <p:cNvPr id="0" name="Object 10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8000" y="3568700"/>
                        <a:ext cx="2568575" cy="304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996" name="Rectangle 1028"/>
          <p:cNvSpPr>
            <a:spLocks noGrp="1" noChangeArrowheads="1"/>
          </p:cNvSpPr>
          <p:nvPr>
            <p:ph type="body" idx="1"/>
          </p:nvPr>
        </p:nvSpPr>
        <p:spPr>
          <a:xfrm>
            <a:off x="417513" y="1870075"/>
            <a:ext cx="8453437" cy="22018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pt-BR" altLang="pt-BR" sz="2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ahoma" panose="020B0604030504040204" pitchFamily="34" charset="0"/>
              </a:rPr>
              <a:t>Riscos de ataques de insetos, Animais peçonhentos/domésticos </a:t>
            </a:r>
          </a:p>
          <a:p>
            <a:pPr algn="just">
              <a:lnSpc>
                <a:spcPct val="90000"/>
              </a:lnSpc>
            </a:pPr>
            <a:r>
              <a:rPr lang="pt-BR" altLang="pt-BR" sz="2400">
                <a:solidFill>
                  <a:srgbClr val="333333"/>
                </a:solidFill>
                <a:cs typeface="Times New Roman" panose="02020603050405020304" pitchFamily="18" charset="0"/>
              </a:rPr>
              <a:t>Na execução de serviços em torres, postes, subestações, usinas, leitura de medidores, serviços de poda de árvores e outros pode ocorrer ataques de insetos, tais como abelhas e formigas.</a:t>
            </a:r>
          </a:p>
        </p:txBody>
      </p:sp>
      <p:graphicFrame>
        <p:nvGraphicFramePr>
          <p:cNvPr id="84998" name="Object 1030"/>
          <p:cNvGraphicFramePr>
            <a:graphicFrameLocks noChangeAspect="1"/>
          </p:cNvGraphicFramePr>
          <p:nvPr/>
        </p:nvGraphicFramePr>
        <p:xfrm>
          <a:off x="1295400" y="3963988"/>
          <a:ext cx="2924175" cy="2628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02" name="Imagem bitmap" r:id="rId5" imgW="2553056" imgH="2295238" progId="Paint.Picture">
                  <p:embed/>
                </p:oleObj>
              </mc:Choice>
              <mc:Fallback>
                <p:oleObj name="Imagem bitmap" r:id="rId5" imgW="2553056" imgH="2295238" progId="Paint.Picture">
                  <p:embed/>
                  <p:pic>
                    <p:nvPicPr>
                      <p:cNvPr id="0" name="Object 10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3963988"/>
                        <a:ext cx="2924175" cy="2628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9075" y="2032000"/>
            <a:ext cx="3111500" cy="32353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pt-BR" altLang="pt-BR" sz="2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ahoma" panose="020B0604030504040204" pitchFamily="34" charset="0"/>
              </a:rPr>
              <a:t>Riscos ocupacionais </a:t>
            </a:r>
          </a:p>
          <a:p>
            <a:pPr algn="just">
              <a:lnSpc>
                <a:spcPct val="90000"/>
              </a:lnSpc>
            </a:pPr>
            <a:r>
              <a:rPr lang="pt-BR" altLang="pt-BR" sz="2400">
                <a:solidFill>
                  <a:srgbClr val="333333"/>
                </a:solidFill>
                <a:cs typeface="Times New Roman" panose="02020603050405020304" pitchFamily="18" charset="0"/>
              </a:rPr>
              <a:t>Consideram-se riscos ocupacionais, os agentes existentes nos ambientes de trabalho, capazes de causar danos à saúde do empregado.</a:t>
            </a:r>
          </a:p>
          <a:p>
            <a:pPr>
              <a:lnSpc>
                <a:spcPct val="90000"/>
              </a:lnSpc>
            </a:pPr>
            <a:endParaRPr lang="pt-BR" altLang="pt-BR" sz="2400"/>
          </a:p>
        </p:txBody>
      </p:sp>
      <p:sp>
        <p:nvSpPr>
          <p:cNvPr id="86021" name="Rectangle 5"/>
          <p:cNvSpPr>
            <a:spLocks noChangeArrowheads="1"/>
          </p:cNvSpPr>
          <p:nvPr/>
        </p:nvSpPr>
        <p:spPr bwMode="auto">
          <a:xfrm>
            <a:off x="2233613" y="1328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pt-BR"/>
          </a:p>
        </p:txBody>
      </p:sp>
      <p:pic>
        <p:nvPicPr>
          <p:cNvPr id="86020" name="Picture 4" descr="00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8075" y="1706563"/>
            <a:ext cx="5500688" cy="494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63538" y="1839913"/>
            <a:ext cx="8472487" cy="3886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pt-BR" altLang="pt-BR" sz="2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ahoma" panose="020B0604030504040204" pitchFamily="34" charset="0"/>
              </a:rPr>
              <a:t>Riscos ergonômicos</a:t>
            </a:r>
          </a:p>
          <a:p>
            <a:pPr algn="just">
              <a:lnSpc>
                <a:spcPct val="90000"/>
              </a:lnSpc>
            </a:pPr>
            <a:endParaRPr lang="pt-BR" altLang="pt-BR" sz="2400" b="1">
              <a:solidFill>
                <a:srgbClr val="333333"/>
              </a:solidFill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pt-BR" altLang="pt-BR" sz="2000" b="1">
                <a:solidFill>
                  <a:srgbClr val="333333"/>
                </a:solidFill>
                <a:cs typeface="Times New Roman" panose="02020603050405020304" pitchFamily="18" charset="0"/>
              </a:rPr>
              <a:t>Biomecânicos</a:t>
            </a:r>
            <a:r>
              <a:rPr lang="pt-BR" altLang="pt-BR" sz="2000">
                <a:solidFill>
                  <a:srgbClr val="333333"/>
                </a:solidFill>
                <a:cs typeface="Times New Roman" panose="02020603050405020304" pitchFamily="18" charset="0"/>
              </a:rPr>
              <a:t>: </a:t>
            </a:r>
            <a:r>
              <a:rPr lang="pt-BR" altLang="pt-BR" sz="2000" u="sng">
                <a:solidFill>
                  <a:srgbClr val="333333"/>
                </a:solidFill>
                <a:cs typeface="Times New Roman" panose="02020603050405020304" pitchFamily="18" charset="0"/>
              </a:rPr>
              <a:t>posturas inadequadas</a:t>
            </a:r>
            <a:r>
              <a:rPr lang="pt-BR" altLang="pt-BR" sz="2000">
                <a:solidFill>
                  <a:srgbClr val="333333"/>
                </a:solidFill>
                <a:cs typeface="Times New Roman" panose="02020603050405020304" pitchFamily="18" charset="0"/>
              </a:rPr>
              <a:t> de trabalho, levando a intensas solicitações musculares, levantamento e transporte de carga, etc.</a:t>
            </a:r>
          </a:p>
          <a:p>
            <a:pPr algn="just">
              <a:lnSpc>
                <a:spcPct val="90000"/>
              </a:lnSpc>
            </a:pPr>
            <a:r>
              <a:rPr lang="pt-BR" altLang="pt-BR" sz="2000" b="1">
                <a:solidFill>
                  <a:srgbClr val="333333"/>
                </a:solidFill>
                <a:cs typeface="Times New Roman" panose="02020603050405020304" pitchFamily="18" charset="0"/>
              </a:rPr>
              <a:t>Organizacionais</a:t>
            </a:r>
            <a:r>
              <a:rPr lang="pt-BR" altLang="pt-BR" sz="2000">
                <a:solidFill>
                  <a:srgbClr val="333333"/>
                </a:solidFill>
                <a:cs typeface="Times New Roman" panose="02020603050405020304" pitchFamily="18" charset="0"/>
              </a:rPr>
              <a:t>: “pressão psicológica” para </a:t>
            </a:r>
            <a:r>
              <a:rPr lang="pt-BR" altLang="pt-BR" sz="2000" u="sng">
                <a:solidFill>
                  <a:srgbClr val="333333"/>
                </a:solidFill>
                <a:cs typeface="Times New Roman" panose="02020603050405020304" pitchFamily="18" charset="0"/>
              </a:rPr>
              <a:t>atendimento a emergências</a:t>
            </a:r>
            <a:r>
              <a:rPr lang="pt-BR" altLang="pt-BR" sz="2000">
                <a:solidFill>
                  <a:srgbClr val="333333"/>
                </a:solidFill>
                <a:cs typeface="Times New Roman" panose="02020603050405020304" pitchFamily="18" charset="0"/>
              </a:rPr>
              <a:t> ou a situações com períodos de tempo rigidamente estabelecidos, </a:t>
            </a:r>
            <a:r>
              <a:rPr lang="pt-BR" altLang="pt-BR" sz="2000" u="sng">
                <a:solidFill>
                  <a:srgbClr val="333333"/>
                </a:solidFill>
                <a:cs typeface="Times New Roman" panose="02020603050405020304" pitchFamily="18" charset="0"/>
              </a:rPr>
              <a:t>pressões da população</a:t>
            </a:r>
            <a:r>
              <a:rPr lang="pt-BR" altLang="pt-BR" sz="2000">
                <a:solidFill>
                  <a:srgbClr val="333333"/>
                </a:solidFill>
                <a:cs typeface="Times New Roman" panose="02020603050405020304" pitchFamily="18" charset="0"/>
              </a:rPr>
              <a:t> com falta do fornecimento de energia elétrica.</a:t>
            </a:r>
          </a:p>
          <a:p>
            <a:pPr algn="just">
              <a:lnSpc>
                <a:spcPct val="90000"/>
              </a:lnSpc>
            </a:pPr>
            <a:r>
              <a:rPr lang="pt-BR" altLang="pt-BR" sz="2000" b="1">
                <a:solidFill>
                  <a:srgbClr val="333333"/>
                </a:solidFill>
                <a:cs typeface="Times New Roman" panose="02020603050405020304" pitchFamily="18" charset="0"/>
              </a:rPr>
              <a:t>Psicossociais</a:t>
            </a:r>
            <a:r>
              <a:rPr lang="pt-BR" altLang="pt-BR" sz="2000">
                <a:solidFill>
                  <a:srgbClr val="333333"/>
                </a:solidFill>
                <a:cs typeface="Times New Roman" panose="02020603050405020304" pitchFamily="18" charset="0"/>
              </a:rPr>
              <a:t>: elevada </a:t>
            </a:r>
            <a:r>
              <a:rPr lang="pt-BR" altLang="pt-BR" sz="2000" u="sng">
                <a:solidFill>
                  <a:srgbClr val="333333"/>
                </a:solidFill>
                <a:cs typeface="Times New Roman" panose="02020603050405020304" pitchFamily="18" charset="0"/>
              </a:rPr>
              <a:t>exigência cognitiva</a:t>
            </a:r>
            <a:r>
              <a:rPr lang="pt-BR" altLang="pt-BR" sz="2000">
                <a:solidFill>
                  <a:srgbClr val="333333"/>
                </a:solidFill>
                <a:cs typeface="Times New Roman" panose="02020603050405020304" pitchFamily="18" charset="0"/>
              </a:rPr>
              <a:t> necessária ao exercício das atividades. </a:t>
            </a:r>
          </a:p>
          <a:p>
            <a:pPr algn="just">
              <a:lnSpc>
                <a:spcPct val="90000"/>
              </a:lnSpc>
            </a:pPr>
            <a:r>
              <a:rPr lang="pt-BR" altLang="pt-BR" sz="2000" b="1">
                <a:solidFill>
                  <a:srgbClr val="333333"/>
                </a:solidFill>
                <a:cs typeface="Times New Roman" panose="02020603050405020304" pitchFamily="18" charset="0"/>
              </a:rPr>
              <a:t>Ambientais</a:t>
            </a:r>
            <a:r>
              <a:rPr lang="pt-BR" altLang="pt-BR" sz="2000">
                <a:solidFill>
                  <a:srgbClr val="333333"/>
                </a:solidFill>
                <a:cs typeface="Times New Roman" panose="02020603050405020304" pitchFamily="18" charset="0"/>
              </a:rPr>
              <a:t>: risco ambiental compreende os físicos, químicos e biológicos; esta terminologia fica inadequada, deve-se separar os riscos provenientes de causas naturais (raios, chuva, terremotos, ciclones, ventanias, inundações, etc.).</a:t>
            </a:r>
          </a:p>
          <a:p>
            <a:pPr>
              <a:lnSpc>
                <a:spcPct val="90000"/>
              </a:lnSpc>
            </a:pPr>
            <a:endParaRPr lang="pt-BR" altLang="pt-BR"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6" name="Rectangle 4"/>
          <p:cNvSpPr>
            <a:spLocks noGrp="1" noChangeArrowheads="1"/>
          </p:cNvSpPr>
          <p:nvPr>
            <p:ph type="title"/>
          </p:nvPr>
        </p:nvSpPr>
        <p:spPr>
          <a:xfrm>
            <a:off x="685800" y="2224088"/>
            <a:ext cx="7772400" cy="838200"/>
          </a:xfrm>
        </p:spPr>
        <p:txBody>
          <a:bodyPr/>
          <a:lstStyle/>
          <a:p>
            <a:r>
              <a:rPr lang="pt-BR" altLang="pt-BR"/>
              <a:t>Definições</a:t>
            </a:r>
          </a:p>
        </p:txBody>
      </p:sp>
      <p:sp>
        <p:nvSpPr>
          <p:cNvPr id="6451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85800" y="3062288"/>
            <a:ext cx="7772400" cy="3886200"/>
          </a:xfrm>
        </p:spPr>
        <p:txBody>
          <a:bodyPr/>
          <a:lstStyle/>
          <a:p>
            <a:pPr lvl="1"/>
            <a:r>
              <a:rPr lang="pt-BR" altLang="pt-BR" sz="2400" b="1"/>
              <a:t>Risco:</a:t>
            </a:r>
            <a:r>
              <a:rPr lang="pt-BR" altLang="pt-BR" sz="2400"/>
              <a:t> capacidade de uma grandeza com potencial para causar lesões ou danos à saúde das pessoas. Os riscos podem ser eliminados ou controlado.</a:t>
            </a:r>
          </a:p>
          <a:p>
            <a:pPr lvl="1"/>
            <a:endParaRPr lang="pt-BR" altLang="pt-BR" sz="2400"/>
          </a:p>
          <a:p>
            <a:pPr lvl="1"/>
            <a:r>
              <a:rPr lang="pt-BR" altLang="pt-BR" sz="2400" b="1"/>
              <a:t>Perigo:</a:t>
            </a:r>
            <a:r>
              <a:rPr lang="pt-BR" altLang="pt-BR" sz="2400"/>
              <a:t> situação ou condição de risco com probabilidade de causar lesão física ou dano à saúde das pessoas por ausência de medidas de controle.</a:t>
            </a:r>
          </a:p>
          <a:p>
            <a:endParaRPr lang="pt-BR" altLang="pt-BR"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4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Definições</a:t>
            </a:r>
          </a:p>
        </p:txBody>
      </p:sp>
      <p:sp>
        <p:nvSpPr>
          <p:cNvPr id="68615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algn="just"/>
            <a:r>
              <a:rPr lang="pt-BR" altLang="pt-BR" sz="2000" b="1"/>
              <a:t>Causa de acidente</a:t>
            </a:r>
            <a:r>
              <a:rPr lang="pt-BR" altLang="pt-BR" sz="2000"/>
              <a:t> é a qualificação da ação, frente a um risco/perigo, que contribuiu para um dano seja pessoal ou impessoal. </a:t>
            </a:r>
            <a:br>
              <a:rPr lang="pt-BR" altLang="pt-BR" sz="2000"/>
            </a:br>
            <a:r>
              <a:rPr lang="pt-BR" altLang="pt-BR" sz="2000"/>
              <a:t>Ex.: A avenida com grande movimento não constitui uma causa do acidente, porém o ato de atravessá-lá com pressa, pode ser considerado como uma das causas.</a:t>
            </a:r>
          </a:p>
          <a:p>
            <a:pPr lvl="1"/>
            <a:endParaRPr lang="pt-BR" altLang="pt-BR" sz="2000"/>
          </a:p>
          <a:p>
            <a:pPr lvl="1" algn="just"/>
            <a:r>
              <a:rPr lang="pt-BR" altLang="pt-BR" sz="2000" b="1"/>
              <a:t>Controle</a:t>
            </a:r>
            <a:r>
              <a:rPr lang="pt-BR" altLang="pt-BR" sz="2000"/>
              <a:t> é uma ação que visa eliminar/controlar o risco ou quando isso não é possível, reduzir a níveis aceitáveis o risco na execução de uma determinada etapa do trabalho, seja através da adoção de materiais, ferramentas, equipamentos ou metodologia apropriada.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8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Planejamento</a:t>
            </a:r>
          </a:p>
        </p:txBody>
      </p:sp>
      <p:sp>
        <p:nvSpPr>
          <p:cNvPr id="6963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685800" y="2590800"/>
            <a:ext cx="8166100" cy="3886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pt-BR" altLang="pt-BR" sz="2000"/>
              <a:t>Antes da </a:t>
            </a:r>
            <a:r>
              <a:rPr lang="pt-BR" altLang="pt-BR" sz="2000" b="1"/>
              <a:t>fase de execução</a:t>
            </a:r>
            <a:r>
              <a:rPr lang="pt-BR" altLang="pt-BR" sz="2000"/>
              <a:t>, serão analisados os </a:t>
            </a:r>
            <a:r>
              <a:rPr lang="pt-BR" altLang="pt-BR" sz="2000" b="1"/>
              <a:t>riscos potenciais</a:t>
            </a:r>
            <a:r>
              <a:rPr lang="pt-BR" altLang="pt-BR" sz="2000"/>
              <a:t>. Este trabalho é realizado através da </a:t>
            </a:r>
            <a:r>
              <a:rPr lang="pt-BR" altLang="pt-BR" sz="2000" b="1"/>
              <a:t>Análise Preliminar de Risco – APR</a:t>
            </a:r>
            <a:r>
              <a:rPr lang="pt-BR" altLang="pt-BR" sz="2000"/>
              <a:t>, no mínimo, as seguintes informações:</a:t>
            </a:r>
          </a:p>
          <a:p>
            <a:pPr lvl="1">
              <a:lnSpc>
                <a:spcPct val="90000"/>
              </a:lnSpc>
            </a:pPr>
            <a:r>
              <a:rPr lang="pt-BR" altLang="pt-BR" sz="2000" b="1"/>
              <a:t>Descrição detalhada das etapas</a:t>
            </a:r>
            <a:r>
              <a:rPr lang="pt-BR" altLang="pt-BR" sz="2000"/>
              <a:t> dentro de um serviço, operação ou atividade;</a:t>
            </a:r>
          </a:p>
          <a:p>
            <a:pPr lvl="1">
              <a:lnSpc>
                <a:spcPct val="90000"/>
              </a:lnSpc>
            </a:pPr>
            <a:r>
              <a:rPr lang="pt-BR" altLang="pt-BR" sz="2000" b="1"/>
              <a:t>Identificação dos riscos</a:t>
            </a:r>
            <a:r>
              <a:rPr lang="pt-BR" altLang="pt-BR" sz="2000"/>
              <a:t> existentes em cada etapa;</a:t>
            </a:r>
          </a:p>
          <a:p>
            <a:pPr lvl="1">
              <a:lnSpc>
                <a:spcPct val="90000"/>
              </a:lnSpc>
            </a:pPr>
            <a:r>
              <a:rPr lang="pt-BR" altLang="pt-BR" sz="2000" b="1"/>
              <a:t>Medidas de segurança</a:t>
            </a:r>
            <a:r>
              <a:rPr lang="pt-BR" altLang="pt-BR" sz="2000"/>
              <a:t> para a realização de todas as etapas dos serviços, no sentido de </a:t>
            </a:r>
            <a:r>
              <a:rPr lang="pt-BR" altLang="pt-BR" sz="2000" b="1"/>
              <a:t>reduzir e/ou eliminar riscos existentes</a:t>
            </a:r>
            <a:r>
              <a:rPr lang="pt-BR" altLang="pt-BR" sz="2000"/>
              <a:t> (técnicas de execução, equipamentos a serem utilizados, EPC, EPI, etc.);</a:t>
            </a:r>
          </a:p>
          <a:p>
            <a:pPr lvl="1">
              <a:lnSpc>
                <a:spcPct val="90000"/>
              </a:lnSpc>
            </a:pPr>
            <a:r>
              <a:rPr lang="pt-BR" altLang="pt-BR" sz="2000" b="1"/>
              <a:t>Número de profissionais necessários</a:t>
            </a:r>
            <a:r>
              <a:rPr lang="pt-BR" altLang="pt-BR" sz="2000"/>
              <a:t> para a execução dos serviços com segurança.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Análise Preliminar de Risco (APR)</a:t>
            </a:r>
          </a:p>
        </p:txBody>
      </p:sp>
      <p:sp>
        <p:nvSpPr>
          <p:cNvPr id="59397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algn="just">
              <a:lnSpc>
                <a:spcPct val="90000"/>
              </a:lnSpc>
            </a:pPr>
            <a:r>
              <a:rPr lang="pt-BR" altLang="pt-BR" sz="2400"/>
              <a:t>Trata-se de uma técnica de análise prévia de riscos.</a:t>
            </a:r>
          </a:p>
          <a:p>
            <a:pPr lvl="1" algn="just">
              <a:lnSpc>
                <a:spcPct val="90000"/>
              </a:lnSpc>
            </a:pPr>
            <a:r>
              <a:rPr lang="pt-BR" altLang="pt-BR" sz="2400"/>
              <a:t>Análise Preliminar de Risco é uma visão do trabalho a ser executado, que permite a identificação dos riscos envolvidos em cada passo da tarefa, e ainda propicia condição para evita-los ou conviver com eles em segurança.</a:t>
            </a:r>
          </a:p>
          <a:p>
            <a:pPr lvl="1" algn="just">
              <a:lnSpc>
                <a:spcPct val="90000"/>
              </a:lnSpc>
            </a:pPr>
            <a:r>
              <a:rPr lang="pt-BR" altLang="pt-BR" sz="2400"/>
              <a:t>Por se tratar de uma técnica aplicável à todas as atividades, a técnica de Análise Preliminar de Risco é o fato de promover e estimular o trabalho em equipe e a responsabilidade solidária.</a:t>
            </a:r>
          </a:p>
          <a:p>
            <a:pPr>
              <a:lnSpc>
                <a:spcPct val="90000"/>
              </a:lnSpc>
            </a:pPr>
            <a:endParaRPr lang="pt-BR" altLang="pt-BR"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3" name="Rectangle 7"/>
          <p:cNvSpPr>
            <a:spLocks noGrp="1" noChangeArrowheads="1"/>
          </p:cNvSpPr>
          <p:nvPr>
            <p:ph type="title"/>
          </p:nvPr>
        </p:nvSpPr>
        <p:spPr>
          <a:xfrm>
            <a:off x="685800" y="3359150"/>
            <a:ext cx="7772400" cy="838200"/>
          </a:xfrm>
        </p:spPr>
        <p:txBody>
          <a:bodyPr/>
          <a:lstStyle/>
          <a:p>
            <a:r>
              <a:rPr lang="pt-BR" altLang="pt-BR"/>
              <a:t>ANÁLISE PRELIMINAR</a:t>
            </a:r>
            <a:br>
              <a:rPr lang="pt-BR" altLang="pt-BR"/>
            </a:br>
            <a:r>
              <a:rPr lang="pt-BR" altLang="pt-BR"/>
              <a:t>DE RISCO (APR)</a:t>
            </a:r>
          </a:p>
        </p:txBody>
      </p:sp>
      <p:sp>
        <p:nvSpPr>
          <p:cNvPr id="70664" name="Rectangle 8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70660" name="Picture 4" descr="G:\NR-10\Todas as imagens\004.t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5513" y="1722438"/>
            <a:ext cx="4227512" cy="486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6" name="Text Box 6"/>
          <p:cNvSpPr txBox="1">
            <a:spLocks noChangeArrowheads="1"/>
          </p:cNvSpPr>
          <p:nvPr/>
        </p:nvSpPr>
        <p:spPr bwMode="auto">
          <a:xfrm>
            <a:off x="3700463" y="2203450"/>
            <a:ext cx="1981200" cy="788988"/>
          </a:xfrm>
          <a:prstGeom prst="rect">
            <a:avLst/>
          </a:prstGeom>
          <a:gradFill rotWithShape="0">
            <a:gsLst>
              <a:gs pos="0">
                <a:srgbClr val="0099CC"/>
              </a:gs>
              <a:gs pos="100000">
                <a:srgbClr val="0099CC">
                  <a:gamma/>
                  <a:shade val="76078"/>
                  <a:invGamma/>
                </a:srgbClr>
              </a:gs>
            </a:gsLst>
            <a:lin ang="2700000" scaled="1"/>
          </a:gradFill>
          <a:ln w="9525">
            <a:solidFill>
              <a:srgbClr val="0066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pt-BR" altLang="pt-BR" sz="1800" b="1">
                <a:solidFill>
                  <a:srgbClr val="FFFFFF"/>
                </a:solidFill>
                <a:latin typeface="Arial" panose="020B0604020202020204" pitchFamily="34" charset="0"/>
              </a:rPr>
              <a:t>APR</a:t>
            </a:r>
          </a:p>
          <a:p>
            <a:pPr algn="ctr">
              <a:spcBef>
                <a:spcPct val="50000"/>
              </a:spcBef>
            </a:pPr>
            <a:r>
              <a:rPr lang="pt-BR" altLang="pt-BR" sz="1800" b="1">
                <a:solidFill>
                  <a:srgbClr val="FFFFFF"/>
                </a:solidFill>
                <a:latin typeface="Arial" panose="020B0604020202020204" pitchFamily="34" charset="0"/>
              </a:rPr>
              <a:t>Completa</a:t>
            </a:r>
            <a:endParaRPr lang="pt-BR" altLang="pt-BR" sz="18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76809" name="Text Box 9"/>
          <p:cNvSpPr txBox="1">
            <a:spLocks noChangeArrowheads="1"/>
          </p:cNvSpPr>
          <p:nvPr/>
        </p:nvSpPr>
        <p:spPr bwMode="auto">
          <a:xfrm>
            <a:off x="652463" y="3811588"/>
            <a:ext cx="1981200" cy="1063625"/>
          </a:xfrm>
          <a:prstGeom prst="rect">
            <a:avLst/>
          </a:prstGeom>
          <a:gradFill rotWithShape="0">
            <a:gsLst>
              <a:gs pos="0">
                <a:srgbClr val="0099CC"/>
              </a:gs>
              <a:gs pos="100000">
                <a:srgbClr val="0099CC">
                  <a:gamma/>
                  <a:shade val="76078"/>
                  <a:invGamma/>
                </a:srgbClr>
              </a:gs>
            </a:gsLst>
            <a:lin ang="2700000" scaled="1"/>
          </a:gradFill>
          <a:ln w="9525">
            <a:solidFill>
              <a:srgbClr val="0066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pt-BR" altLang="pt-BR" sz="1800" b="1">
                <a:solidFill>
                  <a:srgbClr val="FFFFFF"/>
                </a:solidFill>
                <a:latin typeface="Arial" panose="020B0604020202020204" pitchFamily="34" charset="0"/>
              </a:rPr>
              <a:t>APR </a:t>
            </a:r>
          </a:p>
          <a:p>
            <a:pPr algn="ctr">
              <a:spcBef>
                <a:spcPct val="50000"/>
              </a:spcBef>
            </a:pPr>
            <a:r>
              <a:rPr lang="pt-BR" altLang="pt-BR" sz="1800" b="1">
                <a:solidFill>
                  <a:srgbClr val="FFFFFF"/>
                </a:solidFill>
                <a:latin typeface="Arial" panose="020B0604020202020204" pitchFamily="34" charset="0"/>
              </a:rPr>
              <a:t>Simplificada no Campo</a:t>
            </a:r>
          </a:p>
        </p:txBody>
      </p:sp>
      <p:sp>
        <p:nvSpPr>
          <p:cNvPr id="76810" name="Text Box 10"/>
          <p:cNvSpPr txBox="1">
            <a:spLocks noChangeArrowheads="1"/>
          </p:cNvSpPr>
          <p:nvPr/>
        </p:nvSpPr>
        <p:spPr bwMode="auto">
          <a:xfrm>
            <a:off x="6586538" y="3811588"/>
            <a:ext cx="1981200" cy="1063625"/>
          </a:xfrm>
          <a:prstGeom prst="rect">
            <a:avLst/>
          </a:prstGeom>
          <a:gradFill rotWithShape="0">
            <a:gsLst>
              <a:gs pos="0">
                <a:srgbClr val="0099CC"/>
              </a:gs>
              <a:gs pos="100000">
                <a:srgbClr val="0099CC">
                  <a:gamma/>
                  <a:shade val="76078"/>
                  <a:invGamma/>
                </a:srgbClr>
              </a:gs>
            </a:gsLst>
            <a:lin ang="2700000" scaled="1"/>
          </a:gradFill>
          <a:ln w="9525">
            <a:solidFill>
              <a:srgbClr val="0066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pt-BR" altLang="pt-BR" sz="1800" b="1">
                <a:solidFill>
                  <a:srgbClr val="FFFFFF"/>
                </a:solidFill>
                <a:latin typeface="Arial" panose="020B0604020202020204" pitchFamily="34" charset="0"/>
              </a:rPr>
              <a:t>Utilizar APR</a:t>
            </a:r>
          </a:p>
          <a:p>
            <a:pPr algn="ctr">
              <a:spcBef>
                <a:spcPct val="50000"/>
              </a:spcBef>
            </a:pPr>
            <a:r>
              <a:rPr lang="pt-BR" altLang="pt-BR" sz="1800" b="1">
                <a:solidFill>
                  <a:srgbClr val="FFFFFF"/>
                </a:solidFill>
                <a:latin typeface="Arial" panose="020B0604020202020204" pitchFamily="34" charset="0"/>
              </a:rPr>
              <a:t>Completa no Campo</a:t>
            </a:r>
          </a:p>
        </p:txBody>
      </p:sp>
      <p:sp>
        <p:nvSpPr>
          <p:cNvPr id="76812" name="AutoShape 12"/>
          <p:cNvSpPr>
            <a:spLocks noChangeArrowheads="1"/>
          </p:cNvSpPr>
          <p:nvPr/>
        </p:nvSpPr>
        <p:spPr bwMode="auto">
          <a:xfrm>
            <a:off x="3490913" y="3467100"/>
            <a:ext cx="2400300" cy="1736725"/>
          </a:xfrm>
          <a:prstGeom prst="flowChartDecision">
            <a:avLst/>
          </a:prstGeom>
          <a:gradFill rotWithShape="0">
            <a:gsLst>
              <a:gs pos="0">
                <a:srgbClr val="0099CC"/>
              </a:gs>
              <a:gs pos="100000">
                <a:srgbClr val="0099CC">
                  <a:gamma/>
                  <a:shade val="76078"/>
                  <a:invGamma/>
                </a:srgbClr>
              </a:gs>
            </a:gsLst>
            <a:lin ang="2700000" scaled="1"/>
          </a:gradFill>
          <a:ln w="9525">
            <a:solidFill>
              <a:srgbClr val="0066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altLang="pt-BR" sz="1800" b="1">
                <a:solidFill>
                  <a:srgbClr val="FFFFFF"/>
                </a:solidFill>
                <a:latin typeface="Arial" panose="020B0604020202020204" pitchFamily="34" charset="0"/>
              </a:rPr>
              <a:t>É </a:t>
            </a:r>
          </a:p>
          <a:p>
            <a:pPr algn="ctr"/>
            <a:r>
              <a:rPr lang="pt-BR" altLang="pt-BR" sz="1800" b="1">
                <a:solidFill>
                  <a:srgbClr val="FFFFFF"/>
                </a:solidFill>
                <a:latin typeface="Arial" panose="020B0604020202020204" pitchFamily="34" charset="0"/>
              </a:rPr>
              <a:t>Freqüente ?</a:t>
            </a:r>
          </a:p>
          <a:p>
            <a:pPr algn="ctr"/>
            <a:endParaRPr lang="pt-BR" altLang="pt-BR" sz="1000" b="1">
              <a:solidFill>
                <a:schemeClr val="accent2"/>
              </a:solidFill>
            </a:endParaRPr>
          </a:p>
        </p:txBody>
      </p:sp>
      <p:cxnSp>
        <p:nvCxnSpPr>
          <p:cNvPr id="76818" name="AutoShape 18"/>
          <p:cNvCxnSpPr>
            <a:cxnSpLocks noChangeShapeType="1"/>
            <a:stCxn id="76812" idx="3"/>
            <a:endCxn id="76810" idx="1"/>
          </p:cNvCxnSpPr>
          <p:nvPr/>
        </p:nvCxnSpPr>
        <p:spPr bwMode="auto">
          <a:xfrm>
            <a:off x="5891213" y="4335463"/>
            <a:ext cx="695325" cy="7937"/>
          </a:xfrm>
          <a:prstGeom prst="straightConnector1">
            <a:avLst/>
          </a:prstGeom>
          <a:noFill/>
          <a:ln w="38100">
            <a:solidFill>
              <a:srgbClr val="0066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6819" name="AutoShape 19"/>
          <p:cNvCxnSpPr>
            <a:cxnSpLocks noChangeShapeType="1"/>
            <a:stCxn id="76812" idx="1"/>
            <a:endCxn id="76809" idx="3"/>
          </p:cNvCxnSpPr>
          <p:nvPr/>
        </p:nvCxnSpPr>
        <p:spPr bwMode="auto">
          <a:xfrm flipH="1">
            <a:off x="2633663" y="4335463"/>
            <a:ext cx="857250" cy="7937"/>
          </a:xfrm>
          <a:prstGeom prst="straightConnector1">
            <a:avLst/>
          </a:prstGeom>
          <a:noFill/>
          <a:ln w="38100">
            <a:solidFill>
              <a:srgbClr val="0066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6822" name="Text Box 22"/>
          <p:cNvSpPr txBox="1">
            <a:spLocks noChangeArrowheads="1"/>
          </p:cNvSpPr>
          <p:nvPr/>
        </p:nvSpPr>
        <p:spPr bwMode="auto">
          <a:xfrm>
            <a:off x="2862263" y="2114550"/>
            <a:ext cx="62865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sz="3000" b="1">
                <a:solidFill>
                  <a:srgbClr val="FF3300"/>
                </a:solidFill>
                <a:latin typeface="Arial Black" panose="020B0A04020102020204" pitchFamily="34" charset="0"/>
              </a:rPr>
              <a:t>N</a:t>
            </a:r>
          </a:p>
        </p:txBody>
      </p:sp>
      <p:sp>
        <p:nvSpPr>
          <p:cNvPr id="76823" name="Text Box 23"/>
          <p:cNvSpPr txBox="1">
            <a:spLocks noChangeArrowheads="1"/>
          </p:cNvSpPr>
          <p:nvPr/>
        </p:nvSpPr>
        <p:spPr bwMode="auto">
          <a:xfrm>
            <a:off x="1700213" y="3203575"/>
            <a:ext cx="62865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sz="3000" b="1">
                <a:solidFill>
                  <a:srgbClr val="FF3300"/>
                </a:solidFill>
                <a:latin typeface="Arial Black" panose="020B0A04020102020204" pitchFamily="34" charset="0"/>
              </a:rPr>
              <a:t>S</a:t>
            </a:r>
          </a:p>
        </p:txBody>
      </p:sp>
      <p:sp>
        <p:nvSpPr>
          <p:cNvPr id="76824" name="Text Box 24"/>
          <p:cNvSpPr txBox="1">
            <a:spLocks noChangeArrowheads="1"/>
          </p:cNvSpPr>
          <p:nvPr/>
        </p:nvSpPr>
        <p:spPr bwMode="auto">
          <a:xfrm>
            <a:off x="2919413" y="3848100"/>
            <a:ext cx="62865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sz="3000" b="1">
                <a:solidFill>
                  <a:srgbClr val="FF3300"/>
                </a:solidFill>
                <a:latin typeface="Arial Black" panose="020B0A04020102020204" pitchFamily="34" charset="0"/>
              </a:rPr>
              <a:t>S</a:t>
            </a:r>
          </a:p>
        </p:txBody>
      </p:sp>
      <p:sp>
        <p:nvSpPr>
          <p:cNvPr id="76825" name="Text Box 25"/>
          <p:cNvSpPr txBox="1">
            <a:spLocks noChangeArrowheads="1"/>
          </p:cNvSpPr>
          <p:nvPr/>
        </p:nvSpPr>
        <p:spPr bwMode="auto">
          <a:xfrm>
            <a:off x="5891213" y="3848100"/>
            <a:ext cx="62865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sz="3000" b="1">
                <a:solidFill>
                  <a:srgbClr val="FF3300"/>
                </a:solidFill>
                <a:latin typeface="Arial Black" panose="020B0A04020102020204" pitchFamily="34" charset="0"/>
              </a:rPr>
              <a:t>N</a:t>
            </a:r>
          </a:p>
        </p:txBody>
      </p:sp>
      <p:sp>
        <p:nvSpPr>
          <p:cNvPr id="76829" name="Text Box 29"/>
          <p:cNvSpPr txBox="1">
            <a:spLocks noChangeArrowheads="1"/>
          </p:cNvSpPr>
          <p:nvPr/>
        </p:nvSpPr>
        <p:spPr bwMode="auto">
          <a:xfrm>
            <a:off x="561975" y="2132013"/>
            <a:ext cx="2152650" cy="925512"/>
          </a:xfrm>
          <a:prstGeom prst="rect">
            <a:avLst/>
          </a:prstGeom>
          <a:gradFill rotWithShape="0">
            <a:gsLst>
              <a:gs pos="0">
                <a:srgbClr val="0099CC"/>
              </a:gs>
              <a:gs pos="100000">
                <a:srgbClr val="0099CC">
                  <a:gamma/>
                  <a:shade val="76078"/>
                  <a:invGamma/>
                </a:srgbClr>
              </a:gs>
            </a:gsLst>
            <a:lin ang="2700000" scaled="1"/>
          </a:gradFill>
          <a:ln w="9525">
            <a:solidFill>
              <a:srgbClr val="0066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pt-BR" altLang="pt-BR" sz="1800" b="1">
                <a:solidFill>
                  <a:srgbClr val="FFFFFF"/>
                </a:solidFill>
                <a:latin typeface="Arial" panose="020B0604020202020204" pitchFamily="34" charset="0"/>
              </a:rPr>
              <a:t>Existe Procedimento Passo a Passo</a:t>
            </a:r>
            <a:endParaRPr lang="pt-BR" altLang="pt-BR" sz="18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cxnSp>
        <p:nvCxnSpPr>
          <p:cNvPr id="76830" name="AutoShape 30"/>
          <p:cNvCxnSpPr>
            <a:cxnSpLocks noChangeShapeType="1"/>
            <a:stCxn id="76829" idx="2"/>
            <a:endCxn id="76809" idx="0"/>
          </p:cNvCxnSpPr>
          <p:nvPr/>
        </p:nvCxnSpPr>
        <p:spPr bwMode="auto">
          <a:xfrm>
            <a:off x="1638300" y="3057525"/>
            <a:ext cx="4763" cy="754063"/>
          </a:xfrm>
          <a:prstGeom prst="straightConnector1">
            <a:avLst/>
          </a:prstGeom>
          <a:noFill/>
          <a:ln w="38100">
            <a:solidFill>
              <a:srgbClr val="0066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6833" name="AutoShape 33"/>
          <p:cNvCxnSpPr>
            <a:cxnSpLocks noChangeShapeType="1"/>
            <a:stCxn id="76829" idx="3"/>
            <a:endCxn id="76806" idx="1"/>
          </p:cNvCxnSpPr>
          <p:nvPr/>
        </p:nvCxnSpPr>
        <p:spPr bwMode="auto">
          <a:xfrm>
            <a:off x="2714625" y="2595563"/>
            <a:ext cx="985838" cy="3175"/>
          </a:xfrm>
          <a:prstGeom prst="straightConnector1">
            <a:avLst/>
          </a:prstGeom>
          <a:noFill/>
          <a:ln w="38100">
            <a:solidFill>
              <a:srgbClr val="0066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6834" name="AutoShape 34"/>
          <p:cNvCxnSpPr>
            <a:cxnSpLocks noChangeShapeType="1"/>
            <a:stCxn id="76806" idx="2"/>
            <a:endCxn id="76812" idx="0"/>
          </p:cNvCxnSpPr>
          <p:nvPr/>
        </p:nvCxnSpPr>
        <p:spPr bwMode="auto">
          <a:xfrm>
            <a:off x="4691063" y="2992438"/>
            <a:ext cx="0" cy="474662"/>
          </a:xfrm>
          <a:prstGeom prst="straightConnector1">
            <a:avLst/>
          </a:prstGeom>
          <a:noFill/>
          <a:ln w="38100">
            <a:solidFill>
              <a:srgbClr val="0066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6835" name="AutoShape 35"/>
          <p:cNvSpPr>
            <a:spLocks noChangeArrowheads="1"/>
          </p:cNvSpPr>
          <p:nvPr/>
        </p:nvSpPr>
        <p:spPr bwMode="auto">
          <a:xfrm>
            <a:off x="3538538" y="5429250"/>
            <a:ext cx="2305050" cy="800100"/>
          </a:xfrm>
          <a:prstGeom prst="flowChartAlternateProcess">
            <a:avLst/>
          </a:prstGeom>
          <a:gradFill rotWithShape="0">
            <a:gsLst>
              <a:gs pos="0">
                <a:srgbClr val="0099CC"/>
              </a:gs>
              <a:gs pos="100000">
                <a:srgbClr val="0099CC">
                  <a:gamma/>
                  <a:shade val="76078"/>
                  <a:invGamma/>
                </a:srgbClr>
              </a:gs>
            </a:gsLst>
            <a:lin ang="2700000" scaled="1"/>
          </a:gradFill>
          <a:ln w="9525">
            <a:solidFill>
              <a:srgbClr val="0066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r>
              <a:rPr lang="pt-BR" altLang="pt-BR" sz="1800" b="1">
                <a:solidFill>
                  <a:srgbClr val="FFFFFF"/>
                </a:solidFill>
                <a:latin typeface="Arial" panose="020B0604020202020204" pitchFamily="34" charset="0"/>
              </a:rPr>
              <a:t>Execução da</a:t>
            </a:r>
          </a:p>
          <a:p>
            <a:pPr algn="ctr">
              <a:spcBef>
                <a:spcPct val="50000"/>
              </a:spcBef>
            </a:pPr>
            <a:r>
              <a:rPr lang="pt-BR" altLang="pt-BR" sz="1800" b="1">
                <a:solidFill>
                  <a:srgbClr val="FFFFFF"/>
                </a:solidFill>
                <a:latin typeface="Arial" panose="020B0604020202020204" pitchFamily="34" charset="0"/>
              </a:rPr>
              <a:t>Atividade</a:t>
            </a:r>
          </a:p>
        </p:txBody>
      </p:sp>
      <p:cxnSp>
        <p:nvCxnSpPr>
          <p:cNvPr id="76836" name="AutoShape 36"/>
          <p:cNvCxnSpPr>
            <a:cxnSpLocks noChangeShapeType="1"/>
            <a:stCxn id="76809" idx="2"/>
            <a:endCxn id="76835" idx="1"/>
          </p:cNvCxnSpPr>
          <p:nvPr/>
        </p:nvCxnSpPr>
        <p:spPr bwMode="auto">
          <a:xfrm rot="16200000" flipH="1">
            <a:off x="2113757" y="4404519"/>
            <a:ext cx="954087" cy="1895475"/>
          </a:xfrm>
          <a:prstGeom prst="bentConnector2">
            <a:avLst/>
          </a:prstGeom>
          <a:noFill/>
          <a:ln w="38100">
            <a:solidFill>
              <a:srgbClr val="006699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6837" name="AutoShape 37"/>
          <p:cNvCxnSpPr>
            <a:cxnSpLocks noChangeShapeType="1"/>
            <a:stCxn id="76810" idx="2"/>
            <a:endCxn id="76835" idx="3"/>
          </p:cNvCxnSpPr>
          <p:nvPr/>
        </p:nvCxnSpPr>
        <p:spPr bwMode="auto">
          <a:xfrm rot="5400000">
            <a:off x="6233319" y="4485482"/>
            <a:ext cx="954087" cy="1733550"/>
          </a:xfrm>
          <a:prstGeom prst="bentConnector2">
            <a:avLst/>
          </a:prstGeom>
          <a:noFill/>
          <a:ln w="38100">
            <a:solidFill>
              <a:srgbClr val="006699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10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Check list</a:t>
            </a:r>
          </a:p>
        </p:txBody>
      </p:sp>
      <p:sp>
        <p:nvSpPr>
          <p:cNvPr id="72711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algn="just">
              <a:lnSpc>
                <a:spcPct val="90000"/>
              </a:lnSpc>
            </a:pPr>
            <a:r>
              <a:rPr lang="pt-BR" altLang="pt-BR" sz="2400"/>
              <a:t>O objetivo é </a:t>
            </a:r>
            <a:r>
              <a:rPr lang="pt-BR" altLang="pt-BR" sz="2400" b="1"/>
              <a:t>criar o hábito</a:t>
            </a:r>
            <a:r>
              <a:rPr lang="pt-BR" altLang="pt-BR" sz="2400"/>
              <a:t> de verificar os itens de segurança antes de iniciar as atividades, auxiliando na </a:t>
            </a:r>
            <a:r>
              <a:rPr lang="pt-BR" altLang="pt-BR" sz="2400" b="1"/>
              <a:t>prevenção dos acidentes e no planejamento das tarefas</a:t>
            </a:r>
            <a:r>
              <a:rPr lang="pt-BR" altLang="pt-BR" sz="2400"/>
              <a:t>, enfocando os aspectos de segurança.</a:t>
            </a:r>
          </a:p>
          <a:p>
            <a:pPr lvl="1" algn="just">
              <a:lnSpc>
                <a:spcPct val="90000"/>
              </a:lnSpc>
            </a:pPr>
            <a:endParaRPr lang="pt-BR" altLang="pt-BR" sz="2400"/>
          </a:p>
          <a:p>
            <a:pPr lvl="1" algn="just">
              <a:lnSpc>
                <a:spcPct val="90000"/>
              </a:lnSpc>
            </a:pPr>
            <a:r>
              <a:rPr lang="pt-BR" altLang="pt-BR" sz="2400"/>
              <a:t>Será preenchido de acordo com as regras de Segurança do Trabalho. “A Equipe </a:t>
            </a:r>
            <a:r>
              <a:rPr lang="pt-BR" altLang="pt-BR" sz="2400" b="1"/>
              <a:t>somente iniciará a atividade</a:t>
            </a:r>
            <a:r>
              <a:rPr lang="pt-BR" altLang="pt-BR" sz="2400"/>
              <a:t>, após realizar a </a:t>
            </a:r>
            <a:r>
              <a:rPr lang="pt-BR" altLang="pt-BR" sz="2400" b="1"/>
              <a:t>identificação de todos os riscos</a:t>
            </a:r>
            <a:r>
              <a:rPr lang="pt-BR" altLang="pt-BR" sz="2400"/>
              <a:t>, medidas de controle e após concluir o respectivo planejamento da atividade”.</a:t>
            </a:r>
          </a:p>
          <a:p>
            <a:pPr>
              <a:lnSpc>
                <a:spcPct val="90000"/>
              </a:lnSpc>
            </a:pPr>
            <a:endParaRPr lang="pt-BR" altLang="pt-B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5" name="Rectangle 7"/>
          <p:cNvSpPr>
            <a:spLocks noGrp="1" noChangeArrowheads="1"/>
          </p:cNvSpPr>
          <p:nvPr>
            <p:ph type="title"/>
          </p:nvPr>
        </p:nvSpPr>
        <p:spPr>
          <a:xfrm>
            <a:off x="685800" y="1281113"/>
            <a:ext cx="7772400" cy="838200"/>
          </a:xfrm>
        </p:spPr>
        <p:txBody>
          <a:bodyPr/>
          <a:lstStyle/>
          <a:p>
            <a:r>
              <a:rPr lang="pt-BR" altLang="pt-BR"/>
              <a:t>Exemplo de Check List</a:t>
            </a:r>
          </a:p>
        </p:txBody>
      </p:sp>
      <p:pic>
        <p:nvPicPr>
          <p:cNvPr id="73734" name="Picture 6" descr="G:\NR-10\Todas as imagens\006.t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81" t="4056" r="13985" b="60992"/>
          <a:stretch>
            <a:fillRect/>
          </a:stretch>
        </p:blipFill>
        <p:spPr bwMode="auto">
          <a:xfrm>
            <a:off x="1241425" y="2106613"/>
            <a:ext cx="6740525" cy="4497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0" y="2438400"/>
            <a:ext cx="3810000" cy="457200"/>
          </a:xfrm>
        </p:spPr>
        <p:txBody>
          <a:bodyPr/>
          <a:lstStyle/>
          <a:p>
            <a:r>
              <a:rPr lang="pt-BR" altLang="pt-BR" sz="2400"/>
              <a:t>Alto Risco, Risco presente.</a:t>
            </a:r>
          </a:p>
        </p:txBody>
      </p:sp>
      <p:graphicFrame>
        <p:nvGraphicFramePr>
          <p:cNvPr id="74757" name="Object 5"/>
          <p:cNvGraphicFramePr>
            <a:graphicFrameLocks noChangeAspect="1"/>
          </p:cNvGraphicFramePr>
          <p:nvPr/>
        </p:nvGraphicFramePr>
        <p:xfrm>
          <a:off x="228600" y="1752600"/>
          <a:ext cx="4953000" cy="482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088" name="Figura" r:id="rId3" imgW="6643080" imgH="5436000" progId="Word.Picture.8">
                  <p:embed/>
                </p:oleObj>
              </mc:Choice>
              <mc:Fallback>
                <p:oleObj name="Figura" r:id="rId3" imgW="6643080" imgH="5436000" progId="Word.Picture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752600"/>
                        <a:ext cx="4953000" cy="4824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58" name="AutoShape 6"/>
          <p:cNvSpPr>
            <a:spLocks noChangeArrowheads="1"/>
          </p:cNvSpPr>
          <p:nvPr/>
        </p:nvSpPr>
        <p:spPr bwMode="auto">
          <a:xfrm>
            <a:off x="4191000" y="2438400"/>
            <a:ext cx="914400" cy="381000"/>
          </a:xfrm>
          <a:prstGeom prst="leftArrow">
            <a:avLst>
              <a:gd name="adj1" fmla="val 50000"/>
              <a:gd name="adj2" fmla="val 60000"/>
            </a:avLst>
          </a:prstGeom>
          <a:solidFill>
            <a:srgbClr val="006699"/>
          </a:solidFill>
          <a:ln>
            <a:noFill/>
          </a:ln>
          <a:effectLst>
            <a:prstShdw prst="shdw17" dist="63500" dir="8587806">
              <a:srgbClr val="006699">
                <a:gamma/>
                <a:shade val="60000"/>
                <a:invGamma/>
                <a:alpha val="50000"/>
              </a:srgb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6699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74759" name="Rectangle 7"/>
          <p:cNvSpPr>
            <a:spLocks noChangeArrowheads="1"/>
          </p:cNvSpPr>
          <p:nvPr/>
        </p:nvSpPr>
        <p:spPr bwMode="auto">
          <a:xfrm>
            <a:off x="5334000" y="3886200"/>
            <a:ext cx="3352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1pPr>
            <a:lvl2pPr marL="377825" indent="-187325">
              <a:spcBef>
                <a:spcPct val="20000"/>
              </a:spcBef>
              <a:buClr>
                <a:srgbClr val="FF3300"/>
              </a:buClr>
              <a:buSzPct val="70000"/>
              <a:buChar char="•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2pPr>
            <a:lvl3pPr marL="763588" indent="-195263">
              <a:spcBef>
                <a:spcPct val="20000"/>
              </a:spcBef>
              <a:buClr>
                <a:srgbClr val="969696"/>
              </a:buClr>
              <a:buSzPct val="70000"/>
              <a:buChar char="•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3pPr>
            <a:lvl4pPr marL="1141413" indent="-187325">
              <a:spcBef>
                <a:spcPct val="20000"/>
              </a:spcBef>
              <a:buChar char="-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4pPr>
            <a:lvl5pPr marL="1528763" indent="-196850">
              <a:spcBef>
                <a:spcPct val="20000"/>
              </a:spcBef>
              <a:buChar char="»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5pPr>
            <a:lvl6pPr marL="1985963" indent="-19685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6pPr>
            <a:lvl7pPr marL="2443163" indent="-19685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7pPr>
            <a:lvl8pPr marL="2900363" indent="-19685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8pPr>
            <a:lvl9pPr marL="3357563" indent="-19685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altLang="pt-BR"/>
              <a:t>Controle do Risco,</a:t>
            </a:r>
          </a:p>
          <a:p>
            <a:r>
              <a:rPr lang="pt-BR" altLang="pt-BR"/>
              <a:t>Risco ainda presente.</a:t>
            </a:r>
          </a:p>
        </p:txBody>
      </p:sp>
      <p:sp>
        <p:nvSpPr>
          <p:cNvPr id="74760" name="AutoShape 8"/>
          <p:cNvSpPr>
            <a:spLocks noChangeArrowheads="1"/>
          </p:cNvSpPr>
          <p:nvPr/>
        </p:nvSpPr>
        <p:spPr bwMode="auto">
          <a:xfrm>
            <a:off x="4191000" y="4038600"/>
            <a:ext cx="914400" cy="381000"/>
          </a:xfrm>
          <a:prstGeom prst="leftArrow">
            <a:avLst>
              <a:gd name="adj1" fmla="val 50000"/>
              <a:gd name="adj2" fmla="val 60000"/>
            </a:avLst>
          </a:prstGeom>
          <a:solidFill>
            <a:srgbClr val="006699"/>
          </a:solidFill>
          <a:ln>
            <a:noFill/>
          </a:ln>
          <a:effectLst>
            <a:prstShdw prst="shdw17" dist="63500" dir="8587806">
              <a:srgbClr val="006699">
                <a:gamma/>
                <a:shade val="60000"/>
                <a:invGamma/>
                <a:alpha val="50000"/>
              </a:srgb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6699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74762" name="Rectangle 10"/>
          <p:cNvSpPr>
            <a:spLocks noChangeArrowheads="1"/>
          </p:cNvSpPr>
          <p:nvPr/>
        </p:nvSpPr>
        <p:spPr bwMode="auto">
          <a:xfrm>
            <a:off x="5334000" y="5562600"/>
            <a:ext cx="3352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1pPr>
            <a:lvl2pPr marL="377825" indent="-187325">
              <a:spcBef>
                <a:spcPct val="20000"/>
              </a:spcBef>
              <a:buClr>
                <a:srgbClr val="FF3300"/>
              </a:buClr>
              <a:buSzPct val="70000"/>
              <a:buChar char="•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2pPr>
            <a:lvl3pPr marL="763588" indent="-195263">
              <a:spcBef>
                <a:spcPct val="20000"/>
              </a:spcBef>
              <a:buClr>
                <a:srgbClr val="969696"/>
              </a:buClr>
              <a:buSzPct val="70000"/>
              <a:buChar char="•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3pPr>
            <a:lvl4pPr marL="1141413" indent="-187325">
              <a:spcBef>
                <a:spcPct val="20000"/>
              </a:spcBef>
              <a:buChar char="-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4pPr>
            <a:lvl5pPr marL="1528763" indent="-196850">
              <a:spcBef>
                <a:spcPct val="20000"/>
              </a:spcBef>
              <a:buChar char="»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5pPr>
            <a:lvl6pPr marL="1985963" indent="-19685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6pPr>
            <a:lvl7pPr marL="2443163" indent="-19685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7pPr>
            <a:lvl8pPr marL="2900363" indent="-19685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8pPr>
            <a:lvl9pPr marL="3357563" indent="-19685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altLang="pt-BR"/>
              <a:t>Eliminação/controle do risco,“Risco isolado”</a:t>
            </a:r>
          </a:p>
        </p:txBody>
      </p:sp>
      <p:sp>
        <p:nvSpPr>
          <p:cNvPr id="74763" name="AutoShape 11"/>
          <p:cNvSpPr>
            <a:spLocks noChangeArrowheads="1"/>
          </p:cNvSpPr>
          <p:nvPr/>
        </p:nvSpPr>
        <p:spPr bwMode="auto">
          <a:xfrm>
            <a:off x="4191000" y="5638800"/>
            <a:ext cx="914400" cy="381000"/>
          </a:xfrm>
          <a:prstGeom prst="leftArrow">
            <a:avLst>
              <a:gd name="adj1" fmla="val 50000"/>
              <a:gd name="adj2" fmla="val 60000"/>
            </a:avLst>
          </a:prstGeom>
          <a:solidFill>
            <a:srgbClr val="006699"/>
          </a:solidFill>
          <a:ln>
            <a:noFill/>
          </a:ln>
          <a:effectLst>
            <a:prstShdw prst="shdw17" dist="63500" dir="8587806">
              <a:srgbClr val="006699">
                <a:gamma/>
                <a:shade val="60000"/>
                <a:invGamma/>
                <a:alpha val="50000"/>
              </a:srgb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6699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74769" name="Text Box 17"/>
          <p:cNvSpPr txBox="1">
            <a:spLocks noChangeArrowheads="1"/>
          </p:cNvSpPr>
          <p:nvPr/>
        </p:nvSpPr>
        <p:spPr bwMode="auto">
          <a:xfrm>
            <a:off x="1371600" y="1981200"/>
            <a:ext cx="1879600" cy="406400"/>
          </a:xfrm>
          <a:prstGeom prst="rect">
            <a:avLst/>
          </a:prstGeom>
          <a:solidFill>
            <a:srgbClr val="FFFFFF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pt-BR" altLang="pt-BR" sz="2000">
                <a:latin typeface="Tahoma" panose="020B0604030504040204" pitchFamily="34" charset="0"/>
              </a:rPr>
              <a:t>Risco / Perigo</a:t>
            </a:r>
          </a:p>
        </p:txBody>
      </p:sp>
      <p:sp>
        <p:nvSpPr>
          <p:cNvPr id="74770" name="Text Box 18"/>
          <p:cNvSpPr txBox="1">
            <a:spLocks noChangeArrowheads="1"/>
          </p:cNvSpPr>
          <p:nvPr/>
        </p:nvSpPr>
        <p:spPr bwMode="auto">
          <a:xfrm>
            <a:off x="1181100" y="3429000"/>
            <a:ext cx="2209800" cy="406400"/>
          </a:xfrm>
          <a:prstGeom prst="rect">
            <a:avLst/>
          </a:prstGeom>
          <a:solidFill>
            <a:srgbClr val="FFFFFF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pt-BR" altLang="pt-BR" sz="2000">
                <a:latin typeface="Tahoma" panose="020B0604030504040204" pitchFamily="34" charset="0"/>
              </a:rPr>
              <a:t>Controle do Risco</a:t>
            </a:r>
          </a:p>
        </p:txBody>
      </p:sp>
      <p:sp>
        <p:nvSpPr>
          <p:cNvPr id="74771" name="Text Box 19"/>
          <p:cNvSpPr txBox="1">
            <a:spLocks noChangeArrowheads="1"/>
          </p:cNvSpPr>
          <p:nvPr/>
        </p:nvSpPr>
        <p:spPr bwMode="auto">
          <a:xfrm>
            <a:off x="711200" y="5029200"/>
            <a:ext cx="3530600" cy="406400"/>
          </a:xfrm>
          <a:prstGeom prst="rect">
            <a:avLst/>
          </a:prstGeom>
          <a:solidFill>
            <a:srgbClr val="FFFFFF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pt-BR" altLang="pt-BR" sz="2000">
                <a:latin typeface="Tahoma" panose="020B0604030504040204" pitchFamily="34" charset="0"/>
              </a:rPr>
              <a:t>Eliminação do Risco / Perigo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DELO">
  <a:themeElements>
    <a:clrScheme name="MODELO 2">
      <a:dk1>
        <a:srgbClr val="000000"/>
      </a:dk1>
      <a:lt1>
        <a:srgbClr val="609494"/>
      </a:lt1>
      <a:dk2>
        <a:srgbClr val="FFC545"/>
      </a:dk2>
      <a:lt2>
        <a:srgbClr val="476F6E"/>
      </a:lt2>
      <a:accent1>
        <a:srgbClr val="FFFFCC"/>
      </a:accent1>
      <a:accent2>
        <a:srgbClr val="FF9900"/>
      </a:accent2>
      <a:accent3>
        <a:srgbClr val="B6C8C8"/>
      </a:accent3>
      <a:accent4>
        <a:srgbClr val="000000"/>
      </a:accent4>
      <a:accent5>
        <a:srgbClr val="FFFFE2"/>
      </a:accent5>
      <a:accent6>
        <a:srgbClr val="E78A00"/>
      </a:accent6>
      <a:hlink>
        <a:srgbClr val="3E7D7C"/>
      </a:hlink>
      <a:folHlink>
        <a:srgbClr val="99CCCC"/>
      </a:folHlink>
    </a:clrScheme>
    <a:fontScheme name="MODELO">
      <a:majorFont>
        <a:latin typeface="Arial Black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altLang="pt-B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altLang="pt-B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MODELO 1">
        <a:dk1>
          <a:srgbClr val="264D4C"/>
        </a:dk1>
        <a:lt1>
          <a:srgbClr val="F8F8F8"/>
        </a:lt1>
        <a:dk2>
          <a:srgbClr val="336666"/>
        </a:dk2>
        <a:lt2>
          <a:srgbClr val="FFFFCC"/>
        </a:lt2>
        <a:accent1>
          <a:srgbClr val="C0C0C0"/>
        </a:accent1>
        <a:accent2>
          <a:srgbClr val="FF9900"/>
        </a:accent2>
        <a:accent3>
          <a:srgbClr val="ADB8B8"/>
        </a:accent3>
        <a:accent4>
          <a:srgbClr val="D4D4D4"/>
        </a:accent4>
        <a:accent5>
          <a:srgbClr val="DCDCDC"/>
        </a:accent5>
        <a:accent6>
          <a:srgbClr val="E78A00"/>
        </a:accent6>
        <a:hlink>
          <a:srgbClr val="FFCC00"/>
        </a:hlink>
        <a:folHlink>
          <a:srgbClr val="99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ELO 2">
        <a:dk1>
          <a:srgbClr val="000000"/>
        </a:dk1>
        <a:lt1>
          <a:srgbClr val="609494"/>
        </a:lt1>
        <a:dk2>
          <a:srgbClr val="FFC545"/>
        </a:dk2>
        <a:lt2>
          <a:srgbClr val="476F6E"/>
        </a:lt2>
        <a:accent1>
          <a:srgbClr val="FFFFCC"/>
        </a:accent1>
        <a:accent2>
          <a:srgbClr val="FF9900"/>
        </a:accent2>
        <a:accent3>
          <a:srgbClr val="B6C8C8"/>
        </a:accent3>
        <a:accent4>
          <a:srgbClr val="000000"/>
        </a:accent4>
        <a:accent5>
          <a:srgbClr val="FFFFE2"/>
        </a:accent5>
        <a:accent6>
          <a:srgbClr val="E78A00"/>
        </a:accent6>
        <a:hlink>
          <a:srgbClr val="3E7D7C"/>
        </a:hlink>
        <a:folHlink>
          <a:srgbClr val="99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ELO 3">
        <a:dk1>
          <a:srgbClr val="000000"/>
        </a:dk1>
        <a:lt1>
          <a:srgbClr val="FFFFFF"/>
        </a:lt1>
        <a:dk2>
          <a:srgbClr val="000000"/>
        </a:dk2>
        <a:lt2>
          <a:srgbClr val="B2B2B2"/>
        </a:lt2>
        <a:accent1>
          <a:srgbClr val="C0C0C0"/>
        </a:accent1>
        <a:accent2>
          <a:srgbClr val="F8F8F8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E1E1E1"/>
        </a:accent6>
        <a:hlink>
          <a:srgbClr val="4D4D4D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G:\NR-10\Apresentações\MODELO.ppt</Template>
  <TotalTime>486</TotalTime>
  <Words>639</Words>
  <Application>Microsoft Office PowerPoint</Application>
  <PresentationFormat>Apresentação na tela (4:3)</PresentationFormat>
  <Paragraphs>75</Paragraphs>
  <Slides>16</Slides>
  <Notes>0</Notes>
  <HiddenSlides>0</HiddenSlides>
  <MMClips>0</MMClips>
  <ScaleCrop>false</ScaleCrop>
  <HeadingPairs>
    <vt:vector size="8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3</vt:i4>
      </vt:variant>
      <vt:variant>
        <vt:lpstr>Títulos de slides</vt:lpstr>
      </vt:variant>
      <vt:variant>
        <vt:i4>16</vt:i4>
      </vt:variant>
    </vt:vector>
  </HeadingPairs>
  <TitlesOfParts>
    <vt:vector size="26" baseType="lpstr">
      <vt:lpstr>Times New Roman</vt:lpstr>
      <vt:lpstr>Arial Black</vt:lpstr>
      <vt:lpstr>Arial Narrow</vt:lpstr>
      <vt:lpstr>Tahoma</vt:lpstr>
      <vt:lpstr>Wingdings</vt:lpstr>
      <vt:lpstr>Arial</vt:lpstr>
      <vt:lpstr>MODELO</vt:lpstr>
      <vt:lpstr>Imagem de bitmap</vt:lpstr>
      <vt:lpstr>Imagem bitmap</vt:lpstr>
      <vt:lpstr>Figura do Microsoft Word</vt:lpstr>
      <vt:lpstr>Técnicas de ANÁLISE DE RISCO</vt:lpstr>
      <vt:lpstr>Riscos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Definições</vt:lpstr>
      <vt:lpstr>Definições</vt:lpstr>
      <vt:lpstr>Planejamento</vt:lpstr>
      <vt:lpstr>Análise Preliminar de Risco (APR)</vt:lpstr>
      <vt:lpstr>ANÁLISE PRELIMINAR DE RISCO (APR)</vt:lpstr>
      <vt:lpstr>Apresentação do PowerPoint</vt:lpstr>
      <vt:lpstr>Check list</vt:lpstr>
      <vt:lpstr>Exemplo de Check List</vt:lpstr>
      <vt:lpstr>Apresentação do PowerPoint</vt:lpstr>
    </vt:vector>
  </TitlesOfParts>
  <Company>AES Eletropaulo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Michel Lucas de Oliveira</dc:creator>
  <cp:lastModifiedBy>Usuário do Windows</cp:lastModifiedBy>
  <cp:revision>95</cp:revision>
  <dcterms:created xsi:type="dcterms:W3CDTF">2005-06-20T14:11:47Z</dcterms:created>
  <dcterms:modified xsi:type="dcterms:W3CDTF">2017-10-15T20:24:46Z</dcterms:modified>
</cp:coreProperties>
</file>