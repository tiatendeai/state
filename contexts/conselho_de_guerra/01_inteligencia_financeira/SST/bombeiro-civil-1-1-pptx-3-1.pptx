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6" r:id="rId2"/>
    <p:sldId id="268" r:id="rId3"/>
    <p:sldId id="259" r:id="rId4"/>
    <p:sldId id="257" r:id="rId5"/>
    <p:sldId id="258" r:id="rId6"/>
    <p:sldId id="267" r:id="rId7"/>
    <p:sldId id="265" r:id="rId8"/>
    <p:sldId id="266" r:id="rId9"/>
    <p:sldId id="262" r:id="rId10"/>
    <p:sldId id="264" r:id="rId11"/>
    <p:sldId id="272" r:id="rId12"/>
    <p:sldId id="260" r:id="rId13"/>
    <p:sldId id="261" r:id="rId14"/>
    <p:sldId id="270" r:id="rId15"/>
    <p:sldId id="271" r:id="rId16"/>
    <p:sldId id="273" r:id="rId17"/>
    <p:sldId id="274" r:id="rId1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Bombeiro C. Comercial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-3.1092338737565362E-3"/>
                  <c:y val="-3.46405319516133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241-4B35-8FD2-0591D80FDD82}"/>
                </c:ext>
              </c:extLst>
            </c:dLbl>
            <c:dLbl>
              <c:idx val="1"/>
              <c:layout>
                <c:manualLayout>
                  <c:x val="-5.7001962527334542E-17"/>
                  <c:y val="-1.57456963416424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241-4B35-8FD2-0591D80FDD82}"/>
                </c:ext>
              </c:extLst>
            </c:dLbl>
            <c:dLbl>
              <c:idx val="2"/>
              <c:layout>
                <c:manualLayout>
                  <c:x val="0"/>
                  <c:y val="-1.25965570733139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241-4B35-8FD2-0591D80FDD8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Curso Técnico de Seg.do trabalho</c:v>
                </c:pt>
                <c:pt idx="1">
                  <c:v>Formação Superior</c:v>
                </c:pt>
                <c:pt idx="2">
                  <c:v>Curso de Inglês Intermediario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0.42</c:v>
                </c:pt>
                <c:pt idx="1">
                  <c:v>0.16</c:v>
                </c:pt>
                <c:pt idx="2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241-4B35-8FD2-0591D80FDD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Bombeiro C. Industrial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0"/>
                  <c:y val="-2.20439748782994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241-4B35-8FD2-0591D80FDD82}"/>
                </c:ext>
              </c:extLst>
            </c:dLbl>
            <c:dLbl>
              <c:idx val="1"/>
              <c:layout>
                <c:manualLayout>
                  <c:x val="-1.5546169368783249E-3"/>
                  <c:y val="-2.20439748782994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241-4B35-8FD2-0591D80FDD82}"/>
                </c:ext>
              </c:extLst>
            </c:dLbl>
            <c:dLbl>
              <c:idx val="2"/>
              <c:layout>
                <c:manualLayout>
                  <c:x val="0"/>
                  <c:y val="-1.88948356099709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241-4B35-8FD2-0591D80FDD8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Curso Técnico de Seg.do trabalho</c:v>
                </c:pt>
                <c:pt idx="1">
                  <c:v>Formação Superior</c:v>
                </c:pt>
                <c:pt idx="2">
                  <c:v>Curso de Inglês Intermediario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0.48</c:v>
                </c:pt>
                <c:pt idx="1">
                  <c:v>0.43</c:v>
                </c:pt>
                <c:pt idx="2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241-4B35-8FD2-0591D80FDD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cylinder"/>
        <c:axId val="391394880"/>
        <c:axId val="391392136"/>
        <c:axId val="388454184"/>
      </c:bar3DChart>
      <c:catAx>
        <c:axId val="391394880"/>
        <c:scaling>
          <c:orientation val="minMax"/>
        </c:scaling>
        <c:delete val="0"/>
        <c:axPos val="b"/>
        <c:numFmt formatCode="0.00%" sourceLinked="0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391392136"/>
        <c:crosses val="autoZero"/>
        <c:auto val="1"/>
        <c:lblAlgn val="ctr"/>
        <c:lblOffset val="100"/>
        <c:noMultiLvlLbl val="0"/>
      </c:catAx>
      <c:valAx>
        <c:axId val="391392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391394880"/>
        <c:crosses val="autoZero"/>
        <c:crossBetween val="between"/>
      </c:valAx>
      <c:serAx>
        <c:axId val="3884541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39139213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Fonte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Sindibombeiros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Vagas de Trabalho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numRef>
              <c:f>Sheet1!$A$2:$A$9</c:f>
              <c:numCache>
                <c:formatCode>General</c:formatCode>
                <c:ptCount val="8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1000</c:v>
                </c:pt>
                <c:pt idx="1">
                  <c:v>1800</c:v>
                </c:pt>
                <c:pt idx="2">
                  <c:v>2600</c:v>
                </c:pt>
                <c:pt idx="3">
                  <c:v>3000</c:v>
                </c:pt>
                <c:pt idx="4">
                  <c:v>3589</c:v>
                </c:pt>
                <c:pt idx="5">
                  <c:v>3942</c:v>
                </c:pt>
                <c:pt idx="6">
                  <c:v>4589</c:v>
                </c:pt>
                <c:pt idx="7">
                  <c:v>6000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52-4597-96B5-179D3E335B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Sindicalizados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numRef>
              <c:f>Sheet1!$A$2:$A$9</c:f>
              <c:numCache>
                <c:formatCode>General</c:formatCode>
                <c:ptCount val="8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300</c:v>
                </c:pt>
                <c:pt idx="1">
                  <c:v>380</c:v>
                </c:pt>
                <c:pt idx="2">
                  <c:v>500</c:v>
                </c:pt>
                <c:pt idx="3">
                  <c:v>870</c:v>
                </c:pt>
                <c:pt idx="4">
                  <c:v>950</c:v>
                </c:pt>
                <c:pt idx="5">
                  <c:v>1069</c:v>
                </c:pt>
                <c:pt idx="6">
                  <c:v>1130</c:v>
                </c:pt>
                <c:pt idx="7">
                  <c:v>1254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52-4597-96B5-179D3E335B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1292024"/>
        <c:axId val="391290456"/>
      </c:lineChart>
      <c:catAx>
        <c:axId val="391292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391290456"/>
        <c:crosses val="autoZero"/>
        <c:auto val="1"/>
        <c:lblAlgn val="ctr"/>
        <c:lblOffset val="100"/>
        <c:noMultiLvlLbl val="0"/>
      </c:catAx>
      <c:valAx>
        <c:axId val="391290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391292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7" Type="http://schemas.openxmlformats.org/officeDocument/2006/relationships/image" Target="../media/image9.gif"/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5678-EE20-4FA5-88E2-6E0BD67A2E26}" type="datetime1">
              <a:rPr lang="en-US" smtClean="0"/>
              <a:t>10/15/2016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738E-8962-435F-8C43-147B8DD7E819}" type="datetime1">
              <a:rPr lang="en-US" smtClean="0"/>
              <a:t>10/15/2016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AEA93-55E7-4DA9-90C2-089A26EEFEC4}" type="datetime1">
              <a:rPr lang="en-US" smtClean="0"/>
              <a:t>10/15/2016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F3C7-6809-4F39-BD67-A75817BDDE0A}" type="datetime1">
              <a:rPr lang="en-US" smtClean="0"/>
              <a:t>10/15/2016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AEB24-CE78-465C-A726-91D0868FA48F}" type="datetime1">
              <a:rPr lang="en-US" smtClean="0"/>
              <a:t>10/15/2016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ADF0-1749-4E8B-9691-B44A5F8C0895}" type="datetime1">
              <a:rPr lang="en-US" smtClean="0"/>
              <a:t>10/15/2016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628A-A867-4937-BBE5-207DB6F9C51A}" type="datetime1">
              <a:rPr lang="en-US" smtClean="0"/>
              <a:t>10/15/2016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BBB94-68E6-4675-A946-F1C5994EDBD7}" type="datetime1">
              <a:rPr lang="en-US" smtClean="0"/>
              <a:t>10/15/2016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8377-21E3-4835-B75D-4E2847E2750F}" type="datetime1">
              <a:rPr lang="en-US" smtClean="0"/>
              <a:t>10/15/2016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1B39-B140-43FE-96DB-472A2B59CE7C}" type="datetime1">
              <a:rPr lang="en-US" smtClean="0"/>
              <a:t>10/15/2016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00BB2-27C5-458B-ABCE-839C88CF47CE}" type="datetime1">
              <a:rPr lang="en-US" smtClean="0"/>
              <a:t>10/15/2016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www.sindibombeiros.com.br/hotsite/imgs_banners/img_0000000066_01_gd.gif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51" r="29115"/>
          <a:stretch/>
        </p:blipFill>
        <p:spPr bwMode="auto">
          <a:xfrm>
            <a:off x="1940559" y="6596742"/>
            <a:ext cx="182154" cy="26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www.sindibombeiros.com.br/hotsite/imgs_banners/img_0000000054_01_gd.gif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969" y="6596742"/>
            <a:ext cx="770920" cy="26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ttp://www.sindibombeiros.com.br/hotsite/imgs_banners/img_0000000055_01_gd.gif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852" y="6596742"/>
            <a:ext cx="627017" cy="26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ttp://www.sindibombeiros.com.br/hotsite/imgs_banners/img_0000000067_01_gd.gif"/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35" t="3862" r="22407"/>
          <a:stretch/>
        </p:blipFill>
        <p:spPr bwMode="auto">
          <a:xfrm>
            <a:off x="4806069" y="6596606"/>
            <a:ext cx="255787" cy="261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http://www.sindibombeiros.com.br/hotsite/imgs_banners/img_0000000068_01_gd.gif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3" r="8203"/>
          <a:stretch/>
        </p:blipFill>
        <p:spPr bwMode="auto">
          <a:xfrm>
            <a:off x="5502919" y="6596606"/>
            <a:ext cx="571761" cy="261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http://www.sindibombeiros.com.br/hotsite/imgs_banners/img_0000000075_01_gd.gif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4080" y="6596606"/>
            <a:ext cx="960217" cy="261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07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gi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B0C4986D-6BE9-4264-908F-02DB36FD8D6C}" type="datetime1">
              <a:rPr lang="en-US" smtClean="0"/>
              <a:t>10/15/2016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BA9B540C-44DA-4F69-89C9-7C84606640D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SINDIBOMBEIROS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17" y="34520"/>
            <a:ext cx="1420132" cy="1420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://www.sindibombeiros.com.br/hotsite/imgs_banners/img_0000000069_01_gd.gif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344" y="-3629"/>
            <a:ext cx="1402655" cy="140265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/>
          <p:cNvSpPr txBox="1"/>
          <p:nvPr userDrawn="1"/>
        </p:nvSpPr>
        <p:spPr>
          <a:xfrm>
            <a:off x="-87210" y="-34163"/>
            <a:ext cx="364202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" dirty="0">
                <a:latin typeface="Arial" panose="020B0604020202020204" pitchFamily="34" charset="0"/>
                <a:cs typeface="Arial" panose="020B0604020202020204" pitchFamily="34" charset="0"/>
              </a:rPr>
              <a:t>Williams Nunes – 11 98104-4033</a:t>
            </a:r>
          </a:p>
        </p:txBody>
      </p:sp>
      <p:sp>
        <p:nvSpPr>
          <p:cNvPr id="12" name="CaixaDeTexto 11"/>
          <p:cNvSpPr txBox="1"/>
          <p:nvPr userDrawn="1"/>
        </p:nvSpPr>
        <p:spPr>
          <a:xfrm>
            <a:off x="8855109" y="-34163"/>
            <a:ext cx="364202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" dirty="0">
                <a:latin typeface="Arial" panose="020B0604020202020204" pitchFamily="34" charset="0"/>
                <a:cs typeface="Arial" panose="020B0604020202020204" pitchFamily="34" charset="0"/>
              </a:rPr>
              <a:t>Williams Nunes – 11 98104-4033</a:t>
            </a:r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-87210" y="6788662"/>
            <a:ext cx="364202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" dirty="0">
                <a:latin typeface="Arial" panose="020B0604020202020204" pitchFamily="34" charset="0"/>
                <a:cs typeface="Arial" panose="020B0604020202020204" pitchFamily="34" charset="0"/>
              </a:rPr>
              <a:t>Williams Nunes – 11 98104-4033</a:t>
            </a:r>
          </a:p>
        </p:txBody>
      </p:sp>
      <p:sp>
        <p:nvSpPr>
          <p:cNvPr id="14" name="CaixaDeTexto 13"/>
          <p:cNvSpPr txBox="1"/>
          <p:nvPr userDrawn="1"/>
        </p:nvSpPr>
        <p:spPr>
          <a:xfrm>
            <a:off x="8855109" y="6788662"/>
            <a:ext cx="364202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" dirty="0">
                <a:latin typeface="Arial" panose="020B0604020202020204" pitchFamily="34" charset="0"/>
                <a:cs typeface="Arial" panose="020B0604020202020204" pitchFamily="34" charset="0"/>
              </a:rPr>
              <a:t>Williams Nunes – 11 98104-4033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jp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935893" y="4877326"/>
            <a:ext cx="53793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Radiografia da Capacitação do Bombeiro Profissional Civil</a:t>
            </a:r>
            <a:endParaRPr lang="pt-BR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522" y="20315"/>
            <a:ext cx="4752977" cy="154971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79577" y="5789020"/>
            <a:ext cx="67253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“A Realidade Após a Formação”</a:t>
            </a:r>
            <a:endParaRPr lang="en-US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4026" y="1664916"/>
            <a:ext cx="4752977" cy="31869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503968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4549" y="2162306"/>
            <a:ext cx="8358997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Edson de Jesus</a:t>
            </a:r>
          </a:p>
          <a:p>
            <a:pPr algn="ctr"/>
            <a:b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Diretor do Sindicato dos Bombeiros Civis do Estado de São Paulo</a:t>
            </a:r>
            <a:b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CGA Equipamentos Contra Incêndios Ltda.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Coordinator do Department Fire Protection - Ford Motor Company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Brasil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Emergency Response Coordinator</a:t>
            </a: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1403648" y="3769881"/>
            <a:ext cx="6400800" cy="17526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b="1" dirty="0">
                <a:solidFill>
                  <a:srgbClr val="FF0000"/>
                </a:solidFill>
              </a:rPr>
              <a:t> </a:t>
            </a:r>
            <a:endParaRPr lang="en-US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1838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360198" y="510832"/>
            <a:ext cx="20441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Legislação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833544" y="1287526"/>
            <a:ext cx="5795176" cy="49705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Lei Federal 11.901/2009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NBR 14.608/2007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NBR 14023/1997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ABNT/CB 24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NR – Norma Regulamentadora Federal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Lei Estadual 15.180/2013 -SP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Lei Municipal 16.312/2015  -SP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Decreto 56.819/2011 - CBPMESP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Instrução Técnica (IT) 17/2 – 2014 CBPMESP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NFPA 1006,1041,1983, 1670 e etc...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Convenção Coletiva de Trabalho 2015/2016</a:t>
            </a:r>
          </a:p>
          <a:p>
            <a:pPr>
              <a:spcBef>
                <a:spcPts val="600"/>
              </a:spcBef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SindiBombeiros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do Estado de São Paulo)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5171-10 - Bombeiro de estabelecimentos industriais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Demais Leis, Decretos, Portarias...</a:t>
            </a:r>
          </a:p>
        </p:txBody>
      </p:sp>
    </p:spTree>
    <p:extLst>
      <p:ext uri="{BB962C8B-B14F-4D97-AF65-F5344CB8AC3E}">
        <p14:creationId xmlns:p14="http://schemas.microsoft.com/office/powerpoint/2010/main" val="27872660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543464" y="1914295"/>
            <a:ext cx="844526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Segundo a Lei Federal </a:t>
            </a:r>
            <a:r>
              <a:rPr lang="pt-BR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11.901/2009</a:t>
            </a:r>
            <a:r>
              <a:rPr lang="pt-BR" sz="20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pt-BR" sz="20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Art. 2</a:t>
            </a:r>
            <a:r>
              <a:rPr lang="pt-BR" sz="2000" b="1" u="sng" baseline="30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20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Considera-se Bombeiro Civil aquele que, habilitado nos termos desta Lei, exerça, em caráter habitual, função remunerada e exclusiva de prevenção e combate a incêndio, como empregado contratado diretamente por empresas privadas ou públicas, sociedades de economia mista, ou empresas especializadas em prestação de serviços de prevenção e combate a incêndio.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350736" y="1090825"/>
            <a:ext cx="6830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Quem é o Bombeiro Profissional Civil?</a:t>
            </a:r>
          </a:p>
        </p:txBody>
      </p:sp>
      <p:pic>
        <p:nvPicPr>
          <p:cNvPr id="2050" name="Picture 2" descr="http://4.bp.blogspot.com/-qIdtpgA6UsA/U3va8Cb-L-I/AAAAAAAAAYg/kBA-XXu9ykY/s1600/brigada1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129877" y="4546121"/>
            <a:ext cx="3081809" cy="207298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6799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1894590" y="1350438"/>
            <a:ext cx="4819136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Bombeiro Civil Aeródromo;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Bombeiro Civil Aeródromo Condutor;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Bombeiro Civil Aeródromo Líder;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Bombeiro Civil Aeródromo Inspetor;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Bombeiro Civil Aeródromo Chefe;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Bombeiro Civil (nível básico);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Bombeiro Civil Condutor;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Bombeiro Civil Líder;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Bombeiro Civil Mestre;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Bombeiro Civil que atende Heliponto;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Bombeiro Civil que trabalha na Industria;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Bombeiro Civil Industrial Líder;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Bombeiro Civil Florestal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Salva-Vidas;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Salva-Vidas Líder.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699404" y="332001"/>
            <a:ext cx="5434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Bombeiro Profissional Civil </a:t>
            </a:r>
          </a:p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funções hierárquicas</a:t>
            </a:r>
          </a:p>
        </p:txBody>
      </p:sp>
      <p:pic>
        <p:nvPicPr>
          <p:cNvPr id="3074" name="Picture 2" descr="http://4.bp.blogspot.com/-c-G4BKrGDDI/VPsA5ZkNB7I/AAAAAAAAAJY/oa1FsadZ_zI/s1600/BOMBEIRO%2BCIVIL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95131" y="2364259"/>
            <a:ext cx="2548869" cy="345165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68281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007511" y="523676"/>
            <a:ext cx="5211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Formação do Bombeiro Profissional Civil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814898" y="927331"/>
            <a:ext cx="1596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NBR 14.608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59625" y="1727551"/>
            <a:ext cx="850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Formação do Bombeiro Civil, mínimo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210 horas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contendo os seguintes módulos: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59625" y="2423767"/>
            <a:ext cx="854592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Prevenção e combate a incêndio;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Equipamentos de combate a incêndio e auxiliares;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Atividades operacionais de bombeiro profissional civil;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EPI (equipamento de proteção individual) e EPR (equipamento de proteção respiratória);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Salvamento terrestre;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Produtos perigosos;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Primeiros socorros;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Fundamentos da analise de riscos;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59625" y="4755088"/>
            <a:ext cx="5390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Reciclagem do Bombeiro Civil, mínimo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100 horas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contendo partes dos módulos acima.</a:t>
            </a:r>
          </a:p>
        </p:txBody>
      </p:sp>
      <p:pic>
        <p:nvPicPr>
          <p:cNvPr id="1026" name="Picture 2" descr="http://sansim.com.br/app/upload/conteudo/bombeiro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447509" y="3531058"/>
            <a:ext cx="2581612" cy="2920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9821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16113" y="202647"/>
            <a:ext cx="238078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Reponsabilidades</a:t>
            </a:r>
          </a:p>
          <a:p>
            <a:pPr algn="ctr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Civil e Criminal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7804" y="1633622"/>
            <a:ext cx="860916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Art. 135 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- Deixar de prestar assistência, quando possível fazê-lo sem risco pessoal, à criança abandonada ou extraviada, ou à pessoa inválida ou ferida, ao desamparo ou em grave e iminente perigo; ou não pedir, nesses casos, o socorro da autoridade pública: Pena - detenção, de um a seis meses, ou multa.</a:t>
            </a:r>
          </a:p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Parágrafo único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 - A pena é aumentada de metade, se da omissão resulta lesão corporal de natureza grave, e triplicada, se resulta a morte.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40942" y="1028452"/>
            <a:ext cx="54319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Art. 135 do Código Penal - Decreto Lei 2848/40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198" y="3502023"/>
            <a:ext cx="82986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Art. 32.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 Praticar ato de abuso, maus-tratos, ferir ou mutilar animais silvestres, domésticos ou domesticados, nativos ou exóticos: Pena - detenção, de três meses a um ano, e multa.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12590" y="3123653"/>
            <a:ext cx="5667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Art. 32 da Lei de Crimes Ambientais - Lei 9605/98</a:t>
            </a:r>
          </a:p>
        </p:txBody>
      </p:sp>
      <p:pic>
        <p:nvPicPr>
          <p:cNvPr id="2050" name="Picture 2" descr="http://cdn.portal730.com.br/images/stories/2016/junho/bombeiros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87293" y="4034281"/>
            <a:ext cx="4532492" cy="248233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8589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128583" y="1703340"/>
            <a:ext cx="682093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5171-10 - Bombeiro civil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Agente de investigação de incêndio, Bombeiro de empresas particulares, Bombeiro de estabelecimentos comerciais, Bombeiro de estabelecimentos industriais, Bombeiro de segurança do trabalho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971679" y="593125"/>
            <a:ext cx="51475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Classificação Brasileira de Ocupações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(CBO)</a:t>
            </a:r>
          </a:p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Atribuições Técnicas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1134995" y="3673207"/>
            <a:ext cx="682093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Previnem situações de risco e executam salvamentos terrestres, aquáticos e em altura, protegendo pessoas e patrimônios de incêndios, explosões, vazamentos, afogamentos ou qualquer outra situação de emergência, com o objetivo de salvar e resgatar vidas; prestam primeiros socorros, verificando o estado da vítima para realizar o procedimento adequado; realizam cursos e campanhas educativas, formando e treinando equipes, brigadas e corpo voluntário de emergência.</a:t>
            </a:r>
          </a:p>
        </p:txBody>
      </p:sp>
    </p:spTree>
    <p:extLst>
      <p:ext uri="{BB962C8B-B14F-4D97-AF65-F5344CB8AC3E}">
        <p14:creationId xmlns:p14="http://schemas.microsoft.com/office/powerpoint/2010/main" val="30948291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37426" y="526537"/>
            <a:ext cx="58573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Tipos de Industrias que contratam </a:t>
            </a:r>
            <a:b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bombeiro Civil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83197" y="2012271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Industrias automobilisticas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Industrias de papel e celulose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Industrias Química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Industrias Gráficas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Industria Siderúrgica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Petróleo e Gás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494" y="2006809"/>
            <a:ext cx="2182536" cy="17370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318" y="4261449"/>
            <a:ext cx="2208415" cy="17370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222" y="4252012"/>
            <a:ext cx="2195999" cy="17370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197" y="4284091"/>
            <a:ext cx="2195999" cy="17049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171525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/>
          <p:cNvSpPr txBox="1">
            <a:spLocks/>
          </p:cNvSpPr>
          <p:nvPr/>
        </p:nvSpPr>
        <p:spPr>
          <a:xfrm>
            <a:off x="286941" y="1631796"/>
            <a:ext cx="4824536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1677839" y="259128"/>
            <a:ext cx="59844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Perfil do Bombeiro Industrial</a:t>
            </a:r>
          </a:p>
          <a:p>
            <a:pPr algn="ctr"/>
            <a:r>
              <a:rPr lang="pt-BR" sz="2000" b="1" dirty="0">
                <a:latin typeface="Calibri Light" panose="020F0302020204030204" pitchFamily="34" charset="0"/>
              </a:rPr>
              <a:t>Exigência do Mercado para Contratação</a:t>
            </a:r>
            <a:endParaRPr lang="en-US" sz="2000" b="1" dirty="0">
              <a:latin typeface="Calibri Light" panose="020F03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5801" y="1715387"/>
            <a:ext cx="797080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Bombeiro Civil: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com experiência profissional comprovada, Idade entre 21 e 40 anos.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Ensino médio completo, Curso de bombeiro civil e/ou reciclagem em dia e conhecimento de básico de informática.</a:t>
            </a:r>
          </a:p>
          <a:p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LÍDER: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Ensino médio completo + Curso de Bombeiro Civil e/ou reciclagem em dia + Curso Técnico em Segurança do Trabalho e conhecimento de informática.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COORDENADOR: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Superior Completo, Pós Graduado em Engenharia de Segurança do Trabalho.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4" y="4239795"/>
            <a:ext cx="3229232" cy="19972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850" y="4239795"/>
            <a:ext cx="2575569" cy="20015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513143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066" y="4110049"/>
            <a:ext cx="2599950" cy="19935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Content Placeholder 3"/>
          <p:cNvSpPr txBox="1">
            <a:spLocks/>
          </p:cNvSpPr>
          <p:nvPr/>
        </p:nvSpPr>
        <p:spPr>
          <a:xfrm>
            <a:off x="286941" y="1631796"/>
            <a:ext cx="4824536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1677839" y="259128"/>
            <a:ext cx="59844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Perfil do Bombeiro Industrial</a:t>
            </a:r>
          </a:p>
          <a:p>
            <a:pPr algn="ctr"/>
            <a:r>
              <a:rPr lang="pt-BR" sz="2000" b="1" dirty="0">
                <a:latin typeface="Calibri Light" panose="020F0302020204030204" pitchFamily="34" charset="0"/>
              </a:rPr>
              <a:t>Exigência do Mercado para Contratação</a:t>
            </a:r>
            <a:endParaRPr lang="en-US" sz="2000" b="1" dirty="0">
              <a:latin typeface="Calibri Light" panose="020F03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2277" y="1747538"/>
            <a:ext cx="797080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Treinamento: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Certificado em Academia Regulamentada por Lei especifica 15180/2013 (CCB 0008/600), curso de primeiros socorros, prevenção e combate à incêndios, técnicas de salvamento em altura, resgate em espaços confinados, primeira resposta a emergência química  entre outros.</a:t>
            </a:r>
          </a:p>
          <a:p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Documento de Habilitação para conduzir veículos automotores (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CNH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categoria 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Habilitação para condução de veículo de emergência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, aprovado pelo Código de Transito local ( DETRAN).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NR 33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– Segurança e saúde em espaços confinados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NR 35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– Trabalho em altura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904" y="4110049"/>
            <a:ext cx="2604826" cy="19935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/>
          <p:cNvSpPr txBox="1"/>
          <p:nvPr/>
        </p:nvSpPr>
        <p:spPr>
          <a:xfrm>
            <a:off x="859942" y="6157758"/>
            <a:ext cx="7393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PERFIL DO BOMBEIRO CIVIL APÓS A FORMAÇÃO É BÁSICO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886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68843" y="172853"/>
            <a:ext cx="552758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Comparativo de Profissionais</a:t>
            </a:r>
            <a:b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Comércio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lang="pt-BR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 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54918" y="6220447"/>
            <a:ext cx="14494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Fonte: Catho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5926779"/>
              </p:ext>
            </p:extLst>
          </p:nvPr>
        </p:nvGraphicFramePr>
        <p:xfrm>
          <a:off x="543463" y="1582948"/>
          <a:ext cx="8169215" cy="4032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639686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64898" y="267267"/>
            <a:ext cx="604711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Evolução do número de vagas bombeiros </a:t>
            </a:r>
            <a:b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após 2009 com aprovação da </a:t>
            </a:r>
            <a:b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Lei Federal 11.901/2009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9561145"/>
              </p:ext>
            </p:extLst>
          </p:nvPr>
        </p:nvGraphicFramePr>
        <p:xfrm>
          <a:off x="539579" y="1906760"/>
          <a:ext cx="8229600" cy="4137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837612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1610" y="375984"/>
            <a:ext cx="4794818" cy="690503"/>
          </a:xfrm>
        </p:spPr>
        <p:txBody>
          <a:bodyPr>
            <a:normAutofit fontScale="90000"/>
          </a:bodyPr>
          <a:lstStyle/>
          <a:p>
            <a:r>
              <a:rPr lang="pt-BR" sz="3200" b="1" dirty="0"/>
              <a:t>Atividades Operacionais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02818" y="1563448"/>
            <a:ext cx="3167372" cy="5166866"/>
          </a:xfrm>
        </p:spPr>
        <p:txBody>
          <a:bodyPr>
            <a:noAutofit/>
          </a:bodyPr>
          <a:lstStyle/>
          <a:p>
            <a:pPr marL="0" indent="0" defTabSz="914400">
              <a:spcBef>
                <a:spcPct val="20000"/>
              </a:spcBef>
              <a:buNone/>
            </a:pPr>
            <a:r>
              <a:rPr lang="pt-B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Atividade operacional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VPP – vistoria de produtos perigosos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Descarga de combustível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Espaços confinados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Trabalho em altura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Hot Work  liberação de serviço a quente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Quebra de piso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Transferência de energia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Palestra para soldadores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Palestra para brigadistas</a:t>
            </a:r>
          </a:p>
          <a:p>
            <a:pPr marL="0" indent="0" defTabSz="914400">
              <a:spcBef>
                <a:spcPct val="20000"/>
              </a:spcBef>
              <a:buNone/>
            </a:pPr>
            <a:endParaRPr lang="pt-BR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914400">
              <a:spcBef>
                <a:spcPct val="20000"/>
              </a:spcBef>
              <a:buNone/>
            </a:pPr>
            <a:r>
              <a:rPr lang="pt-B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Inspeções de ronda diária de serviço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Ronda diária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viaturas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EPR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Alarme de incêndio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Teste de bombas de incêndio</a:t>
            </a:r>
          </a:p>
          <a:p>
            <a:pPr marL="0" indent="0" defTabSz="914400">
              <a:spcBef>
                <a:spcPct val="20000"/>
              </a:spcBef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3643184" y="1563448"/>
            <a:ext cx="2551670" cy="5010347"/>
          </a:xfrm>
        </p:spPr>
        <p:txBody>
          <a:bodyPr>
            <a:noAutofit/>
          </a:bodyPr>
          <a:lstStyle/>
          <a:p>
            <a:pPr marL="0" indent="0" defTabSz="914400">
              <a:spcBef>
                <a:spcPct val="20000"/>
              </a:spcBef>
              <a:buNone/>
            </a:pPr>
            <a:r>
              <a:rPr lang="pt-B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Inspeções de rotina operacional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Sprinklers e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Governo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Área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Válvula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Seccional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 Bag 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Luz de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Emergência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Hidrante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Lava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Olhos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Sprinklers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Corta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Fogo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Cabine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Solda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Reservatórios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Tanques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APC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Porões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de CO2 </a:t>
            </a:r>
          </a:p>
          <a:p>
            <a:pPr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Saídas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Emergência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914400">
              <a:spcBef>
                <a:spcPct val="20000"/>
              </a:spcBef>
              <a:buNone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6400800" y="1563448"/>
            <a:ext cx="2411627" cy="2596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pt-B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Inspeções de rotina operacional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Sprinklers e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Governo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Área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Válvula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Seccional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 Bag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Luz de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Emergência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Hidrante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Lava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Olhos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Sprinklers</a:t>
            </a:r>
          </a:p>
        </p:txBody>
      </p:sp>
    </p:spTree>
    <p:extLst>
      <p:ext uri="{BB962C8B-B14F-4D97-AF65-F5344CB8AC3E}">
        <p14:creationId xmlns:p14="http://schemas.microsoft.com/office/powerpoint/2010/main" val="13937812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983" y="345988"/>
            <a:ext cx="5416378" cy="735227"/>
          </a:xfrm>
        </p:spPr>
        <p:txBody>
          <a:bodyPr>
            <a:normAutofit fontScale="90000"/>
          </a:bodyPr>
          <a:lstStyle/>
          <a:p>
            <a:r>
              <a:rPr lang="pt-BR" sz="3200" b="1" dirty="0"/>
              <a:t>Ocorrências Operacionais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545949" y="1487373"/>
            <a:ext cx="3647110" cy="4057660"/>
          </a:xfrm>
        </p:spPr>
        <p:txBody>
          <a:bodyPr>
            <a:noAutofit/>
          </a:bodyPr>
          <a:lstStyle/>
          <a:p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Ocorrências</a:t>
            </a:r>
          </a:p>
          <a:p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Incêndio</a:t>
            </a:r>
          </a:p>
          <a:p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Curto circuito</a:t>
            </a:r>
          </a:p>
          <a:p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Combustão incompleta</a:t>
            </a:r>
          </a:p>
          <a:p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vazamento de produto químico</a:t>
            </a:r>
          </a:p>
          <a:p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Outros vazamentos</a:t>
            </a:r>
          </a:p>
          <a:p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Inundação </a:t>
            </a:r>
          </a:p>
          <a:p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Captura de balão</a:t>
            </a:r>
          </a:p>
          <a:p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Emergência médica </a:t>
            </a:r>
          </a:p>
          <a:p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Auxílio ao público </a:t>
            </a:r>
          </a:p>
          <a:p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Transporte empregado</a:t>
            </a:r>
          </a:p>
          <a:p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Emergência do PAM</a:t>
            </a:r>
          </a:p>
          <a:p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Captura de animal </a:t>
            </a:r>
          </a:p>
          <a:p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Captura de Inseto </a:t>
            </a:r>
          </a:p>
          <a:p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Acionamento de alarme </a:t>
            </a:r>
          </a:p>
          <a:p>
            <a:endParaRPr lang="pt-B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648171" y="1438916"/>
            <a:ext cx="4322833" cy="4659959"/>
          </a:xfrm>
        </p:spPr>
        <p:txBody>
          <a:bodyPr>
            <a:noAutofit/>
          </a:bodyPr>
          <a:lstStyle/>
          <a:p>
            <a:pPr lvl="0"/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Emergências comportamentais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Bomba ou outra ameaça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Resgate em espaço confinado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Comunicação / notificação de emergência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Centro de operações de emergência / ativação de negócios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Plano de evacuação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Plano de prevenções de incêndios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de resposta de emergência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de alarme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Emergência pandemia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Desencarceramento em máquinas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Desastres naturais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Descontaminação materiais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Falha em utilidades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outros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86256" y="6212645"/>
            <a:ext cx="5323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Time: o tempo estimado que uma indústria leva para formar </a:t>
            </a:r>
          </a:p>
          <a:p>
            <a:pPr algn="ctr"/>
            <a:r>
              <a:rPr lang="pt-BR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bombeiro industrial na planta é de no mínimo 1 ano.</a:t>
            </a:r>
            <a:endParaRPr lang="en-US" sz="1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4180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437321" y="1521266"/>
            <a:ext cx="856090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latin typeface="Verdana" panose="020B0604030504040204" pitchFamily="34" charset="0"/>
              </a:rPr>
              <a:t>Em 2 de julho de 1856, o Imperador </a:t>
            </a:r>
            <a:r>
              <a:rPr lang="pt-BR" dirty="0" err="1">
                <a:latin typeface="Verdana" panose="020B0604030504040204" pitchFamily="34" charset="0"/>
              </a:rPr>
              <a:t>D.Pedro</a:t>
            </a:r>
            <a:r>
              <a:rPr lang="pt-BR" dirty="0">
                <a:latin typeface="Verdana" panose="020B0604030504040204" pitchFamily="34" charset="0"/>
              </a:rPr>
              <a:t> II, assinava o Decreto Imperial nº 1.775, que regulamentava, pela primeira vez no Brasil, o serviço de extinção de incêndio. Nessa época, ao sinal de incêndio, o badalar dos sinos alertava homens, mulheres e crianças que ficavam em fila e, do poço mais próximo, passavam baldes de mão em mão, até chegarem ao local que estivesse em chamas. Para oficializar a importância do bombeiro, por decreto do Presidente da República, desde 1954, todo 2 de julho deve ser dedicado a homenagear esses profissionais. Nada mais justo que uma data em honra dessas pessoas sensíveis às necessidades do próximo e engajados no desejo de servir bem a comunidade.</a:t>
            </a:r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1828800" y="640930"/>
            <a:ext cx="5777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Decreto Imperial 1.775, de 02 de julho de 1856</a:t>
            </a:r>
          </a:p>
        </p:txBody>
      </p:sp>
      <p:pic>
        <p:nvPicPr>
          <p:cNvPr id="1026" name="Picture 2" descr="http://www.mp.usp.br/sites/default/files/imagecache/galeria_fotos/imagens/p69_2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09459" y="4479235"/>
            <a:ext cx="3966973" cy="216255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4856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05544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1276</TotalTime>
  <Words>1020</Words>
  <Application>Microsoft Office PowerPoint</Application>
  <PresentationFormat>Apresentação na tela (4:3)</PresentationFormat>
  <Paragraphs>178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7" baseType="lpstr">
      <vt:lpstr>Arial</vt:lpstr>
      <vt:lpstr>Calibri</vt:lpstr>
      <vt:lpstr>Calibri Light</vt:lpstr>
      <vt:lpstr>Century Gothic</vt:lpstr>
      <vt:lpstr>Courier New</vt:lpstr>
      <vt:lpstr>Palatino Linotype</vt:lpstr>
      <vt:lpstr>Verdana</vt:lpstr>
      <vt:lpstr>Wingdings</vt:lpstr>
      <vt:lpstr>Wingdings 3</vt:lpstr>
      <vt:lpstr>Executive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Atividades Operacionais</vt:lpstr>
      <vt:lpstr>Ocorrências Operacionais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Silva, Willians (W.N.)</dc:creator>
  <cp:lastModifiedBy>Williams Nunes</cp:lastModifiedBy>
  <cp:revision>74</cp:revision>
  <dcterms:created xsi:type="dcterms:W3CDTF">2016-10-09T03:08:47Z</dcterms:created>
  <dcterms:modified xsi:type="dcterms:W3CDTF">2016-10-15T19:38:17Z</dcterms:modified>
</cp:coreProperties>
</file>