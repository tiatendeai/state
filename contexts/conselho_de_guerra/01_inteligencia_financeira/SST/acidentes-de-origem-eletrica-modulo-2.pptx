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handoutMasterIdLst>
    <p:handoutMasterId r:id="rId29"/>
  </p:handoutMasterIdLst>
  <p:sldIdLst>
    <p:sldId id="263" r:id="rId2"/>
    <p:sldId id="266" r:id="rId3"/>
    <p:sldId id="269" r:id="rId4"/>
    <p:sldId id="273" r:id="rId5"/>
    <p:sldId id="274" r:id="rId6"/>
    <p:sldId id="275" r:id="rId7"/>
    <p:sldId id="276" r:id="rId8"/>
    <p:sldId id="277" r:id="rId9"/>
    <p:sldId id="278" r:id="rId10"/>
    <p:sldId id="285" r:id="rId11"/>
    <p:sldId id="286" r:id="rId12"/>
    <p:sldId id="287" r:id="rId13"/>
    <p:sldId id="288" r:id="rId14"/>
    <p:sldId id="290" r:id="rId15"/>
    <p:sldId id="295" r:id="rId16"/>
    <p:sldId id="296" r:id="rId17"/>
    <p:sldId id="297" r:id="rId18"/>
    <p:sldId id="298" r:id="rId19"/>
    <p:sldId id="306" r:id="rId20"/>
    <p:sldId id="299" r:id="rId21"/>
    <p:sldId id="307" r:id="rId22"/>
    <p:sldId id="303" r:id="rId23"/>
    <p:sldId id="308" r:id="rId24"/>
    <p:sldId id="305" r:id="rId25"/>
    <p:sldId id="291" r:id="rId26"/>
    <p:sldId id="292" r:id="rId27"/>
    <p:sldId id="293" r:id="rId28"/>
  </p:sldIdLst>
  <p:sldSz cx="9144000" cy="6858000" type="screen4x3"/>
  <p:notesSz cx="6858000" cy="9906000"/>
  <p:defaultTextStyle>
    <a:defPPr>
      <a:defRPr lang="pt-BR"/>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99"/>
    <a:srgbClr val="6600CC"/>
    <a:srgbClr val="9999FF"/>
    <a:srgbClr val="C18345"/>
    <a:srgbClr val="FF9900"/>
    <a:srgbClr val="FFCC00"/>
    <a:srgbClr val="FF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8303" autoAdjust="0"/>
    <p:restoredTop sz="90929"/>
  </p:normalViewPr>
  <p:slideViewPr>
    <p:cSldViewPr>
      <p:cViewPr varScale="1">
        <p:scale>
          <a:sx n="73" d="100"/>
          <a:sy n="73" d="100"/>
        </p:scale>
        <p:origin x="1698" y="78"/>
      </p:cViewPr>
      <p:guideLst>
        <p:guide orient="horz" pos="2160"/>
        <p:guide pos="2880"/>
      </p:guideLst>
    </p:cSldViewPr>
  </p:slideViewPr>
  <p:outlineViewPr>
    <p:cViewPr>
      <p:scale>
        <a:sx n="20" d="100"/>
        <a:sy n="20"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9" d="100"/>
          <a:sy n="69" d="100"/>
        </p:scale>
        <p:origin x="-2268" y="-90"/>
      </p:cViewPr>
      <p:guideLst>
        <p:guide orient="horz" pos="312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_rels/viewProps.xml.rels><?xml version="1.0" encoding="UTF-8" standalone="yes"?>
<Relationships xmlns="http://schemas.openxmlformats.org/package/2006/relationships"><Relationship Id="rId8" Type="http://schemas.openxmlformats.org/officeDocument/2006/relationships/slide" Target="slides/slide24.xml"/><Relationship Id="rId3" Type="http://schemas.openxmlformats.org/officeDocument/2006/relationships/slide" Target="slides/slide3.xml"/><Relationship Id="rId7" Type="http://schemas.openxmlformats.org/officeDocument/2006/relationships/slide" Target="slides/slide20.xml"/><Relationship Id="rId2" Type="http://schemas.openxmlformats.org/officeDocument/2006/relationships/slide" Target="slides/slide2.xml"/><Relationship Id="rId1" Type="http://schemas.openxmlformats.org/officeDocument/2006/relationships/slide" Target="slides/slide1.xml"/><Relationship Id="rId6" Type="http://schemas.openxmlformats.org/officeDocument/2006/relationships/slide" Target="slides/slide15.xml"/><Relationship Id="rId11" Type="http://schemas.openxmlformats.org/officeDocument/2006/relationships/slide" Target="slides/slide27.xml"/><Relationship Id="rId5" Type="http://schemas.openxmlformats.org/officeDocument/2006/relationships/slide" Target="slides/slide13.xml"/><Relationship Id="rId10" Type="http://schemas.openxmlformats.org/officeDocument/2006/relationships/slide" Target="slides/slide26.xml"/><Relationship Id="rId4" Type="http://schemas.openxmlformats.org/officeDocument/2006/relationships/slide" Target="slides/slide4.xml"/><Relationship Id="rId9" Type="http://schemas.openxmlformats.org/officeDocument/2006/relationships/slide" Target="slides/slide2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8" name="Rectangle 6"/>
          <p:cNvSpPr>
            <a:spLocks noGrp="1"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endParaRPr lang="pt-BR" altLang="pt-BR" sz="1200"/>
          </a:p>
        </p:txBody>
      </p:sp>
      <p:sp>
        <p:nvSpPr>
          <p:cNvPr id="13319" name="Rectangle 7"/>
          <p:cNvSpPr>
            <a:spLocks noGrp="1"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eaLnBrk="0" hangingPunct="0"/>
            <a:endParaRPr lang="pt-BR" altLang="pt-BR" sz="1200"/>
          </a:p>
        </p:txBody>
      </p:sp>
      <p:sp>
        <p:nvSpPr>
          <p:cNvPr id="13320" name="Rectangle 8"/>
          <p:cNvSpPr>
            <a:spLocks noGrp="1" noChangeArrowheads="1"/>
          </p:cNvSpPr>
          <p:nvPr/>
        </p:nvSpPr>
        <p:spPr bwMode="auto">
          <a:xfrm>
            <a:off x="0" y="9448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eaLnBrk="0" hangingPunct="0"/>
            <a:endParaRPr lang="pt-BR" altLang="pt-BR" sz="1200"/>
          </a:p>
        </p:txBody>
      </p:sp>
      <p:sp>
        <p:nvSpPr>
          <p:cNvPr id="13321" name="Line 9"/>
          <p:cNvSpPr>
            <a:spLocks noChangeShapeType="1"/>
          </p:cNvSpPr>
          <p:nvPr/>
        </p:nvSpPr>
        <p:spPr bwMode="auto">
          <a:xfrm>
            <a:off x="458788" y="9448800"/>
            <a:ext cx="593883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pt-BR"/>
          </a:p>
        </p:txBody>
      </p:sp>
      <p:sp>
        <p:nvSpPr>
          <p:cNvPr id="13322" name="Text Box 10"/>
          <p:cNvSpPr txBox="1">
            <a:spLocks noChangeArrowheads="1"/>
          </p:cNvSpPr>
          <p:nvPr/>
        </p:nvSpPr>
        <p:spPr bwMode="auto">
          <a:xfrm>
            <a:off x="876300" y="9491663"/>
            <a:ext cx="54864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r" eaLnBrk="0" hangingPunct="0"/>
            <a:r>
              <a:rPr lang="pt-BR" altLang="pt-BR" sz="600">
                <a:latin typeface="Arial" panose="020B0604020202020204" pitchFamily="34" charset="0"/>
              </a:rPr>
              <a:t>COMISSÃO TRIPARTITE PERMANENTE DE NEGOCIAÇÃO DO SETOR ELETRICO NO ESTADO DE SP - </a:t>
            </a:r>
            <a:fld id="{07DE7439-08D3-495E-9C7D-5746FF1DF52D}" type="slidenum">
              <a:rPr lang="pt-BR" altLang="pt-BR" sz="1000" b="1">
                <a:solidFill>
                  <a:srgbClr val="FF3300"/>
                </a:solidFill>
                <a:latin typeface="Arial" panose="020B0604020202020204" pitchFamily="34" charset="0"/>
              </a:rPr>
              <a:pPr algn="r" eaLnBrk="0" hangingPunct="0"/>
              <a:t>‹nº›</a:t>
            </a:fld>
            <a:endParaRPr lang="pt-BR" altLang="pt-BR" sz="1000" b="1">
              <a:solidFill>
                <a:srgbClr val="FF3300"/>
              </a:solidFill>
              <a:latin typeface="Arial" panose="020B0604020202020204" pitchFamily="34" charset="0"/>
            </a:endParaRPr>
          </a:p>
        </p:txBody>
      </p:sp>
      <p:pic>
        <p:nvPicPr>
          <p:cNvPr id="13323" name="Picture 11" descr="cabecalh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788" y="263525"/>
            <a:ext cx="5938837"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2402" name="Rectangle 2"/>
          <p:cNvSpPr>
            <a:spLocks noGrp="1" noChangeArrowheads="1"/>
          </p:cNvSpPr>
          <p:nvPr>
            <p:ph type="ctrTitle" sz="quarter"/>
          </p:nvPr>
        </p:nvSpPr>
        <p:spPr>
          <a:xfrm>
            <a:off x="685800" y="4267200"/>
            <a:ext cx="7772400" cy="1143000"/>
          </a:xfrm>
        </p:spPr>
        <p:txBody>
          <a:bodyPr anchor="ctr"/>
          <a:lstStyle>
            <a:lvl1pPr algn="ctr">
              <a:defRPr/>
            </a:lvl1pPr>
          </a:lstStyle>
          <a:p>
            <a:pPr lvl="0"/>
            <a:r>
              <a:rPr lang="pt-BR" altLang="pt-BR" noProof="0" smtClean="0"/>
              <a:t>Clique para editar o estilo do título mestre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Tree>
    <p:extLst>
      <p:ext uri="{BB962C8B-B14F-4D97-AF65-F5344CB8AC3E}">
        <p14:creationId xmlns:p14="http://schemas.microsoft.com/office/powerpoint/2010/main" val="3156026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623888" y="1709738"/>
            <a:ext cx="7886700" cy="2852737"/>
          </a:xfrm>
        </p:spPr>
        <p:txBody>
          <a:bodyPr/>
          <a:lstStyle>
            <a:lvl1pPr>
              <a:defRPr sz="6000"/>
            </a:lvl1pPr>
          </a:lstStyle>
          <a:p>
            <a:r>
              <a:rPr lang="pt-BR" smtClean="0"/>
              <a:t>Clique para editar o título mestre</a:t>
            </a:r>
            <a:endParaRPr lang="pt-BR"/>
          </a:p>
        </p:txBody>
      </p:sp>
      <p:sp>
        <p:nvSpPr>
          <p:cNvPr id="3" name="Espaço Reservado para Texto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pt-BR" smtClean="0"/>
              <a:t>Editar estilos de texto Mestre</a:t>
            </a:r>
          </a:p>
        </p:txBody>
      </p:sp>
    </p:spTree>
    <p:extLst>
      <p:ext uri="{BB962C8B-B14F-4D97-AF65-F5344CB8AC3E}">
        <p14:creationId xmlns:p14="http://schemas.microsoft.com/office/powerpoint/2010/main" val="4099247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685800" y="2590800"/>
            <a:ext cx="3810000" cy="3886200"/>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4648200" y="2590800"/>
            <a:ext cx="3810000" cy="3886200"/>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Tree>
    <p:extLst>
      <p:ext uri="{BB962C8B-B14F-4D97-AF65-F5344CB8AC3E}">
        <p14:creationId xmlns:p14="http://schemas.microsoft.com/office/powerpoint/2010/main" val="799768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630238" y="365125"/>
            <a:ext cx="7886700" cy="132556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4" name="Espaço Reservado para Conteúdo 3"/>
          <p:cNvSpPr>
            <a:spLocks noGrp="1"/>
          </p:cNvSpPr>
          <p:nvPr>
            <p:ph sz="half" idx="2"/>
          </p:nvPr>
        </p:nvSpPr>
        <p:spPr>
          <a:xfrm>
            <a:off x="630238" y="2505075"/>
            <a:ext cx="3868737" cy="3684588"/>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6" name="Espaço Reservado para Conteúdo 5"/>
          <p:cNvSpPr>
            <a:spLocks noGrp="1"/>
          </p:cNvSpPr>
          <p:nvPr>
            <p:ph sz="quarter" idx="4"/>
          </p:nvPr>
        </p:nvSpPr>
        <p:spPr>
          <a:xfrm>
            <a:off x="4629150" y="2505075"/>
            <a:ext cx="3887788" cy="3684588"/>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Tree>
    <p:extLst>
      <p:ext uri="{BB962C8B-B14F-4D97-AF65-F5344CB8AC3E}">
        <p14:creationId xmlns:p14="http://schemas.microsoft.com/office/powerpoint/2010/main" val="3418644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Tree>
    <p:extLst>
      <p:ext uri="{BB962C8B-B14F-4D97-AF65-F5344CB8AC3E}">
        <p14:creationId xmlns:p14="http://schemas.microsoft.com/office/powerpoint/2010/main" val="1145446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122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630238" y="457200"/>
            <a:ext cx="2949575" cy="1600200"/>
          </a:xfrm>
        </p:spPr>
        <p:txBody>
          <a:bodyPr/>
          <a:lstStyle>
            <a:lvl1pPr>
              <a:defRPr sz="3200"/>
            </a:lvl1pPr>
          </a:lstStyle>
          <a:p>
            <a:r>
              <a:rPr lang="pt-BR" smtClean="0"/>
              <a:t>Clique para editar o título mestre</a:t>
            </a:r>
            <a:endParaRPr lang="pt-BR"/>
          </a:p>
        </p:txBody>
      </p:sp>
      <p:sp>
        <p:nvSpPr>
          <p:cNvPr id="3" name="Espaço Reservado para Conteúdo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Tree>
    <p:extLst>
      <p:ext uri="{BB962C8B-B14F-4D97-AF65-F5344CB8AC3E}">
        <p14:creationId xmlns:p14="http://schemas.microsoft.com/office/powerpoint/2010/main" val="932976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630238" y="457200"/>
            <a:ext cx="2949575" cy="1600200"/>
          </a:xfrm>
        </p:spPr>
        <p:txBody>
          <a:bodyPr/>
          <a:lstStyle>
            <a:lvl1pPr>
              <a:defRPr sz="3200"/>
            </a:lvl1pPr>
          </a:lstStyle>
          <a:p>
            <a:r>
              <a:rPr lang="pt-BR" smtClean="0"/>
              <a:t>Clique para editar o título mestre</a:t>
            </a:r>
            <a:endParaRPr lang="pt-BR"/>
          </a:p>
        </p:txBody>
      </p:sp>
      <p:sp>
        <p:nvSpPr>
          <p:cNvPr id="3" name="Espaço Reservado para Imagem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Tree>
    <p:extLst>
      <p:ext uri="{BB962C8B-B14F-4D97-AF65-F5344CB8AC3E}">
        <p14:creationId xmlns:p14="http://schemas.microsoft.com/office/powerpoint/2010/main" val="614669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Tree>
    <p:extLst>
      <p:ext uri="{BB962C8B-B14F-4D97-AF65-F5344CB8AC3E}">
        <p14:creationId xmlns:p14="http://schemas.microsoft.com/office/powerpoint/2010/main" val="2867119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515100" y="1752600"/>
            <a:ext cx="1943100" cy="4724400"/>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685800" y="1752600"/>
            <a:ext cx="5676900" cy="4724400"/>
          </a:xfrm>
        </p:spPr>
        <p:txBody>
          <a:bodyPr vert="eaVert"/>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Tree>
    <p:extLst>
      <p:ext uri="{BB962C8B-B14F-4D97-AF65-F5344CB8AC3E}">
        <p14:creationId xmlns:p14="http://schemas.microsoft.com/office/powerpoint/2010/main" val="1711281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1378" name="Rectangle 1026"/>
          <p:cNvSpPr>
            <a:spLocks noGrp="1" noChangeArrowheads="1"/>
          </p:cNvSpPr>
          <p:nvPr>
            <p:ph type="title"/>
          </p:nvPr>
        </p:nvSpPr>
        <p:spPr bwMode="auto">
          <a:xfrm>
            <a:off x="685800" y="1752600"/>
            <a:ext cx="7772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pt-BR" altLang="pt-BR" smtClean="0"/>
              <a:t>Clique para editar o estilo do título mestre</a:t>
            </a:r>
          </a:p>
        </p:txBody>
      </p:sp>
      <p:sp>
        <p:nvSpPr>
          <p:cNvPr id="101379" name="Rectangle 1027"/>
          <p:cNvSpPr>
            <a:spLocks noGrp="1" noChangeArrowheads="1"/>
          </p:cNvSpPr>
          <p:nvPr>
            <p:ph type="body" idx="1"/>
          </p:nvPr>
        </p:nvSpPr>
        <p:spPr bwMode="auto">
          <a:xfrm>
            <a:off x="685800" y="2590800"/>
            <a:ext cx="77724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pt-BR" altLang="pt-BR" smtClean="0"/>
              <a:t>Clique para editar os estilos do texto mestre</a:t>
            </a:r>
          </a:p>
          <a:p>
            <a:pPr lvl="1"/>
            <a:r>
              <a:rPr lang="pt-BR" altLang="pt-BR" smtClean="0"/>
              <a:t>Segundo nível</a:t>
            </a:r>
          </a:p>
          <a:p>
            <a:pPr lvl="2"/>
            <a:r>
              <a:rPr lang="pt-BR" altLang="pt-BR" smtClean="0"/>
              <a:t>Terceiro nível</a:t>
            </a:r>
          </a:p>
          <a:p>
            <a:pPr lvl="3"/>
            <a:r>
              <a:rPr lang="pt-BR" altLang="pt-BR" smtClean="0"/>
              <a:t>Quarto nível</a:t>
            </a:r>
          </a:p>
          <a:p>
            <a:pPr lvl="4"/>
            <a:r>
              <a:rPr lang="pt-BR" altLang="pt-BR" smtClean="0"/>
              <a:t>Quinto nível</a:t>
            </a: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l" rtl="0" fontAlgn="base">
        <a:spcBef>
          <a:spcPct val="0"/>
        </a:spcBef>
        <a:spcAft>
          <a:spcPct val="0"/>
        </a:spcAft>
        <a:defRPr sz="2400" kern="1200">
          <a:solidFill>
            <a:srgbClr val="CC0000"/>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sz="2400">
          <a:solidFill>
            <a:srgbClr val="CC0000"/>
          </a:solidFill>
          <a:effectLst>
            <a:outerShdw blurRad="38100" dist="38100" dir="2700000" algn="tl">
              <a:srgbClr val="000000"/>
            </a:outerShdw>
          </a:effectLst>
          <a:latin typeface="Arial Black" panose="020B0A04020102020204" pitchFamily="34" charset="0"/>
        </a:defRPr>
      </a:lvl2pPr>
      <a:lvl3pPr algn="l" rtl="0" fontAlgn="base">
        <a:spcBef>
          <a:spcPct val="0"/>
        </a:spcBef>
        <a:spcAft>
          <a:spcPct val="0"/>
        </a:spcAft>
        <a:defRPr sz="2400">
          <a:solidFill>
            <a:srgbClr val="CC0000"/>
          </a:solidFill>
          <a:effectLst>
            <a:outerShdw blurRad="38100" dist="38100" dir="2700000" algn="tl">
              <a:srgbClr val="000000"/>
            </a:outerShdw>
          </a:effectLst>
          <a:latin typeface="Arial Black" panose="020B0A04020102020204" pitchFamily="34" charset="0"/>
        </a:defRPr>
      </a:lvl3pPr>
      <a:lvl4pPr algn="l" rtl="0" fontAlgn="base">
        <a:spcBef>
          <a:spcPct val="0"/>
        </a:spcBef>
        <a:spcAft>
          <a:spcPct val="0"/>
        </a:spcAft>
        <a:defRPr sz="2400">
          <a:solidFill>
            <a:srgbClr val="CC0000"/>
          </a:solidFill>
          <a:effectLst>
            <a:outerShdw blurRad="38100" dist="38100" dir="2700000" algn="tl">
              <a:srgbClr val="000000"/>
            </a:outerShdw>
          </a:effectLst>
          <a:latin typeface="Arial Black" panose="020B0A04020102020204" pitchFamily="34" charset="0"/>
        </a:defRPr>
      </a:lvl4pPr>
      <a:lvl5pPr algn="l" rtl="0" fontAlgn="base">
        <a:spcBef>
          <a:spcPct val="0"/>
        </a:spcBef>
        <a:spcAft>
          <a:spcPct val="0"/>
        </a:spcAft>
        <a:defRPr sz="2400">
          <a:solidFill>
            <a:srgbClr val="CC0000"/>
          </a:solidFill>
          <a:effectLst>
            <a:outerShdw blurRad="38100" dist="38100" dir="2700000" algn="tl">
              <a:srgbClr val="000000"/>
            </a:outerShdw>
          </a:effectLst>
          <a:latin typeface="Arial Black" panose="020B0A04020102020204" pitchFamily="34" charset="0"/>
        </a:defRPr>
      </a:lvl5pPr>
      <a:lvl6pPr marL="457200" algn="l" rtl="0" fontAlgn="base">
        <a:spcBef>
          <a:spcPct val="0"/>
        </a:spcBef>
        <a:spcAft>
          <a:spcPct val="0"/>
        </a:spcAft>
        <a:defRPr sz="2400">
          <a:solidFill>
            <a:srgbClr val="CC0000"/>
          </a:solidFill>
          <a:effectLst>
            <a:outerShdw blurRad="38100" dist="38100" dir="2700000" algn="tl">
              <a:srgbClr val="000000"/>
            </a:outerShdw>
          </a:effectLst>
          <a:latin typeface="Arial Black" panose="020B0A04020102020204" pitchFamily="34" charset="0"/>
        </a:defRPr>
      </a:lvl6pPr>
      <a:lvl7pPr marL="914400" algn="l" rtl="0" fontAlgn="base">
        <a:spcBef>
          <a:spcPct val="0"/>
        </a:spcBef>
        <a:spcAft>
          <a:spcPct val="0"/>
        </a:spcAft>
        <a:defRPr sz="2400">
          <a:solidFill>
            <a:srgbClr val="CC0000"/>
          </a:solidFill>
          <a:effectLst>
            <a:outerShdw blurRad="38100" dist="38100" dir="2700000" algn="tl">
              <a:srgbClr val="000000"/>
            </a:outerShdw>
          </a:effectLst>
          <a:latin typeface="Arial Black" panose="020B0A04020102020204" pitchFamily="34" charset="0"/>
        </a:defRPr>
      </a:lvl7pPr>
      <a:lvl8pPr marL="1371600" algn="l" rtl="0" fontAlgn="base">
        <a:spcBef>
          <a:spcPct val="0"/>
        </a:spcBef>
        <a:spcAft>
          <a:spcPct val="0"/>
        </a:spcAft>
        <a:defRPr sz="2400">
          <a:solidFill>
            <a:srgbClr val="CC0000"/>
          </a:solidFill>
          <a:effectLst>
            <a:outerShdw blurRad="38100" dist="38100" dir="2700000" algn="tl">
              <a:srgbClr val="000000"/>
            </a:outerShdw>
          </a:effectLst>
          <a:latin typeface="Arial Black" panose="020B0A04020102020204" pitchFamily="34" charset="0"/>
        </a:defRPr>
      </a:lvl8pPr>
      <a:lvl9pPr marL="1828800" algn="l" rtl="0" fontAlgn="base">
        <a:spcBef>
          <a:spcPct val="0"/>
        </a:spcBef>
        <a:spcAft>
          <a:spcPct val="0"/>
        </a:spcAft>
        <a:defRPr sz="2400">
          <a:solidFill>
            <a:srgbClr val="CC0000"/>
          </a:solidFill>
          <a:effectLst>
            <a:outerShdw blurRad="38100" dist="38100" dir="2700000" algn="tl">
              <a:srgbClr val="000000"/>
            </a:outerShdw>
          </a:effectLst>
          <a:latin typeface="Arial Black" panose="020B0A04020102020204" pitchFamily="34" charset="0"/>
        </a:defRPr>
      </a:lvl9pPr>
    </p:titleStyle>
    <p:bodyStyle>
      <a:lvl1pPr algn="l" rtl="0" fontAlgn="base">
        <a:spcBef>
          <a:spcPct val="20000"/>
        </a:spcBef>
        <a:spcAft>
          <a:spcPct val="0"/>
        </a:spcAft>
        <a:buClr>
          <a:schemeClr val="tx2"/>
        </a:buClr>
        <a:buSzPct val="75000"/>
        <a:buFont typeface="Wingdings" panose="05000000000000000000" pitchFamily="2" charset="2"/>
        <a:defRPr kern="1200">
          <a:solidFill>
            <a:srgbClr val="5F5F5F"/>
          </a:solidFill>
          <a:latin typeface="+mn-lt"/>
          <a:ea typeface="+mn-ea"/>
          <a:cs typeface="+mn-cs"/>
        </a:defRPr>
      </a:lvl1pPr>
      <a:lvl2pPr marL="377825" indent="-187325" algn="l" rtl="0" fontAlgn="base">
        <a:spcBef>
          <a:spcPct val="20000"/>
        </a:spcBef>
        <a:spcAft>
          <a:spcPct val="0"/>
        </a:spcAft>
        <a:buClr>
          <a:srgbClr val="FF3300"/>
        </a:buClr>
        <a:buSzPct val="70000"/>
        <a:buChar char="•"/>
        <a:defRPr kern="1200">
          <a:solidFill>
            <a:srgbClr val="5F5F5F"/>
          </a:solidFill>
          <a:latin typeface="+mn-lt"/>
          <a:ea typeface="+mn-ea"/>
          <a:cs typeface="+mn-cs"/>
        </a:defRPr>
      </a:lvl2pPr>
      <a:lvl3pPr marL="763588" indent="-195263" algn="l" rtl="0" fontAlgn="base">
        <a:spcBef>
          <a:spcPct val="20000"/>
        </a:spcBef>
        <a:spcAft>
          <a:spcPct val="0"/>
        </a:spcAft>
        <a:buClr>
          <a:srgbClr val="969696"/>
        </a:buClr>
        <a:buSzPct val="70000"/>
        <a:buChar char="•"/>
        <a:defRPr kern="1200">
          <a:solidFill>
            <a:srgbClr val="5F5F5F"/>
          </a:solidFill>
          <a:latin typeface="+mn-lt"/>
          <a:ea typeface="+mn-ea"/>
          <a:cs typeface="+mn-cs"/>
        </a:defRPr>
      </a:lvl3pPr>
      <a:lvl4pPr marL="1141413" indent="-187325" algn="l" rtl="0" fontAlgn="base">
        <a:spcBef>
          <a:spcPct val="20000"/>
        </a:spcBef>
        <a:spcAft>
          <a:spcPct val="0"/>
        </a:spcAft>
        <a:buChar char="-"/>
        <a:defRPr kern="1200">
          <a:solidFill>
            <a:srgbClr val="5F5F5F"/>
          </a:solidFill>
          <a:latin typeface="+mn-lt"/>
          <a:ea typeface="+mn-ea"/>
          <a:cs typeface="+mn-cs"/>
        </a:defRPr>
      </a:lvl4pPr>
      <a:lvl5pPr marL="1528763" indent="-196850" algn="l" rtl="0" fontAlgn="base">
        <a:spcBef>
          <a:spcPct val="20000"/>
        </a:spcBef>
        <a:spcAft>
          <a:spcPct val="0"/>
        </a:spcAft>
        <a:buChar char="»"/>
        <a:defRPr kern="1200">
          <a:solidFill>
            <a:srgbClr val="5F5F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5"/>
          <p:cNvSpPr>
            <a:spLocks noGrp="1" noChangeArrowheads="1"/>
          </p:cNvSpPr>
          <p:nvPr>
            <p:ph type="ctrTitle"/>
          </p:nvPr>
        </p:nvSpPr>
        <p:spPr>
          <a:noFill/>
          <a:ln/>
        </p:spPr>
        <p:txBody>
          <a:bodyPr anchor="b"/>
          <a:lstStyle/>
          <a:p>
            <a:r>
              <a:rPr lang="pt-BR" altLang="pt-BR"/>
              <a:t>Acidentes de origem elétrica</a:t>
            </a:r>
          </a:p>
        </p:txBody>
      </p:sp>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362200"/>
            <a:ext cx="2133600" cy="4094163"/>
          </a:xfrm>
          <a:prstGeom prst="rect">
            <a:avLst/>
          </a:prstGeom>
          <a:noFill/>
          <a:ln w="57150" cmpd="thickThin">
            <a:solidFill>
              <a:srgbClr val="000000"/>
            </a:solidFill>
            <a:miter lim="800000"/>
            <a:headEnd/>
            <a:tailEnd/>
          </a:ln>
          <a:effectLst>
            <a:outerShdw dist="107763" dir="18900000" algn="ctr" rotWithShape="0">
              <a:srgbClr val="808080"/>
            </a:outerShdw>
          </a:effectLst>
          <a:extLst>
            <a:ext uri="{909E8E84-426E-40DD-AFC4-6F175D3DCCD1}">
              <a14:hiddenFill xmlns:a14="http://schemas.microsoft.com/office/drawing/2010/main">
                <a:solidFill>
                  <a:srgbClr val="FFFFFF"/>
                </a:solidFill>
              </a14:hiddenFill>
            </a:ext>
          </a:extLst>
        </p:spPr>
      </p:pic>
      <p:sp>
        <p:nvSpPr>
          <p:cNvPr id="59398" name="Text Box 6"/>
          <p:cNvSpPr txBox="1">
            <a:spLocks noChangeArrowheads="1"/>
          </p:cNvSpPr>
          <p:nvPr/>
        </p:nvSpPr>
        <p:spPr bwMode="auto">
          <a:xfrm>
            <a:off x="457200" y="4572000"/>
            <a:ext cx="6115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pt-BR" altLang="pt-BR" b="1">
                <a:latin typeface="Arial" panose="020B0604020202020204" pitchFamily="34" charset="0"/>
              </a:rPr>
              <a:t>                       </a:t>
            </a:r>
          </a:p>
        </p:txBody>
      </p:sp>
      <p:sp>
        <p:nvSpPr>
          <p:cNvPr id="59405" name="Rectangle 13"/>
          <p:cNvSpPr>
            <a:spLocks noGrp="1" noChangeArrowheads="1"/>
          </p:cNvSpPr>
          <p:nvPr>
            <p:ph type="title"/>
          </p:nvPr>
        </p:nvSpPr>
        <p:spPr/>
        <p:txBody>
          <a:bodyPr/>
          <a:lstStyle/>
          <a:p>
            <a:r>
              <a:rPr lang="pt-BR" altLang="pt-BR"/>
              <a:t>Acidente do trabalho</a:t>
            </a:r>
          </a:p>
        </p:txBody>
      </p:sp>
      <p:sp>
        <p:nvSpPr>
          <p:cNvPr id="59406" name="Rectangle 14"/>
          <p:cNvSpPr>
            <a:spLocks noGrp="1" noChangeArrowheads="1"/>
          </p:cNvSpPr>
          <p:nvPr>
            <p:ph type="body" idx="1"/>
          </p:nvPr>
        </p:nvSpPr>
        <p:spPr>
          <a:xfrm>
            <a:off x="685800" y="2895600"/>
            <a:ext cx="5029200" cy="3886200"/>
          </a:xfrm>
        </p:spPr>
        <p:txBody>
          <a:bodyPr/>
          <a:lstStyle/>
          <a:p>
            <a:r>
              <a:rPr lang="pt-BR" altLang="pt-BR" sz="2400"/>
              <a:t>Acidente do trabalho é aquele que ocorrer pelo </a:t>
            </a:r>
            <a:r>
              <a:rPr lang="pt-BR" altLang="pt-BR" sz="2400" b="1"/>
              <a:t>exercício do trabalho</a:t>
            </a:r>
            <a:r>
              <a:rPr lang="pt-BR" altLang="pt-BR" sz="2400"/>
              <a:t> a </a:t>
            </a:r>
            <a:r>
              <a:rPr lang="pt-BR" altLang="pt-BR" sz="2400" b="1"/>
              <a:t>serviço da empresa</a:t>
            </a:r>
            <a:r>
              <a:rPr lang="pt-BR" altLang="pt-BR" sz="2400"/>
              <a:t>, </a:t>
            </a:r>
            <a:r>
              <a:rPr lang="pt-BR" altLang="pt-BR" sz="2400" b="1"/>
              <a:t>provocando lesão corporal</a:t>
            </a:r>
            <a:r>
              <a:rPr lang="pt-BR" altLang="pt-BR" sz="2400"/>
              <a:t>, ou </a:t>
            </a:r>
            <a:r>
              <a:rPr lang="pt-BR" altLang="pt-BR" sz="2400" b="1"/>
              <a:t>perturbação funcional</a:t>
            </a:r>
            <a:r>
              <a:rPr lang="pt-BR" altLang="pt-BR" sz="2400"/>
              <a:t>, que </a:t>
            </a:r>
            <a:r>
              <a:rPr lang="pt-BR" altLang="pt-BR" sz="2400" b="1"/>
              <a:t>cause perda ou redução da capacidade de trabalho</a:t>
            </a:r>
            <a:r>
              <a:rPr lang="pt-BR" altLang="pt-BR" sz="2400"/>
              <a:t> (temporária ou permanente) ou </a:t>
            </a:r>
            <a:r>
              <a:rPr lang="pt-BR" altLang="pt-BR" sz="2400" b="1"/>
              <a:t>morte.</a:t>
            </a:r>
          </a:p>
          <a:p>
            <a:endParaRPr lang="pt-BR" altLang="pt-BR" sz="2400" b="1"/>
          </a:p>
        </p:txBody>
      </p:sp>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482" name="Group 18"/>
          <p:cNvGrpSpPr>
            <a:grpSpLocks/>
          </p:cNvGrpSpPr>
          <p:nvPr/>
        </p:nvGrpSpPr>
        <p:grpSpPr bwMode="auto">
          <a:xfrm>
            <a:off x="831850" y="2371725"/>
            <a:ext cx="4457700" cy="4029075"/>
            <a:chOff x="0" y="953"/>
            <a:chExt cx="3431" cy="2743"/>
          </a:xfrm>
        </p:grpSpPr>
        <p:graphicFrame>
          <p:nvGraphicFramePr>
            <p:cNvPr id="62466" name="Object 2">
              <a:hlinkClick r:id="" action="ppaction://ole?verb=0"/>
            </p:cNvPr>
            <p:cNvGraphicFramePr>
              <a:graphicFrameLocks/>
            </p:cNvGraphicFramePr>
            <p:nvPr/>
          </p:nvGraphicFramePr>
          <p:xfrm>
            <a:off x="0" y="953"/>
            <a:ext cx="3431" cy="2743"/>
          </p:xfrm>
          <a:graphic>
            <a:graphicData uri="http://schemas.openxmlformats.org/presentationml/2006/ole">
              <mc:AlternateContent xmlns:mc="http://schemas.openxmlformats.org/markup-compatibility/2006">
                <mc:Choice xmlns:v="urn:schemas-microsoft-com:vml" Requires="v">
                  <p:oleObj spid="_x0000_s62494" name="Clip" r:id="rId3" imgW="5445000" imgH="4352760" progId="MS_ClipArt_Gallery.2">
                    <p:embed/>
                  </p:oleObj>
                </mc:Choice>
                <mc:Fallback>
                  <p:oleObj name="Clip" r:id="rId3" imgW="5445000" imgH="4352760" progId="MS_ClipArt_Gallery.2">
                    <p:embed/>
                    <p:pic>
                      <p:nvPicPr>
                        <p:cNvPr id="0" name="Object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953"/>
                          <a:ext cx="3431" cy="2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469" name="Rectangle 5"/>
            <p:cNvSpPr>
              <a:spLocks noChangeArrowheads="1"/>
            </p:cNvSpPr>
            <p:nvPr/>
          </p:nvSpPr>
          <p:spPr bwMode="auto">
            <a:xfrm>
              <a:off x="1344" y="2641"/>
              <a:ext cx="611" cy="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fontAlgn="base">
                <a:spcBef>
                  <a:spcPct val="0"/>
                </a:spcBef>
                <a:spcAft>
                  <a:spcPct val="0"/>
                </a:spcAft>
                <a:defRPr sz="2400">
                  <a:solidFill>
                    <a:schemeClr val="tx1"/>
                  </a:solidFill>
                  <a:latin typeface="Times New Roman" panose="02020603050405020304" pitchFamily="18" charset="0"/>
                </a:defRPr>
              </a:lvl6pPr>
              <a:lvl7pPr marL="3200400" defTabSz="762000" fontAlgn="base">
                <a:spcBef>
                  <a:spcPct val="0"/>
                </a:spcBef>
                <a:spcAft>
                  <a:spcPct val="0"/>
                </a:spcAft>
                <a:defRPr sz="2400">
                  <a:solidFill>
                    <a:schemeClr val="tx1"/>
                  </a:solidFill>
                  <a:latin typeface="Times New Roman" panose="02020603050405020304" pitchFamily="18" charset="0"/>
                </a:defRPr>
              </a:lvl7pPr>
              <a:lvl8pPr marL="3657600" defTabSz="762000" fontAlgn="base">
                <a:spcBef>
                  <a:spcPct val="0"/>
                </a:spcBef>
                <a:spcAft>
                  <a:spcPct val="0"/>
                </a:spcAft>
                <a:defRPr sz="2400">
                  <a:solidFill>
                    <a:schemeClr val="tx1"/>
                  </a:solidFill>
                  <a:latin typeface="Times New Roman" panose="02020603050405020304" pitchFamily="18" charset="0"/>
                </a:defRPr>
              </a:lvl8pPr>
              <a:lvl9pPr marL="4114800" defTabSz="762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pt-BR" altLang="pt-BR" sz="3200" b="1"/>
                <a:t>600</a:t>
              </a:r>
            </a:p>
          </p:txBody>
        </p:sp>
        <p:sp>
          <p:nvSpPr>
            <p:cNvPr id="62470" name="Rectangle 6"/>
            <p:cNvSpPr>
              <a:spLocks noChangeArrowheads="1"/>
            </p:cNvSpPr>
            <p:nvPr/>
          </p:nvSpPr>
          <p:spPr bwMode="auto">
            <a:xfrm>
              <a:off x="1392" y="2159"/>
              <a:ext cx="415"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fontAlgn="base">
                <a:spcBef>
                  <a:spcPct val="0"/>
                </a:spcBef>
                <a:spcAft>
                  <a:spcPct val="0"/>
                </a:spcAft>
                <a:defRPr sz="2400">
                  <a:solidFill>
                    <a:schemeClr val="tx1"/>
                  </a:solidFill>
                  <a:latin typeface="Times New Roman" panose="02020603050405020304" pitchFamily="18" charset="0"/>
                </a:defRPr>
              </a:lvl6pPr>
              <a:lvl7pPr marL="3200400" defTabSz="762000" fontAlgn="base">
                <a:spcBef>
                  <a:spcPct val="0"/>
                </a:spcBef>
                <a:spcAft>
                  <a:spcPct val="0"/>
                </a:spcAft>
                <a:defRPr sz="2400">
                  <a:solidFill>
                    <a:schemeClr val="tx1"/>
                  </a:solidFill>
                  <a:latin typeface="Times New Roman" panose="02020603050405020304" pitchFamily="18" charset="0"/>
                </a:defRPr>
              </a:lvl7pPr>
              <a:lvl8pPr marL="3657600" defTabSz="762000" fontAlgn="base">
                <a:spcBef>
                  <a:spcPct val="0"/>
                </a:spcBef>
                <a:spcAft>
                  <a:spcPct val="0"/>
                </a:spcAft>
                <a:defRPr sz="2400">
                  <a:solidFill>
                    <a:schemeClr val="tx1"/>
                  </a:solidFill>
                  <a:latin typeface="Times New Roman" panose="02020603050405020304" pitchFamily="18" charset="0"/>
                </a:defRPr>
              </a:lvl8pPr>
              <a:lvl9pPr marL="4114800" defTabSz="762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pt-BR" altLang="pt-BR" sz="2800" b="1"/>
                <a:t>30</a:t>
              </a:r>
            </a:p>
          </p:txBody>
        </p:sp>
        <p:sp>
          <p:nvSpPr>
            <p:cNvPr id="62471" name="Rectangle 7"/>
            <p:cNvSpPr>
              <a:spLocks noChangeArrowheads="1"/>
            </p:cNvSpPr>
            <p:nvPr/>
          </p:nvSpPr>
          <p:spPr bwMode="auto">
            <a:xfrm>
              <a:off x="1392" y="1584"/>
              <a:ext cx="376"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fontAlgn="base">
                <a:spcBef>
                  <a:spcPct val="0"/>
                </a:spcBef>
                <a:spcAft>
                  <a:spcPct val="0"/>
                </a:spcAft>
                <a:defRPr sz="2400">
                  <a:solidFill>
                    <a:schemeClr val="tx1"/>
                  </a:solidFill>
                  <a:latin typeface="Times New Roman" panose="02020603050405020304" pitchFamily="18" charset="0"/>
                </a:defRPr>
              </a:lvl6pPr>
              <a:lvl7pPr marL="3200400" defTabSz="762000" fontAlgn="base">
                <a:spcBef>
                  <a:spcPct val="0"/>
                </a:spcBef>
                <a:spcAft>
                  <a:spcPct val="0"/>
                </a:spcAft>
                <a:defRPr sz="2400">
                  <a:solidFill>
                    <a:schemeClr val="tx1"/>
                  </a:solidFill>
                  <a:latin typeface="Times New Roman" panose="02020603050405020304" pitchFamily="18" charset="0"/>
                </a:defRPr>
              </a:lvl7pPr>
              <a:lvl8pPr marL="3657600" defTabSz="762000" fontAlgn="base">
                <a:spcBef>
                  <a:spcPct val="0"/>
                </a:spcBef>
                <a:spcAft>
                  <a:spcPct val="0"/>
                </a:spcAft>
                <a:defRPr sz="2400">
                  <a:solidFill>
                    <a:schemeClr val="tx1"/>
                  </a:solidFill>
                  <a:latin typeface="Times New Roman" panose="02020603050405020304" pitchFamily="18" charset="0"/>
                </a:defRPr>
              </a:lvl8pPr>
              <a:lvl9pPr marL="4114800" defTabSz="762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pt-BR" altLang="pt-BR" b="1"/>
                <a:t>10</a:t>
              </a:r>
            </a:p>
          </p:txBody>
        </p:sp>
        <p:sp>
          <p:nvSpPr>
            <p:cNvPr id="62480" name="Rectangle 16"/>
            <p:cNvSpPr>
              <a:spLocks noChangeArrowheads="1"/>
            </p:cNvSpPr>
            <p:nvPr/>
          </p:nvSpPr>
          <p:spPr bwMode="auto">
            <a:xfrm>
              <a:off x="1441" y="1094"/>
              <a:ext cx="239"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fontAlgn="base">
                <a:spcBef>
                  <a:spcPct val="0"/>
                </a:spcBef>
                <a:spcAft>
                  <a:spcPct val="0"/>
                </a:spcAft>
                <a:defRPr sz="2400">
                  <a:solidFill>
                    <a:schemeClr val="tx1"/>
                  </a:solidFill>
                  <a:latin typeface="Times New Roman" panose="02020603050405020304" pitchFamily="18" charset="0"/>
                </a:defRPr>
              </a:lvl6pPr>
              <a:lvl7pPr marL="3200400" defTabSz="762000" fontAlgn="base">
                <a:spcBef>
                  <a:spcPct val="0"/>
                </a:spcBef>
                <a:spcAft>
                  <a:spcPct val="0"/>
                </a:spcAft>
                <a:defRPr sz="2400">
                  <a:solidFill>
                    <a:schemeClr val="tx1"/>
                  </a:solidFill>
                  <a:latin typeface="Times New Roman" panose="02020603050405020304" pitchFamily="18" charset="0"/>
                </a:defRPr>
              </a:lvl7pPr>
              <a:lvl8pPr marL="3657600" defTabSz="762000" fontAlgn="base">
                <a:spcBef>
                  <a:spcPct val="0"/>
                </a:spcBef>
                <a:spcAft>
                  <a:spcPct val="0"/>
                </a:spcAft>
                <a:defRPr sz="2400">
                  <a:solidFill>
                    <a:schemeClr val="tx1"/>
                  </a:solidFill>
                  <a:latin typeface="Times New Roman" panose="02020603050405020304" pitchFamily="18" charset="0"/>
                </a:defRPr>
              </a:lvl8pPr>
              <a:lvl9pPr marL="4114800" defTabSz="762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pt-BR" altLang="pt-BR" sz="2000" b="1"/>
                <a:t>1</a:t>
              </a:r>
            </a:p>
          </p:txBody>
        </p:sp>
        <p:sp>
          <p:nvSpPr>
            <p:cNvPr id="62481" name="Text Box 17"/>
            <p:cNvSpPr txBox="1">
              <a:spLocks noChangeArrowheads="1"/>
            </p:cNvSpPr>
            <p:nvPr/>
          </p:nvSpPr>
          <p:spPr bwMode="auto">
            <a:xfrm>
              <a:off x="382" y="3264"/>
              <a:ext cx="2306"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pt-BR" altLang="pt-BR" sz="2000" b="1">
                  <a:latin typeface="Arial" panose="020B0604020202020204" pitchFamily="34" charset="0"/>
                </a:rPr>
                <a:t>Não Comunicados</a:t>
              </a:r>
            </a:p>
          </p:txBody>
        </p:sp>
      </p:grpSp>
      <p:sp>
        <p:nvSpPr>
          <p:cNvPr id="62476" name="Rectangle 12"/>
          <p:cNvSpPr>
            <a:spLocks noChangeArrowheads="1"/>
          </p:cNvSpPr>
          <p:nvPr/>
        </p:nvSpPr>
        <p:spPr bwMode="auto">
          <a:xfrm>
            <a:off x="3956050" y="2362200"/>
            <a:ext cx="25431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fontAlgn="base">
              <a:spcBef>
                <a:spcPct val="0"/>
              </a:spcBef>
              <a:spcAft>
                <a:spcPct val="0"/>
              </a:spcAft>
              <a:defRPr sz="2400">
                <a:solidFill>
                  <a:schemeClr val="tx1"/>
                </a:solidFill>
                <a:latin typeface="Times New Roman" panose="02020603050405020304" pitchFamily="18" charset="0"/>
              </a:defRPr>
            </a:lvl6pPr>
            <a:lvl7pPr marL="3200400" defTabSz="762000" fontAlgn="base">
              <a:spcBef>
                <a:spcPct val="0"/>
              </a:spcBef>
              <a:spcAft>
                <a:spcPct val="0"/>
              </a:spcAft>
              <a:defRPr sz="2400">
                <a:solidFill>
                  <a:schemeClr val="tx1"/>
                </a:solidFill>
                <a:latin typeface="Times New Roman" panose="02020603050405020304" pitchFamily="18" charset="0"/>
              </a:defRPr>
            </a:lvl7pPr>
            <a:lvl8pPr marL="3657600" defTabSz="762000" fontAlgn="base">
              <a:spcBef>
                <a:spcPct val="0"/>
              </a:spcBef>
              <a:spcAft>
                <a:spcPct val="0"/>
              </a:spcAft>
              <a:defRPr sz="2400">
                <a:solidFill>
                  <a:schemeClr val="tx1"/>
                </a:solidFill>
                <a:latin typeface="Times New Roman" panose="02020603050405020304" pitchFamily="18" charset="0"/>
              </a:defRPr>
            </a:lvl8pPr>
            <a:lvl9pPr marL="4114800" defTabSz="762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pt-BR" altLang="pt-BR" sz="1800">
                <a:solidFill>
                  <a:srgbClr val="5F5F5F"/>
                </a:solidFill>
                <a:latin typeface="Tahoma" panose="020B0604030504040204" pitchFamily="34" charset="0"/>
              </a:rPr>
              <a:t>Lesões graves ou fatais</a:t>
            </a:r>
          </a:p>
        </p:txBody>
      </p:sp>
      <p:sp>
        <p:nvSpPr>
          <p:cNvPr id="62477" name="Rectangle 13"/>
          <p:cNvSpPr>
            <a:spLocks noChangeArrowheads="1"/>
          </p:cNvSpPr>
          <p:nvPr/>
        </p:nvSpPr>
        <p:spPr bwMode="auto">
          <a:xfrm>
            <a:off x="4441825" y="3048000"/>
            <a:ext cx="18065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fontAlgn="base">
              <a:spcBef>
                <a:spcPct val="0"/>
              </a:spcBef>
              <a:spcAft>
                <a:spcPct val="0"/>
              </a:spcAft>
              <a:defRPr sz="2400">
                <a:solidFill>
                  <a:schemeClr val="tx1"/>
                </a:solidFill>
                <a:latin typeface="Times New Roman" panose="02020603050405020304" pitchFamily="18" charset="0"/>
              </a:defRPr>
            </a:lvl6pPr>
            <a:lvl7pPr marL="3200400" defTabSz="762000" fontAlgn="base">
              <a:spcBef>
                <a:spcPct val="0"/>
              </a:spcBef>
              <a:spcAft>
                <a:spcPct val="0"/>
              </a:spcAft>
              <a:defRPr sz="2400">
                <a:solidFill>
                  <a:schemeClr val="tx1"/>
                </a:solidFill>
                <a:latin typeface="Times New Roman" panose="02020603050405020304" pitchFamily="18" charset="0"/>
              </a:defRPr>
            </a:lvl7pPr>
            <a:lvl8pPr marL="3657600" defTabSz="762000" fontAlgn="base">
              <a:spcBef>
                <a:spcPct val="0"/>
              </a:spcBef>
              <a:spcAft>
                <a:spcPct val="0"/>
              </a:spcAft>
              <a:defRPr sz="2400">
                <a:solidFill>
                  <a:schemeClr val="tx1"/>
                </a:solidFill>
                <a:latin typeface="Times New Roman" panose="02020603050405020304" pitchFamily="18" charset="0"/>
              </a:defRPr>
            </a:lvl8pPr>
            <a:lvl9pPr marL="4114800" defTabSz="762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pt-BR" altLang="pt-BR" sz="1800">
                <a:solidFill>
                  <a:srgbClr val="5F5F5F"/>
                </a:solidFill>
                <a:latin typeface="Tahoma" panose="020B0604030504040204" pitchFamily="34" charset="0"/>
              </a:rPr>
              <a:t>Lesões menores</a:t>
            </a:r>
          </a:p>
        </p:txBody>
      </p:sp>
      <p:sp>
        <p:nvSpPr>
          <p:cNvPr id="62478" name="Rectangle 14"/>
          <p:cNvSpPr>
            <a:spLocks noChangeArrowheads="1"/>
          </p:cNvSpPr>
          <p:nvPr/>
        </p:nvSpPr>
        <p:spPr bwMode="auto">
          <a:xfrm>
            <a:off x="4854575" y="3648075"/>
            <a:ext cx="26892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fontAlgn="base">
              <a:spcBef>
                <a:spcPct val="0"/>
              </a:spcBef>
              <a:spcAft>
                <a:spcPct val="0"/>
              </a:spcAft>
              <a:defRPr sz="2400">
                <a:solidFill>
                  <a:schemeClr val="tx1"/>
                </a:solidFill>
                <a:latin typeface="Times New Roman" panose="02020603050405020304" pitchFamily="18" charset="0"/>
              </a:defRPr>
            </a:lvl6pPr>
            <a:lvl7pPr marL="3200400" defTabSz="762000" fontAlgn="base">
              <a:spcBef>
                <a:spcPct val="0"/>
              </a:spcBef>
              <a:spcAft>
                <a:spcPct val="0"/>
              </a:spcAft>
              <a:defRPr sz="2400">
                <a:solidFill>
                  <a:schemeClr val="tx1"/>
                </a:solidFill>
                <a:latin typeface="Times New Roman" panose="02020603050405020304" pitchFamily="18" charset="0"/>
              </a:defRPr>
            </a:lvl7pPr>
            <a:lvl8pPr marL="3657600" defTabSz="762000" fontAlgn="base">
              <a:spcBef>
                <a:spcPct val="0"/>
              </a:spcBef>
              <a:spcAft>
                <a:spcPct val="0"/>
              </a:spcAft>
              <a:defRPr sz="2400">
                <a:solidFill>
                  <a:schemeClr val="tx1"/>
                </a:solidFill>
                <a:latin typeface="Times New Roman" panose="02020603050405020304" pitchFamily="18" charset="0"/>
              </a:defRPr>
            </a:lvl8pPr>
            <a:lvl9pPr marL="4114800" defTabSz="762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pt-BR" altLang="pt-BR" sz="1800">
                <a:solidFill>
                  <a:srgbClr val="5F5F5F"/>
                </a:solidFill>
                <a:latin typeface="Tahoma" panose="020B0604030504040204" pitchFamily="34" charset="0"/>
              </a:rPr>
              <a:t>Acidentes com</a:t>
            </a:r>
          </a:p>
          <a:p>
            <a:pPr eaLnBrk="0" hangingPunct="0"/>
            <a:r>
              <a:rPr lang="pt-BR" altLang="pt-BR" sz="1800">
                <a:solidFill>
                  <a:srgbClr val="5F5F5F"/>
                </a:solidFill>
                <a:latin typeface="Tahoma" panose="020B0604030504040204" pitchFamily="34" charset="0"/>
              </a:rPr>
              <a:t>danos à propriedade</a:t>
            </a:r>
          </a:p>
        </p:txBody>
      </p:sp>
      <p:sp>
        <p:nvSpPr>
          <p:cNvPr id="62479" name="Rectangle 15"/>
          <p:cNvSpPr>
            <a:spLocks noChangeArrowheads="1"/>
          </p:cNvSpPr>
          <p:nvPr/>
        </p:nvSpPr>
        <p:spPr bwMode="auto">
          <a:xfrm>
            <a:off x="5397500" y="4429125"/>
            <a:ext cx="25796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fontAlgn="base">
              <a:spcBef>
                <a:spcPct val="0"/>
              </a:spcBef>
              <a:spcAft>
                <a:spcPct val="0"/>
              </a:spcAft>
              <a:defRPr sz="2400">
                <a:solidFill>
                  <a:schemeClr val="tx1"/>
                </a:solidFill>
                <a:latin typeface="Times New Roman" panose="02020603050405020304" pitchFamily="18" charset="0"/>
              </a:defRPr>
            </a:lvl6pPr>
            <a:lvl7pPr marL="3200400" defTabSz="762000" fontAlgn="base">
              <a:spcBef>
                <a:spcPct val="0"/>
              </a:spcBef>
              <a:spcAft>
                <a:spcPct val="0"/>
              </a:spcAft>
              <a:defRPr sz="2400">
                <a:solidFill>
                  <a:schemeClr val="tx1"/>
                </a:solidFill>
                <a:latin typeface="Times New Roman" panose="02020603050405020304" pitchFamily="18" charset="0"/>
              </a:defRPr>
            </a:lvl7pPr>
            <a:lvl8pPr marL="3657600" defTabSz="762000" fontAlgn="base">
              <a:spcBef>
                <a:spcPct val="0"/>
              </a:spcBef>
              <a:spcAft>
                <a:spcPct val="0"/>
              </a:spcAft>
              <a:defRPr sz="2400">
                <a:solidFill>
                  <a:schemeClr val="tx1"/>
                </a:solidFill>
                <a:latin typeface="Times New Roman" panose="02020603050405020304" pitchFamily="18" charset="0"/>
              </a:defRPr>
            </a:lvl8pPr>
            <a:lvl9pPr marL="4114800" defTabSz="762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pt-BR" altLang="pt-BR" sz="1800">
                <a:solidFill>
                  <a:srgbClr val="5F5F5F"/>
                </a:solidFill>
                <a:latin typeface="Tahoma" panose="020B0604030504040204" pitchFamily="34" charset="0"/>
              </a:rPr>
              <a:t>Incidentes sem</a:t>
            </a:r>
          </a:p>
          <a:p>
            <a:pPr eaLnBrk="0" hangingPunct="0"/>
            <a:r>
              <a:rPr lang="pt-BR" altLang="pt-BR" sz="1800">
                <a:solidFill>
                  <a:srgbClr val="5F5F5F"/>
                </a:solidFill>
                <a:latin typeface="Tahoma" panose="020B0604030504040204" pitchFamily="34" charset="0"/>
              </a:rPr>
              <a:t>lesões ou danos visíveis</a:t>
            </a:r>
          </a:p>
        </p:txBody>
      </p:sp>
      <p:sp>
        <p:nvSpPr>
          <p:cNvPr id="62484" name="AutoShape 20"/>
          <p:cNvSpPr>
            <a:spLocks noChangeArrowheads="1"/>
          </p:cNvSpPr>
          <p:nvPr/>
        </p:nvSpPr>
        <p:spPr bwMode="auto">
          <a:xfrm>
            <a:off x="3816350" y="3124200"/>
            <a:ext cx="596900" cy="292100"/>
          </a:xfrm>
          <a:prstGeom prst="rightArrow">
            <a:avLst>
              <a:gd name="adj1" fmla="val 50000"/>
              <a:gd name="adj2" fmla="val 102202"/>
            </a:avLst>
          </a:prstGeom>
          <a:gradFill rotWithShape="0">
            <a:gsLst>
              <a:gs pos="0">
                <a:srgbClr val="0099CC"/>
              </a:gs>
              <a:gs pos="100000">
                <a:srgbClr val="006699"/>
              </a:gs>
            </a:gsLst>
            <a:path path="rect">
              <a:fillToRect l="100000" t="10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62485" name="AutoShape 21"/>
          <p:cNvSpPr>
            <a:spLocks noChangeArrowheads="1"/>
          </p:cNvSpPr>
          <p:nvPr/>
        </p:nvSpPr>
        <p:spPr bwMode="auto">
          <a:xfrm>
            <a:off x="4794250" y="4584700"/>
            <a:ext cx="596900" cy="292100"/>
          </a:xfrm>
          <a:prstGeom prst="rightArrow">
            <a:avLst>
              <a:gd name="adj1" fmla="val 50000"/>
              <a:gd name="adj2" fmla="val 102202"/>
            </a:avLst>
          </a:prstGeom>
          <a:gradFill rotWithShape="0">
            <a:gsLst>
              <a:gs pos="0">
                <a:srgbClr val="0099CC"/>
              </a:gs>
              <a:gs pos="100000">
                <a:srgbClr val="006699"/>
              </a:gs>
            </a:gsLst>
            <a:path path="rect">
              <a:fillToRect l="100000" t="10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62486" name="AutoShape 22"/>
          <p:cNvSpPr>
            <a:spLocks noChangeArrowheads="1"/>
          </p:cNvSpPr>
          <p:nvPr/>
        </p:nvSpPr>
        <p:spPr bwMode="auto">
          <a:xfrm>
            <a:off x="4260850" y="3822700"/>
            <a:ext cx="596900" cy="292100"/>
          </a:xfrm>
          <a:prstGeom prst="rightArrow">
            <a:avLst>
              <a:gd name="adj1" fmla="val 50000"/>
              <a:gd name="adj2" fmla="val 102202"/>
            </a:avLst>
          </a:prstGeom>
          <a:gradFill rotWithShape="0">
            <a:gsLst>
              <a:gs pos="0">
                <a:srgbClr val="0099CC"/>
              </a:gs>
              <a:gs pos="100000">
                <a:srgbClr val="006699"/>
              </a:gs>
            </a:gsLst>
            <a:path path="rect">
              <a:fillToRect l="100000" t="10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62487" name="AutoShape 23"/>
          <p:cNvSpPr>
            <a:spLocks noChangeArrowheads="1"/>
          </p:cNvSpPr>
          <p:nvPr/>
        </p:nvSpPr>
        <p:spPr bwMode="auto">
          <a:xfrm>
            <a:off x="3346450" y="2438400"/>
            <a:ext cx="596900" cy="292100"/>
          </a:xfrm>
          <a:prstGeom prst="rightArrow">
            <a:avLst>
              <a:gd name="adj1" fmla="val 50000"/>
              <a:gd name="adj2" fmla="val 102202"/>
            </a:avLst>
          </a:prstGeom>
          <a:gradFill rotWithShape="0">
            <a:gsLst>
              <a:gs pos="0">
                <a:srgbClr val="0099CC"/>
              </a:gs>
              <a:gs pos="100000">
                <a:srgbClr val="006699"/>
              </a:gs>
            </a:gsLst>
            <a:path path="rect">
              <a:fillToRect l="100000" t="10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62492" name="Rectangle 28"/>
          <p:cNvSpPr>
            <a:spLocks noGrp="1" noChangeArrowheads="1"/>
          </p:cNvSpPr>
          <p:nvPr>
            <p:ph type="title"/>
          </p:nvPr>
        </p:nvSpPr>
        <p:spPr>
          <a:xfrm>
            <a:off x="685800" y="1447800"/>
            <a:ext cx="7772400" cy="838200"/>
          </a:xfrm>
        </p:spPr>
        <p:txBody>
          <a:bodyPr/>
          <a:lstStyle/>
          <a:p>
            <a:r>
              <a:rPr lang="pt-BR" altLang="pt-BR"/>
              <a:t>Estudos dos acidentes e incidentes</a:t>
            </a:r>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28" name="Rectangle 20"/>
          <p:cNvSpPr>
            <a:spLocks noGrp="1" noChangeArrowheads="1"/>
          </p:cNvSpPr>
          <p:nvPr>
            <p:ph type="title"/>
          </p:nvPr>
        </p:nvSpPr>
        <p:spPr/>
        <p:txBody>
          <a:bodyPr/>
          <a:lstStyle/>
          <a:p>
            <a:r>
              <a:rPr lang="pt-BR" altLang="pt-BR"/>
              <a:t>Modelo causal de perdas</a:t>
            </a:r>
          </a:p>
        </p:txBody>
      </p:sp>
      <p:pic>
        <p:nvPicPr>
          <p:cNvPr id="68630" name="Picture 22" descr="aaa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895600"/>
            <a:ext cx="8763000" cy="21939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8" name="Rectangle 6"/>
          <p:cNvSpPr>
            <a:spLocks noGrp="1" noChangeArrowheads="1"/>
          </p:cNvSpPr>
          <p:nvPr>
            <p:ph type="title"/>
          </p:nvPr>
        </p:nvSpPr>
        <p:spPr/>
        <p:txBody>
          <a:bodyPr/>
          <a:lstStyle/>
          <a:p>
            <a:r>
              <a:rPr lang="pt-BR" altLang="pt-BR"/>
              <a:t>Modelo causal de perdas</a:t>
            </a:r>
          </a:p>
        </p:txBody>
      </p:sp>
      <p:sp>
        <p:nvSpPr>
          <p:cNvPr id="69639" name="Rectangle 7"/>
          <p:cNvSpPr>
            <a:spLocks noGrp="1" noChangeArrowheads="1"/>
          </p:cNvSpPr>
          <p:nvPr>
            <p:ph type="body" idx="1"/>
          </p:nvPr>
        </p:nvSpPr>
        <p:spPr>
          <a:xfrm>
            <a:off x="685800" y="3048000"/>
            <a:ext cx="7772400" cy="3886200"/>
          </a:xfrm>
        </p:spPr>
        <p:txBody>
          <a:bodyPr/>
          <a:lstStyle/>
          <a:p>
            <a:r>
              <a:rPr lang="pt-BR" altLang="pt-BR" sz="2000" b="1">
                <a:solidFill>
                  <a:srgbClr val="006699"/>
                </a:solidFill>
              </a:rPr>
              <a:t>Falta de controle</a:t>
            </a:r>
          </a:p>
          <a:p>
            <a:r>
              <a:rPr lang="pt-BR" altLang="pt-BR" sz="2000"/>
              <a:t>A falta de controle é o princípio da seqüência de fatores causais que originam um acidente, que dependendo de sua gravidade, pode gerar muitas ou poucas perdas.</a:t>
            </a:r>
          </a:p>
          <a:p>
            <a:endParaRPr lang="pt-BR" altLang="pt-BR" sz="2000"/>
          </a:p>
          <a:p>
            <a:pPr lvl="1"/>
            <a:r>
              <a:rPr lang="pt-BR" altLang="pt-BR" sz="2000"/>
              <a:t>Um programa inadequado;</a:t>
            </a:r>
          </a:p>
          <a:p>
            <a:pPr lvl="1"/>
            <a:r>
              <a:rPr lang="pt-BR" altLang="pt-BR" sz="2000"/>
              <a:t>Padrões inadequados do programa;</a:t>
            </a:r>
          </a:p>
          <a:p>
            <a:pPr lvl="1"/>
            <a:r>
              <a:rPr lang="pt-BR" altLang="pt-BR" sz="2000"/>
              <a:t>Cumprimento inadequado dos padrões.</a:t>
            </a:r>
          </a:p>
        </p:txBody>
      </p:sp>
    </p:spTree>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4"/>
          <p:cNvSpPr>
            <a:spLocks noGrp="1" noChangeArrowheads="1"/>
          </p:cNvSpPr>
          <p:nvPr>
            <p:ph type="title"/>
          </p:nvPr>
        </p:nvSpPr>
        <p:spPr/>
        <p:txBody>
          <a:bodyPr/>
          <a:lstStyle/>
          <a:p>
            <a:r>
              <a:rPr lang="pt-BR" altLang="pt-BR"/>
              <a:t>Modelo causal de perdas</a:t>
            </a:r>
          </a:p>
        </p:txBody>
      </p:sp>
      <p:sp>
        <p:nvSpPr>
          <p:cNvPr id="70661" name="Rectangle 5"/>
          <p:cNvSpPr>
            <a:spLocks noGrp="1" noChangeArrowheads="1"/>
          </p:cNvSpPr>
          <p:nvPr>
            <p:ph type="body" idx="1"/>
          </p:nvPr>
        </p:nvSpPr>
        <p:spPr>
          <a:xfrm>
            <a:off x="685800" y="3124200"/>
            <a:ext cx="7772400" cy="3886200"/>
          </a:xfrm>
        </p:spPr>
        <p:txBody>
          <a:bodyPr/>
          <a:lstStyle/>
          <a:p>
            <a:r>
              <a:rPr lang="pt-BR" altLang="pt-BR" sz="2000" b="1">
                <a:solidFill>
                  <a:srgbClr val="006699"/>
                </a:solidFill>
              </a:rPr>
              <a:t>Causas básicas</a:t>
            </a:r>
          </a:p>
          <a:p>
            <a:r>
              <a:rPr lang="pt-BR" altLang="pt-BR" sz="2000"/>
              <a:t>As causas básicas são as razões de ocorrerem os atos e condições abaixo do padrão.</a:t>
            </a:r>
          </a:p>
          <a:p>
            <a:endParaRPr lang="pt-BR" altLang="pt-BR" sz="2000"/>
          </a:p>
          <a:p>
            <a:pPr lvl="1"/>
            <a:r>
              <a:rPr lang="pt-BR" altLang="pt-BR" sz="2000"/>
              <a:t>Fatores pessoais;</a:t>
            </a:r>
          </a:p>
          <a:p>
            <a:pPr lvl="1"/>
            <a:r>
              <a:rPr lang="pt-BR" altLang="pt-BR" sz="2000"/>
              <a:t>Fatores de trabalho (ambiente de trabalho).</a:t>
            </a:r>
          </a:p>
          <a:p>
            <a:endParaRPr lang="pt-BR" altLang="pt-BR" sz="2000"/>
          </a:p>
        </p:txBody>
      </p:sp>
    </p:spTree>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4"/>
          <p:cNvSpPr>
            <a:spLocks noGrp="1" noChangeArrowheads="1"/>
          </p:cNvSpPr>
          <p:nvPr>
            <p:ph type="title"/>
          </p:nvPr>
        </p:nvSpPr>
        <p:spPr/>
        <p:txBody>
          <a:bodyPr/>
          <a:lstStyle/>
          <a:p>
            <a:r>
              <a:rPr lang="pt-BR" altLang="pt-BR"/>
              <a:t>Modelo causal de perdas</a:t>
            </a:r>
          </a:p>
        </p:txBody>
      </p:sp>
      <p:sp>
        <p:nvSpPr>
          <p:cNvPr id="71685" name="Rectangle 5"/>
          <p:cNvSpPr>
            <a:spLocks noGrp="1" noChangeArrowheads="1"/>
          </p:cNvSpPr>
          <p:nvPr>
            <p:ph type="body" idx="1"/>
          </p:nvPr>
        </p:nvSpPr>
        <p:spPr>
          <a:xfrm>
            <a:off x="685800" y="3124200"/>
            <a:ext cx="7772400" cy="3886200"/>
          </a:xfrm>
        </p:spPr>
        <p:txBody>
          <a:bodyPr/>
          <a:lstStyle/>
          <a:p>
            <a:r>
              <a:rPr lang="pt-BR" altLang="pt-BR" sz="2000" b="1">
                <a:solidFill>
                  <a:srgbClr val="006699"/>
                </a:solidFill>
              </a:rPr>
              <a:t>Causas imediatas</a:t>
            </a:r>
          </a:p>
          <a:p>
            <a:r>
              <a:rPr lang="pt-BR" altLang="pt-BR" sz="2000"/>
              <a:t>As causas imediatas são as circunstâncias que precedem imediatamente o contato e que podem ser vistas ou sentidas.</a:t>
            </a:r>
          </a:p>
          <a:p>
            <a:r>
              <a:rPr lang="pt-BR" altLang="pt-BR" sz="2000"/>
              <a:t>Atualmente, utiliza-se os termos abaixo dos padrões e condições abaixo dos padrões.</a:t>
            </a:r>
          </a:p>
          <a:p>
            <a:endParaRPr lang="pt-BR" altLang="pt-BR" sz="2000"/>
          </a:p>
          <a:p>
            <a:pPr lvl="1"/>
            <a:r>
              <a:rPr lang="pt-BR" altLang="pt-BR" sz="2000"/>
              <a:t>Atos ou práticas abaixo dos padrões;</a:t>
            </a:r>
          </a:p>
          <a:p>
            <a:pPr lvl="1"/>
            <a:r>
              <a:rPr lang="pt-BR" altLang="pt-BR" sz="2000"/>
              <a:t>Condições abaixo do padrão.</a:t>
            </a:r>
          </a:p>
        </p:txBody>
      </p:sp>
    </p:spTree>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4"/>
          <p:cNvSpPr>
            <a:spLocks noGrp="1" noChangeArrowheads="1"/>
          </p:cNvSpPr>
          <p:nvPr>
            <p:ph type="title"/>
          </p:nvPr>
        </p:nvSpPr>
        <p:spPr/>
        <p:txBody>
          <a:bodyPr/>
          <a:lstStyle/>
          <a:p>
            <a:r>
              <a:rPr lang="pt-BR" altLang="pt-BR"/>
              <a:t>Modelo causal de perdas</a:t>
            </a:r>
          </a:p>
        </p:txBody>
      </p:sp>
      <p:sp>
        <p:nvSpPr>
          <p:cNvPr id="72709" name="Rectangle 5"/>
          <p:cNvSpPr>
            <a:spLocks noGrp="1" noChangeArrowheads="1"/>
          </p:cNvSpPr>
          <p:nvPr>
            <p:ph type="body" idx="1"/>
          </p:nvPr>
        </p:nvSpPr>
        <p:spPr>
          <a:xfrm>
            <a:off x="685800" y="3124200"/>
            <a:ext cx="7772400" cy="3886200"/>
          </a:xfrm>
        </p:spPr>
        <p:txBody>
          <a:bodyPr/>
          <a:lstStyle/>
          <a:p>
            <a:r>
              <a:rPr lang="pt-BR" altLang="pt-BR" sz="2000" b="1">
                <a:solidFill>
                  <a:srgbClr val="006699"/>
                </a:solidFill>
              </a:rPr>
              <a:t>Acidente e incidente</a:t>
            </a:r>
          </a:p>
          <a:p>
            <a:r>
              <a:rPr lang="pt-BR" altLang="pt-BR" sz="2000"/>
              <a:t>Os incidentes são eventos que antecedem as perdas, isto é, são os contatos que poderiam causar uma lesão ou dano.</a:t>
            </a:r>
          </a:p>
          <a:p>
            <a:endParaRPr lang="pt-BR" altLang="pt-BR" sz="2000"/>
          </a:p>
          <a:p>
            <a:r>
              <a:rPr lang="pt-BR" altLang="pt-BR" sz="2000"/>
              <a:t>Quando se permite que tenham condições abaixo do padrão ou atos abaixo do padrão, aumentam as chances de ocorrerem incidentes e acidentes.</a:t>
            </a:r>
          </a:p>
        </p:txBody>
      </p:sp>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title"/>
          </p:nvPr>
        </p:nvSpPr>
        <p:spPr>
          <a:xfrm>
            <a:off x="685800" y="1447800"/>
            <a:ext cx="7772400" cy="838200"/>
          </a:xfrm>
        </p:spPr>
        <p:txBody>
          <a:bodyPr/>
          <a:lstStyle/>
          <a:p>
            <a:r>
              <a:rPr lang="pt-BR" altLang="pt-BR"/>
              <a:t>Modelo causal de perdas</a:t>
            </a:r>
          </a:p>
        </p:txBody>
      </p:sp>
      <p:sp>
        <p:nvSpPr>
          <p:cNvPr id="73733" name="Rectangle 5"/>
          <p:cNvSpPr>
            <a:spLocks noGrp="1" noChangeArrowheads="1"/>
          </p:cNvSpPr>
          <p:nvPr>
            <p:ph type="body" idx="1"/>
          </p:nvPr>
        </p:nvSpPr>
        <p:spPr>
          <a:xfrm>
            <a:off x="381000" y="2362200"/>
            <a:ext cx="8458200" cy="3886200"/>
          </a:xfrm>
        </p:spPr>
        <p:txBody>
          <a:bodyPr/>
          <a:lstStyle/>
          <a:p>
            <a:pPr>
              <a:lnSpc>
                <a:spcPct val="90000"/>
              </a:lnSpc>
            </a:pPr>
            <a:r>
              <a:rPr lang="pt-BR" altLang="pt-BR" sz="2000" b="1">
                <a:solidFill>
                  <a:srgbClr val="006699"/>
                </a:solidFill>
              </a:rPr>
              <a:t>Perdas</a:t>
            </a:r>
          </a:p>
          <a:p>
            <a:pPr>
              <a:lnSpc>
                <a:spcPct val="90000"/>
              </a:lnSpc>
            </a:pPr>
            <a:r>
              <a:rPr lang="pt-BR" altLang="pt-BR" sz="2000"/>
              <a:t>As perdas são os resultados de um acidente, que geram vários tipos de perdas: às pessoas, à propriedade, aos produtos, ao meio ambiente e aos serviços.</a:t>
            </a:r>
          </a:p>
          <a:p>
            <a:pPr>
              <a:lnSpc>
                <a:spcPct val="90000"/>
              </a:lnSpc>
            </a:pPr>
            <a:endParaRPr lang="pt-BR" altLang="pt-BR" sz="2000"/>
          </a:p>
          <a:p>
            <a:pPr>
              <a:lnSpc>
                <a:spcPct val="90000"/>
              </a:lnSpc>
            </a:pPr>
            <a:r>
              <a:rPr lang="pt-BR" altLang="pt-BR" sz="2000"/>
              <a:t>O tipo e o grau dessas perdas dependerá da gravidade de seus efeitos, que podem ser insignificantes ou catastróficos.</a:t>
            </a:r>
          </a:p>
          <a:p>
            <a:pPr>
              <a:lnSpc>
                <a:spcPct val="90000"/>
              </a:lnSpc>
            </a:pPr>
            <a:endParaRPr lang="pt-BR" altLang="pt-BR" sz="2000"/>
          </a:p>
          <a:p>
            <a:pPr lvl="1">
              <a:lnSpc>
                <a:spcPct val="90000"/>
              </a:lnSpc>
            </a:pPr>
            <a:r>
              <a:rPr lang="pt-BR" altLang="pt-BR" sz="2000"/>
              <a:t>Tempo do trabalhador ferido;</a:t>
            </a:r>
          </a:p>
          <a:p>
            <a:pPr lvl="1">
              <a:lnSpc>
                <a:spcPct val="90000"/>
              </a:lnSpc>
            </a:pPr>
            <a:r>
              <a:rPr lang="pt-BR" altLang="pt-BR" sz="2000"/>
              <a:t>Tempo do companheiro de trabalho;</a:t>
            </a:r>
          </a:p>
          <a:p>
            <a:pPr lvl="1">
              <a:lnSpc>
                <a:spcPct val="90000"/>
              </a:lnSpc>
            </a:pPr>
            <a:r>
              <a:rPr lang="pt-BR" altLang="pt-BR" sz="2000"/>
              <a:t>Tempo do supervisor;</a:t>
            </a:r>
          </a:p>
          <a:p>
            <a:pPr lvl="1">
              <a:lnSpc>
                <a:spcPct val="90000"/>
              </a:lnSpc>
            </a:pPr>
            <a:r>
              <a:rPr lang="pt-BR" altLang="pt-BR" sz="2000"/>
              <a:t>Perdas gerais;</a:t>
            </a:r>
          </a:p>
          <a:p>
            <a:pPr lvl="1">
              <a:lnSpc>
                <a:spcPct val="90000"/>
              </a:lnSpc>
            </a:pPr>
            <a:r>
              <a:rPr lang="pt-BR" altLang="pt-BR" sz="2000"/>
              <a:t>Outras perdas.</a:t>
            </a:r>
          </a:p>
        </p:txBody>
      </p:sp>
    </p:spTree>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900" name="Picture 4" descr="C:\Meus documentos\paisagens\0558_5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770313"/>
            <a:ext cx="5257800" cy="2801937"/>
          </a:xfrm>
          <a:prstGeom prst="rect">
            <a:avLst/>
          </a:prstGeom>
          <a:noFill/>
          <a:extLst>
            <a:ext uri="{909E8E84-426E-40DD-AFC4-6F175D3DCCD1}">
              <a14:hiddenFill xmlns:a14="http://schemas.microsoft.com/office/drawing/2010/main">
                <a:solidFill>
                  <a:srgbClr val="FFFFFF"/>
                </a:solidFill>
              </a14:hiddenFill>
            </a:ext>
          </a:extLst>
        </p:spPr>
      </p:pic>
      <p:sp>
        <p:nvSpPr>
          <p:cNvPr id="80904" name="Rectangle 8"/>
          <p:cNvSpPr>
            <a:spLocks noGrp="1" noChangeArrowheads="1"/>
          </p:cNvSpPr>
          <p:nvPr>
            <p:ph type="title"/>
          </p:nvPr>
        </p:nvSpPr>
        <p:spPr/>
        <p:txBody>
          <a:bodyPr/>
          <a:lstStyle/>
          <a:p>
            <a:r>
              <a:rPr lang="pt-BR" altLang="pt-BR"/>
              <a:t>O iceberg dos</a:t>
            </a:r>
            <a:br>
              <a:rPr lang="pt-BR" altLang="pt-BR"/>
            </a:br>
            <a:r>
              <a:rPr lang="pt-BR" altLang="pt-BR"/>
              <a:t>custos produzidos pelos acidentes</a:t>
            </a:r>
          </a:p>
        </p:txBody>
      </p:sp>
      <p:sp>
        <p:nvSpPr>
          <p:cNvPr id="80905" name="Rectangle 9"/>
          <p:cNvSpPr>
            <a:spLocks noGrp="1" noChangeArrowheads="1"/>
          </p:cNvSpPr>
          <p:nvPr>
            <p:ph type="body" idx="1"/>
          </p:nvPr>
        </p:nvSpPr>
        <p:spPr/>
        <p:txBody>
          <a:bodyPr/>
          <a:lstStyle/>
          <a:p>
            <a:pPr lvl="1"/>
            <a:r>
              <a:rPr lang="pt-BR" altLang="pt-BR"/>
              <a:t>$ 1 – Custos Diretos ou Visíveis;</a:t>
            </a:r>
          </a:p>
          <a:p>
            <a:pPr lvl="1"/>
            <a:r>
              <a:rPr lang="pt-BR" altLang="pt-BR"/>
              <a:t>$ 5 a $ 50 – Custos Documentados à propriedade (sem seguro);</a:t>
            </a:r>
          </a:p>
          <a:p>
            <a:pPr lvl="1"/>
            <a:r>
              <a:rPr lang="pt-BR" altLang="pt-BR"/>
              <a:t>$ 1 a $ 3 – Custos variados (sem seguro).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p:txBody>
          <a:bodyPr/>
          <a:lstStyle/>
          <a:p>
            <a:r>
              <a:rPr lang="pt-BR" altLang="pt-BR"/>
              <a:t>O iceberg dos</a:t>
            </a:r>
            <a:br>
              <a:rPr lang="pt-BR" altLang="pt-BR"/>
            </a:br>
            <a:r>
              <a:rPr lang="pt-BR" altLang="pt-BR"/>
              <a:t>custos produzidos pelos acidentes</a:t>
            </a:r>
          </a:p>
        </p:txBody>
      </p:sp>
      <p:sp>
        <p:nvSpPr>
          <p:cNvPr id="81925" name="Rectangle 5"/>
          <p:cNvSpPr>
            <a:spLocks noGrp="1" noChangeArrowheads="1"/>
          </p:cNvSpPr>
          <p:nvPr>
            <p:ph type="body" idx="1"/>
          </p:nvPr>
        </p:nvSpPr>
        <p:spPr/>
        <p:txBody>
          <a:bodyPr/>
          <a:lstStyle/>
          <a:p>
            <a:r>
              <a:rPr lang="pt-BR" altLang="pt-BR" sz="2000" b="1">
                <a:solidFill>
                  <a:srgbClr val="006699"/>
                </a:solidFill>
              </a:rPr>
              <a:t>Custos de lesões e enfermidades</a:t>
            </a:r>
          </a:p>
          <a:p>
            <a:pPr lvl="1"/>
            <a:r>
              <a:rPr lang="pt-BR" altLang="pt-BR" sz="2000"/>
              <a:t>Médicos;</a:t>
            </a:r>
          </a:p>
          <a:p>
            <a:pPr lvl="1"/>
            <a:r>
              <a:rPr lang="pt-BR" altLang="pt-BR" sz="2000"/>
              <a:t>Custos de compensação (custos segurados);</a:t>
            </a:r>
          </a:p>
          <a:p>
            <a:pPr lvl="1"/>
            <a:r>
              <a:rPr lang="pt-BR" altLang="pt-BR" sz="2000"/>
              <a:t>Danos aos imóveis;</a:t>
            </a:r>
          </a:p>
          <a:p>
            <a:pPr lvl="1"/>
            <a:r>
              <a:rPr lang="pt-BR" altLang="pt-BR" sz="2000"/>
              <a:t>Danos aos equipamentos e ferramentas;</a:t>
            </a:r>
          </a:p>
          <a:p>
            <a:pPr lvl="1"/>
            <a:r>
              <a:rPr lang="pt-BR" altLang="pt-BR" sz="2000"/>
              <a:t>Danos ao produto e materiais;</a:t>
            </a:r>
          </a:p>
          <a:p>
            <a:pPr lvl="1"/>
            <a:r>
              <a:rPr lang="pt-BR" altLang="pt-BR" sz="2000"/>
              <a:t>Interrupção e atrasos de produção;</a:t>
            </a:r>
          </a:p>
          <a:p>
            <a:pPr lvl="1"/>
            <a:r>
              <a:rPr lang="pt-BR" altLang="pt-BR" sz="2000"/>
              <a:t>Gastos legais;</a:t>
            </a:r>
          </a:p>
          <a:p>
            <a:pPr lvl="1"/>
            <a:r>
              <a:rPr lang="pt-BR" altLang="pt-BR" sz="2000"/>
              <a:t>Gastos de equipamentos e previsões de emergência;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4"/>
          <p:cNvSpPr>
            <a:spLocks noGrp="1" noChangeArrowheads="1"/>
          </p:cNvSpPr>
          <p:nvPr>
            <p:ph type="title"/>
          </p:nvPr>
        </p:nvSpPr>
        <p:spPr>
          <a:xfrm>
            <a:off x="685800" y="2057400"/>
            <a:ext cx="7772400" cy="838200"/>
          </a:xfrm>
        </p:spPr>
        <p:txBody>
          <a:bodyPr/>
          <a:lstStyle/>
          <a:p>
            <a:r>
              <a:rPr lang="pt-BR" altLang="pt-BR"/>
              <a:t>O iceberg dos</a:t>
            </a:r>
            <a:br>
              <a:rPr lang="pt-BR" altLang="pt-BR"/>
            </a:br>
            <a:r>
              <a:rPr lang="pt-BR" altLang="pt-BR"/>
              <a:t>custos produzidos pelos acidentes</a:t>
            </a:r>
          </a:p>
        </p:txBody>
      </p:sp>
      <p:sp>
        <p:nvSpPr>
          <p:cNvPr id="82949" name="Rectangle 5"/>
          <p:cNvSpPr>
            <a:spLocks noGrp="1" noChangeArrowheads="1"/>
          </p:cNvSpPr>
          <p:nvPr>
            <p:ph type="body" idx="1"/>
          </p:nvPr>
        </p:nvSpPr>
        <p:spPr>
          <a:xfrm>
            <a:off x="685800" y="3124200"/>
            <a:ext cx="7772400" cy="3886200"/>
          </a:xfrm>
        </p:spPr>
        <p:txBody>
          <a:bodyPr/>
          <a:lstStyle/>
          <a:p>
            <a:r>
              <a:rPr lang="pt-BR" altLang="pt-BR" sz="2000" b="1">
                <a:solidFill>
                  <a:srgbClr val="006699"/>
                </a:solidFill>
              </a:rPr>
              <a:t>Custos de lesões e enfermidades</a:t>
            </a:r>
          </a:p>
          <a:p>
            <a:pPr lvl="1"/>
            <a:r>
              <a:rPr lang="pt-BR" altLang="pt-BR" sz="2000"/>
              <a:t>Aluguel de equipamentos de substituição;</a:t>
            </a:r>
          </a:p>
          <a:p>
            <a:pPr lvl="1"/>
            <a:r>
              <a:rPr lang="pt-BR" altLang="pt-BR" sz="2000"/>
              <a:t>Tempo de investigação;</a:t>
            </a:r>
          </a:p>
          <a:p>
            <a:pPr lvl="1"/>
            <a:r>
              <a:rPr lang="pt-BR" altLang="pt-BR" sz="2000"/>
              <a:t>Horas extras;</a:t>
            </a:r>
          </a:p>
          <a:p>
            <a:pPr lvl="1"/>
            <a:r>
              <a:rPr lang="pt-BR" altLang="pt-BR" sz="2000"/>
              <a:t>Tempo extra de supervisão;</a:t>
            </a:r>
          </a:p>
          <a:p>
            <a:pPr lvl="1"/>
            <a:r>
              <a:rPr lang="pt-BR" altLang="pt-BR" sz="2000"/>
              <a:t>Menor produção do trabalhador acidentado após o retorno;</a:t>
            </a:r>
          </a:p>
          <a:p>
            <a:pPr lvl="1"/>
            <a:r>
              <a:rPr lang="pt-BR" altLang="pt-BR" sz="2000"/>
              <a:t>Perda de prestígio e de possibilidades de fazer negócios.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9" name="Rectangle 1035"/>
          <p:cNvSpPr>
            <a:spLocks noGrp="1" noChangeArrowheads="1"/>
          </p:cNvSpPr>
          <p:nvPr>
            <p:ph type="title"/>
          </p:nvPr>
        </p:nvSpPr>
        <p:spPr/>
        <p:txBody>
          <a:bodyPr/>
          <a:lstStyle/>
          <a:p>
            <a:r>
              <a:rPr lang="pt-BR" altLang="pt-BR"/>
              <a:t>CAT</a:t>
            </a:r>
          </a:p>
        </p:txBody>
      </p:sp>
      <p:sp>
        <p:nvSpPr>
          <p:cNvPr id="83980" name="Rectangle 1036"/>
          <p:cNvSpPr>
            <a:spLocks noGrp="1" noChangeArrowheads="1"/>
          </p:cNvSpPr>
          <p:nvPr>
            <p:ph type="body" idx="1"/>
          </p:nvPr>
        </p:nvSpPr>
        <p:spPr>
          <a:xfrm>
            <a:off x="685800" y="2590800"/>
            <a:ext cx="7772400" cy="1219200"/>
          </a:xfrm>
        </p:spPr>
        <p:txBody>
          <a:bodyPr/>
          <a:lstStyle/>
          <a:p>
            <a:pPr algn="just">
              <a:lnSpc>
                <a:spcPct val="90000"/>
              </a:lnSpc>
            </a:pPr>
            <a:r>
              <a:rPr lang="pt-BR" altLang="pt-BR" sz="2000"/>
              <a:t>Na ocorrência do acidente de trabalho o trabalhador deve levar o fato ao conhecimento da empresa. Esta por sua vez deve comunicar o fato à Previdência Social através da CAT’s (Comunicação de Acidente do Trabalho).</a:t>
            </a:r>
            <a:endParaRPr lang="pt-BR" altLang="pt-BR" sz="2000">
              <a:cs typeface="Times New Roman" panose="02020603050405020304" pitchFamily="18" charset="0"/>
            </a:endParaRPr>
          </a:p>
        </p:txBody>
      </p:sp>
      <p:pic>
        <p:nvPicPr>
          <p:cNvPr id="83972" name="Picture 1028" descr="D:\Treinamento\Desenhos\Desenhos M&amp;M\Eletricidade\Coloridos\Incapacidad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7475" y="3657600"/>
            <a:ext cx="2676525" cy="2590800"/>
          </a:xfrm>
          <a:prstGeom prst="rect">
            <a:avLst/>
          </a:prstGeom>
          <a:noFill/>
          <a:extLst>
            <a:ext uri="{909E8E84-426E-40DD-AFC4-6F175D3DCCD1}">
              <a14:hiddenFill xmlns:a14="http://schemas.microsoft.com/office/drawing/2010/main">
                <a:solidFill>
                  <a:srgbClr val="FFFFFF"/>
                </a:solidFill>
              </a14:hiddenFill>
            </a:ext>
          </a:extLst>
        </p:spPr>
      </p:pic>
      <p:sp>
        <p:nvSpPr>
          <p:cNvPr id="83982" name="Rectangle 1038"/>
          <p:cNvSpPr>
            <a:spLocks noChangeArrowheads="1"/>
          </p:cNvSpPr>
          <p:nvPr/>
        </p:nvSpPr>
        <p:spPr bwMode="auto">
          <a:xfrm>
            <a:off x="685800" y="4181475"/>
            <a:ext cx="6324600"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Wingdings" panose="05000000000000000000" pitchFamily="2" charset="2"/>
              <a:defRPr>
                <a:solidFill>
                  <a:srgbClr val="5F5F5F"/>
                </a:solidFill>
                <a:latin typeface="Tahoma" panose="020B0604030504040204" pitchFamily="34" charset="0"/>
              </a:defRPr>
            </a:lvl1pPr>
            <a:lvl2pPr marL="377825" indent="-187325">
              <a:spcBef>
                <a:spcPct val="20000"/>
              </a:spcBef>
              <a:buClr>
                <a:srgbClr val="FF3300"/>
              </a:buClr>
              <a:buSzPct val="70000"/>
              <a:buChar char="•"/>
              <a:defRPr>
                <a:solidFill>
                  <a:srgbClr val="5F5F5F"/>
                </a:solidFill>
                <a:latin typeface="Tahoma" panose="020B0604030504040204" pitchFamily="34" charset="0"/>
              </a:defRPr>
            </a:lvl2pPr>
            <a:lvl3pPr marL="763588" indent="-195263">
              <a:spcBef>
                <a:spcPct val="20000"/>
              </a:spcBef>
              <a:buClr>
                <a:srgbClr val="969696"/>
              </a:buClr>
              <a:buSzPct val="70000"/>
              <a:buChar char="•"/>
              <a:defRPr>
                <a:solidFill>
                  <a:srgbClr val="5F5F5F"/>
                </a:solidFill>
                <a:latin typeface="Tahoma" panose="020B0604030504040204" pitchFamily="34" charset="0"/>
              </a:defRPr>
            </a:lvl3pPr>
            <a:lvl4pPr marL="1141413" indent="-187325">
              <a:spcBef>
                <a:spcPct val="20000"/>
              </a:spcBef>
              <a:buChar char="-"/>
              <a:defRPr>
                <a:solidFill>
                  <a:srgbClr val="5F5F5F"/>
                </a:solidFill>
                <a:latin typeface="Tahoma" panose="020B0604030504040204" pitchFamily="34" charset="0"/>
              </a:defRPr>
            </a:lvl4pPr>
            <a:lvl5pPr marL="1528763" indent="-196850">
              <a:spcBef>
                <a:spcPct val="20000"/>
              </a:spcBef>
              <a:buChar char="»"/>
              <a:defRPr>
                <a:solidFill>
                  <a:srgbClr val="5F5F5F"/>
                </a:solidFill>
                <a:latin typeface="Tahoma" panose="020B0604030504040204" pitchFamily="34" charset="0"/>
              </a:defRPr>
            </a:lvl5pPr>
            <a:lvl6pPr marL="1985963" indent="-196850" fontAlgn="base">
              <a:spcBef>
                <a:spcPct val="20000"/>
              </a:spcBef>
              <a:spcAft>
                <a:spcPct val="0"/>
              </a:spcAft>
              <a:buChar char="»"/>
              <a:defRPr>
                <a:solidFill>
                  <a:srgbClr val="5F5F5F"/>
                </a:solidFill>
                <a:latin typeface="Tahoma" panose="020B0604030504040204" pitchFamily="34" charset="0"/>
              </a:defRPr>
            </a:lvl6pPr>
            <a:lvl7pPr marL="2443163" indent="-196850" fontAlgn="base">
              <a:spcBef>
                <a:spcPct val="20000"/>
              </a:spcBef>
              <a:spcAft>
                <a:spcPct val="0"/>
              </a:spcAft>
              <a:buChar char="»"/>
              <a:defRPr>
                <a:solidFill>
                  <a:srgbClr val="5F5F5F"/>
                </a:solidFill>
                <a:latin typeface="Tahoma" panose="020B0604030504040204" pitchFamily="34" charset="0"/>
              </a:defRPr>
            </a:lvl7pPr>
            <a:lvl8pPr marL="2900363" indent="-196850" fontAlgn="base">
              <a:spcBef>
                <a:spcPct val="20000"/>
              </a:spcBef>
              <a:spcAft>
                <a:spcPct val="0"/>
              </a:spcAft>
              <a:buChar char="»"/>
              <a:defRPr>
                <a:solidFill>
                  <a:srgbClr val="5F5F5F"/>
                </a:solidFill>
                <a:latin typeface="Tahoma" panose="020B0604030504040204" pitchFamily="34" charset="0"/>
              </a:defRPr>
            </a:lvl8pPr>
            <a:lvl9pPr marL="3357563" indent="-196850" fontAlgn="base">
              <a:spcBef>
                <a:spcPct val="20000"/>
              </a:spcBef>
              <a:spcAft>
                <a:spcPct val="0"/>
              </a:spcAft>
              <a:buChar char="»"/>
              <a:defRPr>
                <a:solidFill>
                  <a:srgbClr val="5F5F5F"/>
                </a:solidFill>
                <a:latin typeface="Tahoma" panose="020B0604030504040204" pitchFamily="34" charset="0"/>
              </a:defRPr>
            </a:lvl9pPr>
          </a:lstStyle>
          <a:p>
            <a:r>
              <a:rPr lang="pt-BR" altLang="pt-BR">
                <a:solidFill>
                  <a:srgbClr val="CC0000"/>
                </a:solidFill>
                <a:effectLst>
                  <a:outerShdw blurRad="38100" dist="38100" dir="2700000" algn="tl">
                    <a:srgbClr val="000000"/>
                  </a:outerShdw>
                </a:effectLst>
                <a:latin typeface="Arial Black" panose="020B0A04020102020204" pitchFamily="34" charset="0"/>
              </a:rPr>
              <a:t>Relatórios de acidentes</a:t>
            </a:r>
          </a:p>
          <a:p>
            <a:endParaRPr lang="pt-BR" altLang="pt-BR" sz="500">
              <a:solidFill>
                <a:srgbClr val="CC0000"/>
              </a:solidFill>
              <a:effectLst>
                <a:outerShdw blurRad="38100" dist="38100" dir="2700000" algn="tl">
                  <a:srgbClr val="000000"/>
                </a:outerShdw>
              </a:effectLst>
              <a:latin typeface="Arial Black" panose="020B0A04020102020204" pitchFamily="34" charset="0"/>
            </a:endParaRPr>
          </a:p>
          <a:p>
            <a:r>
              <a:rPr lang="pt-BR" altLang="pt-BR" sz="2000"/>
              <a:t>A empresa deverá elaborar relatório de investigação e análise de acidente, conduzido e assinado pelo SESMT e a CIPA, com todo detalhamento necessário ao perfeito entendimento da ocorrência.</a:t>
            </a:r>
          </a:p>
          <a:p>
            <a:endParaRPr lang="pt-BR" altLang="pt-BR"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5" name="Rectangle 9"/>
          <p:cNvSpPr>
            <a:spLocks noGrp="1" noChangeArrowheads="1"/>
          </p:cNvSpPr>
          <p:nvPr>
            <p:ph type="title"/>
          </p:nvPr>
        </p:nvSpPr>
        <p:spPr/>
        <p:txBody>
          <a:bodyPr/>
          <a:lstStyle/>
          <a:p>
            <a:r>
              <a:rPr lang="pt-BR" altLang="pt-BR"/>
              <a:t>Responsabilidade civil e</a:t>
            </a:r>
            <a:br>
              <a:rPr lang="pt-BR" altLang="pt-BR"/>
            </a:br>
            <a:r>
              <a:rPr lang="pt-BR" altLang="pt-BR"/>
              <a:t>criminal nos acidentes do trabalho</a:t>
            </a:r>
          </a:p>
        </p:txBody>
      </p:sp>
      <p:sp>
        <p:nvSpPr>
          <p:cNvPr id="86026" name="Rectangle 10"/>
          <p:cNvSpPr>
            <a:spLocks noGrp="1" noChangeArrowheads="1"/>
          </p:cNvSpPr>
          <p:nvPr>
            <p:ph type="body" idx="1"/>
          </p:nvPr>
        </p:nvSpPr>
        <p:spPr>
          <a:xfrm>
            <a:off x="685800" y="2895600"/>
            <a:ext cx="7772400" cy="1828800"/>
          </a:xfrm>
        </p:spPr>
        <p:txBody>
          <a:bodyPr/>
          <a:lstStyle/>
          <a:p>
            <a:r>
              <a:rPr lang="pt-BR" altLang="pt-BR" b="1"/>
              <a:t>“Quem tem o poder, tem o dever correspondente”</a:t>
            </a:r>
          </a:p>
          <a:p>
            <a:endParaRPr lang="pt-BR" altLang="pt-BR" sz="900" b="1"/>
          </a:p>
          <a:p>
            <a:r>
              <a:rPr lang="pt-BR" altLang="pt-BR" b="1"/>
              <a:t>“Não sou eu que quero, é a norma que exige”</a:t>
            </a:r>
          </a:p>
          <a:p>
            <a:endParaRPr lang="pt-BR" altLang="pt-BR" sz="900" b="1"/>
          </a:p>
          <a:p>
            <a:r>
              <a:rPr lang="pt-BR" altLang="pt-BR" b="1"/>
              <a:t>“Quem cria o perigo, ainda que não tenha culpa, tem o dever de eliminá-lo”</a:t>
            </a:r>
            <a:endParaRPr lang="pt-BR" altLang="pt-BR"/>
          </a:p>
        </p:txBody>
      </p:sp>
      <p:sp>
        <p:nvSpPr>
          <p:cNvPr id="86019" name="AutoShape 3"/>
          <p:cNvSpPr>
            <a:spLocks noChangeArrowheads="1"/>
          </p:cNvSpPr>
          <p:nvPr/>
        </p:nvSpPr>
        <p:spPr bwMode="auto">
          <a:xfrm>
            <a:off x="1346200" y="4724400"/>
            <a:ext cx="2286000" cy="762000"/>
          </a:xfrm>
          <a:prstGeom prst="roundRect">
            <a:avLst>
              <a:gd name="adj" fmla="val 16667"/>
            </a:avLst>
          </a:prstGeom>
          <a:solidFill>
            <a:srgbClr val="0099CC"/>
          </a:solidFill>
          <a:ln w="9525">
            <a:solidFill>
              <a:srgbClr val="006699"/>
            </a:solidFill>
            <a:round/>
            <a:headEnd/>
            <a:tailEnd/>
          </a:ln>
          <a:effectLst>
            <a:outerShdw dist="63500" dir="19387806" algn="ctr" rotWithShape="0">
              <a:srgbClr val="006699"/>
            </a:outerShdw>
          </a:effectLst>
        </p:spPr>
        <p:txBody>
          <a:bodyPr wrap="none" anchor="ctr"/>
          <a:lstStyle/>
          <a:p>
            <a:pPr algn="ctr"/>
            <a:r>
              <a:rPr lang="pt-BR" altLang="pt-BR" sz="1800" b="1">
                <a:solidFill>
                  <a:srgbClr val="CCFFFF"/>
                </a:solidFill>
                <a:latin typeface="Tahoma" panose="020B0604030504040204" pitchFamily="34" charset="0"/>
              </a:rPr>
              <a:t>CIVIL - </a:t>
            </a:r>
            <a:r>
              <a:rPr lang="pt-BR" altLang="pt-BR" sz="1800">
                <a:solidFill>
                  <a:srgbClr val="CCFFFF"/>
                </a:solidFill>
                <a:latin typeface="Tahoma" panose="020B0604030504040204" pitchFamily="34" charset="0"/>
              </a:rPr>
              <a:t>EMPRESA</a:t>
            </a:r>
          </a:p>
        </p:txBody>
      </p:sp>
      <p:sp>
        <p:nvSpPr>
          <p:cNvPr id="86020" name="AutoShape 4"/>
          <p:cNvSpPr>
            <a:spLocks noChangeArrowheads="1"/>
          </p:cNvSpPr>
          <p:nvPr/>
        </p:nvSpPr>
        <p:spPr bwMode="auto">
          <a:xfrm>
            <a:off x="4978400" y="4724400"/>
            <a:ext cx="2819400" cy="762000"/>
          </a:xfrm>
          <a:prstGeom prst="roundRect">
            <a:avLst>
              <a:gd name="adj" fmla="val 16667"/>
            </a:avLst>
          </a:prstGeom>
          <a:solidFill>
            <a:srgbClr val="0099CC"/>
          </a:solidFill>
          <a:ln w="9525">
            <a:solidFill>
              <a:srgbClr val="006699"/>
            </a:solidFill>
            <a:round/>
            <a:headEnd/>
            <a:tailEnd/>
          </a:ln>
          <a:effectLst>
            <a:outerShdw dist="63500" dir="19387806" algn="ctr" rotWithShape="0">
              <a:srgbClr val="006699"/>
            </a:outerShdw>
          </a:effectLst>
        </p:spPr>
        <p:txBody>
          <a:bodyPr wrap="none" anchor="ctr"/>
          <a:lstStyle/>
          <a:p>
            <a:pPr algn="ctr"/>
            <a:r>
              <a:rPr lang="pt-BR" altLang="pt-BR" sz="1800" b="1">
                <a:solidFill>
                  <a:srgbClr val="CCFFFF"/>
                </a:solidFill>
                <a:latin typeface="Tahoma" panose="020B0604030504040204" pitchFamily="34" charset="0"/>
              </a:rPr>
              <a:t>CRIMINAL - </a:t>
            </a:r>
            <a:r>
              <a:rPr lang="pt-BR" altLang="pt-BR" sz="1800">
                <a:solidFill>
                  <a:srgbClr val="CCFFFF"/>
                </a:solidFill>
                <a:latin typeface="Tahoma" panose="020B0604030504040204" pitchFamily="34" charset="0"/>
              </a:rPr>
              <a:t>PESSOAS</a:t>
            </a:r>
          </a:p>
        </p:txBody>
      </p:sp>
      <p:sp>
        <p:nvSpPr>
          <p:cNvPr id="86021" name="Rectangle 5"/>
          <p:cNvSpPr>
            <a:spLocks noChangeArrowheads="1"/>
          </p:cNvSpPr>
          <p:nvPr/>
        </p:nvSpPr>
        <p:spPr bwMode="auto">
          <a:xfrm>
            <a:off x="304800" y="2408238"/>
            <a:ext cx="8458200" cy="1325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eaLnBrk="0" hangingPunct="0"/>
            <a:endParaRPr lang="pt-BR" altLang="pt-BR" sz="2800" b="1">
              <a:solidFill>
                <a:srgbClr val="712000"/>
              </a:solidFill>
              <a:effectLst>
                <a:outerShdw blurRad="38100" dist="38100" dir="2700000" algn="tl">
                  <a:srgbClr val="000000"/>
                </a:outerShdw>
              </a:effectLst>
            </a:endParaRPr>
          </a:p>
        </p:txBody>
      </p:sp>
      <p:sp>
        <p:nvSpPr>
          <p:cNvPr id="86022" name="Rectangle 6"/>
          <p:cNvSpPr>
            <a:spLocks noChangeArrowheads="1"/>
          </p:cNvSpPr>
          <p:nvPr/>
        </p:nvSpPr>
        <p:spPr bwMode="auto">
          <a:xfrm>
            <a:off x="304800" y="3246438"/>
            <a:ext cx="8458200" cy="1325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eaLnBrk="0" hangingPunct="0"/>
            <a:endParaRPr lang="pt-BR" altLang="pt-BR" sz="2800" b="1">
              <a:solidFill>
                <a:srgbClr val="712000"/>
              </a:solidFill>
              <a:effectLst>
                <a:outerShdw blurRad="38100" dist="38100" dir="2700000" algn="tl">
                  <a:srgbClr val="000000"/>
                </a:outerShdw>
              </a:effectLst>
            </a:endParaRPr>
          </a:p>
        </p:txBody>
      </p:sp>
      <p:sp>
        <p:nvSpPr>
          <p:cNvPr id="86024" name="Rectangle 8"/>
          <p:cNvSpPr>
            <a:spLocks noChangeArrowheads="1"/>
          </p:cNvSpPr>
          <p:nvPr/>
        </p:nvSpPr>
        <p:spPr bwMode="auto">
          <a:xfrm>
            <a:off x="304800" y="3657600"/>
            <a:ext cx="84582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eaLnBrk="0" hangingPunct="0"/>
            <a:endParaRPr lang="pt-BR" altLang="pt-BR" sz="2800" b="1">
              <a:solidFill>
                <a:srgbClr val="712000"/>
              </a:solidFill>
              <a:effectLst>
                <a:outerShdw blurRad="38100" dist="38100" dir="2700000" algn="tl">
                  <a:srgbClr val="000000"/>
                </a:outerShdw>
              </a:effectL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 name="Rectangle 8"/>
          <p:cNvSpPr>
            <a:spLocks noGrp="1" noChangeArrowheads="1"/>
          </p:cNvSpPr>
          <p:nvPr>
            <p:ph type="title"/>
          </p:nvPr>
        </p:nvSpPr>
        <p:spPr>
          <a:xfrm>
            <a:off x="685800" y="1447800"/>
            <a:ext cx="7772400" cy="838200"/>
          </a:xfrm>
        </p:spPr>
        <p:txBody>
          <a:bodyPr/>
          <a:lstStyle/>
          <a:p>
            <a:r>
              <a:rPr lang="pt-BR" altLang="pt-BR"/>
              <a:t>Conceitos</a:t>
            </a:r>
          </a:p>
        </p:txBody>
      </p:sp>
      <p:sp>
        <p:nvSpPr>
          <p:cNvPr id="1033" name="Rectangle 9"/>
          <p:cNvSpPr>
            <a:spLocks noGrp="1" noChangeArrowheads="1"/>
          </p:cNvSpPr>
          <p:nvPr>
            <p:ph type="body" idx="1"/>
          </p:nvPr>
        </p:nvSpPr>
        <p:spPr>
          <a:xfrm>
            <a:off x="685800" y="2438400"/>
            <a:ext cx="7772400" cy="3886200"/>
          </a:xfrm>
        </p:spPr>
        <p:txBody>
          <a:bodyPr/>
          <a:lstStyle/>
          <a:p>
            <a:pPr>
              <a:lnSpc>
                <a:spcPct val="90000"/>
              </a:lnSpc>
            </a:pPr>
            <a:r>
              <a:rPr lang="pt-BR" altLang="pt-BR" sz="2000"/>
              <a:t>Qualquer pessoa poderá responder criminalmente, quando da ocorrência de um acidente do trabalho, caso seja comprovada:</a:t>
            </a:r>
          </a:p>
          <a:p>
            <a:pPr>
              <a:lnSpc>
                <a:spcPct val="90000"/>
              </a:lnSpc>
            </a:pPr>
            <a:endParaRPr lang="pt-BR" altLang="pt-BR" sz="2000"/>
          </a:p>
          <a:p>
            <a:pPr>
              <a:lnSpc>
                <a:spcPct val="90000"/>
              </a:lnSpc>
            </a:pPr>
            <a:endParaRPr lang="pt-BR" altLang="pt-BR" sz="2000"/>
          </a:p>
          <a:p>
            <a:pPr>
              <a:lnSpc>
                <a:spcPct val="90000"/>
              </a:lnSpc>
            </a:pPr>
            <a:endParaRPr lang="pt-BR" altLang="pt-BR" sz="2000"/>
          </a:p>
          <a:p>
            <a:pPr>
              <a:lnSpc>
                <a:spcPct val="90000"/>
              </a:lnSpc>
            </a:pPr>
            <a:r>
              <a:rPr lang="pt-BR" altLang="pt-BR" sz="2000"/>
              <a:t>É a atuação intempestiva e irrefletida.</a:t>
            </a:r>
            <a:br>
              <a:rPr lang="pt-BR" altLang="pt-BR" sz="2000"/>
            </a:br>
            <a:r>
              <a:rPr lang="pt-BR" altLang="pt-BR" sz="2000"/>
              <a:t>Consiste em praticar uma ação sem as necessárias precauções, isto é, agir com precipitação, inconsideração, ou inconstância.</a:t>
            </a:r>
          </a:p>
          <a:p>
            <a:pPr>
              <a:lnSpc>
                <a:spcPct val="90000"/>
              </a:lnSpc>
            </a:pPr>
            <a:endParaRPr lang="pt-BR" altLang="pt-BR" sz="2000"/>
          </a:p>
          <a:p>
            <a:pPr>
              <a:lnSpc>
                <a:spcPct val="90000"/>
              </a:lnSpc>
            </a:pPr>
            <a:r>
              <a:rPr lang="pt-BR" altLang="pt-BR" sz="2000" b="1"/>
              <a:t>Exemplos</a:t>
            </a:r>
          </a:p>
          <a:p>
            <a:pPr>
              <a:lnSpc>
                <a:spcPct val="90000"/>
              </a:lnSpc>
            </a:pPr>
            <a:r>
              <a:rPr lang="pt-BR" altLang="pt-BR" sz="2000"/>
              <a:t>Ultrapassar veículo pelo acostamento;</a:t>
            </a:r>
          </a:p>
          <a:p>
            <a:pPr>
              <a:lnSpc>
                <a:spcPct val="90000"/>
              </a:lnSpc>
            </a:pPr>
            <a:r>
              <a:rPr lang="pt-BR" altLang="pt-BR" sz="2000"/>
              <a:t>Não utilizar equipamentos de proteção individual;</a:t>
            </a:r>
          </a:p>
          <a:p>
            <a:pPr>
              <a:lnSpc>
                <a:spcPct val="90000"/>
              </a:lnSpc>
            </a:pPr>
            <a:r>
              <a:rPr lang="pt-BR" altLang="pt-BR" sz="2000"/>
              <a:t>Tocar ou aproximar-se em demasia de condutores energizados.</a:t>
            </a:r>
          </a:p>
        </p:txBody>
      </p:sp>
      <p:sp>
        <p:nvSpPr>
          <p:cNvPr id="1031" name="AutoShape 7"/>
          <p:cNvSpPr>
            <a:spLocks noChangeArrowheads="1"/>
          </p:cNvSpPr>
          <p:nvPr/>
        </p:nvSpPr>
        <p:spPr bwMode="auto">
          <a:xfrm>
            <a:off x="838200" y="3259138"/>
            <a:ext cx="2209800" cy="685800"/>
          </a:xfrm>
          <a:prstGeom prst="octagon">
            <a:avLst>
              <a:gd name="adj" fmla="val 29287"/>
            </a:avLst>
          </a:prstGeom>
          <a:solidFill>
            <a:srgbClr val="0099CC"/>
          </a:solidFill>
          <a:ln w="9525">
            <a:solidFill>
              <a:srgbClr val="006699"/>
            </a:solidFill>
            <a:miter lim="800000"/>
            <a:headEnd/>
            <a:tailEnd/>
          </a:ln>
          <a:effectLst>
            <a:outerShdw dist="56796" dir="6993903" algn="ctr" rotWithShape="0">
              <a:schemeClr val="bg2"/>
            </a:outerShdw>
          </a:effectLst>
        </p:spPr>
        <p:txBody>
          <a:bodyPr wrap="none" anchor="ctr"/>
          <a:lstStyle/>
          <a:p>
            <a:pPr algn="ctr"/>
            <a:r>
              <a:rPr lang="pt-BR" altLang="pt-BR" sz="1800" b="1">
                <a:solidFill>
                  <a:srgbClr val="CCFFFF"/>
                </a:solidFill>
                <a:latin typeface="Tahoma" panose="020B0604030504040204" pitchFamily="34" charset="0"/>
              </a:rPr>
              <a:t>IMPRUDÊNCIA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3" name="Rectangle 7"/>
          <p:cNvSpPr>
            <a:spLocks noGrp="1" noChangeArrowheads="1"/>
          </p:cNvSpPr>
          <p:nvPr>
            <p:ph type="title"/>
          </p:nvPr>
        </p:nvSpPr>
        <p:spPr/>
        <p:txBody>
          <a:bodyPr/>
          <a:lstStyle/>
          <a:p>
            <a:r>
              <a:rPr lang="pt-BR" altLang="pt-BR"/>
              <a:t>Conceitos</a:t>
            </a:r>
          </a:p>
        </p:txBody>
      </p:sp>
      <p:sp>
        <p:nvSpPr>
          <p:cNvPr id="91144" name="Rectangle 8"/>
          <p:cNvSpPr>
            <a:spLocks noGrp="1" noChangeArrowheads="1"/>
          </p:cNvSpPr>
          <p:nvPr>
            <p:ph type="body" idx="1"/>
          </p:nvPr>
        </p:nvSpPr>
        <p:spPr/>
        <p:txBody>
          <a:bodyPr/>
          <a:lstStyle/>
          <a:p>
            <a:endParaRPr lang="pt-BR" altLang="pt-BR"/>
          </a:p>
          <a:p>
            <a:endParaRPr lang="pt-BR" altLang="pt-BR"/>
          </a:p>
          <a:p>
            <a:endParaRPr lang="pt-BR" altLang="pt-BR"/>
          </a:p>
          <a:p>
            <a:r>
              <a:rPr lang="pt-BR" altLang="pt-BR" sz="2000"/>
              <a:t>É a omissão voluntária de diligência ou cuidado, falta ou demora no prevenir ou obstar um dano.</a:t>
            </a:r>
          </a:p>
          <a:p>
            <a:endParaRPr lang="pt-BR" altLang="pt-BR" sz="2000"/>
          </a:p>
          <a:p>
            <a:r>
              <a:rPr lang="pt-BR" altLang="pt-BR" sz="2000" b="1"/>
              <a:t>Exemplos</a:t>
            </a:r>
          </a:p>
          <a:p>
            <a:r>
              <a:rPr lang="pt-BR" altLang="pt-BR" sz="2000"/>
              <a:t>Permitir que seus empregados trabalhem sem EPI’S.</a:t>
            </a:r>
          </a:p>
          <a:p>
            <a:r>
              <a:rPr lang="pt-BR" altLang="pt-BR" sz="2000"/>
              <a:t>Deixar de alertar sobre a situação de risco ou não cobrar cuidados necessários de segurança.</a:t>
            </a:r>
          </a:p>
          <a:p>
            <a:endParaRPr lang="pt-BR" altLang="pt-BR" sz="2000"/>
          </a:p>
        </p:txBody>
      </p:sp>
      <p:sp>
        <p:nvSpPr>
          <p:cNvPr id="91142" name="AutoShape 6"/>
          <p:cNvSpPr>
            <a:spLocks noChangeArrowheads="1"/>
          </p:cNvSpPr>
          <p:nvPr/>
        </p:nvSpPr>
        <p:spPr bwMode="auto">
          <a:xfrm>
            <a:off x="762000" y="2743200"/>
            <a:ext cx="2209800" cy="685800"/>
          </a:xfrm>
          <a:prstGeom prst="octagon">
            <a:avLst>
              <a:gd name="adj" fmla="val 29287"/>
            </a:avLst>
          </a:prstGeom>
          <a:solidFill>
            <a:srgbClr val="0099CC"/>
          </a:solidFill>
          <a:ln w="9525">
            <a:solidFill>
              <a:srgbClr val="006699"/>
            </a:solidFill>
            <a:miter lim="800000"/>
            <a:headEnd/>
            <a:tailEnd/>
          </a:ln>
          <a:effectLst>
            <a:outerShdw dist="71842" dir="2700000" algn="ctr" rotWithShape="0">
              <a:schemeClr val="bg2"/>
            </a:outerShdw>
          </a:effectLst>
        </p:spPr>
        <p:txBody>
          <a:bodyPr wrap="none" anchor="ctr"/>
          <a:lstStyle/>
          <a:p>
            <a:pPr algn="ctr"/>
            <a:r>
              <a:rPr lang="pt-BR" altLang="pt-BR" sz="1800" b="1">
                <a:solidFill>
                  <a:srgbClr val="CCFFFF"/>
                </a:solidFill>
                <a:latin typeface="Tahoma" panose="020B0604030504040204" pitchFamily="34" charset="0"/>
              </a:rPr>
              <a:t>NEGLIGÊNCIA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7" name="Rectangle 7"/>
          <p:cNvSpPr>
            <a:spLocks noGrp="1" noChangeArrowheads="1"/>
          </p:cNvSpPr>
          <p:nvPr>
            <p:ph type="title"/>
          </p:nvPr>
        </p:nvSpPr>
        <p:spPr/>
        <p:txBody>
          <a:bodyPr/>
          <a:lstStyle/>
          <a:p>
            <a:r>
              <a:rPr lang="pt-BR" altLang="pt-BR"/>
              <a:t>Conceitos</a:t>
            </a:r>
          </a:p>
        </p:txBody>
      </p:sp>
      <p:sp>
        <p:nvSpPr>
          <p:cNvPr id="92168" name="Rectangle 8"/>
          <p:cNvSpPr>
            <a:spLocks noGrp="1" noChangeArrowheads="1"/>
          </p:cNvSpPr>
          <p:nvPr>
            <p:ph type="body" idx="1"/>
          </p:nvPr>
        </p:nvSpPr>
        <p:spPr/>
        <p:txBody>
          <a:bodyPr/>
          <a:lstStyle/>
          <a:p>
            <a:endParaRPr lang="pt-BR" altLang="pt-BR"/>
          </a:p>
          <a:p>
            <a:endParaRPr lang="pt-BR" altLang="pt-BR"/>
          </a:p>
          <a:p>
            <a:endParaRPr lang="pt-BR" altLang="pt-BR"/>
          </a:p>
          <a:p>
            <a:r>
              <a:rPr lang="pt-BR" altLang="pt-BR" sz="2000"/>
              <a:t>É a falta de especial, habilidade, ou experiência ou de previsão no exercício de determinada função, profissão, arte ou ofício.</a:t>
            </a:r>
          </a:p>
          <a:p>
            <a:endParaRPr lang="pt-BR" altLang="pt-BR" sz="2000"/>
          </a:p>
          <a:p>
            <a:r>
              <a:rPr lang="pt-BR" altLang="pt-BR" sz="2000" b="1"/>
              <a:t>Exemplos</a:t>
            </a:r>
          </a:p>
          <a:p>
            <a:r>
              <a:rPr lang="pt-BR" altLang="pt-BR" sz="2000"/>
              <a:t>Empregado não treinado ou não preparado para a tarefa que lhe foi desligada.</a:t>
            </a:r>
          </a:p>
          <a:p>
            <a:r>
              <a:rPr lang="pt-BR" altLang="pt-BR" sz="2000"/>
              <a:t>Empregado que desconhece detalhes técnicos de máquinas ou equipamentos.</a:t>
            </a:r>
          </a:p>
          <a:p>
            <a:endParaRPr lang="pt-BR" altLang="pt-BR" sz="2000"/>
          </a:p>
        </p:txBody>
      </p:sp>
      <p:sp>
        <p:nvSpPr>
          <p:cNvPr id="92166" name="AutoShape 6"/>
          <p:cNvSpPr>
            <a:spLocks noChangeArrowheads="1"/>
          </p:cNvSpPr>
          <p:nvPr/>
        </p:nvSpPr>
        <p:spPr bwMode="auto">
          <a:xfrm>
            <a:off x="762000" y="2743200"/>
            <a:ext cx="2209800" cy="685800"/>
          </a:xfrm>
          <a:prstGeom prst="octagon">
            <a:avLst>
              <a:gd name="adj" fmla="val 29287"/>
            </a:avLst>
          </a:prstGeom>
          <a:solidFill>
            <a:srgbClr val="0099CC"/>
          </a:solidFill>
          <a:ln w="9525">
            <a:solidFill>
              <a:srgbClr val="006699"/>
            </a:solidFill>
            <a:miter lim="800000"/>
            <a:headEnd/>
            <a:tailEnd/>
          </a:ln>
          <a:effectLst>
            <a:outerShdw dist="77251" dir="4832261" algn="ctr" rotWithShape="0">
              <a:schemeClr val="bg2"/>
            </a:outerShdw>
          </a:effectLst>
        </p:spPr>
        <p:txBody>
          <a:bodyPr wrap="none" anchor="ctr"/>
          <a:lstStyle/>
          <a:p>
            <a:pPr algn="ctr"/>
            <a:r>
              <a:rPr lang="pt-BR" altLang="pt-BR" sz="1800" b="1">
                <a:solidFill>
                  <a:srgbClr val="CCFFFF"/>
                </a:solidFill>
                <a:latin typeface="Tahoma" panose="020B0604030504040204" pitchFamily="34" charset="0"/>
              </a:rPr>
              <a:t>IMPERÍCIA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90" name="Rectangle 6"/>
          <p:cNvSpPr>
            <a:spLocks noGrp="1" noChangeArrowheads="1"/>
          </p:cNvSpPr>
          <p:nvPr>
            <p:ph type="title"/>
          </p:nvPr>
        </p:nvSpPr>
        <p:spPr/>
        <p:txBody>
          <a:bodyPr/>
          <a:lstStyle/>
          <a:p>
            <a:r>
              <a:rPr lang="pt-BR" altLang="pt-BR"/>
              <a:t>Modalidade de Culpa</a:t>
            </a:r>
          </a:p>
        </p:txBody>
      </p:sp>
      <p:sp>
        <p:nvSpPr>
          <p:cNvPr id="93191" name="Rectangle 7"/>
          <p:cNvSpPr>
            <a:spLocks noGrp="1" noChangeArrowheads="1"/>
          </p:cNvSpPr>
          <p:nvPr>
            <p:ph type="body" idx="1"/>
          </p:nvPr>
        </p:nvSpPr>
        <p:spPr/>
        <p:txBody>
          <a:bodyPr/>
          <a:lstStyle/>
          <a:p>
            <a:r>
              <a:rPr lang="pt-BR" altLang="pt-BR" sz="2000" b="1">
                <a:solidFill>
                  <a:srgbClr val="006699"/>
                </a:solidFill>
              </a:rPr>
              <a:t>“Culpa in eligendo”</a:t>
            </a:r>
          </a:p>
          <a:p>
            <a:r>
              <a:rPr lang="pt-BR" altLang="pt-BR" sz="2000"/>
              <a:t>Quando provém da falta de cautela ou providência na escolha do preposto ou pessoa a quem é confiada a execução de um ato, ou serviço.</a:t>
            </a:r>
            <a:br>
              <a:rPr lang="pt-BR" altLang="pt-BR" sz="2000"/>
            </a:br>
            <a:r>
              <a:rPr lang="pt-BR" altLang="pt-BR" sz="2000"/>
              <a:t>Caracteriza-se, exemplificativamente, o fato de admitir ou de manter o preponente a seu serviço, empregado não legalmente habilitado ou sem as aptidões requeridas, ou seja, a má escolha do representante ou preposto.</a:t>
            </a:r>
          </a:p>
          <a:p>
            <a:endParaRPr lang="pt-BR" altLang="pt-BR" sz="2000"/>
          </a:p>
          <a:p>
            <a:r>
              <a:rPr lang="pt-BR" altLang="pt-BR" sz="2000"/>
              <a:t>Responsabilidade do Diretor, pelo encarregado de obras que descumpre normas de segurança.</a:t>
            </a:r>
            <a:endParaRPr lang="pt-BR" altLang="pt-BR" sz="2000" b="1">
              <a:solidFill>
                <a:srgbClr val="00669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pt-BR" altLang="pt-BR"/>
              <a:t>Modalidade de Culpa</a:t>
            </a:r>
          </a:p>
        </p:txBody>
      </p:sp>
      <p:sp>
        <p:nvSpPr>
          <p:cNvPr id="104451" name="Rectangle 3"/>
          <p:cNvSpPr>
            <a:spLocks noGrp="1" noChangeArrowheads="1"/>
          </p:cNvSpPr>
          <p:nvPr>
            <p:ph type="body" idx="1"/>
          </p:nvPr>
        </p:nvSpPr>
        <p:spPr>
          <a:xfrm>
            <a:off x="685800" y="2895600"/>
            <a:ext cx="7772400" cy="3886200"/>
          </a:xfrm>
        </p:spPr>
        <p:txBody>
          <a:bodyPr/>
          <a:lstStyle/>
          <a:p>
            <a:r>
              <a:rPr lang="pt-BR" altLang="pt-BR" sz="2000" b="1">
                <a:solidFill>
                  <a:srgbClr val="006699"/>
                </a:solidFill>
              </a:rPr>
              <a:t>“Culpa in vigilando”</a:t>
            </a:r>
          </a:p>
          <a:p>
            <a:r>
              <a:rPr lang="pt-BR" altLang="pt-BR" sz="2000"/>
              <a:t>É a que origina da inexistência de fiscalização por parte do patrão sobre a atividade de seus empregados ou prepostos.</a:t>
            </a:r>
          </a:p>
          <a:p>
            <a:endParaRPr lang="pt-BR" altLang="pt-BR" sz="2000"/>
          </a:p>
          <a:p>
            <a:r>
              <a:rPr lang="pt-BR" altLang="pt-BR" sz="2000"/>
              <a:t>Responsabilidade do encarregado de obras, por acidente causado por seu funcionário, por falta de fiscalização.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6" name="Rectangle 8"/>
          <p:cNvSpPr>
            <a:spLocks noGrp="1" noChangeArrowheads="1"/>
          </p:cNvSpPr>
          <p:nvPr>
            <p:ph type="title"/>
          </p:nvPr>
        </p:nvSpPr>
        <p:spPr/>
        <p:txBody>
          <a:bodyPr/>
          <a:lstStyle/>
          <a:p>
            <a:r>
              <a:rPr lang="pt-BR" altLang="pt-BR"/>
              <a:t>Modalidade de Culpa</a:t>
            </a:r>
          </a:p>
        </p:txBody>
      </p:sp>
      <p:sp>
        <p:nvSpPr>
          <p:cNvPr id="94217" name="Rectangle 9"/>
          <p:cNvSpPr>
            <a:spLocks noGrp="1" noChangeArrowheads="1"/>
          </p:cNvSpPr>
          <p:nvPr>
            <p:ph type="body" idx="1"/>
          </p:nvPr>
        </p:nvSpPr>
        <p:spPr/>
        <p:txBody>
          <a:bodyPr/>
          <a:lstStyle/>
          <a:p>
            <a:r>
              <a:rPr lang="pt-BR" altLang="pt-BR" sz="2000" b="1">
                <a:solidFill>
                  <a:srgbClr val="006699"/>
                </a:solidFill>
              </a:rPr>
              <a:t>“Culpa in omitendo”</a:t>
            </a:r>
          </a:p>
          <a:p>
            <a:r>
              <a:rPr lang="pt-BR" altLang="pt-BR" sz="2000"/>
              <a:t>É a que tem como fonte de abstenção, a negligência.</a:t>
            </a:r>
            <a:br>
              <a:rPr lang="pt-BR" altLang="pt-BR" sz="2000"/>
            </a:br>
            <a:r>
              <a:rPr lang="pt-BR" altLang="pt-BR" sz="2000"/>
              <a:t>Responsabilidade decorrente da não proibição do início da construção de uma valeta, não havendo materiais para escoramento.</a:t>
            </a:r>
          </a:p>
          <a:p>
            <a:endParaRPr lang="pt-BR" altLang="pt-BR" sz="2000"/>
          </a:p>
          <a:p>
            <a:r>
              <a:rPr lang="pt-BR" altLang="pt-BR" sz="2000" b="1">
                <a:solidFill>
                  <a:srgbClr val="006699"/>
                </a:solidFill>
              </a:rPr>
              <a:t>“Culpa in custodiendo”</a:t>
            </a:r>
          </a:p>
          <a:p>
            <a:r>
              <a:rPr lang="pt-BR" altLang="pt-BR" sz="2000"/>
              <a:t>É a que emana da falta de cautela ou atenção do agente a respeito de algo que encontra-se sob a sua responsabilidade e cuidados.</a:t>
            </a:r>
            <a:br>
              <a:rPr lang="pt-BR" altLang="pt-BR" sz="2000"/>
            </a:br>
            <a:r>
              <a:rPr lang="pt-BR" altLang="pt-BR" sz="2000"/>
              <a:t>Responsabilidade civil do proprietário de um veículo que o empresta para um terceiro, que causa um acidente.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pt-BR" altLang="pt-BR"/>
              <a:t>Modalidade de Culpa</a:t>
            </a:r>
          </a:p>
        </p:txBody>
      </p:sp>
      <p:sp>
        <p:nvSpPr>
          <p:cNvPr id="105475" name="Rectangle 3"/>
          <p:cNvSpPr>
            <a:spLocks noGrp="1" noChangeArrowheads="1"/>
          </p:cNvSpPr>
          <p:nvPr>
            <p:ph type="body" idx="1"/>
          </p:nvPr>
        </p:nvSpPr>
        <p:spPr/>
        <p:txBody>
          <a:bodyPr/>
          <a:lstStyle/>
          <a:p>
            <a:pPr>
              <a:lnSpc>
                <a:spcPct val="90000"/>
              </a:lnSpc>
            </a:pPr>
            <a:r>
              <a:rPr lang="pt-BR" altLang="pt-BR" b="1">
                <a:solidFill>
                  <a:srgbClr val="006699"/>
                </a:solidFill>
              </a:rPr>
              <a:t>“Culpa in comitendo”</a:t>
            </a:r>
          </a:p>
          <a:p>
            <a:pPr>
              <a:lnSpc>
                <a:spcPct val="90000"/>
              </a:lnSpc>
            </a:pPr>
            <a:r>
              <a:rPr lang="pt-BR" altLang="pt-BR"/>
              <a:t>É a que o sujeito pratica ato positivo (doloso ou culposo), na forma de imprudência.</a:t>
            </a:r>
          </a:p>
          <a:p>
            <a:pPr>
              <a:lnSpc>
                <a:spcPct val="90000"/>
              </a:lnSpc>
            </a:pPr>
            <a:endParaRPr lang="pt-BR" altLang="pt-BR"/>
          </a:p>
          <a:p>
            <a:pPr>
              <a:lnSpc>
                <a:spcPct val="90000"/>
              </a:lnSpc>
            </a:pPr>
            <a:r>
              <a:rPr lang="pt-BR" altLang="pt-BR"/>
              <a:t>Excesso de velocidade.</a:t>
            </a:r>
          </a:p>
          <a:p>
            <a:pPr>
              <a:lnSpc>
                <a:spcPct val="90000"/>
              </a:lnSpc>
            </a:pPr>
            <a:endParaRPr lang="pt-BR" altLang="pt-BR"/>
          </a:p>
          <a:p>
            <a:pPr>
              <a:lnSpc>
                <a:spcPct val="90000"/>
              </a:lnSpc>
            </a:pPr>
            <a:r>
              <a:rPr lang="pt-BR" altLang="pt-BR"/>
              <a:t>O ato ilícito ou omissão pode ser causado por ação ou omissão.</a:t>
            </a:r>
          </a:p>
          <a:p>
            <a:pPr>
              <a:lnSpc>
                <a:spcPct val="90000"/>
              </a:lnSpc>
            </a:pPr>
            <a:endParaRPr lang="pt-BR" altLang="pt-BR"/>
          </a:p>
          <a:p>
            <a:pPr>
              <a:lnSpc>
                <a:spcPct val="90000"/>
              </a:lnSpc>
            </a:pPr>
            <a:r>
              <a:rPr lang="pt-BR" altLang="pt-BR"/>
              <a:t>Se a ação ou omissão for voluntária, intencional, o ato ilícito praticado é </a:t>
            </a:r>
            <a:r>
              <a:rPr lang="pt-BR" altLang="pt-BR" b="1"/>
              <a:t>DOLOSO.</a:t>
            </a:r>
          </a:p>
          <a:p>
            <a:pPr>
              <a:lnSpc>
                <a:spcPct val="90000"/>
              </a:lnSpc>
            </a:pPr>
            <a:endParaRPr lang="pt-BR" altLang="pt-BR" b="1"/>
          </a:p>
          <a:p>
            <a:pPr>
              <a:lnSpc>
                <a:spcPct val="90000"/>
              </a:lnSpc>
            </a:pPr>
            <a:r>
              <a:rPr lang="pt-BR" altLang="pt-BR"/>
              <a:t>Se a ação ou omissão for involuntária, mas o dano ocorre, o ato ilícito é </a:t>
            </a:r>
            <a:r>
              <a:rPr lang="pt-BR" altLang="pt-BR" b="1"/>
              <a:t>CULPOSO.</a:t>
            </a:r>
            <a:br>
              <a:rPr lang="pt-BR" altLang="pt-BR" b="1"/>
            </a:br>
            <a:endParaRPr lang="pt-BR" altLang="pt-BR" b="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11" name="Rectangle 7"/>
          <p:cNvSpPr>
            <a:spLocks noGrp="1" noChangeArrowheads="1"/>
          </p:cNvSpPr>
          <p:nvPr>
            <p:ph type="title"/>
          </p:nvPr>
        </p:nvSpPr>
        <p:spPr/>
        <p:txBody>
          <a:bodyPr/>
          <a:lstStyle/>
          <a:p>
            <a:r>
              <a:rPr lang="pt-BR" altLang="pt-BR"/>
              <a:t>Jurisprudência dos tribunais</a:t>
            </a:r>
          </a:p>
        </p:txBody>
      </p:sp>
      <p:sp>
        <p:nvSpPr>
          <p:cNvPr id="98312" name="Rectangle 8"/>
          <p:cNvSpPr>
            <a:spLocks noGrp="1" noChangeArrowheads="1"/>
          </p:cNvSpPr>
          <p:nvPr>
            <p:ph type="body" idx="1"/>
          </p:nvPr>
        </p:nvSpPr>
        <p:spPr/>
        <p:txBody>
          <a:bodyPr/>
          <a:lstStyle/>
          <a:p>
            <a:pPr>
              <a:lnSpc>
                <a:spcPct val="90000"/>
              </a:lnSpc>
            </a:pPr>
            <a:r>
              <a:rPr lang="pt-BR" altLang="pt-BR" sz="2000" b="1">
                <a:solidFill>
                  <a:srgbClr val="006699"/>
                </a:solidFill>
              </a:rPr>
              <a:t>Homicídio e Lesões Culposas:</a:t>
            </a:r>
          </a:p>
          <a:p>
            <a:pPr>
              <a:lnSpc>
                <a:spcPct val="90000"/>
              </a:lnSpc>
            </a:pPr>
            <a:r>
              <a:rPr lang="pt-BR" altLang="pt-BR" sz="2000"/>
              <a:t>Erguimento de postes de ferro junto à rede elétrica de alta tensão – Encarregado de serviço, eletricista, que superintende os trabalhos sem solicitar o desligamento da corrente – Eletrocussão de um operário e lesões em outros – Responsabilidade Penal reconhecida.</a:t>
            </a:r>
          </a:p>
          <a:p>
            <a:pPr>
              <a:lnSpc>
                <a:spcPct val="90000"/>
              </a:lnSpc>
            </a:pPr>
            <a:endParaRPr lang="pt-BR" altLang="pt-BR" sz="2000"/>
          </a:p>
          <a:p>
            <a:pPr>
              <a:lnSpc>
                <a:spcPct val="90000"/>
              </a:lnSpc>
            </a:pPr>
            <a:r>
              <a:rPr lang="pt-BR" altLang="pt-BR" sz="2000"/>
              <a:t>Perfeitamente previsível a um eletricista habilitado e chefe do serviço de erguimento de postes, a possibilidade de sofrerem os operários efeitos de descarga, pelo contato de uma das hastes com um condutor elétrico. Responde, assim, pelas conseqüências de acidente de tal natureza, quando negligencie pedido de desligamento da força durante os trabalhos (JUTACRIM 56/350).</a:t>
            </a:r>
          </a:p>
          <a:p>
            <a:pPr>
              <a:lnSpc>
                <a:spcPct val="90000"/>
              </a:lnSpc>
            </a:pPr>
            <a:endParaRPr lang="pt-BR" altLang="pt-BR"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0" name="Rectangle 4"/>
          <p:cNvSpPr>
            <a:spLocks noGrp="1" noChangeArrowheads="1"/>
          </p:cNvSpPr>
          <p:nvPr>
            <p:ph type="title"/>
          </p:nvPr>
        </p:nvSpPr>
        <p:spPr/>
        <p:txBody>
          <a:bodyPr/>
          <a:lstStyle/>
          <a:p>
            <a:r>
              <a:rPr lang="pt-BR" altLang="pt-BR"/>
              <a:t>Jurisprudência dos tribunais</a:t>
            </a:r>
          </a:p>
        </p:txBody>
      </p:sp>
      <p:sp>
        <p:nvSpPr>
          <p:cNvPr id="106501" name="Rectangle 5"/>
          <p:cNvSpPr>
            <a:spLocks noGrp="1" noChangeArrowheads="1"/>
          </p:cNvSpPr>
          <p:nvPr>
            <p:ph type="body" idx="1"/>
          </p:nvPr>
        </p:nvSpPr>
        <p:spPr/>
        <p:txBody>
          <a:bodyPr/>
          <a:lstStyle/>
          <a:p>
            <a:r>
              <a:rPr lang="pt-BR" altLang="pt-BR" sz="2000" b="1">
                <a:solidFill>
                  <a:srgbClr val="006699"/>
                </a:solidFill>
              </a:rPr>
              <a:t>Homicídio Culposo:</a:t>
            </a:r>
          </a:p>
          <a:p>
            <a:r>
              <a:rPr lang="pt-BR" altLang="pt-BR" sz="2000"/>
              <a:t>Encarregado que manda a vítima trabalhar em trecho de linha de alta tensão, sem observar o desligamento da corrente elétrica – Negligência configurada – Condenação Mantida.</a:t>
            </a:r>
          </a:p>
          <a:p>
            <a:endParaRPr lang="pt-BR" altLang="pt-BR" sz="2000"/>
          </a:p>
          <a:p>
            <a:r>
              <a:rPr lang="pt-BR" altLang="pt-BR" sz="2000"/>
              <a:t>Considera-se negligência o fato de ter o acusado, encarregado de turma de reparação de rede de energia elétrica, mandando a vítima trabalhar em certo trecho da linha de alta tensão, sem obter certeza e confirmação de que a corrente elétrica tivesse sido cortada. (JTACrSP – LEX 89/270).</a:t>
            </a:r>
          </a:p>
          <a:p>
            <a:endParaRPr lang="pt-BR" altLang="pt-BR" sz="2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9" name="Rectangle 7"/>
          <p:cNvSpPr>
            <a:spLocks noGrp="1" noChangeArrowheads="1"/>
          </p:cNvSpPr>
          <p:nvPr>
            <p:ph type="title"/>
          </p:nvPr>
        </p:nvSpPr>
        <p:spPr/>
        <p:txBody>
          <a:bodyPr/>
          <a:lstStyle/>
          <a:p>
            <a:r>
              <a:rPr lang="pt-BR" altLang="pt-BR"/>
              <a:t>Perigo para a vida ou saúde de outrem</a:t>
            </a:r>
          </a:p>
        </p:txBody>
      </p:sp>
      <p:sp>
        <p:nvSpPr>
          <p:cNvPr id="100360" name="Rectangle 8"/>
          <p:cNvSpPr>
            <a:spLocks noGrp="1" noChangeArrowheads="1"/>
          </p:cNvSpPr>
          <p:nvPr>
            <p:ph type="body" idx="1"/>
          </p:nvPr>
        </p:nvSpPr>
        <p:spPr/>
        <p:txBody>
          <a:bodyPr/>
          <a:lstStyle/>
          <a:p>
            <a:r>
              <a:rPr lang="pt-BR" altLang="pt-BR" sz="2000"/>
              <a:t>Transporte de trabalhadores sentados nas laterais da carroceria de caminhão, sem as mínimas condições de segurança – Dolo de perigo caracterizado – Condenação mantida – inteligência do art. 132 do Código Penal.</a:t>
            </a:r>
          </a:p>
          <a:p>
            <a:endParaRPr lang="pt-BR" altLang="pt-BR" sz="2000"/>
          </a:p>
          <a:p>
            <a:r>
              <a:rPr lang="pt-BR" altLang="pt-BR" sz="2000"/>
              <a:t>Procede com evidente dolo de perigo, ainda que eventual, o motorista profissional nesse mister, que transporta pessoas sentadas nas laterais da carroceria do caminhão que dirige, sem as mínimas condições de segurança, exteriorizando na sua conduta a aceitação consciente do risco de expor a perigo a vida ou a saúde das pessoas assim perigosamente transportadas (TACrimSP – 695/330).</a:t>
            </a:r>
          </a:p>
          <a:p>
            <a:endParaRPr lang="pt-BR" altLang="pt-BR" sz="2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50" name="Rectangle 10"/>
          <p:cNvSpPr>
            <a:spLocks noGrp="1" noChangeArrowheads="1"/>
          </p:cNvSpPr>
          <p:nvPr>
            <p:ph type="title"/>
          </p:nvPr>
        </p:nvSpPr>
        <p:spPr/>
        <p:txBody>
          <a:bodyPr/>
          <a:lstStyle/>
          <a:p>
            <a:r>
              <a:rPr lang="pt-BR" altLang="pt-BR"/>
              <a:t>Responsabilidade Penal</a:t>
            </a:r>
          </a:p>
        </p:txBody>
      </p:sp>
      <p:sp>
        <p:nvSpPr>
          <p:cNvPr id="87051" name="Rectangle 11"/>
          <p:cNvSpPr>
            <a:spLocks noGrp="1" noChangeArrowheads="1"/>
          </p:cNvSpPr>
          <p:nvPr>
            <p:ph type="body" idx="1"/>
          </p:nvPr>
        </p:nvSpPr>
        <p:spPr/>
        <p:txBody>
          <a:bodyPr/>
          <a:lstStyle/>
          <a:p>
            <a:r>
              <a:rPr lang="pt-BR" altLang="pt-BR" sz="2000"/>
              <a:t>Homicídio culposo decorrente de acidente do trabalho – Conduta omissiva do empregador – Falta de fornecimento de equipamentos de proteção individual e fiscalização de seu uso obrigatório – Evento danoso perfeitamente previsível na atividade – Culpa caracterizada – condenação mantida.</a:t>
            </a:r>
          </a:p>
          <a:p>
            <a:endParaRPr lang="pt-BR" altLang="pt-BR" sz="2000"/>
          </a:p>
          <a:p>
            <a:r>
              <a:rPr lang="pt-BR" altLang="pt-BR" sz="2000"/>
              <a:t>Em trabalhos de substituição de postes de cimento de rede elétrica de baixa tensão, havendo risco previsível de que eles possam tocar em fios de alta tensão, é omissão culposa o não se desligar tais fios de alta tensão, que, por isso e com o contato, venham a provocar a morte de um dos operários por eletroplessão.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74" name="Rectangle 10"/>
          <p:cNvSpPr>
            <a:spLocks noGrp="1" noChangeArrowheads="1"/>
          </p:cNvSpPr>
          <p:nvPr>
            <p:ph type="body" idx="1"/>
          </p:nvPr>
        </p:nvSpPr>
        <p:spPr>
          <a:xfrm>
            <a:off x="685800" y="2667000"/>
            <a:ext cx="7772400" cy="3352800"/>
          </a:xfrm>
        </p:spPr>
        <p:txBody>
          <a:bodyPr/>
          <a:lstStyle/>
          <a:p>
            <a:pPr>
              <a:lnSpc>
                <a:spcPct val="90000"/>
              </a:lnSpc>
            </a:pPr>
            <a:endParaRPr lang="pt-BR" altLang="pt-BR" sz="2000"/>
          </a:p>
          <a:p>
            <a:pPr>
              <a:lnSpc>
                <a:spcPct val="90000"/>
              </a:lnSpc>
            </a:pPr>
            <a:r>
              <a:rPr lang="pt-BR" altLang="pt-BR" sz="2000"/>
              <a:t>Equipamentos de proteção individual. Omissão em seu fornecimento e falta de fiscalização em seu uso obrigatório. Cabem à empresa e, por sua despersonalização, às pessoas físicas que a representem no exercício das relações laborais o fornecimento de EPI’s adequados e próprios e a fiscalização de seu uso obrigatório pelos empregados.</a:t>
            </a:r>
          </a:p>
          <a:p>
            <a:pPr>
              <a:lnSpc>
                <a:spcPct val="90000"/>
              </a:lnSpc>
            </a:pPr>
            <a:endParaRPr lang="pt-BR" altLang="pt-BR" sz="2000"/>
          </a:p>
          <a:p>
            <a:pPr>
              <a:lnSpc>
                <a:spcPct val="90000"/>
              </a:lnSpc>
            </a:pPr>
            <a:r>
              <a:rPr lang="pt-BR" altLang="pt-BR" sz="2000"/>
              <a:t>A omissão de qualquer destas obrigações, somada à previsibilidade do evento danoso, configura a culpa e faz com que os agentes respondam pelo resultado, em sua forma culposa (RT 631/344 – 3º Câmara Criminal do Tribunal de Alçada Criminal do Rio Grande do Sul).</a:t>
            </a:r>
          </a:p>
        </p:txBody>
      </p:sp>
      <p:sp>
        <p:nvSpPr>
          <p:cNvPr id="88075" name="Rectangle 11"/>
          <p:cNvSpPr>
            <a:spLocks noGrp="1" noChangeArrowheads="1"/>
          </p:cNvSpPr>
          <p:nvPr>
            <p:ph type="title"/>
          </p:nvPr>
        </p:nvSpPr>
        <p:spPr>
          <a:noFill/>
          <a:ln/>
        </p:spPr>
        <p:txBody>
          <a:bodyPr/>
          <a:lstStyle/>
          <a:p>
            <a:r>
              <a:rPr lang="pt-BR" altLang="pt-BR"/>
              <a:t>Responsabilidade Penal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9" name="Rectangle 11"/>
          <p:cNvSpPr>
            <a:spLocks noGrp="1" noChangeArrowheads="1"/>
          </p:cNvSpPr>
          <p:nvPr>
            <p:ph type="body" idx="1"/>
          </p:nvPr>
        </p:nvSpPr>
        <p:spPr>
          <a:xfrm>
            <a:off x="685800" y="2819400"/>
            <a:ext cx="7924800" cy="1752600"/>
          </a:xfrm>
        </p:spPr>
        <p:txBody>
          <a:bodyPr/>
          <a:lstStyle/>
          <a:p>
            <a:pPr>
              <a:lnSpc>
                <a:spcPct val="90000"/>
              </a:lnSpc>
            </a:pPr>
            <a:endParaRPr lang="pt-BR" altLang="pt-BR" sz="1600" b="1"/>
          </a:p>
          <a:p>
            <a:pPr algn="ctr">
              <a:lnSpc>
                <a:spcPct val="90000"/>
              </a:lnSpc>
            </a:pPr>
            <a:r>
              <a:rPr lang="pt-BR" altLang="pt-BR" sz="3200" b="1"/>
              <a:t>O SÁBIO ANTEVÊ O PERIGO E PROTEGE-SE, MAS OS IMPRUDENTES PASSAM E SOFREM AS CONSEQUÊNCIAS”</a:t>
            </a:r>
          </a:p>
          <a:p>
            <a:pPr algn="ctr">
              <a:lnSpc>
                <a:spcPct val="90000"/>
              </a:lnSpc>
            </a:pPr>
            <a:endParaRPr lang="pt-BR" altLang="pt-BR" sz="2800" b="1"/>
          </a:p>
          <a:p>
            <a:pPr algn="r">
              <a:lnSpc>
                <a:spcPct val="90000"/>
              </a:lnSpc>
            </a:pPr>
            <a:r>
              <a:rPr lang="pt-BR" altLang="pt-BR" sz="1600" b="1"/>
              <a:t>Provérbios 2,2:3</a:t>
            </a:r>
          </a:p>
        </p:txBody>
      </p:sp>
    </p:spTree>
  </p:cSld>
  <p:clrMapOvr>
    <a:masterClrMapping/>
  </p:clrMapOvr>
</p:sld>
</file>

<file path=ppt/theme/theme1.xml><?xml version="1.0" encoding="utf-8"?>
<a:theme xmlns:a="http://schemas.openxmlformats.org/drawingml/2006/main" name="MODELO">
  <a:themeElements>
    <a:clrScheme name="MODELO 2">
      <a:dk1>
        <a:srgbClr val="000000"/>
      </a:dk1>
      <a:lt1>
        <a:srgbClr val="609494"/>
      </a:lt1>
      <a:dk2>
        <a:srgbClr val="FFC545"/>
      </a:dk2>
      <a:lt2>
        <a:srgbClr val="476F6E"/>
      </a:lt2>
      <a:accent1>
        <a:srgbClr val="FFFFCC"/>
      </a:accent1>
      <a:accent2>
        <a:srgbClr val="FF9900"/>
      </a:accent2>
      <a:accent3>
        <a:srgbClr val="B6C8C8"/>
      </a:accent3>
      <a:accent4>
        <a:srgbClr val="000000"/>
      </a:accent4>
      <a:accent5>
        <a:srgbClr val="FFFFE2"/>
      </a:accent5>
      <a:accent6>
        <a:srgbClr val="E78A00"/>
      </a:accent6>
      <a:hlink>
        <a:srgbClr val="3E7D7C"/>
      </a:hlink>
      <a:folHlink>
        <a:srgbClr val="99CCCC"/>
      </a:folHlink>
    </a:clrScheme>
    <a:fontScheme name="MODELO">
      <a:majorFont>
        <a:latin typeface="Arial Black"/>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pt-BR" altLang="pt-BR"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pt-BR" altLang="pt-BR"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ODELO 1">
        <a:dk1>
          <a:srgbClr val="264D4C"/>
        </a:dk1>
        <a:lt1>
          <a:srgbClr val="F8F8F8"/>
        </a:lt1>
        <a:dk2>
          <a:srgbClr val="336666"/>
        </a:dk2>
        <a:lt2>
          <a:srgbClr val="FFFFCC"/>
        </a:lt2>
        <a:accent1>
          <a:srgbClr val="C0C0C0"/>
        </a:accent1>
        <a:accent2>
          <a:srgbClr val="FF9900"/>
        </a:accent2>
        <a:accent3>
          <a:srgbClr val="ADB8B8"/>
        </a:accent3>
        <a:accent4>
          <a:srgbClr val="D4D4D4"/>
        </a:accent4>
        <a:accent5>
          <a:srgbClr val="DCDCDC"/>
        </a:accent5>
        <a:accent6>
          <a:srgbClr val="E78A00"/>
        </a:accent6>
        <a:hlink>
          <a:srgbClr val="FFCC00"/>
        </a:hlink>
        <a:folHlink>
          <a:srgbClr val="99CCCC"/>
        </a:folHlink>
      </a:clrScheme>
      <a:clrMap bg1="dk2" tx1="lt1" bg2="dk1" tx2="lt2" accent1="accent1" accent2="accent2" accent3="accent3" accent4="accent4" accent5="accent5" accent6="accent6" hlink="hlink" folHlink="folHlink"/>
    </a:extraClrScheme>
    <a:extraClrScheme>
      <a:clrScheme name="MODELO 2">
        <a:dk1>
          <a:srgbClr val="000000"/>
        </a:dk1>
        <a:lt1>
          <a:srgbClr val="609494"/>
        </a:lt1>
        <a:dk2>
          <a:srgbClr val="FFC545"/>
        </a:dk2>
        <a:lt2>
          <a:srgbClr val="476F6E"/>
        </a:lt2>
        <a:accent1>
          <a:srgbClr val="FFFFCC"/>
        </a:accent1>
        <a:accent2>
          <a:srgbClr val="FF9900"/>
        </a:accent2>
        <a:accent3>
          <a:srgbClr val="B6C8C8"/>
        </a:accent3>
        <a:accent4>
          <a:srgbClr val="000000"/>
        </a:accent4>
        <a:accent5>
          <a:srgbClr val="FFFFE2"/>
        </a:accent5>
        <a:accent6>
          <a:srgbClr val="E78A00"/>
        </a:accent6>
        <a:hlink>
          <a:srgbClr val="3E7D7C"/>
        </a:hlink>
        <a:folHlink>
          <a:srgbClr val="99CCCC"/>
        </a:folHlink>
      </a:clrScheme>
      <a:clrMap bg1="lt1" tx1="dk1" bg2="lt2" tx2="dk2" accent1="accent1" accent2="accent2" accent3="accent3" accent4="accent4" accent5="accent5" accent6="accent6" hlink="hlink" folHlink="folHlink"/>
    </a:extraClrScheme>
    <a:extraClrScheme>
      <a:clrScheme name="MODELO 3">
        <a:dk1>
          <a:srgbClr val="000000"/>
        </a:dk1>
        <a:lt1>
          <a:srgbClr val="FFFFFF"/>
        </a:lt1>
        <a:dk2>
          <a:srgbClr val="000000"/>
        </a:dk2>
        <a:lt2>
          <a:srgbClr val="B2B2B2"/>
        </a:lt2>
        <a:accent1>
          <a:srgbClr val="C0C0C0"/>
        </a:accent1>
        <a:accent2>
          <a:srgbClr val="F8F8F8"/>
        </a:accent2>
        <a:accent3>
          <a:srgbClr val="FFFFFF"/>
        </a:accent3>
        <a:accent4>
          <a:srgbClr val="000000"/>
        </a:accent4>
        <a:accent5>
          <a:srgbClr val="DCDCDC"/>
        </a:accent5>
        <a:accent6>
          <a:srgbClr val="E1E1E1"/>
        </a:accent6>
        <a:hlink>
          <a:srgbClr val="4D4D4D"/>
        </a:hlink>
        <a:folHlink>
          <a:srgbClr val="DDDDD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G:\NR-10\Apresentações\MODELO.ppt</Template>
  <TotalTime>518</TotalTime>
  <Words>1451</Words>
  <Application>Microsoft Office PowerPoint</Application>
  <PresentationFormat>Apresentação na tela (4:3)</PresentationFormat>
  <Paragraphs>174</Paragraphs>
  <Slides>27</Slides>
  <Notes>0</Notes>
  <HiddenSlides>0</HiddenSlides>
  <MMClips>0</MMClips>
  <ScaleCrop>false</ScaleCrop>
  <HeadingPairs>
    <vt:vector size="8" baseType="variant">
      <vt:variant>
        <vt:lpstr>Fontes usadas</vt:lpstr>
      </vt:variant>
      <vt:variant>
        <vt:i4>6</vt:i4>
      </vt:variant>
      <vt:variant>
        <vt:lpstr>Tema</vt:lpstr>
      </vt:variant>
      <vt:variant>
        <vt:i4>1</vt:i4>
      </vt:variant>
      <vt:variant>
        <vt:lpstr>Servidores OLE inseridos</vt:lpstr>
      </vt:variant>
      <vt:variant>
        <vt:i4>1</vt:i4>
      </vt:variant>
      <vt:variant>
        <vt:lpstr>Títulos de slides</vt:lpstr>
      </vt:variant>
      <vt:variant>
        <vt:i4>27</vt:i4>
      </vt:variant>
    </vt:vector>
  </HeadingPairs>
  <TitlesOfParts>
    <vt:vector size="35" baseType="lpstr">
      <vt:lpstr>Times New Roman</vt:lpstr>
      <vt:lpstr>Arial Black</vt:lpstr>
      <vt:lpstr>Arial Narrow</vt:lpstr>
      <vt:lpstr>Tahoma</vt:lpstr>
      <vt:lpstr>Wingdings</vt:lpstr>
      <vt:lpstr>Arial</vt:lpstr>
      <vt:lpstr>MODELO</vt:lpstr>
      <vt:lpstr>Clip</vt:lpstr>
      <vt:lpstr>Acidentes de origem elétrica</vt:lpstr>
      <vt:lpstr>Acidente do trabalho</vt:lpstr>
      <vt:lpstr>Estudos dos acidentes e incidentes</vt:lpstr>
      <vt:lpstr>Modelo causal de perdas</vt:lpstr>
      <vt:lpstr>Modelo causal de perdas</vt:lpstr>
      <vt:lpstr>Modelo causal de perdas</vt:lpstr>
      <vt:lpstr>Modelo causal de perdas</vt:lpstr>
      <vt:lpstr>Modelo causal de perdas</vt:lpstr>
      <vt:lpstr>Modelo causal de perdas</vt:lpstr>
      <vt:lpstr>O iceberg dos custos produzidos pelos acidentes</vt:lpstr>
      <vt:lpstr>O iceberg dos custos produzidos pelos acidentes</vt:lpstr>
      <vt:lpstr>O iceberg dos custos produzidos pelos acidentes</vt:lpstr>
      <vt:lpstr>CAT</vt:lpstr>
      <vt:lpstr>Responsabilidade civil e criminal nos acidentes do trabalho</vt:lpstr>
      <vt:lpstr>Conceitos</vt:lpstr>
      <vt:lpstr>Conceitos</vt:lpstr>
      <vt:lpstr>Conceitos</vt:lpstr>
      <vt:lpstr>Modalidade de Culpa</vt:lpstr>
      <vt:lpstr>Modalidade de Culpa</vt:lpstr>
      <vt:lpstr>Modalidade de Culpa</vt:lpstr>
      <vt:lpstr>Modalidade de Culpa</vt:lpstr>
      <vt:lpstr>Jurisprudência dos tribunais</vt:lpstr>
      <vt:lpstr>Jurisprudência dos tribunais</vt:lpstr>
      <vt:lpstr>Perigo para a vida ou saúde de outrem</vt:lpstr>
      <vt:lpstr>Responsabilidade Penal</vt:lpstr>
      <vt:lpstr>Responsabilidade Penal</vt:lpstr>
      <vt:lpstr>Apresentação do PowerPoint</vt:lpstr>
    </vt:vector>
  </TitlesOfParts>
  <Company>AES Eletropaulo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Michel Lucas de Oliveira</dc:creator>
  <cp:lastModifiedBy>Usuário do Windows</cp:lastModifiedBy>
  <cp:revision>97</cp:revision>
  <dcterms:created xsi:type="dcterms:W3CDTF">2005-06-20T14:11:47Z</dcterms:created>
  <dcterms:modified xsi:type="dcterms:W3CDTF">2017-10-15T20:24:22Z</dcterms:modified>
</cp:coreProperties>
</file>