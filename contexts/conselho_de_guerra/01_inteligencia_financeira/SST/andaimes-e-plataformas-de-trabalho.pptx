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D8DEE8-7A87-4E01-8ADE-4C49CDD43F74}" type="datetime1">
              <a:rPr lang="en-US" smtClean="0"/>
              <a:pPr/>
              <a:t>5/23/2016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/>
            <a:fld id="{F7886C9C-DC18-4195-8FD5-A50AA931D419}" type="slidenum">
              <a:rPr lang="en-US" smtClean="0"/>
              <a:pPr algn="r"/>
              <a:t>‹nº›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424-F111-43CB-9C75-D52325012943}" type="datetime1">
              <a:rPr lang="en-US" smtClean="0"/>
              <a:pPr/>
              <a:t>5/23/2016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A8BBF0-342D-409A-9C0A-B1B451E92883}" type="datetime1">
              <a:rPr lang="en-US" smtClean="0"/>
              <a:pPr/>
              <a:t>5/23/2016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r"/>
            <a:fld id="{F7886C9C-DC18-4195-8FD5-A50AA931D419}" type="slidenum">
              <a:rPr lang="en-US" smtClean="0"/>
              <a:pPr algn="r"/>
              <a:t>‹nº›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A190-4BDC-4D39-B5BB-A14B3E8B1B3D}" type="datetime1">
              <a:rPr lang="en-US" smtClean="0"/>
              <a:pPr/>
              <a:t>5/23/2016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52F2-9B11-4FC0-9217-7D20B3AC9849}" type="datetime1">
              <a:rPr lang="en-US" smtClean="0"/>
              <a:pPr/>
              <a:t>5/23/2016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3737-8506-438E-ABC0-0BE7E06DCCA6}" type="datetime1">
              <a:rPr lang="en-US" smtClean="0"/>
              <a:pPr/>
              <a:t>5/23/2016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58AA-1C84-40C9-BFEE-631CCB17636C}" type="datetime1">
              <a:rPr lang="en-US" smtClean="0"/>
              <a:pPr/>
              <a:t>5/23/2016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542C1-4E96-413B-B72E-6C4B39D85C9D}" type="datetime1">
              <a:rPr lang="en-US" smtClean="0"/>
              <a:pPr/>
              <a:t>5/23/2016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7886C9C-DC18-4195-8FD5-A50AA931D41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2AA2-D442-471A-9D69-80392E1E581D}" type="datetime1">
              <a:rPr lang="en-US" smtClean="0"/>
              <a:pPr/>
              <a:t>5/23/2016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F9461-E3EB-40CD-B93F-E5CBBBD8E0BA}" type="datetimeFigureOut">
              <a:rPr lang="en-US" smtClean="0"/>
              <a:pPr/>
              <a:t>5/23/2016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543-9AAE-4E9F-B28C-4FCCFD07D4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8FA3-38AD-400D-A4D2-18E8EF129E5F}" type="datetime1">
              <a:rPr lang="en-US" smtClean="0"/>
              <a:pPr/>
              <a:t>5/23/2016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886C9C-DC18-4195-8FD5-A50AA931D419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EC43563C-D9B3-4432-B336-144C997D6215}" type="datetime1">
              <a:rPr lang="en-US" smtClean="0"/>
              <a:pPr/>
              <a:t>5/23/2016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886C9C-DC18-4195-8FD5-A50AA931D419}" type="slidenum">
              <a:rPr lang="en-US" smtClean="0"/>
              <a:pPr algn="r"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196399" y="2052960"/>
            <a:ext cx="6978199" cy="1828800"/>
          </a:xfrm>
        </p:spPr>
        <p:txBody>
          <a:bodyPr/>
          <a:lstStyle/>
          <a:p>
            <a:r>
              <a:rPr lang="en-US" sz="3600" dirty="0" smtClean="0"/>
              <a:t>Nr 18 – </a:t>
            </a:r>
            <a:r>
              <a:rPr lang="en-US" sz="3600" dirty="0" err="1" smtClean="0"/>
              <a:t>Andaimes</a:t>
            </a:r>
            <a:r>
              <a:rPr lang="en-US" sz="3600" dirty="0" smtClean="0"/>
              <a:t> e </a:t>
            </a:r>
            <a:r>
              <a:rPr lang="en-US" sz="3600" dirty="0" err="1" smtClean="0"/>
              <a:t>plataformas</a:t>
            </a:r>
            <a:r>
              <a:rPr lang="en-US" sz="3600" dirty="0" smtClean="0"/>
              <a:t> de </a:t>
            </a:r>
            <a:r>
              <a:rPr lang="en-US" sz="3600" dirty="0" err="1" smtClean="0"/>
              <a:t>trabalho</a:t>
            </a:r>
            <a:endParaRPr lang="en-US" sz="36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3093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719070"/>
            <a:ext cx="8407893" cy="4592253"/>
          </a:xfrm>
        </p:spPr>
        <p:txBody>
          <a:bodyPr/>
          <a:lstStyle/>
          <a:p>
            <a:r>
              <a:rPr lang="en-US" sz="1800" dirty="0" smtClean="0"/>
              <a:t>A NR 18 </a:t>
            </a:r>
            <a:r>
              <a:rPr lang="en-US" sz="1800" dirty="0" err="1" smtClean="0"/>
              <a:t>faz</a:t>
            </a:r>
            <a:r>
              <a:rPr lang="en-US" sz="1800" dirty="0" smtClean="0"/>
              <a:t> </a:t>
            </a:r>
            <a:r>
              <a:rPr lang="en-US" sz="1800" dirty="0" err="1" smtClean="0"/>
              <a:t>referência</a:t>
            </a:r>
            <a:r>
              <a:rPr lang="en-US" sz="1800" dirty="0" smtClean="0"/>
              <a:t> </a:t>
            </a:r>
            <a:r>
              <a:rPr lang="en-US" sz="1800" dirty="0" err="1" smtClean="0"/>
              <a:t>aos</a:t>
            </a:r>
            <a:r>
              <a:rPr lang="en-US" sz="1800" dirty="0" smtClean="0"/>
              <a:t> </a:t>
            </a:r>
            <a:r>
              <a:rPr lang="en-US" sz="1800" dirty="0" err="1" smtClean="0"/>
              <a:t>seguintes</a:t>
            </a:r>
            <a:r>
              <a:rPr lang="en-US" sz="1800" dirty="0" smtClean="0"/>
              <a:t> </a:t>
            </a:r>
            <a:r>
              <a:rPr lang="en-US" sz="1800" dirty="0" err="1" smtClean="0"/>
              <a:t>tipos</a:t>
            </a:r>
            <a:r>
              <a:rPr lang="en-US" sz="1800" dirty="0" smtClean="0"/>
              <a:t> de </a:t>
            </a:r>
            <a:r>
              <a:rPr lang="en-US" sz="1800" dirty="0" err="1" smtClean="0"/>
              <a:t>andaimes</a:t>
            </a:r>
            <a:r>
              <a:rPr lang="en-US" sz="1800" dirty="0" smtClean="0"/>
              <a:t> e </a:t>
            </a:r>
            <a:r>
              <a:rPr lang="en-US" sz="1800" dirty="0" err="1" smtClean="0"/>
              <a:t>plataformas</a:t>
            </a:r>
            <a:r>
              <a:rPr lang="en-US" sz="1800" dirty="0" smtClean="0"/>
              <a:t> de </a:t>
            </a:r>
            <a:r>
              <a:rPr lang="en-US" sz="1800" dirty="0" err="1" smtClean="0"/>
              <a:t>trabalho</a:t>
            </a:r>
            <a:r>
              <a:rPr lang="en-US" sz="1800" dirty="0" smtClean="0"/>
              <a:t>:</a:t>
            </a:r>
          </a:p>
          <a:p>
            <a:pPr lvl="1"/>
            <a:r>
              <a:rPr lang="en-US" sz="1600" dirty="0" err="1" smtClean="0"/>
              <a:t>Andaimes</a:t>
            </a:r>
            <a:r>
              <a:rPr lang="en-US" sz="1600" dirty="0" smtClean="0"/>
              <a:t> </a:t>
            </a:r>
            <a:r>
              <a:rPr lang="en-US" sz="1600" dirty="0" err="1" smtClean="0"/>
              <a:t>simplesmente</a:t>
            </a:r>
            <a:r>
              <a:rPr lang="en-US" sz="1600" dirty="0" smtClean="0"/>
              <a:t> </a:t>
            </a:r>
            <a:r>
              <a:rPr lang="en-US" sz="1600" dirty="0" err="1" smtClean="0"/>
              <a:t>apoiados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Andaimes</a:t>
            </a:r>
            <a:r>
              <a:rPr lang="en-US" sz="1600" dirty="0" smtClean="0"/>
              <a:t> </a:t>
            </a:r>
            <a:r>
              <a:rPr lang="en-US" sz="1600" dirty="0" err="1" smtClean="0"/>
              <a:t>fachadeiros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Andaimes</a:t>
            </a:r>
            <a:r>
              <a:rPr lang="en-US" sz="1600" dirty="0" smtClean="0"/>
              <a:t> </a:t>
            </a:r>
            <a:r>
              <a:rPr lang="en-US" sz="1600" dirty="0" err="1" smtClean="0"/>
              <a:t>móveis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Andaimes</a:t>
            </a:r>
            <a:r>
              <a:rPr lang="en-US" sz="1600" dirty="0" smtClean="0"/>
              <a:t> </a:t>
            </a:r>
            <a:r>
              <a:rPr lang="en-US" sz="1600" dirty="0" err="1" smtClean="0"/>
              <a:t>em</a:t>
            </a:r>
            <a:r>
              <a:rPr lang="en-US" sz="1600" dirty="0" smtClean="0"/>
              <a:t> </a:t>
            </a:r>
            <a:r>
              <a:rPr lang="en-US" sz="1600" dirty="0" err="1" smtClean="0"/>
              <a:t>balanço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Andaimes</a:t>
            </a:r>
            <a:r>
              <a:rPr lang="en-US" sz="1600" dirty="0" smtClean="0"/>
              <a:t> </a:t>
            </a:r>
            <a:r>
              <a:rPr lang="en-US" sz="1600" dirty="0" err="1" smtClean="0"/>
              <a:t>suspensos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Andaimes</a:t>
            </a:r>
            <a:r>
              <a:rPr lang="en-US" sz="1600" dirty="0" smtClean="0"/>
              <a:t> </a:t>
            </a:r>
            <a:r>
              <a:rPr lang="en-US" sz="1600" dirty="0" err="1" smtClean="0"/>
              <a:t>suspensos</a:t>
            </a:r>
            <a:r>
              <a:rPr lang="en-US" sz="1600" dirty="0" smtClean="0"/>
              <a:t> </a:t>
            </a:r>
            <a:r>
              <a:rPr lang="en-US" sz="1600" dirty="0" err="1" smtClean="0"/>
              <a:t>motorizados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Plataforma</a:t>
            </a:r>
            <a:r>
              <a:rPr lang="en-US" sz="1600" dirty="0" smtClean="0"/>
              <a:t> de </a:t>
            </a:r>
            <a:r>
              <a:rPr lang="en-US" sz="1600" dirty="0" err="1" smtClean="0"/>
              <a:t>trabalho</a:t>
            </a:r>
            <a:r>
              <a:rPr lang="en-US" sz="1600" dirty="0" smtClean="0"/>
              <a:t> com </a:t>
            </a:r>
            <a:r>
              <a:rPr lang="en-US" sz="1600" dirty="0" err="1" smtClean="0"/>
              <a:t>sistema</a:t>
            </a:r>
            <a:r>
              <a:rPr lang="en-US" sz="1600" dirty="0" smtClean="0"/>
              <a:t> de </a:t>
            </a:r>
            <a:r>
              <a:rPr lang="en-US" sz="1600" dirty="0" err="1" smtClean="0"/>
              <a:t>movimentação</a:t>
            </a:r>
            <a:r>
              <a:rPr lang="en-US" sz="1600" dirty="0" smtClean="0"/>
              <a:t> vertical </a:t>
            </a:r>
            <a:r>
              <a:rPr lang="en-US" sz="1600" dirty="0" err="1" smtClean="0"/>
              <a:t>em</a:t>
            </a:r>
            <a:r>
              <a:rPr lang="en-US" sz="1600" dirty="0" smtClean="0"/>
              <a:t> </a:t>
            </a:r>
            <a:r>
              <a:rPr lang="en-US" sz="1600" dirty="0" err="1" smtClean="0"/>
              <a:t>pinhão</a:t>
            </a:r>
            <a:r>
              <a:rPr lang="en-US" sz="1600" dirty="0" smtClean="0"/>
              <a:t> e </a:t>
            </a:r>
            <a:r>
              <a:rPr lang="en-US" sz="1600" dirty="0" err="1" smtClean="0"/>
              <a:t>cremalheira</a:t>
            </a:r>
            <a:r>
              <a:rPr lang="en-US" sz="1600" dirty="0" smtClean="0"/>
              <a:t> e </a:t>
            </a:r>
            <a:r>
              <a:rPr lang="en-US" sz="1600" dirty="0" err="1" smtClean="0"/>
              <a:t>plataformas</a:t>
            </a:r>
            <a:r>
              <a:rPr lang="en-US" sz="1600" dirty="0" smtClean="0"/>
              <a:t> </a:t>
            </a:r>
            <a:r>
              <a:rPr lang="en-US" sz="1600" dirty="0" err="1" smtClean="0"/>
              <a:t>hidráulicas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Plataformas</a:t>
            </a:r>
            <a:r>
              <a:rPr lang="en-US" sz="1600" dirty="0" smtClean="0"/>
              <a:t> </a:t>
            </a:r>
            <a:r>
              <a:rPr lang="en-US" sz="1600" dirty="0" err="1" smtClean="0"/>
              <a:t>por</a:t>
            </a:r>
            <a:r>
              <a:rPr lang="en-US" sz="1600" dirty="0" smtClean="0"/>
              <a:t> </a:t>
            </a:r>
            <a:r>
              <a:rPr lang="en-US" sz="1600" dirty="0" err="1" smtClean="0"/>
              <a:t>cremalheira</a:t>
            </a:r>
            <a:r>
              <a:rPr lang="en-US" sz="1600" dirty="0" smtClean="0"/>
              <a:t>;</a:t>
            </a:r>
          </a:p>
          <a:p>
            <a:pPr lvl="1"/>
            <a:r>
              <a:rPr lang="en-US" sz="1600" dirty="0" err="1" smtClean="0"/>
              <a:t>Cadeira</a:t>
            </a:r>
            <a:r>
              <a:rPr lang="en-US" sz="1600" dirty="0" smtClean="0"/>
              <a:t> </a:t>
            </a:r>
            <a:r>
              <a:rPr lang="en-US" sz="1600" dirty="0" err="1" smtClean="0"/>
              <a:t>suspensa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Andaimes</a:t>
            </a:r>
            <a:r>
              <a:rPr lang="en-US" dirty="0" smtClean="0"/>
              <a:t> e </a:t>
            </a:r>
            <a:r>
              <a:rPr lang="en-US" dirty="0" err="1" smtClean="0"/>
              <a:t>plataformas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8104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0999" y="1627413"/>
            <a:ext cx="8407893" cy="4407408"/>
          </a:xfrm>
        </p:spPr>
        <p:txBody>
          <a:bodyPr>
            <a:normAutofit/>
          </a:bodyPr>
          <a:lstStyle/>
          <a:p>
            <a:pPr lvl="0"/>
            <a:r>
              <a:rPr lang="pt-BR" sz="1800" dirty="0"/>
              <a:t>É obrigatório que o dimensionamento, estrutura e fixação do andaime seja feito por um profissional legalmente habilitado, tendo que ter a identificação do fabricante, referência do tipo, lote e ano de fabricação;</a:t>
            </a:r>
            <a:endParaRPr lang="en-US" sz="1800" dirty="0"/>
          </a:p>
          <a:p>
            <a:pPr lvl="0"/>
            <a:r>
              <a:rPr lang="pt-BR" sz="1800" dirty="0"/>
              <a:t>Os trabalhadores devem receber treinamento específico para cada tipo de andaime, sendo obrigatório </a:t>
            </a:r>
            <a:r>
              <a:rPr lang="pt-BR" sz="1800" b="1" dirty="0"/>
              <a:t>o uso de cinto de segurança tipo paraquedista e com duplo talabarte que possua ganchos de abertura mínima de 50mm e dupla trava</a:t>
            </a:r>
            <a:r>
              <a:rPr lang="pt-BR" sz="1800" dirty="0"/>
              <a:t>, as </a:t>
            </a:r>
            <a:r>
              <a:rPr lang="pt-BR" sz="1800" b="1" dirty="0"/>
              <a:t>ferramentas utilizadas devem ser manuais e com amarração</a:t>
            </a:r>
            <a:r>
              <a:rPr lang="pt-BR" sz="1800" dirty="0"/>
              <a:t> para que evite a sua queda acidental;</a:t>
            </a:r>
            <a:endParaRPr lang="en-US" sz="1800" dirty="0"/>
          </a:p>
          <a:p>
            <a:pPr lvl="0"/>
            <a:r>
              <a:rPr lang="pt-BR" sz="1800" dirty="0"/>
              <a:t>O piso do andaime deve ser antiderrapante, nivelado e fixado.</a:t>
            </a:r>
            <a:endParaRPr lang="en-US" sz="1800" dirty="0"/>
          </a:p>
          <a:p>
            <a:pPr marL="45720" indent="0">
              <a:buNone/>
            </a:pPr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Segurança</a:t>
            </a:r>
            <a:r>
              <a:rPr lang="en-US" dirty="0" smtClean="0"/>
              <a:t> </a:t>
            </a:r>
            <a:r>
              <a:rPr lang="en-US" dirty="0" err="1" smtClean="0"/>
              <a:t>geral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26812" t="39531" r="39674" b="31290"/>
          <a:stretch/>
        </p:blipFill>
        <p:spPr bwMode="auto">
          <a:xfrm>
            <a:off x="2221801" y="4915430"/>
            <a:ext cx="4019550" cy="18264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xmlns="" val="238271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O andaime é uma estrutura que possui caráter provisório e é utilizado como meio de facilitar a construção ou o reparo da obra em locais de grande altura.</a:t>
            </a:r>
            <a:endParaRPr lang="en-US" sz="18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Andaimes</a:t>
            </a:r>
            <a:endParaRPr lang="en-US" dirty="0"/>
          </a:p>
        </p:txBody>
      </p:sp>
      <p:pic>
        <p:nvPicPr>
          <p:cNvPr id="4" name="Picture 3" descr="hqdefault.jpg"/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218" t="12130" r="7286" b="17508"/>
          <a:stretch/>
        </p:blipFill>
        <p:spPr>
          <a:xfrm rot="21352909">
            <a:off x="257166" y="2914760"/>
            <a:ext cx="3390499" cy="21428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59943">
            <a:off x="5312351" y="2823054"/>
            <a:ext cx="3302493" cy="217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9fb14cf478df3be40f007f10eb378309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405822">
            <a:off x="2824516" y="4228083"/>
            <a:ext cx="3530254" cy="22333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3066652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Andaimes cuja estrutura trabalha simplesmente apoiada, portanto independe da edificação. Podem ser leves ou </a:t>
            </a:r>
            <a:r>
              <a:rPr lang="pt-BR" sz="1800" dirty="0" smtClean="0"/>
              <a:t>pesados.</a:t>
            </a:r>
          </a:p>
          <a:p>
            <a:pPr lvl="1"/>
            <a:r>
              <a:rPr lang="pt-BR" sz="1600" dirty="0" smtClean="0"/>
              <a:t>Os </a:t>
            </a:r>
            <a:r>
              <a:rPr lang="pt-BR" sz="1600" dirty="0"/>
              <a:t>leves são muito utilizados por carpinteiros, pintores, etc., que não depositam cargas pesadas sobre a plataforma de </a:t>
            </a:r>
            <a:r>
              <a:rPr lang="pt-BR" sz="1600" dirty="0" smtClean="0"/>
              <a:t>trabalho.</a:t>
            </a:r>
          </a:p>
          <a:p>
            <a:pPr lvl="1"/>
            <a:r>
              <a:rPr lang="pt-BR" sz="1600" dirty="0" smtClean="0"/>
              <a:t>Os </a:t>
            </a:r>
            <a:r>
              <a:rPr lang="pt-BR" sz="1600" dirty="0"/>
              <a:t>pesados são para o uso de pedreiros em serviços de alvenaria, concretagem, montagem de peças de aço e de operários que trabalham com revestimento de pedra. </a:t>
            </a:r>
          </a:p>
          <a:p>
            <a:pPr lvl="1"/>
            <a:r>
              <a:rPr lang="pt-BR" sz="1600" dirty="0" smtClean="0"/>
              <a:t>A </a:t>
            </a:r>
            <a:r>
              <a:rPr lang="pt-BR" sz="1600" dirty="0"/>
              <a:t>NR 18 proíbe o trabalho em andaimes apoiados sobre cavaletes que possuam altura superior a 2,00m (dois metros) e largura inferior a 0,90m (noventa centímetros).</a:t>
            </a:r>
            <a:r>
              <a:rPr lang="pt-BR" dirty="0"/>
              <a:t/>
            </a:r>
            <a:br>
              <a:rPr lang="pt-BR" dirty="0"/>
            </a:br>
            <a:endParaRPr lang="pt-BR" dirty="0" smtClean="0"/>
          </a:p>
          <a:p>
            <a:r>
              <a:rPr lang="pt-BR" sz="1800" dirty="0" smtClean="0"/>
              <a:t>A </a:t>
            </a:r>
            <a:r>
              <a:rPr lang="pt-BR" sz="1800" dirty="0"/>
              <a:t>norma também exige que os andaimes cujos </a:t>
            </a:r>
            <a:endParaRPr lang="pt-BR" sz="1800" dirty="0" smtClean="0"/>
          </a:p>
          <a:p>
            <a:pPr marL="45720" indent="0">
              <a:buNone/>
            </a:pPr>
            <a:r>
              <a:rPr lang="pt-BR" sz="1800" dirty="0" smtClean="0"/>
              <a:t>pisos </a:t>
            </a:r>
            <a:r>
              <a:rPr lang="pt-BR" sz="1800" dirty="0"/>
              <a:t>de trabalho estejam situados a mais de </a:t>
            </a:r>
            <a:endParaRPr lang="pt-BR" sz="1800" dirty="0" smtClean="0"/>
          </a:p>
          <a:p>
            <a:pPr marL="45720" indent="0">
              <a:buNone/>
            </a:pPr>
            <a:r>
              <a:rPr lang="pt-BR" sz="1800" dirty="0" smtClean="0"/>
              <a:t>1,50m de </a:t>
            </a:r>
            <a:r>
              <a:rPr lang="pt-BR" sz="1800" dirty="0"/>
              <a:t>altura devem ser providos de </a:t>
            </a:r>
            <a:r>
              <a:rPr lang="pt-BR" sz="1800" dirty="0" smtClean="0"/>
              <a:t>escadas</a:t>
            </a:r>
          </a:p>
          <a:p>
            <a:pPr marL="45720" indent="0">
              <a:buNone/>
            </a:pPr>
            <a:r>
              <a:rPr lang="pt-BR" sz="1800" dirty="0" smtClean="0"/>
              <a:t> </a:t>
            </a:r>
            <a:r>
              <a:rPr lang="pt-BR" sz="1800" dirty="0"/>
              <a:t>ou rampas.</a:t>
            </a:r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Andaimes</a:t>
            </a:r>
            <a:r>
              <a:rPr lang="en-US" dirty="0" smtClean="0"/>
              <a:t> </a:t>
            </a:r>
            <a:r>
              <a:rPr lang="en-US" dirty="0" err="1" smtClean="0"/>
              <a:t>Simplesmente</a:t>
            </a:r>
            <a:r>
              <a:rPr lang="en-US" dirty="0" smtClean="0"/>
              <a:t> </a:t>
            </a:r>
            <a:r>
              <a:rPr lang="en-US" dirty="0" err="1" smtClean="0"/>
              <a:t>apoiados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405822">
            <a:off x="6345043" y="4298713"/>
            <a:ext cx="2320405" cy="22333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3900215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andaimes</a:t>
            </a:r>
            <a:r>
              <a:rPr lang="en-US" dirty="0" smtClean="0"/>
              <a:t> </a:t>
            </a:r>
            <a:r>
              <a:rPr lang="en-US" dirty="0" err="1" smtClean="0"/>
              <a:t>aimplesmente</a:t>
            </a:r>
            <a:r>
              <a:rPr lang="en-US" dirty="0" smtClean="0"/>
              <a:t> </a:t>
            </a:r>
            <a:r>
              <a:rPr lang="en-US" dirty="0" err="1" smtClean="0"/>
              <a:t>apoiados</a:t>
            </a:r>
            <a:r>
              <a:rPr lang="en-US" dirty="0" smtClean="0"/>
              <a:t> </a:t>
            </a:r>
            <a:r>
              <a:rPr lang="en-US" dirty="0" err="1" smtClean="0"/>
              <a:t>devem</a:t>
            </a:r>
            <a:r>
              <a:rPr lang="en-US" dirty="0" smtClean="0"/>
              <a:t> </a:t>
            </a:r>
            <a:r>
              <a:rPr lang="en-US" dirty="0" err="1" smtClean="0"/>
              <a:t>ter</a:t>
            </a:r>
            <a:r>
              <a:rPr lang="en-US" dirty="0" smtClean="0"/>
              <a:t> </a:t>
            </a:r>
            <a:r>
              <a:rPr lang="en-US" dirty="0" err="1" smtClean="0"/>
              <a:t>montantes</a:t>
            </a:r>
            <a:r>
              <a:rPr lang="en-US" dirty="0" smtClean="0"/>
              <a:t> </a:t>
            </a:r>
            <a:r>
              <a:rPr lang="en-US" dirty="0" err="1" smtClean="0"/>
              <a:t>apoiados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sapatas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base </a:t>
            </a:r>
            <a:r>
              <a:rPr lang="en-US" dirty="0" err="1" smtClean="0"/>
              <a:t>sólida</a:t>
            </a:r>
            <a:r>
              <a:rPr lang="en-US" dirty="0" smtClean="0"/>
              <a:t>;</a:t>
            </a:r>
          </a:p>
          <a:p>
            <a:r>
              <a:rPr lang="en-US" dirty="0" smtClean="0"/>
              <a:t>Segundo a NR 18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andaimes</a:t>
            </a:r>
            <a:r>
              <a:rPr lang="en-US" dirty="0" smtClean="0"/>
              <a:t> </a:t>
            </a:r>
            <a:r>
              <a:rPr lang="en-US" dirty="0" err="1" smtClean="0"/>
              <a:t>devem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providos</a:t>
            </a:r>
            <a:r>
              <a:rPr lang="en-US" dirty="0" smtClean="0"/>
              <a:t> de </a:t>
            </a:r>
            <a:r>
              <a:rPr lang="en-US" dirty="0" err="1" smtClean="0"/>
              <a:t>escadas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rampas</a:t>
            </a:r>
            <a:r>
              <a:rPr lang="en-US" dirty="0" smtClean="0"/>
              <a:t> </a:t>
            </a:r>
            <a:r>
              <a:rPr lang="en-US" dirty="0" err="1" smtClean="0"/>
              <a:t>quando</a:t>
            </a:r>
            <a:r>
              <a:rPr lang="en-US" dirty="0" smtClean="0"/>
              <a:t> </a:t>
            </a:r>
            <a:r>
              <a:rPr lang="en-US" dirty="0" err="1" smtClean="0"/>
              <a:t>forem</a:t>
            </a:r>
            <a:r>
              <a:rPr lang="en-US" dirty="0" smtClean="0"/>
              <a:t> </a:t>
            </a:r>
            <a:r>
              <a:rPr lang="en-US" dirty="0" err="1" smtClean="0"/>
              <a:t>maiores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1,50m de </a:t>
            </a:r>
            <a:r>
              <a:rPr lang="en-US" dirty="0" err="1" smtClean="0"/>
              <a:t>altura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Andaimes</a:t>
            </a:r>
            <a:r>
              <a:rPr lang="en-US" dirty="0" smtClean="0"/>
              <a:t> de madeira </a:t>
            </a:r>
            <a:r>
              <a:rPr lang="en-US" dirty="0" err="1" smtClean="0"/>
              <a:t>só</a:t>
            </a:r>
            <a:r>
              <a:rPr lang="en-US" dirty="0" smtClean="0"/>
              <a:t> </a:t>
            </a:r>
            <a:r>
              <a:rPr lang="en-US" dirty="0" err="1" smtClean="0"/>
              <a:t>podem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usados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obras</a:t>
            </a:r>
            <a:r>
              <a:rPr lang="en-US" dirty="0" smtClean="0"/>
              <a:t> </a:t>
            </a:r>
            <a:r>
              <a:rPr lang="en-US" dirty="0" err="1" smtClean="0"/>
              <a:t>abaixo</a:t>
            </a:r>
            <a:r>
              <a:rPr lang="en-US" dirty="0" smtClean="0"/>
              <a:t> de 3 </a:t>
            </a:r>
            <a:r>
              <a:rPr lang="en-US" dirty="0" err="1" smtClean="0"/>
              <a:t>pavimentos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edificações</a:t>
            </a:r>
            <a:r>
              <a:rPr lang="en-US" dirty="0" smtClean="0"/>
              <a:t> de </a:t>
            </a:r>
            <a:r>
              <a:rPr lang="en-US" dirty="0" err="1" smtClean="0"/>
              <a:t>mesma</a:t>
            </a:r>
            <a:r>
              <a:rPr lang="en-US" dirty="0" smtClean="0"/>
              <a:t> </a:t>
            </a:r>
            <a:r>
              <a:rPr lang="en-US" dirty="0" err="1" smtClean="0"/>
              <a:t>altura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Andaimes</a:t>
            </a:r>
            <a:r>
              <a:rPr lang="en-US" dirty="0"/>
              <a:t> </a:t>
            </a:r>
            <a:r>
              <a:rPr lang="en-US" dirty="0" err="1"/>
              <a:t>Simplesmente</a:t>
            </a:r>
            <a:r>
              <a:rPr lang="en-US" dirty="0"/>
              <a:t> </a:t>
            </a:r>
            <a:r>
              <a:rPr lang="en-US" dirty="0" err="1"/>
              <a:t>apoiados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964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0902" y="1906244"/>
            <a:ext cx="6004616" cy="2536612"/>
          </a:xfrm>
        </p:spPr>
        <p:txBody>
          <a:bodyPr>
            <a:normAutofit/>
          </a:bodyPr>
          <a:lstStyle/>
          <a:p>
            <a:r>
              <a:rPr lang="pt-BR" sz="1800" dirty="0"/>
              <a:t>São aqueles constituídos de quadros vertical e horizontal, placa de base, travessa </a:t>
            </a:r>
            <a:r>
              <a:rPr lang="pt-BR" sz="1800" dirty="0" smtClean="0"/>
              <a:t>diagonal, guarda-corpo, tela e escada. Permitem </a:t>
            </a:r>
            <a:r>
              <a:rPr lang="pt-BR" sz="1800" dirty="0"/>
              <a:t>o acesso de pessoas e materiais à obra, sendo muito utilizados em serviços de manutenção de fachadas e de construção, quando não é possível o acesso pela parte interna da obra.</a:t>
            </a:r>
            <a:br>
              <a:rPr lang="pt-BR" sz="1800" dirty="0"/>
            </a:br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Andaimes </a:t>
            </a:r>
            <a:r>
              <a:rPr lang="pt-BR" b="1" dirty="0" err="1"/>
              <a:t>fachadeiros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47316">
            <a:off x="6486618" y="1761519"/>
            <a:ext cx="2034483" cy="2424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490902" y="4255682"/>
            <a:ext cx="8271358" cy="2168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sz="2000" kern="1200" spc="1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18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itchFamily="2" charset="2"/>
              <a:buChar char="§"/>
              <a:defRPr sz="16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" pitchFamily="2" charset="2"/>
              <a:buChar char="§"/>
              <a:defRPr sz="1300" kern="1200" spc="1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sz="1800" dirty="0" smtClean="0"/>
              <a:t>O </a:t>
            </a:r>
            <a:r>
              <a:rPr lang="pt-BR" sz="1800" dirty="0"/>
              <a:t>andaime tipo </a:t>
            </a:r>
            <a:r>
              <a:rPr lang="pt-BR" sz="1800" dirty="0" err="1"/>
              <a:t>fachadeiro</a:t>
            </a:r>
            <a:r>
              <a:rPr lang="pt-BR" sz="1800" dirty="0"/>
              <a:t> deve possuir escada incorporada na sua </a:t>
            </a:r>
            <a:r>
              <a:rPr lang="pt-BR" sz="1800" dirty="0" err="1"/>
              <a:t>prória</a:t>
            </a:r>
            <a:r>
              <a:rPr lang="pt-BR" sz="1800" dirty="0"/>
              <a:t> estrutura e devem ser externamente cobertos por tela de material que apresente resistência mecânica para que impeça a queda de objetos sendo instalada desde a primeira plataforma de trabalho até dois metros acima da </a:t>
            </a:r>
            <a:r>
              <a:rPr lang="pt-BR" sz="1800" dirty="0" smtClean="0"/>
              <a:t>última.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74567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Usualmente é de fácil montagem, o que não necessita de projeto, cuidados especiais ou de mão de obra especializada.</a:t>
            </a:r>
            <a:br>
              <a:rPr lang="pt-BR" sz="1800" dirty="0"/>
            </a:br>
            <a:r>
              <a:rPr lang="pt-BR" sz="1800" dirty="0"/>
              <a:t>Fácil de transportar uma vez que possui dimensões </a:t>
            </a:r>
            <a:r>
              <a:rPr lang="pt-BR" sz="1800" dirty="0" smtClean="0"/>
              <a:t>reduzidas.</a:t>
            </a:r>
          </a:p>
          <a:p>
            <a:r>
              <a:rPr lang="pt-BR" sz="1800" dirty="0" smtClean="0"/>
              <a:t>São </a:t>
            </a:r>
            <a:r>
              <a:rPr lang="pt-BR" sz="1800" dirty="0"/>
              <a:t>utilizados geralmente em serviços de instalação e </a:t>
            </a:r>
            <a:r>
              <a:rPr lang="pt-BR" sz="1800" dirty="0" smtClean="0"/>
              <a:t>acabamento.</a:t>
            </a:r>
          </a:p>
          <a:p>
            <a:r>
              <a:rPr lang="pt-BR" sz="1800" dirty="0" smtClean="0"/>
              <a:t>Deve </a:t>
            </a:r>
            <a:r>
              <a:rPr lang="pt-BR" sz="1800" dirty="0"/>
              <a:t>se trabalhar com esse tipo de </a:t>
            </a:r>
            <a:r>
              <a:rPr lang="pt-BR" sz="1800" dirty="0" smtClean="0"/>
              <a:t>andaime</a:t>
            </a:r>
          </a:p>
          <a:p>
            <a:pPr marL="45720" indent="0">
              <a:buNone/>
            </a:pPr>
            <a:r>
              <a:rPr lang="pt-BR" sz="1800" dirty="0" smtClean="0"/>
              <a:t>em </a:t>
            </a:r>
            <a:r>
              <a:rPr lang="pt-BR" sz="1800" dirty="0"/>
              <a:t>regiões </a:t>
            </a:r>
            <a:r>
              <a:rPr lang="pt-BR" sz="1800" dirty="0" smtClean="0"/>
              <a:t>planas e ele deve ser provido de</a:t>
            </a:r>
          </a:p>
          <a:p>
            <a:pPr marL="45720" indent="0">
              <a:buNone/>
            </a:pPr>
            <a:r>
              <a:rPr lang="pt-BR" sz="1800" dirty="0" smtClean="0"/>
              <a:t>travas nas rodas. </a:t>
            </a:r>
            <a:r>
              <a:rPr lang="pt-BR" sz="1800" dirty="0"/>
              <a:t>A NR 18 proíbe o </a:t>
            </a:r>
            <a:endParaRPr lang="pt-BR" sz="1800" dirty="0" smtClean="0"/>
          </a:p>
          <a:p>
            <a:pPr marL="45720" indent="0">
              <a:buNone/>
            </a:pPr>
            <a:r>
              <a:rPr lang="pt-BR" sz="1800" dirty="0" smtClean="0"/>
              <a:t>deslocamento </a:t>
            </a:r>
            <a:r>
              <a:rPr lang="pt-BR" sz="1800" dirty="0"/>
              <a:t>de andaimes com a </a:t>
            </a:r>
            <a:endParaRPr lang="pt-BR" sz="1800" dirty="0" smtClean="0"/>
          </a:p>
          <a:p>
            <a:pPr marL="45720" indent="0">
              <a:buNone/>
            </a:pPr>
            <a:r>
              <a:rPr lang="pt-BR" sz="1800" dirty="0" smtClean="0"/>
              <a:t>presença </a:t>
            </a:r>
            <a:r>
              <a:rPr lang="pt-BR" sz="1800" dirty="0"/>
              <a:t>de </a:t>
            </a:r>
            <a:r>
              <a:rPr lang="pt-BR" sz="1800" dirty="0" smtClean="0"/>
              <a:t>materiais </a:t>
            </a:r>
            <a:r>
              <a:rPr lang="pt-BR" sz="1800" dirty="0"/>
              <a:t>ou pessoas </a:t>
            </a:r>
            <a:endParaRPr lang="pt-BR" sz="1800" dirty="0" smtClean="0"/>
          </a:p>
          <a:p>
            <a:pPr marL="45720" indent="0">
              <a:buNone/>
            </a:pPr>
            <a:r>
              <a:rPr lang="pt-BR" sz="1800" dirty="0" smtClean="0"/>
              <a:t>na </a:t>
            </a:r>
            <a:r>
              <a:rPr lang="pt-BR" sz="1800" dirty="0"/>
              <a:t>plataforma.</a:t>
            </a:r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Andaimes</a:t>
            </a:r>
            <a:r>
              <a:rPr lang="en-US" dirty="0" smtClean="0"/>
              <a:t> </a:t>
            </a:r>
            <a:r>
              <a:rPr lang="en-US" dirty="0" err="1" smtClean="0"/>
              <a:t>móveis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352909">
            <a:off x="5150242" y="3709440"/>
            <a:ext cx="3102650" cy="25571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141699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/>
              <a:t>Andaimes que se projetam para fora da </a:t>
            </a:r>
            <a:r>
              <a:rPr lang="pt-BR" sz="1800" dirty="0" smtClean="0"/>
              <a:t>construção </a:t>
            </a:r>
            <a:r>
              <a:rPr lang="pt-BR" sz="1800" dirty="0"/>
              <a:t>e são suportados por vigamentos (de madeira ou metálica) ou estruturas em balanço, seja por </a:t>
            </a:r>
            <a:r>
              <a:rPr lang="pt-BR" sz="1800" dirty="0" err="1"/>
              <a:t>engastamento</a:t>
            </a:r>
            <a:r>
              <a:rPr lang="pt-BR" sz="1800" dirty="0"/>
              <a:t> ou outro sistema de </a:t>
            </a:r>
            <a:r>
              <a:rPr lang="pt-BR" sz="1800" dirty="0" err="1"/>
              <a:t>contrabalançamento</a:t>
            </a:r>
            <a:r>
              <a:rPr lang="pt-BR" sz="1800" dirty="0"/>
              <a:t> no interior da construção, podendo ser fixos ou </a:t>
            </a:r>
            <a:r>
              <a:rPr lang="pt-BR" sz="1800" dirty="0" smtClean="0"/>
              <a:t>deslocáveis.</a:t>
            </a:r>
          </a:p>
          <a:p>
            <a:r>
              <a:rPr lang="pt-BR" sz="1800" dirty="0" smtClean="0"/>
              <a:t>São </a:t>
            </a:r>
            <a:r>
              <a:rPr lang="pt-BR" sz="1800" dirty="0"/>
              <a:t>geralmente utilizados quando os andaimes não podem apoiar-se sobre o solo ou sobre uma superfície horizontal resistente</a:t>
            </a:r>
            <a:r>
              <a:rPr lang="pt-BR" sz="1800" dirty="0" smtClean="0"/>
              <a:t>.</a:t>
            </a:r>
          </a:p>
          <a:p>
            <a:r>
              <a:rPr lang="pt-BR" sz="1800" dirty="0" smtClean="0"/>
              <a:t>Devem ter um sistema de fixação a estrutura da edificação capaz de suportar 3x os esforços solicitantes e a estrutura deve ser </a:t>
            </a:r>
            <a:r>
              <a:rPr lang="pt-BR" sz="1800" dirty="0" err="1" smtClean="0"/>
              <a:t>contraventada</a:t>
            </a:r>
            <a:r>
              <a:rPr lang="pt-BR" sz="1800" dirty="0" smtClean="0"/>
              <a:t> e ancorada para eliminar qualquer oscilação.</a:t>
            </a:r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Andaimes em balanço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05135" y="4755085"/>
            <a:ext cx="3364316" cy="18793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1412251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2585" y="1719071"/>
            <a:ext cx="8566307" cy="4407408"/>
          </a:xfrm>
        </p:spPr>
        <p:txBody>
          <a:bodyPr>
            <a:normAutofit/>
          </a:bodyPr>
          <a:lstStyle/>
          <a:p>
            <a:r>
              <a:rPr lang="pt-BR" sz="1700" dirty="0" smtClean="0"/>
              <a:t>Andaimes, pesados ou leves, que possuem </a:t>
            </a:r>
            <a:r>
              <a:rPr lang="pt-BR" sz="1700" dirty="0"/>
              <a:t>uma plataforma que tem instalado ganchos em cada cabeceira e se faz o movimento por cabos de aço, tendo um sistema de trava-quedas automático em sua extremidade.</a:t>
            </a:r>
            <a:r>
              <a:rPr lang="en-US" sz="1700" dirty="0"/>
              <a:t> </a:t>
            </a:r>
            <a:endParaRPr lang="en-US" sz="1700" dirty="0" smtClean="0"/>
          </a:p>
          <a:p>
            <a:r>
              <a:rPr lang="pt-BR" sz="1700" dirty="0" smtClean="0"/>
              <a:t>O andaime suspenso é indicado para serviços de revestimento externo, emboços, colocação de pastilhas, mármores, cerâmicas e serviços de pedreiros, alcançando sempre alta produtividade e grande redução de custos.</a:t>
            </a:r>
          </a:p>
          <a:p>
            <a:pPr lvl="0"/>
            <a:r>
              <a:rPr lang="pt-BR" sz="1700" dirty="0" smtClean="0"/>
              <a:t>No </a:t>
            </a:r>
            <a:r>
              <a:rPr lang="pt-BR" sz="1700" dirty="0"/>
              <a:t>andaime motorizado deve ser instalado cabos de alimentação de dupla isolação, </a:t>
            </a:r>
            <a:r>
              <a:rPr lang="pt-BR" sz="1700" dirty="0" err="1"/>
              <a:t>plugs</a:t>
            </a:r>
            <a:r>
              <a:rPr lang="pt-BR" sz="1700" dirty="0"/>
              <a:t>/tomadas blindadas, aterramento elétrico, dispositivo diferencial residual e fim de curso superior e batente</a:t>
            </a:r>
            <a:r>
              <a:rPr lang="pt-BR" sz="1700" dirty="0" smtClean="0"/>
              <a:t>.</a:t>
            </a:r>
            <a:endParaRPr lang="en-US" sz="1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Andaimes</a:t>
            </a:r>
            <a:r>
              <a:rPr lang="en-US" dirty="0" smtClean="0"/>
              <a:t> </a:t>
            </a:r>
            <a:r>
              <a:rPr lang="en-US" dirty="0" err="1" smtClean="0"/>
              <a:t>suspensos</a:t>
            </a:r>
            <a:endParaRPr lang="en-US" dirty="0"/>
          </a:p>
        </p:txBody>
      </p:sp>
      <p:pic>
        <p:nvPicPr>
          <p:cNvPr id="4" name="Imagem 6" descr="http://wwwo.metalica.com.br/images/stories/Id5284/andaimes_06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39759" y="4792418"/>
            <a:ext cx="3533238" cy="1728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m 1" descr="http://wwwo.metalica.com.br/images/stories/Id5284/andaimes_09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8470" y="4792418"/>
            <a:ext cx="3333750" cy="1728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812288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São máquinas de ação periódica destinadas ao transporte vertical de cargas e/ou </a:t>
            </a:r>
            <a:r>
              <a:rPr lang="pt-BR" dirty="0" smtClean="0"/>
              <a:t>pessoas;</a:t>
            </a:r>
          </a:p>
          <a:p>
            <a:pPr algn="just"/>
            <a:r>
              <a:rPr lang="pt-BR" dirty="0" smtClean="0"/>
              <a:t>Devem </a:t>
            </a:r>
            <a:r>
              <a:rPr lang="pt-BR" dirty="0"/>
              <a:t>observar as especificações técnicas do fabricante quanto à montagem, operação, manutenção, desmontagem e às inspeções periódicas, sob responsabilidade técnica de profissional legalmente habilitado.</a:t>
            </a:r>
          </a:p>
          <a:p>
            <a:pPr algn="just"/>
            <a:r>
              <a:rPr lang="pt-BR" dirty="0"/>
              <a:t>O equipamento somente deve ser operado por trabalhador qualificado.</a:t>
            </a:r>
          </a:p>
          <a:p>
            <a:pPr algn="just"/>
            <a:r>
              <a:rPr lang="pt-BR" dirty="0"/>
              <a:t>Todos  os  trabalhadores  usuários  de  plataformas  devem  receber orientação quanto ao correto carregamento e posicionamento dos materiais na plataforma além de receber orientação para operação dos equipamentos.</a:t>
            </a:r>
          </a:p>
          <a:p>
            <a:pPr algn="just"/>
            <a:r>
              <a:rPr lang="pt-BR" dirty="0"/>
              <a:t>Deve-se tomar cuidado com a rede elétrica e com os esforços solicitantes na estrutura.</a:t>
            </a:r>
          </a:p>
          <a:p>
            <a:pPr algn="just"/>
            <a:endParaRPr lang="pt-B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/>
              <a:t>Plataforma</a:t>
            </a:r>
            <a:r>
              <a:rPr lang="en-US" sz="2400" dirty="0"/>
              <a:t> de </a:t>
            </a:r>
            <a:r>
              <a:rPr lang="en-US" sz="2400" dirty="0" err="1"/>
              <a:t>trabalho</a:t>
            </a:r>
            <a:r>
              <a:rPr lang="en-US" sz="2400" dirty="0"/>
              <a:t> com </a:t>
            </a:r>
            <a:r>
              <a:rPr lang="en-US" sz="2400" dirty="0" err="1"/>
              <a:t>sistema</a:t>
            </a:r>
            <a:r>
              <a:rPr lang="en-US" sz="2400" dirty="0"/>
              <a:t> de </a:t>
            </a:r>
            <a:r>
              <a:rPr lang="en-US" sz="2400" dirty="0" err="1"/>
              <a:t>movimentação</a:t>
            </a:r>
            <a:r>
              <a:rPr lang="en-US" sz="2400" dirty="0"/>
              <a:t> vertical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pinhão</a:t>
            </a:r>
            <a:r>
              <a:rPr lang="en-US" sz="2400" dirty="0"/>
              <a:t> e </a:t>
            </a:r>
            <a:r>
              <a:rPr lang="en-US" sz="2400" dirty="0" err="1"/>
              <a:t>cremalheira</a:t>
            </a:r>
            <a:r>
              <a:rPr lang="en-US" sz="2400" dirty="0"/>
              <a:t> e </a:t>
            </a:r>
            <a:r>
              <a:rPr lang="en-US" sz="2400" dirty="0" err="1"/>
              <a:t>plataformas</a:t>
            </a:r>
            <a:r>
              <a:rPr lang="en-US" sz="2400" dirty="0"/>
              <a:t> </a:t>
            </a:r>
            <a:r>
              <a:rPr lang="en-US" sz="2400" dirty="0" err="1"/>
              <a:t>hidráulicas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325434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Em quaisquer atividades em que não seja possível a instalação de andaimes, é permitida a utilização de cadeira suspensa (balancim individual). </a:t>
            </a:r>
          </a:p>
          <a:p>
            <a:pPr algn="just"/>
            <a:r>
              <a:rPr lang="pt-BR" dirty="0"/>
              <a:t> A sustentação da cadeira suspensa deve ser feita por meio de cabo de aço ou cabo de fibra sintética. </a:t>
            </a:r>
          </a:p>
          <a:p>
            <a:pPr algn="just"/>
            <a:r>
              <a:rPr lang="pt-BR" dirty="0"/>
              <a:t>A cadeira suspensa deve dispor de: </a:t>
            </a:r>
            <a:endParaRPr lang="pt-BR" dirty="0" smtClean="0"/>
          </a:p>
          <a:p>
            <a:pPr lvl="1" algn="just"/>
            <a:r>
              <a:rPr lang="pt-BR" dirty="0" smtClean="0"/>
              <a:t>sistema </a:t>
            </a:r>
            <a:r>
              <a:rPr lang="pt-BR" dirty="0"/>
              <a:t>dotado com dispositivo de subida e descida com dupla trava de segurança, quando a sustentação for através de cabo de aço</a:t>
            </a:r>
            <a:r>
              <a:rPr lang="pt-BR" dirty="0" smtClean="0"/>
              <a:t>;</a:t>
            </a:r>
          </a:p>
          <a:p>
            <a:pPr lvl="1" algn="just"/>
            <a:r>
              <a:rPr lang="pt-BR" dirty="0" smtClean="0"/>
              <a:t>sistema </a:t>
            </a:r>
            <a:r>
              <a:rPr lang="pt-BR" dirty="0"/>
              <a:t>dotado com dispositivo de descida com dupla trava de segurança, quando a sustentação for por meio de cabo de fibra sintética; </a:t>
            </a:r>
            <a:endParaRPr lang="pt-BR" dirty="0" smtClean="0"/>
          </a:p>
          <a:p>
            <a:pPr lvl="1" algn="just"/>
            <a:r>
              <a:rPr lang="pt-BR" dirty="0" smtClean="0"/>
              <a:t>requisitos </a:t>
            </a:r>
            <a:r>
              <a:rPr lang="pt-BR" dirty="0"/>
              <a:t>mínimos de conforto previstos na NR 17 - Ergonomia; </a:t>
            </a:r>
            <a:endParaRPr lang="pt-BR" dirty="0" smtClean="0"/>
          </a:p>
          <a:p>
            <a:pPr lvl="1" algn="just"/>
            <a:r>
              <a:rPr lang="pt-BR" dirty="0" smtClean="0"/>
              <a:t>sistema </a:t>
            </a:r>
            <a:r>
              <a:rPr lang="pt-BR" dirty="0"/>
              <a:t>de fixação do trabalhador por meio de cinto.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Cadeira</a:t>
            </a:r>
            <a:r>
              <a:rPr lang="en-US" dirty="0" smtClean="0"/>
              <a:t> </a:t>
            </a:r>
            <a:r>
              <a:rPr lang="en-US" dirty="0" err="1" smtClean="0"/>
              <a:t>Suspensa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45615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 smtClean="0"/>
              <a:t>Plataforma</a:t>
            </a:r>
            <a:r>
              <a:rPr lang="en-US" sz="2800" dirty="0" smtClean="0"/>
              <a:t> </a:t>
            </a:r>
            <a:r>
              <a:rPr lang="en-US" sz="2800" dirty="0" err="1" smtClean="0"/>
              <a:t>por</a:t>
            </a:r>
            <a:r>
              <a:rPr lang="en-US" sz="2800" dirty="0" smtClean="0"/>
              <a:t> </a:t>
            </a:r>
            <a:r>
              <a:rPr lang="en-US" sz="2800" dirty="0" err="1" smtClean="0"/>
              <a:t>Cremalheira</a:t>
            </a:r>
            <a:r>
              <a:rPr lang="en-US" sz="2800" dirty="0" smtClean="0"/>
              <a:t>, </a:t>
            </a:r>
            <a:r>
              <a:rPr lang="en-US" sz="2800" dirty="0" err="1" smtClean="0"/>
              <a:t>plataforma</a:t>
            </a:r>
            <a:r>
              <a:rPr lang="en-US" sz="2800" dirty="0" smtClean="0"/>
              <a:t> </a:t>
            </a:r>
            <a:r>
              <a:rPr lang="en-US" sz="2800" dirty="0" err="1" smtClean="0"/>
              <a:t>hidráulica</a:t>
            </a:r>
            <a:r>
              <a:rPr lang="en-US" sz="2800" dirty="0" smtClean="0"/>
              <a:t> e </a:t>
            </a:r>
            <a:r>
              <a:rPr lang="en-US" sz="2800" dirty="0" err="1" smtClean="0"/>
              <a:t>cadeira</a:t>
            </a:r>
            <a:r>
              <a:rPr lang="en-US" sz="2800" dirty="0" smtClean="0"/>
              <a:t> </a:t>
            </a:r>
            <a:r>
              <a:rPr lang="en-US" sz="2800" dirty="0" err="1" smtClean="0"/>
              <a:t>suspensa</a:t>
            </a:r>
            <a:endParaRPr lang="en-US" sz="2800" dirty="0"/>
          </a:p>
        </p:txBody>
      </p:sp>
      <p:pic>
        <p:nvPicPr>
          <p:cNvPr id="7" name="Picture 6" descr="http://www.suspendedworkingplatform.com/photo/pl394958-double_mast_climbing_work_platform_stc100_with_lifting_speed_8_3_m_m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205540">
            <a:off x="504689" y="3915116"/>
            <a:ext cx="3552277" cy="23646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 descr="http://www.sulmakrs.com.br/manager/show.aspx?show_arquivo=institucional&amp;show_campo=institucional_imagem_gr&amp;show_chave=institucional_id=5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68566" y="1750913"/>
            <a:ext cx="2813869" cy="28240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9681">
            <a:off x="5945019" y="3384804"/>
            <a:ext cx="2638110" cy="31031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2094325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555" t="1013" r="5146"/>
          <a:stretch/>
        </p:blipFill>
        <p:spPr>
          <a:xfrm>
            <a:off x="4046089" y="1699292"/>
            <a:ext cx="3051183" cy="25086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Cuidar</a:t>
            </a:r>
            <a:r>
              <a:rPr lang="en-US" dirty="0" smtClean="0"/>
              <a:t> com as </a:t>
            </a:r>
            <a:r>
              <a:rPr lang="en-US" dirty="0" err="1" smtClean="0"/>
              <a:t>improvisações</a:t>
            </a:r>
            <a:r>
              <a:rPr lang="en-US" dirty="0" smtClean="0"/>
              <a:t>!</a:t>
            </a:r>
            <a:endParaRPr lang="en-US" dirty="0"/>
          </a:p>
        </p:txBody>
      </p:sp>
      <p:pic>
        <p:nvPicPr>
          <p:cNvPr id="7" name="Picture 6" descr="68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009854">
            <a:off x="624507" y="1754278"/>
            <a:ext cx="2285726" cy="30476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agr024_0070_f101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359415">
            <a:off x="790664" y="4263996"/>
            <a:ext cx="4090004" cy="23063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 descr="andaime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332685">
            <a:off x="5515997" y="4268520"/>
            <a:ext cx="3108017" cy="23310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41600975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id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Grid.thmx</Template>
  <TotalTime>149</TotalTime>
  <Words>788</Words>
  <Application>Microsoft Macintosh PowerPoint</Application>
  <PresentationFormat>Apresentação na tela (4:3)</PresentationFormat>
  <Paragraphs>67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Grid</vt:lpstr>
      <vt:lpstr>Nr 18 – Andaimes e plataformas de trabalho</vt:lpstr>
      <vt:lpstr>Andaimes e plataformas</vt:lpstr>
      <vt:lpstr>Segurança geral</vt:lpstr>
      <vt:lpstr>Andaimes</vt:lpstr>
      <vt:lpstr>Andaimes Simplesmente apoiados</vt:lpstr>
      <vt:lpstr>Andaimes Simplesmente apoiados</vt:lpstr>
      <vt:lpstr>Andaimes fachadeiros</vt:lpstr>
      <vt:lpstr>Andaimes móveis</vt:lpstr>
      <vt:lpstr>Andaimes em balanço</vt:lpstr>
      <vt:lpstr>Andaimes suspensos</vt:lpstr>
      <vt:lpstr>Plataforma de trabalho com sistema de movimentação vertical em pinhão e cremalheira e plataformas hidráulicas</vt:lpstr>
      <vt:lpstr>Cadeira Suspensa</vt:lpstr>
      <vt:lpstr>Plataforma por Cremalheira, plataforma hidráulica e cadeira suspensa</vt:lpstr>
      <vt:lpstr>Cuidar com as improvisações!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 18 – Andaimes e plataformas de trabalho</dc:title>
  <dc:creator>Jean</dc:creator>
  <cp:lastModifiedBy>Usuário</cp:lastModifiedBy>
  <cp:revision>16</cp:revision>
  <dcterms:created xsi:type="dcterms:W3CDTF">2015-11-20T00:37:14Z</dcterms:created>
  <dcterms:modified xsi:type="dcterms:W3CDTF">2016-05-23T22:31:15Z</dcterms:modified>
</cp:coreProperties>
</file>