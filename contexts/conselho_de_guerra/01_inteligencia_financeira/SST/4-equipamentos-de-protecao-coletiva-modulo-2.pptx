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handoutMasterIdLst>
    <p:handoutMasterId r:id="rId6"/>
  </p:handoutMasterIdLst>
  <p:sldIdLst>
    <p:sldId id="263" r:id="rId2"/>
    <p:sldId id="257" r:id="rId3"/>
    <p:sldId id="299" r:id="rId4"/>
    <p:sldId id="300" r:id="rId5"/>
  </p:sldIdLst>
  <p:sldSz cx="9144000" cy="6858000" type="screen4x3"/>
  <p:notesSz cx="6858000" cy="9906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99"/>
    <a:srgbClr val="0000CC"/>
    <a:srgbClr val="0000FF"/>
    <a:srgbClr val="FFFFFF"/>
    <a:srgbClr val="5F5F5F"/>
    <a:srgbClr val="96969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303" autoAdjust="0"/>
    <p:restoredTop sz="90929"/>
  </p:normalViewPr>
  <p:slideViewPr>
    <p:cSldViewPr>
      <p:cViewPr varScale="1">
        <p:scale>
          <a:sx n="73" d="100"/>
          <a:sy n="73" d="100"/>
        </p:scale>
        <p:origin x="1746" y="78"/>
      </p:cViewPr>
      <p:guideLst>
        <p:guide orient="horz" pos="2160"/>
        <p:guide pos="2880"/>
      </p:guideLst>
    </p:cSldViewPr>
  </p:slideViewPr>
  <p:outlineViewPr>
    <p:cViewPr>
      <p:scale>
        <a:sx n="20" d="100"/>
        <a:sy n="20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9" d="100"/>
          <a:sy n="69" d="100"/>
        </p:scale>
        <p:origin x="-2268" y="-90"/>
      </p:cViewPr>
      <p:guideLst>
        <p:guide orient="horz" pos="312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pt-BR" altLang="pt-BR" sz="1200"/>
          </a:p>
        </p:txBody>
      </p:sp>
      <p:sp>
        <p:nvSpPr>
          <p:cNvPr id="13319" name="Rectangle 7"/>
          <p:cNvSpPr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0" hangingPunct="0"/>
            <a:endParaRPr lang="pt-BR" altLang="pt-BR" sz="1200"/>
          </a:p>
        </p:txBody>
      </p:sp>
      <p:sp>
        <p:nvSpPr>
          <p:cNvPr id="13320" name="Rectangle 8"/>
          <p:cNvSpPr>
            <a:spLocks noGrp="1" noChangeArrowheads="1"/>
          </p:cNvSpPr>
          <p:nvPr/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eaLnBrk="0" hangingPunct="0"/>
            <a:endParaRPr lang="pt-BR" altLang="pt-BR" sz="1200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458788" y="9448800"/>
            <a:ext cx="59388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876300" y="9491663"/>
            <a:ext cx="5486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r" eaLnBrk="0" hangingPunct="0"/>
            <a:r>
              <a:rPr lang="pt-BR" altLang="pt-BR" sz="600">
                <a:latin typeface="Arial" panose="020B0604020202020204" pitchFamily="34" charset="0"/>
              </a:rPr>
              <a:t>COMISSÃO TRIPARTITE PERMANENTE DE NEGOCIAÇÃO DO SETOR ELETRICO NO ESTADO DE SP - </a:t>
            </a:r>
            <a:fld id="{04FF66A7-22CC-42A8-A6D0-8B05F1DCD01F}" type="slidenum">
              <a:rPr lang="pt-BR" altLang="pt-BR" sz="1000" b="1">
                <a:solidFill>
                  <a:srgbClr val="FF3300"/>
                </a:solidFill>
                <a:latin typeface="Arial" panose="020B0604020202020204" pitchFamily="34" charset="0"/>
              </a:rPr>
              <a:pPr algn="r" eaLnBrk="0" hangingPunct="0"/>
              <a:t>‹nº›</a:t>
            </a:fld>
            <a:endParaRPr lang="pt-BR" altLang="pt-BR" sz="1000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pic>
        <p:nvPicPr>
          <p:cNvPr id="13323" name="Picture 11" descr="cabecalh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63525"/>
            <a:ext cx="5938837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4267200"/>
            <a:ext cx="7772400" cy="1143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pt-BR" altLang="pt-BR" noProof="0" smtClean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34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9244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2590800"/>
            <a:ext cx="3810000" cy="3886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590800"/>
            <a:ext cx="3810000" cy="3886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48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365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99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43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31509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40025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52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1752600"/>
            <a:ext cx="1943100" cy="4724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1752600"/>
            <a:ext cx="5676900" cy="47244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20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7526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590800"/>
            <a:ext cx="7772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CC0000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defRPr kern="1200">
          <a:solidFill>
            <a:srgbClr val="5F5F5F"/>
          </a:solidFill>
          <a:latin typeface="+mn-lt"/>
          <a:ea typeface="+mn-ea"/>
          <a:cs typeface="+mn-cs"/>
        </a:defRPr>
      </a:lvl1pPr>
      <a:lvl2pPr marL="377825" indent="-187325" algn="l" rtl="0" fontAlgn="base">
        <a:spcBef>
          <a:spcPct val="20000"/>
        </a:spcBef>
        <a:spcAft>
          <a:spcPct val="0"/>
        </a:spcAft>
        <a:buClr>
          <a:srgbClr val="FF3300"/>
        </a:buClr>
        <a:buSzPct val="7000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2pPr>
      <a:lvl3pPr marL="763588" indent="-195263" algn="l" rtl="0" fontAlgn="base">
        <a:spcBef>
          <a:spcPct val="20000"/>
        </a:spcBef>
        <a:spcAft>
          <a:spcPct val="0"/>
        </a:spcAft>
        <a:buClr>
          <a:srgbClr val="969696"/>
        </a:buClr>
        <a:buSzPct val="7000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141413" indent="-187325" algn="l" rtl="0" fontAlgn="base">
        <a:spcBef>
          <a:spcPct val="20000"/>
        </a:spcBef>
        <a:spcAft>
          <a:spcPct val="0"/>
        </a:spcAft>
        <a:buChar char="-"/>
        <a:defRPr kern="1200">
          <a:solidFill>
            <a:srgbClr val="5F5F5F"/>
          </a:solidFill>
          <a:latin typeface="+mn-lt"/>
          <a:ea typeface="+mn-ea"/>
          <a:cs typeface="+mn-cs"/>
        </a:defRPr>
      </a:lvl4pPr>
      <a:lvl5pPr marL="1528763" indent="-196850" algn="l" rtl="0" fontAlgn="base">
        <a:spcBef>
          <a:spcPct val="20000"/>
        </a:spcBef>
        <a:spcAft>
          <a:spcPct val="0"/>
        </a:spcAft>
        <a:buChar char="»"/>
        <a:defRPr kern="1200">
          <a:solidFill>
            <a:srgbClr val="5F5F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1029"/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 anchor="b"/>
          <a:lstStyle/>
          <a:p>
            <a:r>
              <a:rPr lang="pt-BR" altLang="pt-BR"/>
              <a:t>Equipamentos de</a:t>
            </a:r>
            <a:br>
              <a:rPr lang="pt-BR" altLang="pt-BR"/>
            </a:br>
            <a:r>
              <a:rPr lang="pt-BR" altLang="pt-BR"/>
              <a:t> PROTEÇÃO COLETIVA - EPC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Equipamento de</a:t>
            </a:r>
            <a:br>
              <a:rPr lang="pt-BR" altLang="pt-BR"/>
            </a:br>
            <a:r>
              <a:rPr lang="pt-BR" altLang="pt-BR"/>
              <a:t>proteção coletiva – EPC</a:t>
            </a:r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/>
              <a:t>EPC é todo dispositivo, sistema ou meio físico  ou móvel de abrangência coletiva, destinado a preservar a integridade física e a saúde dos trabalhadores usuários e terceiros. 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990600" y="3657600"/>
            <a:ext cx="3352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800" b="1"/>
              <a:t>CONE DE SINALIZAÇÃO</a:t>
            </a:r>
          </a:p>
          <a:p>
            <a:endParaRPr lang="pt-BR" altLang="pt-BR" sz="1800" b="1"/>
          </a:p>
        </p:txBody>
      </p:sp>
      <p:pic>
        <p:nvPicPr>
          <p:cNvPr id="1039" name="Picture 15" descr="02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267200"/>
            <a:ext cx="2663825" cy="162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5257800" y="3657600"/>
            <a:ext cx="3352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800" b="1"/>
              <a:t>FITA DE SINALIZAÇÃO</a:t>
            </a:r>
          </a:p>
        </p:txBody>
      </p:sp>
      <p:pic>
        <p:nvPicPr>
          <p:cNvPr id="1044" name="Picture 20" descr="G:\NR-10\FINALIZAÇÃO\TODAS AS IMAGENS\028b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4191000"/>
            <a:ext cx="1195388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EPC`S</a:t>
            </a:r>
          </a:p>
        </p:txBody>
      </p:sp>
      <p:sp>
        <p:nvSpPr>
          <p:cNvPr id="56334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685800" y="2895600"/>
            <a:ext cx="3581400" cy="381000"/>
          </a:xfrm>
        </p:spPr>
        <p:txBody>
          <a:bodyPr/>
          <a:lstStyle/>
          <a:p>
            <a:r>
              <a:rPr lang="pt-BR" altLang="pt-BR" b="1"/>
              <a:t>GRADE METÁLICA DOBRÁVEL</a:t>
            </a:r>
          </a:p>
        </p:txBody>
      </p:sp>
      <p:pic>
        <p:nvPicPr>
          <p:cNvPr id="56326" name="Picture 6" descr="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29025"/>
            <a:ext cx="2767013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5257800" y="2895600"/>
            <a:ext cx="2895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r>
              <a:rPr lang="pt-BR" altLang="pt-BR" sz="1800" b="1"/>
              <a:t>SINALIZADOR STROBO</a:t>
            </a:r>
          </a:p>
        </p:txBody>
      </p:sp>
      <p:pic>
        <p:nvPicPr>
          <p:cNvPr id="56336" name="Picture 16" descr="G:\NR-10\FINALIZAÇÃO\TODAS AS IMAGENS\028.t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275" y="3708400"/>
            <a:ext cx="1025525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EPC`S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5562600" y="2514600"/>
            <a:ext cx="1600200" cy="60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b="1"/>
              <a:t>BANQUETA</a:t>
            </a:r>
            <a:br>
              <a:rPr lang="pt-BR" altLang="pt-BR" b="1"/>
            </a:br>
            <a:r>
              <a:rPr lang="pt-BR" altLang="pt-BR" b="1"/>
              <a:t> ISOLANTE</a:t>
            </a:r>
          </a:p>
        </p:txBody>
      </p:sp>
      <p:pic>
        <p:nvPicPr>
          <p:cNvPr id="57350" name="Picture 6" descr="0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8" y="1905000"/>
            <a:ext cx="180022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2" name="Picture 8" descr="0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038600"/>
            <a:ext cx="3681413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56" name="Picture 12" descr="0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0"/>
            <a:ext cx="290830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6019800" y="5867400"/>
            <a:ext cx="152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800" b="1"/>
              <a:t>MANTA</a:t>
            </a:r>
          </a:p>
          <a:p>
            <a:pPr algn="ctr"/>
            <a:r>
              <a:rPr lang="pt-BR" altLang="pt-BR" sz="1800" b="1"/>
              <a:t>ISOLANTE</a:t>
            </a:r>
          </a:p>
        </p:txBody>
      </p:sp>
      <p:sp>
        <p:nvSpPr>
          <p:cNvPr id="57358" name="Rectangle 14"/>
          <p:cNvSpPr>
            <a:spLocks noChangeArrowheads="1"/>
          </p:cNvSpPr>
          <p:nvPr/>
        </p:nvSpPr>
        <p:spPr bwMode="auto">
          <a:xfrm>
            <a:off x="1447800" y="3810000"/>
            <a:ext cx="1828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1pPr>
            <a:lvl2pPr marL="377825" indent="-187325">
              <a:spcBef>
                <a:spcPct val="20000"/>
              </a:spcBef>
              <a:buClr>
                <a:srgbClr val="FF3300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2pPr>
            <a:lvl3pPr marL="763588" indent="-195263">
              <a:spcBef>
                <a:spcPct val="20000"/>
              </a:spcBef>
              <a:buClr>
                <a:srgbClr val="969696"/>
              </a:buClr>
              <a:buSzPct val="70000"/>
              <a:buChar char="•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3pPr>
            <a:lvl4pPr marL="1141413" indent="-187325">
              <a:spcBef>
                <a:spcPct val="20000"/>
              </a:spcBef>
              <a:buChar char="-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4pPr>
            <a:lvl5pPr marL="1528763" indent="-196850">
              <a:spcBef>
                <a:spcPct val="20000"/>
              </a:spcBef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5pPr>
            <a:lvl6pPr marL="19859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6pPr>
            <a:lvl7pPr marL="24431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7pPr>
            <a:lvl8pPr marL="29003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8pPr>
            <a:lvl9pPr marL="3357563" indent="-19685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5F5F5F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pt-BR" altLang="pt-BR" sz="1800" b="1"/>
              <a:t>COBERTURA</a:t>
            </a:r>
          </a:p>
          <a:p>
            <a:pPr algn="ctr"/>
            <a:r>
              <a:rPr lang="pt-BR" altLang="pt-BR" sz="1800" b="1"/>
              <a:t>ISOLANTE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">
  <a:themeElements>
    <a:clrScheme name="MODELO 2">
      <a:dk1>
        <a:srgbClr val="000000"/>
      </a:dk1>
      <a:lt1>
        <a:srgbClr val="609494"/>
      </a:lt1>
      <a:dk2>
        <a:srgbClr val="FFC545"/>
      </a:dk2>
      <a:lt2>
        <a:srgbClr val="476F6E"/>
      </a:lt2>
      <a:accent1>
        <a:srgbClr val="FFFFCC"/>
      </a:accent1>
      <a:accent2>
        <a:srgbClr val="FF9900"/>
      </a:accent2>
      <a:accent3>
        <a:srgbClr val="B6C8C8"/>
      </a:accent3>
      <a:accent4>
        <a:srgbClr val="000000"/>
      </a:accent4>
      <a:accent5>
        <a:srgbClr val="FFFFE2"/>
      </a:accent5>
      <a:accent6>
        <a:srgbClr val="E78A00"/>
      </a:accent6>
      <a:hlink>
        <a:srgbClr val="3E7D7C"/>
      </a:hlink>
      <a:folHlink>
        <a:srgbClr val="99CCCC"/>
      </a:folHlink>
    </a:clrScheme>
    <a:fontScheme name="MODELO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ODELO 1">
        <a:dk1>
          <a:srgbClr val="264D4C"/>
        </a:dk1>
        <a:lt1>
          <a:srgbClr val="F8F8F8"/>
        </a:lt1>
        <a:dk2>
          <a:srgbClr val="336666"/>
        </a:dk2>
        <a:lt2>
          <a:srgbClr val="FFFFCC"/>
        </a:lt2>
        <a:accent1>
          <a:srgbClr val="C0C0C0"/>
        </a:accent1>
        <a:accent2>
          <a:srgbClr val="FF9900"/>
        </a:accent2>
        <a:accent3>
          <a:srgbClr val="ADB8B8"/>
        </a:accent3>
        <a:accent4>
          <a:srgbClr val="D4D4D4"/>
        </a:accent4>
        <a:accent5>
          <a:srgbClr val="DCDCDC"/>
        </a:accent5>
        <a:accent6>
          <a:srgbClr val="E78A00"/>
        </a:accent6>
        <a:hlink>
          <a:srgbClr val="FFCC00"/>
        </a:hlink>
        <a:folHlink>
          <a:srgbClr val="99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2">
        <a:dk1>
          <a:srgbClr val="000000"/>
        </a:dk1>
        <a:lt1>
          <a:srgbClr val="609494"/>
        </a:lt1>
        <a:dk2>
          <a:srgbClr val="FFC545"/>
        </a:dk2>
        <a:lt2>
          <a:srgbClr val="476F6E"/>
        </a:lt2>
        <a:accent1>
          <a:srgbClr val="FFFFCC"/>
        </a:accent1>
        <a:accent2>
          <a:srgbClr val="FF9900"/>
        </a:accent2>
        <a:accent3>
          <a:srgbClr val="B6C8C8"/>
        </a:accent3>
        <a:accent4>
          <a:srgbClr val="000000"/>
        </a:accent4>
        <a:accent5>
          <a:srgbClr val="FFFFE2"/>
        </a:accent5>
        <a:accent6>
          <a:srgbClr val="E78A00"/>
        </a:accent6>
        <a:hlink>
          <a:srgbClr val="3E7D7C"/>
        </a:hlink>
        <a:folHlink>
          <a:srgbClr val="99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F8F8F8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E1E1E1"/>
        </a:accent6>
        <a:hlink>
          <a:srgbClr val="4D4D4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G:\NR-10\Apresentações\MODELO.ppt</Template>
  <TotalTime>279</TotalTime>
  <Words>52</Words>
  <Application>Microsoft Office PowerPoint</Application>
  <PresentationFormat>Apresentação na tela (4:3)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Times New Roman</vt:lpstr>
      <vt:lpstr>Arial Black</vt:lpstr>
      <vt:lpstr>Arial Narrow</vt:lpstr>
      <vt:lpstr>Tahoma</vt:lpstr>
      <vt:lpstr>Wingdings</vt:lpstr>
      <vt:lpstr>Arial</vt:lpstr>
      <vt:lpstr>MODELO</vt:lpstr>
      <vt:lpstr>Equipamentos de  PROTEÇÃO COLETIVA - EPC</vt:lpstr>
      <vt:lpstr>Equipamento de proteção coletiva – EPC</vt:lpstr>
      <vt:lpstr>EPC`S</vt:lpstr>
      <vt:lpstr>EPC`S</vt:lpstr>
    </vt:vector>
  </TitlesOfParts>
  <Company>AES Eletropaulo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Michel Lucas de Oliveira</dc:creator>
  <cp:lastModifiedBy>Usuário do Windows</cp:lastModifiedBy>
  <cp:revision>59</cp:revision>
  <dcterms:created xsi:type="dcterms:W3CDTF">2005-06-20T14:11:47Z</dcterms:created>
  <dcterms:modified xsi:type="dcterms:W3CDTF">2017-10-15T20:24:30Z</dcterms:modified>
</cp:coreProperties>
</file>