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9" r:id="rId4"/>
    <p:sldId id="261" r:id="rId5"/>
    <p:sldId id="262" r:id="rId6"/>
    <p:sldId id="263" r:id="rId7"/>
    <p:sldId id="264" r:id="rId8"/>
    <p:sldId id="258" r:id="rId9"/>
    <p:sldId id="265" r:id="rId10"/>
    <p:sldId id="291" r:id="rId11"/>
    <p:sldId id="257" r:id="rId12"/>
    <p:sldId id="307" r:id="rId13"/>
    <p:sldId id="266" r:id="rId14"/>
    <p:sldId id="268" r:id="rId15"/>
    <p:sldId id="269" r:id="rId16"/>
    <p:sldId id="270" r:id="rId17"/>
    <p:sldId id="27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5" r:id="rId30"/>
    <p:sldId id="303" r:id="rId31"/>
    <p:sldId id="306" r:id="rId32"/>
    <p:sldId id="304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72" r:id="rId42"/>
    <p:sldId id="267" r:id="rId43"/>
    <p:sldId id="273" r:id="rId4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09" autoAdjust="0"/>
  </p:normalViewPr>
  <p:slideViewPr>
    <p:cSldViewPr>
      <p:cViewPr varScale="1">
        <p:scale>
          <a:sx n="41" d="100"/>
          <a:sy n="41" d="100"/>
        </p:scale>
        <p:origin x="-13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tângulo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ço Reservado para Conteúdo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ço Reservado para Conteúdo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Conteúdo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ço Reservado para Conteúdo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ector reto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69B30FD6-3DF8-42B2-907A-BB3C5FB8E01D}" type="datetimeFigureOut">
              <a:rPr lang="pt-BR" smtClean="0"/>
              <a:pPr/>
              <a:t>02/02/2017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615F093-4A93-46B5-8C14-EAEE7699080C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pt.wikipedia.org/wiki/Franc%C3%AAs" TargetMode="External"/><Relationship Id="rId2" Type="http://schemas.openxmlformats.org/officeDocument/2006/relationships/hyperlink" Target="http://pt.wikipedia.org/wiki/Estados_Unidos_da_Am%C3%A9ric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55576" y="2204864"/>
            <a:ext cx="7704856" cy="3888432"/>
          </a:xfrm>
        </p:spPr>
        <p:txBody>
          <a:bodyPr>
            <a:normAutofit/>
          </a:bodyPr>
          <a:lstStyle/>
          <a:p>
            <a:pPr algn="l"/>
            <a:endParaRPr lang="pt-BR" dirty="0" smtClean="0"/>
          </a:p>
          <a:p>
            <a:pPr algn="l"/>
            <a:r>
              <a:rPr lang="pt-BR" dirty="0" smtClean="0"/>
              <a:t>Professor : João D’</a:t>
            </a:r>
            <a:r>
              <a:rPr lang="pt-BR" dirty="0" err="1" smtClean="0"/>
              <a:t>arc</a:t>
            </a:r>
            <a:endParaRPr lang="pt-BR" dirty="0" smtClean="0"/>
          </a:p>
          <a:p>
            <a:pPr algn="l"/>
            <a:r>
              <a:rPr lang="pt-BR" dirty="0" smtClean="0"/>
              <a:t>Bombeiro Militar - MA</a:t>
            </a:r>
          </a:p>
          <a:p>
            <a:pPr algn="l"/>
            <a:r>
              <a:rPr lang="pt-BR" dirty="0" smtClean="0"/>
              <a:t>Técnico Eletromecânica - CTFMA</a:t>
            </a:r>
          </a:p>
          <a:p>
            <a:pPr algn="l"/>
            <a:r>
              <a:rPr lang="pt-BR" dirty="0" smtClean="0"/>
              <a:t>Técnico em APH/Nacional – CBMDF</a:t>
            </a:r>
          </a:p>
          <a:p>
            <a:pPr algn="l"/>
            <a:r>
              <a:rPr lang="pt-BR" dirty="0" smtClean="0"/>
              <a:t>Tecnólogo em Segurança do Trabalho – UNISA</a:t>
            </a:r>
          </a:p>
          <a:p>
            <a:pPr algn="l"/>
            <a:r>
              <a:rPr lang="pt-BR" dirty="0" smtClean="0"/>
              <a:t>Administrador de Empresa – UNICEUMA-MA</a:t>
            </a:r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836713"/>
            <a:ext cx="7772400" cy="1224135"/>
          </a:xfrm>
        </p:spPr>
        <p:txBody>
          <a:bodyPr/>
          <a:lstStyle/>
          <a:p>
            <a:r>
              <a:rPr lang="pt-BR" dirty="0" smtClean="0"/>
              <a:t>CURSO DE APH-BÁSICO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Atendimento  Pré-Hospitalar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pt-BR" dirty="0" smtClean="0"/>
          </a:p>
          <a:p>
            <a:r>
              <a:rPr lang="pt-BR" dirty="0" smtClean="0"/>
              <a:t>No dia-a-dia as situações mais adversas acontecem. </a:t>
            </a:r>
            <a:br>
              <a:rPr lang="pt-BR" dirty="0" smtClean="0"/>
            </a:br>
            <a:r>
              <a:rPr lang="pt-BR" dirty="0" smtClean="0"/>
              <a:t>Você pode estar frente a frente com uma emergência. </a:t>
            </a:r>
            <a:br>
              <a:rPr lang="pt-BR" dirty="0" smtClean="0"/>
            </a:br>
            <a:r>
              <a:rPr lang="pt-BR" dirty="0" smtClean="0"/>
              <a:t>Cada minuto é precioso para salvar uma vida</a:t>
            </a:r>
          </a:p>
          <a:p>
            <a:endParaRPr lang="pt-BR" dirty="0" smtClean="0"/>
          </a:p>
          <a:p>
            <a:pPr algn="r">
              <a:buNone/>
            </a:pPr>
            <a:endParaRPr lang="pt-BR" sz="2000" i="1" dirty="0" smtClean="0"/>
          </a:p>
          <a:p>
            <a:pPr algn="r">
              <a:buNone/>
            </a:pPr>
            <a:endParaRPr lang="pt-BR" sz="2000" i="1" dirty="0" smtClean="0"/>
          </a:p>
          <a:p>
            <a:pPr algn="r">
              <a:buNone/>
            </a:pPr>
            <a:r>
              <a:rPr lang="pt-BR" sz="2000" i="1" dirty="0" smtClean="0"/>
              <a:t>Evita o mal </a:t>
            </a:r>
          </a:p>
          <a:p>
            <a:pPr algn="r">
              <a:buNone/>
            </a:pPr>
            <a:r>
              <a:rPr lang="pt-BR" sz="2000" i="1" dirty="0" smtClean="0"/>
              <a:t>    e faze o bem.</a:t>
            </a:r>
          </a:p>
          <a:p>
            <a:pPr algn="r">
              <a:buNone/>
            </a:pPr>
            <a:r>
              <a:rPr lang="pt-BR" sz="2000" i="1" dirty="0" smtClean="0"/>
              <a:t>     </a:t>
            </a:r>
            <a:r>
              <a:rPr lang="pt-BR" sz="2000" i="1" dirty="0" err="1" smtClean="0"/>
              <a:t>Sl</a:t>
            </a:r>
            <a:r>
              <a:rPr lang="pt-BR" sz="2000" i="1" dirty="0" smtClean="0"/>
              <a:t>.34(33).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DEVER DO SOCORRISTA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MANTER AS FUNÇÕES VITAIS</a:t>
            </a:r>
          </a:p>
          <a:p>
            <a:pPr>
              <a:buFont typeface="Wingdings" pitchFamily="2" charset="2"/>
              <a:buChar char="Ø"/>
            </a:pP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EVITAR O AGRAVAMENTO DAS CONDIÇÕES;</a:t>
            </a:r>
          </a:p>
          <a:p>
            <a:pPr>
              <a:buNone/>
            </a:pPr>
            <a:endParaRPr lang="pt-BR" dirty="0" smtClean="0"/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PROVIDENCIAR ASSISTENCIA MÉDICA.</a:t>
            </a:r>
          </a:p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Atendimento  Pré-Hospitalar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São procedimento,  de emergência para atender, ainda no local do acidente, as vítimas de trauma, ou emergências clínicas, garantindo a segurança do local, avaliando o estado da vítima, estabilizando os sinais vitais, imobilizando e transportando para a unidade hospitalar mais adequada.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 do APH no Brasil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</a:t>
            </a:r>
            <a:r>
              <a:rPr lang="pt-BR" sz="4000" dirty="0" smtClean="0"/>
              <a:t>Surgiu em 1986 – no CBMRJ</a:t>
            </a:r>
          </a:p>
          <a:p>
            <a:r>
              <a:rPr lang="pt-BR" dirty="0" smtClean="0"/>
              <a:t> </a:t>
            </a:r>
            <a:r>
              <a:rPr lang="pt-BR" dirty="0" smtClean="0">
                <a:latin typeface="Verdana" pitchFamily="34" charset="0"/>
              </a:rPr>
              <a:t>Em 1990 o Ministério da Saúde lança, a nível nacional, o Programa de Enfrentamento às Emergências e Traumas – PEET, cabendo aos Corpo de Bombeiros o Projeto do  Atendimento Pré-Hospitalar.</a:t>
            </a:r>
            <a:endParaRPr lang="pt-BR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MS em 1º de junho de 2001, através da Portaria nº814 , considerou o APH como procedimento prestado a vítima nos primeiros minutos após o ocorrido:</a:t>
            </a:r>
          </a:p>
          <a:p>
            <a:r>
              <a:rPr lang="pt-BR" dirty="0" smtClean="0"/>
              <a:t>Trauma;</a:t>
            </a:r>
          </a:p>
          <a:p>
            <a:r>
              <a:rPr lang="pt-BR" dirty="0" smtClean="0"/>
              <a:t>Clínico;</a:t>
            </a:r>
          </a:p>
          <a:p>
            <a:r>
              <a:rPr lang="pt-BR" dirty="0" smtClean="0"/>
              <a:t>Psiquiátrico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Modalidade do APH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Suporte Básico de Vida (SBV), previsto na NR7</a:t>
            </a:r>
          </a:p>
          <a:p>
            <a:r>
              <a:rPr lang="pt-BR" dirty="0" smtClean="0"/>
              <a:t>Suporte Avançado de Vida (SAV), NR4 , procedimentos invasivos </a:t>
            </a:r>
          </a:p>
          <a:p>
            <a:r>
              <a:rPr lang="pt-BR" dirty="0" smtClean="0"/>
              <a:t>Serviço de Atendimento Móvel de Urgência (SAMU)</a:t>
            </a:r>
          </a:p>
          <a:p>
            <a:r>
              <a:rPr lang="pt-BR" dirty="0" smtClean="0"/>
              <a:t>Atendimento  Pré-Hospitalar – Resgate (APHR)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Protocolos do APH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 No Mundo existem diversos protocolos e modelos de atendimento pré hospitalar, destacando o </a:t>
            </a:r>
            <a:r>
              <a:rPr lang="pt-BR" i="1" dirty="0" smtClean="0"/>
              <a:t>Protocolo </a:t>
            </a:r>
            <a:r>
              <a:rPr lang="pt-BR" i="1" dirty="0" smtClean="0">
                <a:hlinkClick r:id="rId2" action="ppaction://hlinkfile" tooltip="Estados Unidos da América"/>
              </a:rPr>
              <a:t>Norte-Americano</a:t>
            </a:r>
            <a:r>
              <a:rPr lang="pt-BR" dirty="0" smtClean="0"/>
              <a:t> e o </a:t>
            </a:r>
            <a:r>
              <a:rPr lang="pt-BR" i="1" dirty="0" smtClean="0"/>
              <a:t>Protocolo </a:t>
            </a:r>
            <a:r>
              <a:rPr lang="pt-BR" i="1" dirty="0" smtClean="0">
                <a:hlinkClick r:id="rId3" action="ppaction://hlinkfile" tooltip="Francês"/>
              </a:rPr>
              <a:t>Francês</a:t>
            </a:r>
            <a:r>
              <a:rPr lang="pt-BR" dirty="0" smtClean="0"/>
              <a:t>, no primeiro aplica-se o conceito de chegar à vítima no menor tempo possível, realizar manobras essenciais para estabilizá-la e removê-la o mais rápido possível a um hospital adequado (princípio conhecido como hora de ouro).</a:t>
            </a:r>
          </a:p>
          <a:p>
            <a:r>
              <a:rPr lang="pt-BR" dirty="0" smtClean="0"/>
              <a:t>No protocolo </a:t>
            </a:r>
            <a:r>
              <a:rPr lang="pt-BR" dirty="0" smtClean="0">
                <a:hlinkClick r:id="rId3" action="ppaction://hlinkfile" tooltip="Francês"/>
              </a:rPr>
              <a:t>Francês</a:t>
            </a:r>
            <a:r>
              <a:rPr lang="pt-BR" dirty="0" smtClean="0"/>
              <a:t> adota-se o princípio de ofertar o atendimento médico no local até a estabilização da vítima (princípio conhecido como </a:t>
            </a:r>
            <a:r>
              <a:rPr lang="pt-BR" i="1" dirty="0" err="1" smtClean="0"/>
              <a:t>stay</a:t>
            </a:r>
            <a:r>
              <a:rPr lang="pt-BR" i="1" dirty="0" smtClean="0"/>
              <a:t> </a:t>
            </a:r>
            <a:r>
              <a:rPr lang="pt-BR" i="1" dirty="0" err="1" smtClean="0"/>
              <a:t>and</a:t>
            </a:r>
            <a:r>
              <a:rPr lang="pt-BR" i="1" dirty="0" smtClean="0"/>
              <a:t> play</a:t>
            </a:r>
            <a:r>
              <a:rPr lang="pt-BR" dirty="0" smtClean="0"/>
              <a:t>).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C00000"/>
                </a:solidFill>
                <a:latin typeface="Arial" charset="0"/>
              </a:rPr>
              <a:t>Hora de Ouro do Trauma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endParaRPr lang="pt-BR" b="1" dirty="0" smtClean="0">
              <a:latin typeface="Arial" charset="0"/>
            </a:endParaRPr>
          </a:p>
          <a:p>
            <a:endParaRPr lang="pt-BR" b="1" dirty="0" smtClean="0">
              <a:latin typeface="Arial" charset="0"/>
            </a:endParaRPr>
          </a:p>
          <a:p>
            <a:endParaRPr lang="pt-BR" b="1" dirty="0" smtClean="0">
              <a:latin typeface="Arial" charset="0"/>
            </a:endParaRPr>
          </a:p>
          <a:p>
            <a:endParaRPr lang="pt-BR" b="1" dirty="0" smtClean="0">
              <a:latin typeface="Arial" charset="0"/>
            </a:endParaRPr>
          </a:p>
          <a:p>
            <a:endParaRPr lang="pt-BR" b="1" dirty="0" smtClean="0">
              <a:latin typeface="Arial" charset="0"/>
            </a:endParaRPr>
          </a:p>
          <a:p>
            <a:endParaRPr lang="pt-BR" b="1" dirty="0" smtClean="0">
              <a:latin typeface="Arial" charset="0"/>
            </a:endParaRPr>
          </a:p>
          <a:p>
            <a:endParaRPr lang="pt-BR" b="1" dirty="0" smtClean="0">
              <a:latin typeface="Arial" charset="0"/>
            </a:endParaRPr>
          </a:p>
          <a:p>
            <a:endParaRPr lang="pt-BR" b="1" dirty="0" smtClean="0">
              <a:latin typeface="Arial" charset="0"/>
            </a:endParaRPr>
          </a:p>
          <a:p>
            <a:r>
              <a:rPr lang="pt-BR" b="1" dirty="0" smtClean="0">
                <a:latin typeface="Arial" charset="0"/>
              </a:rPr>
              <a:t>As chances de sobrevivência de um </a:t>
            </a:r>
            <a:r>
              <a:rPr lang="pt-BR" b="1" dirty="0" err="1" smtClean="0">
                <a:latin typeface="Arial" charset="0"/>
              </a:rPr>
              <a:t>politraumatizado</a:t>
            </a:r>
            <a:r>
              <a:rPr lang="pt-BR" b="1" dirty="0" smtClean="0">
                <a:latin typeface="Arial" charset="0"/>
              </a:rPr>
              <a:t> aumentam em até 80% se receber atendimento definitivo em até uma hora após o trauma.</a:t>
            </a:r>
            <a:endParaRPr lang="pt-BR" dirty="0" smtClean="0"/>
          </a:p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187450" y="1412776"/>
            <a:ext cx="7162800" cy="3024337"/>
            <a:chOff x="748" y="1253"/>
            <a:chExt cx="4512" cy="1730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748" y="1253"/>
              <a:ext cx="4512" cy="1586"/>
              <a:chOff x="720" y="1054"/>
              <a:chExt cx="4512" cy="1586"/>
            </a:xfrm>
          </p:grpSpPr>
          <p:sp>
            <p:nvSpPr>
              <p:cNvPr id="7" name="AutoShape 5"/>
              <p:cNvSpPr>
                <a:spLocks noChangeArrowheads="1"/>
              </p:cNvSpPr>
              <p:nvPr/>
            </p:nvSpPr>
            <p:spPr bwMode="auto">
              <a:xfrm>
                <a:off x="720" y="1054"/>
                <a:ext cx="2326" cy="1584"/>
              </a:xfrm>
              <a:prstGeom prst="cube">
                <a:avLst>
                  <a:gd name="adj" fmla="val 15509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43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pt-BR">
                  <a:solidFill>
                    <a:srgbClr val="FFFF00"/>
                  </a:solidFill>
                  <a:latin typeface="Arial Black" pitchFamily="34" charset="0"/>
                </a:endParaRPr>
              </a:p>
            </p:txBody>
          </p:sp>
          <p:sp>
            <p:nvSpPr>
              <p:cNvPr id="8" name="AutoShape 6"/>
              <p:cNvSpPr>
                <a:spLocks noChangeArrowheads="1"/>
              </p:cNvSpPr>
              <p:nvPr/>
            </p:nvSpPr>
            <p:spPr bwMode="auto">
              <a:xfrm>
                <a:off x="2627" y="1054"/>
                <a:ext cx="1023" cy="1584"/>
              </a:xfrm>
              <a:prstGeom prst="cube">
                <a:avLst>
                  <a:gd name="adj" fmla="val 25000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43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pt-BR" sz="2400">
                    <a:solidFill>
                      <a:srgbClr val="FFFF00"/>
                    </a:solidFill>
                    <a:latin typeface="Arial Black" pitchFamily="34" charset="0"/>
                  </a:rPr>
                  <a:t>50%</a:t>
                </a:r>
              </a:p>
              <a:p>
                <a:pPr algn="ctr"/>
                <a:r>
                  <a:rPr lang="pt-BR">
                    <a:solidFill>
                      <a:srgbClr val="FFFF00"/>
                    </a:solidFill>
                    <a:latin typeface="Arial Black" pitchFamily="34" charset="0"/>
                  </a:rPr>
                  <a:t>imediato</a:t>
                </a:r>
              </a:p>
            </p:txBody>
          </p:sp>
          <p:sp>
            <p:nvSpPr>
              <p:cNvPr id="9" name="AutoShape 7"/>
              <p:cNvSpPr>
                <a:spLocks noChangeArrowheads="1"/>
              </p:cNvSpPr>
              <p:nvPr/>
            </p:nvSpPr>
            <p:spPr bwMode="auto">
              <a:xfrm>
                <a:off x="3418" y="1406"/>
                <a:ext cx="1023" cy="1232"/>
              </a:xfrm>
              <a:prstGeom prst="cube">
                <a:avLst>
                  <a:gd name="adj" fmla="val 25000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43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pt-BR" sz="2400">
                    <a:solidFill>
                      <a:srgbClr val="FFFF00"/>
                    </a:solidFill>
                    <a:latin typeface="Arial Black" pitchFamily="34" charset="0"/>
                  </a:rPr>
                  <a:t>30%</a:t>
                </a:r>
              </a:p>
              <a:p>
                <a:pPr algn="ctr"/>
                <a:r>
                  <a:rPr lang="pt-BR">
                    <a:solidFill>
                      <a:srgbClr val="FFFF00"/>
                    </a:solidFill>
                    <a:latin typeface="Arial Black" pitchFamily="34" charset="0"/>
                  </a:rPr>
                  <a:t>1 hora</a:t>
                </a:r>
              </a:p>
              <a:p>
                <a:pPr algn="ctr"/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10" name="AutoShape 8"/>
              <p:cNvSpPr>
                <a:spLocks noChangeArrowheads="1"/>
              </p:cNvSpPr>
              <p:nvPr/>
            </p:nvSpPr>
            <p:spPr bwMode="auto">
              <a:xfrm>
                <a:off x="4209" y="1582"/>
                <a:ext cx="1023" cy="1056"/>
              </a:xfrm>
              <a:prstGeom prst="cube">
                <a:avLst>
                  <a:gd name="adj" fmla="val 25000"/>
                </a:avLst>
              </a:prstGeom>
              <a:gradFill rotWithShape="0">
                <a:gsLst>
                  <a:gs pos="0">
                    <a:srgbClr val="FF0000"/>
                  </a:gs>
                  <a:gs pos="100000">
                    <a:srgbClr val="43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pt-BR" sz="2400">
                    <a:solidFill>
                      <a:srgbClr val="FFFF00"/>
                    </a:solidFill>
                    <a:latin typeface="Arial Black" pitchFamily="34" charset="0"/>
                  </a:rPr>
                  <a:t>20%</a:t>
                </a:r>
              </a:p>
              <a:p>
                <a:pPr algn="ctr"/>
                <a:r>
                  <a:rPr lang="pt-BR">
                    <a:solidFill>
                      <a:srgbClr val="FFFF00"/>
                    </a:solidFill>
                    <a:latin typeface="Arial Black" pitchFamily="34" charset="0"/>
                  </a:rPr>
                  <a:t>após </a:t>
                </a:r>
              </a:p>
              <a:p>
                <a:pPr algn="ctr"/>
                <a:r>
                  <a:rPr lang="pt-BR">
                    <a:solidFill>
                      <a:srgbClr val="FFFF00"/>
                    </a:solidFill>
                    <a:latin typeface="Arial Black" pitchFamily="34" charset="0"/>
                  </a:rPr>
                  <a:t>1 hora</a:t>
                </a:r>
              </a:p>
              <a:p>
                <a:pPr algn="ctr"/>
                <a:endParaRPr lang="pt-BR" sz="2400">
                  <a:latin typeface="Times New Roman" pitchFamily="18" charset="0"/>
                </a:endParaRPr>
              </a:p>
            </p:txBody>
          </p:sp>
          <p:pic>
            <p:nvPicPr>
              <p:cNvPr id="11" name="Picture 9" descr="Resgate - Lages - Visão frontal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720" y="1318"/>
                <a:ext cx="1907" cy="132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</p:pic>
        </p:grpSp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3424" y="2750"/>
              <a:ext cx="1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pt-BR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>ORGANIZAÇÃO DO SEM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</a:t>
            </a:r>
            <a:endParaRPr lang="pt-BR" dirty="0"/>
          </a:p>
        </p:txBody>
      </p: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1042988" y="1773238"/>
            <a:ext cx="6908800" cy="3906837"/>
            <a:chOff x="672" y="1379"/>
            <a:chExt cx="4352" cy="2461"/>
          </a:xfrm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3460" y="1970"/>
              <a:ext cx="1311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Rectangle 12"/>
            <p:cNvSpPr>
              <a:spLocks noChangeArrowheads="1"/>
            </p:cNvSpPr>
            <p:nvPr/>
          </p:nvSpPr>
          <p:spPr bwMode="auto">
            <a:xfrm>
              <a:off x="2192" y="1465"/>
              <a:ext cx="1312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7" name="Group 57"/>
            <p:cNvGrpSpPr>
              <a:grpSpLocks/>
            </p:cNvGrpSpPr>
            <p:nvPr/>
          </p:nvGrpSpPr>
          <p:grpSpPr bwMode="auto">
            <a:xfrm>
              <a:off x="2193" y="1379"/>
              <a:ext cx="1267" cy="431"/>
              <a:chOff x="2193" y="1379"/>
              <a:chExt cx="1267" cy="431"/>
            </a:xfrm>
          </p:grpSpPr>
          <p:sp>
            <p:nvSpPr>
              <p:cNvPr id="67" name="Oval 11"/>
              <p:cNvSpPr>
                <a:spLocks noChangeArrowheads="1"/>
              </p:cNvSpPr>
              <p:nvPr/>
            </p:nvSpPr>
            <p:spPr bwMode="auto">
              <a:xfrm>
                <a:off x="2193" y="1379"/>
                <a:ext cx="1267" cy="431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pt-BR" sz="4000">
                  <a:latin typeface="Times New Roman" pitchFamily="18" charset="0"/>
                </a:endParaRPr>
              </a:p>
            </p:txBody>
          </p:sp>
          <p:sp>
            <p:nvSpPr>
              <p:cNvPr id="68" name="Rectangle 13"/>
              <p:cNvSpPr>
                <a:spLocks noChangeArrowheads="1"/>
              </p:cNvSpPr>
              <p:nvPr/>
            </p:nvSpPr>
            <p:spPr bwMode="auto">
              <a:xfrm>
                <a:off x="2581" y="1479"/>
                <a:ext cx="539" cy="115"/>
              </a:xfrm>
              <a:prstGeom prst="rect">
                <a:avLst/>
              </a:prstGeom>
              <a:solidFill>
                <a:srgbClr val="FFFF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pt-BR" sz="1200" b="1">
                    <a:solidFill>
                      <a:srgbClr val="000000"/>
                    </a:solidFill>
                    <a:latin typeface="Arial" charset="0"/>
                  </a:rPr>
                  <a:t>Situação de</a:t>
                </a:r>
                <a:endParaRPr lang="pt-BR" sz="2400">
                  <a:latin typeface="Times New Roman" pitchFamily="18" charset="0"/>
                </a:endParaRPr>
              </a:p>
            </p:txBody>
          </p:sp>
          <p:sp>
            <p:nvSpPr>
              <p:cNvPr id="69" name="Rectangle 14"/>
              <p:cNvSpPr>
                <a:spLocks noChangeArrowheads="1"/>
              </p:cNvSpPr>
              <p:nvPr/>
            </p:nvSpPr>
            <p:spPr bwMode="auto">
              <a:xfrm>
                <a:off x="2566" y="1627"/>
                <a:ext cx="571" cy="115"/>
              </a:xfrm>
              <a:prstGeom prst="rect">
                <a:avLst/>
              </a:prstGeom>
              <a:solidFill>
                <a:srgbClr val="FFFF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/>
                <a:r>
                  <a:rPr lang="pt-BR" sz="1200" b="1">
                    <a:solidFill>
                      <a:srgbClr val="000000"/>
                    </a:solidFill>
                    <a:latin typeface="Arial" charset="0"/>
                  </a:rPr>
                  <a:t>normalidade</a:t>
                </a:r>
                <a:endParaRPr lang="pt-BR" sz="2400">
                  <a:latin typeface="Times New Roman" pitchFamily="18" charset="0"/>
                </a:endParaRPr>
              </a:p>
            </p:txBody>
          </p:sp>
        </p:grpSp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3249" y="3495"/>
              <a:ext cx="888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Rectangle 20"/>
            <p:cNvSpPr>
              <a:spLocks noChangeArrowheads="1"/>
            </p:cNvSpPr>
            <p:nvPr/>
          </p:nvSpPr>
          <p:spPr bwMode="auto">
            <a:xfrm>
              <a:off x="1559" y="3576"/>
              <a:ext cx="1226" cy="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Rectangle 23"/>
            <p:cNvSpPr>
              <a:spLocks noChangeArrowheads="1"/>
            </p:cNvSpPr>
            <p:nvPr/>
          </p:nvSpPr>
          <p:spPr bwMode="auto">
            <a:xfrm>
              <a:off x="672" y="2711"/>
              <a:ext cx="1268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Rectangle 27"/>
            <p:cNvSpPr>
              <a:spLocks noChangeArrowheads="1"/>
            </p:cNvSpPr>
            <p:nvPr/>
          </p:nvSpPr>
          <p:spPr bwMode="auto">
            <a:xfrm>
              <a:off x="1010" y="1981"/>
              <a:ext cx="1268" cy="2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" name="Group 65"/>
            <p:cNvGrpSpPr>
              <a:grpSpLocks/>
            </p:cNvGrpSpPr>
            <p:nvPr/>
          </p:nvGrpSpPr>
          <p:grpSpPr bwMode="auto">
            <a:xfrm>
              <a:off x="3756" y="2325"/>
              <a:ext cx="1268" cy="732"/>
              <a:chOff x="3756" y="2325"/>
              <a:chExt cx="1268" cy="732"/>
            </a:xfrm>
          </p:grpSpPr>
          <p:grpSp>
            <p:nvGrpSpPr>
              <p:cNvPr id="59" name="Group 59"/>
              <p:cNvGrpSpPr>
                <a:grpSpLocks/>
              </p:cNvGrpSpPr>
              <p:nvPr/>
            </p:nvGrpSpPr>
            <p:grpSpPr bwMode="auto">
              <a:xfrm>
                <a:off x="3756" y="2626"/>
                <a:ext cx="1268" cy="431"/>
                <a:chOff x="3756" y="2626"/>
                <a:chExt cx="1268" cy="431"/>
              </a:xfrm>
            </p:grpSpPr>
            <p:sp>
              <p:nvSpPr>
                <p:cNvPr id="63" name="Oval 3"/>
                <p:cNvSpPr>
                  <a:spLocks noChangeArrowheads="1"/>
                </p:cNvSpPr>
                <p:nvPr/>
              </p:nvSpPr>
              <p:spPr bwMode="auto">
                <a:xfrm>
                  <a:off x="3756" y="2626"/>
                  <a:ext cx="1268" cy="431"/>
                </a:xfrm>
                <a:prstGeom prst="ellipse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4" name="Rectangle 4"/>
                <p:cNvSpPr>
                  <a:spLocks noChangeArrowheads="1"/>
                </p:cNvSpPr>
                <p:nvPr/>
              </p:nvSpPr>
              <p:spPr bwMode="auto">
                <a:xfrm>
                  <a:off x="3967" y="2701"/>
                  <a:ext cx="889" cy="2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5" name="Rectangle 5"/>
                <p:cNvSpPr>
                  <a:spLocks noChangeArrowheads="1"/>
                </p:cNvSpPr>
                <p:nvPr/>
              </p:nvSpPr>
              <p:spPr bwMode="auto">
                <a:xfrm>
                  <a:off x="4040" y="2715"/>
                  <a:ext cx="753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Acionamento do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  <p:sp>
              <p:nvSpPr>
                <p:cNvPr id="66" name="Rectangle 6"/>
                <p:cNvSpPr>
                  <a:spLocks noChangeArrowheads="1"/>
                </p:cNvSpPr>
                <p:nvPr/>
              </p:nvSpPr>
              <p:spPr bwMode="auto">
                <a:xfrm>
                  <a:off x="4037" y="2863"/>
                  <a:ext cx="758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COBOM/COPOM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60" name="Group 30"/>
              <p:cNvGrpSpPr>
                <a:grpSpLocks/>
              </p:cNvGrpSpPr>
              <p:nvPr/>
            </p:nvGrpSpPr>
            <p:grpSpPr bwMode="auto">
              <a:xfrm>
                <a:off x="4172" y="2325"/>
                <a:ext cx="269" cy="301"/>
                <a:chOff x="4225" y="1991"/>
                <a:chExt cx="269" cy="301"/>
              </a:xfrm>
            </p:grpSpPr>
            <p:sp>
              <p:nvSpPr>
                <p:cNvPr id="61" name="Line 31"/>
                <p:cNvSpPr>
                  <a:spLocks noChangeShapeType="1"/>
                </p:cNvSpPr>
                <p:nvPr/>
              </p:nvSpPr>
              <p:spPr bwMode="auto">
                <a:xfrm>
                  <a:off x="4225" y="1991"/>
                  <a:ext cx="230" cy="257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2" name="Freeform 32"/>
                <p:cNvSpPr>
                  <a:spLocks/>
                </p:cNvSpPr>
                <p:nvPr/>
              </p:nvSpPr>
              <p:spPr bwMode="auto">
                <a:xfrm>
                  <a:off x="4430" y="2226"/>
                  <a:ext cx="64" cy="66"/>
                </a:xfrm>
                <a:custGeom>
                  <a:avLst/>
                  <a:gdLst>
                    <a:gd name="T0" fmla="*/ 0 w 129"/>
                    <a:gd name="T1" fmla="*/ 20 h 133"/>
                    <a:gd name="T2" fmla="*/ 32 w 129"/>
                    <a:gd name="T3" fmla="*/ 33 h 133"/>
                    <a:gd name="T4" fmla="*/ 23 w 129"/>
                    <a:gd name="T5" fmla="*/ 0 h 133"/>
                    <a:gd name="T6" fmla="*/ 0 w 129"/>
                    <a:gd name="T7" fmla="*/ 20 h 13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9"/>
                    <a:gd name="T13" fmla="*/ 0 h 133"/>
                    <a:gd name="T14" fmla="*/ 129 w 129"/>
                    <a:gd name="T15" fmla="*/ 133 h 13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9" h="133">
                      <a:moveTo>
                        <a:pt x="0" y="83"/>
                      </a:moveTo>
                      <a:lnTo>
                        <a:pt x="129" y="133"/>
                      </a:lnTo>
                      <a:lnTo>
                        <a:pt x="93" y="0"/>
                      </a:lnTo>
                      <a:lnTo>
                        <a:pt x="0" y="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13" name="Group 64"/>
            <p:cNvGrpSpPr>
              <a:grpSpLocks/>
            </p:cNvGrpSpPr>
            <p:nvPr/>
          </p:nvGrpSpPr>
          <p:grpSpPr bwMode="auto">
            <a:xfrm>
              <a:off x="3460" y="1680"/>
              <a:ext cx="1268" cy="646"/>
              <a:chOff x="3460" y="1680"/>
              <a:chExt cx="1268" cy="646"/>
            </a:xfrm>
          </p:grpSpPr>
          <p:grpSp>
            <p:nvGrpSpPr>
              <p:cNvPr id="52" name="Group 58"/>
              <p:cNvGrpSpPr>
                <a:grpSpLocks/>
              </p:cNvGrpSpPr>
              <p:nvPr/>
            </p:nvGrpSpPr>
            <p:grpSpPr bwMode="auto">
              <a:xfrm>
                <a:off x="3460" y="1895"/>
                <a:ext cx="1268" cy="431"/>
                <a:chOff x="3460" y="1895"/>
                <a:chExt cx="1268" cy="431"/>
              </a:xfrm>
            </p:grpSpPr>
            <p:sp>
              <p:nvSpPr>
                <p:cNvPr id="56" name="Oval 7"/>
                <p:cNvSpPr>
                  <a:spLocks noChangeArrowheads="1"/>
                </p:cNvSpPr>
                <p:nvPr/>
              </p:nvSpPr>
              <p:spPr bwMode="auto">
                <a:xfrm>
                  <a:off x="3460" y="1895"/>
                  <a:ext cx="1268" cy="431"/>
                </a:xfrm>
                <a:prstGeom prst="ellipse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7" name="Rectangle 9"/>
                <p:cNvSpPr>
                  <a:spLocks noChangeArrowheads="1"/>
                </p:cNvSpPr>
                <p:nvPr/>
              </p:nvSpPr>
              <p:spPr bwMode="auto">
                <a:xfrm>
                  <a:off x="3873" y="1985"/>
                  <a:ext cx="491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Trauma ou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  <p:sp>
              <p:nvSpPr>
                <p:cNvPr id="58" name="Rectangle 10"/>
                <p:cNvSpPr>
                  <a:spLocks noChangeArrowheads="1"/>
                </p:cNvSpPr>
                <p:nvPr/>
              </p:nvSpPr>
              <p:spPr bwMode="auto">
                <a:xfrm>
                  <a:off x="3674" y="2133"/>
                  <a:ext cx="895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Emergência Médica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53" name="Group 33"/>
              <p:cNvGrpSpPr>
                <a:grpSpLocks/>
              </p:cNvGrpSpPr>
              <p:nvPr/>
            </p:nvGrpSpPr>
            <p:grpSpPr bwMode="auto">
              <a:xfrm>
                <a:off x="3460" y="1680"/>
                <a:ext cx="422" cy="215"/>
                <a:chOff x="3513" y="1346"/>
                <a:chExt cx="422" cy="215"/>
              </a:xfrm>
            </p:grpSpPr>
            <p:sp>
              <p:nvSpPr>
                <p:cNvPr id="54" name="Line 34"/>
                <p:cNvSpPr>
                  <a:spLocks noChangeShapeType="1"/>
                </p:cNvSpPr>
                <p:nvPr/>
              </p:nvSpPr>
              <p:spPr bwMode="auto">
                <a:xfrm>
                  <a:off x="3513" y="1346"/>
                  <a:ext cx="370" cy="19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5" name="Freeform 35"/>
                <p:cNvSpPr>
                  <a:spLocks/>
                </p:cNvSpPr>
                <p:nvPr/>
              </p:nvSpPr>
              <p:spPr bwMode="auto">
                <a:xfrm>
                  <a:off x="3866" y="1506"/>
                  <a:ext cx="69" cy="55"/>
                </a:xfrm>
                <a:custGeom>
                  <a:avLst/>
                  <a:gdLst>
                    <a:gd name="T0" fmla="*/ 0 w 138"/>
                    <a:gd name="T1" fmla="*/ 27 h 111"/>
                    <a:gd name="T2" fmla="*/ 35 w 138"/>
                    <a:gd name="T3" fmla="*/ 27 h 111"/>
                    <a:gd name="T4" fmla="*/ 14 w 138"/>
                    <a:gd name="T5" fmla="*/ 0 h 111"/>
                    <a:gd name="T6" fmla="*/ 0 w 138"/>
                    <a:gd name="T7" fmla="*/ 27 h 11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8"/>
                    <a:gd name="T13" fmla="*/ 0 h 111"/>
                    <a:gd name="T14" fmla="*/ 138 w 138"/>
                    <a:gd name="T15" fmla="*/ 111 h 11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8" h="111">
                      <a:moveTo>
                        <a:pt x="0" y="111"/>
                      </a:moveTo>
                      <a:lnTo>
                        <a:pt x="138" y="111"/>
                      </a:lnTo>
                      <a:lnTo>
                        <a:pt x="57" y="0"/>
                      </a:lnTo>
                      <a:lnTo>
                        <a:pt x="0" y="11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14" name="Group 40"/>
            <p:cNvGrpSpPr>
              <a:grpSpLocks/>
            </p:cNvGrpSpPr>
            <p:nvPr/>
          </p:nvGrpSpPr>
          <p:grpSpPr bwMode="auto">
            <a:xfrm>
              <a:off x="1728" y="1675"/>
              <a:ext cx="507" cy="220"/>
              <a:chOff x="1781" y="1341"/>
              <a:chExt cx="507" cy="220"/>
            </a:xfrm>
          </p:grpSpPr>
          <p:sp>
            <p:nvSpPr>
              <p:cNvPr id="50" name="Line 41"/>
              <p:cNvSpPr>
                <a:spLocks noChangeShapeType="1"/>
              </p:cNvSpPr>
              <p:nvPr/>
            </p:nvSpPr>
            <p:spPr bwMode="auto">
              <a:xfrm flipV="1">
                <a:off x="1781" y="1369"/>
                <a:ext cx="452" cy="19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" name="Freeform 42"/>
              <p:cNvSpPr>
                <a:spLocks/>
              </p:cNvSpPr>
              <p:nvPr/>
            </p:nvSpPr>
            <p:spPr bwMode="auto">
              <a:xfrm>
                <a:off x="2220" y="1341"/>
                <a:ext cx="68" cy="58"/>
              </a:xfrm>
              <a:custGeom>
                <a:avLst/>
                <a:gdLst>
                  <a:gd name="T0" fmla="*/ 12 w 136"/>
                  <a:gd name="T1" fmla="*/ 29 h 117"/>
                  <a:gd name="T2" fmla="*/ 34 w 136"/>
                  <a:gd name="T3" fmla="*/ 2 h 117"/>
                  <a:gd name="T4" fmla="*/ 0 w 136"/>
                  <a:gd name="T5" fmla="*/ 0 h 117"/>
                  <a:gd name="T6" fmla="*/ 12 w 136"/>
                  <a:gd name="T7" fmla="*/ 29 h 1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117"/>
                  <a:gd name="T14" fmla="*/ 136 w 136"/>
                  <a:gd name="T15" fmla="*/ 117 h 1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117">
                    <a:moveTo>
                      <a:pt x="48" y="117"/>
                    </a:moveTo>
                    <a:lnTo>
                      <a:pt x="136" y="10"/>
                    </a:lnTo>
                    <a:lnTo>
                      <a:pt x="0" y="0"/>
                    </a:lnTo>
                    <a:lnTo>
                      <a:pt x="48" y="117"/>
                    </a:lnTo>
                    <a:close/>
                  </a:path>
                </a:pathLst>
              </a:cu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5" name="Group 66"/>
            <p:cNvGrpSpPr>
              <a:grpSpLocks/>
            </p:cNvGrpSpPr>
            <p:nvPr/>
          </p:nvGrpSpPr>
          <p:grpSpPr bwMode="auto">
            <a:xfrm>
              <a:off x="1516" y="3021"/>
              <a:ext cx="2663" cy="819"/>
              <a:chOff x="1516" y="3021"/>
              <a:chExt cx="2663" cy="819"/>
            </a:xfrm>
          </p:grpSpPr>
          <p:grpSp>
            <p:nvGrpSpPr>
              <p:cNvPr id="43" name="Group 61"/>
              <p:cNvGrpSpPr>
                <a:grpSpLocks/>
              </p:cNvGrpSpPr>
              <p:nvPr/>
            </p:nvGrpSpPr>
            <p:grpSpPr bwMode="auto">
              <a:xfrm>
                <a:off x="1516" y="3409"/>
                <a:ext cx="1269" cy="431"/>
                <a:chOff x="1516" y="3409"/>
                <a:chExt cx="1269" cy="431"/>
              </a:xfrm>
            </p:grpSpPr>
            <p:sp>
              <p:nvSpPr>
                <p:cNvPr id="48" name="Oval 19"/>
                <p:cNvSpPr>
                  <a:spLocks noChangeArrowheads="1"/>
                </p:cNvSpPr>
                <p:nvPr/>
              </p:nvSpPr>
              <p:spPr bwMode="auto">
                <a:xfrm>
                  <a:off x="1516" y="3409"/>
                  <a:ext cx="1269" cy="431"/>
                </a:xfrm>
                <a:prstGeom prst="ellipse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9" name="Rectangle 21"/>
                <p:cNvSpPr>
                  <a:spLocks noChangeArrowheads="1"/>
                </p:cNvSpPr>
                <p:nvPr/>
              </p:nvSpPr>
              <p:spPr bwMode="auto">
                <a:xfrm>
                  <a:off x="1693" y="3590"/>
                  <a:ext cx="971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Profissionais de APH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44" name="Group 43"/>
              <p:cNvGrpSpPr>
                <a:grpSpLocks/>
              </p:cNvGrpSpPr>
              <p:nvPr/>
            </p:nvGrpSpPr>
            <p:grpSpPr bwMode="auto">
              <a:xfrm>
                <a:off x="2611" y="3021"/>
                <a:ext cx="1568" cy="453"/>
                <a:chOff x="2664" y="2687"/>
                <a:chExt cx="1568" cy="453"/>
              </a:xfrm>
            </p:grpSpPr>
            <p:sp>
              <p:nvSpPr>
                <p:cNvPr id="45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2721" y="2717"/>
                  <a:ext cx="1454" cy="394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6" name="Freeform 45"/>
                <p:cNvSpPr>
                  <a:spLocks/>
                </p:cNvSpPr>
                <p:nvPr/>
              </p:nvSpPr>
              <p:spPr bwMode="auto">
                <a:xfrm>
                  <a:off x="2664" y="3080"/>
                  <a:ext cx="67" cy="60"/>
                </a:xfrm>
                <a:custGeom>
                  <a:avLst/>
                  <a:gdLst>
                    <a:gd name="T0" fmla="*/ 25 w 134"/>
                    <a:gd name="T1" fmla="*/ 0 h 120"/>
                    <a:gd name="T2" fmla="*/ 0 w 134"/>
                    <a:gd name="T3" fmla="*/ 23 h 120"/>
                    <a:gd name="T4" fmla="*/ 34 w 134"/>
                    <a:gd name="T5" fmla="*/ 30 h 120"/>
                    <a:gd name="T6" fmla="*/ 25 w 134"/>
                    <a:gd name="T7" fmla="*/ 0 h 1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4"/>
                    <a:gd name="T13" fmla="*/ 0 h 120"/>
                    <a:gd name="T14" fmla="*/ 134 w 134"/>
                    <a:gd name="T15" fmla="*/ 120 h 1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4" h="120">
                      <a:moveTo>
                        <a:pt x="103" y="0"/>
                      </a:moveTo>
                      <a:lnTo>
                        <a:pt x="0" y="92"/>
                      </a:lnTo>
                      <a:lnTo>
                        <a:pt x="134" y="120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7" name="Freeform 46"/>
                <p:cNvSpPr>
                  <a:spLocks/>
                </p:cNvSpPr>
                <p:nvPr/>
              </p:nvSpPr>
              <p:spPr bwMode="auto">
                <a:xfrm>
                  <a:off x="4165" y="2687"/>
                  <a:ext cx="67" cy="60"/>
                </a:xfrm>
                <a:custGeom>
                  <a:avLst/>
                  <a:gdLst>
                    <a:gd name="T0" fmla="*/ 8 w 134"/>
                    <a:gd name="T1" fmla="*/ 30 h 120"/>
                    <a:gd name="T2" fmla="*/ 34 w 134"/>
                    <a:gd name="T3" fmla="*/ 7 h 120"/>
                    <a:gd name="T4" fmla="*/ 0 w 134"/>
                    <a:gd name="T5" fmla="*/ 0 h 120"/>
                    <a:gd name="T6" fmla="*/ 8 w 134"/>
                    <a:gd name="T7" fmla="*/ 30 h 12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4"/>
                    <a:gd name="T13" fmla="*/ 0 h 120"/>
                    <a:gd name="T14" fmla="*/ 134 w 134"/>
                    <a:gd name="T15" fmla="*/ 120 h 12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4" h="120">
                      <a:moveTo>
                        <a:pt x="32" y="120"/>
                      </a:moveTo>
                      <a:lnTo>
                        <a:pt x="134" y="28"/>
                      </a:lnTo>
                      <a:lnTo>
                        <a:pt x="0" y="0"/>
                      </a:lnTo>
                      <a:lnTo>
                        <a:pt x="32" y="1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16" name="Group 67"/>
            <p:cNvGrpSpPr>
              <a:grpSpLocks/>
            </p:cNvGrpSpPr>
            <p:nvPr/>
          </p:nvGrpSpPr>
          <p:grpSpPr bwMode="auto">
            <a:xfrm>
              <a:off x="2784" y="3082"/>
              <a:ext cx="1577" cy="758"/>
              <a:chOff x="2784" y="3082"/>
              <a:chExt cx="1577" cy="758"/>
            </a:xfrm>
          </p:grpSpPr>
          <p:grpSp>
            <p:nvGrpSpPr>
              <p:cNvPr id="31" name="Group 60"/>
              <p:cNvGrpSpPr>
                <a:grpSpLocks/>
              </p:cNvGrpSpPr>
              <p:nvPr/>
            </p:nvGrpSpPr>
            <p:grpSpPr bwMode="auto">
              <a:xfrm>
                <a:off x="3038" y="3409"/>
                <a:ext cx="1268" cy="431"/>
                <a:chOff x="3038" y="3409"/>
                <a:chExt cx="1268" cy="431"/>
              </a:xfrm>
            </p:grpSpPr>
            <p:sp>
              <p:nvSpPr>
                <p:cNvPr id="40" name="Oval 15"/>
                <p:cNvSpPr>
                  <a:spLocks noChangeArrowheads="1"/>
                </p:cNvSpPr>
                <p:nvPr/>
              </p:nvSpPr>
              <p:spPr bwMode="auto">
                <a:xfrm>
                  <a:off x="3038" y="3409"/>
                  <a:ext cx="1268" cy="431"/>
                </a:xfrm>
                <a:prstGeom prst="ellipse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1" name="Rectangle 17"/>
                <p:cNvSpPr>
                  <a:spLocks noChangeArrowheads="1"/>
                </p:cNvSpPr>
                <p:nvPr/>
              </p:nvSpPr>
              <p:spPr bwMode="auto">
                <a:xfrm>
                  <a:off x="3477" y="3510"/>
                  <a:ext cx="436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Recursos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  <p:sp>
              <p:nvSpPr>
                <p:cNvPr id="42" name="Rectangle 18"/>
                <p:cNvSpPr>
                  <a:spLocks noChangeArrowheads="1"/>
                </p:cNvSpPr>
                <p:nvPr/>
              </p:nvSpPr>
              <p:spPr bwMode="auto">
                <a:xfrm>
                  <a:off x="3452" y="3657"/>
                  <a:ext cx="486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Adicionais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32" name="Group 36"/>
              <p:cNvGrpSpPr>
                <a:grpSpLocks/>
              </p:cNvGrpSpPr>
              <p:nvPr/>
            </p:nvGrpSpPr>
            <p:grpSpPr bwMode="auto">
              <a:xfrm>
                <a:off x="2784" y="3618"/>
                <a:ext cx="254" cy="63"/>
                <a:chOff x="2837" y="3284"/>
                <a:chExt cx="254" cy="63"/>
              </a:xfrm>
            </p:grpSpPr>
            <p:sp>
              <p:nvSpPr>
                <p:cNvPr id="37" name="Line 37"/>
                <p:cNvSpPr>
                  <a:spLocks noChangeShapeType="1"/>
                </p:cNvSpPr>
                <p:nvPr/>
              </p:nvSpPr>
              <p:spPr bwMode="auto">
                <a:xfrm>
                  <a:off x="2897" y="3316"/>
                  <a:ext cx="135" cy="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8" name="Freeform 38"/>
                <p:cNvSpPr>
                  <a:spLocks/>
                </p:cNvSpPr>
                <p:nvPr/>
              </p:nvSpPr>
              <p:spPr bwMode="auto">
                <a:xfrm>
                  <a:off x="2837" y="3284"/>
                  <a:ext cx="62" cy="62"/>
                </a:xfrm>
                <a:custGeom>
                  <a:avLst/>
                  <a:gdLst>
                    <a:gd name="T0" fmla="*/ 32 w 122"/>
                    <a:gd name="T1" fmla="*/ 0 h 124"/>
                    <a:gd name="T2" fmla="*/ 0 w 122"/>
                    <a:gd name="T3" fmla="*/ 16 h 124"/>
                    <a:gd name="T4" fmla="*/ 32 w 122"/>
                    <a:gd name="T5" fmla="*/ 31 h 124"/>
                    <a:gd name="T6" fmla="*/ 32 w 122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2"/>
                    <a:gd name="T13" fmla="*/ 0 h 124"/>
                    <a:gd name="T14" fmla="*/ 122 w 122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2" h="124">
                      <a:moveTo>
                        <a:pt x="122" y="0"/>
                      </a:moveTo>
                      <a:lnTo>
                        <a:pt x="0" y="63"/>
                      </a:lnTo>
                      <a:lnTo>
                        <a:pt x="122" y="124"/>
                      </a:lnTo>
                      <a:lnTo>
                        <a:pt x="12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9" name="Freeform 39"/>
                <p:cNvSpPr>
                  <a:spLocks/>
                </p:cNvSpPr>
                <p:nvPr/>
              </p:nvSpPr>
              <p:spPr bwMode="auto">
                <a:xfrm>
                  <a:off x="3030" y="3285"/>
                  <a:ext cx="61" cy="62"/>
                </a:xfrm>
                <a:custGeom>
                  <a:avLst/>
                  <a:gdLst>
                    <a:gd name="T0" fmla="*/ 0 w 122"/>
                    <a:gd name="T1" fmla="*/ 31 h 124"/>
                    <a:gd name="T2" fmla="*/ 31 w 122"/>
                    <a:gd name="T3" fmla="*/ 16 h 124"/>
                    <a:gd name="T4" fmla="*/ 0 w 122"/>
                    <a:gd name="T5" fmla="*/ 0 h 124"/>
                    <a:gd name="T6" fmla="*/ 0 w 122"/>
                    <a:gd name="T7" fmla="*/ 3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2"/>
                    <a:gd name="T13" fmla="*/ 0 h 124"/>
                    <a:gd name="T14" fmla="*/ 122 w 122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2" h="124">
                      <a:moveTo>
                        <a:pt x="0" y="124"/>
                      </a:moveTo>
                      <a:lnTo>
                        <a:pt x="122" y="61"/>
                      </a:lnTo>
                      <a:lnTo>
                        <a:pt x="0" y="0"/>
                      </a:lnTo>
                      <a:lnTo>
                        <a:pt x="0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3" name="Group 47"/>
              <p:cNvGrpSpPr>
                <a:grpSpLocks/>
              </p:cNvGrpSpPr>
              <p:nvPr/>
            </p:nvGrpSpPr>
            <p:grpSpPr bwMode="auto">
              <a:xfrm>
                <a:off x="3746" y="3082"/>
                <a:ext cx="615" cy="348"/>
                <a:chOff x="3799" y="2748"/>
                <a:chExt cx="615" cy="348"/>
              </a:xfrm>
            </p:grpSpPr>
            <p:sp>
              <p:nvSpPr>
                <p:cNvPr id="34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3850" y="2777"/>
                  <a:ext cx="513" cy="29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5" name="Freeform 49"/>
                <p:cNvSpPr>
                  <a:spLocks/>
                </p:cNvSpPr>
                <p:nvPr/>
              </p:nvSpPr>
              <p:spPr bwMode="auto">
                <a:xfrm>
                  <a:off x="4346" y="2748"/>
                  <a:ext cx="68" cy="58"/>
                </a:xfrm>
                <a:custGeom>
                  <a:avLst/>
                  <a:gdLst>
                    <a:gd name="T0" fmla="*/ 15 w 136"/>
                    <a:gd name="T1" fmla="*/ 29 h 117"/>
                    <a:gd name="T2" fmla="*/ 34 w 136"/>
                    <a:gd name="T3" fmla="*/ 0 h 117"/>
                    <a:gd name="T4" fmla="*/ 0 w 136"/>
                    <a:gd name="T5" fmla="*/ 2 h 117"/>
                    <a:gd name="T6" fmla="*/ 15 w 136"/>
                    <a:gd name="T7" fmla="*/ 29 h 1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17"/>
                    <a:gd name="T14" fmla="*/ 136 w 136"/>
                    <a:gd name="T15" fmla="*/ 117 h 1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17">
                      <a:moveTo>
                        <a:pt x="61" y="117"/>
                      </a:moveTo>
                      <a:lnTo>
                        <a:pt x="136" y="0"/>
                      </a:lnTo>
                      <a:lnTo>
                        <a:pt x="0" y="8"/>
                      </a:lnTo>
                      <a:lnTo>
                        <a:pt x="61" y="1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6" name="Freeform 50"/>
                <p:cNvSpPr>
                  <a:spLocks/>
                </p:cNvSpPr>
                <p:nvPr/>
              </p:nvSpPr>
              <p:spPr bwMode="auto">
                <a:xfrm>
                  <a:off x="3799" y="3038"/>
                  <a:ext cx="68" cy="58"/>
                </a:xfrm>
                <a:custGeom>
                  <a:avLst/>
                  <a:gdLst>
                    <a:gd name="T0" fmla="*/ 18 w 136"/>
                    <a:gd name="T1" fmla="*/ 0 h 116"/>
                    <a:gd name="T2" fmla="*/ 0 w 136"/>
                    <a:gd name="T3" fmla="*/ 29 h 116"/>
                    <a:gd name="T4" fmla="*/ 34 w 136"/>
                    <a:gd name="T5" fmla="*/ 27 h 116"/>
                    <a:gd name="T6" fmla="*/ 18 w 136"/>
                    <a:gd name="T7" fmla="*/ 0 h 11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16"/>
                    <a:gd name="T14" fmla="*/ 136 w 136"/>
                    <a:gd name="T15" fmla="*/ 116 h 11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16">
                      <a:moveTo>
                        <a:pt x="75" y="0"/>
                      </a:moveTo>
                      <a:lnTo>
                        <a:pt x="0" y="116"/>
                      </a:lnTo>
                      <a:lnTo>
                        <a:pt x="136" y="108"/>
                      </a:ln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17" name="Group 68"/>
            <p:cNvGrpSpPr>
              <a:grpSpLocks/>
            </p:cNvGrpSpPr>
            <p:nvPr/>
          </p:nvGrpSpPr>
          <p:grpSpPr bwMode="auto">
            <a:xfrm>
              <a:off x="672" y="2626"/>
              <a:ext cx="1268" cy="787"/>
              <a:chOff x="672" y="2626"/>
              <a:chExt cx="1268" cy="787"/>
            </a:xfrm>
          </p:grpSpPr>
          <p:grpSp>
            <p:nvGrpSpPr>
              <p:cNvPr id="24" name="Group 62"/>
              <p:cNvGrpSpPr>
                <a:grpSpLocks/>
              </p:cNvGrpSpPr>
              <p:nvPr/>
            </p:nvGrpSpPr>
            <p:grpSpPr bwMode="auto">
              <a:xfrm>
                <a:off x="672" y="2626"/>
                <a:ext cx="1268" cy="431"/>
                <a:chOff x="672" y="2626"/>
                <a:chExt cx="1268" cy="431"/>
              </a:xfrm>
            </p:grpSpPr>
            <p:sp>
              <p:nvSpPr>
                <p:cNvPr id="28" name="Oval 22"/>
                <p:cNvSpPr>
                  <a:spLocks noChangeArrowheads="1"/>
                </p:cNvSpPr>
                <p:nvPr/>
              </p:nvSpPr>
              <p:spPr bwMode="auto">
                <a:xfrm>
                  <a:off x="672" y="2626"/>
                  <a:ext cx="1268" cy="431"/>
                </a:xfrm>
                <a:prstGeom prst="ellipse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9" name="Rectangle 24"/>
                <p:cNvSpPr>
                  <a:spLocks noChangeArrowheads="1"/>
                </p:cNvSpPr>
                <p:nvPr/>
              </p:nvSpPr>
              <p:spPr bwMode="auto">
                <a:xfrm>
                  <a:off x="835" y="2725"/>
                  <a:ext cx="954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Setor de Emergência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  <p:sp>
              <p:nvSpPr>
                <p:cNvPr id="30" name="Rectangle 25"/>
                <p:cNvSpPr>
                  <a:spLocks noChangeArrowheads="1"/>
                </p:cNvSpPr>
                <p:nvPr/>
              </p:nvSpPr>
              <p:spPr bwMode="auto">
                <a:xfrm>
                  <a:off x="1047" y="2873"/>
                  <a:ext cx="524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do Hospital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25" name="Group 51"/>
              <p:cNvGrpSpPr>
                <a:grpSpLocks/>
              </p:cNvGrpSpPr>
              <p:nvPr/>
            </p:nvGrpSpPr>
            <p:grpSpPr bwMode="auto">
              <a:xfrm>
                <a:off x="1239" y="3082"/>
                <a:ext cx="568" cy="331"/>
                <a:chOff x="1292" y="2748"/>
                <a:chExt cx="568" cy="331"/>
              </a:xfrm>
            </p:grpSpPr>
            <p:sp>
              <p:nvSpPr>
                <p:cNvPr id="26" name="Line 52"/>
                <p:cNvSpPr>
                  <a:spLocks noChangeShapeType="1"/>
                </p:cNvSpPr>
                <p:nvPr/>
              </p:nvSpPr>
              <p:spPr bwMode="auto">
                <a:xfrm flipH="1" flipV="1">
                  <a:off x="1344" y="2777"/>
                  <a:ext cx="516" cy="30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7" name="Freeform 53"/>
                <p:cNvSpPr>
                  <a:spLocks/>
                </p:cNvSpPr>
                <p:nvPr/>
              </p:nvSpPr>
              <p:spPr bwMode="auto">
                <a:xfrm>
                  <a:off x="1292" y="2748"/>
                  <a:ext cx="69" cy="57"/>
                </a:xfrm>
                <a:custGeom>
                  <a:avLst/>
                  <a:gdLst>
                    <a:gd name="T0" fmla="*/ 35 w 138"/>
                    <a:gd name="T1" fmla="*/ 1 h 115"/>
                    <a:gd name="T2" fmla="*/ 0 w 138"/>
                    <a:gd name="T3" fmla="*/ 0 h 115"/>
                    <a:gd name="T4" fmla="*/ 18 w 138"/>
                    <a:gd name="T5" fmla="*/ 28 h 115"/>
                    <a:gd name="T6" fmla="*/ 35 w 138"/>
                    <a:gd name="T7" fmla="*/ 1 h 1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8"/>
                    <a:gd name="T13" fmla="*/ 0 h 115"/>
                    <a:gd name="T14" fmla="*/ 138 w 138"/>
                    <a:gd name="T15" fmla="*/ 115 h 1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8" h="115">
                      <a:moveTo>
                        <a:pt x="138" y="6"/>
                      </a:moveTo>
                      <a:lnTo>
                        <a:pt x="0" y="0"/>
                      </a:lnTo>
                      <a:lnTo>
                        <a:pt x="75" y="115"/>
                      </a:lnTo>
                      <a:lnTo>
                        <a:pt x="138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pSp>
          <p:nvGrpSpPr>
            <p:cNvPr id="18" name="Group 69"/>
            <p:cNvGrpSpPr>
              <a:grpSpLocks/>
            </p:cNvGrpSpPr>
            <p:nvPr/>
          </p:nvGrpSpPr>
          <p:grpSpPr bwMode="auto">
            <a:xfrm>
              <a:off x="968" y="1895"/>
              <a:ext cx="1268" cy="743"/>
              <a:chOff x="968" y="1895"/>
              <a:chExt cx="1268" cy="743"/>
            </a:xfrm>
          </p:grpSpPr>
          <p:grpSp>
            <p:nvGrpSpPr>
              <p:cNvPr id="19" name="Group 63"/>
              <p:cNvGrpSpPr>
                <a:grpSpLocks/>
              </p:cNvGrpSpPr>
              <p:nvPr/>
            </p:nvGrpSpPr>
            <p:grpSpPr bwMode="auto">
              <a:xfrm>
                <a:off x="968" y="1895"/>
                <a:ext cx="1268" cy="431"/>
                <a:chOff x="968" y="1895"/>
                <a:chExt cx="1268" cy="431"/>
              </a:xfrm>
            </p:grpSpPr>
            <p:sp>
              <p:nvSpPr>
                <p:cNvPr id="21" name="Oval 26"/>
                <p:cNvSpPr>
                  <a:spLocks noChangeArrowheads="1"/>
                </p:cNvSpPr>
                <p:nvPr/>
              </p:nvSpPr>
              <p:spPr bwMode="auto">
                <a:xfrm>
                  <a:off x="968" y="1895"/>
                  <a:ext cx="1268" cy="431"/>
                </a:xfrm>
                <a:prstGeom prst="ellipse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" name="Rectangle 28"/>
                <p:cNvSpPr>
                  <a:spLocks noChangeArrowheads="1"/>
                </p:cNvSpPr>
                <p:nvPr/>
              </p:nvSpPr>
              <p:spPr bwMode="auto">
                <a:xfrm>
                  <a:off x="1386" y="1996"/>
                  <a:ext cx="522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Tratamento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  <p:sp>
              <p:nvSpPr>
                <p:cNvPr id="23" name="Rectangle 29"/>
                <p:cNvSpPr>
                  <a:spLocks noChangeArrowheads="1"/>
                </p:cNvSpPr>
                <p:nvPr/>
              </p:nvSpPr>
              <p:spPr bwMode="auto">
                <a:xfrm>
                  <a:off x="1428" y="2144"/>
                  <a:ext cx="438" cy="11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eaLnBrk="0" hangingPunct="0"/>
                  <a:r>
                    <a:rPr lang="pt-BR" sz="1200" b="1">
                      <a:solidFill>
                        <a:srgbClr val="000000"/>
                      </a:solidFill>
                      <a:latin typeface="Arial" charset="0"/>
                    </a:rPr>
                    <a:t>Definitivo</a:t>
                  </a:r>
                  <a:endParaRPr lang="pt-BR" sz="240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20" name="Line 54"/>
              <p:cNvSpPr>
                <a:spLocks noChangeShapeType="1"/>
              </p:cNvSpPr>
              <p:nvPr/>
            </p:nvSpPr>
            <p:spPr bwMode="auto">
              <a:xfrm flipV="1">
                <a:off x="1291" y="2302"/>
                <a:ext cx="288" cy="33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SLOGAN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“É melhor conhecer Primeiros Socorros e não precisar, do que precisar e não conhecer.”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/>
              <a:t>                REGRA  AO SOCORRISTA</a:t>
            </a:r>
          </a:p>
          <a:p>
            <a:pPr>
              <a:buNone/>
            </a:pPr>
            <a:r>
              <a:rPr lang="pt-BR" dirty="0" smtClean="0"/>
              <a:t>1ª - Não ser a segunda vítima;</a:t>
            </a:r>
          </a:p>
          <a:p>
            <a:pPr>
              <a:buNone/>
            </a:pPr>
            <a:r>
              <a:rPr lang="pt-BR" dirty="0" smtClean="0"/>
              <a:t>2ª- Solicitar ajuda:</a:t>
            </a:r>
          </a:p>
          <a:p>
            <a:pPr>
              <a:buNone/>
            </a:pPr>
            <a:r>
              <a:rPr lang="pt-BR" dirty="0" smtClean="0"/>
              <a:t>3ª - Calma,  bom senso e criatividade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ESTRELA DA VIDA</a:t>
            </a:r>
            <a:endParaRPr lang="pt-BR" dirty="0"/>
          </a:p>
        </p:txBody>
      </p:sp>
      <p:pic>
        <p:nvPicPr>
          <p:cNvPr id="4" name="Picture 2" descr="D:\Nova pasta\Minhas imagens\Emergencia medica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700808"/>
            <a:ext cx="4320479" cy="41044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Zona de Trabalho para Atendimento a Vítima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Classificação:</a:t>
            </a:r>
          </a:p>
          <a:p>
            <a:r>
              <a:rPr lang="pt-BR" dirty="0" smtClean="0"/>
              <a:t>Zona  Quente – Operação de risco e complexidade;</a:t>
            </a:r>
          </a:p>
          <a:p>
            <a:r>
              <a:rPr lang="pt-BR" dirty="0" smtClean="0"/>
              <a:t>Zona Morna – área intermediária para equipamento;</a:t>
            </a:r>
          </a:p>
          <a:p>
            <a:r>
              <a:rPr lang="pt-BR" dirty="0" smtClean="0"/>
              <a:t>Zona Fria – Recursos de apoio às atividades das demais áreas (ACV) Área de Concentração de vítimas.</a:t>
            </a:r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AVALIAÇÃO DO CENÁRIO E ABORDAGEM DA VÍTIMA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É o estudo rápido dos diferentes fatores relacionados à ocorrência e indispensáveis para a tomada de decisão.</a:t>
            </a:r>
          </a:p>
          <a:p>
            <a:pPr>
              <a:buFont typeface="Wingdings" pitchFamily="2" charset="2"/>
              <a:buChar char="ü"/>
            </a:pPr>
            <a:r>
              <a:rPr lang="pt-BR" dirty="0" smtClean="0"/>
              <a:t>Qual a situação? O que se vê;</a:t>
            </a:r>
          </a:p>
          <a:p>
            <a:pPr>
              <a:buFont typeface="Wingdings" pitchFamily="2" charset="2"/>
              <a:buChar char="ü"/>
            </a:pPr>
            <a:endParaRPr lang="pt-BR" dirty="0" smtClean="0"/>
          </a:p>
          <a:p>
            <a:pPr>
              <a:buFont typeface="Wingdings" pitchFamily="2" charset="2"/>
              <a:buChar char="ü"/>
            </a:pPr>
            <a:r>
              <a:rPr lang="pt-BR" dirty="0" smtClean="0"/>
              <a:t>Para onde vai?</a:t>
            </a:r>
          </a:p>
          <a:p>
            <a:pPr>
              <a:buNone/>
            </a:pPr>
            <a:endParaRPr lang="pt-BR" dirty="0" smtClean="0"/>
          </a:p>
          <a:p>
            <a:pPr>
              <a:buFont typeface="Wingdings" pitchFamily="2" charset="2"/>
              <a:buChar char="ü"/>
            </a:pPr>
            <a:r>
              <a:rPr lang="pt-BR" dirty="0" smtClean="0"/>
              <a:t>O que fazer para controlar?</a:t>
            </a:r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ACIONAMENTO DA AJUDA AO TELEFONE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pt-BR" dirty="0" smtClean="0"/>
              <a:t>Local exato da ocorrência;</a:t>
            </a:r>
          </a:p>
          <a:p>
            <a:pPr>
              <a:buNone/>
            </a:pPr>
            <a:r>
              <a:rPr lang="pt-BR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pt-BR" dirty="0" smtClean="0"/>
              <a:t>Situação do acidente;</a:t>
            </a:r>
          </a:p>
          <a:p>
            <a:pPr>
              <a:buFont typeface="Wingdings" pitchFamily="2" charset="2"/>
              <a:buChar char="§"/>
            </a:pPr>
            <a:endParaRPr lang="pt-BR" dirty="0" smtClean="0"/>
          </a:p>
          <a:p>
            <a:pPr>
              <a:buFont typeface="Wingdings" pitchFamily="2" charset="2"/>
              <a:buChar char="§"/>
            </a:pPr>
            <a:r>
              <a:rPr lang="pt-BR" dirty="0" smtClean="0"/>
              <a:t>Numero de vítima;</a:t>
            </a:r>
          </a:p>
          <a:p>
            <a:pPr>
              <a:buFont typeface="Wingdings" pitchFamily="2" charset="2"/>
              <a:buChar char="§"/>
            </a:pPr>
            <a:endParaRPr lang="pt-BR" dirty="0" smtClean="0"/>
          </a:p>
          <a:p>
            <a:pPr>
              <a:buFont typeface="Wingdings" pitchFamily="2" charset="2"/>
              <a:buChar char="§"/>
            </a:pPr>
            <a:r>
              <a:rPr lang="pt-BR" dirty="0" smtClean="0"/>
              <a:t>Tipos de equipamentos necessários;</a:t>
            </a:r>
          </a:p>
          <a:p>
            <a:pPr>
              <a:buFont typeface="Wingdings" pitchFamily="2" charset="2"/>
              <a:buChar char="§"/>
            </a:pPr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Abordagem da Vítima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É a capacidade de avaliar rapidamente a  urgência e a aplicação imediata dos procedimentos de socorros são determinantes para a estabilizar a vítima</a:t>
            </a:r>
          </a:p>
          <a:p>
            <a:r>
              <a:rPr lang="pt-BR" dirty="0" smtClean="0"/>
              <a:t>Ações da equipe de emergência:</a:t>
            </a:r>
          </a:p>
          <a:p>
            <a:pPr>
              <a:buFont typeface="Wingdings" pitchFamily="2" charset="2"/>
              <a:buChar char="§"/>
            </a:pPr>
            <a:r>
              <a:rPr lang="pt-BR" dirty="0" smtClean="0"/>
              <a:t>Priorizar a sua segurança pessoal</a:t>
            </a:r>
          </a:p>
          <a:p>
            <a:pPr>
              <a:buFont typeface="Wingdings" pitchFamily="2" charset="2"/>
              <a:buChar char="§"/>
            </a:pPr>
            <a:r>
              <a:rPr lang="pt-BR" dirty="0" smtClean="0"/>
              <a:t>Sinalizar o local do acidente;</a:t>
            </a:r>
          </a:p>
          <a:p>
            <a:pPr>
              <a:buFont typeface="Wingdings" pitchFamily="2" charset="2"/>
              <a:buChar char="§"/>
            </a:pP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Abordagem da Vítima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pt-BR" dirty="0" smtClean="0"/>
              <a:t>Fornecer à vítima conforto e segurança;</a:t>
            </a:r>
          </a:p>
          <a:p>
            <a:pPr>
              <a:buFont typeface="Wingdings" pitchFamily="2" charset="2"/>
              <a:buChar char="§"/>
            </a:pPr>
            <a:endParaRPr lang="pt-BR" dirty="0" smtClean="0"/>
          </a:p>
          <a:p>
            <a:pPr>
              <a:buFont typeface="Wingdings" pitchFamily="2" charset="2"/>
              <a:buChar char="§"/>
            </a:pPr>
            <a:r>
              <a:rPr lang="pt-BR" dirty="0" smtClean="0"/>
              <a:t>Abordar a vítima com qualidade e calma;</a:t>
            </a:r>
          </a:p>
          <a:p>
            <a:pPr>
              <a:buFont typeface="Wingdings" pitchFamily="2" charset="2"/>
              <a:buChar char="§"/>
            </a:pPr>
            <a:endParaRPr lang="pt-BR" dirty="0" smtClean="0"/>
          </a:p>
          <a:p>
            <a:pPr>
              <a:buFont typeface="Wingdings" pitchFamily="2" charset="2"/>
              <a:buChar char="§"/>
            </a:pPr>
            <a:r>
              <a:rPr lang="pt-BR" dirty="0" smtClean="0"/>
              <a:t>Utilizar tom de voz moderada, obretudo inspirar confiança. </a:t>
            </a:r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CENA</a:t>
            </a:r>
            <a:endParaRPr lang="pt-BR" dirty="0"/>
          </a:p>
        </p:txBody>
      </p:sp>
      <p:pic>
        <p:nvPicPr>
          <p:cNvPr id="1026" name="Picture 2" descr="C:\Documents and Settings\USE\Meus documentos\Minhas imagens\pol5060409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484784"/>
            <a:ext cx="5904656" cy="43924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ABORDAGEM DA VÍTIMA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1928802"/>
            <a:ext cx="6527078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ABORDAGEM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1785926"/>
            <a:ext cx="6500858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 descr="C:\Documents and Settings\JOAO D'ARC\Meus documentos\Minhas imagens\RCP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6" y="1714488"/>
            <a:ext cx="5786478" cy="46434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DA CABEÇA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000240"/>
            <a:ext cx="664373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DO PESCOÇO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71538" y="2071678"/>
            <a:ext cx="6715172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3608" y="274638"/>
            <a:ext cx="6408712" cy="1143000"/>
          </a:xfrm>
        </p:spPr>
        <p:txBody>
          <a:bodyPr/>
          <a:lstStyle/>
          <a:p>
            <a:r>
              <a:rPr lang="pt-BR" dirty="0" smtClean="0"/>
              <a:t>EXAME TORÁCICO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142976" y="1928802"/>
            <a:ext cx="614366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ABDOMINAL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071538" y="1928802"/>
            <a:ext cx="6786610" cy="435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DO QUADRIL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357290" y="1928802"/>
            <a:ext cx="6215106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EXAME DOS MEMBROS INFERIORES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547664" y="1928802"/>
            <a:ext cx="6048672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 Perfusão Periférica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142976" y="1928802"/>
            <a:ext cx="6643734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Teste de mobilidade passiva.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285852" y="1928802"/>
            <a:ext cx="6072230" cy="4271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DE MEMBROS SUPERIORES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979712" y="1857364"/>
            <a:ext cx="5688632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PERFUSÃO PERIFERICA</a:t>
            </a:r>
            <a:endParaRPr lang="pt-BR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1700808"/>
            <a:ext cx="5256584" cy="417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DORSAL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714480" y="1857364"/>
            <a:ext cx="5857916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>COLAR CERVICAL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403648" y="1268760"/>
            <a:ext cx="6480720" cy="4857403"/>
          </a:xfrm>
        </p:spPr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 descr="FOTO O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447800"/>
            <a:ext cx="6400800" cy="4384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>OFERTA DE OXIGÊNIO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 descr="FOTO O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33538"/>
            <a:ext cx="6629400" cy="42338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5105400" y="4572000"/>
            <a:ext cx="1143000" cy="304800"/>
          </a:xfrm>
          <a:prstGeom prst="leftArrow">
            <a:avLst>
              <a:gd name="adj1" fmla="val 50000"/>
              <a:gd name="adj2" fmla="val 9375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pt-BR" sz="2400">
              <a:solidFill>
                <a:srgbClr val="FFFF6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0" hangingPunct="0">
              <a:defRPr/>
            </a:pPr>
            <a:r>
              <a:rPr lang="pt-BR" b="1" dirty="0" smtClean="0">
                <a:latin typeface="Verdana" pitchFamily="34" charset="0"/>
              </a:rPr>
              <a:t>AVALIAÇÃO  SECUNDÁRIA</a:t>
            </a:r>
            <a:endParaRPr lang="pt-BR" b="1" dirty="0">
              <a:latin typeface="Verdana" pitchFamily="34" charset="0"/>
            </a:endParaRPr>
          </a:p>
        </p:txBody>
      </p:sp>
      <p:pic>
        <p:nvPicPr>
          <p:cNvPr id="4" name="Picture 2" descr="FOTO O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484784"/>
            <a:ext cx="5274528" cy="44644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>EXAME FÍSICO 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2" descr="FOTO O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1925" y="1600200"/>
            <a:ext cx="6492875" cy="4365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/>
            </a:r>
            <a:br>
              <a:rPr lang="pt-BR" b="1" dirty="0" smtClean="0">
                <a:latin typeface="Verdana" pitchFamily="34" charset="0"/>
              </a:rPr>
            </a:br>
            <a:r>
              <a:rPr lang="pt-BR" b="1" dirty="0" smtClean="0">
                <a:latin typeface="Verdana" pitchFamily="34" charset="0"/>
              </a:rPr>
              <a:t>AVALIAÇÃO FÍSICA 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pt-BR" b="1" dirty="0" smtClean="0">
              <a:latin typeface="Verdana" pitchFamily="34" charset="0"/>
            </a:endParaRPr>
          </a:p>
          <a:p>
            <a:pPr>
              <a:buNone/>
            </a:pPr>
            <a:endParaRPr lang="pt-BR" b="1" dirty="0" smtClean="0">
              <a:latin typeface="Verdana" pitchFamily="34" charset="0"/>
            </a:endParaRPr>
          </a:p>
          <a:p>
            <a:endParaRPr lang="pt-BR" dirty="0"/>
          </a:p>
        </p:txBody>
      </p:sp>
      <p:pic>
        <p:nvPicPr>
          <p:cNvPr id="4" name="Picture 4" descr="FOTO O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700808"/>
            <a:ext cx="5688632" cy="41764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/>
            </a:r>
            <a:br>
              <a:rPr lang="pt-BR" b="1" dirty="0" smtClean="0">
                <a:latin typeface="Verdana" pitchFamily="34" charset="0"/>
              </a:rPr>
            </a:br>
            <a:r>
              <a:rPr lang="pt-BR" b="1" dirty="0" smtClean="0">
                <a:latin typeface="Verdana" pitchFamily="34" charset="0"/>
              </a:rPr>
              <a:t>MANIPULAÇÃO DO PACIENTE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Picture 4" descr="FOTO O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676400"/>
            <a:ext cx="6477000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/>
            </a:r>
            <a:br>
              <a:rPr lang="pt-BR" b="1" dirty="0" smtClean="0">
                <a:latin typeface="Verdana" pitchFamily="34" charset="0"/>
              </a:rPr>
            </a:br>
            <a:r>
              <a:rPr lang="pt-BR" b="1" dirty="0" smtClean="0">
                <a:latin typeface="Verdana" pitchFamily="34" charset="0"/>
              </a:rPr>
              <a:t>IMOBILIZAÇÃO EM PRANCHA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Picture 3" descr="FOTO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671638"/>
            <a:ext cx="6172200" cy="419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>
                <a:latin typeface="Verdana" pitchFamily="34" charset="0"/>
              </a:rPr>
              <a:t>AVALIAÇÃO CONTINUADA</a:t>
            </a:r>
            <a:br>
              <a:rPr lang="pt-BR" b="1" dirty="0" smtClean="0">
                <a:latin typeface="Verdana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475656" y="1600200"/>
            <a:ext cx="6192688" cy="4525963"/>
          </a:xfrm>
        </p:spPr>
        <p:txBody>
          <a:bodyPr/>
          <a:lstStyle/>
          <a:p>
            <a:pPr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524000" y="1752600"/>
            <a:ext cx="6172200" cy="4267200"/>
            <a:chOff x="960" y="1104"/>
            <a:chExt cx="3888" cy="2688"/>
          </a:xfrm>
        </p:grpSpPr>
        <p:pic>
          <p:nvPicPr>
            <p:cNvPr id="5" name="Picture 4" descr="foto avaliaçã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0" y="1104"/>
              <a:ext cx="3888" cy="2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960" y="1104"/>
              <a:ext cx="3888" cy="26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TIPOS DE ABORDAGENS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Primária rápida:</a:t>
            </a:r>
          </a:p>
          <a:p>
            <a:pPr marL="514350" indent="-514350">
              <a:buFont typeface="+mj-lt"/>
              <a:buAutoNum type="alphaLcPeriod"/>
            </a:pPr>
            <a:r>
              <a:rPr lang="pt-BR" dirty="0" smtClean="0"/>
              <a:t>Responsividade; </a:t>
            </a:r>
          </a:p>
          <a:p>
            <a:pPr marL="514350" indent="-514350">
              <a:buFont typeface="+mj-lt"/>
              <a:buAutoNum type="alphaLcPeriod"/>
            </a:pPr>
            <a:r>
              <a:rPr lang="pt-BR" dirty="0" smtClean="0"/>
              <a:t>Respiração e Pulso</a:t>
            </a:r>
          </a:p>
          <a:p>
            <a:pPr marL="514350" indent="-514350">
              <a:buFont typeface="+mj-lt"/>
              <a:buAutoNum type="alphaLcPeriod"/>
            </a:pPr>
            <a:r>
              <a:rPr lang="pt-BR" dirty="0" smtClean="0"/>
              <a:t>Exame rápido;</a:t>
            </a:r>
          </a:p>
          <a:p>
            <a:pPr marL="514350" indent="-514350">
              <a:buFont typeface="+mj-lt"/>
              <a:buAutoNum type="alphaLcPeriod"/>
            </a:pPr>
            <a:r>
              <a:rPr lang="pt-BR" dirty="0" smtClean="0"/>
              <a:t>Passar as informações</a:t>
            </a:r>
          </a:p>
          <a:p>
            <a:pPr marL="514350" indent="-514350"/>
            <a:r>
              <a:rPr lang="pt-BR" dirty="0" smtClean="0"/>
              <a:t>Primária Completa – A , B, C, D, E; (exame físico da vítima).</a:t>
            </a:r>
          </a:p>
          <a:p>
            <a:pPr marL="514350" indent="-514350"/>
            <a:endParaRPr lang="pt-BR" dirty="0" smtClean="0"/>
          </a:p>
          <a:p>
            <a:pPr marL="514350" indent="-514350">
              <a:buFont typeface="+mj-lt"/>
              <a:buAutoNum type="alphaLcPeriod"/>
            </a:pPr>
            <a:endParaRPr lang="pt-B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FÍSICO DA VÍTIMA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 Deve-se iniciar logo após o termino da abordagem primaria completa com a finalidade de estabilização das funções vitais.</a:t>
            </a:r>
          </a:p>
          <a:p>
            <a:r>
              <a:rPr lang="pt-BR" dirty="0" smtClean="0"/>
              <a:t>Para isso emprega-se o método AMPLA: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A – perguntar à vítima sobre possíveis alergias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M – perguntar sobre medicações que utiliza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 P – perguntar sobre doenças preexistentes como: diabetes, hipertensão etc.</a:t>
            </a:r>
            <a:endParaRPr lang="pt-BR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EXAME FÍSICO DA VÍTIMA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pt-BR" dirty="0" smtClean="0"/>
              <a:t> L – Perguntar sobre alimentos e bebidas que ingeriu</a:t>
            </a:r>
          </a:p>
          <a:p>
            <a:pPr>
              <a:buFont typeface="Wingdings" pitchFamily="2" charset="2"/>
              <a:buChar char="Ø"/>
            </a:pPr>
            <a:r>
              <a:rPr lang="pt-BR" dirty="0" smtClean="0"/>
              <a:t>A – perguntar sobre, como ocorreu, observando o ambiente.</a:t>
            </a:r>
          </a:p>
          <a:p>
            <a:pPr>
              <a:buFont typeface="Courier New" pitchFamily="49" charset="0"/>
              <a:buChar char="o"/>
            </a:pPr>
            <a:r>
              <a:rPr lang="pt-BR" dirty="0" err="1" smtClean="0"/>
              <a:t>Obs</a:t>
            </a:r>
            <a:r>
              <a:rPr lang="pt-BR" dirty="0" smtClean="0"/>
              <a:t>: Após colher a história clínica deve-se iniciar o exame físico detalhado da cabeça aos pés. O </a:t>
            </a:r>
            <a:r>
              <a:rPr lang="pt-BR" dirty="0" err="1" smtClean="0"/>
              <a:t>socorrista</a:t>
            </a:r>
            <a:r>
              <a:rPr lang="pt-BR" dirty="0" smtClean="0"/>
              <a:t> não pode esquecer-se de realizar o ABCDE durante o exame secundário, principalmente em vítimas inconscientes.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ívic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448</TotalTime>
  <Words>851</Words>
  <Application>Microsoft Office PowerPoint</Application>
  <PresentationFormat>Apresentação na tela (4:3)</PresentationFormat>
  <Paragraphs>171</Paragraphs>
  <Slides>43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4" baseType="lpstr">
      <vt:lpstr>Cívico</vt:lpstr>
      <vt:lpstr>CURSO DE APH-BÁSICO</vt:lpstr>
      <vt:lpstr>Atendimento  Pré-Hospitalar</vt:lpstr>
      <vt:lpstr>DEVER DO SOCORRISTA</vt:lpstr>
      <vt:lpstr>Atendimento  Pré-Hospitalar</vt:lpstr>
      <vt:lpstr>Histórico do APH no Brasil</vt:lpstr>
      <vt:lpstr>Histórico</vt:lpstr>
      <vt:lpstr>Modalidade do APH</vt:lpstr>
      <vt:lpstr>Protocolos do APH</vt:lpstr>
      <vt:lpstr>Hora de Ouro do Trauma</vt:lpstr>
      <vt:lpstr>ORGANIZAÇÃO DO SEM </vt:lpstr>
      <vt:lpstr>SLOGAN</vt:lpstr>
      <vt:lpstr>ESTRELA DA VIDA</vt:lpstr>
      <vt:lpstr>Zona de Trabalho para Atendimento a Vítima</vt:lpstr>
      <vt:lpstr>AVALIAÇÃO DO CENÁRIO E ABORDAGEM DA VÍTIMA</vt:lpstr>
      <vt:lpstr>ACIONAMENTO DA AJUDA AO TELEFONE</vt:lpstr>
      <vt:lpstr>Abordagem da Vítima</vt:lpstr>
      <vt:lpstr>Abordagem da Vítima</vt:lpstr>
      <vt:lpstr>CENA</vt:lpstr>
      <vt:lpstr>ABORDAGEM DA VÍTIMA</vt:lpstr>
      <vt:lpstr>ABORDAGEM</vt:lpstr>
      <vt:lpstr>VOS</vt:lpstr>
      <vt:lpstr>EXAME DA CABEÇA</vt:lpstr>
      <vt:lpstr>EXAME DO PESCOÇO</vt:lpstr>
      <vt:lpstr>EXAME TORÁCICO</vt:lpstr>
      <vt:lpstr>EXAME ABDOMINAL</vt:lpstr>
      <vt:lpstr>EXAME DO QUADRIL</vt:lpstr>
      <vt:lpstr>EXAME DOS MEMBROS INFERIORES</vt:lpstr>
      <vt:lpstr> Perfusão Periférica</vt:lpstr>
      <vt:lpstr>Teste de mobilidade passiva.</vt:lpstr>
      <vt:lpstr>EXAME DE MEMBROS SUPERIORES</vt:lpstr>
      <vt:lpstr>PERFUSÃO PERIFERICA</vt:lpstr>
      <vt:lpstr>EXAME DORSAL</vt:lpstr>
      <vt:lpstr>COLAR CERVICAL </vt:lpstr>
      <vt:lpstr>OFERTA DE OXIGÊNIO </vt:lpstr>
      <vt:lpstr>AVALIAÇÃO  SECUNDÁRIA</vt:lpstr>
      <vt:lpstr>EXAME FÍSICO  </vt:lpstr>
      <vt:lpstr> AVALIAÇÃO FÍSICA  </vt:lpstr>
      <vt:lpstr> MANIPULAÇÃO DO PACIENTE </vt:lpstr>
      <vt:lpstr> IMOBILIZAÇÃO EM PRANCHA </vt:lpstr>
      <vt:lpstr>AVALIAÇÃO CONTINUADA </vt:lpstr>
      <vt:lpstr>TIPOS DE ABORDAGENS</vt:lpstr>
      <vt:lpstr>EXAME FÍSICO DA VÍTIMA</vt:lpstr>
      <vt:lpstr>EXAME FÍSICO DA VÍTIMA</vt:lpstr>
    </vt:vector>
  </TitlesOfParts>
  <Company>Microsoft Office 2007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APH-BÁSICO</dc:title>
  <dc:creator>*</dc:creator>
  <cp:lastModifiedBy>REJANE</cp:lastModifiedBy>
  <cp:revision>45</cp:revision>
  <dcterms:created xsi:type="dcterms:W3CDTF">2011-07-07T13:40:52Z</dcterms:created>
  <dcterms:modified xsi:type="dcterms:W3CDTF">2017-02-03T00:21:39Z</dcterms:modified>
</cp:coreProperties>
</file>