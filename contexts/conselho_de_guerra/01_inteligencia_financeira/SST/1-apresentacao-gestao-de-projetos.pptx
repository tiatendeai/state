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825" r:id="rId3"/>
    <p:sldId id="826" r:id="rId4"/>
    <p:sldId id="827" r:id="rId5"/>
    <p:sldId id="828" r:id="rId6"/>
    <p:sldId id="829" r:id="rId7"/>
    <p:sldId id="830" r:id="rId8"/>
    <p:sldId id="831" r:id="rId9"/>
    <p:sldId id="832" r:id="rId10"/>
    <p:sldId id="833" r:id="rId11"/>
    <p:sldId id="834" r:id="rId12"/>
    <p:sldId id="835" r:id="rId13"/>
    <p:sldId id="836" r:id="rId14"/>
    <p:sldId id="837" r:id="rId15"/>
    <p:sldId id="838" r:id="rId16"/>
    <p:sldId id="839" r:id="rId17"/>
    <p:sldId id="840" r:id="rId18"/>
    <p:sldId id="841" r:id="rId19"/>
    <p:sldId id="842" r:id="rId20"/>
    <p:sldId id="843" r:id="rId21"/>
    <p:sldId id="844" r:id="rId22"/>
    <p:sldId id="845" r:id="rId23"/>
    <p:sldId id="846" r:id="rId24"/>
    <p:sldId id="847" r:id="rId2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>
      <p:cViewPr varScale="1">
        <p:scale>
          <a:sx n="92" d="100"/>
          <a:sy n="92" d="100"/>
        </p:scale>
        <p:origin x="137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9" d="100"/>
          <a:sy n="69" d="100"/>
        </p:scale>
        <p:origin x="-3318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ADEAC9-F2BA-48FC-AA2F-D5104F5512F6}" type="doc">
      <dgm:prSet loTypeId="urn:microsoft.com/office/officeart/2005/8/layout/venn2" loCatId="relationship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0E704B82-3160-4BCE-B03A-36D0B4F5EA00}">
      <dgm:prSet phldrT="[Text]"/>
      <dgm:spPr>
        <a:solidFill>
          <a:schemeClr val="bg2">
            <a:lumMod val="75000"/>
          </a:schemeClr>
        </a:solidFill>
        <a:ln>
          <a:solidFill>
            <a:schemeClr val="bg2">
              <a:lumMod val="75000"/>
            </a:schemeClr>
          </a:solidFill>
        </a:ln>
      </dgm:spPr>
      <dgm:t>
        <a:bodyPr/>
        <a:lstStyle/>
        <a:p>
          <a:r>
            <a:rPr lang="en-US" dirty="0" err="1" smtClean="0"/>
            <a:t>Projetos</a:t>
          </a:r>
          <a:r>
            <a:rPr lang="en-US" dirty="0" smtClean="0"/>
            <a:t>/</a:t>
          </a:r>
          <a:r>
            <a:rPr lang="en-US" dirty="0" err="1" smtClean="0"/>
            <a:t>Engenharia</a:t>
          </a:r>
          <a:endParaRPr lang="en-US" dirty="0"/>
        </a:p>
      </dgm:t>
    </dgm:pt>
    <dgm:pt modelId="{C485CBFD-F4E2-4C3B-A6BC-D2DA7AC5A1E6}" type="parTrans" cxnId="{1D3D3EB9-1D53-431B-B38E-0AEC7EB9515E}">
      <dgm:prSet/>
      <dgm:spPr/>
      <dgm:t>
        <a:bodyPr/>
        <a:lstStyle/>
        <a:p>
          <a:endParaRPr lang="en-US"/>
        </a:p>
      </dgm:t>
    </dgm:pt>
    <dgm:pt modelId="{009AE2B3-9FCF-40A3-95C3-3CA8C8BC5953}" type="sibTrans" cxnId="{1D3D3EB9-1D53-431B-B38E-0AEC7EB9515E}">
      <dgm:prSet/>
      <dgm:spPr/>
      <dgm:t>
        <a:bodyPr/>
        <a:lstStyle/>
        <a:p>
          <a:endParaRPr lang="en-US"/>
        </a:p>
      </dgm:t>
    </dgm:pt>
    <dgm:pt modelId="{697157CA-2F26-48BF-B16A-6A00091197F5}">
      <dgm:prSet phldrT="[Text]"/>
      <dgm:spPr>
        <a:ln>
          <a:noFill/>
        </a:ln>
      </dgm:spPr>
      <dgm:t>
        <a:bodyPr/>
        <a:lstStyle/>
        <a:p>
          <a:r>
            <a:rPr lang="pt-BR" dirty="0" smtClean="0"/>
            <a:t>SHE</a:t>
          </a:r>
          <a:endParaRPr lang="en-US" dirty="0"/>
        </a:p>
      </dgm:t>
    </dgm:pt>
    <dgm:pt modelId="{91EC7B20-0109-40E5-AFA1-24101C80B168}" type="parTrans" cxnId="{262AC7D9-737B-44A3-B11D-9B0851FDA92E}">
      <dgm:prSet/>
      <dgm:spPr/>
      <dgm:t>
        <a:bodyPr/>
        <a:lstStyle/>
        <a:p>
          <a:endParaRPr lang="en-US"/>
        </a:p>
      </dgm:t>
    </dgm:pt>
    <dgm:pt modelId="{41EE6A24-D660-491F-9C2D-E600972654CE}" type="sibTrans" cxnId="{262AC7D9-737B-44A3-B11D-9B0851FDA92E}">
      <dgm:prSet/>
      <dgm:spPr/>
      <dgm:t>
        <a:bodyPr/>
        <a:lstStyle/>
        <a:p>
          <a:endParaRPr lang="en-US"/>
        </a:p>
      </dgm:t>
    </dgm:pt>
    <dgm:pt modelId="{89DD7704-5DC2-44C9-AAF2-966CCE797D44}">
      <dgm:prSet phldrT="[Text]"/>
      <dgm:spPr>
        <a:ln>
          <a:noFill/>
        </a:ln>
      </dgm:spPr>
      <dgm:t>
        <a:bodyPr/>
        <a:lstStyle/>
        <a:p>
          <a:r>
            <a:rPr lang="pt-BR" dirty="0" smtClean="0"/>
            <a:t>RH</a:t>
          </a:r>
          <a:endParaRPr lang="en-US" dirty="0"/>
        </a:p>
      </dgm:t>
    </dgm:pt>
    <dgm:pt modelId="{0DD3337C-F53F-420F-8356-C5EDBB756DAF}" type="parTrans" cxnId="{D46874C5-9BCB-4595-93F2-D6C65E978364}">
      <dgm:prSet/>
      <dgm:spPr/>
      <dgm:t>
        <a:bodyPr/>
        <a:lstStyle/>
        <a:p>
          <a:endParaRPr lang="en-US"/>
        </a:p>
      </dgm:t>
    </dgm:pt>
    <dgm:pt modelId="{F3A8E938-A930-424F-AEC5-F12C645D176C}" type="sibTrans" cxnId="{D46874C5-9BCB-4595-93F2-D6C65E978364}">
      <dgm:prSet/>
      <dgm:spPr/>
      <dgm:t>
        <a:bodyPr/>
        <a:lstStyle/>
        <a:p>
          <a:endParaRPr lang="en-US"/>
        </a:p>
      </dgm:t>
    </dgm:pt>
    <dgm:pt modelId="{C24037C3-BF95-4D8E-A20C-2FAC201FFE8A}">
      <dgm:prSet phldrT="[Text]" custT="1"/>
      <dgm:spPr>
        <a:ln>
          <a:noFill/>
        </a:ln>
      </dgm:spPr>
      <dgm:t>
        <a:bodyPr/>
        <a:lstStyle/>
        <a:p>
          <a:r>
            <a:rPr lang="pt-BR" sz="1100" dirty="0" smtClean="0"/>
            <a:t>Operação/Manutenção</a:t>
          </a:r>
          <a:endParaRPr lang="en-US" sz="1100" dirty="0"/>
        </a:p>
      </dgm:t>
    </dgm:pt>
    <dgm:pt modelId="{8D5A4FCF-9AFB-45D5-B4ED-945B77EECDC6}" type="parTrans" cxnId="{3295F3FE-C0BA-450F-8EB5-7A8E2344DBCF}">
      <dgm:prSet/>
      <dgm:spPr/>
      <dgm:t>
        <a:bodyPr/>
        <a:lstStyle/>
        <a:p>
          <a:endParaRPr lang="en-US"/>
        </a:p>
      </dgm:t>
    </dgm:pt>
    <dgm:pt modelId="{CCA79539-2D02-420E-AEF1-E5848915C9D4}" type="sibTrans" cxnId="{3295F3FE-C0BA-450F-8EB5-7A8E2344DBCF}">
      <dgm:prSet/>
      <dgm:spPr/>
      <dgm:t>
        <a:bodyPr/>
        <a:lstStyle/>
        <a:p>
          <a:endParaRPr lang="en-US"/>
        </a:p>
      </dgm:t>
    </dgm:pt>
    <dgm:pt modelId="{2AE6E74F-0C06-418F-BCB0-9571B4A0611F}">
      <dgm:prSet phldrT="[Text]" custT="1"/>
      <dgm:spPr>
        <a:ln>
          <a:noFill/>
        </a:ln>
      </dgm:spPr>
      <dgm:t>
        <a:bodyPr/>
        <a:lstStyle/>
        <a:p>
          <a:r>
            <a:rPr lang="en-US" sz="1100" dirty="0" smtClean="0"/>
            <a:t>TI</a:t>
          </a:r>
          <a:endParaRPr lang="en-US" sz="1100" dirty="0"/>
        </a:p>
      </dgm:t>
    </dgm:pt>
    <dgm:pt modelId="{7864F34D-F2BD-4704-88FE-1A84D24E3D60}" type="parTrans" cxnId="{65654679-515A-4937-A341-F64702147F27}">
      <dgm:prSet/>
      <dgm:spPr/>
      <dgm:t>
        <a:bodyPr/>
        <a:lstStyle/>
        <a:p>
          <a:endParaRPr lang="en-US"/>
        </a:p>
      </dgm:t>
    </dgm:pt>
    <dgm:pt modelId="{08C9E06E-F0F6-4ECB-92E8-4C3C85603B42}" type="sibTrans" cxnId="{65654679-515A-4937-A341-F64702147F27}">
      <dgm:prSet/>
      <dgm:spPr/>
      <dgm:t>
        <a:bodyPr/>
        <a:lstStyle/>
        <a:p>
          <a:endParaRPr lang="en-US"/>
        </a:p>
      </dgm:t>
    </dgm:pt>
    <dgm:pt modelId="{C39C94CE-2EE3-4D58-B076-329E8296680C}">
      <dgm:prSet phldrT="[Text]" custT="1"/>
      <dgm:spPr>
        <a:ln>
          <a:noFill/>
        </a:ln>
      </dgm:spPr>
      <dgm:t>
        <a:bodyPr/>
        <a:lstStyle/>
        <a:p>
          <a:r>
            <a:rPr lang="en-US" sz="1100" dirty="0" err="1" smtClean="0"/>
            <a:t>Processos</a:t>
          </a:r>
          <a:endParaRPr lang="en-US" sz="1100" dirty="0"/>
        </a:p>
      </dgm:t>
    </dgm:pt>
    <dgm:pt modelId="{DC8E47A5-E022-4A19-AE45-0F078E1051EC}" type="parTrans" cxnId="{84628A54-9683-4534-A014-B3B2F1DED30F}">
      <dgm:prSet/>
      <dgm:spPr/>
      <dgm:t>
        <a:bodyPr/>
        <a:lstStyle/>
        <a:p>
          <a:endParaRPr lang="pt-BR"/>
        </a:p>
      </dgm:t>
    </dgm:pt>
    <dgm:pt modelId="{9C8DC044-71E3-4505-AE74-C44E16A79CA1}" type="sibTrans" cxnId="{84628A54-9683-4534-A014-B3B2F1DED30F}">
      <dgm:prSet/>
      <dgm:spPr/>
      <dgm:t>
        <a:bodyPr/>
        <a:lstStyle/>
        <a:p>
          <a:endParaRPr lang="pt-BR"/>
        </a:p>
      </dgm:t>
    </dgm:pt>
    <dgm:pt modelId="{67998534-847D-4EF4-9AB5-DB4BFE664CD6}" type="pres">
      <dgm:prSet presAssocID="{34ADEAC9-F2BA-48FC-AA2F-D5104F5512F6}" presName="Name0" presStyleCnt="0">
        <dgm:presLayoutVars>
          <dgm:chMax val="7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1D5A72D-05D6-4435-859E-84EF1CB0431C}" type="pres">
      <dgm:prSet presAssocID="{34ADEAC9-F2BA-48FC-AA2F-D5104F5512F6}" presName="comp1" presStyleCnt="0"/>
      <dgm:spPr/>
    </dgm:pt>
    <dgm:pt modelId="{0D4B9B4C-2A59-437B-9E19-B82294DC3316}" type="pres">
      <dgm:prSet presAssocID="{34ADEAC9-F2BA-48FC-AA2F-D5104F5512F6}" presName="circle1" presStyleLbl="node1" presStyleIdx="0" presStyleCnt="6"/>
      <dgm:spPr/>
      <dgm:t>
        <a:bodyPr/>
        <a:lstStyle/>
        <a:p>
          <a:endParaRPr lang="en-US"/>
        </a:p>
      </dgm:t>
    </dgm:pt>
    <dgm:pt modelId="{277E585D-8741-4B95-9616-9E3D56EC6EFC}" type="pres">
      <dgm:prSet presAssocID="{34ADEAC9-F2BA-48FC-AA2F-D5104F5512F6}" presName="c1text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3188A3-864F-4F9C-9EA7-CD6155D07584}" type="pres">
      <dgm:prSet presAssocID="{34ADEAC9-F2BA-48FC-AA2F-D5104F5512F6}" presName="comp2" presStyleCnt="0"/>
      <dgm:spPr/>
    </dgm:pt>
    <dgm:pt modelId="{73107B70-3E6E-4403-A196-FD41F14B18A3}" type="pres">
      <dgm:prSet presAssocID="{34ADEAC9-F2BA-48FC-AA2F-D5104F5512F6}" presName="circle2" presStyleLbl="node1" presStyleIdx="1" presStyleCnt="6"/>
      <dgm:spPr/>
      <dgm:t>
        <a:bodyPr/>
        <a:lstStyle/>
        <a:p>
          <a:endParaRPr lang="en-US"/>
        </a:p>
      </dgm:t>
    </dgm:pt>
    <dgm:pt modelId="{D2C776CB-40A4-48B2-8AE8-67B1E8D1457E}" type="pres">
      <dgm:prSet presAssocID="{34ADEAC9-F2BA-48FC-AA2F-D5104F5512F6}" presName="c2text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EB1ADD-24F4-4C0F-9928-F89CB9422E4D}" type="pres">
      <dgm:prSet presAssocID="{34ADEAC9-F2BA-48FC-AA2F-D5104F5512F6}" presName="comp3" presStyleCnt="0"/>
      <dgm:spPr/>
    </dgm:pt>
    <dgm:pt modelId="{DB445B04-63E7-45AD-A377-80F4772A1F13}" type="pres">
      <dgm:prSet presAssocID="{34ADEAC9-F2BA-48FC-AA2F-D5104F5512F6}" presName="circle3" presStyleLbl="node1" presStyleIdx="2" presStyleCnt="6"/>
      <dgm:spPr/>
      <dgm:t>
        <a:bodyPr/>
        <a:lstStyle/>
        <a:p>
          <a:endParaRPr lang="en-US"/>
        </a:p>
      </dgm:t>
    </dgm:pt>
    <dgm:pt modelId="{8362B702-3D37-43F3-AB00-DDFF8A531E61}" type="pres">
      <dgm:prSet presAssocID="{34ADEAC9-F2BA-48FC-AA2F-D5104F5512F6}" presName="c3text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99099D-C6E2-4E00-8E05-9CFCD0CCDA1E}" type="pres">
      <dgm:prSet presAssocID="{34ADEAC9-F2BA-48FC-AA2F-D5104F5512F6}" presName="comp4" presStyleCnt="0"/>
      <dgm:spPr/>
    </dgm:pt>
    <dgm:pt modelId="{92F6E1C0-5725-4358-B378-F8822101AEAD}" type="pres">
      <dgm:prSet presAssocID="{34ADEAC9-F2BA-48FC-AA2F-D5104F5512F6}" presName="circle4" presStyleLbl="node1" presStyleIdx="3" presStyleCnt="6" custScaleX="108056"/>
      <dgm:spPr/>
      <dgm:t>
        <a:bodyPr/>
        <a:lstStyle/>
        <a:p>
          <a:endParaRPr lang="en-US"/>
        </a:p>
      </dgm:t>
    </dgm:pt>
    <dgm:pt modelId="{38FC25C3-F61F-4D50-B1C3-1553AF928CD4}" type="pres">
      <dgm:prSet presAssocID="{34ADEAC9-F2BA-48FC-AA2F-D5104F5512F6}" presName="c4text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CA614F-AF84-41B3-AC28-ECE4B73DDCC0}" type="pres">
      <dgm:prSet presAssocID="{34ADEAC9-F2BA-48FC-AA2F-D5104F5512F6}" presName="comp5" presStyleCnt="0"/>
      <dgm:spPr/>
    </dgm:pt>
    <dgm:pt modelId="{685CEF4B-1911-44CA-8452-4692396A6BEC}" type="pres">
      <dgm:prSet presAssocID="{34ADEAC9-F2BA-48FC-AA2F-D5104F5512F6}" presName="circle5" presStyleLbl="node1" presStyleIdx="4" presStyleCnt="6"/>
      <dgm:spPr>
        <a:ln>
          <a:noFill/>
        </a:ln>
      </dgm:spPr>
      <dgm:t>
        <a:bodyPr/>
        <a:lstStyle/>
        <a:p>
          <a:endParaRPr lang="en-US"/>
        </a:p>
      </dgm:t>
    </dgm:pt>
    <dgm:pt modelId="{781779A4-B7B7-4A3F-9AC7-14BA07E28AB7}" type="pres">
      <dgm:prSet presAssocID="{34ADEAC9-F2BA-48FC-AA2F-D5104F5512F6}" presName="c5text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0E2E67-9513-4A2D-B5C7-BD52D353F6EB}" type="pres">
      <dgm:prSet presAssocID="{34ADEAC9-F2BA-48FC-AA2F-D5104F5512F6}" presName="comp6" presStyleCnt="0"/>
      <dgm:spPr/>
    </dgm:pt>
    <dgm:pt modelId="{5624C279-D9D2-400E-A60D-89AFC8D61548}" type="pres">
      <dgm:prSet presAssocID="{34ADEAC9-F2BA-48FC-AA2F-D5104F5512F6}" presName="circle6" presStyleLbl="node1" presStyleIdx="5" presStyleCnt="6"/>
      <dgm:spPr/>
      <dgm:t>
        <a:bodyPr/>
        <a:lstStyle/>
        <a:p>
          <a:endParaRPr lang="en-US"/>
        </a:p>
      </dgm:t>
    </dgm:pt>
    <dgm:pt modelId="{2E48081C-9ECD-443F-93A7-796473552544}" type="pres">
      <dgm:prSet presAssocID="{34ADEAC9-F2BA-48FC-AA2F-D5104F5512F6}" presName="c6text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DEA7FA7-435D-49BD-B06D-D2A3F6AAEDF3}" type="presOf" srcId="{C39C94CE-2EE3-4D58-B076-329E8296680C}" destId="{2E48081C-9ECD-443F-93A7-796473552544}" srcOrd="1" destOrd="0" presId="urn:microsoft.com/office/officeart/2005/8/layout/venn2"/>
    <dgm:cxn modelId="{1D3D3EB9-1D53-431B-B38E-0AEC7EB9515E}" srcId="{34ADEAC9-F2BA-48FC-AA2F-D5104F5512F6}" destId="{0E704B82-3160-4BCE-B03A-36D0B4F5EA00}" srcOrd="0" destOrd="0" parTransId="{C485CBFD-F4E2-4C3B-A6BC-D2DA7AC5A1E6}" sibTransId="{009AE2B3-9FCF-40A3-95C3-3CA8C8BC5953}"/>
    <dgm:cxn modelId="{BF5CE8AC-2512-4C69-B63B-439514A8E061}" type="presOf" srcId="{34ADEAC9-F2BA-48FC-AA2F-D5104F5512F6}" destId="{67998534-847D-4EF4-9AB5-DB4BFE664CD6}" srcOrd="0" destOrd="0" presId="urn:microsoft.com/office/officeart/2005/8/layout/venn2"/>
    <dgm:cxn modelId="{84628A54-9683-4534-A014-B3B2F1DED30F}" srcId="{34ADEAC9-F2BA-48FC-AA2F-D5104F5512F6}" destId="{C39C94CE-2EE3-4D58-B076-329E8296680C}" srcOrd="5" destOrd="0" parTransId="{DC8E47A5-E022-4A19-AE45-0F078E1051EC}" sibTransId="{9C8DC044-71E3-4505-AE74-C44E16A79CA1}"/>
    <dgm:cxn modelId="{A4246BAC-1B37-4A16-9A14-5116D7A1DBE5}" type="presOf" srcId="{C24037C3-BF95-4D8E-A20C-2FAC201FFE8A}" destId="{92F6E1C0-5725-4358-B378-F8822101AEAD}" srcOrd="0" destOrd="0" presId="urn:microsoft.com/office/officeart/2005/8/layout/venn2"/>
    <dgm:cxn modelId="{E667A3E3-4268-4C2C-8723-112D13D01CB2}" type="presOf" srcId="{89DD7704-5DC2-44C9-AAF2-966CCE797D44}" destId="{8362B702-3D37-43F3-AB00-DDFF8A531E61}" srcOrd="1" destOrd="0" presId="urn:microsoft.com/office/officeart/2005/8/layout/venn2"/>
    <dgm:cxn modelId="{C5A28A33-49DE-43CC-89DE-28BABBD4B6FE}" type="presOf" srcId="{89DD7704-5DC2-44C9-AAF2-966CCE797D44}" destId="{DB445B04-63E7-45AD-A377-80F4772A1F13}" srcOrd="0" destOrd="0" presId="urn:microsoft.com/office/officeart/2005/8/layout/venn2"/>
    <dgm:cxn modelId="{5F74080E-FC9B-49DA-9B79-6CF334C7D7E4}" type="presOf" srcId="{697157CA-2F26-48BF-B16A-6A00091197F5}" destId="{D2C776CB-40A4-48B2-8AE8-67B1E8D1457E}" srcOrd="1" destOrd="0" presId="urn:microsoft.com/office/officeart/2005/8/layout/venn2"/>
    <dgm:cxn modelId="{3295F3FE-C0BA-450F-8EB5-7A8E2344DBCF}" srcId="{34ADEAC9-F2BA-48FC-AA2F-D5104F5512F6}" destId="{C24037C3-BF95-4D8E-A20C-2FAC201FFE8A}" srcOrd="3" destOrd="0" parTransId="{8D5A4FCF-9AFB-45D5-B4ED-945B77EECDC6}" sibTransId="{CCA79539-2D02-420E-AEF1-E5848915C9D4}"/>
    <dgm:cxn modelId="{65654679-515A-4937-A341-F64702147F27}" srcId="{34ADEAC9-F2BA-48FC-AA2F-D5104F5512F6}" destId="{2AE6E74F-0C06-418F-BCB0-9571B4A0611F}" srcOrd="4" destOrd="0" parTransId="{7864F34D-F2BD-4704-88FE-1A84D24E3D60}" sibTransId="{08C9E06E-F0F6-4ECB-92E8-4C3C85603B42}"/>
    <dgm:cxn modelId="{8074A63E-9A5B-49C0-8AF8-4418937CC4D5}" type="presOf" srcId="{C39C94CE-2EE3-4D58-B076-329E8296680C}" destId="{5624C279-D9D2-400E-A60D-89AFC8D61548}" srcOrd="0" destOrd="0" presId="urn:microsoft.com/office/officeart/2005/8/layout/venn2"/>
    <dgm:cxn modelId="{6D9D4D6E-620B-45D7-B4D4-9257B926E1D1}" type="presOf" srcId="{697157CA-2F26-48BF-B16A-6A00091197F5}" destId="{73107B70-3E6E-4403-A196-FD41F14B18A3}" srcOrd="0" destOrd="0" presId="urn:microsoft.com/office/officeart/2005/8/layout/venn2"/>
    <dgm:cxn modelId="{5AAAD9C4-6EF7-469B-8332-D7809DD29FBB}" type="presOf" srcId="{2AE6E74F-0C06-418F-BCB0-9571B4A0611F}" destId="{781779A4-B7B7-4A3F-9AC7-14BA07E28AB7}" srcOrd="1" destOrd="0" presId="urn:microsoft.com/office/officeart/2005/8/layout/venn2"/>
    <dgm:cxn modelId="{DCD042A6-3A72-497C-9DD3-4C634BE029E5}" type="presOf" srcId="{0E704B82-3160-4BCE-B03A-36D0B4F5EA00}" destId="{277E585D-8741-4B95-9616-9E3D56EC6EFC}" srcOrd="1" destOrd="0" presId="urn:microsoft.com/office/officeart/2005/8/layout/venn2"/>
    <dgm:cxn modelId="{262AC7D9-737B-44A3-B11D-9B0851FDA92E}" srcId="{34ADEAC9-F2BA-48FC-AA2F-D5104F5512F6}" destId="{697157CA-2F26-48BF-B16A-6A00091197F5}" srcOrd="1" destOrd="0" parTransId="{91EC7B20-0109-40E5-AFA1-24101C80B168}" sibTransId="{41EE6A24-D660-491F-9C2D-E600972654CE}"/>
    <dgm:cxn modelId="{BCAD9418-9A77-4CB8-9D24-C574E257D6E5}" type="presOf" srcId="{C24037C3-BF95-4D8E-A20C-2FAC201FFE8A}" destId="{38FC25C3-F61F-4D50-B1C3-1553AF928CD4}" srcOrd="1" destOrd="0" presId="urn:microsoft.com/office/officeart/2005/8/layout/venn2"/>
    <dgm:cxn modelId="{827FFAE5-C2D1-4204-81EC-A201DD3AA6CE}" type="presOf" srcId="{0E704B82-3160-4BCE-B03A-36D0B4F5EA00}" destId="{0D4B9B4C-2A59-437B-9E19-B82294DC3316}" srcOrd="0" destOrd="0" presId="urn:microsoft.com/office/officeart/2005/8/layout/venn2"/>
    <dgm:cxn modelId="{87A16177-998A-41D3-BE5F-9B60C7510BEC}" type="presOf" srcId="{2AE6E74F-0C06-418F-BCB0-9571B4A0611F}" destId="{685CEF4B-1911-44CA-8452-4692396A6BEC}" srcOrd="0" destOrd="0" presId="urn:microsoft.com/office/officeart/2005/8/layout/venn2"/>
    <dgm:cxn modelId="{D46874C5-9BCB-4595-93F2-D6C65E978364}" srcId="{34ADEAC9-F2BA-48FC-AA2F-D5104F5512F6}" destId="{89DD7704-5DC2-44C9-AAF2-966CCE797D44}" srcOrd="2" destOrd="0" parTransId="{0DD3337C-F53F-420F-8356-C5EDBB756DAF}" sibTransId="{F3A8E938-A930-424F-AEC5-F12C645D176C}"/>
    <dgm:cxn modelId="{6714658F-E0E7-48CA-A748-3D5584437EDB}" type="presParOf" srcId="{67998534-847D-4EF4-9AB5-DB4BFE664CD6}" destId="{71D5A72D-05D6-4435-859E-84EF1CB0431C}" srcOrd="0" destOrd="0" presId="urn:microsoft.com/office/officeart/2005/8/layout/venn2"/>
    <dgm:cxn modelId="{36E3F0B9-45F7-4BC5-9A95-915E6159CABA}" type="presParOf" srcId="{71D5A72D-05D6-4435-859E-84EF1CB0431C}" destId="{0D4B9B4C-2A59-437B-9E19-B82294DC3316}" srcOrd="0" destOrd="0" presId="urn:microsoft.com/office/officeart/2005/8/layout/venn2"/>
    <dgm:cxn modelId="{0CEEE80D-0ABE-4270-972E-9568F92D771A}" type="presParOf" srcId="{71D5A72D-05D6-4435-859E-84EF1CB0431C}" destId="{277E585D-8741-4B95-9616-9E3D56EC6EFC}" srcOrd="1" destOrd="0" presId="urn:microsoft.com/office/officeart/2005/8/layout/venn2"/>
    <dgm:cxn modelId="{8FE33D5A-6518-41F2-9795-33394B4C92CB}" type="presParOf" srcId="{67998534-847D-4EF4-9AB5-DB4BFE664CD6}" destId="{863188A3-864F-4F9C-9EA7-CD6155D07584}" srcOrd="1" destOrd="0" presId="urn:microsoft.com/office/officeart/2005/8/layout/venn2"/>
    <dgm:cxn modelId="{E99863CD-97A7-423D-880A-95CC6F728FC4}" type="presParOf" srcId="{863188A3-864F-4F9C-9EA7-CD6155D07584}" destId="{73107B70-3E6E-4403-A196-FD41F14B18A3}" srcOrd="0" destOrd="0" presId="urn:microsoft.com/office/officeart/2005/8/layout/venn2"/>
    <dgm:cxn modelId="{737A79D5-BA0D-4D14-8DB4-71C00466FFB9}" type="presParOf" srcId="{863188A3-864F-4F9C-9EA7-CD6155D07584}" destId="{D2C776CB-40A4-48B2-8AE8-67B1E8D1457E}" srcOrd="1" destOrd="0" presId="urn:microsoft.com/office/officeart/2005/8/layout/venn2"/>
    <dgm:cxn modelId="{BE4D9EC5-0FF1-409C-AA9A-38D7647B7DEB}" type="presParOf" srcId="{67998534-847D-4EF4-9AB5-DB4BFE664CD6}" destId="{E2EB1ADD-24F4-4C0F-9928-F89CB9422E4D}" srcOrd="2" destOrd="0" presId="urn:microsoft.com/office/officeart/2005/8/layout/venn2"/>
    <dgm:cxn modelId="{DB6C19C1-4DE7-44EB-BE1E-9535A8FA1818}" type="presParOf" srcId="{E2EB1ADD-24F4-4C0F-9928-F89CB9422E4D}" destId="{DB445B04-63E7-45AD-A377-80F4772A1F13}" srcOrd="0" destOrd="0" presId="urn:microsoft.com/office/officeart/2005/8/layout/venn2"/>
    <dgm:cxn modelId="{594B9CD5-D024-4E99-934D-8E75F4933C33}" type="presParOf" srcId="{E2EB1ADD-24F4-4C0F-9928-F89CB9422E4D}" destId="{8362B702-3D37-43F3-AB00-DDFF8A531E61}" srcOrd="1" destOrd="0" presId="urn:microsoft.com/office/officeart/2005/8/layout/venn2"/>
    <dgm:cxn modelId="{050821CA-99EB-4CB0-9E20-DA3CDFCF6C73}" type="presParOf" srcId="{67998534-847D-4EF4-9AB5-DB4BFE664CD6}" destId="{7799099D-C6E2-4E00-8E05-9CFCD0CCDA1E}" srcOrd="3" destOrd="0" presId="urn:microsoft.com/office/officeart/2005/8/layout/venn2"/>
    <dgm:cxn modelId="{654A7D0E-94D4-43A3-96F9-63C7813079E6}" type="presParOf" srcId="{7799099D-C6E2-4E00-8E05-9CFCD0CCDA1E}" destId="{92F6E1C0-5725-4358-B378-F8822101AEAD}" srcOrd="0" destOrd="0" presId="urn:microsoft.com/office/officeart/2005/8/layout/venn2"/>
    <dgm:cxn modelId="{CD9125EB-3938-4D00-AE2A-ECF8248F1E2F}" type="presParOf" srcId="{7799099D-C6E2-4E00-8E05-9CFCD0CCDA1E}" destId="{38FC25C3-F61F-4D50-B1C3-1553AF928CD4}" srcOrd="1" destOrd="0" presId="urn:microsoft.com/office/officeart/2005/8/layout/venn2"/>
    <dgm:cxn modelId="{4F6C649F-38B6-4696-BEB7-71C94520068D}" type="presParOf" srcId="{67998534-847D-4EF4-9AB5-DB4BFE664CD6}" destId="{D0CA614F-AF84-41B3-AC28-ECE4B73DDCC0}" srcOrd="4" destOrd="0" presId="urn:microsoft.com/office/officeart/2005/8/layout/venn2"/>
    <dgm:cxn modelId="{D41728D2-EE08-4CC0-9406-FCB2F3ABA95F}" type="presParOf" srcId="{D0CA614F-AF84-41B3-AC28-ECE4B73DDCC0}" destId="{685CEF4B-1911-44CA-8452-4692396A6BEC}" srcOrd="0" destOrd="0" presId="urn:microsoft.com/office/officeart/2005/8/layout/venn2"/>
    <dgm:cxn modelId="{E7ED5F70-A0DB-467C-A6F9-78C363084F7B}" type="presParOf" srcId="{D0CA614F-AF84-41B3-AC28-ECE4B73DDCC0}" destId="{781779A4-B7B7-4A3F-9AC7-14BA07E28AB7}" srcOrd="1" destOrd="0" presId="urn:microsoft.com/office/officeart/2005/8/layout/venn2"/>
    <dgm:cxn modelId="{D4A4FED2-2382-4F98-9F4D-F449E41A26F3}" type="presParOf" srcId="{67998534-847D-4EF4-9AB5-DB4BFE664CD6}" destId="{F60E2E67-9513-4A2D-B5C7-BD52D353F6EB}" srcOrd="5" destOrd="0" presId="urn:microsoft.com/office/officeart/2005/8/layout/venn2"/>
    <dgm:cxn modelId="{B541E10E-F2E8-4903-A221-4B289F0BF46E}" type="presParOf" srcId="{F60E2E67-9513-4A2D-B5C7-BD52D353F6EB}" destId="{5624C279-D9D2-400E-A60D-89AFC8D61548}" srcOrd="0" destOrd="0" presId="urn:microsoft.com/office/officeart/2005/8/layout/venn2"/>
    <dgm:cxn modelId="{F3611929-2851-4E57-B78B-5E385D17196E}" type="presParOf" srcId="{F60E2E67-9513-4A2D-B5C7-BD52D353F6EB}" destId="{2E48081C-9ECD-443F-93A7-796473552544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B9B4C-2A59-437B-9E19-B82294DC3316}">
      <dsp:nvSpPr>
        <dsp:cNvPr id="0" name=""/>
        <dsp:cNvSpPr/>
      </dsp:nvSpPr>
      <dsp:spPr>
        <a:xfrm>
          <a:off x="1205311" y="0"/>
          <a:ext cx="4762019" cy="4762019"/>
        </a:xfrm>
        <a:prstGeom prst="ellipse">
          <a:avLst/>
        </a:prstGeom>
        <a:solidFill>
          <a:schemeClr val="bg2">
            <a:lumMod val="75000"/>
          </a:schemeClr>
        </a:solidFill>
        <a:ln w="25400" cap="flat" cmpd="sng" algn="ctr">
          <a:solidFill>
            <a:schemeClr val="bg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Projetos</a:t>
          </a:r>
          <a:r>
            <a:rPr lang="en-US" sz="1400" kern="1200" dirty="0" smtClean="0"/>
            <a:t>/</a:t>
          </a:r>
          <a:r>
            <a:rPr lang="en-US" sz="1400" kern="1200" dirty="0" err="1" smtClean="0"/>
            <a:t>Engenharia</a:t>
          </a:r>
          <a:endParaRPr lang="en-US" sz="1400" kern="1200" dirty="0"/>
        </a:p>
      </dsp:txBody>
      <dsp:txXfrm>
        <a:off x="2693442" y="238100"/>
        <a:ext cx="1785757" cy="476201"/>
      </dsp:txXfrm>
    </dsp:sp>
    <dsp:sp modelId="{73107B70-3E6E-4403-A196-FD41F14B18A3}">
      <dsp:nvSpPr>
        <dsp:cNvPr id="0" name=""/>
        <dsp:cNvSpPr/>
      </dsp:nvSpPr>
      <dsp:spPr>
        <a:xfrm>
          <a:off x="1562463" y="714302"/>
          <a:ext cx="4047716" cy="4047716"/>
        </a:xfrm>
        <a:prstGeom prst="ellipse">
          <a:avLst/>
        </a:prstGeom>
        <a:solidFill>
          <a:schemeClr val="accent1">
            <a:shade val="80000"/>
            <a:hueOff val="61249"/>
            <a:satOff val="-878"/>
            <a:lumOff val="5123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SHE</a:t>
          </a:r>
          <a:endParaRPr lang="en-US" sz="1400" kern="1200" dirty="0"/>
        </a:p>
      </dsp:txBody>
      <dsp:txXfrm>
        <a:off x="2713532" y="947046"/>
        <a:ext cx="1745577" cy="465487"/>
      </dsp:txXfrm>
    </dsp:sp>
    <dsp:sp modelId="{DB445B04-63E7-45AD-A377-80F4772A1F13}">
      <dsp:nvSpPr>
        <dsp:cNvPr id="0" name=""/>
        <dsp:cNvSpPr/>
      </dsp:nvSpPr>
      <dsp:spPr>
        <a:xfrm>
          <a:off x="1919614" y="1428605"/>
          <a:ext cx="3333413" cy="3333413"/>
        </a:xfrm>
        <a:prstGeom prst="ellipse">
          <a:avLst/>
        </a:prstGeom>
        <a:solidFill>
          <a:schemeClr val="accent1">
            <a:shade val="80000"/>
            <a:hueOff val="122498"/>
            <a:satOff val="-1757"/>
            <a:lumOff val="10246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RH</a:t>
          </a:r>
          <a:endParaRPr lang="en-US" sz="1400" kern="1200" dirty="0"/>
        </a:p>
      </dsp:txBody>
      <dsp:txXfrm>
        <a:off x="2723800" y="1658611"/>
        <a:ext cx="1725041" cy="460011"/>
      </dsp:txXfrm>
    </dsp:sp>
    <dsp:sp modelId="{92F6E1C0-5725-4358-B378-F8822101AEAD}">
      <dsp:nvSpPr>
        <dsp:cNvPr id="0" name=""/>
        <dsp:cNvSpPr/>
      </dsp:nvSpPr>
      <dsp:spPr>
        <a:xfrm>
          <a:off x="2171268" y="2142908"/>
          <a:ext cx="2830105" cy="2619110"/>
        </a:xfrm>
        <a:prstGeom prst="ellipse">
          <a:avLst/>
        </a:prstGeom>
        <a:solidFill>
          <a:schemeClr val="accent1">
            <a:shade val="80000"/>
            <a:hueOff val="183747"/>
            <a:satOff val="-2635"/>
            <a:lumOff val="15369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Operação/Manutenção</a:t>
          </a:r>
          <a:endParaRPr lang="en-US" sz="1100" kern="1200" dirty="0"/>
        </a:p>
      </dsp:txBody>
      <dsp:txXfrm>
        <a:off x="2822192" y="2378628"/>
        <a:ext cx="1528257" cy="471439"/>
      </dsp:txXfrm>
    </dsp:sp>
    <dsp:sp modelId="{685CEF4B-1911-44CA-8452-4692396A6BEC}">
      <dsp:nvSpPr>
        <dsp:cNvPr id="0" name=""/>
        <dsp:cNvSpPr/>
      </dsp:nvSpPr>
      <dsp:spPr>
        <a:xfrm>
          <a:off x="2633917" y="2857211"/>
          <a:ext cx="1904807" cy="1904807"/>
        </a:xfrm>
        <a:prstGeom prst="ellipse">
          <a:avLst/>
        </a:prstGeom>
        <a:solidFill>
          <a:schemeClr val="accent1">
            <a:shade val="80000"/>
            <a:hueOff val="244997"/>
            <a:satOff val="-3514"/>
            <a:lumOff val="20492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TI</a:t>
          </a:r>
          <a:endParaRPr lang="en-US" sz="1100" kern="1200" dirty="0"/>
        </a:p>
      </dsp:txBody>
      <dsp:txXfrm>
        <a:off x="2967259" y="3095312"/>
        <a:ext cx="1238124" cy="476201"/>
      </dsp:txXfrm>
    </dsp:sp>
    <dsp:sp modelId="{5624C279-D9D2-400E-A60D-89AFC8D61548}">
      <dsp:nvSpPr>
        <dsp:cNvPr id="0" name=""/>
        <dsp:cNvSpPr/>
      </dsp:nvSpPr>
      <dsp:spPr>
        <a:xfrm>
          <a:off x="2991069" y="3571514"/>
          <a:ext cx="1190504" cy="1190504"/>
        </a:xfrm>
        <a:prstGeom prst="ellipse">
          <a:avLst/>
        </a:prstGeom>
        <a:solidFill>
          <a:schemeClr val="accent1">
            <a:shade val="80000"/>
            <a:hueOff val="306246"/>
            <a:satOff val="-4392"/>
            <a:lumOff val="25615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err="1" smtClean="0"/>
            <a:t>Processos</a:t>
          </a:r>
          <a:endParaRPr lang="en-US" sz="1100" kern="1200" dirty="0"/>
        </a:p>
      </dsp:txBody>
      <dsp:txXfrm>
        <a:off x="3165414" y="3869140"/>
        <a:ext cx="841813" cy="595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D1DEF-B7EA-4ADA-A7F8-00183130DB51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474477-C0FD-411B-B006-4156FE6C4EE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53703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89CF2-CAB6-4D2F-A8A8-637129F8F0CB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670E-55BB-455F-AF3E-198C7F3CD80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045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FD262-E565-4355-B2F2-50612D7FCC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09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odelo_empre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 descr="LOGO 1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20272" y="1"/>
            <a:ext cx="2123728" cy="5660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99C-BB5B-486E-B3F8-55D585093289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9726" y="1538289"/>
            <a:ext cx="8481890" cy="4759325"/>
          </a:xfrm>
        </p:spPr>
        <p:txBody>
          <a:bodyPr>
            <a:noAutofit/>
          </a:bodyPr>
          <a:lstStyle>
            <a:lvl1pPr marL="0" marR="0" indent="0" algn="l" defTabSz="8728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300" b="0" smtClean="0">
                <a:solidFill>
                  <a:sysClr val="windowText" lastClr="000000"/>
                </a:solidFill>
              </a:defRPr>
            </a:lvl1pPr>
            <a:lvl2pPr>
              <a:defRPr sz="2200">
                <a:solidFill>
                  <a:schemeClr val="accent4">
                    <a:lumMod val="75000"/>
                  </a:schemeClr>
                </a:solidFill>
              </a:defRPr>
            </a:lvl2pPr>
            <a:lvl3pPr>
              <a:defRPr sz="2200">
                <a:solidFill>
                  <a:schemeClr val="accent4">
                    <a:lumMod val="75000"/>
                  </a:schemeClr>
                </a:solidFill>
              </a:defRPr>
            </a:lvl3pPr>
            <a:lvl4pPr>
              <a:defRPr sz="2200">
                <a:solidFill>
                  <a:schemeClr val="accent4">
                    <a:lumMod val="75000"/>
                  </a:schemeClr>
                </a:solidFill>
              </a:defRPr>
            </a:lvl4pPr>
            <a:lvl5pPr>
              <a:defRPr sz="2200">
                <a:solidFill>
                  <a:schemeClr val="accent4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sz="1300" dirty="0" smtClean="0">
                <a:latin typeface="+mn-lt"/>
              </a:rPr>
              <a:t>INTRODUCTORY, SIMPLE BODY / TITLE TEXT AREAS USE ARIAL 14PT BOLD BLUE CAPITAL.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73AE-3680-47B5-9E93-A14B3F8736D1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39970" y="1106488"/>
            <a:ext cx="8481890" cy="345600"/>
          </a:xfr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defRPr/>
            </a:lvl2pPr>
          </a:lstStyle>
          <a:p>
            <a:r>
              <a:rPr lang="en-GB" dirty="0" smtClean="0">
                <a:latin typeface="Arial" charset="0"/>
                <a:cs typeface="Arial" charset="0"/>
              </a:rPr>
              <a:t>Body Subheading Arial 14pt Bold</a:t>
            </a:r>
            <a:endParaRPr lang="en-US" dirty="0" smtClean="0">
              <a:latin typeface="Arial" charset="0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9726" y="110820"/>
            <a:ext cx="6539044" cy="69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 smtClean="0">
                <a:latin typeface="Arial" charset="0"/>
                <a:cs typeface="Arial" charset="0"/>
              </a:rPr>
              <a:t>INTRO SLIDE TITLE ARIAL 20PT REGULAR BLUE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05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E099C-BB5B-486E-B3F8-55D585093289}" type="datetimeFigureOut">
              <a:rPr lang="pt-BR" smtClean="0"/>
              <a:pPr/>
              <a:t>31/01/2019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3F696-8E32-4B62-8135-590A80A7855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3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Segurança do Trabalh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2627784" cy="1042052"/>
          </a:xfrm>
          <a:prstGeom prst="rect">
            <a:avLst/>
          </a:prstGeom>
          <a:noFill/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691680" y="1916832"/>
            <a:ext cx="5472608" cy="2736304"/>
          </a:xfrm>
        </p:spPr>
        <p:txBody>
          <a:bodyPr>
            <a:normAutofit/>
          </a:bodyPr>
          <a:lstStyle/>
          <a:p>
            <a:r>
              <a:rPr lang="pt-BR" dirty="0" smtClean="0">
                <a:solidFill>
                  <a:schemeClr val="accent1"/>
                </a:solidFill>
              </a:rPr>
              <a:t/>
            </a:r>
            <a:br>
              <a:rPr lang="pt-BR" dirty="0" smtClean="0">
                <a:solidFill>
                  <a:schemeClr val="accent1"/>
                </a:solidFill>
              </a:rPr>
            </a:br>
            <a:r>
              <a:rPr lang="pt-BR" b="0" dirty="0" smtClean="0"/>
              <a:t> MODELO DE GESTÃO DE PROJETOS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73AE-3680-47B5-9E93-A14B3F8736D1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Title 4"/>
          <p:cNvSpPr txBox="1">
            <a:spLocks/>
          </p:cNvSpPr>
          <p:nvPr/>
        </p:nvSpPr>
        <p:spPr>
          <a:xfrm>
            <a:off x="4644008" y="3046030"/>
            <a:ext cx="4134651" cy="299830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pt-BR" sz="1846" b="1" dirty="0">
                <a:solidFill>
                  <a:schemeClr val="accent1">
                    <a:lumMod val="75000"/>
                  </a:schemeClr>
                </a:solidFill>
              </a:rPr>
              <a:t>Objetivos: </a:t>
            </a:r>
          </a:p>
          <a:p>
            <a:pPr algn="ctr"/>
            <a:endParaRPr lang="pt-BR" sz="1846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pt-BR" sz="1846" dirty="0">
                <a:solidFill>
                  <a:schemeClr val="accent1">
                    <a:lumMod val="75000"/>
                  </a:schemeClr>
                </a:solidFill>
              </a:rPr>
              <a:t>Implementar  projetos de forma eficiente</a:t>
            </a:r>
          </a:p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pt-BR" sz="1846" dirty="0">
                <a:solidFill>
                  <a:schemeClr val="accent1">
                    <a:lumMod val="75000"/>
                  </a:schemeClr>
                </a:solidFill>
              </a:rPr>
              <a:t>Alinhamento estratégico</a:t>
            </a:r>
          </a:p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pt-BR" sz="1846" dirty="0">
                <a:solidFill>
                  <a:schemeClr val="accent1">
                    <a:lumMod val="75000"/>
                  </a:schemeClr>
                </a:solidFill>
              </a:rPr>
              <a:t>Inovar e integrar</a:t>
            </a:r>
          </a:p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1846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itle 4"/>
          <p:cNvSpPr txBox="1">
            <a:spLocks/>
          </p:cNvSpPr>
          <p:nvPr/>
        </p:nvSpPr>
        <p:spPr>
          <a:xfrm>
            <a:off x="4308074" y="1437473"/>
            <a:ext cx="4835926" cy="222058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1846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itle 4"/>
          <p:cNvSpPr txBox="1">
            <a:spLocks/>
          </p:cNvSpPr>
          <p:nvPr/>
        </p:nvSpPr>
        <p:spPr>
          <a:xfrm>
            <a:off x="367918" y="3190480"/>
            <a:ext cx="3928455" cy="270940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pt-BR" sz="1846" b="1" dirty="0">
                <a:solidFill>
                  <a:schemeClr val="accent1">
                    <a:lumMod val="75000"/>
                  </a:schemeClr>
                </a:solidFill>
              </a:rPr>
              <a:t>Missão:</a:t>
            </a:r>
          </a:p>
          <a:p>
            <a:pPr algn="ctr"/>
            <a:r>
              <a:rPr lang="pt-BR" sz="1846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/>
            <a:r>
              <a:rPr lang="pt-BR" sz="1846" dirty="0">
                <a:solidFill>
                  <a:schemeClr val="accent1">
                    <a:lumMod val="75000"/>
                  </a:schemeClr>
                </a:solidFill>
              </a:rPr>
              <a:t>Gerenciar o portfólio de Projetos com base nos conceitos do PMI.</a:t>
            </a:r>
          </a:p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pt-BR" sz="1846" b="1" dirty="0">
                <a:solidFill>
                  <a:schemeClr val="accent1">
                    <a:lumMod val="75000"/>
                  </a:schemeClr>
                </a:solidFill>
              </a:rPr>
              <a:t>Área de atuação: </a:t>
            </a:r>
          </a:p>
          <a:p>
            <a:pPr algn="ctr"/>
            <a:endParaRPr lang="pt-BR" sz="1846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pt-BR" sz="1846" dirty="0" smtClean="0">
                <a:solidFill>
                  <a:schemeClr val="accent1">
                    <a:lumMod val="75000"/>
                  </a:schemeClr>
                </a:solidFill>
              </a:rPr>
              <a:t>Unidade</a:t>
            </a:r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pt-BR" sz="1846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1846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195736" y="1217362"/>
            <a:ext cx="4482151" cy="44022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pt-BR" sz="2400" dirty="0" smtClean="0">
                <a:solidFill>
                  <a:schemeClr val="tx1"/>
                </a:solidFill>
              </a:rPr>
              <a:t>Projeto</a:t>
            </a:r>
            <a:r>
              <a:rPr lang="pt-BR" sz="2400" dirty="0">
                <a:solidFill>
                  <a:schemeClr val="tx1"/>
                </a:solidFill>
              </a:rPr>
              <a:t>: </a:t>
            </a:r>
            <a:r>
              <a:rPr lang="pt-BR" sz="2400" dirty="0" smtClean="0">
                <a:solidFill>
                  <a:schemeClr val="tx1"/>
                </a:solidFill>
              </a:rPr>
              <a:t>Diretriz  </a:t>
            </a:r>
            <a:r>
              <a:rPr lang="pt-BR" sz="2400" dirty="0">
                <a:solidFill>
                  <a:schemeClr val="tx1"/>
                </a:solidFill>
              </a:rPr>
              <a:t>Engenharia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12" name="Imagem 11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19320" y="-11701"/>
            <a:ext cx="2123728" cy="56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04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73AE-3680-47B5-9E93-A14B3F8736D1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809150"/>
              </p:ext>
            </p:extLst>
          </p:nvPr>
        </p:nvGraphicFramePr>
        <p:xfrm>
          <a:off x="1690616" y="1082635"/>
          <a:ext cx="7002352" cy="503955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501176"/>
                <a:gridCol w="3501176"/>
              </a:tblGrid>
              <a:tr h="590865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Indicadores</a:t>
                      </a:r>
                      <a:r>
                        <a:rPr lang="pt-BR" sz="1100" baseline="0" dirty="0" smtClean="0"/>
                        <a:t> de performance (KPI´s)</a:t>
                      </a:r>
                      <a:endParaRPr lang="en-US" sz="1100" b="1" dirty="0"/>
                    </a:p>
                  </a:txBody>
                  <a:tcPr marL="84404" marR="84404" marT="42214" marB="42214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 dirty="0" smtClean="0"/>
                        <a:t>Vetores de desempenho mensuráveis utilizados para aferirem resultado e embasarem tomadas de decisão de curto, médio e longo prazo. </a:t>
                      </a:r>
                      <a:endParaRPr lang="en-US" sz="1100" b="0" dirty="0"/>
                    </a:p>
                  </a:txBody>
                  <a:tcPr marL="84404" marR="84404" marT="42214" marB="42214"/>
                </a:tc>
              </a:tr>
              <a:tr h="75967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 smtClean="0"/>
                        <a:t>Integração</a:t>
                      </a:r>
                      <a:endParaRPr lang="en-US" sz="1100" b="1" dirty="0" smtClean="0"/>
                    </a:p>
                    <a:p>
                      <a:pPr algn="ctr"/>
                      <a:endParaRPr lang="en-US" sz="1100" dirty="0"/>
                    </a:p>
                  </a:txBody>
                  <a:tcPr marL="84404" marR="84404" marT="42214" marB="42214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/>
                        <a:t>Formas comuns de trabalho entre áreas diferentes. Integração significa ser participante, ser considerado, fazer parte. </a:t>
                      </a:r>
                    </a:p>
                    <a:p>
                      <a:pPr algn="l"/>
                      <a:endParaRPr lang="en-US" sz="1100" dirty="0"/>
                    </a:p>
                  </a:txBody>
                  <a:tcPr marL="84404" marR="84404" marT="42214" marB="42214"/>
                </a:tc>
              </a:tr>
              <a:tr h="422053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smtClean="0"/>
                        <a:t>Otimização</a:t>
                      </a:r>
                      <a:endParaRPr lang="en-US" sz="1100" b="1" dirty="0"/>
                    </a:p>
                  </a:txBody>
                  <a:tcPr marL="84404" marR="84404" marT="42214" marB="42214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/>
                        <a:t>Encontrar uma "solução ótima" do problema, que resulte no melhor desempenho possível do sistema.</a:t>
                      </a:r>
                      <a:endParaRPr lang="en-US" sz="1100" dirty="0"/>
                    </a:p>
                  </a:txBody>
                  <a:tcPr marL="84404" marR="84404" marT="42214" marB="42214"/>
                </a:tc>
              </a:tr>
              <a:tr h="92849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smtClean="0"/>
                        <a:t>Visão holística</a:t>
                      </a:r>
                      <a:endParaRPr lang="en-US" sz="1100" b="1" dirty="0"/>
                    </a:p>
                  </a:txBody>
                  <a:tcPr marL="84404" marR="84404" marT="42214" marB="42214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/>
                        <a:t>A empresa não pode mais ser vista como um conjunto de departamentos que executam atividades isoladas, mas sim como em conjunto único, um sistema aberto em continua interação.</a:t>
                      </a:r>
                    </a:p>
                    <a:p>
                      <a:pPr algn="l"/>
                      <a:endParaRPr lang="pt-BR" sz="1100" dirty="0" smtClean="0"/>
                    </a:p>
                  </a:txBody>
                  <a:tcPr marL="84404" marR="84404" marT="42214" marB="42214"/>
                </a:tc>
              </a:tr>
              <a:tr h="77949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smtClean="0"/>
                        <a:t>PMI – Project Management Institute</a:t>
                      </a:r>
                      <a:endParaRPr lang="en-US" sz="1100" b="1" dirty="0"/>
                    </a:p>
                  </a:txBody>
                  <a:tcPr marL="84404" marR="84404" marT="42214" marB="42214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/>
                        <a:t>Instituição que incentiva, promove e define as melhores práticas em Gerenciamento</a:t>
                      </a:r>
                      <a:r>
                        <a:rPr lang="pt-BR" sz="1100" baseline="0" dirty="0" smtClean="0"/>
                        <a:t> de Projetos mundialmente (EUA).</a:t>
                      </a:r>
                      <a:endParaRPr lang="pt-BR" sz="1100" dirty="0" smtClean="0"/>
                    </a:p>
                  </a:txBody>
                  <a:tcPr marL="84404" marR="84404" marT="42214" marB="42214"/>
                </a:tc>
              </a:tr>
              <a:tr h="77949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smtClean="0"/>
                        <a:t>PMO</a:t>
                      </a:r>
                      <a:r>
                        <a:rPr lang="pt-BR" sz="1100" b="1" baseline="0" dirty="0" smtClean="0"/>
                        <a:t> – Project Management Office</a:t>
                      </a:r>
                      <a:endParaRPr lang="en-US" sz="1100" b="1" dirty="0"/>
                    </a:p>
                  </a:txBody>
                  <a:tcPr marL="84404" marR="84404" marT="42214" marB="42214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/>
                        <a:t>“Escritório de projetos”</a:t>
                      </a:r>
                    </a:p>
                  </a:txBody>
                  <a:tcPr marL="84404" marR="84404" marT="42214" marB="42214"/>
                </a:tc>
              </a:tr>
              <a:tr h="77949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smtClean="0"/>
                        <a:t>Portfólio de projetos</a:t>
                      </a:r>
                      <a:endParaRPr lang="en-US" sz="1100" b="1" dirty="0"/>
                    </a:p>
                  </a:txBody>
                  <a:tcPr marL="84404" marR="84404" marT="42214" marB="42214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/>
                        <a:t>Conjunto de programa de projetos</a:t>
                      </a:r>
                    </a:p>
                  </a:txBody>
                  <a:tcPr marL="84404" marR="84404" marT="42214" marB="42214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13378" y="1082635"/>
            <a:ext cx="1536948" cy="403134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662" b="1" dirty="0">
                <a:solidFill>
                  <a:sysClr val="windowText" lastClr="000000"/>
                </a:solidFill>
                <a:latin typeface="BankGothic Lt BT" pitchFamily="34" charset="0"/>
              </a:rPr>
              <a:t>Conceitos</a:t>
            </a:r>
            <a:endParaRPr lang="en-US" sz="1662" b="1" dirty="0">
              <a:solidFill>
                <a:sysClr val="windowText" lastClr="000000"/>
              </a:solidFill>
              <a:latin typeface="BankGothic Lt BT" pitchFamily="34" charset="0"/>
            </a:endParaRPr>
          </a:p>
        </p:txBody>
      </p:sp>
      <p:pic>
        <p:nvPicPr>
          <p:cNvPr id="5" name="Imagem 4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19320" y="-11701"/>
            <a:ext cx="2123728" cy="56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079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73AE-3680-47B5-9E93-A14B3F8736D1}" type="slidenum">
              <a:rPr lang="en-US" smtClean="0"/>
              <a:t>4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13378" y="452739"/>
            <a:ext cx="1536948" cy="403134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662" b="1" dirty="0">
                <a:solidFill>
                  <a:sysClr val="windowText" lastClr="000000"/>
                </a:solidFill>
                <a:latin typeface="BankGothic Lt BT" pitchFamily="34" charset="0"/>
              </a:rPr>
              <a:t>Conceitos</a:t>
            </a:r>
            <a:endParaRPr lang="en-US" sz="1662" b="1" dirty="0">
              <a:solidFill>
                <a:sysClr val="windowText" lastClr="000000"/>
              </a:solidFill>
              <a:latin typeface="BankGothic Lt BT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78" y="1453558"/>
            <a:ext cx="5982402" cy="3676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115" y="2093592"/>
            <a:ext cx="3631886" cy="2900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 descr="LOGO 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19320" y="-11701"/>
            <a:ext cx="2123728" cy="56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73AE-3680-47B5-9E93-A14B3F8736D1}" type="slidenum">
              <a:rPr lang="en-US" smtClean="0">
                <a:solidFill>
                  <a:srgbClr val="32556E"/>
                </a:solidFill>
              </a:rPr>
              <a:pPr/>
              <a:t>5</a:t>
            </a:fld>
            <a:endParaRPr lang="en-US" dirty="0">
              <a:solidFill>
                <a:srgbClr val="32556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3773" y="402347"/>
            <a:ext cx="1990473" cy="491319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662" b="1" dirty="0">
                <a:solidFill>
                  <a:sysClr val="windowText" lastClr="000000"/>
                </a:solidFill>
                <a:latin typeface="BankGothic Lt BT" pitchFamily="34" charset="0"/>
              </a:rPr>
              <a:t>Stakeholders</a:t>
            </a:r>
            <a:endParaRPr lang="en-US" sz="1662" b="1" dirty="0">
              <a:solidFill>
                <a:sysClr val="windowText" lastClr="000000"/>
              </a:solidFill>
              <a:latin typeface="BankGothic Lt BT" pitchFamily="34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971382681"/>
              </p:ext>
            </p:extLst>
          </p:nvPr>
        </p:nvGraphicFramePr>
        <p:xfrm>
          <a:off x="1267973" y="1573954"/>
          <a:ext cx="7172643" cy="4762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m 4" descr="LOGO 1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019320" y="-11701"/>
            <a:ext cx="2123728" cy="56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73AE-3680-47B5-9E93-A14B3F8736D1}" type="slidenum">
              <a:rPr lang="en-US" smtClean="0"/>
              <a:t>6</a:t>
            </a:fld>
            <a:endParaRPr lang="en-US" dirty="0"/>
          </a:p>
        </p:txBody>
      </p:sp>
      <p:sp>
        <p:nvSpPr>
          <p:cNvPr id="44" name="Content Placeholder 1"/>
          <p:cNvSpPr>
            <a:spLocks noGrp="1"/>
          </p:cNvSpPr>
          <p:nvPr>
            <p:ph idx="13"/>
          </p:nvPr>
        </p:nvSpPr>
        <p:spPr>
          <a:xfrm>
            <a:off x="3131840" y="2780928"/>
            <a:ext cx="4182516" cy="1567502"/>
          </a:xfrm>
        </p:spPr>
        <p:txBody>
          <a:bodyPr/>
          <a:lstStyle/>
          <a:p>
            <a:pPr marL="316531" indent="-316531"/>
            <a:endParaRPr lang="pt-BR" sz="1662" dirty="0">
              <a:solidFill>
                <a:srgbClr val="000000"/>
              </a:solidFill>
            </a:endParaRPr>
          </a:p>
          <a:p>
            <a:pPr marL="316531" indent="-316531"/>
            <a:r>
              <a:rPr lang="pt-BR" sz="1662" dirty="0">
                <a:solidFill>
                  <a:srgbClr val="000000"/>
                </a:solidFill>
              </a:rPr>
              <a:t>Construção de legado</a:t>
            </a:r>
          </a:p>
          <a:p>
            <a:pPr marL="316531" indent="-316531"/>
            <a:r>
              <a:rPr lang="pt-BR" sz="1662" dirty="0">
                <a:solidFill>
                  <a:srgbClr val="000000"/>
                </a:solidFill>
              </a:rPr>
              <a:t>Ferramenta para mudança de cultura</a:t>
            </a:r>
          </a:p>
          <a:p>
            <a:pPr marL="316531" indent="-316531"/>
            <a:r>
              <a:rPr lang="pt-BR" sz="1662" dirty="0">
                <a:solidFill>
                  <a:srgbClr val="000000"/>
                </a:solidFill>
              </a:rPr>
              <a:t>Impacto positivo da equipe</a:t>
            </a:r>
          </a:p>
          <a:p>
            <a:pPr marL="316531" indent="-316531"/>
            <a:r>
              <a:rPr lang="pt-BR" sz="1662" dirty="0">
                <a:solidFill>
                  <a:srgbClr val="000000"/>
                </a:solidFill>
              </a:rPr>
              <a:t>Empreendedorismo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51920" y="1844824"/>
            <a:ext cx="1652346" cy="384236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1662" b="1" dirty="0">
                <a:solidFill>
                  <a:sysClr val="windowText" lastClr="000000"/>
                </a:solidFill>
                <a:latin typeface="BankGothic Lt BT" pitchFamily="34" charset="0"/>
              </a:rPr>
              <a:t>O Por que</a:t>
            </a:r>
            <a:endParaRPr lang="en-US" sz="1662" b="1" dirty="0">
              <a:solidFill>
                <a:sysClr val="windowText" lastClr="000000"/>
              </a:solidFill>
              <a:latin typeface="BankGothic Lt BT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8576" y="404424"/>
            <a:ext cx="3137280" cy="475016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1662" b="1" dirty="0">
                <a:solidFill>
                  <a:sysClr val="windowText" lastClr="000000"/>
                </a:solidFill>
                <a:latin typeface="BankGothic Lt BT" pitchFamily="34" charset="0"/>
              </a:rPr>
              <a:t>Organograma Proposto</a:t>
            </a:r>
            <a:endParaRPr lang="en-US" sz="1662" b="1" dirty="0">
              <a:solidFill>
                <a:sysClr val="windowText" lastClr="000000"/>
              </a:solidFill>
              <a:latin typeface="BankGothic Lt BT" pitchFamily="34" charset="0"/>
            </a:endParaRPr>
          </a:p>
        </p:txBody>
      </p:sp>
      <p:pic>
        <p:nvPicPr>
          <p:cNvPr id="6" name="Imagem 5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19320" y="-11701"/>
            <a:ext cx="2123728" cy="56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31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5323" y="351954"/>
            <a:ext cx="1529535" cy="566906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Fluxo Atual de aprovação</a:t>
            </a:r>
          </a:p>
        </p:txBody>
      </p:sp>
      <p:sp>
        <p:nvSpPr>
          <p:cNvPr id="84" name="Rounded Rectangle 83"/>
          <p:cNvSpPr/>
          <p:nvPr/>
        </p:nvSpPr>
        <p:spPr bwMode="auto">
          <a:xfrm>
            <a:off x="121783" y="1910261"/>
            <a:ext cx="1395046" cy="696057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Planiha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com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valores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iniciais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para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Diretoria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4" name="Rounded Rectangle 83"/>
          <p:cNvSpPr/>
          <p:nvPr/>
        </p:nvSpPr>
        <p:spPr bwMode="auto">
          <a:xfrm>
            <a:off x="2096940" y="2580138"/>
            <a:ext cx="1395046" cy="696057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Aprovação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Diretoria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5" name="Rounded Rectangle 83"/>
          <p:cNvSpPr/>
          <p:nvPr/>
        </p:nvSpPr>
        <p:spPr bwMode="auto">
          <a:xfrm>
            <a:off x="3479386" y="2086744"/>
            <a:ext cx="1395046" cy="348029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Elaboração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de DMS</a:t>
            </a:r>
          </a:p>
        </p:txBody>
      </p:sp>
      <p:sp>
        <p:nvSpPr>
          <p:cNvPr id="66" name="Rounded Rectangle 83"/>
          <p:cNvSpPr/>
          <p:nvPr/>
        </p:nvSpPr>
        <p:spPr bwMode="auto">
          <a:xfrm>
            <a:off x="5301541" y="2081617"/>
            <a:ext cx="1395046" cy="348029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r>
              <a:rPr lang="en-US" sz="923" kern="0" dirty="0" err="1" smtClean="0">
                <a:solidFill>
                  <a:srgbClr val="000000"/>
                </a:solidFill>
                <a:latin typeface="Verdana"/>
              </a:rPr>
              <a:t>Gerente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8" name="Rounded Rectangle 83"/>
          <p:cNvSpPr/>
          <p:nvPr/>
        </p:nvSpPr>
        <p:spPr bwMode="auto">
          <a:xfrm>
            <a:off x="5308073" y="3379800"/>
            <a:ext cx="1395046" cy="348029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SHE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9" name="Rounded Rectangle 83"/>
          <p:cNvSpPr/>
          <p:nvPr/>
        </p:nvSpPr>
        <p:spPr bwMode="auto">
          <a:xfrm>
            <a:off x="5314622" y="4081380"/>
            <a:ext cx="1395046" cy="348029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r>
              <a:rPr lang="en-US" sz="923" kern="0" dirty="0" err="1" smtClean="0">
                <a:solidFill>
                  <a:srgbClr val="000000"/>
                </a:solidFill>
                <a:latin typeface="Verdana"/>
              </a:rPr>
              <a:t>Engenharia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0" name="Rounded Rectangle 83"/>
          <p:cNvSpPr/>
          <p:nvPr/>
        </p:nvSpPr>
        <p:spPr bwMode="auto">
          <a:xfrm>
            <a:off x="5324437" y="4758032"/>
            <a:ext cx="1395046" cy="348029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Diretores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</a:p>
        </p:txBody>
      </p:sp>
      <p:sp>
        <p:nvSpPr>
          <p:cNvPr id="73" name="Rounded Rectangle 83"/>
          <p:cNvSpPr/>
          <p:nvPr/>
        </p:nvSpPr>
        <p:spPr bwMode="auto">
          <a:xfrm>
            <a:off x="5304807" y="2730630"/>
            <a:ext cx="1395046" cy="348029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r>
              <a:rPr lang="en-US" sz="923" kern="0" dirty="0" err="1" smtClean="0">
                <a:solidFill>
                  <a:srgbClr val="000000"/>
                </a:solidFill>
                <a:latin typeface="Verdana"/>
              </a:rPr>
              <a:t>Gerente</a:t>
            </a:r>
            <a:r>
              <a:rPr lang="en-US" sz="923" kern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 smtClean="0">
                <a:solidFill>
                  <a:srgbClr val="000000"/>
                </a:solidFill>
                <a:latin typeface="Verdana"/>
              </a:rPr>
              <a:t>Geral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4" name="Rounded Rectangle 83"/>
          <p:cNvSpPr/>
          <p:nvPr/>
        </p:nvSpPr>
        <p:spPr bwMode="auto">
          <a:xfrm>
            <a:off x="5334252" y="5327284"/>
            <a:ext cx="1395046" cy="348029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 smtClean="0">
                <a:solidFill>
                  <a:srgbClr val="000000"/>
                </a:solidFill>
                <a:latin typeface="Verdana"/>
              </a:rPr>
              <a:t>Diretor</a:t>
            </a:r>
            <a:r>
              <a:rPr lang="en-US" sz="923" kern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 smtClean="0">
                <a:solidFill>
                  <a:srgbClr val="000000"/>
                </a:solidFill>
                <a:latin typeface="Verdana"/>
              </a:rPr>
              <a:t>Executuvo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109185" y="3379800"/>
            <a:ext cx="3122669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/>
          <p:nvPr/>
        </p:nvCxnSpPr>
        <p:spPr>
          <a:xfrm>
            <a:off x="3251483" y="5931676"/>
            <a:ext cx="5581917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83"/>
          <p:cNvSpPr/>
          <p:nvPr/>
        </p:nvSpPr>
        <p:spPr bwMode="auto">
          <a:xfrm>
            <a:off x="666131" y="3626745"/>
            <a:ext cx="697523" cy="348029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Ano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1</a:t>
            </a: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8" name="Rounded Rectangle 83"/>
          <p:cNvSpPr/>
          <p:nvPr/>
        </p:nvSpPr>
        <p:spPr bwMode="auto">
          <a:xfrm>
            <a:off x="4526568" y="6024795"/>
            <a:ext cx="697523" cy="348029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Ano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2</a:t>
            </a: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6" name="Conector reto 15"/>
          <p:cNvCxnSpPr/>
          <p:nvPr/>
        </p:nvCxnSpPr>
        <p:spPr>
          <a:xfrm>
            <a:off x="3231854" y="1633926"/>
            <a:ext cx="19629" cy="454135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84" idx="3"/>
            <a:endCxn id="30" idx="1"/>
          </p:cNvCxnSpPr>
          <p:nvPr/>
        </p:nvCxnSpPr>
        <p:spPr>
          <a:xfrm flipV="1">
            <a:off x="1516829" y="2258265"/>
            <a:ext cx="881846" cy="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de seta reta 84"/>
          <p:cNvCxnSpPr>
            <a:stCxn id="30" idx="3"/>
            <a:endCxn id="65" idx="1"/>
          </p:cNvCxnSpPr>
          <p:nvPr/>
        </p:nvCxnSpPr>
        <p:spPr>
          <a:xfrm>
            <a:off x="2984321" y="2258266"/>
            <a:ext cx="495066" cy="24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de seta reta 86"/>
          <p:cNvCxnSpPr>
            <a:stCxn id="65" idx="3"/>
            <a:endCxn id="66" idx="1"/>
          </p:cNvCxnSpPr>
          <p:nvPr/>
        </p:nvCxnSpPr>
        <p:spPr>
          <a:xfrm flipV="1">
            <a:off x="4874433" y="2255632"/>
            <a:ext cx="427109" cy="51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de seta reta 89"/>
          <p:cNvCxnSpPr>
            <a:stCxn id="66" idx="2"/>
            <a:endCxn id="73" idx="0"/>
          </p:cNvCxnSpPr>
          <p:nvPr/>
        </p:nvCxnSpPr>
        <p:spPr>
          <a:xfrm>
            <a:off x="5999064" y="2429646"/>
            <a:ext cx="3266" cy="3009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de seta reta 93"/>
          <p:cNvCxnSpPr>
            <a:stCxn id="73" idx="2"/>
            <a:endCxn id="68" idx="0"/>
          </p:cNvCxnSpPr>
          <p:nvPr/>
        </p:nvCxnSpPr>
        <p:spPr>
          <a:xfrm>
            <a:off x="6002330" y="3078659"/>
            <a:ext cx="3266" cy="3011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68" idx="2"/>
            <a:endCxn id="69" idx="0"/>
          </p:cNvCxnSpPr>
          <p:nvPr/>
        </p:nvCxnSpPr>
        <p:spPr>
          <a:xfrm>
            <a:off x="6005596" y="3727829"/>
            <a:ext cx="6549" cy="3535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de seta reta 100"/>
          <p:cNvCxnSpPr>
            <a:stCxn id="69" idx="2"/>
            <a:endCxn id="70" idx="0"/>
          </p:cNvCxnSpPr>
          <p:nvPr/>
        </p:nvCxnSpPr>
        <p:spPr>
          <a:xfrm>
            <a:off x="6012145" y="4429409"/>
            <a:ext cx="9815" cy="3286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/>
          <p:cNvCxnSpPr>
            <a:stCxn id="70" idx="2"/>
            <a:endCxn id="74" idx="0"/>
          </p:cNvCxnSpPr>
          <p:nvPr/>
        </p:nvCxnSpPr>
        <p:spPr>
          <a:xfrm>
            <a:off x="6021961" y="5106060"/>
            <a:ext cx="9815" cy="2212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74" idx="3"/>
            <a:endCxn id="31" idx="1"/>
          </p:cNvCxnSpPr>
          <p:nvPr/>
        </p:nvCxnSpPr>
        <p:spPr>
          <a:xfrm flipV="1">
            <a:off x="6729298" y="5501298"/>
            <a:ext cx="597402" cy="1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/>
          <p:cNvSpPr/>
          <p:nvPr/>
        </p:nvSpPr>
        <p:spPr>
          <a:xfrm>
            <a:off x="5157277" y="1910261"/>
            <a:ext cx="1771570" cy="389659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62"/>
          </a:p>
        </p:txBody>
      </p:sp>
      <p:sp>
        <p:nvSpPr>
          <p:cNvPr id="31" name="Rounded Rectangle 83"/>
          <p:cNvSpPr/>
          <p:nvPr/>
        </p:nvSpPr>
        <p:spPr bwMode="auto">
          <a:xfrm>
            <a:off x="7326701" y="5327283"/>
            <a:ext cx="1395046" cy="348029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Execução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37" name="Conector reto 36"/>
          <p:cNvCxnSpPr/>
          <p:nvPr/>
        </p:nvCxnSpPr>
        <p:spPr>
          <a:xfrm>
            <a:off x="8833400" y="1704094"/>
            <a:ext cx="19629" cy="454135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83"/>
          <p:cNvSpPr/>
          <p:nvPr/>
        </p:nvSpPr>
        <p:spPr bwMode="auto">
          <a:xfrm>
            <a:off x="5650303" y="1483438"/>
            <a:ext cx="697523" cy="348029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477" b="1" kern="0" dirty="0">
                <a:solidFill>
                  <a:srgbClr val="000000"/>
                </a:solidFill>
                <a:latin typeface="Verdana"/>
              </a:rPr>
              <a:t>SAP</a:t>
            </a:r>
          </a:p>
        </p:txBody>
      </p:sp>
      <p:sp>
        <p:nvSpPr>
          <p:cNvPr id="30" name="Losango 29"/>
          <p:cNvSpPr/>
          <p:nvPr/>
        </p:nvSpPr>
        <p:spPr>
          <a:xfrm>
            <a:off x="2398675" y="1993843"/>
            <a:ext cx="585646" cy="52884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46" dirty="0"/>
          </a:p>
        </p:txBody>
      </p:sp>
      <p:pic>
        <p:nvPicPr>
          <p:cNvPr id="33" name="Imagem 32" descr="LOGO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-11701"/>
            <a:ext cx="1906752" cy="5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1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2767" y="380458"/>
            <a:ext cx="1826694" cy="589043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108" b="1" dirty="0">
                <a:solidFill>
                  <a:sysClr val="windowText" lastClr="000000"/>
                </a:solidFill>
                <a:latin typeface="BankGothic Lt BT" pitchFamily="34" charset="0"/>
              </a:rPr>
              <a:t>Fluxo Atual “Elaborar e executar Projetos”</a:t>
            </a:r>
            <a:endParaRPr lang="en-US" sz="1108" b="1" dirty="0">
              <a:solidFill>
                <a:sysClr val="windowText" lastClr="000000"/>
              </a:solidFill>
              <a:latin typeface="BankGothic Lt BT" pitchFamily="34" charset="0"/>
            </a:endParaRPr>
          </a:p>
        </p:txBody>
      </p:sp>
      <p:sp>
        <p:nvSpPr>
          <p:cNvPr id="84" name="Rounded Rectangle 83"/>
          <p:cNvSpPr/>
          <p:nvPr/>
        </p:nvSpPr>
        <p:spPr bwMode="auto">
          <a:xfrm>
            <a:off x="154506" y="2798285"/>
            <a:ext cx="1395046" cy="696057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Verba de Capex aprovada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88" name="Rounded Rectangle 87"/>
          <p:cNvSpPr/>
          <p:nvPr/>
        </p:nvSpPr>
        <p:spPr bwMode="auto">
          <a:xfrm>
            <a:off x="169760" y="3686291"/>
            <a:ext cx="1357251" cy="1326883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Análise de situação atual , situação proposta, beneficios e custo preliminar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3" name="Flowchart: Document 92"/>
          <p:cNvSpPr/>
          <p:nvPr/>
        </p:nvSpPr>
        <p:spPr bwMode="auto">
          <a:xfrm>
            <a:off x="326190" y="5413195"/>
            <a:ext cx="1054274" cy="717752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algn="ctr">
              <a:defRPr/>
            </a:pPr>
            <a:endParaRPr lang="pt-BR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Solicitação de Capex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13" name="Straight Arrow Connector 5"/>
          <p:cNvCxnSpPr>
            <a:cxnSpLocks noChangeShapeType="1"/>
            <a:stCxn id="84" idx="2"/>
            <a:endCxn id="88" idx="0"/>
          </p:cNvCxnSpPr>
          <p:nvPr/>
        </p:nvCxnSpPr>
        <p:spPr bwMode="auto">
          <a:xfrm flipH="1">
            <a:off x="848386" y="3494342"/>
            <a:ext cx="3643" cy="191948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0" name="Flowchart: Document 159"/>
          <p:cNvSpPr/>
          <p:nvPr/>
        </p:nvSpPr>
        <p:spPr bwMode="auto">
          <a:xfrm>
            <a:off x="2890233" y="5923780"/>
            <a:ext cx="1054274" cy="554777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algn="ctr">
              <a:defRPr/>
            </a:pPr>
            <a:endParaRPr lang="pt-BR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Anexo SHE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68" name="Straight Arrow Connector 74"/>
          <p:cNvCxnSpPr>
            <a:cxnSpLocks noChangeShapeType="1"/>
            <a:stCxn id="160" idx="0"/>
            <a:endCxn id="100" idx="2"/>
          </p:cNvCxnSpPr>
          <p:nvPr/>
        </p:nvCxnSpPr>
        <p:spPr bwMode="auto">
          <a:xfrm flipV="1">
            <a:off x="3417370" y="5625084"/>
            <a:ext cx="4372" cy="298697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1" name="Rounded Rectangle 180"/>
          <p:cNvSpPr/>
          <p:nvPr/>
        </p:nvSpPr>
        <p:spPr bwMode="auto">
          <a:xfrm>
            <a:off x="7270735" y="5857581"/>
            <a:ext cx="1177519" cy="546731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Encerramento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92" name="Straight Arrow Connector 74"/>
          <p:cNvCxnSpPr>
            <a:cxnSpLocks noChangeShapeType="1"/>
            <a:stCxn id="100" idx="0"/>
            <a:endCxn id="44" idx="2"/>
          </p:cNvCxnSpPr>
          <p:nvPr/>
        </p:nvCxnSpPr>
        <p:spPr bwMode="auto">
          <a:xfrm flipH="1" flipV="1">
            <a:off x="3412985" y="4875336"/>
            <a:ext cx="8757" cy="239953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0" name="Rounded Rectangle 99"/>
          <p:cNvSpPr/>
          <p:nvPr/>
        </p:nvSpPr>
        <p:spPr bwMode="auto">
          <a:xfrm>
            <a:off x="2557897" y="5115289"/>
            <a:ext cx="1727689" cy="509795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Inserir DMS no SAP (Solicitação de capex + Anexo SHE)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4" name="Diamond 43"/>
          <p:cNvSpPr/>
          <p:nvPr/>
        </p:nvSpPr>
        <p:spPr bwMode="auto">
          <a:xfrm>
            <a:off x="3238604" y="4533902"/>
            <a:ext cx="348762" cy="341434"/>
          </a:xfrm>
          <a:prstGeom prst="diamond">
            <a:avLst/>
          </a:prstGeom>
          <a:solidFill>
            <a:srgbClr val="AAAAFF"/>
          </a:solidFill>
          <a:ln w="25400" cap="flat" cmpd="sng" algn="ctr">
            <a:solidFill>
              <a:srgbClr val="AAAAFF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  <a:extLst/>
        </p:spPr>
        <p:txBody>
          <a:bodyPr/>
          <a:lstStyle/>
          <a:p>
            <a:pPr>
              <a:defRPr/>
            </a:pPr>
            <a:endParaRPr lang="en-US" sz="1662" ker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45" name="Rounded Rectangle 44"/>
          <p:cNvSpPr/>
          <p:nvPr/>
        </p:nvSpPr>
        <p:spPr bwMode="auto">
          <a:xfrm>
            <a:off x="4858568" y="1245892"/>
            <a:ext cx="1727689" cy="416046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Cobrar PC e contrato 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6" name="Rounded Rectangle 45"/>
          <p:cNvSpPr/>
          <p:nvPr/>
        </p:nvSpPr>
        <p:spPr bwMode="auto">
          <a:xfrm>
            <a:off x="2551033" y="3871588"/>
            <a:ext cx="1727689" cy="416046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Solicitar liberação de verba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9" name="Diamond 48"/>
          <p:cNvSpPr/>
          <p:nvPr/>
        </p:nvSpPr>
        <p:spPr bwMode="auto">
          <a:xfrm>
            <a:off x="4211990" y="1289159"/>
            <a:ext cx="348762" cy="341434"/>
          </a:xfrm>
          <a:prstGeom prst="diamond">
            <a:avLst/>
          </a:prstGeom>
          <a:solidFill>
            <a:srgbClr val="AAAAFF"/>
          </a:solidFill>
          <a:ln w="25400" cap="flat" cmpd="sng" algn="ctr">
            <a:solidFill>
              <a:srgbClr val="AAAAFF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  <a:extLst/>
        </p:spPr>
        <p:txBody>
          <a:bodyPr/>
          <a:lstStyle/>
          <a:p>
            <a:pPr>
              <a:defRPr/>
            </a:pPr>
            <a:endParaRPr lang="en-US" sz="1662" b="1" kern="0" dirty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0" name="Rounded Rectangle 49"/>
          <p:cNvSpPr/>
          <p:nvPr/>
        </p:nvSpPr>
        <p:spPr bwMode="auto">
          <a:xfrm>
            <a:off x="2536814" y="1935765"/>
            <a:ext cx="1727689" cy="30324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Inserir RC (SAP) 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1" name="Rounded Rectangle 50"/>
          <p:cNvSpPr/>
          <p:nvPr/>
        </p:nvSpPr>
        <p:spPr bwMode="auto">
          <a:xfrm>
            <a:off x="7025447" y="1777434"/>
            <a:ext cx="1727689" cy="416046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Serviço: Integração com fornecedor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2" name="Rounded Rectangle 51"/>
          <p:cNvSpPr/>
          <p:nvPr/>
        </p:nvSpPr>
        <p:spPr bwMode="auto">
          <a:xfrm>
            <a:off x="6962617" y="2317965"/>
            <a:ext cx="1790519" cy="47768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Material: Monitorar prazo de entrega 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3" name="Rounded Rectangle 52"/>
          <p:cNvSpPr/>
          <p:nvPr/>
        </p:nvSpPr>
        <p:spPr bwMode="auto">
          <a:xfrm>
            <a:off x="6997329" y="3871588"/>
            <a:ext cx="1727689" cy="416046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Execução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5" name="Flowchart: Document 54"/>
          <p:cNvSpPr/>
          <p:nvPr/>
        </p:nvSpPr>
        <p:spPr bwMode="auto">
          <a:xfrm>
            <a:off x="6743597" y="5135806"/>
            <a:ext cx="1054274" cy="554777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Notas fiscais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6" name="Rounded Rectangle 55"/>
          <p:cNvSpPr/>
          <p:nvPr/>
        </p:nvSpPr>
        <p:spPr bwMode="auto">
          <a:xfrm>
            <a:off x="6994032" y="4502460"/>
            <a:ext cx="1727689" cy="416046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Acompanhamento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7" name="Flowchart: Document 56"/>
          <p:cNvSpPr/>
          <p:nvPr/>
        </p:nvSpPr>
        <p:spPr bwMode="auto">
          <a:xfrm>
            <a:off x="7921117" y="5115289"/>
            <a:ext cx="1054274" cy="554777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Relatório de acompanhamento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600821" y="4304274"/>
            <a:ext cx="1009650" cy="24147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969" kern="0" dirty="0">
                <a:solidFill>
                  <a:srgbClr val="000000"/>
                </a:solidFill>
              </a:rPr>
              <a:t>DMS aprovada?</a:t>
            </a:r>
            <a:endParaRPr lang="en-US" sz="969" kern="0" dirty="0">
              <a:solidFill>
                <a:srgbClr val="00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926520" y="4730128"/>
            <a:ext cx="414704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N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08676" y="4304275"/>
            <a:ext cx="414703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S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71" name="Rounded Rectangle 70"/>
          <p:cNvSpPr/>
          <p:nvPr/>
        </p:nvSpPr>
        <p:spPr bwMode="auto">
          <a:xfrm>
            <a:off x="2549140" y="3053030"/>
            <a:ext cx="1727689" cy="438929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Verificar cadastro material e equipamento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2" name="Diamond 71"/>
          <p:cNvSpPr/>
          <p:nvPr/>
        </p:nvSpPr>
        <p:spPr bwMode="auto">
          <a:xfrm>
            <a:off x="3234763" y="2459331"/>
            <a:ext cx="348762" cy="341434"/>
          </a:xfrm>
          <a:prstGeom prst="diamond">
            <a:avLst/>
          </a:prstGeom>
          <a:solidFill>
            <a:srgbClr val="AAAAFF"/>
          </a:solidFill>
          <a:ln w="25400" cap="flat" cmpd="sng" algn="ctr">
            <a:solidFill>
              <a:srgbClr val="AAAAFF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  <a:extLst/>
        </p:spPr>
        <p:txBody>
          <a:bodyPr/>
          <a:lstStyle/>
          <a:p>
            <a:pPr>
              <a:defRPr/>
            </a:pPr>
            <a:endParaRPr lang="en-US" sz="1662" b="1" kern="0" dirty="0">
              <a:solidFill>
                <a:srgbClr val="FFFFFF"/>
              </a:solidFill>
              <a:latin typeface="Times New Roman" pitchFamily="18" charset="0"/>
            </a:endParaRPr>
          </a:p>
        </p:txBody>
      </p:sp>
      <p:cxnSp>
        <p:nvCxnSpPr>
          <p:cNvPr id="112" name="Straight Arrow Connector 74"/>
          <p:cNvCxnSpPr>
            <a:cxnSpLocks noChangeShapeType="1"/>
            <a:stCxn id="44" idx="0"/>
            <a:endCxn id="46" idx="2"/>
          </p:cNvCxnSpPr>
          <p:nvPr/>
        </p:nvCxnSpPr>
        <p:spPr bwMode="auto">
          <a:xfrm flipV="1">
            <a:off x="3412985" y="4287634"/>
            <a:ext cx="1893" cy="246268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5" name="Rounded Rectangle 124"/>
          <p:cNvSpPr/>
          <p:nvPr/>
        </p:nvSpPr>
        <p:spPr bwMode="auto">
          <a:xfrm>
            <a:off x="4624574" y="2410584"/>
            <a:ext cx="1727689" cy="438929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Solicitar e acompanhar cadastro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79" name="Straight Arrow Connector 5"/>
          <p:cNvCxnSpPr>
            <a:cxnSpLocks noChangeShapeType="1"/>
            <a:stCxn id="88" idx="2"/>
            <a:endCxn id="93" idx="0"/>
          </p:cNvCxnSpPr>
          <p:nvPr/>
        </p:nvCxnSpPr>
        <p:spPr bwMode="auto">
          <a:xfrm>
            <a:off x="848385" y="5013174"/>
            <a:ext cx="4942" cy="400021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Elbow Connector 41"/>
          <p:cNvCxnSpPr>
            <a:stCxn id="93" idx="2"/>
            <a:endCxn id="160" idx="1"/>
          </p:cNvCxnSpPr>
          <p:nvPr/>
        </p:nvCxnSpPr>
        <p:spPr>
          <a:xfrm rot="16200000" flipH="1">
            <a:off x="1812943" y="5123879"/>
            <a:ext cx="117674" cy="203690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74"/>
          <p:cNvCxnSpPr>
            <a:cxnSpLocks noChangeShapeType="1"/>
            <a:stCxn id="46" idx="0"/>
            <a:endCxn id="71" idx="2"/>
          </p:cNvCxnSpPr>
          <p:nvPr/>
        </p:nvCxnSpPr>
        <p:spPr bwMode="auto">
          <a:xfrm flipH="1" flipV="1">
            <a:off x="3412985" y="3491959"/>
            <a:ext cx="1893" cy="379630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Straight Arrow Connector 74"/>
          <p:cNvCxnSpPr>
            <a:cxnSpLocks noChangeShapeType="1"/>
            <a:stCxn id="71" idx="0"/>
            <a:endCxn id="72" idx="2"/>
          </p:cNvCxnSpPr>
          <p:nvPr/>
        </p:nvCxnSpPr>
        <p:spPr bwMode="auto">
          <a:xfrm flipH="1" flipV="1">
            <a:off x="3409144" y="2800765"/>
            <a:ext cx="3841" cy="252265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Straight Arrow Connector 74"/>
          <p:cNvCxnSpPr>
            <a:cxnSpLocks noChangeShapeType="1"/>
            <a:stCxn id="72" idx="0"/>
            <a:endCxn id="50" idx="2"/>
          </p:cNvCxnSpPr>
          <p:nvPr/>
        </p:nvCxnSpPr>
        <p:spPr bwMode="auto">
          <a:xfrm flipH="1" flipV="1">
            <a:off x="3400659" y="2239013"/>
            <a:ext cx="8485" cy="220318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Straight Arrow Connector 74"/>
          <p:cNvCxnSpPr>
            <a:cxnSpLocks noChangeShapeType="1"/>
            <a:stCxn id="49" idx="3"/>
            <a:endCxn id="45" idx="1"/>
          </p:cNvCxnSpPr>
          <p:nvPr/>
        </p:nvCxnSpPr>
        <p:spPr bwMode="auto">
          <a:xfrm flipV="1">
            <a:off x="4560751" y="1453916"/>
            <a:ext cx="297816" cy="5960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8" name="Straight Arrow Connector 74"/>
          <p:cNvCxnSpPr>
            <a:cxnSpLocks noChangeShapeType="1"/>
            <a:stCxn id="52" idx="2"/>
            <a:endCxn id="53" idx="0"/>
          </p:cNvCxnSpPr>
          <p:nvPr/>
        </p:nvCxnSpPr>
        <p:spPr bwMode="auto">
          <a:xfrm>
            <a:off x="7857876" y="2795652"/>
            <a:ext cx="3297" cy="1075937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" name="Straight Arrow Connector 74"/>
          <p:cNvCxnSpPr>
            <a:cxnSpLocks noChangeShapeType="1"/>
            <a:stCxn id="72" idx="3"/>
            <a:endCxn id="125" idx="1"/>
          </p:cNvCxnSpPr>
          <p:nvPr/>
        </p:nvCxnSpPr>
        <p:spPr bwMode="auto">
          <a:xfrm>
            <a:off x="3583524" y="2630048"/>
            <a:ext cx="1041050" cy="0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Elbow Connector 129"/>
          <p:cNvCxnSpPr>
            <a:stCxn id="125" idx="0"/>
            <a:endCxn id="50" idx="3"/>
          </p:cNvCxnSpPr>
          <p:nvPr/>
        </p:nvCxnSpPr>
        <p:spPr>
          <a:xfrm rot="16200000" flipV="1">
            <a:off x="4714864" y="1637028"/>
            <a:ext cx="323195" cy="122391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74"/>
          <p:cNvCxnSpPr>
            <a:cxnSpLocks noChangeShapeType="1"/>
            <a:stCxn id="53" idx="2"/>
            <a:endCxn id="56" idx="0"/>
          </p:cNvCxnSpPr>
          <p:nvPr/>
        </p:nvCxnSpPr>
        <p:spPr bwMode="auto">
          <a:xfrm flipH="1">
            <a:off x="7857878" y="4287634"/>
            <a:ext cx="3296" cy="214826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Straight Arrow Connector 74"/>
          <p:cNvCxnSpPr>
            <a:cxnSpLocks noChangeShapeType="1"/>
            <a:stCxn id="56" idx="2"/>
          </p:cNvCxnSpPr>
          <p:nvPr/>
        </p:nvCxnSpPr>
        <p:spPr bwMode="auto">
          <a:xfrm>
            <a:off x="7857878" y="4918506"/>
            <a:ext cx="3235" cy="157674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Elbow Connector 138"/>
          <p:cNvCxnSpPr>
            <a:stCxn id="44" idx="1"/>
            <a:endCxn id="93" idx="3"/>
          </p:cNvCxnSpPr>
          <p:nvPr/>
        </p:nvCxnSpPr>
        <p:spPr>
          <a:xfrm rot="10800000" flipV="1">
            <a:off x="1380464" y="4704619"/>
            <a:ext cx="1858139" cy="1067452"/>
          </a:xfrm>
          <a:prstGeom prst="bentConnector3">
            <a:avLst>
              <a:gd name="adj1" fmla="val 6356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2379084" y="2374368"/>
            <a:ext cx="1009650" cy="3906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969" kern="0" dirty="0">
                <a:solidFill>
                  <a:srgbClr val="000000"/>
                </a:solidFill>
              </a:rPr>
              <a:t>Cadastro aprovado?</a:t>
            </a:r>
            <a:endParaRPr lang="en-US" sz="969" kern="0" dirty="0">
              <a:solidFill>
                <a:srgbClr val="00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1433" y="2251431"/>
            <a:ext cx="414703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S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538865" y="2643170"/>
            <a:ext cx="414704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N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150" name="Rounded Rectangle 149"/>
          <p:cNvSpPr/>
          <p:nvPr/>
        </p:nvSpPr>
        <p:spPr bwMode="auto">
          <a:xfrm>
            <a:off x="2924007" y="1326904"/>
            <a:ext cx="962140" cy="259983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Monitorar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52" name="Straight Arrow Connector 74"/>
          <p:cNvCxnSpPr>
            <a:cxnSpLocks noChangeShapeType="1"/>
            <a:stCxn id="50" idx="0"/>
            <a:endCxn id="150" idx="2"/>
          </p:cNvCxnSpPr>
          <p:nvPr/>
        </p:nvCxnSpPr>
        <p:spPr bwMode="auto">
          <a:xfrm flipV="1">
            <a:off x="3400659" y="1586887"/>
            <a:ext cx="4418" cy="348878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5" name="Straight Arrow Connector 74"/>
          <p:cNvCxnSpPr>
            <a:cxnSpLocks noChangeShapeType="1"/>
            <a:stCxn id="150" idx="3"/>
            <a:endCxn id="49" idx="1"/>
          </p:cNvCxnSpPr>
          <p:nvPr/>
        </p:nvCxnSpPr>
        <p:spPr bwMode="auto">
          <a:xfrm>
            <a:off x="3886147" y="1456895"/>
            <a:ext cx="325843" cy="2981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8" name="Elbow Connector 157"/>
          <p:cNvCxnSpPr>
            <a:stCxn id="49" idx="2"/>
            <a:endCxn id="150" idx="2"/>
          </p:cNvCxnSpPr>
          <p:nvPr/>
        </p:nvCxnSpPr>
        <p:spPr>
          <a:xfrm rot="5400000" flipH="1">
            <a:off x="3873871" y="1118093"/>
            <a:ext cx="43706" cy="981294"/>
          </a:xfrm>
          <a:prstGeom prst="bentConnector3">
            <a:avLst>
              <a:gd name="adj1" fmla="val -48280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3341312" y="1093899"/>
            <a:ext cx="1009650" cy="24147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969" kern="0" dirty="0">
                <a:solidFill>
                  <a:srgbClr val="000000"/>
                </a:solidFill>
              </a:rPr>
              <a:t>RC aprovada?</a:t>
            </a:r>
            <a:endParaRPr lang="en-US" sz="969" kern="0" dirty="0">
              <a:solidFill>
                <a:srgbClr val="000000"/>
              </a:solidFill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4461758" y="1160937"/>
            <a:ext cx="414703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S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4057151" y="1608740"/>
            <a:ext cx="414704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N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164" name="Left Brace 163"/>
          <p:cNvSpPr/>
          <p:nvPr/>
        </p:nvSpPr>
        <p:spPr>
          <a:xfrm>
            <a:off x="6674137" y="1736961"/>
            <a:ext cx="340491" cy="1162650"/>
          </a:xfrm>
          <a:prstGeom prst="leftBrace">
            <a:avLst>
              <a:gd name="adj1" fmla="val 8333"/>
              <a:gd name="adj2" fmla="val 4718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62">
              <a:solidFill>
                <a:prstClr val="black"/>
              </a:solidFill>
            </a:endParaRPr>
          </a:p>
        </p:txBody>
      </p:sp>
      <p:cxnSp>
        <p:nvCxnSpPr>
          <p:cNvPr id="169" name="Elbow Connector 168"/>
          <p:cNvCxnSpPr>
            <a:stCxn id="45" idx="2"/>
            <a:endCxn id="164" idx="1"/>
          </p:cNvCxnSpPr>
          <p:nvPr/>
        </p:nvCxnSpPr>
        <p:spPr>
          <a:xfrm rot="16200000" flipH="1">
            <a:off x="5886482" y="1497868"/>
            <a:ext cx="623585" cy="95172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804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5323" y="351954"/>
            <a:ext cx="1709171" cy="566906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8" b="1" dirty="0">
                <a:solidFill>
                  <a:sysClr val="windowText" lastClr="000000"/>
                </a:solidFill>
                <a:latin typeface="BankGothic Lt BT" pitchFamily="34" charset="0"/>
              </a:rPr>
              <a:t>Novo Fluxo Proposto de aprovação</a:t>
            </a:r>
          </a:p>
        </p:txBody>
      </p:sp>
      <p:sp>
        <p:nvSpPr>
          <p:cNvPr id="84" name="Rounded Rectangle 83"/>
          <p:cNvSpPr/>
          <p:nvPr/>
        </p:nvSpPr>
        <p:spPr bwMode="auto">
          <a:xfrm>
            <a:off x="1444589" y="3321254"/>
            <a:ext cx="949042" cy="683980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Elaborar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Plano de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Projeto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3" name="Rounded Rectangle 83"/>
          <p:cNvSpPr/>
          <p:nvPr/>
        </p:nvSpPr>
        <p:spPr bwMode="auto">
          <a:xfrm>
            <a:off x="4751016" y="4154349"/>
            <a:ext cx="1119972" cy="55921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Elaborar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Projeto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Executivo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34530" y="6383820"/>
            <a:ext cx="975379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/>
          <p:nvPr/>
        </p:nvCxnSpPr>
        <p:spPr>
          <a:xfrm>
            <a:off x="2748113" y="6400214"/>
            <a:ext cx="3567774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83"/>
          <p:cNvSpPr/>
          <p:nvPr/>
        </p:nvSpPr>
        <p:spPr bwMode="auto">
          <a:xfrm>
            <a:off x="1201779" y="5890974"/>
            <a:ext cx="1321826" cy="348029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Fase1 </a:t>
            </a:r>
          </a:p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Design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Conceitual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8" name="Rounded Rectangle 83"/>
          <p:cNvSpPr/>
          <p:nvPr/>
        </p:nvSpPr>
        <p:spPr bwMode="auto">
          <a:xfrm>
            <a:off x="2923613" y="5932024"/>
            <a:ext cx="1324319" cy="33075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2 </a:t>
            </a:r>
          </a:p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Plano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Engenharia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9" name="Conector de seta reta 18"/>
          <p:cNvCxnSpPr>
            <a:stCxn id="84" idx="3"/>
            <a:endCxn id="44" idx="1"/>
          </p:cNvCxnSpPr>
          <p:nvPr/>
        </p:nvCxnSpPr>
        <p:spPr>
          <a:xfrm flipV="1">
            <a:off x="2393631" y="3662423"/>
            <a:ext cx="259948" cy="821"/>
          </a:xfrm>
          <a:prstGeom prst="straightConnector1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83"/>
          <p:cNvSpPr/>
          <p:nvPr/>
        </p:nvSpPr>
        <p:spPr bwMode="auto">
          <a:xfrm>
            <a:off x="7017037" y="4931676"/>
            <a:ext cx="851754" cy="414715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Compras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</a:p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Execução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81" name="Conector angulado 80"/>
          <p:cNvCxnSpPr>
            <a:stCxn id="160" idx="3"/>
            <a:endCxn id="31" idx="1"/>
          </p:cNvCxnSpPr>
          <p:nvPr/>
        </p:nvCxnSpPr>
        <p:spPr>
          <a:xfrm flipV="1">
            <a:off x="6315887" y="5139034"/>
            <a:ext cx="701150" cy="363531"/>
          </a:xfrm>
          <a:prstGeom prst="bent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angulado 139"/>
          <p:cNvCxnSpPr/>
          <p:nvPr/>
        </p:nvCxnSpPr>
        <p:spPr>
          <a:xfrm rot="16200000" flipH="1">
            <a:off x="5216340" y="4641306"/>
            <a:ext cx="788997" cy="933517"/>
          </a:xfrm>
          <a:prstGeom prst="bentConnector2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Losango 153"/>
          <p:cNvSpPr/>
          <p:nvPr/>
        </p:nvSpPr>
        <p:spPr>
          <a:xfrm>
            <a:off x="4347398" y="3530633"/>
            <a:ext cx="393570" cy="4494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3</a:t>
            </a:r>
            <a:endParaRPr lang="pt-BR" sz="1846" dirty="0"/>
          </a:p>
        </p:txBody>
      </p:sp>
      <p:sp>
        <p:nvSpPr>
          <p:cNvPr id="160" name="Losango 159"/>
          <p:cNvSpPr/>
          <p:nvPr/>
        </p:nvSpPr>
        <p:spPr>
          <a:xfrm>
            <a:off x="5902899" y="5305462"/>
            <a:ext cx="412988" cy="3942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4</a:t>
            </a:r>
          </a:p>
        </p:txBody>
      </p:sp>
      <p:cxnSp>
        <p:nvCxnSpPr>
          <p:cNvPr id="171" name="Conector angulado 170"/>
          <p:cNvCxnSpPr>
            <a:stCxn id="154" idx="2"/>
            <a:endCxn id="73" idx="1"/>
          </p:cNvCxnSpPr>
          <p:nvPr/>
        </p:nvCxnSpPr>
        <p:spPr>
          <a:xfrm rot="16200000" flipH="1">
            <a:off x="4420658" y="4103598"/>
            <a:ext cx="453885" cy="206832"/>
          </a:xfrm>
          <a:prstGeom prst="bentConnector2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ector angulado 176"/>
          <p:cNvCxnSpPr/>
          <p:nvPr/>
        </p:nvCxnSpPr>
        <p:spPr>
          <a:xfrm>
            <a:off x="4164347" y="3417871"/>
            <a:ext cx="1945830" cy="1867760"/>
          </a:xfrm>
          <a:prstGeom prst="bentConnector2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Rounded Rectangle 83"/>
          <p:cNvSpPr/>
          <p:nvPr/>
        </p:nvSpPr>
        <p:spPr bwMode="auto">
          <a:xfrm>
            <a:off x="4552224" y="4809776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“C1/C2”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82" name="Rounded Rectangle 83"/>
          <p:cNvSpPr/>
          <p:nvPr/>
        </p:nvSpPr>
        <p:spPr bwMode="auto">
          <a:xfrm>
            <a:off x="4767706" y="2905403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“C”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2" name="Rounded Rectangle 83"/>
          <p:cNvSpPr/>
          <p:nvPr/>
        </p:nvSpPr>
        <p:spPr bwMode="auto">
          <a:xfrm>
            <a:off x="88188" y="1693448"/>
            <a:ext cx="921722" cy="524512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“</a:t>
            </a:r>
            <a:r>
              <a:rPr lang="en-US" sz="831" kern="0" dirty="0" err="1">
                <a:solidFill>
                  <a:srgbClr val="000000"/>
                </a:solidFill>
                <a:latin typeface="Verdana"/>
              </a:rPr>
              <a:t>Masterplan</a:t>
            </a:r>
            <a:r>
              <a:rPr lang="en-US" sz="831" kern="0" dirty="0">
                <a:solidFill>
                  <a:srgbClr val="000000"/>
                </a:solidFill>
                <a:latin typeface="Verdana"/>
              </a:rPr>
              <a:t> </a:t>
            </a:r>
          </a:p>
          <a:p>
            <a:pPr algn="ctr">
              <a:defRPr/>
            </a:pPr>
            <a:endParaRPr lang="en-US" sz="831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r>
              <a:rPr lang="en-US" sz="831" kern="0" dirty="0" err="1">
                <a:solidFill>
                  <a:srgbClr val="000000"/>
                </a:solidFill>
                <a:latin typeface="Verdana"/>
              </a:rPr>
              <a:t>Aprovado</a:t>
            </a:r>
            <a:r>
              <a:rPr lang="en-US" sz="831" kern="0" dirty="0">
                <a:solidFill>
                  <a:srgbClr val="000000"/>
                </a:solidFill>
                <a:latin typeface="Verdana"/>
              </a:rPr>
              <a:t>”</a:t>
            </a:r>
            <a:endParaRPr lang="en-US" sz="83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3" name="Rounded Rectangle 83"/>
          <p:cNvSpPr/>
          <p:nvPr/>
        </p:nvSpPr>
        <p:spPr bwMode="auto">
          <a:xfrm>
            <a:off x="74528" y="3036317"/>
            <a:ext cx="949042" cy="262255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Triagem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39" name="Conector angulado 38"/>
          <p:cNvCxnSpPr>
            <a:stCxn id="54" idx="2"/>
            <a:endCxn id="84" idx="1"/>
          </p:cNvCxnSpPr>
          <p:nvPr/>
        </p:nvCxnSpPr>
        <p:spPr>
          <a:xfrm rot="16200000" flipH="1">
            <a:off x="1243818" y="3462474"/>
            <a:ext cx="225541" cy="175998"/>
          </a:xfrm>
          <a:prstGeom prst="bentConnector2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83"/>
          <p:cNvSpPr/>
          <p:nvPr/>
        </p:nvSpPr>
        <p:spPr bwMode="auto">
          <a:xfrm>
            <a:off x="8350325" y="1867392"/>
            <a:ext cx="617301" cy="355081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A.P.P</a:t>
            </a: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60" name="Conector reto 59"/>
          <p:cNvCxnSpPr/>
          <p:nvPr/>
        </p:nvCxnSpPr>
        <p:spPr>
          <a:xfrm>
            <a:off x="1009909" y="1119613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/>
          <p:nvPr/>
        </p:nvCxnSpPr>
        <p:spPr>
          <a:xfrm>
            <a:off x="6315887" y="1212549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>
            <a:off x="42023" y="1147720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3"/>
          <p:cNvSpPr/>
          <p:nvPr/>
        </p:nvSpPr>
        <p:spPr bwMode="auto">
          <a:xfrm>
            <a:off x="-71988" y="1190411"/>
            <a:ext cx="1081898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i="1" kern="0" dirty="0" err="1">
                <a:solidFill>
                  <a:srgbClr val="000000"/>
                </a:solidFill>
                <a:latin typeface="Verdana"/>
              </a:rPr>
              <a:t>Masterplan</a:t>
            </a:r>
            <a:endParaRPr lang="en-US" sz="923" i="1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1108" i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1" name="Rounded Rectangle 83"/>
          <p:cNvSpPr/>
          <p:nvPr/>
        </p:nvSpPr>
        <p:spPr bwMode="auto">
          <a:xfrm>
            <a:off x="3501715" y="1326219"/>
            <a:ext cx="1661176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1108" i="1" kern="0" dirty="0">
                <a:solidFill>
                  <a:srgbClr val="000000"/>
                </a:solidFill>
                <a:latin typeface="Verdana"/>
              </a:rPr>
              <a:t>Preparação</a:t>
            </a:r>
            <a:endParaRPr lang="en-US" sz="1108" i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3" name="Rounded Rectangle 83"/>
          <p:cNvSpPr/>
          <p:nvPr/>
        </p:nvSpPr>
        <p:spPr bwMode="auto">
          <a:xfrm>
            <a:off x="6635054" y="1343322"/>
            <a:ext cx="1389839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1108" i="1" kern="0" dirty="0">
                <a:solidFill>
                  <a:srgbClr val="000000"/>
                </a:solidFill>
                <a:latin typeface="Verdana"/>
              </a:rPr>
              <a:t>Execução</a:t>
            </a:r>
            <a:endParaRPr lang="en-US" sz="1108" i="1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94" name="Conector reto 93"/>
          <p:cNvCxnSpPr/>
          <p:nvPr/>
        </p:nvCxnSpPr>
        <p:spPr>
          <a:xfrm>
            <a:off x="8168082" y="1243887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83"/>
          <p:cNvSpPr/>
          <p:nvPr/>
        </p:nvSpPr>
        <p:spPr bwMode="auto">
          <a:xfrm>
            <a:off x="8226844" y="1326218"/>
            <a:ext cx="1007669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1108" i="1" kern="0" dirty="0">
                <a:solidFill>
                  <a:srgbClr val="000000"/>
                </a:solidFill>
                <a:latin typeface="Verdana"/>
              </a:rPr>
              <a:t>Produção</a:t>
            </a:r>
            <a:endParaRPr lang="en-US" sz="1108" i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08" name="Rounded Rectangle 83"/>
          <p:cNvSpPr/>
          <p:nvPr/>
        </p:nvSpPr>
        <p:spPr bwMode="auto">
          <a:xfrm>
            <a:off x="8262232" y="5891036"/>
            <a:ext cx="818777" cy="42188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738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738" kern="0" dirty="0">
                <a:solidFill>
                  <a:srgbClr val="000000"/>
                </a:solidFill>
                <a:latin typeface="Verdana"/>
              </a:rPr>
              <a:t> 6 </a:t>
            </a:r>
            <a:r>
              <a:rPr lang="en-US" sz="738" kern="0" dirty="0" err="1">
                <a:solidFill>
                  <a:srgbClr val="000000"/>
                </a:solidFill>
                <a:latin typeface="Verdana"/>
              </a:rPr>
              <a:t>Operação</a:t>
            </a:r>
            <a:r>
              <a:rPr lang="en-US" sz="738" kern="0" dirty="0">
                <a:solidFill>
                  <a:srgbClr val="000000"/>
                </a:solidFill>
                <a:latin typeface="Verdana"/>
              </a:rPr>
              <a:t> e </a:t>
            </a:r>
            <a:r>
              <a:rPr lang="en-US" sz="738" kern="0" dirty="0" err="1">
                <a:solidFill>
                  <a:srgbClr val="000000"/>
                </a:solidFill>
                <a:latin typeface="Verdana"/>
              </a:rPr>
              <a:t>manutenção</a:t>
            </a:r>
            <a:endParaRPr lang="en-US" sz="738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10" name="Conector de seta reta 109"/>
          <p:cNvCxnSpPr/>
          <p:nvPr/>
        </p:nvCxnSpPr>
        <p:spPr>
          <a:xfrm>
            <a:off x="8168082" y="6400214"/>
            <a:ext cx="91292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Losango 153"/>
          <p:cNvSpPr/>
          <p:nvPr/>
        </p:nvSpPr>
        <p:spPr>
          <a:xfrm>
            <a:off x="2653579" y="3437703"/>
            <a:ext cx="393570" cy="4494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2</a:t>
            </a:r>
          </a:p>
        </p:txBody>
      </p:sp>
      <p:sp>
        <p:nvSpPr>
          <p:cNvPr id="54" name="Losango 153"/>
          <p:cNvSpPr/>
          <p:nvPr/>
        </p:nvSpPr>
        <p:spPr>
          <a:xfrm>
            <a:off x="1071805" y="2988263"/>
            <a:ext cx="393570" cy="4494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1</a:t>
            </a:r>
          </a:p>
        </p:txBody>
      </p:sp>
      <p:cxnSp>
        <p:nvCxnSpPr>
          <p:cNvPr id="17" name="Straight Arrow Connector 16"/>
          <p:cNvCxnSpPr>
            <a:stCxn id="32" idx="2"/>
          </p:cNvCxnSpPr>
          <p:nvPr/>
        </p:nvCxnSpPr>
        <p:spPr>
          <a:xfrm>
            <a:off x="549049" y="2217959"/>
            <a:ext cx="13660" cy="84855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109"/>
          <p:cNvCxnSpPr/>
          <p:nvPr/>
        </p:nvCxnSpPr>
        <p:spPr>
          <a:xfrm>
            <a:off x="6315887" y="6400214"/>
            <a:ext cx="1852194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83"/>
          <p:cNvSpPr/>
          <p:nvPr/>
        </p:nvSpPr>
        <p:spPr bwMode="auto">
          <a:xfrm>
            <a:off x="6345868" y="5840893"/>
            <a:ext cx="760217" cy="46271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738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738" kern="0" dirty="0">
                <a:solidFill>
                  <a:srgbClr val="000000"/>
                </a:solidFill>
                <a:latin typeface="Verdana"/>
              </a:rPr>
              <a:t> 4 </a:t>
            </a:r>
            <a:r>
              <a:rPr lang="en-US" sz="738" kern="0" dirty="0" err="1">
                <a:solidFill>
                  <a:srgbClr val="000000"/>
                </a:solidFill>
                <a:latin typeface="Verdana"/>
              </a:rPr>
              <a:t>Compras</a:t>
            </a:r>
            <a:r>
              <a:rPr lang="en-US" sz="738" kern="0" dirty="0">
                <a:solidFill>
                  <a:srgbClr val="000000"/>
                </a:solidFill>
                <a:latin typeface="Verdana"/>
              </a:rPr>
              <a:t> e </a:t>
            </a:r>
            <a:r>
              <a:rPr lang="en-US" sz="738" kern="0" dirty="0" err="1">
                <a:solidFill>
                  <a:srgbClr val="000000"/>
                </a:solidFill>
                <a:latin typeface="Verdana"/>
              </a:rPr>
              <a:t>Construção</a:t>
            </a:r>
            <a:endParaRPr lang="en-US" sz="738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6" name="Losango 159"/>
          <p:cNvSpPr/>
          <p:nvPr/>
        </p:nvSpPr>
        <p:spPr>
          <a:xfrm>
            <a:off x="7755408" y="4076059"/>
            <a:ext cx="412988" cy="3942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5</a:t>
            </a:r>
          </a:p>
        </p:txBody>
      </p:sp>
      <p:cxnSp>
        <p:nvCxnSpPr>
          <p:cNvPr id="79" name="Conector angulado 36"/>
          <p:cNvCxnSpPr>
            <a:stCxn id="31" idx="3"/>
            <a:endCxn id="76" idx="2"/>
          </p:cNvCxnSpPr>
          <p:nvPr/>
        </p:nvCxnSpPr>
        <p:spPr>
          <a:xfrm flipV="1">
            <a:off x="7868791" y="4470264"/>
            <a:ext cx="93111" cy="668770"/>
          </a:xfrm>
          <a:prstGeom prst="bentConnector2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angulado 36"/>
          <p:cNvCxnSpPr>
            <a:stCxn id="76" idx="0"/>
            <a:endCxn id="98" idx="1"/>
          </p:cNvCxnSpPr>
          <p:nvPr/>
        </p:nvCxnSpPr>
        <p:spPr>
          <a:xfrm rot="5400000" flipH="1" flipV="1">
            <a:off x="7902264" y="3767807"/>
            <a:ext cx="367890" cy="248614"/>
          </a:xfrm>
          <a:prstGeom prst="bentConnector2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3"/>
          <p:cNvSpPr/>
          <p:nvPr/>
        </p:nvSpPr>
        <p:spPr bwMode="auto">
          <a:xfrm>
            <a:off x="8262232" y="4495460"/>
            <a:ext cx="936892" cy="436216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Aceite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Obra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Solicitante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8" name="Rounded Rectangle 83"/>
          <p:cNvSpPr/>
          <p:nvPr/>
        </p:nvSpPr>
        <p:spPr bwMode="auto">
          <a:xfrm>
            <a:off x="8210516" y="3530628"/>
            <a:ext cx="907056" cy="355081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Comissionamento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14" name="Rounded Rectangle 83"/>
          <p:cNvSpPr/>
          <p:nvPr/>
        </p:nvSpPr>
        <p:spPr bwMode="auto">
          <a:xfrm>
            <a:off x="8300801" y="2711436"/>
            <a:ext cx="729816" cy="355081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Entrega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04" name="Straight Arrow Connector 103"/>
          <p:cNvCxnSpPr>
            <a:stCxn id="98" idx="0"/>
            <a:endCxn id="114" idx="2"/>
          </p:cNvCxnSpPr>
          <p:nvPr/>
        </p:nvCxnSpPr>
        <p:spPr>
          <a:xfrm flipV="1">
            <a:off x="8664045" y="3066517"/>
            <a:ext cx="1664" cy="46411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114" idx="0"/>
            <a:endCxn id="56" idx="2"/>
          </p:cNvCxnSpPr>
          <p:nvPr/>
        </p:nvCxnSpPr>
        <p:spPr>
          <a:xfrm flipH="1" flipV="1">
            <a:off x="8658976" y="2222473"/>
            <a:ext cx="6733" cy="488963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83"/>
          <p:cNvSpPr/>
          <p:nvPr/>
        </p:nvSpPr>
        <p:spPr bwMode="auto">
          <a:xfrm>
            <a:off x="3185368" y="3403466"/>
            <a:ext cx="978194" cy="519556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Elaborar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Projeto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Conceitual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69" name="Conector de seta reta 18"/>
          <p:cNvCxnSpPr>
            <a:stCxn id="44" idx="3"/>
          </p:cNvCxnSpPr>
          <p:nvPr/>
        </p:nvCxnSpPr>
        <p:spPr>
          <a:xfrm>
            <a:off x="3047149" y="3662423"/>
            <a:ext cx="137836" cy="821"/>
          </a:xfrm>
          <a:prstGeom prst="straightConnector1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18"/>
          <p:cNvCxnSpPr>
            <a:endCxn id="154" idx="1"/>
          </p:cNvCxnSpPr>
          <p:nvPr/>
        </p:nvCxnSpPr>
        <p:spPr>
          <a:xfrm flipV="1">
            <a:off x="4178658" y="3755353"/>
            <a:ext cx="168740" cy="32764"/>
          </a:xfrm>
          <a:prstGeom prst="straightConnector1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/>
          <p:nvPr/>
        </p:nvCxnSpPr>
        <p:spPr>
          <a:xfrm>
            <a:off x="2668241" y="1179977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/>
          <p:nvPr/>
        </p:nvCxnSpPr>
        <p:spPr>
          <a:xfrm>
            <a:off x="1104366" y="6400214"/>
            <a:ext cx="1549213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83"/>
          <p:cNvSpPr/>
          <p:nvPr/>
        </p:nvSpPr>
        <p:spPr bwMode="auto">
          <a:xfrm>
            <a:off x="1252643" y="1326219"/>
            <a:ext cx="1081898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923" i="1" kern="0" dirty="0">
                <a:solidFill>
                  <a:srgbClr val="000000"/>
                </a:solidFill>
                <a:latin typeface="Verdana"/>
              </a:rPr>
              <a:t>Identificação</a:t>
            </a:r>
            <a:endParaRPr lang="en-US" sz="923" i="1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1108" i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82" name="Rounded Rectangle 83"/>
          <p:cNvSpPr/>
          <p:nvPr/>
        </p:nvSpPr>
        <p:spPr bwMode="auto">
          <a:xfrm>
            <a:off x="4552224" y="5932607"/>
            <a:ext cx="1324319" cy="33075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3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</a:p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Projeto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detalhado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6" name="Rounded Rectangle 83"/>
          <p:cNvSpPr/>
          <p:nvPr/>
        </p:nvSpPr>
        <p:spPr bwMode="auto">
          <a:xfrm>
            <a:off x="7241984" y="5866626"/>
            <a:ext cx="780965" cy="46271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738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738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738" kern="0" dirty="0">
                <a:solidFill>
                  <a:srgbClr val="000000"/>
                </a:solidFill>
                <a:latin typeface="Verdana"/>
              </a:rPr>
              <a:t>5</a:t>
            </a:r>
            <a:r>
              <a:rPr lang="en-US" sz="738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738" kern="0" dirty="0" err="1">
                <a:solidFill>
                  <a:srgbClr val="000000"/>
                </a:solidFill>
                <a:latin typeface="Verdana"/>
              </a:rPr>
              <a:t>Comissiona-mento</a:t>
            </a:r>
            <a:endParaRPr lang="en-US" sz="738" kern="0" dirty="0">
              <a:solidFill>
                <a:srgbClr val="000000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15466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5323" y="351954"/>
            <a:ext cx="1762215" cy="566906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Novo Fluxo Proposto de aprovação</a:t>
            </a:r>
          </a:p>
        </p:txBody>
      </p:sp>
      <p:sp>
        <p:nvSpPr>
          <p:cNvPr id="84" name="Rounded Rectangle 83"/>
          <p:cNvSpPr/>
          <p:nvPr/>
        </p:nvSpPr>
        <p:spPr bwMode="auto">
          <a:xfrm>
            <a:off x="981478" y="2902975"/>
            <a:ext cx="949042" cy="683980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831" kern="0" dirty="0" err="1">
                <a:solidFill>
                  <a:srgbClr val="000000"/>
                </a:solidFill>
                <a:latin typeface="Verdana"/>
              </a:rPr>
              <a:t>Construção</a:t>
            </a:r>
            <a:r>
              <a:rPr lang="en-US" sz="831" kern="0" dirty="0">
                <a:solidFill>
                  <a:srgbClr val="000000"/>
                </a:solidFill>
                <a:latin typeface="Verdana"/>
              </a:rPr>
              <a:t> do </a:t>
            </a:r>
            <a:r>
              <a:rPr lang="en-US" sz="831" kern="0" dirty="0" err="1">
                <a:solidFill>
                  <a:srgbClr val="000000"/>
                </a:solidFill>
                <a:latin typeface="Verdana"/>
              </a:rPr>
              <a:t>Escopo</a:t>
            </a:r>
            <a:r>
              <a:rPr lang="en-US" sz="831" kern="0" dirty="0">
                <a:solidFill>
                  <a:srgbClr val="000000"/>
                </a:solidFill>
                <a:latin typeface="Verdana"/>
              </a:rPr>
              <a:t> com o </a:t>
            </a:r>
            <a:r>
              <a:rPr lang="en-US" sz="831" kern="0" dirty="0" err="1">
                <a:solidFill>
                  <a:srgbClr val="000000"/>
                </a:solidFill>
                <a:latin typeface="Verdana"/>
              </a:rPr>
              <a:t>Solicitante</a:t>
            </a:r>
            <a:endParaRPr lang="en-US" sz="831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6" name="Rounded Rectangle 83"/>
          <p:cNvSpPr/>
          <p:nvPr/>
        </p:nvSpPr>
        <p:spPr bwMode="auto">
          <a:xfrm>
            <a:off x="2401066" y="2928445"/>
            <a:ext cx="1326521" cy="196410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831" dirty="0" err="1"/>
              <a:t>Projeto</a:t>
            </a:r>
            <a:r>
              <a:rPr lang="en-US" sz="831" dirty="0"/>
              <a:t> </a:t>
            </a:r>
            <a:r>
              <a:rPr lang="en-US" sz="831" dirty="0" err="1"/>
              <a:t>Conceitual</a:t>
            </a:r>
            <a:r>
              <a:rPr lang="en-US" sz="831" dirty="0"/>
              <a:t>:</a:t>
            </a:r>
          </a:p>
          <a:p>
            <a:pPr>
              <a:defRPr/>
            </a:pPr>
            <a:r>
              <a:rPr lang="en-US" sz="831" dirty="0"/>
              <a:t>. </a:t>
            </a:r>
            <a:r>
              <a:rPr lang="en-US" sz="831" dirty="0" err="1"/>
              <a:t>Projeto</a:t>
            </a:r>
            <a:r>
              <a:rPr lang="en-US" sz="831" dirty="0"/>
              <a:t> </a:t>
            </a:r>
            <a:r>
              <a:rPr lang="en-US" sz="831" dirty="0" err="1"/>
              <a:t>preliminar</a:t>
            </a:r>
            <a:r>
              <a:rPr lang="en-US" sz="831" dirty="0"/>
              <a:t> </a:t>
            </a:r>
            <a:r>
              <a:rPr lang="en-US" sz="831" dirty="0" err="1"/>
              <a:t>contendo</a:t>
            </a:r>
            <a:r>
              <a:rPr lang="en-US" sz="831" dirty="0"/>
              <a:t> </a:t>
            </a:r>
            <a:r>
              <a:rPr lang="en-US" sz="831" dirty="0" err="1"/>
              <a:t>fluxogramas</a:t>
            </a:r>
            <a:r>
              <a:rPr lang="en-US" sz="831" dirty="0"/>
              <a:t> </a:t>
            </a:r>
            <a:r>
              <a:rPr lang="en-US" sz="831" dirty="0" err="1"/>
              <a:t>diagramas</a:t>
            </a:r>
            <a:r>
              <a:rPr lang="en-US" sz="831" dirty="0"/>
              <a:t> de P&amp;ID, </a:t>
            </a:r>
            <a:r>
              <a:rPr lang="en-US" sz="831" dirty="0" err="1"/>
              <a:t>projeto</a:t>
            </a:r>
            <a:r>
              <a:rPr lang="en-US" sz="831" dirty="0"/>
              <a:t> de </a:t>
            </a:r>
            <a:r>
              <a:rPr lang="en-US" sz="831" dirty="0" err="1"/>
              <a:t>adaptações</a:t>
            </a:r>
            <a:r>
              <a:rPr lang="en-US" sz="831" dirty="0"/>
              <a:t> do local de </a:t>
            </a:r>
            <a:r>
              <a:rPr lang="en-US" sz="831" dirty="0" err="1"/>
              <a:t>obras</a:t>
            </a:r>
            <a:r>
              <a:rPr lang="en-US" sz="831" dirty="0"/>
              <a:t> e </a:t>
            </a:r>
            <a:r>
              <a:rPr lang="en-US" sz="831" dirty="0" err="1"/>
              <a:t>projeto</a:t>
            </a:r>
            <a:r>
              <a:rPr lang="en-US" sz="831" dirty="0"/>
              <a:t> da parte de </a:t>
            </a:r>
            <a:r>
              <a:rPr lang="en-US" sz="831" dirty="0" err="1"/>
              <a:t>utilidades</a:t>
            </a:r>
            <a:r>
              <a:rPr lang="en-US" sz="831" dirty="0"/>
              <a:t>.</a:t>
            </a:r>
          </a:p>
          <a:p>
            <a:pPr>
              <a:defRPr/>
            </a:pPr>
            <a:r>
              <a:rPr lang="en-US" sz="831" dirty="0"/>
              <a:t>. </a:t>
            </a:r>
            <a:r>
              <a:rPr lang="en-US" sz="831" dirty="0" err="1"/>
              <a:t>Orçamento</a:t>
            </a:r>
            <a:r>
              <a:rPr lang="en-US" sz="831" dirty="0"/>
              <a:t> </a:t>
            </a:r>
            <a:r>
              <a:rPr lang="en-US" sz="831" dirty="0" err="1"/>
              <a:t>baseado</a:t>
            </a:r>
            <a:r>
              <a:rPr lang="en-US" sz="831" dirty="0"/>
              <a:t> </a:t>
            </a:r>
            <a:r>
              <a:rPr lang="en-US" sz="831" dirty="0" err="1"/>
              <a:t>em</a:t>
            </a:r>
            <a:r>
              <a:rPr lang="en-US" sz="831" dirty="0"/>
              <a:t> </a:t>
            </a:r>
            <a:r>
              <a:rPr lang="en-US" sz="831" dirty="0" err="1"/>
              <a:t>cotação</a:t>
            </a:r>
            <a:r>
              <a:rPr lang="en-US" sz="831" dirty="0"/>
              <a:t> de </a:t>
            </a:r>
            <a:r>
              <a:rPr lang="en-US" sz="831" dirty="0" err="1"/>
              <a:t>forncedor</a:t>
            </a:r>
            <a:r>
              <a:rPr lang="en-US" sz="831" dirty="0"/>
              <a:t> .</a:t>
            </a:r>
          </a:p>
          <a:p>
            <a:pPr>
              <a:defRPr/>
            </a:pPr>
            <a:r>
              <a:rPr lang="en-US" sz="831" dirty="0"/>
              <a:t>Plano de </a:t>
            </a:r>
            <a:r>
              <a:rPr lang="en-US" sz="831" dirty="0" err="1"/>
              <a:t>plojeto</a:t>
            </a:r>
            <a:r>
              <a:rPr lang="en-US" sz="831" dirty="0"/>
              <a:t>  </a:t>
            </a:r>
            <a:r>
              <a:rPr lang="en-US" sz="831" dirty="0" err="1"/>
              <a:t>preliminar</a:t>
            </a:r>
            <a:r>
              <a:rPr lang="en-US" sz="831" dirty="0"/>
              <a:t>. </a:t>
            </a:r>
          </a:p>
        </p:txBody>
      </p:sp>
      <p:sp>
        <p:nvSpPr>
          <p:cNvPr id="78" name="Rounded Rectangle 83"/>
          <p:cNvSpPr/>
          <p:nvPr/>
        </p:nvSpPr>
        <p:spPr bwMode="auto">
          <a:xfrm>
            <a:off x="1118945" y="6091818"/>
            <a:ext cx="798594" cy="468864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sz="83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831" kern="0" dirty="0">
                <a:solidFill>
                  <a:srgbClr val="000000"/>
                </a:solidFill>
                <a:latin typeface="Verdana"/>
              </a:rPr>
              <a:t> 1</a:t>
            </a:r>
          </a:p>
          <a:p>
            <a:pPr algn="ctr">
              <a:defRPr/>
            </a:pPr>
            <a:r>
              <a:rPr lang="pt-BR" sz="831" kern="0" dirty="0">
                <a:solidFill>
                  <a:srgbClr val="FF0000"/>
                </a:solidFill>
                <a:latin typeface="Verdana"/>
              </a:rPr>
              <a:t>Design conceitual</a:t>
            </a:r>
            <a:endParaRPr lang="en-US" sz="831" kern="0" dirty="0">
              <a:solidFill>
                <a:srgbClr val="FF0000"/>
              </a:solidFill>
              <a:latin typeface="Verdana"/>
            </a:endParaRPr>
          </a:p>
        </p:txBody>
      </p:sp>
      <p:cxnSp>
        <p:nvCxnSpPr>
          <p:cNvPr id="19" name="Conector de seta reta 18"/>
          <p:cNvCxnSpPr>
            <a:stCxn id="84" idx="3"/>
            <a:endCxn id="154" idx="1"/>
          </p:cNvCxnSpPr>
          <p:nvPr/>
        </p:nvCxnSpPr>
        <p:spPr>
          <a:xfrm>
            <a:off x="1930519" y="3244966"/>
            <a:ext cx="100073" cy="392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Losango 153"/>
          <p:cNvSpPr/>
          <p:nvPr/>
        </p:nvSpPr>
        <p:spPr>
          <a:xfrm>
            <a:off x="2030592" y="3059494"/>
            <a:ext cx="393570" cy="4494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1</a:t>
            </a:r>
          </a:p>
        </p:txBody>
      </p:sp>
      <p:cxnSp>
        <p:nvCxnSpPr>
          <p:cNvPr id="171" name="Conector angulado 170"/>
          <p:cNvCxnSpPr>
            <a:stCxn id="154" idx="2"/>
            <a:endCxn id="66" idx="1"/>
          </p:cNvCxnSpPr>
          <p:nvPr/>
        </p:nvCxnSpPr>
        <p:spPr>
          <a:xfrm rot="16200000" flipH="1">
            <a:off x="2113438" y="3622872"/>
            <a:ext cx="401566" cy="173689"/>
          </a:xfrm>
          <a:prstGeom prst="bentConnector2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83"/>
          <p:cNvSpPr/>
          <p:nvPr/>
        </p:nvSpPr>
        <p:spPr bwMode="auto">
          <a:xfrm>
            <a:off x="37795" y="1844963"/>
            <a:ext cx="845040" cy="524512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“</a:t>
            </a:r>
            <a:r>
              <a:rPr lang="en-US" sz="738" kern="0" dirty="0" err="1">
                <a:solidFill>
                  <a:srgbClr val="000000"/>
                </a:solidFill>
                <a:latin typeface="Verdana"/>
              </a:rPr>
              <a:t>Solicitação</a:t>
            </a:r>
            <a:r>
              <a:rPr lang="en-US" sz="738" kern="0" dirty="0">
                <a:solidFill>
                  <a:srgbClr val="000000"/>
                </a:solidFill>
                <a:latin typeface="Verdana"/>
              </a:rPr>
              <a:t> de </a:t>
            </a:r>
            <a:r>
              <a:rPr lang="en-US" sz="738" kern="0" dirty="0" err="1">
                <a:solidFill>
                  <a:srgbClr val="000000"/>
                </a:solidFill>
                <a:latin typeface="Verdana"/>
              </a:rPr>
              <a:t>Projetos</a:t>
            </a:r>
            <a:r>
              <a:rPr lang="en-US" sz="738" kern="0" dirty="0">
                <a:solidFill>
                  <a:srgbClr val="000000"/>
                </a:solidFill>
                <a:latin typeface="Verdana"/>
              </a:rPr>
              <a:t>”</a:t>
            </a:r>
          </a:p>
          <a:p>
            <a:pPr algn="ctr">
              <a:defRPr/>
            </a:pPr>
            <a:endParaRPr lang="en-US" sz="738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3" name="Rounded Rectangle 83"/>
          <p:cNvSpPr/>
          <p:nvPr/>
        </p:nvSpPr>
        <p:spPr bwMode="auto">
          <a:xfrm>
            <a:off x="353657" y="2649758"/>
            <a:ext cx="682774" cy="240751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738" kern="0" dirty="0" err="1">
                <a:solidFill>
                  <a:srgbClr val="000000"/>
                </a:solidFill>
                <a:latin typeface="Verdana"/>
              </a:rPr>
              <a:t>Triagem</a:t>
            </a:r>
            <a:endParaRPr lang="en-US" sz="738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37" name="Conector angulado 36"/>
          <p:cNvCxnSpPr/>
          <p:nvPr/>
        </p:nvCxnSpPr>
        <p:spPr>
          <a:xfrm rot="16200000" flipH="1">
            <a:off x="74567" y="2472167"/>
            <a:ext cx="400660" cy="195278"/>
          </a:xfrm>
          <a:prstGeom prst="bentConnector2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do 38"/>
          <p:cNvCxnSpPr>
            <a:endCxn id="84" idx="1"/>
          </p:cNvCxnSpPr>
          <p:nvPr/>
        </p:nvCxnSpPr>
        <p:spPr>
          <a:xfrm>
            <a:off x="600591" y="2914897"/>
            <a:ext cx="380886" cy="330069"/>
          </a:xfrm>
          <a:prstGeom prst="bentConnector3">
            <a:avLst>
              <a:gd name="adj1" fmla="val -6898"/>
            </a:avLst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83"/>
          <p:cNvSpPr/>
          <p:nvPr/>
        </p:nvSpPr>
        <p:spPr bwMode="auto">
          <a:xfrm>
            <a:off x="24847" y="3732524"/>
            <a:ext cx="936892" cy="436216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Suporte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Engenharia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60" name="Conector reto 59"/>
          <p:cNvCxnSpPr/>
          <p:nvPr/>
        </p:nvCxnSpPr>
        <p:spPr>
          <a:xfrm>
            <a:off x="2152271" y="1237340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>
            <a:off x="981477" y="1214363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3"/>
          <p:cNvSpPr/>
          <p:nvPr/>
        </p:nvSpPr>
        <p:spPr bwMode="auto">
          <a:xfrm>
            <a:off x="1" y="1306246"/>
            <a:ext cx="1201182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pt-BR" sz="1108" i="1" kern="0" dirty="0" err="1">
                <a:solidFill>
                  <a:srgbClr val="000000"/>
                </a:solidFill>
                <a:latin typeface="Verdana"/>
              </a:rPr>
              <a:t>Masterplan</a:t>
            </a:r>
            <a:endParaRPr lang="en-US" sz="1108" i="1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1108" i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1" name="Rounded Rectangle 83"/>
          <p:cNvSpPr/>
          <p:nvPr/>
        </p:nvSpPr>
        <p:spPr bwMode="auto">
          <a:xfrm>
            <a:off x="1118945" y="1435798"/>
            <a:ext cx="952366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108" i="1" kern="0" dirty="0" err="1">
                <a:solidFill>
                  <a:srgbClr val="000000"/>
                </a:solidFill>
                <a:latin typeface="Verdana"/>
              </a:rPr>
              <a:t>Definião</a:t>
            </a:r>
            <a:r>
              <a:rPr lang="en-US" sz="1108" i="1" kern="0" dirty="0">
                <a:solidFill>
                  <a:srgbClr val="000000"/>
                </a:solidFill>
                <a:latin typeface="Verdana"/>
              </a:rPr>
              <a:t> do </a:t>
            </a:r>
            <a:r>
              <a:rPr lang="en-US" sz="1108" i="1" kern="0" dirty="0" err="1">
                <a:solidFill>
                  <a:srgbClr val="000000"/>
                </a:solidFill>
                <a:latin typeface="Verdana"/>
              </a:rPr>
              <a:t>Escopo</a:t>
            </a:r>
            <a:endParaRPr lang="en-US" sz="1108" i="1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94" name="Conector reto 93"/>
          <p:cNvCxnSpPr/>
          <p:nvPr/>
        </p:nvCxnSpPr>
        <p:spPr>
          <a:xfrm>
            <a:off x="8048651" y="1350633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83"/>
          <p:cNvSpPr/>
          <p:nvPr/>
        </p:nvSpPr>
        <p:spPr bwMode="auto">
          <a:xfrm>
            <a:off x="8054659" y="1306246"/>
            <a:ext cx="1130166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108" i="1" kern="0" dirty="0" err="1">
                <a:solidFill>
                  <a:srgbClr val="000000"/>
                </a:solidFill>
                <a:latin typeface="Verdana"/>
              </a:rPr>
              <a:t>Produção</a:t>
            </a:r>
            <a:endParaRPr lang="en-US" sz="1108" i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82768" y="3685779"/>
            <a:ext cx="1119703" cy="20101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31" dirty="0"/>
              <a:t>ESCOPO:</a:t>
            </a:r>
          </a:p>
          <a:p>
            <a:r>
              <a:rPr lang="pt-BR" sz="831" dirty="0"/>
              <a:t>1. Objetivos (o que o projeto deve estregar qualitativa e quantitativamente)</a:t>
            </a:r>
          </a:p>
          <a:p>
            <a:r>
              <a:rPr lang="pt-BR" sz="831" dirty="0"/>
              <a:t>2. Restrições (o que o projeto não vai entregar)</a:t>
            </a:r>
          </a:p>
          <a:p>
            <a:r>
              <a:rPr lang="pt-BR" sz="831" dirty="0"/>
              <a:t>3. Plano negócio ROI &amp; NPV</a:t>
            </a:r>
          </a:p>
          <a:p>
            <a:r>
              <a:rPr lang="pt-BR" sz="831" dirty="0"/>
              <a:t>3. Prazos Esperados</a:t>
            </a:r>
          </a:p>
          <a:p>
            <a:r>
              <a:rPr lang="pt-BR" sz="831" dirty="0"/>
              <a:t>4. Valor de </a:t>
            </a:r>
            <a:r>
              <a:rPr lang="pt-BR" sz="831" dirty="0" err="1"/>
              <a:t>Capex</a:t>
            </a:r>
            <a:r>
              <a:rPr lang="pt-BR" sz="831" dirty="0"/>
              <a:t> Orçado ou esperado</a:t>
            </a:r>
          </a:p>
          <a:p>
            <a:r>
              <a:rPr lang="pt-BR" sz="831" dirty="0"/>
              <a:t>4. </a:t>
            </a:r>
            <a:r>
              <a:rPr lang="pt-BR" sz="831" dirty="0" err="1"/>
              <a:t>Milestones</a:t>
            </a:r>
            <a:r>
              <a:rPr lang="pt-BR" sz="831" dirty="0"/>
              <a:t> de entregas (se existir</a:t>
            </a:r>
            <a:r>
              <a:rPr lang="pt-BR" sz="738" dirty="0"/>
              <a:t>)</a:t>
            </a:r>
            <a:endParaRPr lang="pt-BR" sz="738" dirty="0"/>
          </a:p>
        </p:txBody>
      </p:sp>
      <p:cxnSp>
        <p:nvCxnSpPr>
          <p:cNvPr id="7" name="Straight Connector 6"/>
          <p:cNvCxnSpPr>
            <a:stCxn id="154" idx="1"/>
          </p:cNvCxnSpPr>
          <p:nvPr/>
        </p:nvCxnSpPr>
        <p:spPr>
          <a:xfrm flipV="1">
            <a:off x="2030592" y="2569805"/>
            <a:ext cx="263809" cy="714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294401" y="1884413"/>
            <a:ext cx="837315" cy="546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738" b="1" dirty="0"/>
              <a:t>GATE 1:</a:t>
            </a:r>
          </a:p>
          <a:p>
            <a:pPr algn="ctr"/>
            <a:r>
              <a:rPr lang="pt-BR" sz="738" b="1" dirty="0"/>
              <a:t>APROVAÇÃO DO ESCOPO PELO SOLICITANTE</a:t>
            </a:r>
            <a:endParaRPr lang="pt-BR" sz="738" b="1" dirty="0"/>
          </a:p>
        </p:txBody>
      </p:sp>
      <p:cxnSp>
        <p:nvCxnSpPr>
          <p:cNvPr id="51" name="Conector reto 70"/>
          <p:cNvCxnSpPr/>
          <p:nvPr/>
        </p:nvCxnSpPr>
        <p:spPr>
          <a:xfrm>
            <a:off x="5108285" y="1306246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83"/>
          <p:cNvSpPr/>
          <p:nvPr/>
        </p:nvSpPr>
        <p:spPr bwMode="auto">
          <a:xfrm>
            <a:off x="2713058" y="1107498"/>
            <a:ext cx="1626196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108" i="1" kern="0" dirty="0" err="1">
                <a:solidFill>
                  <a:srgbClr val="000000"/>
                </a:solidFill>
                <a:latin typeface="Verdana"/>
              </a:rPr>
              <a:t>Preparação</a:t>
            </a:r>
            <a:r>
              <a:rPr lang="en-US" sz="1108" i="1" kern="0" dirty="0">
                <a:solidFill>
                  <a:srgbClr val="000000"/>
                </a:solidFill>
                <a:latin typeface="Verdana"/>
              </a:rPr>
              <a:t> do </a:t>
            </a:r>
            <a:r>
              <a:rPr lang="en-US" sz="1108" i="1" kern="0" dirty="0" err="1">
                <a:solidFill>
                  <a:srgbClr val="000000"/>
                </a:solidFill>
                <a:latin typeface="Verdana"/>
              </a:rPr>
              <a:t>Projeto</a:t>
            </a:r>
            <a:r>
              <a:rPr lang="en-US" sz="1108" i="1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1108" i="1" kern="0" dirty="0" err="1">
                <a:solidFill>
                  <a:srgbClr val="000000"/>
                </a:solidFill>
                <a:latin typeface="Verdana"/>
              </a:rPr>
              <a:t>Conceitual</a:t>
            </a:r>
            <a:r>
              <a:rPr lang="en-US" sz="1108" i="1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1108" i="1" kern="0" dirty="0" err="1">
                <a:solidFill>
                  <a:srgbClr val="000000"/>
                </a:solidFill>
                <a:latin typeface="Verdana"/>
              </a:rPr>
              <a:t>ou</a:t>
            </a:r>
            <a:r>
              <a:rPr lang="en-US" sz="1108" i="1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1108" i="1" kern="0" dirty="0" err="1">
                <a:solidFill>
                  <a:srgbClr val="000000"/>
                </a:solidFill>
                <a:latin typeface="Verdana"/>
              </a:rPr>
              <a:t>Projeto</a:t>
            </a:r>
            <a:r>
              <a:rPr lang="en-US" sz="1108" i="1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1108" i="1" kern="0" dirty="0" err="1">
                <a:solidFill>
                  <a:srgbClr val="000000"/>
                </a:solidFill>
                <a:latin typeface="Verdana"/>
              </a:rPr>
              <a:t>Básico</a:t>
            </a:r>
            <a:endParaRPr lang="en-US" sz="1108" i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2" name="Losango 153"/>
          <p:cNvSpPr/>
          <p:nvPr/>
        </p:nvSpPr>
        <p:spPr>
          <a:xfrm>
            <a:off x="4919816" y="3749569"/>
            <a:ext cx="393570" cy="4494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2</a:t>
            </a:r>
            <a:endParaRPr lang="pt-BR" sz="1846" dirty="0"/>
          </a:p>
        </p:txBody>
      </p:sp>
      <p:cxnSp>
        <p:nvCxnSpPr>
          <p:cNvPr id="63" name="Straight Connector 62"/>
          <p:cNvCxnSpPr>
            <a:stCxn id="62" idx="0"/>
          </p:cNvCxnSpPr>
          <p:nvPr/>
        </p:nvCxnSpPr>
        <p:spPr>
          <a:xfrm flipV="1">
            <a:off x="5116601" y="2307538"/>
            <a:ext cx="110592" cy="1442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210265" y="1585943"/>
            <a:ext cx="837315" cy="773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738" b="1" dirty="0"/>
              <a:t>GATE 2:</a:t>
            </a:r>
          </a:p>
          <a:p>
            <a:pPr algn="ctr"/>
            <a:r>
              <a:rPr lang="pt-BR" sz="738" b="1" dirty="0"/>
              <a:t>APROVAÇÃO DO PROJETO CONCEITUAL PELO SOLICITANTE</a:t>
            </a:r>
            <a:endParaRPr lang="pt-BR" sz="738" b="1" dirty="0"/>
          </a:p>
        </p:txBody>
      </p:sp>
      <p:sp>
        <p:nvSpPr>
          <p:cNvPr id="67" name="Rounded Rectangle 83"/>
          <p:cNvSpPr/>
          <p:nvPr/>
        </p:nvSpPr>
        <p:spPr bwMode="auto">
          <a:xfrm>
            <a:off x="2424163" y="5927390"/>
            <a:ext cx="934338" cy="49725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 anchor="b"/>
          <a:lstStyle/>
          <a:p>
            <a:pPr marL="316531" indent="-316531" algn="ctr" defTabSz="879253"/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2</a:t>
            </a:r>
          </a:p>
          <a:p>
            <a:pPr marL="316531" indent="-316531" algn="ctr" defTabSz="879253"/>
            <a:r>
              <a:rPr lang="pt-BR" sz="923" dirty="0">
                <a:solidFill>
                  <a:srgbClr val="CC0000"/>
                </a:solidFill>
              </a:rPr>
              <a:t>Plano</a:t>
            </a:r>
            <a:endParaRPr lang="pt-BR" sz="923" dirty="0">
              <a:solidFill>
                <a:srgbClr val="CC0000"/>
              </a:solidFill>
            </a:endParaRPr>
          </a:p>
          <a:p>
            <a:pPr marL="316531" indent="-316531" algn="ctr" defTabSz="879253"/>
            <a:r>
              <a:rPr lang="pt-BR" sz="923" dirty="0">
                <a:solidFill>
                  <a:srgbClr val="CC0000"/>
                </a:solidFill>
              </a:rPr>
              <a:t>Engenharia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9" name="Rounded Rectangle 83"/>
          <p:cNvSpPr/>
          <p:nvPr/>
        </p:nvSpPr>
        <p:spPr bwMode="auto">
          <a:xfrm>
            <a:off x="5706706" y="1277472"/>
            <a:ext cx="1626196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108" i="1" kern="0" dirty="0" err="1">
                <a:solidFill>
                  <a:srgbClr val="000000"/>
                </a:solidFill>
                <a:latin typeface="Verdana"/>
              </a:rPr>
              <a:t>Execuação</a:t>
            </a:r>
            <a:r>
              <a:rPr lang="en-US" sz="1108" i="1" kern="0" dirty="0">
                <a:solidFill>
                  <a:srgbClr val="000000"/>
                </a:solidFill>
                <a:latin typeface="Verdana"/>
              </a:rPr>
              <a:t> </a:t>
            </a:r>
          </a:p>
        </p:txBody>
      </p:sp>
      <p:cxnSp>
        <p:nvCxnSpPr>
          <p:cNvPr id="70" name="Conector angulado 170"/>
          <p:cNvCxnSpPr>
            <a:stCxn id="62" idx="2"/>
          </p:cNvCxnSpPr>
          <p:nvPr/>
        </p:nvCxnSpPr>
        <p:spPr>
          <a:xfrm rot="16200000" flipH="1">
            <a:off x="5030572" y="4285038"/>
            <a:ext cx="368843" cy="196785"/>
          </a:xfrm>
          <a:prstGeom prst="bentConnector3">
            <a:avLst>
              <a:gd name="adj1" fmla="val 99479"/>
            </a:avLst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83"/>
          <p:cNvSpPr/>
          <p:nvPr/>
        </p:nvSpPr>
        <p:spPr bwMode="auto">
          <a:xfrm>
            <a:off x="5303789" y="2422883"/>
            <a:ext cx="1216015" cy="320181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831" dirty="0" err="1"/>
              <a:t>Projeto</a:t>
            </a:r>
            <a:r>
              <a:rPr lang="en-US" sz="831" dirty="0"/>
              <a:t> </a:t>
            </a:r>
            <a:r>
              <a:rPr lang="en-US" sz="831" dirty="0" err="1"/>
              <a:t>Executivo</a:t>
            </a:r>
            <a:r>
              <a:rPr lang="en-US" sz="831" dirty="0"/>
              <a:t>:</a:t>
            </a:r>
          </a:p>
          <a:p>
            <a:pPr>
              <a:defRPr/>
            </a:pPr>
            <a:r>
              <a:rPr lang="en-US" sz="831" dirty="0"/>
              <a:t>. </a:t>
            </a:r>
            <a:r>
              <a:rPr lang="en-US" sz="831" dirty="0" err="1"/>
              <a:t>Detalhamento</a:t>
            </a:r>
            <a:r>
              <a:rPr lang="en-US" sz="831" dirty="0"/>
              <a:t> do </a:t>
            </a:r>
            <a:r>
              <a:rPr lang="en-US" sz="831" dirty="0" err="1"/>
              <a:t>Projeto</a:t>
            </a:r>
            <a:r>
              <a:rPr lang="en-US" sz="831" dirty="0"/>
              <a:t>: Civil, </a:t>
            </a:r>
            <a:r>
              <a:rPr lang="en-US" sz="831" dirty="0" err="1"/>
              <a:t>Elétrico</a:t>
            </a:r>
            <a:r>
              <a:rPr lang="en-US" sz="831" dirty="0"/>
              <a:t>, </a:t>
            </a:r>
            <a:r>
              <a:rPr lang="en-US" sz="831" dirty="0" err="1"/>
              <a:t>Mecânico</a:t>
            </a:r>
            <a:r>
              <a:rPr lang="en-US" sz="831" dirty="0"/>
              <a:t>, </a:t>
            </a:r>
            <a:r>
              <a:rPr lang="en-US" sz="831" dirty="0" err="1"/>
              <a:t>Automação</a:t>
            </a:r>
            <a:r>
              <a:rPr lang="en-US" sz="831" dirty="0"/>
              <a:t>, TI</a:t>
            </a:r>
          </a:p>
          <a:p>
            <a:pPr>
              <a:defRPr/>
            </a:pPr>
            <a:r>
              <a:rPr lang="en-US" sz="831" dirty="0"/>
              <a:t>. </a:t>
            </a:r>
            <a:r>
              <a:rPr lang="en-US" sz="831" dirty="0" err="1"/>
              <a:t>Aprovação</a:t>
            </a:r>
            <a:r>
              <a:rPr lang="en-US" sz="831" dirty="0"/>
              <a:t> e </a:t>
            </a:r>
            <a:r>
              <a:rPr lang="en-US" sz="831" dirty="0" err="1"/>
              <a:t>Execução</a:t>
            </a:r>
            <a:r>
              <a:rPr lang="en-US" sz="831" dirty="0"/>
              <a:t> de </a:t>
            </a:r>
            <a:r>
              <a:rPr lang="en-US" sz="831" dirty="0" err="1"/>
              <a:t>Projeto</a:t>
            </a:r>
            <a:r>
              <a:rPr lang="en-US" sz="831" dirty="0"/>
              <a:t> </a:t>
            </a:r>
            <a:r>
              <a:rPr lang="en-US" sz="831" dirty="0" err="1"/>
              <a:t>Externo</a:t>
            </a:r>
            <a:endParaRPr lang="en-US" sz="831" dirty="0"/>
          </a:p>
          <a:p>
            <a:pPr>
              <a:defRPr/>
            </a:pPr>
            <a:r>
              <a:rPr lang="en-US" sz="831" dirty="0"/>
              <a:t>. </a:t>
            </a:r>
            <a:r>
              <a:rPr lang="en-US" sz="831" dirty="0" err="1"/>
              <a:t>Quotações</a:t>
            </a:r>
            <a:r>
              <a:rPr lang="en-US" sz="831" dirty="0"/>
              <a:t> </a:t>
            </a:r>
            <a:r>
              <a:rPr lang="en-US" sz="831" dirty="0" err="1"/>
              <a:t>preliminares</a:t>
            </a:r>
            <a:r>
              <a:rPr lang="en-US" sz="831" dirty="0"/>
              <a:t> dos </a:t>
            </a:r>
            <a:r>
              <a:rPr lang="en-US" sz="831" dirty="0" err="1"/>
              <a:t>serviços</a:t>
            </a:r>
            <a:r>
              <a:rPr lang="en-US" sz="831" dirty="0"/>
              <a:t> e </a:t>
            </a:r>
            <a:r>
              <a:rPr lang="en-US" sz="831" dirty="0" err="1"/>
              <a:t>equipmentos</a:t>
            </a:r>
            <a:r>
              <a:rPr lang="en-US" sz="831" dirty="0"/>
              <a:t> (RFI)</a:t>
            </a:r>
          </a:p>
          <a:p>
            <a:pPr>
              <a:defRPr/>
            </a:pPr>
            <a:r>
              <a:rPr lang="en-US" sz="831" dirty="0"/>
              <a:t>. </a:t>
            </a:r>
            <a:r>
              <a:rPr lang="en-US" sz="831" dirty="0" err="1"/>
              <a:t>Reunião</a:t>
            </a:r>
            <a:r>
              <a:rPr lang="en-US" sz="831" dirty="0"/>
              <a:t> com </a:t>
            </a:r>
            <a:r>
              <a:rPr lang="en-US" sz="831" dirty="0" err="1"/>
              <a:t>Solicitante</a:t>
            </a:r>
            <a:r>
              <a:rPr lang="en-US" sz="831" dirty="0"/>
              <a:t> para </a:t>
            </a:r>
            <a:r>
              <a:rPr lang="en-US" sz="831" dirty="0" err="1"/>
              <a:t>alinhamento</a:t>
            </a:r>
            <a:endParaRPr lang="en-US" sz="831" dirty="0"/>
          </a:p>
          <a:p>
            <a:pPr>
              <a:defRPr/>
            </a:pPr>
            <a:r>
              <a:rPr lang="en-US" sz="831" dirty="0"/>
              <a:t>. </a:t>
            </a:r>
            <a:r>
              <a:rPr lang="en-US" sz="831" dirty="0" err="1"/>
              <a:t>Planejamento</a:t>
            </a:r>
            <a:r>
              <a:rPr lang="en-US" sz="831" dirty="0"/>
              <a:t> de </a:t>
            </a:r>
            <a:r>
              <a:rPr lang="en-US" sz="831" dirty="0" err="1"/>
              <a:t>Cronograma</a:t>
            </a:r>
            <a:r>
              <a:rPr lang="en-US" sz="831" dirty="0"/>
              <a:t> e Cash Flow</a:t>
            </a:r>
          </a:p>
          <a:p>
            <a:pPr>
              <a:defRPr/>
            </a:pPr>
            <a:r>
              <a:rPr lang="en-US" sz="831" dirty="0"/>
              <a:t>. </a:t>
            </a:r>
            <a:r>
              <a:rPr lang="en-US" sz="831" dirty="0" err="1"/>
              <a:t>Estimativa</a:t>
            </a:r>
            <a:r>
              <a:rPr lang="en-US" sz="831" dirty="0"/>
              <a:t> de </a:t>
            </a:r>
            <a:r>
              <a:rPr lang="en-US" sz="831" dirty="0" err="1"/>
              <a:t>Custos</a:t>
            </a:r>
            <a:r>
              <a:rPr lang="en-US" sz="831" dirty="0"/>
              <a:t> e </a:t>
            </a:r>
            <a:r>
              <a:rPr lang="en-US" sz="831" dirty="0" err="1"/>
              <a:t>Prazos</a:t>
            </a:r>
            <a:r>
              <a:rPr lang="en-US" sz="831" dirty="0"/>
              <a:t> (Gate2) com base </a:t>
            </a:r>
            <a:r>
              <a:rPr lang="en-US" sz="831" dirty="0" err="1"/>
              <a:t>em</a:t>
            </a:r>
            <a:r>
              <a:rPr lang="en-US" sz="831" dirty="0"/>
              <a:t> </a:t>
            </a:r>
            <a:r>
              <a:rPr lang="en-US" sz="831" dirty="0" err="1"/>
              <a:t>quotações</a:t>
            </a:r>
            <a:endParaRPr lang="en-US" sz="831" dirty="0"/>
          </a:p>
          <a:p>
            <a:pPr>
              <a:defRPr/>
            </a:pPr>
            <a:r>
              <a:rPr lang="en-US" sz="831" dirty="0"/>
              <a:t>. </a:t>
            </a:r>
            <a:r>
              <a:rPr lang="en-US" sz="831" dirty="0" err="1"/>
              <a:t>Estimativa</a:t>
            </a:r>
            <a:r>
              <a:rPr lang="en-US" sz="831" dirty="0"/>
              <a:t> de ROI e Payback</a:t>
            </a:r>
          </a:p>
          <a:p>
            <a:pPr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4" name="Losango 153"/>
          <p:cNvSpPr/>
          <p:nvPr/>
        </p:nvSpPr>
        <p:spPr>
          <a:xfrm>
            <a:off x="6393997" y="3604258"/>
            <a:ext cx="393570" cy="4494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3</a:t>
            </a:r>
          </a:p>
        </p:txBody>
      </p:sp>
      <p:cxnSp>
        <p:nvCxnSpPr>
          <p:cNvPr id="76" name="Straight Connector 75"/>
          <p:cNvCxnSpPr>
            <a:stCxn id="74" idx="0"/>
          </p:cNvCxnSpPr>
          <p:nvPr/>
        </p:nvCxnSpPr>
        <p:spPr>
          <a:xfrm flipV="1">
            <a:off x="6590782" y="2366678"/>
            <a:ext cx="196785" cy="1237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809680" y="1881385"/>
            <a:ext cx="837315" cy="4330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738" b="1" dirty="0"/>
              <a:t>GATE 3:</a:t>
            </a:r>
          </a:p>
          <a:p>
            <a:pPr algn="ctr"/>
            <a:r>
              <a:rPr lang="pt-BR" sz="738" b="1" dirty="0"/>
              <a:t>APROVAÇÃO DO CAPEX</a:t>
            </a:r>
            <a:endParaRPr lang="pt-BR" sz="738" b="1" dirty="0"/>
          </a:p>
        </p:txBody>
      </p:sp>
      <p:sp>
        <p:nvSpPr>
          <p:cNvPr id="80" name="Rounded Rectangle 83"/>
          <p:cNvSpPr/>
          <p:nvPr/>
        </p:nvSpPr>
        <p:spPr bwMode="auto">
          <a:xfrm>
            <a:off x="8095484" y="2809718"/>
            <a:ext cx="1048516" cy="2210453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831" dirty="0" err="1"/>
              <a:t>Execução</a:t>
            </a:r>
            <a:endParaRPr lang="en-US" sz="831" dirty="0"/>
          </a:p>
          <a:p>
            <a:pPr>
              <a:defRPr/>
            </a:pPr>
            <a:r>
              <a:rPr lang="en-US" sz="831" dirty="0" err="1"/>
              <a:t>Procedimentos</a:t>
            </a:r>
            <a:r>
              <a:rPr lang="en-US" sz="831" dirty="0"/>
              <a:t> </a:t>
            </a:r>
            <a:r>
              <a:rPr lang="en-US" sz="831" dirty="0" err="1"/>
              <a:t>padrão</a:t>
            </a:r>
            <a:r>
              <a:rPr lang="en-US" sz="831" dirty="0"/>
              <a:t> de </a:t>
            </a:r>
            <a:r>
              <a:rPr lang="en-US" sz="831" dirty="0" err="1"/>
              <a:t>operação</a:t>
            </a:r>
            <a:r>
              <a:rPr lang="en-US" sz="831" dirty="0"/>
              <a:t> de </a:t>
            </a:r>
            <a:r>
              <a:rPr lang="en-US" sz="831" dirty="0" err="1"/>
              <a:t>índices</a:t>
            </a:r>
            <a:r>
              <a:rPr lang="en-US" sz="831" dirty="0"/>
              <a:t> de </a:t>
            </a:r>
            <a:r>
              <a:rPr lang="en-US" sz="831" dirty="0" err="1"/>
              <a:t>perfomance</a:t>
            </a:r>
            <a:r>
              <a:rPr lang="en-US" sz="831" dirty="0"/>
              <a:t> (KPI’s) </a:t>
            </a:r>
          </a:p>
          <a:p>
            <a:pPr>
              <a:defRPr/>
            </a:pPr>
            <a:r>
              <a:rPr lang="pt-BR" sz="831" dirty="0"/>
              <a:t>Implantação de </a:t>
            </a:r>
            <a:r>
              <a:rPr lang="pt-BR" sz="831" dirty="0" err="1"/>
              <a:t>siste,ma</a:t>
            </a:r>
            <a:r>
              <a:rPr lang="pt-BR" sz="831" dirty="0"/>
              <a:t>  e </a:t>
            </a:r>
            <a:r>
              <a:rPr lang="pt-BR" sz="831" dirty="0" err="1"/>
              <a:t>manuetencão</a:t>
            </a:r>
            <a:r>
              <a:rPr lang="pt-BR" sz="831" kern="0" dirty="0">
                <a:solidFill>
                  <a:srgbClr val="000000"/>
                </a:solidFill>
                <a:latin typeface="Verdana"/>
              </a:rPr>
              <a:t>.</a:t>
            </a:r>
            <a:endParaRPr lang="en-US" sz="831" kern="0" dirty="0">
              <a:solidFill>
                <a:srgbClr val="000000"/>
              </a:solidFill>
              <a:latin typeface="Verdana"/>
            </a:endParaRPr>
          </a:p>
          <a:p>
            <a:pPr>
              <a:defRPr/>
            </a:pPr>
            <a:endParaRPr lang="en-US" sz="738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83" name="Conector angulado 170"/>
          <p:cNvCxnSpPr/>
          <p:nvPr/>
        </p:nvCxnSpPr>
        <p:spPr>
          <a:xfrm rot="16200000" flipH="1">
            <a:off x="6359914" y="4258061"/>
            <a:ext cx="660246" cy="195061"/>
          </a:xfrm>
          <a:prstGeom prst="bentConnector3">
            <a:avLst>
              <a:gd name="adj1" fmla="val 100100"/>
            </a:avLst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Losango 153"/>
          <p:cNvSpPr/>
          <p:nvPr/>
        </p:nvSpPr>
        <p:spPr>
          <a:xfrm>
            <a:off x="7941393" y="3685780"/>
            <a:ext cx="393570" cy="4494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4</a:t>
            </a:r>
            <a:endParaRPr lang="pt-BR" sz="1846" dirty="0"/>
          </a:p>
        </p:txBody>
      </p:sp>
      <p:cxnSp>
        <p:nvCxnSpPr>
          <p:cNvPr id="86" name="Straight Connector 85"/>
          <p:cNvCxnSpPr>
            <a:stCxn id="85" idx="0"/>
          </p:cNvCxnSpPr>
          <p:nvPr/>
        </p:nvCxnSpPr>
        <p:spPr>
          <a:xfrm flipV="1">
            <a:off x="8138178" y="2211131"/>
            <a:ext cx="36222" cy="147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134941" y="1671337"/>
            <a:ext cx="809036" cy="546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738" b="1" dirty="0"/>
              <a:t>GATE 4:</a:t>
            </a:r>
          </a:p>
          <a:p>
            <a:pPr algn="ctr"/>
            <a:r>
              <a:rPr lang="pt-BR" sz="738" b="1" dirty="0"/>
              <a:t>ACEITE DA OBRA PELO SOLICITANTE</a:t>
            </a:r>
            <a:endParaRPr lang="pt-BR" sz="738" b="1" dirty="0"/>
          </a:p>
        </p:txBody>
      </p:sp>
      <p:sp>
        <p:nvSpPr>
          <p:cNvPr id="88" name="Rounded Rectangle 83"/>
          <p:cNvSpPr/>
          <p:nvPr/>
        </p:nvSpPr>
        <p:spPr bwMode="auto">
          <a:xfrm>
            <a:off x="5313386" y="5953648"/>
            <a:ext cx="1163858" cy="470993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 anchor="b"/>
          <a:lstStyle/>
          <a:p>
            <a:pPr marL="316531" indent="-316531" algn="ctr" defTabSz="879253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4</a:t>
            </a:r>
          </a:p>
          <a:p>
            <a:pPr marL="316531" indent="-316531" algn="ctr" defTabSz="879253">
              <a:defRPr/>
            </a:pPr>
            <a:r>
              <a:rPr lang="pt-BR" sz="923" dirty="0">
                <a:solidFill>
                  <a:srgbClr val="CC0000"/>
                </a:solidFill>
              </a:rPr>
              <a:t>Compras &amp; </a:t>
            </a:r>
          </a:p>
          <a:p>
            <a:pPr marL="316531" indent="-316531" algn="ctr" defTabSz="879253">
              <a:defRPr/>
            </a:pPr>
            <a:r>
              <a:rPr lang="pt-BR" sz="923" dirty="0">
                <a:solidFill>
                  <a:srgbClr val="CC0000"/>
                </a:solidFill>
              </a:rPr>
              <a:t>Construção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6" name="Rounded Rectangle 83"/>
          <p:cNvSpPr/>
          <p:nvPr/>
        </p:nvSpPr>
        <p:spPr bwMode="auto">
          <a:xfrm>
            <a:off x="6970089" y="5908260"/>
            <a:ext cx="833256" cy="502287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sz="83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831" kern="0" dirty="0">
                <a:solidFill>
                  <a:srgbClr val="000000"/>
                </a:solidFill>
                <a:latin typeface="Verdana"/>
              </a:rPr>
              <a:t> 5</a:t>
            </a:r>
          </a:p>
          <a:p>
            <a:pPr algn="ctr">
              <a:defRPr/>
            </a:pPr>
            <a:r>
              <a:rPr lang="pt-BR" sz="831" kern="0" dirty="0" err="1">
                <a:solidFill>
                  <a:srgbClr val="000000"/>
                </a:solidFill>
                <a:latin typeface="Verdana"/>
              </a:rPr>
              <a:t>Comisionamento</a:t>
            </a:r>
            <a:endParaRPr lang="en-US" sz="83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7" name="Rounded Rectangle 83"/>
          <p:cNvSpPr/>
          <p:nvPr/>
        </p:nvSpPr>
        <p:spPr bwMode="auto">
          <a:xfrm>
            <a:off x="8156290" y="5837045"/>
            <a:ext cx="969601" cy="52519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6O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Operação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e </a:t>
            </a:r>
            <a:r>
              <a:rPr lang="en-US" sz="923" kern="0" dirty="0" err="1" smtClean="0">
                <a:solidFill>
                  <a:srgbClr val="000000"/>
                </a:solidFill>
                <a:latin typeface="Verdana"/>
              </a:rPr>
              <a:t>manutenção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9" name="Rounded Rectangle 83"/>
          <p:cNvSpPr/>
          <p:nvPr/>
        </p:nvSpPr>
        <p:spPr bwMode="auto">
          <a:xfrm>
            <a:off x="3938057" y="5956335"/>
            <a:ext cx="934338" cy="49725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 anchor="b"/>
          <a:lstStyle/>
          <a:p>
            <a:pPr marL="316531" indent="-316531" algn="ctr" defTabSz="879253"/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3</a:t>
            </a:r>
          </a:p>
          <a:p>
            <a:pPr marL="316531" indent="-316531" algn="ctr" defTabSz="879253"/>
            <a:r>
              <a:rPr lang="pt-BR" sz="923" dirty="0">
                <a:solidFill>
                  <a:srgbClr val="CC0000"/>
                </a:solidFill>
              </a:rPr>
              <a:t>Projeto</a:t>
            </a:r>
            <a:endParaRPr lang="pt-BR" sz="923" dirty="0">
              <a:solidFill>
                <a:srgbClr val="CC0000"/>
              </a:solidFill>
            </a:endParaRPr>
          </a:p>
          <a:p>
            <a:pPr marL="316531" indent="-316531" algn="ctr" defTabSz="879253"/>
            <a:r>
              <a:rPr lang="pt-BR" sz="923" dirty="0">
                <a:solidFill>
                  <a:srgbClr val="CC0000"/>
                </a:solidFill>
              </a:rPr>
              <a:t>Detalhado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4" name="Rounded Rectangle 83"/>
          <p:cNvSpPr/>
          <p:nvPr/>
        </p:nvSpPr>
        <p:spPr bwMode="auto">
          <a:xfrm>
            <a:off x="6738840" y="2516288"/>
            <a:ext cx="1250831" cy="2868686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831" dirty="0" err="1"/>
              <a:t>Execução</a:t>
            </a:r>
            <a:endParaRPr lang="en-US" sz="831" dirty="0"/>
          </a:p>
          <a:p>
            <a:pPr>
              <a:defRPr/>
            </a:pPr>
            <a:r>
              <a:rPr lang="en-US" sz="831" dirty="0"/>
              <a:t>- </a:t>
            </a:r>
            <a:r>
              <a:rPr lang="en-US" sz="831" dirty="0" err="1"/>
              <a:t>Preparação</a:t>
            </a:r>
            <a:r>
              <a:rPr lang="en-US" sz="831" dirty="0"/>
              <a:t> de RFQ</a:t>
            </a:r>
          </a:p>
          <a:p>
            <a:pPr>
              <a:defRPr/>
            </a:pPr>
            <a:r>
              <a:rPr lang="en-US" sz="831" dirty="0"/>
              <a:t>- </a:t>
            </a:r>
            <a:r>
              <a:rPr lang="en-US" sz="831" dirty="0" err="1"/>
              <a:t>Recomendação</a:t>
            </a:r>
            <a:r>
              <a:rPr lang="en-US" sz="831" dirty="0"/>
              <a:t> de </a:t>
            </a:r>
            <a:r>
              <a:rPr lang="en-US" sz="831" dirty="0" err="1"/>
              <a:t>Fornecedores</a:t>
            </a:r>
            <a:endParaRPr lang="en-US" sz="831" dirty="0"/>
          </a:p>
          <a:p>
            <a:pPr>
              <a:defRPr/>
            </a:pPr>
            <a:r>
              <a:rPr lang="en-US" sz="831" dirty="0"/>
              <a:t>- </a:t>
            </a:r>
            <a:r>
              <a:rPr lang="en-US" sz="831" dirty="0" err="1"/>
              <a:t>Negociação</a:t>
            </a:r>
            <a:r>
              <a:rPr lang="en-US" sz="831" dirty="0"/>
              <a:t> e </a:t>
            </a:r>
            <a:r>
              <a:rPr lang="en-US" sz="831" dirty="0" err="1"/>
              <a:t>Compra</a:t>
            </a:r>
            <a:endParaRPr lang="en-US" sz="831" dirty="0"/>
          </a:p>
          <a:p>
            <a:pPr>
              <a:defRPr/>
            </a:pPr>
            <a:r>
              <a:rPr lang="en-US" sz="831" dirty="0"/>
              <a:t>- </a:t>
            </a:r>
            <a:r>
              <a:rPr lang="en-US" sz="831" dirty="0" err="1"/>
              <a:t>Estruturação</a:t>
            </a:r>
            <a:r>
              <a:rPr lang="en-US" sz="831" dirty="0"/>
              <a:t> do time de </a:t>
            </a:r>
            <a:r>
              <a:rPr lang="en-US" sz="831" dirty="0" err="1"/>
              <a:t>Obra</a:t>
            </a:r>
            <a:endParaRPr lang="en-US" sz="831" dirty="0"/>
          </a:p>
          <a:p>
            <a:pPr>
              <a:defRPr/>
            </a:pPr>
            <a:r>
              <a:rPr lang="en-US" sz="831" dirty="0"/>
              <a:t>- </a:t>
            </a:r>
            <a:r>
              <a:rPr lang="en-US" sz="831" dirty="0" err="1"/>
              <a:t>Gestão</a:t>
            </a:r>
            <a:r>
              <a:rPr lang="en-US" sz="831" dirty="0"/>
              <a:t> da </a:t>
            </a:r>
            <a:r>
              <a:rPr lang="en-US" sz="831" dirty="0" err="1"/>
              <a:t>Obra</a:t>
            </a:r>
            <a:r>
              <a:rPr lang="en-US" sz="831" dirty="0"/>
              <a:t> com KPIs</a:t>
            </a:r>
          </a:p>
          <a:p>
            <a:pPr>
              <a:defRPr/>
            </a:pPr>
            <a:r>
              <a:rPr lang="en-US" sz="831" dirty="0"/>
              <a:t>- </a:t>
            </a:r>
            <a:r>
              <a:rPr lang="en-US" sz="831" dirty="0" err="1"/>
              <a:t>Reuniões</a:t>
            </a:r>
            <a:r>
              <a:rPr lang="en-US" sz="831" dirty="0"/>
              <a:t> de Status com </a:t>
            </a:r>
            <a:r>
              <a:rPr lang="en-US" sz="831" dirty="0" err="1"/>
              <a:t>Solicitante</a:t>
            </a:r>
            <a:endParaRPr lang="en-US" sz="831" dirty="0"/>
          </a:p>
          <a:p>
            <a:pPr>
              <a:defRPr/>
            </a:pPr>
            <a:r>
              <a:rPr lang="en-US" sz="831" dirty="0"/>
              <a:t>- Testes </a:t>
            </a:r>
            <a:r>
              <a:rPr lang="en-US" sz="831" dirty="0" err="1"/>
              <a:t>em</a:t>
            </a:r>
            <a:r>
              <a:rPr lang="en-US" sz="831" dirty="0"/>
              <a:t> </a:t>
            </a:r>
            <a:r>
              <a:rPr lang="en-US" sz="831" dirty="0" err="1"/>
              <a:t>Vazio</a:t>
            </a:r>
            <a:r>
              <a:rPr lang="en-US" sz="831" dirty="0"/>
              <a:t> para </a:t>
            </a:r>
            <a:r>
              <a:rPr lang="en-US" sz="831" dirty="0" err="1"/>
              <a:t>Liberação</a:t>
            </a:r>
            <a:r>
              <a:rPr lang="en-US" sz="831" dirty="0"/>
              <a:t> de </a:t>
            </a:r>
            <a:r>
              <a:rPr lang="en-US" sz="831" dirty="0" err="1"/>
              <a:t>Eqptos</a:t>
            </a:r>
            <a:endParaRPr lang="en-US" sz="831" dirty="0"/>
          </a:p>
          <a:p>
            <a:pPr>
              <a:defRPr/>
            </a:pPr>
            <a:r>
              <a:rPr lang="en-US" sz="831" dirty="0"/>
              <a:t>- Start up</a:t>
            </a:r>
          </a:p>
          <a:p>
            <a:pPr>
              <a:defRPr/>
            </a:pPr>
            <a:r>
              <a:rPr lang="en-US" sz="831" dirty="0"/>
              <a:t>-</a:t>
            </a:r>
            <a:r>
              <a:rPr lang="en-US" sz="831" dirty="0" err="1"/>
              <a:t>Comissionamento</a:t>
            </a:r>
            <a:endParaRPr lang="en-US" sz="831" dirty="0"/>
          </a:p>
        </p:txBody>
      </p:sp>
      <p:sp>
        <p:nvSpPr>
          <p:cNvPr id="131" name="Rounded Rectangle 83"/>
          <p:cNvSpPr/>
          <p:nvPr/>
        </p:nvSpPr>
        <p:spPr bwMode="auto">
          <a:xfrm>
            <a:off x="3786869" y="2955842"/>
            <a:ext cx="1236715" cy="198957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831" dirty="0"/>
              <a:t>. </a:t>
            </a:r>
            <a:r>
              <a:rPr lang="en-US" sz="831" dirty="0" err="1"/>
              <a:t>Projeto</a:t>
            </a:r>
            <a:r>
              <a:rPr lang="en-US" sz="831" dirty="0"/>
              <a:t> de start-up da </a:t>
            </a:r>
            <a:r>
              <a:rPr lang="en-US" sz="831" dirty="0" err="1"/>
              <a:t>construção</a:t>
            </a:r>
            <a:endParaRPr lang="en-US" sz="831" dirty="0"/>
          </a:p>
          <a:p>
            <a:pPr>
              <a:defRPr/>
            </a:pPr>
            <a:r>
              <a:rPr lang="en-US" sz="831" dirty="0"/>
              <a:t>. Budget final </a:t>
            </a:r>
            <a:r>
              <a:rPr lang="en-US" sz="831" dirty="0" err="1"/>
              <a:t>baseado</a:t>
            </a:r>
            <a:r>
              <a:rPr lang="en-US" sz="831" dirty="0"/>
              <a:t> </a:t>
            </a:r>
            <a:r>
              <a:rPr lang="en-US" sz="831" dirty="0" err="1"/>
              <a:t>em</a:t>
            </a:r>
            <a:r>
              <a:rPr lang="en-US" sz="831" dirty="0"/>
              <a:t> </a:t>
            </a:r>
            <a:r>
              <a:rPr lang="en-US" sz="831" dirty="0" err="1"/>
              <a:t>contrato</a:t>
            </a:r>
            <a:r>
              <a:rPr lang="en-US" sz="831" dirty="0"/>
              <a:t> </a:t>
            </a:r>
            <a:r>
              <a:rPr lang="en-US" sz="831" dirty="0" err="1"/>
              <a:t>negociado</a:t>
            </a:r>
            <a:r>
              <a:rPr lang="en-US" sz="831" dirty="0"/>
              <a:t> com EPCM </a:t>
            </a:r>
            <a:r>
              <a:rPr lang="en-US" sz="831" dirty="0" err="1"/>
              <a:t>ou</a:t>
            </a:r>
            <a:r>
              <a:rPr lang="en-US" sz="831" dirty="0"/>
              <a:t> </a:t>
            </a:r>
          </a:p>
          <a:p>
            <a:pPr>
              <a:defRPr/>
            </a:pPr>
            <a:r>
              <a:rPr lang="en-US" sz="831" dirty="0"/>
              <a:t>. </a:t>
            </a:r>
            <a:r>
              <a:rPr lang="en-US" sz="831" dirty="0" err="1"/>
              <a:t>Contrato</a:t>
            </a:r>
            <a:r>
              <a:rPr lang="en-US" sz="831" dirty="0"/>
              <a:t> de </a:t>
            </a:r>
            <a:r>
              <a:rPr lang="en-US" sz="831" dirty="0" err="1"/>
              <a:t>desenho</a:t>
            </a:r>
            <a:r>
              <a:rPr lang="en-US" sz="831" dirty="0"/>
              <a:t> e </a:t>
            </a:r>
            <a:r>
              <a:rPr lang="en-US" sz="831" dirty="0" err="1"/>
              <a:t>construção</a:t>
            </a:r>
            <a:r>
              <a:rPr lang="en-US" sz="831" dirty="0"/>
              <a:t> </a:t>
            </a:r>
            <a:r>
              <a:rPr lang="en-US" sz="831" dirty="0" err="1"/>
              <a:t>negociados</a:t>
            </a:r>
            <a:r>
              <a:rPr lang="en-US" sz="831" dirty="0"/>
              <a:t>.</a:t>
            </a:r>
          </a:p>
          <a:p>
            <a:pPr>
              <a:defRPr/>
            </a:pPr>
            <a:r>
              <a:rPr lang="en-US" sz="831" dirty="0"/>
              <a:t>. </a:t>
            </a:r>
            <a:r>
              <a:rPr lang="en-US" sz="831" dirty="0" err="1"/>
              <a:t>Custo</a:t>
            </a:r>
            <a:r>
              <a:rPr lang="en-US" sz="831" dirty="0"/>
              <a:t> de </a:t>
            </a:r>
            <a:r>
              <a:rPr lang="en-US" sz="831" dirty="0" err="1"/>
              <a:t>garantia</a:t>
            </a:r>
            <a:r>
              <a:rPr lang="en-US" sz="831" dirty="0"/>
              <a:t> e </a:t>
            </a:r>
            <a:r>
              <a:rPr lang="en-US" sz="831" dirty="0" err="1"/>
              <a:t>perfomance</a:t>
            </a:r>
            <a:r>
              <a:rPr lang="en-US" sz="831" kern="0" dirty="0">
                <a:solidFill>
                  <a:srgbClr val="000000"/>
                </a:solidFill>
                <a:latin typeface="Verdana"/>
              </a:rPr>
              <a:t>. 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6824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3807" y="367862"/>
            <a:ext cx="1811226" cy="538404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8" b="1" dirty="0">
                <a:solidFill>
                  <a:sysClr val="windowText" lastClr="000000"/>
                </a:solidFill>
                <a:latin typeface="BankGothic Lt BT" pitchFamily="34" charset="0"/>
              </a:rPr>
              <a:t>Fluxograma Fase 1:</a:t>
            </a:r>
          </a:p>
          <a:p>
            <a:r>
              <a:rPr lang="pt-BR" sz="1108" b="1" dirty="0">
                <a:solidFill>
                  <a:sysClr val="windowText" lastClr="000000"/>
                </a:solidFill>
                <a:latin typeface="BankGothic Lt BT" pitchFamily="34" charset="0"/>
              </a:rPr>
              <a:t>“Elaborar Design conceitual”</a:t>
            </a:r>
            <a:endParaRPr lang="en-US" sz="1108" b="1" dirty="0">
              <a:solidFill>
                <a:sysClr val="windowText" lastClr="000000"/>
              </a:solidFill>
              <a:latin typeface="BankGothic Lt BT" pitchFamily="34" charset="0"/>
            </a:endParaRPr>
          </a:p>
        </p:txBody>
      </p:sp>
      <p:sp>
        <p:nvSpPr>
          <p:cNvPr id="84" name="Rounded Rectangle 83"/>
          <p:cNvSpPr/>
          <p:nvPr/>
        </p:nvSpPr>
        <p:spPr bwMode="auto">
          <a:xfrm>
            <a:off x="640579" y="3712007"/>
            <a:ext cx="1395046" cy="348029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 err="1">
                <a:solidFill>
                  <a:srgbClr val="000000"/>
                </a:solidFill>
                <a:latin typeface="Verdana"/>
              </a:rPr>
              <a:t>Masterplan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aprovado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88" name="Rounded Rectangle 87"/>
          <p:cNvSpPr/>
          <p:nvPr/>
        </p:nvSpPr>
        <p:spPr bwMode="auto">
          <a:xfrm>
            <a:off x="1916842" y="4989080"/>
            <a:ext cx="1376148" cy="1293632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Análise de restrições, premissas, definição de escopo preliminar, Identificação dos riscos</a:t>
            </a:r>
          </a:p>
        </p:txBody>
      </p:sp>
      <p:cxnSp>
        <p:nvCxnSpPr>
          <p:cNvPr id="117" name="Straight Arrow Connector 74"/>
          <p:cNvCxnSpPr>
            <a:cxnSpLocks noChangeShapeType="1"/>
            <a:stCxn id="84" idx="2"/>
            <a:endCxn id="48" idx="0"/>
          </p:cNvCxnSpPr>
          <p:nvPr/>
        </p:nvCxnSpPr>
        <p:spPr bwMode="auto">
          <a:xfrm flipH="1">
            <a:off x="1335036" y="4060036"/>
            <a:ext cx="3066" cy="459084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2" name="Rounded Rectangle 151"/>
          <p:cNvSpPr/>
          <p:nvPr/>
        </p:nvSpPr>
        <p:spPr bwMode="auto">
          <a:xfrm>
            <a:off x="8040773" y="4410432"/>
            <a:ext cx="856208" cy="691770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000000"/>
                </a:solidFill>
                <a:latin typeface="Verdana"/>
              </a:rPr>
              <a:t>Banco de Dados</a:t>
            </a:r>
            <a:endParaRPr lang="en-US" sz="1108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60" name="Flowchart: Document 159"/>
          <p:cNvSpPr/>
          <p:nvPr/>
        </p:nvSpPr>
        <p:spPr bwMode="auto">
          <a:xfrm>
            <a:off x="3700101" y="5747538"/>
            <a:ext cx="1054274" cy="554777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endParaRPr lang="pt-BR" sz="923" kern="0" dirty="0">
              <a:solidFill>
                <a:srgbClr val="000000"/>
              </a:solidFill>
              <a:latin typeface="Verdana"/>
            </a:endParaRPr>
          </a:p>
          <a:p>
            <a:pPr lvl="0"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Plano de Projeto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68" name="Straight Arrow Connector 74"/>
          <p:cNvCxnSpPr>
            <a:cxnSpLocks noChangeShapeType="1"/>
            <a:stCxn id="160" idx="0"/>
            <a:endCxn id="56" idx="2"/>
          </p:cNvCxnSpPr>
          <p:nvPr/>
        </p:nvCxnSpPr>
        <p:spPr bwMode="auto">
          <a:xfrm flipV="1">
            <a:off x="4227238" y="5582872"/>
            <a:ext cx="3299" cy="164667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2" name="Flowchart: Document 171"/>
          <p:cNvSpPr/>
          <p:nvPr/>
        </p:nvSpPr>
        <p:spPr bwMode="auto">
          <a:xfrm>
            <a:off x="3687503" y="3669674"/>
            <a:ext cx="1076171" cy="803554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endParaRPr lang="pt-BR" sz="923" kern="0" dirty="0">
              <a:solidFill>
                <a:srgbClr val="000000"/>
              </a:solidFill>
              <a:latin typeface="Verdana"/>
            </a:endParaRPr>
          </a:p>
          <a:p>
            <a:pPr lvl="0"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Estrutura Analítica de Projeto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77" name="Flowchart: Document 176"/>
          <p:cNvSpPr/>
          <p:nvPr/>
        </p:nvSpPr>
        <p:spPr bwMode="auto">
          <a:xfrm>
            <a:off x="3700548" y="2844511"/>
            <a:ext cx="1054274" cy="717752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endParaRPr lang="pt-BR" sz="923" kern="0" dirty="0">
              <a:solidFill>
                <a:srgbClr val="000000"/>
              </a:solidFill>
              <a:latin typeface="Verdana"/>
            </a:endParaRPr>
          </a:p>
          <a:p>
            <a:pPr lvl="0"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Cronograma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7210233" y="3804693"/>
            <a:ext cx="414703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S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182" name="Flowchart: Document 181"/>
          <p:cNvSpPr/>
          <p:nvPr/>
        </p:nvSpPr>
        <p:spPr bwMode="auto">
          <a:xfrm>
            <a:off x="4979959" y="2038253"/>
            <a:ext cx="1054274" cy="717752"/>
          </a:xfrm>
          <a:prstGeom prst="flowChartDocument">
            <a:avLst/>
          </a:prstGeom>
          <a:solidFill>
            <a:srgbClr val="FFE697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Desenhos básicos, Croqui, Fluxogramas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9" name="Flowchart: Document 68"/>
          <p:cNvSpPr/>
          <p:nvPr/>
        </p:nvSpPr>
        <p:spPr bwMode="auto">
          <a:xfrm>
            <a:off x="3703400" y="2026121"/>
            <a:ext cx="1054274" cy="717752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endParaRPr lang="pt-BR" sz="923" kern="0" dirty="0">
              <a:solidFill>
                <a:srgbClr val="000000"/>
              </a:solidFill>
              <a:latin typeface="Verdana"/>
            </a:endParaRPr>
          </a:p>
          <a:p>
            <a:pPr lvl="0"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Planilha de custo 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229" name="Elbow Connector 228"/>
          <p:cNvCxnSpPr>
            <a:stCxn id="61" idx="1"/>
            <a:endCxn id="26" idx="0"/>
          </p:cNvCxnSpPr>
          <p:nvPr/>
        </p:nvCxnSpPr>
        <p:spPr>
          <a:xfrm rot="10800000" flipV="1">
            <a:off x="7314447" y="4117888"/>
            <a:ext cx="185096" cy="89828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>
            <a:stCxn id="61" idx="3"/>
            <a:endCxn id="152" idx="0"/>
          </p:cNvCxnSpPr>
          <p:nvPr/>
        </p:nvCxnSpPr>
        <p:spPr>
          <a:xfrm>
            <a:off x="7893113" y="4117888"/>
            <a:ext cx="575765" cy="29254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771917" y="3791478"/>
            <a:ext cx="414704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N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104" name="Flowchart: Document 103"/>
          <p:cNvSpPr/>
          <p:nvPr/>
        </p:nvSpPr>
        <p:spPr bwMode="auto">
          <a:xfrm>
            <a:off x="4983255" y="2873068"/>
            <a:ext cx="1050979" cy="832391"/>
          </a:xfrm>
          <a:prstGeom prst="flowChartDocument">
            <a:avLst/>
          </a:prstGeom>
          <a:solidFill>
            <a:srgbClr val="FFE697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algn="ctr">
              <a:defRPr/>
            </a:pPr>
            <a:endParaRPr lang="pt-BR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Avaliação de Requisitos </a:t>
            </a:r>
          </a:p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SHE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8" name="Rounded Rectangle 87"/>
          <p:cNvSpPr/>
          <p:nvPr/>
        </p:nvSpPr>
        <p:spPr bwMode="auto">
          <a:xfrm>
            <a:off x="755805" y="4519120"/>
            <a:ext cx="1158462" cy="346926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Triagem</a:t>
            </a:r>
            <a:endParaRPr lang="pt-BR" sz="923" kern="0" dirty="0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1026" name="Picture 2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504" y="5127660"/>
            <a:ext cx="982703" cy="101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Conector angulado 10"/>
          <p:cNvCxnSpPr>
            <a:stCxn id="48" idx="1"/>
            <a:endCxn id="55" idx="0"/>
          </p:cNvCxnSpPr>
          <p:nvPr/>
        </p:nvCxnSpPr>
        <p:spPr>
          <a:xfrm rot="10800000" flipV="1">
            <a:off x="233718" y="4692583"/>
            <a:ext cx="522088" cy="289893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74"/>
          <p:cNvCxnSpPr>
            <a:cxnSpLocks noChangeShapeType="1"/>
            <a:stCxn id="1026" idx="3"/>
            <a:endCxn id="88" idx="1"/>
          </p:cNvCxnSpPr>
          <p:nvPr/>
        </p:nvCxnSpPr>
        <p:spPr bwMode="auto">
          <a:xfrm>
            <a:off x="1523206" y="5633202"/>
            <a:ext cx="393635" cy="2694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Conector angulado 61"/>
          <p:cNvCxnSpPr>
            <a:stCxn id="88" idx="2"/>
            <a:endCxn id="160" idx="2"/>
          </p:cNvCxnSpPr>
          <p:nvPr/>
        </p:nvCxnSpPr>
        <p:spPr>
          <a:xfrm rot="5400000" flipH="1" flipV="1">
            <a:off x="3407540" y="5463014"/>
            <a:ext cx="17073" cy="1622322"/>
          </a:xfrm>
          <a:prstGeom prst="bentConnector3">
            <a:avLst>
              <a:gd name="adj1" fmla="val -135076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4"/>
          <p:cNvCxnSpPr>
            <a:cxnSpLocks noChangeShapeType="1"/>
            <a:stCxn id="83" idx="2"/>
            <a:endCxn id="61" idx="0"/>
          </p:cNvCxnSpPr>
          <p:nvPr/>
        </p:nvCxnSpPr>
        <p:spPr bwMode="auto">
          <a:xfrm>
            <a:off x="7686834" y="3013829"/>
            <a:ext cx="9494" cy="879338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" name="Flowchart: Document 182"/>
          <p:cNvSpPr/>
          <p:nvPr/>
        </p:nvSpPr>
        <p:spPr bwMode="auto">
          <a:xfrm>
            <a:off x="7159697" y="2343530"/>
            <a:ext cx="1054274" cy="717752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Documento de Entrega do Projeto Conceitual</a:t>
            </a:r>
          </a:p>
          <a:p>
            <a:pPr lvl="0"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6" name="Flowchart: Connector 65"/>
          <p:cNvSpPr/>
          <p:nvPr/>
        </p:nvSpPr>
        <p:spPr>
          <a:xfrm>
            <a:off x="6742562" y="5697604"/>
            <a:ext cx="233555" cy="270386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97" name="Elbow Connector 228"/>
          <p:cNvCxnSpPr>
            <a:stCxn id="26" idx="6"/>
            <a:endCxn id="99" idx="0"/>
          </p:cNvCxnSpPr>
          <p:nvPr/>
        </p:nvCxnSpPr>
        <p:spPr>
          <a:xfrm>
            <a:off x="7498451" y="5171315"/>
            <a:ext cx="432487" cy="53963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Flowchart: Connector 65"/>
          <p:cNvSpPr/>
          <p:nvPr/>
        </p:nvSpPr>
        <p:spPr>
          <a:xfrm>
            <a:off x="7814161" y="5710949"/>
            <a:ext cx="233555" cy="270386"/>
          </a:xfrm>
          <a:prstGeom prst="flowChartConnector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49" name="Flowchart: Document 103"/>
          <p:cNvSpPr/>
          <p:nvPr/>
        </p:nvSpPr>
        <p:spPr bwMode="auto">
          <a:xfrm>
            <a:off x="5010548" y="3820027"/>
            <a:ext cx="1050979" cy="832391"/>
          </a:xfrm>
          <a:prstGeom prst="flowChartDocument">
            <a:avLst/>
          </a:prstGeom>
          <a:solidFill>
            <a:srgbClr val="FFE697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algn="ctr">
              <a:defRPr/>
            </a:pPr>
            <a:endParaRPr lang="pt-BR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ROI / </a:t>
            </a:r>
            <a:r>
              <a:rPr lang="pt-BR" sz="923" kern="0" dirty="0" err="1">
                <a:solidFill>
                  <a:srgbClr val="000000"/>
                </a:solidFill>
                <a:latin typeface="Verdana"/>
              </a:rPr>
              <a:t>Pay-back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0" name="Rounded Rectangle 83"/>
          <p:cNvSpPr/>
          <p:nvPr/>
        </p:nvSpPr>
        <p:spPr bwMode="auto">
          <a:xfrm>
            <a:off x="6118513" y="5326454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“C1/C2”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1" name="Rounded Rectangle 83"/>
          <p:cNvSpPr/>
          <p:nvPr/>
        </p:nvSpPr>
        <p:spPr bwMode="auto">
          <a:xfrm>
            <a:off x="7816913" y="5351573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“C”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5" name="Losango 153"/>
          <p:cNvSpPr/>
          <p:nvPr/>
        </p:nvSpPr>
        <p:spPr>
          <a:xfrm>
            <a:off x="36932" y="4982477"/>
            <a:ext cx="393570" cy="4494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1</a:t>
            </a:r>
          </a:p>
        </p:txBody>
      </p:sp>
      <p:cxnSp>
        <p:nvCxnSpPr>
          <p:cNvPr id="58" name="Conector angulado 10"/>
          <p:cNvCxnSpPr>
            <a:stCxn id="55" idx="2"/>
            <a:endCxn id="1026" idx="1"/>
          </p:cNvCxnSpPr>
          <p:nvPr/>
        </p:nvCxnSpPr>
        <p:spPr>
          <a:xfrm rot="16200000" flipH="1">
            <a:off x="286468" y="5379165"/>
            <a:ext cx="201285" cy="30678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Losango 153"/>
          <p:cNvSpPr/>
          <p:nvPr/>
        </p:nvSpPr>
        <p:spPr>
          <a:xfrm>
            <a:off x="7499542" y="3893168"/>
            <a:ext cx="393570" cy="4494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3</a:t>
            </a:r>
          </a:p>
        </p:txBody>
      </p:sp>
      <p:sp>
        <p:nvSpPr>
          <p:cNvPr id="68" name="Flowchart: Document 67"/>
          <p:cNvSpPr/>
          <p:nvPr/>
        </p:nvSpPr>
        <p:spPr bwMode="auto">
          <a:xfrm>
            <a:off x="4402573" y="1274162"/>
            <a:ext cx="1054274" cy="717752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Matriz de Classificação </a:t>
            </a:r>
          </a:p>
          <a:p>
            <a:pPr lvl="0"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74" name="Straight Connector 73"/>
          <p:cNvCxnSpPr/>
          <p:nvPr/>
        </p:nvCxnSpPr>
        <p:spPr>
          <a:xfrm>
            <a:off x="4316200" y="4975744"/>
            <a:ext cx="1718033" cy="13336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83"/>
          <p:cNvSpPr/>
          <p:nvPr/>
        </p:nvSpPr>
        <p:spPr bwMode="auto">
          <a:xfrm>
            <a:off x="5556784" y="4993897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b="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b="1" kern="0" dirty="0">
                <a:solidFill>
                  <a:srgbClr val="000000"/>
                </a:solidFill>
                <a:latin typeface="Verdana"/>
              </a:rPr>
              <a:t> 1</a:t>
            </a:r>
            <a:endParaRPr lang="en-US" sz="923" b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8" name="Rounded Rectangle 83"/>
          <p:cNvSpPr/>
          <p:nvPr/>
        </p:nvSpPr>
        <p:spPr bwMode="auto">
          <a:xfrm>
            <a:off x="5554693" y="4718381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b="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b="1" kern="0" dirty="0">
                <a:solidFill>
                  <a:srgbClr val="000000"/>
                </a:solidFill>
                <a:latin typeface="Verdana"/>
              </a:rPr>
              <a:t> 2</a:t>
            </a:r>
            <a:endParaRPr lang="en-US" sz="923" b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325857" y="1223769"/>
            <a:ext cx="2934015" cy="3468727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56" name="Losango 153"/>
          <p:cNvSpPr/>
          <p:nvPr/>
        </p:nvSpPr>
        <p:spPr>
          <a:xfrm>
            <a:off x="4033752" y="5133432"/>
            <a:ext cx="393570" cy="4494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2</a:t>
            </a:r>
            <a:endParaRPr lang="pt-BR" sz="1846" dirty="0"/>
          </a:p>
        </p:txBody>
      </p:sp>
      <p:sp>
        <p:nvSpPr>
          <p:cNvPr id="60" name="TextBox 59"/>
          <p:cNvSpPr txBox="1"/>
          <p:nvPr/>
        </p:nvSpPr>
        <p:spPr>
          <a:xfrm>
            <a:off x="2497508" y="2318868"/>
            <a:ext cx="1009650" cy="3906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844083">
              <a:defRPr/>
            </a:pPr>
            <a:r>
              <a:rPr lang="en-US" sz="969" kern="0" dirty="0" err="1">
                <a:solidFill>
                  <a:srgbClr val="000000"/>
                </a:solidFill>
              </a:rPr>
              <a:t>Projeto</a:t>
            </a:r>
            <a:r>
              <a:rPr lang="en-US" sz="969" kern="0" dirty="0">
                <a:solidFill>
                  <a:srgbClr val="000000"/>
                </a:solidFill>
              </a:rPr>
              <a:t> </a:t>
            </a:r>
          </a:p>
          <a:p>
            <a:pPr defTabSz="844083">
              <a:defRPr/>
            </a:pPr>
            <a:r>
              <a:rPr lang="en-US" sz="969" kern="0" dirty="0" err="1">
                <a:solidFill>
                  <a:srgbClr val="000000"/>
                </a:solidFill>
              </a:rPr>
              <a:t>Conceitual</a:t>
            </a:r>
            <a:endParaRPr lang="en-US" sz="969" kern="0" dirty="0">
              <a:solidFill>
                <a:srgbClr val="000000"/>
              </a:solidFill>
            </a:endParaRPr>
          </a:p>
        </p:txBody>
      </p:sp>
      <p:cxnSp>
        <p:nvCxnSpPr>
          <p:cNvPr id="64" name="Conector angulado 10"/>
          <p:cNvCxnSpPr>
            <a:stCxn id="56" idx="3"/>
            <a:endCxn id="23" idx="2"/>
          </p:cNvCxnSpPr>
          <p:nvPr/>
        </p:nvCxnSpPr>
        <p:spPr>
          <a:xfrm flipV="1">
            <a:off x="4427323" y="4692497"/>
            <a:ext cx="365542" cy="66565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angulado 10"/>
          <p:cNvCxnSpPr>
            <a:stCxn id="56" idx="1"/>
            <a:endCxn id="88" idx="0"/>
          </p:cNvCxnSpPr>
          <p:nvPr/>
        </p:nvCxnSpPr>
        <p:spPr>
          <a:xfrm rot="10800000">
            <a:off x="2604916" y="4989081"/>
            <a:ext cx="1428836" cy="369073"/>
          </a:xfrm>
          <a:prstGeom prst="bentConnector4">
            <a:avLst>
              <a:gd name="adj1" fmla="val 32094"/>
              <a:gd name="adj2" fmla="val 15034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angulado 10"/>
          <p:cNvCxnSpPr>
            <a:stCxn id="23" idx="0"/>
            <a:endCxn id="83" idx="0"/>
          </p:cNvCxnSpPr>
          <p:nvPr/>
        </p:nvCxnSpPr>
        <p:spPr>
          <a:xfrm rot="16200000" flipH="1">
            <a:off x="5679969" y="336665"/>
            <a:ext cx="1119760" cy="2893969"/>
          </a:xfrm>
          <a:prstGeom prst="bentConnector3">
            <a:avLst>
              <a:gd name="adj1" fmla="val -1209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301038" y="5081988"/>
            <a:ext cx="414703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S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700102" y="5057826"/>
            <a:ext cx="414704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N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26" name="Flowchart: Or 25"/>
          <p:cNvSpPr/>
          <p:nvPr/>
        </p:nvSpPr>
        <p:spPr>
          <a:xfrm>
            <a:off x="7130441" y="5016176"/>
            <a:ext cx="368010" cy="310278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85" name="Elbow Connector 84"/>
          <p:cNvCxnSpPr>
            <a:stCxn id="26" idx="2"/>
            <a:endCxn id="96" idx="0"/>
          </p:cNvCxnSpPr>
          <p:nvPr/>
        </p:nvCxnSpPr>
        <p:spPr>
          <a:xfrm rot="10800000" flipV="1">
            <a:off x="6859341" y="5171315"/>
            <a:ext cx="271101" cy="52628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46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845152" y="6184340"/>
            <a:ext cx="403200" cy="337038"/>
          </a:xfrm>
        </p:spPr>
        <p:txBody>
          <a:bodyPr/>
          <a:lstStyle/>
          <a:p>
            <a:fld id="{6A4173AE-3680-47B5-9E93-A14B3F8736D1}" type="slidenum">
              <a:rPr lang="en-US" smtClean="0"/>
              <a:t>12</a:t>
            </a:fld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97752" y="339376"/>
            <a:ext cx="2981932" cy="592085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8" b="1" dirty="0">
                <a:solidFill>
                  <a:sysClr val="windowText" lastClr="000000"/>
                </a:solidFill>
                <a:latin typeface="BankGothic Lt BT" pitchFamily="34" charset="0"/>
              </a:rPr>
              <a:t>Fluxograma (Preparação): Fase 2 Plano Engenharia Fase 3 Projeto detalhado </a:t>
            </a:r>
          </a:p>
          <a:p>
            <a:pPr algn="ctr"/>
            <a:r>
              <a:rPr lang="pt-BR" sz="1108" b="1" dirty="0">
                <a:solidFill>
                  <a:sysClr val="windowText" lastClr="000000"/>
                </a:solidFill>
                <a:latin typeface="BankGothic Lt BT" pitchFamily="34" charset="0"/>
              </a:rPr>
              <a:t>“ C”</a:t>
            </a:r>
            <a:endParaRPr lang="en-US" sz="1108" b="1" dirty="0">
              <a:solidFill>
                <a:sysClr val="windowText" lastClr="000000"/>
              </a:solidFill>
              <a:latin typeface="BankGothic Lt BT" pitchFamily="34" charset="0"/>
            </a:endParaRPr>
          </a:p>
        </p:txBody>
      </p:sp>
      <p:sp>
        <p:nvSpPr>
          <p:cNvPr id="65" name="Rounded Rectangle 64"/>
          <p:cNvSpPr/>
          <p:nvPr/>
        </p:nvSpPr>
        <p:spPr bwMode="auto">
          <a:xfrm>
            <a:off x="217441" y="3268184"/>
            <a:ext cx="1811215" cy="399671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Revisão </a:t>
            </a:r>
            <a:r>
              <a:rPr lang="pt-BR" sz="923" kern="0" dirty="0" err="1">
                <a:solidFill>
                  <a:srgbClr val="000000"/>
                </a:solidFill>
                <a:latin typeface="Verdana"/>
              </a:rPr>
              <a:t>P</a:t>
            </a:r>
            <a:r>
              <a:rPr lang="pt-BR" sz="923" kern="0" dirty="0" err="1">
                <a:solidFill>
                  <a:srgbClr val="000000"/>
                </a:solidFill>
                <a:latin typeface="Verdana"/>
              </a:rPr>
              <a:t>ré</a:t>
            </a:r>
            <a:r>
              <a:rPr lang="pt-BR" sz="923" kern="0" dirty="0">
                <a:solidFill>
                  <a:srgbClr val="000000"/>
                </a:solidFill>
                <a:latin typeface="Verdana"/>
              </a:rPr>
              <a:t> - projeto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8" name="Flowchart: Connector 97"/>
          <p:cNvSpPr/>
          <p:nvPr/>
        </p:nvSpPr>
        <p:spPr>
          <a:xfrm>
            <a:off x="1014399" y="1951370"/>
            <a:ext cx="233555" cy="270386"/>
          </a:xfrm>
          <a:prstGeom prst="flowChartConnector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99" name="Straight Arrow Connector 74"/>
          <p:cNvCxnSpPr>
            <a:cxnSpLocks noChangeShapeType="1"/>
            <a:stCxn id="98" idx="4"/>
          </p:cNvCxnSpPr>
          <p:nvPr/>
        </p:nvCxnSpPr>
        <p:spPr bwMode="auto">
          <a:xfrm>
            <a:off x="1131176" y="2221756"/>
            <a:ext cx="0" cy="297330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0" name="Rounded Rectangle 69"/>
          <p:cNvSpPr/>
          <p:nvPr/>
        </p:nvSpPr>
        <p:spPr bwMode="auto">
          <a:xfrm>
            <a:off x="211326" y="2498817"/>
            <a:ext cx="1811215" cy="358417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“Pré-Projeto</a:t>
            </a:r>
          </a:p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classificado e aprovado”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89" name="Straight Arrow Connector 74"/>
          <p:cNvCxnSpPr>
            <a:cxnSpLocks noChangeShapeType="1"/>
            <a:stCxn id="70" idx="2"/>
            <a:endCxn id="65" idx="0"/>
          </p:cNvCxnSpPr>
          <p:nvPr/>
        </p:nvCxnSpPr>
        <p:spPr bwMode="auto">
          <a:xfrm>
            <a:off x="1116934" y="2857233"/>
            <a:ext cx="6115" cy="410950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Rounded Rectangle 65"/>
          <p:cNvSpPr/>
          <p:nvPr/>
        </p:nvSpPr>
        <p:spPr bwMode="auto">
          <a:xfrm>
            <a:off x="519499" y="4056762"/>
            <a:ext cx="1198159" cy="538505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Aprovação Partes Interessadas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20" name="Flowchart: Document 101"/>
          <p:cNvSpPr/>
          <p:nvPr/>
        </p:nvSpPr>
        <p:spPr bwMode="auto">
          <a:xfrm>
            <a:off x="3992562" y="5709492"/>
            <a:ext cx="882839" cy="663277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endParaRPr lang="pt-BR" sz="923" kern="0" dirty="0">
              <a:solidFill>
                <a:srgbClr val="000000"/>
              </a:solidFill>
              <a:latin typeface="Verdana"/>
            </a:endParaRPr>
          </a:p>
          <a:p>
            <a:pPr lvl="0"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Carta Convite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24" name="Rounded Rectangle 64"/>
          <p:cNvSpPr/>
          <p:nvPr/>
        </p:nvSpPr>
        <p:spPr bwMode="auto">
          <a:xfrm>
            <a:off x="2628636" y="5549439"/>
            <a:ext cx="1811215" cy="26083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“Licitação Execução”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31" name="Flowchart: Multidocument 5"/>
          <p:cNvSpPr/>
          <p:nvPr/>
        </p:nvSpPr>
        <p:spPr>
          <a:xfrm>
            <a:off x="4270206" y="4604883"/>
            <a:ext cx="1027076" cy="735854"/>
          </a:xfrm>
          <a:prstGeom prst="flowChartMultidocument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23" dirty="0">
                <a:solidFill>
                  <a:schemeClr val="tx1"/>
                </a:solidFill>
                <a:latin typeface="Verdana" pitchFamily="34" charset="0"/>
              </a:rPr>
              <a:t>3 orçamentos</a:t>
            </a:r>
            <a:endParaRPr lang="en-US" sz="923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133" name="Flowchart: Multidocument 91"/>
          <p:cNvSpPr/>
          <p:nvPr/>
        </p:nvSpPr>
        <p:spPr>
          <a:xfrm>
            <a:off x="4187888" y="3644129"/>
            <a:ext cx="1063601" cy="822741"/>
          </a:xfrm>
          <a:prstGeom prst="flowChartMultidocument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23" dirty="0">
                <a:solidFill>
                  <a:schemeClr val="tx1"/>
                </a:solidFill>
                <a:latin typeface="Verdana" pitchFamily="34" charset="0"/>
              </a:rPr>
              <a:t>Pedido de compra / Contrato</a:t>
            </a:r>
            <a:endParaRPr lang="en-US" sz="923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135" name="Rounded Rectangle 76"/>
          <p:cNvSpPr/>
          <p:nvPr/>
        </p:nvSpPr>
        <p:spPr bwMode="auto">
          <a:xfrm>
            <a:off x="2978380" y="2298555"/>
            <a:ext cx="1164860" cy="26083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Execução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36" name="Flowchart: Document 117"/>
          <p:cNvSpPr/>
          <p:nvPr/>
        </p:nvSpPr>
        <p:spPr bwMode="auto">
          <a:xfrm>
            <a:off x="4332361" y="1716163"/>
            <a:ext cx="982398" cy="583698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Relatório de </a:t>
            </a:r>
            <a:r>
              <a:rPr lang="pt-BR" sz="923" kern="0" dirty="0" err="1">
                <a:solidFill>
                  <a:srgbClr val="000000"/>
                </a:solidFill>
                <a:latin typeface="Verdana"/>
              </a:rPr>
              <a:t>acompanha-mento</a:t>
            </a:r>
            <a:r>
              <a:rPr lang="pt-BR" sz="923" kern="0" dirty="0">
                <a:solidFill>
                  <a:srgbClr val="000000"/>
                </a:solidFill>
                <a:latin typeface="Verdana"/>
              </a:rPr>
              <a:t> 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48" name="Rounded Rectangle 139"/>
          <p:cNvSpPr/>
          <p:nvPr/>
        </p:nvSpPr>
        <p:spPr bwMode="auto">
          <a:xfrm>
            <a:off x="7372722" y="2210994"/>
            <a:ext cx="1052311" cy="41644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Entrega do projeto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52" name="Rounded Rectangle 142"/>
          <p:cNvSpPr/>
          <p:nvPr/>
        </p:nvSpPr>
        <p:spPr bwMode="auto">
          <a:xfrm>
            <a:off x="7470512" y="3699758"/>
            <a:ext cx="856208" cy="691770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000000"/>
                </a:solidFill>
                <a:latin typeface="Verdana"/>
              </a:rPr>
              <a:t>Banco de Dados</a:t>
            </a:r>
            <a:endParaRPr lang="en-US" sz="1108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91" name="Flowchart: Document 140"/>
          <p:cNvSpPr/>
          <p:nvPr/>
        </p:nvSpPr>
        <p:spPr bwMode="auto">
          <a:xfrm>
            <a:off x="8125440" y="2590233"/>
            <a:ext cx="954259" cy="439059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Doc. Entrega Projeto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91" name="TextBox 114"/>
          <p:cNvSpPr txBox="1"/>
          <p:nvPr/>
        </p:nvSpPr>
        <p:spPr>
          <a:xfrm>
            <a:off x="4792457" y="5184462"/>
            <a:ext cx="1009650" cy="5397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844083">
              <a:defRPr/>
            </a:pPr>
            <a:r>
              <a:rPr lang="en-US" sz="969" kern="0" dirty="0">
                <a:solidFill>
                  <a:srgbClr val="000000"/>
                </a:solidFill>
              </a:rPr>
              <a:t>(</a:t>
            </a:r>
            <a:r>
              <a:rPr lang="en-US" sz="969" kern="0" dirty="0" err="1">
                <a:solidFill>
                  <a:srgbClr val="000000"/>
                </a:solidFill>
              </a:rPr>
              <a:t>Lista</a:t>
            </a:r>
            <a:r>
              <a:rPr lang="en-US" sz="969" kern="0" dirty="0">
                <a:solidFill>
                  <a:srgbClr val="000000"/>
                </a:solidFill>
              </a:rPr>
              <a:t> de </a:t>
            </a:r>
            <a:r>
              <a:rPr lang="en-US" sz="969" kern="0" dirty="0" err="1">
                <a:solidFill>
                  <a:srgbClr val="000000"/>
                </a:solidFill>
              </a:rPr>
              <a:t>fornecedores</a:t>
            </a:r>
            <a:r>
              <a:rPr lang="en-US" sz="969" kern="0" dirty="0">
                <a:solidFill>
                  <a:srgbClr val="000000"/>
                </a:solidFill>
              </a:rPr>
              <a:t> </a:t>
            </a:r>
            <a:r>
              <a:rPr lang="en-US" sz="969" kern="0" dirty="0" err="1">
                <a:solidFill>
                  <a:srgbClr val="000000"/>
                </a:solidFill>
              </a:rPr>
              <a:t>homologados</a:t>
            </a:r>
            <a:r>
              <a:rPr lang="en-US" sz="969" kern="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78" name="Flowchart: Multidocument 91"/>
          <p:cNvSpPr/>
          <p:nvPr/>
        </p:nvSpPr>
        <p:spPr>
          <a:xfrm>
            <a:off x="1541031" y="4312905"/>
            <a:ext cx="363530" cy="435045"/>
          </a:xfrm>
          <a:prstGeom prst="flowChartMultidocument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3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117" name="Rounded Rectangle 84"/>
          <p:cNvSpPr/>
          <p:nvPr/>
        </p:nvSpPr>
        <p:spPr bwMode="auto">
          <a:xfrm>
            <a:off x="579504" y="5493103"/>
            <a:ext cx="1087762" cy="371260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Liberação de Verba</a:t>
            </a:r>
          </a:p>
          <a:p>
            <a:pPr algn="ctr" defTabSz="844083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18" name="Straight Arrow Connector 74"/>
          <p:cNvCxnSpPr>
            <a:cxnSpLocks noChangeShapeType="1"/>
            <a:stCxn id="65" idx="2"/>
            <a:endCxn id="110" idx="0"/>
          </p:cNvCxnSpPr>
          <p:nvPr/>
        </p:nvCxnSpPr>
        <p:spPr bwMode="auto">
          <a:xfrm flipH="1">
            <a:off x="1118579" y="3667855"/>
            <a:ext cx="4470" cy="388908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2" name="Straight Arrow Connector 74"/>
          <p:cNvCxnSpPr>
            <a:cxnSpLocks noChangeShapeType="1"/>
            <a:stCxn id="110" idx="2"/>
            <a:endCxn id="117" idx="0"/>
          </p:cNvCxnSpPr>
          <p:nvPr/>
        </p:nvCxnSpPr>
        <p:spPr bwMode="auto">
          <a:xfrm>
            <a:off x="1118579" y="4595267"/>
            <a:ext cx="4806" cy="897836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Straight Arrow Connector 74"/>
          <p:cNvCxnSpPr>
            <a:cxnSpLocks noChangeShapeType="1"/>
            <a:stCxn id="117" idx="3"/>
            <a:endCxn id="124" idx="1"/>
          </p:cNvCxnSpPr>
          <p:nvPr/>
        </p:nvCxnSpPr>
        <p:spPr bwMode="auto">
          <a:xfrm>
            <a:off x="1667266" y="5678734"/>
            <a:ext cx="961371" cy="1125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4" name="Rounded Rectangle 84"/>
          <p:cNvSpPr/>
          <p:nvPr/>
        </p:nvSpPr>
        <p:spPr bwMode="auto">
          <a:xfrm>
            <a:off x="2632913" y="4599309"/>
            <a:ext cx="1811215" cy="26083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Requisição de compras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37" name="Rounded Rectangle 76"/>
          <p:cNvSpPr/>
          <p:nvPr/>
        </p:nvSpPr>
        <p:spPr bwMode="auto">
          <a:xfrm>
            <a:off x="2650059" y="3583236"/>
            <a:ext cx="1811215" cy="26083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Negociação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40" name="Straight Arrow Connector 74"/>
          <p:cNvCxnSpPr>
            <a:cxnSpLocks noChangeShapeType="1"/>
            <a:stCxn id="124" idx="0"/>
            <a:endCxn id="134" idx="2"/>
          </p:cNvCxnSpPr>
          <p:nvPr/>
        </p:nvCxnSpPr>
        <p:spPr bwMode="auto">
          <a:xfrm flipV="1">
            <a:off x="3534244" y="4860147"/>
            <a:ext cx="4277" cy="689292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Straight Arrow Connector 74"/>
          <p:cNvCxnSpPr>
            <a:cxnSpLocks noChangeShapeType="1"/>
            <a:stCxn id="134" idx="0"/>
            <a:endCxn id="137" idx="2"/>
          </p:cNvCxnSpPr>
          <p:nvPr/>
        </p:nvCxnSpPr>
        <p:spPr bwMode="auto">
          <a:xfrm flipV="1">
            <a:off x="3538521" y="3844074"/>
            <a:ext cx="17146" cy="755235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Straight Arrow Connector 74"/>
          <p:cNvCxnSpPr>
            <a:cxnSpLocks noChangeShapeType="1"/>
            <a:stCxn id="137" idx="0"/>
            <a:endCxn id="135" idx="2"/>
          </p:cNvCxnSpPr>
          <p:nvPr/>
        </p:nvCxnSpPr>
        <p:spPr bwMode="auto">
          <a:xfrm flipV="1">
            <a:off x="3555667" y="2559393"/>
            <a:ext cx="5143" cy="1023842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Straight Arrow Connector 74"/>
          <p:cNvCxnSpPr>
            <a:cxnSpLocks noChangeShapeType="1"/>
            <a:stCxn id="135" idx="3"/>
            <a:endCxn id="148" idx="1"/>
          </p:cNvCxnSpPr>
          <p:nvPr/>
        </p:nvCxnSpPr>
        <p:spPr bwMode="auto">
          <a:xfrm flipV="1">
            <a:off x="4143240" y="2419218"/>
            <a:ext cx="3229482" cy="9757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" name="Straight Arrow Connector 74"/>
          <p:cNvCxnSpPr>
            <a:cxnSpLocks noChangeShapeType="1"/>
            <a:stCxn id="148" idx="2"/>
            <a:endCxn id="152" idx="0"/>
          </p:cNvCxnSpPr>
          <p:nvPr/>
        </p:nvCxnSpPr>
        <p:spPr bwMode="auto">
          <a:xfrm flipH="1">
            <a:off x="7898617" y="2627442"/>
            <a:ext cx="261" cy="1072316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1" name="Flowchart: Connector 97"/>
          <p:cNvSpPr/>
          <p:nvPr/>
        </p:nvSpPr>
        <p:spPr>
          <a:xfrm>
            <a:off x="1016148" y="6237576"/>
            <a:ext cx="233555" cy="270386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162" name="Straight Arrow Connector 74"/>
          <p:cNvCxnSpPr>
            <a:cxnSpLocks noChangeShapeType="1"/>
            <a:stCxn id="161" idx="0"/>
            <a:endCxn id="117" idx="2"/>
          </p:cNvCxnSpPr>
          <p:nvPr/>
        </p:nvCxnSpPr>
        <p:spPr bwMode="auto">
          <a:xfrm flipH="1" flipV="1">
            <a:off x="1123385" y="5864363"/>
            <a:ext cx="9541" cy="373213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Rounded Rectangle 83"/>
          <p:cNvSpPr/>
          <p:nvPr/>
        </p:nvSpPr>
        <p:spPr bwMode="auto">
          <a:xfrm>
            <a:off x="347651" y="1898460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“C”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08904" y="4972809"/>
            <a:ext cx="1713637" cy="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83"/>
          <p:cNvSpPr/>
          <p:nvPr/>
        </p:nvSpPr>
        <p:spPr bwMode="auto">
          <a:xfrm>
            <a:off x="138575" y="4702829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b="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b="1" kern="0" dirty="0">
                <a:solidFill>
                  <a:srgbClr val="000000"/>
                </a:solidFill>
                <a:latin typeface="Verdana"/>
              </a:rPr>
              <a:t> 2</a:t>
            </a:r>
            <a:endParaRPr lang="en-US" sz="923" b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2" name="Rounded Rectangle 83"/>
          <p:cNvSpPr/>
          <p:nvPr/>
        </p:nvSpPr>
        <p:spPr bwMode="auto">
          <a:xfrm>
            <a:off x="140672" y="4944291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b="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b="1" kern="0" dirty="0">
                <a:solidFill>
                  <a:srgbClr val="000000"/>
                </a:solidFill>
                <a:latin typeface="Verdana"/>
              </a:rPr>
              <a:t> 3</a:t>
            </a:r>
            <a:endParaRPr lang="en-US" sz="923" b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3" name="Rounded Rectangle 142"/>
          <p:cNvSpPr/>
          <p:nvPr/>
        </p:nvSpPr>
        <p:spPr bwMode="auto">
          <a:xfrm>
            <a:off x="7490537" y="5352287"/>
            <a:ext cx="856208" cy="354095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000000"/>
                </a:solidFill>
                <a:latin typeface="Verdana"/>
              </a:rPr>
              <a:t>A.P.P</a:t>
            </a:r>
            <a:endParaRPr lang="en-US" sz="1108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54" name="Straight Connector 53"/>
          <p:cNvCxnSpPr/>
          <p:nvPr/>
        </p:nvCxnSpPr>
        <p:spPr>
          <a:xfrm flipV="1">
            <a:off x="7122855" y="1822873"/>
            <a:ext cx="0" cy="1206418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83"/>
          <p:cNvSpPr/>
          <p:nvPr/>
        </p:nvSpPr>
        <p:spPr bwMode="auto">
          <a:xfrm>
            <a:off x="3180085" y="1773929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b="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b="1" kern="0" dirty="0">
                <a:solidFill>
                  <a:srgbClr val="000000"/>
                </a:solidFill>
                <a:latin typeface="Verdana"/>
              </a:rPr>
              <a:t> 5</a:t>
            </a:r>
            <a:endParaRPr lang="en-US" sz="923" b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7" name="Rounded Rectangle 83"/>
          <p:cNvSpPr/>
          <p:nvPr/>
        </p:nvSpPr>
        <p:spPr bwMode="auto">
          <a:xfrm>
            <a:off x="2597655" y="4125314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b="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b="1" kern="0" dirty="0">
                <a:solidFill>
                  <a:srgbClr val="000000"/>
                </a:solidFill>
                <a:latin typeface="Verdana"/>
              </a:rPr>
              <a:t> 4</a:t>
            </a:r>
            <a:endParaRPr lang="en-US" sz="923" b="1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58" name="Straight Arrow Connector 57"/>
          <p:cNvCxnSpPr>
            <a:stCxn id="152" idx="2"/>
            <a:endCxn id="53" idx="0"/>
          </p:cNvCxnSpPr>
          <p:nvPr/>
        </p:nvCxnSpPr>
        <p:spPr>
          <a:xfrm>
            <a:off x="7898616" y="4391529"/>
            <a:ext cx="20025" cy="96075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lowchart: Document 117"/>
          <p:cNvSpPr/>
          <p:nvPr/>
        </p:nvSpPr>
        <p:spPr bwMode="auto">
          <a:xfrm>
            <a:off x="5462810" y="1718361"/>
            <a:ext cx="982398" cy="401850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r>
              <a:rPr lang="pt-BR" sz="923" kern="0" dirty="0" err="1">
                <a:solidFill>
                  <a:srgbClr val="000000"/>
                </a:solidFill>
                <a:latin typeface="Verdana"/>
              </a:rPr>
              <a:t>KPI´s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4" name="Rounded Rectangle 83"/>
          <p:cNvSpPr/>
          <p:nvPr/>
        </p:nvSpPr>
        <p:spPr bwMode="auto">
          <a:xfrm>
            <a:off x="7565271" y="1722696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b="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b="1" kern="0" dirty="0">
                <a:solidFill>
                  <a:srgbClr val="000000"/>
                </a:solidFill>
                <a:latin typeface="Verdana"/>
              </a:rPr>
              <a:t> 6</a:t>
            </a:r>
            <a:endParaRPr lang="en-US" sz="923" b="1" kern="0" dirty="0">
              <a:solidFill>
                <a:srgbClr val="000000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7921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845152" y="6184340"/>
            <a:ext cx="403200" cy="337038"/>
          </a:xfrm>
        </p:spPr>
        <p:txBody>
          <a:bodyPr/>
          <a:lstStyle/>
          <a:p>
            <a:fld id="{6A4173AE-3680-47B5-9E93-A14B3F8736D1}" type="slidenum">
              <a:rPr lang="en-US" smtClean="0"/>
              <a:t>13</a:t>
            </a:fld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94399" y="309341"/>
            <a:ext cx="1789601" cy="648188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8" b="1" dirty="0">
                <a:solidFill>
                  <a:sysClr val="windowText" lastClr="000000"/>
                </a:solidFill>
                <a:latin typeface="BankGothic Lt BT" pitchFamily="34" charset="0"/>
              </a:rPr>
              <a:t>Fluxograma (Fase 2 e 3) </a:t>
            </a:r>
          </a:p>
          <a:p>
            <a:r>
              <a:rPr lang="pt-BR" sz="1108" b="1" dirty="0">
                <a:solidFill>
                  <a:sysClr val="windowText" lastClr="000000"/>
                </a:solidFill>
                <a:latin typeface="BankGothic Lt BT" pitchFamily="34" charset="0"/>
              </a:rPr>
              <a:t>“Concepção e Execução Projetos C1/C2”</a:t>
            </a:r>
            <a:endParaRPr lang="en-US" sz="1108" b="1" dirty="0">
              <a:solidFill>
                <a:sysClr val="windowText" lastClr="000000"/>
              </a:solidFill>
              <a:latin typeface="BankGothic Lt BT" pitchFamily="34" charset="0"/>
            </a:endParaRPr>
          </a:p>
        </p:txBody>
      </p:sp>
      <p:sp>
        <p:nvSpPr>
          <p:cNvPr id="6" name="Flowchart: Multidocument 5"/>
          <p:cNvSpPr/>
          <p:nvPr/>
        </p:nvSpPr>
        <p:spPr>
          <a:xfrm>
            <a:off x="461805" y="5135925"/>
            <a:ext cx="1171314" cy="870091"/>
          </a:xfrm>
          <a:prstGeom prst="flowChartMultidocument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23" dirty="0">
                <a:solidFill>
                  <a:schemeClr val="tx1"/>
                </a:solidFill>
                <a:latin typeface="Verdana" pitchFamily="34" charset="0"/>
              </a:rPr>
              <a:t>3 orçamentos</a:t>
            </a:r>
            <a:endParaRPr lang="en-US" sz="923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65" name="Rounded Rectangle 64"/>
          <p:cNvSpPr/>
          <p:nvPr/>
        </p:nvSpPr>
        <p:spPr bwMode="auto">
          <a:xfrm>
            <a:off x="217441" y="3230389"/>
            <a:ext cx="1811215" cy="399671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“Licitação Projeto Executivo”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7" name="Rounded Rectangle 76"/>
          <p:cNvSpPr/>
          <p:nvPr/>
        </p:nvSpPr>
        <p:spPr bwMode="auto">
          <a:xfrm>
            <a:off x="2064466" y="6127479"/>
            <a:ext cx="1811215" cy="26083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Negociação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2" name="Flowchart: Multidocument 91"/>
          <p:cNvSpPr/>
          <p:nvPr/>
        </p:nvSpPr>
        <p:spPr>
          <a:xfrm>
            <a:off x="2470533" y="5079120"/>
            <a:ext cx="1171314" cy="870091"/>
          </a:xfrm>
          <a:prstGeom prst="flowChartMultidocument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23" dirty="0">
                <a:solidFill>
                  <a:schemeClr val="tx1"/>
                </a:solidFill>
                <a:latin typeface="Verdana" pitchFamily="34" charset="0"/>
              </a:rPr>
              <a:t>Pedido de compra / Contrato</a:t>
            </a:r>
            <a:endParaRPr lang="en-US" sz="923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98" name="Flowchart: Connector 97"/>
          <p:cNvSpPr/>
          <p:nvPr/>
        </p:nvSpPr>
        <p:spPr>
          <a:xfrm>
            <a:off x="1014399" y="1951370"/>
            <a:ext cx="233555" cy="270386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99" name="Straight Arrow Connector 74"/>
          <p:cNvCxnSpPr>
            <a:cxnSpLocks noChangeShapeType="1"/>
            <a:stCxn id="98" idx="4"/>
          </p:cNvCxnSpPr>
          <p:nvPr/>
        </p:nvCxnSpPr>
        <p:spPr bwMode="auto">
          <a:xfrm>
            <a:off x="1131176" y="2221756"/>
            <a:ext cx="0" cy="297330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0" name="Rounded Rectangle 69"/>
          <p:cNvSpPr/>
          <p:nvPr/>
        </p:nvSpPr>
        <p:spPr bwMode="auto">
          <a:xfrm>
            <a:off x="211326" y="2498817"/>
            <a:ext cx="1811215" cy="358417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“Pré-Projeto</a:t>
            </a:r>
          </a:p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classificado e aprovado”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89" name="Straight Arrow Connector 74"/>
          <p:cNvCxnSpPr>
            <a:cxnSpLocks noChangeShapeType="1"/>
            <a:stCxn id="70" idx="2"/>
            <a:endCxn id="65" idx="0"/>
          </p:cNvCxnSpPr>
          <p:nvPr/>
        </p:nvCxnSpPr>
        <p:spPr bwMode="auto">
          <a:xfrm>
            <a:off x="1116934" y="2857233"/>
            <a:ext cx="6115" cy="373156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Rounded Rectangle 65"/>
          <p:cNvSpPr/>
          <p:nvPr/>
        </p:nvSpPr>
        <p:spPr bwMode="auto">
          <a:xfrm>
            <a:off x="2532699" y="4258374"/>
            <a:ext cx="1198159" cy="538505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Execução </a:t>
            </a:r>
          </a:p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“Projeto Executivo”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96" name="Straight Arrow Connector 74"/>
          <p:cNvCxnSpPr>
            <a:cxnSpLocks noChangeShapeType="1"/>
            <a:stCxn id="65" idx="2"/>
            <a:endCxn id="104" idx="0"/>
          </p:cNvCxnSpPr>
          <p:nvPr/>
        </p:nvCxnSpPr>
        <p:spPr bwMode="auto">
          <a:xfrm>
            <a:off x="1123049" y="3630060"/>
            <a:ext cx="4995" cy="315131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Rounded Rectangle 84"/>
          <p:cNvSpPr/>
          <p:nvPr/>
        </p:nvSpPr>
        <p:spPr bwMode="auto">
          <a:xfrm>
            <a:off x="222436" y="3945192"/>
            <a:ext cx="1811215" cy="26083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Requisição de compras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23" name="Conector angulado 22"/>
          <p:cNvCxnSpPr>
            <a:stCxn id="6" idx="2"/>
            <a:endCxn id="77" idx="1"/>
          </p:cNvCxnSpPr>
          <p:nvPr/>
        </p:nvCxnSpPr>
        <p:spPr>
          <a:xfrm rot="16200000" flipH="1">
            <a:off x="1372821" y="5566254"/>
            <a:ext cx="284834" cy="109845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angulado 105"/>
          <p:cNvCxnSpPr>
            <a:stCxn id="77" idx="0"/>
            <a:endCxn id="92" idx="2"/>
          </p:cNvCxnSpPr>
          <p:nvPr/>
        </p:nvCxnSpPr>
        <p:spPr>
          <a:xfrm rot="5400000" flipH="1" flipV="1">
            <a:off x="2866798" y="6019537"/>
            <a:ext cx="211219" cy="466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74"/>
          <p:cNvCxnSpPr>
            <a:cxnSpLocks noChangeShapeType="1"/>
            <a:stCxn id="92" idx="0"/>
            <a:endCxn id="66" idx="2"/>
          </p:cNvCxnSpPr>
          <p:nvPr/>
        </p:nvCxnSpPr>
        <p:spPr bwMode="auto">
          <a:xfrm flipH="1" flipV="1">
            <a:off x="3131778" y="4796879"/>
            <a:ext cx="4994" cy="282240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Rounded Rectangle 65"/>
          <p:cNvSpPr/>
          <p:nvPr/>
        </p:nvSpPr>
        <p:spPr bwMode="auto">
          <a:xfrm>
            <a:off x="2520926" y="3335611"/>
            <a:ext cx="1198159" cy="538505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Validação</a:t>
            </a:r>
          </a:p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Partes Interessadas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12" name="Straight Arrow Connector 74"/>
          <p:cNvCxnSpPr>
            <a:cxnSpLocks noChangeShapeType="1"/>
            <a:stCxn id="66" idx="0"/>
            <a:endCxn id="110" idx="2"/>
          </p:cNvCxnSpPr>
          <p:nvPr/>
        </p:nvCxnSpPr>
        <p:spPr bwMode="auto">
          <a:xfrm flipH="1" flipV="1">
            <a:off x="3120006" y="3874116"/>
            <a:ext cx="11773" cy="384258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6" name="Straight Arrow Connector 74"/>
          <p:cNvCxnSpPr>
            <a:cxnSpLocks noChangeShapeType="1"/>
            <a:stCxn id="110" idx="0"/>
            <a:endCxn id="76" idx="2"/>
          </p:cNvCxnSpPr>
          <p:nvPr/>
        </p:nvCxnSpPr>
        <p:spPr bwMode="auto">
          <a:xfrm flipV="1">
            <a:off x="3120006" y="3107674"/>
            <a:ext cx="5886" cy="227937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0" name="Flowchart: Document 101"/>
          <p:cNvSpPr/>
          <p:nvPr/>
        </p:nvSpPr>
        <p:spPr bwMode="auto">
          <a:xfrm>
            <a:off x="2457935" y="1575166"/>
            <a:ext cx="1350768" cy="533207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endParaRPr lang="pt-BR" sz="923" kern="0" dirty="0">
              <a:solidFill>
                <a:srgbClr val="000000"/>
              </a:solidFill>
              <a:latin typeface="Verdana"/>
            </a:endParaRPr>
          </a:p>
          <a:p>
            <a:pPr lvl="0"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Carta Convite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21" name="Straight Arrow Connector 74"/>
          <p:cNvCxnSpPr>
            <a:cxnSpLocks noChangeShapeType="1"/>
            <a:stCxn id="76" idx="0"/>
            <a:endCxn id="120" idx="2"/>
          </p:cNvCxnSpPr>
          <p:nvPr/>
        </p:nvCxnSpPr>
        <p:spPr bwMode="auto">
          <a:xfrm flipV="1">
            <a:off x="3125892" y="2073122"/>
            <a:ext cx="7427" cy="640349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Rounded Rectangle 64"/>
          <p:cNvSpPr/>
          <p:nvPr/>
        </p:nvSpPr>
        <p:spPr bwMode="auto">
          <a:xfrm>
            <a:off x="2229266" y="1080862"/>
            <a:ext cx="1811215" cy="26083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“Licitação Execução”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26" name="Straight Arrow Connector 74"/>
          <p:cNvCxnSpPr>
            <a:cxnSpLocks noChangeShapeType="1"/>
            <a:stCxn id="120" idx="0"/>
            <a:endCxn id="124" idx="2"/>
          </p:cNvCxnSpPr>
          <p:nvPr/>
        </p:nvCxnSpPr>
        <p:spPr bwMode="auto">
          <a:xfrm flipV="1">
            <a:off x="3133319" y="1341700"/>
            <a:ext cx="1554" cy="233466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9" name="Rounded Rectangle 84"/>
          <p:cNvSpPr/>
          <p:nvPr/>
        </p:nvSpPr>
        <p:spPr bwMode="auto">
          <a:xfrm>
            <a:off x="4533031" y="1080862"/>
            <a:ext cx="1811215" cy="26083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Requisição de compras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31" name="Flowchart: Multidocument 5"/>
          <p:cNvSpPr/>
          <p:nvPr/>
        </p:nvSpPr>
        <p:spPr>
          <a:xfrm>
            <a:off x="4772401" y="2000744"/>
            <a:ext cx="1171314" cy="870091"/>
          </a:xfrm>
          <a:prstGeom prst="flowChartMultidocument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23" dirty="0">
                <a:solidFill>
                  <a:schemeClr val="tx1"/>
                </a:solidFill>
                <a:latin typeface="Verdana" pitchFamily="34" charset="0"/>
              </a:rPr>
              <a:t>3 orçamentos</a:t>
            </a:r>
            <a:endParaRPr lang="en-US" sz="923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132" name="Rounded Rectangle 76"/>
          <p:cNvSpPr/>
          <p:nvPr/>
        </p:nvSpPr>
        <p:spPr bwMode="auto">
          <a:xfrm>
            <a:off x="4376861" y="3035332"/>
            <a:ext cx="1811215" cy="26083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Negociação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33" name="Flowchart: Multidocument 91"/>
          <p:cNvSpPr/>
          <p:nvPr/>
        </p:nvSpPr>
        <p:spPr>
          <a:xfrm>
            <a:off x="4622267" y="3476865"/>
            <a:ext cx="1171314" cy="870091"/>
          </a:xfrm>
          <a:prstGeom prst="flowChartMultidocument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23" dirty="0">
                <a:solidFill>
                  <a:schemeClr val="tx1"/>
                </a:solidFill>
                <a:latin typeface="Verdana" pitchFamily="34" charset="0"/>
              </a:rPr>
              <a:t>Pedido de compra / Contrato</a:t>
            </a:r>
            <a:endParaRPr lang="en-US" sz="923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135" name="Rounded Rectangle 76"/>
          <p:cNvSpPr/>
          <p:nvPr/>
        </p:nvSpPr>
        <p:spPr bwMode="auto">
          <a:xfrm>
            <a:off x="4225683" y="4502431"/>
            <a:ext cx="1811215" cy="26083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Execução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36" name="Flowchart: Document 117"/>
          <p:cNvSpPr/>
          <p:nvPr/>
        </p:nvSpPr>
        <p:spPr bwMode="auto">
          <a:xfrm>
            <a:off x="5899687" y="3938172"/>
            <a:ext cx="982398" cy="583698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Relatório de </a:t>
            </a:r>
            <a:r>
              <a:rPr lang="pt-BR" sz="923" kern="0" dirty="0" err="1">
                <a:solidFill>
                  <a:srgbClr val="000000"/>
                </a:solidFill>
                <a:latin typeface="Verdana"/>
              </a:rPr>
              <a:t>acompanha-mento</a:t>
            </a:r>
            <a:r>
              <a:rPr lang="pt-BR" sz="923" kern="0" dirty="0">
                <a:solidFill>
                  <a:srgbClr val="000000"/>
                </a:solidFill>
                <a:latin typeface="Verdana"/>
              </a:rPr>
              <a:t> 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48" name="Rounded Rectangle 139"/>
          <p:cNvSpPr/>
          <p:nvPr/>
        </p:nvSpPr>
        <p:spPr bwMode="auto">
          <a:xfrm>
            <a:off x="7367518" y="3590875"/>
            <a:ext cx="1052311" cy="41644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Entrega do projeto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51" name="Rounded Rectangle 141"/>
          <p:cNvSpPr/>
          <p:nvPr/>
        </p:nvSpPr>
        <p:spPr bwMode="auto">
          <a:xfrm>
            <a:off x="7218291" y="4526106"/>
            <a:ext cx="1350768" cy="266914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Comissionamento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52" name="Rounded Rectangle 142"/>
          <p:cNvSpPr/>
          <p:nvPr/>
        </p:nvSpPr>
        <p:spPr bwMode="auto">
          <a:xfrm>
            <a:off x="7465571" y="2006358"/>
            <a:ext cx="856208" cy="691770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000000"/>
                </a:solidFill>
                <a:latin typeface="Verdana"/>
              </a:rPr>
              <a:t>Banco de Dados</a:t>
            </a:r>
            <a:endParaRPr lang="en-US" sz="1108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74" name="Conector angulado 173"/>
          <p:cNvCxnSpPr>
            <a:stCxn id="135" idx="2"/>
            <a:endCxn id="151" idx="2"/>
          </p:cNvCxnSpPr>
          <p:nvPr/>
        </p:nvCxnSpPr>
        <p:spPr>
          <a:xfrm rot="16200000" flipH="1">
            <a:off x="6497607" y="3396952"/>
            <a:ext cx="29751" cy="2762384"/>
          </a:xfrm>
          <a:prstGeom prst="bentConnector3">
            <a:avLst>
              <a:gd name="adj1" fmla="val 254542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Flowchart: Document 140"/>
          <p:cNvSpPr/>
          <p:nvPr/>
        </p:nvSpPr>
        <p:spPr bwMode="auto">
          <a:xfrm>
            <a:off x="8151947" y="3945913"/>
            <a:ext cx="954259" cy="439059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Doc. Entrega Projeto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203" name="Straight Arrow Connector 74"/>
          <p:cNvCxnSpPr>
            <a:cxnSpLocks noChangeShapeType="1"/>
            <a:stCxn id="124" idx="3"/>
            <a:endCxn id="129" idx="1"/>
          </p:cNvCxnSpPr>
          <p:nvPr/>
        </p:nvCxnSpPr>
        <p:spPr bwMode="auto">
          <a:xfrm>
            <a:off x="4040482" y="1211281"/>
            <a:ext cx="492549" cy="0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9" name="Straight Arrow Connector 74"/>
          <p:cNvCxnSpPr>
            <a:cxnSpLocks noChangeShapeType="1"/>
            <a:stCxn id="131" idx="2"/>
            <a:endCxn id="132" idx="0"/>
          </p:cNvCxnSpPr>
          <p:nvPr/>
        </p:nvCxnSpPr>
        <p:spPr bwMode="auto">
          <a:xfrm>
            <a:off x="5276608" y="2837884"/>
            <a:ext cx="5861" cy="197448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4" name="Straight Arrow Connector 74"/>
          <p:cNvCxnSpPr>
            <a:cxnSpLocks noChangeShapeType="1"/>
            <a:stCxn id="132" idx="2"/>
            <a:endCxn id="133" idx="0"/>
          </p:cNvCxnSpPr>
          <p:nvPr/>
        </p:nvCxnSpPr>
        <p:spPr bwMode="auto">
          <a:xfrm>
            <a:off x="5282469" y="3296170"/>
            <a:ext cx="6038" cy="180694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7" name="Straight Arrow Connector 74"/>
          <p:cNvCxnSpPr>
            <a:cxnSpLocks noChangeShapeType="1"/>
            <a:stCxn id="133" idx="2"/>
            <a:endCxn id="135" idx="0"/>
          </p:cNvCxnSpPr>
          <p:nvPr/>
        </p:nvCxnSpPr>
        <p:spPr bwMode="auto">
          <a:xfrm>
            <a:off x="5126474" y="4314005"/>
            <a:ext cx="4817" cy="188426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0" name="Flowchart: Multidocument 91"/>
          <p:cNvSpPr/>
          <p:nvPr/>
        </p:nvSpPr>
        <p:spPr>
          <a:xfrm>
            <a:off x="3549093" y="4485515"/>
            <a:ext cx="363530" cy="435045"/>
          </a:xfrm>
          <a:prstGeom prst="flowChartMultidocument">
            <a:avLst/>
          </a:prstGeom>
          <a:solidFill>
            <a:srgbClr val="FFC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3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259" name="Flowchart: Connector 136"/>
          <p:cNvSpPr/>
          <p:nvPr/>
        </p:nvSpPr>
        <p:spPr>
          <a:xfrm>
            <a:off x="1947689" y="4386358"/>
            <a:ext cx="233555" cy="270386"/>
          </a:xfrm>
          <a:prstGeom prst="flowChartConnector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260" name="Straight Arrow Connector 74"/>
          <p:cNvCxnSpPr>
            <a:cxnSpLocks noChangeShapeType="1"/>
            <a:stCxn id="259" idx="6"/>
            <a:endCxn id="66" idx="1"/>
          </p:cNvCxnSpPr>
          <p:nvPr/>
        </p:nvCxnSpPr>
        <p:spPr bwMode="auto">
          <a:xfrm>
            <a:off x="2181244" y="4521551"/>
            <a:ext cx="351455" cy="6076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5" name="Flowchart: Document 140"/>
          <p:cNvSpPr/>
          <p:nvPr/>
        </p:nvSpPr>
        <p:spPr bwMode="auto">
          <a:xfrm>
            <a:off x="8141865" y="4769793"/>
            <a:ext cx="929977" cy="473128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r>
              <a:rPr lang="pt-BR" sz="923" kern="0" dirty="0" err="1">
                <a:solidFill>
                  <a:srgbClr val="000000"/>
                </a:solidFill>
                <a:latin typeface="Verdana"/>
              </a:rPr>
              <a:t>Check-list</a:t>
            </a:r>
            <a:r>
              <a:rPr lang="pt-BR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pt-BR" sz="923" kern="0" dirty="0" err="1">
                <a:solidFill>
                  <a:srgbClr val="000000"/>
                </a:solidFill>
                <a:latin typeface="Verdana"/>
              </a:rPr>
              <a:t>Pré</a:t>
            </a:r>
            <a:r>
              <a:rPr lang="pt-BR" sz="923" kern="0" dirty="0">
                <a:solidFill>
                  <a:srgbClr val="000000"/>
                </a:solidFill>
                <a:latin typeface="Verdana"/>
              </a:rPr>
              <a:t>-partida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286" name="Straight Arrow Connector 74"/>
          <p:cNvCxnSpPr>
            <a:cxnSpLocks noChangeShapeType="1"/>
            <a:stCxn id="151" idx="0"/>
            <a:endCxn id="148" idx="2"/>
          </p:cNvCxnSpPr>
          <p:nvPr/>
        </p:nvCxnSpPr>
        <p:spPr bwMode="auto">
          <a:xfrm flipH="1" flipV="1">
            <a:off x="7893674" y="4007323"/>
            <a:ext cx="1" cy="518782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8" name="Straight Arrow Connector 74"/>
          <p:cNvCxnSpPr>
            <a:cxnSpLocks noChangeShapeType="1"/>
            <a:stCxn id="148" idx="0"/>
            <a:endCxn id="80" idx="2"/>
          </p:cNvCxnSpPr>
          <p:nvPr/>
        </p:nvCxnSpPr>
        <p:spPr bwMode="auto">
          <a:xfrm flipV="1">
            <a:off x="7893674" y="3367291"/>
            <a:ext cx="0" cy="223585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9" name="TextBox 114"/>
          <p:cNvSpPr txBox="1"/>
          <p:nvPr/>
        </p:nvSpPr>
        <p:spPr>
          <a:xfrm>
            <a:off x="3370004" y="2687827"/>
            <a:ext cx="1009650" cy="5397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844083">
              <a:defRPr/>
            </a:pPr>
            <a:r>
              <a:rPr lang="pt-BR" sz="969" kern="0" dirty="0">
                <a:solidFill>
                  <a:srgbClr val="000000"/>
                </a:solidFill>
              </a:rPr>
              <a:t>Aprovação Diretoria / Solicitante</a:t>
            </a:r>
            <a:endParaRPr lang="en-US" sz="969" kern="0" dirty="0">
              <a:solidFill>
                <a:srgbClr val="000000"/>
              </a:solidFill>
            </a:endParaRPr>
          </a:p>
        </p:txBody>
      </p:sp>
      <p:cxnSp>
        <p:nvCxnSpPr>
          <p:cNvPr id="290" name="Straight Arrow Connector 74"/>
          <p:cNvCxnSpPr>
            <a:cxnSpLocks noChangeShapeType="1"/>
            <a:stCxn id="76" idx="1"/>
            <a:endCxn id="294" idx="6"/>
          </p:cNvCxnSpPr>
          <p:nvPr/>
        </p:nvCxnSpPr>
        <p:spPr bwMode="auto">
          <a:xfrm flipH="1" flipV="1">
            <a:off x="2544316" y="2904792"/>
            <a:ext cx="375082" cy="5781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1" name="TextBox 114"/>
          <p:cNvSpPr txBox="1"/>
          <p:nvPr/>
        </p:nvSpPr>
        <p:spPr>
          <a:xfrm>
            <a:off x="6036898" y="1894795"/>
            <a:ext cx="1009650" cy="5397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844083">
              <a:defRPr/>
            </a:pPr>
            <a:r>
              <a:rPr lang="en-US" sz="969" kern="0" dirty="0">
                <a:solidFill>
                  <a:srgbClr val="000000"/>
                </a:solidFill>
              </a:rPr>
              <a:t>(</a:t>
            </a:r>
            <a:r>
              <a:rPr lang="en-US" sz="969" kern="0" dirty="0" err="1">
                <a:solidFill>
                  <a:srgbClr val="000000"/>
                </a:solidFill>
              </a:rPr>
              <a:t>Lista</a:t>
            </a:r>
            <a:r>
              <a:rPr lang="en-US" sz="969" kern="0" dirty="0">
                <a:solidFill>
                  <a:srgbClr val="000000"/>
                </a:solidFill>
              </a:rPr>
              <a:t> de </a:t>
            </a:r>
            <a:r>
              <a:rPr lang="en-US" sz="969" kern="0" dirty="0" err="1">
                <a:solidFill>
                  <a:srgbClr val="000000"/>
                </a:solidFill>
              </a:rPr>
              <a:t>fornecedores</a:t>
            </a:r>
            <a:r>
              <a:rPr lang="en-US" sz="969" kern="0" dirty="0">
                <a:solidFill>
                  <a:srgbClr val="000000"/>
                </a:solidFill>
              </a:rPr>
              <a:t> </a:t>
            </a:r>
            <a:r>
              <a:rPr lang="en-US" sz="969" kern="0" dirty="0" err="1">
                <a:solidFill>
                  <a:srgbClr val="000000"/>
                </a:solidFill>
              </a:rPr>
              <a:t>homologados</a:t>
            </a:r>
            <a:r>
              <a:rPr lang="en-US" sz="969" kern="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292" name="TextBox 114"/>
          <p:cNvSpPr txBox="1"/>
          <p:nvPr/>
        </p:nvSpPr>
        <p:spPr>
          <a:xfrm>
            <a:off x="-20451" y="5891746"/>
            <a:ext cx="1009650" cy="68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44083">
              <a:defRPr/>
            </a:pPr>
            <a:endParaRPr lang="en-US" sz="969" kern="0" dirty="0">
              <a:solidFill>
                <a:srgbClr val="000000"/>
              </a:solidFill>
            </a:endParaRPr>
          </a:p>
          <a:p>
            <a:pPr defTabSz="844083">
              <a:defRPr/>
            </a:pPr>
            <a:r>
              <a:rPr lang="en-US" sz="969" kern="0" dirty="0">
                <a:solidFill>
                  <a:srgbClr val="000000"/>
                </a:solidFill>
              </a:rPr>
              <a:t>(</a:t>
            </a:r>
            <a:r>
              <a:rPr lang="en-US" sz="969" kern="0" dirty="0" err="1">
                <a:solidFill>
                  <a:srgbClr val="000000"/>
                </a:solidFill>
              </a:rPr>
              <a:t>Lista</a:t>
            </a:r>
            <a:r>
              <a:rPr lang="en-US" sz="969" kern="0" dirty="0">
                <a:solidFill>
                  <a:srgbClr val="000000"/>
                </a:solidFill>
              </a:rPr>
              <a:t> de </a:t>
            </a:r>
            <a:r>
              <a:rPr lang="en-US" sz="969" kern="0" dirty="0" err="1">
                <a:solidFill>
                  <a:srgbClr val="000000"/>
                </a:solidFill>
              </a:rPr>
              <a:t>fornecedores</a:t>
            </a:r>
            <a:r>
              <a:rPr lang="en-US" sz="969" kern="0" dirty="0">
                <a:solidFill>
                  <a:srgbClr val="000000"/>
                </a:solidFill>
              </a:rPr>
              <a:t> </a:t>
            </a:r>
            <a:r>
              <a:rPr lang="en-US" sz="969" kern="0" dirty="0" err="1">
                <a:solidFill>
                  <a:srgbClr val="000000"/>
                </a:solidFill>
              </a:rPr>
              <a:t>homologados</a:t>
            </a:r>
            <a:r>
              <a:rPr lang="en-US" sz="969" kern="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294" name="Flowchart: Connector 136"/>
          <p:cNvSpPr/>
          <p:nvPr/>
        </p:nvSpPr>
        <p:spPr>
          <a:xfrm>
            <a:off x="2310761" y="2769598"/>
            <a:ext cx="233555" cy="270386"/>
          </a:xfrm>
          <a:prstGeom prst="flowChartConnector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95" name="Flowchart: Connector 136"/>
          <p:cNvSpPr/>
          <p:nvPr/>
        </p:nvSpPr>
        <p:spPr>
          <a:xfrm>
            <a:off x="8629075" y="2213477"/>
            <a:ext cx="233555" cy="270386"/>
          </a:xfrm>
          <a:prstGeom prst="flowChartConnector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296" name="Straight Arrow Connector 74"/>
          <p:cNvCxnSpPr>
            <a:cxnSpLocks noChangeShapeType="1"/>
            <a:stCxn id="295" idx="2"/>
            <a:endCxn id="152" idx="3"/>
          </p:cNvCxnSpPr>
          <p:nvPr/>
        </p:nvCxnSpPr>
        <p:spPr bwMode="auto">
          <a:xfrm flipH="1">
            <a:off x="8321779" y="2348670"/>
            <a:ext cx="307297" cy="3573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7" name="TextBox 188"/>
          <p:cNvSpPr txBox="1"/>
          <p:nvPr/>
        </p:nvSpPr>
        <p:spPr>
          <a:xfrm>
            <a:off x="3061867" y="2476813"/>
            <a:ext cx="414703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S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298" name="TextBox 189"/>
          <p:cNvSpPr txBox="1"/>
          <p:nvPr/>
        </p:nvSpPr>
        <p:spPr>
          <a:xfrm>
            <a:off x="2587448" y="2872329"/>
            <a:ext cx="414703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N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74" name="Flowchart: Document 101"/>
          <p:cNvSpPr/>
          <p:nvPr/>
        </p:nvSpPr>
        <p:spPr bwMode="auto">
          <a:xfrm>
            <a:off x="1536949" y="3503048"/>
            <a:ext cx="808062" cy="345873"/>
          </a:xfrm>
          <a:prstGeom prst="flowChartDocumen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lvl="0"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Carta Convite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5" name="Rounded Rectangle 83"/>
          <p:cNvSpPr/>
          <p:nvPr/>
        </p:nvSpPr>
        <p:spPr bwMode="auto">
          <a:xfrm>
            <a:off x="351772" y="1894795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“C1/C2”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6" name="Losango 159"/>
          <p:cNvSpPr/>
          <p:nvPr/>
        </p:nvSpPr>
        <p:spPr>
          <a:xfrm>
            <a:off x="2919398" y="2713470"/>
            <a:ext cx="412988" cy="3942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4</a:t>
            </a:r>
          </a:p>
        </p:txBody>
      </p:sp>
      <p:sp>
        <p:nvSpPr>
          <p:cNvPr id="80" name="Losango 159"/>
          <p:cNvSpPr/>
          <p:nvPr/>
        </p:nvSpPr>
        <p:spPr>
          <a:xfrm>
            <a:off x="7687180" y="2973087"/>
            <a:ext cx="412988" cy="3942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5</a:t>
            </a:r>
          </a:p>
        </p:txBody>
      </p:sp>
      <p:cxnSp>
        <p:nvCxnSpPr>
          <p:cNvPr id="82" name="Straight Arrow Connector 74"/>
          <p:cNvCxnSpPr>
            <a:cxnSpLocks noChangeShapeType="1"/>
            <a:stCxn id="80" idx="0"/>
            <a:endCxn id="152" idx="2"/>
          </p:cNvCxnSpPr>
          <p:nvPr/>
        </p:nvCxnSpPr>
        <p:spPr bwMode="auto">
          <a:xfrm flipV="1">
            <a:off x="7893674" y="2698128"/>
            <a:ext cx="1" cy="274959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" name="Conector angulado 173"/>
          <p:cNvCxnSpPr>
            <a:stCxn id="80" idx="1"/>
            <a:endCxn id="135" idx="3"/>
          </p:cNvCxnSpPr>
          <p:nvPr/>
        </p:nvCxnSpPr>
        <p:spPr>
          <a:xfrm rot="10800000" flipV="1">
            <a:off x="6036899" y="3170188"/>
            <a:ext cx="1650282" cy="1462662"/>
          </a:xfrm>
          <a:prstGeom prst="bentConnector3">
            <a:avLst>
              <a:gd name="adj1" fmla="val 3778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188"/>
          <p:cNvSpPr txBox="1"/>
          <p:nvPr/>
        </p:nvSpPr>
        <p:spPr>
          <a:xfrm>
            <a:off x="7934513" y="2802440"/>
            <a:ext cx="414703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S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91" name="TextBox 189"/>
          <p:cNvSpPr txBox="1"/>
          <p:nvPr/>
        </p:nvSpPr>
        <p:spPr>
          <a:xfrm>
            <a:off x="7344273" y="2894912"/>
            <a:ext cx="414703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N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93" name="Diamond 118"/>
          <p:cNvSpPr/>
          <p:nvPr/>
        </p:nvSpPr>
        <p:spPr bwMode="auto">
          <a:xfrm>
            <a:off x="5268248" y="1492635"/>
            <a:ext cx="348762" cy="341434"/>
          </a:xfrm>
          <a:prstGeom prst="diamond">
            <a:avLst/>
          </a:prstGeom>
          <a:solidFill>
            <a:srgbClr val="AAAAFF"/>
          </a:solidFill>
          <a:ln w="25400" cap="flat" cmpd="sng" algn="ctr">
            <a:solidFill>
              <a:srgbClr val="AAAAFF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  <a:extLst/>
        </p:spPr>
        <p:txBody>
          <a:bodyPr/>
          <a:lstStyle/>
          <a:p>
            <a:pPr defTabSz="844083">
              <a:defRPr/>
            </a:pPr>
            <a:endParaRPr lang="en-US" sz="1662" ker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94" name="Diamond 118"/>
          <p:cNvSpPr/>
          <p:nvPr/>
        </p:nvSpPr>
        <p:spPr bwMode="auto">
          <a:xfrm>
            <a:off x="956795" y="4390564"/>
            <a:ext cx="348762" cy="341434"/>
          </a:xfrm>
          <a:prstGeom prst="diamond">
            <a:avLst/>
          </a:prstGeom>
          <a:solidFill>
            <a:srgbClr val="AAAAFF"/>
          </a:solidFill>
          <a:ln w="25400" cap="flat" cmpd="sng" algn="ctr">
            <a:solidFill>
              <a:srgbClr val="AAAAFF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  <a:extLst/>
        </p:spPr>
        <p:txBody>
          <a:bodyPr/>
          <a:lstStyle/>
          <a:p>
            <a:pPr defTabSz="844083">
              <a:defRPr/>
            </a:pPr>
            <a:endParaRPr lang="en-US" sz="1662" kern="0">
              <a:solidFill>
                <a:srgbClr val="FFFFFF"/>
              </a:solidFill>
              <a:latin typeface="Times New Roman" pitchFamily="18" charset="0"/>
            </a:endParaRPr>
          </a:p>
        </p:txBody>
      </p:sp>
      <p:cxnSp>
        <p:nvCxnSpPr>
          <p:cNvPr id="95" name="Straight Arrow Connector 74"/>
          <p:cNvCxnSpPr>
            <a:cxnSpLocks noChangeShapeType="1"/>
            <a:stCxn id="104" idx="2"/>
            <a:endCxn id="94" idx="0"/>
          </p:cNvCxnSpPr>
          <p:nvPr/>
        </p:nvCxnSpPr>
        <p:spPr bwMode="auto">
          <a:xfrm>
            <a:off x="1128043" y="4206030"/>
            <a:ext cx="3133" cy="184534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Straight Arrow Connector 74"/>
          <p:cNvCxnSpPr>
            <a:cxnSpLocks noChangeShapeType="1"/>
            <a:stCxn id="94" idx="2"/>
            <a:endCxn id="6" idx="0"/>
          </p:cNvCxnSpPr>
          <p:nvPr/>
        </p:nvCxnSpPr>
        <p:spPr bwMode="auto">
          <a:xfrm flipH="1">
            <a:off x="1128043" y="4731999"/>
            <a:ext cx="3133" cy="403926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Straight Arrow Connector 74"/>
          <p:cNvCxnSpPr>
            <a:cxnSpLocks noChangeShapeType="1"/>
            <a:stCxn id="129" idx="2"/>
            <a:endCxn id="93" idx="0"/>
          </p:cNvCxnSpPr>
          <p:nvPr/>
        </p:nvCxnSpPr>
        <p:spPr bwMode="auto">
          <a:xfrm>
            <a:off x="5438639" y="1341700"/>
            <a:ext cx="3990" cy="150935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Straight Arrow Connector 74"/>
          <p:cNvCxnSpPr>
            <a:cxnSpLocks noChangeShapeType="1"/>
            <a:stCxn id="93" idx="2"/>
            <a:endCxn id="131" idx="0"/>
          </p:cNvCxnSpPr>
          <p:nvPr/>
        </p:nvCxnSpPr>
        <p:spPr bwMode="auto">
          <a:xfrm flipH="1">
            <a:off x="5438640" y="1834069"/>
            <a:ext cx="3989" cy="166674"/>
          </a:xfrm>
          <a:prstGeom prst="straightConnector1">
            <a:avLst/>
          </a:prstGeom>
          <a:noFill/>
          <a:ln w="12700" algn="ctr">
            <a:solidFill>
              <a:srgbClr val="000000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Conector angulado 173"/>
          <p:cNvCxnSpPr>
            <a:stCxn id="93" idx="3"/>
            <a:endCxn id="129" idx="3"/>
          </p:cNvCxnSpPr>
          <p:nvPr/>
        </p:nvCxnSpPr>
        <p:spPr>
          <a:xfrm flipV="1">
            <a:off x="5617009" y="1211281"/>
            <a:ext cx="727237" cy="452071"/>
          </a:xfrm>
          <a:prstGeom prst="bentConnector3">
            <a:avLst>
              <a:gd name="adj1" fmla="val 12901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angulado 173"/>
          <p:cNvCxnSpPr>
            <a:stCxn id="94" idx="1"/>
            <a:endCxn id="104" idx="1"/>
          </p:cNvCxnSpPr>
          <p:nvPr/>
        </p:nvCxnSpPr>
        <p:spPr>
          <a:xfrm rot="10800000">
            <a:off x="222436" y="4075612"/>
            <a:ext cx="734359" cy="485670"/>
          </a:xfrm>
          <a:prstGeom prst="bentConnector3">
            <a:avLst>
              <a:gd name="adj1" fmla="val 12358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89"/>
          <p:cNvSpPr txBox="1"/>
          <p:nvPr/>
        </p:nvSpPr>
        <p:spPr>
          <a:xfrm>
            <a:off x="623573" y="4348048"/>
            <a:ext cx="414703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N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115" name="TextBox 188"/>
          <p:cNvSpPr txBox="1"/>
          <p:nvPr/>
        </p:nvSpPr>
        <p:spPr>
          <a:xfrm>
            <a:off x="1048504" y="4670644"/>
            <a:ext cx="414703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S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117" name="TextBox 189"/>
          <p:cNvSpPr txBox="1"/>
          <p:nvPr/>
        </p:nvSpPr>
        <p:spPr>
          <a:xfrm>
            <a:off x="5692103" y="1439353"/>
            <a:ext cx="414703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N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118" name="TextBox 188"/>
          <p:cNvSpPr txBox="1"/>
          <p:nvPr/>
        </p:nvSpPr>
        <p:spPr>
          <a:xfrm>
            <a:off x="5060896" y="1721533"/>
            <a:ext cx="414703" cy="2628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DADAD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S</a:t>
            </a:r>
            <a:endParaRPr lang="en-US" sz="1108" kern="0" dirty="0">
              <a:solidFill>
                <a:srgbClr val="DADADA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cxnSp>
        <p:nvCxnSpPr>
          <p:cNvPr id="125" name="Straight Connector 124"/>
          <p:cNvCxnSpPr/>
          <p:nvPr/>
        </p:nvCxnSpPr>
        <p:spPr>
          <a:xfrm>
            <a:off x="2114859" y="2421662"/>
            <a:ext cx="1604226" cy="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83"/>
          <p:cNvSpPr/>
          <p:nvPr/>
        </p:nvSpPr>
        <p:spPr bwMode="auto">
          <a:xfrm>
            <a:off x="1944529" y="2151682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b="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b="1" kern="0" dirty="0">
                <a:solidFill>
                  <a:srgbClr val="000000"/>
                </a:solidFill>
                <a:latin typeface="Verdana"/>
              </a:rPr>
              <a:t> 3</a:t>
            </a:r>
            <a:endParaRPr lang="en-US" sz="923" b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28" name="Rounded Rectangle 83"/>
          <p:cNvSpPr/>
          <p:nvPr/>
        </p:nvSpPr>
        <p:spPr bwMode="auto">
          <a:xfrm>
            <a:off x="1946627" y="2393144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b="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b="1" kern="0" dirty="0">
                <a:solidFill>
                  <a:srgbClr val="000000"/>
                </a:solidFill>
                <a:latin typeface="Verdana"/>
              </a:rPr>
              <a:t> 2</a:t>
            </a:r>
            <a:endParaRPr lang="en-US" sz="923" b="1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34" name="Straight Arrow Connector 33"/>
          <p:cNvCxnSpPr>
            <a:stCxn id="152" idx="0"/>
            <a:endCxn id="130" idx="2"/>
          </p:cNvCxnSpPr>
          <p:nvPr/>
        </p:nvCxnSpPr>
        <p:spPr>
          <a:xfrm flipH="1" flipV="1">
            <a:off x="7893674" y="1481625"/>
            <a:ext cx="1" cy="524732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42"/>
          <p:cNvSpPr/>
          <p:nvPr/>
        </p:nvSpPr>
        <p:spPr bwMode="auto">
          <a:xfrm>
            <a:off x="7465570" y="1127531"/>
            <a:ext cx="856208" cy="354095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defTabSz="844083">
              <a:defRPr/>
            </a:pPr>
            <a:r>
              <a:rPr lang="pt-BR" sz="1108" kern="0" dirty="0">
                <a:solidFill>
                  <a:srgbClr val="000000"/>
                </a:solidFill>
                <a:latin typeface="Verdana"/>
              </a:rPr>
              <a:t>A.P.P</a:t>
            </a:r>
            <a:endParaRPr lang="en-US" sz="1108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34" name="Straight Connector 133"/>
          <p:cNvCxnSpPr/>
          <p:nvPr/>
        </p:nvCxnSpPr>
        <p:spPr>
          <a:xfrm>
            <a:off x="6350292" y="5079119"/>
            <a:ext cx="1791573" cy="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ounded Rectangle 83"/>
          <p:cNvSpPr/>
          <p:nvPr/>
        </p:nvSpPr>
        <p:spPr bwMode="auto">
          <a:xfrm>
            <a:off x="6179962" y="4809139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b="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b="1" kern="0" dirty="0">
                <a:solidFill>
                  <a:srgbClr val="000000"/>
                </a:solidFill>
                <a:latin typeface="Verdana"/>
              </a:rPr>
              <a:t> 5</a:t>
            </a:r>
            <a:endParaRPr lang="en-US" sz="923" b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40" name="Rounded Rectangle 83"/>
          <p:cNvSpPr/>
          <p:nvPr/>
        </p:nvSpPr>
        <p:spPr bwMode="auto">
          <a:xfrm>
            <a:off x="6182059" y="5050601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b="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b="1" kern="0" dirty="0">
                <a:solidFill>
                  <a:srgbClr val="000000"/>
                </a:solidFill>
                <a:latin typeface="Verdana"/>
              </a:rPr>
              <a:t> 4</a:t>
            </a:r>
            <a:endParaRPr lang="en-US" sz="923" b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83" name="Rounded Rectangle 83"/>
          <p:cNvSpPr/>
          <p:nvPr/>
        </p:nvSpPr>
        <p:spPr bwMode="auto">
          <a:xfrm>
            <a:off x="190672" y="2855512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b="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b="1" kern="0" dirty="0">
                <a:solidFill>
                  <a:srgbClr val="000000"/>
                </a:solidFill>
                <a:latin typeface="Verdana"/>
              </a:rPr>
              <a:t> 1</a:t>
            </a:r>
            <a:endParaRPr lang="en-US" sz="923" b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84" name="Rounded Rectangle 83"/>
          <p:cNvSpPr/>
          <p:nvPr/>
        </p:nvSpPr>
        <p:spPr bwMode="auto">
          <a:xfrm>
            <a:off x="3860819" y="3764041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b="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b="1" kern="0" dirty="0">
                <a:solidFill>
                  <a:srgbClr val="000000"/>
                </a:solidFill>
                <a:latin typeface="Verdana"/>
              </a:rPr>
              <a:t> 4</a:t>
            </a:r>
            <a:endParaRPr lang="en-US" sz="923" b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86" name="Rounded Rectangle 83"/>
          <p:cNvSpPr/>
          <p:nvPr/>
        </p:nvSpPr>
        <p:spPr bwMode="auto">
          <a:xfrm>
            <a:off x="8451318" y="3447520"/>
            <a:ext cx="636503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b="1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b="1" kern="0" dirty="0">
                <a:solidFill>
                  <a:srgbClr val="000000"/>
                </a:solidFill>
                <a:latin typeface="Verdana"/>
              </a:rPr>
              <a:t> 6</a:t>
            </a:r>
            <a:endParaRPr lang="en-US" sz="923" b="1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87" name="Straight Connector 124"/>
          <p:cNvCxnSpPr/>
          <p:nvPr/>
        </p:nvCxnSpPr>
        <p:spPr>
          <a:xfrm>
            <a:off x="143590" y="3067965"/>
            <a:ext cx="1604226" cy="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124"/>
          <p:cNvCxnSpPr/>
          <p:nvPr/>
        </p:nvCxnSpPr>
        <p:spPr>
          <a:xfrm>
            <a:off x="3957463" y="4075612"/>
            <a:ext cx="568158" cy="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24"/>
          <p:cNvCxnSpPr/>
          <p:nvPr/>
        </p:nvCxnSpPr>
        <p:spPr>
          <a:xfrm>
            <a:off x="8451317" y="3758596"/>
            <a:ext cx="568158" cy="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039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1180" y="351954"/>
            <a:ext cx="1612618" cy="566906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Entregas – Fase 1</a:t>
            </a:r>
          </a:p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“Conceitual”</a:t>
            </a:r>
          </a:p>
        </p:txBody>
      </p:sp>
      <p:sp>
        <p:nvSpPr>
          <p:cNvPr id="84" name="Rounded Rectangle 83"/>
          <p:cNvSpPr/>
          <p:nvPr/>
        </p:nvSpPr>
        <p:spPr bwMode="auto">
          <a:xfrm>
            <a:off x="1494982" y="3245665"/>
            <a:ext cx="949042" cy="683980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Elaborar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Plano de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projeto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21932" y="6383820"/>
            <a:ext cx="247137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83"/>
          <p:cNvSpPr/>
          <p:nvPr/>
        </p:nvSpPr>
        <p:spPr bwMode="auto">
          <a:xfrm>
            <a:off x="781432" y="5795795"/>
            <a:ext cx="1100597" cy="524543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Fase1</a:t>
            </a:r>
          </a:p>
          <a:p>
            <a:pPr algn="ctr">
              <a:defRPr/>
            </a:pPr>
            <a:r>
              <a:rPr lang="pt-BR" sz="923" kern="0" dirty="0">
                <a:solidFill>
                  <a:srgbClr val="000000"/>
                </a:solidFill>
                <a:latin typeface="Verdana"/>
              </a:rPr>
              <a:t>Design Conceitual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9" name="Conector de seta reta 18"/>
          <p:cNvCxnSpPr>
            <a:stCxn id="84" idx="3"/>
          </p:cNvCxnSpPr>
          <p:nvPr/>
        </p:nvCxnSpPr>
        <p:spPr>
          <a:xfrm flipV="1">
            <a:off x="2444023" y="3586834"/>
            <a:ext cx="272546" cy="8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83"/>
          <p:cNvSpPr/>
          <p:nvPr/>
        </p:nvSpPr>
        <p:spPr bwMode="auto">
          <a:xfrm>
            <a:off x="88188" y="1693448"/>
            <a:ext cx="949042" cy="524512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“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Solicitação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de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Projetos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”</a:t>
            </a: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3" name="Rounded Rectangle 83"/>
          <p:cNvSpPr/>
          <p:nvPr/>
        </p:nvSpPr>
        <p:spPr bwMode="auto">
          <a:xfrm>
            <a:off x="758428" y="2441577"/>
            <a:ext cx="949042" cy="262255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Triagem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37" name="Conector angulado 36"/>
          <p:cNvCxnSpPr>
            <a:stCxn id="32" idx="2"/>
            <a:endCxn id="33" idx="1"/>
          </p:cNvCxnSpPr>
          <p:nvPr/>
        </p:nvCxnSpPr>
        <p:spPr>
          <a:xfrm rot="16200000" flipH="1">
            <a:off x="483196" y="2297472"/>
            <a:ext cx="354745" cy="195719"/>
          </a:xfrm>
          <a:prstGeom prst="bentConnector2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do 38"/>
          <p:cNvCxnSpPr>
            <a:stCxn id="54" idx="2"/>
            <a:endCxn id="84" idx="1"/>
          </p:cNvCxnSpPr>
          <p:nvPr/>
        </p:nvCxnSpPr>
        <p:spPr>
          <a:xfrm rot="16200000" flipH="1">
            <a:off x="1290707" y="3383381"/>
            <a:ext cx="139547" cy="269001"/>
          </a:xfrm>
          <a:prstGeom prst="bentConnector2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83"/>
          <p:cNvSpPr/>
          <p:nvPr/>
        </p:nvSpPr>
        <p:spPr bwMode="auto">
          <a:xfrm>
            <a:off x="18073" y="3027557"/>
            <a:ext cx="936892" cy="436216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Aprovação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Engenharia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60" name="Conector reto 59"/>
          <p:cNvCxnSpPr/>
          <p:nvPr/>
        </p:nvCxnSpPr>
        <p:spPr>
          <a:xfrm>
            <a:off x="2509164" y="1145623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>
            <a:off x="42023" y="1147720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3"/>
          <p:cNvSpPr/>
          <p:nvPr/>
        </p:nvSpPr>
        <p:spPr bwMode="auto">
          <a:xfrm>
            <a:off x="244450" y="1322073"/>
            <a:ext cx="952366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108" i="1" kern="0" dirty="0">
                <a:solidFill>
                  <a:srgbClr val="000000"/>
                </a:solidFill>
                <a:latin typeface="Verdana"/>
              </a:rPr>
              <a:t>Ideas</a:t>
            </a:r>
          </a:p>
          <a:p>
            <a:pPr algn="ctr">
              <a:defRPr/>
            </a:pPr>
            <a:endParaRPr lang="en-US" sz="1108" i="1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1" name="Rounded Rectangle 83"/>
          <p:cNvSpPr/>
          <p:nvPr/>
        </p:nvSpPr>
        <p:spPr bwMode="auto">
          <a:xfrm>
            <a:off x="1556798" y="1324170"/>
            <a:ext cx="952366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108" i="1" kern="0" dirty="0">
                <a:solidFill>
                  <a:srgbClr val="000000"/>
                </a:solidFill>
                <a:latin typeface="Verdana"/>
              </a:rPr>
              <a:t>Feasibility</a:t>
            </a:r>
          </a:p>
        </p:txBody>
      </p:sp>
      <p:sp>
        <p:nvSpPr>
          <p:cNvPr id="54" name="Losango 153"/>
          <p:cNvSpPr/>
          <p:nvPr/>
        </p:nvSpPr>
        <p:spPr>
          <a:xfrm>
            <a:off x="1029195" y="2998668"/>
            <a:ext cx="393570" cy="4494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1</a:t>
            </a:r>
          </a:p>
        </p:txBody>
      </p:sp>
      <p:cxnSp>
        <p:nvCxnSpPr>
          <p:cNvPr id="17" name="Straight Arrow Connector 16"/>
          <p:cNvCxnSpPr>
            <a:stCxn id="33" idx="2"/>
            <a:endCxn id="54" idx="0"/>
          </p:cNvCxnSpPr>
          <p:nvPr/>
        </p:nvCxnSpPr>
        <p:spPr>
          <a:xfrm flipH="1">
            <a:off x="1225980" y="2703832"/>
            <a:ext cx="6969" cy="29483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12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328502" y="3086105"/>
            <a:ext cx="2882280" cy="1602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123095" lvl="1" indent="-121630" defTabSz="726849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0066FF"/>
              </a:buClr>
              <a:buFontTx/>
              <a:buChar char="•"/>
            </a:pPr>
            <a:r>
              <a:rPr lang="pt-BR" sz="1477" dirty="0">
                <a:solidFill>
                  <a:srgbClr val="000000"/>
                </a:solidFill>
                <a:latin typeface="Verdana" pitchFamily="34" charset="0"/>
              </a:rPr>
              <a:t>Premissas de projeto</a:t>
            </a:r>
          </a:p>
          <a:p>
            <a:pPr marL="123095" lvl="1" indent="-121630" defTabSz="726849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0066FF"/>
              </a:buClr>
              <a:buFontTx/>
              <a:buChar char="•"/>
            </a:pPr>
            <a:r>
              <a:rPr lang="pt-BR" sz="1477" dirty="0">
                <a:solidFill>
                  <a:srgbClr val="000000"/>
                </a:solidFill>
                <a:latin typeface="Verdana" pitchFamily="34" charset="0"/>
              </a:rPr>
              <a:t>Restrições</a:t>
            </a:r>
          </a:p>
          <a:p>
            <a:pPr marL="123095" lvl="1" indent="-121630" defTabSz="726849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0066FF"/>
              </a:buClr>
              <a:buFontTx/>
              <a:buChar char="•"/>
            </a:pPr>
            <a:r>
              <a:rPr lang="pt-BR" sz="1477" dirty="0">
                <a:solidFill>
                  <a:srgbClr val="000000"/>
                </a:solidFill>
                <a:latin typeface="Verdana" pitchFamily="34" charset="0"/>
              </a:rPr>
              <a:t>Escopo inicial</a:t>
            </a:r>
          </a:p>
          <a:p>
            <a:pPr marL="123095" lvl="1" indent="-121630" defTabSz="726849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0066FF"/>
              </a:buClr>
              <a:buFontTx/>
              <a:buChar char="•"/>
            </a:pPr>
            <a:r>
              <a:rPr lang="pt-BR" sz="1477" dirty="0">
                <a:solidFill>
                  <a:srgbClr val="000000"/>
                </a:solidFill>
                <a:latin typeface="Verdana" pitchFamily="34" charset="0"/>
              </a:rPr>
              <a:t>Fora de escopo</a:t>
            </a:r>
          </a:p>
          <a:p>
            <a:pPr marL="123095" lvl="1" indent="-121630" defTabSz="726849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0066FF"/>
              </a:buClr>
              <a:buFontTx/>
              <a:buChar char="•"/>
            </a:pPr>
            <a:r>
              <a:rPr lang="pt-BR" sz="1477" dirty="0">
                <a:solidFill>
                  <a:srgbClr val="000000"/>
                </a:solidFill>
                <a:latin typeface="Verdana" pitchFamily="34" charset="0"/>
              </a:rPr>
              <a:t>Prazo</a:t>
            </a:r>
          </a:p>
          <a:p>
            <a:pPr marL="123095" lvl="1" indent="-121630" defTabSz="726849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0066FF"/>
              </a:buClr>
              <a:buFontTx/>
              <a:buChar char="•"/>
            </a:pPr>
            <a:r>
              <a:rPr lang="pt-BR" sz="1477" dirty="0">
                <a:solidFill>
                  <a:srgbClr val="000000"/>
                </a:solidFill>
                <a:latin typeface="Verdana" pitchFamily="34" charset="0"/>
              </a:rPr>
              <a:t>Custo Inicial</a:t>
            </a:r>
            <a:endParaRPr lang="pt-BR" sz="1477" dirty="0">
              <a:solidFill>
                <a:srgbClr val="000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74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/>
          <p:cNvSpPr/>
          <p:nvPr/>
        </p:nvSpPr>
        <p:spPr>
          <a:xfrm>
            <a:off x="121180" y="351954"/>
            <a:ext cx="1880442" cy="566906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Preparação  – Fase 2</a:t>
            </a:r>
          </a:p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“Plano de Engenharia”</a:t>
            </a:r>
          </a:p>
        </p:txBody>
      </p:sp>
      <p:sp>
        <p:nvSpPr>
          <p:cNvPr id="31" name="Rounded Rectangle 83"/>
          <p:cNvSpPr/>
          <p:nvPr/>
        </p:nvSpPr>
        <p:spPr bwMode="auto">
          <a:xfrm>
            <a:off x="2229782" y="4101257"/>
            <a:ext cx="1119972" cy="55921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Elaborar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Projeto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Executivo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32" name="Conector de seta reta 74"/>
          <p:cNvCxnSpPr/>
          <p:nvPr/>
        </p:nvCxnSpPr>
        <p:spPr>
          <a:xfrm>
            <a:off x="227338" y="6400214"/>
            <a:ext cx="363209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83"/>
          <p:cNvSpPr/>
          <p:nvPr/>
        </p:nvSpPr>
        <p:spPr bwMode="auto">
          <a:xfrm>
            <a:off x="865122" y="5987067"/>
            <a:ext cx="1084843" cy="33075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2 Plano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Engenharia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34" name="Conector angulado 80"/>
          <p:cNvCxnSpPr>
            <a:stCxn id="38" idx="3"/>
          </p:cNvCxnSpPr>
          <p:nvPr/>
        </p:nvCxnSpPr>
        <p:spPr>
          <a:xfrm flipV="1">
            <a:off x="3785128" y="5139034"/>
            <a:ext cx="359530" cy="363531"/>
          </a:xfrm>
          <a:prstGeom prst="bent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angulado 139"/>
          <p:cNvCxnSpPr>
            <a:stCxn id="31" idx="2"/>
            <a:endCxn id="38" idx="1"/>
          </p:cNvCxnSpPr>
          <p:nvPr/>
        </p:nvCxnSpPr>
        <p:spPr>
          <a:xfrm rot="16200000" flipH="1">
            <a:off x="2659910" y="4790334"/>
            <a:ext cx="842089" cy="582371"/>
          </a:xfrm>
          <a:prstGeom prst="bentConnector2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osango 153"/>
          <p:cNvSpPr/>
          <p:nvPr/>
        </p:nvSpPr>
        <p:spPr>
          <a:xfrm>
            <a:off x="1730992" y="3438471"/>
            <a:ext cx="393570" cy="4494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3</a:t>
            </a:r>
            <a:endParaRPr lang="pt-BR" sz="1846" dirty="0"/>
          </a:p>
        </p:txBody>
      </p:sp>
      <p:sp>
        <p:nvSpPr>
          <p:cNvPr id="38" name="Losango 159"/>
          <p:cNvSpPr/>
          <p:nvPr/>
        </p:nvSpPr>
        <p:spPr>
          <a:xfrm>
            <a:off x="3372140" y="5305462"/>
            <a:ext cx="412988" cy="3942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4</a:t>
            </a:r>
          </a:p>
        </p:txBody>
      </p:sp>
      <p:cxnSp>
        <p:nvCxnSpPr>
          <p:cNvPr id="39" name="Conector angulado 170"/>
          <p:cNvCxnSpPr>
            <a:stCxn id="37" idx="2"/>
            <a:endCxn id="31" idx="1"/>
          </p:cNvCxnSpPr>
          <p:nvPr/>
        </p:nvCxnSpPr>
        <p:spPr>
          <a:xfrm rot="16200000" flipH="1">
            <a:off x="1832303" y="3983385"/>
            <a:ext cx="492955" cy="302005"/>
          </a:xfrm>
          <a:prstGeom prst="bentConnector2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angulado 176"/>
          <p:cNvCxnSpPr>
            <a:stCxn id="37" idx="0"/>
            <a:endCxn id="38" idx="0"/>
          </p:cNvCxnSpPr>
          <p:nvPr/>
        </p:nvCxnSpPr>
        <p:spPr>
          <a:xfrm rot="16200000" flipH="1">
            <a:off x="1819710" y="3546538"/>
            <a:ext cx="1866991" cy="1650857"/>
          </a:xfrm>
          <a:prstGeom prst="bentConnector3">
            <a:avLst>
              <a:gd name="adj1" fmla="val -11302"/>
            </a:avLst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83"/>
          <p:cNvSpPr/>
          <p:nvPr/>
        </p:nvSpPr>
        <p:spPr bwMode="auto">
          <a:xfrm>
            <a:off x="1679844" y="4809776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“C1/C2”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2" name="Rounded Rectangle 83"/>
          <p:cNvSpPr/>
          <p:nvPr/>
        </p:nvSpPr>
        <p:spPr bwMode="auto">
          <a:xfrm>
            <a:off x="1895327" y="2905403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“C”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43" name="Conector reto 59"/>
          <p:cNvCxnSpPr/>
          <p:nvPr/>
        </p:nvCxnSpPr>
        <p:spPr>
          <a:xfrm>
            <a:off x="227338" y="2609182"/>
            <a:ext cx="0" cy="389902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70"/>
          <p:cNvCxnSpPr/>
          <p:nvPr/>
        </p:nvCxnSpPr>
        <p:spPr>
          <a:xfrm>
            <a:off x="3859434" y="2603136"/>
            <a:ext cx="0" cy="392316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83"/>
          <p:cNvSpPr/>
          <p:nvPr/>
        </p:nvSpPr>
        <p:spPr bwMode="auto">
          <a:xfrm>
            <a:off x="388939" y="2609182"/>
            <a:ext cx="952366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108" i="1" kern="0" dirty="0">
                <a:solidFill>
                  <a:srgbClr val="000000"/>
                </a:solidFill>
                <a:latin typeface="Verdana"/>
              </a:rPr>
              <a:t>Feasibility</a:t>
            </a:r>
          </a:p>
        </p:txBody>
      </p:sp>
      <p:sp>
        <p:nvSpPr>
          <p:cNvPr id="48" name="Rounded Rectangle 83"/>
          <p:cNvSpPr/>
          <p:nvPr/>
        </p:nvSpPr>
        <p:spPr bwMode="auto">
          <a:xfrm>
            <a:off x="1422427" y="2603136"/>
            <a:ext cx="2282188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108" i="1" kern="0" dirty="0">
                <a:solidFill>
                  <a:srgbClr val="000000"/>
                </a:solidFill>
                <a:latin typeface="Verdana"/>
              </a:rPr>
              <a:t>Capability &amp; “Market ready” </a:t>
            </a:r>
          </a:p>
        </p:txBody>
      </p:sp>
      <p:sp>
        <p:nvSpPr>
          <p:cNvPr id="49" name="Rounded Rectangle 83"/>
          <p:cNvSpPr/>
          <p:nvPr/>
        </p:nvSpPr>
        <p:spPr bwMode="auto">
          <a:xfrm>
            <a:off x="450442" y="3396858"/>
            <a:ext cx="978194" cy="519556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Elaborar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Projeto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Conceitual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51" name="Conector de seta reta 18"/>
          <p:cNvCxnSpPr>
            <a:endCxn id="49" idx="1"/>
          </p:cNvCxnSpPr>
          <p:nvPr/>
        </p:nvCxnSpPr>
        <p:spPr>
          <a:xfrm flipV="1">
            <a:off x="174770" y="3656637"/>
            <a:ext cx="275672" cy="5787"/>
          </a:xfrm>
          <a:prstGeom prst="straightConnector1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18"/>
          <p:cNvCxnSpPr>
            <a:stCxn id="49" idx="3"/>
            <a:endCxn id="37" idx="1"/>
          </p:cNvCxnSpPr>
          <p:nvPr/>
        </p:nvCxnSpPr>
        <p:spPr>
          <a:xfrm>
            <a:off x="1428636" y="3656637"/>
            <a:ext cx="302356" cy="6555"/>
          </a:xfrm>
          <a:prstGeom prst="straightConnector1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Box 8"/>
          <p:cNvSpPr txBox="1">
            <a:spLocks noChangeArrowheads="1"/>
          </p:cNvSpPr>
          <p:nvPr/>
        </p:nvSpPr>
        <p:spPr bwMode="auto">
          <a:xfrm>
            <a:off x="148831" y="1112465"/>
            <a:ext cx="4726571" cy="1370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1pPr>
            <a:lvl2pPr marL="742950" indent="-28575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2pPr>
            <a:lvl3pPr marL="11430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3pPr>
            <a:lvl4pPr marL="16002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4pPr>
            <a:lvl5pPr marL="20574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9pPr>
          </a:lstStyle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q"/>
              <a:defRPr/>
            </a:pPr>
            <a:r>
              <a:rPr lang="pt-BR" sz="923" b="0" kern="0" dirty="0"/>
              <a:t> </a:t>
            </a:r>
            <a:r>
              <a:rPr lang="pt-BR" sz="923" kern="0" dirty="0"/>
              <a:t>Design conceitual</a:t>
            </a:r>
            <a:r>
              <a:rPr lang="pt-BR" sz="923" b="0" kern="0" dirty="0"/>
              <a:t>: Necessidades do projeto (Design básico), Fluxograma do processo, layout básico e croquis das construções.</a:t>
            </a:r>
          </a:p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q"/>
              <a:defRPr/>
            </a:pPr>
            <a:r>
              <a:rPr lang="pt-BR" sz="923" kern="0" dirty="0"/>
              <a:t> Custo estimado</a:t>
            </a:r>
            <a:r>
              <a:rPr lang="pt-BR" sz="923" b="0" kern="0" dirty="0"/>
              <a:t>: Fundamentos do projeto, necessidades do projeto, ROI</a:t>
            </a:r>
            <a:r>
              <a:rPr lang="pt-BR" sz="923" b="0" kern="0" dirty="0"/>
              <a:t>, </a:t>
            </a:r>
            <a:r>
              <a:rPr lang="pt-BR" sz="923" b="0" kern="0" dirty="0"/>
              <a:t>Modelo </a:t>
            </a:r>
            <a:r>
              <a:rPr lang="pt-BR" sz="923" b="0" kern="0" dirty="0"/>
              <a:t>completo </a:t>
            </a:r>
            <a:r>
              <a:rPr lang="pt-BR" sz="923" b="0" kern="0" dirty="0"/>
              <a:t> do Capex total do projeto, modelo de custo estimado de produção (</a:t>
            </a:r>
            <a:r>
              <a:rPr lang="pt-BR" sz="923" b="0" kern="0" dirty="0" err="1"/>
              <a:t>Opex</a:t>
            </a:r>
            <a:r>
              <a:rPr lang="pt-BR" sz="923" b="0" kern="0" dirty="0"/>
              <a:t>) completo, baseado em cotações preliminares e custos/razão de projetos anteriores.</a:t>
            </a:r>
          </a:p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q"/>
              <a:defRPr/>
            </a:pPr>
            <a:r>
              <a:rPr lang="pt-BR" sz="923" kern="0" dirty="0"/>
              <a:t> Plano do projeto</a:t>
            </a:r>
            <a:r>
              <a:rPr lang="pt-BR" sz="923" b="0" kern="0" dirty="0"/>
              <a:t>: Diagrama de organização do projeto, por modelo aplicável( EPCM ou EPC*)</a:t>
            </a:r>
            <a:endParaRPr lang="pt-BR" sz="923" b="0" kern="0" dirty="0"/>
          </a:p>
        </p:txBody>
      </p:sp>
      <p:sp>
        <p:nvSpPr>
          <p:cNvPr id="55" name="Text Box 8"/>
          <p:cNvSpPr txBox="1">
            <a:spLocks noChangeArrowheads="1"/>
          </p:cNvSpPr>
          <p:nvPr/>
        </p:nvSpPr>
        <p:spPr bwMode="auto">
          <a:xfrm>
            <a:off x="4947329" y="1450563"/>
            <a:ext cx="4323764" cy="4708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1pPr>
            <a:lvl2pPr marL="914400" indent="-17145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2pPr>
            <a:lvl3pPr marL="11430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3pPr>
            <a:lvl4pPr marL="16002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4pPr>
            <a:lvl5pPr marL="20574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pt-BR" sz="923" b="0" dirty="0"/>
              <a:t>2</a:t>
            </a:r>
            <a:r>
              <a:rPr lang="pt-BR" sz="923" b="0" dirty="0"/>
              <a:t>.1. Preliminar: </a:t>
            </a:r>
            <a:r>
              <a:rPr lang="pt-BR" sz="923" dirty="0"/>
              <a:t>Projeto básico</a:t>
            </a:r>
          </a:p>
          <a:p>
            <a:pPr marL="685817" lvl="1" indent="0">
              <a:spcBef>
                <a:spcPct val="50000"/>
              </a:spcBef>
              <a:defRPr/>
            </a:pPr>
            <a:r>
              <a:rPr lang="pt-BR" sz="923" b="0" dirty="0"/>
              <a:t>2.1.1. Fundamentos do projeto</a:t>
            </a:r>
          </a:p>
          <a:p>
            <a:pPr marL="685817" lvl="1" indent="0">
              <a:spcBef>
                <a:spcPct val="50000"/>
              </a:spcBef>
              <a:defRPr/>
            </a:pPr>
            <a:r>
              <a:rPr lang="pt-BR" sz="923" b="0" dirty="0"/>
              <a:t>2</a:t>
            </a:r>
            <a:r>
              <a:rPr lang="pt-BR" sz="923" b="0" dirty="0"/>
              <a:t>.1.2. Critérios e restrições do projeto</a:t>
            </a:r>
          </a:p>
          <a:p>
            <a:pPr marL="685817" lvl="1" indent="0">
              <a:spcBef>
                <a:spcPct val="50000"/>
              </a:spcBef>
              <a:defRPr/>
            </a:pPr>
            <a:endParaRPr lang="pt-BR" sz="923" dirty="0"/>
          </a:p>
          <a:p>
            <a:pPr>
              <a:spcBef>
                <a:spcPct val="50000"/>
              </a:spcBef>
              <a:defRPr/>
            </a:pPr>
            <a:r>
              <a:rPr lang="pt-BR" sz="923" b="0" dirty="0"/>
              <a:t>2.2. Preliminar: </a:t>
            </a:r>
            <a:r>
              <a:rPr lang="pt-BR" sz="923" dirty="0"/>
              <a:t>Processo</a:t>
            </a:r>
          </a:p>
          <a:p>
            <a:pPr marL="685817" lvl="1" indent="0">
              <a:spcBef>
                <a:spcPct val="50000"/>
              </a:spcBef>
              <a:defRPr/>
            </a:pPr>
            <a:r>
              <a:rPr lang="pt-BR" sz="923" b="0" dirty="0"/>
              <a:t>2.2.1 Fluxograma de Processo</a:t>
            </a:r>
          </a:p>
          <a:p>
            <a:pPr marL="685817" lvl="1" indent="0">
              <a:spcBef>
                <a:spcPct val="50000"/>
              </a:spcBef>
              <a:defRPr/>
            </a:pPr>
            <a:endParaRPr lang="pt-BR" sz="923" b="0" dirty="0"/>
          </a:p>
          <a:p>
            <a:pPr>
              <a:spcBef>
                <a:spcPct val="50000"/>
              </a:spcBef>
              <a:defRPr/>
            </a:pPr>
            <a:r>
              <a:rPr lang="pt-BR" sz="923" b="0" dirty="0"/>
              <a:t>2.3. Preliminar: </a:t>
            </a:r>
            <a:r>
              <a:rPr lang="pt-BR" sz="923" dirty="0"/>
              <a:t>Avaliação ambiental</a:t>
            </a:r>
            <a:r>
              <a:rPr lang="pt-BR" sz="923" b="0" dirty="0"/>
              <a:t>: </a:t>
            </a:r>
          </a:p>
          <a:p>
            <a:pPr marL="685817" lvl="1" indent="0">
              <a:spcBef>
                <a:spcPct val="50000"/>
              </a:spcBef>
              <a:defRPr/>
            </a:pPr>
            <a:r>
              <a:rPr lang="pt-BR" sz="923" b="0" dirty="0"/>
              <a:t>2.3.1 Lista de impactos ambientais</a:t>
            </a:r>
          </a:p>
          <a:p>
            <a:pPr marL="685817" lvl="1" indent="0">
              <a:spcBef>
                <a:spcPct val="50000"/>
              </a:spcBef>
              <a:defRPr/>
            </a:pPr>
            <a:r>
              <a:rPr lang="pt-BR" sz="923" b="0" dirty="0"/>
              <a:t>2</a:t>
            </a:r>
            <a:r>
              <a:rPr lang="pt-BR" sz="923" b="0" dirty="0"/>
              <a:t>.3.2 Condições do terreno / questões legais</a:t>
            </a:r>
          </a:p>
          <a:p>
            <a:pPr lvl="1">
              <a:spcBef>
                <a:spcPct val="50000"/>
              </a:spcBef>
              <a:buFont typeface="Wingdings" pitchFamily="2" charset="2"/>
              <a:buChar char="v"/>
              <a:defRPr/>
            </a:pPr>
            <a:endParaRPr lang="pt-BR" sz="923" b="0" dirty="0"/>
          </a:p>
          <a:p>
            <a:pPr>
              <a:spcBef>
                <a:spcPct val="50000"/>
              </a:spcBef>
              <a:defRPr/>
            </a:pPr>
            <a:r>
              <a:rPr lang="pt-BR" sz="923" b="0" dirty="0"/>
              <a:t>2.4. Preliminar: </a:t>
            </a:r>
            <a:r>
              <a:rPr lang="pt-BR" sz="923" dirty="0"/>
              <a:t>Permissões</a:t>
            </a:r>
          </a:p>
          <a:p>
            <a:pPr marL="685817" lvl="1" indent="0">
              <a:spcBef>
                <a:spcPct val="50000"/>
              </a:spcBef>
              <a:defRPr/>
            </a:pPr>
            <a:r>
              <a:rPr lang="pt-BR" sz="923" b="0" dirty="0"/>
              <a:t>2.4.1 Documentação do terreno</a:t>
            </a:r>
          </a:p>
          <a:p>
            <a:pPr marL="685817" lvl="1" indent="0">
              <a:spcBef>
                <a:spcPct val="50000"/>
              </a:spcBef>
              <a:defRPr/>
            </a:pPr>
            <a:r>
              <a:rPr lang="pt-BR" sz="923" b="0" dirty="0"/>
              <a:t>2</a:t>
            </a:r>
            <a:r>
              <a:rPr lang="pt-BR" sz="923" b="0" dirty="0"/>
              <a:t>.4.2 Licença de operação</a:t>
            </a:r>
          </a:p>
          <a:p>
            <a:pPr marL="685817" lvl="1" indent="0">
              <a:spcBef>
                <a:spcPct val="50000"/>
              </a:spcBef>
              <a:defRPr/>
            </a:pPr>
            <a:r>
              <a:rPr lang="pt-BR" sz="923" b="0" dirty="0"/>
              <a:t>2</a:t>
            </a:r>
            <a:r>
              <a:rPr lang="pt-BR" sz="923" b="0" dirty="0"/>
              <a:t>.4.3 Análise de efluentes</a:t>
            </a:r>
          </a:p>
          <a:p>
            <a:pPr lvl="1">
              <a:spcBef>
                <a:spcPct val="50000"/>
              </a:spcBef>
              <a:buFont typeface="Wingdings" pitchFamily="2" charset="2"/>
              <a:buChar char="v"/>
              <a:defRPr/>
            </a:pPr>
            <a:endParaRPr lang="pt-BR" sz="923" b="0" dirty="0"/>
          </a:p>
          <a:p>
            <a:pPr>
              <a:spcBef>
                <a:spcPct val="50000"/>
              </a:spcBef>
              <a:defRPr/>
            </a:pPr>
            <a:r>
              <a:rPr lang="pt-BR" sz="923" b="0" dirty="0"/>
              <a:t>2.5. Preliminar: </a:t>
            </a:r>
            <a:r>
              <a:rPr lang="pt-BR" sz="923" dirty="0"/>
              <a:t>Informação do local:</a:t>
            </a:r>
          </a:p>
          <a:p>
            <a:pPr marL="685817" lvl="1" indent="0">
              <a:spcBef>
                <a:spcPct val="50000"/>
              </a:spcBef>
              <a:defRPr/>
            </a:pPr>
            <a:r>
              <a:rPr lang="pt-BR" sz="923" b="0" dirty="0"/>
              <a:t>2.5.1 Localização</a:t>
            </a:r>
          </a:p>
          <a:p>
            <a:pPr marL="685817" lvl="1" indent="0">
              <a:spcBef>
                <a:spcPct val="50000"/>
              </a:spcBef>
              <a:defRPr/>
            </a:pPr>
            <a:r>
              <a:rPr lang="pt-BR" sz="923" b="0" dirty="0"/>
              <a:t>2</a:t>
            </a:r>
            <a:r>
              <a:rPr lang="pt-BR" sz="923" b="0" dirty="0"/>
              <a:t>.5.2 Planta baixa geral</a:t>
            </a:r>
          </a:p>
          <a:p>
            <a:pPr marL="685817" lvl="1" indent="0">
              <a:spcBef>
                <a:spcPct val="50000"/>
              </a:spcBef>
              <a:defRPr/>
            </a:pPr>
            <a:r>
              <a:rPr lang="pt-BR" sz="923" b="0" dirty="0"/>
              <a:t>2</a:t>
            </a:r>
            <a:r>
              <a:rPr lang="pt-BR" sz="923" b="0" dirty="0"/>
              <a:t>.5.3 Fluxo de transportes</a:t>
            </a:r>
          </a:p>
          <a:p>
            <a:pPr marL="685817" lvl="1" indent="0">
              <a:spcBef>
                <a:spcPct val="50000"/>
              </a:spcBef>
              <a:defRPr/>
            </a:pPr>
            <a:r>
              <a:rPr lang="pt-BR" sz="923" b="0" dirty="0"/>
              <a:t>2</a:t>
            </a:r>
            <a:r>
              <a:rPr lang="pt-BR" sz="923" b="0" dirty="0"/>
              <a:t>.5.4 Utilidades</a:t>
            </a:r>
          </a:p>
          <a:p>
            <a:pPr marL="685817" lvl="1" indent="0">
              <a:spcBef>
                <a:spcPct val="50000"/>
              </a:spcBef>
              <a:defRPr/>
            </a:pPr>
            <a:r>
              <a:rPr lang="pt-BR" sz="923" b="0" dirty="0"/>
              <a:t>2</a:t>
            </a:r>
            <a:r>
              <a:rPr lang="pt-BR" sz="923" b="0" dirty="0"/>
              <a:t>.5.5 Edificações de armazenagem e processo (layouts)</a:t>
            </a:r>
          </a:p>
        </p:txBody>
      </p:sp>
    </p:spTree>
    <p:extLst>
      <p:ext uri="{BB962C8B-B14F-4D97-AF65-F5344CB8AC3E}">
        <p14:creationId xmlns:p14="http://schemas.microsoft.com/office/powerpoint/2010/main" val="105109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Box 8"/>
          <p:cNvSpPr txBox="1">
            <a:spLocks noChangeArrowheads="1"/>
          </p:cNvSpPr>
          <p:nvPr/>
        </p:nvSpPr>
        <p:spPr bwMode="auto">
          <a:xfrm>
            <a:off x="5200305" y="4474462"/>
            <a:ext cx="4389546" cy="215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1pPr>
            <a:lvl2pPr marL="265113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2pPr>
            <a:lvl3pPr marL="11430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3pPr>
            <a:lvl4pPr marL="16002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4pPr>
            <a:lvl5pPr marL="20574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sz="923" dirty="0"/>
              <a:t>2.8. Tubulação: </a:t>
            </a:r>
            <a:r>
              <a:rPr lang="pt-BR" sz="923" b="0" dirty="0"/>
              <a:t> </a:t>
            </a:r>
          </a:p>
          <a:p>
            <a:pPr lvl="1">
              <a:spcBef>
                <a:spcPct val="50000"/>
              </a:spcBef>
            </a:pPr>
            <a:r>
              <a:rPr lang="pt-BR" sz="923" b="0" dirty="0"/>
              <a:t>2.8.1. Estresse de tubulação / especificação de material</a:t>
            </a:r>
          </a:p>
          <a:p>
            <a:pPr lvl="1">
              <a:spcBef>
                <a:spcPct val="50000"/>
              </a:spcBef>
            </a:pPr>
            <a:r>
              <a:rPr lang="pt-BR" sz="923" b="0" dirty="0"/>
              <a:t>2</a:t>
            </a:r>
            <a:r>
              <a:rPr lang="pt-BR" sz="923" b="0" dirty="0"/>
              <a:t>.8.2. Diagrama de linha de tubulação</a:t>
            </a:r>
          </a:p>
          <a:p>
            <a:pPr lvl="1">
              <a:spcBef>
                <a:spcPct val="50000"/>
              </a:spcBef>
            </a:pPr>
            <a:r>
              <a:rPr lang="pt-BR" sz="923" b="0" dirty="0"/>
              <a:t>2</a:t>
            </a:r>
            <a:r>
              <a:rPr lang="pt-BR" sz="923" b="0" dirty="0"/>
              <a:t>.8.3. Suportes</a:t>
            </a:r>
          </a:p>
          <a:p>
            <a:pPr lvl="1">
              <a:spcBef>
                <a:spcPct val="50000"/>
              </a:spcBef>
            </a:pPr>
            <a:r>
              <a:rPr lang="pt-BR" sz="923" b="0" dirty="0"/>
              <a:t>2.8.4. Lista de válvulas &amp; Data-sheet</a:t>
            </a:r>
          </a:p>
          <a:p>
            <a:pPr lvl="1">
              <a:spcBef>
                <a:spcPct val="50000"/>
              </a:spcBef>
            </a:pPr>
            <a:r>
              <a:rPr lang="pt-BR" sz="923" b="0" dirty="0"/>
              <a:t>2.8.5. Arranjo de tubulação e desenhos isométricos</a:t>
            </a:r>
          </a:p>
          <a:p>
            <a:pPr lvl="1">
              <a:spcBef>
                <a:spcPct val="50000"/>
              </a:spcBef>
            </a:pPr>
            <a:r>
              <a:rPr lang="pt-BR" sz="923" b="0" dirty="0"/>
              <a:t>2</a:t>
            </a:r>
            <a:r>
              <a:rPr lang="pt-BR" sz="923" b="0" dirty="0"/>
              <a:t>.8.6. Projeto de tubulação de utilidades</a:t>
            </a:r>
          </a:p>
          <a:p>
            <a:pPr lvl="1">
              <a:spcBef>
                <a:spcPct val="50000"/>
              </a:spcBef>
            </a:pPr>
            <a:r>
              <a:rPr lang="pt-BR" sz="923" b="0" dirty="0"/>
              <a:t>2.8.7. Distribuição de </a:t>
            </a:r>
            <a:r>
              <a:rPr lang="pt-BR" sz="923" b="0" dirty="0" err="1"/>
              <a:t>Pipe</a:t>
            </a:r>
            <a:r>
              <a:rPr lang="pt-BR" sz="923" b="0" dirty="0"/>
              <a:t>-racks e conexões</a:t>
            </a:r>
          </a:p>
          <a:p>
            <a:pPr lvl="1">
              <a:spcBef>
                <a:spcPct val="50000"/>
              </a:spcBef>
            </a:pPr>
            <a:r>
              <a:rPr lang="pt-BR" sz="923" b="0" dirty="0"/>
              <a:t>2</a:t>
            </a:r>
            <a:r>
              <a:rPr lang="pt-BR" sz="923" b="0" dirty="0"/>
              <a:t>.8.8. Planilha de quantidades de material &amp; serviço</a:t>
            </a:r>
          </a:p>
          <a:p>
            <a:pPr lvl="1">
              <a:spcBef>
                <a:spcPct val="50000"/>
              </a:spcBef>
            </a:pPr>
            <a:endParaRPr lang="pt-BR" sz="923" b="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832832" y="1132023"/>
            <a:ext cx="2576146" cy="1228606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2.6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</a:t>
            </a: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Plano de permissão: 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2.6.1. Lista de permissão e cronograma para aplicação e limpeza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2.6.2. Licenças de operação e cronograma para aplicação e limpeza</a:t>
            </a:r>
            <a:endParaRPr kumimoji="1" lang="pt-BR" sz="923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260675" y="2374910"/>
            <a:ext cx="2760785" cy="2009909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2.7. Informações do site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: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2.7.1. Classificação do site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2.7.2. Relatórios do solo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2.7.3. Drenagem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2.7.4. Plantas e desenhos (com planos de transporte)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2.7.5. Construções/equipamentos layouts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2.7.6. </a:t>
            </a:r>
            <a:r>
              <a:rPr kumimoji="1" lang="pt-BR" sz="923" dirty="0" err="1">
                <a:solidFill>
                  <a:srgbClr val="000000"/>
                </a:solidFill>
                <a:latin typeface="Verdana" pitchFamily="34" charset="0"/>
              </a:rPr>
              <a:t>Pipe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 racks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2.7.7. Combate incêndio</a:t>
            </a:r>
            <a:endParaRPr kumimoji="1" lang="pt-BR" sz="923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21180" y="351954"/>
            <a:ext cx="1880442" cy="566906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Preparação </a:t>
            </a:r>
          </a:p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“Projeto detalhado”</a:t>
            </a:r>
          </a:p>
        </p:txBody>
      </p:sp>
      <p:sp>
        <p:nvSpPr>
          <p:cNvPr id="8" name="Rounded Rectangle 83"/>
          <p:cNvSpPr/>
          <p:nvPr/>
        </p:nvSpPr>
        <p:spPr bwMode="auto">
          <a:xfrm>
            <a:off x="2229782" y="4189444"/>
            <a:ext cx="1119972" cy="559218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Elaborar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Projeto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Executivo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9" name="Conector de seta reta 74"/>
          <p:cNvCxnSpPr/>
          <p:nvPr/>
        </p:nvCxnSpPr>
        <p:spPr>
          <a:xfrm>
            <a:off x="227338" y="6488401"/>
            <a:ext cx="363209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83"/>
          <p:cNvSpPr/>
          <p:nvPr/>
        </p:nvSpPr>
        <p:spPr bwMode="auto">
          <a:xfrm>
            <a:off x="865122" y="5909879"/>
            <a:ext cx="1084843" cy="33075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3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Projeto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detalhado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1" name="Conector angulado 80"/>
          <p:cNvCxnSpPr>
            <a:stCxn id="14" idx="3"/>
          </p:cNvCxnSpPr>
          <p:nvPr/>
        </p:nvCxnSpPr>
        <p:spPr>
          <a:xfrm flipV="1">
            <a:off x="3785128" y="5227221"/>
            <a:ext cx="359530" cy="363531"/>
          </a:xfrm>
          <a:prstGeom prst="bent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do 139"/>
          <p:cNvCxnSpPr>
            <a:stCxn id="8" idx="2"/>
            <a:endCxn id="14" idx="1"/>
          </p:cNvCxnSpPr>
          <p:nvPr/>
        </p:nvCxnSpPr>
        <p:spPr>
          <a:xfrm rot="16200000" flipH="1">
            <a:off x="2659910" y="4878521"/>
            <a:ext cx="842089" cy="582371"/>
          </a:xfrm>
          <a:prstGeom prst="bentConnector2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Losango 153"/>
          <p:cNvSpPr/>
          <p:nvPr/>
        </p:nvSpPr>
        <p:spPr>
          <a:xfrm>
            <a:off x="1730992" y="3526658"/>
            <a:ext cx="393570" cy="4494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3</a:t>
            </a:r>
            <a:endParaRPr lang="pt-BR" sz="1846" dirty="0"/>
          </a:p>
        </p:txBody>
      </p:sp>
      <p:sp>
        <p:nvSpPr>
          <p:cNvPr id="14" name="Losango 159"/>
          <p:cNvSpPr/>
          <p:nvPr/>
        </p:nvSpPr>
        <p:spPr>
          <a:xfrm>
            <a:off x="3372140" y="5393649"/>
            <a:ext cx="412988" cy="3942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4</a:t>
            </a:r>
          </a:p>
        </p:txBody>
      </p:sp>
      <p:cxnSp>
        <p:nvCxnSpPr>
          <p:cNvPr id="15" name="Conector angulado 170"/>
          <p:cNvCxnSpPr>
            <a:stCxn id="13" idx="2"/>
            <a:endCxn id="8" idx="1"/>
          </p:cNvCxnSpPr>
          <p:nvPr/>
        </p:nvCxnSpPr>
        <p:spPr>
          <a:xfrm rot="16200000" flipH="1">
            <a:off x="1832303" y="4071572"/>
            <a:ext cx="492955" cy="302005"/>
          </a:xfrm>
          <a:prstGeom prst="bentConnector2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angulado 176"/>
          <p:cNvCxnSpPr>
            <a:stCxn id="13" idx="0"/>
            <a:endCxn id="14" idx="0"/>
          </p:cNvCxnSpPr>
          <p:nvPr/>
        </p:nvCxnSpPr>
        <p:spPr>
          <a:xfrm rot="16200000" flipH="1">
            <a:off x="1819710" y="3634725"/>
            <a:ext cx="1866991" cy="1650857"/>
          </a:xfrm>
          <a:prstGeom prst="bentConnector3">
            <a:avLst>
              <a:gd name="adj1" fmla="val -11302"/>
            </a:avLst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83"/>
          <p:cNvSpPr/>
          <p:nvPr/>
        </p:nvSpPr>
        <p:spPr bwMode="auto">
          <a:xfrm>
            <a:off x="1679844" y="4897963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“C1/C2”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8" name="Rounded Rectangle 83"/>
          <p:cNvSpPr/>
          <p:nvPr/>
        </p:nvSpPr>
        <p:spPr bwMode="auto">
          <a:xfrm>
            <a:off x="1895327" y="2993590"/>
            <a:ext cx="761449" cy="401401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“C”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9" name="Conector reto 59"/>
          <p:cNvCxnSpPr/>
          <p:nvPr/>
        </p:nvCxnSpPr>
        <p:spPr>
          <a:xfrm>
            <a:off x="227338" y="2697369"/>
            <a:ext cx="0" cy="389902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70"/>
          <p:cNvCxnSpPr/>
          <p:nvPr/>
        </p:nvCxnSpPr>
        <p:spPr>
          <a:xfrm>
            <a:off x="3859434" y="2691323"/>
            <a:ext cx="0" cy="392316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83"/>
          <p:cNvSpPr/>
          <p:nvPr/>
        </p:nvSpPr>
        <p:spPr bwMode="auto">
          <a:xfrm>
            <a:off x="388939" y="2747761"/>
            <a:ext cx="952366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108" i="1" kern="0" dirty="0">
                <a:solidFill>
                  <a:srgbClr val="000000"/>
                </a:solidFill>
                <a:latin typeface="Verdana"/>
              </a:rPr>
              <a:t>Feasibility</a:t>
            </a:r>
          </a:p>
        </p:txBody>
      </p:sp>
      <p:sp>
        <p:nvSpPr>
          <p:cNvPr id="22" name="Rounded Rectangle 83"/>
          <p:cNvSpPr/>
          <p:nvPr/>
        </p:nvSpPr>
        <p:spPr bwMode="auto">
          <a:xfrm>
            <a:off x="1422427" y="2741716"/>
            <a:ext cx="2282188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108" i="1" kern="0" dirty="0">
                <a:solidFill>
                  <a:srgbClr val="000000"/>
                </a:solidFill>
                <a:latin typeface="Verdana"/>
              </a:rPr>
              <a:t>Capability &amp; “Market ready” </a:t>
            </a:r>
          </a:p>
        </p:txBody>
      </p:sp>
      <p:sp>
        <p:nvSpPr>
          <p:cNvPr id="23" name="Rounded Rectangle 83"/>
          <p:cNvSpPr/>
          <p:nvPr/>
        </p:nvSpPr>
        <p:spPr bwMode="auto">
          <a:xfrm>
            <a:off x="450442" y="3485045"/>
            <a:ext cx="978194" cy="51955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Elaborar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Projeto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Conceitual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24" name="Conector de seta reta 18"/>
          <p:cNvCxnSpPr>
            <a:endCxn id="23" idx="1"/>
          </p:cNvCxnSpPr>
          <p:nvPr/>
        </p:nvCxnSpPr>
        <p:spPr>
          <a:xfrm flipV="1">
            <a:off x="174770" y="3744824"/>
            <a:ext cx="275672" cy="5787"/>
          </a:xfrm>
          <a:prstGeom prst="straightConnector1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18"/>
          <p:cNvCxnSpPr>
            <a:stCxn id="23" idx="3"/>
            <a:endCxn id="13" idx="1"/>
          </p:cNvCxnSpPr>
          <p:nvPr/>
        </p:nvCxnSpPr>
        <p:spPr>
          <a:xfrm>
            <a:off x="1428636" y="3744824"/>
            <a:ext cx="302356" cy="6555"/>
          </a:xfrm>
          <a:prstGeom prst="straightConnector1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2017" y="1032418"/>
            <a:ext cx="6258658" cy="1583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1pPr>
            <a:lvl2pPr marL="742950" indent="-28575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2pPr>
            <a:lvl3pPr marL="11430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3pPr>
            <a:lvl4pPr marL="16002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4pPr>
            <a:lvl5pPr marL="20574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9pPr>
          </a:lstStyle>
          <a:p>
            <a:pPr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923" b="0" dirty="0"/>
              <a:t> </a:t>
            </a:r>
            <a:r>
              <a:rPr lang="pt-BR" sz="923" dirty="0">
                <a:solidFill>
                  <a:schemeClr val="tx1"/>
                </a:solidFill>
              </a:rPr>
              <a:t>Projeto Detalhado : </a:t>
            </a:r>
            <a:r>
              <a:rPr lang="pt-BR" sz="923" b="0" dirty="0">
                <a:solidFill>
                  <a:schemeClr val="tx1"/>
                </a:solidFill>
              </a:rPr>
              <a:t>pronto para construção, alinhado com Modelo de Negócio e Budget final.</a:t>
            </a:r>
            <a:endParaRPr lang="pt-BR" sz="923" b="0" dirty="0"/>
          </a:p>
          <a:p>
            <a:pPr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923" dirty="0"/>
              <a:t> Budget final:  </a:t>
            </a:r>
            <a:r>
              <a:rPr lang="pt-BR" sz="923" b="0" dirty="0">
                <a:solidFill>
                  <a:schemeClr val="tx1"/>
                </a:solidFill>
              </a:rPr>
              <a:t>planilha completa, incluindo </a:t>
            </a:r>
            <a:r>
              <a:rPr lang="pt-BR" sz="923" b="0" dirty="0" err="1">
                <a:solidFill>
                  <a:schemeClr val="tx1"/>
                </a:solidFill>
              </a:rPr>
              <a:t>Pré</a:t>
            </a:r>
            <a:r>
              <a:rPr lang="pt-BR" sz="923" b="0" dirty="0">
                <a:solidFill>
                  <a:schemeClr val="tx1"/>
                </a:solidFill>
              </a:rPr>
              <a:t>-construção, projeto de construção, contingências &amp; hedge, financeiro, </a:t>
            </a:r>
            <a:r>
              <a:rPr lang="pt-BR" sz="923" b="0" dirty="0" err="1">
                <a:solidFill>
                  <a:schemeClr val="tx1"/>
                </a:solidFill>
              </a:rPr>
              <a:t>start-up</a:t>
            </a:r>
            <a:r>
              <a:rPr lang="pt-BR" sz="923" b="0" dirty="0">
                <a:solidFill>
                  <a:schemeClr val="tx1"/>
                </a:solidFill>
              </a:rPr>
              <a:t> e organização de custos, baseado na Planilha de Quantidades para Materiais &amp; Serviços, contratos negociados com o EPC/EPCM e fornecedores de serviços / modelo de custo de produção completo</a:t>
            </a:r>
            <a:r>
              <a:rPr lang="pt-BR" sz="923" b="0" dirty="0"/>
              <a:t>, ROI  e NPV final.</a:t>
            </a:r>
          </a:p>
          <a:p>
            <a:pPr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923" b="0" dirty="0">
                <a:solidFill>
                  <a:schemeClr val="tx1"/>
                </a:solidFill>
              </a:rPr>
              <a:t> </a:t>
            </a:r>
            <a:r>
              <a:rPr lang="pt-BR" sz="923" dirty="0">
                <a:solidFill>
                  <a:schemeClr val="tx1"/>
                </a:solidFill>
              </a:rPr>
              <a:t>Plano do Projeto Detalhado</a:t>
            </a:r>
            <a:r>
              <a:rPr lang="pt-BR" sz="923" b="0" dirty="0">
                <a:solidFill>
                  <a:schemeClr val="tx1"/>
                </a:solidFill>
              </a:rPr>
              <a:t>: Cronograma executivo, plano executivo, Programa de Segurança, Matriz de responsabilidade; plano de Garantia de Qualidade/Controle de Qualidade (QA/QC), Plano de mitigação de riscos.</a:t>
            </a:r>
          </a:p>
          <a:p>
            <a:pPr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923" b="0" dirty="0">
                <a:solidFill>
                  <a:schemeClr val="tx1"/>
                </a:solidFill>
              </a:rPr>
              <a:t> </a:t>
            </a:r>
            <a:r>
              <a:rPr lang="pt-BR" sz="923" dirty="0">
                <a:solidFill>
                  <a:schemeClr val="tx1"/>
                </a:solidFill>
              </a:rPr>
              <a:t>Contrato de construção negociado </a:t>
            </a:r>
            <a:r>
              <a:rPr lang="pt-BR" sz="923" b="0" dirty="0">
                <a:solidFill>
                  <a:schemeClr val="tx1"/>
                </a:solidFill>
              </a:rPr>
              <a:t>com garantia de custo,</a:t>
            </a:r>
            <a:r>
              <a:rPr lang="en-US" sz="923" b="0" dirty="0">
                <a:solidFill>
                  <a:schemeClr val="tx1"/>
                </a:solidFill>
              </a:rPr>
              <a:t> </a:t>
            </a:r>
            <a:r>
              <a:rPr lang="pt-BR" sz="923" b="0" dirty="0">
                <a:solidFill>
                  <a:schemeClr val="tx1"/>
                </a:solidFill>
              </a:rPr>
              <a:t>performance e prazo de execução.</a:t>
            </a:r>
            <a:endParaRPr lang="pt-BR" sz="923" b="0" dirty="0"/>
          </a:p>
        </p:txBody>
      </p:sp>
    </p:spTree>
    <p:extLst>
      <p:ext uri="{BB962C8B-B14F-4D97-AF65-F5344CB8AC3E}">
        <p14:creationId xmlns:p14="http://schemas.microsoft.com/office/powerpoint/2010/main" val="1956744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2"/>
          <p:cNvSpPr>
            <a:spLocks noChangeArrowheads="1"/>
          </p:cNvSpPr>
          <p:nvPr/>
        </p:nvSpPr>
        <p:spPr bwMode="auto">
          <a:xfrm>
            <a:off x="184171" y="1358194"/>
            <a:ext cx="3244362" cy="2151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pt-BR" sz="923" dirty="0">
              <a:solidFill>
                <a:srgbClr val="000000"/>
              </a:solidFill>
              <a:latin typeface="Verdana" pitchFamily="34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2.9. Utilidades : 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2.9.1. Fluxogramas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.9.2. Balanço de material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.9.3. Ligação com fornecedores de: água, efluentes, água pluvial, energia, gás, vapor, ruas, trilhos, portos ou rios.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.9.4. Linhas de distribuição na unidade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.9.5. Projeto de tratamento de efluentes, exigências ambientais &amp; legais.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.9.6. Planilha de quantidades.</a:t>
            </a:r>
            <a:endParaRPr kumimoji="1" lang="pt-BR" sz="923" b="1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69" name="Text Box 8"/>
          <p:cNvSpPr txBox="1">
            <a:spLocks noChangeArrowheads="1"/>
          </p:cNvSpPr>
          <p:nvPr/>
        </p:nvSpPr>
        <p:spPr bwMode="auto">
          <a:xfrm>
            <a:off x="121180" y="3503161"/>
            <a:ext cx="3535879" cy="2507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1pPr>
            <a:lvl2pPr marL="265113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2pPr>
            <a:lvl3pPr marL="11430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3pPr>
            <a:lvl4pPr marL="16002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4pPr>
            <a:lvl5pPr marL="20574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9pPr>
          </a:lstStyle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pt-BR" sz="923" kern="0" dirty="0"/>
          </a:p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kern="0" dirty="0"/>
              <a:t>2.10. Elétrica: </a:t>
            </a:r>
          </a:p>
          <a:p>
            <a:pPr marL="244726" lvl="1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2</a:t>
            </a:r>
            <a:r>
              <a:rPr lang="pt-BR" sz="923" b="0" kern="0" dirty="0"/>
              <a:t>.10.1. Dados de carga</a:t>
            </a:r>
          </a:p>
          <a:p>
            <a:pPr marL="244726" lvl="1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2.10.2. Rede de energia</a:t>
            </a:r>
          </a:p>
          <a:p>
            <a:pPr marL="244726" lvl="1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2</a:t>
            </a:r>
            <a:r>
              <a:rPr lang="pt-BR" sz="923" b="0" kern="0" dirty="0"/>
              <a:t>.10.3. Subestação de energia</a:t>
            </a:r>
          </a:p>
          <a:p>
            <a:pPr marL="244726" lvl="1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2.10.4. Distribuição de energia e intertravamentos</a:t>
            </a:r>
          </a:p>
          <a:p>
            <a:pPr marL="244726" lvl="1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2.10.5. Lista de motores</a:t>
            </a:r>
          </a:p>
          <a:p>
            <a:pPr marL="244726" lvl="1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2.10.6. Rota e especificação de cabos</a:t>
            </a:r>
          </a:p>
          <a:p>
            <a:pPr marL="244726" lvl="1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2.10.7. Iluminação</a:t>
            </a:r>
          </a:p>
          <a:p>
            <a:pPr marL="244726" lvl="1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2.10.8. Descargas elétricas</a:t>
            </a:r>
          </a:p>
          <a:p>
            <a:pPr marL="244726" lvl="1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2.10.9. Planilha de quantidades de material &amp; serviço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1180" y="351954"/>
            <a:ext cx="1880442" cy="566906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Preparação - Continuação </a:t>
            </a:r>
          </a:p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“Projeto Detalhado”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0781" y="1358194"/>
            <a:ext cx="3976799" cy="1654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2.11. </a:t>
            </a: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Lista de equipamentos, Data </a:t>
            </a:r>
            <a:r>
              <a:rPr kumimoji="1" lang="pt-BR" sz="923" b="1" dirty="0" err="1">
                <a:solidFill>
                  <a:srgbClr val="000000"/>
                </a:solidFill>
                <a:latin typeface="Verdana" pitchFamily="34" charset="0"/>
              </a:rPr>
              <a:t>Sheets</a:t>
            </a: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 &amp; Preliminar: Planilha de quantidades para todas as disciplinas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: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2.11.1. Civil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2.11.2. Estrutural &amp; mecânica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2.11.3. Processo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2.11.4. Tubulação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2.11.5. Elétrica</a:t>
            </a:r>
          </a:p>
          <a:p>
            <a:pPr marL="263776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2.11.6. Instrumentação e Controle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402431" y="3235666"/>
            <a:ext cx="4590394" cy="3217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2.12. Civil, estrutural &amp; mecânica 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: </a:t>
            </a:r>
          </a:p>
          <a:p>
            <a:pPr marL="33411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2.12.1. Avaliação do terreno, nivelamento, drenagem e outros serviços para adaptação do terreno</a:t>
            </a:r>
          </a:p>
          <a:p>
            <a:pPr marL="33411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.12.2. Projetos de Estradas / Ferrovias / Hidrovias / Portos</a:t>
            </a:r>
          </a:p>
          <a:p>
            <a:pPr marL="33411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.12.3. Projeto de logística para recebimento, armazenamento, embarque de produtos/matéria-prima</a:t>
            </a:r>
          </a:p>
          <a:p>
            <a:pPr marL="33411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.12.4. Plano para tratamento de efluentes (processo, 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á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gua pluvial, rejeitos, esgotos e emissões gasosas)</a:t>
            </a:r>
          </a:p>
          <a:p>
            <a:pPr marL="33411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.12.5. Maquinário de embarque</a:t>
            </a:r>
          </a:p>
          <a:p>
            <a:pPr marL="33411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.12.6. Cálculos de rotação e vibração</a:t>
            </a:r>
          </a:p>
          <a:p>
            <a:pPr marL="33411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.12.7. Projeto de perfuração e fundação</a:t>
            </a:r>
          </a:p>
          <a:p>
            <a:pPr marL="33411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.12.8. Projeto estrutural e elevação</a:t>
            </a:r>
          </a:p>
          <a:p>
            <a:pPr marL="33411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.12.9. Layout das instalações</a:t>
            </a:r>
          </a:p>
          <a:p>
            <a:pPr marL="33411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.12.10. Ventilação/ Refrigeração/ Aquecimento e Ar Condicionado</a:t>
            </a:r>
          </a:p>
          <a:p>
            <a:pPr marL="33411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.12.11. Especificações de pintura e isolamento</a:t>
            </a:r>
          </a:p>
          <a:p>
            <a:pPr marL="33411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.12.12. Planilha de quantidades para materiais e serviço.</a:t>
            </a:r>
            <a:endParaRPr kumimoji="1" lang="pt-BR" sz="923" dirty="0">
              <a:solidFill>
                <a:srgbClr val="000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79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21180" y="1778581"/>
            <a:ext cx="4572000" cy="193892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2.13 </a:t>
            </a: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Instrumentação &amp; Controle : 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2.13.1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Filosofia de controle e 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Inter travamentos</a:t>
            </a:r>
            <a:endParaRPr kumimoji="1" lang="pt-BR" sz="923" dirty="0">
              <a:solidFill>
                <a:srgbClr val="000000"/>
              </a:solidFill>
              <a:latin typeface="Verdana" pitchFamily="34" charset="0"/>
            </a:endParaRP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2.13.2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Data-</a:t>
            </a:r>
            <a:r>
              <a:rPr kumimoji="1" lang="pt-BR" sz="923" dirty="0" err="1">
                <a:solidFill>
                  <a:srgbClr val="000000"/>
                </a:solidFill>
                <a:latin typeface="Verdana" pitchFamily="34" charset="0"/>
              </a:rPr>
              <a:t>sheet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 de PLC e Painéis de Controle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2.13.3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Data-</a:t>
            </a:r>
            <a:r>
              <a:rPr kumimoji="1" lang="pt-BR" sz="923" dirty="0" err="1">
                <a:solidFill>
                  <a:srgbClr val="000000"/>
                </a:solidFill>
                <a:latin typeface="Verdana" pitchFamily="34" charset="0"/>
              </a:rPr>
              <a:t>sheet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 de instrumentação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2.13.4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Layout da Sala de Controle 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2.13.5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Layout de instrumentação, PLC e Painéis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2.13.6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Equipamentos de Instrumentação 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2.13.7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Diagramas de linha única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2.13.8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Planilha de Quantidades.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180" y="351954"/>
            <a:ext cx="1880442" cy="566906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Preparação - Continuação</a:t>
            </a:r>
          </a:p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“Projeto Detalhado”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180" y="3942965"/>
            <a:ext cx="4572000" cy="193892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2.14 </a:t>
            </a:r>
            <a:r>
              <a:rPr kumimoji="1" lang="pt-BR" sz="923" b="1" dirty="0" err="1">
                <a:solidFill>
                  <a:srgbClr val="000000"/>
                </a:solidFill>
                <a:latin typeface="Verdana" pitchFamily="34" charset="0"/>
              </a:rPr>
              <a:t>KPI´s</a:t>
            </a: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: </a:t>
            </a:r>
            <a:endParaRPr kumimoji="1" lang="pt-BR" sz="923" b="1" dirty="0">
              <a:solidFill>
                <a:srgbClr val="000000"/>
              </a:solidFill>
              <a:latin typeface="Verdana" pitchFamily="34" charset="0"/>
            </a:endParaRP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2.14.1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Filosofia de controle e 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Inter travamentos</a:t>
            </a:r>
            <a:endParaRPr kumimoji="1" lang="pt-BR" sz="923" dirty="0">
              <a:solidFill>
                <a:srgbClr val="000000"/>
              </a:solidFill>
              <a:latin typeface="Verdana" pitchFamily="34" charset="0"/>
            </a:endParaRP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2.14.2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Data-</a:t>
            </a:r>
            <a:r>
              <a:rPr kumimoji="1" lang="pt-BR" sz="923" dirty="0" err="1">
                <a:solidFill>
                  <a:srgbClr val="000000"/>
                </a:solidFill>
                <a:latin typeface="Verdana" pitchFamily="34" charset="0"/>
              </a:rPr>
              <a:t>sheet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 de PLC e Painéis de Controle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2.14.3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Data-</a:t>
            </a:r>
            <a:r>
              <a:rPr kumimoji="1" lang="pt-BR" sz="923" dirty="0" err="1">
                <a:solidFill>
                  <a:srgbClr val="000000"/>
                </a:solidFill>
                <a:latin typeface="Verdana" pitchFamily="34" charset="0"/>
              </a:rPr>
              <a:t>sheet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 de instrumentação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2.14.4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Layout da Sala de Controle 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2.14.5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Layout de instrumentação, PLC e Painéis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2.14.6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Equipamentos de Instrumentação 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2.14.7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Diagramas de linha única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2.14.8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. Planilha de Quantidades.</a:t>
            </a:r>
          </a:p>
        </p:txBody>
      </p:sp>
    </p:spTree>
    <p:extLst>
      <p:ext uri="{BB962C8B-B14F-4D97-AF65-F5344CB8AC3E}">
        <p14:creationId xmlns:p14="http://schemas.microsoft.com/office/powerpoint/2010/main" val="420931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83"/>
          <p:cNvSpPr/>
          <p:nvPr/>
        </p:nvSpPr>
        <p:spPr bwMode="auto">
          <a:xfrm>
            <a:off x="429039" y="4768953"/>
            <a:ext cx="977724" cy="522284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Execução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Compras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81" name="Conector angulado 80"/>
          <p:cNvCxnSpPr>
            <a:endCxn id="31" idx="1"/>
          </p:cNvCxnSpPr>
          <p:nvPr/>
        </p:nvCxnSpPr>
        <p:spPr>
          <a:xfrm rot="5400000" flipH="1" flipV="1">
            <a:off x="37954" y="5074250"/>
            <a:ext cx="435239" cy="346932"/>
          </a:xfrm>
          <a:prstGeom prst="bentConnector2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/>
          <p:nvPr/>
        </p:nvCxnSpPr>
        <p:spPr>
          <a:xfrm>
            <a:off x="169011" y="1142745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/>
          <p:nvPr/>
        </p:nvCxnSpPr>
        <p:spPr>
          <a:xfrm>
            <a:off x="1605280" y="1206655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109"/>
          <p:cNvCxnSpPr/>
          <p:nvPr/>
        </p:nvCxnSpPr>
        <p:spPr>
          <a:xfrm flipV="1">
            <a:off x="169011" y="6360884"/>
            <a:ext cx="1403114" cy="209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83"/>
          <p:cNvSpPr/>
          <p:nvPr/>
        </p:nvSpPr>
        <p:spPr bwMode="auto">
          <a:xfrm>
            <a:off x="391007" y="1578775"/>
            <a:ext cx="1015756" cy="60124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4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Compras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e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contrução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6" name="Losango 159"/>
          <p:cNvSpPr/>
          <p:nvPr/>
        </p:nvSpPr>
        <p:spPr>
          <a:xfrm>
            <a:off x="1205204" y="4064023"/>
            <a:ext cx="412988" cy="3942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46" dirty="0"/>
              <a:t>5</a:t>
            </a:r>
          </a:p>
        </p:txBody>
      </p:sp>
      <p:cxnSp>
        <p:nvCxnSpPr>
          <p:cNvPr id="79" name="Conector angulado 36"/>
          <p:cNvCxnSpPr>
            <a:stCxn id="31" idx="3"/>
            <a:endCxn id="76" idx="2"/>
          </p:cNvCxnSpPr>
          <p:nvPr/>
        </p:nvCxnSpPr>
        <p:spPr>
          <a:xfrm flipV="1">
            <a:off x="1406763" y="4458227"/>
            <a:ext cx="4936" cy="571868"/>
          </a:xfrm>
          <a:prstGeom prst="bentConnector2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angulado 36"/>
          <p:cNvCxnSpPr>
            <a:stCxn id="76" idx="0"/>
          </p:cNvCxnSpPr>
          <p:nvPr/>
        </p:nvCxnSpPr>
        <p:spPr>
          <a:xfrm rot="5400000" flipH="1" flipV="1">
            <a:off x="1378217" y="3654622"/>
            <a:ext cx="442884" cy="375919"/>
          </a:xfrm>
          <a:prstGeom prst="bentConnector2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21180" y="351954"/>
            <a:ext cx="1612618" cy="566906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Fase de </a:t>
            </a:r>
          </a:p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“Execução”</a:t>
            </a: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1787619" y="1206654"/>
            <a:ext cx="6147289" cy="1228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1pPr>
            <a:lvl2pPr marL="742950" indent="-28575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2pPr>
            <a:lvl3pPr marL="11430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3pPr>
            <a:lvl4pPr marL="16002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4pPr>
            <a:lvl5pPr marL="20574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9pPr>
          </a:lstStyle>
          <a:p>
            <a:pPr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923" dirty="0">
                <a:solidFill>
                  <a:schemeClr val="tx1"/>
                </a:solidFill>
              </a:rPr>
              <a:t> Plano de projeto</a:t>
            </a:r>
            <a:r>
              <a:rPr lang="pt-BR" sz="923" b="0" dirty="0">
                <a:solidFill>
                  <a:schemeClr val="tx1"/>
                </a:solidFill>
              </a:rPr>
              <a:t>: Organização do gerenciamento do projeto, Controles Financeiros, Cronograma de execução, plano de mitigação de riscos e plano </a:t>
            </a:r>
            <a:r>
              <a:rPr lang="pt-BR" sz="923" dirty="0">
                <a:solidFill>
                  <a:srgbClr val="FF0000"/>
                </a:solidFill>
              </a:rPr>
              <a:t>QA/QC??.</a:t>
            </a:r>
          </a:p>
          <a:p>
            <a:pPr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923" dirty="0">
                <a:solidFill>
                  <a:schemeClr val="tx1"/>
                </a:solidFill>
              </a:rPr>
              <a:t> </a:t>
            </a:r>
            <a:r>
              <a:rPr lang="pt-BR" sz="923" b="0" dirty="0">
                <a:solidFill>
                  <a:schemeClr val="tx1"/>
                </a:solidFill>
              </a:rPr>
              <a:t>Aprovação dos contratos </a:t>
            </a:r>
            <a:r>
              <a:rPr lang="pt-BR" sz="923" dirty="0">
                <a:solidFill>
                  <a:schemeClr val="tx1"/>
                </a:solidFill>
              </a:rPr>
              <a:t> </a:t>
            </a:r>
            <a:r>
              <a:rPr lang="pt-BR" sz="923" b="0" dirty="0">
                <a:solidFill>
                  <a:schemeClr val="tx1"/>
                </a:solidFill>
              </a:rPr>
              <a:t>e contrato de outros fornecedores com garantia de custo, performance e gerenciamento da construção</a:t>
            </a:r>
            <a:endParaRPr lang="pt-BR" sz="923" dirty="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Font typeface="Wingdings" pitchFamily="2" charset="2"/>
              <a:buChar char="q"/>
            </a:pPr>
            <a:r>
              <a:rPr lang="pt-BR" sz="923" dirty="0"/>
              <a:t> Controles do projeto: </a:t>
            </a:r>
            <a:r>
              <a:rPr lang="pt-BR" sz="923" b="0" dirty="0"/>
              <a:t>inclui relatório de segurança, progresso das obras, finanças (comprometimento, disposto, atualização e realizado), cronograma (cronograma e análises de caminho crítico), análises de mitigação de riscos.</a:t>
            </a:r>
            <a:endParaRPr lang="pt-BR" sz="923" b="0" dirty="0"/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1970329" y="2600902"/>
            <a:ext cx="3304442" cy="293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1pPr>
            <a:lvl2pPr marL="742950" indent="-28575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2pPr>
            <a:lvl3pPr marL="11430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3pPr>
            <a:lvl4pPr marL="16002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4pPr>
            <a:lvl5pPr marL="20574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9pPr>
          </a:lstStyle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kern="0" dirty="0"/>
              <a:t>3.1. Plano executivo</a:t>
            </a:r>
          </a:p>
          <a:p>
            <a:pPr marL="244726" lvl="2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4.1.1. Transferências de arquivos (Especificação do projeto aprovado, revisão do projeto inicial/ Descritivo do Capex)</a:t>
            </a:r>
          </a:p>
          <a:p>
            <a:pPr marL="244726" lvl="2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4.1.2. Projeto Executivo</a:t>
            </a:r>
            <a:endParaRPr lang="pt-BR" sz="923" kern="0" dirty="0"/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4.1.3. Programa de segurança da contratante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4.1.4. Programa de seguro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4.1.5. Cronograma executivo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4.1.6. Procedimentos QA/QC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4.1.7. Aprovação do progresso de trabalhos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4.1.8. Procedimento de aprovação de pagamentos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4.1.9. Procedimentos para acompanhamento e relatório financeiros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4.1.10. Avaliação de riscos &amp; plano de mitigação</a:t>
            </a:r>
            <a:endParaRPr lang="pt-BR" sz="923" b="0" kern="0" dirty="0"/>
          </a:p>
        </p:txBody>
      </p:sp>
      <p:sp>
        <p:nvSpPr>
          <p:cNvPr id="24" name="Rectangle 2"/>
          <p:cNvSpPr>
            <a:spLocks noChangeArrowheads="1"/>
          </p:cNvSpPr>
          <p:nvPr/>
        </p:nvSpPr>
        <p:spPr bwMode="auto">
          <a:xfrm>
            <a:off x="5476666" y="2549921"/>
            <a:ext cx="4572000" cy="129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3.2. Processo de compra</a:t>
            </a:r>
          </a:p>
          <a:p>
            <a:pPr lvl="1" indent="-254983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4.2.1. Planilha de Quantidades Final</a:t>
            </a:r>
          </a:p>
          <a:p>
            <a:pPr lvl="1" indent="-254983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4.2.2. Processos de licitação (RFI/RFP/RFQ/</a:t>
            </a:r>
            <a:r>
              <a:rPr kumimoji="1" lang="pt-BR" sz="923" dirty="0" err="1">
                <a:solidFill>
                  <a:srgbClr val="000000"/>
                </a:solidFill>
                <a:latin typeface="Verdana" pitchFamily="34" charset="0"/>
              </a:rPr>
              <a:t>Bids</a:t>
            </a: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)</a:t>
            </a:r>
          </a:p>
          <a:p>
            <a:pPr lvl="1" indent="-254983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4.2.3. Avaliação de propostas / Seleção de fornecedores</a:t>
            </a:r>
          </a:p>
          <a:p>
            <a:pPr lvl="1" indent="-254983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4.2.4. Padrão de contrato dos fornecedores </a:t>
            </a:r>
          </a:p>
          <a:p>
            <a:pPr lvl="1" indent="-254983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4.2.5. Aprovação de contratos e assinatura</a:t>
            </a:r>
            <a:endParaRPr kumimoji="1" lang="pt-BR" sz="923" b="1" dirty="0">
              <a:solidFill>
                <a:srgbClr val="000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3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1180" y="1152975"/>
            <a:ext cx="4572000" cy="115762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3.3</a:t>
            </a: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. Contratos</a:t>
            </a:r>
          </a:p>
          <a:p>
            <a:pPr marL="167058" lvl="2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4.3.1. Negociação e assinatura do Gerenciamento de Construção (EPC/EPCM) contratos padrão, incluindo custos, performance  e garantias de prazo</a:t>
            </a:r>
          </a:p>
          <a:p>
            <a:pPr marL="167058" lvl="2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4.3.2. Negociação e assinatura de contratos de Material e Serviços </a:t>
            </a:r>
          </a:p>
          <a:p>
            <a:pPr marL="167058" lvl="2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4.3.3. Aprovação e Execução de contratos correlatos.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180" y="2641811"/>
            <a:ext cx="4572000" cy="122867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3.4</a:t>
            </a: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. Gerenciamento de Construção</a:t>
            </a:r>
          </a:p>
          <a:p>
            <a:pPr marL="168817" lvl="2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4.4.2 Execução plano executivo</a:t>
            </a:r>
            <a:endParaRPr kumimoji="1" lang="pt-BR" sz="923" b="1" dirty="0">
              <a:solidFill>
                <a:srgbClr val="000000"/>
              </a:solidFill>
              <a:latin typeface="Verdana" pitchFamily="34" charset="0"/>
            </a:endParaRP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4.4.1. Gerenciamento de contratos EPC/EPCM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4.4.3  Gerenciamento de contratos de Material e Serviço até a entrega. 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4.4.4. Gerenciamento de obras in loco até realização da parte mecânica</a:t>
            </a: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5301259" y="1156293"/>
            <a:ext cx="2889034" cy="4992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1pPr>
            <a:lvl2pPr marL="628650" indent="-17145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2pPr>
            <a:lvl3pPr marL="11430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3pPr>
            <a:lvl4pPr marL="16002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4pPr>
            <a:lvl5pPr marL="20574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9pPr>
          </a:lstStyle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kern="0" dirty="0"/>
              <a:t>3</a:t>
            </a:r>
            <a:r>
              <a:rPr lang="pt-BR" sz="923" kern="0" dirty="0"/>
              <a:t>.5. Controle de implementação do projeto</a:t>
            </a:r>
            <a:endParaRPr lang="pt-BR" sz="923" b="0" kern="0" dirty="0"/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4.5.1. Controle de segurança in loco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4.5.2. Progresso da construção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4.5.3. Cronograma de implementação 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4.5.4. Analises de caminha crítico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4.5.5. Análise de risco e plano de mitigação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4.5.6. Pacote de relatórios do projeto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4.5.7. Revisão do projeto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4.5.8. Direcionamento do comitê</a:t>
            </a:r>
          </a:p>
          <a:p>
            <a:pPr marL="580307" lvl="1" indent="-158265" defTabSz="844083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v"/>
              <a:defRPr/>
            </a:pPr>
            <a:endParaRPr lang="pt-BR" sz="923" b="0" kern="0" dirty="0"/>
          </a:p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kern="0" dirty="0"/>
              <a:t>3</a:t>
            </a:r>
            <a:r>
              <a:rPr lang="pt-BR" sz="923" kern="0" dirty="0"/>
              <a:t>.6. Controles financeiro 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4.6.1. Aprovação do progresso de obras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4.6.2. Aprovação de faturamento de empreiteiros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4.6.3. Requisição de pagamento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4.6.4. Gestão de </a:t>
            </a:r>
            <a:r>
              <a:rPr lang="pt-BR" sz="923" b="0" kern="0" dirty="0" err="1"/>
              <a:t>reivendicações</a:t>
            </a:r>
            <a:r>
              <a:rPr lang="pt-BR" sz="923" b="0" kern="0" dirty="0"/>
              <a:t> da contratante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4.6.5. Progresso dos compromissos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4.6.6. Progresso dos gastos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4.6.7. Atualização do budget estimado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4.6.8. Revisão do budget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4.6.9. Pacote de informações financeiras	</a:t>
            </a:r>
          </a:p>
        </p:txBody>
      </p:sp>
      <p:sp>
        <p:nvSpPr>
          <p:cNvPr id="6" name="Rectangle 16"/>
          <p:cNvSpPr/>
          <p:nvPr/>
        </p:nvSpPr>
        <p:spPr>
          <a:xfrm>
            <a:off x="121180" y="351954"/>
            <a:ext cx="1612618" cy="566906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Fase de </a:t>
            </a:r>
          </a:p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“Execução” </a:t>
            </a:r>
          </a:p>
        </p:txBody>
      </p:sp>
      <p:sp>
        <p:nvSpPr>
          <p:cNvPr id="7" name="Rounded Rectangle 83"/>
          <p:cNvSpPr/>
          <p:nvPr/>
        </p:nvSpPr>
        <p:spPr bwMode="auto">
          <a:xfrm>
            <a:off x="419610" y="4650574"/>
            <a:ext cx="1015756" cy="60124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Fase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4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Compras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e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contrução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673377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31635" y="1286389"/>
            <a:ext cx="3379177" cy="4921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844083" lvl="1" indent="-158265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v"/>
              <a:defRPr/>
            </a:pPr>
            <a:endParaRPr kumimoji="1" lang="pt-BR" sz="923" dirty="0">
              <a:solidFill>
                <a:srgbClr val="000000"/>
              </a:solidFill>
              <a:latin typeface="Verdana" pitchFamily="34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3.7. Gerenciamento de mudanças no Projeto:  </a:t>
            </a:r>
          </a:p>
          <a:p>
            <a:pPr marL="24472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4.7.1. Criação de procedimentos para a gestão de mudanças no cronograma, desenhos, especificações ou budget</a:t>
            </a:r>
          </a:p>
          <a:p>
            <a:pPr marL="24472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4.7.2. Manter registros de aprovação de mudanças</a:t>
            </a:r>
          </a:p>
          <a:p>
            <a:pPr marL="24472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4.7.3. Negociação e Liquidação de reivindicações de material e disputas durante a implementação do projeto</a:t>
            </a:r>
          </a:p>
          <a:p>
            <a:pPr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pt-BR" sz="923" dirty="0">
              <a:solidFill>
                <a:srgbClr val="000000"/>
              </a:solidFill>
              <a:latin typeface="Verdana" pitchFamily="34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3.8. Documentação do Projeto e Sistema de Gerenciamento  </a:t>
            </a:r>
          </a:p>
          <a:p>
            <a:pPr marL="24472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4.8.1. Documentação do projeto do design conceitual até os desenhos As Build e Planilha de Quantidade </a:t>
            </a:r>
          </a:p>
          <a:p>
            <a:pPr marL="24472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4.8.2. Contrato das empreiteiras e documentação do Gerenciamento da Construção</a:t>
            </a:r>
          </a:p>
          <a:p>
            <a:pPr marL="24472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4.8.3. Sistema de gerenciamento de projeto (custos, cronograma) e Sala de dados do projeto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3</a:t>
            </a: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.9. Plano de liberação:  </a:t>
            </a:r>
          </a:p>
          <a:p>
            <a:pPr marL="24472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4.9.1. Aplicação de liberação de todas as autorizações exigidas para construir e operar as instalações em conformidade com requisitos legais e ambientais</a:t>
            </a:r>
          </a:p>
          <a:p>
            <a:pPr marL="244726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4.9.2. Negociação de todos os acordos / contratos  e licenças necessárias para operação de utilidades e logística</a:t>
            </a:r>
            <a:endParaRPr kumimoji="1" lang="pt-BR" sz="923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1180" y="351954"/>
            <a:ext cx="1612618" cy="566906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Fase de “Execução”</a:t>
            </a:r>
          </a:p>
        </p:txBody>
      </p:sp>
    </p:spTree>
    <p:extLst>
      <p:ext uri="{BB962C8B-B14F-4D97-AF65-F5344CB8AC3E}">
        <p14:creationId xmlns:p14="http://schemas.microsoft.com/office/powerpoint/2010/main" val="80062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83"/>
          <p:cNvSpPr/>
          <p:nvPr/>
        </p:nvSpPr>
        <p:spPr bwMode="auto">
          <a:xfrm>
            <a:off x="523171" y="1765860"/>
            <a:ext cx="617301" cy="355081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>
                <a:solidFill>
                  <a:srgbClr val="000000"/>
                </a:solidFill>
                <a:latin typeface="Verdana"/>
              </a:rPr>
              <a:t>A.P.P</a:t>
            </a: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94" name="Conector reto 93"/>
          <p:cNvCxnSpPr/>
          <p:nvPr/>
        </p:nvCxnSpPr>
        <p:spPr>
          <a:xfrm>
            <a:off x="340927" y="1142355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83"/>
          <p:cNvSpPr/>
          <p:nvPr/>
        </p:nvSpPr>
        <p:spPr bwMode="auto">
          <a:xfrm>
            <a:off x="195794" y="1243887"/>
            <a:ext cx="1389839" cy="348029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1108" i="1" kern="0" dirty="0">
                <a:solidFill>
                  <a:srgbClr val="000000"/>
                </a:solidFill>
                <a:latin typeface="Verdana"/>
              </a:rPr>
              <a:t>Evaluation</a:t>
            </a:r>
          </a:p>
        </p:txBody>
      </p:sp>
      <p:sp>
        <p:nvSpPr>
          <p:cNvPr id="108" name="Rounded Rectangle 83"/>
          <p:cNvSpPr/>
          <p:nvPr/>
        </p:nvSpPr>
        <p:spPr bwMode="auto">
          <a:xfrm>
            <a:off x="471641" y="5830492"/>
            <a:ext cx="818777" cy="33075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Fases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5 e 6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10" name="Conector de seta reta 109"/>
          <p:cNvCxnSpPr/>
          <p:nvPr/>
        </p:nvCxnSpPr>
        <p:spPr>
          <a:xfrm>
            <a:off x="340928" y="6298682"/>
            <a:ext cx="1031043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angulado 36"/>
          <p:cNvCxnSpPr>
            <a:endCxn id="98" idx="1"/>
          </p:cNvCxnSpPr>
          <p:nvPr/>
        </p:nvCxnSpPr>
        <p:spPr>
          <a:xfrm rot="5400000" flipH="1" flipV="1">
            <a:off x="75110" y="3666275"/>
            <a:ext cx="367890" cy="248614"/>
          </a:xfrm>
          <a:prstGeom prst="bentConnector2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3"/>
          <p:cNvSpPr/>
          <p:nvPr/>
        </p:nvSpPr>
        <p:spPr bwMode="auto">
          <a:xfrm>
            <a:off x="435078" y="4393928"/>
            <a:ext cx="936892" cy="436216"/>
          </a:xfrm>
          <a:prstGeom prst="roundRect">
            <a:avLst/>
          </a:prstGeom>
          <a:noFill/>
          <a:ln w="25400" cap="flat" cmpd="sng" algn="ctr">
            <a:noFill/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Aceite</a:t>
            </a:r>
            <a:r>
              <a:rPr lang="en-US" sz="923" kern="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Obra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Solicitante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8" name="Rounded Rectangle 83"/>
          <p:cNvSpPr/>
          <p:nvPr/>
        </p:nvSpPr>
        <p:spPr bwMode="auto">
          <a:xfrm>
            <a:off x="383362" y="3429096"/>
            <a:ext cx="907056" cy="355081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Comissionamento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14" name="Rounded Rectangle 83"/>
          <p:cNvSpPr/>
          <p:nvPr/>
        </p:nvSpPr>
        <p:spPr bwMode="auto">
          <a:xfrm>
            <a:off x="473646" y="2609904"/>
            <a:ext cx="729816" cy="355081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923" kern="0" dirty="0" err="1">
                <a:solidFill>
                  <a:srgbClr val="000000"/>
                </a:solidFill>
                <a:latin typeface="Verdana"/>
              </a:rPr>
              <a:t>Entrega</a:t>
            </a:r>
            <a:endParaRPr lang="en-US" sz="923" kern="0" dirty="0">
              <a:solidFill>
                <a:srgbClr val="000000"/>
              </a:solidFill>
              <a:latin typeface="Verdana"/>
            </a:endParaRPr>
          </a:p>
          <a:p>
            <a:pPr algn="ctr">
              <a:defRPr/>
            </a:pPr>
            <a:endParaRPr lang="en-US" sz="923" kern="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104" name="Straight Arrow Connector 103"/>
          <p:cNvCxnSpPr>
            <a:stCxn id="98" idx="0"/>
            <a:endCxn id="114" idx="2"/>
          </p:cNvCxnSpPr>
          <p:nvPr/>
        </p:nvCxnSpPr>
        <p:spPr>
          <a:xfrm flipV="1">
            <a:off x="836891" y="2964985"/>
            <a:ext cx="1664" cy="46411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114" idx="0"/>
            <a:endCxn id="56" idx="2"/>
          </p:cNvCxnSpPr>
          <p:nvPr/>
        </p:nvCxnSpPr>
        <p:spPr>
          <a:xfrm flipH="1" flipV="1">
            <a:off x="831822" y="2120941"/>
            <a:ext cx="6733" cy="488963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93"/>
          <p:cNvCxnSpPr/>
          <p:nvPr/>
        </p:nvCxnSpPr>
        <p:spPr>
          <a:xfrm>
            <a:off x="1371970" y="1142355"/>
            <a:ext cx="0" cy="53463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Box 8"/>
          <p:cNvSpPr txBox="1">
            <a:spLocks noChangeArrowheads="1"/>
          </p:cNvSpPr>
          <p:nvPr/>
        </p:nvSpPr>
        <p:spPr bwMode="auto">
          <a:xfrm>
            <a:off x="1585633" y="1142355"/>
            <a:ext cx="6147288" cy="873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1pPr>
            <a:lvl2pPr marL="742950" indent="-28575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2pPr>
            <a:lvl3pPr marL="11430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3pPr>
            <a:lvl4pPr marL="16002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4pPr>
            <a:lvl5pPr marL="20574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9pPr>
          </a:lstStyle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q"/>
              <a:defRPr/>
            </a:pPr>
            <a:r>
              <a:rPr lang="pt-BR" sz="923" kern="0" dirty="0"/>
              <a:t> </a:t>
            </a:r>
            <a:r>
              <a:rPr lang="pt-BR" sz="923" b="0" kern="0" dirty="0"/>
              <a:t>Procedimentos de comissionamento,</a:t>
            </a:r>
            <a:r>
              <a:rPr lang="pt-BR" sz="923" kern="0" dirty="0"/>
              <a:t> plano de comissionamento </a:t>
            </a:r>
            <a:r>
              <a:rPr lang="pt-BR" sz="923" b="0" kern="0" dirty="0"/>
              <a:t>completo</a:t>
            </a:r>
          </a:p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q"/>
              <a:defRPr/>
            </a:pPr>
            <a:r>
              <a:rPr lang="pt-BR" sz="923" kern="0" dirty="0"/>
              <a:t> Fechamento de contratos</a:t>
            </a:r>
          </a:p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q"/>
              <a:defRPr/>
            </a:pPr>
            <a:r>
              <a:rPr lang="pt-BR" sz="923" kern="0" dirty="0"/>
              <a:t> As build </a:t>
            </a:r>
            <a:r>
              <a:rPr lang="pt-BR" sz="923" b="0" kern="0" dirty="0"/>
              <a:t>do projeto, equipamentos e documentações das instalações</a:t>
            </a:r>
          </a:p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q"/>
              <a:defRPr/>
            </a:pPr>
            <a:r>
              <a:rPr lang="pt-BR" sz="923" b="0" kern="0" dirty="0"/>
              <a:t> Procedimentos operacionais padrão </a:t>
            </a:r>
            <a:r>
              <a:rPr lang="pt-BR" sz="923" kern="0" dirty="0"/>
              <a:t>(POP), treinamento</a:t>
            </a:r>
            <a:r>
              <a:rPr lang="pt-BR" sz="923" b="0" kern="0" dirty="0"/>
              <a:t> de colaboradores</a:t>
            </a:r>
            <a:endParaRPr lang="pt-BR" sz="923" b="0" kern="0" dirty="0"/>
          </a:p>
        </p:txBody>
      </p:sp>
      <p:sp>
        <p:nvSpPr>
          <p:cNvPr id="69" name="Text Box 8"/>
          <p:cNvSpPr txBox="1">
            <a:spLocks noChangeArrowheads="1"/>
          </p:cNvSpPr>
          <p:nvPr/>
        </p:nvSpPr>
        <p:spPr bwMode="auto">
          <a:xfrm>
            <a:off x="1458492" y="1906773"/>
            <a:ext cx="3555483" cy="4495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1pPr>
            <a:lvl2pPr marL="742950" indent="-28575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2pPr>
            <a:lvl3pPr marL="11430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3pPr>
            <a:lvl4pPr marL="16002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4pPr>
            <a:lvl5pPr marL="2057400" indent="-228600"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000000"/>
                </a:solidFill>
                <a:latin typeface="Verdana" pitchFamily="34" charset="0"/>
              </a:defRPr>
            </a:lvl9pPr>
          </a:lstStyle>
          <a:p>
            <a:pPr marL="422041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pt-BR" sz="923" b="0" kern="0" dirty="0"/>
          </a:p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kern="0" dirty="0"/>
              <a:t>4</a:t>
            </a:r>
            <a:r>
              <a:rPr lang="pt-BR" sz="923" kern="0" dirty="0"/>
              <a:t>.1. Procedimento de Comissionamento</a:t>
            </a:r>
          </a:p>
          <a:p>
            <a:pPr marL="168817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5.1.1. Equipamento/ Processos de teste de aceitação da fábrica</a:t>
            </a:r>
          </a:p>
          <a:p>
            <a:pPr marL="168817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5.1.2. Procedimento de </a:t>
            </a:r>
            <a:r>
              <a:rPr lang="pt-BR" sz="923" b="0" kern="0" dirty="0" err="1"/>
              <a:t>check</a:t>
            </a:r>
            <a:r>
              <a:rPr lang="pt-BR" sz="923" b="0" kern="0" dirty="0"/>
              <a:t>-out de equipamentos e instalações</a:t>
            </a:r>
          </a:p>
          <a:p>
            <a:pPr marL="168817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5.1.3. Procedimento de testes de equipamentos</a:t>
            </a:r>
          </a:p>
          <a:p>
            <a:pPr marL="168817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5.1.4. Procedimento de conclusão mecânica</a:t>
            </a:r>
          </a:p>
          <a:p>
            <a:pPr marL="168817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5.1.5. Procedimento de garantias de teste</a:t>
            </a:r>
          </a:p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kern="0" dirty="0"/>
              <a:t>4.2. Plano de Comissionamento</a:t>
            </a:r>
          </a:p>
          <a:p>
            <a:pPr marL="168817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5.2.1. Cronograma detalhado e alocação de recursos do programa de comissionamento</a:t>
            </a:r>
          </a:p>
          <a:p>
            <a:pPr marL="168817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5.2.2. Programa de Comissionamento completo</a:t>
            </a:r>
          </a:p>
          <a:p>
            <a:pPr marL="168817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5.2.3. Mecânica completa</a:t>
            </a:r>
          </a:p>
          <a:p>
            <a:pPr marL="168817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5.2.4. Lista de pendências, itens</a:t>
            </a:r>
          </a:p>
          <a:p>
            <a:pPr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kern="0" dirty="0"/>
              <a:t>4.3. Plano de liberação</a:t>
            </a:r>
          </a:p>
          <a:p>
            <a:pPr marL="168817" lvl="1" indent="-10258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5.3.1. Apuração de todas autorizações e licenças exigidas para construir e operar em conformidade com exigências legais e ambientais</a:t>
            </a:r>
          </a:p>
          <a:p>
            <a:pPr marL="168817" lvl="1" indent="-10258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5.3.2. Acordos / contratos e licenças necessárias para operação das utilidades e logísticas</a:t>
            </a:r>
          </a:p>
          <a:p>
            <a:pPr marL="168817" lvl="1" indent="-10258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t-BR" sz="923" b="0" kern="0" dirty="0"/>
              <a:t>5.3.3. Plano de seguro de operação em vigor</a:t>
            </a:r>
          </a:p>
          <a:p>
            <a:pPr marL="244726" lvl="1" indent="0" defTabSz="844083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pt-BR" sz="923" b="0" kern="0" dirty="0"/>
          </a:p>
        </p:txBody>
      </p:sp>
      <p:sp>
        <p:nvSpPr>
          <p:cNvPr id="72" name="Rectangle 2"/>
          <p:cNvSpPr>
            <a:spLocks noChangeArrowheads="1"/>
          </p:cNvSpPr>
          <p:nvPr/>
        </p:nvSpPr>
        <p:spPr bwMode="auto">
          <a:xfrm>
            <a:off x="5174307" y="2077486"/>
            <a:ext cx="3871010" cy="47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4.4. Documentação de projeto</a:t>
            </a:r>
          </a:p>
          <a:p>
            <a:pPr marL="168817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5.4.1. As build e desenhos completos</a:t>
            </a:r>
          </a:p>
          <a:p>
            <a:pPr marL="168817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5.4.2. Documentação e data sheet de Equipamento &amp; Processo </a:t>
            </a:r>
          </a:p>
          <a:p>
            <a:pPr marL="168817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5.4.3. Registros de Comissionamento</a:t>
            </a:r>
          </a:p>
          <a:p>
            <a:pPr marL="168817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5.4.4. Registros de segurança</a:t>
            </a:r>
          </a:p>
          <a:p>
            <a:pPr marL="168817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5.4.5. Garantias e certificados de materiais e serviços de fornecedores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4.5. </a:t>
            </a:r>
            <a:r>
              <a:rPr kumimoji="1" lang="pt-BR" sz="923" b="1" dirty="0" err="1">
                <a:solidFill>
                  <a:srgbClr val="000000"/>
                </a:solidFill>
                <a:latin typeface="Verdana" pitchFamily="34" charset="0"/>
              </a:rPr>
              <a:t>Start-up</a:t>
            </a:r>
            <a:endParaRPr kumimoji="1" lang="pt-BR" sz="923" b="1" dirty="0">
              <a:solidFill>
                <a:srgbClr val="000000"/>
              </a:solidFill>
              <a:latin typeface="Verdana" pitchFamily="34" charset="0"/>
            </a:endParaRPr>
          </a:p>
          <a:p>
            <a:pPr marL="168817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5.5.1. Contratação e treinamento da equipe de produção</a:t>
            </a:r>
          </a:p>
          <a:p>
            <a:pPr marL="168817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5.5.2. Contratação e treinamento da equipe de manutenção</a:t>
            </a:r>
          </a:p>
          <a:p>
            <a:pPr marL="168817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5.5.3. Criação dos </a:t>
            </a:r>
            <a:r>
              <a:rPr kumimoji="1" lang="pt-BR" sz="923" dirty="0" err="1">
                <a:solidFill>
                  <a:srgbClr val="000000"/>
                </a:solidFill>
                <a:latin typeface="Verdana" pitchFamily="34" charset="0"/>
              </a:rPr>
              <a:t>POP’s</a:t>
            </a:r>
            <a:endParaRPr kumimoji="1" lang="pt-BR" sz="923" dirty="0">
              <a:solidFill>
                <a:srgbClr val="000000"/>
              </a:solidFill>
              <a:latin typeface="Verdana" pitchFamily="34" charset="0"/>
            </a:endParaRPr>
          </a:p>
          <a:p>
            <a:pPr marL="168817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5.5.4. Programas de treinamento </a:t>
            </a:r>
            <a:r>
              <a:rPr kumimoji="1" lang="pt-BR" sz="923" i="1" dirty="0" err="1">
                <a:solidFill>
                  <a:srgbClr val="000000"/>
                </a:solidFill>
                <a:latin typeface="Verdana" pitchFamily="34" charset="0"/>
              </a:rPr>
              <a:t>on</a:t>
            </a:r>
            <a:r>
              <a:rPr kumimoji="1" lang="pt-BR" sz="923" i="1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kumimoji="1" lang="pt-BR" sz="923" i="1" dirty="0" err="1">
                <a:solidFill>
                  <a:srgbClr val="000000"/>
                </a:solidFill>
                <a:latin typeface="Verdana" pitchFamily="34" charset="0"/>
              </a:rPr>
              <a:t>the</a:t>
            </a:r>
            <a:r>
              <a:rPr kumimoji="1" lang="pt-BR" sz="923" i="1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kumimoji="1" lang="pt-BR" sz="923" i="1" dirty="0" err="1">
                <a:solidFill>
                  <a:srgbClr val="000000"/>
                </a:solidFill>
                <a:latin typeface="Verdana" pitchFamily="34" charset="0"/>
              </a:rPr>
              <a:t>job</a:t>
            </a:r>
            <a:endParaRPr kumimoji="1" lang="pt-BR" sz="923" i="1" dirty="0">
              <a:solidFill>
                <a:srgbClr val="000000"/>
              </a:solidFill>
              <a:latin typeface="Verdana" pitchFamily="34" charset="0"/>
            </a:endParaRPr>
          </a:p>
          <a:p>
            <a:pPr marL="168817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5.5.5. Programas de treinamento dos fornecedores</a:t>
            </a:r>
          </a:p>
          <a:p>
            <a:pPr marL="168817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5.5.6. Programa de treinamento dos </a:t>
            </a:r>
            <a:r>
              <a:rPr kumimoji="1" lang="pt-BR" sz="923" dirty="0" err="1">
                <a:solidFill>
                  <a:srgbClr val="000000"/>
                </a:solidFill>
                <a:latin typeface="Verdana" pitchFamily="34" charset="0"/>
              </a:rPr>
              <a:t>POP’s</a:t>
            </a:r>
            <a:endParaRPr kumimoji="1" lang="pt-BR" sz="923" dirty="0">
              <a:solidFill>
                <a:srgbClr val="000000"/>
              </a:solidFill>
              <a:latin typeface="Verdana" pitchFamily="34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b="1" dirty="0">
                <a:solidFill>
                  <a:srgbClr val="000000"/>
                </a:solidFill>
                <a:latin typeface="Verdana" pitchFamily="34" charset="0"/>
              </a:rPr>
              <a:t>4.6. Fechamento do Projeto</a:t>
            </a:r>
          </a:p>
          <a:p>
            <a:pPr marL="168817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5.6.1. Lista de depuração</a:t>
            </a:r>
          </a:p>
          <a:p>
            <a:pPr marL="168817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5.6.2. Encerramento de contratos: Avaliação de indenização de atrasos / pagamento de bônus para conclusão antecipada</a:t>
            </a:r>
          </a:p>
          <a:p>
            <a:pPr marL="168817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pt-BR" sz="923" dirty="0">
                <a:solidFill>
                  <a:srgbClr val="000000"/>
                </a:solidFill>
                <a:latin typeface="Verdana" pitchFamily="34" charset="0"/>
              </a:rPr>
              <a:t>5.6.3. Negociação e Liquidação de reivindicações  de materiais e disputas, apuramento de responsabilidades</a:t>
            </a:r>
          </a:p>
          <a:p>
            <a:pPr marL="167058" lvl="1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kumimoji="1" lang="pt-BR" sz="923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21180" y="351954"/>
            <a:ext cx="1612618" cy="566906"/>
          </a:xfrm>
          <a:prstGeom prst="rect">
            <a:avLst/>
          </a:prstGeom>
          <a:solidFill>
            <a:srgbClr val="FF99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Fase de “</a:t>
            </a:r>
            <a:r>
              <a:rPr lang="pt-BR" sz="1292" b="1" dirty="0" err="1">
                <a:solidFill>
                  <a:sysClr val="windowText" lastClr="000000"/>
                </a:solidFill>
                <a:latin typeface="BankGothic Lt BT" pitchFamily="34" charset="0"/>
              </a:rPr>
              <a:t>Execuação</a:t>
            </a:r>
            <a:r>
              <a:rPr lang="pt-BR" sz="1292" b="1" dirty="0">
                <a:solidFill>
                  <a:sysClr val="windowText" lastClr="000000"/>
                </a:solidFill>
                <a:latin typeface="BankGothic Lt BT" pitchFamily="34" charset="0"/>
              </a:rPr>
              <a:t> e Produção”</a:t>
            </a:r>
          </a:p>
        </p:txBody>
      </p:sp>
    </p:spTree>
    <p:extLst>
      <p:ext uri="{BB962C8B-B14F-4D97-AF65-F5344CB8AC3E}">
        <p14:creationId xmlns:p14="http://schemas.microsoft.com/office/powerpoint/2010/main" val="4251937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73AE-3680-47B5-9E93-A14B3F8736D1}" type="slidenum">
              <a:rPr lang="en-US" smtClean="0"/>
              <a:t>23</a:t>
            </a:fld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1" t="35553" r="17864" b="8197"/>
          <a:stretch/>
        </p:blipFill>
        <p:spPr bwMode="auto">
          <a:xfrm>
            <a:off x="844062" y="1334593"/>
            <a:ext cx="7369792" cy="5064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638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173AE-3680-47B5-9E93-A14B3F8736D1}" type="slidenum">
              <a:rPr lang="en-US" smtClean="0"/>
              <a:t>24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3" t="18189" r="18750" b="18424"/>
          <a:stretch/>
        </p:blipFill>
        <p:spPr bwMode="auto">
          <a:xfrm>
            <a:off x="1799754" y="1847231"/>
            <a:ext cx="5908082" cy="4696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1" t="43949" r="17864" b="46676"/>
          <a:stretch/>
        </p:blipFill>
        <p:spPr bwMode="auto">
          <a:xfrm>
            <a:off x="1776308" y="1072150"/>
            <a:ext cx="5956724" cy="682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0846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SJKY8ita0Wsc0aoXDXvJQ"/>
</p:tagLst>
</file>

<file path=ppt/theme/theme1.xml><?xml version="1.0" encoding="utf-8"?>
<a:theme xmlns:a="http://schemas.openxmlformats.org/drawingml/2006/main" name="apresentação empres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empresa</Template>
  <TotalTime>793</TotalTime>
  <Words>2892</Words>
  <Application>Microsoft Office PowerPoint</Application>
  <PresentationFormat>Apresentação na tela (4:3)</PresentationFormat>
  <Paragraphs>603</Paragraphs>
  <Slides>24</Slides>
  <Notes>1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1" baseType="lpstr">
      <vt:lpstr>Arial</vt:lpstr>
      <vt:lpstr>BankGothic Lt BT</vt:lpstr>
      <vt:lpstr>Calibri</vt:lpstr>
      <vt:lpstr>Times New Roman</vt:lpstr>
      <vt:lpstr>Verdana</vt:lpstr>
      <vt:lpstr>Wingdings</vt:lpstr>
      <vt:lpstr>apresentação empresa</vt:lpstr>
      <vt:lpstr>  MODELO DE GESTÃO DE PROJETOS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Jose</dc:creator>
  <cp:lastModifiedBy>João Leal</cp:lastModifiedBy>
  <cp:revision>58</cp:revision>
  <dcterms:created xsi:type="dcterms:W3CDTF">2017-11-14T18:46:04Z</dcterms:created>
  <dcterms:modified xsi:type="dcterms:W3CDTF">2019-02-01T01:31:17Z</dcterms:modified>
</cp:coreProperties>
</file>