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314" r:id="rId4"/>
    <p:sldId id="258" r:id="rId5"/>
    <p:sldId id="303" r:id="rId6"/>
    <p:sldId id="306" r:id="rId7"/>
    <p:sldId id="259" r:id="rId8"/>
    <p:sldId id="305" r:id="rId9"/>
    <p:sldId id="279" r:id="rId10"/>
    <p:sldId id="310" r:id="rId11"/>
    <p:sldId id="285" r:id="rId12"/>
    <p:sldId id="311" r:id="rId13"/>
    <p:sldId id="312"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4" r:id="rId30"/>
    <p:sldId id="302" r:id="rId31"/>
    <p:sldId id="260" r:id="rId32"/>
    <p:sldId id="282" r:id="rId33"/>
    <p:sldId id="262" r:id="rId34"/>
    <p:sldId id="263" r:id="rId35"/>
    <p:sldId id="264" r:id="rId36"/>
    <p:sldId id="265" r:id="rId37"/>
    <p:sldId id="283" r:id="rId38"/>
    <p:sldId id="266" r:id="rId39"/>
    <p:sldId id="308" r:id="rId40"/>
    <p:sldId id="284" r:id="rId41"/>
    <p:sldId id="269" r:id="rId42"/>
    <p:sldId id="270" r:id="rId43"/>
    <p:sldId id="271" r:id="rId44"/>
    <p:sldId id="309" r:id="rId45"/>
    <p:sldId id="274" r:id="rId46"/>
    <p:sldId id="267" r:id="rId47"/>
    <p:sldId id="272" r:id="rId48"/>
    <p:sldId id="268" r:id="rId49"/>
    <p:sldId id="273" r:id="rId50"/>
    <p:sldId id="275" r:id="rId51"/>
    <p:sldId id="276" r:id="rId52"/>
    <p:sldId id="277" r:id="rId53"/>
    <p:sldId id="278" r:id="rId54"/>
    <p:sldId id="307" r:id="rId5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A8E"/>
    <a:srgbClr val="C3C3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édio 2 - Ênfas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9" autoAdjust="0"/>
    <p:restoredTop sz="95501" autoAdjust="0"/>
  </p:normalViewPr>
  <p:slideViewPr>
    <p:cSldViewPr snapToGrid="0">
      <p:cViewPr varScale="1">
        <p:scale>
          <a:sx n="87" d="100"/>
          <a:sy n="87" d="100"/>
        </p:scale>
        <p:origin x="552"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588498" y="2897944"/>
            <a:ext cx="11380764" cy="1170576"/>
          </a:xfrm>
        </p:spPr>
        <p:txBody>
          <a:bodyPr anchor="b"/>
          <a:lstStyle>
            <a:lvl1pPr algn="ctr">
              <a:defRPr sz="6000">
                <a:solidFill>
                  <a:schemeClr val="accent1">
                    <a:lumMod val="50000"/>
                  </a:schemeClr>
                </a:solidFill>
                <a:latin typeface="Helvetica" panose="020B0604020202020204" pitchFamily="34" charset="0"/>
                <a:cs typeface="Helvetica" panose="020B0604020202020204" pitchFamily="34" charset="0"/>
              </a:defRPr>
            </a:lvl1pPr>
          </a:lstStyle>
          <a:p>
            <a:r>
              <a:rPr lang="pt-BR" smtClean="0"/>
              <a:t>Clique para editar o título mestre</a:t>
            </a:r>
            <a:endParaRPr lang="pt-BR"/>
          </a:p>
        </p:txBody>
      </p:sp>
      <p:sp>
        <p:nvSpPr>
          <p:cNvPr id="3" name="Subtítulo 2"/>
          <p:cNvSpPr>
            <a:spLocks noGrp="1"/>
          </p:cNvSpPr>
          <p:nvPr>
            <p:ph type="subTitle" idx="1"/>
          </p:nvPr>
        </p:nvSpPr>
        <p:spPr>
          <a:xfrm>
            <a:off x="1706880" y="4130998"/>
            <a:ext cx="9144000" cy="730810"/>
          </a:xfrm>
        </p:spPr>
        <p:txBody>
          <a:bodyPr/>
          <a:lstStyle>
            <a:lvl1pPr marL="0" indent="0" algn="ctr">
              <a:buNone/>
              <a:defRPr sz="2400">
                <a:solidFill>
                  <a:schemeClr val="accent1">
                    <a:lumMod val="50000"/>
                  </a:schemeClr>
                </a:solidFill>
                <a:latin typeface="Helvetica" panose="020B0604020202020204" pitchFamily="34" charset="0"/>
                <a:cs typeface="Helvetica"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13298764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0" y="224449"/>
            <a:ext cx="12023188" cy="858764"/>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smtClean="0"/>
              <a:t>Clique para editar o título mestre</a:t>
            </a:r>
            <a:endParaRPr lang="pt-BR"/>
          </a:p>
        </p:txBody>
      </p:sp>
      <p:sp>
        <p:nvSpPr>
          <p:cNvPr id="3" name="Espaço Reservado para Conteúdo 2"/>
          <p:cNvSpPr>
            <a:spLocks noGrp="1"/>
          </p:cNvSpPr>
          <p:nvPr>
            <p:ph idx="1"/>
          </p:nvPr>
        </p:nvSpPr>
        <p:spPr>
          <a:xfrm>
            <a:off x="317694" y="1291053"/>
            <a:ext cx="11705493" cy="4351338"/>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vl2pPr>
              <a:defRPr>
                <a:solidFill>
                  <a:schemeClr val="accent1">
                    <a:lumMod val="50000"/>
                  </a:schemeClr>
                </a:solidFill>
                <a:latin typeface="Helvetica" panose="020B0604020202020204" pitchFamily="34" charset="0"/>
                <a:cs typeface="Helvetica" panose="020B0604020202020204" pitchFamily="34" charset="0"/>
              </a:defRPr>
            </a:lvl2pPr>
            <a:lvl3pPr>
              <a:defRPr>
                <a:solidFill>
                  <a:schemeClr val="accent1">
                    <a:lumMod val="50000"/>
                  </a:schemeClr>
                </a:solidFill>
                <a:latin typeface="Helvetica" panose="020B0604020202020204" pitchFamily="34" charset="0"/>
                <a:cs typeface="Helvetica" panose="020B0604020202020204" pitchFamily="34" charset="0"/>
              </a:defRPr>
            </a:lvl3pPr>
            <a:lvl4pPr>
              <a:defRPr>
                <a:solidFill>
                  <a:schemeClr val="accent1">
                    <a:lumMod val="50000"/>
                  </a:schemeClr>
                </a:solidFill>
                <a:latin typeface="Helvetica" panose="020B0604020202020204" pitchFamily="34" charset="0"/>
                <a:cs typeface="Helvetica" panose="020B0604020202020204" pitchFamily="34" charset="0"/>
              </a:defRPr>
            </a:lvl4pPr>
            <a:lvl5pPr>
              <a:defRPr>
                <a:solidFill>
                  <a:schemeClr val="accent1">
                    <a:lumMod val="50000"/>
                  </a:schemeClr>
                </a:solidFill>
                <a:latin typeface="Helvetica" panose="020B0604020202020204" pitchFamily="34" charset="0"/>
                <a:cs typeface="Helvetica" panose="020B0604020202020204" pitchFamily="34" charset="0"/>
              </a:defRPr>
            </a:lvl5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2369801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513984"/>
            <a:ext cx="10515600" cy="3467173"/>
          </a:xfrm>
        </p:spPr>
        <p:txBody>
          <a:bodyPr anchor="b">
            <a:normAutofit/>
          </a:bodyPr>
          <a:lstStyle>
            <a:lvl1pPr>
              <a:defRPr sz="5400">
                <a:solidFill>
                  <a:schemeClr val="accent1">
                    <a:lumMod val="50000"/>
                  </a:schemeClr>
                </a:solidFill>
                <a:latin typeface="Helvetica" panose="020B0604020202020204" pitchFamily="34" charset="0"/>
                <a:cs typeface="Helvetica" panose="020B0604020202020204" pitchFamily="34" charset="0"/>
              </a:defRPr>
            </a:lvl1pPr>
          </a:lstStyle>
          <a:p>
            <a:r>
              <a:rPr lang="pt-BR" dirty="0" smtClean="0"/>
              <a:t>Clique para editar o título mestre</a:t>
            </a:r>
            <a:endParaRPr lang="pt-BR" dirty="0"/>
          </a:p>
        </p:txBody>
      </p:sp>
      <p:sp>
        <p:nvSpPr>
          <p:cNvPr id="3" name="Espaço Reservado para Texto 2"/>
          <p:cNvSpPr>
            <a:spLocks noGrp="1"/>
          </p:cNvSpPr>
          <p:nvPr>
            <p:ph type="body" idx="1"/>
          </p:nvPr>
        </p:nvSpPr>
        <p:spPr>
          <a:xfrm>
            <a:off x="838200" y="3981157"/>
            <a:ext cx="10515600" cy="912739"/>
          </a:xfrm>
        </p:spPr>
        <p:txBody>
          <a:bodyPr/>
          <a:lstStyle>
            <a:lvl1pPr marL="0" indent="0">
              <a:buNone/>
              <a:defRPr sz="2400">
                <a:solidFill>
                  <a:schemeClr val="tx1">
                    <a:tint val="75000"/>
                  </a:schemeClr>
                </a:solidFill>
                <a:latin typeface="Helvetica" panose="020B0604020202020204" pitchFamily="34" charset="0"/>
                <a:cs typeface="Helvetica"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smtClean="0"/>
              <a:t>Clique para editar o texto mestre</a:t>
            </a:r>
          </a:p>
        </p:txBody>
      </p:sp>
      <p:sp>
        <p:nvSpPr>
          <p:cNvPr id="4" name="Espaço Reservado para Data 3"/>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7844125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0" y="154111"/>
            <a:ext cx="12192000" cy="830628"/>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214529738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90480013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a:xfrm>
            <a:off x="0" y="154110"/>
            <a:ext cx="12192000" cy="985373"/>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50091739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3088523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213758587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182332342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235070103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9642BF85-54FF-46CE-B398-87F998CFD60B}" type="datetimeFigureOut">
              <a:rPr lang="pt-BR" smtClean="0"/>
              <a:pPr/>
              <a:t>07/08/2018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pPr/>
              <a:t>‹nº›</a:t>
            </a:fld>
            <a:endParaRPr lang="pt-BR"/>
          </a:p>
        </p:txBody>
      </p:sp>
    </p:spTree>
    <p:extLst>
      <p:ext uri="{BB962C8B-B14F-4D97-AF65-F5344CB8AC3E}">
        <p14:creationId xmlns:p14="http://schemas.microsoft.com/office/powerpoint/2010/main" val="74208850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 y="0"/>
            <a:ext cx="398780" cy="298450"/>
          </a:xfrm>
          <a:custGeom>
            <a:avLst/>
            <a:gdLst/>
            <a:ahLst/>
            <a:cxnLst/>
            <a:rect l="l" t="t" r="r" b="b"/>
            <a:pathLst>
              <a:path w="299085" h="298450">
                <a:moveTo>
                  <a:pt x="298635" y="0"/>
                </a:moveTo>
                <a:lnTo>
                  <a:pt x="200806" y="0"/>
                </a:lnTo>
                <a:lnTo>
                  <a:pt x="0" y="200083"/>
                </a:lnTo>
                <a:lnTo>
                  <a:pt x="0" y="297827"/>
                </a:lnTo>
                <a:lnTo>
                  <a:pt x="298635" y="0"/>
                </a:lnTo>
                <a:close/>
              </a:path>
            </a:pathLst>
          </a:custGeom>
          <a:solidFill>
            <a:srgbClr val="CECECE"/>
          </a:solidFill>
        </p:spPr>
        <p:txBody>
          <a:bodyPr wrap="square" lIns="0" tIns="0" rIns="0" bIns="0" rtlCol="0"/>
          <a:lstStyle/>
          <a:p>
            <a:endParaRPr sz="1800"/>
          </a:p>
        </p:txBody>
      </p:sp>
      <p:sp>
        <p:nvSpPr>
          <p:cNvPr id="17" name="bk object 17"/>
          <p:cNvSpPr/>
          <p:nvPr/>
        </p:nvSpPr>
        <p:spPr>
          <a:xfrm>
            <a:off x="1" y="1"/>
            <a:ext cx="861060" cy="644525"/>
          </a:xfrm>
          <a:custGeom>
            <a:avLst/>
            <a:gdLst/>
            <a:ahLst/>
            <a:cxnLst/>
            <a:rect l="l" t="t" r="r" b="b"/>
            <a:pathLst>
              <a:path w="645795" h="644525">
                <a:moveTo>
                  <a:pt x="645221" y="0"/>
                </a:moveTo>
                <a:lnTo>
                  <a:pt x="547287" y="0"/>
                </a:lnTo>
                <a:lnTo>
                  <a:pt x="0" y="546357"/>
                </a:lnTo>
                <a:lnTo>
                  <a:pt x="0" y="644256"/>
                </a:lnTo>
                <a:lnTo>
                  <a:pt x="645221" y="0"/>
                </a:lnTo>
                <a:close/>
              </a:path>
            </a:pathLst>
          </a:custGeom>
          <a:solidFill>
            <a:srgbClr val="CECECE"/>
          </a:solidFill>
        </p:spPr>
        <p:txBody>
          <a:bodyPr wrap="square" lIns="0" tIns="0" rIns="0" bIns="0" rtlCol="0"/>
          <a:lstStyle/>
          <a:p>
            <a:endParaRPr sz="1800"/>
          </a:p>
        </p:txBody>
      </p:sp>
      <p:sp>
        <p:nvSpPr>
          <p:cNvPr id="18" name="bk object 18"/>
          <p:cNvSpPr/>
          <p:nvPr/>
        </p:nvSpPr>
        <p:spPr>
          <a:xfrm>
            <a:off x="1" y="1"/>
            <a:ext cx="1322492" cy="991235"/>
          </a:xfrm>
          <a:custGeom>
            <a:avLst/>
            <a:gdLst/>
            <a:ahLst/>
            <a:cxnLst/>
            <a:rect l="l" t="t" r="r" b="b"/>
            <a:pathLst>
              <a:path w="991869" h="991235">
                <a:moveTo>
                  <a:pt x="991679" y="0"/>
                </a:moveTo>
                <a:lnTo>
                  <a:pt x="893863" y="0"/>
                </a:lnTo>
                <a:lnTo>
                  <a:pt x="0" y="892823"/>
                </a:lnTo>
                <a:lnTo>
                  <a:pt x="0" y="990613"/>
                </a:lnTo>
                <a:lnTo>
                  <a:pt x="991679" y="0"/>
                </a:lnTo>
                <a:close/>
              </a:path>
            </a:pathLst>
          </a:custGeom>
          <a:solidFill>
            <a:srgbClr val="CECECE"/>
          </a:solidFill>
        </p:spPr>
        <p:txBody>
          <a:bodyPr wrap="square" lIns="0" tIns="0" rIns="0" bIns="0" rtlCol="0"/>
          <a:lstStyle/>
          <a:p>
            <a:endParaRPr sz="1800"/>
          </a:p>
        </p:txBody>
      </p:sp>
      <p:sp>
        <p:nvSpPr>
          <p:cNvPr id="19" name="bk object 19"/>
          <p:cNvSpPr/>
          <p:nvPr/>
        </p:nvSpPr>
        <p:spPr>
          <a:xfrm>
            <a:off x="0" y="0"/>
            <a:ext cx="1784773" cy="1337310"/>
          </a:xfrm>
          <a:custGeom>
            <a:avLst/>
            <a:gdLst/>
            <a:ahLst/>
            <a:cxnLst/>
            <a:rect l="l" t="t" r="r" b="b"/>
            <a:pathLst>
              <a:path w="1338580" h="1337310">
                <a:moveTo>
                  <a:pt x="1338249" y="0"/>
                </a:moveTo>
                <a:lnTo>
                  <a:pt x="1240318" y="0"/>
                </a:lnTo>
                <a:lnTo>
                  <a:pt x="0" y="1239190"/>
                </a:lnTo>
                <a:lnTo>
                  <a:pt x="0" y="1337097"/>
                </a:lnTo>
                <a:lnTo>
                  <a:pt x="1338249" y="0"/>
                </a:lnTo>
                <a:close/>
              </a:path>
            </a:pathLst>
          </a:custGeom>
          <a:solidFill>
            <a:srgbClr val="CECECE"/>
          </a:solidFill>
        </p:spPr>
        <p:txBody>
          <a:bodyPr wrap="square" lIns="0" tIns="0" rIns="0" bIns="0" rtlCol="0"/>
          <a:lstStyle/>
          <a:p>
            <a:endParaRPr sz="1800"/>
          </a:p>
        </p:txBody>
      </p:sp>
      <p:sp>
        <p:nvSpPr>
          <p:cNvPr id="20" name="bk object 20"/>
          <p:cNvSpPr/>
          <p:nvPr/>
        </p:nvSpPr>
        <p:spPr>
          <a:xfrm>
            <a:off x="1" y="0"/>
            <a:ext cx="2247052" cy="1684020"/>
          </a:xfrm>
          <a:custGeom>
            <a:avLst/>
            <a:gdLst/>
            <a:ahLst/>
            <a:cxnLst/>
            <a:rect l="l" t="t" r="r" b="b"/>
            <a:pathLst>
              <a:path w="1685289" h="1684020">
                <a:moveTo>
                  <a:pt x="1684703" y="0"/>
                </a:moveTo>
                <a:lnTo>
                  <a:pt x="1586886" y="0"/>
                </a:lnTo>
                <a:lnTo>
                  <a:pt x="0" y="1585566"/>
                </a:lnTo>
                <a:lnTo>
                  <a:pt x="0" y="1683470"/>
                </a:lnTo>
                <a:lnTo>
                  <a:pt x="1684703" y="0"/>
                </a:lnTo>
                <a:close/>
              </a:path>
            </a:pathLst>
          </a:custGeom>
          <a:solidFill>
            <a:srgbClr val="CECECE"/>
          </a:solidFill>
        </p:spPr>
        <p:txBody>
          <a:bodyPr wrap="square" lIns="0" tIns="0" rIns="0" bIns="0" rtlCol="0"/>
          <a:lstStyle/>
          <a:p>
            <a:endParaRPr sz="1800"/>
          </a:p>
        </p:txBody>
      </p:sp>
      <p:sp>
        <p:nvSpPr>
          <p:cNvPr id="21" name="bk object 21"/>
          <p:cNvSpPr/>
          <p:nvPr/>
        </p:nvSpPr>
        <p:spPr>
          <a:xfrm>
            <a:off x="0" y="1"/>
            <a:ext cx="2708485" cy="2030095"/>
          </a:xfrm>
          <a:custGeom>
            <a:avLst/>
            <a:gdLst/>
            <a:ahLst/>
            <a:cxnLst/>
            <a:rect l="l" t="t" r="r" b="b"/>
            <a:pathLst>
              <a:path w="2031364" h="2030095">
                <a:moveTo>
                  <a:pt x="2031270" y="0"/>
                </a:moveTo>
                <a:lnTo>
                  <a:pt x="1933340" y="0"/>
                </a:lnTo>
                <a:lnTo>
                  <a:pt x="0" y="1932052"/>
                </a:lnTo>
                <a:lnTo>
                  <a:pt x="0" y="2029849"/>
                </a:lnTo>
                <a:lnTo>
                  <a:pt x="2031270" y="0"/>
                </a:lnTo>
                <a:close/>
              </a:path>
            </a:pathLst>
          </a:custGeom>
          <a:solidFill>
            <a:srgbClr val="CECECE"/>
          </a:solidFill>
        </p:spPr>
        <p:txBody>
          <a:bodyPr wrap="square" lIns="0" tIns="0" rIns="0" bIns="0" rtlCol="0"/>
          <a:lstStyle/>
          <a:p>
            <a:endParaRPr sz="1800"/>
          </a:p>
        </p:txBody>
      </p:sp>
      <p:sp>
        <p:nvSpPr>
          <p:cNvPr id="22" name="bk object 22"/>
          <p:cNvSpPr/>
          <p:nvPr/>
        </p:nvSpPr>
        <p:spPr>
          <a:xfrm>
            <a:off x="1" y="1"/>
            <a:ext cx="3170767" cy="2376805"/>
          </a:xfrm>
          <a:custGeom>
            <a:avLst/>
            <a:gdLst/>
            <a:ahLst/>
            <a:cxnLst/>
            <a:rect l="l" t="t" r="r" b="b"/>
            <a:pathLst>
              <a:path w="2378075" h="2376805">
                <a:moveTo>
                  <a:pt x="2377724" y="0"/>
                </a:moveTo>
                <a:lnTo>
                  <a:pt x="2279908" y="0"/>
                </a:lnTo>
                <a:lnTo>
                  <a:pt x="0" y="2278432"/>
                </a:lnTo>
                <a:lnTo>
                  <a:pt x="0" y="2376338"/>
                </a:lnTo>
                <a:lnTo>
                  <a:pt x="2377724" y="0"/>
                </a:lnTo>
                <a:close/>
              </a:path>
            </a:pathLst>
          </a:custGeom>
          <a:solidFill>
            <a:srgbClr val="CECECE"/>
          </a:solidFill>
        </p:spPr>
        <p:txBody>
          <a:bodyPr wrap="square" lIns="0" tIns="0" rIns="0" bIns="0" rtlCol="0"/>
          <a:lstStyle/>
          <a:p>
            <a:endParaRPr sz="1800"/>
          </a:p>
        </p:txBody>
      </p:sp>
      <p:sp>
        <p:nvSpPr>
          <p:cNvPr id="23" name="bk object 23"/>
          <p:cNvSpPr/>
          <p:nvPr/>
        </p:nvSpPr>
        <p:spPr>
          <a:xfrm>
            <a:off x="1" y="0"/>
            <a:ext cx="3633047" cy="2722880"/>
          </a:xfrm>
          <a:custGeom>
            <a:avLst/>
            <a:gdLst/>
            <a:ahLst/>
            <a:cxnLst/>
            <a:rect l="l" t="t" r="r" b="b"/>
            <a:pathLst>
              <a:path w="2724785" h="2722880">
                <a:moveTo>
                  <a:pt x="2724291" y="0"/>
                </a:moveTo>
                <a:lnTo>
                  <a:pt x="2626360" y="0"/>
                </a:lnTo>
                <a:lnTo>
                  <a:pt x="0" y="2624809"/>
                </a:lnTo>
                <a:lnTo>
                  <a:pt x="0" y="2722718"/>
                </a:lnTo>
                <a:lnTo>
                  <a:pt x="2724291" y="0"/>
                </a:lnTo>
                <a:close/>
              </a:path>
            </a:pathLst>
          </a:custGeom>
          <a:solidFill>
            <a:srgbClr val="CECECE"/>
          </a:solidFill>
        </p:spPr>
        <p:txBody>
          <a:bodyPr wrap="square" lIns="0" tIns="0" rIns="0" bIns="0" rtlCol="0"/>
          <a:lstStyle/>
          <a:p>
            <a:endParaRPr sz="1800"/>
          </a:p>
        </p:txBody>
      </p:sp>
      <p:sp>
        <p:nvSpPr>
          <p:cNvPr id="24" name="bk object 24"/>
          <p:cNvSpPr/>
          <p:nvPr/>
        </p:nvSpPr>
        <p:spPr>
          <a:xfrm>
            <a:off x="0" y="0"/>
            <a:ext cx="4094480" cy="3069590"/>
          </a:xfrm>
          <a:custGeom>
            <a:avLst/>
            <a:gdLst/>
            <a:ahLst/>
            <a:cxnLst/>
            <a:rect l="l" t="t" r="r" b="b"/>
            <a:pathLst>
              <a:path w="3070860" h="3069590">
                <a:moveTo>
                  <a:pt x="3070743" y="0"/>
                </a:moveTo>
                <a:lnTo>
                  <a:pt x="2972813" y="0"/>
                </a:lnTo>
                <a:lnTo>
                  <a:pt x="0" y="2971300"/>
                </a:lnTo>
                <a:lnTo>
                  <a:pt x="0" y="3069096"/>
                </a:lnTo>
                <a:lnTo>
                  <a:pt x="3070743" y="0"/>
                </a:lnTo>
                <a:close/>
              </a:path>
            </a:pathLst>
          </a:custGeom>
          <a:solidFill>
            <a:srgbClr val="CECECE"/>
          </a:solidFill>
        </p:spPr>
        <p:txBody>
          <a:bodyPr wrap="square" lIns="0" tIns="0" rIns="0" bIns="0" rtlCol="0"/>
          <a:lstStyle/>
          <a:p>
            <a:endParaRPr sz="1800"/>
          </a:p>
        </p:txBody>
      </p:sp>
      <p:sp>
        <p:nvSpPr>
          <p:cNvPr id="25" name="bk object 25"/>
          <p:cNvSpPr/>
          <p:nvPr/>
        </p:nvSpPr>
        <p:spPr>
          <a:xfrm>
            <a:off x="0" y="1"/>
            <a:ext cx="4556760" cy="3415665"/>
          </a:xfrm>
          <a:custGeom>
            <a:avLst/>
            <a:gdLst/>
            <a:ahLst/>
            <a:cxnLst/>
            <a:rect l="l" t="t" r="r" b="b"/>
            <a:pathLst>
              <a:path w="3417570" h="3415665">
                <a:moveTo>
                  <a:pt x="3417310" y="0"/>
                </a:moveTo>
                <a:lnTo>
                  <a:pt x="3319380" y="0"/>
                </a:lnTo>
                <a:lnTo>
                  <a:pt x="0" y="3317681"/>
                </a:lnTo>
                <a:lnTo>
                  <a:pt x="0" y="3415590"/>
                </a:lnTo>
                <a:lnTo>
                  <a:pt x="3417310" y="0"/>
                </a:lnTo>
                <a:close/>
              </a:path>
            </a:pathLst>
          </a:custGeom>
          <a:solidFill>
            <a:srgbClr val="CECECE"/>
          </a:solidFill>
        </p:spPr>
        <p:txBody>
          <a:bodyPr wrap="square" lIns="0" tIns="0" rIns="0" bIns="0" rtlCol="0"/>
          <a:lstStyle/>
          <a:p>
            <a:endParaRPr sz="1800"/>
          </a:p>
        </p:txBody>
      </p:sp>
      <p:sp>
        <p:nvSpPr>
          <p:cNvPr id="26" name="bk object 26"/>
          <p:cNvSpPr/>
          <p:nvPr/>
        </p:nvSpPr>
        <p:spPr>
          <a:xfrm>
            <a:off x="1" y="1"/>
            <a:ext cx="5019039" cy="3762375"/>
          </a:xfrm>
          <a:custGeom>
            <a:avLst/>
            <a:gdLst/>
            <a:ahLst/>
            <a:cxnLst/>
            <a:rect l="l" t="t" r="r" b="b"/>
            <a:pathLst>
              <a:path w="3764279" h="3762375">
                <a:moveTo>
                  <a:pt x="3763762" y="0"/>
                </a:moveTo>
                <a:lnTo>
                  <a:pt x="3665832" y="0"/>
                </a:lnTo>
                <a:lnTo>
                  <a:pt x="0" y="3664173"/>
                </a:lnTo>
                <a:lnTo>
                  <a:pt x="0" y="3761969"/>
                </a:lnTo>
                <a:lnTo>
                  <a:pt x="3763762" y="0"/>
                </a:lnTo>
                <a:close/>
              </a:path>
            </a:pathLst>
          </a:custGeom>
          <a:solidFill>
            <a:srgbClr val="CECECE"/>
          </a:solidFill>
        </p:spPr>
        <p:txBody>
          <a:bodyPr wrap="square" lIns="0" tIns="0" rIns="0" bIns="0" rtlCol="0"/>
          <a:lstStyle/>
          <a:p>
            <a:endParaRPr sz="1800"/>
          </a:p>
        </p:txBody>
      </p:sp>
      <p:sp>
        <p:nvSpPr>
          <p:cNvPr id="27" name="bk object 27"/>
          <p:cNvSpPr/>
          <p:nvPr/>
        </p:nvSpPr>
        <p:spPr>
          <a:xfrm>
            <a:off x="0" y="0"/>
            <a:ext cx="5480472" cy="4109085"/>
          </a:xfrm>
          <a:custGeom>
            <a:avLst/>
            <a:gdLst/>
            <a:ahLst/>
            <a:cxnLst/>
            <a:rect l="l" t="t" r="r" b="b"/>
            <a:pathLst>
              <a:path w="4110354" h="4109085">
                <a:moveTo>
                  <a:pt x="4110215" y="0"/>
                </a:moveTo>
                <a:lnTo>
                  <a:pt x="4012399" y="0"/>
                </a:lnTo>
                <a:lnTo>
                  <a:pt x="0" y="4010554"/>
                </a:lnTo>
                <a:lnTo>
                  <a:pt x="0" y="4108462"/>
                </a:lnTo>
                <a:lnTo>
                  <a:pt x="4110215" y="0"/>
                </a:lnTo>
                <a:close/>
              </a:path>
            </a:pathLst>
          </a:custGeom>
          <a:solidFill>
            <a:srgbClr val="CECECE"/>
          </a:solidFill>
        </p:spPr>
        <p:txBody>
          <a:bodyPr wrap="square" lIns="0" tIns="0" rIns="0" bIns="0" rtlCol="0"/>
          <a:lstStyle/>
          <a:p>
            <a:endParaRPr sz="1800"/>
          </a:p>
        </p:txBody>
      </p:sp>
      <p:sp>
        <p:nvSpPr>
          <p:cNvPr id="28" name="bk object 28"/>
          <p:cNvSpPr/>
          <p:nvPr/>
        </p:nvSpPr>
        <p:spPr>
          <a:xfrm>
            <a:off x="1" y="0"/>
            <a:ext cx="5942753" cy="4455160"/>
          </a:xfrm>
          <a:custGeom>
            <a:avLst/>
            <a:gdLst/>
            <a:ahLst/>
            <a:cxnLst/>
            <a:rect l="l" t="t" r="r" b="b"/>
            <a:pathLst>
              <a:path w="4457065" h="4455160">
                <a:moveTo>
                  <a:pt x="4456782" y="0"/>
                </a:moveTo>
                <a:lnTo>
                  <a:pt x="4358851" y="0"/>
                </a:lnTo>
                <a:lnTo>
                  <a:pt x="0" y="4356933"/>
                </a:lnTo>
                <a:lnTo>
                  <a:pt x="0" y="4454843"/>
                </a:lnTo>
                <a:lnTo>
                  <a:pt x="4456782" y="0"/>
                </a:lnTo>
                <a:close/>
              </a:path>
            </a:pathLst>
          </a:custGeom>
          <a:solidFill>
            <a:srgbClr val="CECECE"/>
          </a:solidFill>
        </p:spPr>
        <p:txBody>
          <a:bodyPr wrap="square" lIns="0" tIns="0" rIns="0" bIns="0" rtlCol="0"/>
          <a:lstStyle/>
          <a:p>
            <a:endParaRPr sz="1800"/>
          </a:p>
        </p:txBody>
      </p:sp>
      <p:sp>
        <p:nvSpPr>
          <p:cNvPr id="29" name="bk object 29"/>
          <p:cNvSpPr/>
          <p:nvPr/>
        </p:nvSpPr>
        <p:spPr>
          <a:xfrm>
            <a:off x="1" y="1"/>
            <a:ext cx="6405033" cy="4801235"/>
          </a:xfrm>
          <a:custGeom>
            <a:avLst/>
            <a:gdLst/>
            <a:ahLst/>
            <a:cxnLst/>
            <a:rect l="l" t="t" r="r" b="b"/>
            <a:pathLst>
              <a:path w="4803775" h="4801235">
                <a:moveTo>
                  <a:pt x="4803233" y="0"/>
                </a:moveTo>
                <a:lnTo>
                  <a:pt x="4705418" y="0"/>
                </a:lnTo>
                <a:lnTo>
                  <a:pt x="0" y="4703428"/>
                </a:lnTo>
                <a:lnTo>
                  <a:pt x="0" y="4801222"/>
                </a:lnTo>
                <a:lnTo>
                  <a:pt x="4803233" y="0"/>
                </a:lnTo>
                <a:close/>
              </a:path>
            </a:pathLst>
          </a:custGeom>
          <a:solidFill>
            <a:srgbClr val="CECECE"/>
          </a:solidFill>
        </p:spPr>
        <p:txBody>
          <a:bodyPr wrap="square" lIns="0" tIns="0" rIns="0" bIns="0" rtlCol="0"/>
          <a:lstStyle/>
          <a:p>
            <a:endParaRPr sz="1800"/>
          </a:p>
        </p:txBody>
      </p:sp>
      <p:sp>
        <p:nvSpPr>
          <p:cNvPr id="30" name="bk object 30"/>
          <p:cNvSpPr/>
          <p:nvPr/>
        </p:nvSpPr>
        <p:spPr>
          <a:xfrm>
            <a:off x="0" y="1"/>
            <a:ext cx="6866467" cy="5147945"/>
          </a:xfrm>
          <a:custGeom>
            <a:avLst/>
            <a:gdLst/>
            <a:ahLst/>
            <a:cxnLst/>
            <a:rect l="l" t="t" r="r" b="b"/>
            <a:pathLst>
              <a:path w="5149850" h="5147945">
                <a:moveTo>
                  <a:pt x="5149801" y="0"/>
                </a:moveTo>
                <a:lnTo>
                  <a:pt x="5051870" y="0"/>
                </a:lnTo>
                <a:lnTo>
                  <a:pt x="0" y="5049807"/>
                </a:lnTo>
                <a:lnTo>
                  <a:pt x="0" y="5147717"/>
                </a:lnTo>
                <a:lnTo>
                  <a:pt x="5149801" y="0"/>
                </a:lnTo>
                <a:close/>
              </a:path>
            </a:pathLst>
          </a:custGeom>
          <a:solidFill>
            <a:srgbClr val="CECECE"/>
          </a:solidFill>
        </p:spPr>
        <p:txBody>
          <a:bodyPr wrap="square" lIns="0" tIns="0" rIns="0" bIns="0" rtlCol="0"/>
          <a:lstStyle/>
          <a:p>
            <a:endParaRPr sz="1800"/>
          </a:p>
        </p:txBody>
      </p:sp>
      <p:sp>
        <p:nvSpPr>
          <p:cNvPr id="31" name="bk object 31"/>
          <p:cNvSpPr/>
          <p:nvPr/>
        </p:nvSpPr>
        <p:spPr>
          <a:xfrm>
            <a:off x="0" y="1"/>
            <a:ext cx="7328747" cy="5494655"/>
          </a:xfrm>
          <a:custGeom>
            <a:avLst/>
            <a:gdLst/>
            <a:ahLst/>
            <a:cxnLst/>
            <a:rect l="l" t="t" r="r" b="b"/>
            <a:pathLst>
              <a:path w="5496560" h="5494655">
                <a:moveTo>
                  <a:pt x="5496252" y="0"/>
                </a:moveTo>
                <a:lnTo>
                  <a:pt x="5398437" y="0"/>
                </a:lnTo>
                <a:lnTo>
                  <a:pt x="0" y="5396303"/>
                </a:lnTo>
                <a:lnTo>
                  <a:pt x="0" y="5494097"/>
                </a:lnTo>
                <a:lnTo>
                  <a:pt x="5496252" y="0"/>
                </a:lnTo>
                <a:close/>
              </a:path>
            </a:pathLst>
          </a:custGeom>
          <a:solidFill>
            <a:srgbClr val="CECECE"/>
          </a:solidFill>
        </p:spPr>
        <p:txBody>
          <a:bodyPr wrap="square" lIns="0" tIns="0" rIns="0" bIns="0" rtlCol="0"/>
          <a:lstStyle/>
          <a:p>
            <a:endParaRPr sz="1800"/>
          </a:p>
        </p:txBody>
      </p:sp>
      <p:sp>
        <p:nvSpPr>
          <p:cNvPr id="32" name="bk object 32"/>
          <p:cNvSpPr/>
          <p:nvPr/>
        </p:nvSpPr>
        <p:spPr>
          <a:xfrm>
            <a:off x="0" y="0"/>
            <a:ext cx="7791027" cy="5840730"/>
          </a:xfrm>
          <a:custGeom>
            <a:avLst/>
            <a:gdLst/>
            <a:ahLst/>
            <a:cxnLst/>
            <a:rect l="l" t="t" r="r" b="b"/>
            <a:pathLst>
              <a:path w="5843270" h="5840730">
                <a:moveTo>
                  <a:pt x="5842820" y="0"/>
                </a:moveTo>
                <a:lnTo>
                  <a:pt x="5744889" y="0"/>
                </a:lnTo>
                <a:lnTo>
                  <a:pt x="0" y="5742682"/>
                </a:lnTo>
                <a:lnTo>
                  <a:pt x="0" y="5840592"/>
                </a:lnTo>
                <a:lnTo>
                  <a:pt x="5842820" y="0"/>
                </a:lnTo>
                <a:close/>
              </a:path>
            </a:pathLst>
          </a:custGeom>
          <a:solidFill>
            <a:srgbClr val="CECECE"/>
          </a:solidFill>
        </p:spPr>
        <p:txBody>
          <a:bodyPr wrap="square" lIns="0" tIns="0" rIns="0" bIns="0" rtlCol="0"/>
          <a:lstStyle/>
          <a:p>
            <a:endParaRPr sz="1800"/>
          </a:p>
        </p:txBody>
      </p:sp>
      <p:sp>
        <p:nvSpPr>
          <p:cNvPr id="33" name="bk object 33"/>
          <p:cNvSpPr/>
          <p:nvPr/>
        </p:nvSpPr>
        <p:spPr>
          <a:xfrm>
            <a:off x="1" y="0"/>
            <a:ext cx="8252460" cy="6187440"/>
          </a:xfrm>
          <a:custGeom>
            <a:avLst/>
            <a:gdLst/>
            <a:ahLst/>
            <a:cxnLst/>
            <a:rect l="l" t="t" r="r" b="b"/>
            <a:pathLst>
              <a:path w="6189345" h="6187440">
                <a:moveTo>
                  <a:pt x="6189271" y="0"/>
                </a:moveTo>
                <a:lnTo>
                  <a:pt x="6091456" y="0"/>
                </a:lnTo>
                <a:lnTo>
                  <a:pt x="0" y="6089063"/>
                </a:lnTo>
                <a:lnTo>
                  <a:pt x="0" y="6186972"/>
                </a:lnTo>
                <a:lnTo>
                  <a:pt x="6189271" y="0"/>
                </a:lnTo>
                <a:close/>
              </a:path>
            </a:pathLst>
          </a:custGeom>
          <a:solidFill>
            <a:srgbClr val="CECECE"/>
          </a:solidFill>
        </p:spPr>
        <p:txBody>
          <a:bodyPr wrap="square" lIns="0" tIns="0" rIns="0" bIns="0" rtlCol="0"/>
          <a:lstStyle/>
          <a:p>
            <a:endParaRPr sz="1800"/>
          </a:p>
        </p:txBody>
      </p:sp>
      <p:sp>
        <p:nvSpPr>
          <p:cNvPr id="34" name="bk object 34"/>
          <p:cNvSpPr/>
          <p:nvPr/>
        </p:nvSpPr>
        <p:spPr>
          <a:xfrm>
            <a:off x="1" y="1"/>
            <a:ext cx="8714740" cy="6533515"/>
          </a:xfrm>
          <a:custGeom>
            <a:avLst/>
            <a:gdLst/>
            <a:ahLst/>
            <a:cxnLst/>
            <a:rect l="l" t="t" r="r" b="b"/>
            <a:pathLst>
              <a:path w="6536055" h="6533515">
                <a:moveTo>
                  <a:pt x="6535838" y="0"/>
                </a:moveTo>
                <a:lnTo>
                  <a:pt x="6437908" y="0"/>
                </a:lnTo>
                <a:lnTo>
                  <a:pt x="0" y="6435523"/>
                </a:lnTo>
                <a:lnTo>
                  <a:pt x="0" y="6533387"/>
                </a:lnTo>
                <a:lnTo>
                  <a:pt x="6535838" y="0"/>
                </a:lnTo>
                <a:close/>
              </a:path>
            </a:pathLst>
          </a:custGeom>
          <a:solidFill>
            <a:srgbClr val="CECECE"/>
          </a:solidFill>
        </p:spPr>
        <p:txBody>
          <a:bodyPr wrap="square" lIns="0" tIns="0" rIns="0" bIns="0" rtlCol="0"/>
          <a:lstStyle/>
          <a:p>
            <a:endParaRPr sz="1800"/>
          </a:p>
        </p:txBody>
      </p:sp>
      <p:sp>
        <p:nvSpPr>
          <p:cNvPr id="35" name="bk object 35"/>
          <p:cNvSpPr/>
          <p:nvPr/>
        </p:nvSpPr>
        <p:spPr>
          <a:xfrm>
            <a:off x="1" y="0"/>
            <a:ext cx="9177020" cy="6858000"/>
          </a:xfrm>
          <a:custGeom>
            <a:avLst/>
            <a:gdLst/>
            <a:ahLst/>
            <a:cxnLst/>
            <a:rect l="l" t="t" r="r" b="b"/>
            <a:pathLst>
              <a:path w="6882765" h="6858000">
                <a:moveTo>
                  <a:pt x="6882292" y="0"/>
                </a:moveTo>
                <a:lnTo>
                  <a:pt x="6784360" y="0"/>
                </a:lnTo>
                <a:lnTo>
                  <a:pt x="0" y="6781937"/>
                </a:lnTo>
                <a:lnTo>
                  <a:pt x="0" y="6857996"/>
                </a:lnTo>
                <a:lnTo>
                  <a:pt x="22726" y="6857996"/>
                </a:lnTo>
                <a:lnTo>
                  <a:pt x="6882292" y="0"/>
                </a:lnTo>
                <a:close/>
              </a:path>
            </a:pathLst>
          </a:custGeom>
          <a:solidFill>
            <a:srgbClr val="CECECE"/>
          </a:solidFill>
        </p:spPr>
        <p:txBody>
          <a:bodyPr wrap="square" lIns="0" tIns="0" rIns="0" bIns="0" rtlCol="0"/>
          <a:lstStyle/>
          <a:p>
            <a:endParaRPr sz="1800"/>
          </a:p>
        </p:txBody>
      </p:sp>
      <p:sp>
        <p:nvSpPr>
          <p:cNvPr id="36" name="bk object 36"/>
          <p:cNvSpPr/>
          <p:nvPr/>
        </p:nvSpPr>
        <p:spPr>
          <a:xfrm>
            <a:off x="361818" y="0"/>
            <a:ext cx="9276927" cy="6858000"/>
          </a:xfrm>
          <a:custGeom>
            <a:avLst/>
            <a:gdLst/>
            <a:ahLst/>
            <a:cxnLst/>
            <a:rect l="l" t="t" r="r" b="b"/>
            <a:pathLst>
              <a:path w="6957695" h="6858000">
                <a:moveTo>
                  <a:pt x="6957496" y="0"/>
                </a:moveTo>
                <a:lnTo>
                  <a:pt x="6859566" y="0"/>
                </a:lnTo>
                <a:lnTo>
                  <a:pt x="0" y="6857996"/>
                </a:lnTo>
                <a:lnTo>
                  <a:pt x="97815" y="6857996"/>
                </a:lnTo>
                <a:lnTo>
                  <a:pt x="6957496" y="0"/>
                </a:lnTo>
                <a:close/>
              </a:path>
            </a:pathLst>
          </a:custGeom>
          <a:solidFill>
            <a:srgbClr val="CECECE"/>
          </a:solidFill>
        </p:spPr>
        <p:txBody>
          <a:bodyPr wrap="square" lIns="0" tIns="0" rIns="0" bIns="0" rtlCol="0"/>
          <a:lstStyle/>
          <a:p>
            <a:endParaRPr sz="1800"/>
          </a:p>
        </p:txBody>
      </p:sp>
      <p:sp>
        <p:nvSpPr>
          <p:cNvPr id="37" name="bk object 37"/>
          <p:cNvSpPr/>
          <p:nvPr/>
        </p:nvSpPr>
        <p:spPr>
          <a:xfrm>
            <a:off x="823754" y="0"/>
            <a:ext cx="9276927" cy="6858000"/>
          </a:xfrm>
          <a:custGeom>
            <a:avLst/>
            <a:gdLst/>
            <a:ahLst/>
            <a:cxnLst/>
            <a:rect l="l" t="t" r="r" b="b"/>
            <a:pathLst>
              <a:path w="6957695" h="6858000">
                <a:moveTo>
                  <a:pt x="6957496" y="0"/>
                </a:moveTo>
                <a:lnTo>
                  <a:pt x="6859566" y="0"/>
                </a:lnTo>
                <a:lnTo>
                  <a:pt x="0" y="6857996"/>
                </a:lnTo>
                <a:lnTo>
                  <a:pt x="97930" y="6857996"/>
                </a:lnTo>
                <a:lnTo>
                  <a:pt x="6957496" y="0"/>
                </a:lnTo>
                <a:close/>
              </a:path>
            </a:pathLst>
          </a:custGeom>
          <a:solidFill>
            <a:srgbClr val="CECECE"/>
          </a:solidFill>
        </p:spPr>
        <p:txBody>
          <a:bodyPr wrap="square" lIns="0" tIns="0" rIns="0" bIns="0" rtlCol="0"/>
          <a:lstStyle/>
          <a:p>
            <a:endParaRPr sz="1800"/>
          </a:p>
        </p:txBody>
      </p:sp>
      <p:sp>
        <p:nvSpPr>
          <p:cNvPr id="38" name="bk object 38"/>
          <p:cNvSpPr/>
          <p:nvPr/>
        </p:nvSpPr>
        <p:spPr>
          <a:xfrm>
            <a:off x="1284620" y="0"/>
            <a:ext cx="9277773" cy="6858000"/>
          </a:xfrm>
          <a:custGeom>
            <a:avLst/>
            <a:gdLst/>
            <a:ahLst/>
            <a:cxnLst/>
            <a:rect l="l" t="t" r="r" b="b"/>
            <a:pathLst>
              <a:path w="6958330" h="6858000">
                <a:moveTo>
                  <a:pt x="6958297" y="0"/>
                </a:moveTo>
                <a:lnTo>
                  <a:pt x="6860480" y="0"/>
                </a:lnTo>
                <a:lnTo>
                  <a:pt x="0" y="6857996"/>
                </a:lnTo>
                <a:lnTo>
                  <a:pt x="98731" y="6857996"/>
                </a:lnTo>
                <a:lnTo>
                  <a:pt x="6958297" y="0"/>
                </a:lnTo>
                <a:close/>
              </a:path>
            </a:pathLst>
          </a:custGeom>
          <a:solidFill>
            <a:srgbClr val="CECECE"/>
          </a:solidFill>
        </p:spPr>
        <p:txBody>
          <a:bodyPr wrap="square" lIns="0" tIns="0" rIns="0" bIns="0" rtlCol="0"/>
          <a:lstStyle/>
          <a:p>
            <a:endParaRPr sz="1800"/>
          </a:p>
        </p:txBody>
      </p:sp>
      <p:sp>
        <p:nvSpPr>
          <p:cNvPr id="39" name="bk object 39"/>
          <p:cNvSpPr/>
          <p:nvPr/>
        </p:nvSpPr>
        <p:spPr>
          <a:xfrm>
            <a:off x="1747779" y="0"/>
            <a:ext cx="9276927" cy="6858000"/>
          </a:xfrm>
          <a:custGeom>
            <a:avLst/>
            <a:gdLst/>
            <a:ahLst/>
            <a:cxnLst/>
            <a:rect l="l" t="t" r="r" b="b"/>
            <a:pathLst>
              <a:path w="6957695" h="6858000">
                <a:moveTo>
                  <a:pt x="6957496" y="0"/>
                </a:moveTo>
                <a:lnTo>
                  <a:pt x="6859566" y="0"/>
                </a:lnTo>
                <a:lnTo>
                  <a:pt x="0" y="6857996"/>
                </a:lnTo>
                <a:lnTo>
                  <a:pt x="97930" y="6857996"/>
                </a:lnTo>
                <a:lnTo>
                  <a:pt x="6957496" y="0"/>
                </a:lnTo>
                <a:close/>
              </a:path>
            </a:pathLst>
          </a:custGeom>
          <a:solidFill>
            <a:srgbClr val="CECECE"/>
          </a:solidFill>
        </p:spPr>
        <p:txBody>
          <a:bodyPr wrap="square" lIns="0" tIns="0" rIns="0" bIns="0" rtlCol="0"/>
          <a:lstStyle/>
          <a:p>
            <a:endParaRPr sz="1800"/>
          </a:p>
        </p:txBody>
      </p:sp>
      <p:sp>
        <p:nvSpPr>
          <p:cNvPr id="40" name="bk object 40"/>
          <p:cNvSpPr/>
          <p:nvPr/>
        </p:nvSpPr>
        <p:spPr>
          <a:xfrm>
            <a:off x="2209867" y="0"/>
            <a:ext cx="9276927" cy="6858000"/>
          </a:xfrm>
          <a:custGeom>
            <a:avLst/>
            <a:gdLst/>
            <a:ahLst/>
            <a:cxnLst/>
            <a:rect l="l" t="t" r="r" b="b"/>
            <a:pathLst>
              <a:path w="6957695" h="6858000">
                <a:moveTo>
                  <a:pt x="6957380" y="0"/>
                </a:moveTo>
                <a:lnTo>
                  <a:pt x="6859566" y="0"/>
                </a:lnTo>
                <a:lnTo>
                  <a:pt x="0" y="6857996"/>
                </a:lnTo>
                <a:lnTo>
                  <a:pt x="97814" y="6857996"/>
                </a:lnTo>
                <a:lnTo>
                  <a:pt x="6957380" y="0"/>
                </a:lnTo>
                <a:close/>
              </a:path>
            </a:pathLst>
          </a:custGeom>
          <a:solidFill>
            <a:srgbClr val="CECECE"/>
          </a:solidFill>
        </p:spPr>
        <p:txBody>
          <a:bodyPr wrap="square" lIns="0" tIns="0" rIns="0" bIns="0" rtlCol="0"/>
          <a:lstStyle/>
          <a:p>
            <a:endParaRPr sz="1800"/>
          </a:p>
        </p:txBody>
      </p:sp>
      <p:sp>
        <p:nvSpPr>
          <p:cNvPr id="41" name="bk object 41"/>
          <p:cNvSpPr/>
          <p:nvPr/>
        </p:nvSpPr>
        <p:spPr>
          <a:xfrm>
            <a:off x="2670734" y="0"/>
            <a:ext cx="9277773" cy="6858000"/>
          </a:xfrm>
          <a:custGeom>
            <a:avLst/>
            <a:gdLst/>
            <a:ahLst/>
            <a:cxnLst/>
            <a:rect l="l" t="t" r="r" b="b"/>
            <a:pathLst>
              <a:path w="6958330" h="6858000">
                <a:moveTo>
                  <a:pt x="6958298" y="0"/>
                </a:moveTo>
                <a:lnTo>
                  <a:pt x="6860366" y="0"/>
                </a:lnTo>
                <a:lnTo>
                  <a:pt x="0" y="6857996"/>
                </a:lnTo>
                <a:lnTo>
                  <a:pt x="98732" y="6857996"/>
                </a:lnTo>
                <a:lnTo>
                  <a:pt x="6958298" y="0"/>
                </a:lnTo>
                <a:close/>
              </a:path>
            </a:pathLst>
          </a:custGeom>
          <a:solidFill>
            <a:srgbClr val="CECECE"/>
          </a:solidFill>
        </p:spPr>
        <p:txBody>
          <a:bodyPr wrap="square" lIns="0" tIns="0" rIns="0" bIns="0" rtlCol="0"/>
          <a:lstStyle/>
          <a:p>
            <a:endParaRPr sz="1800"/>
          </a:p>
        </p:txBody>
      </p:sp>
      <p:sp>
        <p:nvSpPr>
          <p:cNvPr id="42" name="bk object 42"/>
          <p:cNvSpPr/>
          <p:nvPr/>
        </p:nvSpPr>
        <p:spPr>
          <a:xfrm>
            <a:off x="3133883" y="65053"/>
            <a:ext cx="9058487" cy="6793230"/>
          </a:xfrm>
          <a:custGeom>
            <a:avLst/>
            <a:gdLst/>
            <a:ahLst/>
            <a:cxnLst/>
            <a:rect l="l" t="t" r="r" b="b"/>
            <a:pathLst>
              <a:path w="6793865" h="6793230">
                <a:moveTo>
                  <a:pt x="6793587" y="0"/>
                </a:moveTo>
                <a:lnTo>
                  <a:pt x="0" y="6792943"/>
                </a:lnTo>
                <a:lnTo>
                  <a:pt x="97822" y="6792943"/>
                </a:lnTo>
                <a:lnTo>
                  <a:pt x="6793587" y="98712"/>
                </a:lnTo>
                <a:lnTo>
                  <a:pt x="6793587" y="0"/>
                </a:lnTo>
                <a:close/>
              </a:path>
            </a:pathLst>
          </a:custGeom>
          <a:solidFill>
            <a:srgbClr val="CECECE"/>
          </a:solidFill>
        </p:spPr>
        <p:txBody>
          <a:bodyPr wrap="square" lIns="0" tIns="0" rIns="0" bIns="0" rtlCol="0"/>
          <a:lstStyle/>
          <a:p>
            <a:endParaRPr sz="1800"/>
          </a:p>
        </p:txBody>
      </p:sp>
      <p:sp>
        <p:nvSpPr>
          <p:cNvPr id="43" name="bk object 43"/>
          <p:cNvSpPr/>
          <p:nvPr/>
        </p:nvSpPr>
        <p:spPr>
          <a:xfrm>
            <a:off x="3594597" y="411429"/>
            <a:ext cx="8597900" cy="6447155"/>
          </a:xfrm>
          <a:custGeom>
            <a:avLst/>
            <a:gdLst/>
            <a:ahLst/>
            <a:cxnLst/>
            <a:rect l="l" t="t" r="r" b="b"/>
            <a:pathLst>
              <a:path w="6448425" h="6447155">
                <a:moveTo>
                  <a:pt x="6448052" y="0"/>
                </a:moveTo>
                <a:lnTo>
                  <a:pt x="0" y="6446568"/>
                </a:lnTo>
                <a:lnTo>
                  <a:pt x="98854" y="6446568"/>
                </a:lnTo>
                <a:lnTo>
                  <a:pt x="6448052" y="98833"/>
                </a:lnTo>
                <a:lnTo>
                  <a:pt x="6448052" y="0"/>
                </a:lnTo>
                <a:close/>
              </a:path>
            </a:pathLst>
          </a:custGeom>
          <a:solidFill>
            <a:srgbClr val="CECECE"/>
          </a:solidFill>
        </p:spPr>
        <p:txBody>
          <a:bodyPr wrap="square" lIns="0" tIns="0" rIns="0" bIns="0" rtlCol="0"/>
          <a:lstStyle/>
          <a:p>
            <a:endParaRPr sz="1800"/>
          </a:p>
        </p:txBody>
      </p:sp>
      <p:sp>
        <p:nvSpPr>
          <p:cNvPr id="44" name="bk object 44"/>
          <p:cNvSpPr/>
          <p:nvPr/>
        </p:nvSpPr>
        <p:spPr>
          <a:xfrm>
            <a:off x="4056686" y="757924"/>
            <a:ext cx="8135620" cy="6100445"/>
          </a:xfrm>
          <a:custGeom>
            <a:avLst/>
            <a:gdLst/>
            <a:ahLst/>
            <a:cxnLst/>
            <a:rect l="l" t="t" r="r" b="b"/>
            <a:pathLst>
              <a:path w="6101715" h="6100445">
                <a:moveTo>
                  <a:pt x="6101485" y="0"/>
                </a:moveTo>
                <a:lnTo>
                  <a:pt x="0" y="6100072"/>
                </a:lnTo>
                <a:lnTo>
                  <a:pt x="98738" y="6100072"/>
                </a:lnTo>
                <a:lnTo>
                  <a:pt x="6101485" y="98718"/>
                </a:lnTo>
                <a:lnTo>
                  <a:pt x="6101485" y="0"/>
                </a:lnTo>
                <a:close/>
              </a:path>
            </a:pathLst>
          </a:custGeom>
          <a:solidFill>
            <a:srgbClr val="CECECE"/>
          </a:solidFill>
        </p:spPr>
        <p:txBody>
          <a:bodyPr wrap="square" lIns="0" tIns="0" rIns="0" bIns="0" rtlCol="0"/>
          <a:lstStyle/>
          <a:p>
            <a:endParaRPr sz="1800"/>
          </a:p>
        </p:txBody>
      </p:sp>
      <p:sp>
        <p:nvSpPr>
          <p:cNvPr id="45" name="bk object 45"/>
          <p:cNvSpPr/>
          <p:nvPr/>
        </p:nvSpPr>
        <p:spPr>
          <a:xfrm>
            <a:off x="4519842" y="1104311"/>
            <a:ext cx="7672493" cy="5753735"/>
          </a:xfrm>
          <a:custGeom>
            <a:avLst/>
            <a:gdLst/>
            <a:ahLst/>
            <a:cxnLst/>
            <a:rect l="l" t="t" r="r" b="b"/>
            <a:pathLst>
              <a:path w="5754370" h="5753734">
                <a:moveTo>
                  <a:pt x="5754118" y="0"/>
                </a:moveTo>
                <a:lnTo>
                  <a:pt x="0" y="5753685"/>
                </a:lnTo>
                <a:lnTo>
                  <a:pt x="97937" y="5753685"/>
                </a:lnTo>
                <a:lnTo>
                  <a:pt x="5754118" y="98712"/>
                </a:lnTo>
                <a:lnTo>
                  <a:pt x="5754118" y="0"/>
                </a:lnTo>
                <a:close/>
              </a:path>
            </a:pathLst>
          </a:custGeom>
          <a:solidFill>
            <a:srgbClr val="CECECE"/>
          </a:solidFill>
        </p:spPr>
        <p:txBody>
          <a:bodyPr wrap="square" lIns="0" tIns="0" rIns="0" bIns="0" rtlCol="0"/>
          <a:lstStyle/>
          <a:p>
            <a:endParaRPr sz="1800"/>
          </a:p>
        </p:txBody>
      </p:sp>
      <p:sp>
        <p:nvSpPr>
          <p:cNvPr id="46" name="bk object 46"/>
          <p:cNvSpPr/>
          <p:nvPr/>
        </p:nvSpPr>
        <p:spPr>
          <a:xfrm>
            <a:off x="4980711" y="1450800"/>
            <a:ext cx="7211907" cy="5407660"/>
          </a:xfrm>
          <a:custGeom>
            <a:avLst/>
            <a:gdLst/>
            <a:ahLst/>
            <a:cxnLst/>
            <a:rect l="l" t="t" r="r" b="b"/>
            <a:pathLst>
              <a:path w="5408930" h="5407659">
                <a:moveTo>
                  <a:pt x="5408466" y="0"/>
                </a:moveTo>
                <a:lnTo>
                  <a:pt x="0" y="5407196"/>
                </a:lnTo>
                <a:lnTo>
                  <a:pt x="98738" y="5407196"/>
                </a:lnTo>
                <a:lnTo>
                  <a:pt x="5408466" y="98718"/>
                </a:lnTo>
                <a:lnTo>
                  <a:pt x="5408466" y="0"/>
                </a:lnTo>
                <a:close/>
              </a:path>
            </a:pathLst>
          </a:custGeom>
          <a:solidFill>
            <a:srgbClr val="CECECE"/>
          </a:solidFill>
        </p:spPr>
        <p:txBody>
          <a:bodyPr wrap="square" lIns="0" tIns="0" rIns="0" bIns="0" rtlCol="0"/>
          <a:lstStyle/>
          <a:p>
            <a:endParaRPr sz="1800"/>
          </a:p>
        </p:txBody>
      </p:sp>
      <p:sp>
        <p:nvSpPr>
          <p:cNvPr id="47" name="bk object 47"/>
          <p:cNvSpPr/>
          <p:nvPr/>
        </p:nvSpPr>
        <p:spPr>
          <a:xfrm>
            <a:off x="5442645" y="1797180"/>
            <a:ext cx="6749627" cy="5060950"/>
          </a:xfrm>
          <a:custGeom>
            <a:avLst/>
            <a:gdLst/>
            <a:ahLst/>
            <a:cxnLst/>
            <a:rect l="l" t="t" r="r" b="b"/>
            <a:pathLst>
              <a:path w="5062220" h="5060950">
                <a:moveTo>
                  <a:pt x="5062015" y="0"/>
                </a:moveTo>
                <a:lnTo>
                  <a:pt x="0" y="5060816"/>
                </a:lnTo>
                <a:lnTo>
                  <a:pt x="98738" y="5060816"/>
                </a:lnTo>
                <a:lnTo>
                  <a:pt x="5062015" y="98718"/>
                </a:lnTo>
                <a:lnTo>
                  <a:pt x="5062015" y="0"/>
                </a:lnTo>
                <a:close/>
              </a:path>
            </a:pathLst>
          </a:custGeom>
          <a:solidFill>
            <a:srgbClr val="CECECE"/>
          </a:solidFill>
        </p:spPr>
        <p:txBody>
          <a:bodyPr wrap="square" lIns="0" tIns="0" rIns="0" bIns="0" rtlCol="0"/>
          <a:lstStyle/>
          <a:p>
            <a:endParaRPr sz="1800"/>
          </a:p>
        </p:txBody>
      </p:sp>
      <p:sp>
        <p:nvSpPr>
          <p:cNvPr id="48" name="bk object 48"/>
          <p:cNvSpPr/>
          <p:nvPr/>
        </p:nvSpPr>
        <p:spPr>
          <a:xfrm>
            <a:off x="5905799" y="2143569"/>
            <a:ext cx="6286500" cy="4714875"/>
          </a:xfrm>
          <a:custGeom>
            <a:avLst/>
            <a:gdLst/>
            <a:ahLst/>
            <a:cxnLst/>
            <a:rect l="l" t="t" r="r" b="b"/>
            <a:pathLst>
              <a:path w="4714875" h="4714875">
                <a:moveTo>
                  <a:pt x="4714650" y="0"/>
                </a:moveTo>
                <a:lnTo>
                  <a:pt x="0" y="4714428"/>
                </a:lnTo>
                <a:lnTo>
                  <a:pt x="97939" y="4714428"/>
                </a:lnTo>
                <a:lnTo>
                  <a:pt x="4714650" y="98711"/>
                </a:lnTo>
                <a:lnTo>
                  <a:pt x="4714650" y="0"/>
                </a:lnTo>
                <a:close/>
              </a:path>
            </a:pathLst>
          </a:custGeom>
          <a:solidFill>
            <a:srgbClr val="CECECE"/>
          </a:solidFill>
        </p:spPr>
        <p:txBody>
          <a:bodyPr wrap="square" lIns="0" tIns="0" rIns="0" bIns="0" rtlCol="0"/>
          <a:lstStyle/>
          <a:p>
            <a:endParaRPr sz="1800"/>
          </a:p>
        </p:txBody>
      </p:sp>
      <p:sp>
        <p:nvSpPr>
          <p:cNvPr id="49" name="bk object 49"/>
          <p:cNvSpPr/>
          <p:nvPr/>
        </p:nvSpPr>
        <p:spPr>
          <a:xfrm>
            <a:off x="6366672" y="2490057"/>
            <a:ext cx="5825913" cy="4368165"/>
          </a:xfrm>
          <a:custGeom>
            <a:avLst/>
            <a:gdLst/>
            <a:ahLst/>
            <a:cxnLst/>
            <a:rect l="l" t="t" r="r" b="b"/>
            <a:pathLst>
              <a:path w="4369434" h="4368165">
                <a:moveTo>
                  <a:pt x="4368996" y="0"/>
                </a:moveTo>
                <a:lnTo>
                  <a:pt x="0" y="4367940"/>
                </a:lnTo>
                <a:lnTo>
                  <a:pt x="98738" y="4367940"/>
                </a:lnTo>
                <a:lnTo>
                  <a:pt x="4368996" y="98718"/>
                </a:lnTo>
                <a:lnTo>
                  <a:pt x="4368996" y="0"/>
                </a:lnTo>
                <a:close/>
              </a:path>
            </a:pathLst>
          </a:custGeom>
          <a:solidFill>
            <a:srgbClr val="CECECE"/>
          </a:solidFill>
        </p:spPr>
        <p:txBody>
          <a:bodyPr wrap="square" lIns="0" tIns="0" rIns="0" bIns="0" rtlCol="0"/>
          <a:lstStyle/>
          <a:p>
            <a:endParaRPr sz="1800"/>
          </a:p>
        </p:txBody>
      </p:sp>
      <p:sp>
        <p:nvSpPr>
          <p:cNvPr id="50" name="bk object 50"/>
          <p:cNvSpPr/>
          <p:nvPr/>
        </p:nvSpPr>
        <p:spPr>
          <a:xfrm>
            <a:off x="6829821" y="2836445"/>
            <a:ext cx="5362787" cy="4022090"/>
          </a:xfrm>
          <a:custGeom>
            <a:avLst/>
            <a:gdLst/>
            <a:ahLst/>
            <a:cxnLst/>
            <a:rect l="l" t="t" r="r" b="b"/>
            <a:pathLst>
              <a:path w="4022090" h="4022090">
                <a:moveTo>
                  <a:pt x="4021633" y="0"/>
                </a:moveTo>
                <a:lnTo>
                  <a:pt x="0" y="4021551"/>
                </a:lnTo>
                <a:lnTo>
                  <a:pt x="97930" y="4021551"/>
                </a:lnTo>
                <a:lnTo>
                  <a:pt x="4021633" y="97910"/>
                </a:lnTo>
                <a:lnTo>
                  <a:pt x="4021633" y="0"/>
                </a:lnTo>
                <a:close/>
              </a:path>
            </a:pathLst>
          </a:custGeom>
          <a:solidFill>
            <a:srgbClr val="CECECE"/>
          </a:solidFill>
        </p:spPr>
        <p:txBody>
          <a:bodyPr wrap="square" lIns="0" tIns="0" rIns="0" bIns="0" rtlCol="0"/>
          <a:lstStyle/>
          <a:p>
            <a:endParaRPr sz="1800"/>
          </a:p>
        </p:txBody>
      </p:sp>
      <p:sp>
        <p:nvSpPr>
          <p:cNvPr id="51" name="bk object 51"/>
          <p:cNvSpPr/>
          <p:nvPr/>
        </p:nvSpPr>
        <p:spPr>
          <a:xfrm>
            <a:off x="7291910" y="3182943"/>
            <a:ext cx="4900505" cy="3675379"/>
          </a:xfrm>
          <a:custGeom>
            <a:avLst/>
            <a:gdLst/>
            <a:ahLst/>
            <a:cxnLst/>
            <a:rect l="l" t="t" r="r" b="b"/>
            <a:pathLst>
              <a:path w="3675379" h="3675379">
                <a:moveTo>
                  <a:pt x="3675066" y="0"/>
                </a:moveTo>
                <a:lnTo>
                  <a:pt x="0" y="3675054"/>
                </a:lnTo>
                <a:lnTo>
                  <a:pt x="97814" y="3675054"/>
                </a:lnTo>
                <a:lnTo>
                  <a:pt x="3675066" y="97794"/>
                </a:lnTo>
                <a:lnTo>
                  <a:pt x="3675066" y="0"/>
                </a:lnTo>
                <a:close/>
              </a:path>
            </a:pathLst>
          </a:custGeom>
          <a:solidFill>
            <a:srgbClr val="CECECE"/>
          </a:solidFill>
        </p:spPr>
        <p:txBody>
          <a:bodyPr wrap="square" lIns="0" tIns="0" rIns="0" bIns="0" rtlCol="0"/>
          <a:lstStyle/>
          <a:p>
            <a:endParaRPr sz="1800"/>
          </a:p>
        </p:txBody>
      </p:sp>
      <p:sp>
        <p:nvSpPr>
          <p:cNvPr id="52" name="bk object 52"/>
          <p:cNvSpPr/>
          <p:nvPr/>
        </p:nvSpPr>
        <p:spPr>
          <a:xfrm>
            <a:off x="7753844" y="3529323"/>
            <a:ext cx="4438227" cy="3328670"/>
          </a:xfrm>
          <a:custGeom>
            <a:avLst/>
            <a:gdLst/>
            <a:ahLst/>
            <a:cxnLst/>
            <a:rect l="l" t="t" r="r" b="b"/>
            <a:pathLst>
              <a:path w="3328670" h="3328670">
                <a:moveTo>
                  <a:pt x="3328616" y="0"/>
                </a:moveTo>
                <a:lnTo>
                  <a:pt x="0" y="3328673"/>
                </a:lnTo>
                <a:lnTo>
                  <a:pt x="97928" y="3328673"/>
                </a:lnTo>
                <a:lnTo>
                  <a:pt x="3328616" y="97796"/>
                </a:lnTo>
                <a:lnTo>
                  <a:pt x="3328616" y="0"/>
                </a:lnTo>
                <a:close/>
              </a:path>
            </a:pathLst>
          </a:custGeom>
          <a:solidFill>
            <a:srgbClr val="CECECE"/>
          </a:solidFill>
        </p:spPr>
        <p:txBody>
          <a:bodyPr wrap="square" lIns="0" tIns="0" rIns="0" bIns="0" rtlCol="0"/>
          <a:lstStyle/>
          <a:p>
            <a:endParaRPr sz="1800"/>
          </a:p>
        </p:txBody>
      </p:sp>
      <p:sp>
        <p:nvSpPr>
          <p:cNvPr id="53" name="bk object 53"/>
          <p:cNvSpPr/>
          <p:nvPr/>
        </p:nvSpPr>
        <p:spPr>
          <a:xfrm>
            <a:off x="8215930" y="3875707"/>
            <a:ext cx="3976793" cy="2982595"/>
          </a:xfrm>
          <a:custGeom>
            <a:avLst/>
            <a:gdLst/>
            <a:ahLst/>
            <a:cxnLst/>
            <a:rect l="l" t="t" r="r" b="b"/>
            <a:pathLst>
              <a:path w="2982595" h="2982595">
                <a:moveTo>
                  <a:pt x="2982052" y="0"/>
                </a:moveTo>
                <a:lnTo>
                  <a:pt x="0" y="2982290"/>
                </a:lnTo>
                <a:lnTo>
                  <a:pt x="97816" y="2982290"/>
                </a:lnTo>
                <a:lnTo>
                  <a:pt x="2982052" y="97908"/>
                </a:lnTo>
                <a:lnTo>
                  <a:pt x="2982052" y="0"/>
                </a:lnTo>
                <a:close/>
              </a:path>
            </a:pathLst>
          </a:custGeom>
          <a:solidFill>
            <a:srgbClr val="CECECE"/>
          </a:solidFill>
        </p:spPr>
        <p:txBody>
          <a:bodyPr wrap="square" lIns="0" tIns="0" rIns="0" bIns="0" rtlCol="0"/>
          <a:lstStyle/>
          <a:p>
            <a:endParaRPr sz="1800"/>
          </a:p>
        </p:txBody>
      </p:sp>
      <p:sp>
        <p:nvSpPr>
          <p:cNvPr id="54" name="bk object 54"/>
          <p:cNvSpPr/>
          <p:nvPr/>
        </p:nvSpPr>
        <p:spPr>
          <a:xfrm>
            <a:off x="8677865" y="4222202"/>
            <a:ext cx="3514513" cy="2635885"/>
          </a:xfrm>
          <a:custGeom>
            <a:avLst/>
            <a:gdLst/>
            <a:ahLst/>
            <a:cxnLst/>
            <a:rect l="l" t="t" r="r" b="b"/>
            <a:pathLst>
              <a:path w="2635884" h="2635884">
                <a:moveTo>
                  <a:pt x="2635601" y="0"/>
                </a:moveTo>
                <a:lnTo>
                  <a:pt x="0" y="2635794"/>
                </a:lnTo>
                <a:lnTo>
                  <a:pt x="97927" y="2635794"/>
                </a:lnTo>
                <a:lnTo>
                  <a:pt x="2635601" y="97796"/>
                </a:lnTo>
                <a:lnTo>
                  <a:pt x="2635601" y="0"/>
                </a:lnTo>
                <a:close/>
              </a:path>
            </a:pathLst>
          </a:custGeom>
          <a:solidFill>
            <a:srgbClr val="CECECE"/>
          </a:solidFill>
        </p:spPr>
        <p:txBody>
          <a:bodyPr wrap="square" lIns="0" tIns="0" rIns="0" bIns="0" rtlCol="0"/>
          <a:lstStyle/>
          <a:p>
            <a:endParaRPr sz="1800"/>
          </a:p>
        </p:txBody>
      </p:sp>
      <p:sp>
        <p:nvSpPr>
          <p:cNvPr id="55" name="bk object 55"/>
          <p:cNvSpPr/>
          <p:nvPr/>
        </p:nvSpPr>
        <p:spPr>
          <a:xfrm>
            <a:off x="9139798" y="4568583"/>
            <a:ext cx="3052233" cy="2289810"/>
          </a:xfrm>
          <a:custGeom>
            <a:avLst/>
            <a:gdLst/>
            <a:ahLst/>
            <a:cxnLst/>
            <a:rect l="l" t="t" r="r" b="b"/>
            <a:pathLst>
              <a:path w="2289175" h="2289809">
                <a:moveTo>
                  <a:pt x="2289151" y="0"/>
                </a:moveTo>
                <a:lnTo>
                  <a:pt x="0" y="2289412"/>
                </a:lnTo>
                <a:lnTo>
                  <a:pt x="97929" y="2289412"/>
                </a:lnTo>
                <a:lnTo>
                  <a:pt x="2289151" y="97910"/>
                </a:lnTo>
                <a:lnTo>
                  <a:pt x="2289151" y="0"/>
                </a:lnTo>
                <a:close/>
              </a:path>
            </a:pathLst>
          </a:custGeom>
          <a:solidFill>
            <a:srgbClr val="CECECE"/>
          </a:solidFill>
        </p:spPr>
        <p:txBody>
          <a:bodyPr wrap="square" lIns="0" tIns="0" rIns="0" bIns="0" rtlCol="0"/>
          <a:lstStyle/>
          <a:p>
            <a:endParaRPr sz="1800"/>
          </a:p>
        </p:txBody>
      </p:sp>
      <p:sp>
        <p:nvSpPr>
          <p:cNvPr id="56" name="bk object 56"/>
          <p:cNvSpPr/>
          <p:nvPr/>
        </p:nvSpPr>
        <p:spPr>
          <a:xfrm>
            <a:off x="9601879" y="4914968"/>
            <a:ext cx="2590800" cy="1943100"/>
          </a:xfrm>
          <a:custGeom>
            <a:avLst/>
            <a:gdLst/>
            <a:ahLst/>
            <a:cxnLst/>
            <a:rect l="l" t="t" r="r" b="b"/>
            <a:pathLst>
              <a:path w="1943100" h="1943100">
                <a:moveTo>
                  <a:pt x="1942590" y="0"/>
                </a:moveTo>
                <a:lnTo>
                  <a:pt x="0" y="1943027"/>
                </a:lnTo>
                <a:lnTo>
                  <a:pt x="97929" y="1943027"/>
                </a:lnTo>
                <a:lnTo>
                  <a:pt x="1942590" y="97911"/>
                </a:lnTo>
                <a:lnTo>
                  <a:pt x="1942590" y="0"/>
                </a:lnTo>
                <a:close/>
              </a:path>
            </a:pathLst>
          </a:custGeom>
          <a:solidFill>
            <a:srgbClr val="CECECE"/>
          </a:solidFill>
        </p:spPr>
        <p:txBody>
          <a:bodyPr wrap="square" lIns="0" tIns="0" rIns="0" bIns="0" rtlCol="0"/>
          <a:lstStyle/>
          <a:p>
            <a:endParaRPr sz="1800"/>
          </a:p>
        </p:txBody>
      </p:sp>
      <p:sp>
        <p:nvSpPr>
          <p:cNvPr id="57" name="bk object 57"/>
          <p:cNvSpPr/>
          <p:nvPr/>
        </p:nvSpPr>
        <p:spPr>
          <a:xfrm>
            <a:off x="10063812" y="5261466"/>
            <a:ext cx="2128520" cy="1597025"/>
          </a:xfrm>
          <a:custGeom>
            <a:avLst/>
            <a:gdLst/>
            <a:ahLst/>
            <a:cxnLst/>
            <a:rect l="l" t="t" r="r" b="b"/>
            <a:pathLst>
              <a:path w="1596390" h="1597025">
                <a:moveTo>
                  <a:pt x="1596140" y="0"/>
                </a:moveTo>
                <a:lnTo>
                  <a:pt x="0" y="1596531"/>
                </a:lnTo>
                <a:lnTo>
                  <a:pt x="97924" y="1596531"/>
                </a:lnTo>
                <a:lnTo>
                  <a:pt x="1596140" y="97798"/>
                </a:lnTo>
                <a:lnTo>
                  <a:pt x="1596140" y="0"/>
                </a:lnTo>
                <a:close/>
              </a:path>
            </a:pathLst>
          </a:custGeom>
          <a:solidFill>
            <a:srgbClr val="CECECE"/>
          </a:solidFill>
        </p:spPr>
        <p:txBody>
          <a:bodyPr wrap="square" lIns="0" tIns="0" rIns="0" bIns="0" rtlCol="0"/>
          <a:lstStyle/>
          <a:p>
            <a:endParaRPr sz="1800"/>
          </a:p>
        </p:txBody>
      </p:sp>
      <p:sp>
        <p:nvSpPr>
          <p:cNvPr id="58" name="bk object 58"/>
          <p:cNvSpPr/>
          <p:nvPr/>
        </p:nvSpPr>
        <p:spPr>
          <a:xfrm>
            <a:off x="10525887" y="5607855"/>
            <a:ext cx="1666240" cy="1250315"/>
          </a:xfrm>
          <a:custGeom>
            <a:avLst/>
            <a:gdLst/>
            <a:ahLst/>
            <a:cxnLst/>
            <a:rect l="l" t="t" r="r" b="b"/>
            <a:pathLst>
              <a:path w="1249679" h="1250315">
                <a:moveTo>
                  <a:pt x="1249584" y="0"/>
                </a:moveTo>
                <a:lnTo>
                  <a:pt x="0" y="1250142"/>
                </a:lnTo>
                <a:lnTo>
                  <a:pt x="97817" y="1250142"/>
                </a:lnTo>
                <a:lnTo>
                  <a:pt x="1249584" y="97908"/>
                </a:lnTo>
                <a:lnTo>
                  <a:pt x="1249584" y="0"/>
                </a:lnTo>
                <a:close/>
              </a:path>
            </a:pathLst>
          </a:custGeom>
          <a:solidFill>
            <a:srgbClr val="CECECE"/>
          </a:solidFill>
        </p:spPr>
        <p:txBody>
          <a:bodyPr wrap="square" lIns="0" tIns="0" rIns="0" bIns="0" rtlCol="0"/>
          <a:lstStyle/>
          <a:p>
            <a:endParaRPr sz="1800"/>
          </a:p>
        </p:txBody>
      </p:sp>
      <p:sp>
        <p:nvSpPr>
          <p:cNvPr id="59" name="bk object 59"/>
          <p:cNvSpPr/>
          <p:nvPr/>
        </p:nvSpPr>
        <p:spPr>
          <a:xfrm>
            <a:off x="10987815" y="5954354"/>
            <a:ext cx="1204807" cy="904240"/>
          </a:xfrm>
          <a:custGeom>
            <a:avLst/>
            <a:gdLst/>
            <a:ahLst/>
            <a:cxnLst/>
            <a:rect l="l" t="t" r="r" b="b"/>
            <a:pathLst>
              <a:path w="903604" h="904240">
                <a:moveTo>
                  <a:pt x="903138" y="0"/>
                </a:moveTo>
                <a:lnTo>
                  <a:pt x="0" y="903642"/>
                </a:lnTo>
                <a:lnTo>
                  <a:pt x="97918" y="903642"/>
                </a:lnTo>
                <a:lnTo>
                  <a:pt x="903138" y="97803"/>
                </a:lnTo>
                <a:lnTo>
                  <a:pt x="903138" y="0"/>
                </a:lnTo>
                <a:close/>
              </a:path>
            </a:pathLst>
          </a:custGeom>
          <a:solidFill>
            <a:srgbClr val="CECECE"/>
          </a:solidFill>
        </p:spPr>
        <p:txBody>
          <a:bodyPr wrap="square" lIns="0" tIns="0" rIns="0" bIns="0" rtlCol="0"/>
          <a:lstStyle/>
          <a:p>
            <a:endParaRPr sz="1800"/>
          </a:p>
        </p:txBody>
      </p:sp>
      <p:sp>
        <p:nvSpPr>
          <p:cNvPr id="60" name="bk object 60"/>
          <p:cNvSpPr/>
          <p:nvPr/>
        </p:nvSpPr>
        <p:spPr>
          <a:xfrm>
            <a:off x="11449861" y="6300758"/>
            <a:ext cx="742527" cy="557530"/>
          </a:xfrm>
          <a:custGeom>
            <a:avLst/>
            <a:gdLst/>
            <a:ahLst/>
            <a:cxnLst/>
            <a:rect l="l" t="t" r="r" b="b"/>
            <a:pathLst>
              <a:path w="556895" h="557529">
                <a:moveTo>
                  <a:pt x="556603" y="0"/>
                </a:moveTo>
                <a:lnTo>
                  <a:pt x="0" y="557238"/>
                </a:lnTo>
                <a:lnTo>
                  <a:pt x="97807" y="557238"/>
                </a:lnTo>
                <a:lnTo>
                  <a:pt x="556603" y="97857"/>
                </a:lnTo>
                <a:lnTo>
                  <a:pt x="556603" y="0"/>
                </a:lnTo>
                <a:close/>
              </a:path>
            </a:pathLst>
          </a:custGeom>
          <a:solidFill>
            <a:srgbClr val="CECECE"/>
          </a:solidFill>
        </p:spPr>
        <p:txBody>
          <a:bodyPr wrap="square" lIns="0" tIns="0" rIns="0" bIns="0" rtlCol="0"/>
          <a:lstStyle/>
          <a:p>
            <a:endParaRPr sz="1800"/>
          </a:p>
        </p:txBody>
      </p:sp>
      <p:sp>
        <p:nvSpPr>
          <p:cNvPr id="61" name="bk object 61"/>
          <p:cNvSpPr/>
          <p:nvPr/>
        </p:nvSpPr>
        <p:spPr>
          <a:xfrm>
            <a:off x="11911694" y="6647231"/>
            <a:ext cx="281093" cy="210820"/>
          </a:xfrm>
          <a:custGeom>
            <a:avLst/>
            <a:gdLst/>
            <a:ahLst/>
            <a:cxnLst/>
            <a:rect l="l" t="t" r="r" b="b"/>
            <a:pathLst>
              <a:path w="210820" h="210820">
                <a:moveTo>
                  <a:pt x="210229" y="0"/>
                </a:moveTo>
                <a:lnTo>
                  <a:pt x="0" y="210765"/>
                </a:lnTo>
                <a:lnTo>
                  <a:pt x="97847" y="210765"/>
                </a:lnTo>
                <a:lnTo>
                  <a:pt x="210229" y="97926"/>
                </a:lnTo>
                <a:lnTo>
                  <a:pt x="210229" y="0"/>
                </a:lnTo>
                <a:close/>
              </a:path>
            </a:pathLst>
          </a:custGeom>
          <a:solidFill>
            <a:srgbClr val="CECECE"/>
          </a:solidFill>
        </p:spPr>
        <p:txBody>
          <a:bodyPr wrap="square" lIns="0" tIns="0" rIns="0" bIns="0" rtlCol="0"/>
          <a:lstStyle/>
          <a:p>
            <a:endParaRPr sz="1800"/>
          </a:p>
        </p:txBody>
      </p:sp>
      <p:sp>
        <p:nvSpPr>
          <p:cNvPr id="62" name="bk object 62"/>
          <p:cNvSpPr/>
          <p:nvPr/>
        </p:nvSpPr>
        <p:spPr>
          <a:xfrm>
            <a:off x="557864" y="411303"/>
            <a:ext cx="11057467" cy="6075045"/>
          </a:xfrm>
          <a:custGeom>
            <a:avLst/>
            <a:gdLst/>
            <a:ahLst/>
            <a:cxnLst/>
            <a:rect l="l" t="t" r="r" b="b"/>
            <a:pathLst>
              <a:path w="8293100" h="6075045">
                <a:moveTo>
                  <a:pt x="8292664" y="6074541"/>
                </a:moveTo>
                <a:lnTo>
                  <a:pt x="0" y="6074541"/>
                </a:lnTo>
                <a:lnTo>
                  <a:pt x="0" y="0"/>
                </a:lnTo>
                <a:lnTo>
                  <a:pt x="8292664" y="0"/>
                </a:lnTo>
                <a:lnTo>
                  <a:pt x="8292664" y="6074541"/>
                </a:lnTo>
                <a:close/>
              </a:path>
            </a:pathLst>
          </a:custGeom>
          <a:solidFill>
            <a:srgbClr val="FFFFFF"/>
          </a:solidFill>
        </p:spPr>
        <p:txBody>
          <a:bodyPr wrap="square" lIns="0" tIns="0" rIns="0" bIns="0" rtlCol="0"/>
          <a:lstStyle/>
          <a:p>
            <a:endParaRPr sz="1800"/>
          </a:p>
        </p:txBody>
      </p:sp>
      <p:sp>
        <p:nvSpPr>
          <p:cNvPr id="2" name="Holder 2"/>
          <p:cNvSpPr>
            <a:spLocks noGrp="1"/>
          </p:cNvSpPr>
          <p:nvPr>
            <p:ph type="ftr" sz="quarter" idx="5"/>
          </p:nvPr>
        </p:nvSpPr>
        <p:spPr/>
        <p:txBody>
          <a:bodyPr lIns="0" tIns="0" rIns="0" bIns="0"/>
          <a:lstStyle>
            <a:lvl1pPr>
              <a:defRPr sz="1200" b="0" i="0">
                <a:solidFill>
                  <a:srgbClr val="888888"/>
                </a:solidFill>
                <a:latin typeface="Arial"/>
                <a:cs typeface="Arial"/>
              </a:defRPr>
            </a:lvl1pPr>
          </a:lstStyle>
          <a:p>
            <a:pPr marL="12700">
              <a:lnSpc>
                <a:spcPts val="1425"/>
              </a:lnSpc>
            </a:pPr>
            <a:r>
              <a:rPr lang="pt-BR" spc="-5" smtClean="0"/>
              <a:t>Senac São Paulo </a:t>
            </a:r>
            <a:r>
              <a:rPr lang="pt-BR" b="1" smtClean="0"/>
              <a:t>|</a:t>
            </a:r>
            <a:r>
              <a:rPr lang="pt-BR" b="1" spc="-80" smtClean="0"/>
              <a:t> </a:t>
            </a:r>
            <a:r>
              <a:rPr lang="pt-BR" b="1" smtClean="0"/>
              <a:t>2017</a:t>
            </a:r>
            <a:endParaRPr lang="pt-BR" b="1" dirty="0"/>
          </a:p>
        </p:txBody>
      </p:sp>
      <p:sp>
        <p:nvSpPr>
          <p:cNvPr id="3" name="Holder 3"/>
          <p:cNvSpPr>
            <a:spLocks noGrp="1"/>
          </p:cNvSpPr>
          <p:nvPr>
            <p:ph type="dt" sz="half" idx="6"/>
          </p:nvPr>
        </p:nvSpPr>
        <p:spPr/>
        <p:txBody>
          <a:bodyPr lIns="0" tIns="0" rIns="0" bIns="0"/>
          <a:lstStyle>
            <a:lvl1pPr>
              <a:defRPr sz="1000" b="1" i="0">
                <a:solidFill>
                  <a:srgbClr val="888888"/>
                </a:solidFill>
                <a:latin typeface="Arial"/>
                <a:cs typeface="Arial"/>
              </a:defRPr>
            </a:lvl1pPr>
          </a:lstStyle>
          <a:p>
            <a:pPr marL="12700"/>
            <a:r>
              <a:rPr lang="pt-BR" spc="-5" smtClean="0"/>
              <a:t>eSocial - Gestão de</a:t>
            </a:r>
            <a:r>
              <a:rPr lang="pt-BR" spc="-85" smtClean="0"/>
              <a:t> </a:t>
            </a:r>
            <a:r>
              <a:rPr lang="pt-BR" spc="-5" smtClean="0"/>
              <a:t>Pessoas</a:t>
            </a:r>
            <a:endParaRPr lang="pt-BR" spc="-5"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extLst>
      <p:ext uri="{BB962C8B-B14F-4D97-AF65-F5344CB8AC3E}">
        <p14:creationId xmlns:p14="http://schemas.microsoft.com/office/powerpoint/2010/main" val="613113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0" y="154111"/>
            <a:ext cx="12192000" cy="1041644"/>
          </a:xfrm>
          <a:prstGeom prst="rect">
            <a:avLst/>
          </a:prstGeom>
        </p:spPr>
        <p:txBody>
          <a:bodyPr vert="horz" lIns="91440" tIns="45720" rIns="91440" bIns="45720" rtlCol="0" anchor="ctr">
            <a:normAutofit/>
          </a:bodyPr>
          <a:lstStyle/>
          <a:p>
            <a:r>
              <a:rPr lang="pt-BR" dirty="0" smtClean="0"/>
              <a:t>Clique para editar o título mestre</a:t>
            </a:r>
            <a:endParaRPr lang="pt-BR" dirty="0"/>
          </a:p>
        </p:txBody>
      </p:sp>
      <p:sp>
        <p:nvSpPr>
          <p:cNvPr id="3" name="Espaço Reservado para Texto 2"/>
          <p:cNvSpPr>
            <a:spLocks noGrp="1"/>
          </p:cNvSpPr>
          <p:nvPr>
            <p:ph type="body" idx="1"/>
          </p:nvPr>
        </p:nvSpPr>
        <p:spPr>
          <a:xfrm>
            <a:off x="275490" y="1310861"/>
            <a:ext cx="11583573" cy="4351338"/>
          </a:xfrm>
          <a:prstGeom prst="rect">
            <a:avLst/>
          </a:prstGeom>
        </p:spPr>
        <p:txBody>
          <a:bodyPr vert="horz" lIns="91440" tIns="45720" rIns="91440" bIns="45720" rtlCol="0">
            <a:normAutofit/>
          </a:bodyPr>
          <a:lstStyle/>
          <a:p>
            <a:pPr lvl="0"/>
            <a:r>
              <a:rPr lang="pt-BR" dirty="0" smtClean="0"/>
              <a:t>Clique para editar o texto mestre</a:t>
            </a:r>
          </a:p>
          <a:p>
            <a:pPr lvl="1"/>
            <a:r>
              <a:rPr lang="pt-BR" dirty="0" smtClean="0"/>
              <a:t>Segundo nível</a:t>
            </a:r>
          </a:p>
          <a:p>
            <a:pPr lvl="2"/>
            <a:r>
              <a:rPr lang="pt-BR" dirty="0" smtClean="0"/>
              <a:t>Terceiro nível</a:t>
            </a:r>
          </a:p>
          <a:p>
            <a:pPr lvl="3"/>
            <a:r>
              <a:rPr lang="pt-BR" dirty="0" smtClean="0"/>
              <a:t>Quarto nível</a:t>
            </a:r>
          </a:p>
          <a:p>
            <a:pPr lvl="4"/>
            <a:r>
              <a:rPr lang="pt-BR" dirty="0" smtClean="0"/>
              <a:t>Quinto nível</a:t>
            </a:r>
            <a:endParaRPr lang="pt-BR" dirty="0"/>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2BF85-54FF-46CE-B398-87F998CFD60B}" type="datetimeFigureOut">
              <a:rPr lang="pt-BR" smtClean="0"/>
              <a:pPr/>
              <a:t>07/08/2018</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185252-FBA3-417A-8652-C405B89605D8}" type="slidenum">
              <a:rPr lang="pt-BR" smtClean="0"/>
              <a:pPr/>
              <a:t>‹nº›</a:t>
            </a:fld>
            <a:endParaRPr lang="pt-BR"/>
          </a:p>
        </p:txBody>
      </p:sp>
    </p:spTree>
    <p:extLst>
      <p:ext uri="{BB962C8B-B14F-4D97-AF65-F5344CB8AC3E}">
        <p14:creationId xmlns:p14="http://schemas.microsoft.com/office/powerpoint/2010/main" val="3557161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guiatrabalhista.com.br/tematicas/clt.htm" TargetMode="External"/><Relationship Id="rId2" Type="http://schemas.openxmlformats.org/officeDocument/2006/relationships/hyperlink" Target="http://www.guiatrabalhista.com.br/guia/periculosidade.ht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areasst.com/sat-fap-ntep-seguranca-do-trabalho/" TargetMode="External"/><Relationship Id="rId2" Type="http://schemas.openxmlformats.org/officeDocument/2006/relationships/hyperlink" Target="http://blog.crucial.com.br/post/O-que-e-GILRAT" TargetMode="External"/><Relationship Id="rId1" Type="http://schemas.openxmlformats.org/officeDocument/2006/relationships/slideLayout" Target="../slideLayouts/slideLayout2.xml"/><Relationship Id="rId5" Type="http://schemas.openxmlformats.org/officeDocument/2006/relationships/hyperlink" Target="http://www.ncnet.com.br/contabil/arquivos/cat_instr.html" TargetMode="External"/><Relationship Id="rId4" Type="http://schemas.openxmlformats.org/officeDocument/2006/relationships/hyperlink" Target="http://portaltrabalhoseguro.blogspot.com.br/2010/08/o-que-e-um-aso-atestado-de-saude.html" TargetMode="External"/></Relationships>
</file>

<file path=ppt/slides/_rels/slide53.xml.rels><?xml version="1.0" encoding="UTF-8" standalone="yes"?>
<Relationships xmlns="http://schemas.openxmlformats.org/package/2006/relationships"><Relationship Id="rId2" Type="http://schemas.openxmlformats.org/officeDocument/2006/relationships/hyperlink" Target="http://areasst.com/por-que-o-uso-do-epi-e-tao-importante/"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areasst.com/nr-16-periculosidade/" TargetMode="External"/><Relationship Id="rId2" Type="http://schemas.openxmlformats.org/officeDocument/2006/relationships/hyperlink" Target="http://areasst.com/adicional-de-insalubridade-nr-1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p:txBody>
          <a:bodyPr>
            <a:normAutofit/>
          </a:bodyPr>
          <a:lstStyle/>
          <a:p>
            <a:r>
              <a:rPr lang="pt-BR" dirty="0" smtClean="0">
                <a:solidFill>
                  <a:srgbClr val="014A8E"/>
                </a:solidFill>
                <a:latin typeface="Helvetica" panose="020B0604020202020204" pitchFamily="34" charset="0"/>
              </a:rPr>
              <a:t>Esocial</a:t>
            </a:r>
            <a:endParaRPr lang="pt-BR" dirty="0"/>
          </a:p>
        </p:txBody>
      </p:sp>
      <p:sp>
        <p:nvSpPr>
          <p:cNvPr id="5" name="Subtítulo 4"/>
          <p:cNvSpPr>
            <a:spLocks noGrp="1"/>
          </p:cNvSpPr>
          <p:nvPr>
            <p:ph type="subTitle" idx="1"/>
          </p:nvPr>
        </p:nvSpPr>
        <p:spPr>
          <a:xfrm>
            <a:off x="1266092" y="4130998"/>
            <a:ext cx="9584788" cy="730810"/>
          </a:xfrm>
        </p:spPr>
        <p:txBody>
          <a:bodyPr/>
          <a:lstStyle/>
          <a:p>
            <a:r>
              <a:rPr lang="pt-BR" dirty="0" smtClean="0"/>
              <a:t>A visão e aplicação de segurança do trabalho</a:t>
            </a:r>
            <a:endParaRPr lang="pt-BR" dirty="0"/>
          </a:p>
        </p:txBody>
      </p:sp>
    </p:spTree>
    <p:extLst>
      <p:ext uri="{BB962C8B-B14F-4D97-AF65-F5344CB8AC3E}">
        <p14:creationId xmlns:p14="http://schemas.microsoft.com/office/powerpoint/2010/main" val="2569797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Realidade atual</a:t>
            </a:r>
            <a:endParaRPr lang="pt-BR" dirty="0"/>
          </a:p>
        </p:txBody>
      </p:sp>
      <p:sp>
        <p:nvSpPr>
          <p:cNvPr id="3" name="Espaço Reservado para Conteúdo 2"/>
          <p:cNvSpPr>
            <a:spLocks noGrp="1"/>
          </p:cNvSpPr>
          <p:nvPr>
            <p:ph idx="1"/>
          </p:nvPr>
        </p:nvSpPr>
        <p:spPr/>
        <p:txBody>
          <a:bodyPr/>
          <a:lstStyle/>
          <a:p>
            <a:r>
              <a:rPr lang="pt-BR" dirty="0" smtClean="0"/>
              <a:t>Brasil tem condições hoje de fiscalizar de 10 a 15% das empresas.</a:t>
            </a:r>
          </a:p>
          <a:p>
            <a:r>
              <a:rPr lang="pt-BR" dirty="0" smtClean="0"/>
              <a:t>INPS : Registra cerca de 700 mil acidentes/ano e 25% deles sem CAT.</a:t>
            </a:r>
          </a:p>
          <a:p>
            <a:r>
              <a:rPr lang="pt-BR" dirty="0" smtClean="0"/>
              <a:t>Atingiu até então cerca de 12 mil empresas e 13 milhões de empregados.</a:t>
            </a:r>
          </a:p>
          <a:p>
            <a:r>
              <a:rPr lang="pt-BR" dirty="0" smtClean="0"/>
              <a:t>90% das empresas conseguiram cumprir a 1</a:t>
            </a:r>
            <a:r>
              <a:rPr lang="pt-BR" sz="3200" dirty="0" smtClean="0"/>
              <a:t>ª fase.</a:t>
            </a:r>
          </a:p>
          <a:p>
            <a:r>
              <a:rPr lang="pt-BR" dirty="0" smtClean="0"/>
              <a:t>Os ministérios informam que menos de 10 % das empresas são fiscalizadas.</a:t>
            </a:r>
          </a:p>
          <a:p>
            <a:r>
              <a:rPr lang="pt-BR" dirty="0" smtClean="0"/>
              <a:t>Existirá um bônus para os </a:t>
            </a:r>
            <a:r>
              <a:rPr lang="pt-BR" dirty="0" err="1" smtClean="0"/>
              <a:t>AFT’s</a:t>
            </a:r>
            <a:r>
              <a:rPr lang="pt-BR" dirty="0" smtClean="0"/>
              <a:t> que acharem problemas.</a:t>
            </a:r>
          </a:p>
          <a:p>
            <a:endParaRPr lang="pt-BR" sz="3200" dirty="0" smtClean="0"/>
          </a:p>
          <a:p>
            <a:endParaRPr lang="pt-BR" dirty="0"/>
          </a:p>
        </p:txBody>
      </p:sp>
    </p:spTree>
    <p:extLst>
      <p:ext uri="{BB962C8B-B14F-4D97-AF65-F5344CB8AC3E}">
        <p14:creationId xmlns:p14="http://schemas.microsoft.com/office/powerpoint/2010/main" val="179426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Histórico atual dos </a:t>
            </a:r>
            <a:r>
              <a:rPr lang="pt-BR" dirty="0" err="1" smtClean="0"/>
              <a:t>AFT’s</a:t>
            </a:r>
            <a:endParaRPr lang="pt-BR" dirty="0"/>
          </a:p>
        </p:txBody>
      </p:sp>
      <p:sp>
        <p:nvSpPr>
          <p:cNvPr id="3" name="Espaço Reservado para Conteúdo 2"/>
          <p:cNvSpPr>
            <a:spLocks noGrp="1"/>
          </p:cNvSpPr>
          <p:nvPr>
            <p:ph idx="1"/>
          </p:nvPr>
        </p:nvSpPr>
        <p:spPr/>
        <p:txBody>
          <a:bodyPr/>
          <a:lstStyle/>
          <a:p>
            <a:r>
              <a:rPr lang="pt-BR" dirty="0" smtClean="0"/>
              <a:t>A </a:t>
            </a:r>
            <a:r>
              <a:rPr lang="pt-BR" dirty="0"/>
              <a:t>auditoria-fiscal do trabalho passa por uma situação difícil no país. De 3.644 cargos existentes, 1.317 estão vagos. O número atual de 2.327 profissionais é o menor em 20 anos.</a:t>
            </a:r>
            <a:endParaRPr lang="pt-BR" dirty="0"/>
          </a:p>
        </p:txBody>
      </p:sp>
    </p:spTree>
    <p:extLst>
      <p:ext uri="{BB962C8B-B14F-4D97-AF65-F5344CB8AC3E}">
        <p14:creationId xmlns:p14="http://schemas.microsoft.com/office/powerpoint/2010/main" val="295671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normAutofit/>
          </a:bodyPr>
          <a:lstStyle/>
          <a:p>
            <a:pPr algn="ctr"/>
            <a:r>
              <a:rPr lang="pt-BR" sz="4000" b="1" dirty="0" smtClean="0"/>
              <a:t>Cronograma de implantação do Esocial</a:t>
            </a:r>
            <a:endParaRPr lang="pt-BR" sz="4000" b="1" dirty="0"/>
          </a:p>
        </p:txBody>
      </p:sp>
      <p:pic>
        <p:nvPicPr>
          <p:cNvPr id="2" name="Espaço Reservado para Conteúdo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5655" y="1163686"/>
            <a:ext cx="10670702" cy="2181529"/>
          </a:xfrm>
        </p:spPr>
      </p:pic>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655" y="3345216"/>
            <a:ext cx="10670702" cy="2538266"/>
          </a:xfrm>
          <a:prstGeom prst="rect">
            <a:avLst/>
          </a:prstGeom>
        </p:spPr>
      </p:pic>
    </p:spTree>
    <p:extLst>
      <p:ext uri="{BB962C8B-B14F-4D97-AF65-F5344CB8AC3E}">
        <p14:creationId xmlns:p14="http://schemas.microsoft.com/office/powerpoint/2010/main" val="865506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Cronograma de implantação</a:t>
            </a:r>
            <a:endParaRPr lang="pt-BR" b="1" dirty="0"/>
          </a:p>
        </p:txBody>
      </p:sp>
      <p:graphicFrame>
        <p:nvGraphicFramePr>
          <p:cNvPr id="4" name="object 3"/>
          <p:cNvGraphicFramePr>
            <a:graphicFrameLocks noGrp="1"/>
          </p:cNvGraphicFramePr>
          <p:nvPr>
            <p:extLst>
              <p:ext uri="{D42A27DB-BD31-4B8C-83A1-F6EECF244321}">
                <p14:modId xmlns:p14="http://schemas.microsoft.com/office/powerpoint/2010/main" val="2196510538"/>
              </p:ext>
            </p:extLst>
          </p:nvPr>
        </p:nvGraphicFramePr>
        <p:xfrm>
          <a:off x="1582817" y="1294613"/>
          <a:ext cx="7948930" cy="4684394"/>
        </p:xfrm>
        <a:graphic>
          <a:graphicData uri="http://schemas.openxmlformats.org/drawingml/2006/table">
            <a:tbl>
              <a:tblPr firstRow="1" bandRow="1">
                <a:tableStyleId>{2D5ABB26-0587-4C30-8999-92F81FD0307C}</a:tableStyleId>
              </a:tblPr>
              <a:tblGrid>
                <a:gridCol w="4777105">
                  <a:extLst>
                    <a:ext uri="{9D8B030D-6E8A-4147-A177-3AD203B41FA5}">
                      <a16:colId xmlns:a16="http://schemas.microsoft.com/office/drawing/2014/main" val="20000"/>
                    </a:ext>
                  </a:extLst>
                </a:gridCol>
                <a:gridCol w="3171825">
                  <a:extLst>
                    <a:ext uri="{9D8B030D-6E8A-4147-A177-3AD203B41FA5}">
                      <a16:colId xmlns:a16="http://schemas.microsoft.com/office/drawing/2014/main" val="20001"/>
                    </a:ext>
                  </a:extLst>
                </a:gridCol>
              </a:tblGrid>
              <a:tr h="429259">
                <a:tc gridSpan="2">
                  <a:txBody>
                    <a:bodyPr/>
                    <a:lstStyle/>
                    <a:p>
                      <a:pPr marL="2611755">
                        <a:lnSpc>
                          <a:spcPts val="1880"/>
                        </a:lnSpc>
                      </a:pPr>
                      <a:r>
                        <a:rPr sz="1600" b="1" spc="-5" dirty="0">
                          <a:latin typeface="Arial"/>
                          <a:cs typeface="Arial"/>
                        </a:rPr>
                        <a:t>Cronograma de</a:t>
                      </a:r>
                      <a:r>
                        <a:rPr sz="1600" b="1" spc="25" dirty="0">
                          <a:latin typeface="Arial"/>
                          <a:cs typeface="Arial"/>
                        </a:rPr>
                        <a:t> </a:t>
                      </a:r>
                      <a:r>
                        <a:rPr sz="1600" b="1" spc="-5" dirty="0">
                          <a:latin typeface="Arial"/>
                          <a:cs typeface="Arial"/>
                        </a:rPr>
                        <a:t>implantação</a:t>
                      </a:r>
                      <a:endParaRPr sz="160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573405">
                <a:tc>
                  <a:txBody>
                    <a:bodyPr/>
                    <a:lstStyle/>
                    <a:p>
                      <a:pPr marL="1043305">
                        <a:lnSpc>
                          <a:spcPts val="1885"/>
                        </a:lnSpc>
                      </a:pPr>
                      <a:r>
                        <a:rPr sz="1600" spc="-10" dirty="0">
                          <a:latin typeface="Arial"/>
                          <a:cs typeface="Arial"/>
                        </a:rPr>
                        <a:t>Transmissão </a:t>
                      </a:r>
                      <a:r>
                        <a:rPr sz="1600" spc="-5" dirty="0">
                          <a:latin typeface="Arial"/>
                          <a:cs typeface="Arial"/>
                        </a:rPr>
                        <a:t>das</a:t>
                      </a:r>
                      <a:r>
                        <a:rPr sz="1600" spc="5" dirty="0">
                          <a:latin typeface="Arial"/>
                          <a:cs typeface="Arial"/>
                        </a:rPr>
                        <a:t> </a:t>
                      </a:r>
                      <a:r>
                        <a:rPr sz="1600" spc="-5" dirty="0">
                          <a:latin typeface="Arial"/>
                          <a:cs typeface="Arial"/>
                        </a:rPr>
                        <a:t>informações</a:t>
                      </a:r>
                      <a:endParaRPr sz="160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30" algn="ctr">
                        <a:lnSpc>
                          <a:spcPts val="1885"/>
                        </a:lnSpc>
                      </a:pPr>
                      <a:r>
                        <a:rPr sz="1600" spc="-5" dirty="0">
                          <a:latin typeface="Arial"/>
                          <a:cs typeface="Arial"/>
                        </a:rPr>
                        <a:t>Início de vigência e observações</a:t>
                      </a:r>
                      <a:endParaRPr sz="1600" dirty="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696595">
                <a:tc>
                  <a:txBody>
                    <a:bodyPr/>
                    <a:lstStyle/>
                    <a:p>
                      <a:pPr marL="74930">
                        <a:lnSpc>
                          <a:spcPts val="1625"/>
                        </a:lnSpc>
                      </a:pPr>
                      <a:r>
                        <a:rPr sz="1400" dirty="0">
                          <a:latin typeface="Arial"/>
                          <a:cs typeface="Arial"/>
                        </a:rPr>
                        <a:t>Ambiente de produção restrito </a:t>
                      </a:r>
                      <a:r>
                        <a:rPr sz="1400" spc="-5" dirty="0">
                          <a:latin typeface="Arial"/>
                          <a:cs typeface="Arial"/>
                        </a:rPr>
                        <a:t>voltado </a:t>
                      </a:r>
                      <a:r>
                        <a:rPr sz="1400" dirty="0">
                          <a:latin typeface="Arial"/>
                          <a:cs typeface="Arial"/>
                        </a:rPr>
                        <a:t>ao</a:t>
                      </a:r>
                      <a:r>
                        <a:rPr sz="1400" spc="-155" dirty="0">
                          <a:latin typeface="Arial"/>
                          <a:cs typeface="Arial"/>
                        </a:rPr>
                        <a:t> </a:t>
                      </a:r>
                      <a:r>
                        <a:rPr sz="1400" spc="-5" dirty="0">
                          <a:latin typeface="Arial"/>
                          <a:cs typeface="Arial"/>
                        </a:rPr>
                        <a:t>aperfeiçoamento</a:t>
                      </a:r>
                      <a:endParaRPr sz="1400" dirty="0">
                        <a:latin typeface="Arial"/>
                        <a:cs typeface="Arial"/>
                      </a:endParaRPr>
                    </a:p>
                    <a:p>
                      <a:pPr marL="74930">
                        <a:lnSpc>
                          <a:spcPct val="100000"/>
                        </a:lnSpc>
                        <a:spcBef>
                          <a:spcPts val="120"/>
                        </a:spcBef>
                      </a:pPr>
                      <a:r>
                        <a:rPr sz="1400" dirty="0">
                          <a:latin typeface="Arial"/>
                          <a:cs typeface="Arial"/>
                        </a:rPr>
                        <a:t>do sistema para empregadores e</a:t>
                      </a:r>
                      <a:r>
                        <a:rPr sz="1400" spc="-150" dirty="0">
                          <a:latin typeface="Arial"/>
                          <a:cs typeface="Arial"/>
                        </a:rPr>
                        <a:t> </a:t>
                      </a:r>
                      <a:r>
                        <a:rPr sz="1400" spc="-5" dirty="0">
                          <a:latin typeface="Arial"/>
                          <a:cs typeface="Arial"/>
                        </a:rPr>
                        <a:t>contribuintes.</a:t>
                      </a:r>
                      <a:endParaRPr sz="1400" dirty="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2700" algn="ctr">
                        <a:lnSpc>
                          <a:spcPts val="1625"/>
                        </a:lnSpc>
                      </a:pPr>
                      <a:r>
                        <a:rPr sz="1400" dirty="0">
                          <a:latin typeface="Arial"/>
                          <a:cs typeface="Arial"/>
                        </a:rPr>
                        <a:t>Até</a:t>
                      </a:r>
                      <a:r>
                        <a:rPr sz="1400" spc="-25" dirty="0">
                          <a:latin typeface="Arial"/>
                          <a:cs typeface="Arial"/>
                        </a:rPr>
                        <a:t> </a:t>
                      </a:r>
                      <a:r>
                        <a:rPr sz="1400" dirty="0">
                          <a:latin typeface="Arial"/>
                          <a:cs typeface="Arial"/>
                        </a:rPr>
                        <a:t>01/07/2017</a:t>
                      </a:r>
                      <a:endParaRPr sz="140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696595">
                <a:tc>
                  <a:txBody>
                    <a:bodyPr/>
                    <a:lstStyle/>
                    <a:p>
                      <a:pPr marL="74930">
                        <a:lnSpc>
                          <a:spcPts val="1630"/>
                        </a:lnSpc>
                      </a:pPr>
                      <a:r>
                        <a:rPr sz="1400" spc="-5" dirty="0">
                          <a:latin typeface="Arial"/>
                          <a:cs typeface="Arial"/>
                        </a:rPr>
                        <a:t>Empregadores </a:t>
                      </a:r>
                      <a:r>
                        <a:rPr sz="1400" dirty="0">
                          <a:latin typeface="Arial"/>
                          <a:cs typeface="Arial"/>
                        </a:rPr>
                        <a:t>e </a:t>
                      </a:r>
                      <a:r>
                        <a:rPr sz="1400" spc="-5" dirty="0">
                          <a:latin typeface="Arial"/>
                          <a:cs typeface="Arial"/>
                        </a:rPr>
                        <a:t>contribuintes </a:t>
                      </a:r>
                      <a:r>
                        <a:rPr sz="1400" dirty="0">
                          <a:latin typeface="Arial"/>
                          <a:cs typeface="Arial"/>
                        </a:rPr>
                        <a:t>com</a:t>
                      </a:r>
                      <a:r>
                        <a:rPr sz="1400" spc="-105" dirty="0">
                          <a:latin typeface="Arial"/>
                          <a:cs typeface="Arial"/>
                        </a:rPr>
                        <a:t> </a:t>
                      </a:r>
                      <a:r>
                        <a:rPr sz="1400" spc="-5" dirty="0">
                          <a:latin typeface="Arial"/>
                          <a:cs typeface="Arial"/>
                        </a:rPr>
                        <a:t>faturamento</a:t>
                      </a:r>
                      <a:endParaRPr sz="1400" dirty="0">
                        <a:latin typeface="Arial"/>
                        <a:cs typeface="Arial"/>
                      </a:endParaRPr>
                    </a:p>
                    <a:p>
                      <a:pPr marL="74930">
                        <a:lnSpc>
                          <a:spcPct val="100000"/>
                        </a:lnSpc>
                        <a:spcBef>
                          <a:spcPts val="120"/>
                        </a:spcBef>
                      </a:pPr>
                      <a:r>
                        <a:rPr sz="1400" dirty="0">
                          <a:latin typeface="Arial"/>
                          <a:cs typeface="Arial"/>
                        </a:rPr>
                        <a:t>no ano de 2016 superior a </a:t>
                      </a:r>
                      <a:r>
                        <a:rPr sz="1400" spc="-5" dirty="0">
                          <a:latin typeface="Arial"/>
                          <a:cs typeface="Arial"/>
                        </a:rPr>
                        <a:t>R$</a:t>
                      </a:r>
                      <a:r>
                        <a:rPr sz="1400" spc="-145" dirty="0">
                          <a:latin typeface="Arial"/>
                          <a:cs typeface="Arial"/>
                        </a:rPr>
                        <a:t> </a:t>
                      </a:r>
                      <a:r>
                        <a:rPr sz="1400" spc="-5" dirty="0">
                          <a:latin typeface="Arial"/>
                          <a:cs typeface="Arial"/>
                        </a:rPr>
                        <a:t>78.000.000,00</a:t>
                      </a:r>
                      <a:endParaRPr sz="1400" dirty="0">
                        <a:latin typeface="Arial"/>
                        <a:cs typeface="Arial"/>
                      </a:endParaRPr>
                    </a:p>
                    <a:p>
                      <a:pPr marL="74930">
                        <a:lnSpc>
                          <a:spcPct val="100000"/>
                        </a:lnSpc>
                        <a:spcBef>
                          <a:spcPts val="120"/>
                        </a:spcBef>
                      </a:pPr>
                      <a:r>
                        <a:rPr sz="1400" dirty="0">
                          <a:latin typeface="Arial"/>
                          <a:cs typeface="Arial"/>
                        </a:rPr>
                        <a:t>(setenta e oito</a:t>
                      </a:r>
                      <a:r>
                        <a:rPr sz="1400" spc="-80" dirty="0">
                          <a:latin typeface="Arial"/>
                          <a:cs typeface="Arial"/>
                        </a:rPr>
                        <a:t> </a:t>
                      </a:r>
                      <a:r>
                        <a:rPr sz="1400" dirty="0">
                          <a:latin typeface="Arial"/>
                          <a:cs typeface="Arial"/>
                        </a:rPr>
                        <a:t>milhões).</a:t>
                      </a: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9CB4BD">
                        <a:alpha val="19999"/>
                      </a:srgbClr>
                    </a:solidFill>
                  </a:tcPr>
                </a:tc>
                <a:tc>
                  <a:txBody>
                    <a:bodyPr/>
                    <a:lstStyle/>
                    <a:p>
                      <a:pPr marL="14604" algn="ctr">
                        <a:lnSpc>
                          <a:spcPts val="1630"/>
                        </a:lnSpc>
                      </a:pPr>
                      <a:r>
                        <a:rPr sz="1400" spc="-5" dirty="0">
                          <a:latin typeface="Arial"/>
                          <a:cs typeface="Arial"/>
                        </a:rPr>
                        <a:t>01/01//2018</a:t>
                      </a:r>
                      <a:endParaRPr sz="140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9CB4BD">
                        <a:alpha val="19999"/>
                      </a:srgbClr>
                    </a:solidFill>
                  </a:tcPr>
                </a:tc>
                <a:extLst>
                  <a:ext uri="{0D108BD9-81ED-4DB2-BD59-A6C34878D82A}">
                    <a16:rowId xmlns:a16="http://schemas.microsoft.com/office/drawing/2014/main" val="10003"/>
                  </a:ext>
                </a:extLst>
              </a:tr>
              <a:tr h="560070">
                <a:tc>
                  <a:txBody>
                    <a:bodyPr/>
                    <a:lstStyle/>
                    <a:p>
                      <a:pPr>
                        <a:lnSpc>
                          <a:spcPct val="100000"/>
                        </a:lnSpc>
                        <a:spcBef>
                          <a:spcPts val="30"/>
                        </a:spcBef>
                      </a:pPr>
                      <a:endParaRPr sz="1400">
                        <a:latin typeface="Times New Roman"/>
                        <a:cs typeface="Times New Roman"/>
                      </a:endParaRPr>
                    </a:p>
                    <a:p>
                      <a:pPr marL="74930">
                        <a:lnSpc>
                          <a:spcPct val="100000"/>
                        </a:lnSpc>
                      </a:pPr>
                      <a:r>
                        <a:rPr sz="1400" spc="-5" dirty="0">
                          <a:latin typeface="Arial"/>
                          <a:cs typeface="Arial"/>
                        </a:rPr>
                        <a:t>Demais empregadores </a:t>
                      </a:r>
                      <a:r>
                        <a:rPr sz="1400" dirty="0">
                          <a:latin typeface="Arial"/>
                          <a:cs typeface="Arial"/>
                        </a:rPr>
                        <a:t>e</a:t>
                      </a:r>
                      <a:r>
                        <a:rPr sz="1400" spc="-65" dirty="0">
                          <a:latin typeface="Arial"/>
                          <a:cs typeface="Arial"/>
                        </a:rPr>
                        <a:t> </a:t>
                      </a:r>
                      <a:r>
                        <a:rPr sz="1400" spc="-5" dirty="0">
                          <a:latin typeface="Arial"/>
                          <a:cs typeface="Arial"/>
                        </a:rPr>
                        <a:t>contribuintes.</a:t>
                      </a:r>
                      <a:endParaRPr sz="1400">
                        <a:latin typeface="Arial"/>
                        <a:cs typeface="Arial"/>
                      </a:endParaRPr>
                    </a:p>
                  </a:txBody>
                  <a:tcPr marL="0" marR="0" marT="381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a:lnSpc>
                          <a:spcPct val="100000"/>
                        </a:lnSpc>
                        <a:spcBef>
                          <a:spcPts val="10"/>
                        </a:spcBef>
                      </a:pPr>
                      <a:endParaRPr sz="1500">
                        <a:latin typeface="Times New Roman"/>
                        <a:cs typeface="Times New Roman"/>
                      </a:endParaRPr>
                    </a:p>
                    <a:p>
                      <a:pPr marL="14604" algn="ctr">
                        <a:lnSpc>
                          <a:spcPct val="100000"/>
                        </a:lnSpc>
                        <a:spcBef>
                          <a:spcPts val="5"/>
                        </a:spcBef>
                      </a:pPr>
                      <a:r>
                        <a:rPr sz="1400" dirty="0">
                          <a:latin typeface="Arial"/>
                          <a:cs typeface="Arial"/>
                        </a:rPr>
                        <a:t>01/07/2018</a:t>
                      </a:r>
                      <a:endParaRPr sz="1400">
                        <a:latin typeface="Arial"/>
                        <a:cs typeface="Arial"/>
                      </a:endParaRPr>
                    </a:p>
                  </a:txBody>
                  <a:tcPr marL="0" marR="0" marT="12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r h="935355">
                <a:tc>
                  <a:txBody>
                    <a:bodyPr/>
                    <a:lstStyle/>
                    <a:p>
                      <a:pPr>
                        <a:lnSpc>
                          <a:spcPct val="100000"/>
                        </a:lnSpc>
                        <a:spcBef>
                          <a:spcPts val="35"/>
                        </a:spcBef>
                      </a:pPr>
                      <a:endParaRPr sz="1400">
                        <a:latin typeface="Times New Roman"/>
                        <a:cs typeface="Times New Roman"/>
                      </a:endParaRPr>
                    </a:p>
                    <a:p>
                      <a:pPr marL="74930" marR="912494">
                        <a:lnSpc>
                          <a:spcPct val="100000"/>
                        </a:lnSpc>
                      </a:pPr>
                      <a:r>
                        <a:rPr sz="1400" spc="-5" dirty="0">
                          <a:latin typeface="Arial"/>
                          <a:cs typeface="Arial"/>
                        </a:rPr>
                        <a:t>Informações relativas </a:t>
                      </a:r>
                      <a:r>
                        <a:rPr sz="1400" dirty="0">
                          <a:latin typeface="Arial"/>
                          <a:cs typeface="Arial"/>
                        </a:rPr>
                        <a:t>à saúde e à segurança</a:t>
                      </a:r>
                      <a:r>
                        <a:rPr sz="1400" spc="-160" dirty="0">
                          <a:latin typeface="Arial"/>
                          <a:cs typeface="Arial"/>
                        </a:rPr>
                        <a:t> </a:t>
                      </a:r>
                      <a:r>
                        <a:rPr sz="1400" dirty="0">
                          <a:latin typeface="Arial"/>
                          <a:cs typeface="Arial"/>
                        </a:rPr>
                        <a:t>do  </a:t>
                      </a:r>
                      <a:r>
                        <a:rPr sz="1400" spc="-5" dirty="0">
                          <a:latin typeface="Arial"/>
                          <a:cs typeface="Arial"/>
                        </a:rPr>
                        <a:t>trabalhador</a:t>
                      </a:r>
                      <a:r>
                        <a:rPr sz="1400" spc="-50" dirty="0">
                          <a:latin typeface="Arial"/>
                          <a:cs typeface="Arial"/>
                        </a:rPr>
                        <a:t> </a:t>
                      </a:r>
                      <a:r>
                        <a:rPr sz="1400" spc="-5" dirty="0">
                          <a:latin typeface="Arial"/>
                          <a:cs typeface="Arial"/>
                        </a:rPr>
                        <a:t>(SST).</a:t>
                      </a:r>
                      <a:endParaRPr sz="1400">
                        <a:latin typeface="Arial"/>
                        <a:cs typeface="Arial"/>
                      </a:endParaRPr>
                    </a:p>
                  </a:txBody>
                  <a:tcPr marL="0" marR="0" marT="444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9CB4BD">
                        <a:alpha val="19999"/>
                      </a:srgbClr>
                    </a:solidFill>
                  </a:tcPr>
                </a:tc>
                <a:tc>
                  <a:txBody>
                    <a:bodyPr/>
                    <a:lstStyle/>
                    <a:p>
                      <a:pPr marL="75565">
                        <a:lnSpc>
                          <a:spcPts val="1635"/>
                        </a:lnSpc>
                      </a:pPr>
                      <a:r>
                        <a:rPr sz="1400" dirty="0">
                          <a:latin typeface="Arial"/>
                          <a:cs typeface="Arial"/>
                        </a:rPr>
                        <a:t>Dispensa nos seis primeiros</a:t>
                      </a:r>
                      <a:r>
                        <a:rPr sz="1400" spc="-135" dirty="0">
                          <a:latin typeface="Arial"/>
                          <a:cs typeface="Arial"/>
                        </a:rPr>
                        <a:t> </a:t>
                      </a:r>
                      <a:r>
                        <a:rPr sz="1400" dirty="0">
                          <a:latin typeface="Arial"/>
                          <a:cs typeface="Arial"/>
                        </a:rPr>
                        <a:t>meses</a:t>
                      </a:r>
                      <a:endParaRPr sz="1400">
                        <a:latin typeface="Arial"/>
                        <a:cs typeface="Arial"/>
                      </a:endParaRPr>
                    </a:p>
                    <a:p>
                      <a:pPr marL="75565" marR="1028700">
                        <a:lnSpc>
                          <a:spcPct val="107100"/>
                        </a:lnSpc>
                      </a:pPr>
                      <a:r>
                        <a:rPr sz="1400" dirty="0">
                          <a:latin typeface="Arial"/>
                          <a:cs typeface="Arial"/>
                        </a:rPr>
                        <a:t>após as datas de início</a:t>
                      </a:r>
                      <a:r>
                        <a:rPr sz="1400" spc="-180" dirty="0">
                          <a:latin typeface="Arial"/>
                          <a:cs typeface="Arial"/>
                        </a:rPr>
                        <a:t> </a:t>
                      </a:r>
                      <a:r>
                        <a:rPr sz="1400" dirty="0">
                          <a:latin typeface="Arial"/>
                          <a:cs typeface="Arial"/>
                        </a:rPr>
                        <a:t>da  obrigatoriedade para os  </a:t>
                      </a:r>
                      <a:r>
                        <a:rPr sz="1400" spc="-5" dirty="0">
                          <a:latin typeface="Arial"/>
                          <a:cs typeface="Arial"/>
                        </a:rPr>
                        <a:t>empregadores.</a:t>
                      </a:r>
                      <a:endParaRPr sz="140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9CB4BD">
                        <a:alpha val="19999"/>
                      </a:srgbClr>
                    </a:solidFill>
                  </a:tcPr>
                </a:tc>
                <a:extLst>
                  <a:ext uri="{0D108BD9-81ED-4DB2-BD59-A6C34878D82A}">
                    <a16:rowId xmlns:a16="http://schemas.microsoft.com/office/drawing/2014/main" val="10005"/>
                  </a:ext>
                </a:extLst>
              </a:tr>
              <a:tr h="793115">
                <a:tc gridSpan="2">
                  <a:txBody>
                    <a:bodyPr/>
                    <a:lstStyle/>
                    <a:p>
                      <a:pPr>
                        <a:lnSpc>
                          <a:spcPct val="100000"/>
                        </a:lnSpc>
                      </a:pPr>
                      <a:endParaRPr sz="1500" dirty="0">
                        <a:latin typeface="Times New Roman"/>
                        <a:cs typeface="Times New Roman"/>
                      </a:endParaRPr>
                    </a:p>
                    <a:p>
                      <a:pPr>
                        <a:lnSpc>
                          <a:spcPct val="100000"/>
                        </a:lnSpc>
                        <a:spcBef>
                          <a:spcPts val="45"/>
                        </a:spcBef>
                      </a:pPr>
                      <a:endParaRPr sz="1350" dirty="0">
                        <a:latin typeface="Times New Roman"/>
                        <a:cs typeface="Times New Roman"/>
                      </a:endParaRPr>
                    </a:p>
                    <a:p>
                      <a:pPr marL="74930">
                        <a:lnSpc>
                          <a:spcPct val="100000"/>
                        </a:lnSpc>
                      </a:pPr>
                      <a:r>
                        <a:rPr sz="1400" dirty="0">
                          <a:latin typeface="Arial"/>
                          <a:cs typeface="Arial"/>
                        </a:rPr>
                        <a:t>Resolução </a:t>
                      </a:r>
                      <a:r>
                        <a:rPr sz="1400" spc="-5" dirty="0">
                          <a:latin typeface="Arial"/>
                          <a:cs typeface="Arial"/>
                        </a:rPr>
                        <a:t>nº </a:t>
                      </a:r>
                      <a:r>
                        <a:rPr sz="1400" dirty="0">
                          <a:latin typeface="Arial"/>
                          <a:cs typeface="Arial"/>
                        </a:rPr>
                        <a:t>2 </a:t>
                      </a:r>
                      <a:r>
                        <a:rPr sz="1400" spc="-5" dirty="0">
                          <a:latin typeface="Arial"/>
                          <a:cs typeface="Arial"/>
                        </a:rPr>
                        <a:t>de 30 de </a:t>
                      </a:r>
                      <a:r>
                        <a:rPr sz="1400" dirty="0">
                          <a:latin typeface="Arial"/>
                          <a:cs typeface="Arial"/>
                        </a:rPr>
                        <a:t>agosto </a:t>
                      </a:r>
                      <a:r>
                        <a:rPr sz="1400" spc="-5" dirty="0">
                          <a:latin typeface="Arial"/>
                          <a:cs typeface="Arial"/>
                        </a:rPr>
                        <a:t>de</a:t>
                      </a:r>
                      <a:r>
                        <a:rPr sz="1400" spc="-140" dirty="0">
                          <a:latin typeface="Arial"/>
                          <a:cs typeface="Arial"/>
                        </a:rPr>
                        <a:t> </a:t>
                      </a:r>
                      <a:r>
                        <a:rPr sz="1400" spc="-5" dirty="0">
                          <a:latin typeface="Arial"/>
                          <a:cs typeface="Arial"/>
                        </a:rPr>
                        <a:t>2016</a:t>
                      </a:r>
                      <a:endParaRPr sz="1400" dirty="0">
                        <a:latin typeface="Arial"/>
                        <a:cs typeface="Arial"/>
                      </a:endParaRPr>
                    </a:p>
                  </a:txBody>
                  <a:tcPr marL="0" marR="0" marT="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sp>
        <p:nvSpPr>
          <p:cNvPr id="5" name="Seta para a Direita 4"/>
          <p:cNvSpPr/>
          <p:nvPr/>
        </p:nvSpPr>
        <p:spPr>
          <a:xfrm>
            <a:off x="694063" y="4472847"/>
            <a:ext cx="683046" cy="41864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6409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pt-BR" sz="3600" b="1" dirty="0"/>
              <a:t>Resolução do Comitê Diretivo do </a:t>
            </a:r>
            <a:r>
              <a:rPr lang="pt-BR" sz="3600" b="1" dirty="0" err="1"/>
              <a:t>eSocial</a:t>
            </a:r>
            <a:r>
              <a:rPr lang="pt-BR" sz="3600" b="1" dirty="0"/>
              <a:t> nº </a:t>
            </a:r>
            <a:r>
              <a:rPr lang="pt-BR" sz="3600" b="1" dirty="0" smtClean="0"/>
              <a:t>2 </a:t>
            </a:r>
            <a:endParaRPr lang="pt-BR" sz="3600" b="1" dirty="0"/>
          </a:p>
        </p:txBody>
      </p:sp>
      <p:sp>
        <p:nvSpPr>
          <p:cNvPr id="3" name="Espaço Reservado para Conteúdo 2"/>
          <p:cNvSpPr>
            <a:spLocks noGrp="1"/>
          </p:cNvSpPr>
          <p:nvPr>
            <p:ph idx="1"/>
          </p:nvPr>
        </p:nvSpPr>
        <p:spPr/>
        <p:txBody>
          <a:bodyPr/>
          <a:lstStyle/>
          <a:p>
            <a:pPr fontAlgn="base"/>
            <a:r>
              <a:rPr lang="pt-BR" dirty="0"/>
              <a:t>§ 1º A prestação das informações dos eventos relativos à Saúde e Segurança do Trabalhador (SST) deverá ocorrer a partir de:</a:t>
            </a:r>
          </a:p>
          <a:p>
            <a:pPr fontAlgn="base"/>
            <a:r>
              <a:rPr lang="pt-BR" dirty="0"/>
              <a:t>I - janeiro de 2019, pelos empregadores e contribuintes a que se referem os incisos I e II do caput (1º e 2º grupos); e</a:t>
            </a:r>
          </a:p>
          <a:p>
            <a:pPr fontAlgn="base"/>
            <a:r>
              <a:rPr lang="pt-BR" dirty="0"/>
              <a:t>II - julho de 2019, pelos entes a que se refere o inciso III do caput (3º grupo).</a:t>
            </a:r>
          </a:p>
          <a:p>
            <a:endParaRPr lang="pt-BR" dirty="0"/>
          </a:p>
        </p:txBody>
      </p:sp>
    </p:spTree>
    <p:extLst>
      <p:ext uri="{BB962C8B-B14F-4D97-AF65-F5344CB8AC3E}">
        <p14:creationId xmlns:p14="http://schemas.microsoft.com/office/powerpoint/2010/main" val="2011525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Resumindo...</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0192" y="1083213"/>
            <a:ext cx="10585316" cy="4757622"/>
          </a:xfrm>
        </p:spPr>
      </p:pic>
      <p:sp>
        <p:nvSpPr>
          <p:cNvPr id="3" name="Seta para a Direita 2"/>
          <p:cNvSpPr/>
          <p:nvPr/>
        </p:nvSpPr>
        <p:spPr>
          <a:xfrm>
            <a:off x="716097" y="4649118"/>
            <a:ext cx="1134737" cy="4737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28049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Funcionamento atual</a:t>
            </a:r>
            <a:endParaRPr lang="pt-BR" b="1" dirty="0"/>
          </a:p>
        </p:txBody>
      </p:sp>
      <p:sp>
        <p:nvSpPr>
          <p:cNvPr id="3" name="Espaço Reservado para Conteúdo 2"/>
          <p:cNvSpPr>
            <a:spLocks noGrp="1"/>
          </p:cNvSpPr>
          <p:nvPr>
            <p:ph idx="1"/>
          </p:nvPr>
        </p:nvSpPr>
        <p:spPr/>
        <p:txBody>
          <a:bodyPr/>
          <a:lstStyle/>
          <a:p>
            <a:r>
              <a:rPr lang="pt-BR" dirty="0"/>
              <a:t>No período entre 8 de janeiro e 28 de fevereiro de 2018, o sistema receberá apenas as informações cadastrais dos empregadores e as relativas às suas tabelas, tais como estabelecimentos, rubricas, cargos, etc. Somente a partir de março será possível o envio dos eventos não-periódicos. Até lá será possível fazer os ajustes necessários na qualificação cadastral dos funcionários, por exemplo.</a:t>
            </a:r>
          </a:p>
        </p:txBody>
      </p:sp>
    </p:spTree>
    <p:extLst>
      <p:ext uri="{BB962C8B-B14F-4D97-AF65-F5344CB8AC3E}">
        <p14:creationId xmlns:p14="http://schemas.microsoft.com/office/powerpoint/2010/main" val="1813575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Eventos não periódicos</a:t>
            </a:r>
            <a:endParaRPr lang="pt-BR" b="1" dirty="0"/>
          </a:p>
        </p:txBody>
      </p:sp>
      <p:sp>
        <p:nvSpPr>
          <p:cNvPr id="3" name="Espaço Reservado para Conteúdo 2"/>
          <p:cNvSpPr>
            <a:spLocks noGrp="1"/>
          </p:cNvSpPr>
          <p:nvPr>
            <p:ph idx="1"/>
          </p:nvPr>
        </p:nvSpPr>
        <p:spPr>
          <a:xfrm>
            <a:off x="317695" y="1083213"/>
            <a:ext cx="11705493" cy="4351338"/>
          </a:xfrm>
        </p:spPr>
        <p:txBody>
          <a:bodyPr/>
          <a:lstStyle/>
          <a:p>
            <a:r>
              <a:rPr lang="pt-BR" dirty="0"/>
              <a:t>Um Evento Não Periódico é uma ocorrência que não possui data prefixada. Ele depende de acontecimentos na relação empresa e trabalhador, dos quais surgirão reconhecimento de direitos e cumprimento de deveres trabalhistas, previdenciários e fiscais.</a:t>
            </a:r>
          </a:p>
          <a:p>
            <a:endParaRPr lang="pt-BR" dirty="0"/>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894" y="2897436"/>
            <a:ext cx="10421957" cy="2093718"/>
          </a:xfrm>
          <a:prstGeom prst="rect">
            <a:avLst/>
          </a:prstGeom>
        </p:spPr>
      </p:pic>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94" y="4991154"/>
            <a:ext cx="6378766" cy="1082083"/>
          </a:xfrm>
          <a:prstGeom prst="rect">
            <a:avLst/>
          </a:prstGeom>
        </p:spPr>
      </p:pic>
      <p:sp>
        <p:nvSpPr>
          <p:cNvPr id="6" name="Seta para a Direita 5"/>
          <p:cNvSpPr/>
          <p:nvPr/>
        </p:nvSpPr>
        <p:spPr>
          <a:xfrm>
            <a:off x="0" y="4609198"/>
            <a:ext cx="683943" cy="38195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71977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Modificações mais recentes</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7793" y="1113536"/>
            <a:ext cx="11204153" cy="4746605"/>
          </a:xfrm>
        </p:spPr>
      </p:pic>
      <p:sp>
        <p:nvSpPr>
          <p:cNvPr id="5" name="Seta para a Direita 4"/>
          <p:cNvSpPr/>
          <p:nvPr/>
        </p:nvSpPr>
        <p:spPr>
          <a:xfrm rot="16200000">
            <a:off x="10003317" y="3437263"/>
            <a:ext cx="550843" cy="36355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rot="10800000">
            <a:off x="10805710" y="4680333"/>
            <a:ext cx="550843" cy="36355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75602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Lógica dos eventos no E-Social</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759" y="1646776"/>
            <a:ext cx="9782978" cy="4170129"/>
          </a:xfrm>
        </p:spPr>
      </p:pic>
      <p:sp>
        <p:nvSpPr>
          <p:cNvPr id="3" name="Multiplicar 2"/>
          <p:cNvSpPr/>
          <p:nvPr/>
        </p:nvSpPr>
        <p:spPr>
          <a:xfrm>
            <a:off x="6455885" y="3944039"/>
            <a:ext cx="2346592" cy="1994052"/>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189233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a:t>
            </a:r>
            <a:r>
              <a:rPr lang="pt-BR" b="1" dirty="0" smtClean="0"/>
              <a:t>Como ficou a lógica dos eventos ?</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6772" y="1570567"/>
            <a:ext cx="9540606" cy="4367525"/>
          </a:xfrm>
        </p:spPr>
      </p:pic>
    </p:spTree>
    <p:extLst>
      <p:ext uri="{BB962C8B-B14F-4D97-AF65-F5344CB8AC3E}">
        <p14:creationId xmlns:p14="http://schemas.microsoft.com/office/powerpoint/2010/main" val="239974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err="1" smtClean="0"/>
              <a:t>Faseamento</a:t>
            </a:r>
            <a:r>
              <a:rPr lang="pt-BR" b="1" dirty="0" smtClean="0"/>
              <a:t> do E-Social</a:t>
            </a:r>
            <a:endParaRPr lang="pt-BR" b="1" dirty="0"/>
          </a:p>
        </p:txBody>
      </p:sp>
      <p:pic>
        <p:nvPicPr>
          <p:cNvPr id="4" name="Espaço Reservado para Conteú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24569" y="958467"/>
            <a:ext cx="9926197" cy="5056743"/>
          </a:xfrm>
        </p:spPr>
      </p:pic>
    </p:spTree>
    <p:extLst>
      <p:ext uri="{BB962C8B-B14F-4D97-AF65-F5344CB8AC3E}">
        <p14:creationId xmlns:p14="http://schemas.microsoft.com/office/powerpoint/2010/main" val="1309608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965953" y="956310"/>
            <a:ext cx="2261870" cy="2263140"/>
          </a:xfrm>
          <a:custGeom>
            <a:avLst/>
            <a:gdLst/>
            <a:ahLst/>
            <a:cxnLst/>
            <a:rect l="l" t="t" r="r" b="b"/>
            <a:pathLst>
              <a:path w="2261870" h="2263140">
                <a:moveTo>
                  <a:pt x="1130808" y="0"/>
                </a:moveTo>
                <a:lnTo>
                  <a:pt x="0" y="2263140"/>
                </a:lnTo>
                <a:lnTo>
                  <a:pt x="2261616" y="2263140"/>
                </a:lnTo>
                <a:lnTo>
                  <a:pt x="1130808" y="0"/>
                </a:lnTo>
                <a:close/>
              </a:path>
            </a:pathLst>
          </a:custGeom>
          <a:solidFill>
            <a:srgbClr val="ABB8C3"/>
          </a:solidFill>
        </p:spPr>
        <p:txBody>
          <a:bodyPr wrap="square" lIns="0" tIns="0" rIns="0" bIns="0" rtlCol="0"/>
          <a:lstStyle/>
          <a:p>
            <a:endParaRPr/>
          </a:p>
        </p:txBody>
      </p:sp>
      <p:sp>
        <p:nvSpPr>
          <p:cNvPr id="3" name="object 3"/>
          <p:cNvSpPr/>
          <p:nvPr/>
        </p:nvSpPr>
        <p:spPr>
          <a:xfrm>
            <a:off x="4965953" y="956310"/>
            <a:ext cx="2261870" cy="2263140"/>
          </a:xfrm>
          <a:custGeom>
            <a:avLst/>
            <a:gdLst/>
            <a:ahLst/>
            <a:cxnLst/>
            <a:rect l="l" t="t" r="r" b="b"/>
            <a:pathLst>
              <a:path w="2261870" h="2263140">
                <a:moveTo>
                  <a:pt x="0" y="2263140"/>
                </a:moveTo>
                <a:lnTo>
                  <a:pt x="1130808" y="0"/>
                </a:lnTo>
                <a:lnTo>
                  <a:pt x="2261616" y="2263140"/>
                </a:lnTo>
                <a:lnTo>
                  <a:pt x="0" y="2263140"/>
                </a:lnTo>
                <a:close/>
              </a:path>
            </a:pathLst>
          </a:custGeom>
          <a:ln w="25908">
            <a:solidFill>
              <a:srgbClr val="FFFFFF"/>
            </a:solidFill>
          </a:ln>
        </p:spPr>
        <p:txBody>
          <a:bodyPr wrap="square" lIns="0" tIns="0" rIns="0" bIns="0" rtlCol="0"/>
          <a:lstStyle/>
          <a:p>
            <a:endParaRPr/>
          </a:p>
        </p:txBody>
      </p:sp>
      <p:sp>
        <p:nvSpPr>
          <p:cNvPr id="4" name="object 4"/>
          <p:cNvSpPr txBox="1"/>
          <p:nvPr/>
        </p:nvSpPr>
        <p:spPr>
          <a:xfrm>
            <a:off x="5626353" y="2480310"/>
            <a:ext cx="937894" cy="317500"/>
          </a:xfrm>
          <a:prstGeom prst="rect">
            <a:avLst/>
          </a:prstGeom>
        </p:spPr>
        <p:txBody>
          <a:bodyPr vert="horz" wrap="square" lIns="0" tIns="27305" rIns="0" bIns="0" rtlCol="0">
            <a:spAutoFit/>
          </a:bodyPr>
          <a:lstStyle/>
          <a:p>
            <a:pPr marL="12700" marR="5080" indent="53340">
              <a:lnSpc>
                <a:spcPts val="1100"/>
              </a:lnSpc>
              <a:spcBef>
                <a:spcPts val="215"/>
              </a:spcBef>
            </a:pPr>
            <a:r>
              <a:rPr sz="1000" spc="-150" dirty="0">
                <a:solidFill>
                  <a:srgbClr val="FFFFFF"/>
                </a:solidFill>
                <a:latin typeface="Arial"/>
                <a:cs typeface="Arial"/>
              </a:rPr>
              <a:t>SECRETARIA </a:t>
            </a:r>
            <a:r>
              <a:rPr sz="1000" spc="-105" dirty="0">
                <a:solidFill>
                  <a:srgbClr val="FFFFFF"/>
                </a:solidFill>
                <a:latin typeface="Arial"/>
                <a:cs typeface="Arial"/>
              </a:rPr>
              <a:t>DA  </a:t>
            </a:r>
            <a:r>
              <a:rPr sz="1000" spc="-145" dirty="0">
                <a:solidFill>
                  <a:srgbClr val="FFFFFF"/>
                </a:solidFill>
                <a:latin typeface="Arial"/>
                <a:cs typeface="Arial"/>
              </a:rPr>
              <a:t>RECEITA</a:t>
            </a:r>
            <a:r>
              <a:rPr sz="1000" spc="-100" dirty="0">
                <a:solidFill>
                  <a:srgbClr val="FFFFFF"/>
                </a:solidFill>
                <a:latin typeface="Arial"/>
                <a:cs typeface="Arial"/>
              </a:rPr>
              <a:t> </a:t>
            </a:r>
            <a:r>
              <a:rPr sz="1000" spc="-150" dirty="0">
                <a:solidFill>
                  <a:srgbClr val="FFFFFF"/>
                </a:solidFill>
                <a:latin typeface="Arial"/>
                <a:cs typeface="Arial"/>
              </a:rPr>
              <a:t>FEDERAL</a:t>
            </a:r>
            <a:endParaRPr sz="1000">
              <a:latin typeface="Arial"/>
              <a:cs typeface="Arial"/>
            </a:endParaRPr>
          </a:p>
        </p:txBody>
      </p:sp>
      <p:sp>
        <p:nvSpPr>
          <p:cNvPr id="5" name="object 5"/>
          <p:cNvSpPr/>
          <p:nvPr/>
        </p:nvSpPr>
        <p:spPr>
          <a:xfrm>
            <a:off x="3833622" y="3219450"/>
            <a:ext cx="2263140" cy="2263140"/>
          </a:xfrm>
          <a:custGeom>
            <a:avLst/>
            <a:gdLst/>
            <a:ahLst/>
            <a:cxnLst/>
            <a:rect l="l" t="t" r="r" b="b"/>
            <a:pathLst>
              <a:path w="2263140" h="2263140">
                <a:moveTo>
                  <a:pt x="1131569" y="0"/>
                </a:moveTo>
                <a:lnTo>
                  <a:pt x="0" y="2263140"/>
                </a:lnTo>
                <a:lnTo>
                  <a:pt x="2263140" y="2263140"/>
                </a:lnTo>
                <a:lnTo>
                  <a:pt x="1131569" y="0"/>
                </a:lnTo>
                <a:close/>
              </a:path>
            </a:pathLst>
          </a:custGeom>
          <a:solidFill>
            <a:srgbClr val="ABB8C3"/>
          </a:solidFill>
        </p:spPr>
        <p:txBody>
          <a:bodyPr wrap="square" lIns="0" tIns="0" rIns="0" bIns="0" rtlCol="0"/>
          <a:lstStyle/>
          <a:p>
            <a:endParaRPr/>
          </a:p>
        </p:txBody>
      </p:sp>
      <p:sp>
        <p:nvSpPr>
          <p:cNvPr id="6" name="object 6"/>
          <p:cNvSpPr/>
          <p:nvPr/>
        </p:nvSpPr>
        <p:spPr>
          <a:xfrm>
            <a:off x="3833622" y="3219450"/>
            <a:ext cx="2263140" cy="2263140"/>
          </a:xfrm>
          <a:custGeom>
            <a:avLst/>
            <a:gdLst/>
            <a:ahLst/>
            <a:cxnLst/>
            <a:rect l="l" t="t" r="r" b="b"/>
            <a:pathLst>
              <a:path w="2263140" h="2263140">
                <a:moveTo>
                  <a:pt x="0" y="2263140"/>
                </a:moveTo>
                <a:lnTo>
                  <a:pt x="1131569" y="0"/>
                </a:lnTo>
                <a:lnTo>
                  <a:pt x="2263140" y="2263140"/>
                </a:lnTo>
                <a:lnTo>
                  <a:pt x="0" y="2263140"/>
                </a:lnTo>
                <a:close/>
              </a:path>
            </a:pathLst>
          </a:custGeom>
          <a:ln w="25908">
            <a:solidFill>
              <a:srgbClr val="FFFFFF"/>
            </a:solidFill>
          </a:ln>
        </p:spPr>
        <p:txBody>
          <a:bodyPr wrap="square" lIns="0" tIns="0" rIns="0" bIns="0" rtlCol="0"/>
          <a:lstStyle/>
          <a:p>
            <a:endParaRPr/>
          </a:p>
        </p:txBody>
      </p:sp>
      <p:sp>
        <p:nvSpPr>
          <p:cNvPr id="7" name="object 7"/>
          <p:cNvSpPr txBox="1"/>
          <p:nvPr/>
        </p:nvSpPr>
        <p:spPr>
          <a:xfrm>
            <a:off x="4450460" y="4604130"/>
            <a:ext cx="1026794" cy="596900"/>
          </a:xfrm>
          <a:prstGeom prst="rect">
            <a:avLst/>
          </a:prstGeom>
        </p:spPr>
        <p:txBody>
          <a:bodyPr vert="horz" wrap="square" lIns="0" tIns="24765" rIns="0" bIns="0" rtlCol="0">
            <a:spAutoFit/>
          </a:bodyPr>
          <a:lstStyle/>
          <a:p>
            <a:pPr marL="12700" marR="5080" algn="ctr">
              <a:lnSpc>
                <a:spcPct val="91700"/>
              </a:lnSpc>
              <a:spcBef>
                <a:spcPts val="195"/>
              </a:spcBef>
            </a:pPr>
            <a:r>
              <a:rPr sz="1000" spc="-114" dirty="0">
                <a:solidFill>
                  <a:srgbClr val="FFFFFF"/>
                </a:solidFill>
                <a:latin typeface="Arial"/>
                <a:cs typeface="Arial"/>
              </a:rPr>
              <a:t>CAIXA ECONÔMICA  </a:t>
            </a:r>
            <a:r>
              <a:rPr sz="1000" spc="-150" dirty="0">
                <a:solidFill>
                  <a:srgbClr val="FFFFFF"/>
                </a:solidFill>
                <a:latin typeface="Arial"/>
                <a:cs typeface="Arial"/>
              </a:rPr>
              <a:t>FEDERAL </a:t>
            </a:r>
            <a:r>
              <a:rPr sz="1000" spc="-65" dirty="0">
                <a:solidFill>
                  <a:srgbClr val="FFFFFF"/>
                </a:solidFill>
                <a:latin typeface="Arial"/>
                <a:cs typeface="Arial"/>
              </a:rPr>
              <a:t>e  </a:t>
            </a:r>
            <a:r>
              <a:rPr sz="1000" spc="-145" dirty="0">
                <a:solidFill>
                  <a:srgbClr val="FFFFFF"/>
                </a:solidFill>
                <a:latin typeface="Arial"/>
                <a:cs typeface="Arial"/>
              </a:rPr>
              <a:t>CONSELHO  </a:t>
            </a:r>
            <a:r>
              <a:rPr sz="1000" spc="-140" dirty="0">
                <a:solidFill>
                  <a:srgbClr val="FFFFFF"/>
                </a:solidFill>
                <a:latin typeface="Arial"/>
                <a:cs typeface="Arial"/>
              </a:rPr>
              <a:t>CURADOR </a:t>
            </a:r>
            <a:r>
              <a:rPr sz="1000" spc="-120" dirty="0">
                <a:solidFill>
                  <a:srgbClr val="FFFFFF"/>
                </a:solidFill>
                <a:latin typeface="Arial"/>
                <a:cs typeface="Arial"/>
              </a:rPr>
              <a:t>DO</a:t>
            </a:r>
            <a:r>
              <a:rPr sz="1000" spc="-145" dirty="0">
                <a:solidFill>
                  <a:srgbClr val="FFFFFF"/>
                </a:solidFill>
                <a:latin typeface="Arial"/>
                <a:cs typeface="Arial"/>
              </a:rPr>
              <a:t> </a:t>
            </a:r>
            <a:r>
              <a:rPr sz="1000" spc="-170" dirty="0">
                <a:solidFill>
                  <a:srgbClr val="FFFFFF"/>
                </a:solidFill>
                <a:latin typeface="Arial"/>
                <a:cs typeface="Arial"/>
              </a:rPr>
              <a:t>FGTS</a:t>
            </a:r>
            <a:endParaRPr sz="1000">
              <a:latin typeface="Arial"/>
              <a:cs typeface="Arial"/>
            </a:endParaRPr>
          </a:p>
        </p:txBody>
      </p:sp>
      <p:sp>
        <p:nvSpPr>
          <p:cNvPr id="8" name="object 8"/>
          <p:cNvSpPr/>
          <p:nvPr/>
        </p:nvSpPr>
        <p:spPr>
          <a:xfrm>
            <a:off x="4965953" y="3219450"/>
            <a:ext cx="2261870" cy="2263140"/>
          </a:xfrm>
          <a:custGeom>
            <a:avLst/>
            <a:gdLst/>
            <a:ahLst/>
            <a:cxnLst/>
            <a:rect l="l" t="t" r="r" b="b"/>
            <a:pathLst>
              <a:path w="2261870" h="2263140">
                <a:moveTo>
                  <a:pt x="2261616" y="0"/>
                </a:moveTo>
                <a:lnTo>
                  <a:pt x="0" y="0"/>
                </a:lnTo>
                <a:lnTo>
                  <a:pt x="1130808" y="2263140"/>
                </a:lnTo>
                <a:lnTo>
                  <a:pt x="2261616" y="0"/>
                </a:lnTo>
                <a:close/>
              </a:path>
            </a:pathLst>
          </a:custGeom>
          <a:solidFill>
            <a:srgbClr val="62798A"/>
          </a:solidFill>
        </p:spPr>
        <p:txBody>
          <a:bodyPr wrap="square" lIns="0" tIns="0" rIns="0" bIns="0" rtlCol="0"/>
          <a:lstStyle/>
          <a:p>
            <a:endParaRPr/>
          </a:p>
        </p:txBody>
      </p:sp>
      <p:sp>
        <p:nvSpPr>
          <p:cNvPr id="9" name="object 9"/>
          <p:cNvSpPr/>
          <p:nvPr/>
        </p:nvSpPr>
        <p:spPr>
          <a:xfrm>
            <a:off x="4965953" y="3219450"/>
            <a:ext cx="2261870" cy="2263140"/>
          </a:xfrm>
          <a:custGeom>
            <a:avLst/>
            <a:gdLst/>
            <a:ahLst/>
            <a:cxnLst/>
            <a:rect l="l" t="t" r="r" b="b"/>
            <a:pathLst>
              <a:path w="2261870" h="2263140">
                <a:moveTo>
                  <a:pt x="2261616" y="0"/>
                </a:moveTo>
                <a:lnTo>
                  <a:pt x="1130808" y="2263140"/>
                </a:lnTo>
                <a:lnTo>
                  <a:pt x="0" y="0"/>
                </a:lnTo>
                <a:lnTo>
                  <a:pt x="2261616" y="0"/>
                </a:lnTo>
                <a:close/>
              </a:path>
            </a:pathLst>
          </a:custGeom>
          <a:ln w="25908">
            <a:solidFill>
              <a:srgbClr val="FFFFFF"/>
            </a:solidFill>
          </a:ln>
        </p:spPr>
        <p:txBody>
          <a:bodyPr wrap="square" lIns="0" tIns="0" rIns="0" bIns="0" rtlCol="0"/>
          <a:lstStyle/>
          <a:p>
            <a:endParaRPr/>
          </a:p>
        </p:txBody>
      </p:sp>
      <p:sp>
        <p:nvSpPr>
          <p:cNvPr id="10" name="object 10"/>
          <p:cNvSpPr txBox="1"/>
          <p:nvPr/>
        </p:nvSpPr>
        <p:spPr>
          <a:xfrm>
            <a:off x="5676646" y="3638499"/>
            <a:ext cx="838200" cy="457200"/>
          </a:xfrm>
          <a:prstGeom prst="rect">
            <a:avLst/>
          </a:prstGeom>
        </p:spPr>
        <p:txBody>
          <a:bodyPr vert="horz" wrap="square" lIns="0" tIns="25400" rIns="0" bIns="0" rtlCol="0">
            <a:spAutoFit/>
          </a:bodyPr>
          <a:lstStyle/>
          <a:p>
            <a:pPr marL="12700" marR="5080" algn="ctr">
              <a:lnSpc>
                <a:spcPct val="91600"/>
              </a:lnSpc>
              <a:spcBef>
                <a:spcPts val="200"/>
              </a:spcBef>
            </a:pPr>
            <a:r>
              <a:rPr sz="1000" spc="-100" dirty="0">
                <a:solidFill>
                  <a:srgbClr val="FFFFFF"/>
                </a:solidFill>
                <a:latin typeface="Arial"/>
                <a:cs typeface="Arial"/>
              </a:rPr>
              <a:t>MINISTÉRIO </a:t>
            </a:r>
            <a:r>
              <a:rPr sz="1000" spc="-120" dirty="0">
                <a:solidFill>
                  <a:srgbClr val="FFFFFF"/>
                </a:solidFill>
                <a:latin typeface="Arial"/>
                <a:cs typeface="Arial"/>
              </a:rPr>
              <a:t>DO  </a:t>
            </a:r>
            <a:r>
              <a:rPr sz="1000" spc="-125" dirty="0">
                <a:solidFill>
                  <a:srgbClr val="FFFFFF"/>
                </a:solidFill>
                <a:latin typeface="Arial"/>
                <a:cs typeface="Arial"/>
              </a:rPr>
              <a:t>TRABALHO </a:t>
            </a:r>
            <a:r>
              <a:rPr sz="1000" spc="-185" dirty="0">
                <a:solidFill>
                  <a:srgbClr val="FFFFFF"/>
                </a:solidFill>
                <a:latin typeface="Arial"/>
                <a:cs typeface="Arial"/>
              </a:rPr>
              <a:t>E  </a:t>
            </a:r>
            <a:r>
              <a:rPr sz="1000" spc="-135" dirty="0">
                <a:solidFill>
                  <a:srgbClr val="FFFFFF"/>
                </a:solidFill>
                <a:latin typeface="Arial"/>
                <a:cs typeface="Arial"/>
              </a:rPr>
              <a:t>EMPREGO</a:t>
            </a:r>
            <a:endParaRPr sz="1000">
              <a:latin typeface="Arial"/>
              <a:cs typeface="Arial"/>
            </a:endParaRPr>
          </a:p>
        </p:txBody>
      </p:sp>
      <p:sp>
        <p:nvSpPr>
          <p:cNvPr id="11" name="object 11"/>
          <p:cNvSpPr/>
          <p:nvPr/>
        </p:nvSpPr>
        <p:spPr>
          <a:xfrm>
            <a:off x="6096761" y="3219450"/>
            <a:ext cx="2263140" cy="2263140"/>
          </a:xfrm>
          <a:custGeom>
            <a:avLst/>
            <a:gdLst/>
            <a:ahLst/>
            <a:cxnLst/>
            <a:rect l="l" t="t" r="r" b="b"/>
            <a:pathLst>
              <a:path w="2263140" h="2263140">
                <a:moveTo>
                  <a:pt x="1131570" y="0"/>
                </a:moveTo>
                <a:lnTo>
                  <a:pt x="0" y="2263140"/>
                </a:lnTo>
                <a:lnTo>
                  <a:pt x="2263140" y="2263140"/>
                </a:lnTo>
                <a:lnTo>
                  <a:pt x="1131570" y="0"/>
                </a:lnTo>
                <a:close/>
              </a:path>
            </a:pathLst>
          </a:custGeom>
          <a:solidFill>
            <a:srgbClr val="62798A"/>
          </a:solidFill>
        </p:spPr>
        <p:txBody>
          <a:bodyPr wrap="square" lIns="0" tIns="0" rIns="0" bIns="0" rtlCol="0"/>
          <a:lstStyle/>
          <a:p>
            <a:endParaRPr/>
          </a:p>
        </p:txBody>
      </p:sp>
      <p:sp>
        <p:nvSpPr>
          <p:cNvPr id="12" name="object 12"/>
          <p:cNvSpPr/>
          <p:nvPr/>
        </p:nvSpPr>
        <p:spPr>
          <a:xfrm>
            <a:off x="6096761" y="3219450"/>
            <a:ext cx="2263140" cy="2263140"/>
          </a:xfrm>
          <a:custGeom>
            <a:avLst/>
            <a:gdLst/>
            <a:ahLst/>
            <a:cxnLst/>
            <a:rect l="l" t="t" r="r" b="b"/>
            <a:pathLst>
              <a:path w="2263140" h="2263140">
                <a:moveTo>
                  <a:pt x="0" y="2263140"/>
                </a:moveTo>
                <a:lnTo>
                  <a:pt x="1131570" y="0"/>
                </a:lnTo>
                <a:lnTo>
                  <a:pt x="2263140" y="2263140"/>
                </a:lnTo>
                <a:lnTo>
                  <a:pt x="0" y="2263140"/>
                </a:lnTo>
                <a:close/>
              </a:path>
            </a:pathLst>
          </a:custGeom>
          <a:ln w="25908">
            <a:solidFill>
              <a:srgbClr val="FFFFFF"/>
            </a:solidFill>
          </a:ln>
        </p:spPr>
        <p:txBody>
          <a:bodyPr wrap="square" lIns="0" tIns="0" rIns="0" bIns="0" rtlCol="0"/>
          <a:lstStyle/>
          <a:p>
            <a:endParaRPr/>
          </a:p>
        </p:txBody>
      </p:sp>
      <p:sp>
        <p:nvSpPr>
          <p:cNvPr id="13" name="object 13"/>
          <p:cNvSpPr txBox="1"/>
          <p:nvPr/>
        </p:nvSpPr>
        <p:spPr>
          <a:xfrm>
            <a:off x="6814566" y="4367910"/>
            <a:ext cx="827405" cy="1069340"/>
          </a:xfrm>
          <a:prstGeom prst="rect">
            <a:avLst/>
          </a:prstGeom>
        </p:spPr>
        <p:txBody>
          <a:bodyPr vert="horz" wrap="square" lIns="0" tIns="24765" rIns="0" bIns="0" rtlCol="0">
            <a:spAutoFit/>
          </a:bodyPr>
          <a:lstStyle/>
          <a:p>
            <a:pPr marL="12700" marR="5080" algn="ctr">
              <a:lnSpc>
                <a:spcPct val="91600"/>
              </a:lnSpc>
              <a:spcBef>
                <a:spcPts val="195"/>
              </a:spcBef>
            </a:pPr>
            <a:r>
              <a:rPr sz="1000" spc="-110" dirty="0">
                <a:solidFill>
                  <a:srgbClr val="FFFFFF"/>
                </a:solidFill>
                <a:latin typeface="Arial"/>
                <a:cs typeface="Arial"/>
              </a:rPr>
              <a:t>INSTITUTO  </a:t>
            </a:r>
            <a:r>
              <a:rPr sz="1000" spc="-105" dirty="0">
                <a:solidFill>
                  <a:srgbClr val="FFFFFF"/>
                </a:solidFill>
                <a:latin typeface="Arial"/>
                <a:cs typeface="Arial"/>
              </a:rPr>
              <a:t>NACIONAL DA  </a:t>
            </a:r>
            <a:r>
              <a:rPr sz="1000" spc="-135" dirty="0">
                <a:solidFill>
                  <a:srgbClr val="FFFFFF"/>
                </a:solidFill>
                <a:latin typeface="Arial"/>
                <a:cs typeface="Arial"/>
              </a:rPr>
              <a:t>SEGURIDADE  SOCIAL </a:t>
            </a:r>
            <a:r>
              <a:rPr sz="1000" spc="-185" dirty="0">
                <a:solidFill>
                  <a:srgbClr val="FFFFFF"/>
                </a:solidFill>
                <a:latin typeface="Arial"/>
                <a:cs typeface="Arial"/>
              </a:rPr>
              <a:t>E  </a:t>
            </a:r>
            <a:r>
              <a:rPr sz="1000" spc="-100" dirty="0">
                <a:solidFill>
                  <a:srgbClr val="FFFFFF"/>
                </a:solidFill>
                <a:latin typeface="Arial"/>
                <a:cs typeface="Arial"/>
              </a:rPr>
              <a:t>MINISTÉRIO </a:t>
            </a:r>
            <a:r>
              <a:rPr sz="1000" spc="-105" dirty="0">
                <a:solidFill>
                  <a:srgbClr val="FFFFFF"/>
                </a:solidFill>
                <a:latin typeface="Arial"/>
                <a:cs typeface="Arial"/>
              </a:rPr>
              <a:t>DA  </a:t>
            </a:r>
            <a:r>
              <a:rPr sz="1000" spc="-125" dirty="0">
                <a:solidFill>
                  <a:srgbClr val="FFFFFF"/>
                </a:solidFill>
                <a:latin typeface="Arial"/>
                <a:cs typeface="Arial"/>
              </a:rPr>
              <a:t>PREVIDÊNCIA</a:t>
            </a:r>
            <a:endParaRPr sz="1000" dirty="0">
              <a:latin typeface="Arial"/>
              <a:cs typeface="Arial"/>
            </a:endParaRPr>
          </a:p>
          <a:p>
            <a:pPr algn="ctr">
              <a:spcBef>
                <a:spcPts val="325"/>
              </a:spcBef>
            </a:pPr>
            <a:r>
              <a:rPr sz="1000" spc="-135" dirty="0">
                <a:solidFill>
                  <a:srgbClr val="FFFFFF"/>
                </a:solidFill>
                <a:latin typeface="Arial"/>
                <a:cs typeface="Arial"/>
              </a:rPr>
              <a:t>INSS </a:t>
            </a:r>
            <a:r>
              <a:rPr sz="1000" spc="-65" dirty="0">
                <a:solidFill>
                  <a:srgbClr val="FFFFFF"/>
                </a:solidFill>
                <a:latin typeface="Arial"/>
                <a:cs typeface="Arial"/>
              </a:rPr>
              <a:t>–</a:t>
            </a:r>
            <a:r>
              <a:rPr sz="1000" spc="-135" dirty="0">
                <a:solidFill>
                  <a:srgbClr val="FFFFFF"/>
                </a:solidFill>
                <a:latin typeface="Arial"/>
                <a:cs typeface="Arial"/>
              </a:rPr>
              <a:t> </a:t>
            </a:r>
            <a:r>
              <a:rPr sz="1000" spc="-114" dirty="0">
                <a:solidFill>
                  <a:srgbClr val="FFFFFF"/>
                </a:solidFill>
                <a:latin typeface="Arial"/>
                <a:cs typeface="Arial"/>
              </a:rPr>
              <a:t>MPS</a:t>
            </a:r>
            <a:endParaRPr sz="1000" dirty="0">
              <a:latin typeface="Arial"/>
              <a:cs typeface="Arial"/>
            </a:endParaRPr>
          </a:p>
        </p:txBody>
      </p:sp>
      <p:sp>
        <p:nvSpPr>
          <p:cNvPr id="15" name="object 15"/>
          <p:cNvSpPr txBox="1">
            <a:spLocks noGrp="1"/>
          </p:cNvSpPr>
          <p:nvPr>
            <p:ph type="ftr" sz="quarter" idx="5"/>
          </p:nvPr>
        </p:nvSpPr>
        <p:spPr/>
        <p:txBody>
          <a:bodyPr/>
          <a:lstStyle/>
          <a:p>
            <a:endParaRPr lang="pt-BR" dirty="0"/>
          </a:p>
        </p:txBody>
      </p:sp>
      <p:sp>
        <p:nvSpPr>
          <p:cNvPr id="16" name="object 16"/>
          <p:cNvSpPr txBox="1">
            <a:spLocks noGrp="1"/>
          </p:cNvSpPr>
          <p:nvPr>
            <p:ph type="dt" sz="half" idx="6"/>
          </p:nvPr>
        </p:nvSpPr>
        <p:spPr/>
        <p:txBody>
          <a:bodyPr/>
          <a:lstStyle/>
          <a:p>
            <a:endParaRPr lang="pt-BR" dirty="0"/>
          </a:p>
        </p:txBody>
      </p:sp>
      <p:sp>
        <p:nvSpPr>
          <p:cNvPr id="14" name="object 14"/>
          <p:cNvSpPr txBox="1"/>
          <p:nvPr/>
        </p:nvSpPr>
        <p:spPr>
          <a:xfrm>
            <a:off x="3853052" y="5524907"/>
            <a:ext cx="1940560" cy="166071"/>
          </a:xfrm>
          <a:prstGeom prst="rect">
            <a:avLst/>
          </a:prstGeom>
        </p:spPr>
        <p:txBody>
          <a:bodyPr vert="horz" wrap="square" lIns="0" tIns="12065" rIns="0" bIns="0" rtlCol="0">
            <a:spAutoFit/>
          </a:bodyPr>
          <a:lstStyle/>
          <a:p>
            <a:pPr marL="12700">
              <a:spcBef>
                <a:spcPts val="95"/>
              </a:spcBef>
            </a:pPr>
            <a:r>
              <a:rPr sz="1000" i="1" spc="-5" dirty="0">
                <a:latin typeface="Arial"/>
                <a:cs typeface="Arial"/>
              </a:rPr>
              <a:t>Fonte: </a:t>
            </a:r>
            <a:r>
              <a:rPr sz="1000" i="1" spc="-10" dirty="0">
                <a:latin typeface="Arial"/>
                <a:cs typeface="Arial"/>
              </a:rPr>
              <a:t>Ademir Macedo </a:t>
            </a:r>
            <a:r>
              <a:rPr sz="1000" i="1" spc="-5" dirty="0">
                <a:latin typeface="Arial"/>
                <a:cs typeface="Arial"/>
              </a:rPr>
              <a:t>de</a:t>
            </a:r>
            <a:r>
              <a:rPr sz="1000" i="1" spc="-10" dirty="0">
                <a:latin typeface="Arial"/>
                <a:cs typeface="Arial"/>
              </a:rPr>
              <a:t> </a:t>
            </a:r>
            <a:r>
              <a:rPr sz="1000" i="1" spc="-5" dirty="0">
                <a:latin typeface="Arial"/>
                <a:cs typeface="Arial"/>
              </a:rPr>
              <a:t>Oliveira</a:t>
            </a:r>
            <a:endParaRPr sz="1000">
              <a:latin typeface="Arial"/>
              <a:cs typeface="Arial"/>
            </a:endParaRPr>
          </a:p>
        </p:txBody>
      </p:sp>
      <p:sp>
        <p:nvSpPr>
          <p:cNvPr id="19" name="CaixaDeTexto 18"/>
          <p:cNvSpPr txBox="1"/>
          <p:nvPr/>
        </p:nvSpPr>
        <p:spPr>
          <a:xfrm>
            <a:off x="1916936" y="402312"/>
            <a:ext cx="8549089" cy="553998"/>
          </a:xfrm>
          <a:prstGeom prst="rect">
            <a:avLst/>
          </a:prstGeom>
          <a:noFill/>
        </p:spPr>
        <p:txBody>
          <a:bodyPr wrap="square" rtlCol="0">
            <a:spAutoFit/>
          </a:bodyPr>
          <a:lstStyle/>
          <a:p>
            <a:r>
              <a:rPr lang="pt-BR" sz="3000" b="1" dirty="0" smtClean="0">
                <a:solidFill>
                  <a:srgbClr val="0070C0"/>
                </a:solidFill>
                <a:latin typeface="Arial" panose="020B0604020202020204" pitchFamily="34" charset="0"/>
                <a:cs typeface="Arial" panose="020B0604020202020204" pitchFamily="34" charset="0"/>
              </a:rPr>
              <a:t>ENTES GOVERNAMENTAIS ENVOLVIDOS</a:t>
            </a:r>
            <a:endParaRPr lang="pt-BR" sz="3000" b="1" dirty="0">
              <a:solidFill>
                <a:srgbClr val="0070C0"/>
              </a:solidFill>
              <a:latin typeface="Arial" panose="020B0604020202020204" pitchFamily="34" charset="0"/>
              <a:cs typeface="Arial" panose="020B0604020202020204" pitchFamily="34" charset="0"/>
            </a:endParaRPr>
          </a:p>
        </p:txBody>
      </p:sp>
      <p:sp>
        <p:nvSpPr>
          <p:cNvPr id="21" name="Seta para Baixo 20"/>
          <p:cNvSpPr/>
          <p:nvPr/>
        </p:nvSpPr>
        <p:spPr>
          <a:xfrm rot="3168061">
            <a:off x="6954417" y="2333313"/>
            <a:ext cx="741676" cy="156566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Seta para Baixo 21"/>
          <p:cNvSpPr/>
          <p:nvPr/>
        </p:nvSpPr>
        <p:spPr>
          <a:xfrm rot="4519366">
            <a:off x="8604859" y="3767362"/>
            <a:ext cx="741676" cy="156566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91210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080438" y="583312"/>
          <a:ext cx="8013065" cy="4192905"/>
        </p:xfrm>
        <a:graphic>
          <a:graphicData uri="http://schemas.openxmlformats.org/drawingml/2006/table">
            <a:tbl>
              <a:tblPr firstRow="1" bandRow="1">
                <a:tableStyleId>{2D5ABB26-0587-4C30-8999-92F81FD0307C}</a:tableStyleId>
              </a:tblPr>
              <a:tblGrid>
                <a:gridCol w="2328545">
                  <a:extLst>
                    <a:ext uri="{9D8B030D-6E8A-4147-A177-3AD203B41FA5}">
                      <a16:colId xmlns:a16="http://schemas.microsoft.com/office/drawing/2014/main" val="20000"/>
                    </a:ext>
                  </a:extLst>
                </a:gridCol>
                <a:gridCol w="1482725">
                  <a:extLst>
                    <a:ext uri="{9D8B030D-6E8A-4147-A177-3AD203B41FA5}">
                      <a16:colId xmlns:a16="http://schemas.microsoft.com/office/drawing/2014/main" val="20001"/>
                    </a:ext>
                  </a:extLst>
                </a:gridCol>
                <a:gridCol w="2063750">
                  <a:extLst>
                    <a:ext uri="{9D8B030D-6E8A-4147-A177-3AD203B41FA5}">
                      <a16:colId xmlns:a16="http://schemas.microsoft.com/office/drawing/2014/main" val="20002"/>
                    </a:ext>
                  </a:extLst>
                </a:gridCol>
                <a:gridCol w="2138045">
                  <a:extLst>
                    <a:ext uri="{9D8B030D-6E8A-4147-A177-3AD203B41FA5}">
                      <a16:colId xmlns:a16="http://schemas.microsoft.com/office/drawing/2014/main" val="20003"/>
                    </a:ext>
                  </a:extLst>
                </a:gridCol>
              </a:tblGrid>
              <a:tr h="799465">
                <a:tc>
                  <a:txBody>
                    <a:bodyPr/>
                    <a:lstStyle/>
                    <a:p>
                      <a:pPr marL="814705" marR="708660" indent="-86995">
                        <a:lnSpc>
                          <a:spcPct val="120000"/>
                        </a:lnSpc>
                        <a:spcBef>
                          <a:spcPts val="275"/>
                        </a:spcBef>
                      </a:pPr>
                      <a:r>
                        <a:rPr sz="1800" b="1" dirty="0">
                          <a:latin typeface="Arial"/>
                          <a:cs typeface="Arial"/>
                        </a:rPr>
                        <a:t>E</a:t>
                      </a:r>
                      <a:r>
                        <a:rPr sz="1800" b="1" spc="-45" dirty="0">
                          <a:latin typeface="Arial"/>
                          <a:cs typeface="Arial"/>
                        </a:rPr>
                        <a:t>v</a:t>
                      </a:r>
                      <a:r>
                        <a:rPr sz="1800" b="1" dirty="0">
                          <a:latin typeface="Arial"/>
                          <a:cs typeface="Arial"/>
                        </a:rPr>
                        <a:t>entos  iniciais</a:t>
                      </a:r>
                      <a:endParaRPr sz="1800">
                        <a:latin typeface="Arial"/>
                        <a:cs typeface="Arial"/>
                      </a:endParaRPr>
                    </a:p>
                  </a:txBody>
                  <a:tcPr marL="0" marR="0" marT="3492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a:lnSpc>
                          <a:spcPct val="100000"/>
                        </a:lnSpc>
                        <a:spcBef>
                          <a:spcPts val="50"/>
                        </a:spcBef>
                      </a:pPr>
                      <a:endParaRPr sz="1700">
                        <a:latin typeface="Times New Roman"/>
                        <a:cs typeface="Times New Roman"/>
                      </a:endParaRPr>
                    </a:p>
                    <a:p>
                      <a:pPr marL="330835">
                        <a:lnSpc>
                          <a:spcPct val="100000"/>
                        </a:lnSpc>
                      </a:pPr>
                      <a:r>
                        <a:rPr sz="1800" b="1" spc="-20" dirty="0">
                          <a:latin typeface="Arial"/>
                          <a:cs typeface="Arial"/>
                        </a:rPr>
                        <a:t>Tabelas</a:t>
                      </a:r>
                      <a:endParaRPr sz="1800">
                        <a:latin typeface="Arial"/>
                        <a:cs typeface="Arial"/>
                      </a:endParaRPr>
                    </a:p>
                  </a:txBody>
                  <a:tcPr marL="0" marR="0" marT="63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460375" marR="438784" indent="135255">
                        <a:lnSpc>
                          <a:spcPct val="120000"/>
                        </a:lnSpc>
                        <a:spcBef>
                          <a:spcPts val="275"/>
                        </a:spcBef>
                      </a:pPr>
                      <a:r>
                        <a:rPr sz="1800" b="1" spc="-10" dirty="0">
                          <a:latin typeface="Arial"/>
                          <a:cs typeface="Arial"/>
                        </a:rPr>
                        <a:t>Eventos  </a:t>
                      </a:r>
                      <a:r>
                        <a:rPr sz="1800" b="1" dirty="0">
                          <a:latin typeface="Arial"/>
                          <a:cs typeface="Arial"/>
                        </a:rPr>
                        <a:t>perió</a:t>
                      </a:r>
                      <a:r>
                        <a:rPr sz="1800" b="1" spc="5" dirty="0">
                          <a:latin typeface="Arial"/>
                          <a:cs typeface="Arial"/>
                        </a:rPr>
                        <a:t>d</a:t>
                      </a:r>
                      <a:r>
                        <a:rPr sz="1800" b="1" dirty="0">
                          <a:latin typeface="Arial"/>
                          <a:cs typeface="Arial"/>
                        </a:rPr>
                        <a:t>icos</a:t>
                      </a:r>
                      <a:endParaRPr sz="1800">
                        <a:latin typeface="Arial"/>
                        <a:cs typeface="Arial"/>
                      </a:endParaRPr>
                    </a:p>
                  </a:txBody>
                  <a:tcPr marL="0" marR="0" marT="3492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497205" marR="372745" indent="-100965">
                        <a:lnSpc>
                          <a:spcPct val="120000"/>
                        </a:lnSpc>
                        <a:spcBef>
                          <a:spcPts val="275"/>
                        </a:spcBef>
                      </a:pPr>
                      <a:r>
                        <a:rPr sz="1800" b="1" spc="-5" dirty="0">
                          <a:latin typeface="Arial"/>
                          <a:cs typeface="Arial"/>
                        </a:rPr>
                        <a:t>Eventos</a:t>
                      </a:r>
                      <a:r>
                        <a:rPr sz="1800" b="1" spc="-60" dirty="0">
                          <a:latin typeface="Arial"/>
                          <a:cs typeface="Arial"/>
                        </a:rPr>
                        <a:t> </a:t>
                      </a:r>
                      <a:r>
                        <a:rPr sz="1800" b="1" dirty="0">
                          <a:latin typeface="Arial"/>
                          <a:cs typeface="Arial"/>
                        </a:rPr>
                        <a:t>não  periódicos</a:t>
                      </a:r>
                      <a:endParaRPr sz="1800">
                        <a:latin typeface="Arial"/>
                        <a:cs typeface="Arial"/>
                      </a:endParaRPr>
                    </a:p>
                  </a:txBody>
                  <a:tcPr marL="0" marR="0" marT="3492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3393440">
                <a:tc>
                  <a:txBody>
                    <a:bodyPr/>
                    <a:lstStyle/>
                    <a:p>
                      <a:pPr marL="349250" marR="383540" indent="-251460">
                        <a:lnSpc>
                          <a:spcPct val="120400"/>
                        </a:lnSpc>
                        <a:spcBef>
                          <a:spcPts val="75"/>
                        </a:spcBef>
                        <a:buClr>
                          <a:srgbClr val="62798A"/>
                        </a:buClr>
                        <a:buChar char="•"/>
                        <a:tabLst>
                          <a:tab pos="349250" algn="l"/>
                          <a:tab pos="349885" algn="l"/>
                        </a:tabLst>
                      </a:pPr>
                      <a:r>
                        <a:rPr sz="1800" spc="-5" dirty="0">
                          <a:latin typeface="Arial"/>
                          <a:cs typeface="Arial"/>
                        </a:rPr>
                        <a:t>Elementos de  identificação</a:t>
                      </a:r>
                      <a:r>
                        <a:rPr sz="1800" spc="-40" dirty="0">
                          <a:latin typeface="Arial"/>
                          <a:cs typeface="Arial"/>
                        </a:rPr>
                        <a:t> </a:t>
                      </a:r>
                      <a:r>
                        <a:rPr sz="1800" spc="-5" dirty="0">
                          <a:latin typeface="Arial"/>
                          <a:cs typeface="Arial"/>
                        </a:rPr>
                        <a:t>do  empregador e  contribuinte</a:t>
                      </a:r>
                      <a:endParaRPr sz="1800" dirty="0">
                        <a:latin typeface="Arial"/>
                        <a:cs typeface="Arial"/>
                      </a:endParaRPr>
                    </a:p>
                    <a:p>
                      <a:pPr marL="349250" indent="-251460">
                        <a:lnSpc>
                          <a:spcPct val="100000"/>
                        </a:lnSpc>
                        <a:spcBef>
                          <a:spcPts val="434"/>
                        </a:spcBef>
                        <a:buClr>
                          <a:srgbClr val="62798A"/>
                        </a:buClr>
                        <a:buChar char="•"/>
                        <a:tabLst>
                          <a:tab pos="349250" algn="l"/>
                          <a:tab pos="349885" algn="l"/>
                        </a:tabLst>
                      </a:pPr>
                      <a:r>
                        <a:rPr sz="1800" spc="-5" dirty="0">
                          <a:latin typeface="Arial"/>
                          <a:cs typeface="Arial"/>
                        </a:rPr>
                        <a:t>Estabelecimentos</a:t>
                      </a:r>
                      <a:endParaRPr sz="1800" dirty="0">
                        <a:latin typeface="Arial"/>
                        <a:cs typeface="Arial"/>
                      </a:endParaRPr>
                    </a:p>
                    <a:p>
                      <a:pPr marL="349250" marR="91440" indent="-251460">
                        <a:lnSpc>
                          <a:spcPts val="2610"/>
                        </a:lnSpc>
                        <a:spcBef>
                          <a:spcPts val="155"/>
                        </a:spcBef>
                        <a:buClr>
                          <a:srgbClr val="62798A"/>
                        </a:buClr>
                        <a:buChar char="•"/>
                        <a:tabLst>
                          <a:tab pos="349250" algn="l"/>
                          <a:tab pos="349885" algn="l"/>
                        </a:tabLst>
                      </a:pPr>
                      <a:r>
                        <a:rPr sz="1800" spc="-5" dirty="0">
                          <a:latin typeface="Arial"/>
                          <a:cs typeface="Arial"/>
                        </a:rPr>
                        <a:t>Cadastro inicial</a:t>
                      </a:r>
                      <a:r>
                        <a:rPr sz="1800" spc="-30" dirty="0">
                          <a:latin typeface="Arial"/>
                          <a:cs typeface="Arial"/>
                        </a:rPr>
                        <a:t> </a:t>
                      </a:r>
                      <a:r>
                        <a:rPr sz="1800" spc="-5" dirty="0">
                          <a:latin typeface="Arial"/>
                          <a:cs typeface="Arial"/>
                        </a:rPr>
                        <a:t>de  vínculos</a:t>
                      </a:r>
                      <a:endParaRPr sz="1800" dirty="0">
                        <a:latin typeface="Arial"/>
                        <a:cs typeface="Arial"/>
                      </a:endParaRPr>
                    </a:p>
                  </a:txBody>
                  <a:tcPr marL="0" marR="0" marT="952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384810" indent="-287020">
                        <a:lnSpc>
                          <a:spcPct val="100000"/>
                        </a:lnSpc>
                        <a:spcBef>
                          <a:spcPts val="520"/>
                        </a:spcBef>
                        <a:buClr>
                          <a:srgbClr val="62798A"/>
                        </a:buClr>
                        <a:buChar char="•"/>
                        <a:tabLst>
                          <a:tab pos="384810" algn="l"/>
                          <a:tab pos="385445" algn="l"/>
                        </a:tabLst>
                      </a:pPr>
                      <a:r>
                        <a:rPr sz="1800" spc="-5" dirty="0">
                          <a:latin typeface="Arial"/>
                          <a:cs typeface="Arial"/>
                        </a:rPr>
                        <a:t>Lotação</a:t>
                      </a:r>
                      <a:endParaRPr sz="1800">
                        <a:latin typeface="Arial"/>
                        <a:cs typeface="Arial"/>
                      </a:endParaRPr>
                    </a:p>
                    <a:p>
                      <a:pPr marL="384810" indent="-287020">
                        <a:lnSpc>
                          <a:spcPct val="100000"/>
                        </a:lnSpc>
                        <a:spcBef>
                          <a:spcPts val="430"/>
                        </a:spcBef>
                        <a:buClr>
                          <a:srgbClr val="62798A"/>
                        </a:buClr>
                        <a:buChar char="•"/>
                        <a:tabLst>
                          <a:tab pos="384810" algn="l"/>
                          <a:tab pos="385445" algn="l"/>
                        </a:tabLst>
                      </a:pPr>
                      <a:r>
                        <a:rPr sz="1800" spc="-5" dirty="0">
                          <a:latin typeface="Arial"/>
                          <a:cs typeface="Arial"/>
                        </a:rPr>
                        <a:t>Cargos</a:t>
                      </a:r>
                      <a:endParaRPr sz="1800">
                        <a:latin typeface="Arial"/>
                        <a:cs typeface="Arial"/>
                      </a:endParaRPr>
                    </a:p>
                    <a:p>
                      <a:pPr marL="384810" indent="-287020">
                        <a:lnSpc>
                          <a:spcPct val="100000"/>
                        </a:lnSpc>
                        <a:spcBef>
                          <a:spcPts val="445"/>
                        </a:spcBef>
                        <a:buClr>
                          <a:srgbClr val="62798A"/>
                        </a:buClr>
                        <a:buChar char="•"/>
                        <a:tabLst>
                          <a:tab pos="384810" algn="l"/>
                          <a:tab pos="385445" algn="l"/>
                        </a:tabLst>
                      </a:pPr>
                      <a:r>
                        <a:rPr sz="1800" spc="-15" dirty="0">
                          <a:latin typeface="Arial"/>
                          <a:cs typeface="Arial"/>
                        </a:rPr>
                        <a:t>Turnos</a:t>
                      </a:r>
                      <a:endParaRPr sz="1800">
                        <a:latin typeface="Arial"/>
                        <a:cs typeface="Arial"/>
                      </a:endParaRPr>
                    </a:p>
                    <a:p>
                      <a:pPr marL="384810" indent="-287020">
                        <a:lnSpc>
                          <a:spcPct val="100000"/>
                        </a:lnSpc>
                        <a:spcBef>
                          <a:spcPts val="445"/>
                        </a:spcBef>
                        <a:buClr>
                          <a:srgbClr val="62798A"/>
                        </a:buClr>
                        <a:buChar char="•"/>
                        <a:tabLst>
                          <a:tab pos="384810" algn="l"/>
                          <a:tab pos="385445" algn="l"/>
                        </a:tabLst>
                      </a:pPr>
                      <a:r>
                        <a:rPr sz="1800" spc="-5" dirty="0">
                          <a:latin typeface="Arial"/>
                          <a:cs typeface="Arial"/>
                        </a:rPr>
                        <a:t>Funções</a:t>
                      </a:r>
                      <a:endParaRPr sz="1800">
                        <a:latin typeface="Arial"/>
                        <a:cs typeface="Arial"/>
                      </a:endParaRPr>
                    </a:p>
                    <a:p>
                      <a:pPr marL="384810" indent="-287020">
                        <a:lnSpc>
                          <a:spcPct val="100000"/>
                        </a:lnSpc>
                        <a:spcBef>
                          <a:spcPts val="430"/>
                        </a:spcBef>
                        <a:buClr>
                          <a:srgbClr val="62798A"/>
                        </a:buClr>
                        <a:buChar char="•"/>
                        <a:tabLst>
                          <a:tab pos="384810" algn="l"/>
                          <a:tab pos="385445" algn="l"/>
                        </a:tabLst>
                      </a:pPr>
                      <a:r>
                        <a:rPr sz="1800" spc="-25" dirty="0">
                          <a:latin typeface="Arial"/>
                          <a:cs typeface="Arial"/>
                        </a:rPr>
                        <a:t>Valores</a:t>
                      </a:r>
                      <a:endParaRPr sz="1800">
                        <a:latin typeface="Arial"/>
                        <a:cs typeface="Arial"/>
                      </a:endParaRPr>
                    </a:p>
                  </a:txBody>
                  <a:tcPr marL="0" marR="0" marT="660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384810" marR="476250" indent="-286385">
                        <a:lnSpc>
                          <a:spcPct val="120000"/>
                        </a:lnSpc>
                        <a:spcBef>
                          <a:spcPts val="85"/>
                        </a:spcBef>
                        <a:buClr>
                          <a:srgbClr val="62798A"/>
                        </a:buClr>
                        <a:buChar char="•"/>
                        <a:tabLst>
                          <a:tab pos="384810" algn="l"/>
                          <a:tab pos="385445" algn="l"/>
                        </a:tabLst>
                      </a:pPr>
                      <a:r>
                        <a:rPr sz="1800" spc="-5" dirty="0">
                          <a:latin typeface="Arial"/>
                          <a:cs typeface="Arial"/>
                        </a:rPr>
                        <a:t>Abertura</a:t>
                      </a:r>
                      <a:r>
                        <a:rPr sz="1800" spc="-65" dirty="0">
                          <a:latin typeface="Arial"/>
                          <a:cs typeface="Arial"/>
                        </a:rPr>
                        <a:t> </a:t>
                      </a:r>
                      <a:r>
                        <a:rPr sz="1800" spc="-5" dirty="0">
                          <a:latin typeface="Arial"/>
                          <a:cs typeface="Arial"/>
                        </a:rPr>
                        <a:t>da  folha</a:t>
                      </a:r>
                      <a:endParaRPr sz="1800">
                        <a:latin typeface="Arial"/>
                        <a:cs typeface="Arial"/>
                      </a:endParaRPr>
                    </a:p>
                    <a:p>
                      <a:pPr marL="384810" indent="-286385">
                        <a:lnSpc>
                          <a:spcPct val="100000"/>
                        </a:lnSpc>
                        <a:spcBef>
                          <a:spcPts val="445"/>
                        </a:spcBef>
                        <a:buClr>
                          <a:srgbClr val="62798A"/>
                        </a:buClr>
                        <a:buChar char="•"/>
                        <a:tabLst>
                          <a:tab pos="384810" algn="l"/>
                          <a:tab pos="385445" algn="l"/>
                        </a:tabLst>
                      </a:pPr>
                      <a:r>
                        <a:rPr sz="1800" spc="-5" dirty="0">
                          <a:latin typeface="Arial"/>
                          <a:cs typeface="Arial"/>
                        </a:rPr>
                        <a:t>Remuneração</a:t>
                      </a:r>
                      <a:endParaRPr sz="1800">
                        <a:latin typeface="Arial"/>
                        <a:cs typeface="Arial"/>
                      </a:endParaRPr>
                    </a:p>
                    <a:p>
                      <a:pPr marL="384810" marR="197485" indent="-286385">
                        <a:lnSpc>
                          <a:spcPct val="120000"/>
                        </a:lnSpc>
                        <a:spcBef>
                          <a:spcPts val="15"/>
                        </a:spcBef>
                        <a:buClr>
                          <a:srgbClr val="62798A"/>
                        </a:buClr>
                        <a:buChar char="•"/>
                        <a:tabLst>
                          <a:tab pos="384810" algn="l"/>
                          <a:tab pos="385445" algn="l"/>
                        </a:tabLst>
                      </a:pPr>
                      <a:r>
                        <a:rPr sz="1800" spc="-5" dirty="0">
                          <a:latin typeface="Arial"/>
                          <a:cs typeface="Arial"/>
                        </a:rPr>
                        <a:t>Pagamentos</a:t>
                      </a:r>
                      <a:r>
                        <a:rPr sz="1800" spc="-65" dirty="0">
                          <a:latin typeface="Arial"/>
                          <a:cs typeface="Arial"/>
                        </a:rPr>
                        <a:t> </a:t>
                      </a:r>
                      <a:r>
                        <a:rPr sz="1800" spc="-5" dirty="0">
                          <a:latin typeface="Arial"/>
                          <a:cs typeface="Arial"/>
                        </a:rPr>
                        <a:t>e  recebimentos</a:t>
                      </a:r>
                      <a:endParaRPr sz="1800">
                        <a:latin typeface="Arial"/>
                        <a:cs typeface="Arial"/>
                      </a:endParaRPr>
                    </a:p>
                    <a:p>
                      <a:pPr marL="384810" marR="82550" indent="-286385">
                        <a:lnSpc>
                          <a:spcPts val="2610"/>
                        </a:lnSpc>
                        <a:spcBef>
                          <a:spcPts val="155"/>
                        </a:spcBef>
                        <a:buClr>
                          <a:srgbClr val="62798A"/>
                        </a:buClr>
                        <a:buChar char="•"/>
                        <a:tabLst>
                          <a:tab pos="384810" algn="l"/>
                          <a:tab pos="385445" algn="l"/>
                        </a:tabLst>
                      </a:pPr>
                      <a:r>
                        <a:rPr sz="1800" spc="-5" dirty="0">
                          <a:latin typeface="Arial"/>
                          <a:cs typeface="Arial"/>
                        </a:rPr>
                        <a:t>Fechamento</a:t>
                      </a:r>
                      <a:r>
                        <a:rPr sz="1800" spc="-55" dirty="0">
                          <a:latin typeface="Arial"/>
                          <a:cs typeface="Arial"/>
                        </a:rPr>
                        <a:t> </a:t>
                      </a:r>
                      <a:r>
                        <a:rPr sz="1800" spc="-5" dirty="0">
                          <a:latin typeface="Arial"/>
                          <a:cs typeface="Arial"/>
                        </a:rPr>
                        <a:t>da  folha</a:t>
                      </a:r>
                      <a:endParaRPr sz="1800">
                        <a:latin typeface="Arial"/>
                        <a:cs typeface="Arial"/>
                      </a:endParaRPr>
                    </a:p>
                  </a:txBody>
                  <a:tcPr marL="0" marR="0" marT="1079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384810" indent="-286385">
                        <a:lnSpc>
                          <a:spcPct val="100000"/>
                        </a:lnSpc>
                        <a:spcBef>
                          <a:spcPts val="520"/>
                        </a:spcBef>
                        <a:buClr>
                          <a:srgbClr val="62798A"/>
                        </a:buClr>
                        <a:buChar char="•"/>
                        <a:tabLst>
                          <a:tab pos="384810" algn="l"/>
                          <a:tab pos="385445" algn="l"/>
                        </a:tabLst>
                      </a:pPr>
                      <a:r>
                        <a:rPr sz="1800" spc="-5" dirty="0">
                          <a:latin typeface="Arial"/>
                          <a:cs typeface="Arial"/>
                        </a:rPr>
                        <a:t>Admissão</a:t>
                      </a:r>
                      <a:endParaRPr sz="1800" dirty="0">
                        <a:latin typeface="Arial"/>
                        <a:cs typeface="Arial"/>
                      </a:endParaRPr>
                    </a:p>
                    <a:p>
                      <a:pPr marL="384810" indent="-286385">
                        <a:lnSpc>
                          <a:spcPct val="100000"/>
                        </a:lnSpc>
                        <a:spcBef>
                          <a:spcPts val="430"/>
                        </a:spcBef>
                        <a:buClr>
                          <a:srgbClr val="62798A"/>
                        </a:buClr>
                        <a:buChar char="•"/>
                        <a:tabLst>
                          <a:tab pos="384810" algn="l"/>
                          <a:tab pos="385445" algn="l"/>
                        </a:tabLst>
                      </a:pPr>
                      <a:r>
                        <a:rPr sz="1800" spc="-5" dirty="0">
                          <a:latin typeface="Arial"/>
                          <a:cs typeface="Arial"/>
                        </a:rPr>
                        <a:t>ASO</a:t>
                      </a:r>
                      <a:endParaRPr sz="1800" dirty="0">
                        <a:latin typeface="Arial"/>
                        <a:cs typeface="Arial"/>
                      </a:endParaRPr>
                    </a:p>
                    <a:p>
                      <a:pPr marL="384810" indent="-286385">
                        <a:lnSpc>
                          <a:spcPct val="100000"/>
                        </a:lnSpc>
                        <a:spcBef>
                          <a:spcPts val="445"/>
                        </a:spcBef>
                        <a:buClr>
                          <a:srgbClr val="62798A"/>
                        </a:buClr>
                        <a:buChar char="•"/>
                        <a:tabLst>
                          <a:tab pos="384810" algn="l"/>
                          <a:tab pos="385445" algn="l"/>
                        </a:tabLst>
                      </a:pPr>
                      <a:r>
                        <a:rPr sz="1800" spc="-50" dirty="0">
                          <a:latin typeface="Arial"/>
                          <a:cs typeface="Arial"/>
                        </a:rPr>
                        <a:t>CAT</a:t>
                      </a:r>
                      <a:endParaRPr sz="1800" dirty="0">
                        <a:latin typeface="Arial"/>
                        <a:cs typeface="Arial"/>
                      </a:endParaRPr>
                    </a:p>
                    <a:p>
                      <a:pPr marL="384810" indent="-286385">
                        <a:lnSpc>
                          <a:spcPct val="100000"/>
                        </a:lnSpc>
                        <a:spcBef>
                          <a:spcPts val="445"/>
                        </a:spcBef>
                        <a:buClr>
                          <a:srgbClr val="62798A"/>
                        </a:buClr>
                        <a:buChar char="•"/>
                        <a:tabLst>
                          <a:tab pos="384810" algn="l"/>
                          <a:tab pos="385445" algn="l"/>
                        </a:tabLst>
                      </a:pPr>
                      <a:r>
                        <a:rPr sz="1800" spc="-5" dirty="0">
                          <a:latin typeface="Arial"/>
                          <a:cs typeface="Arial"/>
                        </a:rPr>
                        <a:t>PPP</a:t>
                      </a:r>
                      <a:endParaRPr sz="1800" dirty="0">
                        <a:latin typeface="Arial"/>
                        <a:cs typeface="Arial"/>
                      </a:endParaRPr>
                    </a:p>
                    <a:p>
                      <a:pPr marL="384810" indent="-286385">
                        <a:lnSpc>
                          <a:spcPct val="100000"/>
                        </a:lnSpc>
                        <a:spcBef>
                          <a:spcPts val="430"/>
                        </a:spcBef>
                        <a:buClr>
                          <a:srgbClr val="62798A"/>
                        </a:buClr>
                        <a:buChar char="•"/>
                        <a:tabLst>
                          <a:tab pos="384810" algn="l"/>
                          <a:tab pos="385445" algn="l"/>
                        </a:tabLst>
                      </a:pPr>
                      <a:r>
                        <a:rPr sz="1800" spc="-10" dirty="0">
                          <a:latin typeface="Arial"/>
                          <a:cs typeface="Arial"/>
                        </a:rPr>
                        <a:t>Aviso</a:t>
                      </a:r>
                      <a:r>
                        <a:rPr sz="1800" spc="-5" dirty="0">
                          <a:latin typeface="Arial"/>
                          <a:cs typeface="Arial"/>
                        </a:rPr>
                        <a:t> prévio</a:t>
                      </a:r>
                      <a:endParaRPr sz="1800" dirty="0">
                        <a:latin typeface="Arial"/>
                        <a:cs typeface="Arial"/>
                      </a:endParaRPr>
                    </a:p>
                    <a:p>
                      <a:pPr marL="384810" indent="-286385">
                        <a:lnSpc>
                          <a:spcPct val="100000"/>
                        </a:lnSpc>
                        <a:spcBef>
                          <a:spcPts val="445"/>
                        </a:spcBef>
                        <a:buClr>
                          <a:srgbClr val="62798A"/>
                        </a:buClr>
                        <a:buChar char="•"/>
                        <a:tabLst>
                          <a:tab pos="384810" algn="l"/>
                          <a:tab pos="385445" algn="l"/>
                        </a:tabLst>
                      </a:pPr>
                      <a:r>
                        <a:rPr sz="1800" spc="-5" dirty="0">
                          <a:latin typeface="Arial"/>
                          <a:cs typeface="Arial"/>
                        </a:rPr>
                        <a:t>Desligamento</a:t>
                      </a:r>
                      <a:endParaRPr sz="1800" dirty="0">
                        <a:latin typeface="Arial"/>
                        <a:cs typeface="Arial"/>
                      </a:endParaRPr>
                    </a:p>
                    <a:p>
                      <a:pPr marL="384810" indent="-286385">
                        <a:lnSpc>
                          <a:spcPct val="100000"/>
                        </a:lnSpc>
                        <a:spcBef>
                          <a:spcPts val="445"/>
                        </a:spcBef>
                        <a:buClr>
                          <a:srgbClr val="62798A"/>
                        </a:buClr>
                        <a:buChar char="•"/>
                        <a:tabLst>
                          <a:tab pos="384810" algn="l"/>
                          <a:tab pos="385445" algn="l"/>
                        </a:tabLst>
                      </a:pPr>
                      <a:r>
                        <a:rPr sz="1800" spc="-5" dirty="0">
                          <a:latin typeface="Arial"/>
                          <a:cs typeface="Arial"/>
                        </a:rPr>
                        <a:t>Afastamento</a:t>
                      </a:r>
                      <a:endParaRPr sz="1800" dirty="0">
                        <a:latin typeface="Arial"/>
                        <a:cs typeface="Arial"/>
                      </a:endParaRPr>
                    </a:p>
                    <a:p>
                      <a:pPr marL="384810" marR="347980" indent="-286385">
                        <a:lnSpc>
                          <a:spcPts val="2600"/>
                        </a:lnSpc>
                        <a:spcBef>
                          <a:spcPts val="155"/>
                        </a:spcBef>
                        <a:buClr>
                          <a:srgbClr val="62798A"/>
                        </a:buClr>
                        <a:buChar char="•"/>
                        <a:tabLst>
                          <a:tab pos="384810" algn="l"/>
                          <a:tab pos="385445" algn="l"/>
                        </a:tabLst>
                      </a:pPr>
                      <a:r>
                        <a:rPr sz="1800" spc="-5" dirty="0">
                          <a:latin typeface="Arial"/>
                          <a:cs typeface="Arial"/>
                        </a:rPr>
                        <a:t>Alterações</a:t>
                      </a:r>
                      <a:r>
                        <a:rPr sz="1800" spc="-55" dirty="0">
                          <a:latin typeface="Arial"/>
                          <a:cs typeface="Arial"/>
                        </a:rPr>
                        <a:t> </a:t>
                      </a:r>
                      <a:r>
                        <a:rPr sz="1800" spc="-5" dirty="0">
                          <a:latin typeface="Arial"/>
                          <a:cs typeface="Arial"/>
                        </a:rPr>
                        <a:t>de  cadastros</a:t>
                      </a:r>
                      <a:endParaRPr sz="1800" dirty="0">
                        <a:latin typeface="Arial"/>
                        <a:cs typeface="Arial"/>
                      </a:endParaRPr>
                    </a:p>
                    <a:p>
                      <a:pPr marL="384810" indent="-286385">
                        <a:lnSpc>
                          <a:spcPct val="100000"/>
                        </a:lnSpc>
                        <a:spcBef>
                          <a:spcPts val="285"/>
                        </a:spcBef>
                        <a:buClr>
                          <a:srgbClr val="62798A"/>
                        </a:buClr>
                        <a:buChar char="•"/>
                        <a:tabLst>
                          <a:tab pos="384810" algn="l"/>
                          <a:tab pos="385445" algn="l"/>
                        </a:tabLst>
                      </a:pPr>
                      <a:r>
                        <a:rPr sz="1800" dirty="0">
                          <a:latin typeface="Arial"/>
                          <a:cs typeface="Arial"/>
                        </a:rPr>
                        <a:t>Outros</a:t>
                      </a:r>
                      <a:r>
                        <a:rPr sz="1800" spc="-25" dirty="0">
                          <a:latin typeface="Arial"/>
                          <a:cs typeface="Arial"/>
                        </a:rPr>
                        <a:t> </a:t>
                      </a:r>
                      <a:r>
                        <a:rPr sz="1800" spc="-5" dirty="0">
                          <a:latin typeface="Arial"/>
                          <a:cs typeface="Arial"/>
                        </a:rPr>
                        <a:t>eventos</a:t>
                      </a:r>
                      <a:endParaRPr sz="1800" dirty="0">
                        <a:latin typeface="Arial"/>
                        <a:cs typeface="Arial"/>
                      </a:endParaRPr>
                    </a:p>
                  </a:txBody>
                  <a:tcPr marL="0" marR="0" marT="660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bl>
          </a:graphicData>
        </a:graphic>
      </p:graphicFrame>
      <p:sp>
        <p:nvSpPr>
          <p:cNvPr id="3" name="object 3"/>
          <p:cNvSpPr/>
          <p:nvPr/>
        </p:nvSpPr>
        <p:spPr>
          <a:xfrm>
            <a:off x="2086356" y="4875276"/>
            <a:ext cx="7973695" cy="1310640"/>
          </a:xfrm>
          <a:custGeom>
            <a:avLst/>
            <a:gdLst/>
            <a:ahLst/>
            <a:cxnLst/>
            <a:rect l="l" t="t" r="r" b="b"/>
            <a:pathLst>
              <a:path w="7973695" h="1310639">
                <a:moveTo>
                  <a:pt x="0" y="1310640"/>
                </a:moveTo>
                <a:lnTo>
                  <a:pt x="7973568" y="1310640"/>
                </a:lnTo>
                <a:lnTo>
                  <a:pt x="7973568" y="0"/>
                </a:lnTo>
                <a:lnTo>
                  <a:pt x="0" y="0"/>
                </a:lnTo>
                <a:lnTo>
                  <a:pt x="0" y="1310640"/>
                </a:lnTo>
                <a:close/>
              </a:path>
            </a:pathLst>
          </a:custGeom>
          <a:solidFill>
            <a:srgbClr val="FFFFFF"/>
          </a:solidFill>
        </p:spPr>
        <p:txBody>
          <a:bodyPr wrap="square" lIns="0" tIns="0" rIns="0" bIns="0" rtlCol="0"/>
          <a:lstStyle/>
          <a:p>
            <a:endParaRPr/>
          </a:p>
        </p:txBody>
      </p:sp>
      <p:sp>
        <p:nvSpPr>
          <p:cNvPr id="4" name="object 4"/>
          <p:cNvSpPr txBox="1"/>
          <p:nvPr/>
        </p:nvSpPr>
        <p:spPr>
          <a:xfrm>
            <a:off x="2086355" y="4850892"/>
            <a:ext cx="8013700" cy="1321435"/>
          </a:xfrm>
          <a:prstGeom prst="rect">
            <a:avLst/>
          </a:prstGeom>
          <a:ln w="9144">
            <a:solidFill>
              <a:srgbClr val="ABB8C3"/>
            </a:solidFill>
          </a:ln>
        </p:spPr>
        <p:txBody>
          <a:bodyPr vert="horz" wrap="square" lIns="0" tIns="50165" rIns="0" bIns="0" rtlCol="0">
            <a:spAutoFit/>
          </a:bodyPr>
          <a:lstStyle/>
          <a:p>
            <a:pPr marL="91440" marR="121285" algn="just">
              <a:lnSpc>
                <a:spcPct val="105500"/>
              </a:lnSpc>
              <a:spcBef>
                <a:spcPts val="395"/>
              </a:spcBef>
            </a:pPr>
            <a:r>
              <a:rPr sz="1500" dirty="0">
                <a:latin typeface="Arial"/>
                <a:cs typeface="Arial"/>
              </a:rPr>
              <a:t>O </a:t>
            </a:r>
            <a:r>
              <a:rPr sz="1500" spc="-5" dirty="0">
                <a:latin typeface="Arial"/>
                <a:cs typeface="Arial"/>
              </a:rPr>
              <a:t>Perfil Profissiográfico Previdenciário (PPP) concentra informações com </a:t>
            </a:r>
            <a:r>
              <a:rPr sz="1500" dirty="0">
                <a:latin typeface="Arial"/>
                <a:cs typeface="Arial"/>
              </a:rPr>
              <a:t>relação </a:t>
            </a:r>
            <a:r>
              <a:rPr sz="1500" spc="-10" dirty="0">
                <a:latin typeface="Arial"/>
                <a:cs typeface="Arial"/>
              </a:rPr>
              <a:t>aos  </a:t>
            </a:r>
            <a:r>
              <a:rPr sz="1500" spc="-5" dirty="0">
                <a:latin typeface="Arial"/>
                <a:cs typeface="Arial"/>
              </a:rPr>
              <a:t>riscos físicos, químicos e </a:t>
            </a:r>
            <a:r>
              <a:rPr sz="1500" dirty="0">
                <a:latin typeface="Arial"/>
                <a:cs typeface="Arial"/>
              </a:rPr>
              <a:t>biológicos. </a:t>
            </a:r>
            <a:r>
              <a:rPr sz="1500" spc="-5" dirty="0">
                <a:latin typeface="Arial"/>
                <a:cs typeface="Arial"/>
              </a:rPr>
              <a:t>Para </a:t>
            </a:r>
            <a:r>
              <a:rPr sz="1500" dirty="0">
                <a:latin typeface="Arial"/>
                <a:cs typeface="Arial"/>
              </a:rPr>
              <a:t>os </a:t>
            </a:r>
            <a:r>
              <a:rPr sz="1500" spc="-5" dirty="0">
                <a:latin typeface="Arial"/>
                <a:cs typeface="Arial"/>
              </a:rPr>
              <a:t>riscos ergonômicos e mecânicos, </a:t>
            </a:r>
            <a:r>
              <a:rPr sz="1500" dirty="0">
                <a:latin typeface="Arial"/>
                <a:cs typeface="Arial"/>
              </a:rPr>
              <a:t>há </a:t>
            </a:r>
            <a:r>
              <a:rPr sz="1500" spc="-5" dirty="0">
                <a:latin typeface="Arial"/>
                <a:cs typeface="Arial"/>
              </a:rPr>
              <a:t>o  entendimento </a:t>
            </a:r>
            <a:r>
              <a:rPr sz="1500" dirty="0">
                <a:latin typeface="Arial"/>
                <a:cs typeface="Arial"/>
              </a:rPr>
              <a:t>de </a:t>
            </a:r>
            <a:r>
              <a:rPr sz="1500" spc="-5" dirty="0">
                <a:latin typeface="Arial"/>
                <a:cs typeface="Arial"/>
              </a:rPr>
              <a:t>que a discussão precisa ser amplificada, </a:t>
            </a:r>
            <a:r>
              <a:rPr sz="1500" dirty="0">
                <a:latin typeface="Arial"/>
                <a:cs typeface="Arial"/>
              </a:rPr>
              <a:t>em </a:t>
            </a:r>
            <a:r>
              <a:rPr sz="1500" spc="-5" dirty="0">
                <a:latin typeface="Arial"/>
                <a:cs typeface="Arial"/>
              </a:rPr>
              <a:t>função das situações  ocupacionais. Situações ocupacionais, </a:t>
            </a:r>
            <a:r>
              <a:rPr sz="1500" dirty="0">
                <a:latin typeface="Arial"/>
                <a:cs typeface="Arial"/>
              </a:rPr>
              <a:t>que </a:t>
            </a:r>
            <a:r>
              <a:rPr sz="1500" spc="-5" dirty="0">
                <a:latin typeface="Arial"/>
                <a:cs typeface="Arial"/>
              </a:rPr>
              <a:t>envolvem cultura e políticas internas, nem  sempre </a:t>
            </a:r>
            <a:r>
              <a:rPr sz="1500" dirty="0">
                <a:latin typeface="Arial"/>
                <a:cs typeface="Arial"/>
              </a:rPr>
              <a:t>são abrangidas </a:t>
            </a:r>
            <a:r>
              <a:rPr sz="1500" spc="-5" dirty="0">
                <a:latin typeface="Arial"/>
                <a:cs typeface="Arial"/>
              </a:rPr>
              <a:t>pela</a:t>
            </a:r>
            <a:r>
              <a:rPr sz="1500" spc="-30" dirty="0">
                <a:latin typeface="Arial"/>
                <a:cs typeface="Arial"/>
              </a:rPr>
              <a:t> </a:t>
            </a:r>
            <a:r>
              <a:rPr sz="1500" dirty="0">
                <a:latin typeface="Arial"/>
                <a:cs typeface="Arial"/>
              </a:rPr>
              <a:t>legislação.</a:t>
            </a:r>
            <a:endParaRPr sz="1500">
              <a:latin typeface="Arial"/>
              <a:cs typeface="Arial"/>
            </a:endParaRPr>
          </a:p>
        </p:txBody>
      </p:sp>
      <p:sp>
        <p:nvSpPr>
          <p:cNvPr id="5" name="object 5"/>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6" name="object 6"/>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7" name="Seta para a Esquerda 6"/>
          <p:cNvSpPr/>
          <p:nvPr/>
        </p:nvSpPr>
        <p:spPr>
          <a:xfrm rot="19545294">
            <a:off x="9830707" y="424764"/>
            <a:ext cx="795794" cy="36104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Esquerda 7"/>
          <p:cNvSpPr/>
          <p:nvPr/>
        </p:nvSpPr>
        <p:spPr>
          <a:xfrm rot="10569272">
            <a:off x="914265" y="4907175"/>
            <a:ext cx="968223" cy="502331"/>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89321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153349" y="782067"/>
          <a:ext cx="7875905" cy="4531995"/>
        </p:xfrm>
        <a:graphic>
          <a:graphicData uri="http://schemas.openxmlformats.org/drawingml/2006/table">
            <a:tbl>
              <a:tblPr firstRow="1" bandRow="1">
                <a:tableStyleId>{2D5ABB26-0587-4C30-8999-92F81FD0307C}</a:tableStyleId>
              </a:tblPr>
              <a:tblGrid>
                <a:gridCol w="1638300">
                  <a:extLst>
                    <a:ext uri="{9D8B030D-6E8A-4147-A177-3AD203B41FA5}">
                      <a16:colId xmlns:a16="http://schemas.microsoft.com/office/drawing/2014/main" val="20000"/>
                    </a:ext>
                  </a:extLst>
                </a:gridCol>
                <a:gridCol w="6237605">
                  <a:extLst>
                    <a:ext uri="{9D8B030D-6E8A-4147-A177-3AD203B41FA5}">
                      <a16:colId xmlns:a16="http://schemas.microsoft.com/office/drawing/2014/main" val="20001"/>
                    </a:ext>
                  </a:extLst>
                </a:gridCol>
              </a:tblGrid>
              <a:tr h="503555">
                <a:tc>
                  <a:txBody>
                    <a:bodyPr/>
                    <a:lstStyle/>
                    <a:p>
                      <a:pPr marL="12065" algn="ctr">
                        <a:lnSpc>
                          <a:spcPct val="100000"/>
                        </a:lnSpc>
                        <a:spcBef>
                          <a:spcPts val="850"/>
                        </a:spcBef>
                      </a:pPr>
                      <a:r>
                        <a:rPr sz="1800" spc="-5" dirty="0">
                          <a:latin typeface="Arial"/>
                          <a:cs typeface="Arial"/>
                        </a:rPr>
                        <a:t>NÚMERO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0"/>
                        </a:spcBef>
                      </a:pPr>
                      <a:r>
                        <a:rPr sz="1800" spc="-5" dirty="0">
                          <a:latin typeface="Arial"/>
                          <a:cs typeface="Arial"/>
                        </a:rPr>
                        <a:t>DESCRIÇÃO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503555">
                <a:tc>
                  <a:txBody>
                    <a:bodyPr/>
                    <a:lstStyle/>
                    <a:p>
                      <a:pPr marL="13335" algn="ctr">
                        <a:lnSpc>
                          <a:spcPct val="100000"/>
                        </a:lnSpc>
                        <a:spcBef>
                          <a:spcPts val="850"/>
                        </a:spcBef>
                      </a:pPr>
                      <a:r>
                        <a:rPr sz="1800" spc="-40" dirty="0">
                          <a:latin typeface="Arial"/>
                          <a:cs typeface="Arial"/>
                        </a:rPr>
                        <a:t>Tabela</a:t>
                      </a:r>
                      <a:r>
                        <a:rPr sz="1800" spc="-10" dirty="0">
                          <a:latin typeface="Arial"/>
                          <a:cs typeface="Arial"/>
                        </a:rPr>
                        <a:t> </a:t>
                      </a:r>
                      <a:r>
                        <a:rPr sz="1800" spc="-5" dirty="0">
                          <a:latin typeface="Arial"/>
                          <a:cs typeface="Arial"/>
                        </a:rPr>
                        <a:t>1</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0"/>
                        </a:spcBef>
                      </a:pPr>
                      <a:r>
                        <a:rPr sz="1800" spc="-5" dirty="0">
                          <a:latin typeface="Arial"/>
                          <a:cs typeface="Arial"/>
                        </a:rPr>
                        <a:t>Categorias de</a:t>
                      </a:r>
                      <a:r>
                        <a:rPr sz="1800" spc="10" dirty="0">
                          <a:latin typeface="Arial"/>
                          <a:cs typeface="Arial"/>
                        </a:rPr>
                        <a:t> </a:t>
                      </a:r>
                      <a:r>
                        <a:rPr sz="1800" spc="-5" dirty="0">
                          <a:latin typeface="Arial"/>
                          <a:cs typeface="Arial"/>
                        </a:rPr>
                        <a:t>trabalhadores</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503555">
                <a:tc>
                  <a:txBody>
                    <a:bodyPr/>
                    <a:lstStyle/>
                    <a:p>
                      <a:pPr marL="13335" algn="ctr">
                        <a:lnSpc>
                          <a:spcPct val="100000"/>
                        </a:lnSpc>
                        <a:spcBef>
                          <a:spcPts val="855"/>
                        </a:spcBef>
                      </a:pPr>
                      <a:r>
                        <a:rPr sz="1800" spc="-40" dirty="0">
                          <a:latin typeface="Arial"/>
                          <a:cs typeface="Arial"/>
                        </a:rPr>
                        <a:t>Tabela</a:t>
                      </a:r>
                      <a:r>
                        <a:rPr sz="1800" spc="-10" dirty="0">
                          <a:latin typeface="Arial"/>
                          <a:cs typeface="Arial"/>
                        </a:rPr>
                        <a:t> </a:t>
                      </a:r>
                      <a:r>
                        <a:rPr sz="1800" spc="-5" dirty="0">
                          <a:latin typeface="Arial"/>
                          <a:cs typeface="Arial"/>
                        </a:rPr>
                        <a:t>2</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5" dirty="0">
                          <a:latin typeface="Arial"/>
                          <a:cs typeface="Arial"/>
                        </a:rPr>
                        <a:t>Grau de exposição a agentes</a:t>
                      </a:r>
                      <a:r>
                        <a:rPr sz="1800" spc="35" dirty="0">
                          <a:latin typeface="Arial"/>
                          <a:cs typeface="Arial"/>
                        </a:rPr>
                        <a:t> </a:t>
                      </a:r>
                      <a:r>
                        <a:rPr sz="1800" spc="-5" dirty="0">
                          <a:latin typeface="Arial"/>
                          <a:cs typeface="Arial"/>
                        </a:rPr>
                        <a:t>nocivos</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503555">
                <a:tc>
                  <a:txBody>
                    <a:bodyPr/>
                    <a:lstStyle/>
                    <a:p>
                      <a:pPr marL="13335" algn="ctr">
                        <a:lnSpc>
                          <a:spcPct val="100000"/>
                        </a:lnSpc>
                        <a:spcBef>
                          <a:spcPts val="855"/>
                        </a:spcBef>
                      </a:pPr>
                      <a:r>
                        <a:rPr sz="1800" spc="-40" dirty="0">
                          <a:latin typeface="Arial"/>
                          <a:cs typeface="Arial"/>
                        </a:rPr>
                        <a:t>Tabela</a:t>
                      </a:r>
                      <a:r>
                        <a:rPr sz="1800" spc="-10" dirty="0">
                          <a:latin typeface="Arial"/>
                          <a:cs typeface="Arial"/>
                        </a:rPr>
                        <a:t> </a:t>
                      </a:r>
                      <a:r>
                        <a:rPr sz="1800" spc="-5" dirty="0">
                          <a:latin typeface="Arial"/>
                          <a:cs typeface="Arial"/>
                        </a:rPr>
                        <a:t>3</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5" dirty="0">
                          <a:latin typeface="Arial"/>
                          <a:cs typeface="Arial"/>
                        </a:rPr>
                        <a:t>Natureza das rubricas da folha </a:t>
                      </a:r>
                      <a:r>
                        <a:rPr sz="1800" spc="-10" dirty="0">
                          <a:latin typeface="Arial"/>
                          <a:cs typeface="Arial"/>
                        </a:rPr>
                        <a:t>de</a:t>
                      </a:r>
                      <a:r>
                        <a:rPr sz="1800" spc="45" dirty="0">
                          <a:latin typeface="Arial"/>
                          <a:cs typeface="Arial"/>
                        </a:rPr>
                        <a:t> </a:t>
                      </a:r>
                      <a:r>
                        <a:rPr sz="1800" spc="-5" dirty="0">
                          <a:latin typeface="Arial"/>
                          <a:cs typeface="Arial"/>
                        </a:rPr>
                        <a:t>pagamento</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r h="503555">
                <a:tc>
                  <a:txBody>
                    <a:bodyPr/>
                    <a:lstStyle/>
                    <a:p>
                      <a:pPr marL="13335" algn="ctr">
                        <a:lnSpc>
                          <a:spcPct val="100000"/>
                        </a:lnSpc>
                        <a:spcBef>
                          <a:spcPts val="855"/>
                        </a:spcBef>
                      </a:pPr>
                      <a:r>
                        <a:rPr sz="1800" spc="-40" dirty="0">
                          <a:latin typeface="Arial"/>
                          <a:cs typeface="Arial"/>
                        </a:rPr>
                        <a:t>Tabela</a:t>
                      </a:r>
                      <a:r>
                        <a:rPr sz="1800" spc="-10" dirty="0">
                          <a:latin typeface="Arial"/>
                          <a:cs typeface="Arial"/>
                        </a:rPr>
                        <a:t> </a:t>
                      </a:r>
                      <a:r>
                        <a:rPr sz="1800" spc="-5" dirty="0">
                          <a:latin typeface="Arial"/>
                          <a:cs typeface="Arial"/>
                        </a:rPr>
                        <a:t>4</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5" dirty="0">
                          <a:latin typeface="Arial"/>
                          <a:cs typeface="Arial"/>
                        </a:rPr>
                        <a:t>Códigos e alíquotas de</a:t>
                      </a:r>
                      <a:r>
                        <a:rPr sz="1800" spc="35" dirty="0">
                          <a:latin typeface="Arial"/>
                          <a:cs typeface="Arial"/>
                        </a:rPr>
                        <a:t> </a:t>
                      </a:r>
                      <a:r>
                        <a:rPr sz="1800" spc="-15" dirty="0">
                          <a:latin typeface="Arial"/>
                          <a:cs typeface="Arial"/>
                        </a:rPr>
                        <a:t>FPAS/terceiros</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r h="503555">
                <a:tc>
                  <a:txBody>
                    <a:bodyPr/>
                    <a:lstStyle/>
                    <a:p>
                      <a:pPr marL="13335" algn="ctr">
                        <a:lnSpc>
                          <a:spcPct val="100000"/>
                        </a:lnSpc>
                        <a:spcBef>
                          <a:spcPts val="855"/>
                        </a:spcBef>
                      </a:pPr>
                      <a:r>
                        <a:rPr sz="1800" spc="-40" dirty="0">
                          <a:latin typeface="Arial"/>
                          <a:cs typeface="Arial"/>
                        </a:rPr>
                        <a:t>Tabela</a:t>
                      </a:r>
                      <a:r>
                        <a:rPr sz="1800" spc="-10" dirty="0">
                          <a:latin typeface="Arial"/>
                          <a:cs typeface="Arial"/>
                        </a:rPr>
                        <a:t> </a:t>
                      </a:r>
                      <a:r>
                        <a:rPr sz="1800" spc="-5" dirty="0">
                          <a:latin typeface="Arial"/>
                          <a:cs typeface="Arial"/>
                        </a:rPr>
                        <a:t>5</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15" dirty="0">
                          <a:latin typeface="Arial"/>
                          <a:cs typeface="Arial"/>
                        </a:rPr>
                        <a:t>Tipos </a:t>
                      </a:r>
                      <a:r>
                        <a:rPr sz="1800" spc="-10" dirty="0">
                          <a:latin typeface="Arial"/>
                          <a:cs typeface="Arial"/>
                        </a:rPr>
                        <a:t>de</a:t>
                      </a:r>
                      <a:r>
                        <a:rPr sz="1800" spc="10" dirty="0">
                          <a:latin typeface="Arial"/>
                          <a:cs typeface="Arial"/>
                        </a:rPr>
                        <a:t> </a:t>
                      </a:r>
                      <a:r>
                        <a:rPr sz="1800" spc="-5" dirty="0">
                          <a:latin typeface="Arial"/>
                          <a:cs typeface="Arial"/>
                        </a:rPr>
                        <a:t>inscrição</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5"/>
                  </a:ext>
                </a:extLst>
              </a:tr>
              <a:tr h="503555">
                <a:tc>
                  <a:txBody>
                    <a:bodyPr/>
                    <a:lstStyle/>
                    <a:p>
                      <a:pPr marL="13335" algn="ctr">
                        <a:lnSpc>
                          <a:spcPct val="100000"/>
                        </a:lnSpc>
                        <a:spcBef>
                          <a:spcPts val="855"/>
                        </a:spcBef>
                      </a:pPr>
                      <a:r>
                        <a:rPr sz="1800" spc="-40" dirty="0">
                          <a:latin typeface="Arial"/>
                          <a:cs typeface="Arial"/>
                        </a:rPr>
                        <a:t>Tabela</a:t>
                      </a:r>
                      <a:r>
                        <a:rPr sz="1800" spc="-10" dirty="0">
                          <a:latin typeface="Arial"/>
                          <a:cs typeface="Arial"/>
                        </a:rPr>
                        <a:t> </a:t>
                      </a:r>
                      <a:r>
                        <a:rPr sz="1800" spc="-5" dirty="0">
                          <a:latin typeface="Arial"/>
                          <a:cs typeface="Arial"/>
                        </a:rPr>
                        <a:t>6</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5" dirty="0">
                          <a:latin typeface="Arial"/>
                          <a:cs typeface="Arial"/>
                        </a:rPr>
                        <a:t>Países</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6"/>
                  </a:ext>
                </a:extLst>
              </a:tr>
              <a:tr h="503555">
                <a:tc>
                  <a:txBody>
                    <a:bodyPr/>
                    <a:lstStyle/>
                    <a:p>
                      <a:pPr marL="12700" algn="ctr">
                        <a:lnSpc>
                          <a:spcPct val="100000"/>
                        </a:lnSpc>
                        <a:spcBef>
                          <a:spcPts val="855"/>
                        </a:spcBef>
                      </a:pPr>
                      <a:r>
                        <a:rPr sz="1800" spc="-40" dirty="0">
                          <a:latin typeface="Arial"/>
                          <a:cs typeface="Arial"/>
                        </a:rPr>
                        <a:t>Tabela</a:t>
                      </a:r>
                      <a:r>
                        <a:rPr sz="1800" spc="-25" dirty="0">
                          <a:latin typeface="Arial"/>
                          <a:cs typeface="Arial"/>
                        </a:rPr>
                        <a:t> </a:t>
                      </a:r>
                      <a:r>
                        <a:rPr sz="1800" dirty="0">
                          <a:latin typeface="Arial"/>
                          <a:cs typeface="Arial"/>
                        </a:rPr>
                        <a:t>7</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5" dirty="0">
                          <a:latin typeface="Arial"/>
                          <a:cs typeface="Arial"/>
                        </a:rPr>
                        <a:t>Resultado da monitoração</a:t>
                      </a:r>
                      <a:r>
                        <a:rPr sz="1800" spc="40" dirty="0">
                          <a:latin typeface="Arial"/>
                          <a:cs typeface="Arial"/>
                        </a:rPr>
                        <a:t> </a:t>
                      </a:r>
                      <a:r>
                        <a:rPr sz="1800" spc="-5" dirty="0">
                          <a:latin typeface="Arial"/>
                          <a:cs typeface="Arial"/>
                        </a:rPr>
                        <a:t>biológica</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7"/>
                  </a:ext>
                </a:extLst>
              </a:tr>
              <a:tr h="503555">
                <a:tc>
                  <a:txBody>
                    <a:bodyPr/>
                    <a:lstStyle/>
                    <a:p>
                      <a:pPr marL="12700" algn="ctr">
                        <a:lnSpc>
                          <a:spcPct val="100000"/>
                        </a:lnSpc>
                        <a:spcBef>
                          <a:spcPts val="855"/>
                        </a:spcBef>
                      </a:pPr>
                      <a:r>
                        <a:rPr sz="1800" spc="-40" dirty="0">
                          <a:latin typeface="Arial"/>
                          <a:cs typeface="Arial"/>
                        </a:rPr>
                        <a:t>Tabela</a:t>
                      </a:r>
                      <a:r>
                        <a:rPr sz="1800" spc="-25" dirty="0">
                          <a:latin typeface="Arial"/>
                          <a:cs typeface="Arial"/>
                        </a:rPr>
                        <a:t> </a:t>
                      </a:r>
                      <a:r>
                        <a:rPr sz="1800" dirty="0">
                          <a:latin typeface="Arial"/>
                          <a:cs typeface="Arial"/>
                        </a:rPr>
                        <a:t>8</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5" dirty="0">
                          <a:latin typeface="Arial"/>
                          <a:cs typeface="Arial"/>
                        </a:rPr>
                        <a:t>Classificação</a:t>
                      </a:r>
                      <a:r>
                        <a:rPr sz="1800" spc="15" dirty="0">
                          <a:latin typeface="Arial"/>
                          <a:cs typeface="Arial"/>
                        </a:rPr>
                        <a:t> </a:t>
                      </a:r>
                      <a:r>
                        <a:rPr sz="1800" spc="-5" dirty="0">
                          <a:latin typeface="Arial"/>
                          <a:cs typeface="Arial"/>
                        </a:rPr>
                        <a:t>tributária</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8"/>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958467" y="1861849"/>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958467" y="4426943"/>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41570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145639" y="600964"/>
          <a:ext cx="7863840" cy="5103495"/>
        </p:xfrm>
        <a:graphic>
          <a:graphicData uri="http://schemas.openxmlformats.org/drawingml/2006/table">
            <a:tbl>
              <a:tblPr firstRow="1" bandRow="1">
                <a:tableStyleId>{2D5ABB26-0587-4C30-8999-92F81FD0307C}</a:tableStyleId>
              </a:tblPr>
              <a:tblGrid>
                <a:gridCol w="1635760">
                  <a:extLst>
                    <a:ext uri="{9D8B030D-6E8A-4147-A177-3AD203B41FA5}">
                      <a16:colId xmlns:a16="http://schemas.microsoft.com/office/drawing/2014/main" val="20000"/>
                    </a:ext>
                  </a:extLst>
                </a:gridCol>
                <a:gridCol w="6228080">
                  <a:extLst>
                    <a:ext uri="{9D8B030D-6E8A-4147-A177-3AD203B41FA5}">
                      <a16:colId xmlns:a16="http://schemas.microsoft.com/office/drawing/2014/main" val="20001"/>
                    </a:ext>
                  </a:extLst>
                </a:gridCol>
              </a:tblGrid>
              <a:tr h="503555">
                <a:tc>
                  <a:txBody>
                    <a:bodyPr/>
                    <a:lstStyle/>
                    <a:p>
                      <a:pPr marL="12065" algn="ctr">
                        <a:lnSpc>
                          <a:spcPct val="100000"/>
                        </a:lnSpc>
                        <a:spcBef>
                          <a:spcPts val="850"/>
                        </a:spcBef>
                      </a:pPr>
                      <a:r>
                        <a:rPr sz="1800" spc="-5" dirty="0">
                          <a:latin typeface="Arial"/>
                          <a:cs typeface="Arial"/>
                        </a:rPr>
                        <a:t>NÚMERO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0"/>
                        </a:spcBef>
                      </a:pPr>
                      <a:r>
                        <a:rPr sz="1800" spc="-5" dirty="0">
                          <a:latin typeface="Arial"/>
                          <a:cs typeface="Arial"/>
                        </a:rPr>
                        <a:t>DESCRIÇÃO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503555">
                <a:tc>
                  <a:txBody>
                    <a:bodyPr/>
                    <a:lstStyle/>
                    <a:p>
                      <a:pPr marL="13335" algn="ctr">
                        <a:lnSpc>
                          <a:spcPct val="100000"/>
                        </a:lnSpc>
                        <a:spcBef>
                          <a:spcPts val="850"/>
                        </a:spcBef>
                      </a:pPr>
                      <a:r>
                        <a:rPr sz="1800" spc="-40" dirty="0">
                          <a:latin typeface="Arial"/>
                          <a:cs typeface="Arial"/>
                        </a:rPr>
                        <a:t>Tabela</a:t>
                      </a:r>
                      <a:r>
                        <a:rPr sz="1800" spc="-25" dirty="0">
                          <a:latin typeface="Arial"/>
                          <a:cs typeface="Arial"/>
                        </a:rPr>
                        <a:t> </a:t>
                      </a:r>
                      <a:r>
                        <a:rPr sz="1800" dirty="0">
                          <a:latin typeface="Arial"/>
                          <a:cs typeface="Arial"/>
                        </a:rPr>
                        <a:t>9</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0"/>
                        </a:spcBef>
                      </a:pPr>
                      <a:r>
                        <a:rPr sz="1800" spc="-20" dirty="0">
                          <a:latin typeface="Arial"/>
                          <a:cs typeface="Arial"/>
                        </a:rPr>
                        <a:t>Tipos </a:t>
                      </a:r>
                      <a:r>
                        <a:rPr sz="1800" dirty="0">
                          <a:latin typeface="Arial"/>
                          <a:cs typeface="Arial"/>
                        </a:rPr>
                        <a:t>de </a:t>
                      </a:r>
                      <a:r>
                        <a:rPr sz="1800" spc="-5" dirty="0">
                          <a:latin typeface="Arial"/>
                          <a:cs typeface="Arial"/>
                        </a:rPr>
                        <a:t>arquivo do</a:t>
                      </a:r>
                      <a:r>
                        <a:rPr sz="1800" spc="15" dirty="0">
                          <a:latin typeface="Arial"/>
                          <a:cs typeface="Arial"/>
                        </a:rPr>
                        <a:t> </a:t>
                      </a:r>
                      <a:r>
                        <a:rPr sz="1800" spc="-5" dirty="0">
                          <a:latin typeface="Arial"/>
                          <a:cs typeface="Arial"/>
                        </a:rPr>
                        <a:t>eSocial</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503555">
                <a:tc>
                  <a:txBody>
                    <a:bodyPr/>
                    <a:lstStyle/>
                    <a:p>
                      <a:pPr marL="12065" algn="ctr">
                        <a:lnSpc>
                          <a:spcPct val="100000"/>
                        </a:lnSpc>
                        <a:spcBef>
                          <a:spcPts val="850"/>
                        </a:spcBef>
                      </a:pPr>
                      <a:r>
                        <a:rPr sz="1800" spc="-40" dirty="0">
                          <a:latin typeface="Arial"/>
                          <a:cs typeface="Arial"/>
                        </a:rPr>
                        <a:t>Tabela</a:t>
                      </a:r>
                      <a:r>
                        <a:rPr sz="1800" spc="-15" dirty="0">
                          <a:latin typeface="Arial"/>
                          <a:cs typeface="Arial"/>
                        </a:rPr>
                        <a:t> </a:t>
                      </a:r>
                      <a:r>
                        <a:rPr sz="1800" spc="-10" dirty="0">
                          <a:latin typeface="Arial"/>
                          <a:cs typeface="Arial"/>
                        </a:rPr>
                        <a:t>10</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0"/>
                        </a:spcBef>
                      </a:pPr>
                      <a:r>
                        <a:rPr sz="1800" spc="-15" dirty="0">
                          <a:latin typeface="Arial"/>
                          <a:cs typeface="Arial"/>
                        </a:rPr>
                        <a:t>Tipos </a:t>
                      </a:r>
                      <a:r>
                        <a:rPr sz="1800" spc="-10" dirty="0">
                          <a:latin typeface="Arial"/>
                          <a:cs typeface="Arial"/>
                        </a:rPr>
                        <a:t>de </a:t>
                      </a:r>
                      <a:r>
                        <a:rPr sz="1800" spc="-5" dirty="0">
                          <a:latin typeface="Arial"/>
                          <a:cs typeface="Arial"/>
                        </a:rPr>
                        <a:t>lotação</a:t>
                      </a:r>
                      <a:r>
                        <a:rPr sz="1800" spc="25" dirty="0">
                          <a:latin typeface="Arial"/>
                          <a:cs typeface="Arial"/>
                        </a:rPr>
                        <a:t> </a:t>
                      </a:r>
                      <a:r>
                        <a:rPr sz="1800" spc="-5" dirty="0">
                          <a:latin typeface="Arial"/>
                          <a:cs typeface="Arial"/>
                        </a:rPr>
                        <a:t>tributária</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789305">
                <a:tc>
                  <a:txBody>
                    <a:bodyPr/>
                    <a:lstStyle/>
                    <a:p>
                      <a:pPr marL="13335" algn="ctr">
                        <a:lnSpc>
                          <a:spcPct val="100000"/>
                        </a:lnSpc>
                        <a:spcBef>
                          <a:spcPts val="855"/>
                        </a:spcBef>
                      </a:pPr>
                      <a:r>
                        <a:rPr sz="1800" spc="-40" dirty="0">
                          <a:latin typeface="Arial"/>
                          <a:cs typeface="Arial"/>
                        </a:rPr>
                        <a:t>Tabela</a:t>
                      </a:r>
                      <a:r>
                        <a:rPr sz="1800" spc="-15" dirty="0">
                          <a:latin typeface="Arial"/>
                          <a:cs typeface="Arial"/>
                        </a:rPr>
                        <a:t> </a:t>
                      </a:r>
                      <a:r>
                        <a:rPr sz="1800" spc="-75" dirty="0">
                          <a:latin typeface="Arial"/>
                          <a:cs typeface="Arial"/>
                        </a:rPr>
                        <a:t>11</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marR="1077595">
                        <a:lnSpc>
                          <a:spcPct val="111200"/>
                        </a:lnSpc>
                        <a:spcBef>
                          <a:spcPts val="610"/>
                        </a:spcBef>
                      </a:pPr>
                      <a:r>
                        <a:rPr sz="1800" spc="-5" dirty="0">
                          <a:latin typeface="Arial"/>
                          <a:cs typeface="Arial"/>
                        </a:rPr>
                        <a:t>Compatibilidade entre categoria de trabalhadores,  classificação tributária e tipos </a:t>
                      </a:r>
                      <a:r>
                        <a:rPr sz="1800" spc="-10" dirty="0">
                          <a:latin typeface="Arial"/>
                          <a:cs typeface="Arial"/>
                        </a:rPr>
                        <a:t>de</a:t>
                      </a:r>
                      <a:r>
                        <a:rPr sz="1800" spc="45" dirty="0">
                          <a:latin typeface="Arial"/>
                          <a:cs typeface="Arial"/>
                        </a:rPr>
                        <a:t> </a:t>
                      </a:r>
                      <a:r>
                        <a:rPr sz="1800" spc="-5" dirty="0">
                          <a:latin typeface="Arial"/>
                          <a:cs typeface="Arial"/>
                        </a:rPr>
                        <a:t>lotação</a:t>
                      </a:r>
                      <a:endParaRPr sz="1800">
                        <a:latin typeface="Arial"/>
                        <a:cs typeface="Arial"/>
                      </a:endParaRPr>
                    </a:p>
                  </a:txBody>
                  <a:tcPr marL="0" marR="0" marT="774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r h="789305">
                <a:tc>
                  <a:txBody>
                    <a:bodyPr/>
                    <a:lstStyle/>
                    <a:p>
                      <a:pPr marL="12700" algn="ctr">
                        <a:lnSpc>
                          <a:spcPct val="100000"/>
                        </a:lnSpc>
                        <a:spcBef>
                          <a:spcPts val="855"/>
                        </a:spcBef>
                      </a:pPr>
                      <a:r>
                        <a:rPr sz="1800" spc="-40" dirty="0">
                          <a:latin typeface="Arial"/>
                          <a:cs typeface="Arial"/>
                        </a:rPr>
                        <a:t>Tabela</a:t>
                      </a:r>
                      <a:r>
                        <a:rPr sz="1800" spc="-25" dirty="0">
                          <a:latin typeface="Arial"/>
                          <a:cs typeface="Arial"/>
                        </a:rPr>
                        <a:t> </a:t>
                      </a:r>
                      <a:r>
                        <a:rPr sz="1800" dirty="0">
                          <a:latin typeface="Arial"/>
                          <a:cs typeface="Arial"/>
                        </a:rPr>
                        <a:t>12</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10" dirty="0">
                          <a:latin typeface="Arial"/>
                          <a:cs typeface="Arial"/>
                        </a:rPr>
                        <a:t>Compatibilidade </a:t>
                      </a:r>
                      <a:r>
                        <a:rPr sz="1800" spc="-5" dirty="0">
                          <a:latin typeface="Arial"/>
                          <a:cs typeface="Arial"/>
                        </a:rPr>
                        <a:t>entre tipos </a:t>
                      </a:r>
                      <a:r>
                        <a:rPr sz="1800" dirty="0">
                          <a:latin typeface="Arial"/>
                          <a:cs typeface="Arial"/>
                        </a:rPr>
                        <a:t>de </a:t>
                      </a:r>
                      <a:r>
                        <a:rPr sz="1800" spc="-5" dirty="0">
                          <a:latin typeface="Arial"/>
                          <a:cs typeface="Arial"/>
                        </a:rPr>
                        <a:t>lotação </a:t>
                      </a:r>
                      <a:r>
                        <a:rPr sz="1800" dirty="0">
                          <a:latin typeface="Arial"/>
                          <a:cs typeface="Arial"/>
                        </a:rPr>
                        <a:t>e</a:t>
                      </a:r>
                      <a:r>
                        <a:rPr sz="1800" spc="80" dirty="0">
                          <a:latin typeface="Arial"/>
                          <a:cs typeface="Arial"/>
                        </a:rPr>
                        <a:t> </a:t>
                      </a:r>
                      <a:r>
                        <a:rPr sz="1800" spc="-5" dirty="0">
                          <a:latin typeface="Arial"/>
                          <a:cs typeface="Arial"/>
                        </a:rPr>
                        <a:t>classificação</a:t>
                      </a:r>
                      <a:endParaRPr sz="1800">
                        <a:latin typeface="Arial"/>
                        <a:cs typeface="Arial"/>
                      </a:endParaRPr>
                    </a:p>
                    <a:p>
                      <a:pPr marL="78105">
                        <a:lnSpc>
                          <a:spcPct val="100000"/>
                        </a:lnSpc>
                        <a:spcBef>
                          <a:spcPts val="240"/>
                        </a:spcBef>
                      </a:pPr>
                      <a:r>
                        <a:rPr sz="1800" spc="-5" dirty="0">
                          <a:latin typeface="Arial"/>
                          <a:cs typeface="Arial"/>
                        </a:rPr>
                        <a:t>tributária</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r h="503555">
                <a:tc>
                  <a:txBody>
                    <a:bodyPr/>
                    <a:lstStyle/>
                    <a:p>
                      <a:pPr marL="12065" algn="ctr">
                        <a:lnSpc>
                          <a:spcPct val="100000"/>
                        </a:lnSpc>
                        <a:spcBef>
                          <a:spcPts val="855"/>
                        </a:spcBef>
                      </a:pPr>
                      <a:r>
                        <a:rPr sz="1800" spc="-40" dirty="0">
                          <a:latin typeface="Arial"/>
                          <a:cs typeface="Arial"/>
                        </a:rPr>
                        <a:t>Tabela</a:t>
                      </a:r>
                      <a:r>
                        <a:rPr sz="1800" spc="-15" dirty="0">
                          <a:latin typeface="Arial"/>
                          <a:cs typeface="Arial"/>
                        </a:rPr>
                        <a:t> </a:t>
                      </a:r>
                      <a:r>
                        <a:rPr sz="1800" spc="-10" dirty="0">
                          <a:latin typeface="Arial"/>
                          <a:cs typeface="Arial"/>
                        </a:rPr>
                        <a:t>13</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5" dirty="0">
                          <a:latin typeface="Arial"/>
                          <a:cs typeface="Arial"/>
                        </a:rPr>
                        <a:t>Parte do corpo</a:t>
                      </a:r>
                      <a:r>
                        <a:rPr sz="1800" dirty="0">
                          <a:latin typeface="Arial"/>
                          <a:cs typeface="Arial"/>
                        </a:rPr>
                        <a:t> </a:t>
                      </a:r>
                      <a:r>
                        <a:rPr sz="1800" spc="-5" dirty="0">
                          <a:latin typeface="Arial"/>
                          <a:cs typeface="Arial"/>
                        </a:rPr>
                        <a:t>atingida</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5"/>
                  </a:ext>
                </a:extLst>
              </a:tr>
              <a:tr h="503555">
                <a:tc>
                  <a:txBody>
                    <a:bodyPr/>
                    <a:lstStyle/>
                    <a:p>
                      <a:pPr marL="12065" algn="ctr">
                        <a:lnSpc>
                          <a:spcPct val="100000"/>
                        </a:lnSpc>
                        <a:spcBef>
                          <a:spcPts val="860"/>
                        </a:spcBef>
                      </a:pPr>
                      <a:r>
                        <a:rPr sz="1800" spc="-40" dirty="0">
                          <a:latin typeface="Arial"/>
                          <a:cs typeface="Arial"/>
                        </a:rPr>
                        <a:t>Tabela</a:t>
                      </a:r>
                      <a:r>
                        <a:rPr sz="1800" spc="-15" dirty="0">
                          <a:latin typeface="Arial"/>
                          <a:cs typeface="Arial"/>
                        </a:rPr>
                        <a:t> </a:t>
                      </a:r>
                      <a:r>
                        <a:rPr sz="1800" spc="-10" dirty="0">
                          <a:latin typeface="Arial"/>
                          <a:cs typeface="Arial"/>
                        </a:rPr>
                        <a:t>14</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60"/>
                        </a:spcBef>
                      </a:pPr>
                      <a:r>
                        <a:rPr sz="1800" spc="-5" dirty="0">
                          <a:latin typeface="Arial"/>
                          <a:cs typeface="Arial"/>
                        </a:rPr>
                        <a:t>Agente causador do acidente de</a:t>
                      </a:r>
                      <a:r>
                        <a:rPr sz="1800" spc="35" dirty="0">
                          <a:latin typeface="Arial"/>
                          <a:cs typeface="Arial"/>
                        </a:rPr>
                        <a:t> </a:t>
                      </a:r>
                      <a:r>
                        <a:rPr sz="1800" spc="-5" dirty="0">
                          <a:latin typeface="Arial"/>
                          <a:cs typeface="Arial"/>
                        </a:rPr>
                        <a:t>trabalho</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6"/>
                  </a:ext>
                </a:extLst>
              </a:tr>
              <a:tr h="503555">
                <a:tc>
                  <a:txBody>
                    <a:bodyPr/>
                    <a:lstStyle/>
                    <a:p>
                      <a:pPr marL="12700" algn="ctr">
                        <a:lnSpc>
                          <a:spcPct val="100000"/>
                        </a:lnSpc>
                        <a:spcBef>
                          <a:spcPts val="855"/>
                        </a:spcBef>
                      </a:pPr>
                      <a:r>
                        <a:rPr sz="1800" spc="-40" dirty="0">
                          <a:latin typeface="Arial"/>
                          <a:cs typeface="Arial"/>
                        </a:rPr>
                        <a:t>Tabela</a:t>
                      </a:r>
                      <a:r>
                        <a:rPr sz="1800" spc="-25" dirty="0">
                          <a:latin typeface="Arial"/>
                          <a:cs typeface="Arial"/>
                        </a:rPr>
                        <a:t> </a:t>
                      </a:r>
                      <a:r>
                        <a:rPr sz="1800" dirty="0">
                          <a:latin typeface="Arial"/>
                          <a:cs typeface="Arial"/>
                        </a:rPr>
                        <a:t>15</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5" dirty="0">
                          <a:latin typeface="Arial"/>
                          <a:cs typeface="Arial"/>
                        </a:rPr>
                        <a:t>Agente causador/situação </a:t>
                      </a:r>
                      <a:r>
                        <a:rPr sz="1800" spc="-10" dirty="0">
                          <a:latin typeface="Arial"/>
                          <a:cs typeface="Arial"/>
                        </a:rPr>
                        <a:t>geradora </a:t>
                      </a:r>
                      <a:r>
                        <a:rPr sz="1800" spc="-5" dirty="0">
                          <a:latin typeface="Arial"/>
                          <a:cs typeface="Arial"/>
                        </a:rPr>
                        <a:t>de doença</a:t>
                      </a:r>
                      <a:r>
                        <a:rPr sz="1800" spc="60" dirty="0">
                          <a:latin typeface="Arial"/>
                          <a:cs typeface="Arial"/>
                        </a:rPr>
                        <a:t> </a:t>
                      </a:r>
                      <a:r>
                        <a:rPr sz="1800" spc="-5" dirty="0">
                          <a:latin typeface="Arial"/>
                          <a:cs typeface="Arial"/>
                        </a:rPr>
                        <a:t>profissional</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7"/>
                  </a:ext>
                </a:extLst>
              </a:tr>
              <a:tr h="503555">
                <a:tc>
                  <a:txBody>
                    <a:bodyPr/>
                    <a:lstStyle/>
                    <a:p>
                      <a:pPr marL="12700" algn="ctr">
                        <a:lnSpc>
                          <a:spcPct val="100000"/>
                        </a:lnSpc>
                        <a:spcBef>
                          <a:spcPts val="860"/>
                        </a:spcBef>
                      </a:pPr>
                      <a:r>
                        <a:rPr sz="1800" spc="-40" dirty="0">
                          <a:latin typeface="Arial"/>
                          <a:cs typeface="Arial"/>
                        </a:rPr>
                        <a:t>Tabela</a:t>
                      </a:r>
                      <a:r>
                        <a:rPr sz="1800" spc="-25" dirty="0">
                          <a:latin typeface="Arial"/>
                          <a:cs typeface="Arial"/>
                        </a:rPr>
                        <a:t> </a:t>
                      </a:r>
                      <a:r>
                        <a:rPr sz="1800" dirty="0">
                          <a:latin typeface="Arial"/>
                          <a:cs typeface="Arial"/>
                        </a:rPr>
                        <a:t>16</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60"/>
                        </a:spcBef>
                      </a:pPr>
                      <a:r>
                        <a:rPr sz="1800" spc="-5" dirty="0">
                          <a:latin typeface="Arial"/>
                          <a:cs typeface="Arial"/>
                        </a:rPr>
                        <a:t>Situação </a:t>
                      </a:r>
                      <a:r>
                        <a:rPr sz="1800" spc="-10" dirty="0">
                          <a:latin typeface="Arial"/>
                          <a:cs typeface="Arial"/>
                        </a:rPr>
                        <a:t>geradora </a:t>
                      </a:r>
                      <a:r>
                        <a:rPr sz="1800" spc="-5" dirty="0">
                          <a:latin typeface="Arial"/>
                          <a:cs typeface="Arial"/>
                        </a:rPr>
                        <a:t>do acidente de</a:t>
                      </a:r>
                      <a:r>
                        <a:rPr sz="1800" spc="50" dirty="0">
                          <a:latin typeface="Arial"/>
                          <a:cs typeface="Arial"/>
                        </a:rPr>
                        <a:t> </a:t>
                      </a:r>
                      <a:r>
                        <a:rPr sz="1800" spc="-5" dirty="0">
                          <a:latin typeface="Arial"/>
                          <a:cs typeface="Arial"/>
                        </a:rPr>
                        <a:t>trabalho</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8"/>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870332" y="3800818"/>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870332" y="4285560"/>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Direita 6"/>
          <p:cNvSpPr/>
          <p:nvPr/>
        </p:nvSpPr>
        <p:spPr>
          <a:xfrm>
            <a:off x="870332" y="4891488"/>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Direita 7"/>
          <p:cNvSpPr/>
          <p:nvPr/>
        </p:nvSpPr>
        <p:spPr>
          <a:xfrm>
            <a:off x="870332" y="5418020"/>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79452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170696" y="763777"/>
          <a:ext cx="7863840" cy="5283200"/>
        </p:xfrm>
        <a:graphic>
          <a:graphicData uri="http://schemas.openxmlformats.org/drawingml/2006/table">
            <a:tbl>
              <a:tblPr firstRow="1" bandRow="1">
                <a:tableStyleId>{2D5ABB26-0587-4C30-8999-92F81FD0307C}</a:tableStyleId>
              </a:tblPr>
              <a:tblGrid>
                <a:gridCol w="1635760">
                  <a:extLst>
                    <a:ext uri="{9D8B030D-6E8A-4147-A177-3AD203B41FA5}">
                      <a16:colId xmlns:a16="http://schemas.microsoft.com/office/drawing/2014/main" val="20000"/>
                    </a:ext>
                  </a:extLst>
                </a:gridCol>
                <a:gridCol w="6228080">
                  <a:extLst>
                    <a:ext uri="{9D8B030D-6E8A-4147-A177-3AD203B41FA5}">
                      <a16:colId xmlns:a16="http://schemas.microsoft.com/office/drawing/2014/main" val="20001"/>
                    </a:ext>
                  </a:extLst>
                </a:gridCol>
              </a:tblGrid>
              <a:tr h="503555">
                <a:tc>
                  <a:txBody>
                    <a:bodyPr/>
                    <a:lstStyle/>
                    <a:p>
                      <a:pPr marL="12700" algn="ctr">
                        <a:lnSpc>
                          <a:spcPct val="100000"/>
                        </a:lnSpc>
                        <a:spcBef>
                          <a:spcPts val="850"/>
                        </a:spcBef>
                      </a:pPr>
                      <a:r>
                        <a:rPr sz="1800" spc="-5" dirty="0">
                          <a:latin typeface="Arial"/>
                          <a:cs typeface="Arial"/>
                        </a:rPr>
                        <a:t>NÚMERO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0"/>
                        </a:spcBef>
                      </a:pPr>
                      <a:r>
                        <a:rPr sz="1800" spc="-5" dirty="0">
                          <a:latin typeface="Arial"/>
                          <a:cs typeface="Arial"/>
                        </a:rPr>
                        <a:t>DESCRIÇÃO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503555">
                <a:tc>
                  <a:txBody>
                    <a:bodyPr/>
                    <a:lstStyle/>
                    <a:p>
                      <a:pPr marL="11430" algn="ctr">
                        <a:lnSpc>
                          <a:spcPct val="100000"/>
                        </a:lnSpc>
                        <a:spcBef>
                          <a:spcPts val="850"/>
                        </a:spcBef>
                      </a:pPr>
                      <a:r>
                        <a:rPr sz="1800" spc="-40" dirty="0">
                          <a:latin typeface="Arial"/>
                          <a:cs typeface="Arial"/>
                        </a:rPr>
                        <a:t>Tabela</a:t>
                      </a:r>
                      <a:r>
                        <a:rPr sz="1800" spc="-15" dirty="0">
                          <a:latin typeface="Arial"/>
                          <a:cs typeface="Arial"/>
                        </a:rPr>
                        <a:t> </a:t>
                      </a:r>
                      <a:r>
                        <a:rPr sz="1800" spc="-10" dirty="0">
                          <a:latin typeface="Arial"/>
                          <a:cs typeface="Arial"/>
                        </a:rPr>
                        <a:t>17</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0"/>
                        </a:spcBef>
                      </a:pPr>
                      <a:r>
                        <a:rPr sz="1800" spc="-5" dirty="0">
                          <a:latin typeface="Arial"/>
                          <a:cs typeface="Arial"/>
                        </a:rPr>
                        <a:t>Descrição da natureza da</a:t>
                      </a:r>
                      <a:r>
                        <a:rPr sz="1800" spc="15" dirty="0">
                          <a:latin typeface="Arial"/>
                          <a:cs typeface="Arial"/>
                        </a:rPr>
                        <a:t> </a:t>
                      </a:r>
                      <a:r>
                        <a:rPr sz="1800" spc="-5" dirty="0">
                          <a:latin typeface="Arial"/>
                          <a:cs typeface="Arial"/>
                        </a:rPr>
                        <a:t>lesão</a:t>
                      </a:r>
                      <a:endParaRPr sz="1800">
                        <a:latin typeface="Arial"/>
                        <a:cs typeface="Arial"/>
                      </a:endParaRPr>
                    </a:p>
                  </a:txBody>
                  <a:tcPr marL="0" marR="0" marT="10795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503555">
                <a:tc>
                  <a:txBody>
                    <a:bodyPr/>
                    <a:lstStyle/>
                    <a:p>
                      <a:pPr marL="11430" algn="ctr">
                        <a:lnSpc>
                          <a:spcPct val="100000"/>
                        </a:lnSpc>
                        <a:spcBef>
                          <a:spcPts val="855"/>
                        </a:spcBef>
                      </a:pPr>
                      <a:r>
                        <a:rPr sz="1800" spc="-40" dirty="0">
                          <a:latin typeface="Arial"/>
                          <a:cs typeface="Arial"/>
                        </a:rPr>
                        <a:t>Tabela</a:t>
                      </a:r>
                      <a:r>
                        <a:rPr sz="1800" spc="-15" dirty="0">
                          <a:latin typeface="Arial"/>
                          <a:cs typeface="Arial"/>
                        </a:rPr>
                        <a:t> </a:t>
                      </a:r>
                      <a:r>
                        <a:rPr sz="1800" spc="-10" dirty="0">
                          <a:latin typeface="Arial"/>
                          <a:cs typeface="Arial"/>
                        </a:rPr>
                        <a:t>18</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5" dirty="0">
                          <a:latin typeface="Arial"/>
                          <a:cs typeface="Arial"/>
                        </a:rPr>
                        <a:t>Motivos de</a:t>
                      </a:r>
                      <a:r>
                        <a:rPr sz="1800" spc="5" dirty="0">
                          <a:latin typeface="Arial"/>
                          <a:cs typeface="Arial"/>
                        </a:rPr>
                        <a:t> </a:t>
                      </a:r>
                      <a:r>
                        <a:rPr sz="1800" spc="-5" dirty="0">
                          <a:latin typeface="Arial"/>
                          <a:cs typeface="Arial"/>
                        </a:rPr>
                        <a:t>afastamento</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503555">
                <a:tc>
                  <a:txBody>
                    <a:bodyPr/>
                    <a:lstStyle/>
                    <a:p>
                      <a:pPr marL="11430" algn="ctr">
                        <a:lnSpc>
                          <a:spcPct val="100000"/>
                        </a:lnSpc>
                        <a:spcBef>
                          <a:spcPts val="855"/>
                        </a:spcBef>
                      </a:pPr>
                      <a:r>
                        <a:rPr sz="1800" spc="-40" dirty="0">
                          <a:latin typeface="Arial"/>
                          <a:cs typeface="Arial"/>
                        </a:rPr>
                        <a:t>Tabela</a:t>
                      </a:r>
                      <a:r>
                        <a:rPr sz="1800" spc="-15" dirty="0">
                          <a:latin typeface="Arial"/>
                          <a:cs typeface="Arial"/>
                        </a:rPr>
                        <a:t> </a:t>
                      </a:r>
                      <a:r>
                        <a:rPr sz="1800" spc="-10" dirty="0">
                          <a:latin typeface="Arial"/>
                          <a:cs typeface="Arial"/>
                        </a:rPr>
                        <a:t>19</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5" dirty="0">
                          <a:latin typeface="Arial"/>
                          <a:cs typeface="Arial"/>
                        </a:rPr>
                        <a:t>Motivos de</a:t>
                      </a:r>
                      <a:r>
                        <a:rPr sz="1800" spc="5" dirty="0">
                          <a:latin typeface="Arial"/>
                          <a:cs typeface="Arial"/>
                        </a:rPr>
                        <a:t> </a:t>
                      </a:r>
                      <a:r>
                        <a:rPr sz="1800" spc="-5" dirty="0">
                          <a:latin typeface="Arial"/>
                          <a:cs typeface="Arial"/>
                        </a:rPr>
                        <a:t>desligamento</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r h="503555">
                <a:tc>
                  <a:txBody>
                    <a:bodyPr/>
                    <a:lstStyle/>
                    <a:p>
                      <a:pPr marL="11430" algn="ctr">
                        <a:lnSpc>
                          <a:spcPct val="100000"/>
                        </a:lnSpc>
                        <a:spcBef>
                          <a:spcPts val="855"/>
                        </a:spcBef>
                      </a:pPr>
                      <a:r>
                        <a:rPr sz="1800" spc="-40" dirty="0">
                          <a:latin typeface="Arial"/>
                          <a:cs typeface="Arial"/>
                        </a:rPr>
                        <a:t>Tabela</a:t>
                      </a:r>
                      <a:r>
                        <a:rPr sz="1800" spc="-15" dirty="0">
                          <a:latin typeface="Arial"/>
                          <a:cs typeface="Arial"/>
                        </a:rPr>
                        <a:t> </a:t>
                      </a:r>
                      <a:r>
                        <a:rPr sz="1800" spc="-10" dirty="0">
                          <a:latin typeface="Arial"/>
                          <a:cs typeface="Arial"/>
                        </a:rPr>
                        <a:t>20</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15" dirty="0">
                          <a:latin typeface="Arial"/>
                          <a:cs typeface="Arial"/>
                        </a:rPr>
                        <a:t>Tipos </a:t>
                      </a:r>
                      <a:r>
                        <a:rPr sz="1800" spc="-10" dirty="0">
                          <a:latin typeface="Arial"/>
                          <a:cs typeface="Arial"/>
                        </a:rPr>
                        <a:t>de</a:t>
                      </a:r>
                      <a:r>
                        <a:rPr sz="1800" spc="10" dirty="0">
                          <a:latin typeface="Arial"/>
                          <a:cs typeface="Arial"/>
                        </a:rPr>
                        <a:t> </a:t>
                      </a:r>
                      <a:r>
                        <a:rPr sz="1800" spc="-5" dirty="0">
                          <a:latin typeface="Arial"/>
                          <a:cs typeface="Arial"/>
                        </a:rPr>
                        <a:t>logradouros</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r h="503555">
                <a:tc>
                  <a:txBody>
                    <a:bodyPr/>
                    <a:lstStyle/>
                    <a:p>
                      <a:pPr marL="11430" algn="ctr">
                        <a:lnSpc>
                          <a:spcPct val="100000"/>
                        </a:lnSpc>
                        <a:spcBef>
                          <a:spcPts val="855"/>
                        </a:spcBef>
                      </a:pPr>
                      <a:r>
                        <a:rPr sz="1800" spc="-40" dirty="0">
                          <a:latin typeface="Arial"/>
                          <a:cs typeface="Arial"/>
                        </a:rPr>
                        <a:t>Tabela</a:t>
                      </a:r>
                      <a:r>
                        <a:rPr sz="1800" spc="-15" dirty="0">
                          <a:latin typeface="Arial"/>
                          <a:cs typeface="Arial"/>
                        </a:rPr>
                        <a:t> </a:t>
                      </a:r>
                      <a:r>
                        <a:rPr sz="1800" spc="-10" dirty="0">
                          <a:latin typeface="Arial"/>
                          <a:cs typeface="Arial"/>
                        </a:rPr>
                        <a:t>21</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55"/>
                        </a:spcBef>
                      </a:pPr>
                      <a:r>
                        <a:rPr sz="1800" spc="-5" dirty="0">
                          <a:latin typeface="Arial"/>
                          <a:cs typeface="Arial"/>
                        </a:rPr>
                        <a:t>Fatores de riscos</a:t>
                      </a:r>
                      <a:r>
                        <a:rPr sz="1800" dirty="0">
                          <a:latin typeface="Arial"/>
                          <a:cs typeface="Arial"/>
                        </a:rPr>
                        <a:t> </a:t>
                      </a:r>
                      <a:r>
                        <a:rPr sz="1800" spc="-5" dirty="0">
                          <a:latin typeface="Arial"/>
                          <a:cs typeface="Arial"/>
                        </a:rPr>
                        <a:t>ambientais</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5"/>
                  </a:ext>
                </a:extLst>
              </a:tr>
              <a:tr h="789305">
                <a:tc>
                  <a:txBody>
                    <a:bodyPr/>
                    <a:lstStyle/>
                    <a:p>
                      <a:pPr marL="12065" algn="ctr">
                        <a:lnSpc>
                          <a:spcPct val="100000"/>
                        </a:lnSpc>
                        <a:spcBef>
                          <a:spcPts val="855"/>
                        </a:spcBef>
                      </a:pPr>
                      <a:r>
                        <a:rPr sz="1800" spc="-40" dirty="0">
                          <a:latin typeface="Arial"/>
                          <a:cs typeface="Arial"/>
                        </a:rPr>
                        <a:t>Tabela</a:t>
                      </a:r>
                      <a:r>
                        <a:rPr sz="1800" spc="-25" dirty="0">
                          <a:latin typeface="Arial"/>
                          <a:cs typeface="Arial"/>
                        </a:rPr>
                        <a:t> </a:t>
                      </a:r>
                      <a:r>
                        <a:rPr sz="1800" dirty="0">
                          <a:latin typeface="Arial"/>
                          <a:cs typeface="Arial"/>
                        </a:rPr>
                        <a:t>22</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55"/>
                        </a:spcBef>
                      </a:pPr>
                      <a:r>
                        <a:rPr sz="1800" spc="-5" dirty="0">
                          <a:latin typeface="Arial"/>
                          <a:cs typeface="Arial"/>
                        </a:rPr>
                        <a:t>Fator </a:t>
                      </a:r>
                      <a:r>
                        <a:rPr sz="1800" dirty="0">
                          <a:latin typeface="Arial"/>
                          <a:cs typeface="Arial"/>
                        </a:rPr>
                        <a:t>de risco </a:t>
                      </a:r>
                      <a:r>
                        <a:rPr sz="1800" spc="-5" dirty="0">
                          <a:latin typeface="Arial"/>
                          <a:cs typeface="Arial"/>
                        </a:rPr>
                        <a:t>para</a:t>
                      </a:r>
                      <a:r>
                        <a:rPr sz="1800" spc="-20" dirty="0">
                          <a:latin typeface="Arial"/>
                          <a:cs typeface="Arial"/>
                        </a:rPr>
                        <a:t> </a:t>
                      </a:r>
                      <a:r>
                        <a:rPr sz="1800" spc="-5" dirty="0">
                          <a:latin typeface="Arial"/>
                          <a:cs typeface="Arial"/>
                        </a:rPr>
                        <a:t>insalubridade/periculosidade/</a:t>
                      </a:r>
                      <a:endParaRPr sz="1800">
                        <a:latin typeface="Arial"/>
                        <a:cs typeface="Arial"/>
                      </a:endParaRPr>
                    </a:p>
                    <a:p>
                      <a:pPr marL="78105">
                        <a:lnSpc>
                          <a:spcPct val="100000"/>
                        </a:lnSpc>
                        <a:spcBef>
                          <a:spcPts val="240"/>
                        </a:spcBef>
                      </a:pPr>
                      <a:r>
                        <a:rPr sz="1800" spc="-5" dirty="0">
                          <a:latin typeface="Arial"/>
                          <a:cs typeface="Arial"/>
                        </a:rPr>
                        <a:t>penosidade </a:t>
                      </a:r>
                      <a:r>
                        <a:rPr sz="1800" dirty="0">
                          <a:latin typeface="Arial"/>
                          <a:cs typeface="Arial"/>
                        </a:rPr>
                        <a:t>–</a:t>
                      </a:r>
                      <a:r>
                        <a:rPr sz="1800" spc="30" dirty="0">
                          <a:latin typeface="Arial"/>
                          <a:cs typeface="Arial"/>
                        </a:rPr>
                        <a:t> </a:t>
                      </a:r>
                      <a:r>
                        <a:rPr sz="1800" dirty="0">
                          <a:latin typeface="Arial"/>
                          <a:cs typeface="Arial"/>
                        </a:rPr>
                        <a:t>MTE</a:t>
                      </a:r>
                      <a:endParaRPr sz="1800">
                        <a:latin typeface="Arial"/>
                        <a:cs typeface="Arial"/>
                      </a:endParaRPr>
                    </a:p>
                  </a:txBody>
                  <a:tcPr marL="0" marR="0" marT="10858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6"/>
                  </a:ext>
                </a:extLst>
              </a:tr>
              <a:tr h="503555">
                <a:tc>
                  <a:txBody>
                    <a:bodyPr/>
                    <a:lstStyle/>
                    <a:p>
                      <a:pPr marL="11430" algn="ctr">
                        <a:lnSpc>
                          <a:spcPct val="100000"/>
                        </a:lnSpc>
                        <a:spcBef>
                          <a:spcPts val="860"/>
                        </a:spcBef>
                      </a:pPr>
                      <a:r>
                        <a:rPr sz="1800" spc="-40" dirty="0">
                          <a:latin typeface="Arial"/>
                          <a:cs typeface="Arial"/>
                        </a:rPr>
                        <a:t>Tabela</a:t>
                      </a:r>
                      <a:r>
                        <a:rPr sz="1800" spc="-15" dirty="0">
                          <a:latin typeface="Arial"/>
                          <a:cs typeface="Arial"/>
                        </a:rPr>
                        <a:t> </a:t>
                      </a:r>
                      <a:r>
                        <a:rPr sz="1800" spc="-10" dirty="0">
                          <a:latin typeface="Arial"/>
                          <a:cs typeface="Arial"/>
                        </a:rPr>
                        <a:t>23</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60"/>
                        </a:spcBef>
                      </a:pPr>
                      <a:r>
                        <a:rPr sz="1800" spc="-5" dirty="0">
                          <a:latin typeface="Arial"/>
                          <a:cs typeface="Arial"/>
                        </a:rPr>
                        <a:t>Aposentadoria especial</a:t>
                      </a:r>
                      <a:r>
                        <a:rPr sz="1800" spc="30" dirty="0">
                          <a:latin typeface="Arial"/>
                          <a:cs typeface="Arial"/>
                        </a:rPr>
                        <a:t> </a:t>
                      </a:r>
                      <a:r>
                        <a:rPr sz="1800" dirty="0">
                          <a:latin typeface="Arial"/>
                          <a:cs typeface="Arial"/>
                        </a:rPr>
                        <a:t>INSS</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7"/>
                  </a:ext>
                </a:extLst>
              </a:tr>
              <a:tr h="484505">
                <a:tc>
                  <a:txBody>
                    <a:bodyPr/>
                    <a:lstStyle/>
                    <a:p>
                      <a:pPr marL="11430" algn="ctr">
                        <a:lnSpc>
                          <a:spcPct val="100000"/>
                        </a:lnSpc>
                        <a:spcBef>
                          <a:spcPts val="860"/>
                        </a:spcBef>
                      </a:pPr>
                      <a:r>
                        <a:rPr sz="1800" spc="-40" dirty="0">
                          <a:latin typeface="Arial"/>
                          <a:cs typeface="Arial"/>
                        </a:rPr>
                        <a:t>Tabela</a:t>
                      </a:r>
                      <a:r>
                        <a:rPr sz="1800" spc="-15" dirty="0">
                          <a:latin typeface="Arial"/>
                          <a:cs typeface="Arial"/>
                        </a:rPr>
                        <a:t> </a:t>
                      </a:r>
                      <a:r>
                        <a:rPr sz="1800" spc="-10" dirty="0">
                          <a:latin typeface="Arial"/>
                          <a:cs typeface="Arial"/>
                        </a:rPr>
                        <a:t>24</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78105">
                        <a:lnSpc>
                          <a:spcPct val="100000"/>
                        </a:lnSpc>
                        <a:spcBef>
                          <a:spcPts val="860"/>
                        </a:spcBef>
                      </a:pPr>
                      <a:r>
                        <a:rPr sz="1800" spc="-5" dirty="0">
                          <a:latin typeface="Arial"/>
                          <a:cs typeface="Arial"/>
                        </a:rPr>
                        <a:t>Compatibilidade entre </a:t>
                      </a:r>
                      <a:r>
                        <a:rPr sz="1800" spc="-35" dirty="0">
                          <a:latin typeface="Arial"/>
                          <a:cs typeface="Arial"/>
                        </a:rPr>
                        <a:t>FPAS </a:t>
                      </a:r>
                      <a:r>
                        <a:rPr sz="1800" spc="-5" dirty="0">
                          <a:latin typeface="Arial"/>
                          <a:cs typeface="Arial"/>
                        </a:rPr>
                        <a:t>e classificação</a:t>
                      </a:r>
                      <a:r>
                        <a:rPr sz="1800" spc="100" dirty="0">
                          <a:latin typeface="Arial"/>
                          <a:cs typeface="Arial"/>
                        </a:rPr>
                        <a:t> </a:t>
                      </a:r>
                      <a:r>
                        <a:rPr sz="1800" spc="-5" dirty="0">
                          <a:latin typeface="Arial"/>
                          <a:cs typeface="Arial"/>
                        </a:rPr>
                        <a:t>tributária</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8"/>
                  </a:ext>
                </a:extLst>
              </a:tr>
              <a:tr h="484505">
                <a:tc>
                  <a:txBody>
                    <a:bodyPr/>
                    <a:lstStyle/>
                    <a:p>
                      <a:pPr marL="10795" algn="ctr">
                        <a:lnSpc>
                          <a:spcPct val="100000"/>
                        </a:lnSpc>
                        <a:spcBef>
                          <a:spcPts val="860"/>
                        </a:spcBef>
                      </a:pPr>
                      <a:r>
                        <a:rPr sz="1800" spc="-40" dirty="0">
                          <a:latin typeface="Arial"/>
                          <a:cs typeface="Arial"/>
                        </a:rPr>
                        <a:t>Tabela</a:t>
                      </a:r>
                      <a:r>
                        <a:rPr sz="1800" spc="-25" dirty="0">
                          <a:latin typeface="Arial"/>
                          <a:cs typeface="Arial"/>
                        </a:rPr>
                        <a:t> </a:t>
                      </a:r>
                      <a:r>
                        <a:rPr sz="1800" spc="-10" dirty="0">
                          <a:latin typeface="Arial"/>
                          <a:cs typeface="Arial"/>
                        </a:rPr>
                        <a:t>25</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78105">
                        <a:lnSpc>
                          <a:spcPct val="100000"/>
                        </a:lnSpc>
                        <a:spcBef>
                          <a:spcPts val="860"/>
                        </a:spcBef>
                      </a:pPr>
                      <a:r>
                        <a:rPr sz="1800" spc="-5" dirty="0">
                          <a:latin typeface="Arial"/>
                          <a:cs typeface="Arial"/>
                        </a:rPr>
                        <a:t>Natureza</a:t>
                      </a:r>
                      <a:r>
                        <a:rPr sz="1800" dirty="0">
                          <a:latin typeface="Arial"/>
                          <a:cs typeface="Arial"/>
                        </a:rPr>
                        <a:t> </a:t>
                      </a:r>
                      <a:r>
                        <a:rPr sz="1800" spc="-5" dirty="0">
                          <a:latin typeface="Arial"/>
                          <a:cs typeface="Arial"/>
                        </a:rPr>
                        <a:t>jurídica</a:t>
                      </a:r>
                      <a:endParaRPr sz="1800">
                        <a:latin typeface="Arial"/>
                        <a:cs typeface="Arial"/>
                      </a:endParaRPr>
                    </a:p>
                  </a:txBody>
                  <a:tcPr marL="0" marR="0" marT="10922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9"/>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859315" y="1344057"/>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853806" y="1861849"/>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Direita 6"/>
          <p:cNvSpPr/>
          <p:nvPr/>
        </p:nvSpPr>
        <p:spPr>
          <a:xfrm>
            <a:off x="853806" y="3405375"/>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Direita 7"/>
          <p:cNvSpPr/>
          <p:nvPr/>
        </p:nvSpPr>
        <p:spPr>
          <a:xfrm>
            <a:off x="809737" y="4098273"/>
            <a:ext cx="1090670" cy="286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625366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a:t>
            </a:r>
            <a:r>
              <a:rPr lang="pt-BR" b="1" dirty="0" smtClean="0"/>
              <a:t>Responsabilidades de SST</a:t>
            </a:r>
            <a:endParaRPr lang="pt-BR" b="1" dirty="0"/>
          </a:p>
        </p:txBody>
      </p:sp>
      <p:sp>
        <p:nvSpPr>
          <p:cNvPr id="3" name="Espaço Reservado para Conteúdo 2"/>
          <p:cNvSpPr>
            <a:spLocks noGrp="1"/>
          </p:cNvSpPr>
          <p:nvPr>
            <p:ph idx="1"/>
          </p:nvPr>
        </p:nvSpPr>
        <p:spPr/>
        <p:txBody>
          <a:bodyPr/>
          <a:lstStyle/>
          <a:p>
            <a:r>
              <a:rPr lang="pt-BR" spc="-5" dirty="0">
                <a:latin typeface="Arial"/>
                <a:cs typeface="Arial"/>
              </a:rPr>
              <a:t>Os profissionais do Serviço Especializado em Engenharia de  Segurança e em Medicina do </a:t>
            </a:r>
            <a:r>
              <a:rPr lang="pt-BR" spc="-15" dirty="0">
                <a:latin typeface="Arial"/>
                <a:cs typeface="Arial"/>
              </a:rPr>
              <a:t>Trabalho </a:t>
            </a:r>
            <a:r>
              <a:rPr lang="pt-BR" dirty="0">
                <a:latin typeface="Arial"/>
                <a:cs typeface="Arial"/>
              </a:rPr>
              <a:t>(SESMT), </a:t>
            </a:r>
            <a:r>
              <a:rPr lang="pt-BR" spc="-5" dirty="0">
                <a:latin typeface="Arial"/>
                <a:cs typeface="Arial"/>
              </a:rPr>
              <a:t>cuja </a:t>
            </a:r>
            <a:r>
              <a:rPr lang="pt-BR" spc="-10" dirty="0">
                <a:latin typeface="Arial"/>
                <a:cs typeface="Arial"/>
              </a:rPr>
              <a:t>função  </a:t>
            </a:r>
            <a:r>
              <a:rPr lang="pt-BR" spc="-5" dirty="0">
                <a:latin typeface="Arial"/>
                <a:cs typeface="Arial"/>
              </a:rPr>
              <a:t>é monitorar e zelar pela integridade </a:t>
            </a:r>
            <a:r>
              <a:rPr lang="pt-BR" dirty="0">
                <a:latin typeface="Arial"/>
                <a:cs typeface="Arial"/>
              </a:rPr>
              <a:t>física </a:t>
            </a:r>
            <a:r>
              <a:rPr lang="pt-BR" spc="-5" dirty="0">
                <a:latin typeface="Arial"/>
                <a:cs typeface="Arial"/>
              </a:rPr>
              <a:t>dos </a:t>
            </a:r>
            <a:r>
              <a:rPr lang="pt-BR" dirty="0">
                <a:latin typeface="Arial"/>
                <a:cs typeface="Arial"/>
              </a:rPr>
              <a:t>empregados,  </a:t>
            </a:r>
            <a:r>
              <a:rPr lang="pt-BR" spc="-5" dirty="0">
                <a:latin typeface="Arial"/>
                <a:cs typeface="Arial"/>
              </a:rPr>
              <a:t>deverão conhecer e dominar de maneira adequada os  seguintes </a:t>
            </a:r>
            <a:r>
              <a:rPr lang="pt-BR" b="1" spc="-5" dirty="0">
                <a:latin typeface="Arial"/>
                <a:cs typeface="Arial"/>
              </a:rPr>
              <a:t>eventos e </a:t>
            </a:r>
            <a:r>
              <a:rPr lang="pt-BR" b="1" dirty="0">
                <a:latin typeface="Arial"/>
                <a:cs typeface="Arial"/>
              </a:rPr>
              <a:t>tabelas </a:t>
            </a:r>
            <a:r>
              <a:rPr lang="pt-BR" spc="-5" dirty="0">
                <a:latin typeface="Arial"/>
                <a:cs typeface="Arial"/>
              </a:rPr>
              <a:t>do Manual de Orientação do  </a:t>
            </a:r>
            <a:r>
              <a:rPr lang="pt-BR" spc="-5" dirty="0" err="1">
                <a:latin typeface="Arial"/>
                <a:cs typeface="Arial"/>
              </a:rPr>
              <a:t>eSocial</a:t>
            </a:r>
            <a:r>
              <a:rPr lang="pt-BR" spc="-5" dirty="0">
                <a:latin typeface="Arial"/>
                <a:cs typeface="Arial"/>
              </a:rPr>
              <a:t>:</a:t>
            </a:r>
            <a:endParaRPr lang="pt-BR" dirty="0">
              <a:latin typeface="Arial"/>
              <a:cs typeface="Arial"/>
            </a:endParaRPr>
          </a:p>
          <a:p>
            <a:endParaRPr lang="pt-BR" dirty="0"/>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4053" y="3415229"/>
            <a:ext cx="7315199" cy="2930487"/>
          </a:xfrm>
          <a:prstGeom prst="rect">
            <a:avLst/>
          </a:prstGeom>
        </p:spPr>
      </p:pic>
      <p:sp>
        <p:nvSpPr>
          <p:cNvPr id="5" name="Seta para a Direita 4"/>
          <p:cNvSpPr/>
          <p:nvPr/>
        </p:nvSpPr>
        <p:spPr>
          <a:xfrm rot="896468">
            <a:off x="1729647" y="3295960"/>
            <a:ext cx="980502" cy="34152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rot="10174181">
            <a:off x="9332065" y="4871769"/>
            <a:ext cx="980502" cy="34152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13362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25801" y="596646"/>
            <a:ext cx="7726680" cy="4956175"/>
          </a:xfrm>
          <a:custGeom>
            <a:avLst/>
            <a:gdLst/>
            <a:ahLst/>
            <a:cxnLst/>
            <a:rect l="l" t="t" r="r" b="b"/>
            <a:pathLst>
              <a:path w="7726680" h="4956175">
                <a:moveTo>
                  <a:pt x="0" y="4956048"/>
                </a:moveTo>
                <a:lnTo>
                  <a:pt x="7726680" y="4956048"/>
                </a:lnTo>
                <a:lnTo>
                  <a:pt x="7726680" y="0"/>
                </a:lnTo>
                <a:lnTo>
                  <a:pt x="0" y="0"/>
                </a:lnTo>
                <a:lnTo>
                  <a:pt x="0" y="4956048"/>
                </a:lnTo>
                <a:close/>
              </a:path>
            </a:pathLst>
          </a:custGeom>
          <a:solidFill>
            <a:srgbClr val="FFFFFF"/>
          </a:solidFill>
        </p:spPr>
        <p:txBody>
          <a:bodyPr wrap="square" lIns="0" tIns="0" rIns="0" bIns="0" rtlCol="0"/>
          <a:lstStyle/>
          <a:p>
            <a:endParaRPr/>
          </a:p>
        </p:txBody>
      </p:sp>
      <p:sp>
        <p:nvSpPr>
          <p:cNvPr id="3" name="object 3"/>
          <p:cNvSpPr/>
          <p:nvPr/>
        </p:nvSpPr>
        <p:spPr>
          <a:xfrm>
            <a:off x="2225801" y="596646"/>
            <a:ext cx="7726680" cy="4956175"/>
          </a:xfrm>
          <a:custGeom>
            <a:avLst/>
            <a:gdLst/>
            <a:ahLst/>
            <a:cxnLst/>
            <a:rect l="l" t="t" r="r" b="b"/>
            <a:pathLst>
              <a:path w="7726680" h="4956175">
                <a:moveTo>
                  <a:pt x="0" y="4956048"/>
                </a:moveTo>
                <a:lnTo>
                  <a:pt x="7726680" y="4956048"/>
                </a:lnTo>
                <a:lnTo>
                  <a:pt x="7726680" y="0"/>
                </a:lnTo>
                <a:lnTo>
                  <a:pt x="0" y="0"/>
                </a:lnTo>
                <a:lnTo>
                  <a:pt x="0" y="4956048"/>
                </a:lnTo>
                <a:close/>
              </a:path>
            </a:pathLst>
          </a:custGeom>
          <a:ln w="25908">
            <a:solidFill>
              <a:srgbClr val="ABB8C3"/>
            </a:solidFill>
          </a:ln>
        </p:spPr>
        <p:txBody>
          <a:bodyPr wrap="square" lIns="0" tIns="0" rIns="0" bIns="0" rtlCol="0"/>
          <a:lstStyle/>
          <a:p>
            <a:endParaRPr/>
          </a:p>
        </p:txBody>
      </p:sp>
      <p:sp>
        <p:nvSpPr>
          <p:cNvPr id="4" name="object 4"/>
          <p:cNvSpPr txBox="1">
            <a:spLocks noGrp="1"/>
          </p:cNvSpPr>
          <p:nvPr>
            <p:ph type="title"/>
          </p:nvPr>
        </p:nvSpPr>
        <p:spPr>
          <a:xfrm>
            <a:off x="2356815" y="676098"/>
            <a:ext cx="2778760" cy="422909"/>
          </a:xfrm>
          <a:prstGeom prst="rect">
            <a:avLst/>
          </a:prstGeom>
        </p:spPr>
        <p:txBody>
          <a:bodyPr vert="horz" wrap="square" lIns="0" tIns="13335" rIns="0" bIns="0" rtlCol="0" anchor="ctr">
            <a:spAutoFit/>
          </a:bodyPr>
          <a:lstStyle/>
          <a:p>
            <a:pPr marL="12700">
              <a:lnSpc>
                <a:spcPct val="100000"/>
              </a:lnSpc>
              <a:spcBef>
                <a:spcPts val="105"/>
              </a:spcBef>
            </a:pPr>
            <a:r>
              <a:rPr sz="2600" dirty="0"/>
              <a:t>Eventos</a:t>
            </a:r>
            <a:r>
              <a:rPr sz="2600" spc="-55" dirty="0"/>
              <a:t> </a:t>
            </a:r>
            <a:r>
              <a:rPr sz="2600" spc="-5" dirty="0"/>
              <a:t>(layouts)</a:t>
            </a:r>
            <a:endParaRPr sz="2600"/>
          </a:p>
        </p:txBody>
      </p:sp>
      <p:sp>
        <p:nvSpPr>
          <p:cNvPr id="5" name="object 5"/>
          <p:cNvSpPr/>
          <p:nvPr/>
        </p:nvSpPr>
        <p:spPr>
          <a:xfrm>
            <a:off x="2224277" y="5552694"/>
            <a:ext cx="1583690" cy="386080"/>
          </a:xfrm>
          <a:custGeom>
            <a:avLst/>
            <a:gdLst/>
            <a:ahLst/>
            <a:cxnLst/>
            <a:rect l="l" t="t" r="r" b="b"/>
            <a:pathLst>
              <a:path w="1583689" h="386079">
                <a:moveTo>
                  <a:pt x="0" y="385571"/>
                </a:moveTo>
                <a:lnTo>
                  <a:pt x="1583436" y="385571"/>
                </a:lnTo>
                <a:lnTo>
                  <a:pt x="1583436" y="0"/>
                </a:lnTo>
                <a:lnTo>
                  <a:pt x="0" y="0"/>
                </a:lnTo>
                <a:lnTo>
                  <a:pt x="0" y="385571"/>
                </a:lnTo>
                <a:close/>
              </a:path>
            </a:pathLst>
          </a:custGeom>
          <a:solidFill>
            <a:srgbClr val="FFFFFF"/>
          </a:solidFill>
        </p:spPr>
        <p:txBody>
          <a:bodyPr wrap="square" lIns="0" tIns="0" rIns="0" bIns="0" rtlCol="0"/>
          <a:lstStyle/>
          <a:p>
            <a:endParaRPr/>
          </a:p>
        </p:txBody>
      </p:sp>
      <p:sp>
        <p:nvSpPr>
          <p:cNvPr id="6" name="object 6"/>
          <p:cNvSpPr/>
          <p:nvPr/>
        </p:nvSpPr>
        <p:spPr>
          <a:xfrm>
            <a:off x="2224277" y="5552694"/>
            <a:ext cx="1583690" cy="386080"/>
          </a:xfrm>
          <a:custGeom>
            <a:avLst/>
            <a:gdLst/>
            <a:ahLst/>
            <a:cxnLst/>
            <a:rect l="l" t="t" r="r" b="b"/>
            <a:pathLst>
              <a:path w="1583689" h="386079">
                <a:moveTo>
                  <a:pt x="0" y="385571"/>
                </a:moveTo>
                <a:lnTo>
                  <a:pt x="1583436" y="385571"/>
                </a:lnTo>
                <a:lnTo>
                  <a:pt x="1583436" y="0"/>
                </a:lnTo>
                <a:lnTo>
                  <a:pt x="0" y="0"/>
                </a:lnTo>
                <a:lnTo>
                  <a:pt x="0" y="385571"/>
                </a:lnTo>
                <a:close/>
              </a:path>
            </a:pathLst>
          </a:custGeom>
          <a:ln w="25908">
            <a:solidFill>
              <a:srgbClr val="ABB8C3"/>
            </a:solidFill>
          </a:ln>
        </p:spPr>
        <p:txBody>
          <a:bodyPr wrap="square" lIns="0" tIns="0" rIns="0" bIns="0" rtlCol="0"/>
          <a:lstStyle/>
          <a:p>
            <a:endParaRPr/>
          </a:p>
        </p:txBody>
      </p:sp>
      <p:sp>
        <p:nvSpPr>
          <p:cNvPr id="7" name="object 7"/>
          <p:cNvSpPr txBox="1"/>
          <p:nvPr/>
        </p:nvSpPr>
        <p:spPr>
          <a:xfrm>
            <a:off x="2302560" y="1271753"/>
            <a:ext cx="7519034" cy="4623435"/>
          </a:xfrm>
          <a:prstGeom prst="rect">
            <a:avLst/>
          </a:prstGeom>
        </p:spPr>
        <p:txBody>
          <a:bodyPr vert="horz" wrap="square" lIns="0" tIns="12700" rIns="0" bIns="0" rtlCol="0">
            <a:spAutoFit/>
          </a:bodyPr>
          <a:lstStyle/>
          <a:p>
            <a:pPr marL="353060" marR="5080" indent="-286385">
              <a:lnSpc>
                <a:spcPct val="117000"/>
              </a:lnSpc>
              <a:spcBef>
                <a:spcPts val="100"/>
              </a:spcBef>
              <a:buClr>
                <a:srgbClr val="ABB8C3"/>
              </a:buClr>
              <a:buFont typeface="Wingdings"/>
              <a:buChar char=""/>
              <a:tabLst>
                <a:tab pos="353695" algn="l"/>
                <a:tab pos="1379220" algn="l"/>
                <a:tab pos="2266315" algn="l"/>
                <a:tab pos="2685415" algn="l"/>
                <a:tab pos="4796790" algn="l"/>
                <a:tab pos="5075555" algn="l"/>
                <a:tab pos="5846445" algn="l"/>
                <a:tab pos="6264275" algn="l"/>
              </a:tabLst>
            </a:pPr>
            <a:r>
              <a:rPr sz="2000" spc="-5" dirty="0">
                <a:latin typeface="Arial"/>
                <a:cs typeface="Arial"/>
              </a:rPr>
              <a:t>S</a:t>
            </a:r>
            <a:r>
              <a:rPr sz="2000" dirty="0">
                <a:latin typeface="Arial"/>
                <a:cs typeface="Arial"/>
              </a:rPr>
              <a:t>-10</a:t>
            </a:r>
            <a:r>
              <a:rPr sz="2000" spc="-10" dirty="0">
                <a:latin typeface="Arial"/>
                <a:cs typeface="Arial"/>
              </a:rPr>
              <a:t>0</a:t>
            </a:r>
            <a:r>
              <a:rPr sz="2000" dirty="0">
                <a:latin typeface="Arial"/>
                <a:cs typeface="Arial"/>
              </a:rPr>
              <a:t>5:	</a:t>
            </a:r>
            <a:r>
              <a:rPr sz="2000" spc="-220" dirty="0">
                <a:latin typeface="Arial"/>
                <a:cs typeface="Arial"/>
              </a:rPr>
              <a:t>T</a:t>
            </a:r>
            <a:r>
              <a:rPr sz="2000" dirty="0">
                <a:latin typeface="Arial"/>
                <a:cs typeface="Arial"/>
              </a:rPr>
              <a:t>a</a:t>
            </a:r>
            <a:r>
              <a:rPr sz="2000" spc="-10" dirty="0">
                <a:latin typeface="Arial"/>
                <a:cs typeface="Arial"/>
              </a:rPr>
              <a:t>b</a:t>
            </a:r>
            <a:r>
              <a:rPr sz="2000" dirty="0">
                <a:latin typeface="Arial"/>
                <a:cs typeface="Arial"/>
              </a:rPr>
              <a:t>ela	de	</a:t>
            </a:r>
            <a:r>
              <a:rPr sz="2000" spc="-10" dirty="0">
                <a:latin typeface="Arial"/>
                <a:cs typeface="Arial"/>
              </a:rPr>
              <a:t>e</a:t>
            </a:r>
            <a:r>
              <a:rPr sz="2000" dirty="0">
                <a:latin typeface="Arial"/>
                <a:cs typeface="Arial"/>
              </a:rPr>
              <a:t>st</a:t>
            </a:r>
            <a:r>
              <a:rPr sz="2000" spc="-10" dirty="0">
                <a:latin typeface="Arial"/>
                <a:cs typeface="Arial"/>
              </a:rPr>
              <a:t>ab</a:t>
            </a:r>
            <a:r>
              <a:rPr sz="2000" dirty="0">
                <a:latin typeface="Arial"/>
                <a:cs typeface="Arial"/>
              </a:rPr>
              <a:t>ele</a:t>
            </a:r>
            <a:r>
              <a:rPr sz="2000" spc="5" dirty="0">
                <a:latin typeface="Arial"/>
                <a:cs typeface="Arial"/>
              </a:rPr>
              <a:t>c</a:t>
            </a:r>
            <a:r>
              <a:rPr sz="2000" dirty="0">
                <a:latin typeface="Arial"/>
                <a:cs typeface="Arial"/>
              </a:rPr>
              <a:t>imen</a:t>
            </a:r>
            <a:r>
              <a:rPr sz="2000" spc="-20" dirty="0">
                <a:latin typeface="Arial"/>
                <a:cs typeface="Arial"/>
              </a:rPr>
              <a:t>t</a:t>
            </a:r>
            <a:r>
              <a:rPr sz="2000" dirty="0">
                <a:latin typeface="Arial"/>
                <a:cs typeface="Arial"/>
              </a:rPr>
              <a:t>os	e	</a:t>
            </a:r>
            <a:r>
              <a:rPr sz="2000" spc="-10" dirty="0">
                <a:latin typeface="Arial"/>
                <a:cs typeface="Arial"/>
              </a:rPr>
              <a:t>o</a:t>
            </a:r>
            <a:r>
              <a:rPr sz="2000" dirty="0">
                <a:latin typeface="Arial"/>
                <a:cs typeface="Arial"/>
              </a:rPr>
              <a:t>bras	de	c</a:t>
            </a:r>
            <a:r>
              <a:rPr sz="2000" spc="5" dirty="0">
                <a:latin typeface="Arial"/>
                <a:cs typeface="Arial"/>
              </a:rPr>
              <a:t>o</a:t>
            </a:r>
            <a:r>
              <a:rPr sz="2000" spc="-10" dirty="0">
                <a:latin typeface="Arial"/>
                <a:cs typeface="Arial"/>
              </a:rPr>
              <a:t>n</a:t>
            </a:r>
            <a:r>
              <a:rPr sz="2000" dirty="0">
                <a:latin typeface="Arial"/>
                <a:cs typeface="Arial"/>
              </a:rPr>
              <a:t>s</a:t>
            </a:r>
            <a:r>
              <a:rPr sz="2000" spc="-15" dirty="0">
                <a:latin typeface="Arial"/>
                <a:cs typeface="Arial"/>
              </a:rPr>
              <a:t>t</a:t>
            </a:r>
            <a:r>
              <a:rPr sz="2000" dirty="0">
                <a:latin typeface="Arial"/>
                <a:cs typeface="Arial"/>
              </a:rPr>
              <a:t>ruç</a:t>
            </a:r>
            <a:r>
              <a:rPr sz="2000" spc="-10" dirty="0">
                <a:latin typeface="Arial"/>
                <a:cs typeface="Arial"/>
              </a:rPr>
              <a:t>ã</a:t>
            </a:r>
            <a:r>
              <a:rPr sz="2000" dirty="0">
                <a:latin typeface="Arial"/>
                <a:cs typeface="Arial"/>
              </a:rPr>
              <a:t>o  civil</a:t>
            </a:r>
            <a:endParaRPr sz="2000">
              <a:latin typeface="Arial"/>
              <a:cs typeface="Arial"/>
            </a:endParaRPr>
          </a:p>
          <a:p>
            <a:pPr marL="353060" indent="-286385">
              <a:spcBef>
                <a:spcPts val="994"/>
              </a:spcBef>
              <a:buClr>
                <a:srgbClr val="ABB8C3"/>
              </a:buClr>
              <a:buFont typeface="Wingdings"/>
              <a:buChar char=""/>
              <a:tabLst>
                <a:tab pos="353695" algn="l"/>
              </a:tabLst>
            </a:pPr>
            <a:r>
              <a:rPr sz="2000" dirty="0">
                <a:latin typeface="Arial"/>
                <a:cs typeface="Arial"/>
              </a:rPr>
              <a:t>S-1080: </a:t>
            </a:r>
            <a:r>
              <a:rPr sz="2000" spc="-30" dirty="0">
                <a:latin typeface="Arial"/>
                <a:cs typeface="Arial"/>
              </a:rPr>
              <a:t>Tabelas </a:t>
            </a:r>
            <a:r>
              <a:rPr sz="2000" dirty="0">
                <a:latin typeface="Arial"/>
                <a:cs typeface="Arial"/>
              </a:rPr>
              <a:t>de operadores</a:t>
            </a:r>
            <a:r>
              <a:rPr sz="2000" spc="-120" dirty="0">
                <a:latin typeface="Arial"/>
                <a:cs typeface="Arial"/>
              </a:rPr>
              <a:t> </a:t>
            </a:r>
            <a:r>
              <a:rPr sz="2000" dirty="0">
                <a:latin typeface="Arial"/>
                <a:cs typeface="Arial"/>
              </a:rPr>
              <a:t>portuários</a:t>
            </a:r>
            <a:endParaRPr sz="2000">
              <a:latin typeface="Arial"/>
              <a:cs typeface="Arial"/>
            </a:endParaRPr>
          </a:p>
          <a:p>
            <a:pPr marL="353060" indent="-286385">
              <a:spcBef>
                <a:spcPts val="994"/>
              </a:spcBef>
              <a:buClr>
                <a:srgbClr val="ABB8C3"/>
              </a:buClr>
              <a:buFont typeface="Wingdings"/>
              <a:buChar char=""/>
              <a:tabLst>
                <a:tab pos="353695" algn="l"/>
              </a:tabLst>
            </a:pPr>
            <a:r>
              <a:rPr sz="2000" dirty="0">
                <a:latin typeface="Arial"/>
                <a:cs typeface="Arial"/>
              </a:rPr>
              <a:t>S-2200: Admissão do</a:t>
            </a:r>
            <a:r>
              <a:rPr sz="2000" spc="-185" dirty="0">
                <a:latin typeface="Arial"/>
                <a:cs typeface="Arial"/>
              </a:rPr>
              <a:t> </a:t>
            </a:r>
            <a:r>
              <a:rPr sz="2000" dirty="0">
                <a:latin typeface="Arial"/>
                <a:cs typeface="Arial"/>
              </a:rPr>
              <a:t>trabalhador</a:t>
            </a:r>
            <a:endParaRPr sz="2000">
              <a:latin typeface="Arial"/>
              <a:cs typeface="Arial"/>
            </a:endParaRPr>
          </a:p>
          <a:p>
            <a:pPr marL="353060" indent="-286385">
              <a:spcBef>
                <a:spcPts val="1010"/>
              </a:spcBef>
              <a:buClr>
                <a:srgbClr val="ABB8C3"/>
              </a:buClr>
              <a:buFont typeface="Wingdings"/>
              <a:buChar char=""/>
              <a:tabLst>
                <a:tab pos="353695" algn="l"/>
              </a:tabLst>
            </a:pPr>
            <a:r>
              <a:rPr sz="2000" dirty="0">
                <a:latin typeface="Arial"/>
                <a:cs typeface="Arial"/>
              </a:rPr>
              <a:t>S-2206: Alteração de contrato de</a:t>
            </a:r>
            <a:r>
              <a:rPr sz="2000" spc="-240" dirty="0">
                <a:latin typeface="Arial"/>
                <a:cs typeface="Arial"/>
              </a:rPr>
              <a:t> </a:t>
            </a:r>
            <a:r>
              <a:rPr sz="2000" dirty="0">
                <a:latin typeface="Arial"/>
                <a:cs typeface="Arial"/>
              </a:rPr>
              <a:t>trabalho</a:t>
            </a:r>
            <a:endParaRPr sz="2000">
              <a:latin typeface="Arial"/>
              <a:cs typeface="Arial"/>
            </a:endParaRPr>
          </a:p>
          <a:p>
            <a:pPr marL="353060" indent="-286385">
              <a:spcBef>
                <a:spcPts val="994"/>
              </a:spcBef>
              <a:buClr>
                <a:srgbClr val="ABB8C3"/>
              </a:buClr>
              <a:buFont typeface="Wingdings"/>
              <a:buChar char=""/>
              <a:tabLst>
                <a:tab pos="353695" algn="l"/>
              </a:tabLst>
            </a:pPr>
            <a:r>
              <a:rPr sz="2000" dirty="0">
                <a:latin typeface="Arial"/>
                <a:cs typeface="Arial"/>
              </a:rPr>
              <a:t>S-2210: Comunicação de acidente de</a:t>
            </a:r>
            <a:r>
              <a:rPr sz="2000" spc="-135" dirty="0">
                <a:latin typeface="Arial"/>
                <a:cs typeface="Arial"/>
              </a:rPr>
              <a:t> </a:t>
            </a:r>
            <a:r>
              <a:rPr sz="2000" dirty="0">
                <a:latin typeface="Arial"/>
                <a:cs typeface="Arial"/>
              </a:rPr>
              <a:t>trabalho</a:t>
            </a:r>
            <a:endParaRPr sz="2000">
              <a:latin typeface="Arial"/>
              <a:cs typeface="Arial"/>
            </a:endParaRPr>
          </a:p>
          <a:p>
            <a:pPr marL="353060" indent="-286385">
              <a:spcBef>
                <a:spcPts val="1000"/>
              </a:spcBef>
              <a:buClr>
                <a:srgbClr val="ABB8C3"/>
              </a:buClr>
              <a:buFont typeface="Wingdings"/>
              <a:buChar char=""/>
              <a:tabLst>
                <a:tab pos="353695" algn="l"/>
              </a:tabLst>
            </a:pPr>
            <a:r>
              <a:rPr sz="2000" dirty="0">
                <a:latin typeface="Arial"/>
                <a:cs typeface="Arial"/>
              </a:rPr>
              <a:t>S-2220: Monitoramento da saúde do</a:t>
            </a:r>
            <a:r>
              <a:rPr sz="2000" spc="-135" dirty="0">
                <a:latin typeface="Arial"/>
                <a:cs typeface="Arial"/>
              </a:rPr>
              <a:t> </a:t>
            </a:r>
            <a:r>
              <a:rPr sz="2000" dirty="0">
                <a:latin typeface="Arial"/>
                <a:cs typeface="Arial"/>
              </a:rPr>
              <a:t>trabalhador</a:t>
            </a:r>
            <a:endParaRPr sz="2000">
              <a:latin typeface="Arial"/>
              <a:cs typeface="Arial"/>
            </a:endParaRPr>
          </a:p>
          <a:p>
            <a:pPr marL="353060" indent="-286385">
              <a:spcBef>
                <a:spcPts val="1010"/>
              </a:spcBef>
              <a:buClr>
                <a:srgbClr val="ABB8C3"/>
              </a:buClr>
              <a:buFont typeface="Wingdings"/>
              <a:buChar char=""/>
              <a:tabLst>
                <a:tab pos="353695" algn="l"/>
              </a:tabLst>
            </a:pPr>
            <a:r>
              <a:rPr sz="2000" dirty="0">
                <a:latin typeface="Arial"/>
                <a:cs typeface="Arial"/>
              </a:rPr>
              <a:t>S-2230: Afastamento</a:t>
            </a:r>
            <a:r>
              <a:rPr sz="2000" spc="-185" dirty="0">
                <a:latin typeface="Arial"/>
                <a:cs typeface="Arial"/>
              </a:rPr>
              <a:t> </a:t>
            </a:r>
            <a:r>
              <a:rPr sz="2000" dirty="0">
                <a:latin typeface="Arial"/>
                <a:cs typeface="Arial"/>
              </a:rPr>
              <a:t>temporário</a:t>
            </a:r>
            <a:endParaRPr sz="2000">
              <a:latin typeface="Arial"/>
              <a:cs typeface="Arial"/>
            </a:endParaRPr>
          </a:p>
          <a:p>
            <a:pPr marL="353060" indent="-286385">
              <a:spcBef>
                <a:spcPts val="994"/>
              </a:spcBef>
              <a:buClr>
                <a:srgbClr val="ABB8C3"/>
              </a:buClr>
              <a:buFont typeface="Wingdings"/>
              <a:buChar char=""/>
              <a:tabLst>
                <a:tab pos="353695" algn="l"/>
              </a:tabLst>
            </a:pPr>
            <a:r>
              <a:rPr sz="2000" dirty="0">
                <a:latin typeface="Arial"/>
                <a:cs typeface="Arial"/>
              </a:rPr>
              <a:t>S-2240: Condições ambientais do trabalho – fatores de</a:t>
            </a:r>
            <a:r>
              <a:rPr sz="2000" spc="-170" dirty="0">
                <a:latin typeface="Arial"/>
                <a:cs typeface="Arial"/>
              </a:rPr>
              <a:t> </a:t>
            </a:r>
            <a:r>
              <a:rPr sz="2000" dirty="0">
                <a:latin typeface="Arial"/>
                <a:cs typeface="Arial"/>
              </a:rPr>
              <a:t>risco</a:t>
            </a:r>
            <a:endParaRPr sz="2000">
              <a:latin typeface="Arial"/>
              <a:cs typeface="Arial"/>
            </a:endParaRPr>
          </a:p>
          <a:p>
            <a:pPr marL="353060" indent="-286385">
              <a:spcBef>
                <a:spcPts val="994"/>
              </a:spcBef>
              <a:buClr>
                <a:srgbClr val="ABB8C3"/>
              </a:buClr>
              <a:buFont typeface="Wingdings"/>
              <a:buChar char=""/>
              <a:tabLst>
                <a:tab pos="353695" algn="l"/>
              </a:tabLst>
            </a:pPr>
            <a:r>
              <a:rPr sz="2000" spc="-30" dirty="0">
                <a:latin typeface="Arial"/>
                <a:cs typeface="Arial"/>
              </a:rPr>
              <a:t>S-2241: </a:t>
            </a:r>
            <a:r>
              <a:rPr sz="2000" spc="-35" dirty="0">
                <a:latin typeface="Arial"/>
                <a:cs typeface="Arial"/>
              </a:rPr>
              <a:t>Insalubridade, periculosidade </a:t>
            </a:r>
            <a:r>
              <a:rPr sz="2000" dirty="0">
                <a:latin typeface="Arial"/>
                <a:cs typeface="Arial"/>
              </a:rPr>
              <a:t>e </a:t>
            </a:r>
            <a:r>
              <a:rPr sz="2000" spc="-35" dirty="0">
                <a:latin typeface="Arial"/>
                <a:cs typeface="Arial"/>
              </a:rPr>
              <a:t>aposentadoria</a:t>
            </a:r>
            <a:r>
              <a:rPr sz="2000" spc="-110" dirty="0">
                <a:latin typeface="Arial"/>
                <a:cs typeface="Arial"/>
              </a:rPr>
              <a:t> </a:t>
            </a:r>
            <a:r>
              <a:rPr sz="2000" spc="-30" dirty="0">
                <a:latin typeface="Arial"/>
                <a:cs typeface="Arial"/>
              </a:rPr>
              <a:t>especial</a:t>
            </a:r>
            <a:endParaRPr sz="2000">
              <a:latin typeface="Arial"/>
              <a:cs typeface="Arial"/>
            </a:endParaRPr>
          </a:p>
          <a:p>
            <a:pPr marL="12700">
              <a:spcBef>
                <a:spcPts val="1110"/>
              </a:spcBef>
            </a:pPr>
            <a:r>
              <a:rPr sz="1900" spc="-25" dirty="0">
                <a:latin typeface="Arial"/>
                <a:cs typeface="Arial"/>
              </a:rPr>
              <a:t>Versão</a:t>
            </a:r>
            <a:r>
              <a:rPr sz="1900" dirty="0">
                <a:latin typeface="Arial"/>
                <a:cs typeface="Arial"/>
              </a:rPr>
              <a:t> </a:t>
            </a:r>
            <a:r>
              <a:rPr sz="1900" spc="-5" dirty="0">
                <a:latin typeface="Arial"/>
                <a:cs typeface="Arial"/>
              </a:rPr>
              <a:t>2.1</a:t>
            </a:r>
            <a:endParaRPr sz="1900">
              <a:latin typeface="Arial"/>
              <a:cs typeface="Arial"/>
            </a:endParaRPr>
          </a:p>
        </p:txBody>
      </p:sp>
    </p:spTree>
    <p:extLst>
      <p:ext uri="{BB962C8B-B14F-4D97-AF65-F5344CB8AC3E}">
        <p14:creationId xmlns:p14="http://schemas.microsoft.com/office/powerpoint/2010/main" val="3904883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51126" y="589027"/>
            <a:ext cx="7978140" cy="5008245"/>
          </a:xfrm>
          <a:custGeom>
            <a:avLst/>
            <a:gdLst/>
            <a:ahLst/>
            <a:cxnLst/>
            <a:rect l="l" t="t" r="r" b="b"/>
            <a:pathLst>
              <a:path w="7978140" h="5008245">
                <a:moveTo>
                  <a:pt x="0" y="5007864"/>
                </a:moveTo>
                <a:lnTo>
                  <a:pt x="7978140" y="5007864"/>
                </a:lnTo>
                <a:lnTo>
                  <a:pt x="7978140" y="0"/>
                </a:lnTo>
                <a:lnTo>
                  <a:pt x="0" y="0"/>
                </a:lnTo>
                <a:lnTo>
                  <a:pt x="0" y="5007864"/>
                </a:lnTo>
                <a:close/>
              </a:path>
            </a:pathLst>
          </a:custGeom>
          <a:solidFill>
            <a:srgbClr val="FFFFFF"/>
          </a:solidFill>
        </p:spPr>
        <p:txBody>
          <a:bodyPr wrap="square" lIns="0" tIns="0" rIns="0" bIns="0" rtlCol="0"/>
          <a:lstStyle/>
          <a:p>
            <a:endParaRPr/>
          </a:p>
        </p:txBody>
      </p:sp>
      <p:sp>
        <p:nvSpPr>
          <p:cNvPr id="3" name="object 3"/>
          <p:cNvSpPr/>
          <p:nvPr/>
        </p:nvSpPr>
        <p:spPr>
          <a:xfrm>
            <a:off x="2151126" y="589027"/>
            <a:ext cx="7978140" cy="5008245"/>
          </a:xfrm>
          <a:custGeom>
            <a:avLst/>
            <a:gdLst/>
            <a:ahLst/>
            <a:cxnLst/>
            <a:rect l="l" t="t" r="r" b="b"/>
            <a:pathLst>
              <a:path w="7978140" h="5008245">
                <a:moveTo>
                  <a:pt x="0" y="5007864"/>
                </a:moveTo>
                <a:lnTo>
                  <a:pt x="7978140" y="5007864"/>
                </a:lnTo>
                <a:lnTo>
                  <a:pt x="7978140" y="0"/>
                </a:lnTo>
                <a:lnTo>
                  <a:pt x="0" y="0"/>
                </a:lnTo>
                <a:lnTo>
                  <a:pt x="0" y="5007864"/>
                </a:lnTo>
                <a:close/>
              </a:path>
            </a:pathLst>
          </a:custGeom>
          <a:ln w="25908">
            <a:solidFill>
              <a:srgbClr val="ABB8C3"/>
            </a:solidFill>
          </a:ln>
        </p:spPr>
        <p:txBody>
          <a:bodyPr wrap="square" lIns="0" tIns="0" rIns="0" bIns="0" rtlCol="0"/>
          <a:lstStyle/>
          <a:p>
            <a:endParaRPr/>
          </a:p>
        </p:txBody>
      </p:sp>
      <p:sp>
        <p:nvSpPr>
          <p:cNvPr id="4" name="object 4"/>
          <p:cNvSpPr txBox="1">
            <a:spLocks noGrp="1"/>
          </p:cNvSpPr>
          <p:nvPr>
            <p:ph type="title"/>
          </p:nvPr>
        </p:nvSpPr>
        <p:spPr>
          <a:xfrm>
            <a:off x="2281834" y="670052"/>
            <a:ext cx="1234440" cy="422275"/>
          </a:xfrm>
          <a:prstGeom prst="rect">
            <a:avLst/>
          </a:prstGeom>
        </p:spPr>
        <p:txBody>
          <a:bodyPr vert="horz" wrap="square" lIns="0" tIns="13335" rIns="0" bIns="0" rtlCol="0" anchor="ctr">
            <a:spAutoFit/>
          </a:bodyPr>
          <a:lstStyle/>
          <a:p>
            <a:pPr marL="12700">
              <a:lnSpc>
                <a:spcPct val="100000"/>
              </a:lnSpc>
              <a:spcBef>
                <a:spcPts val="105"/>
              </a:spcBef>
            </a:pPr>
            <a:r>
              <a:rPr sz="2600" spc="-190" dirty="0"/>
              <a:t>T</a:t>
            </a:r>
            <a:r>
              <a:rPr sz="2600" dirty="0"/>
              <a:t>a</a:t>
            </a:r>
            <a:r>
              <a:rPr sz="2600" spc="5" dirty="0"/>
              <a:t>b</a:t>
            </a:r>
            <a:r>
              <a:rPr sz="2600" dirty="0"/>
              <a:t>elas</a:t>
            </a:r>
            <a:endParaRPr sz="2600"/>
          </a:p>
        </p:txBody>
      </p:sp>
      <p:sp>
        <p:nvSpPr>
          <p:cNvPr id="5" name="object 5"/>
          <p:cNvSpPr/>
          <p:nvPr/>
        </p:nvSpPr>
        <p:spPr>
          <a:xfrm>
            <a:off x="2151126" y="5592317"/>
            <a:ext cx="1583690" cy="386080"/>
          </a:xfrm>
          <a:custGeom>
            <a:avLst/>
            <a:gdLst/>
            <a:ahLst/>
            <a:cxnLst/>
            <a:rect l="l" t="t" r="r" b="b"/>
            <a:pathLst>
              <a:path w="1583689" h="386079">
                <a:moveTo>
                  <a:pt x="0" y="385571"/>
                </a:moveTo>
                <a:lnTo>
                  <a:pt x="1583436" y="385571"/>
                </a:lnTo>
                <a:lnTo>
                  <a:pt x="1583436" y="0"/>
                </a:lnTo>
                <a:lnTo>
                  <a:pt x="0" y="0"/>
                </a:lnTo>
                <a:lnTo>
                  <a:pt x="0" y="385571"/>
                </a:lnTo>
                <a:close/>
              </a:path>
            </a:pathLst>
          </a:custGeom>
          <a:solidFill>
            <a:srgbClr val="FFFFFF"/>
          </a:solidFill>
        </p:spPr>
        <p:txBody>
          <a:bodyPr wrap="square" lIns="0" tIns="0" rIns="0" bIns="0" rtlCol="0"/>
          <a:lstStyle/>
          <a:p>
            <a:endParaRPr/>
          </a:p>
        </p:txBody>
      </p:sp>
      <p:sp>
        <p:nvSpPr>
          <p:cNvPr id="6" name="object 6"/>
          <p:cNvSpPr/>
          <p:nvPr/>
        </p:nvSpPr>
        <p:spPr>
          <a:xfrm>
            <a:off x="2151126" y="5592317"/>
            <a:ext cx="1583690" cy="386080"/>
          </a:xfrm>
          <a:custGeom>
            <a:avLst/>
            <a:gdLst/>
            <a:ahLst/>
            <a:cxnLst/>
            <a:rect l="l" t="t" r="r" b="b"/>
            <a:pathLst>
              <a:path w="1583689" h="386079">
                <a:moveTo>
                  <a:pt x="0" y="385571"/>
                </a:moveTo>
                <a:lnTo>
                  <a:pt x="1583436" y="385571"/>
                </a:lnTo>
                <a:lnTo>
                  <a:pt x="1583436" y="0"/>
                </a:lnTo>
                <a:lnTo>
                  <a:pt x="0" y="0"/>
                </a:lnTo>
                <a:lnTo>
                  <a:pt x="0" y="385571"/>
                </a:lnTo>
                <a:close/>
              </a:path>
            </a:pathLst>
          </a:custGeom>
          <a:ln w="25908">
            <a:solidFill>
              <a:srgbClr val="ABB8C3"/>
            </a:solidFill>
          </a:ln>
        </p:spPr>
        <p:txBody>
          <a:bodyPr wrap="square" lIns="0" tIns="0" rIns="0" bIns="0" rtlCol="0"/>
          <a:lstStyle/>
          <a:p>
            <a:endParaRPr/>
          </a:p>
        </p:txBody>
      </p:sp>
      <p:sp>
        <p:nvSpPr>
          <p:cNvPr id="7" name="object 7"/>
          <p:cNvSpPr txBox="1"/>
          <p:nvPr/>
        </p:nvSpPr>
        <p:spPr>
          <a:xfrm>
            <a:off x="2229105" y="1131651"/>
            <a:ext cx="7077075" cy="4803775"/>
          </a:xfrm>
          <a:prstGeom prst="rect">
            <a:avLst/>
          </a:prstGeom>
        </p:spPr>
        <p:txBody>
          <a:bodyPr vert="horz" wrap="square" lIns="0" tIns="115570" rIns="0" bIns="0" rtlCol="0">
            <a:spAutoFit/>
          </a:bodyPr>
          <a:lstStyle/>
          <a:p>
            <a:pPr marL="351790" indent="-286385">
              <a:spcBef>
                <a:spcPts val="910"/>
              </a:spcBef>
              <a:buClr>
                <a:srgbClr val="ABB8C3"/>
              </a:buClr>
              <a:buFont typeface="Wingdings"/>
              <a:buChar char=""/>
              <a:tabLst>
                <a:tab pos="352425" algn="l"/>
              </a:tabLst>
            </a:pPr>
            <a:r>
              <a:rPr sz="1900" spc="-5" dirty="0">
                <a:latin typeface="Arial"/>
                <a:cs typeface="Arial"/>
              </a:rPr>
              <a:t>2: Grau de exposição a agentes</a:t>
            </a:r>
            <a:r>
              <a:rPr sz="1900" spc="130" dirty="0">
                <a:latin typeface="Arial"/>
                <a:cs typeface="Arial"/>
              </a:rPr>
              <a:t> </a:t>
            </a:r>
            <a:r>
              <a:rPr sz="1900" spc="-5" dirty="0">
                <a:latin typeface="Arial"/>
                <a:cs typeface="Arial"/>
              </a:rPr>
              <a:t>nocivos</a:t>
            </a:r>
            <a:endParaRPr sz="1900">
              <a:latin typeface="Arial"/>
              <a:cs typeface="Arial"/>
            </a:endParaRPr>
          </a:p>
          <a:p>
            <a:pPr marL="351790" indent="-286385">
              <a:spcBef>
                <a:spcPts val="820"/>
              </a:spcBef>
              <a:buClr>
                <a:srgbClr val="ABB8C3"/>
              </a:buClr>
              <a:buFont typeface="Wingdings"/>
              <a:buChar char=""/>
              <a:tabLst>
                <a:tab pos="352425" algn="l"/>
              </a:tabLst>
            </a:pPr>
            <a:r>
              <a:rPr sz="1900" spc="-5" dirty="0">
                <a:latin typeface="Arial"/>
                <a:cs typeface="Arial"/>
              </a:rPr>
              <a:t>7: Resultado da monitoração</a:t>
            </a:r>
            <a:r>
              <a:rPr sz="1900" spc="95" dirty="0">
                <a:latin typeface="Arial"/>
                <a:cs typeface="Arial"/>
              </a:rPr>
              <a:t> </a:t>
            </a:r>
            <a:r>
              <a:rPr sz="1900" spc="-5" dirty="0">
                <a:latin typeface="Arial"/>
                <a:cs typeface="Arial"/>
              </a:rPr>
              <a:t>biológica</a:t>
            </a:r>
            <a:endParaRPr sz="1900">
              <a:latin typeface="Arial"/>
              <a:cs typeface="Arial"/>
            </a:endParaRPr>
          </a:p>
          <a:p>
            <a:pPr marL="351790" indent="-286385">
              <a:spcBef>
                <a:spcPts val="830"/>
              </a:spcBef>
              <a:buClr>
                <a:srgbClr val="ABB8C3"/>
              </a:buClr>
              <a:buFont typeface="Wingdings"/>
              <a:buChar char=""/>
              <a:tabLst>
                <a:tab pos="352425" algn="l"/>
              </a:tabLst>
            </a:pPr>
            <a:r>
              <a:rPr sz="1900" spc="-5" dirty="0">
                <a:latin typeface="Arial"/>
                <a:cs typeface="Arial"/>
              </a:rPr>
              <a:t>13: Parte do corpo</a:t>
            </a:r>
            <a:r>
              <a:rPr sz="1900" spc="60" dirty="0">
                <a:latin typeface="Arial"/>
                <a:cs typeface="Arial"/>
              </a:rPr>
              <a:t> </a:t>
            </a:r>
            <a:r>
              <a:rPr sz="1900" spc="-5" dirty="0">
                <a:latin typeface="Arial"/>
                <a:cs typeface="Arial"/>
              </a:rPr>
              <a:t>atingida</a:t>
            </a:r>
            <a:endParaRPr sz="1900">
              <a:latin typeface="Arial"/>
              <a:cs typeface="Arial"/>
            </a:endParaRPr>
          </a:p>
          <a:p>
            <a:pPr marL="351790" indent="-286385">
              <a:spcBef>
                <a:spcPts val="815"/>
              </a:spcBef>
              <a:buClr>
                <a:srgbClr val="ABB8C3"/>
              </a:buClr>
              <a:buFont typeface="Wingdings"/>
              <a:buChar char=""/>
              <a:tabLst>
                <a:tab pos="352425" algn="l"/>
              </a:tabLst>
            </a:pPr>
            <a:r>
              <a:rPr sz="1900" spc="-5" dirty="0">
                <a:latin typeface="Arial"/>
                <a:cs typeface="Arial"/>
              </a:rPr>
              <a:t>14: Agente causador do acidente de</a:t>
            </a:r>
            <a:r>
              <a:rPr sz="1900" spc="30" dirty="0">
                <a:latin typeface="Arial"/>
                <a:cs typeface="Arial"/>
              </a:rPr>
              <a:t> </a:t>
            </a:r>
            <a:r>
              <a:rPr sz="1900" spc="-5" dirty="0">
                <a:latin typeface="Arial"/>
                <a:cs typeface="Arial"/>
              </a:rPr>
              <a:t>trabalho</a:t>
            </a:r>
            <a:endParaRPr sz="1900">
              <a:latin typeface="Arial"/>
              <a:cs typeface="Arial"/>
            </a:endParaRPr>
          </a:p>
          <a:p>
            <a:pPr marL="351790" indent="-286385">
              <a:spcBef>
                <a:spcPts val="815"/>
              </a:spcBef>
              <a:buClr>
                <a:srgbClr val="ABB8C3"/>
              </a:buClr>
              <a:buFont typeface="Wingdings"/>
              <a:buChar char=""/>
              <a:tabLst>
                <a:tab pos="352425" algn="l"/>
              </a:tabLst>
            </a:pPr>
            <a:r>
              <a:rPr sz="1900" spc="-5" dirty="0">
                <a:latin typeface="Arial"/>
                <a:cs typeface="Arial"/>
              </a:rPr>
              <a:t>15: Agente causador/situação geradora de doença</a:t>
            </a:r>
            <a:r>
              <a:rPr sz="1900" spc="180" dirty="0">
                <a:latin typeface="Arial"/>
                <a:cs typeface="Arial"/>
              </a:rPr>
              <a:t> </a:t>
            </a:r>
            <a:r>
              <a:rPr sz="1900" spc="-5" dirty="0">
                <a:latin typeface="Arial"/>
                <a:cs typeface="Arial"/>
              </a:rPr>
              <a:t>profissional</a:t>
            </a:r>
            <a:endParaRPr sz="1900">
              <a:latin typeface="Arial"/>
              <a:cs typeface="Arial"/>
            </a:endParaRPr>
          </a:p>
          <a:p>
            <a:pPr marL="351790" indent="-286385">
              <a:spcBef>
                <a:spcPts val="830"/>
              </a:spcBef>
              <a:buClr>
                <a:srgbClr val="ABB8C3"/>
              </a:buClr>
              <a:buFont typeface="Wingdings"/>
              <a:buChar char=""/>
              <a:tabLst>
                <a:tab pos="352425" algn="l"/>
              </a:tabLst>
            </a:pPr>
            <a:r>
              <a:rPr sz="1900" spc="-5" dirty="0">
                <a:latin typeface="Arial"/>
                <a:cs typeface="Arial"/>
              </a:rPr>
              <a:t>16: Situação geradora do acidente de</a:t>
            </a:r>
            <a:r>
              <a:rPr sz="1900" spc="155" dirty="0">
                <a:latin typeface="Arial"/>
                <a:cs typeface="Arial"/>
              </a:rPr>
              <a:t> </a:t>
            </a:r>
            <a:r>
              <a:rPr sz="1900" spc="-5" dirty="0">
                <a:latin typeface="Arial"/>
                <a:cs typeface="Arial"/>
              </a:rPr>
              <a:t>trabalho</a:t>
            </a:r>
            <a:endParaRPr sz="1900">
              <a:latin typeface="Arial"/>
              <a:cs typeface="Arial"/>
            </a:endParaRPr>
          </a:p>
          <a:p>
            <a:pPr marL="351790" indent="-286385">
              <a:spcBef>
                <a:spcPts val="815"/>
              </a:spcBef>
              <a:buClr>
                <a:srgbClr val="ABB8C3"/>
              </a:buClr>
              <a:buFont typeface="Wingdings"/>
              <a:buChar char=""/>
              <a:tabLst>
                <a:tab pos="352425" algn="l"/>
              </a:tabLst>
            </a:pPr>
            <a:r>
              <a:rPr sz="1900" spc="-5" dirty="0">
                <a:latin typeface="Arial"/>
                <a:cs typeface="Arial"/>
              </a:rPr>
              <a:t>17: Descrição da natureza da</a:t>
            </a:r>
            <a:r>
              <a:rPr sz="1900" spc="100" dirty="0">
                <a:latin typeface="Arial"/>
                <a:cs typeface="Arial"/>
              </a:rPr>
              <a:t> </a:t>
            </a:r>
            <a:r>
              <a:rPr sz="1900" spc="-5" dirty="0">
                <a:latin typeface="Arial"/>
                <a:cs typeface="Arial"/>
              </a:rPr>
              <a:t>lesão</a:t>
            </a:r>
            <a:endParaRPr sz="1900">
              <a:latin typeface="Arial"/>
              <a:cs typeface="Arial"/>
            </a:endParaRPr>
          </a:p>
          <a:p>
            <a:pPr marL="351790" indent="-286385">
              <a:spcBef>
                <a:spcPts val="820"/>
              </a:spcBef>
              <a:buClr>
                <a:srgbClr val="ABB8C3"/>
              </a:buClr>
              <a:buFont typeface="Wingdings"/>
              <a:buChar char=""/>
              <a:tabLst>
                <a:tab pos="352425" algn="l"/>
              </a:tabLst>
            </a:pPr>
            <a:r>
              <a:rPr sz="1900" spc="-5" dirty="0">
                <a:latin typeface="Arial"/>
                <a:cs typeface="Arial"/>
              </a:rPr>
              <a:t>18: Motivos de</a:t>
            </a:r>
            <a:r>
              <a:rPr sz="1900" spc="35" dirty="0">
                <a:latin typeface="Arial"/>
                <a:cs typeface="Arial"/>
              </a:rPr>
              <a:t> </a:t>
            </a:r>
            <a:r>
              <a:rPr sz="1900" spc="-5" dirty="0">
                <a:latin typeface="Arial"/>
                <a:cs typeface="Arial"/>
              </a:rPr>
              <a:t>afastamento</a:t>
            </a:r>
            <a:endParaRPr sz="1900">
              <a:latin typeface="Arial"/>
              <a:cs typeface="Arial"/>
            </a:endParaRPr>
          </a:p>
          <a:p>
            <a:pPr marL="351790" indent="-286385">
              <a:spcBef>
                <a:spcPts val="830"/>
              </a:spcBef>
              <a:buClr>
                <a:srgbClr val="ABB8C3"/>
              </a:buClr>
              <a:buFont typeface="Wingdings"/>
              <a:buChar char=""/>
              <a:tabLst>
                <a:tab pos="352425" algn="l"/>
              </a:tabLst>
            </a:pPr>
            <a:r>
              <a:rPr sz="1900" spc="-5" dirty="0">
                <a:latin typeface="Arial"/>
                <a:cs typeface="Arial"/>
              </a:rPr>
              <a:t>21: Fatores de risco</a:t>
            </a:r>
            <a:r>
              <a:rPr sz="1900" spc="55" dirty="0">
                <a:latin typeface="Arial"/>
                <a:cs typeface="Arial"/>
              </a:rPr>
              <a:t> </a:t>
            </a:r>
            <a:r>
              <a:rPr sz="1900" spc="-5" dirty="0">
                <a:latin typeface="Arial"/>
                <a:cs typeface="Arial"/>
              </a:rPr>
              <a:t>ambientais</a:t>
            </a:r>
            <a:endParaRPr sz="1900">
              <a:latin typeface="Arial"/>
              <a:cs typeface="Arial"/>
            </a:endParaRPr>
          </a:p>
          <a:p>
            <a:pPr marL="351790" indent="-286385">
              <a:spcBef>
                <a:spcPts val="815"/>
              </a:spcBef>
              <a:buClr>
                <a:srgbClr val="ABB8C3"/>
              </a:buClr>
              <a:buFont typeface="Wingdings"/>
              <a:buChar char=""/>
              <a:tabLst>
                <a:tab pos="352425" algn="l"/>
              </a:tabLst>
            </a:pPr>
            <a:r>
              <a:rPr sz="1900" spc="-40" dirty="0">
                <a:latin typeface="Arial"/>
                <a:cs typeface="Arial"/>
              </a:rPr>
              <a:t>22: </a:t>
            </a:r>
            <a:r>
              <a:rPr sz="1900" spc="-45" dirty="0">
                <a:latin typeface="Arial"/>
                <a:cs typeface="Arial"/>
              </a:rPr>
              <a:t>Fator </a:t>
            </a:r>
            <a:r>
              <a:rPr sz="1900" spc="-30" dirty="0">
                <a:latin typeface="Arial"/>
                <a:cs typeface="Arial"/>
              </a:rPr>
              <a:t>de </a:t>
            </a:r>
            <a:r>
              <a:rPr sz="1900" spc="-45" dirty="0">
                <a:latin typeface="Arial"/>
                <a:cs typeface="Arial"/>
              </a:rPr>
              <a:t>risco </a:t>
            </a:r>
            <a:r>
              <a:rPr sz="1900" spc="-40" dirty="0">
                <a:latin typeface="Arial"/>
                <a:cs typeface="Arial"/>
              </a:rPr>
              <a:t>para</a:t>
            </a:r>
            <a:r>
              <a:rPr sz="1900" spc="-295" dirty="0">
                <a:latin typeface="Arial"/>
                <a:cs typeface="Arial"/>
              </a:rPr>
              <a:t> </a:t>
            </a:r>
            <a:r>
              <a:rPr sz="1900" spc="-50" dirty="0">
                <a:latin typeface="Arial"/>
                <a:cs typeface="Arial"/>
              </a:rPr>
              <a:t>insalubridade/periculosidade/penosidade</a:t>
            </a:r>
            <a:endParaRPr sz="1900">
              <a:latin typeface="Arial"/>
              <a:cs typeface="Arial"/>
            </a:endParaRPr>
          </a:p>
          <a:p>
            <a:pPr marL="351790" indent="-286385">
              <a:spcBef>
                <a:spcPts val="815"/>
              </a:spcBef>
              <a:buClr>
                <a:srgbClr val="ABB8C3"/>
              </a:buClr>
              <a:buFont typeface="Wingdings"/>
              <a:buChar char=""/>
              <a:tabLst>
                <a:tab pos="352425" algn="l"/>
              </a:tabLst>
            </a:pPr>
            <a:r>
              <a:rPr sz="1900" spc="-5" dirty="0">
                <a:latin typeface="Arial"/>
                <a:cs typeface="Arial"/>
              </a:rPr>
              <a:t>23: Aposentadoria especial INSS</a:t>
            </a:r>
            <a:endParaRPr sz="1900">
              <a:latin typeface="Arial"/>
              <a:cs typeface="Arial"/>
            </a:endParaRPr>
          </a:p>
          <a:p>
            <a:pPr marL="12700">
              <a:spcBef>
                <a:spcPts val="1245"/>
              </a:spcBef>
            </a:pPr>
            <a:r>
              <a:rPr sz="1900" spc="-25" dirty="0">
                <a:latin typeface="Arial"/>
                <a:cs typeface="Arial"/>
              </a:rPr>
              <a:t>Versão</a:t>
            </a:r>
            <a:r>
              <a:rPr sz="1900" dirty="0">
                <a:latin typeface="Arial"/>
                <a:cs typeface="Arial"/>
              </a:rPr>
              <a:t> </a:t>
            </a:r>
            <a:r>
              <a:rPr sz="1900" spc="-5" dirty="0">
                <a:latin typeface="Arial"/>
                <a:cs typeface="Arial"/>
              </a:rPr>
              <a:t>2.1</a:t>
            </a:r>
            <a:endParaRPr sz="1900">
              <a:latin typeface="Arial"/>
              <a:cs typeface="Arial"/>
            </a:endParaRPr>
          </a:p>
        </p:txBody>
      </p:sp>
    </p:spTree>
    <p:extLst>
      <p:ext uri="{BB962C8B-B14F-4D97-AF65-F5344CB8AC3E}">
        <p14:creationId xmlns:p14="http://schemas.microsoft.com/office/powerpoint/2010/main" val="1695677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76585" y="2971358"/>
            <a:ext cx="2953512" cy="278739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748182" y="3018424"/>
            <a:ext cx="2979420" cy="2813685"/>
          </a:xfrm>
          <a:custGeom>
            <a:avLst/>
            <a:gdLst/>
            <a:ahLst/>
            <a:cxnLst/>
            <a:rect l="l" t="t" r="r" b="b"/>
            <a:pathLst>
              <a:path w="2979420" h="2813685">
                <a:moveTo>
                  <a:pt x="0" y="2813304"/>
                </a:moveTo>
                <a:lnTo>
                  <a:pt x="2979420" y="2813304"/>
                </a:lnTo>
                <a:lnTo>
                  <a:pt x="2979420" y="0"/>
                </a:lnTo>
                <a:lnTo>
                  <a:pt x="0" y="0"/>
                </a:lnTo>
                <a:lnTo>
                  <a:pt x="0" y="2813304"/>
                </a:lnTo>
                <a:close/>
              </a:path>
            </a:pathLst>
          </a:custGeom>
          <a:ln w="25908">
            <a:solidFill>
              <a:srgbClr val="4F81BC"/>
            </a:solidFill>
          </a:ln>
        </p:spPr>
        <p:txBody>
          <a:bodyPr wrap="square" lIns="0" tIns="0" rIns="0" bIns="0" rtlCol="0"/>
          <a:lstStyle/>
          <a:p>
            <a:endParaRPr/>
          </a:p>
        </p:txBody>
      </p:sp>
      <p:sp>
        <p:nvSpPr>
          <p:cNvPr id="4" name="object 4"/>
          <p:cNvSpPr txBox="1"/>
          <p:nvPr/>
        </p:nvSpPr>
        <p:spPr>
          <a:xfrm>
            <a:off x="1783265" y="3366314"/>
            <a:ext cx="1769745" cy="391160"/>
          </a:xfrm>
          <a:prstGeom prst="rect">
            <a:avLst/>
          </a:prstGeom>
        </p:spPr>
        <p:txBody>
          <a:bodyPr vert="horz" wrap="square" lIns="0" tIns="12700" rIns="0" bIns="0" rtlCol="0">
            <a:spAutoFit/>
          </a:bodyPr>
          <a:lstStyle/>
          <a:p>
            <a:pPr marL="97790" marR="5080" indent="-85725">
              <a:spcBef>
                <a:spcPts val="100"/>
              </a:spcBef>
            </a:pPr>
            <a:r>
              <a:rPr sz="1200" b="1" dirty="0">
                <a:solidFill>
                  <a:srgbClr val="62798A"/>
                </a:solidFill>
                <a:latin typeface="Arial"/>
                <a:cs typeface="Arial"/>
              </a:rPr>
              <a:t>Programa de</a:t>
            </a:r>
            <a:r>
              <a:rPr sz="1200" b="1" spc="-95" dirty="0">
                <a:solidFill>
                  <a:srgbClr val="62798A"/>
                </a:solidFill>
                <a:latin typeface="Arial"/>
                <a:cs typeface="Arial"/>
              </a:rPr>
              <a:t> </a:t>
            </a:r>
            <a:r>
              <a:rPr sz="1200" b="1" spc="-5" dirty="0">
                <a:solidFill>
                  <a:srgbClr val="62798A"/>
                </a:solidFill>
                <a:latin typeface="Arial"/>
                <a:cs typeface="Arial"/>
              </a:rPr>
              <a:t>Prevenção  </a:t>
            </a:r>
            <a:r>
              <a:rPr sz="1200" b="1" dirty="0">
                <a:solidFill>
                  <a:srgbClr val="62798A"/>
                </a:solidFill>
                <a:latin typeface="Arial"/>
                <a:cs typeface="Arial"/>
              </a:rPr>
              <a:t>de Riscos</a:t>
            </a:r>
            <a:r>
              <a:rPr sz="1200" b="1" spc="-110" dirty="0">
                <a:solidFill>
                  <a:srgbClr val="62798A"/>
                </a:solidFill>
                <a:latin typeface="Arial"/>
                <a:cs typeface="Arial"/>
              </a:rPr>
              <a:t> </a:t>
            </a:r>
            <a:r>
              <a:rPr sz="1200" b="1" spc="-5" dirty="0">
                <a:solidFill>
                  <a:srgbClr val="62798A"/>
                </a:solidFill>
                <a:latin typeface="Arial"/>
                <a:cs typeface="Arial"/>
              </a:rPr>
              <a:t>Ambientais</a:t>
            </a:r>
            <a:endParaRPr sz="1200" dirty="0">
              <a:latin typeface="Arial"/>
              <a:cs typeface="Arial"/>
            </a:endParaRPr>
          </a:p>
        </p:txBody>
      </p:sp>
      <p:sp>
        <p:nvSpPr>
          <p:cNvPr id="5" name="object 5"/>
          <p:cNvSpPr txBox="1"/>
          <p:nvPr/>
        </p:nvSpPr>
        <p:spPr>
          <a:xfrm>
            <a:off x="2051710" y="4968620"/>
            <a:ext cx="1611630" cy="391160"/>
          </a:xfrm>
          <a:prstGeom prst="rect">
            <a:avLst/>
          </a:prstGeom>
        </p:spPr>
        <p:txBody>
          <a:bodyPr vert="horz" wrap="square" lIns="0" tIns="12700" rIns="0" bIns="0" rtlCol="0">
            <a:spAutoFit/>
          </a:bodyPr>
          <a:lstStyle/>
          <a:p>
            <a:pPr marL="280670" marR="5080" indent="-268605">
              <a:spcBef>
                <a:spcPts val="100"/>
              </a:spcBef>
            </a:pPr>
            <a:r>
              <a:rPr sz="1200" b="1" dirty="0">
                <a:solidFill>
                  <a:srgbClr val="62798A"/>
                </a:solidFill>
                <a:latin typeface="Arial"/>
                <a:cs typeface="Arial"/>
              </a:rPr>
              <a:t>Perfil</a:t>
            </a:r>
            <a:r>
              <a:rPr sz="1200" b="1" spc="-95" dirty="0">
                <a:solidFill>
                  <a:srgbClr val="62798A"/>
                </a:solidFill>
                <a:latin typeface="Arial"/>
                <a:cs typeface="Arial"/>
              </a:rPr>
              <a:t> </a:t>
            </a:r>
            <a:r>
              <a:rPr sz="1200" b="1" dirty="0">
                <a:solidFill>
                  <a:srgbClr val="62798A"/>
                </a:solidFill>
                <a:latin typeface="Arial"/>
                <a:cs typeface="Arial"/>
              </a:rPr>
              <a:t>Profissiográfico  </a:t>
            </a:r>
            <a:r>
              <a:rPr sz="1200" b="1" spc="-5" dirty="0">
                <a:solidFill>
                  <a:srgbClr val="62798A"/>
                </a:solidFill>
                <a:latin typeface="Arial"/>
                <a:cs typeface="Arial"/>
              </a:rPr>
              <a:t>Previdenciário</a:t>
            </a:r>
            <a:endParaRPr sz="1200">
              <a:latin typeface="Arial"/>
              <a:cs typeface="Arial"/>
            </a:endParaRPr>
          </a:p>
        </p:txBody>
      </p:sp>
      <p:sp>
        <p:nvSpPr>
          <p:cNvPr id="6" name="object 6"/>
          <p:cNvSpPr/>
          <p:nvPr/>
        </p:nvSpPr>
        <p:spPr>
          <a:xfrm rot="18954844">
            <a:off x="3987813" y="3262367"/>
            <a:ext cx="579755" cy="439420"/>
          </a:xfrm>
          <a:custGeom>
            <a:avLst/>
            <a:gdLst/>
            <a:ahLst/>
            <a:cxnLst/>
            <a:rect l="l" t="t" r="r" b="b"/>
            <a:pathLst>
              <a:path w="579755" h="439419">
                <a:moveTo>
                  <a:pt x="509307" y="402808"/>
                </a:moveTo>
                <a:lnTo>
                  <a:pt x="493775" y="423545"/>
                </a:lnTo>
                <a:lnTo>
                  <a:pt x="579246" y="439038"/>
                </a:lnTo>
                <a:lnTo>
                  <a:pt x="565023" y="410591"/>
                </a:lnTo>
                <a:lnTo>
                  <a:pt x="519683" y="410591"/>
                </a:lnTo>
                <a:lnTo>
                  <a:pt x="509307" y="402808"/>
                </a:lnTo>
                <a:close/>
              </a:path>
              <a:path w="579755" h="439419">
                <a:moveTo>
                  <a:pt x="524868" y="382031"/>
                </a:moveTo>
                <a:lnTo>
                  <a:pt x="509307" y="402808"/>
                </a:lnTo>
                <a:lnTo>
                  <a:pt x="519683" y="410591"/>
                </a:lnTo>
                <a:lnTo>
                  <a:pt x="535177" y="389763"/>
                </a:lnTo>
                <a:lnTo>
                  <a:pt x="524868" y="382031"/>
                </a:lnTo>
                <a:close/>
              </a:path>
              <a:path w="579755" h="439419">
                <a:moveTo>
                  <a:pt x="540384" y="361315"/>
                </a:moveTo>
                <a:lnTo>
                  <a:pt x="524868" y="382031"/>
                </a:lnTo>
                <a:lnTo>
                  <a:pt x="535177" y="389763"/>
                </a:lnTo>
                <a:lnTo>
                  <a:pt x="519683" y="410591"/>
                </a:lnTo>
                <a:lnTo>
                  <a:pt x="565023" y="410591"/>
                </a:lnTo>
                <a:lnTo>
                  <a:pt x="540384" y="361315"/>
                </a:lnTo>
                <a:close/>
              </a:path>
              <a:path w="579755" h="439419">
                <a:moveTo>
                  <a:pt x="15493" y="0"/>
                </a:moveTo>
                <a:lnTo>
                  <a:pt x="0" y="20828"/>
                </a:lnTo>
                <a:lnTo>
                  <a:pt x="509307" y="402808"/>
                </a:lnTo>
                <a:lnTo>
                  <a:pt x="524868" y="382031"/>
                </a:lnTo>
                <a:lnTo>
                  <a:pt x="15493" y="0"/>
                </a:lnTo>
                <a:close/>
              </a:path>
            </a:pathLst>
          </a:custGeom>
          <a:solidFill>
            <a:srgbClr val="FF0000"/>
          </a:solidFill>
        </p:spPr>
        <p:txBody>
          <a:bodyPr wrap="square" lIns="0" tIns="0" rIns="0" bIns="0" rtlCol="0"/>
          <a:lstStyle/>
          <a:p>
            <a:endParaRPr/>
          </a:p>
        </p:txBody>
      </p:sp>
      <p:sp>
        <p:nvSpPr>
          <p:cNvPr id="7" name="object 7"/>
          <p:cNvSpPr/>
          <p:nvPr/>
        </p:nvSpPr>
        <p:spPr>
          <a:xfrm>
            <a:off x="8059969" y="3402827"/>
            <a:ext cx="752475" cy="318135"/>
          </a:xfrm>
          <a:custGeom>
            <a:avLst/>
            <a:gdLst/>
            <a:ahLst/>
            <a:cxnLst/>
            <a:rect l="l" t="t" r="r" b="b"/>
            <a:pathLst>
              <a:path w="752475" h="318135">
                <a:moveTo>
                  <a:pt x="57785" y="245618"/>
                </a:moveTo>
                <a:lnTo>
                  <a:pt x="0" y="310514"/>
                </a:lnTo>
                <a:lnTo>
                  <a:pt x="86613" y="317754"/>
                </a:lnTo>
                <a:lnTo>
                  <a:pt x="78949" y="298576"/>
                </a:lnTo>
                <a:lnTo>
                  <a:pt x="64897" y="298576"/>
                </a:lnTo>
                <a:lnTo>
                  <a:pt x="55372" y="274447"/>
                </a:lnTo>
                <a:lnTo>
                  <a:pt x="67389" y="269650"/>
                </a:lnTo>
                <a:lnTo>
                  <a:pt x="57785" y="245618"/>
                </a:lnTo>
                <a:close/>
              </a:path>
              <a:path w="752475" h="318135">
                <a:moveTo>
                  <a:pt x="67389" y="269650"/>
                </a:moveTo>
                <a:lnTo>
                  <a:pt x="55372" y="274447"/>
                </a:lnTo>
                <a:lnTo>
                  <a:pt x="64897" y="298576"/>
                </a:lnTo>
                <a:lnTo>
                  <a:pt x="77016" y="293739"/>
                </a:lnTo>
                <a:lnTo>
                  <a:pt x="67389" y="269650"/>
                </a:lnTo>
                <a:close/>
              </a:path>
              <a:path w="752475" h="318135">
                <a:moveTo>
                  <a:pt x="77016" y="293739"/>
                </a:moveTo>
                <a:lnTo>
                  <a:pt x="64897" y="298576"/>
                </a:lnTo>
                <a:lnTo>
                  <a:pt x="78949" y="298576"/>
                </a:lnTo>
                <a:lnTo>
                  <a:pt x="77016" y="293739"/>
                </a:lnTo>
                <a:close/>
              </a:path>
              <a:path w="752475" h="318135">
                <a:moveTo>
                  <a:pt x="742950" y="0"/>
                </a:moveTo>
                <a:lnTo>
                  <a:pt x="67389" y="269650"/>
                </a:lnTo>
                <a:lnTo>
                  <a:pt x="77016" y="293739"/>
                </a:lnTo>
                <a:lnTo>
                  <a:pt x="752475" y="24130"/>
                </a:lnTo>
                <a:lnTo>
                  <a:pt x="742950" y="0"/>
                </a:lnTo>
                <a:close/>
              </a:path>
            </a:pathLst>
          </a:custGeom>
          <a:solidFill>
            <a:srgbClr val="375F92"/>
          </a:solidFill>
        </p:spPr>
        <p:txBody>
          <a:bodyPr wrap="square" lIns="0" tIns="0" rIns="0" bIns="0" rtlCol="0"/>
          <a:lstStyle/>
          <a:p>
            <a:endParaRPr/>
          </a:p>
        </p:txBody>
      </p:sp>
      <p:sp>
        <p:nvSpPr>
          <p:cNvPr id="8" name="object 8"/>
          <p:cNvSpPr/>
          <p:nvPr/>
        </p:nvSpPr>
        <p:spPr>
          <a:xfrm rot="1041076">
            <a:off x="3736594" y="4680203"/>
            <a:ext cx="817244" cy="356870"/>
          </a:xfrm>
          <a:custGeom>
            <a:avLst/>
            <a:gdLst/>
            <a:ahLst/>
            <a:cxnLst/>
            <a:rect l="l" t="t" r="r" b="b"/>
            <a:pathLst>
              <a:path w="817244" h="356870">
                <a:moveTo>
                  <a:pt x="731043" y="26729"/>
                </a:moveTo>
                <a:lnTo>
                  <a:pt x="0" y="330073"/>
                </a:lnTo>
                <a:lnTo>
                  <a:pt x="11175" y="356743"/>
                </a:lnTo>
                <a:lnTo>
                  <a:pt x="742161" y="53547"/>
                </a:lnTo>
                <a:lnTo>
                  <a:pt x="731043" y="26729"/>
                </a:lnTo>
                <a:close/>
              </a:path>
              <a:path w="817244" h="356870">
                <a:moveTo>
                  <a:pt x="804322" y="21209"/>
                </a:moveTo>
                <a:lnTo>
                  <a:pt x="744347" y="21209"/>
                </a:lnTo>
                <a:lnTo>
                  <a:pt x="755523" y="48006"/>
                </a:lnTo>
                <a:lnTo>
                  <a:pt x="742161" y="53547"/>
                </a:lnTo>
                <a:lnTo>
                  <a:pt x="753237" y="80264"/>
                </a:lnTo>
                <a:lnTo>
                  <a:pt x="804322" y="21209"/>
                </a:lnTo>
                <a:close/>
              </a:path>
              <a:path w="817244" h="356870">
                <a:moveTo>
                  <a:pt x="744347" y="21209"/>
                </a:moveTo>
                <a:lnTo>
                  <a:pt x="731043" y="26729"/>
                </a:lnTo>
                <a:lnTo>
                  <a:pt x="742161" y="53547"/>
                </a:lnTo>
                <a:lnTo>
                  <a:pt x="755523" y="48006"/>
                </a:lnTo>
                <a:lnTo>
                  <a:pt x="744347" y="21209"/>
                </a:lnTo>
                <a:close/>
              </a:path>
              <a:path w="817244" h="356870">
                <a:moveTo>
                  <a:pt x="719963" y="0"/>
                </a:moveTo>
                <a:lnTo>
                  <a:pt x="731043" y="26729"/>
                </a:lnTo>
                <a:lnTo>
                  <a:pt x="744347" y="21209"/>
                </a:lnTo>
                <a:lnTo>
                  <a:pt x="804322" y="21209"/>
                </a:lnTo>
                <a:lnTo>
                  <a:pt x="816737" y="6858"/>
                </a:lnTo>
                <a:lnTo>
                  <a:pt x="719963" y="0"/>
                </a:lnTo>
                <a:close/>
              </a:path>
            </a:pathLst>
          </a:custGeom>
          <a:solidFill>
            <a:srgbClr val="FFC000"/>
          </a:solidFill>
        </p:spPr>
        <p:txBody>
          <a:bodyPr wrap="square" lIns="0" tIns="0" rIns="0" bIns="0" rtlCol="0"/>
          <a:lstStyle/>
          <a:p>
            <a:endParaRPr/>
          </a:p>
        </p:txBody>
      </p:sp>
      <p:sp>
        <p:nvSpPr>
          <p:cNvPr id="9" name="object 9"/>
          <p:cNvSpPr/>
          <p:nvPr/>
        </p:nvSpPr>
        <p:spPr>
          <a:xfrm>
            <a:off x="7939114" y="4645913"/>
            <a:ext cx="986155" cy="391160"/>
          </a:xfrm>
          <a:custGeom>
            <a:avLst/>
            <a:gdLst/>
            <a:ahLst/>
            <a:cxnLst/>
            <a:rect l="l" t="t" r="r" b="b"/>
            <a:pathLst>
              <a:path w="986154" h="391160">
                <a:moveTo>
                  <a:pt x="77362" y="24162"/>
                </a:moveTo>
                <a:lnTo>
                  <a:pt x="68204" y="48414"/>
                </a:lnTo>
                <a:lnTo>
                  <a:pt x="976503" y="390906"/>
                </a:lnTo>
                <a:lnTo>
                  <a:pt x="985647" y="366649"/>
                </a:lnTo>
                <a:lnTo>
                  <a:pt x="77362" y="24162"/>
                </a:lnTo>
                <a:close/>
              </a:path>
              <a:path w="986154" h="391160">
                <a:moveTo>
                  <a:pt x="86487" y="0"/>
                </a:moveTo>
                <a:lnTo>
                  <a:pt x="0" y="8889"/>
                </a:lnTo>
                <a:lnTo>
                  <a:pt x="59055" y="72643"/>
                </a:lnTo>
                <a:lnTo>
                  <a:pt x="68204" y="48414"/>
                </a:lnTo>
                <a:lnTo>
                  <a:pt x="56007" y="43814"/>
                </a:lnTo>
                <a:lnTo>
                  <a:pt x="65150" y="19557"/>
                </a:lnTo>
                <a:lnTo>
                  <a:pt x="79101" y="19557"/>
                </a:lnTo>
                <a:lnTo>
                  <a:pt x="86487" y="0"/>
                </a:lnTo>
                <a:close/>
              </a:path>
              <a:path w="986154" h="391160">
                <a:moveTo>
                  <a:pt x="65150" y="19557"/>
                </a:moveTo>
                <a:lnTo>
                  <a:pt x="56007" y="43814"/>
                </a:lnTo>
                <a:lnTo>
                  <a:pt x="68204" y="48414"/>
                </a:lnTo>
                <a:lnTo>
                  <a:pt x="77362" y="24162"/>
                </a:lnTo>
                <a:lnTo>
                  <a:pt x="65150" y="19557"/>
                </a:lnTo>
                <a:close/>
              </a:path>
              <a:path w="986154" h="391160">
                <a:moveTo>
                  <a:pt x="79101" y="19557"/>
                </a:moveTo>
                <a:lnTo>
                  <a:pt x="65150" y="19557"/>
                </a:lnTo>
                <a:lnTo>
                  <a:pt x="77362" y="24162"/>
                </a:lnTo>
                <a:lnTo>
                  <a:pt x="79101" y="19557"/>
                </a:lnTo>
                <a:close/>
              </a:path>
            </a:pathLst>
          </a:custGeom>
          <a:solidFill>
            <a:srgbClr val="00AF50"/>
          </a:solidFill>
        </p:spPr>
        <p:txBody>
          <a:bodyPr wrap="square" lIns="0" tIns="0" rIns="0" bIns="0" rtlCol="0"/>
          <a:lstStyle/>
          <a:p>
            <a:endParaRPr/>
          </a:p>
        </p:txBody>
      </p:sp>
      <p:sp>
        <p:nvSpPr>
          <p:cNvPr id="10" name="object 10"/>
          <p:cNvSpPr txBox="1"/>
          <p:nvPr/>
        </p:nvSpPr>
        <p:spPr>
          <a:xfrm>
            <a:off x="5155121" y="5872754"/>
            <a:ext cx="2175510" cy="166071"/>
          </a:xfrm>
          <a:prstGeom prst="rect">
            <a:avLst/>
          </a:prstGeom>
        </p:spPr>
        <p:txBody>
          <a:bodyPr vert="horz" wrap="square" lIns="0" tIns="12065" rIns="0" bIns="0" rtlCol="0">
            <a:spAutoFit/>
          </a:bodyPr>
          <a:lstStyle/>
          <a:p>
            <a:pPr marL="12700">
              <a:spcBef>
                <a:spcPts val="95"/>
              </a:spcBef>
            </a:pPr>
            <a:r>
              <a:rPr sz="1000" spc="-5" dirty="0">
                <a:latin typeface="Arial"/>
                <a:cs typeface="Arial"/>
              </a:rPr>
              <a:t>Fonte:</a:t>
            </a:r>
            <a:r>
              <a:rPr sz="1000" spc="-30" dirty="0">
                <a:latin typeface="Arial"/>
                <a:cs typeface="Arial"/>
              </a:rPr>
              <a:t> </a:t>
            </a:r>
            <a:r>
              <a:rPr sz="1000" spc="-5" dirty="0">
                <a:latin typeface="Arial"/>
                <a:cs typeface="Arial"/>
              </a:rPr>
              <a:t>consultintegra.blogspot.com.br.</a:t>
            </a:r>
            <a:endParaRPr sz="1000" dirty="0">
              <a:latin typeface="Arial"/>
              <a:cs typeface="Arial"/>
            </a:endParaRPr>
          </a:p>
        </p:txBody>
      </p:sp>
      <p:sp>
        <p:nvSpPr>
          <p:cNvPr id="11" name="object 11"/>
          <p:cNvSpPr txBox="1"/>
          <p:nvPr/>
        </p:nvSpPr>
        <p:spPr>
          <a:xfrm>
            <a:off x="9134286" y="4933604"/>
            <a:ext cx="1076960" cy="391160"/>
          </a:xfrm>
          <a:prstGeom prst="rect">
            <a:avLst/>
          </a:prstGeom>
        </p:spPr>
        <p:txBody>
          <a:bodyPr vert="horz" wrap="square" lIns="0" tIns="12700" rIns="0" bIns="0" rtlCol="0">
            <a:spAutoFit/>
          </a:bodyPr>
          <a:lstStyle/>
          <a:p>
            <a:pPr marL="355600" marR="5080" indent="-343535">
              <a:spcBef>
                <a:spcPts val="100"/>
              </a:spcBef>
            </a:pPr>
            <a:r>
              <a:rPr sz="1200" b="1" dirty="0">
                <a:solidFill>
                  <a:srgbClr val="62798A"/>
                </a:solidFill>
                <a:latin typeface="Arial"/>
                <a:cs typeface="Arial"/>
              </a:rPr>
              <a:t>Diminuição</a:t>
            </a:r>
            <a:r>
              <a:rPr sz="1200" b="1" spc="-95" dirty="0">
                <a:solidFill>
                  <a:srgbClr val="62798A"/>
                </a:solidFill>
                <a:latin typeface="Arial"/>
                <a:cs typeface="Arial"/>
              </a:rPr>
              <a:t> </a:t>
            </a:r>
            <a:r>
              <a:rPr sz="1200" b="1" dirty="0">
                <a:solidFill>
                  <a:srgbClr val="62798A"/>
                </a:solidFill>
                <a:latin typeface="Arial"/>
                <a:cs typeface="Arial"/>
              </a:rPr>
              <a:t>do  risco</a:t>
            </a:r>
            <a:endParaRPr sz="1200" dirty="0">
              <a:latin typeface="Arial"/>
              <a:cs typeface="Arial"/>
            </a:endParaRPr>
          </a:p>
        </p:txBody>
      </p:sp>
      <p:sp>
        <p:nvSpPr>
          <p:cNvPr id="12" name="object 12"/>
          <p:cNvSpPr txBox="1"/>
          <p:nvPr/>
        </p:nvSpPr>
        <p:spPr>
          <a:xfrm>
            <a:off x="8925269" y="3218867"/>
            <a:ext cx="2193290" cy="391160"/>
          </a:xfrm>
          <a:prstGeom prst="rect">
            <a:avLst/>
          </a:prstGeom>
        </p:spPr>
        <p:txBody>
          <a:bodyPr vert="horz" wrap="square" lIns="0" tIns="12700" rIns="0" bIns="0" rtlCol="0">
            <a:spAutoFit/>
          </a:bodyPr>
          <a:lstStyle/>
          <a:p>
            <a:pPr marL="325120" marR="5080" indent="-312420">
              <a:spcBef>
                <a:spcPts val="100"/>
              </a:spcBef>
            </a:pPr>
            <a:r>
              <a:rPr sz="1200" b="1" dirty="0">
                <a:solidFill>
                  <a:srgbClr val="62798A"/>
                </a:solidFill>
                <a:latin typeface="Arial"/>
                <a:cs typeface="Arial"/>
              </a:rPr>
              <a:t>Programa de </a:t>
            </a:r>
            <a:r>
              <a:rPr sz="1200" b="1" spc="-5" dirty="0">
                <a:solidFill>
                  <a:srgbClr val="62798A"/>
                </a:solidFill>
                <a:latin typeface="Arial"/>
                <a:cs typeface="Arial"/>
              </a:rPr>
              <a:t>Controle</a:t>
            </a:r>
            <a:r>
              <a:rPr sz="1200" b="1" spc="-85" dirty="0">
                <a:solidFill>
                  <a:srgbClr val="62798A"/>
                </a:solidFill>
                <a:latin typeface="Arial"/>
                <a:cs typeface="Arial"/>
              </a:rPr>
              <a:t> </a:t>
            </a:r>
            <a:r>
              <a:rPr sz="1200" b="1" dirty="0">
                <a:solidFill>
                  <a:srgbClr val="62798A"/>
                </a:solidFill>
                <a:latin typeface="Arial"/>
                <a:cs typeface="Arial"/>
              </a:rPr>
              <a:t>Médico  </a:t>
            </a:r>
            <a:r>
              <a:rPr sz="1200" b="1" spc="-5" dirty="0">
                <a:solidFill>
                  <a:srgbClr val="62798A"/>
                </a:solidFill>
                <a:latin typeface="Arial"/>
                <a:cs typeface="Arial"/>
              </a:rPr>
              <a:t>e </a:t>
            </a:r>
            <a:r>
              <a:rPr sz="1200" b="1" dirty="0">
                <a:solidFill>
                  <a:srgbClr val="62798A"/>
                </a:solidFill>
                <a:latin typeface="Arial"/>
                <a:cs typeface="Arial"/>
              </a:rPr>
              <a:t>Saúde</a:t>
            </a:r>
            <a:r>
              <a:rPr sz="1200" b="1" spc="-35" dirty="0">
                <a:solidFill>
                  <a:srgbClr val="62798A"/>
                </a:solidFill>
                <a:latin typeface="Arial"/>
                <a:cs typeface="Arial"/>
              </a:rPr>
              <a:t> </a:t>
            </a:r>
            <a:r>
              <a:rPr sz="1200" b="1" dirty="0">
                <a:solidFill>
                  <a:srgbClr val="62798A"/>
                </a:solidFill>
                <a:latin typeface="Arial"/>
                <a:cs typeface="Arial"/>
              </a:rPr>
              <a:t>Ocupacional</a:t>
            </a:r>
            <a:endParaRPr sz="1200" dirty="0">
              <a:latin typeface="Arial"/>
              <a:cs typeface="Arial"/>
            </a:endParaRPr>
          </a:p>
        </p:txBody>
      </p:sp>
      <p:sp>
        <p:nvSpPr>
          <p:cNvPr id="13" name="object 13"/>
          <p:cNvSpPr txBox="1">
            <a:spLocks noGrp="1"/>
          </p:cNvSpPr>
          <p:nvPr>
            <p:ph type="title"/>
          </p:nvPr>
        </p:nvSpPr>
        <p:spPr>
          <a:xfrm>
            <a:off x="462708" y="1281475"/>
            <a:ext cx="11248221" cy="837793"/>
          </a:xfrm>
          <a:prstGeom prst="rect">
            <a:avLst/>
          </a:prstGeom>
        </p:spPr>
        <p:txBody>
          <a:bodyPr vert="horz" wrap="square" lIns="0" tIns="11430" rIns="0" bIns="0" rtlCol="0" anchor="ctr">
            <a:spAutoFit/>
          </a:bodyPr>
          <a:lstStyle/>
          <a:p>
            <a:pPr marL="12700" marR="5080" algn="just">
              <a:lnSpc>
                <a:spcPct val="116799"/>
              </a:lnSpc>
              <a:spcBef>
                <a:spcPts val="90"/>
              </a:spcBef>
            </a:pPr>
            <a:r>
              <a:rPr sz="2400" dirty="0">
                <a:solidFill>
                  <a:srgbClr val="002060"/>
                </a:solidFill>
                <a:latin typeface="Arial"/>
                <a:cs typeface="Arial"/>
              </a:rPr>
              <a:t>A soma </a:t>
            </a:r>
            <a:r>
              <a:rPr sz="2400" spc="-5" dirty="0">
                <a:solidFill>
                  <a:srgbClr val="002060"/>
                </a:solidFill>
                <a:latin typeface="Arial"/>
                <a:cs typeface="Arial"/>
              </a:rPr>
              <a:t>dos esforços resultará </a:t>
            </a:r>
            <a:r>
              <a:rPr sz="2400" dirty="0">
                <a:solidFill>
                  <a:srgbClr val="002060"/>
                </a:solidFill>
                <a:latin typeface="Arial"/>
                <a:cs typeface="Arial"/>
              </a:rPr>
              <a:t>na integração </a:t>
            </a:r>
            <a:r>
              <a:rPr sz="2400" spc="-5" dirty="0">
                <a:solidFill>
                  <a:srgbClr val="002060"/>
                </a:solidFill>
                <a:latin typeface="Arial"/>
                <a:cs typeface="Arial"/>
              </a:rPr>
              <a:t>das informações que  estão contidas </a:t>
            </a:r>
            <a:r>
              <a:rPr sz="2400" dirty="0">
                <a:solidFill>
                  <a:srgbClr val="002060"/>
                </a:solidFill>
                <a:latin typeface="Arial"/>
                <a:cs typeface="Arial"/>
              </a:rPr>
              <a:t>em </a:t>
            </a:r>
            <a:r>
              <a:rPr sz="2400" spc="-5" dirty="0">
                <a:solidFill>
                  <a:srgbClr val="002060"/>
                </a:solidFill>
                <a:latin typeface="Arial"/>
                <a:cs typeface="Arial"/>
              </a:rPr>
              <a:t>diversos </a:t>
            </a:r>
            <a:r>
              <a:rPr sz="2400" dirty="0">
                <a:solidFill>
                  <a:srgbClr val="002060"/>
                </a:solidFill>
                <a:latin typeface="Arial"/>
                <a:cs typeface="Arial"/>
              </a:rPr>
              <a:t>laudos e que </a:t>
            </a:r>
            <a:r>
              <a:rPr sz="2400" spc="-5" dirty="0">
                <a:solidFill>
                  <a:srgbClr val="002060"/>
                </a:solidFill>
                <a:latin typeface="Arial"/>
                <a:cs typeface="Arial"/>
              </a:rPr>
              <a:t>ainda </a:t>
            </a:r>
            <a:r>
              <a:rPr sz="2400" dirty="0">
                <a:solidFill>
                  <a:srgbClr val="002060"/>
                </a:solidFill>
                <a:latin typeface="Arial"/>
                <a:cs typeface="Arial"/>
              </a:rPr>
              <a:t>hoje são  processadas</a:t>
            </a:r>
            <a:r>
              <a:rPr sz="2400" spc="-35" dirty="0">
                <a:solidFill>
                  <a:srgbClr val="002060"/>
                </a:solidFill>
                <a:latin typeface="Arial"/>
                <a:cs typeface="Arial"/>
              </a:rPr>
              <a:t> </a:t>
            </a:r>
            <a:r>
              <a:rPr sz="2400" dirty="0">
                <a:solidFill>
                  <a:srgbClr val="002060"/>
                </a:solidFill>
                <a:latin typeface="Arial"/>
                <a:cs typeface="Arial"/>
              </a:rPr>
              <a:t>separadamente.</a:t>
            </a:r>
          </a:p>
        </p:txBody>
      </p:sp>
      <p:sp>
        <p:nvSpPr>
          <p:cNvPr id="16" name="Título 1"/>
          <p:cNvSpPr txBox="1">
            <a:spLocks/>
          </p:cNvSpPr>
          <p:nvPr/>
        </p:nvSpPr>
        <p:spPr>
          <a:xfrm>
            <a:off x="0" y="224449"/>
            <a:ext cx="12023188" cy="8587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b="1" dirty="0" smtClean="0"/>
              <a:t>Integração de informações</a:t>
            </a:r>
            <a:endParaRPr lang="pt-BR" b="1" dirty="0"/>
          </a:p>
        </p:txBody>
      </p:sp>
    </p:spTree>
    <p:extLst>
      <p:ext uri="{BB962C8B-B14F-4D97-AF65-F5344CB8AC3E}">
        <p14:creationId xmlns:p14="http://schemas.microsoft.com/office/powerpoint/2010/main" val="1695938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a:t>
            </a:r>
            <a:r>
              <a:rPr lang="pt-BR" b="1" dirty="0" smtClean="0"/>
              <a:t>Prazos a serem observados</a:t>
            </a:r>
            <a:endParaRPr lang="pt-BR" b="1" dirty="0"/>
          </a:p>
        </p:txBody>
      </p:sp>
      <p:sp>
        <p:nvSpPr>
          <p:cNvPr id="3" name="Espaço Reservado para Conteúdo 2"/>
          <p:cNvSpPr>
            <a:spLocks noGrp="1"/>
          </p:cNvSpPr>
          <p:nvPr>
            <p:ph idx="1"/>
          </p:nvPr>
        </p:nvSpPr>
        <p:spPr/>
        <p:txBody>
          <a:bodyPr/>
          <a:lstStyle/>
          <a:p>
            <a:r>
              <a:rPr lang="pt-BR" dirty="0">
                <a:latin typeface="Arial"/>
                <a:cs typeface="Arial"/>
              </a:rPr>
              <a:t>O </a:t>
            </a:r>
            <a:r>
              <a:rPr lang="pt-BR" spc="-5" dirty="0">
                <a:latin typeface="Arial"/>
                <a:cs typeface="Arial"/>
              </a:rPr>
              <a:t>mais importante do </a:t>
            </a:r>
            <a:r>
              <a:rPr lang="pt-BR" dirty="0" err="1">
                <a:latin typeface="Arial"/>
                <a:cs typeface="Arial"/>
              </a:rPr>
              <a:t>eSocial</a:t>
            </a:r>
            <a:r>
              <a:rPr lang="pt-BR" dirty="0">
                <a:latin typeface="Arial"/>
                <a:cs typeface="Arial"/>
              </a:rPr>
              <a:t>, </a:t>
            </a:r>
            <a:r>
              <a:rPr lang="pt-BR" spc="-5" dirty="0">
                <a:latin typeface="Arial"/>
                <a:cs typeface="Arial"/>
              </a:rPr>
              <a:t>além do </a:t>
            </a:r>
            <a:r>
              <a:rPr lang="pt-BR" dirty="0">
                <a:latin typeface="Arial"/>
                <a:cs typeface="Arial"/>
              </a:rPr>
              <a:t>correto  funcionamento, </a:t>
            </a:r>
            <a:r>
              <a:rPr lang="pt-BR" spc="-5" dirty="0">
                <a:latin typeface="Arial"/>
                <a:cs typeface="Arial"/>
              </a:rPr>
              <a:t>é o </a:t>
            </a:r>
            <a:r>
              <a:rPr lang="pt-BR" dirty="0">
                <a:latin typeface="Arial"/>
                <a:cs typeface="Arial"/>
              </a:rPr>
              <a:t>cumprimento </a:t>
            </a:r>
            <a:r>
              <a:rPr lang="pt-BR" spc="-5" dirty="0">
                <a:latin typeface="Arial"/>
                <a:cs typeface="Arial"/>
              </a:rPr>
              <a:t>de </a:t>
            </a:r>
            <a:r>
              <a:rPr lang="pt-BR" dirty="0">
                <a:latin typeface="Arial"/>
                <a:cs typeface="Arial"/>
              </a:rPr>
              <a:t>prazos, </a:t>
            </a:r>
            <a:r>
              <a:rPr lang="pt-BR" spc="-5" dirty="0">
                <a:latin typeface="Arial"/>
                <a:cs typeface="Arial"/>
              </a:rPr>
              <a:t>conforme  disposto no Manual de</a:t>
            </a:r>
            <a:r>
              <a:rPr lang="pt-BR" spc="50" dirty="0">
                <a:latin typeface="Arial"/>
                <a:cs typeface="Arial"/>
              </a:rPr>
              <a:t> </a:t>
            </a:r>
            <a:r>
              <a:rPr lang="pt-BR" spc="-5" dirty="0">
                <a:latin typeface="Arial"/>
                <a:cs typeface="Arial"/>
              </a:rPr>
              <a:t>Orientação.</a:t>
            </a:r>
            <a:endParaRPr lang="pt-BR" dirty="0">
              <a:latin typeface="Arial"/>
              <a:cs typeface="Arial"/>
            </a:endParaRPr>
          </a:p>
          <a:p>
            <a:endParaRPr lang="pt-BR" dirty="0"/>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9639" y="2595562"/>
            <a:ext cx="7227065" cy="2560332"/>
          </a:xfrm>
          <a:prstGeom prst="rect">
            <a:avLst/>
          </a:prstGeom>
        </p:spPr>
      </p:pic>
    </p:spTree>
    <p:extLst>
      <p:ext uri="{BB962C8B-B14F-4D97-AF65-F5344CB8AC3E}">
        <p14:creationId xmlns:p14="http://schemas.microsoft.com/office/powerpoint/2010/main" val="2469827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328291" y="931925"/>
          <a:ext cx="7523480" cy="4980938"/>
        </p:xfrm>
        <a:graphic>
          <a:graphicData uri="http://schemas.openxmlformats.org/drawingml/2006/table">
            <a:tbl>
              <a:tblPr firstRow="1" bandRow="1">
                <a:tableStyleId>{2D5ABB26-0587-4C30-8999-92F81FD0307C}</a:tableStyleId>
              </a:tblPr>
              <a:tblGrid>
                <a:gridCol w="285623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459740">
                <a:tc>
                  <a:txBody>
                    <a:bodyPr/>
                    <a:lstStyle/>
                    <a:p>
                      <a:pPr marL="114300">
                        <a:lnSpc>
                          <a:spcPct val="100000"/>
                        </a:lnSpc>
                        <a:spcBef>
                          <a:spcPts val="810"/>
                        </a:spcBef>
                      </a:pPr>
                      <a:r>
                        <a:rPr sz="1600" spc="-5" dirty="0">
                          <a:latin typeface="Arial"/>
                          <a:cs typeface="Arial"/>
                        </a:rPr>
                        <a:t>Descrição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300">
                        <a:lnSpc>
                          <a:spcPct val="100000"/>
                        </a:lnSpc>
                        <a:spcBef>
                          <a:spcPts val="810"/>
                        </a:spcBef>
                      </a:pPr>
                      <a:r>
                        <a:rPr sz="1600" spc="-5" dirty="0">
                          <a:latin typeface="Arial"/>
                          <a:cs typeface="Arial"/>
                        </a:rPr>
                        <a:t>Prazo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1191260">
                <a:tc>
                  <a:txBody>
                    <a:bodyPr/>
                    <a:lstStyle/>
                    <a:p>
                      <a:pPr marL="305435">
                        <a:lnSpc>
                          <a:spcPct val="100000"/>
                        </a:lnSpc>
                        <a:spcBef>
                          <a:spcPts val="815"/>
                        </a:spcBef>
                      </a:pPr>
                      <a:r>
                        <a:rPr sz="1600" spc="-5" dirty="0">
                          <a:latin typeface="Arial"/>
                          <a:cs typeface="Arial"/>
                        </a:rPr>
                        <a:t>Admissão do</a:t>
                      </a:r>
                      <a:r>
                        <a:rPr sz="1600" spc="-20" dirty="0">
                          <a:latin typeface="Arial"/>
                          <a:cs typeface="Arial"/>
                        </a:rPr>
                        <a:t> </a:t>
                      </a:r>
                      <a:r>
                        <a:rPr sz="1600" spc="-5" dirty="0">
                          <a:latin typeface="Arial"/>
                          <a:cs typeface="Arial"/>
                        </a:rPr>
                        <a:t>trabalhador</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300" marR="92710" algn="just">
                        <a:lnSpc>
                          <a:spcPct val="100000"/>
                        </a:lnSpc>
                        <a:spcBef>
                          <a:spcPts val="815"/>
                        </a:spcBef>
                      </a:pPr>
                      <a:r>
                        <a:rPr sz="1600" spc="-5" dirty="0">
                          <a:latin typeface="Arial"/>
                          <a:cs typeface="Arial"/>
                        </a:rPr>
                        <a:t>Até o dia anterior ao início da atividade laboral.  O </a:t>
                      </a:r>
                      <a:r>
                        <a:rPr sz="1600" spc="-25" dirty="0">
                          <a:latin typeface="Arial"/>
                          <a:cs typeface="Arial"/>
                        </a:rPr>
                        <a:t>empregador </a:t>
                      </a:r>
                      <a:r>
                        <a:rPr sz="1600" spc="-20" dirty="0">
                          <a:latin typeface="Arial"/>
                          <a:cs typeface="Arial"/>
                        </a:rPr>
                        <a:t>pode optar por enviar </a:t>
                      </a:r>
                      <a:r>
                        <a:rPr sz="1600" spc="-5" dirty="0">
                          <a:latin typeface="Arial"/>
                          <a:cs typeface="Arial"/>
                        </a:rPr>
                        <a:t>o </a:t>
                      </a:r>
                      <a:r>
                        <a:rPr sz="1600" spc="-20" dirty="0">
                          <a:latin typeface="Arial"/>
                          <a:cs typeface="Arial"/>
                        </a:rPr>
                        <a:t>registro  </a:t>
                      </a:r>
                      <a:r>
                        <a:rPr sz="1600" spc="-30" dirty="0">
                          <a:latin typeface="Arial"/>
                          <a:cs typeface="Arial"/>
                        </a:rPr>
                        <a:t>preliminar. </a:t>
                      </a:r>
                      <a:r>
                        <a:rPr sz="1600" spc="-5" dirty="0">
                          <a:latin typeface="Arial"/>
                          <a:cs typeface="Arial"/>
                        </a:rPr>
                        <a:t>Neste caso, o prazo </a:t>
                      </a:r>
                      <a:r>
                        <a:rPr sz="1600" dirty="0">
                          <a:latin typeface="Arial"/>
                          <a:cs typeface="Arial"/>
                        </a:rPr>
                        <a:t>será </a:t>
                      </a:r>
                      <a:r>
                        <a:rPr sz="1600" spc="-5" dirty="0">
                          <a:latin typeface="Arial"/>
                          <a:cs typeface="Arial"/>
                        </a:rPr>
                        <a:t>até o dia 7  do mês</a:t>
                      </a:r>
                      <a:r>
                        <a:rPr sz="1600" spc="20" dirty="0">
                          <a:latin typeface="Arial"/>
                          <a:cs typeface="Arial"/>
                        </a:rPr>
                        <a:t> </a:t>
                      </a:r>
                      <a:r>
                        <a:rPr sz="1600" spc="-5" dirty="0">
                          <a:latin typeface="Arial"/>
                          <a:cs typeface="Arial"/>
                        </a:rPr>
                        <a:t>seguinte.</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947419">
                <a:tc>
                  <a:txBody>
                    <a:bodyPr/>
                    <a:lstStyle/>
                    <a:p>
                      <a:pPr marL="197485" marR="177165" indent="-3175" algn="ctr">
                        <a:lnSpc>
                          <a:spcPct val="100000"/>
                        </a:lnSpc>
                        <a:spcBef>
                          <a:spcPts val="815"/>
                        </a:spcBef>
                      </a:pPr>
                      <a:r>
                        <a:rPr sz="1600" spc="-5" dirty="0">
                          <a:latin typeface="Arial"/>
                          <a:cs typeface="Arial"/>
                        </a:rPr>
                        <a:t>Afastamento temporário  (por doença ou acidente de  trabalho, de 1 até 15</a:t>
                      </a:r>
                      <a:r>
                        <a:rPr sz="1600" spc="5" dirty="0">
                          <a:latin typeface="Arial"/>
                          <a:cs typeface="Arial"/>
                        </a:rPr>
                        <a:t> </a:t>
                      </a:r>
                      <a:r>
                        <a:rPr sz="1600" dirty="0">
                          <a:latin typeface="Arial"/>
                          <a:cs typeface="Arial"/>
                        </a:rPr>
                        <a:t>dias)</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60020">
                        <a:lnSpc>
                          <a:spcPct val="100000"/>
                        </a:lnSpc>
                        <a:spcBef>
                          <a:spcPts val="815"/>
                        </a:spcBef>
                      </a:pPr>
                      <a:r>
                        <a:rPr sz="1600" spc="-5" dirty="0">
                          <a:latin typeface="Arial"/>
                          <a:cs typeface="Arial"/>
                        </a:rPr>
                        <a:t>Até o dia 7 do mês</a:t>
                      </a:r>
                      <a:r>
                        <a:rPr sz="1600" spc="50" dirty="0">
                          <a:latin typeface="Arial"/>
                          <a:cs typeface="Arial"/>
                        </a:rPr>
                        <a:t> </a:t>
                      </a:r>
                      <a:r>
                        <a:rPr sz="1600" spc="-5" dirty="0">
                          <a:latin typeface="Arial"/>
                          <a:cs typeface="Arial"/>
                        </a:rPr>
                        <a:t>seguinte.</a:t>
                      </a:r>
                      <a:endParaRPr sz="1600" dirty="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947419">
                <a:tc>
                  <a:txBody>
                    <a:bodyPr/>
                    <a:lstStyle/>
                    <a:p>
                      <a:pPr marL="168275" marR="147320" indent="-3175" algn="ctr">
                        <a:lnSpc>
                          <a:spcPct val="100000"/>
                        </a:lnSpc>
                        <a:spcBef>
                          <a:spcPts val="820"/>
                        </a:spcBef>
                      </a:pPr>
                      <a:r>
                        <a:rPr sz="1600" spc="-5" dirty="0">
                          <a:latin typeface="Arial"/>
                          <a:cs typeface="Arial"/>
                        </a:rPr>
                        <a:t>Afastamento temporário  (por doença ou acidente de  trabalho, superior a 15</a:t>
                      </a:r>
                      <a:r>
                        <a:rPr sz="1600" spc="30" dirty="0">
                          <a:latin typeface="Arial"/>
                          <a:cs typeface="Arial"/>
                        </a:rPr>
                        <a:t> </a:t>
                      </a:r>
                      <a:r>
                        <a:rPr sz="1600" spc="-5" dirty="0">
                          <a:latin typeface="Arial"/>
                          <a:cs typeface="Arial"/>
                        </a:rPr>
                        <a:t>dias)</a:t>
                      </a:r>
                      <a:endParaRPr sz="160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60020">
                        <a:lnSpc>
                          <a:spcPct val="100000"/>
                        </a:lnSpc>
                        <a:spcBef>
                          <a:spcPts val="820"/>
                        </a:spcBef>
                      </a:pPr>
                      <a:r>
                        <a:rPr sz="1600" spc="-5" dirty="0">
                          <a:latin typeface="Arial"/>
                          <a:cs typeface="Arial"/>
                        </a:rPr>
                        <a:t>Até o </a:t>
                      </a:r>
                      <a:r>
                        <a:rPr sz="1600" dirty="0">
                          <a:latin typeface="Arial"/>
                          <a:cs typeface="Arial"/>
                        </a:rPr>
                        <a:t>16</a:t>
                      </a:r>
                      <a:r>
                        <a:rPr sz="1575" u="sng" baseline="26455" dirty="0">
                          <a:uFill>
                            <a:solidFill>
                              <a:srgbClr val="000000"/>
                            </a:solidFill>
                          </a:uFill>
                          <a:latin typeface="Arial"/>
                          <a:cs typeface="Arial"/>
                        </a:rPr>
                        <a:t>o</a:t>
                      </a:r>
                      <a:r>
                        <a:rPr sz="1575" baseline="26455" dirty="0">
                          <a:latin typeface="Arial"/>
                          <a:cs typeface="Arial"/>
                        </a:rPr>
                        <a:t> </a:t>
                      </a:r>
                      <a:r>
                        <a:rPr sz="1600" spc="-5" dirty="0">
                          <a:latin typeface="Arial"/>
                          <a:cs typeface="Arial"/>
                        </a:rPr>
                        <a:t>dia de</a:t>
                      </a:r>
                      <a:r>
                        <a:rPr sz="1600" spc="-125" dirty="0">
                          <a:latin typeface="Arial"/>
                          <a:cs typeface="Arial"/>
                        </a:rPr>
                        <a:t> </a:t>
                      </a:r>
                      <a:r>
                        <a:rPr sz="1600" spc="-5" dirty="0">
                          <a:latin typeface="Arial"/>
                          <a:cs typeface="Arial"/>
                        </a:rPr>
                        <a:t>afastamento.</a:t>
                      </a:r>
                      <a:endParaRPr sz="1600" dirty="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r h="1435100">
                <a:tc>
                  <a:txBody>
                    <a:bodyPr/>
                    <a:lstStyle/>
                    <a:p>
                      <a:pPr marL="168275" marR="149860" indent="-1905" algn="ctr">
                        <a:lnSpc>
                          <a:spcPct val="100000"/>
                        </a:lnSpc>
                        <a:spcBef>
                          <a:spcPts val="820"/>
                        </a:spcBef>
                      </a:pPr>
                      <a:r>
                        <a:rPr sz="1600" spc="-5" dirty="0">
                          <a:latin typeface="Arial"/>
                          <a:cs typeface="Arial"/>
                        </a:rPr>
                        <a:t>Afastamento temporário  (por doença ou acidente de  trabalho, até 2</a:t>
                      </a:r>
                      <a:r>
                        <a:rPr sz="1600" spc="15" dirty="0">
                          <a:latin typeface="Arial"/>
                          <a:cs typeface="Arial"/>
                        </a:rPr>
                        <a:t> </a:t>
                      </a:r>
                      <a:r>
                        <a:rPr sz="1600" dirty="0">
                          <a:latin typeface="Arial"/>
                          <a:cs typeface="Arial"/>
                        </a:rPr>
                        <a:t>dias)</a:t>
                      </a:r>
                      <a:endParaRPr sz="160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300" marR="92710" algn="just">
                        <a:lnSpc>
                          <a:spcPct val="100000"/>
                        </a:lnSpc>
                        <a:spcBef>
                          <a:spcPts val="820"/>
                        </a:spcBef>
                      </a:pPr>
                      <a:r>
                        <a:rPr sz="1600" spc="-10" dirty="0">
                          <a:latin typeface="Arial"/>
                          <a:cs typeface="Arial"/>
                        </a:rPr>
                        <a:t>Não </a:t>
                      </a:r>
                      <a:r>
                        <a:rPr sz="1600" spc="-5" dirty="0">
                          <a:latin typeface="Arial"/>
                          <a:cs typeface="Arial"/>
                        </a:rPr>
                        <a:t>precisa ser enviado, exceto nos casos em  que houver outros </a:t>
                      </a:r>
                      <a:r>
                        <a:rPr sz="1600" dirty="0">
                          <a:latin typeface="Arial"/>
                          <a:cs typeface="Arial"/>
                        </a:rPr>
                        <a:t>afastamentos </a:t>
                      </a:r>
                      <a:r>
                        <a:rPr sz="1600" spc="-5" dirty="0">
                          <a:latin typeface="Arial"/>
                          <a:cs typeface="Arial"/>
                        </a:rPr>
                        <a:t>pelo mesmo  </a:t>
                      </a:r>
                      <a:r>
                        <a:rPr sz="1600" dirty="0">
                          <a:latin typeface="Arial"/>
                          <a:cs typeface="Arial"/>
                        </a:rPr>
                        <a:t>motivo </a:t>
                      </a:r>
                      <a:r>
                        <a:rPr sz="1600" spc="-5" dirty="0">
                          <a:latin typeface="Arial"/>
                          <a:cs typeface="Arial"/>
                        </a:rPr>
                        <a:t>que totalizem mais de 15 dias dentro </a:t>
                      </a:r>
                      <a:r>
                        <a:rPr sz="1600" spc="-10" dirty="0">
                          <a:latin typeface="Arial"/>
                          <a:cs typeface="Arial"/>
                        </a:rPr>
                        <a:t>de  </a:t>
                      </a:r>
                      <a:r>
                        <a:rPr sz="1600" spc="-5" dirty="0">
                          <a:latin typeface="Arial"/>
                          <a:cs typeface="Arial"/>
                        </a:rPr>
                        <a:t>60 dias. Neste caso, o prazo será até o </a:t>
                      </a:r>
                      <a:r>
                        <a:rPr sz="1600" dirty="0">
                          <a:latin typeface="Arial"/>
                          <a:cs typeface="Arial"/>
                        </a:rPr>
                        <a:t>16</a:t>
                      </a:r>
                      <a:r>
                        <a:rPr sz="1575" u="sng" baseline="26455" dirty="0">
                          <a:uFill>
                            <a:solidFill>
                              <a:srgbClr val="000000"/>
                            </a:solidFill>
                          </a:uFill>
                          <a:latin typeface="Arial"/>
                          <a:cs typeface="Arial"/>
                        </a:rPr>
                        <a:t>o</a:t>
                      </a:r>
                      <a:r>
                        <a:rPr sz="1575" baseline="26455" dirty="0">
                          <a:latin typeface="Arial"/>
                          <a:cs typeface="Arial"/>
                        </a:rPr>
                        <a:t> </a:t>
                      </a:r>
                      <a:r>
                        <a:rPr sz="1600" spc="-5" dirty="0">
                          <a:latin typeface="Arial"/>
                          <a:cs typeface="Arial"/>
                        </a:rPr>
                        <a:t>dia  do afastamento.</a:t>
                      </a:r>
                      <a:endParaRPr sz="1600" dirty="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1167788" y="1729648"/>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1167788" y="2981719"/>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Direita 6"/>
          <p:cNvSpPr/>
          <p:nvPr/>
        </p:nvSpPr>
        <p:spPr>
          <a:xfrm>
            <a:off x="1206347" y="3887118"/>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Direita 7"/>
          <p:cNvSpPr/>
          <p:nvPr/>
        </p:nvSpPr>
        <p:spPr>
          <a:xfrm>
            <a:off x="1167788" y="4924360"/>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Seta para a Esquerda 8"/>
          <p:cNvSpPr/>
          <p:nvPr/>
        </p:nvSpPr>
        <p:spPr>
          <a:xfrm rot="5400000">
            <a:off x="6064342" y="3026492"/>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a Esquerda 9"/>
          <p:cNvSpPr/>
          <p:nvPr/>
        </p:nvSpPr>
        <p:spPr>
          <a:xfrm rot="5400000">
            <a:off x="5896935" y="3989078"/>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Seta para a Esquerda 10"/>
          <p:cNvSpPr/>
          <p:nvPr/>
        </p:nvSpPr>
        <p:spPr>
          <a:xfrm rot="5400000">
            <a:off x="9092145" y="5640186"/>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173417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218678" y="1096392"/>
          <a:ext cx="7799705" cy="4178297"/>
        </p:xfrm>
        <a:graphic>
          <a:graphicData uri="http://schemas.openxmlformats.org/drawingml/2006/table">
            <a:tbl>
              <a:tblPr firstRow="1" bandRow="1">
                <a:tableStyleId>{2D5ABB26-0587-4C30-8999-92F81FD0307C}</a:tableStyleId>
              </a:tblPr>
              <a:tblGrid>
                <a:gridCol w="2828290">
                  <a:extLst>
                    <a:ext uri="{9D8B030D-6E8A-4147-A177-3AD203B41FA5}">
                      <a16:colId xmlns:a16="http://schemas.microsoft.com/office/drawing/2014/main" val="20000"/>
                    </a:ext>
                  </a:extLst>
                </a:gridCol>
                <a:gridCol w="4971415">
                  <a:extLst>
                    <a:ext uri="{9D8B030D-6E8A-4147-A177-3AD203B41FA5}">
                      <a16:colId xmlns:a16="http://schemas.microsoft.com/office/drawing/2014/main" val="20001"/>
                    </a:ext>
                  </a:extLst>
                </a:gridCol>
              </a:tblGrid>
              <a:tr h="459740">
                <a:tc>
                  <a:txBody>
                    <a:bodyPr/>
                    <a:lstStyle/>
                    <a:p>
                      <a:pPr marL="114300">
                        <a:lnSpc>
                          <a:spcPct val="100000"/>
                        </a:lnSpc>
                        <a:spcBef>
                          <a:spcPts val="810"/>
                        </a:spcBef>
                      </a:pPr>
                      <a:r>
                        <a:rPr sz="1600" spc="-5" dirty="0">
                          <a:latin typeface="Arial"/>
                          <a:cs typeface="Arial"/>
                        </a:rPr>
                        <a:t>Descrição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935">
                        <a:lnSpc>
                          <a:spcPct val="100000"/>
                        </a:lnSpc>
                        <a:spcBef>
                          <a:spcPts val="810"/>
                        </a:spcBef>
                      </a:pPr>
                      <a:r>
                        <a:rPr sz="1600" spc="-5" dirty="0">
                          <a:latin typeface="Arial"/>
                          <a:cs typeface="Arial"/>
                        </a:rPr>
                        <a:t>Prazo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947419">
                <a:tc>
                  <a:txBody>
                    <a:bodyPr/>
                    <a:lstStyle/>
                    <a:p>
                      <a:pPr marL="267335" marR="248285" indent="1905" algn="ctr">
                        <a:lnSpc>
                          <a:spcPct val="100000"/>
                        </a:lnSpc>
                        <a:spcBef>
                          <a:spcPts val="810"/>
                        </a:spcBef>
                      </a:pPr>
                      <a:r>
                        <a:rPr sz="1600" spc="-5" dirty="0">
                          <a:latin typeface="Arial"/>
                          <a:cs typeface="Arial"/>
                        </a:rPr>
                        <a:t>Afastamento temporário  (por doença ou acidente,  superior a 15</a:t>
                      </a:r>
                      <a:r>
                        <a:rPr sz="1600" spc="5" dirty="0">
                          <a:latin typeface="Arial"/>
                          <a:cs typeface="Arial"/>
                        </a:rPr>
                        <a:t> </a:t>
                      </a:r>
                      <a:r>
                        <a:rPr sz="1600" spc="-5" dirty="0">
                          <a:latin typeface="Arial"/>
                          <a:cs typeface="Arial"/>
                        </a:rPr>
                        <a:t>dias)</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60655">
                        <a:lnSpc>
                          <a:spcPct val="100000"/>
                        </a:lnSpc>
                        <a:spcBef>
                          <a:spcPts val="810"/>
                        </a:spcBef>
                      </a:pPr>
                      <a:r>
                        <a:rPr sz="1600" spc="-5" dirty="0">
                          <a:latin typeface="Arial"/>
                          <a:cs typeface="Arial"/>
                        </a:rPr>
                        <a:t>Até o 16</a:t>
                      </a:r>
                      <a:r>
                        <a:rPr sz="1575" u="sng" spc="-7" baseline="26455" dirty="0">
                          <a:uFill>
                            <a:solidFill>
                              <a:srgbClr val="000000"/>
                            </a:solidFill>
                          </a:uFill>
                          <a:latin typeface="Arial"/>
                          <a:cs typeface="Arial"/>
                        </a:rPr>
                        <a:t>o</a:t>
                      </a:r>
                      <a:r>
                        <a:rPr sz="1575" spc="-7" baseline="26455" dirty="0">
                          <a:latin typeface="Arial"/>
                          <a:cs typeface="Arial"/>
                        </a:rPr>
                        <a:t> </a:t>
                      </a:r>
                      <a:r>
                        <a:rPr sz="1600" spc="-5" dirty="0">
                          <a:latin typeface="Arial"/>
                          <a:cs typeface="Arial"/>
                        </a:rPr>
                        <a:t>dia de</a:t>
                      </a:r>
                      <a:r>
                        <a:rPr sz="1600" spc="-120" dirty="0">
                          <a:latin typeface="Arial"/>
                          <a:cs typeface="Arial"/>
                        </a:rPr>
                        <a:t> </a:t>
                      </a:r>
                      <a:r>
                        <a:rPr sz="1600" spc="-5" dirty="0">
                          <a:latin typeface="Arial"/>
                          <a:cs typeface="Arial"/>
                        </a:rPr>
                        <a:t>afastamento.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755650">
                <a:tc>
                  <a:txBody>
                    <a:bodyPr/>
                    <a:lstStyle/>
                    <a:p>
                      <a:pPr marL="306705" marR="118745" indent="-169545">
                        <a:lnSpc>
                          <a:spcPct val="100000"/>
                        </a:lnSpc>
                        <a:spcBef>
                          <a:spcPts val="815"/>
                        </a:spcBef>
                      </a:pPr>
                      <a:r>
                        <a:rPr sz="1600" spc="-5" dirty="0">
                          <a:latin typeface="Arial"/>
                          <a:cs typeface="Arial"/>
                        </a:rPr>
                        <a:t>Afastamento (por doença ou  acidente, de 3 a 15</a:t>
                      </a:r>
                      <a:r>
                        <a:rPr sz="1600" dirty="0">
                          <a:latin typeface="Arial"/>
                          <a:cs typeface="Arial"/>
                        </a:rPr>
                        <a:t> </a:t>
                      </a:r>
                      <a:r>
                        <a:rPr sz="1600" spc="-5" dirty="0">
                          <a:latin typeface="Arial"/>
                          <a:cs typeface="Arial"/>
                        </a:rPr>
                        <a:t>dias)</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60655">
                        <a:lnSpc>
                          <a:spcPct val="100000"/>
                        </a:lnSpc>
                        <a:spcBef>
                          <a:spcPts val="815"/>
                        </a:spcBef>
                      </a:pPr>
                      <a:r>
                        <a:rPr sz="1600" spc="-5" dirty="0">
                          <a:latin typeface="Arial"/>
                          <a:cs typeface="Arial"/>
                        </a:rPr>
                        <a:t>Até o dia 7 do mês</a:t>
                      </a:r>
                      <a:r>
                        <a:rPr sz="1600" spc="50" dirty="0">
                          <a:latin typeface="Arial"/>
                          <a:cs typeface="Arial"/>
                        </a:rPr>
                        <a:t> </a:t>
                      </a:r>
                      <a:r>
                        <a:rPr sz="1600" spc="-5" dirty="0">
                          <a:latin typeface="Arial"/>
                          <a:cs typeface="Arial"/>
                        </a:rPr>
                        <a:t>seguinte.</a:t>
                      </a:r>
                      <a:endParaRPr sz="1600" dirty="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1007744">
                <a:tc>
                  <a:txBody>
                    <a:bodyPr/>
                    <a:lstStyle/>
                    <a:p>
                      <a:pPr marL="516890" marR="220979" indent="-277495">
                        <a:lnSpc>
                          <a:spcPct val="100000"/>
                        </a:lnSpc>
                        <a:spcBef>
                          <a:spcPts val="815"/>
                        </a:spcBef>
                      </a:pPr>
                      <a:r>
                        <a:rPr sz="1600" spc="-5" dirty="0">
                          <a:latin typeface="Arial"/>
                          <a:cs typeface="Arial"/>
                        </a:rPr>
                        <a:t>Alterações de cadastro ou  contrato de</a:t>
                      </a:r>
                      <a:r>
                        <a:rPr sz="1600" spc="5" dirty="0">
                          <a:latin typeface="Arial"/>
                          <a:cs typeface="Arial"/>
                        </a:rPr>
                        <a:t> </a:t>
                      </a:r>
                      <a:r>
                        <a:rPr sz="1600" spc="-5" dirty="0">
                          <a:latin typeface="Arial"/>
                          <a:cs typeface="Arial"/>
                        </a:rPr>
                        <a:t>trabalho</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935" marR="92710" algn="just">
                        <a:lnSpc>
                          <a:spcPct val="100000"/>
                        </a:lnSpc>
                        <a:spcBef>
                          <a:spcPts val="815"/>
                        </a:spcBef>
                      </a:pPr>
                      <a:r>
                        <a:rPr sz="1600" spc="-5" dirty="0">
                          <a:latin typeface="Arial"/>
                          <a:cs typeface="Arial"/>
                        </a:rPr>
                        <a:t>Envio do evento até o dia 7 do </a:t>
                      </a:r>
                      <a:r>
                        <a:rPr sz="1600" dirty="0">
                          <a:latin typeface="Arial"/>
                          <a:cs typeface="Arial"/>
                        </a:rPr>
                        <a:t>mês </a:t>
                      </a:r>
                      <a:r>
                        <a:rPr sz="1600" spc="-5" dirty="0">
                          <a:latin typeface="Arial"/>
                          <a:cs typeface="Arial"/>
                        </a:rPr>
                        <a:t>subsequente ou  até o envio da remuneração do mês/competência a  que </a:t>
                      </a:r>
                      <a:r>
                        <a:rPr sz="1600" dirty="0">
                          <a:latin typeface="Arial"/>
                          <a:cs typeface="Arial"/>
                        </a:rPr>
                        <a:t>se </a:t>
                      </a:r>
                      <a:r>
                        <a:rPr sz="1600" spc="-5" dirty="0">
                          <a:latin typeface="Arial"/>
                          <a:cs typeface="Arial"/>
                        </a:rPr>
                        <a:t>refere.</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r h="1007744">
                <a:tc>
                  <a:txBody>
                    <a:bodyPr/>
                    <a:lstStyle/>
                    <a:p>
                      <a:pPr marL="869315">
                        <a:lnSpc>
                          <a:spcPct val="100000"/>
                        </a:lnSpc>
                        <a:spcBef>
                          <a:spcPts val="820"/>
                        </a:spcBef>
                      </a:pPr>
                      <a:r>
                        <a:rPr sz="1600" spc="-10" dirty="0">
                          <a:latin typeface="Arial"/>
                          <a:cs typeface="Arial"/>
                        </a:rPr>
                        <a:t>Aviso</a:t>
                      </a:r>
                      <a:r>
                        <a:rPr sz="1600" spc="-30" dirty="0">
                          <a:latin typeface="Arial"/>
                          <a:cs typeface="Arial"/>
                        </a:rPr>
                        <a:t> </a:t>
                      </a:r>
                      <a:r>
                        <a:rPr sz="1600" spc="-5" dirty="0">
                          <a:latin typeface="Arial"/>
                          <a:cs typeface="Arial"/>
                        </a:rPr>
                        <a:t>prévio</a:t>
                      </a:r>
                      <a:endParaRPr sz="160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935" marR="92710" algn="just">
                        <a:lnSpc>
                          <a:spcPct val="100000"/>
                        </a:lnSpc>
                        <a:spcBef>
                          <a:spcPts val="820"/>
                        </a:spcBef>
                      </a:pPr>
                      <a:r>
                        <a:rPr sz="1600" spc="-5" dirty="0">
                          <a:latin typeface="Arial"/>
                          <a:cs typeface="Arial"/>
                        </a:rPr>
                        <a:t>Envio do evento até o dia 7 do </a:t>
                      </a:r>
                      <a:r>
                        <a:rPr sz="1600" dirty="0">
                          <a:latin typeface="Arial"/>
                          <a:cs typeface="Arial"/>
                        </a:rPr>
                        <a:t>mês </a:t>
                      </a:r>
                      <a:r>
                        <a:rPr sz="1600" spc="-5" dirty="0">
                          <a:latin typeface="Arial"/>
                          <a:cs typeface="Arial"/>
                        </a:rPr>
                        <a:t>subsequente ou  até o envio da remuneração do mês/competência a  que </a:t>
                      </a:r>
                      <a:r>
                        <a:rPr sz="1600" dirty="0">
                          <a:latin typeface="Arial"/>
                          <a:cs typeface="Arial"/>
                        </a:rPr>
                        <a:t>se </a:t>
                      </a:r>
                      <a:r>
                        <a:rPr sz="1600" spc="-5" dirty="0">
                          <a:latin typeface="Arial"/>
                          <a:cs typeface="Arial"/>
                        </a:rPr>
                        <a:t>refere.</a:t>
                      </a:r>
                      <a:endParaRPr sz="1600" dirty="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1167788" y="1795750"/>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1167788" y="2739357"/>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Esquerda 6"/>
          <p:cNvSpPr/>
          <p:nvPr/>
        </p:nvSpPr>
        <p:spPr>
          <a:xfrm rot="5400000">
            <a:off x="5678752" y="1987943"/>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Esquerda 7"/>
          <p:cNvSpPr/>
          <p:nvPr/>
        </p:nvSpPr>
        <p:spPr>
          <a:xfrm rot="5400000">
            <a:off x="5927444" y="2937058"/>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64141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137150230"/>
              </p:ext>
            </p:extLst>
          </p:nvPr>
        </p:nvGraphicFramePr>
        <p:xfrm>
          <a:off x="2153462" y="1138047"/>
          <a:ext cx="7853680" cy="4249416"/>
        </p:xfrm>
        <a:graphic>
          <a:graphicData uri="http://schemas.openxmlformats.org/drawingml/2006/table">
            <a:tbl>
              <a:tblPr firstRow="1" bandRow="1">
                <a:tableStyleId>{2D5ABB26-0587-4C30-8999-92F81FD0307C}</a:tableStyleId>
              </a:tblPr>
              <a:tblGrid>
                <a:gridCol w="2847975">
                  <a:extLst>
                    <a:ext uri="{9D8B030D-6E8A-4147-A177-3AD203B41FA5}">
                      <a16:colId xmlns:a16="http://schemas.microsoft.com/office/drawing/2014/main" val="20000"/>
                    </a:ext>
                  </a:extLst>
                </a:gridCol>
                <a:gridCol w="5005705">
                  <a:extLst>
                    <a:ext uri="{9D8B030D-6E8A-4147-A177-3AD203B41FA5}">
                      <a16:colId xmlns:a16="http://schemas.microsoft.com/office/drawing/2014/main" val="20001"/>
                    </a:ext>
                  </a:extLst>
                </a:gridCol>
              </a:tblGrid>
              <a:tr h="459740">
                <a:tc>
                  <a:txBody>
                    <a:bodyPr/>
                    <a:lstStyle/>
                    <a:p>
                      <a:pPr marL="114300">
                        <a:lnSpc>
                          <a:spcPct val="100000"/>
                        </a:lnSpc>
                        <a:spcBef>
                          <a:spcPts val="810"/>
                        </a:spcBef>
                      </a:pPr>
                      <a:r>
                        <a:rPr sz="1600" spc="-5" dirty="0">
                          <a:latin typeface="Arial"/>
                          <a:cs typeface="Arial"/>
                        </a:rPr>
                        <a:t>Descrição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300">
                        <a:lnSpc>
                          <a:spcPct val="100000"/>
                        </a:lnSpc>
                        <a:spcBef>
                          <a:spcPts val="810"/>
                        </a:spcBef>
                      </a:pPr>
                      <a:r>
                        <a:rPr sz="1600" spc="-5" dirty="0">
                          <a:latin typeface="Arial"/>
                          <a:cs typeface="Arial"/>
                        </a:rPr>
                        <a:t>Prazo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947419">
                <a:tc>
                  <a:txBody>
                    <a:bodyPr/>
                    <a:lstStyle/>
                    <a:p>
                      <a:pPr marL="949325" marR="288290" indent="-643255">
                        <a:lnSpc>
                          <a:spcPct val="100000"/>
                        </a:lnSpc>
                        <a:spcBef>
                          <a:spcPts val="810"/>
                        </a:spcBef>
                      </a:pPr>
                      <a:r>
                        <a:rPr sz="1600" spc="-5" dirty="0">
                          <a:latin typeface="Arial"/>
                          <a:cs typeface="Arial"/>
                        </a:rPr>
                        <a:t>Comunicado de</a:t>
                      </a:r>
                      <a:r>
                        <a:rPr sz="1600" spc="-40" dirty="0">
                          <a:latin typeface="Arial"/>
                          <a:cs typeface="Arial"/>
                        </a:rPr>
                        <a:t> </a:t>
                      </a:r>
                      <a:r>
                        <a:rPr sz="1600" spc="-5" dirty="0">
                          <a:latin typeface="Arial"/>
                          <a:cs typeface="Arial"/>
                        </a:rPr>
                        <a:t>acidente  de</a:t>
                      </a:r>
                      <a:r>
                        <a:rPr sz="1600" dirty="0">
                          <a:latin typeface="Arial"/>
                          <a:cs typeface="Arial"/>
                        </a:rPr>
                        <a:t> </a:t>
                      </a:r>
                      <a:r>
                        <a:rPr sz="1600" spc="-5" dirty="0">
                          <a:latin typeface="Arial"/>
                          <a:cs typeface="Arial"/>
                        </a:rPr>
                        <a:t>trabalho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300" marR="92075" algn="just">
                        <a:lnSpc>
                          <a:spcPct val="100000"/>
                        </a:lnSpc>
                        <a:spcBef>
                          <a:spcPts val="810"/>
                        </a:spcBef>
                      </a:pPr>
                      <a:r>
                        <a:rPr sz="1600" spc="-10" dirty="0">
                          <a:solidFill>
                            <a:srgbClr val="FF0000"/>
                          </a:solidFill>
                          <a:latin typeface="Arial"/>
                          <a:cs typeface="Arial"/>
                        </a:rPr>
                        <a:t>No </a:t>
                      </a:r>
                      <a:r>
                        <a:rPr sz="1600" spc="-5" dirty="0">
                          <a:solidFill>
                            <a:srgbClr val="FF0000"/>
                          </a:solidFill>
                          <a:latin typeface="Arial"/>
                          <a:cs typeface="Arial"/>
                        </a:rPr>
                        <a:t>dia seguinte ao acidente de trabalho </a:t>
                      </a:r>
                      <a:r>
                        <a:rPr sz="1600" spc="-5" dirty="0">
                          <a:latin typeface="Arial"/>
                          <a:cs typeface="Arial"/>
                        </a:rPr>
                        <a:t>ou  </a:t>
                      </a:r>
                      <a:r>
                        <a:rPr sz="1600" spc="-5" dirty="0">
                          <a:solidFill>
                            <a:srgbClr val="FF0000"/>
                          </a:solidFill>
                          <a:latin typeface="Arial"/>
                          <a:cs typeface="Arial"/>
                        </a:rPr>
                        <a:t>imediatamente</a:t>
                      </a:r>
                      <a:r>
                        <a:rPr sz="1600" spc="-5" dirty="0">
                          <a:latin typeface="Arial"/>
                          <a:cs typeface="Arial"/>
                        </a:rPr>
                        <a:t> nos casos resultantes em morte  do </a:t>
                      </a:r>
                      <a:r>
                        <a:rPr sz="1600" spc="-10" dirty="0">
                          <a:latin typeface="Arial"/>
                          <a:cs typeface="Arial"/>
                        </a:rPr>
                        <a:t>trabalhador.</a:t>
                      </a:r>
                      <a:endParaRPr sz="1600" dirty="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947419">
                <a:tc>
                  <a:txBody>
                    <a:bodyPr/>
                    <a:lstStyle/>
                    <a:p>
                      <a:pPr marL="12065" algn="ctr">
                        <a:lnSpc>
                          <a:spcPct val="100000"/>
                        </a:lnSpc>
                        <a:spcBef>
                          <a:spcPts val="815"/>
                        </a:spcBef>
                      </a:pPr>
                      <a:r>
                        <a:rPr sz="1600" spc="-5" dirty="0">
                          <a:latin typeface="Arial"/>
                          <a:cs typeface="Arial"/>
                        </a:rPr>
                        <a:t>Condições ambientais</a:t>
                      </a:r>
                      <a:r>
                        <a:rPr sz="1600" spc="-20" dirty="0">
                          <a:latin typeface="Arial"/>
                          <a:cs typeface="Arial"/>
                        </a:rPr>
                        <a:t> </a:t>
                      </a:r>
                      <a:r>
                        <a:rPr sz="1600" spc="-5" dirty="0">
                          <a:latin typeface="Arial"/>
                          <a:cs typeface="Arial"/>
                        </a:rPr>
                        <a:t>do</a:t>
                      </a:r>
                      <a:endParaRPr sz="1600">
                        <a:latin typeface="Arial"/>
                        <a:cs typeface="Arial"/>
                      </a:endParaRPr>
                    </a:p>
                    <a:p>
                      <a:pPr marL="12065" algn="ctr">
                        <a:lnSpc>
                          <a:spcPct val="100000"/>
                        </a:lnSpc>
                      </a:pPr>
                      <a:r>
                        <a:rPr sz="1600" spc="-5" dirty="0">
                          <a:latin typeface="Arial"/>
                          <a:cs typeface="Arial"/>
                        </a:rPr>
                        <a:t>trabalho – fator de</a:t>
                      </a:r>
                      <a:r>
                        <a:rPr sz="1600" spc="35" dirty="0">
                          <a:latin typeface="Arial"/>
                          <a:cs typeface="Arial"/>
                        </a:rPr>
                        <a:t> </a:t>
                      </a:r>
                      <a:r>
                        <a:rPr sz="1600" spc="-5" dirty="0">
                          <a:latin typeface="Arial"/>
                          <a:cs typeface="Arial"/>
                        </a:rPr>
                        <a:t>risco</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300" marR="92075" algn="just">
                        <a:lnSpc>
                          <a:spcPct val="100000"/>
                        </a:lnSpc>
                        <a:spcBef>
                          <a:spcPts val="815"/>
                        </a:spcBef>
                      </a:pPr>
                      <a:r>
                        <a:rPr sz="1600" spc="-5" dirty="0">
                          <a:latin typeface="Arial"/>
                          <a:cs typeface="Arial"/>
                        </a:rPr>
                        <a:t>Envio do evento até o dia 7 do </a:t>
                      </a:r>
                      <a:r>
                        <a:rPr sz="1600" dirty="0">
                          <a:latin typeface="Arial"/>
                          <a:cs typeface="Arial"/>
                        </a:rPr>
                        <a:t>mês </a:t>
                      </a:r>
                      <a:r>
                        <a:rPr sz="1600" spc="-5" dirty="0">
                          <a:latin typeface="Arial"/>
                          <a:cs typeface="Arial"/>
                        </a:rPr>
                        <a:t>subsequente </a:t>
                      </a:r>
                      <a:r>
                        <a:rPr sz="1600" spc="-10" dirty="0">
                          <a:latin typeface="Arial"/>
                          <a:cs typeface="Arial"/>
                        </a:rPr>
                        <a:t>ou  </a:t>
                      </a:r>
                      <a:r>
                        <a:rPr sz="1600" spc="-5" dirty="0">
                          <a:latin typeface="Arial"/>
                          <a:cs typeface="Arial"/>
                        </a:rPr>
                        <a:t>até o envio da remuneração do mês/competência a  que </a:t>
                      </a:r>
                      <a:r>
                        <a:rPr sz="1600" dirty="0">
                          <a:latin typeface="Arial"/>
                          <a:cs typeface="Arial"/>
                        </a:rPr>
                        <a:t>se </a:t>
                      </a:r>
                      <a:r>
                        <a:rPr sz="1600" spc="-5" dirty="0">
                          <a:latin typeface="Arial"/>
                          <a:cs typeface="Arial"/>
                        </a:rPr>
                        <a:t>refere.</a:t>
                      </a:r>
                      <a:endParaRPr sz="1600" dirty="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947419">
                <a:tc>
                  <a:txBody>
                    <a:bodyPr/>
                    <a:lstStyle/>
                    <a:p>
                      <a:pPr marL="808990">
                        <a:lnSpc>
                          <a:spcPct val="100000"/>
                        </a:lnSpc>
                        <a:spcBef>
                          <a:spcPts val="815"/>
                        </a:spcBef>
                      </a:pPr>
                      <a:r>
                        <a:rPr sz="1600" spc="-5" dirty="0">
                          <a:latin typeface="Arial"/>
                          <a:cs typeface="Arial"/>
                        </a:rPr>
                        <a:t>Desligamento</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300" marR="92075" algn="just">
                        <a:lnSpc>
                          <a:spcPct val="100000"/>
                        </a:lnSpc>
                        <a:spcBef>
                          <a:spcPts val="815"/>
                        </a:spcBef>
                      </a:pPr>
                      <a:r>
                        <a:rPr sz="1600" spc="-5" dirty="0">
                          <a:latin typeface="Arial"/>
                          <a:cs typeface="Arial"/>
                        </a:rPr>
                        <a:t>Envio do evento até o dia 7 do </a:t>
                      </a:r>
                      <a:r>
                        <a:rPr sz="1600" dirty="0">
                          <a:latin typeface="Arial"/>
                          <a:cs typeface="Arial"/>
                        </a:rPr>
                        <a:t>mês </a:t>
                      </a:r>
                      <a:r>
                        <a:rPr sz="1600" spc="-5" dirty="0">
                          <a:latin typeface="Arial"/>
                          <a:cs typeface="Arial"/>
                        </a:rPr>
                        <a:t>subsequente ou  até o envio da remuneração do mês/competência a  que </a:t>
                      </a:r>
                      <a:r>
                        <a:rPr sz="1600" dirty="0">
                          <a:latin typeface="Arial"/>
                          <a:cs typeface="Arial"/>
                        </a:rPr>
                        <a:t>se </a:t>
                      </a:r>
                      <a:r>
                        <a:rPr sz="1600" spc="-5" dirty="0">
                          <a:latin typeface="Arial"/>
                          <a:cs typeface="Arial"/>
                        </a:rPr>
                        <a:t>refere.</a:t>
                      </a:r>
                      <a:endParaRPr sz="16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r h="947419">
                <a:tc>
                  <a:txBody>
                    <a:bodyPr/>
                    <a:lstStyle/>
                    <a:p>
                      <a:pPr marL="876300">
                        <a:lnSpc>
                          <a:spcPct val="100000"/>
                        </a:lnSpc>
                        <a:spcBef>
                          <a:spcPts val="820"/>
                        </a:spcBef>
                      </a:pPr>
                      <a:r>
                        <a:rPr sz="1600" spc="-5" dirty="0">
                          <a:latin typeface="Arial"/>
                          <a:cs typeface="Arial"/>
                        </a:rPr>
                        <a:t>Estabilidade</a:t>
                      </a:r>
                      <a:endParaRPr sz="160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300" marR="92075" algn="just">
                        <a:lnSpc>
                          <a:spcPct val="100000"/>
                        </a:lnSpc>
                        <a:spcBef>
                          <a:spcPts val="820"/>
                        </a:spcBef>
                      </a:pPr>
                      <a:r>
                        <a:rPr sz="1600" spc="-5" dirty="0">
                          <a:latin typeface="Arial"/>
                          <a:cs typeface="Arial"/>
                        </a:rPr>
                        <a:t>Envio do evento até o dia 7 do </a:t>
                      </a:r>
                      <a:r>
                        <a:rPr sz="1600" dirty="0">
                          <a:latin typeface="Arial"/>
                          <a:cs typeface="Arial"/>
                        </a:rPr>
                        <a:t>mês </a:t>
                      </a:r>
                      <a:r>
                        <a:rPr sz="1600" spc="-5" dirty="0">
                          <a:latin typeface="Arial"/>
                          <a:cs typeface="Arial"/>
                        </a:rPr>
                        <a:t>subsequente ou  até o </a:t>
                      </a:r>
                      <a:r>
                        <a:rPr sz="1600" dirty="0">
                          <a:latin typeface="Arial"/>
                          <a:cs typeface="Arial"/>
                        </a:rPr>
                        <a:t>envio </a:t>
                      </a:r>
                      <a:r>
                        <a:rPr sz="1600" spc="-5" dirty="0">
                          <a:latin typeface="Arial"/>
                          <a:cs typeface="Arial"/>
                        </a:rPr>
                        <a:t>da remuneração do mês/competência a  que </a:t>
                      </a:r>
                      <a:r>
                        <a:rPr sz="1600" dirty="0">
                          <a:latin typeface="Arial"/>
                          <a:cs typeface="Arial"/>
                        </a:rPr>
                        <a:t>se </a:t>
                      </a:r>
                      <a:r>
                        <a:rPr sz="1600" spc="-5" dirty="0">
                          <a:latin typeface="Arial"/>
                          <a:cs typeface="Arial"/>
                        </a:rPr>
                        <a:t>refere.</a:t>
                      </a:r>
                      <a:endParaRPr sz="1600" dirty="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4"/>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1167788" y="1729648"/>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1167788" y="2833097"/>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Esquerda 6"/>
          <p:cNvSpPr/>
          <p:nvPr/>
        </p:nvSpPr>
        <p:spPr>
          <a:xfrm rot="16200000">
            <a:off x="7428914" y="2318545"/>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02580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143950" y="1577087"/>
          <a:ext cx="7853680" cy="3608069"/>
        </p:xfrm>
        <a:graphic>
          <a:graphicData uri="http://schemas.openxmlformats.org/drawingml/2006/table">
            <a:tbl>
              <a:tblPr firstRow="1" bandRow="1">
                <a:tableStyleId>{2D5ABB26-0587-4C30-8999-92F81FD0307C}</a:tableStyleId>
              </a:tblPr>
              <a:tblGrid>
                <a:gridCol w="2847975">
                  <a:extLst>
                    <a:ext uri="{9D8B030D-6E8A-4147-A177-3AD203B41FA5}">
                      <a16:colId xmlns:a16="http://schemas.microsoft.com/office/drawing/2014/main" val="20000"/>
                    </a:ext>
                  </a:extLst>
                </a:gridCol>
                <a:gridCol w="5005705">
                  <a:extLst>
                    <a:ext uri="{9D8B030D-6E8A-4147-A177-3AD203B41FA5}">
                      <a16:colId xmlns:a16="http://schemas.microsoft.com/office/drawing/2014/main" val="20001"/>
                    </a:ext>
                  </a:extLst>
                </a:gridCol>
              </a:tblGrid>
              <a:tr h="901700">
                <a:tc>
                  <a:txBody>
                    <a:bodyPr/>
                    <a:lstStyle/>
                    <a:p>
                      <a:pPr marL="10160" algn="ctr">
                        <a:lnSpc>
                          <a:spcPct val="100000"/>
                        </a:lnSpc>
                        <a:spcBef>
                          <a:spcPts val="815"/>
                        </a:spcBef>
                      </a:pPr>
                      <a:r>
                        <a:rPr sz="1500" spc="-5" dirty="0">
                          <a:latin typeface="Arial"/>
                          <a:cs typeface="Arial"/>
                        </a:rPr>
                        <a:t>Exclusão </a:t>
                      </a:r>
                      <a:r>
                        <a:rPr sz="1500" dirty="0">
                          <a:latin typeface="Arial"/>
                          <a:cs typeface="Arial"/>
                        </a:rPr>
                        <a:t>de</a:t>
                      </a:r>
                      <a:r>
                        <a:rPr sz="1500" spc="-15" dirty="0">
                          <a:latin typeface="Arial"/>
                          <a:cs typeface="Arial"/>
                        </a:rPr>
                        <a:t> </a:t>
                      </a:r>
                      <a:r>
                        <a:rPr sz="1500" spc="-5" dirty="0">
                          <a:latin typeface="Arial"/>
                          <a:cs typeface="Arial"/>
                        </a:rPr>
                        <a:t>evento</a:t>
                      </a:r>
                      <a:endParaRPr sz="15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935" marR="487680" algn="just">
                        <a:lnSpc>
                          <a:spcPct val="100000"/>
                        </a:lnSpc>
                        <a:spcBef>
                          <a:spcPts val="815"/>
                        </a:spcBef>
                      </a:pPr>
                      <a:r>
                        <a:rPr sz="1500" spc="-10" dirty="0">
                          <a:latin typeface="Arial"/>
                          <a:cs typeface="Arial"/>
                        </a:rPr>
                        <a:t>Envio </a:t>
                      </a:r>
                      <a:r>
                        <a:rPr sz="1500" spc="-5" dirty="0">
                          <a:latin typeface="Arial"/>
                          <a:cs typeface="Arial"/>
                        </a:rPr>
                        <a:t>do evento até o dia 7 do mês subsequente ou  até o envio da </a:t>
                      </a:r>
                      <a:r>
                        <a:rPr sz="1500" dirty="0">
                          <a:latin typeface="Arial"/>
                          <a:cs typeface="Arial"/>
                        </a:rPr>
                        <a:t>remuneração </a:t>
                      </a:r>
                      <a:r>
                        <a:rPr sz="1500" spc="-5" dirty="0">
                          <a:latin typeface="Arial"/>
                          <a:cs typeface="Arial"/>
                        </a:rPr>
                        <a:t>do mês/competência a  que se</a:t>
                      </a:r>
                      <a:r>
                        <a:rPr sz="1500" spc="-25" dirty="0">
                          <a:latin typeface="Arial"/>
                          <a:cs typeface="Arial"/>
                        </a:rPr>
                        <a:t> </a:t>
                      </a:r>
                      <a:r>
                        <a:rPr sz="1500" dirty="0">
                          <a:latin typeface="Arial"/>
                          <a:cs typeface="Arial"/>
                        </a:rPr>
                        <a:t>refere.</a:t>
                      </a:r>
                      <a:endParaRPr sz="15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902969">
                <a:tc>
                  <a:txBody>
                    <a:bodyPr/>
                    <a:lstStyle/>
                    <a:p>
                      <a:pPr marL="8890" algn="ctr">
                        <a:lnSpc>
                          <a:spcPct val="100000"/>
                        </a:lnSpc>
                        <a:spcBef>
                          <a:spcPts val="820"/>
                        </a:spcBef>
                      </a:pPr>
                      <a:r>
                        <a:rPr sz="1500" dirty="0">
                          <a:latin typeface="Arial"/>
                          <a:cs typeface="Arial"/>
                        </a:rPr>
                        <a:t>Monitoramento</a:t>
                      </a:r>
                      <a:r>
                        <a:rPr sz="1500" spc="-40" dirty="0">
                          <a:latin typeface="Arial"/>
                          <a:cs typeface="Arial"/>
                        </a:rPr>
                        <a:t> </a:t>
                      </a:r>
                      <a:r>
                        <a:rPr sz="1500" spc="-5" dirty="0">
                          <a:latin typeface="Arial"/>
                          <a:cs typeface="Arial"/>
                        </a:rPr>
                        <a:t>da</a:t>
                      </a:r>
                      <a:endParaRPr sz="1500">
                        <a:latin typeface="Arial"/>
                        <a:cs typeface="Arial"/>
                      </a:endParaRPr>
                    </a:p>
                    <a:p>
                      <a:pPr marL="12700" algn="ctr">
                        <a:lnSpc>
                          <a:spcPct val="100000"/>
                        </a:lnSpc>
                      </a:pPr>
                      <a:r>
                        <a:rPr sz="1500" dirty="0">
                          <a:latin typeface="Arial"/>
                          <a:cs typeface="Arial"/>
                        </a:rPr>
                        <a:t>saúde</a:t>
                      </a:r>
                      <a:endParaRPr sz="1500">
                        <a:latin typeface="Arial"/>
                        <a:cs typeface="Arial"/>
                      </a:endParaRPr>
                    </a:p>
                    <a:p>
                      <a:pPr marL="10160" algn="ctr">
                        <a:lnSpc>
                          <a:spcPct val="100000"/>
                        </a:lnSpc>
                      </a:pPr>
                      <a:r>
                        <a:rPr sz="1500" spc="-5" dirty="0">
                          <a:latin typeface="Arial"/>
                          <a:cs typeface="Arial"/>
                        </a:rPr>
                        <a:t>do</a:t>
                      </a:r>
                      <a:r>
                        <a:rPr sz="1500" spc="-10" dirty="0">
                          <a:latin typeface="Arial"/>
                          <a:cs typeface="Arial"/>
                        </a:rPr>
                        <a:t> </a:t>
                      </a:r>
                      <a:r>
                        <a:rPr sz="1500" dirty="0">
                          <a:latin typeface="Arial"/>
                          <a:cs typeface="Arial"/>
                        </a:rPr>
                        <a:t>trabalhador</a:t>
                      </a:r>
                      <a:endParaRPr sz="1500">
                        <a:latin typeface="Arial"/>
                        <a:cs typeface="Arial"/>
                      </a:endParaRP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935" marR="487680" algn="just">
                        <a:lnSpc>
                          <a:spcPct val="100000"/>
                        </a:lnSpc>
                        <a:spcBef>
                          <a:spcPts val="820"/>
                        </a:spcBef>
                      </a:pPr>
                      <a:r>
                        <a:rPr sz="1500" spc="-10" dirty="0">
                          <a:latin typeface="Arial"/>
                          <a:cs typeface="Arial"/>
                        </a:rPr>
                        <a:t>Envio </a:t>
                      </a:r>
                      <a:r>
                        <a:rPr sz="1500" spc="-5" dirty="0">
                          <a:latin typeface="Arial"/>
                          <a:cs typeface="Arial"/>
                        </a:rPr>
                        <a:t>do evento até o dia 7 do mês subsequente ou  </a:t>
                      </a:r>
                      <a:r>
                        <a:rPr sz="1500" dirty="0">
                          <a:latin typeface="Arial"/>
                          <a:cs typeface="Arial"/>
                        </a:rPr>
                        <a:t>até o </a:t>
                      </a:r>
                      <a:r>
                        <a:rPr sz="1500" spc="-5" dirty="0">
                          <a:latin typeface="Arial"/>
                          <a:cs typeface="Arial"/>
                        </a:rPr>
                        <a:t>envio </a:t>
                      </a:r>
                      <a:r>
                        <a:rPr sz="1500" dirty="0">
                          <a:latin typeface="Arial"/>
                          <a:cs typeface="Arial"/>
                        </a:rPr>
                        <a:t>da remuneração do mês/competência a  </a:t>
                      </a:r>
                      <a:r>
                        <a:rPr sz="1500" spc="-5" dirty="0">
                          <a:latin typeface="Arial"/>
                          <a:cs typeface="Arial"/>
                        </a:rPr>
                        <a:t>que se</a:t>
                      </a:r>
                      <a:r>
                        <a:rPr sz="1500" spc="-25" dirty="0">
                          <a:latin typeface="Arial"/>
                          <a:cs typeface="Arial"/>
                        </a:rPr>
                        <a:t> </a:t>
                      </a:r>
                      <a:r>
                        <a:rPr sz="1500" dirty="0">
                          <a:latin typeface="Arial"/>
                          <a:cs typeface="Arial"/>
                        </a:rPr>
                        <a:t>refere.</a:t>
                      </a:r>
                    </a:p>
                  </a:txBody>
                  <a:tcPr marL="0" marR="0" marT="10414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1"/>
                  </a:ext>
                </a:extLst>
              </a:tr>
              <a:tr h="901700">
                <a:tc>
                  <a:txBody>
                    <a:bodyPr/>
                    <a:lstStyle/>
                    <a:p>
                      <a:pPr marL="9525" algn="ctr">
                        <a:lnSpc>
                          <a:spcPct val="100000"/>
                        </a:lnSpc>
                        <a:spcBef>
                          <a:spcPts val="819"/>
                        </a:spcBef>
                      </a:pPr>
                      <a:r>
                        <a:rPr sz="1500" dirty="0">
                          <a:latin typeface="Arial"/>
                          <a:cs typeface="Arial"/>
                        </a:rPr>
                        <a:t>Reintegração</a:t>
                      </a:r>
                      <a:endParaRPr sz="150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935" marR="487045" algn="just">
                        <a:lnSpc>
                          <a:spcPct val="100000"/>
                        </a:lnSpc>
                        <a:spcBef>
                          <a:spcPts val="819"/>
                        </a:spcBef>
                      </a:pPr>
                      <a:r>
                        <a:rPr sz="1500" spc="-5" dirty="0">
                          <a:latin typeface="Arial"/>
                          <a:cs typeface="Arial"/>
                        </a:rPr>
                        <a:t>Envio </a:t>
                      </a:r>
                      <a:r>
                        <a:rPr sz="1500" dirty="0">
                          <a:latin typeface="Arial"/>
                          <a:cs typeface="Arial"/>
                        </a:rPr>
                        <a:t>do </a:t>
                      </a:r>
                      <a:r>
                        <a:rPr sz="1500" spc="-5" dirty="0">
                          <a:latin typeface="Arial"/>
                          <a:cs typeface="Arial"/>
                        </a:rPr>
                        <a:t>evento </a:t>
                      </a:r>
                      <a:r>
                        <a:rPr sz="1500" dirty="0">
                          <a:latin typeface="Arial"/>
                          <a:cs typeface="Arial"/>
                        </a:rPr>
                        <a:t>até o dia 7 do mês subsequente</a:t>
                      </a:r>
                      <a:r>
                        <a:rPr sz="1500" spc="-125" dirty="0">
                          <a:latin typeface="Arial"/>
                          <a:cs typeface="Arial"/>
                        </a:rPr>
                        <a:t> </a:t>
                      </a:r>
                      <a:r>
                        <a:rPr sz="1500" dirty="0">
                          <a:latin typeface="Arial"/>
                          <a:cs typeface="Arial"/>
                        </a:rPr>
                        <a:t>ou  </a:t>
                      </a:r>
                      <a:r>
                        <a:rPr sz="1500" spc="-5" dirty="0">
                          <a:latin typeface="Arial"/>
                          <a:cs typeface="Arial"/>
                        </a:rPr>
                        <a:t>até o envio da </a:t>
                      </a:r>
                      <a:r>
                        <a:rPr sz="1500" dirty="0">
                          <a:latin typeface="Arial"/>
                          <a:cs typeface="Arial"/>
                        </a:rPr>
                        <a:t>remuneração </a:t>
                      </a:r>
                      <a:r>
                        <a:rPr sz="1500" spc="-5" dirty="0">
                          <a:latin typeface="Arial"/>
                          <a:cs typeface="Arial"/>
                        </a:rPr>
                        <a:t>do mês/competência a  que se</a:t>
                      </a:r>
                      <a:r>
                        <a:rPr sz="1500" spc="-25" dirty="0">
                          <a:latin typeface="Arial"/>
                          <a:cs typeface="Arial"/>
                        </a:rPr>
                        <a:t> </a:t>
                      </a:r>
                      <a:r>
                        <a:rPr sz="1500" dirty="0">
                          <a:latin typeface="Arial"/>
                          <a:cs typeface="Arial"/>
                        </a:rPr>
                        <a:t>refere.</a:t>
                      </a:r>
                      <a:endParaRPr sz="150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2"/>
                  </a:ext>
                </a:extLst>
              </a:tr>
              <a:tr h="901700">
                <a:tc>
                  <a:txBody>
                    <a:bodyPr/>
                    <a:lstStyle/>
                    <a:p>
                      <a:pPr marL="350520" marR="334645" algn="ctr">
                        <a:lnSpc>
                          <a:spcPct val="100000"/>
                        </a:lnSpc>
                        <a:spcBef>
                          <a:spcPts val="819"/>
                        </a:spcBef>
                      </a:pPr>
                      <a:r>
                        <a:rPr sz="1500" spc="-5" dirty="0">
                          <a:latin typeface="Arial"/>
                          <a:cs typeface="Arial"/>
                        </a:rPr>
                        <a:t>Solicitação de</a:t>
                      </a:r>
                      <a:r>
                        <a:rPr sz="1500" spc="-55" dirty="0">
                          <a:latin typeface="Arial"/>
                          <a:cs typeface="Arial"/>
                        </a:rPr>
                        <a:t> </a:t>
                      </a:r>
                      <a:r>
                        <a:rPr sz="1500" dirty="0">
                          <a:latin typeface="Arial"/>
                          <a:cs typeface="Arial"/>
                        </a:rPr>
                        <a:t>totalização  </a:t>
                      </a:r>
                      <a:r>
                        <a:rPr sz="1500" spc="-5" dirty="0">
                          <a:latin typeface="Arial"/>
                          <a:cs typeface="Arial"/>
                        </a:rPr>
                        <a:t>de eventos,</a:t>
                      </a:r>
                      <a:r>
                        <a:rPr sz="1500" spc="-35" dirty="0">
                          <a:latin typeface="Arial"/>
                          <a:cs typeface="Arial"/>
                        </a:rPr>
                        <a:t> </a:t>
                      </a:r>
                      <a:r>
                        <a:rPr sz="1500" spc="-5" dirty="0">
                          <a:latin typeface="Arial"/>
                          <a:cs typeface="Arial"/>
                        </a:rPr>
                        <a:t>bases</a:t>
                      </a:r>
                      <a:endParaRPr sz="1500">
                        <a:latin typeface="Arial"/>
                        <a:cs typeface="Arial"/>
                      </a:endParaRPr>
                    </a:p>
                    <a:p>
                      <a:pPr marL="8890" algn="ctr">
                        <a:lnSpc>
                          <a:spcPct val="100000"/>
                        </a:lnSpc>
                      </a:pPr>
                      <a:r>
                        <a:rPr sz="1500" spc="-5" dirty="0">
                          <a:latin typeface="Arial"/>
                          <a:cs typeface="Arial"/>
                        </a:rPr>
                        <a:t>e</a:t>
                      </a:r>
                      <a:r>
                        <a:rPr sz="1500" spc="-15" dirty="0">
                          <a:latin typeface="Arial"/>
                          <a:cs typeface="Arial"/>
                        </a:rPr>
                        <a:t> </a:t>
                      </a:r>
                      <a:r>
                        <a:rPr sz="1500" dirty="0">
                          <a:latin typeface="Arial"/>
                          <a:cs typeface="Arial"/>
                        </a:rPr>
                        <a:t>contribuições</a:t>
                      </a:r>
                      <a:endParaRPr sz="150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935" marR="487680" algn="just">
                        <a:lnSpc>
                          <a:spcPct val="100000"/>
                        </a:lnSpc>
                        <a:spcBef>
                          <a:spcPts val="819"/>
                        </a:spcBef>
                      </a:pPr>
                      <a:r>
                        <a:rPr sz="1500" spc="-10" dirty="0">
                          <a:latin typeface="Arial"/>
                          <a:cs typeface="Arial"/>
                        </a:rPr>
                        <a:t>Envio </a:t>
                      </a:r>
                      <a:r>
                        <a:rPr sz="1500" spc="-5" dirty="0">
                          <a:latin typeface="Arial"/>
                          <a:cs typeface="Arial"/>
                        </a:rPr>
                        <a:t>do evento até o dia 7 do mês subsequente ou  até o envio da </a:t>
                      </a:r>
                      <a:r>
                        <a:rPr sz="1500" dirty="0">
                          <a:latin typeface="Arial"/>
                          <a:cs typeface="Arial"/>
                        </a:rPr>
                        <a:t>remuneração </a:t>
                      </a:r>
                      <a:r>
                        <a:rPr sz="1500" spc="-5" dirty="0">
                          <a:latin typeface="Arial"/>
                          <a:cs typeface="Arial"/>
                        </a:rPr>
                        <a:t>do mês/competência a  que se</a:t>
                      </a:r>
                      <a:r>
                        <a:rPr sz="1500" spc="-25" dirty="0">
                          <a:latin typeface="Arial"/>
                          <a:cs typeface="Arial"/>
                        </a:rPr>
                        <a:t> </a:t>
                      </a:r>
                      <a:r>
                        <a:rPr sz="1500" dirty="0">
                          <a:latin typeface="Arial"/>
                          <a:cs typeface="Arial"/>
                        </a:rPr>
                        <a:t>refere.</a:t>
                      </a: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3"/>
                  </a:ext>
                </a:extLst>
              </a:tr>
            </a:tbl>
          </a:graphicData>
        </a:graphic>
      </p:graphicFrame>
      <p:sp>
        <p:nvSpPr>
          <p:cNvPr id="5" name="object 5"/>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6" name="object 6"/>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3" name="object 3"/>
          <p:cNvSpPr txBox="1"/>
          <p:nvPr/>
        </p:nvSpPr>
        <p:spPr>
          <a:xfrm>
            <a:off x="2245869" y="1204341"/>
            <a:ext cx="929005" cy="258404"/>
          </a:xfrm>
          <a:prstGeom prst="rect">
            <a:avLst/>
          </a:prstGeom>
        </p:spPr>
        <p:txBody>
          <a:bodyPr vert="horz" wrap="square" lIns="0" tIns="12065" rIns="0" bIns="0" rtlCol="0">
            <a:spAutoFit/>
          </a:bodyPr>
          <a:lstStyle/>
          <a:p>
            <a:pPr marL="12700">
              <a:spcBef>
                <a:spcPts val="95"/>
              </a:spcBef>
            </a:pPr>
            <a:r>
              <a:rPr sz="1600" spc="-5" dirty="0">
                <a:latin typeface="Arial"/>
                <a:cs typeface="Arial"/>
              </a:rPr>
              <a:t>Descrição</a:t>
            </a:r>
            <a:endParaRPr sz="1600">
              <a:latin typeface="Arial"/>
              <a:cs typeface="Arial"/>
            </a:endParaRPr>
          </a:p>
        </p:txBody>
      </p:sp>
      <p:sp>
        <p:nvSpPr>
          <p:cNvPr id="4" name="object 4"/>
          <p:cNvSpPr txBox="1"/>
          <p:nvPr/>
        </p:nvSpPr>
        <p:spPr>
          <a:xfrm>
            <a:off x="5094224" y="1204341"/>
            <a:ext cx="555625" cy="258404"/>
          </a:xfrm>
          <a:prstGeom prst="rect">
            <a:avLst/>
          </a:prstGeom>
        </p:spPr>
        <p:txBody>
          <a:bodyPr vert="horz" wrap="square" lIns="0" tIns="12065" rIns="0" bIns="0" rtlCol="0">
            <a:spAutoFit/>
          </a:bodyPr>
          <a:lstStyle/>
          <a:p>
            <a:pPr marL="12700">
              <a:spcBef>
                <a:spcPts val="95"/>
              </a:spcBef>
            </a:pPr>
            <a:r>
              <a:rPr sz="1600" spc="-5" dirty="0">
                <a:latin typeface="Arial"/>
                <a:cs typeface="Arial"/>
              </a:rPr>
              <a:t>Prazo</a:t>
            </a:r>
            <a:endParaRPr sz="1600">
              <a:latin typeface="Arial"/>
              <a:cs typeface="Arial"/>
            </a:endParaRPr>
          </a:p>
        </p:txBody>
      </p:sp>
      <p:sp>
        <p:nvSpPr>
          <p:cNvPr id="7" name="Seta para a Direita 6"/>
          <p:cNvSpPr/>
          <p:nvPr/>
        </p:nvSpPr>
        <p:spPr>
          <a:xfrm>
            <a:off x="1211855" y="2655065"/>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Esquerda 7"/>
          <p:cNvSpPr/>
          <p:nvPr/>
        </p:nvSpPr>
        <p:spPr>
          <a:xfrm rot="16200000">
            <a:off x="7166029" y="2178194"/>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422338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269211" y="1161923"/>
          <a:ext cx="7666355" cy="3665219"/>
        </p:xfrm>
        <a:graphic>
          <a:graphicData uri="http://schemas.openxmlformats.org/drawingml/2006/table">
            <a:tbl>
              <a:tblPr firstRow="1" bandRow="1">
                <a:tableStyleId>{2D5ABB26-0587-4C30-8999-92F81FD0307C}</a:tableStyleId>
              </a:tblPr>
              <a:tblGrid>
                <a:gridCol w="2780030">
                  <a:extLst>
                    <a:ext uri="{9D8B030D-6E8A-4147-A177-3AD203B41FA5}">
                      <a16:colId xmlns:a16="http://schemas.microsoft.com/office/drawing/2014/main" val="20000"/>
                    </a:ext>
                  </a:extLst>
                </a:gridCol>
                <a:gridCol w="4886325">
                  <a:extLst>
                    <a:ext uri="{9D8B030D-6E8A-4147-A177-3AD203B41FA5}">
                      <a16:colId xmlns:a16="http://schemas.microsoft.com/office/drawing/2014/main" val="20001"/>
                    </a:ext>
                  </a:extLst>
                </a:gridCol>
              </a:tblGrid>
              <a:tr h="459740">
                <a:tc>
                  <a:txBody>
                    <a:bodyPr/>
                    <a:lstStyle/>
                    <a:p>
                      <a:pPr marL="121285">
                        <a:lnSpc>
                          <a:spcPct val="100000"/>
                        </a:lnSpc>
                        <a:spcBef>
                          <a:spcPts val="810"/>
                        </a:spcBef>
                      </a:pPr>
                      <a:r>
                        <a:rPr sz="1600" spc="-5" dirty="0">
                          <a:latin typeface="Arial"/>
                          <a:cs typeface="Arial"/>
                        </a:rPr>
                        <a:t>Descrição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06680">
                        <a:lnSpc>
                          <a:spcPct val="100000"/>
                        </a:lnSpc>
                        <a:spcBef>
                          <a:spcPts val="810"/>
                        </a:spcBef>
                      </a:pPr>
                      <a:r>
                        <a:rPr sz="1600" spc="-5" dirty="0">
                          <a:latin typeface="Arial"/>
                          <a:cs typeface="Arial"/>
                        </a:rPr>
                        <a:t>Prazo</a:t>
                      </a:r>
                      <a:endParaRPr sz="1600">
                        <a:latin typeface="Arial"/>
                        <a:cs typeface="Arial"/>
                      </a:endParaRPr>
                    </a:p>
                  </a:txBody>
                  <a:tcPr marL="0" marR="0" marT="102870"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0"/>
                  </a:ext>
                </a:extLst>
              </a:tr>
              <a:tr h="960119">
                <a:tc>
                  <a:txBody>
                    <a:bodyPr/>
                    <a:lstStyle/>
                    <a:p>
                      <a:pPr marL="8890" algn="ctr">
                        <a:lnSpc>
                          <a:spcPct val="100000"/>
                        </a:lnSpc>
                        <a:spcBef>
                          <a:spcPts val="815"/>
                        </a:spcBef>
                      </a:pPr>
                      <a:r>
                        <a:rPr sz="1500" spc="-10" dirty="0">
                          <a:latin typeface="Arial"/>
                          <a:cs typeface="Arial"/>
                        </a:rPr>
                        <a:t>Trabalhador </a:t>
                      </a:r>
                      <a:r>
                        <a:rPr sz="1500" spc="-5" dirty="0">
                          <a:latin typeface="Arial"/>
                          <a:cs typeface="Arial"/>
                        </a:rPr>
                        <a:t>sem</a:t>
                      </a:r>
                      <a:r>
                        <a:rPr sz="1500" spc="-30" dirty="0">
                          <a:latin typeface="Arial"/>
                          <a:cs typeface="Arial"/>
                        </a:rPr>
                        <a:t> </a:t>
                      </a:r>
                      <a:r>
                        <a:rPr sz="1500" spc="-5" dirty="0">
                          <a:latin typeface="Arial"/>
                          <a:cs typeface="Arial"/>
                        </a:rPr>
                        <a:t>vínculo</a:t>
                      </a:r>
                      <a:endParaRPr sz="1500">
                        <a:latin typeface="Arial"/>
                        <a:cs typeface="Arial"/>
                      </a:endParaRPr>
                    </a:p>
                    <a:p>
                      <a:pPr marL="10160" algn="ctr">
                        <a:lnSpc>
                          <a:spcPct val="100000"/>
                        </a:lnSpc>
                      </a:pPr>
                      <a:r>
                        <a:rPr sz="1500" dirty="0">
                          <a:latin typeface="Arial"/>
                          <a:cs typeface="Arial"/>
                        </a:rPr>
                        <a:t>de</a:t>
                      </a:r>
                      <a:r>
                        <a:rPr sz="1500" spc="-15" dirty="0">
                          <a:latin typeface="Arial"/>
                          <a:cs typeface="Arial"/>
                        </a:rPr>
                        <a:t> </a:t>
                      </a:r>
                      <a:r>
                        <a:rPr sz="1500" dirty="0">
                          <a:latin typeface="Arial"/>
                          <a:cs typeface="Arial"/>
                        </a:rPr>
                        <a:t>emprego</a:t>
                      </a:r>
                      <a:endParaRPr sz="15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935" marR="368300" algn="just">
                        <a:lnSpc>
                          <a:spcPct val="100000"/>
                        </a:lnSpc>
                        <a:spcBef>
                          <a:spcPts val="815"/>
                        </a:spcBef>
                      </a:pPr>
                      <a:r>
                        <a:rPr sz="1500" spc="-10" dirty="0">
                          <a:latin typeface="Arial"/>
                          <a:cs typeface="Arial"/>
                        </a:rPr>
                        <a:t>Envio </a:t>
                      </a:r>
                      <a:r>
                        <a:rPr sz="1500" spc="-5" dirty="0">
                          <a:latin typeface="Arial"/>
                          <a:cs typeface="Arial"/>
                        </a:rPr>
                        <a:t>do evento até o dia 7 do mês subsequente ou  </a:t>
                      </a:r>
                      <a:r>
                        <a:rPr sz="1500" dirty="0">
                          <a:latin typeface="Arial"/>
                          <a:cs typeface="Arial"/>
                        </a:rPr>
                        <a:t>até o </a:t>
                      </a:r>
                      <a:r>
                        <a:rPr sz="1500" spc="-5" dirty="0">
                          <a:latin typeface="Arial"/>
                          <a:cs typeface="Arial"/>
                        </a:rPr>
                        <a:t>envio </a:t>
                      </a:r>
                      <a:r>
                        <a:rPr sz="1500" dirty="0">
                          <a:latin typeface="Arial"/>
                          <a:cs typeface="Arial"/>
                        </a:rPr>
                        <a:t>da remuneração do mês/competência a  </a:t>
                      </a:r>
                      <a:r>
                        <a:rPr sz="1500" spc="-5" dirty="0">
                          <a:latin typeface="Arial"/>
                          <a:cs typeface="Arial"/>
                        </a:rPr>
                        <a:t>que se</a:t>
                      </a:r>
                      <a:r>
                        <a:rPr sz="1500" spc="-25" dirty="0">
                          <a:latin typeface="Arial"/>
                          <a:cs typeface="Arial"/>
                        </a:rPr>
                        <a:t> </a:t>
                      </a:r>
                      <a:r>
                        <a:rPr sz="1500" dirty="0">
                          <a:latin typeface="Arial"/>
                          <a:cs typeface="Arial"/>
                        </a:rPr>
                        <a:t>refere.</a:t>
                      </a:r>
                      <a:endParaRPr sz="15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1"/>
                  </a:ext>
                </a:extLst>
              </a:tr>
              <a:tr h="902335">
                <a:tc>
                  <a:txBody>
                    <a:bodyPr/>
                    <a:lstStyle/>
                    <a:p>
                      <a:pPr marL="735965" marR="718820" indent="19685">
                        <a:lnSpc>
                          <a:spcPct val="100000"/>
                        </a:lnSpc>
                        <a:spcBef>
                          <a:spcPts val="815"/>
                        </a:spcBef>
                      </a:pPr>
                      <a:r>
                        <a:rPr sz="1500" dirty="0">
                          <a:latin typeface="Arial"/>
                          <a:cs typeface="Arial"/>
                        </a:rPr>
                        <a:t>Outros </a:t>
                      </a:r>
                      <a:r>
                        <a:rPr sz="1500" spc="-5" dirty="0">
                          <a:latin typeface="Arial"/>
                          <a:cs typeface="Arial"/>
                        </a:rPr>
                        <a:t>motivos  de</a:t>
                      </a:r>
                      <a:r>
                        <a:rPr sz="1500" spc="-80" dirty="0">
                          <a:latin typeface="Arial"/>
                          <a:cs typeface="Arial"/>
                        </a:rPr>
                        <a:t> </a:t>
                      </a:r>
                      <a:r>
                        <a:rPr sz="1500" dirty="0">
                          <a:latin typeface="Arial"/>
                          <a:cs typeface="Arial"/>
                        </a:rPr>
                        <a:t>afastamento</a:t>
                      </a:r>
                      <a:endParaRPr sz="1500">
                        <a:latin typeface="Arial"/>
                        <a:cs typeface="Arial"/>
                      </a:endParaRP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935" marR="368300" algn="just">
                        <a:lnSpc>
                          <a:spcPct val="100000"/>
                        </a:lnSpc>
                        <a:spcBef>
                          <a:spcPts val="815"/>
                        </a:spcBef>
                      </a:pPr>
                      <a:r>
                        <a:rPr sz="1500" spc="-10" dirty="0">
                          <a:latin typeface="Arial"/>
                          <a:cs typeface="Arial"/>
                        </a:rPr>
                        <a:t>Envio </a:t>
                      </a:r>
                      <a:r>
                        <a:rPr sz="1500" spc="-5" dirty="0">
                          <a:latin typeface="Arial"/>
                          <a:cs typeface="Arial"/>
                        </a:rPr>
                        <a:t>do evento até o dia 7 do mês subsequente ou  até o envio da </a:t>
                      </a:r>
                      <a:r>
                        <a:rPr sz="1500" dirty="0">
                          <a:latin typeface="Arial"/>
                          <a:cs typeface="Arial"/>
                        </a:rPr>
                        <a:t>remuneração </a:t>
                      </a:r>
                      <a:r>
                        <a:rPr sz="1500" spc="-5" dirty="0">
                          <a:latin typeface="Arial"/>
                          <a:cs typeface="Arial"/>
                        </a:rPr>
                        <a:t>do mês/competência a  </a:t>
                      </a:r>
                      <a:r>
                        <a:rPr sz="1500" dirty="0">
                          <a:latin typeface="Arial"/>
                          <a:cs typeface="Arial"/>
                        </a:rPr>
                        <a:t>que se</a:t>
                      </a:r>
                      <a:r>
                        <a:rPr sz="1500" spc="-35" dirty="0">
                          <a:latin typeface="Arial"/>
                          <a:cs typeface="Arial"/>
                        </a:rPr>
                        <a:t> </a:t>
                      </a:r>
                      <a:r>
                        <a:rPr sz="1500" dirty="0">
                          <a:latin typeface="Arial"/>
                          <a:cs typeface="Arial"/>
                        </a:rPr>
                        <a:t>refere.</a:t>
                      </a:r>
                    </a:p>
                  </a:txBody>
                  <a:tcPr marL="0" marR="0" marT="103505"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2"/>
                  </a:ext>
                </a:extLst>
              </a:tr>
              <a:tr h="669925">
                <a:tc>
                  <a:txBody>
                    <a:bodyPr/>
                    <a:lstStyle/>
                    <a:p>
                      <a:pPr marL="793750">
                        <a:lnSpc>
                          <a:spcPct val="100000"/>
                        </a:lnSpc>
                        <a:spcBef>
                          <a:spcPts val="819"/>
                        </a:spcBef>
                      </a:pPr>
                      <a:r>
                        <a:rPr sz="1500" dirty="0">
                          <a:latin typeface="Arial"/>
                          <a:cs typeface="Arial"/>
                        </a:rPr>
                        <a:t>Remuneração</a:t>
                      </a:r>
                      <a:endParaRPr sz="150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tc>
                  <a:txBody>
                    <a:bodyPr/>
                    <a:lstStyle/>
                    <a:p>
                      <a:pPr marL="114935">
                        <a:lnSpc>
                          <a:spcPct val="100000"/>
                        </a:lnSpc>
                        <a:spcBef>
                          <a:spcPts val="819"/>
                        </a:spcBef>
                      </a:pPr>
                      <a:r>
                        <a:rPr sz="1500" spc="-5" dirty="0">
                          <a:latin typeface="Arial"/>
                          <a:cs typeface="Arial"/>
                        </a:rPr>
                        <a:t>Até o dia 7 do mês</a:t>
                      </a:r>
                      <a:r>
                        <a:rPr sz="1500" spc="-10" dirty="0">
                          <a:latin typeface="Arial"/>
                          <a:cs typeface="Arial"/>
                        </a:rPr>
                        <a:t> </a:t>
                      </a:r>
                      <a:r>
                        <a:rPr sz="1500" dirty="0">
                          <a:latin typeface="Arial"/>
                          <a:cs typeface="Arial"/>
                        </a:rPr>
                        <a:t>seguinte.</a:t>
                      </a:r>
                      <a:endParaRPr sz="150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tcPr>
                </a:tc>
                <a:extLst>
                  <a:ext uri="{0D108BD9-81ED-4DB2-BD59-A6C34878D82A}">
                    <a16:rowId xmlns:a16="http://schemas.microsoft.com/office/drawing/2014/main" val="10003"/>
                  </a:ext>
                </a:extLst>
              </a:tr>
              <a:tr h="673100">
                <a:tc>
                  <a:txBody>
                    <a:bodyPr/>
                    <a:lstStyle/>
                    <a:p>
                      <a:pPr marL="704215" marR="686435" indent="153670">
                        <a:lnSpc>
                          <a:spcPct val="100000"/>
                        </a:lnSpc>
                        <a:spcBef>
                          <a:spcPts val="819"/>
                        </a:spcBef>
                      </a:pPr>
                      <a:r>
                        <a:rPr sz="1500" dirty="0">
                          <a:latin typeface="Arial"/>
                          <a:cs typeface="Arial"/>
                        </a:rPr>
                        <a:t>Contribuição  sindical</a:t>
                      </a:r>
                      <a:r>
                        <a:rPr sz="1500" spc="-100" dirty="0">
                          <a:latin typeface="Arial"/>
                          <a:cs typeface="Arial"/>
                        </a:rPr>
                        <a:t> </a:t>
                      </a:r>
                      <a:r>
                        <a:rPr sz="1500" dirty="0">
                          <a:latin typeface="Arial"/>
                          <a:cs typeface="Arial"/>
                        </a:rPr>
                        <a:t>patronal</a:t>
                      </a:r>
                      <a:endParaRPr sz="150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tc>
                  <a:txBody>
                    <a:bodyPr/>
                    <a:lstStyle/>
                    <a:p>
                      <a:pPr marL="114935">
                        <a:lnSpc>
                          <a:spcPct val="100000"/>
                        </a:lnSpc>
                        <a:spcBef>
                          <a:spcPts val="819"/>
                        </a:spcBef>
                      </a:pPr>
                      <a:r>
                        <a:rPr sz="1500" spc="-5" dirty="0">
                          <a:latin typeface="Arial"/>
                          <a:cs typeface="Arial"/>
                        </a:rPr>
                        <a:t>Até o dia 7 de fevereiro de cada</a:t>
                      </a:r>
                      <a:r>
                        <a:rPr sz="1500" spc="-15" dirty="0">
                          <a:latin typeface="Arial"/>
                          <a:cs typeface="Arial"/>
                        </a:rPr>
                        <a:t> </a:t>
                      </a:r>
                      <a:r>
                        <a:rPr sz="1500" spc="-5" dirty="0">
                          <a:latin typeface="Arial"/>
                          <a:cs typeface="Arial"/>
                        </a:rPr>
                        <a:t>ano.</a:t>
                      </a:r>
                      <a:endParaRPr sz="1500" dirty="0">
                        <a:latin typeface="Arial"/>
                        <a:cs typeface="Arial"/>
                      </a:endParaRPr>
                    </a:p>
                  </a:txBody>
                  <a:tcPr marL="0" marR="0" marT="104139" marB="0">
                    <a:lnL w="12700">
                      <a:solidFill>
                        <a:srgbClr val="748A9C"/>
                      </a:solidFill>
                      <a:prstDash val="solid"/>
                    </a:lnL>
                    <a:lnR w="12700">
                      <a:solidFill>
                        <a:srgbClr val="748A9C"/>
                      </a:solidFill>
                      <a:prstDash val="solid"/>
                    </a:lnR>
                    <a:lnT w="12700">
                      <a:solidFill>
                        <a:srgbClr val="748A9C"/>
                      </a:solidFill>
                      <a:prstDash val="solid"/>
                    </a:lnT>
                    <a:lnB w="12700">
                      <a:solidFill>
                        <a:srgbClr val="748A9C"/>
                      </a:solidFill>
                      <a:prstDash val="solid"/>
                    </a:lnB>
                    <a:solidFill>
                      <a:srgbClr val="ABB8C3">
                        <a:alpha val="19999"/>
                      </a:srgbClr>
                    </a:solidFill>
                  </a:tcPr>
                </a:tc>
                <a:extLst>
                  <a:ext uri="{0D108BD9-81ED-4DB2-BD59-A6C34878D82A}">
                    <a16:rowId xmlns:a16="http://schemas.microsoft.com/office/drawing/2014/main" val="10004"/>
                  </a:ext>
                </a:extLst>
              </a:tr>
            </a:tbl>
          </a:graphicData>
        </a:graphic>
      </p:graphicFrame>
      <p:sp>
        <p:nvSpPr>
          <p:cNvPr id="3" name="object 3"/>
          <p:cNvSpPr txBox="1">
            <a:spLocks noGrp="1"/>
          </p:cNvSpPr>
          <p:nvPr>
            <p:ph type="ftr" sz="quarter" idx="5"/>
          </p:nvPr>
        </p:nvSpPr>
        <p:spPr>
          <a:xfrm>
            <a:off x="5562600" y="6449144"/>
            <a:ext cx="4114800" cy="179536"/>
          </a:xfrm>
          <a:prstGeom prst="rect">
            <a:avLst/>
          </a:prstGeom>
        </p:spPr>
        <p:txBody>
          <a:bodyPr vert="horz" wrap="square" lIns="0" tIns="0" rIns="0" bIns="0" rtlCol="0" anchor="ctr">
            <a:spAutoFit/>
          </a:bodyPr>
          <a:lstStyle/>
          <a:p>
            <a:pPr marL="12700">
              <a:lnSpc>
                <a:spcPts val="1425"/>
              </a:lnSpc>
            </a:pPr>
            <a:r>
              <a:rPr spc="-5" dirty="0"/>
              <a:t>Senac São Paulo </a:t>
            </a:r>
            <a:r>
              <a:rPr b="1" dirty="0">
                <a:latin typeface="Arial"/>
                <a:cs typeface="Arial"/>
              </a:rPr>
              <a:t>|</a:t>
            </a:r>
            <a:r>
              <a:rPr b="1" spc="-80" dirty="0"/>
              <a:t> </a:t>
            </a:r>
            <a:r>
              <a:rPr b="1" dirty="0">
                <a:latin typeface="Arial"/>
                <a:cs typeface="Arial"/>
              </a:rPr>
              <a:t>2017</a:t>
            </a:r>
          </a:p>
        </p:txBody>
      </p:sp>
      <p:sp>
        <p:nvSpPr>
          <p:cNvPr id="4" name="object 4"/>
          <p:cNvSpPr txBox="1">
            <a:spLocks noGrp="1"/>
          </p:cNvSpPr>
          <p:nvPr>
            <p:ph type="dt" sz="half" idx="6"/>
          </p:nvPr>
        </p:nvSpPr>
        <p:spPr>
          <a:xfrm>
            <a:off x="2362200" y="6461968"/>
            <a:ext cx="2743200" cy="153888"/>
          </a:xfrm>
          <a:prstGeom prst="rect">
            <a:avLst/>
          </a:prstGeom>
        </p:spPr>
        <p:txBody>
          <a:bodyPr vert="horz" wrap="square" lIns="0" tIns="0" rIns="0" bIns="0" rtlCol="0" anchor="ctr">
            <a:spAutoFit/>
          </a:bodyPr>
          <a:lstStyle/>
          <a:p>
            <a:pPr marL="12700"/>
            <a:r>
              <a:rPr spc="-5" dirty="0"/>
              <a:t>eSocial - Gestão de</a:t>
            </a:r>
            <a:r>
              <a:rPr spc="-85" dirty="0"/>
              <a:t> </a:t>
            </a:r>
            <a:r>
              <a:rPr spc="-5" dirty="0"/>
              <a:t>Pessoas</a:t>
            </a:r>
          </a:p>
        </p:txBody>
      </p:sp>
      <p:sp>
        <p:nvSpPr>
          <p:cNvPr id="5" name="Seta para a Direita 4"/>
          <p:cNvSpPr/>
          <p:nvPr/>
        </p:nvSpPr>
        <p:spPr>
          <a:xfrm>
            <a:off x="1299990" y="2779703"/>
            <a:ext cx="760164" cy="42965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Esquerda 5"/>
          <p:cNvSpPr/>
          <p:nvPr/>
        </p:nvSpPr>
        <p:spPr>
          <a:xfrm rot="16200000">
            <a:off x="7188062" y="2332430"/>
            <a:ext cx="382171" cy="309589"/>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03466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Multas no E-Social</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1548" y="1351584"/>
            <a:ext cx="11016332" cy="4366170"/>
          </a:xfrm>
        </p:spPr>
      </p:pic>
    </p:spTree>
    <p:extLst>
      <p:ext uri="{BB962C8B-B14F-4D97-AF65-F5344CB8AC3E}">
        <p14:creationId xmlns:p14="http://schemas.microsoft.com/office/powerpoint/2010/main" val="2172936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pt-BR" sz="4200" b="1" dirty="0" smtClean="0"/>
              <a:t>O que pode acontecer com as informações?</a:t>
            </a:r>
            <a:endParaRPr lang="pt-BR" sz="4200" b="1" dirty="0"/>
          </a:p>
        </p:txBody>
      </p:sp>
      <p:sp>
        <p:nvSpPr>
          <p:cNvPr id="3" name="Espaço Reservado para Conteúdo 2"/>
          <p:cNvSpPr>
            <a:spLocks noGrp="1"/>
          </p:cNvSpPr>
          <p:nvPr>
            <p:ph idx="1"/>
          </p:nvPr>
        </p:nvSpPr>
        <p:spPr>
          <a:xfrm>
            <a:off x="317695" y="993597"/>
            <a:ext cx="11705493" cy="4351338"/>
          </a:xfrm>
        </p:spPr>
        <p:txBody>
          <a:bodyPr/>
          <a:lstStyle/>
          <a:p>
            <a:r>
              <a:rPr lang="pt-BR" dirty="0">
                <a:latin typeface="Arial"/>
                <a:cs typeface="Arial"/>
              </a:rPr>
              <a:t>As </a:t>
            </a:r>
            <a:r>
              <a:rPr lang="pt-BR" spc="-5" dirty="0">
                <a:latin typeface="Arial"/>
                <a:cs typeface="Arial"/>
              </a:rPr>
              <a:t>informações </a:t>
            </a:r>
            <a:r>
              <a:rPr lang="pt-BR" spc="-10" dirty="0">
                <a:latin typeface="Arial"/>
                <a:cs typeface="Arial"/>
              </a:rPr>
              <a:t>que </a:t>
            </a:r>
            <a:r>
              <a:rPr lang="pt-BR" spc="-5" dirty="0">
                <a:latin typeface="Arial"/>
                <a:cs typeface="Arial"/>
              </a:rPr>
              <a:t>forem incluídas no </a:t>
            </a:r>
            <a:r>
              <a:rPr lang="pt-BR" spc="-5" dirty="0" err="1">
                <a:latin typeface="Arial"/>
                <a:cs typeface="Arial"/>
              </a:rPr>
              <a:t>eSocial</a:t>
            </a:r>
            <a:r>
              <a:rPr lang="pt-BR" spc="509" dirty="0">
                <a:latin typeface="Arial"/>
                <a:cs typeface="Arial"/>
              </a:rPr>
              <a:t> </a:t>
            </a:r>
            <a:r>
              <a:rPr lang="pt-BR" spc="-10" dirty="0">
                <a:latin typeface="Arial"/>
                <a:cs typeface="Arial"/>
              </a:rPr>
              <a:t>são  </a:t>
            </a:r>
            <a:r>
              <a:rPr lang="pt-BR" dirty="0">
                <a:latin typeface="Arial"/>
                <a:cs typeface="Arial"/>
              </a:rPr>
              <a:t>passíveis </a:t>
            </a:r>
            <a:r>
              <a:rPr lang="pt-BR" spc="-5" dirty="0">
                <a:latin typeface="Arial"/>
                <a:cs typeface="Arial"/>
              </a:rPr>
              <a:t>de retificação, alteração ou exclusão. </a:t>
            </a:r>
            <a:r>
              <a:rPr lang="pt-BR" dirty="0">
                <a:latin typeface="Arial"/>
                <a:cs typeface="Arial"/>
              </a:rPr>
              <a:t>Isso  acontece em </a:t>
            </a:r>
            <a:r>
              <a:rPr lang="pt-BR" spc="-5" dirty="0">
                <a:latin typeface="Arial"/>
                <a:cs typeface="Arial"/>
              </a:rPr>
              <a:t>decorrência do </a:t>
            </a:r>
            <a:r>
              <a:rPr lang="pt-BR" dirty="0">
                <a:latin typeface="Arial"/>
                <a:cs typeface="Arial"/>
              </a:rPr>
              <a:t>dinamismo </a:t>
            </a:r>
            <a:r>
              <a:rPr lang="pt-BR" spc="-5" dirty="0">
                <a:latin typeface="Arial"/>
                <a:cs typeface="Arial"/>
              </a:rPr>
              <a:t>das  informações </a:t>
            </a:r>
            <a:r>
              <a:rPr lang="pt-BR" dirty="0">
                <a:latin typeface="Arial"/>
                <a:cs typeface="Arial"/>
              </a:rPr>
              <a:t>e da </a:t>
            </a:r>
            <a:r>
              <a:rPr lang="pt-BR" spc="-5" dirty="0">
                <a:latin typeface="Arial"/>
                <a:cs typeface="Arial"/>
              </a:rPr>
              <a:t>capacidade técnica das pessoas  envolvidas nas operações. </a:t>
            </a:r>
            <a:r>
              <a:rPr lang="pt-BR" dirty="0">
                <a:latin typeface="Arial"/>
                <a:cs typeface="Arial"/>
              </a:rPr>
              <a:t>Cada </a:t>
            </a:r>
            <a:r>
              <a:rPr lang="pt-BR" spc="-5" dirty="0">
                <a:latin typeface="Arial"/>
                <a:cs typeface="Arial"/>
              </a:rPr>
              <a:t>ação, </a:t>
            </a:r>
            <a:r>
              <a:rPr lang="pt-BR" dirty="0">
                <a:latin typeface="Arial"/>
                <a:cs typeface="Arial"/>
              </a:rPr>
              <a:t>a </a:t>
            </a:r>
            <a:r>
              <a:rPr lang="pt-BR" spc="-5" dirty="0">
                <a:latin typeface="Arial"/>
                <a:cs typeface="Arial"/>
              </a:rPr>
              <a:t>seu tempo,  produz efeitos diferentes </a:t>
            </a:r>
            <a:r>
              <a:rPr lang="pt-BR" dirty="0">
                <a:latin typeface="Arial"/>
                <a:cs typeface="Arial"/>
              </a:rPr>
              <a:t>e </a:t>
            </a:r>
            <a:r>
              <a:rPr lang="pt-BR" spc="-5" dirty="0">
                <a:latin typeface="Arial"/>
                <a:cs typeface="Arial"/>
              </a:rPr>
              <a:t>com desdobramentos  </a:t>
            </a:r>
            <a:r>
              <a:rPr lang="pt-BR" dirty="0">
                <a:latin typeface="Arial"/>
                <a:cs typeface="Arial"/>
              </a:rPr>
              <a:t>diversos. </a:t>
            </a:r>
            <a:r>
              <a:rPr lang="pt-BR" spc="-35" dirty="0">
                <a:latin typeface="Arial"/>
                <a:cs typeface="Arial"/>
              </a:rPr>
              <a:t>Veja </a:t>
            </a:r>
            <a:r>
              <a:rPr lang="pt-BR" dirty="0">
                <a:latin typeface="Arial"/>
                <a:cs typeface="Arial"/>
              </a:rPr>
              <a:t>alguns</a:t>
            </a:r>
            <a:r>
              <a:rPr lang="pt-BR" spc="-55" dirty="0">
                <a:latin typeface="Arial"/>
                <a:cs typeface="Arial"/>
              </a:rPr>
              <a:t> </a:t>
            </a:r>
            <a:r>
              <a:rPr lang="pt-BR" dirty="0">
                <a:latin typeface="Arial"/>
                <a:cs typeface="Arial"/>
              </a:rPr>
              <a:t>casos.</a:t>
            </a:r>
          </a:p>
          <a:p>
            <a:endParaRPr lang="pt-BR" dirty="0"/>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1851" y="3249975"/>
            <a:ext cx="7700790" cy="2985572"/>
          </a:xfrm>
          <a:prstGeom prst="rect">
            <a:avLst/>
          </a:prstGeom>
        </p:spPr>
      </p:pic>
    </p:spTree>
    <p:extLst>
      <p:ext uri="{BB962C8B-B14F-4D97-AF65-F5344CB8AC3E}">
        <p14:creationId xmlns:p14="http://schemas.microsoft.com/office/powerpoint/2010/main" val="3784506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Ordem de serviço</a:t>
            </a:r>
            <a:endParaRPr lang="pt-BR" b="1" dirty="0"/>
          </a:p>
        </p:txBody>
      </p:sp>
      <p:sp>
        <p:nvSpPr>
          <p:cNvPr id="3" name="Espaço Reservado para Conteúdo 2"/>
          <p:cNvSpPr>
            <a:spLocks noGrp="1"/>
          </p:cNvSpPr>
          <p:nvPr>
            <p:ph idx="1"/>
          </p:nvPr>
        </p:nvSpPr>
        <p:spPr>
          <a:xfrm>
            <a:off x="317694" y="1313087"/>
            <a:ext cx="11705493" cy="4351338"/>
          </a:xfrm>
        </p:spPr>
        <p:txBody>
          <a:bodyPr/>
          <a:lstStyle/>
          <a:p>
            <a:r>
              <a:rPr lang="pt-BR" dirty="0" smtClean="0"/>
              <a:t>De acordo com a NR1 , tópico 1.7 Cabe ao empregador:</a:t>
            </a:r>
          </a:p>
          <a:p>
            <a:r>
              <a:rPr lang="pt-BR" dirty="0" smtClean="0"/>
              <a:t>c) elaborar ordens de serviço sobre segurança e saúde no trabalho, dando ciência aos empregados por comunicados, cartazes ou meios eletrônicos.</a:t>
            </a:r>
          </a:p>
          <a:p>
            <a:r>
              <a:rPr lang="pt-BR" dirty="0" smtClean="0"/>
              <a:t>As informações da OS serão importantes para alimentar o E-social nos campos dos eventos:</a:t>
            </a:r>
          </a:p>
          <a:p>
            <a:r>
              <a:rPr lang="pt-BR" dirty="0" smtClean="0"/>
              <a:t>S-1060 – Tabela de ambiente de trabalho.</a:t>
            </a:r>
          </a:p>
          <a:p>
            <a:r>
              <a:rPr lang="pt-BR" dirty="0" smtClean="0"/>
              <a:t>S – 2240 – Condições ambientais do trabalho – Fatores de risco.</a:t>
            </a:r>
            <a:endParaRPr lang="pt-BR" dirty="0"/>
          </a:p>
          <a:p>
            <a:endParaRPr lang="pt-BR" dirty="0"/>
          </a:p>
        </p:txBody>
      </p:sp>
    </p:spTree>
    <p:extLst>
      <p:ext uri="{BB962C8B-B14F-4D97-AF65-F5344CB8AC3E}">
        <p14:creationId xmlns:p14="http://schemas.microsoft.com/office/powerpoint/2010/main" val="41302282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Obrigatoriedade de informação</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0669" y="1366092"/>
            <a:ext cx="10146535" cy="4395729"/>
          </a:xfrm>
        </p:spPr>
      </p:pic>
    </p:spTree>
    <p:extLst>
      <p:ext uri="{BB962C8B-B14F-4D97-AF65-F5344CB8AC3E}">
        <p14:creationId xmlns:p14="http://schemas.microsoft.com/office/powerpoint/2010/main" val="3570490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pt-BR" sz="4000" b="1" dirty="0" smtClean="0"/>
              <a:t>NR 4 –SESMT : Registros</a:t>
            </a:r>
            <a:endParaRPr lang="pt-BR" sz="4000"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00" y="1083213"/>
            <a:ext cx="11706225" cy="4425221"/>
          </a:xfrm>
        </p:spPr>
      </p:pic>
    </p:spTree>
    <p:extLst>
      <p:ext uri="{BB962C8B-B14F-4D97-AF65-F5344CB8AC3E}">
        <p14:creationId xmlns:p14="http://schemas.microsoft.com/office/powerpoint/2010/main" val="7050989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Registro – Doenças ocupacionais</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00" y="1322023"/>
            <a:ext cx="11706225" cy="4197427"/>
          </a:xfrm>
        </p:spPr>
      </p:pic>
    </p:spTree>
    <p:extLst>
      <p:ext uri="{BB962C8B-B14F-4D97-AF65-F5344CB8AC3E}">
        <p14:creationId xmlns:p14="http://schemas.microsoft.com/office/powerpoint/2010/main" val="21315878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Caracterização da insalubridade</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00" y="1255923"/>
            <a:ext cx="11706225" cy="4439797"/>
          </a:xfrm>
        </p:spPr>
      </p:pic>
    </p:spTree>
    <p:extLst>
      <p:ext uri="{BB962C8B-B14F-4D97-AF65-F5344CB8AC3E}">
        <p14:creationId xmlns:p14="http://schemas.microsoft.com/office/powerpoint/2010/main" val="27810988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Registro – acidentes sem vítima</a:t>
            </a:r>
            <a:endParaRPr lang="pt-BR" b="1" dirty="0"/>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00" y="1299989"/>
            <a:ext cx="11706225" cy="4560983"/>
          </a:xfrm>
        </p:spPr>
      </p:pic>
    </p:spTree>
    <p:extLst>
      <p:ext uri="{BB962C8B-B14F-4D97-AF65-F5344CB8AC3E}">
        <p14:creationId xmlns:p14="http://schemas.microsoft.com/office/powerpoint/2010/main" val="5190341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204129"/>
            <a:ext cx="12023188" cy="858764"/>
          </a:xfrm>
        </p:spPr>
        <p:txBody>
          <a:bodyPr/>
          <a:lstStyle/>
          <a:p>
            <a:pPr algn="ctr"/>
            <a:r>
              <a:rPr lang="pt-BR" b="1" dirty="0" smtClean="0"/>
              <a:t>A integração S-1060 e S-2240</a:t>
            </a:r>
            <a:endParaRPr lang="pt-BR" b="1" dirty="0"/>
          </a:p>
        </p:txBody>
      </p:sp>
      <p:sp>
        <p:nvSpPr>
          <p:cNvPr id="3" name="Espaço Reservado para Conteúdo 2"/>
          <p:cNvSpPr>
            <a:spLocks noGrp="1"/>
          </p:cNvSpPr>
          <p:nvPr>
            <p:ph idx="1"/>
          </p:nvPr>
        </p:nvSpPr>
        <p:spPr/>
        <p:txBody>
          <a:bodyPr/>
          <a:lstStyle/>
          <a:p>
            <a:r>
              <a:rPr lang="pt-BR" dirty="0"/>
              <a:t>Conceito do evento: este evento é utilizado para registrar as condições ambientais de trabalho pelo empregador/contribuinte/órgão público, indicando a prestação de serviços, pelo trabalhador, em ambientes descritos no evento S-1060, bem como para informar a existência de exposição aos fatores de risco descritos na Tabela 23 - fatores de risco ambientais. É utilizado também para comunicar mudança dos ambientes em que o trabalhador exerce suas atividades e para comunicar o encerramento de exercício das atividades do trabalhador nestes ambientes. </a:t>
            </a:r>
          </a:p>
        </p:txBody>
      </p:sp>
    </p:spTree>
    <p:extLst>
      <p:ext uri="{BB962C8B-B14F-4D97-AF65-F5344CB8AC3E}">
        <p14:creationId xmlns:p14="http://schemas.microsoft.com/office/powerpoint/2010/main" val="1072001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Laudos conforme as </a:t>
            </a:r>
            <a:r>
              <a:rPr lang="pt-BR" b="1" dirty="0" err="1" smtClean="0"/>
              <a:t>NRs</a:t>
            </a:r>
            <a:endParaRPr lang="pt-BR" b="1" dirty="0"/>
          </a:p>
        </p:txBody>
      </p:sp>
      <p:sp>
        <p:nvSpPr>
          <p:cNvPr id="3" name="Espaço Reservado para Conteúdo 2"/>
          <p:cNvSpPr>
            <a:spLocks noGrp="1"/>
          </p:cNvSpPr>
          <p:nvPr>
            <p:ph idx="1"/>
          </p:nvPr>
        </p:nvSpPr>
        <p:spPr/>
        <p:txBody>
          <a:bodyPr>
            <a:normAutofit lnSpcReduction="10000"/>
          </a:bodyPr>
          <a:lstStyle/>
          <a:p>
            <a:r>
              <a:rPr lang="pt-BR" dirty="0" smtClean="0"/>
              <a:t>NR 15 : </a:t>
            </a:r>
            <a:r>
              <a:rPr lang="pt-BR" sz="2600" b="1" dirty="0"/>
              <a:t>15.4.1.1  </a:t>
            </a:r>
            <a:r>
              <a:rPr lang="pt-BR" sz="2600" dirty="0"/>
              <a:t>Cabe  à  autoridade  regional  competente  em  matéria  de  segurança  e  saúde  do  trabalhador,  comprovada  a insalubridade por laudo técnico de engenheiro de segurança do trabalho ou médico do trabalho, devidamente </a:t>
            </a:r>
            <a:r>
              <a:rPr lang="pt-BR" sz="2600" dirty="0" err="1"/>
              <a:t>habilitado,fixar</a:t>
            </a:r>
            <a:r>
              <a:rPr lang="pt-BR" sz="2600" dirty="0"/>
              <a:t> adicional devido aos empregados expostos à insalubridade </a:t>
            </a:r>
            <a:r>
              <a:rPr lang="pt-BR" sz="2600" dirty="0" smtClean="0"/>
              <a:t>quando</a:t>
            </a:r>
            <a:r>
              <a:rPr lang="pt-BR" sz="2600" dirty="0"/>
              <a:t> impraticável sua eliminação ou neutralização</a:t>
            </a:r>
            <a:r>
              <a:rPr lang="pt-BR" sz="2600" dirty="0" smtClean="0"/>
              <a:t>.</a:t>
            </a:r>
          </a:p>
          <a:p>
            <a:r>
              <a:rPr lang="pt-BR" sz="2600" dirty="0" smtClean="0"/>
              <a:t>NR 16 : </a:t>
            </a:r>
          </a:p>
          <a:p>
            <a:r>
              <a:rPr lang="pt-BR" b="1" dirty="0"/>
              <a:t>16.3</a:t>
            </a:r>
            <a:r>
              <a:rPr lang="pt-BR" dirty="0"/>
              <a:t> É responsabilidade do empregador a caracterização ou a descaracterização da </a:t>
            </a:r>
            <a:r>
              <a:rPr lang="pt-BR" dirty="0">
                <a:hlinkClick r:id="rId2"/>
              </a:rPr>
              <a:t>periculosidade</a:t>
            </a:r>
            <a:r>
              <a:rPr lang="pt-BR" dirty="0"/>
              <a:t>, mediante laudo técnico elaborado por Médico do Trabalho ou Engenheiro de Segurança do Trabalho, nos termos do artigo 195 da </a:t>
            </a:r>
            <a:r>
              <a:rPr lang="pt-BR" dirty="0">
                <a:hlinkClick r:id="rId3"/>
              </a:rPr>
              <a:t>CLT</a:t>
            </a:r>
            <a:r>
              <a:rPr lang="pt-BR" dirty="0"/>
              <a:t>. </a:t>
            </a:r>
            <a:endParaRPr lang="pt-BR" sz="2600" dirty="0" smtClean="0"/>
          </a:p>
          <a:p>
            <a:endParaRPr lang="pt-BR" sz="2600" dirty="0"/>
          </a:p>
        </p:txBody>
      </p:sp>
    </p:spTree>
    <p:extLst>
      <p:ext uri="{BB962C8B-B14F-4D97-AF65-F5344CB8AC3E}">
        <p14:creationId xmlns:p14="http://schemas.microsoft.com/office/powerpoint/2010/main" val="27874062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694" y="568960"/>
            <a:ext cx="11705493" cy="5073431"/>
          </a:xfrm>
        </p:spPr>
        <p:txBody>
          <a:bodyPr>
            <a:noAutofit/>
          </a:bodyPr>
          <a:lstStyle/>
          <a:p>
            <a:r>
              <a:rPr lang="pt-BR" sz="3000" dirty="0" smtClean="0">
                <a:latin typeface="Arial" pitchFamily="34" charset="0"/>
                <a:cs typeface="Arial" pitchFamily="34" charset="0"/>
              </a:rPr>
              <a:t>Assim como não existe um evento específico para o PPP também não há um evento para o LTCAT , dessa forma o mesmo estará ligado diretamente aos eventos:</a:t>
            </a:r>
          </a:p>
          <a:p>
            <a:r>
              <a:rPr lang="pt-BR" sz="3000" dirty="0" smtClean="0">
                <a:latin typeface="Arial" pitchFamily="34" charset="0"/>
                <a:cs typeface="Arial" pitchFamily="34" charset="0"/>
              </a:rPr>
              <a:t>S- 2241 – Insalubridade, periculosidade e aposentadoria especial.</a:t>
            </a:r>
          </a:p>
          <a:p>
            <a:r>
              <a:rPr lang="pt-BR" sz="3000" dirty="0" smtClean="0">
                <a:latin typeface="Arial" pitchFamily="34" charset="0"/>
                <a:cs typeface="Arial" pitchFamily="34" charset="0"/>
              </a:rPr>
              <a:t>S- 2220 – Monitoramento da Saúde do Trabalhador.</a:t>
            </a:r>
          </a:p>
          <a:p>
            <a:r>
              <a:rPr lang="pt-BR" sz="3000" dirty="0" smtClean="0">
                <a:latin typeface="Arial" pitchFamily="34" charset="0"/>
                <a:cs typeface="Arial" pitchFamily="34" charset="0"/>
              </a:rPr>
              <a:t>S – 2241 – Condições ambientais do trabalho – Fatores de risco.</a:t>
            </a:r>
          </a:p>
          <a:p>
            <a:r>
              <a:rPr lang="pt-BR" sz="3000" dirty="0" smtClean="0">
                <a:latin typeface="Arial" pitchFamily="34" charset="0"/>
                <a:cs typeface="Arial" pitchFamily="34" charset="0"/>
              </a:rPr>
              <a:t>Os dados informados nos eventos acima serão extraídos do LTCAT muitas das vezes, para as empresas contempladas na obrigatoriedade de elaboração do Laudo.</a:t>
            </a:r>
            <a:endParaRPr lang="en-US" sz="3000" dirty="0">
              <a:latin typeface="Arial" pitchFamily="34" charset="0"/>
              <a:cs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pt-BR" sz="3600" b="1" dirty="0"/>
              <a:t>S-2241 – Insalubridade, Periculosidade e Aposentadoria Especial</a:t>
            </a:r>
          </a:p>
        </p:txBody>
      </p:sp>
      <p:sp>
        <p:nvSpPr>
          <p:cNvPr id="3" name="Espaço Reservado para Conteúdo 2"/>
          <p:cNvSpPr>
            <a:spLocks noGrp="1"/>
          </p:cNvSpPr>
          <p:nvPr>
            <p:ph idx="1"/>
          </p:nvPr>
        </p:nvSpPr>
        <p:spPr>
          <a:xfrm>
            <a:off x="176270" y="1291053"/>
            <a:ext cx="11846917" cy="4823308"/>
          </a:xfrm>
        </p:spPr>
        <p:txBody>
          <a:bodyPr>
            <a:normAutofit fontScale="92500" lnSpcReduction="10000"/>
          </a:bodyPr>
          <a:lstStyle/>
          <a:p>
            <a:r>
              <a:rPr lang="pt-BR" dirty="0"/>
              <a:t>Conceito do evento: Este evento é utilizado pelo </a:t>
            </a:r>
            <a:r>
              <a:rPr lang="pt-BR" dirty="0" smtClean="0"/>
              <a:t>empregador/contribuinte/órgão </a:t>
            </a:r>
            <a:r>
              <a:rPr lang="pt-BR" dirty="0"/>
              <a:t>público para </a:t>
            </a:r>
            <a:r>
              <a:rPr lang="pt-BR" dirty="0" smtClean="0"/>
              <a:t>registrar os </a:t>
            </a:r>
            <a:r>
              <a:rPr lang="pt-BR" dirty="0"/>
              <a:t>fatores de risco descritos na </a:t>
            </a:r>
            <a:r>
              <a:rPr lang="pt-BR" dirty="0">
                <a:solidFill>
                  <a:srgbClr val="FF0000"/>
                </a:solidFill>
              </a:rPr>
              <a:t>Tabela</a:t>
            </a:r>
            <a:r>
              <a:rPr lang="pt-BR" dirty="0"/>
              <a:t> </a:t>
            </a:r>
            <a:r>
              <a:rPr lang="pt-BR" dirty="0">
                <a:solidFill>
                  <a:srgbClr val="FF0000"/>
                </a:solidFill>
              </a:rPr>
              <a:t>23 – Fatores de Risco Ambientais</a:t>
            </a:r>
            <a:r>
              <a:rPr lang="pt-BR" dirty="0"/>
              <a:t>, que criam condições </a:t>
            </a:r>
            <a:r>
              <a:rPr lang="pt-BR" dirty="0" smtClean="0"/>
              <a:t>de insalubridade </a:t>
            </a:r>
            <a:r>
              <a:rPr lang="pt-BR" dirty="0"/>
              <a:t>ou periculosidade no ambiente de trabalho, bem como a sujeição aos fatores de risco </a:t>
            </a:r>
            <a:r>
              <a:rPr lang="pt-BR" dirty="0" smtClean="0"/>
              <a:t>que ensejam </a:t>
            </a:r>
            <a:r>
              <a:rPr lang="pt-BR" dirty="0"/>
              <a:t>a concessão da aposentadoria especial e o dever do respectivo custeio.</a:t>
            </a:r>
          </a:p>
          <a:p>
            <a:r>
              <a:rPr lang="pt-BR" dirty="0"/>
              <a:t>O evento também é utilizado para comunicar mudança nas condições e nos ambientes sujeitos a </a:t>
            </a:r>
            <a:r>
              <a:rPr lang="pt-BR" dirty="0" smtClean="0"/>
              <a:t>fatores de </a:t>
            </a:r>
            <a:r>
              <a:rPr lang="pt-BR" dirty="0"/>
              <a:t>risco e para comunicar o encerramento de exercício das atividades do trabalhador nestes ambientes</a:t>
            </a:r>
            <a:r>
              <a:rPr lang="pt-BR" dirty="0" smtClean="0"/>
              <a:t>.</a:t>
            </a:r>
          </a:p>
          <a:p>
            <a:r>
              <a:rPr lang="pt-BR" dirty="0">
                <a:solidFill>
                  <a:srgbClr val="FF0000"/>
                </a:solidFill>
              </a:rPr>
              <a:t>O evento somente será informado caso a exposição aos fatores de risco descritos na tabela S-2240 seja fato gerador dos adicionais de insalubridade ou periculosidade ou se for condição especial que enseje o pagamento do adicional do SAT para o financiamento da aposentadoria especial</a:t>
            </a:r>
            <a:r>
              <a:rPr lang="pt-BR" dirty="0"/>
              <a:t>. </a:t>
            </a:r>
          </a:p>
        </p:txBody>
      </p:sp>
    </p:spTree>
    <p:extLst>
      <p:ext uri="{BB962C8B-B14F-4D97-AF65-F5344CB8AC3E}">
        <p14:creationId xmlns:p14="http://schemas.microsoft.com/office/powerpoint/2010/main" val="2084861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Programas de segurança</a:t>
            </a:r>
            <a:endParaRPr lang="pt-BR" b="1" dirty="0"/>
          </a:p>
        </p:txBody>
      </p:sp>
      <p:sp>
        <p:nvSpPr>
          <p:cNvPr id="3" name="Espaço Reservado para Conteúdo 2"/>
          <p:cNvSpPr>
            <a:spLocks noGrp="1"/>
          </p:cNvSpPr>
          <p:nvPr>
            <p:ph idx="1"/>
          </p:nvPr>
        </p:nvSpPr>
        <p:spPr/>
        <p:txBody>
          <a:bodyPr/>
          <a:lstStyle/>
          <a:p>
            <a:r>
              <a:rPr lang="pt-BR" dirty="0" smtClean="0"/>
              <a:t>Os programas de segurança existentes nas NRs serão contemplados através de vários eventos como:</a:t>
            </a:r>
          </a:p>
          <a:p>
            <a:r>
              <a:rPr lang="pt-BR" dirty="0" smtClean="0"/>
              <a:t>S – 1060 – Tabela de ambientes de trabalho .</a:t>
            </a:r>
          </a:p>
          <a:p>
            <a:r>
              <a:rPr lang="pt-BR" dirty="0" smtClean="0"/>
              <a:t>S – 2220 – Monitoramento da saúde do trabalhador.</a:t>
            </a:r>
          </a:p>
          <a:p>
            <a:r>
              <a:rPr lang="pt-BR" dirty="0" smtClean="0"/>
              <a:t>S – 2240 – Fatores de risco.</a:t>
            </a:r>
          </a:p>
          <a:p>
            <a:r>
              <a:rPr lang="pt-BR" dirty="0" smtClean="0"/>
              <a:t>É importante entender a sincronia que haverá entre cada evento existente do E-social para que a empresa não insira dados no programa que possam gerar inconsistências.</a:t>
            </a:r>
            <a:endParaRPr lang="pt-BR" dirty="0"/>
          </a:p>
        </p:txBody>
      </p:sp>
    </p:spTree>
    <p:extLst>
      <p:ext uri="{BB962C8B-B14F-4D97-AF65-F5344CB8AC3E}">
        <p14:creationId xmlns:p14="http://schemas.microsoft.com/office/powerpoint/2010/main" val="31209254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 Treinamentos</a:t>
            </a:r>
            <a:endParaRPr lang="pt-BR" b="1" dirty="0"/>
          </a:p>
        </p:txBody>
      </p:sp>
      <p:sp>
        <p:nvSpPr>
          <p:cNvPr id="3" name="Espaço Reservado para Conteúdo 2"/>
          <p:cNvSpPr>
            <a:spLocks noGrp="1"/>
          </p:cNvSpPr>
          <p:nvPr>
            <p:ph idx="1"/>
          </p:nvPr>
        </p:nvSpPr>
        <p:spPr/>
        <p:txBody>
          <a:bodyPr>
            <a:normAutofit fontScale="92500" lnSpcReduction="20000"/>
          </a:bodyPr>
          <a:lstStyle/>
          <a:p>
            <a:r>
              <a:rPr lang="nn-NO" dirty="0" smtClean="0"/>
              <a:t>Quanto aos treinamentos , os mesmos farão parte do evento S-2220 – Monitoramento da Saúde do Trabalhador e deverão ser informados.Exemplos de treinamentos obrigatórios:</a:t>
            </a:r>
          </a:p>
          <a:p>
            <a:r>
              <a:rPr lang="nn-NO" dirty="0" smtClean="0"/>
              <a:t>NR5 – Treinamento de 20 horas</a:t>
            </a:r>
          </a:p>
          <a:p>
            <a:r>
              <a:rPr lang="nn-NO" dirty="0" smtClean="0"/>
              <a:t> NR6 – Treinamento para uso de EPI sem carga horária definida por norma</a:t>
            </a:r>
          </a:p>
          <a:p>
            <a:r>
              <a:rPr lang="nn-NO" dirty="0" smtClean="0"/>
              <a:t> NR10 – Treinamento de segurança em riscos elétricos que varia de 20 a 60 horas</a:t>
            </a:r>
          </a:p>
          <a:p>
            <a:r>
              <a:rPr lang="nn-NO" dirty="0" smtClean="0"/>
              <a:t> </a:t>
            </a:r>
            <a:r>
              <a:rPr lang="nn-NO" dirty="0"/>
              <a:t>NR </a:t>
            </a:r>
            <a:r>
              <a:rPr lang="nn-NO" dirty="0" smtClean="0"/>
              <a:t>20 – Segurança quanto aos inflamáveis carga horária variável</a:t>
            </a:r>
          </a:p>
          <a:p>
            <a:r>
              <a:rPr lang="nn-NO" dirty="0" smtClean="0"/>
              <a:t> </a:t>
            </a:r>
            <a:r>
              <a:rPr lang="nn-NO" dirty="0"/>
              <a:t>NR 33 </a:t>
            </a:r>
            <a:r>
              <a:rPr lang="nn-NO" dirty="0" smtClean="0"/>
              <a:t>– Segurança em espaços confinados com carga horária variável entre 8 e 40 horas.</a:t>
            </a:r>
          </a:p>
          <a:p>
            <a:r>
              <a:rPr lang="nn-NO" dirty="0" smtClean="0"/>
              <a:t> </a:t>
            </a:r>
            <a:r>
              <a:rPr lang="nn-NO" dirty="0"/>
              <a:t>NR </a:t>
            </a:r>
            <a:r>
              <a:rPr lang="nn-NO" dirty="0" smtClean="0"/>
              <a:t>35 – Segurança no trabalho em altura com carga horária mínima de 8 horas.</a:t>
            </a:r>
            <a:endParaRPr lang="pt-BR" dirty="0"/>
          </a:p>
        </p:txBody>
      </p:sp>
    </p:spTree>
    <p:extLst>
      <p:ext uri="{BB962C8B-B14F-4D97-AF65-F5344CB8AC3E}">
        <p14:creationId xmlns:p14="http://schemas.microsoft.com/office/powerpoint/2010/main" val="21906596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pt-BR" dirty="0" smtClean="0"/>
              <a:t/>
            </a:r>
            <a:br>
              <a:rPr lang="pt-BR" dirty="0" smtClean="0"/>
            </a:br>
            <a:r>
              <a:rPr lang="pt-BR" b="1" dirty="0" smtClean="0"/>
              <a:t> </a:t>
            </a:r>
            <a:r>
              <a:rPr lang="pt-BR" sz="4000" b="1" dirty="0" smtClean="0"/>
              <a:t>S-2210 Comunicação </a:t>
            </a:r>
            <a:r>
              <a:rPr lang="pt-BR" sz="4000" b="1" dirty="0"/>
              <a:t>de Acidente de Trabalho – </a:t>
            </a:r>
            <a:r>
              <a:rPr lang="pt-BR" sz="4000" b="1" dirty="0" smtClean="0"/>
              <a:t>CAT</a:t>
            </a:r>
            <a:br>
              <a:rPr lang="pt-BR" sz="4000" b="1" dirty="0" smtClean="0"/>
            </a:br>
            <a:r>
              <a:rPr lang="pt-BR" sz="4000" dirty="0"/>
              <a:t/>
            </a:r>
            <a:br>
              <a:rPr lang="pt-BR" sz="4000" dirty="0"/>
            </a:br>
            <a:endParaRPr lang="pt-BR" sz="4000" dirty="0"/>
          </a:p>
        </p:txBody>
      </p:sp>
      <p:sp>
        <p:nvSpPr>
          <p:cNvPr id="3" name="Espaço Reservado para Conteúdo 2"/>
          <p:cNvSpPr>
            <a:spLocks noGrp="1"/>
          </p:cNvSpPr>
          <p:nvPr>
            <p:ph idx="1"/>
          </p:nvPr>
        </p:nvSpPr>
        <p:spPr>
          <a:xfrm>
            <a:off x="317694" y="1083213"/>
            <a:ext cx="11705493" cy="5152334"/>
          </a:xfrm>
        </p:spPr>
        <p:txBody>
          <a:bodyPr>
            <a:normAutofit/>
          </a:bodyPr>
          <a:lstStyle/>
          <a:p>
            <a:pPr fontAlgn="base"/>
            <a:r>
              <a:rPr lang="pt-BR" dirty="0"/>
              <a:t>A Comunicação de Acidente de Trabalho (CAT) é um documento emitido para reconhecer tanto um acidente de trabalho ou de trajeto bem como uma doença ocupacional</a:t>
            </a:r>
            <a:r>
              <a:rPr lang="pt-BR" dirty="0" smtClean="0"/>
              <a:t>.</a:t>
            </a:r>
          </a:p>
          <a:p>
            <a:pPr fontAlgn="base"/>
            <a:r>
              <a:rPr lang="pt-BR" dirty="0" smtClean="0">
                <a:solidFill>
                  <a:srgbClr val="FF0000"/>
                </a:solidFill>
              </a:rPr>
              <a:t>No </a:t>
            </a:r>
            <a:r>
              <a:rPr lang="pt-BR" dirty="0">
                <a:solidFill>
                  <a:srgbClr val="FF0000"/>
                </a:solidFill>
              </a:rPr>
              <a:t>eSocial, o envio deste evento é realizado somente pelo </a:t>
            </a:r>
            <a:r>
              <a:rPr lang="pt-BR" dirty="0" smtClean="0">
                <a:solidFill>
                  <a:srgbClr val="FF0000"/>
                </a:solidFill>
              </a:rPr>
              <a:t>empregador/contribuinte/órgão </a:t>
            </a:r>
            <a:r>
              <a:rPr lang="pt-BR" dirty="0">
                <a:solidFill>
                  <a:srgbClr val="FF0000"/>
                </a:solidFill>
              </a:rPr>
              <a:t>público, sendo que os demais legitimados, previstos na legislação para emissão da CAT, continuarão utilizando o sistema atual de notificações.</a:t>
            </a:r>
          </a:p>
          <a:p>
            <a:r>
              <a:rPr lang="pt-BR" dirty="0" smtClean="0">
                <a:solidFill>
                  <a:srgbClr val="FF0000"/>
                </a:solidFill>
              </a:rPr>
              <a:t>Em caso de óbito a comunicação deverá ser imediata</a:t>
            </a:r>
            <a:r>
              <a:rPr lang="pt-BR" dirty="0" smtClean="0"/>
              <a:t>.</a:t>
            </a:r>
            <a:endParaRPr lang="pt-BR" dirty="0"/>
          </a:p>
        </p:txBody>
      </p:sp>
    </p:spTree>
    <p:extLst>
      <p:ext uri="{BB962C8B-B14F-4D97-AF65-F5344CB8AC3E}">
        <p14:creationId xmlns:p14="http://schemas.microsoft.com/office/powerpoint/2010/main" val="41698889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smtClean="0"/>
              <a:t> S – 2240 – Fatores risco</a:t>
            </a:r>
            <a:endParaRPr lang="en-US" dirty="0"/>
          </a:p>
        </p:txBody>
      </p:sp>
      <p:sp>
        <p:nvSpPr>
          <p:cNvPr id="3" name="Content Placeholder 2"/>
          <p:cNvSpPr>
            <a:spLocks noGrp="1"/>
          </p:cNvSpPr>
          <p:nvPr>
            <p:ph idx="1"/>
          </p:nvPr>
        </p:nvSpPr>
        <p:spPr/>
        <p:txBody>
          <a:bodyPr/>
          <a:lstStyle/>
          <a:p>
            <a:r>
              <a:rPr lang="pt-BR" dirty="0" smtClean="0"/>
              <a:t>Cada risco será atribuído ao seu código específico, conforme tabela 23 do E-Social, caso inexistam fatores de risco o código informado será “ Ausência de Fator de Risco”.</a:t>
            </a:r>
          </a:p>
          <a:p>
            <a:r>
              <a:rPr lang="pt-BR" dirty="0" smtClean="0"/>
              <a:t>Sequência lógica da qual depende o S-2240 : </a:t>
            </a:r>
          </a:p>
          <a:p>
            <a:endParaRPr lang="en-US" dirty="0"/>
          </a:p>
        </p:txBody>
      </p:sp>
      <p:sp>
        <p:nvSpPr>
          <p:cNvPr id="4" name="Rectangle 3"/>
          <p:cNvSpPr/>
          <p:nvPr/>
        </p:nvSpPr>
        <p:spPr>
          <a:xfrm>
            <a:off x="467360" y="3434080"/>
            <a:ext cx="3048000" cy="1706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smtClean="0">
                <a:solidFill>
                  <a:srgbClr val="FF0000"/>
                </a:solidFill>
              </a:rPr>
              <a:t>S-2200 – Cadastro inicial</a:t>
            </a:r>
            <a:endParaRPr lang="en-US" sz="2000" b="1" dirty="0">
              <a:solidFill>
                <a:srgbClr val="FF0000"/>
              </a:solidFill>
            </a:endParaRPr>
          </a:p>
        </p:txBody>
      </p:sp>
      <p:sp>
        <p:nvSpPr>
          <p:cNvPr id="5" name="Rectangle 4"/>
          <p:cNvSpPr/>
          <p:nvPr/>
        </p:nvSpPr>
        <p:spPr>
          <a:xfrm>
            <a:off x="8514080" y="3434080"/>
            <a:ext cx="3088640" cy="172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S-2240 – Fatores de risco</a:t>
            </a:r>
            <a:endParaRPr lang="en-US" dirty="0"/>
          </a:p>
        </p:txBody>
      </p:sp>
      <p:sp>
        <p:nvSpPr>
          <p:cNvPr id="6" name="Rectangle 5"/>
          <p:cNvSpPr/>
          <p:nvPr/>
        </p:nvSpPr>
        <p:spPr>
          <a:xfrm>
            <a:off x="4612640" y="3434080"/>
            <a:ext cx="2641600" cy="172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S -1060 – Ambientes  de trabalho</a:t>
            </a:r>
            <a:endParaRPr lang="en-US" dirty="0"/>
          </a:p>
        </p:txBody>
      </p:sp>
      <p:sp>
        <p:nvSpPr>
          <p:cNvPr id="8" name="Right Arrow 7"/>
          <p:cNvSpPr/>
          <p:nvPr/>
        </p:nvSpPr>
        <p:spPr>
          <a:xfrm>
            <a:off x="3718560" y="4104640"/>
            <a:ext cx="731520" cy="812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7548880" y="4033520"/>
            <a:ext cx="731520" cy="812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Inserção do agente ergonômico</a:t>
            </a:r>
            <a:endParaRPr lang="pt-BR" b="1" dirty="0"/>
          </a:p>
        </p:txBody>
      </p:sp>
      <p:pic>
        <p:nvPicPr>
          <p:cNvPr id="5" name="Espaço Reservado para Conteú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0844" y="1290638"/>
            <a:ext cx="10245686" cy="4351337"/>
          </a:xfrm>
        </p:spPr>
      </p:pic>
    </p:spTree>
    <p:extLst>
      <p:ext uri="{BB962C8B-B14F-4D97-AF65-F5344CB8AC3E}">
        <p14:creationId xmlns:p14="http://schemas.microsoft.com/office/powerpoint/2010/main" val="114447423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25663"/>
            <a:ext cx="12023188" cy="858764"/>
          </a:xfrm>
        </p:spPr>
        <p:txBody>
          <a:bodyPr/>
          <a:lstStyle/>
          <a:p>
            <a:pPr algn="ctr"/>
            <a:r>
              <a:rPr lang="pt-BR" b="1" dirty="0" smtClean="0"/>
              <a:t>AET – Análise ergonômica do trabalho</a:t>
            </a:r>
            <a:endParaRPr lang="pt-BR" b="1" dirty="0"/>
          </a:p>
        </p:txBody>
      </p:sp>
      <p:sp>
        <p:nvSpPr>
          <p:cNvPr id="3" name="Espaço Reservado para Conteúdo 2"/>
          <p:cNvSpPr>
            <a:spLocks noGrp="1"/>
          </p:cNvSpPr>
          <p:nvPr>
            <p:ph idx="1"/>
          </p:nvPr>
        </p:nvSpPr>
        <p:spPr>
          <a:xfrm>
            <a:off x="317695" y="884427"/>
            <a:ext cx="11705493" cy="4351338"/>
          </a:xfrm>
        </p:spPr>
        <p:txBody>
          <a:bodyPr/>
          <a:lstStyle/>
          <a:p>
            <a:r>
              <a:rPr lang="pt-BR" dirty="0"/>
              <a:t>17.1.2. Para avaliar a adaptação das condições de trabalho às características </a:t>
            </a:r>
            <a:r>
              <a:rPr lang="pt-BR" dirty="0" err="1"/>
              <a:t>psicofisiológicas</a:t>
            </a:r>
            <a:r>
              <a:rPr lang="pt-BR" dirty="0"/>
              <a:t> dos trabalhadores, cabe ao empregador realizar a </a:t>
            </a:r>
            <a:r>
              <a:rPr lang="pt-BR" dirty="0">
                <a:solidFill>
                  <a:srgbClr val="FF0000"/>
                </a:solidFill>
              </a:rPr>
              <a:t>análise ergonômica do trabalho</a:t>
            </a:r>
            <a:r>
              <a:rPr lang="pt-BR" dirty="0"/>
              <a:t>, devendo a mesma abordar, no mínimo, as condições de trabalho, conforme estabelecido nesta Norma Regulamentadora.</a:t>
            </a: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2963538"/>
            <a:ext cx="9906001" cy="3404211"/>
          </a:xfrm>
          <a:prstGeom prst="rect">
            <a:avLst/>
          </a:prstGeom>
        </p:spPr>
      </p:pic>
    </p:spTree>
    <p:extLst>
      <p:ext uri="{BB962C8B-B14F-4D97-AF65-F5344CB8AC3E}">
        <p14:creationId xmlns:p14="http://schemas.microsoft.com/office/powerpoint/2010/main" val="22484559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a:t>
            </a:r>
            <a:r>
              <a:rPr lang="pt-BR" sz="4000" b="1" dirty="0" smtClean="0">
                <a:latin typeface="Arial" panose="020B0604020202020204" pitchFamily="34" charset="0"/>
                <a:cs typeface="Arial" panose="020B0604020202020204" pitchFamily="34" charset="0"/>
              </a:rPr>
              <a:t>PPP – Perfil </a:t>
            </a:r>
            <a:r>
              <a:rPr lang="pt-BR" sz="4000" b="1" dirty="0" err="1" smtClean="0">
                <a:latin typeface="Arial" panose="020B0604020202020204" pitchFamily="34" charset="0"/>
                <a:cs typeface="Arial" panose="020B0604020202020204" pitchFamily="34" charset="0"/>
              </a:rPr>
              <a:t>profissiográfico</a:t>
            </a:r>
            <a:r>
              <a:rPr lang="pt-BR" sz="4000" b="1" dirty="0" smtClean="0">
                <a:latin typeface="Arial" panose="020B0604020202020204" pitchFamily="34" charset="0"/>
                <a:cs typeface="Arial" panose="020B0604020202020204" pitchFamily="34" charset="0"/>
              </a:rPr>
              <a:t> previdenciário</a:t>
            </a:r>
            <a:endParaRPr lang="pt-BR" sz="4000" b="1" dirty="0">
              <a:latin typeface="Arial" panose="020B0604020202020204" pitchFamily="34" charset="0"/>
              <a:cs typeface="Arial" panose="020B0604020202020204" pitchFamily="34" charset="0"/>
            </a:endParaRPr>
          </a:p>
        </p:txBody>
      </p:sp>
      <p:sp>
        <p:nvSpPr>
          <p:cNvPr id="3" name="Espaço Reservado para Conteúdo 2"/>
          <p:cNvSpPr>
            <a:spLocks noGrp="1"/>
          </p:cNvSpPr>
          <p:nvPr>
            <p:ph idx="1"/>
          </p:nvPr>
        </p:nvSpPr>
        <p:spPr>
          <a:xfrm>
            <a:off x="317694" y="1291052"/>
            <a:ext cx="11705493" cy="4757207"/>
          </a:xfrm>
        </p:spPr>
        <p:txBody>
          <a:bodyPr>
            <a:normAutofit lnSpcReduction="10000"/>
          </a:bodyPr>
          <a:lstStyle/>
          <a:p>
            <a:r>
              <a:rPr lang="pt-BR" sz="3200" dirty="0" smtClean="0">
                <a:latin typeface="Arial" pitchFamily="34" charset="0"/>
                <a:cs typeface="Arial" pitchFamily="34" charset="0"/>
              </a:rPr>
              <a:t>Não haverá um evento específico para o PPP. As informações pertinenetes ao mesmo estarão espalhadas por diversos eventos.</a:t>
            </a:r>
            <a:endParaRPr lang="pt-BR" sz="3200" dirty="0">
              <a:latin typeface="Arial" pitchFamily="34" charset="0"/>
              <a:cs typeface="Arial" pitchFamily="34" charset="0"/>
            </a:endParaRPr>
          </a:p>
          <a:p>
            <a:r>
              <a:rPr lang="pt-BR" sz="3200" dirty="0">
                <a:latin typeface="Arial" pitchFamily="34" charset="0"/>
                <a:cs typeface="Arial" pitchFamily="34" charset="0"/>
              </a:rPr>
              <a:t> </a:t>
            </a:r>
            <a:r>
              <a:rPr lang="pt-BR" sz="3200" dirty="0" smtClean="0">
                <a:solidFill>
                  <a:srgbClr val="FF0000"/>
                </a:solidFill>
                <a:latin typeface="Arial" pitchFamily="34" charset="0"/>
                <a:cs typeface="Arial" pitchFamily="34" charset="0"/>
              </a:rPr>
              <a:t>O </a:t>
            </a:r>
            <a:r>
              <a:rPr lang="pt-BR" sz="3200" dirty="0">
                <a:solidFill>
                  <a:srgbClr val="FF0000"/>
                </a:solidFill>
                <a:latin typeface="Arial" pitchFamily="34" charset="0"/>
                <a:cs typeface="Arial" pitchFamily="34" charset="0"/>
              </a:rPr>
              <a:t>PPP foi instituído pelo art. 148, parágrafo 1 da Instrução Normativa INSS/DC 95/2003, </a:t>
            </a:r>
            <a:r>
              <a:rPr lang="pt-BR" sz="3200" b="1" dirty="0">
                <a:solidFill>
                  <a:srgbClr val="FF0000"/>
                </a:solidFill>
                <a:latin typeface="Arial" pitchFamily="34" charset="0"/>
                <a:cs typeface="Arial" pitchFamily="34" charset="0"/>
              </a:rPr>
              <a:t>obrigatório a partir de 01.01.2004</a:t>
            </a:r>
            <a:r>
              <a:rPr lang="pt-BR" sz="3200" b="1" dirty="0" smtClean="0">
                <a:solidFill>
                  <a:srgbClr val="FF0000"/>
                </a:solidFill>
                <a:latin typeface="Arial" pitchFamily="34" charset="0"/>
                <a:cs typeface="Arial" pitchFamily="34" charset="0"/>
              </a:rPr>
              <a:t>.</a:t>
            </a:r>
          </a:p>
          <a:p>
            <a:r>
              <a:rPr lang="pt-BR" sz="3200" dirty="0">
                <a:latin typeface="Arial" pitchFamily="34" charset="0"/>
                <a:cs typeface="Arial" pitchFamily="34" charset="0"/>
              </a:rPr>
              <a:t>O PPP deve ser elaborado pela empresa com base no LTCAT e assinado pelo representante legal da empresa ou seu preposto, indicando o nome do médico do trabalho e do engenheiro de segurança do trabalho, em conformidade com o dimensionamento do SESMT.</a:t>
            </a:r>
          </a:p>
          <a:p>
            <a:endParaRPr lang="pt-BR" dirty="0"/>
          </a:p>
        </p:txBody>
      </p:sp>
    </p:spTree>
    <p:extLst>
      <p:ext uri="{BB962C8B-B14F-4D97-AF65-F5344CB8AC3E}">
        <p14:creationId xmlns:p14="http://schemas.microsoft.com/office/powerpoint/2010/main" val="70933802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pt-BR" sz="3600" b="1" dirty="0" smtClean="0"/>
              <a:t>LTCAT- Laudo técnico das condições do ambiente de trabalho</a:t>
            </a:r>
            <a:endParaRPr lang="pt-BR" sz="3600" b="1" dirty="0"/>
          </a:p>
        </p:txBody>
      </p:sp>
      <p:sp>
        <p:nvSpPr>
          <p:cNvPr id="3" name="Espaço Reservado para Conteúdo 2"/>
          <p:cNvSpPr>
            <a:spLocks noGrp="1"/>
          </p:cNvSpPr>
          <p:nvPr>
            <p:ph idx="1"/>
          </p:nvPr>
        </p:nvSpPr>
        <p:spPr>
          <a:xfrm>
            <a:off x="317695" y="1632576"/>
            <a:ext cx="11705493" cy="4351338"/>
          </a:xfrm>
        </p:spPr>
        <p:txBody>
          <a:bodyPr/>
          <a:lstStyle/>
          <a:p>
            <a:r>
              <a:rPr lang="pt-BR" dirty="0"/>
              <a:t>O Artigo 58 da Lei 8.213/91 nos mostra que:</a:t>
            </a:r>
          </a:p>
          <a:p>
            <a:r>
              <a:rPr lang="pt-BR" i="1" dirty="0" smtClean="0"/>
              <a:t>“ </a:t>
            </a:r>
            <a:r>
              <a:rPr lang="pt-BR" i="1" dirty="0"/>
              <a:t>A relação dos agentes nocivos químicos, físicos e biológicos ou associação de agentes prejudiciais à saúde ou à integridade física considerados para fins de concessão da aposentadoria especial de que trata o artigo anterior será definida pelo Poder Executivo</a:t>
            </a:r>
            <a:r>
              <a:rPr lang="pt-BR" i="1" dirty="0" smtClean="0"/>
              <a:t>.”</a:t>
            </a:r>
            <a:endParaRPr lang="pt-BR" dirty="0"/>
          </a:p>
          <a:p>
            <a:r>
              <a:rPr lang="pt-BR" dirty="0"/>
              <a:t>E o inciso 1 da do referido artigo deixa claro que o Laudo Técnico de Condições Ambientais – LTCAT é o documento responsável para que o INSS avalie a causa da aposentadoria especial.</a:t>
            </a:r>
          </a:p>
          <a:p>
            <a:endParaRPr lang="pt-BR" dirty="0"/>
          </a:p>
        </p:txBody>
      </p:sp>
    </p:spTree>
    <p:extLst>
      <p:ext uri="{BB962C8B-B14F-4D97-AF65-F5344CB8AC3E}">
        <p14:creationId xmlns:p14="http://schemas.microsoft.com/office/powerpoint/2010/main" val="22082634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dirty="0" smtClean="0"/>
              <a:t> </a:t>
            </a:r>
            <a:r>
              <a:rPr lang="pt-BR" sz="4000" b="1" dirty="0" smtClean="0"/>
              <a:t>FAP – Fator acidentário de prevenção</a:t>
            </a:r>
            <a:endParaRPr lang="pt-BR" sz="4000" b="1" dirty="0"/>
          </a:p>
        </p:txBody>
      </p:sp>
      <p:sp>
        <p:nvSpPr>
          <p:cNvPr id="3" name="Espaço Reservado para Conteúdo 2"/>
          <p:cNvSpPr>
            <a:spLocks noGrp="1"/>
          </p:cNvSpPr>
          <p:nvPr>
            <p:ph idx="1"/>
          </p:nvPr>
        </p:nvSpPr>
        <p:spPr/>
        <p:txBody>
          <a:bodyPr>
            <a:normAutofit lnSpcReduction="10000"/>
          </a:bodyPr>
          <a:lstStyle/>
          <a:p>
            <a:r>
              <a:rPr lang="pt-BR" dirty="0"/>
              <a:t>O Fator Acidentário de Prevenção – FAP é um multiplicador, atualmente calculado por estabelecimento, que varia de 0,5000 a 2,0000, a ser aplicado sobre as alíquotas de 1%, 2% ou 3% da tarifação coletiva por subclasse econômica, incidentes sobre a folha de salários das empresas para custear aposentadorias especiais e benefícios decorrentes de acidentes de trabalho</a:t>
            </a:r>
            <a:r>
              <a:rPr lang="pt-BR" dirty="0" smtClean="0"/>
              <a:t>.</a:t>
            </a:r>
          </a:p>
          <a:p>
            <a:r>
              <a:rPr lang="pt-BR" dirty="0"/>
              <a:t>Pela metodologia do FAP, as empresas que registrarem maior número de acidentes ou doenças ocupacionais, pagam mais. Por outro lado, o Fator Acidentário de Prevenção – FAP aumenta a bonificação das empresas que registram acidentalidade menor. No caso de nenhum evento de acidente de trabalho, a empresa é bonificada com a redução de 50% da alíquota.</a:t>
            </a:r>
          </a:p>
        </p:txBody>
      </p:sp>
    </p:spTree>
    <p:extLst>
      <p:ext uri="{BB962C8B-B14F-4D97-AF65-F5344CB8AC3E}">
        <p14:creationId xmlns:p14="http://schemas.microsoft.com/office/powerpoint/2010/main" val="67317036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pt-BR" b="1" dirty="0" smtClean="0"/>
              <a:t>CBO – Classificação brasileira de ocupações</a:t>
            </a:r>
            <a:endParaRPr lang="pt-BR" b="1" dirty="0"/>
          </a:p>
        </p:txBody>
      </p:sp>
      <p:sp>
        <p:nvSpPr>
          <p:cNvPr id="3" name="Espaço Reservado para Conteúdo 2"/>
          <p:cNvSpPr>
            <a:spLocks noGrp="1"/>
          </p:cNvSpPr>
          <p:nvPr>
            <p:ph idx="1"/>
          </p:nvPr>
        </p:nvSpPr>
        <p:spPr/>
        <p:txBody>
          <a:bodyPr>
            <a:normAutofit/>
          </a:bodyPr>
          <a:lstStyle/>
          <a:p>
            <a:r>
              <a:rPr lang="pt-BR" sz="3200" dirty="0">
                <a:latin typeface="Arial" pitchFamily="34" charset="0"/>
                <a:cs typeface="Arial" pitchFamily="34" charset="0"/>
              </a:rPr>
              <a:t>A Classificação Brasileira de Ocupações - CBO, instituída por portaria ministerial nº. 397, de 9 de outubro de 2002, tem por finalidade a identificação das ocupações no mercado de trabalho, para fins classificatórios junto aos registros administrativos e domiciliares</a:t>
            </a:r>
            <a:r>
              <a:rPr lang="pt-BR" sz="3200" dirty="0" smtClean="0">
                <a:latin typeface="Arial" pitchFamily="34" charset="0"/>
                <a:cs typeface="Arial" pitchFamily="34" charset="0"/>
              </a:rPr>
              <a:t>.</a:t>
            </a:r>
          </a:p>
          <a:p>
            <a:r>
              <a:rPr lang="pt-BR" sz="3200" dirty="0" smtClean="0">
                <a:latin typeface="Arial" pitchFamily="34" charset="0"/>
                <a:cs typeface="Arial" pitchFamily="34" charset="0"/>
              </a:rPr>
              <a:t>Nesse ponto haverá um link com o </a:t>
            </a:r>
            <a:r>
              <a:rPr lang="pt-BR" sz="3200" dirty="0" smtClean="0">
                <a:solidFill>
                  <a:srgbClr val="FF0000"/>
                </a:solidFill>
                <a:latin typeface="Arial" pitchFamily="34" charset="0"/>
                <a:cs typeface="Arial" pitchFamily="34" charset="0"/>
              </a:rPr>
              <a:t>evento S-2200 – Cadastro inicial do vínculo e admissão.</a:t>
            </a:r>
          </a:p>
        </p:txBody>
      </p:sp>
    </p:spTree>
    <p:extLst>
      <p:ext uri="{BB962C8B-B14F-4D97-AF65-F5344CB8AC3E}">
        <p14:creationId xmlns:p14="http://schemas.microsoft.com/office/powerpoint/2010/main" val="20154000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pt-BR" b="1" dirty="0" smtClean="0"/>
              <a:t>ASOs – Atestado de saúde ocupacional</a:t>
            </a:r>
            <a:br>
              <a:rPr lang="pt-BR" b="1" dirty="0" smtClean="0"/>
            </a:br>
            <a:r>
              <a:rPr lang="pt-BR" b="1" dirty="0" smtClean="0"/>
              <a:t>S-2220 – Monitoramento da saúde </a:t>
            </a:r>
            <a:endParaRPr lang="pt-BR" b="1" dirty="0"/>
          </a:p>
        </p:txBody>
      </p:sp>
      <p:sp>
        <p:nvSpPr>
          <p:cNvPr id="3" name="Espaço Reservado para Conteúdo 2"/>
          <p:cNvSpPr>
            <a:spLocks noGrp="1"/>
          </p:cNvSpPr>
          <p:nvPr>
            <p:ph idx="1"/>
          </p:nvPr>
        </p:nvSpPr>
        <p:spPr>
          <a:xfrm>
            <a:off x="486507" y="1117600"/>
            <a:ext cx="11705493" cy="4646711"/>
          </a:xfrm>
        </p:spPr>
        <p:txBody>
          <a:bodyPr>
            <a:normAutofit fontScale="92500" lnSpcReduction="20000"/>
          </a:bodyPr>
          <a:lstStyle/>
          <a:p>
            <a:r>
              <a:rPr lang="pt-BR" dirty="0" smtClean="0"/>
              <a:t>Os atestados de saúde ocupacional fazem parte do PCMSO e são classificados em:</a:t>
            </a:r>
          </a:p>
          <a:p>
            <a:r>
              <a:rPr lang="pt-BR" dirty="0"/>
              <a:t>a) admissional;</a:t>
            </a:r>
          </a:p>
          <a:p>
            <a:r>
              <a:rPr lang="pt-BR" dirty="0"/>
              <a:t>b) periódico;</a:t>
            </a:r>
          </a:p>
          <a:p>
            <a:r>
              <a:rPr lang="pt-BR" dirty="0"/>
              <a:t>c) de retorno ao trabalho;</a:t>
            </a:r>
          </a:p>
          <a:p>
            <a:r>
              <a:rPr lang="pt-BR" dirty="0"/>
              <a:t>d) de mudança de função;</a:t>
            </a:r>
          </a:p>
          <a:p>
            <a:r>
              <a:rPr lang="pt-BR" dirty="0"/>
              <a:t>e) demissional</a:t>
            </a:r>
            <a:r>
              <a:rPr lang="pt-BR" dirty="0" smtClean="0"/>
              <a:t>.</a:t>
            </a:r>
          </a:p>
          <a:p>
            <a:r>
              <a:rPr lang="pt-BR" dirty="0">
                <a:solidFill>
                  <a:srgbClr val="FF0000"/>
                </a:solidFill>
              </a:rPr>
              <a:t>Apenas os exames realizados após o início da obrigatoriedade de envio desse evento serão registrados no </a:t>
            </a:r>
            <a:r>
              <a:rPr lang="pt-BR" dirty="0" err="1">
                <a:solidFill>
                  <a:srgbClr val="FF0000"/>
                </a:solidFill>
              </a:rPr>
              <a:t>eSocial</a:t>
            </a:r>
            <a:r>
              <a:rPr lang="pt-BR" dirty="0" smtClean="0">
                <a:solidFill>
                  <a:srgbClr val="FF0000"/>
                </a:solidFill>
              </a:rPr>
              <a:t>.</a:t>
            </a:r>
          </a:p>
          <a:p>
            <a:r>
              <a:rPr lang="pt-BR" dirty="0" smtClean="0">
                <a:solidFill>
                  <a:srgbClr val="FF0000"/>
                </a:solidFill>
              </a:rPr>
              <a:t>O </a:t>
            </a:r>
            <a:r>
              <a:rPr lang="pt-BR" dirty="0">
                <a:solidFill>
                  <a:srgbClr val="FF0000"/>
                </a:solidFill>
              </a:rPr>
              <a:t>exame de retorno ao trabalho do trabalhador ausente por período igual ou superior a 30 dias por motivo de doença ou acidente de natureza ocupacional ou não, também deve constar no evento de monitoramento da Saúde do Trabalhador. </a:t>
            </a:r>
          </a:p>
          <a:p>
            <a:endParaRPr lang="pt-BR" dirty="0"/>
          </a:p>
        </p:txBody>
      </p:sp>
    </p:spTree>
    <p:extLst>
      <p:ext uri="{BB962C8B-B14F-4D97-AF65-F5344CB8AC3E}">
        <p14:creationId xmlns:p14="http://schemas.microsoft.com/office/powerpoint/2010/main" val="196654103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t>Desafios da correta implantação</a:t>
            </a:r>
            <a:endParaRPr lang="pt-BR" b="1" dirty="0"/>
          </a:p>
        </p:txBody>
      </p:sp>
      <p:sp>
        <p:nvSpPr>
          <p:cNvPr id="3" name="Espaço Reservado para Conteúdo 2"/>
          <p:cNvSpPr>
            <a:spLocks noGrp="1"/>
          </p:cNvSpPr>
          <p:nvPr>
            <p:ph idx="1"/>
          </p:nvPr>
        </p:nvSpPr>
        <p:spPr>
          <a:xfrm>
            <a:off x="317694" y="1291053"/>
            <a:ext cx="11705493" cy="5043646"/>
          </a:xfrm>
        </p:spPr>
        <p:txBody>
          <a:bodyPr>
            <a:normAutofit lnSpcReduction="10000"/>
          </a:bodyPr>
          <a:lstStyle/>
          <a:p>
            <a:r>
              <a:rPr lang="pt-BR" dirty="0" smtClean="0"/>
              <a:t>A inserção de dados no sistema do E-social levará em consideração a relação de várias declarações conforme abaixo :</a:t>
            </a:r>
          </a:p>
          <a:p>
            <a:r>
              <a:rPr lang="pt-BR" dirty="0"/>
              <a:t>Informações do Empregador (S-1000) – neste arquivo deverão aparecer, entre muitas outras, as informações sobre </a:t>
            </a:r>
            <a:r>
              <a:rPr lang="pt-BR" dirty="0">
                <a:hlinkClick r:id="rId2"/>
              </a:rPr>
              <a:t>GILRAT</a:t>
            </a:r>
            <a:r>
              <a:rPr lang="pt-BR" u="sng" dirty="0">
                <a:hlinkClick r:id="rId2"/>
              </a:rPr>
              <a:t> </a:t>
            </a:r>
            <a:r>
              <a:rPr lang="pt-BR" dirty="0"/>
              <a:t>(Grau de Incidência de Incapacidade Laborativa decorrente de Riscos Ambientais do Trabalho) e sobre </a:t>
            </a:r>
            <a:r>
              <a:rPr lang="pt-BR" u="sng" dirty="0">
                <a:hlinkClick r:id="rId3"/>
              </a:rPr>
              <a:t>FAP (Fator Acidentário de Prevenção)</a:t>
            </a:r>
            <a:endParaRPr lang="pt-BR" dirty="0"/>
          </a:p>
          <a:p>
            <a:r>
              <a:rPr lang="pt-BR" dirty="0"/>
              <a:t>Admissão de Trabalhador (S-2200) – via este arquivo o empregador deverá transmitir as informações contidas no </a:t>
            </a:r>
            <a:r>
              <a:rPr lang="pt-BR" u="sng" dirty="0">
                <a:hlinkClick r:id="rId4"/>
              </a:rPr>
              <a:t>ASO</a:t>
            </a:r>
            <a:r>
              <a:rPr lang="pt-BR" dirty="0"/>
              <a:t> (Atestado de Saúde Ocupacional) </a:t>
            </a:r>
            <a:r>
              <a:rPr lang="pt-BR" dirty="0" smtClean="0"/>
              <a:t>admissional</a:t>
            </a:r>
          </a:p>
          <a:p>
            <a:r>
              <a:rPr lang="pt-BR" dirty="0"/>
              <a:t>Comunicação de Acidente de Trabalho / </a:t>
            </a:r>
            <a:r>
              <a:rPr lang="pt-BR" u="sng" dirty="0">
                <a:hlinkClick r:id="rId5"/>
              </a:rPr>
              <a:t>CAT</a:t>
            </a:r>
            <a:r>
              <a:rPr lang="pt-BR" dirty="0"/>
              <a:t> (S-2210) – o empregador deverá utilizar esta pasta para noticiar quaisquer eventos referentes a acidentes de </a:t>
            </a:r>
            <a:r>
              <a:rPr lang="pt-BR" dirty="0" smtClean="0"/>
              <a:t>trabalho.</a:t>
            </a:r>
            <a:endParaRPr lang="pt-BR" dirty="0"/>
          </a:p>
          <a:p>
            <a:endParaRPr lang="pt-BR" dirty="0"/>
          </a:p>
          <a:p>
            <a:endParaRPr lang="pt-BR" dirty="0"/>
          </a:p>
        </p:txBody>
      </p:sp>
    </p:spTree>
    <p:extLst>
      <p:ext uri="{BB962C8B-B14F-4D97-AF65-F5344CB8AC3E}">
        <p14:creationId xmlns:p14="http://schemas.microsoft.com/office/powerpoint/2010/main" val="28953913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262609" y="200383"/>
            <a:ext cx="11705493" cy="6035164"/>
          </a:xfrm>
        </p:spPr>
        <p:txBody>
          <a:bodyPr>
            <a:normAutofit lnSpcReduction="10000"/>
          </a:bodyPr>
          <a:lstStyle/>
          <a:p>
            <a:r>
              <a:rPr lang="pt-BR" dirty="0"/>
              <a:t>Monitoramento da Saúde do Trabalhador (S-2220) – neste arquivo deverão ir as informações contidas nos Atestados de Saúde Ocupacional: Periódico; de Retorno ao trabalho; de Mudança de função; e, por fim, de Monitorização </a:t>
            </a:r>
            <a:r>
              <a:rPr lang="pt-BR" dirty="0" smtClean="0"/>
              <a:t>pontual.</a:t>
            </a:r>
          </a:p>
          <a:p>
            <a:r>
              <a:rPr lang="pt-BR" dirty="0"/>
              <a:t>Afastamento Temporário (S-2230) – nesta pasta deverá o empregador registrar os afastamentos que ocorrerem na empresa, contendo diversos dados do empregado e do motivo do afastamento, bem como a duração do afastamento </a:t>
            </a:r>
            <a:r>
              <a:rPr lang="pt-BR" dirty="0" smtClean="0"/>
              <a:t>temporário.</a:t>
            </a:r>
            <a:endParaRPr lang="pt-BR" dirty="0"/>
          </a:p>
          <a:p>
            <a:r>
              <a:rPr lang="pt-BR" dirty="0"/>
              <a:t>Condições Ambientais do Trabalho – Fatores de Risco (S-2240) – é o evento utilizado para registrar as condições de trabalho de cada colaborador, informando qual o ambiente que ele labora durante qual período, quais os riscos presentes no ambiente, quais as atividades desempenhadas, se há a utilização de </a:t>
            </a:r>
            <a:r>
              <a:rPr lang="pt-BR" u="sng" dirty="0">
                <a:hlinkClick r:id="rId2"/>
              </a:rPr>
              <a:t>EPI</a:t>
            </a:r>
            <a:r>
              <a:rPr lang="pt-BR" dirty="0"/>
              <a:t>, dentre outras informações. Esses dados abastecerão o </a:t>
            </a:r>
            <a:r>
              <a:rPr lang="pt-BR" dirty="0" smtClean="0"/>
              <a:t>e-social </a:t>
            </a:r>
            <a:r>
              <a:rPr lang="pt-BR" dirty="0"/>
              <a:t>com a informação necessária para emitir o PPP (Perfil </a:t>
            </a:r>
            <a:r>
              <a:rPr lang="pt-BR" dirty="0" err="1"/>
              <a:t>Profissiográfico</a:t>
            </a:r>
            <a:r>
              <a:rPr lang="pt-BR" dirty="0"/>
              <a:t> Previdenciário</a:t>
            </a:r>
            <a:r>
              <a:rPr lang="pt-BR" dirty="0" smtClean="0"/>
              <a:t>).</a:t>
            </a:r>
            <a:endParaRPr lang="pt-BR" dirty="0"/>
          </a:p>
          <a:p>
            <a:endParaRPr lang="pt-BR" dirty="0"/>
          </a:p>
          <a:p>
            <a:endParaRPr lang="pt-BR" dirty="0"/>
          </a:p>
          <a:p>
            <a:endParaRPr lang="pt-BR" dirty="0"/>
          </a:p>
        </p:txBody>
      </p:sp>
    </p:spTree>
    <p:extLst>
      <p:ext uri="{BB962C8B-B14F-4D97-AF65-F5344CB8AC3E}">
        <p14:creationId xmlns:p14="http://schemas.microsoft.com/office/powerpoint/2010/main" val="22155478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694" y="487680"/>
            <a:ext cx="11705493" cy="5154711"/>
          </a:xfrm>
        </p:spPr>
        <p:txBody>
          <a:bodyPr/>
          <a:lstStyle/>
          <a:p>
            <a:r>
              <a:rPr lang="pt-BR" sz="3200" u="sng" dirty="0" smtClean="0">
                <a:latin typeface="Arial" pitchFamily="34" charset="0"/>
                <a:cs typeface="Arial" pitchFamily="34" charset="0"/>
                <a:hlinkClick r:id="rId2"/>
              </a:rPr>
              <a:t>Insalubridade</a:t>
            </a:r>
            <a:r>
              <a:rPr lang="pt-BR" sz="3200" dirty="0" smtClean="0">
                <a:latin typeface="Arial" pitchFamily="34" charset="0"/>
                <a:cs typeface="Arial" pitchFamily="34" charset="0"/>
              </a:rPr>
              <a:t>, </a:t>
            </a:r>
            <a:r>
              <a:rPr lang="pt-BR" sz="3200" u="sng" dirty="0" smtClean="0">
                <a:latin typeface="Arial" pitchFamily="34" charset="0"/>
                <a:cs typeface="Arial" pitchFamily="34" charset="0"/>
                <a:hlinkClick r:id="rId3"/>
              </a:rPr>
              <a:t>Periculosidade </a:t>
            </a:r>
            <a:r>
              <a:rPr lang="pt-BR" sz="3200" dirty="0" smtClean="0">
                <a:latin typeface="Arial" pitchFamily="34" charset="0"/>
                <a:cs typeface="Arial" pitchFamily="34" charset="0"/>
              </a:rPr>
              <a:t>e Aposentadoria Especial (S-2241) – leiaute que será utilizado para informar via esocial todas as instâncias em que são pagos os adicionais de insalubridade ou periculosidade, bem como se há aposentadoria especial em cada caso. Como a informação é toda unificada, isso permitirá a verificação imediata do pagamento da alíquota RAT (Risco Ambiental do Trabalho)</a:t>
            </a:r>
          </a:p>
          <a:p>
            <a:r>
              <a:rPr lang="pt-BR" sz="3200" dirty="0" smtClean="0">
                <a:latin typeface="Arial" pitchFamily="34" charset="0"/>
                <a:cs typeface="Arial" pitchFamily="34" charset="0"/>
              </a:rPr>
              <a:t>Desligamento (S-2299) – arquivo que conterá o registro de desligamento do funcionário do quadro da empresa e no qual estará incluído o Atestado de Saúde Ocupacional (ASO) Demissional</a:t>
            </a:r>
            <a:r>
              <a:rPr lang="pt-BR" dirty="0" smtClean="0"/>
              <a:t>.</a:t>
            </a:r>
            <a:endParaRPr lang="en-US" dirty="0"/>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1829</TotalTime>
  <Words>2873</Words>
  <Application>Microsoft Office PowerPoint</Application>
  <PresentationFormat>Widescreen</PresentationFormat>
  <Paragraphs>337</Paragraphs>
  <Slides>54</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54</vt:i4>
      </vt:variant>
    </vt:vector>
  </HeadingPairs>
  <TitlesOfParts>
    <vt:vector size="60" baseType="lpstr">
      <vt:lpstr>Arial</vt:lpstr>
      <vt:lpstr>Calibri</vt:lpstr>
      <vt:lpstr>Helvetica</vt:lpstr>
      <vt:lpstr>Times New Roman</vt:lpstr>
      <vt:lpstr>Wingdings</vt:lpstr>
      <vt:lpstr>Tema do Office</vt:lpstr>
      <vt:lpstr>Esocial</vt:lpstr>
      <vt:lpstr> Realidade atual</vt:lpstr>
      <vt:lpstr> Histórico atual dos AFT’s</vt:lpstr>
      <vt:lpstr>Cronograma de implantação do Esocial</vt:lpstr>
      <vt:lpstr>Cronograma de implantação</vt:lpstr>
      <vt:lpstr>Resolução do Comitê Diretivo do eSocial nº 2 </vt:lpstr>
      <vt:lpstr>Resumindo...</vt:lpstr>
      <vt:lpstr>Funcionamento atual</vt:lpstr>
      <vt:lpstr>Eventos não periódicos</vt:lpstr>
      <vt:lpstr>Modificações mais recentes</vt:lpstr>
      <vt:lpstr>Lógica dos eventos no E-Social</vt:lpstr>
      <vt:lpstr> Como ficou a lógica dos eventos ?</vt:lpstr>
      <vt:lpstr>Faseamento do E-Social</vt:lpstr>
      <vt:lpstr>Apresentação do PowerPoint</vt:lpstr>
      <vt:lpstr>Apresentação do PowerPoint</vt:lpstr>
      <vt:lpstr>Apresentação do PowerPoint</vt:lpstr>
      <vt:lpstr>Apresentação do PowerPoint</vt:lpstr>
      <vt:lpstr>Apresentação do PowerPoint</vt:lpstr>
      <vt:lpstr> Responsabilidades de SST</vt:lpstr>
      <vt:lpstr>Eventos (layouts)</vt:lpstr>
      <vt:lpstr>Tabelas</vt:lpstr>
      <vt:lpstr>A soma dos esforços resultará na integração das informações que  estão contidas em diversos laudos e que ainda hoje são  processadas separadamente.</vt:lpstr>
      <vt:lpstr> Prazos a serem observados</vt:lpstr>
      <vt:lpstr>Apresentação do PowerPoint</vt:lpstr>
      <vt:lpstr>Apresentação do PowerPoint</vt:lpstr>
      <vt:lpstr>Apresentação do PowerPoint</vt:lpstr>
      <vt:lpstr>Apresentação do PowerPoint</vt:lpstr>
      <vt:lpstr>Apresentação do PowerPoint</vt:lpstr>
      <vt:lpstr>Multas no E-Social</vt:lpstr>
      <vt:lpstr>O que pode acontecer com as informações?</vt:lpstr>
      <vt:lpstr>Ordem de serviço</vt:lpstr>
      <vt:lpstr>Obrigatoriedade de informação</vt:lpstr>
      <vt:lpstr>NR 4 –SESMT : Registros</vt:lpstr>
      <vt:lpstr>Registro – Doenças ocupacionais</vt:lpstr>
      <vt:lpstr>Caracterização da insalubridade</vt:lpstr>
      <vt:lpstr>Registro – acidentes sem vítima</vt:lpstr>
      <vt:lpstr>A integração S-1060 e S-2240</vt:lpstr>
      <vt:lpstr>Laudos conforme as NRs</vt:lpstr>
      <vt:lpstr>Apresentação do PowerPoint</vt:lpstr>
      <vt:lpstr>S-2241 – Insalubridade, Periculosidade e Aposentadoria Especial</vt:lpstr>
      <vt:lpstr>Programas de segurança</vt:lpstr>
      <vt:lpstr> Treinamentos</vt:lpstr>
      <vt:lpstr>  S-2210 Comunicação de Acidente de Trabalho – CAT  </vt:lpstr>
      <vt:lpstr> S – 2240 – Fatores risco</vt:lpstr>
      <vt:lpstr>Inserção do agente ergonômico</vt:lpstr>
      <vt:lpstr>AET – Análise ergonômica do trabalho</vt:lpstr>
      <vt:lpstr> PPP – Perfil profissiográfico previdenciário</vt:lpstr>
      <vt:lpstr>LTCAT- Laudo técnico das condições do ambiente de trabalho</vt:lpstr>
      <vt:lpstr> FAP – Fator acidentário de prevenção</vt:lpstr>
      <vt:lpstr>CBO – Classificação brasileira de ocupações</vt:lpstr>
      <vt:lpstr>ASOs – Atestado de saúde ocupacional S-2220 – Monitoramento da saúde </vt:lpstr>
      <vt:lpstr>Desafios da correta implantação</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Thiago Augusto da Costa</dc:creator>
  <cp:lastModifiedBy>Marcos Henrique Da Silva Raimundo</cp:lastModifiedBy>
  <cp:revision>54</cp:revision>
  <dcterms:created xsi:type="dcterms:W3CDTF">2017-01-10T17:35:04Z</dcterms:created>
  <dcterms:modified xsi:type="dcterms:W3CDTF">2018-08-07T21:56:08Z</dcterms:modified>
</cp:coreProperties>
</file>