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5" r:id="rId1"/>
  </p:sldMasterIdLst>
  <p:sldIdLst>
    <p:sldId id="257" r:id="rId2"/>
    <p:sldId id="258" r:id="rId3"/>
    <p:sldId id="259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63" r:id="rId12"/>
    <p:sldId id="292" r:id="rId13"/>
    <p:sldId id="293" r:id="rId14"/>
    <p:sldId id="264" r:id="rId15"/>
    <p:sldId id="284" r:id="rId16"/>
    <p:sldId id="294" r:id="rId17"/>
    <p:sldId id="295" r:id="rId18"/>
    <p:sldId id="265" r:id="rId19"/>
    <p:sldId id="281" r:id="rId20"/>
    <p:sldId id="282" r:id="rId21"/>
    <p:sldId id="283" r:id="rId22"/>
    <p:sldId id="266" r:id="rId23"/>
    <p:sldId id="296" r:id="rId24"/>
    <p:sldId id="297" r:id="rId25"/>
    <p:sldId id="298" r:id="rId26"/>
    <p:sldId id="299" r:id="rId27"/>
    <p:sldId id="300" r:id="rId28"/>
    <p:sldId id="301" r:id="rId29"/>
    <p:sldId id="267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268" r:id="rId40"/>
    <p:sldId id="311" r:id="rId41"/>
    <p:sldId id="312" r:id="rId42"/>
    <p:sldId id="313" r:id="rId43"/>
    <p:sldId id="314" r:id="rId44"/>
    <p:sldId id="269" r:id="rId45"/>
    <p:sldId id="315" r:id="rId46"/>
    <p:sldId id="316" r:id="rId47"/>
    <p:sldId id="317" r:id="rId48"/>
    <p:sldId id="318" r:id="rId49"/>
    <p:sldId id="319" r:id="rId50"/>
    <p:sldId id="320" r:id="rId51"/>
    <p:sldId id="321" r:id="rId52"/>
    <p:sldId id="270" r:id="rId53"/>
    <p:sldId id="322" r:id="rId54"/>
    <p:sldId id="323" r:id="rId55"/>
    <p:sldId id="324" r:id="rId56"/>
    <p:sldId id="325" r:id="rId57"/>
    <p:sldId id="326" r:id="rId58"/>
    <p:sldId id="327" r:id="rId59"/>
    <p:sldId id="328" r:id="rId60"/>
    <p:sldId id="329" r:id="rId61"/>
    <p:sldId id="330" r:id="rId62"/>
    <p:sldId id="331" r:id="rId63"/>
    <p:sldId id="332" r:id="rId64"/>
    <p:sldId id="333" r:id="rId65"/>
    <p:sldId id="334" r:id="rId66"/>
    <p:sldId id="335" r:id="rId67"/>
    <p:sldId id="336" r:id="rId68"/>
    <p:sldId id="337" r:id="rId69"/>
    <p:sldId id="338" r:id="rId70"/>
    <p:sldId id="339" r:id="rId71"/>
    <p:sldId id="340" r:id="rId72"/>
    <p:sldId id="378" r:id="rId73"/>
    <p:sldId id="341" r:id="rId74"/>
    <p:sldId id="342" r:id="rId75"/>
    <p:sldId id="343" r:id="rId76"/>
    <p:sldId id="344" r:id="rId77"/>
    <p:sldId id="345" r:id="rId78"/>
    <p:sldId id="272" r:id="rId79"/>
    <p:sldId id="346" r:id="rId80"/>
    <p:sldId id="347" r:id="rId81"/>
    <p:sldId id="348" r:id="rId82"/>
    <p:sldId id="349" r:id="rId83"/>
    <p:sldId id="350" r:id="rId84"/>
    <p:sldId id="273" r:id="rId85"/>
    <p:sldId id="351" r:id="rId86"/>
    <p:sldId id="352" r:id="rId87"/>
    <p:sldId id="353" r:id="rId88"/>
    <p:sldId id="354" r:id="rId89"/>
    <p:sldId id="355" r:id="rId90"/>
    <p:sldId id="356" r:id="rId91"/>
    <p:sldId id="357" r:id="rId92"/>
    <p:sldId id="274" r:id="rId93"/>
    <p:sldId id="358" r:id="rId94"/>
    <p:sldId id="359" r:id="rId95"/>
    <p:sldId id="275" r:id="rId96"/>
    <p:sldId id="360" r:id="rId97"/>
    <p:sldId id="361" r:id="rId98"/>
    <p:sldId id="362" r:id="rId99"/>
    <p:sldId id="276" r:id="rId100"/>
    <p:sldId id="363" r:id="rId101"/>
    <p:sldId id="364" r:id="rId102"/>
    <p:sldId id="366" r:id="rId103"/>
    <p:sldId id="365" r:id="rId104"/>
    <p:sldId id="367" r:id="rId105"/>
    <p:sldId id="277" r:id="rId106"/>
    <p:sldId id="368" r:id="rId107"/>
    <p:sldId id="369" r:id="rId108"/>
    <p:sldId id="278" r:id="rId109"/>
    <p:sldId id="370" r:id="rId110"/>
    <p:sldId id="371" r:id="rId111"/>
    <p:sldId id="372" r:id="rId112"/>
    <p:sldId id="279" r:id="rId113"/>
    <p:sldId id="373" r:id="rId114"/>
    <p:sldId id="374" r:id="rId115"/>
    <p:sldId id="375" r:id="rId116"/>
    <p:sldId id="376" r:id="rId117"/>
    <p:sldId id="377" r:id="rId11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tângulo de cantos arredondado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6058D-EC82-4188-94DF-EBF0583B6679}" type="datetimeFigureOut">
              <a:rPr lang="pt-BR" smtClean="0"/>
              <a:pPr/>
              <a:t>22/11/2014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7CCAFBAF-22C6-460F-BADC-80B2ABF4834A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6058D-EC82-4188-94DF-EBF0583B6679}" type="datetimeFigureOut">
              <a:rPr lang="pt-BR" smtClean="0"/>
              <a:pPr/>
              <a:t>22/11/2014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BAF-22C6-460F-BADC-80B2ABF4834A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tângulo de cantos arredondado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>
            <a:noAutofit/>
          </a:bodyPr>
          <a:lstStyle>
            <a:lvl1pPr algn="l">
              <a:buNone/>
              <a:defRPr sz="6000" b="1" cap="none"/>
            </a:lvl1pPr>
          </a:lstStyle>
          <a:p>
            <a:r>
              <a:rPr kumimoji="0" lang="pt-BR" dirty="0" smtClean="0"/>
              <a:t>Clique para editar o estilo do título mestre</a:t>
            </a:r>
            <a:endParaRPr kumimoji="0"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>
            <a:noAutofit/>
          </a:bodyPr>
          <a:lstStyle>
            <a:lvl1pPr marL="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dirty="0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6058D-EC82-4188-94DF-EBF0583B6679}" type="datetimeFigureOut">
              <a:rPr lang="pt-BR" smtClean="0"/>
              <a:pPr/>
              <a:t>22/11/2014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CCAFBAF-22C6-460F-BADC-80B2ABF4834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6400-E5AB-422A-B3BF-3A68E0847655}" type="datetimeFigureOut">
              <a:rPr lang="pt-BR" smtClean="0"/>
              <a:pPr/>
              <a:t>22/11/2014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BAF-22C6-460F-BADC-80B2ABF4834A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6400-E5AB-422A-B3BF-3A68E0847655}" type="datetimeFigureOut">
              <a:rPr lang="pt-BR" smtClean="0"/>
              <a:pPr/>
              <a:t>22/11/2014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BAF-22C6-460F-BADC-80B2ABF4834A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6400-E5AB-422A-B3BF-3A68E0847655}" type="datetimeFigureOut">
              <a:rPr lang="pt-BR" smtClean="0"/>
              <a:pPr/>
              <a:t>22/11/2014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BAF-22C6-460F-BADC-80B2ABF4834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6400-E5AB-422A-B3BF-3A68E0847655}" type="datetimeFigureOut">
              <a:rPr lang="pt-BR" smtClean="0"/>
              <a:pPr/>
              <a:t>22/11/2014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BAF-22C6-460F-BADC-80B2ABF4834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tângulo de cantos arredondado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6400-E5AB-422A-B3BF-3A68E0847655}" type="datetimeFigureOut">
              <a:rPr lang="pt-BR" smtClean="0"/>
              <a:pPr/>
              <a:t>22/11/2014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BAF-22C6-460F-BADC-80B2ABF4834A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6400-E5AB-422A-B3BF-3A68E0847655}" type="datetimeFigureOut">
              <a:rPr lang="pt-BR" smtClean="0"/>
              <a:pPr/>
              <a:t>22/11/2014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CCAFBAF-22C6-460F-BADC-80B2ABF4834A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Retângulo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6400-E5AB-422A-B3BF-3A68E0847655}" type="datetimeFigureOut">
              <a:rPr lang="pt-BR" smtClean="0"/>
              <a:pPr/>
              <a:t>22/11/2014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BAF-22C6-460F-BADC-80B2ABF4834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E6400-E5AB-422A-B3BF-3A68E0847655}" type="datetimeFigureOut">
              <a:rPr lang="pt-BR" smtClean="0"/>
              <a:pPr/>
              <a:t>22/11/2014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AFBAF-22C6-460F-BADC-80B2ABF4834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tângulo de cantos arredondado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CE6058D-EC82-4188-94DF-EBF0583B6679}" type="datetimeFigureOut">
              <a:rPr lang="pt-BR" smtClean="0"/>
              <a:pPr/>
              <a:t>22/11/2014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7CCAFBAF-22C6-460F-BADC-80B2ABF4834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just" rtl="0" eaLnBrk="1" latinLnBrk="0" hangingPunct="1">
        <a:spcBef>
          <a:spcPts val="0"/>
        </a:spcBef>
        <a:buClr>
          <a:schemeClr val="accent1"/>
        </a:buClr>
        <a:buSzPct val="85000"/>
        <a:buFont typeface="Wingdings 2"/>
        <a:buNone/>
        <a:defRPr kumimoji="0" sz="2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just" rtl="0" eaLnBrk="1" latinLnBrk="0" hangingPunct="1">
        <a:spcBef>
          <a:spcPts val="0"/>
        </a:spcBef>
        <a:buClr>
          <a:schemeClr val="accent2"/>
        </a:buClr>
        <a:buSzPct val="85000"/>
        <a:buFont typeface="Wingdings 2"/>
        <a:buNone/>
        <a:defRPr kumimoji="0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just" rtl="0" eaLnBrk="1" latinLnBrk="0" hangingPunct="1">
        <a:spcBef>
          <a:spcPts val="0"/>
        </a:spcBef>
        <a:buClr>
          <a:schemeClr val="accent1">
            <a:tint val="60000"/>
          </a:schemeClr>
        </a:buClr>
        <a:buSzPct val="85000"/>
        <a:buFont typeface="Wingdings 2"/>
        <a:buNone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just" rtl="0" eaLnBrk="1" latinLnBrk="0" hangingPunct="1">
        <a:spcBef>
          <a:spcPts val="0"/>
        </a:spcBef>
        <a:buClr>
          <a:schemeClr val="accent3"/>
        </a:buClr>
        <a:buSzPct val="80000"/>
        <a:buFont typeface="Wingdings 2"/>
        <a:buNone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just" rtl="0" eaLnBrk="1" latinLnBrk="0" hangingPunct="1">
        <a:spcBef>
          <a:spcPts val="0"/>
        </a:spcBef>
        <a:buClr>
          <a:schemeClr val="accent3"/>
        </a:buClr>
        <a:buFontTx/>
        <a:buNone/>
        <a:defRPr kumimoji="0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13" Type="http://schemas.openxmlformats.org/officeDocument/2006/relationships/slide" Target="slide72.xml"/><Relationship Id="rId18" Type="http://schemas.openxmlformats.org/officeDocument/2006/relationships/slide" Target="slide99.xml"/><Relationship Id="rId3" Type="http://schemas.openxmlformats.org/officeDocument/2006/relationships/slide" Target="slide5.xml"/><Relationship Id="rId21" Type="http://schemas.openxmlformats.org/officeDocument/2006/relationships/slide" Target="slide112.xml"/><Relationship Id="rId7" Type="http://schemas.openxmlformats.org/officeDocument/2006/relationships/slide" Target="slide18.xml"/><Relationship Id="rId12" Type="http://schemas.openxmlformats.org/officeDocument/2006/relationships/slide" Target="slide52.xml"/><Relationship Id="rId17" Type="http://schemas.openxmlformats.org/officeDocument/2006/relationships/slide" Target="slide95.xml"/><Relationship Id="rId2" Type="http://schemas.openxmlformats.org/officeDocument/2006/relationships/slide" Target="slide3.xml"/><Relationship Id="rId16" Type="http://schemas.openxmlformats.org/officeDocument/2006/relationships/slide" Target="slide92.xml"/><Relationship Id="rId20" Type="http://schemas.openxmlformats.org/officeDocument/2006/relationships/slide" Target="slide108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4.xml"/><Relationship Id="rId11" Type="http://schemas.openxmlformats.org/officeDocument/2006/relationships/slide" Target="slide44.xml"/><Relationship Id="rId5" Type="http://schemas.openxmlformats.org/officeDocument/2006/relationships/slide" Target="slide10.xml"/><Relationship Id="rId15" Type="http://schemas.openxmlformats.org/officeDocument/2006/relationships/slide" Target="slide84.xml"/><Relationship Id="rId10" Type="http://schemas.openxmlformats.org/officeDocument/2006/relationships/slide" Target="slide39.xml"/><Relationship Id="rId19" Type="http://schemas.openxmlformats.org/officeDocument/2006/relationships/slide" Target="slide105.xml"/><Relationship Id="rId4" Type="http://schemas.openxmlformats.org/officeDocument/2006/relationships/slide" Target="slide8.xml"/><Relationship Id="rId9" Type="http://schemas.openxmlformats.org/officeDocument/2006/relationships/slide" Target="slide29.xml"/><Relationship Id="rId14" Type="http://schemas.openxmlformats.org/officeDocument/2006/relationships/slide" Target="slide7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15616" y="3200400"/>
            <a:ext cx="6912768" cy="3180928"/>
          </a:xfrm>
        </p:spPr>
        <p:txBody>
          <a:bodyPr>
            <a:noAutofit/>
          </a:bodyPr>
          <a:lstStyle/>
          <a:p>
            <a:r>
              <a:rPr lang="pt-BR" sz="3600" b="1" dirty="0" smtClean="0"/>
              <a:t>Portaria SIT nº 308, de 29.02.2012</a:t>
            </a:r>
          </a:p>
          <a:p>
            <a:r>
              <a:rPr lang="pt-BR" sz="3200" b="1" i="1" dirty="0" smtClean="0"/>
              <a:t>Altera a Norma Regulamentadora nº 20 - </a:t>
            </a:r>
          </a:p>
          <a:p>
            <a:r>
              <a:rPr lang="pt-BR" sz="3200" b="1" i="1" dirty="0" smtClean="0"/>
              <a:t>Líquidos Combustíveis e Inflamáveis, aprovada pela Portaria </a:t>
            </a:r>
            <a:r>
              <a:rPr lang="pt-BR" sz="3200" b="1" i="1" dirty="0" err="1" smtClean="0"/>
              <a:t>MTb</a:t>
            </a:r>
            <a:r>
              <a:rPr lang="pt-BR" sz="3200" b="1" i="1" dirty="0" smtClean="0"/>
              <a:t> nº 3.214, de 8 de junho de 1978.</a:t>
            </a:r>
          </a:p>
          <a:p>
            <a:endParaRPr lang="pt-BR" sz="360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13800" dirty="0" smtClean="0"/>
              <a:t>NR 20</a:t>
            </a:r>
            <a:endParaRPr lang="pt-BR" sz="13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043608" y="620688"/>
            <a:ext cx="7772400" cy="1362075"/>
          </a:xfrm>
        </p:spPr>
        <p:txBody>
          <a:bodyPr>
            <a:normAutofit/>
          </a:bodyPr>
          <a:lstStyle/>
          <a:p>
            <a:pPr algn="r"/>
            <a:r>
              <a:rPr lang="pt-BR" sz="6600" dirty="0" smtClean="0"/>
              <a:t>SUMÁRIO</a:t>
            </a:r>
            <a:endParaRPr lang="pt-BR" sz="660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179512" y="2492896"/>
            <a:ext cx="8712968" cy="4365104"/>
          </a:xfrm>
        </p:spPr>
        <p:txBody>
          <a:bodyPr numCol="2">
            <a:normAutofit fontScale="25000" lnSpcReduction="20000"/>
          </a:bodyPr>
          <a:lstStyle/>
          <a:p>
            <a:pPr algn="l"/>
            <a:r>
              <a:rPr lang="pt-BR" b="1" dirty="0" smtClean="0"/>
              <a:t>20.1 </a:t>
            </a:r>
            <a:r>
              <a:rPr lang="pt-BR" b="1" dirty="0" smtClean="0">
                <a:hlinkClick r:id="rId2" action="ppaction://hlinksldjump"/>
              </a:rPr>
              <a:t>Introdução</a:t>
            </a:r>
            <a:endParaRPr lang="pt-BR" b="1" dirty="0" smtClean="0"/>
          </a:p>
          <a:p>
            <a:pPr algn="l"/>
            <a:r>
              <a:rPr lang="pt-BR" b="1" dirty="0" smtClean="0"/>
              <a:t>20.2 </a:t>
            </a:r>
            <a:r>
              <a:rPr lang="pt-BR" b="1" dirty="0" smtClean="0">
                <a:hlinkClick r:id="rId3" action="ppaction://hlinksldjump"/>
              </a:rPr>
              <a:t>Abrangência</a:t>
            </a:r>
            <a:endParaRPr lang="pt-BR" b="1" dirty="0" smtClean="0"/>
          </a:p>
          <a:p>
            <a:pPr algn="l"/>
            <a:r>
              <a:rPr lang="pt-BR" b="1" dirty="0" smtClean="0"/>
              <a:t>20.3 </a:t>
            </a:r>
            <a:r>
              <a:rPr lang="pt-BR" b="1" dirty="0" smtClean="0">
                <a:hlinkClick r:id="rId4" action="ppaction://hlinksldjump"/>
              </a:rPr>
              <a:t>Definições</a:t>
            </a:r>
            <a:endParaRPr lang="pt-BR" b="1" dirty="0" smtClean="0"/>
          </a:p>
          <a:p>
            <a:pPr algn="l"/>
            <a:r>
              <a:rPr lang="pt-BR" b="1" dirty="0" smtClean="0"/>
              <a:t>20.4 </a:t>
            </a:r>
            <a:r>
              <a:rPr lang="pt-BR" b="1" dirty="0" smtClean="0">
                <a:hlinkClick r:id="rId5" action="ppaction://hlinksldjump"/>
              </a:rPr>
              <a:t>Classificação das Instalações</a:t>
            </a:r>
            <a:endParaRPr lang="pt-BR" b="1" dirty="0" smtClean="0"/>
          </a:p>
          <a:p>
            <a:pPr algn="l"/>
            <a:r>
              <a:rPr lang="pt-BR" b="1" dirty="0" smtClean="0"/>
              <a:t>20.5 </a:t>
            </a:r>
            <a:r>
              <a:rPr lang="pt-BR" b="1" dirty="0" smtClean="0">
                <a:hlinkClick r:id="rId6" action="ppaction://hlinksldjump"/>
              </a:rPr>
              <a:t>Projeto da Instalação </a:t>
            </a:r>
            <a:endParaRPr lang="pt-BR" b="1" dirty="0" smtClean="0"/>
          </a:p>
          <a:p>
            <a:pPr algn="l">
              <a:lnSpc>
                <a:spcPct val="120000"/>
              </a:lnSpc>
            </a:pPr>
            <a:r>
              <a:rPr lang="pt-BR" b="1" dirty="0" smtClean="0"/>
              <a:t>20.6 </a:t>
            </a:r>
            <a:r>
              <a:rPr lang="pt-BR" b="1" dirty="0" smtClean="0">
                <a:hlinkClick r:id="rId7" action="ppaction://hlinksldjump"/>
              </a:rPr>
              <a:t>Segurança na Construção e Montagem</a:t>
            </a:r>
            <a:endParaRPr lang="pt-BR" b="1" dirty="0" smtClean="0"/>
          </a:p>
          <a:p>
            <a:pPr algn="l"/>
            <a:r>
              <a:rPr lang="pt-BR" b="1" dirty="0" smtClean="0"/>
              <a:t>20.7 </a:t>
            </a:r>
            <a:r>
              <a:rPr lang="pt-BR" b="1" dirty="0" smtClean="0">
                <a:hlinkClick r:id="rId8" action="ppaction://hlinksldjump"/>
              </a:rPr>
              <a:t>Segurança Operacional</a:t>
            </a:r>
            <a:endParaRPr lang="pt-BR" b="1" dirty="0" smtClean="0"/>
          </a:p>
          <a:p>
            <a:pPr algn="l"/>
            <a:r>
              <a:rPr lang="pt-BR" b="1" dirty="0" smtClean="0"/>
              <a:t>20.8 </a:t>
            </a:r>
            <a:r>
              <a:rPr lang="pt-BR" b="1" dirty="0" smtClean="0">
                <a:hlinkClick r:id="rId9" action="ppaction://hlinksldjump"/>
              </a:rPr>
              <a:t>Manutenção e Inspeção das Instalações</a:t>
            </a:r>
            <a:endParaRPr lang="pt-BR" b="1" dirty="0" smtClean="0"/>
          </a:p>
          <a:p>
            <a:pPr algn="l"/>
            <a:r>
              <a:rPr lang="pt-BR" b="1" dirty="0" smtClean="0"/>
              <a:t>20.9 </a:t>
            </a:r>
            <a:r>
              <a:rPr lang="pt-BR" b="1" dirty="0" smtClean="0">
                <a:hlinkClick r:id="rId10" action="ppaction://hlinksldjump"/>
              </a:rPr>
              <a:t>Inspeção em Segurança e Saúde no Ambiente de Trabalho</a:t>
            </a:r>
            <a:endParaRPr lang="pt-BR" b="1" dirty="0" smtClean="0"/>
          </a:p>
          <a:p>
            <a:pPr algn="l"/>
            <a:r>
              <a:rPr lang="pt-BR" b="1" dirty="0" smtClean="0"/>
              <a:t>20.10 </a:t>
            </a:r>
            <a:r>
              <a:rPr lang="pt-BR" b="1" dirty="0" smtClean="0">
                <a:hlinkClick r:id="rId11" action="ppaction://hlinksldjump"/>
              </a:rPr>
              <a:t>Análise de Riscos</a:t>
            </a:r>
            <a:endParaRPr lang="pt-BR" b="1" dirty="0" smtClean="0"/>
          </a:p>
          <a:p>
            <a:pPr algn="l"/>
            <a:r>
              <a:rPr lang="pt-BR" b="1" dirty="0" smtClean="0"/>
              <a:t>20.11 </a:t>
            </a:r>
            <a:r>
              <a:rPr lang="pt-BR" b="1" dirty="0" smtClean="0">
                <a:hlinkClick r:id="rId12" action="ppaction://hlinksldjump"/>
              </a:rPr>
              <a:t>Capacitação dos </a:t>
            </a:r>
            <a:r>
              <a:rPr lang="pt-BR" b="1" dirty="0" smtClean="0">
                <a:hlinkClick r:id="rId12" action="ppaction://hlinksldjump"/>
              </a:rPr>
              <a:t>Trabalhadores</a:t>
            </a:r>
            <a:endParaRPr lang="pt-BR" b="1" dirty="0" smtClean="0"/>
          </a:p>
          <a:p>
            <a:pPr algn="l"/>
            <a:endParaRPr lang="pt-BR" b="1" dirty="0" smtClean="0"/>
          </a:p>
          <a:p>
            <a:pPr algn="l"/>
            <a:endParaRPr lang="pt-BR" dirty="0" smtClean="0"/>
          </a:p>
          <a:p>
            <a:pPr algn="l"/>
            <a:endParaRPr lang="pt-BR" dirty="0" smtClean="0"/>
          </a:p>
          <a:p>
            <a:pPr algn="l"/>
            <a:r>
              <a:rPr lang="pt-BR" dirty="0" smtClean="0"/>
              <a:t>20.12 </a:t>
            </a:r>
            <a:r>
              <a:rPr lang="pt-BR" dirty="0" smtClean="0">
                <a:hlinkClick r:id="rId13" action="ppaction://hlinksldjump"/>
              </a:rPr>
              <a:t>Prevenção </a:t>
            </a:r>
            <a:r>
              <a:rPr lang="pt-BR" dirty="0" smtClean="0">
                <a:hlinkClick r:id="rId13" action="ppaction://hlinksldjump"/>
              </a:rPr>
              <a:t>e Controle de Vazamentos, Derramamentos, Incêndios, Explosões e Emissões fugitivas</a:t>
            </a:r>
            <a:endParaRPr lang="pt-BR" dirty="0" smtClean="0"/>
          </a:p>
          <a:p>
            <a:pPr algn="l"/>
            <a:r>
              <a:rPr lang="pt-BR" b="1" dirty="0" smtClean="0"/>
              <a:t>20.13 </a:t>
            </a:r>
            <a:r>
              <a:rPr lang="pt-BR" b="1" dirty="0" smtClean="0">
                <a:hlinkClick r:id="rId14" action="ppaction://hlinksldjump"/>
              </a:rPr>
              <a:t>Controle de Fontes de Ignição</a:t>
            </a:r>
            <a:endParaRPr lang="pt-BR" b="1" dirty="0" smtClean="0"/>
          </a:p>
          <a:p>
            <a:pPr algn="l"/>
            <a:r>
              <a:rPr lang="pt-BR" b="1" dirty="0" smtClean="0"/>
              <a:t>20.14 </a:t>
            </a:r>
            <a:r>
              <a:rPr lang="pt-BR" b="1" dirty="0" smtClean="0">
                <a:hlinkClick r:id="rId15" action="ppaction://hlinksldjump"/>
              </a:rPr>
              <a:t>Plano de Resposta a Emergências da Instalação</a:t>
            </a:r>
            <a:endParaRPr lang="pt-BR" b="1" dirty="0" smtClean="0"/>
          </a:p>
          <a:p>
            <a:pPr algn="l"/>
            <a:r>
              <a:rPr lang="pt-BR" b="1" dirty="0" smtClean="0"/>
              <a:t>20.15 </a:t>
            </a:r>
            <a:r>
              <a:rPr lang="pt-BR" b="1" dirty="0" smtClean="0">
                <a:hlinkClick r:id="rId16" action="ppaction://hlinksldjump"/>
              </a:rPr>
              <a:t>Comunicação de Ocorrências</a:t>
            </a:r>
            <a:endParaRPr lang="pt-BR" b="1" dirty="0" smtClean="0"/>
          </a:p>
          <a:p>
            <a:pPr algn="l"/>
            <a:r>
              <a:rPr lang="pt-BR" b="1" dirty="0" smtClean="0"/>
              <a:t>20.16 </a:t>
            </a:r>
            <a:r>
              <a:rPr lang="pt-BR" b="1" dirty="0" smtClean="0">
                <a:hlinkClick r:id="rId17" action="ppaction://hlinksldjump"/>
              </a:rPr>
              <a:t>Contratante e Contratadas</a:t>
            </a:r>
            <a:endParaRPr lang="pt-BR" b="1" dirty="0" smtClean="0"/>
          </a:p>
          <a:p>
            <a:pPr algn="l"/>
            <a:r>
              <a:rPr lang="pt-BR" b="1" dirty="0" smtClean="0"/>
              <a:t>20.17 </a:t>
            </a:r>
            <a:r>
              <a:rPr lang="pt-BR" b="1" dirty="0" smtClean="0">
                <a:hlinkClick r:id="rId18" action="ppaction://hlinksldjump"/>
              </a:rPr>
              <a:t>Tanque de Líquidos Inflamáveis no Interior de Edifícios </a:t>
            </a:r>
            <a:endParaRPr lang="pt-BR" b="1" dirty="0" smtClean="0"/>
          </a:p>
          <a:p>
            <a:pPr algn="l"/>
            <a:r>
              <a:rPr lang="pt-BR" b="1" dirty="0" smtClean="0"/>
              <a:t>20.18 </a:t>
            </a:r>
            <a:r>
              <a:rPr lang="pt-BR" b="1" dirty="0" smtClean="0">
                <a:hlinkClick r:id="rId19" action="ppaction://hlinksldjump"/>
              </a:rPr>
              <a:t>Desativação da Instalação</a:t>
            </a:r>
            <a:endParaRPr lang="pt-BR" b="1" dirty="0" smtClean="0"/>
          </a:p>
          <a:p>
            <a:pPr algn="l"/>
            <a:r>
              <a:rPr lang="pt-BR" b="1" dirty="0" smtClean="0"/>
              <a:t>20.19 </a:t>
            </a:r>
            <a:r>
              <a:rPr lang="pt-BR" b="1" dirty="0" smtClean="0">
                <a:hlinkClick r:id="rId20" action="ppaction://hlinksldjump"/>
              </a:rPr>
              <a:t>Prontuário da Instalação</a:t>
            </a:r>
            <a:endParaRPr lang="pt-BR" b="1" dirty="0" smtClean="0"/>
          </a:p>
          <a:p>
            <a:pPr algn="l"/>
            <a:r>
              <a:rPr lang="pt-BR" b="1" dirty="0" smtClean="0"/>
              <a:t>20.20 </a:t>
            </a:r>
            <a:r>
              <a:rPr lang="pt-BR" b="1" dirty="0" smtClean="0">
                <a:hlinkClick r:id="rId21" action="ppaction://hlinksldjump"/>
              </a:rPr>
              <a:t>Disposições finais</a:t>
            </a:r>
            <a:endParaRPr lang="pt-B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sz="6000" dirty="0" smtClean="0"/>
              <a:t>Introdução</a:t>
            </a:r>
            <a:endParaRPr lang="pt-BR" sz="6000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8000" dirty="0" smtClean="0"/>
              <a:t>20.1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20.1.1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800" dirty="0" smtClean="0"/>
              <a:t>Esta Norma Regulamentadora - NR estabelece requisitos mínimos para a gestão da segurança e saúde no trabalho contra os fatores de risco de acidentes provenientes das atividades de extração, produção, armazenamento, transferência,  manuseio e manipulação de inflamáveis e líquidos combustíveis.</a:t>
            </a:r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000" b="1" dirty="0" smtClean="0"/>
              <a:t>Abrangência</a:t>
            </a:r>
            <a:endParaRPr lang="pt-BR" sz="600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8000" dirty="0" smtClean="0"/>
              <a:t>20.2 </a:t>
            </a:r>
            <a:endParaRPr lang="pt-BR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20.2.1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Esta NR se aplica às atividades de:</a:t>
            </a:r>
          </a:p>
          <a:p>
            <a:r>
              <a:rPr lang="pt-BR" dirty="0" smtClean="0"/>
              <a:t>a) extração, produção, armazenamento, transferência, manuseio e manipulação de inflamáveis, nas etapas de projeto, construção, montagem, operação, manutenção, inspeção e desativação da instalação;</a:t>
            </a:r>
          </a:p>
          <a:p>
            <a:r>
              <a:rPr lang="pt-BR" dirty="0" smtClean="0"/>
              <a:t>b) extração, produção, armazenamento, transferência e manuseio de líquidos combustíveis, nas etapas de projeto, construção, montagem, operação, manutenção, inspeção e desativação da instalação.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20.2.2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Esta NR não se aplica:</a:t>
            </a:r>
          </a:p>
          <a:p>
            <a:r>
              <a:rPr lang="pt-BR" dirty="0" smtClean="0"/>
              <a:t>a) às plataformas e instalações de apoio empregadas com a finalidade de exploração e produção de petróleo e gás do subsolo marinho, conforme definido no Anexo II, da Norma Regulamentadora 30 (Portaria SIT n.º 183, de 11 de maio de 2010);</a:t>
            </a:r>
          </a:p>
          <a:p>
            <a:r>
              <a:rPr lang="pt-BR" dirty="0" smtClean="0"/>
              <a:t>b) às edificações residenciais </a:t>
            </a:r>
            <a:r>
              <a:rPr lang="pt-BR" dirty="0" err="1" smtClean="0"/>
              <a:t>unifamiliares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Definições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20.3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914400" y="773832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pt-BR" b="1" dirty="0" smtClean="0"/>
              <a:t>20.3.1</a:t>
            </a:r>
            <a:br>
              <a:rPr lang="pt-BR" b="1" dirty="0" smtClean="0"/>
            </a:br>
            <a:r>
              <a:rPr lang="pt-BR" b="1" dirty="0" smtClean="0"/>
              <a:t>20.3.2</a:t>
            </a:r>
            <a:br>
              <a:rPr lang="pt-BR" b="1" dirty="0" smtClean="0"/>
            </a:br>
            <a:r>
              <a:rPr lang="pt-BR" b="1" dirty="0" smtClean="0"/>
              <a:t>20.3.3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>
          <a:xfrm>
            <a:off x="914400" y="2025352"/>
            <a:ext cx="7772400" cy="4572000"/>
          </a:xfrm>
        </p:spPr>
        <p:txBody>
          <a:bodyPr/>
          <a:lstStyle/>
          <a:p>
            <a:r>
              <a:rPr lang="pt-BR" sz="3200" dirty="0" smtClean="0"/>
              <a:t>Líquidos inflamáveis</a:t>
            </a:r>
            <a:r>
              <a:rPr lang="pt-BR" dirty="0" smtClean="0"/>
              <a:t>: são líquidos que possuem ponto de fulgor ≤ 60º C.</a:t>
            </a:r>
          </a:p>
          <a:p>
            <a:endParaRPr lang="pt-BR" dirty="0" smtClean="0"/>
          </a:p>
          <a:p>
            <a:r>
              <a:rPr lang="pt-BR" sz="3200" dirty="0" smtClean="0"/>
              <a:t>Gases inflamáveis</a:t>
            </a:r>
            <a:r>
              <a:rPr lang="pt-BR" dirty="0" smtClean="0"/>
              <a:t>: gases que inflamam com o ar a 20º C e a uma pressão padrão de 101,3 </a:t>
            </a:r>
            <a:r>
              <a:rPr lang="pt-BR" dirty="0" err="1" smtClean="0"/>
              <a:t>kPa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r>
              <a:rPr lang="pt-BR" sz="3200" dirty="0" smtClean="0"/>
              <a:t>Líquidos combustíveis</a:t>
            </a:r>
            <a:r>
              <a:rPr lang="pt-BR" dirty="0" smtClean="0"/>
              <a:t>: são líquidos com ponto de fulgor &gt; 60º C e ≤ 93º C</a:t>
            </a:r>
          </a:p>
          <a:p>
            <a:endParaRPr lang="pt-BR" dirty="0"/>
          </a:p>
        </p:txBody>
      </p:sp>
      <p:pic>
        <p:nvPicPr>
          <p:cNvPr id="6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Classificação das Instalações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20.4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</p:spPr>
        <p:txBody>
          <a:bodyPr anchor="ctr">
            <a:noAutofit/>
          </a:bodyPr>
          <a:lstStyle/>
          <a:p>
            <a:r>
              <a:rPr lang="pt-BR" b="1" dirty="0" smtClean="0"/>
              <a:t>20.4.1</a:t>
            </a:r>
            <a:endParaRPr lang="pt-BR" dirty="0"/>
          </a:p>
        </p:txBody>
      </p:sp>
      <p:pic>
        <p:nvPicPr>
          <p:cNvPr id="7" name="Picture 2" descr="http://ppci.com.br/PPCIfig/nr20_01.gif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196752"/>
            <a:ext cx="8064896" cy="55545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20.4.1.1 </a:t>
            </a:r>
            <a:br>
              <a:rPr lang="pt-BR" b="1" dirty="0" smtClean="0"/>
            </a:br>
            <a:r>
              <a:rPr lang="pt-BR" b="1" dirty="0" smtClean="0"/>
              <a:t>20.4.1.2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Para critérios de classificação, o tipo de atividade enunciada possui prioridade sobre a capacidade de</a:t>
            </a:r>
          </a:p>
          <a:p>
            <a:r>
              <a:rPr lang="pt-BR" dirty="0" smtClean="0"/>
              <a:t>armazenamento.</a:t>
            </a:r>
          </a:p>
          <a:p>
            <a:endParaRPr lang="pt-BR" dirty="0" smtClean="0"/>
          </a:p>
          <a:p>
            <a:r>
              <a:rPr lang="pt-BR" dirty="0" smtClean="0"/>
              <a:t>Quando a capacidade de armazenamento da instalação se enquadrar em duas classes distintas, por armazenar líquidos inflamáveis e/ou combustíveis e gases inflamáveis, deve-se utilizar a classe de maior gradação.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20.4.2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3200" dirty="0" smtClean="0"/>
              <a:t>Esta NR estabelece dois tipos de instalações que constituem exceções e estão definidas no Anexo I, não devendo ser aplicada a Tabela 1.</a:t>
            </a:r>
          </a:p>
          <a:p>
            <a:endParaRPr lang="pt-BR" sz="3200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b="1" dirty="0" smtClean="0"/>
              <a:t>Projeto da Instalação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8000" dirty="0" smtClean="0"/>
              <a:t>20.5 </a:t>
            </a:r>
            <a:endParaRPr lang="pt-B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20.5.1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pt-BR" sz="2800" dirty="0" smtClean="0"/>
              <a:t>As instalações para extração, produção, armazenamento, transferência, manuseio e manipulação de inflamáveis e líquidos combustíveis devem ser projetadas considerando os aspectos de segurança, saúde e meio ambiente que impactem sobre a integridade física dos trabalhadores previstos nas Normas Regulamentadoras, normas técnicas nacionais e, na ausência ou omissão destas, nas normas internacionais, convenções e acordos coletivos, bem como nas demais regulamentações pertinentes em vigor.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20.5.2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05536"/>
          </a:xfrm>
        </p:spPr>
        <p:txBody>
          <a:bodyPr>
            <a:normAutofit fontScale="77500" lnSpcReduction="20000"/>
          </a:bodyPr>
          <a:lstStyle/>
          <a:p>
            <a:pPr indent="-514350"/>
            <a:r>
              <a:rPr lang="pt-BR" dirty="0" smtClean="0"/>
              <a:t>No projeto das instalações classes II e III devem constar, no mínimo, e em língua portuguesa: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 smtClean="0"/>
              <a:t>descrição das instalações e seus respectivos processos através do manual de operações;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 smtClean="0"/>
              <a:t>planta geral de locação das instalações;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 smtClean="0"/>
              <a:t>características e informações de segurança, saúde e meio ambiente relativas aos inflamáveis e líquidos combustíveis, constantes nas fichas com dados de segurança de produtos químicos, de matérias primas, materiais de consumo e produtos acabados;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 smtClean="0"/>
              <a:t>fluxograma de processo;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 smtClean="0"/>
              <a:t>especificação técnica dos equipamentos, máquinas e acessórios críticos em termos de segurança e saúde no trabalho estabelecidos pela análise de riscos;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 smtClean="0"/>
              <a:t>plantas, desenhos e especificações técnicas dos sistemas de segurança da instalação;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 smtClean="0"/>
              <a:t>identificação das áreas classificadas da instalação, para efeito de especificação dos equipamentos e instalações elétricas;</a:t>
            </a:r>
          </a:p>
          <a:p>
            <a:pPr marL="514350" indent="-514350">
              <a:buFont typeface="+mj-lt"/>
              <a:buAutoNum type="alphaLcParenR"/>
            </a:pPr>
            <a:r>
              <a:rPr lang="pt-BR" dirty="0" smtClean="0"/>
              <a:t>medidas intrínsecas de segurança identificadas na análise de riscos do projeto.</a:t>
            </a:r>
          </a:p>
          <a:p>
            <a:pPr marL="514350" indent="-514350">
              <a:buFont typeface="+mj-lt"/>
              <a:buAutoNum type="alphaLcParenR"/>
            </a:pP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20.5.2...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49552"/>
          </a:xfrm>
        </p:spPr>
        <p:txBody>
          <a:bodyPr>
            <a:normAutofit fontScale="92500" lnSpcReduction="20000"/>
          </a:bodyPr>
          <a:lstStyle/>
          <a:p>
            <a:r>
              <a:rPr lang="pt-BR" dirty="0" smtClean="0"/>
              <a:t>20.5.2.1 No projeto das instalações classe I deve constar o disposto nas alíneas ″a″, ″b″, ″c″, ″f″ e ″g″ do item 20.5.2.</a:t>
            </a:r>
          </a:p>
          <a:p>
            <a:r>
              <a:rPr lang="pt-BR" dirty="0" smtClean="0"/>
              <a:t>20.5.2.2 No projeto, devem ser observadas as distâncias de segurança entre instalações, edificações, tanques, máquinas,</a:t>
            </a:r>
          </a:p>
          <a:p>
            <a:r>
              <a:rPr lang="pt-BR" dirty="0" smtClean="0"/>
              <a:t>equipamentos, áreas de movimentação e fluxo, vias de circulação interna, bem como dos limites da propriedade em relação</a:t>
            </a:r>
          </a:p>
          <a:p>
            <a:r>
              <a:rPr lang="pt-BR" dirty="0" smtClean="0"/>
              <a:t>a áreas circunvizinhas e vias públicas, estabelecidas em normas técnicas nacionais.</a:t>
            </a:r>
          </a:p>
          <a:p>
            <a:r>
              <a:rPr lang="pt-BR" dirty="0" smtClean="0"/>
              <a:t>20.5.2.3 O projeto deve incluir o estabelecimento de mecanismos de controle para interromper e/ou reduzir uma possível</a:t>
            </a:r>
          </a:p>
          <a:p>
            <a:r>
              <a:rPr lang="pt-BR" dirty="0" smtClean="0"/>
              <a:t>cadeia de eventos decorrentes de vazamentos, incêndios ou explosões.</a:t>
            </a:r>
          </a:p>
          <a:p>
            <a:endParaRPr lang="pt-BR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dirty="0" smtClean="0"/>
              <a:t>Segurança na Construção e Montagem</a:t>
            </a:r>
            <a:endParaRPr lang="pt-BR" b="1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8000" b="1" dirty="0" smtClean="0"/>
              <a:t>20.6</a:t>
            </a:r>
            <a:endParaRPr lang="pt-BR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20.6.1 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pt-BR" sz="3200" b="1" dirty="0" smtClean="0"/>
              <a:t>A construção e montagem das instalações para extração, produção, armazenamento, transferência, manuseio e manipulação de inflamáveis e líquidos combustíveis devem observar as especificações previstas no projeto, bem como nas Normas Regulamentadoras e nas normas técnicas nacionais e, na ausência ou omissão destas, nas normas internacionais.</a:t>
            </a:r>
          </a:p>
          <a:p>
            <a:pPr marL="0" indent="0" algn="just">
              <a:spcBef>
                <a:spcPts val="0"/>
              </a:spcBef>
              <a:buNone/>
            </a:pPr>
            <a:endParaRPr lang="pt-BR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20.6.2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3200" dirty="0" smtClean="0"/>
              <a:t>As inspeções e os testes realizados na fase de construção e montagem e no comissionamento devem ser documentados de acordo com o previsto nas Normas Regulamentadoras, nas normas técnicas nacionais e, na ausência ou omissão destas, nas normas internacionais, e nos manuais de fabricação dos equipamentos e máquinas.</a:t>
            </a:r>
          </a:p>
          <a:p>
            <a:endParaRPr lang="pt-B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20.6.3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3200" dirty="0" smtClean="0"/>
              <a:t>Os equipamentos e as instalações devem ser identificados e sinalizados, de acordo com o previsto pelas Normas Regulamentadoras e normas técnicas nacionais.</a:t>
            </a:r>
          </a:p>
          <a:p>
            <a:endParaRPr lang="pt-BR" sz="3200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dirty="0" smtClean="0"/>
              <a:t>Segurança Operacional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8000" dirty="0" smtClean="0"/>
              <a:t>20.7 </a:t>
            </a:r>
            <a:endParaRPr lang="pt-BR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20.7.1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empregador deve elaborar, documentar, implementar, divulgar e manter atualizados procedimentos operacionais que contemplem aspectos de segurança e saúde no trabalho, em conformidade com as especificações do projeto das instalações classes I, II e III e com as recomendações das análises de riscos.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20.7.1.1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Nas instalações industriais classes II e III, com unidades de processo, os procedimentos referidos no item 20.7.1 devem possuir instruções claras para o desenvolvimento de atividades em cada uma das seguintes fases:</a:t>
            </a:r>
          </a:p>
          <a:p>
            <a:r>
              <a:rPr lang="pt-BR" dirty="0" smtClean="0"/>
              <a:t>a) pré-operação;</a:t>
            </a:r>
          </a:p>
          <a:p>
            <a:r>
              <a:rPr lang="pt-BR" dirty="0" smtClean="0"/>
              <a:t>b) operação normal;</a:t>
            </a:r>
          </a:p>
          <a:p>
            <a:r>
              <a:rPr lang="pt-BR" dirty="0" smtClean="0"/>
              <a:t>c) operação temporária;</a:t>
            </a:r>
          </a:p>
          <a:p>
            <a:r>
              <a:rPr lang="pt-BR" dirty="0" smtClean="0"/>
              <a:t>d) operação em emergência;</a:t>
            </a:r>
          </a:p>
          <a:p>
            <a:r>
              <a:rPr lang="pt-BR" dirty="0" smtClean="0"/>
              <a:t>e) parada normal;</a:t>
            </a:r>
          </a:p>
          <a:p>
            <a:r>
              <a:rPr lang="pt-BR" dirty="0" smtClean="0"/>
              <a:t>f) parada de emergência;</a:t>
            </a:r>
          </a:p>
          <a:p>
            <a:r>
              <a:rPr lang="pt-BR" dirty="0" smtClean="0"/>
              <a:t>g) operação pós-emergência.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20.7.2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Os procedimentos operacionais referidos no item 20.7.1 devem ser revisados e/ou atualizados, no máximo trienalmente para instalações classes I e II e quinquenalmente para instalações classe III ou em uma das seguintes situações:</a:t>
            </a:r>
          </a:p>
          <a:p>
            <a:r>
              <a:rPr lang="pt-BR" dirty="0" smtClean="0"/>
              <a:t>a) recomendações decorrentes do sistema de gestão de mudanças;</a:t>
            </a:r>
          </a:p>
          <a:p>
            <a:r>
              <a:rPr lang="pt-BR" dirty="0" smtClean="0"/>
              <a:t>b) recomendações decorrentes das análises de riscos;</a:t>
            </a:r>
          </a:p>
          <a:p>
            <a:r>
              <a:rPr lang="pt-BR" dirty="0" smtClean="0"/>
              <a:t>c) modificações ou ampliações da instalação;</a:t>
            </a:r>
          </a:p>
          <a:p>
            <a:r>
              <a:rPr lang="pt-BR" dirty="0" smtClean="0"/>
              <a:t>d) recomendações decorrentes das análises de acidentes e/ou incidentes nos trabalhos relacionados com inflamáveis e líquidos combustíveis;</a:t>
            </a:r>
          </a:p>
          <a:p>
            <a:r>
              <a:rPr lang="pt-BR" dirty="0" smtClean="0"/>
              <a:t>e) solicitações da CIPA ou SESMT.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20.7.3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3600" dirty="0" smtClean="0"/>
              <a:t>Nas operações de transferência de inflamáveis, enchimento de recipientes ou de tanques, devem ser adotados procedimentos para:</a:t>
            </a:r>
          </a:p>
          <a:p>
            <a:r>
              <a:rPr lang="pt-BR" sz="3600" dirty="0" smtClean="0"/>
              <a:t>a) eliminar ou minimizar a emissão de vapores e gases inflamáveis;</a:t>
            </a:r>
          </a:p>
          <a:p>
            <a:r>
              <a:rPr lang="pt-BR" sz="3600" dirty="0" smtClean="0"/>
              <a:t>b) controlar a geração, acúmulo e descarga de eletricidade estática.</a:t>
            </a:r>
          </a:p>
          <a:p>
            <a:endParaRPr lang="pt-BR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20.7.4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No processo de transferência de inflamáveis e líquidos combustíveis, deve-se implementar medidas de controle operacional e/ou de engenharia das emissões fugitivas, emanadas durante a carga e descarga de tanques fixos e de veículos transportadores, para a eliminação ou minimização dessas emissões.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20.7.5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Na operação com inflamáveis e líquidos combustíveis, em instalações de processo contínuo de produção e de Classe III, o empregador deve dimensionar o efetivo de trabalhadores suficiente para a realização das tarefas operacionais com segurança.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20.7.5.1</a:t>
            </a:r>
            <a:r>
              <a:rPr lang="pt-BR" dirty="0" smtClean="0"/>
              <a:t> </a:t>
            </a:r>
          </a:p>
          <a:p>
            <a:r>
              <a:rPr lang="pt-BR" dirty="0" smtClean="0"/>
              <a:t>Os critérios e parâmetros adotados para o dimensionamento do efetivo de trabalhadores devem estar documentados.</a:t>
            </a:r>
          </a:p>
          <a:p>
            <a:endParaRPr lang="pt-BR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661248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dirty="0" smtClean="0"/>
              <a:t>Manutenção e Inspeção das Instalações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20.8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b="1" dirty="0" smtClean="0"/>
              <a:t>20.8.1</a:t>
            </a:r>
            <a:endParaRPr lang="pt-BR" sz="5400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As instalações classes I, II e III para extração, produção, armazenamento, transferência, manuseio e manipulação de inflamáveis e líquidos combustíveis devem possuir plano de inspeção e manutenção devidamente documentado.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20.8.2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05536"/>
          </a:xfrm>
        </p:spPr>
        <p:txBody>
          <a:bodyPr>
            <a:noAutofit/>
          </a:bodyPr>
          <a:lstStyle/>
          <a:p>
            <a:r>
              <a:rPr lang="pt-BR" sz="2400" dirty="0" smtClean="0"/>
              <a:t>O plano de inspeção e manutenção deve abranger, no mínimo:</a:t>
            </a:r>
          </a:p>
          <a:p>
            <a:r>
              <a:rPr lang="pt-BR" sz="2400" dirty="0" smtClean="0"/>
              <a:t>a) equipamentos, máquinas, tubulações e acessórios, instrumentos;</a:t>
            </a:r>
          </a:p>
          <a:p>
            <a:r>
              <a:rPr lang="pt-BR" sz="2400" dirty="0" smtClean="0"/>
              <a:t>b) tipos de intervenção;</a:t>
            </a:r>
          </a:p>
          <a:p>
            <a:r>
              <a:rPr lang="pt-BR" sz="2400" dirty="0" smtClean="0"/>
              <a:t>c) procedimentos de inspeção e manutenção;</a:t>
            </a:r>
          </a:p>
          <a:p>
            <a:r>
              <a:rPr lang="pt-BR" sz="2400" dirty="0" smtClean="0"/>
              <a:t>d) cronograma anual;</a:t>
            </a:r>
          </a:p>
          <a:p>
            <a:r>
              <a:rPr lang="pt-BR" sz="2400" dirty="0" smtClean="0"/>
              <a:t>e) identificação dos responsáveis;</a:t>
            </a:r>
          </a:p>
          <a:p>
            <a:r>
              <a:rPr lang="pt-BR" sz="2400" dirty="0" smtClean="0"/>
              <a:t>f) especialidade e capacitação do pessoal de inspeção e manutenção;</a:t>
            </a:r>
          </a:p>
          <a:p>
            <a:r>
              <a:rPr lang="pt-BR" sz="2400" dirty="0" smtClean="0"/>
              <a:t>g) procedimentos específicos de segurança e saúde;</a:t>
            </a:r>
          </a:p>
          <a:p>
            <a:r>
              <a:rPr lang="pt-BR" sz="2400" dirty="0" smtClean="0"/>
              <a:t>h) sistemas e equipamentos de proteção coletiva e individual.</a:t>
            </a:r>
          </a:p>
          <a:p>
            <a:endParaRPr lang="pt-B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20.8.3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Os planos devem ser periodicamente revisados e atualizados, considerando o previsto nas Normas Regulamentadoras, nas normas técnicas nacionais e, na ausência ou omissão destas, nas normas internacionais, nos manuais de inspeção, bem como nos manuais fornecidos pelos fabricantes.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20.8.3.1</a:t>
            </a:r>
          </a:p>
          <a:p>
            <a:endParaRPr lang="pt-BR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BR" dirty="0" smtClean="0"/>
              <a:t>Todos os manuais devem ser disponibilizados em língua portuguesa.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dirty="0" smtClean="0"/>
              <a:t>20.8.4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77544"/>
          </a:xfrm>
        </p:spPr>
        <p:txBody>
          <a:bodyPr>
            <a:noAutofit/>
          </a:bodyPr>
          <a:lstStyle/>
          <a:p>
            <a:r>
              <a:rPr lang="pt-BR" sz="2400" dirty="0" smtClean="0"/>
              <a:t>A fixação da periodicidade das inspeções e das intervenções de manutenção deve considerar:</a:t>
            </a:r>
          </a:p>
          <a:p>
            <a:r>
              <a:rPr lang="pt-BR" sz="2400" dirty="0" smtClean="0"/>
              <a:t>a) o previsto nas Normas Regulamentadoras e normas técnicas nacionais e, na ausência ou omissão destas, nas normas internacionais;</a:t>
            </a:r>
          </a:p>
          <a:p>
            <a:r>
              <a:rPr lang="pt-BR" sz="2400" dirty="0" smtClean="0"/>
              <a:t>b) as recomendações do fabricante, em especial dos itens críticos à segurança e saúde do trabalhador;</a:t>
            </a:r>
          </a:p>
          <a:p>
            <a:r>
              <a:rPr lang="pt-BR" sz="2400" dirty="0" smtClean="0"/>
              <a:t>c) as recomendações dos relatórios de inspeções de segurança e de análise de acidentes e incidentes do trabalho,</a:t>
            </a:r>
          </a:p>
          <a:p>
            <a:r>
              <a:rPr lang="pt-BR" sz="2400" dirty="0" smtClean="0"/>
              <a:t>elaborados pela CIPA ou SESMT;</a:t>
            </a:r>
          </a:p>
          <a:p>
            <a:r>
              <a:rPr lang="pt-BR" sz="2400" dirty="0" smtClean="0"/>
              <a:t>d) as recomendações decorrentes das análises de riscos;</a:t>
            </a:r>
          </a:p>
          <a:p>
            <a:r>
              <a:rPr lang="pt-BR" sz="2400" dirty="0" smtClean="0"/>
              <a:t>e) a existência de condições ambientais agressivas.</a:t>
            </a:r>
          </a:p>
          <a:p>
            <a:endParaRPr lang="pt-B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20.8.5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 plano de inspeção e manutenção e suas respectivas atividades devem ser documentados em formulário próprio ou sistema informatizado.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20.8.6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As atividades de inspeção e manutenção devem ser realizadas por trabalhadores capacitados e com apropriada supervisão.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20.8.7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As recomendações decorrentes das inspeções e manutenções devem ser registradas e implementadas, com a determinação de prazos e de responsáveis pela execução.</a:t>
            </a:r>
          </a:p>
          <a:p>
            <a:endParaRPr lang="pt-BR" sz="2800" dirty="0" smtClean="0"/>
          </a:p>
          <a:p>
            <a:r>
              <a:rPr lang="pt-BR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20.8.7.1</a:t>
            </a:r>
          </a:p>
          <a:p>
            <a:endParaRPr lang="pt-BR" sz="2800" dirty="0" smtClean="0"/>
          </a:p>
          <a:p>
            <a:r>
              <a:rPr lang="pt-BR" sz="2800" dirty="0" smtClean="0"/>
              <a:t>A não implementação da recomendação no prazo definido deve ser justificada e documentada.</a:t>
            </a:r>
          </a:p>
          <a:p>
            <a:endParaRPr lang="pt-BR" sz="2800" dirty="0" smtClean="0"/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20.8.8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49552"/>
          </a:xfrm>
        </p:spPr>
        <p:txBody>
          <a:bodyPr>
            <a:normAutofit fontScale="85000" lnSpcReduction="20000"/>
          </a:bodyPr>
          <a:lstStyle/>
          <a:p>
            <a:r>
              <a:rPr lang="pt-BR" dirty="0" smtClean="0"/>
              <a:t>Deve ser elaborada permissão de trabalho para atividades não rotineiras de intervenção nos equipamentos, baseada em análise de risco, nos trabalhos:</a:t>
            </a:r>
          </a:p>
          <a:p>
            <a:r>
              <a:rPr lang="pt-BR" dirty="0" smtClean="0"/>
              <a:t>a) que possam gerar chamas, calor, centelhas ou ainda que envolvam o seu uso;</a:t>
            </a:r>
          </a:p>
          <a:p>
            <a:r>
              <a:rPr lang="pt-BR" dirty="0" smtClean="0"/>
              <a:t>b) em espaços confinados, conforme Norma Regulamentadora n.º 33;</a:t>
            </a:r>
          </a:p>
          <a:p>
            <a:r>
              <a:rPr lang="pt-BR" dirty="0" smtClean="0"/>
              <a:t>c) envolvendo isolamento de equipamentos e bloqueio/etiquetagem;</a:t>
            </a:r>
          </a:p>
          <a:p>
            <a:r>
              <a:rPr lang="pt-BR" dirty="0" smtClean="0"/>
              <a:t>d) em locais elevados com risco de queda;</a:t>
            </a:r>
          </a:p>
          <a:p>
            <a:r>
              <a:rPr lang="pt-BR" dirty="0" smtClean="0"/>
              <a:t>e) com equipamentos elétricos, conforme Norma Regulamentadora n.º 10;</a:t>
            </a:r>
          </a:p>
          <a:p>
            <a:r>
              <a:rPr lang="pt-BR" dirty="0" smtClean="0"/>
              <a:t>f) cujas boas práticas de segurança e saúde recomendem.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20.8.8.1</a:t>
            </a:r>
          </a:p>
          <a:p>
            <a:r>
              <a:rPr lang="pt-BR" dirty="0" smtClean="0"/>
              <a:t>As atividades rotineiras de inspeção e manutenção devem ser precedidas de instrução de trabalho.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20.8.9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 planejamento e a execução de paradas para manutenção de uma instalação devem incorporar os aspectos relativos à segurança e saúde no trabalho.</a:t>
            </a:r>
          </a:p>
          <a:p>
            <a:endParaRPr lang="pt-BR" sz="2800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sz="4800" b="1" dirty="0" smtClean="0"/>
              <a:t>Inspeção em Segurança e Saúde no Ambiente de Trabalho</a:t>
            </a:r>
            <a:endParaRPr lang="pt-BR" sz="480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dirty="0" smtClean="0"/>
              <a:t>20.9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20.9.1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As instalações classes I, II e III para extração, produção, armazenamento, transferência, manuseio e manipulação de inflamáveis e líquidos combustíveis devem ser periodicamente inspecionadas com enfoque na segurança e saúde no ambiente de trabalho.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20.9.2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Deve ser elaborado, em articulação com a CIPA, um cronograma de inspeções em segurança e saúde no ambiente de trabalho, de acordo com os riscos das atividades e operações desenvolvidas.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20.9.3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As inspeções devem ser documentadas e as respectivas recomendações implementadas, com estabelecimento de prazos e de responsáveis pela sua execução.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20.9.3.1</a:t>
            </a:r>
            <a:r>
              <a:rPr lang="pt-BR" dirty="0" smtClean="0"/>
              <a:t> </a:t>
            </a:r>
          </a:p>
          <a:p>
            <a:r>
              <a:rPr lang="pt-BR" dirty="0" smtClean="0"/>
              <a:t>A não implementação da recomendação no prazo definido deve ser justificada e documentada.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20.9.4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Os relatórios de inspeção devem ficar disponíveis às autoridades competentes e aos trabalhadores.</a:t>
            </a:r>
          </a:p>
          <a:p>
            <a:endParaRPr lang="pt-BR" sz="2800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Análise de Riscos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20.10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20.10.1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Nas instalações classes I, II e III, o empregador deve elaborar e documentar as análises de riscos das operações que envolvam processo ou processamento nas atividades de extração, produção, armazenamento, transferência, manuseio e manipulação de inflamáveis e de líquidos combustíveis.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20.10.2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49552"/>
          </a:xfrm>
        </p:spPr>
        <p:txBody>
          <a:bodyPr>
            <a:normAutofit fontScale="92500" lnSpcReduction="10000"/>
          </a:bodyPr>
          <a:lstStyle/>
          <a:p>
            <a:r>
              <a:rPr lang="pt-BR" dirty="0" smtClean="0"/>
              <a:t>As análises de riscos da instalação devem ser estruturadas com base em metodologias apropriadas, escolhidas em função dos propósitos da análise, das características e complexidade da instalação.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20.10.2.1 </a:t>
            </a:r>
            <a:endParaRPr lang="pt-BR" dirty="0" smtClean="0"/>
          </a:p>
          <a:p>
            <a:r>
              <a:rPr lang="pt-BR" dirty="0" smtClean="0"/>
              <a:t>As análises de riscos devem ser coordenadas por profissional habilitado.</a:t>
            </a:r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20.10.2.2 </a:t>
            </a:r>
          </a:p>
          <a:p>
            <a:r>
              <a:rPr lang="pt-BR" dirty="0" smtClean="0"/>
              <a:t>As análises de riscos devem ser elaboradas por equipe multidisciplinar, com conhecimento na aplicação das metodologias, dos riscos e da instalação, com participação de, no mínimo, um trabalhador com experiência na instalação, ou em parte desta, que é objeto da análise.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20.10.3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Nas instalações classe I, deve ser elaborada Análise Preliminar de Perigos/Riscos (APP/APR).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b="1" dirty="0" smtClean="0"/>
              <a:t>20.10.4 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Nas instalações classes II e III, devem ser utilizadas metodologias de análise definidas pelo profissional habilitado, devendo a escolha levar em consideração os riscos, as características e complexidade da instalação.</a:t>
            </a:r>
            <a:endParaRPr lang="pt-BR" i="1" dirty="0" smtClean="0"/>
          </a:p>
          <a:p>
            <a:endParaRPr lang="pt-BR" i="1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20.10.4.1</a:t>
            </a:r>
          </a:p>
          <a:p>
            <a:r>
              <a:rPr lang="pt-BR" dirty="0" smtClean="0"/>
              <a:t>O profissional habilitado deve fundamentar tecnicamente e registrar na própria análise a escolha da metodologia</a:t>
            </a:r>
          </a:p>
          <a:p>
            <a:r>
              <a:rPr lang="pt-BR" dirty="0" smtClean="0"/>
              <a:t>utilizada.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dirty="0" smtClean="0"/>
              <a:t>20.10.5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As análises de riscos devem ser revisadas:</a:t>
            </a:r>
          </a:p>
          <a:p>
            <a:r>
              <a:rPr lang="pt-BR" dirty="0" smtClean="0"/>
              <a:t>a) na periodicidade estabelecida para as renovações da licença de operação da instalação;</a:t>
            </a:r>
          </a:p>
          <a:p>
            <a:r>
              <a:rPr lang="pt-BR" dirty="0" smtClean="0"/>
              <a:t>b) no prazo recomendado pela própria análise;</a:t>
            </a:r>
          </a:p>
          <a:p>
            <a:r>
              <a:rPr lang="pt-BR" dirty="0" smtClean="0"/>
              <a:t>c) caso ocorram modificações significativas no processo ou processamento;</a:t>
            </a:r>
          </a:p>
          <a:p>
            <a:r>
              <a:rPr lang="pt-BR" dirty="0" smtClean="0"/>
              <a:t>d) por solicitação do SESMT ou da CIPA;</a:t>
            </a:r>
          </a:p>
          <a:p>
            <a:r>
              <a:rPr lang="pt-BR" dirty="0" smtClean="0"/>
              <a:t>e) por recomendação decorrente da análise de acidentes ou incidentes relacionados ao processo ou processamento;</a:t>
            </a:r>
          </a:p>
          <a:p>
            <a:r>
              <a:rPr lang="pt-BR" dirty="0" smtClean="0"/>
              <a:t>f) quando o histórico de acidentes e incidentes assim o exigir.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20.10.6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empregador deve implementar as recomendações resultantes das análises de riscos, com definição de prazos e de responsáveis pela execução.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20.10.6.1</a:t>
            </a:r>
          </a:p>
          <a:p>
            <a:r>
              <a:rPr lang="pt-BR" dirty="0" smtClean="0"/>
              <a:t>A não implementação das recomendações nos prazos definidos deve ser justificada e documentada.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20.10.7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As análises de riscos devem estar articuladas com o Programa de Prevenção de Riscos Ambientais (PPRA) da instalação.</a:t>
            </a:r>
          </a:p>
          <a:p>
            <a:endParaRPr lang="pt-BR" sz="2800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dirty="0" smtClean="0"/>
              <a:t>Capacitação dos trabalhadores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20.11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Toda capacitação prevista nesta NR deve ser realizada a cargo e custo do empregador e durante o expediente normal da empresa.</a:t>
            </a:r>
          </a:p>
          <a:p>
            <a:r>
              <a:rPr lang="pt-BR" i="1" dirty="0" smtClean="0"/>
              <a:t>(Vide prazo no Art. 3ª da Portaria n.º 308/2012)</a:t>
            </a:r>
          </a:p>
          <a:p>
            <a:endParaRPr lang="pt-BR" i="1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20.11.1.1 </a:t>
            </a:r>
          </a:p>
          <a:p>
            <a:r>
              <a:rPr lang="pt-BR" dirty="0" smtClean="0"/>
              <a:t>Os critérios estabelecidos nos itens 20.11.2 a 20.11.9 encontram-se resumidos no Anexo II.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Os trabalhadores que laboram em instalações classes I, II ou III e não adentram na área ou local de extração,</a:t>
            </a:r>
          </a:p>
          <a:p>
            <a:r>
              <a:rPr lang="pt-BR" sz="2800" dirty="0" smtClean="0"/>
              <a:t>produção, armazenamento, transferência, manuseio e manipulação de inflamáveis e líquidos combustíveis devem receber informações sobre os perigos, riscos e sobre procedimentos para situações de emergências.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20.11.3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Os trabalhadores que laboram em instalações classes I, II ou III e adentram na área ou local de extração, produção, armazenamento, transferência, manuseio e manipulação de inflamáveis e líquidos combustíveis, mas não mantêm contato direto com o processo ou processamento, devem realizar o curso de Integração.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20.11.4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Os trabalhadores que laboram em instalações classes I, II ou III, adentram na área ou local de extração, produção, armazenamento, transferência, manuseio e manipulação de inflamáveis e líquidos combustíveis e mantêm contato direto com o processo ou processamento, realizando atividades específicas, pontuais e de curta duração, devem realizar curso Básico.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20.11.5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Os trabalhadores que laboram em instalações classes I, II e III, adentram na área ou local de extração, produção, armazenamento, transferência, manuseio e manipulação de inflamáveis e líquidos combustíveis e mantêm contato direto com o processo ou processamento, realizando atividades de manutenção e inspeção, devem realizar curso Intermediário.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20.11.6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Os trabalhadores que laboram em instalações classe I, adentram na área ou local de extração, produção,</a:t>
            </a:r>
          </a:p>
          <a:p>
            <a:r>
              <a:rPr lang="pt-BR" dirty="0" smtClean="0"/>
              <a:t>armazenamento, transferência, manuseio e manipulação de inflamáveis e líquidos combustíveis e mantêm contato direto com o processo ou processamento, realizando atividades de operação e atendimento a emergências, devem realizar curso Intermediário.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20.11.7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Os trabalhadores que laboram em instalações classe II, adentram na área ou local de extração, produção, armazenamento, transferência, manuseio e manipulação de inflamáveis e líquidos combustíveis e mantêm contato direto com o processo ou processamento, realizando atividades de operação e atendimento a emergências, devem realizar curso</a:t>
            </a:r>
          </a:p>
          <a:p>
            <a:r>
              <a:rPr lang="pt-BR" dirty="0" smtClean="0"/>
              <a:t>Avançado I.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20.11.8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Os trabalhadores que laboram em instalações classe III, adentram na área ou local de extração, produção, armazenamento, transferência, manuseio e manipulação de inflamáveis e líquidos combustíveis e mantêm contato direto com o processo ou processamento, realizando atividades de operação e atendimento a emergências, devem realizar curso Avançado II.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20.11.9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Os profissionais de segurança e saúde no trabalho que laboram em instalações classes II e III, adentram na área ou local de extração, produção, armazenamento, transferência, manuseio e manipulação de inflamáveis e líquidos combustíveis e mantêm contato direto com o processo ou processamento devem realizar o curso Específico.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b="1" dirty="0" smtClean="0"/>
              <a:t>20.11.10 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Os trabalhadores que realizaram o curso Básico, caso venham a necessitar do curso Intermediário, devem fazer complementação com carga horária de 8 horas, nos conteúdos estabelecidos pelos itens 6, 7 e 8 do curso Intermediário, incluindo a parte prática.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20.11.11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Os trabalhadores que realizaram o curso Intermediário, caso venham a necessitar do curso Avançado I, devem fazer complementação com carga horária de 8 horas, nos conteúdos estabelecidos pelos itens 9 e 10 do curso Avançado I, incluindo a parte prática.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20.11.12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Os trabalhadores que realizaram o curso Avançado I, caso venham a necessitar do curso Avançado II, devem fazer complementação com carga horária de 8 horas, no item 11 e 12 do curso Avançado II, incluindo a parte prática.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20.11.13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sz="3100" dirty="0" smtClean="0"/>
              <a:t>O trabalhador deve participar de curso de Atualização, cujo conteúdo será estabelecido pelo empregador e com a seguinte periodicidade:</a:t>
            </a:r>
          </a:p>
          <a:p>
            <a:r>
              <a:rPr lang="pt-BR" sz="3100" dirty="0" smtClean="0"/>
              <a:t>a) curso Básico: a cada 3 anos com carga horária de 4 horas;</a:t>
            </a:r>
          </a:p>
          <a:p>
            <a:r>
              <a:rPr lang="pt-BR" sz="3100" dirty="0" smtClean="0"/>
              <a:t>b) curso Intermediário: a cada 2 anos com carga horária de 4 horas;</a:t>
            </a:r>
          </a:p>
          <a:p>
            <a:r>
              <a:rPr lang="pt-BR" sz="3100" dirty="0" smtClean="0"/>
              <a:t>c) cursos Avançado I e II: a cada ano com carga horária de 4 horas.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20.11.13.1 </a:t>
            </a:r>
          </a:p>
          <a:p>
            <a:r>
              <a:rPr lang="pt-BR" dirty="0" smtClean="0"/>
              <a:t>Deve ser realizado, de imediato, curso de Atualização para os trabalhadores envolvidos no processo ou processamento, onde:</a:t>
            </a:r>
          </a:p>
          <a:p>
            <a:r>
              <a:rPr lang="pt-BR" dirty="0" smtClean="0"/>
              <a:t>a) ocorrer modificação significativa;</a:t>
            </a:r>
          </a:p>
          <a:p>
            <a:r>
              <a:rPr lang="pt-BR" dirty="0" smtClean="0"/>
              <a:t>b) ocorrer morte de trabalhador;</a:t>
            </a:r>
          </a:p>
          <a:p>
            <a:r>
              <a:rPr lang="pt-BR" dirty="0" smtClean="0"/>
              <a:t>c) ocorrerem ferimentos em decorrência de explosão e/ou queimaduras de 2º ou 3º grau, que implicaram em necessidade de internação hospitalar;</a:t>
            </a:r>
          </a:p>
          <a:p>
            <a:r>
              <a:rPr lang="pt-BR" dirty="0" smtClean="0"/>
              <a:t>d) o histórico de acidentes e/ou incidentes assim o exigir.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20.11.14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Os instrutores da capacitação dos cursos de Integração, Básico, Intermediário, Avançados I e II e Específico devem ter proficiência no assunto.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20.11.15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Os cursos de Integração, Básico e Intermediário devem ter um responsável por sua organização técnica, devendo ser um dos instrutores.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20.11.16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Os cursos Avançados I e II e Específico devem ter um profissional habilitado como responsável técnico.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20.11.17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77544"/>
          </a:xfrm>
        </p:spPr>
        <p:txBody>
          <a:bodyPr>
            <a:normAutofit fontScale="92500" lnSpcReduction="20000"/>
          </a:bodyPr>
          <a:lstStyle/>
          <a:p>
            <a:r>
              <a:rPr lang="pt-BR" sz="3000" dirty="0" smtClean="0"/>
              <a:t>Para os cursos de Integração, Básico, Intermediário, Avançados I e II e Específico, a emissão do certificado se dará para os trabalhadores que, após avaliação, tenham obtido aproveitamento satisfatório.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20.11.17.1</a:t>
            </a:r>
          </a:p>
          <a:p>
            <a:r>
              <a:rPr lang="pt-BR" dirty="0" smtClean="0"/>
              <a:t>O certificado deve conter o nome do trabalhador, conteúdo programático, carga horária, data, local, nome do(s) instrutor(</a:t>
            </a:r>
            <a:r>
              <a:rPr lang="pt-BR" dirty="0" err="1" smtClean="0"/>
              <a:t>es</a:t>
            </a:r>
            <a:r>
              <a:rPr lang="pt-BR" dirty="0" smtClean="0"/>
              <a:t>), nome e assinatura do responsável técnico ou do responsável pela organização técnica do curso.</a:t>
            </a:r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20.11.17.2</a:t>
            </a:r>
          </a:p>
          <a:p>
            <a:r>
              <a:rPr lang="pt-BR" dirty="0" smtClean="0"/>
              <a:t>O certificado deve ser fornecido ao trabalhador, mediante recibo, e uma cópia arquivada na empresa.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20.11.18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Os participantes da capacitação devem receber material didático, que pode ser em meio impresso, eletrônico ou similar.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20.11.19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 empregador deve estabelecer e manter sistema de identificação que permita conhecer a capacitação de cada trabalhador, cabendo a este a obrigação de utilização visível do meio identificador.</a:t>
            </a:r>
          </a:p>
          <a:p>
            <a:endParaRPr lang="pt-BR" sz="2800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79512" y="260648"/>
            <a:ext cx="8712967" cy="2053927"/>
          </a:xfrm>
        </p:spPr>
        <p:txBody>
          <a:bodyPr>
            <a:noAutofit/>
          </a:bodyPr>
          <a:lstStyle/>
          <a:p>
            <a:pPr algn="ctr"/>
            <a:r>
              <a:rPr lang="pt-BR" sz="4000" dirty="0" smtClean="0"/>
              <a:t>Prevenção e Controle de Vazamentos</a:t>
            </a:r>
            <a:br>
              <a:rPr lang="pt-BR" sz="4000" dirty="0" smtClean="0"/>
            </a:br>
            <a:r>
              <a:rPr lang="pt-BR" sz="4000" dirty="0" smtClean="0"/>
              <a:t>Derramamentos, Incêndios, Explosões e Emissões </a:t>
            </a:r>
            <a:r>
              <a:rPr lang="pt-BR" sz="4000" dirty="0" smtClean="0"/>
              <a:t>fugitivas</a:t>
            </a:r>
            <a:endParaRPr lang="pt-BR" sz="400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mtClean="0"/>
              <a:t>20.12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20.12.1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empregador deve elaborar plano que contemple a prevenção e controle de vazamentos, derramamentos, incêndios e explosões e, nos locais sujeitos à atividade de trabalhadores, a identificação das fontes de emissões fugitivas.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20.12.2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sz="3000" dirty="0" smtClean="0"/>
              <a:t>O plano deve contemplar todos os meios e ações necessárias para minimizar os riscos de ocorrência de vazamento, derramamento, incêndio e explosão, bem como para reduzir suas consequências em caso de falha nos sistemas de prevenção e controle.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20.12.2.1</a:t>
            </a:r>
          </a:p>
          <a:p>
            <a:r>
              <a:rPr lang="pt-BR" dirty="0" smtClean="0"/>
              <a:t>Para emissões fugitivas, após a identificação das fontes nos locais sujeitos à atividade de trabalhadores, o plano deve incluir ações para minimização dos riscos, de acordo com viabilidade técnica.</a:t>
            </a:r>
          </a:p>
          <a:p>
            <a:r>
              <a:rPr lang="pt-BR" i="1" dirty="0" smtClean="0"/>
              <a:t>(Vide prazo no Art. 3ª da Portaria n.º 308/2012)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20.12.3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plano deve ser revisado:</a:t>
            </a:r>
          </a:p>
          <a:p>
            <a:r>
              <a:rPr lang="pt-BR" dirty="0" smtClean="0"/>
              <a:t>a) por recomendações das inspeções de segurança e/ou da análise de riscos;</a:t>
            </a:r>
          </a:p>
          <a:p>
            <a:r>
              <a:rPr lang="pt-BR" dirty="0" smtClean="0"/>
              <a:t>b) quando ocorrerem modificações significativas nas instalações;</a:t>
            </a:r>
          </a:p>
          <a:p>
            <a:r>
              <a:rPr lang="pt-BR" dirty="0" smtClean="0"/>
              <a:t>c) quando da ocorrência de vazamentos, derramamentos, incêndios e/ou explosões.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20.12.4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Os sistemas de prevenção e controle devem ser adequados aos perigos/riscos dos inflamáveis e líquidos combustíveis.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20.12.5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 smtClean="0"/>
              <a:t>Os tanques que armazenam líquidos inflamáveis e combustíveis devem possuir sistemas de contenção de vazamentos ou derramamentos, dimensionados e construídos de acordo com as normas técnicas nacionais.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20.12.5.1</a:t>
            </a:r>
          </a:p>
          <a:p>
            <a:r>
              <a:rPr lang="pt-BR" dirty="0" smtClean="0"/>
              <a:t>No caso de bacias de contenção, é vedado o armazenamento de materiais, recipientes e similares em seu interior, exceto nas atividades de manutenção e inspeção.</a:t>
            </a:r>
          </a:p>
          <a:p>
            <a:endParaRPr lang="pt-BR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pt-BR" b="1" dirty="0" smtClean="0"/>
              <a:t>Controle de fontes de ignição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20.13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20.13.1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Todas as instalações elétricas e equipamentos elétricos fixos, móveis e portáteis, equipamentos de comunicação, ferramentas e similares utilizados em áreas classificadas, assim como os equipamentos de controle de descargas atmosféricas, devem estar em conformidade com a Norma Regulamentadora n.º 10.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20.13.2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 empregador deve implementar medidas específicas para controle da geração, acúmulo e descarga de eletricidade estática em áreas sujeitas à existência de atmosferas inflamáveis.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20.13.3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Os trabalhos envolvendo o uso de equipamentos que possam gerar chamas, calor ou centelhas, nas áreas sujeitas à existência de atmosferas inflamáveis, devem ser precedidos de permissão de trabalho.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20.13.4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 empregador deve sinalizar a proibição do uso de fontes de ignição nas áreas sujeitas à existência de atmosferas inflamáveis.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b="1" smtClean="0"/>
              <a:t>20.13.5 </a:t>
            </a:r>
            <a:endParaRPr lang="pt-BR" sz="5400" b="1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Os veículos que circulem nas áreas sujeitas à existência de atmosferas inflamáveis devem possuir características apropriadas ao local e ser mantidos em perfeito estado de conservação.</a:t>
            </a:r>
          </a:p>
          <a:p>
            <a:endParaRPr lang="pt-BR" sz="2800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260648"/>
            <a:ext cx="7772400" cy="2053927"/>
          </a:xfrm>
        </p:spPr>
        <p:txBody>
          <a:bodyPr>
            <a:normAutofit/>
          </a:bodyPr>
          <a:lstStyle/>
          <a:p>
            <a:pPr algn="ctr"/>
            <a:r>
              <a:rPr lang="pt-BR" sz="5200" b="1" dirty="0" smtClean="0"/>
              <a:t>Plano de Resposta a Emergências da Instalação</a:t>
            </a:r>
            <a:endParaRPr lang="pt-BR" sz="520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20.14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b="1" dirty="0" smtClean="0"/>
              <a:t>20.14.1 </a:t>
            </a:r>
            <a:endParaRPr lang="pt-BR" sz="5400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empregador deve elaborar e implementar plano de resposta a emergências que contemple ações específicas a serem adotadas na ocorrência de vazamentos ou derramamentos de inflamáveis e líquidos combustíveis, incêndios ou explosões.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20.14.2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O plano de resposta a emergências das instalações classe I, II e III deve ser elaborado considerando as características e a complexidade da instalação e conter, no mínimo:</a:t>
            </a:r>
          </a:p>
          <a:p>
            <a:r>
              <a:rPr lang="pt-BR" dirty="0" smtClean="0"/>
              <a:t>a) nome e função do(s) responsável(eis) técnico(s) pela elaboração e revisão do plano;</a:t>
            </a:r>
          </a:p>
          <a:p>
            <a:r>
              <a:rPr lang="pt-BR" dirty="0" smtClean="0"/>
              <a:t>b) nome e função do responsável pelo gerenciamento, coordenação e implementação do plano;</a:t>
            </a:r>
          </a:p>
          <a:p>
            <a:r>
              <a:rPr lang="pt-BR" dirty="0" smtClean="0"/>
              <a:t>c) designação dos integrantes da equipe de emergência, responsáveis pela execução de cada ação e seus respectivos substitutos;</a:t>
            </a:r>
          </a:p>
          <a:p>
            <a:r>
              <a:rPr lang="pt-BR" dirty="0" smtClean="0"/>
              <a:t>d) estabelecimento dos possíveis cenários de emergências, com base nas análises de riscos;</a:t>
            </a:r>
          </a:p>
          <a:p>
            <a:r>
              <a:rPr lang="pt-BR" dirty="0" smtClean="0"/>
              <a:t>e) descrição dos recursos necessários para resposta a cada cenário contemplado;</a:t>
            </a:r>
          </a:p>
          <a:p>
            <a:r>
              <a:rPr lang="pt-BR" dirty="0" smtClean="0"/>
              <a:t>f) descrição dos meios de comunicação;</a:t>
            </a:r>
          </a:p>
          <a:p>
            <a:r>
              <a:rPr lang="pt-BR" dirty="0" smtClean="0"/>
              <a:t>g) procedimentos de resposta à emergência para cada cenário contemplado;</a:t>
            </a:r>
          </a:p>
          <a:p>
            <a:r>
              <a:rPr lang="pt-BR" dirty="0" smtClean="0"/>
              <a:t>h) procedimentos para comunicação e acionamento das autoridades públicas e desencadeamento da ajuda mútua, caso exista;</a:t>
            </a:r>
          </a:p>
          <a:p>
            <a:r>
              <a:rPr lang="pt-BR" dirty="0" smtClean="0"/>
              <a:t>i) procedimentos para orientação de visitantes, quanto aos riscos existentes e como proceder em situações de emergência;</a:t>
            </a:r>
          </a:p>
          <a:p>
            <a:r>
              <a:rPr lang="pt-BR" dirty="0" smtClean="0"/>
              <a:t>j) cronograma, metodologia e registros de realização de exercícios simulados.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20.14.3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Nos casos em que os resultados das análises de riscos indiquem a possibilidade de ocorrência de um acidente cujas consequências ultrapassem os limites da instalação, o empregador deve incorporar no plano de emergência ações que visem à proteção da comunidade circunvizinha, estabelecendo mecanismos de comunicação e alerta, de isolamento da área atingida e de acionamento das autoridades públicas.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20.14.4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plano de resposta a emergências deve ser avaliado após a realização de exercícios simulados e/ou na ocorrência de situações reais, com o objetivo de testar a sua eficácia, detectar possíveis falhas e proceder aos ajustes necessários.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20.14.5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49552"/>
          </a:xfrm>
        </p:spPr>
        <p:txBody>
          <a:bodyPr>
            <a:normAutofit lnSpcReduction="10000"/>
          </a:bodyPr>
          <a:lstStyle/>
          <a:p>
            <a:r>
              <a:rPr lang="pt-BR" sz="2800" dirty="0" smtClean="0"/>
              <a:t>Os exercícios simulados devem ser realizados durante o horário de trabalho, com periodicidade, no mínimo, anual, podendo ser reduzida em função das falhas detectadas ou se assim recomendar a análise de riscos.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20.14.5.1</a:t>
            </a:r>
          </a:p>
          <a:p>
            <a:r>
              <a:rPr lang="pt-BR" dirty="0" smtClean="0"/>
              <a:t>Os trabalhadores na empresa devem estar envolvidos nos exercícios simulados, que devem retratar, o mais fielmente possível, a rotina de trabalho.</a:t>
            </a:r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20.14.5.2</a:t>
            </a:r>
          </a:p>
          <a:p>
            <a:r>
              <a:rPr lang="pt-BR" dirty="0" smtClean="0"/>
              <a:t>O empregador deve estabelecer critérios para avaliação dos resultados dos exercícios simulados.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20.14.6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Os integrantes da equipe de resposta a emergências devem ser submetidos a exames médicos específicos para a função que irão desempenhar, conforme estabelece a Norma Regulamentadora n.º 7, incluindo os fatores de riscos psicossociais, com a emissão do respectivo atestado de saúde ocupacional.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20.14.7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 participação do trabalhador nas equipes de resposta a emergências é voluntária, salvo nos casos em que a natureza da função assim o determine.</a:t>
            </a:r>
          </a:p>
          <a:p>
            <a:endParaRPr lang="pt-BR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BR" b="1" dirty="0" smtClean="0"/>
              <a:t>Comunicação de Ocorrências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20.15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20.15.1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21560"/>
          </a:xfrm>
        </p:spPr>
        <p:txBody>
          <a:bodyPr>
            <a:normAutofit fontScale="62500" lnSpcReduction="20000"/>
          </a:bodyPr>
          <a:lstStyle/>
          <a:p>
            <a:r>
              <a:rPr lang="pt-BR" sz="2900" dirty="0" smtClean="0"/>
              <a:t>O empregador deve comunicar ao órgão regional do Ministério do Trabalho e Emprego e ao sindicato da categoria profissional predominante no estabelecimento a ocorrência de vazamento, incêndio ou explosão envolvendo inflamáveis e líquidos combustíveis que tenha como consequência qualquer das possibilidades a seguir:</a:t>
            </a:r>
          </a:p>
          <a:p>
            <a:r>
              <a:rPr lang="pt-BR" sz="2900" dirty="0" smtClean="0"/>
              <a:t>a) morte de trabalhador(</a:t>
            </a:r>
            <a:r>
              <a:rPr lang="pt-BR" sz="2900" dirty="0" err="1" smtClean="0"/>
              <a:t>es</a:t>
            </a:r>
            <a:r>
              <a:rPr lang="pt-BR" sz="2900" dirty="0" smtClean="0"/>
              <a:t>);</a:t>
            </a:r>
          </a:p>
          <a:p>
            <a:r>
              <a:rPr lang="pt-BR" sz="2900" dirty="0" smtClean="0"/>
              <a:t>b) ferimentos em decorrência de explosão e/ou queimaduras de 2º ou 3º grau, que implicaram em necessidade de internação hospitalar;</a:t>
            </a:r>
          </a:p>
          <a:p>
            <a:r>
              <a:rPr lang="pt-BR" sz="2900" dirty="0" smtClean="0"/>
              <a:t>c) acionamento do plano de resposta a emergências que tenha requerido medidas de intervenção e controle</a:t>
            </a:r>
            <a:r>
              <a:rPr lang="pt-BR" dirty="0" smtClean="0"/>
              <a:t>.</a:t>
            </a:r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20.15.1.1</a:t>
            </a:r>
          </a:p>
          <a:p>
            <a:r>
              <a:rPr lang="pt-BR" dirty="0" smtClean="0"/>
              <a:t>A comunicação deve ser encaminhada até o segundo dia útil após a ocorrência e deve conter:</a:t>
            </a:r>
          </a:p>
          <a:p>
            <a:r>
              <a:rPr lang="pt-BR" dirty="0" smtClean="0"/>
              <a:t>a) Nome da empresa, endereço, local, data e hora da ocorrência;</a:t>
            </a:r>
          </a:p>
          <a:p>
            <a:r>
              <a:rPr lang="pt-BR" dirty="0" smtClean="0"/>
              <a:t>b) Descrição da ocorrência, incluindo informações sobre os inflamáveis, líquidos combustíveis e outros produtos envolvidos;</a:t>
            </a:r>
          </a:p>
          <a:p>
            <a:r>
              <a:rPr lang="pt-BR" dirty="0" smtClean="0"/>
              <a:t>c) Nome e função da vítima;</a:t>
            </a:r>
          </a:p>
          <a:p>
            <a:r>
              <a:rPr lang="pt-BR" dirty="0" smtClean="0"/>
              <a:t>d) Procedimentos de investigação adotados;</a:t>
            </a:r>
          </a:p>
          <a:p>
            <a:r>
              <a:rPr lang="pt-BR" dirty="0" smtClean="0"/>
              <a:t>e) Consequências;</a:t>
            </a:r>
          </a:p>
          <a:p>
            <a:r>
              <a:rPr lang="pt-BR" dirty="0" smtClean="0"/>
              <a:t>f) Medidas emergenciais adotadas.</a:t>
            </a:r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20.15.1.2</a:t>
            </a:r>
          </a:p>
          <a:p>
            <a:r>
              <a:rPr lang="pt-BR" dirty="0" smtClean="0"/>
              <a:t>A comunicação pode ser feita por ofício ou meio eletrônico ao sindicato da categoria profissional predominante no estabelecimento e ao setor de segurança e saúde do trabalho do órgão regional do Ministério do Trabalho e Emprego.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b="1" dirty="0" smtClean="0"/>
              <a:t>20.15.2 </a:t>
            </a:r>
            <a:endParaRPr lang="pt-BR" sz="54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empregador deve elaborar relatório de investigação e análise da ocorrência descrita no item 20.15.1, contendo as causas básicas e medidas preventivas adotadas, e mantê-lo no local de trabalho a disposição da autoridade competente, dos trabalhadores e seus representantes.</a:t>
            </a:r>
          </a:p>
          <a:p>
            <a:endParaRPr lang="pt-BR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Contratante e Contratadas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20.16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20.16.1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 contratante e as contratadas são solidariamente responsáveis pelo cumprimento desta Norma Regulamentadora.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20.16.2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77544"/>
          </a:xfrm>
        </p:spPr>
        <p:txBody>
          <a:bodyPr>
            <a:normAutofit fontScale="85000" lnSpcReduction="20000"/>
          </a:bodyPr>
          <a:lstStyle/>
          <a:p>
            <a:r>
              <a:rPr lang="pt-BR" sz="3100" dirty="0" smtClean="0"/>
              <a:t>Das responsabilidades da Contratante.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20.16.2.1</a:t>
            </a:r>
          </a:p>
          <a:p>
            <a:r>
              <a:rPr lang="pt-BR" dirty="0" smtClean="0"/>
              <a:t>Os requisitos de segurança e saúde no trabalho adotados para os empregados das contratadas devem ser, no mínimo, equivalentes aos aplicados para os empregados da contratante.</a:t>
            </a:r>
          </a:p>
          <a:p>
            <a:endParaRPr lang="pt-BR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20.16.2.2</a:t>
            </a:r>
          </a:p>
          <a:p>
            <a:r>
              <a:rPr lang="pt-BR" dirty="0" smtClean="0"/>
              <a:t>A empresa contratante, visando atender ao previsto nesta NR, deve verificar e avaliar o desempenho em segurança e saúde no trabalho nos serviços contratados.</a:t>
            </a:r>
          </a:p>
          <a:p>
            <a:endParaRPr lang="pt-BR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20.16.2.3</a:t>
            </a:r>
          </a:p>
          <a:p>
            <a:r>
              <a:rPr lang="pt-BR" dirty="0" smtClean="0"/>
              <a:t>Cabe à contratante informar às contratadas e a seus empregados os riscos existentes no ambiente de trabalho e as respectivas medidas de segurança e de resposta a emergências a serem adotadas.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20.16.3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77544"/>
          </a:xfrm>
        </p:spPr>
        <p:txBody>
          <a:bodyPr>
            <a:normAutofit fontScale="92500" lnSpcReduction="10000"/>
          </a:bodyPr>
          <a:lstStyle/>
          <a:p>
            <a:r>
              <a:rPr lang="pt-BR" sz="3000" dirty="0" smtClean="0"/>
              <a:t>Da Responsabilidade das Contratadas.</a:t>
            </a:r>
          </a:p>
          <a:p>
            <a:endParaRPr lang="pt-BR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20.16.3.1</a:t>
            </a:r>
          </a:p>
          <a:p>
            <a:r>
              <a:rPr lang="pt-BR" dirty="0" smtClean="0"/>
              <a:t>A empresa contratada deve cumprir os requisitos de segurança e saúde no trabalho especificados pela contratante, por esta e pelas demais Normas Regulamentadoras.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20.16.3.2</a:t>
            </a:r>
          </a:p>
          <a:p>
            <a:r>
              <a:rPr lang="pt-BR" dirty="0" smtClean="0"/>
              <a:t>A empresa contratada deve assegurar a participação dos seus empregados nas capacitações em segurança e saúde no trabalho promovidas pela contratante, assim como deve providenciar outras capacitações específicas que se façam necessárias.</a:t>
            </a:r>
          </a:p>
          <a:p>
            <a:endParaRPr lang="pt-BR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260648"/>
            <a:ext cx="7772400" cy="2053927"/>
          </a:xfrm>
        </p:spPr>
        <p:txBody>
          <a:bodyPr>
            <a:noAutofit/>
          </a:bodyPr>
          <a:lstStyle/>
          <a:p>
            <a:pPr algn="ctr"/>
            <a:r>
              <a:rPr lang="pt-BR" sz="5000" b="1" dirty="0" smtClean="0"/>
              <a:t>Tanque de líquidos inflamáveis no interior de edifícios</a:t>
            </a:r>
            <a:endParaRPr lang="pt-BR" sz="500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20.17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20.17.1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Os tanques para armazenamento de líquidos inflamáveis somente poderão ser instalados no interior dos edifícios sob a forma de tanque enterrado e destinados somente a óleo diesel.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20.17.2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539552" y="1268760"/>
            <a:ext cx="8147248" cy="5589240"/>
          </a:xfrm>
        </p:spPr>
        <p:txBody>
          <a:bodyPr>
            <a:normAutofit/>
          </a:bodyPr>
          <a:lstStyle/>
          <a:p>
            <a:r>
              <a:rPr lang="pt-BR" sz="2800" dirty="0" smtClean="0"/>
              <a:t>Excetuam-se da aplicação do item 20.17.1 os tanques de superfície que armazenem óleo diesel destinados à alimentação de motores utilizados para a geração de energia elétrica em situações de emergência ou para o funcionamento das bombas de pressurização da rede de água para combate a incêndios, nos casos em que seja comprovada a impossibilidade de instalá-lo enterrado ou fora da projeção horizontal do edifício.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20.17.2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539552" y="1268760"/>
            <a:ext cx="8147248" cy="5589240"/>
          </a:xfrm>
        </p:spPr>
        <p:txBody>
          <a:bodyPr>
            <a:normAutofit fontScale="85000" lnSpcReduction="20000"/>
          </a:bodyPr>
          <a:lstStyle/>
          <a:p>
            <a:r>
              <a:rPr lang="pt-BR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20.17.2.1</a:t>
            </a:r>
          </a:p>
          <a:p>
            <a:r>
              <a:rPr lang="pt-BR" sz="2000" dirty="0" smtClean="0"/>
              <a:t>A instalação do tanque no interior do edifício deve ser precedida de Projeto e de Análise Preliminar de Perigos/Riscos (APP/APR), ambos elaborados por profissional habilitado, contemplando os aspectos de segurança, saúde e meio ambiente previstos nas Normas Regulamentadoras, normas técnicas nacionais e, na ausência ou omissão destas, nas normas internacionais, bem como nas demais regulamentações pertinentes, e deve obedecer aos seguintes critérios:</a:t>
            </a:r>
          </a:p>
          <a:p>
            <a:r>
              <a:rPr lang="pt-BR" sz="2000" dirty="0" smtClean="0"/>
              <a:t>a) localizar-se no pavimento térreo, subsolo ou pilotis, em área exclusivamente destinada para tal fim;</a:t>
            </a:r>
          </a:p>
          <a:p>
            <a:r>
              <a:rPr lang="pt-BR" sz="2000" dirty="0" smtClean="0"/>
              <a:t>b) deve dispor de sistema de contenção de vazamentos:</a:t>
            </a:r>
          </a:p>
          <a:p>
            <a:r>
              <a:rPr lang="pt-BR" sz="2000" dirty="0" smtClean="0"/>
              <a:t>c) deve conter até 3 tanques separados entre si e do restante da edificação por paredes resistentes ao fogo por no mínimo 2 horas e porta do tipo </a:t>
            </a:r>
            <a:r>
              <a:rPr lang="pt-BR" sz="2000" dirty="0" err="1" smtClean="0"/>
              <a:t>corta-fogo</a:t>
            </a:r>
            <a:r>
              <a:rPr lang="pt-BR" sz="2000" dirty="0" smtClean="0"/>
              <a:t>;</a:t>
            </a:r>
          </a:p>
          <a:p>
            <a:r>
              <a:rPr lang="pt-BR" sz="2000" dirty="0" smtClean="0"/>
              <a:t>d) possuir volume total de armazenagem de no máximo 3.000 litros, em cada tanque;</a:t>
            </a:r>
          </a:p>
          <a:p>
            <a:r>
              <a:rPr lang="pt-BR" sz="2000" dirty="0" smtClean="0"/>
              <a:t>e) possuir aprovação pela autoridade competente;</a:t>
            </a:r>
          </a:p>
          <a:p>
            <a:r>
              <a:rPr lang="pt-BR" sz="2000" dirty="0" smtClean="0"/>
              <a:t>f) os tanques devem ser metálicos;</a:t>
            </a:r>
          </a:p>
          <a:p>
            <a:r>
              <a:rPr lang="pt-BR" sz="2000" dirty="0" smtClean="0"/>
              <a:t>g) possuir sistemas automáticos de detecção e combate a incêndios, bem como saídas de emergência dimensionadas conforme normas técnicas;</a:t>
            </a:r>
          </a:p>
          <a:p>
            <a:r>
              <a:rPr lang="pt-BR" sz="2000" dirty="0" smtClean="0"/>
              <a:t>h) os tanques devem estar localizados de forma a não bloquear, em caso de emergência, o acesso às saídas de emergência e aos sistemas de segurança contra incêndio;</a:t>
            </a:r>
          </a:p>
          <a:p>
            <a:r>
              <a:rPr lang="pt-BR" sz="2000" dirty="0" smtClean="0"/>
              <a:t>i) os tanques devem ser protegidos contra vibração, danos físicos e da proximidade de equipamentos ou dutos geradores de calor;</a:t>
            </a:r>
          </a:p>
          <a:p>
            <a:r>
              <a:rPr lang="pt-BR" sz="2000" dirty="0" smtClean="0"/>
              <a:t>j) a estrutura da edificação deve ser protegida para suportar um eventual incêndio originado nos locais que abrigam os tanques;</a:t>
            </a:r>
          </a:p>
          <a:p>
            <a:r>
              <a:rPr lang="pt-BR" sz="2000" dirty="0" smtClean="0"/>
              <a:t>k) devem ser adotadas as medidas necessárias para garantir a ventilação dos tanques para alívio de pressão, bem como para a operação segura de abastecimento e destinação dos gases produzidos pelos motores à combustão.</a:t>
            </a:r>
          </a:p>
          <a:p>
            <a:endParaRPr lang="pt-BR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400" b="1" dirty="0" smtClean="0"/>
              <a:t>20.17.2</a:t>
            </a:r>
            <a:endParaRPr lang="pt-BR" sz="5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20.17.2.2</a:t>
            </a:r>
          </a:p>
          <a:p>
            <a:r>
              <a:rPr lang="pt-BR" sz="2800" dirty="0" smtClean="0"/>
              <a:t>O responsável pela segurança do edifício deve designar responsável técnico pela instalação, operação, inspeção e manutenção, bem como pela supervisão dos procedimentos de segurança no processo de abastecimento do tanque.</a:t>
            </a:r>
          </a:p>
          <a:p>
            <a:endParaRPr lang="pt-BR" sz="2800" dirty="0" smtClean="0"/>
          </a:p>
          <a:p>
            <a:r>
              <a:rPr lang="pt-BR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20.17.2.3</a:t>
            </a:r>
          </a:p>
          <a:p>
            <a:r>
              <a:rPr lang="pt-BR" sz="2800" dirty="0" smtClean="0"/>
              <a:t> Os trabalhadores envolvidos nas atividades de operação, inspeção, manutenção e abastecimento do tanque devem ser capacitados com curso Intermediário, conforme Anexo II.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20.17.3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Aplica-se para tanques enterrados o disposto no item 20.17.2.1, caput, alíneas ″b″, ″e″, ″f″, ″g″, ″h″, ″i″, ″j″ e ″k″, item 20.17.2.2 e 20.17.2.3, bem como o previsto nas normas técnicas nacionais e, na sua ausência ou omissão, nas normas técnicas internacionais.</a:t>
            </a:r>
          </a:p>
          <a:p>
            <a:endParaRPr lang="pt-BR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Desativação da instalação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20.18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20.18.1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Cessadas as atividades da instalação, o empregador deve adotar os procedimentos necessários para a sua</a:t>
            </a:r>
          </a:p>
          <a:p>
            <a:r>
              <a:rPr lang="pt-BR" dirty="0" smtClean="0"/>
              <a:t>desativação.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20.18.2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No processo de desativação das instalações de extração, produção, armazenagem, transferência, manuseio e manipulação de inflamáveis e líquidos combustíveis, devem ser observados os aspectos de segurança, saúde e meio ambiente previstos nas Normas Regulamentadoras, normas técnicas nacionais e, na ausência ou omissão destas, nas normas internacionais, bem como nas demais regulamentações pertinentes em vigor.</a:t>
            </a:r>
          </a:p>
          <a:p>
            <a:endParaRPr lang="pt-BR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Prontuário da Instalação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20.19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20.19.1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sz="3000" dirty="0" smtClean="0"/>
              <a:t>O Prontuário da instalação deve ser organizado, mantido e atualizado pelo empregador e constituído pela seguinte documentação:</a:t>
            </a:r>
          </a:p>
          <a:p>
            <a:r>
              <a:rPr lang="pt-BR" dirty="0" smtClean="0"/>
              <a:t>a) Projeto da Instalação;</a:t>
            </a:r>
          </a:p>
          <a:p>
            <a:r>
              <a:rPr lang="pt-BR" dirty="0" smtClean="0"/>
              <a:t>b) Procedimentos Operacionais;</a:t>
            </a:r>
          </a:p>
          <a:p>
            <a:r>
              <a:rPr lang="pt-BR" dirty="0" smtClean="0"/>
              <a:t>c) Plano de Inspeção e Manutenção;</a:t>
            </a:r>
          </a:p>
          <a:p>
            <a:r>
              <a:rPr lang="pt-BR" dirty="0" smtClean="0"/>
              <a:t>d) Análise de Riscos;</a:t>
            </a:r>
          </a:p>
          <a:p>
            <a:r>
              <a:rPr lang="pt-BR" dirty="0" smtClean="0"/>
              <a:t>e) Plano de prevenção e controle de vazamentos, derramamentos, incêndios e explosões e identificação das fontes de emissões fugitivas;</a:t>
            </a:r>
          </a:p>
          <a:p>
            <a:r>
              <a:rPr lang="pt-BR" dirty="0" smtClean="0"/>
              <a:t>f) Certificados de capacitação dos trabalhadores;</a:t>
            </a:r>
          </a:p>
          <a:p>
            <a:r>
              <a:rPr lang="pt-BR" dirty="0" smtClean="0"/>
              <a:t>g) Análise de Acidentes;</a:t>
            </a:r>
          </a:p>
          <a:p>
            <a:r>
              <a:rPr lang="pt-BR" dirty="0" smtClean="0"/>
              <a:t>h) Plano de Resposta a Emergências.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20.19.2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800" dirty="0" smtClean="0"/>
              <a:t>O Prontuário das instalações classe I devem conter um índice e ser constituído em documento único.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20.19.2.1</a:t>
            </a:r>
          </a:p>
          <a:p>
            <a:r>
              <a:rPr lang="pt-BR" dirty="0" smtClean="0"/>
              <a:t>Os documentos do Prontuário das instalações classes II ou III podem estar separados, desde que seja mencionado no índice a localização destes na empresa e o respectivo responsável.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20.19.3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800" dirty="0" smtClean="0"/>
              <a:t>O Prontuário da Instalação deve estar disponível às autoridades competentes, bem como para consulta aos trabalhadores e seus representantes.</a:t>
            </a:r>
          </a:p>
          <a:p>
            <a:endParaRPr lang="pt-BR" dirty="0" smtClean="0"/>
          </a:p>
          <a:p>
            <a:r>
              <a:rPr lang="pt-B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20.19.3.1</a:t>
            </a:r>
          </a:p>
          <a:p>
            <a:r>
              <a:rPr lang="pt-BR" dirty="0" smtClean="0"/>
              <a:t>As análises de riscos devem estar disponíveis para consulta aos trabalhadores e seus representantes, exceto nos aspectos ou partes que envolvam informações comerciais confidenciais.</a:t>
            </a:r>
          </a:p>
          <a:p>
            <a:endParaRPr lang="pt-BR" dirty="0"/>
          </a:p>
        </p:txBody>
      </p:sp>
      <p:pic>
        <p:nvPicPr>
          <p:cNvPr id="4" name="Picture 2" descr="Fogo, Recreação, Chama, Festa, Madeira, Registo, Queima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70092" y="5705872"/>
            <a:ext cx="973908" cy="115212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Disposições finais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20.20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20.20.1 </a:t>
            </a:r>
            <a:endParaRPr lang="pt-BR" b="1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Quando em uma atividade de extração, produção, armazenamento, manuseio e manipulação de inflamáveis e líquidos combustíveis for caracterizada situação de risco grave e iminente aos trabalhadores, o empregador deve adotar as medidas necessárias para a interrupção e a correção da situação.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20.20.2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Os trabalhadores, com base em sua capacitação e experiência, devem interromper suas tarefas, exercendo o direito de recusa, sempre que constatarem evidências de riscos graves e iminentes para sua segurança e saúde ou de outras pessoas, comunicando imediatamente o fato a seu superior hierárquico, que diligenciará as medidas cabíveis.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20.20.3 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Os tanques, vasos e tubulações que armazenem/transportam inflamáveis e líquidos combustíveis devem ser identificados e sinalizados conforme a Norma Regulamentadora n.º 26.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5400" b="1" dirty="0" smtClean="0"/>
              <a:t>20.20.4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Nas operações de soldagem e corte a quente com utilizações de gases inflamáveis, as mangueiras devem possuir mecanismos contra o retrocesso das chamas na saída do cilindro e chegada do maçarico.</a:t>
            </a:r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079612" y="3284984"/>
            <a:ext cx="6984776" cy="3036912"/>
          </a:xfrm>
        </p:spPr>
        <p:txBody>
          <a:bodyPr>
            <a:noAutofit/>
          </a:bodyPr>
          <a:lstStyle/>
          <a:p>
            <a:r>
              <a:rPr lang="pt-BR" sz="4400" dirty="0" smtClean="0">
                <a:latin typeface="Berlin Sans FB Demi" pitchFamily="34" charset="0"/>
              </a:rPr>
              <a:t>“</a:t>
            </a:r>
            <a:r>
              <a:rPr lang="pt-BR" sz="4400" b="0" dirty="0" smtClean="0">
                <a:latin typeface="Berlin Sans FB Demi" pitchFamily="34" charset="0"/>
              </a:rPr>
              <a:t>Conhecer o homem - esta é a base de todo o sucesso. (Charles Chaplin)</a:t>
            </a:r>
            <a:r>
              <a:rPr lang="pt-BR" sz="4400" dirty="0" smtClean="0">
                <a:latin typeface="Berlin Sans FB Demi" pitchFamily="34" charset="0"/>
              </a:rPr>
              <a:t>.”</a:t>
            </a:r>
          </a:p>
        </p:txBody>
      </p:sp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13800" dirty="0" smtClean="0"/>
              <a:t>FIM</a:t>
            </a:r>
            <a:endParaRPr lang="pt-BR" sz="13800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50505"/>
              </a:clrFrom>
              <a:clrTo>
                <a:srgbClr val="050505">
                  <a:alpha val="0"/>
                </a:srgbClr>
              </a:clrTo>
            </a:clrChange>
          </a:blip>
          <a:srcRect b="8176"/>
          <a:stretch>
            <a:fillRect/>
          </a:stretch>
        </p:blipFill>
        <p:spPr bwMode="auto">
          <a:xfrm flipH="1">
            <a:off x="7003684" y="146336"/>
            <a:ext cx="1979712" cy="2836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trimônio Líquido">
  <a:themeElements>
    <a:clrScheme name="Patrimônio Líquid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trimônio Líquido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trimônio Líquido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312</TotalTime>
  <Words>5662</Words>
  <Application>Microsoft Office PowerPoint</Application>
  <PresentationFormat>Apresentação na tela (4:3)</PresentationFormat>
  <Paragraphs>456</Paragraphs>
  <Slides>117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117</vt:i4>
      </vt:variant>
    </vt:vector>
  </HeadingPairs>
  <TitlesOfParts>
    <vt:vector size="118" baseType="lpstr">
      <vt:lpstr>Patrimônio Líquido</vt:lpstr>
      <vt:lpstr>NR 20</vt:lpstr>
      <vt:lpstr>SUMÁRIO</vt:lpstr>
      <vt:lpstr>Introdução</vt:lpstr>
      <vt:lpstr>20.1.1 </vt:lpstr>
      <vt:lpstr>Abrangência</vt:lpstr>
      <vt:lpstr>20.2.1 </vt:lpstr>
      <vt:lpstr>20.2.2 </vt:lpstr>
      <vt:lpstr>Definições</vt:lpstr>
      <vt:lpstr>20.3.1 20.3.2 20.3.3 </vt:lpstr>
      <vt:lpstr>Classificação das Instalações</vt:lpstr>
      <vt:lpstr>20.4.1</vt:lpstr>
      <vt:lpstr>20.4.1.1  20.4.1.2 </vt:lpstr>
      <vt:lpstr>20.4.2 </vt:lpstr>
      <vt:lpstr>Projeto da Instalação</vt:lpstr>
      <vt:lpstr>20.5.1 </vt:lpstr>
      <vt:lpstr>20.5.2 </vt:lpstr>
      <vt:lpstr>20.5.2...</vt:lpstr>
      <vt:lpstr>Segurança na Construção e Montagem</vt:lpstr>
      <vt:lpstr>20.6.1 </vt:lpstr>
      <vt:lpstr>20.6.2 </vt:lpstr>
      <vt:lpstr>20.6.3</vt:lpstr>
      <vt:lpstr>Segurança Operacional</vt:lpstr>
      <vt:lpstr>20.7.1 </vt:lpstr>
      <vt:lpstr>20.7.1.1 </vt:lpstr>
      <vt:lpstr>20.7.2 </vt:lpstr>
      <vt:lpstr>20.7.3 </vt:lpstr>
      <vt:lpstr>20.7.4 </vt:lpstr>
      <vt:lpstr>20.7.5 </vt:lpstr>
      <vt:lpstr>Manutenção e Inspeção das Instalações</vt:lpstr>
      <vt:lpstr>20.8.1</vt:lpstr>
      <vt:lpstr>20.8.2 </vt:lpstr>
      <vt:lpstr>20.8.3 </vt:lpstr>
      <vt:lpstr>20.8.4 </vt:lpstr>
      <vt:lpstr>20.8.5 </vt:lpstr>
      <vt:lpstr>20.8.6 </vt:lpstr>
      <vt:lpstr>20.8.7 </vt:lpstr>
      <vt:lpstr>20.8.8</vt:lpstr>
      <vt:lpstr>20.8.9 </vt:lpstr>
      <vt:lpstr>Inspeção em Segurança e Saúde no Ambiente de Trabalho</vt:lpstr>
      <vt:lpstr>20.9.1 </vt:lpstr>
      <vt:lpstr>20.9.2 </vt:lpstr>
      <vt:lpstr>20.9.3 </vt:lpstr>
      <vt:lpstr>20.9.4</vt:lpstr>
      <vt:lpstr>Análise de Riscos</vt:lpstr>
      <vt:lpstr>20.10.1 </vt:lpstr>
      <vt:lpstr>20.10.2 </vt:lpstr>
      <vt:lpstr>20.10.3 </vt:lpstr>
      <vt:lpstr>20.10.4 </vt:lpstr>
      <vt:lpstr>20.10.5 </vt:lpstr>
      <vt:lpstr>20.10.6 </vt:lpstr>
      <vt:lpstr>20.10.7 </vt:lpstr>
      <vt:lpstr>Capacitação dos trabalhadores</vt:lpstr>
      <vt:lpstr>20.11.1 </vt:lpstr>
      <vt:lpstr>20.11.2 </vt:lpstr>
      <vt:lpstr>20.11.3 </vt:lpstr>
      <vt:lpstr>20.11.4 </vt:lpstr>
      <vt:lpstr>20.11.5 </vt:lpstr>
      <vt:lpstr>20.11.6 </vt:lpstr>
      <vt:lpstr>20.11.7 </vt:lpstr>
      <vt:lpstr>20.11.8 </vt:lpstr>
      <vt:lpstr>20.11.9 </vt:lpstr>
      <vt:lpstr>20.11.10 </vt:lpstr>
      <vt:lpstr>20.11.11 </vt:lpstr>
      <vt:lpstr>20.11.12 </vt:lpstr>
      <vt:lpstr>20.11.13 </vt:lpstr>
      <vt:lpstr>20.11.14 </vt:lpstr>
      <vt:lpstr>20.11.15 </vt:lpstr>
      <vt:lpstr>20.11.16 </vt:lpstr>
      <vt:lpstr>20.11.17 </vt:lpstr>
      <vt:lpstr>20.11.18 </vt:lpstr>
      <vt:lpstr>20.11.19 </vt:lpstr>
      <vt:lpstr>Prevenção e Controle de Vazamentos Derramamentos, Incêndios, Explosões e Emissões fugitivas</vt:lpstr>
      <vt:lpstr>20.12.1 </vt:lpstr>
      <vt:lpstr>20.12.2 </vt:lpstr>
      <vt:lpstr>20.12.3</vt:lpstr>
      <vt:lpstr>20.12.4 </vt:lpstr>
      <vt:lpstr>20.12.5 </vt:lpstr>
      <vt:lpstr>Controle de fontes de ignição</vt:lpstr>
      <vt:lpstr>20.13.1 </vt:lpstr>
      <vt:lpstr>20.13.2 </vt:lpstr>
      <vt:lpstr>20.13.3 </vt:lpstr>
      <vt:lpstr>20.13.4 </vt:lpstr>
      <vt:lpstr>20.13.5 </vt:lpstr>
      <vt:lpstr>Plano de Resposta a Emergências da Instalação</vt:lpstr>
      <vt:lpstr>20.14.1 </vt:lpstr>
      <vt:lpstr>20.14.2 </vt:lpstr>
      <vt:lpstr>20.14.3 </vt:lpstr>
      <vt:lpstr>20.14.4 </vt:lpstr>
      <vt:lpstr>20.14.5 </vt:lpstr>
      <vt:lpstr>20.14.6 </vt:lpstr>
      <vt:lpstr>20.14.7</vt:lpstr>
      <vt:lpstr>Comunicação de Ocorrências</vt:lpstr>
      <vt:lpstr>20.15.1 </vt:lpstr>
      <vt:lpstr>20.15.2 </vt:lpstr>
      <vt:lpstr>Contratante e Contratadas</vt:lpstr>
      <vt:lpstr>20.16.1 </vt:lpstr>
      <vt:lpstr>20.16.2 </vt:lpstr>
      <vt:lpstr>20.16.3 </vt:lpstr>
      <vt:lpstr>Tanque de líquidos inflamáveis no interior de edifícios</vt:lpstr>
      <vt:lpstr>20.17.1 </vt:lpstr>
      <vt:lpstr>20.17.2</vt:lpstr>
      <vt:lpstr>20.17.2</vt:lpstr>
      <vt:lpstr>20.17.2</vt:lpstr>
      <vt:lpstr>20.17.3 </vt:lpstr>
      <vt:lpstr>Desativação da instalação</vt:lpstr>
      <vt:lpstr>20.18.1 </vt:lpstr>
      <vt:lpstr>20.18.2 </vt:lpstr>
      <vt:lpstr>Prontuário da Instalação</vt:lpstr>
      <vt:lpstr>20.19.1 </vt:lpstr>
      <vt:lpstr>20.19.2 </vt:lpstr>
      <vt:lpstr>20.19.3 </vt:lpstr>
      <vt:lpstr>Disposições finais</vt:lpstr>
      <vt:lpstr>20.20.1 </vt:lpstr>
      <vt:lpstr>20.20.2 </vt:lpstr>
      <vt:lpstr>20.20.3 </vt:lpstr>
      <vt:lpstr>20.20.4</vt:lpstr>
      <vt:lpstr>FIM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NR 20</dc:title>
  <dc:creator>Cliente</dc:creator>
  <cp:lastModifiedBy>Cliente</cp:lastModifiedBy>
  <cp:revision>119</cp:revision>
  <dcterms:created xsi:type="dcterms:W3CDTF">2014-11-21T16:31:38Z</dcterms:created>
  <dcterms:modified xsi:type="dcterms:W3CDTF">2014-11-22T05:07:06Z</dcterms:modified>
</cp:coreProperties>
</file>