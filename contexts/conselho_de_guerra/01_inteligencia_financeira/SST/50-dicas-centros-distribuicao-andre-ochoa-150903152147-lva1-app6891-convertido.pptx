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4116" y="1212278"/>
            <a:ext cx="8535766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40683" y="3602774"/>
            <a:ext cx="4062632" cy="136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1041400"/>
          </a:xfrm>
          <a:custGeom>
            <a:avLst/>
            <a:gdLst/>
            <a:ahLst/>
            <a:cxnLst/>
            <a:rect l="l" t="t" r="r" b="b"/>
            <a:pathLst>
              <a:path w="9144000" h="1041400">
                <a:moveTo>
                  <a:pt x="0" y="1040892"/>
                </a:moveTo>
                <a:lnTo>
                  <a:pt x="9144000" y="1040892"/>
                </a:lnTo>
                <a:lnTo>
                  <a:pt x="9144000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4146803"/>
            <a:ext cx="9144000" cy="2382520"/>
          </a:xfrm>
          <a:custGeom>
            <a:avLst/>
            <a:gdLst/>
            <a:ahLst/>
            <a:cxnLst/>
            <a:rect l="l" t="t" r="r" b="b"/>
            <a:pathLst>
              <a:path w="9144000" h="2382520">
                <a:moveTo>
                  <a:pt x="0" y="2382012"/>
                </a:moveTo>
                <a:lnTo>
                  <a:pt x="9144000" y="2382012"/>
                </a:lnTo>
                <a:lnTo>
                  <a:pt x="9144000" y="0"/>
                </a:lnTo>
                <a:lnTo>
                  <a:pt x="0" y="0"/>
                </a:lnTo>
                <a:lnTo>
                  <a:pt x="0" y="2382012"/>
                </a:lnTo>
                <a:close/>
              </a:path>
            </a:pathLst>
          </a:custGeom>
          <a:solidFill>
            <a:srgbClr val="000000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6353555" y="4459223"/>
            <a:ext cx="2270759" cy="611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1041400"/>
          </a:xfrm>
          <a:custGeom>
            <a:avLst/>
            <a:gdLst/>
            <a:ahLst/>
            <a:cxnLst/>
            <a:rect l="l" t="t" r="r" b="b"/>
            <a:pathLst>
              <a:path w="9144000" h="1041400">
                <a:moveTo>
                  <a:pt x="0" y="1040892"/>
                </a:moveTo>
                <a:lnTo>
                  <a:pt x="9144000" y="1040892"/>
                </a:lnTo>
                <a:lnTo>
                  <a:pt x="9144000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8445" y="1174102"/>
            <a:ext cx="1224279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9774" y="2626487"/>
            <a:ext cx="6638290" cy="203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hyperlink" Target="http://info.gunnebo.com.br/gatecash-gestao-de-pdv-e-recebimento" TargetMode="External"/><Relationship Id="rId4" Type="http://schemas.openxmlformats.org/officeDocument/2006/relationships/image" Target="../media/image3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jpg"/><Relationship Id="rId4" Type="http://schemas.openxmlformats.org/officeDocument/2006/relationships/image" Target="../media/image3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Relationship Id="rId3" Type="http://schemas.openxmlformats.org/officeDocument/2006/relationships/image" Target="../media/image51.png"/><Relationship Id="rId4" Type="http://schemas.openxmlformats.org/officeDocument/2006/relationships/hyperlink" Target="http://www.gunnebo.com.br/nossa-oferta/seguranca-eletronica/cftv/TUBcamera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image" Target="../media/image53.jpg"/><Relationship Id="rId4" Type="http://schemas.openxmlformats.org/officeDocument/2006/relationships/image" Target="../media/image5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5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3" Type="http://schemas.openxmlformats.org/officeDocument/2006/relationships/image" Target="../media/image60.jpg"/><Relationship Id="rId4" Type="http://schemas.openxmlformats.org/officeDocument/2006/relationships/image" Target="../media/image6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Relationship Id="rId3" Type="http://schemas.openxmlformats.org/officeDocument/2006/relationships/image" Target="../media/image6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Relationship Id="rId4" Type="http://schemas.openxmlformats.org/officeDocument/2006/relationships/hyperlink" Target="http://www.gunnebo.com.br/nossa-oferta/monitoramento-servicos/monitoramento-de-seguranca-eletronica/Monitoramento%2024h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gunnebo.com.br/" TargetMode="Externa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31808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65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02055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DE </a:t>
            </a:r>
            <a:r>
              <a:rPr dirty="0" spc="-75"/>
              <a:t>SEGURANÇA </a:t>
            </a:r>
            <a:r>
              <a:rPr dirty="0" spc="-335"/>
              <a:t>E  </a:t>
            </a:r>
            <a:r>
              <a:rPr dirty="0" spc="-145"/>
              <a:t>PREVENÇÃO </a:t>
            </a:r>
            <a:r>
              <a:rPr dirty="0" spc="-114"/>
              <a:t>DE </a:t>
            </a:r>
            <a:r>
              <a:rPr dirty="0" spc="-140"/>
              <a:t>PERDAS</a:t>
            </a:r>
            <a:r>
              <a:rPr dirty="0" spc="-930"/>
              <a:t> </a:t>
            </a:r>
            <a:r>
              <a:rPr dirty="0" spc="130"/>
              <a:t>EM  </a:t>
            </a:r>
            <a:r>
              <a:rPr dirty="0" spc="-165"/>
              <a:t>CENTROS </a:t>
            </a:r>
            <a:r>
              <a:rPr dirty="0" spc="-114"/>
              <a:t>DE</a:t>
            </a:r>
            <a:r>
              <a:rPr dirty="0" spc="-615"/>
              <a:t> </a:t>
            </a:r>
            <a:r>
              <a:rPr dirty="0" spc="-90"/>
              <a:t>DISTRIBUIÇÃO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4163" y="844854"/>
            <a:ext cx="6520815" cy="2006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0" spc="-470" i="0">
                <a:solidFill>
                  <a:srgbClr val="FFFFFF"/>
                </a:solidFill>
                <a:latin typeface="Trebuchet MS"/>
                <a:cs typeface="Trebuchet MS"/>
              </a:rPr>
              <a:t>50</a:t>
            </a:r>
            <a:r>
              <a:rPr dirty="0" sz="13000" spc="-1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0" spc="-160" i="0">
                <a:solidFill>
                  <a:srgbClr val="FFFFFF"/>
                </a:solidFill>
                <a:latin typeface="Trebuchet MS"/>
                <a:cs typeface="Trebuchet MS"/>
              </a:rPr>
              <a:t>DICAS</a:t>
            </a:r>
            <a:endParaRPr sz="130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04316" y="1094232"/>
            <a:ext cx="7160895" cy="0"/>
          </a:xfrm>
          <a:custGeom>
            <a:avLst/>
            <a:gdLst/>
            <a:ahLst/>
            <a:cxnLst/>
            <a:rect l="l" t="t" r="r" b="b"/>
            <a:pathLst>
              <a:path w="7160895" h="0">
                <a:moveTo>
                  <a:pt x="0" y="0"/>
                </a:moveTo>
                <a:lnTo>
                  <a:pt x="7160653" y="0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4316" y="4971288"/>
            <a:ext cx="7160895" cy="0"/>
          </a:xfrm>
          <a:custGeom>
            <a:avLst/>
            <a:gdLst/>
            <a:ahLst/>
            <a:cxnLst/>
            <a:rect l="l" t="t" r="r" b="b"/>
            <a:pathLst>
              <a:path w="7160895" h="0">
                <a:moveTo>
                  <a:pt x="0" y="0"/>
                </a:moveTo>
                <a:lnTo>
                  <a:pt x="7160653" y="0"/>
                </a:lnTo>
              </a:path>
            </a:pathLst>
          </a:custGeom>
          <a:ln w="579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82428" y="5035105"/>
            <a:ext cx="2205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0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2400" spc="-175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2400" spc="-2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80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86098" y="3939806"/>
            <a:ext cx="19697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70" b="1" i="1">
                <a:latin typeface="Arial"/>
                <a:cs typeface="Arial"/>
              </a:rPr>
              <a:t>Portaria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738878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38796" y="1847938"/>
            <a:ext cx="11252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5" b="1" i="1">
                <a:latin typeface="Arial"/>
                <a:cs typeface="Arial"/>
              </a:rPr>
              <a:t>Portaria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2731" y="2944367"/>
            <a:ext cx="790956" cy="790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21027" y="3037014"/>
            <a:ext cx="6939280" cy="2209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3705" indent="-421005">
              <a:lnSpc>
                <a:spcPts val="2355"/>
              </a:lnSpc>
              <a:buSzPct val="177777"/>
              <a:buFont typeface="Trebuchet MS"/>
              <a:buAutoNum type="arabicPeriod"/>
              <a:tabLst>
                <a:tab pos="434340" algn="l"/>
              </a:tabLst>
            </a:pPr>
            <a:r>
              <a:rPr dirty="0" baseline="3086" sz="2700" spc="-232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baseline="3086" sz="2700" spc="-60">
                <a:solidFill>
                  <a:srgbClr val="FFFFFF"/>
                </a:solidFill>
                <a:latin typeface="Arial"/>
                <a:cs typeface="Arial"/>
              </a:rPr>
              <a:t>evitar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golpes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dirty="0" baseline="3086" sz="2700" spc="-82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chamado “Cavalo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97">
                <a:solidFill>
                  <a:srgbClr val="FFFFFF"/>
                </a:solidFill>
                <a:latin typeface="Arial"/>
                <a:cs typeface="Arial"/>
              </a:rPr>
              <a:t>Troia”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recomenda-se</a:t>
            </a:r>
            <a:endParaRPr baseline="3086" sz="2700">
              <a:latin typeface="Arial"/>
              <a:cs typeface="Arial"/>
            </a:endParaRPr>
          </a:p>
          <a:p>
            <a:pPr marL="433705">
              <a:lnSpc>
                <a:spcPts val="1975"/>
              </a:lnSpc>
            </a:pP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caminhões, antes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acessarem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estabelecimento,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entrem</a:t>
            </a:r>
            <a:endParaRPr sz="1800">
              <a:latin typeface="Arial"/>
              <a:cs typeface="Arial"/>
            </a:endParaRPr>
          </a:p>
          <a:p>
            <a:pPr marL="433705">
              <a:lnSpc>
                <a:spcPct val="100000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marcha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ré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baú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aberto;</a:t>
            </a:r>
            <a:endParaRPr sz="1800">
              <a:latin typeface="Arial"/>
              <a:cs typeface="Arial"/>
            </a:endParaRPr>
          </a:p>
          <a:p>
            <a:pPr marL="433705" indent="-421005">
              <a:lnSpc>
                <a:spcPct val="100000"/>
              </a:lnSpc>
              <a:spcBef>
                <a:spcPts val="760"/>
              </a:spcBef>
              <a:buSzPct val="177777"/>
              <a:buFont typeface="Trebuchet MS"/>
              <a:buAutoNum type="arabicPeriod" startAt="2"/>
              <a:tabLst>
                <a:tab pos="434340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cabine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ser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revistada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visualmente;</a:t>
            </a:r>
            <a:endParaRPr sz="1800">
              <a:latin typeface="Arial"/>
              <a:cs typeface="Arial"/>
            </a:endParaRPr>
          </a:p>
          <a:p>
            <a:pPr marL="433705" marR="5080" indent="-421005">
              <a:lnSpc>
                <a:spcPct val="88500"/>
              </a:lnSpc>
              <a:spcBef>
                <a:spcPts val="919"/>
              </a:spcBef>
              <a:buSzPct val="177777"/>
              <a:buFont typeface="Trebuchet MS"/>
              <a:buAutoNum type="arabicPeriod" startAt="2"/>
              <a:tabLst>
                <a:tab pos="434340" algn="l"/>
              </a:tabLst>
            </a:pP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período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noturno,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acender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luz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interna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cabine 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deixar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faróis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luz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baixa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facilitar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identificação;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1027" y="3037014"/>
            <a:ext cx="6557645" cy="2757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3705" indent="-421005">
              <a:lnSpc>
                <a:spcPts val="2355"/>
              </a:lnSpc>
              <a:buSzPct val="177777"/>
              <a:buFont typeface="Trebuchet MS"/>
              <a:buAutoNum type="arabicPeriod" startAt="4"/>
              <a:tabLst>
                <a:tab pos="434340" algn="l"/>
              </a:tabLst>
            </a:pP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Nos </a:t>
            </a:r>
            <a:r>
              <a:rPr dirty="0" baseline="3086" sz="2700" spc="-225">
                <a:solidFill>
                  <a:srgbClr val="FFFFFF"/>
                </a:solidFill>
                <a:latin typeface="Arial"/>
                <a:cs typeface="Arial"/>
              </a:rPr>
              <a:t>casos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caminhões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baseline="3086" sz="2700" spc="-179">
                <a:solidFill>
                  <a:srgbClr val="FFFFFF"/>
                </a:solidFill>
                <a:latin typeface="Arial"/>
                <a:cs typeface="Arial"/>
              </a:rPr>
              <a:t>chegam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lacrados </a:t>
            </a:r>
            <a:r>
              <a:rPr dirty="0" baseline="3086" sz="2700" spc="-82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baseline="3086" sz="2700" spc="9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fornecedor,</a:t>
            </a:r>
            <a:endParaRPr baseline="3086" sz="2700">
              <a:latin typeface="Arial"/>
              <a:cs typeface="Arial"/>
            </a:endParaRPr>
          </a:p>
          <a:p>
            <a:pPr marL="433705">
              <a:lnSpc>
                <a:spcPts val="1975"/>
              </a:lnSpc>
            </a:pP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antes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mesmo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adentrar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estabelecimento,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433705" marR="5080">
              <a:lnSpc>
                <a:spcPct val="100000"/>
              </a:lnSpc>
            </a:pP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conferir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lacre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bate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número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descrito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 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nota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fiscal.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Importante: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número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estar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impresso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nota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não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escrito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caneta. </a:t>
            </a:r>
            <a:r>
              <a:rPr dirty="0" sz="1800" spc="-185">
                <a:solidFill>
                  <a:srgbClr val="FFFFFF"/>
                </a:solidFill>
                <a:latin typeface="Arial"/>
                <a:cs typeface="Arial"/>
              </a:rPr>
              <a:t>Caso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isto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ocorra,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solicitar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ao 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deslacrar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caminhão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abrir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baú,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antes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entrar;</a:t>
            </a:r>
            <a:endParaRPr sz="1800">
              <a:latin typeface="Arial"/>
              <a:cs typeface="Arial"/>
            </a:endParaRPr>
          </a:p>
          <a:p>
            <a:pPr algn="just" marL="433705" marR="394335" indent="-421005">
              <a:lnSpc>
                <a:spcPct val="93900"/>
              </a:lnSpc>
              <a:spcBef>
                <a:spcPts val="995"/>
              </a:spcBef>
              <a:buSzPct val="177777"/>
              <a:buFont typeface="Trebuchet MS"/>
              <a:buAutoNum type="arabicPeriod" startAt="5"/>
              <a:tabLst>
                <a:tab pos="434340" algn="l"/>
              </a:tabLst>
            </a:pP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Após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conferência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externa,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somente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entrar 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junto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ao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caminhão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seguir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espera. </a:t>
            </a:r>
            <a:r>
              <a:rPr dirty="0" sz="1800" spc="-204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ajudantes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deverão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descer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identificar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portaria;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3963" y="2906267"/>
            <a:ext cx="868680" cy="867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38796" y="1847938"/>
            <a:ext cx="11252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5" b="1" i="1">
                <a:latin typeface="Arial"/>
                <a:cs typeface="Arial"/>
              </a:rPr>
              <a:t>Portaria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1027" y="3037014"/>
            <a:ext cx="6469380" cy="3032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3705" indent="-421005">
              <a:lnSpc>
                <a:spcPts val="2355"/>
              </a:lnSpc>
              <a:buSzPct val="177777"/>
              <a:buFont typeface="Trebuchet MS"/>
              <a:buAutoNum type="arabicPeriod" startAt="6"/>
              <a:tabLst>
                <a:tab pos="434340" algn="l"/>
              </a:tabLst>
            </a:pP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baseline="3086" sz="2700" spc="-165">
                <a:solidFill>
                  <a:srgbClr val="FFFFFF"/>
                </a:solidFill>
                <a:latin typeface="Arial"/>
                <a:cs typeface="Arial"/>
              </a:rPr>
              <a:t>chamados </a:t>
            </a:r>
            <a:r>
              <a:rPr dirty="0" baseline="3086" sz="2700" spc="-97">
                <a:solidFill>
                  <a:srgbClr val="FFFFFF"/>
                </a:solidFill>
                <a:latin typeface="Arial"/>
                <a:cs typeface="Arial"/>
              </a:rPr>
              <a:t>“chapas” </a:t>
            </a:r>
            <a:r>
              <a:rPr dirty="0" baseline="3086" sz="2700" spc="-270">
                <a:solidFill>
                  <a:srgbClr val="FFFFFF"/>
                </a:solidFill>
                <a:latin typeface="Arial"/>
                <a:cs typeface="Arial"/>
              </a:rPr>
              <a:t>NÃO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acessem</a:t>
            </a:r>
            <a:r>
              <a:rPr dirty="0" baseline="3086" sz="2700" spc="8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254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baseline="3086" sz="2700">
              <a:latin typeface="Arial"/>
              <a:cs typeface="Arial"/>
            </a:endParaRPr>
          </a:p>
          <a:p>
            <a:pPr marL="433705">
              <a:lnSpc>
                <a:spcPts val="1975"/>
              </a:lnSpc>
            </a:pP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dependências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estabelecimento,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devendo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aguardar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lado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433705">
              <a:lnSpc>
                <a:spcPct val="100000"/>
              </a:lnSpc>
            </a:pP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fora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até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momento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saída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sz="1800" spc="-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caminhão;</a:t>
            </a:r>
            <a:endParaRPr sz="1800">
              <a:latin typeface="Arial"/>
              <a:cs typeface="Arial"/>
            </a:endParaRPr>
          </a:p>
          <a:p>
            <a:pPr marL="433705" marR="40005" indent="-421005">
              <a:lnSpc>
                <a:spcPct val="97900"/>
              </a:lnSpc>
              <a:spcBef>
                <a:spcPts val="840"/>
              </a:spcBef>
              <a:buSzPct val="177777"/>
              <a:buFont typeface="Trebuchet MS"/>
              <a:buAutoNum type="arabicPeriod" startAt="7"/>
              <a:tabLst>
                <a:tab pos="434340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portaria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deverá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realizar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toda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triagem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visitantes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através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identificação eletrônica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(controle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acesso)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expedição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cartão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identificação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foto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registro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computador, 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facilitando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acompanhamento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durante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permanência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nas 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dependências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empresa.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Esta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atitude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situações 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inesperadas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furto/roubo,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invasão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roubo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informações, 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controlando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forma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eficiente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acessos;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3880" y="3008376"/>
            <a:ext cx="675132" cy="675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38796" y="1847938"/>
            <a:ext cx="11252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5" b="1" i="1">
                <a:latin typeface="Arial"/>
                <a:cs typeface="Arial"/>
              </a:rPr>
              <a:t>Portaria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041400"/>
          </a:xfrm>
          <a:custGeom>
            <a:avLst/>
            <a:gdLst/>
            <a:ahLst/>
            <a:cxnLst/>
            <a:rect l="l" t="t" r="r" b="b"/>
            <a:pathLst>
              <a:path w="9144000" h="1041400">
                <a:moveTo>
                  <a:pt x="0" y="1040892"/>
                </a:moveTo>
                <a:lnTo>
                  <a:pt x="9144000" y="1040892"/>
                </a:lnTo>
                <a:lnTo>
                  <a:pt x="9144000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1027" y="3082556"/>
            <a:ext cx="4305300" cy="13055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33705" marR="984885" indent="-421640">
              <a:lnSpc>
                <a:spcPts val="3360"/>
              </a:lnSpc>
              <a:spcBef>
                <a:spcPts val="204"/>
              </a:spcBef>
            </a:pPr>
            <a:r>
              <a:rPr dirty="0" baseline="2604" sz="4800" spc="-434" b="1">
                <a:solidFill>
                  <a:srgbClr val="FFFFFF"/>
                </a:solidFill>
                <a:latin typeface="Trebuchet MS"/>
                <a:cs typeface="Trebuchet MS"/>
              </a:rPr>
              <a:t>8. </a:t>
            </a:r>
            <a:r>
              <a:rPr dirty="0" sz="2800" spc="-33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2800" spc="-105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2800" spc="-15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2800" spc="-125">
                <a:solidFill>
                  <a:srgbClr val="FFFFFF"/>
                </a:solidFill>
                <a:latin typeface="Arial"/>
                <a:cs typeface="Arial"/>
              </a:rPr>
              <a:t>possuir  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monitoramento</a:t>
            </a:r>
            <a:endParaRPr sz="2800">
              <a:latin typeface="Arial"/>
              <a:cs typeface="Arial"/>
            </a:endParaRPr>
          </a:p>
          <a:p>
            <a:pPr marL="433705">
              <a:lnSpc>
                <a:spcPts val="3250"/>
              </a:lnSpc>
            </a:pPr>
            <a:r>
              <a:rPr dirty="0" sz="2800" spc="-45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2800" spc="-185">
                <a:solidFill>
                  <a:srgbClr val="FFFFFF"/>
                </a:solidFill>
                <a:latin typeface="Arial"/>
                <a:cs typeface="Arial"/>
              </a:rPr>
              <a:t>câmeras </a:t>
            </a:r>
            <a:r>
              <a:rPr dirty="0" sz="2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00" spc="-2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70">
                <a:solidFill>
                  <a:srgbClr val="FFFFFF"/>
                </a:solidFill>
                <a:latin typeface="Arial"/>
                <a:cs typeface="Arial"/>
              </a:rPr>
              <a:t>segurança.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500" y="2970276"/>
            <a:ext cx="676656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38796" y="1847938"/>
            <a:ext cx="11252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5" b="1" i="1">
                <a:latin typeface="Arial"/>
                <a:cs typeface="Arial"/>
              </a:rPr>
              <a:t>Portaria</a:t>
            </a:r>
            <a:endParaRPr sz="2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 marR="5080" indent="281305">
              <a:lnSpc>
                <a:spcPts val="5270"/>
              </a:lnSpc>
              <a:spcBef>
                <a:spcPts val="285"/>
              </a:spcBef>
            </a:pPr>
            <a:r>
              <a:rPr dirty="0" spc="-270"/>
              <a:t>Área </a:t>
            </a:r>
            <a:r>
              <a:rPr dirty="0" spc="-310"/>
              <a:t>de </a:t>
            </a:r>
            <a:r>
              <a:rPr dirty="0" spc="-340"/>
              <a:t>espera  </a:t>
            </a:r>
            <a:r>
              <a:rPr dirty="0" spc="-295" i="1"/>
              <a:t>do</a:t>
            </a:r>
            <a:r>
              <a:rPr dirty="0" spc="-365" i="1"/>
              <a:t> </a:t>
            </a:r>
            <a:r>
              <a:rPr dirty="0" spc="-235" i="1"/>
              <a:t>caminhoneiro</a:t>
            </a:r>
          </a:p>
        </p:txBody>
      </p:sp>
      <p:sp>
        <p:nvSpPr>
          <p:cNvPr id="9" name="object 9"/>
          <p:cNvSpPr/>
          <p:nvPr/>
        </p:nvSpPr>
        <p:spPr>
          <a:xfrm>
            <a:off x="1907285" y="5162550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9C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80352" y="1456880"/>
            <a:ext cx="8420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100"/>
              </a:spcBef>
            </a:pPr>
            <a:r>
              <a:rPr dirty="0" sz="1800" spc="-185" b="1" i="1">
                <a:latin typeface="Arial"/>
                <a:cs typeface="Arial"/>
              </a:rPr>
              <a:t>Área </a:t>
            </a:r>
            <a:r>
              <a:rPr dirty="0" sz="1800" spc="-229" b="1" i="1">
                <a:latin typeface="Arial"/>
                <a:cs typeface="Arial"/>
              </a:rPr>
              <a:t>de  </a:t>
            </a:r>
            <a:r>
              <a:rPr dirty="0" sz="1800" spc="-220" b="1" i="1">
                <a:latin typeface="Arial"/>
                <a:cs typeface="Arial"/>
              </a:rPr>
              <a:t>espera</a:t>
            </a:r>
            <a:r>
              <a:rPr dirty="0" sz="1800" spc="-409" b="1" i="1">
                <a:latin typeface="Arial"/>
                <a:cs typeface="Arial"/>
              </a:rPr>
              <a:t> </a:t>
            </a:r>
            <a:r>
              <a:rPr dirty="0" sz="1800" spc="-225" b="1" i="1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8328" y="2003920"/>
            <a:ext cx="1238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70" b="1" i="1">
                <a:latin typeface="Arial"/>
                <a:cs typeface="Arial"/>
              </a:rPr>
              <a:t>c</a:t>
            </a:r>
            <a:r>
              <a:rPr dirty="0" sz="1800" spc="-140" b="1" i="1">
                <a:latin typeface="Arial"/>
                <a:cs typeface="Arial"/>
              </a:rPr>
              <a:t>a</a:t>
            </a:r>
            <a:r>
              <a:rPr dirty="0" sz="1800" spc="-165" b="1" i="1">
                <a:latin typeface="Arial"/>
                <a:cs typeface="Arial"/>
              </a:rPr>
              <a:t>m</a:t>
            </a:r>
            <a:r>
              <a:rPr dirty="0" sz="1800" spc="-140" b="1" i="1">
                <a:latin typeface="Arial"/>
                <a:cs typeface="Arial"/>
              </a:rPr>
              <a:t>i</a:t>
            </a:r>
            <a:r>
              <a:rPr dirty="0" sz="1800" spc="-180" b="1" i="1">
                <a:latin typeface="Arial"/>
                <a:cs typeface="Arial"/>
              </a:rPr>
              <a:t>n</a:t>
            </a:r>
            <a:r>
              <a:rPr dirty="0" sz="1800" spc="-190" b="1" i="1">
                <a:latin typeface="Arial"/>
                <a:cs typeface="Arial"/>
              </a:rPr>
              <a:t>h</a:t>
            </a:r>
            <a:r>
              <a:rPr dirty="0" sz="1800" spc="-229" b="1" i="1">
                <a:latin typeface="Arial"/>
                <a:cs typeface="Arial"/>
              </a:rPr>
              <a:t>o</a:t>
            </a:r>
            <a:r>
              <a:rPr dirty="0" sz="1800" spc="-204" b="1" i="1">
                <a:latin typeface="Arial"/>
                <a:cs typeface="Arial"/>
              </a:rPr>
              <a:t>n</a:t>
            </a:r>
            <a:r>
              <a:rPr dirty="0" sz="1800" spc="-235" b="1" i="1">
                <a:latin typeface="Arial"/>
                <a:cs typeface="Arial"/>
              </a:rPr>
              <a:t>e</a:t>
            </a:r>
            <a:r>
              <a:rPr dirty="0" sz="1800" spc="-145" b="1" i="1">
                <a:latin typeface="Arial"/>
                <a:cs typeface="Arial"/>
              </a:rPr>
              <a:t>i</a:t>
            </a:r>
            <a:r>
              <a:rPr dirty="0" sz="1800" spc="-180" b="1" i="1">
                <a:latin typeface="Arial"/>
                <a:cs typeface="Arial"/>
              </a:rPr>
              <a:t>r</a:t>
            </a:r>
            <a:r>
              <a:rPr dirty="0" sz="1800" spc="-120" b="1" i="1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2949" y="2989525"/>
            <a:ext cx="6641465" cy="2256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421005">
              <a:lnSpc>
                <a:spcPts val="2915"/>
              </a:lnSpc>
              <a:buSzPct val="177777"/>
              <a:buFont typeface="Trebuchet MS"/>
              <a:buAutoNum type="arabicPeriod" startAt="9"/>
              <a:tabLst>
                <a:tab pos="626745" algn="l"/>
              </a:tabLst>
            </a:pPr>
            <a:r>
              <a:rPr dirty="0" baseline="3086" sz="2700" spc="-31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também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deve ser </a:t>
            </a:r>
            <a:r>
              <a:rPr dirty="0" baseline="3086" sz="2700" spc="-60">
                <a:solidFill>
                  <a:srgbClr val="FFFFFF"/>
                </a:solidFill>
                <a:latin typeface="Arial"/>
                <a:cs typeface="Arial"/>
              </a:rPr>
              <a:t>monitorado </a:t>
            </a:r>
            <a:r>
              <a:rPr dirty="0" baseline="3086" sz="2700" spc="-44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baseline="3086" sz="2700" spc="-179">
                <a:solidFill>
                  <a:srgbClr val="FFFFFF"/>
                </a:solidFill>
                <a:latin typeface="Arial"/>
                <a:cs typeface="Arial"/>
              </a:rPr>
              <a:t>câmeras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57">
                <a:solidFill>
                  <a:srgbClr val="FFFFFF"/>
                </a:solidFill>
                <a:latin typeface="Arial"/>
                <a:cs typeface="Arial"/>
              </a:rPr>
              <a:t>segurança;</a:t>
            </a:r>
            <a:endParaRPr baseline="3086" sz="2700">
              <a:latin typeface="Arial"/>
              <a:cs typeface="Arial"/>
            </a:endParaRPr>
          </a:p>
          <a:p>
            <a:pPr marL="626110" marR="238760" indent="-613410">
              <a:lnSpc>
                <a:spcPct val="93900"/>
              </a:lnSpc>
              <a:spcBef>
                <a:spcPts val="620"/>
              </a:spcBef>
              <a:buSzPct val="177777"/>
              <a:buFont typeface="Trebuchet MS"/>
              <a:buAutoNum type="arabicPeriod" startAt="9"/>
              <a:tabLst>
                <a:tab pos="626745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espera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caminhoneiro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conter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banheiros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chuveiros,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assim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evita-se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sejam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utilizados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banheiros 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internos,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proporcionando um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melhor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controle;</a:t>
            </a:r>
            <a:endParaRPr sz="1800">
              <a:latin typeface="Arial"/>
              <a:cs typeface="Arial"/>
            </a:endParaRPr>
          </a:p>
          <a:p>
            <a:pPr marL="626745" marR="5080" indent="-609600">
              <a:lnSpc>
                <a:spcPct val="88500"/>
              </a:lnSpc>
              <a:spcBef>
                <a:spcPts val="1205"/>
              </a:spcBef>
              <a:buSzPct val="177777"/>
              <a:buFont typeface="Trebuchet MS"/>
              <a:buAutoNum type="arabicPeriod" startAt="9"/>
              <a:tabLst>
                <a:tab pos="626745" algn="l"/>
              </a:tabLst>
            </a:pPr>
            <a:r>
              <a:rPr dirty="0" sz="1800" spc="-21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aguardar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chamada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devidamente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trajado,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não 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podendo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ficar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sem</a:t>
            </a: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camisa.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2970276"/>
            <a:ext cx="676656" cy="720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80130" y="3939806"/>
            <a:ext cx="310388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840" b="1" i="1">
                <a:latin typeface="Arial"/>
                <a:cs typeface="Arial"/>
              </a:rPr>
              <a:t>R</a:t>
            </a:r>
            <a:r>
              <a:rPr dirty="0" sz="4400" spc="-490" b="1" i="1">
                <a:latin typeface="Arial"/>
                <a:cs typeface="Arial"/>
              </a:rPr>
              <a:t>e</a:t>
            </a:r>
            <a:r>
              <a:rPr dirty="0" sz="4400" spc="-495" b="1" i="1">
                <a:latin typeface="Arial"/>
                <a:cs typeface="Arial"/>
              </a:rPr>
              <a:t>c</a:t>
            </a:r>
            <a:r>
              <a:rPr dirty="0" sz="4400" spc="-229" b="1" i="1">
                <a:latin typeface="Arial"/>
                <a:cs typeface="Arial"/>
              </a:rPr>
              <a:t>ebime</a:t>
            </a:r>
            <a:r>
              <a:rPr dirty="0" sz="4400" spc="-295" b="1" i="1">
                <a:latin typeface="Arial"/>
                <a:cs typeface="Arial"/>
              </a:rPr>
              <a:t>n</a:t>
            </a:r>
            <a:r>
              <a:rPr dirty="0" sz="4400" spc="150" b="1" i="1">
                <a:latin typeface="Arial"/>
                <a:cs typeface="Arial"/>
              </a:rPr>
              <a:t>t</a:t>
            </a:r>
            <a:r>
              <a:rPr dirty="0" sz="4400" spc="-290" b="1" i="1">
                <a:latin typeface="Arial"/>
                <a:cs typeface="Arial"/>
              </a:rPr>
              <a:t>o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776978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46393" y="1857159"/>
            <a:ext cx="1160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 b="1" i="1">
                <a:latin typeface="Arial"/>
                <a:cs typeface="Arial"/>
              </a:rPr>
              <a:t>Recebimento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075" y="3037014"/>
            <a:ext cx="6347460" cy="2757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12"/>
              <a:tabLst>
                <a:tab pos="626745" algn="l"/>
              </a:tabLst>
            </a:pPr>
            <a:r>
              <a:rPr dirty="0" baseline="3086" sz="2700" spc="-31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baseline="3086" sz="2700" spc="-6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só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poderá </a:t>
            </a: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acessar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baseline="3086" sz="2700" spc="-15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recebimento</a:t>
            </a:r>
            <a:r>
              <a:rPr dirty="0" baseline="3086" sz="2700" spc="-2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72">
                <a:solidFill>
                  <a:srgbClr val="FFFFFF"/>
                </a:solidFill>
                <a:latin typeface="Arial"/>
                <a:cs typeface="Arial"/>
              </a:rPr>
              <a:t>após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autorização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descarregamento;</a:t>
            </a:r>
            <a:endParaRPr sz="1800">
              <a:latin typeface="Arial"/>
              <a:cs typeface="Arial"/>
            </a:endParaRPr>
          </a:p>
          <a:p>
            <a:pPr marL="626110" marR="638175" indent="-613410">
              <a:lnSpc>
                <a:spcPct val="88500"/>
              </a:lnSpc>
              <a:spcBef>
                <a:spcPts val="1200"/>
              </a:spcBef>
              <a:buSzPct val="177777"/>
              <a:buFont typeface="Trebuchet MS"/>
              <a:buAutoNum type="arabicPeriod" startAt="13"/>
              <a:tabLst>
                <a:tab pos="626745" algn="l"/>
              </a:tabLst>
            </a:pP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Todo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descarregamento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ser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acompanhado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colaborador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estabelecimento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(conferente);</a:t>
            </a:r>
            <a:endParaRPr sz="1800">
              <a:latin typeface="Arial"/>
              <a:cs typeface="Arial"/>
            </a:endParaRPr>
          </a:p>
          <a:p>
            <a:pPr marL="626110" marR="5080" indent="-608965">
              <a:lnSpc>
                <a:spcPct val="95900"/>
              </a:lnSpc>
              <a:spcBef>
                <a:spcPts val="920"/>
              </a:spcBef>
              <a:buSzPct val="177777"/>
              <a:buFont typeface="Trebuchet MS"/>
              <a:buAutoNum type="arabicPeriod" startAt="13"/>
              <a:tabLst>
                <a:tab pos="626745" algn="l"/>
              </a:tabLst>
            </a:pP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maior controle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segurança,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deve-se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limitar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acesso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descarregamento,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evitando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motoristas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ajudantes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circulem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pelas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dependências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internas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Distribuição;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019" y="2948939"/>
            <a:ext cx="740664" cy="740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46393" y="1857159"/>
            <a:ext cx="1160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 b="1" i="1">
                <a:latin typeface="Arial"/>
                <a:cs typeface="Arial"/>
              </a:rPr>
              <a:t>Recebimento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075" y="3037014"/>
            <a:ext cx="7066280" cy="3032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15"/>
              <a:tabLst>
                <a:tab pos="626745" algn="l"/>
              </a:tabLst>
            </a:pP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baseline="3086" sz="2700" spc="-82">
                <a:solidFill>
                  <a:srgbClr val="FFFFFF"/>
                </a:solidFill>
                <a:latin typeface="Arial"/>
                <a:cs typeface="Arial"/>
              </a:rPr>
              <a:t>motoristas </a:t>
            </a:r>
            <a:r>
              <a:rPr dirty="0" baseline="3086" sz="2700" spc="-165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ajudantes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não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descarreguem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trajando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chinelos,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boné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sem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camisa,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evitando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ocorram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ct val="100000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acidentes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dificuldades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identificação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casos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furto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roubo;</a:t>
            </a:r>
            <a:endParaRPr sz="1800">
              <a:latin typeface="Arial"/>
              <a:cs typeface="Arial"/>
            </a:endParaRPr>
          </a:p>
          <a:p>
            <a:pPr marL="626110" marR="500380" indent="-613410">
              <a:lnSpc>
                <a:spcPct val="93900"/>
              </a:lnSpc>
              <a:spcBef>
                <a:spcPts val="995"/>
              </a:spcBef>
              <a:buSzPct val="177777"/>
              <a:buFont typeface="Trebuchet MS"/>
              <a:buAutoNum type="arabicPeriod" startAt="16"/>
              <a:tabLst>
                <a:tab pos="626745" algn="l"/>
              </a:tabLst>
            </a:pP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Importante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seguranças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efetuando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rondas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nesta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certificar-se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motoristas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ajudantes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estão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seguindo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as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normas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internas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inibir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furtos;</a:t>
            </a:r>
            <a:endParaRPr sz="1800">
              <a:latin typeface="Arial"/>
              <a:cs typeface="Arial"/>
            </a:endParaRPr>
          </a:p>
          <a:p>
            <a:pPr marL="626110" marR="439420" indent="-608965">
              <a:lnSpc>
                <a:spcPct val="93900"/>
              </a:lnSpc>
              <a:spcBef>
                <a:spcPts val="990"/>
              </a:spcBef>
              <a:buSzPct val="177777"/>
              <a:buFont typeface="Trebuchet MS"/>
              <a:buAutoNum type="arabicPeriod" startAt="16"/>
              <a:tabLst>
                <a:tab pos="626745" algn="l"/>
              </a:tabLst>
            </a:pPr>
            <a:r>
              <a:rPr dirty="0" sz="1800" spc="-21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conferente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deverá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certificar-se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toda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mercadoria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foi 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entregue,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efetuando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conferência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cega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(sem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posse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nota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 fornecedor)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evitar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fraudes;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9188" y="2808928"/>
            <a:ext cx="969060" cy="969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0811" y="2708148"/>
            <a:ext cx="1078865" cy="1078865"/>
          </a:xfrm>
          <a:custGeom>
            <a:avLst/>
            <a:gdLst/>
            <a:ahLst/>
            <a:cxnLst/>
            <a:rect l="l" t="t" r="r" b="b"/>
            <a:pathLst>
              <a:path w="1078865" h="1078864">
                <a:moveTo>
                  <a:pt x="0" y="1078738"/>
                </a:moveTo>
                <a:lnTo>
                  <a:pt x="1078738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46393" y="1857159"/>
            <a:ext cx="1160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 b="1" i="1">
                <a:latin typeface="Arial"/>
                <a:cs typeface="Arial"/>
              </a:rPr>
              <a:t>Recebimento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2919" y="2926079"/>
            <a:ext cx="777240" cy="778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93075" y="3006102"/>
            <a:ext cx="6990080" cy="2114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20"/>
              </a:lnSpc>
              <a:buSzPct val="177777"/>
              <a:buFont typeface="Trebuchet MS"/>
              <a:buAutoNum type="arabicPeriod" startAt="18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conferência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aleatória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pessoa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1860"/>
              </a:lnSpc>
            </a:pP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perdas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carga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já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conferida,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evitando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2075"/>
              </a:lnSpc>
            </a:pP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ocorra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conluio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entre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2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conferente;</a:t>
            </a:r>
            <a:endParaRPr sz="1800">
              <a:latin typeface="Arial"/>
              <a:cs typeface="Arial"/>
            </a:endParaRPr>
          </a:p>
          <a:p>
            <a:pPr marL="626110" marR="109220" indent="-613410">
              <a:lnSpc>
                <a:spcPct val="81700"/>
              </a:lnSpc>
              <a:spcBef>
                <a:spcPts val="1150"/>
              </a:spcBef>
              <a:buSzPct val="177777"/>
              <a:buFont typeface="Trebuchet MS"/>
              <a:buAutoNum type="arabicPeriod" startAt="19"/>
              <a:tabLst>
                <a:tab pos="626745" algn="l"/>
              </a:tabLst>
            </a:pP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Mercadorias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consideradas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Risco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(Produtos </a:t>
            </a:r>
            <a:r>
              <a:rPr dirty="0" sz="1800" spc="-240">
                <a:solidFill>
                  <a:srgbClr val="FFFFFF"/>
                </a:solidFill>
                <a:latin typeface="Arial"/>
                <a:cs typeface="Arial"/>
              </a:rPr>
              <a:t>PAR)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deverão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prioridade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recebimento;</a:t>
            </a:r>
            <a:endParaRPr sz="1800">
              <a:latin typeface="Arial"/>
              <a:cs typeface="Arial"/>
            </a:endParaRPr>
          </a:p>
          <a:p>
            <a:pPr marL="626110" indent="-613410">
              <a:lnSpc>
                <a:spcPct val="100000"/>
              </a:lnSpc>
              <a:spcBef>
                <a:spcPts val="450"/>
              </a:spcBef>
              <a:buSzPct val="177777"/>
              <a:buFont typeface="Trebuchet MS"/>
              <a:buAutoNum type="arabicPeriod" startAt="19"/>
              <a:tabLst>
                <a:tab pos="626745" algn="l"/>
              </a:tabLst>
            </a:pP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Produtos 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PAR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devem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receber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100%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conferência;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46393" y="1857159"/>
            <a:ext cx="1160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 b="1" i="1">
                <a:latin typeface="Arial"/>
                <a:cs typeface="Arial"/>
              </a:rPr>
              <a:t>Recebimento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6565392" y="0"/>
                </a:moveTo>
                <a:lnTo>
                  <a:pt x="0" y="0"/>
                </a:lnTo>
                <a:lnTo>
                  <a:pt x="0" y="836676"/>
                </a:lnTo>
                <a:lnTo>
                  <a:pt x="6565392" y="836676"/>
                </a:lnTo>
                <a:lnTo>
                  <a:pt x="6565392" y="697230"/>
                </a:lnTo>
                <a:lnTo>
                  <a:pt x="7098182" y="647725"/>
                </a:lnTo>
                <a:lnTo>
                  <a:pt x="6565392" y="488061"/>
                </a:lnTo>
                <a:lnTo>
                  <a:pt x="656539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0" y="0"/>
                </a:moveTo>
                <a:lnTo>
                  <a:pt x="3829812" y="0"/>
                </a:lnTo>
                <a:lnTo>
                  <a:pt x="5471160" y="0"/>
                </a:lnTo>
                <a:lnTo>
                  <a:pt x="6565392" y="0"/>
                </a:lnTo>
                <a:lnTo>
                  <a:pt x="6565392" y="488061"/>
                </a:lnTo>
                <a:lnTo>
                  <a:pt x="7098182" y="647725"/>
                </a:lnTo>
                <a:lnTo>
                  <a:pt x="6565392" y="697230"/>
                </a:lnTo>
                <a:lnTo>
                  <a:pt x="6565392" y="836676"/>
                </a:lnTo>
                <a:lnTo>
                  <a:pt x="5471160" y="836676"/>
                </a:lnTo>
                <a:lnTo>
                  <a:pt x="3829812" y="836676"/>
                </a:lnTo>
                <a:lnTo>
                  <a:pt x="0" y="836676"/>
                </a:lnTo>
                <a:lnTo>
                  <a:pt x="0" y="697230"/>
                </a:lnTo>
                <a:lnTo>
                  <a:pt x="0" y="48806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ADA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9004" y="5820495"/>
            <a:ext cx="56749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5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CONHEÇA </a:t>
            </a:r>
            <a:r>
              <a:rPr dirty="0" sz="1800" spc="-16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A </a:t>
            </a:r>
            <a:r>
              <a:rPr dirty="0" sz="1800" spc="-254">
                <a:solidFill>
                  <a:srgbClr val="00ADAE"/>
                </a:solidFill>
                <a:latin typeface="Arial"/>
                <a:cs typeface="Arial"/>
                <a:hlinkClick r:id="rId3"/>
              </a:rPr>
              <a:t>SOLUÇÃO </a:t>
            </a:r>
            <a:r>
              <a:rPr dirty="0" sz="1800" spc="-27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PARA </a:t>
            </a:r>
            <a:r>
              <a:rPr dirty="0" sz="1800" spc="-26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CONTROLE </a:t>
            </a:r>
            <a:r>
              <a:rPr dirty="0" sz="1800" spc="-325">
                <a:solidFill>
                  <a:srgbClr val="00ADAE"/>
                </a:solidFill>
                <a:latin typeface="Arial"/>
                <a:cs typeface="Arial"/>
                <a:hlinkClick r:id="rId3"/>
              </a:rPr>
              <a:t>E </a:t>
            </a:r>
            <a:r>
              <a:rPr dirty="0" sz="1800" spc="-175">
                <a:solidFill>
                  <a:srgbClr val="00ADAE"/>
                </a:solidFill>
                <a:latin typeface="Arial"/>
                <a:cs typeface="Arial"/>
                <a:hlinkClick r:id="rId3"/>
              </a:rPr>
              <a:t>MONITORAMENTO  </a:t>
            </a:r>
            <a:r>
              <a:rPr dirty="0" sz="1800" spc="-26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DE </a:t>
            </a:r>
            <a:r>
              <a:rPr dirty="0" sz="1800" spc="-229">
                <a:solidFill>
                  <a:srgbClr val="00ADAE"/>
                </a:solidFill>
                <a:latin typeface="Arial"/>
                <a:cs typeface="Arial"/>
                <a:hlinkClick r:id="rId3"/>
              </a:rPr>
              <a:t>RECEBIMENTO </a:t>
            </a:r>
            <a:r>
              <a:rPr dirty="0" sz="1800" spc="-26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DE </a:t>
            </a:r>
            <a:r>
              <a:rPr dirty="0" sz="1800" spc="-21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MERCADORIAS:</a:t>
            </a:r>
            <a:r>
              <a:rPr dirty="0" sz="1800" spc="-380">
                <a:solidFill>
                  <a:srgbClr val="00ADAE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1800" spc="-130" b="1">
                <a:solidFill>
                  <a:srgbClr val="00ADAE"/>
                </a:solidFill>
                <a:latin typeface="Trebuchet MS"/>
                <a:cs typeface="Trebuchet MS"/>
                <a:hlinkClick r:id="rId3"/>
              </a:rPr>
              <a:t>GATECASH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3075" y="3037014"/>
            <a:ext cx="6188710" cy="1934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21"/>
              <a:tabLst>
                <a:tab pos="626745" algn="l"/>
              </a:tabLst>
            </a:pP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armazenar </a:t>
            </a: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baseline="3086" sz="2700" spc="-75">
                <a:solidFill>
                  <a:srgbClr val="FFFFFF"/>
                </a:solidFill>
                <a:latin typeface="Arial"/>
                <a:cs typeface="Arial"/>
              </a:rPr>
              <a:t>produtos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44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dirty="0" baseline="3086" sz="2700" spc="-225">
                <a:solidFill>
                  <a:srgbClr val="FFFFFF"/>
                </a:solidFill>
                <a:latin typeface="Arial"/>
                <a:cs typeface="Arial"/>
              </a:rPr>
              <a:t>Risco</a:t>
            </a:r>
            <a:r>
              <a:rPr dirty="0" baseline="3086" sz="2700" spc="-15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em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segregado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das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demais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mercadorias,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controle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ct val="100000"/>
              </a:lnSpc>
            </a:pP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acesso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monitoramento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câmeras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alarmes;</a:t>
            </a:r>
            <a:endParaRPr sz="1800">
              <a:latin typeface="Arial"/>
              <a:cs typeface="Arial"/>
            </a:endParaRPr>
          </a:p>
          <a:p>
            <a:pPr marL="626110" marR="5080" indent="-613410">
              <a:lnSpc>
                <a:spcPct val="93900"/>
              </a:lnSpc>
              <a:spcBef>
                <a:spcPts val="995"/>
              </a:spcBef>
              <a:buSzPct val="177777"/>
              <a:buFont typeface="Trebuchet MS"/>
              <a:buAutoNum type="arabicPeriod" startAt="22"/>
              <a:tabLst>
                <a:tab pos="626745" algn="l"/>
              </a:tabLst>
            </a:pP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Após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recebimento,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mercadorias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devem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ser 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armazenadas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imediato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nas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estruturas internas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Distribuição,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evitando 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furto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dirty="0" sz="1800" spc="-2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degustação.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5572" y="2851404"/>
            <a:ext cx="975360" cy="975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54451" y="3939806"/>
            <a:ext cx="243332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10" b="1" i="1">
                <a:latin typeface="Arial"/>
                <a:cs typeface="Arial"/>
              </a:rPr>
              <a:t>E</a:t>
            </a:r>
            <a:r>
              <a:rPr dirty="0" sz="4400" spc="-300" b="1" i="1">
                <a:latin typeface="Arial"/>
                <a:cs typeface="Arial"/>
              </a:rPr>
              <a:t>xpedi</a:t>
            </a:r>
            <a:r>
              <a:rPr dirty="0" sz="4400" spc="-320" b="1" i="1">
                <a:latin typeface="Arial"/>
                <a:cs typeface="Arial"/>
              </a:rPr>
              <a:t>ç</a:t>
            </a:r>
            <a:r>
              <a:rPr dirty="0" sz="4400" spc="-175" b="1" i="1">
                <a:latin typeface="Arial"/>
                <a:cs typeface="Arial"/>
              </a:rPr>
              <a:t>ão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776978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71437" y="1857159"/>
            <a:ext cx="898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75" b="1" i="1">
                <a:latin typeface="Arial"/>
                <a:cs typeface="Arial"/>
              </a:rPr>
              <a:t>E</a:t>
            </a:r>
            <a:r>
              <a:rPr dirty="0" sz="1800" spc="-165" b="1" i="1">
                <a:latin typeface="Arial"/>
                <a:cs typeface="Arial"/>
              </a:rPr>
              <a:t>x</a:t>
            </a:r>
            <a:r>
              <a:rPr dirty="0" sz="1800" spc="-235" b="1" i="1">
                <a:latin typeface="Arial"/>
                <a:cs typeface="Arial"/>
              </a:rPr>
              <a:t>p</a:t>
            </a:r>
            <a:r>
              <a:rPr dirty="0" sz="1800" spc="-220" b="1" i="1">
                <a:latin typeface="Arial"/>
                <a:cs typeface="Arial"/>
              </a:rPr>
              <a:t>e</a:t>
            </a:r>
            <a:r>
              <a:rPr dirty="0" sz="1800" spc="-235" b="1" i="1">
                <a:latin typeface="Arial"/>
                <a:cs typeface="Arial"/>
              </a:rPr>
              <a:t>di</a:t>
            </a:r>
            <a:r>
              <a:rPr dirty="0" sz="1800" spc="-260" b="1" i="1">
                <a:latin typeface="Arial"/>
                <a:cs typeface="Arial"/>
              </a:rPr>
              <a:t>ç</a:t>
            </a:r>
            <a:r>
              <a:rPr dirty="0" sz="1800" spc="-175" b="1" i="1">
                <a:latin typeface="Arial"/>
                <a:cs typeface="Arial"/>
              </a:rPr>
              <a:t>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075" y="3037014"/>
            <a:ext cx="6774180" cy="2483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23"/>
              <a:tabLst>
                <a:tab pos="626745" algn="l"/>
              </a:tabLst>
            </a:pPr>
            <a:r>
              <a:rPr dirty="0" baseline="3086" sz="2700" spc="-232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baseline="3086" sz="2700" spc="-52">
                <a:solidFill>
                  <a:srgbClr val="FFFFFF"/>
                </a:solidFill>
                <a:latin typeface="Arial"/>
                <a:cs typeface="Arial"/>
              </a:rPr>
              <a:t>facilitar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baseline="3086" sz="2700" spc="-135">
                <a:solidFill>
                  <a:srgbClr val="FFFFFF"/>
                </a:solidFill>
                <a:latin typeface="Arial"/>
                <a:cs typeface="Arial"/>
              </a:rPr>
              <a:t>expedição </a:t>
            </a:r>
            <a:r>
              <a:rPr dirty="0" baseline="3086" sz="2700" spc="-67">
                <a:solidFill>
                  <a:srgbClr val="FFFFFF"/>
                </a:solidFill>
                <a:latin typeface="Arial"/>
                <a:cs typeface="Arial"/>
              </a:rPr>
              <a:t>toda 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mercadoria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estar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57">
                <a:solidFill>
                  <a:srgbClr val="FFFFFF"/>
                </a:solidFill>
                <a:latin typeface="Arial"/>
                <a:cs typeface="Arial"/>
              </a:rPr>
              <a:t>armazenada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corretamente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endereçada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nas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estruturas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ruas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ct val="100000"/>
              </a:lnSpc>
            </a:pP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Distribuição;</a:t>
            </a:r>
            <a:endParaRPr sz="1800">
              <a:latin typeface="Arial"/>
              <a:cs typeface="Arial"/>
            </a:endParaRPr>
          </a:p>
          <a:p>
            <a:pPr marL="626110" marR="5080" indent="-613410">
              <a:lnSpc>
                <a:spcPct val="96900"/>
              </a:lnSpc>
              <a:spcBef>
                <a:spcPts val="880"/>
              </a:spcBef>
              <a:buSzPct val="177777"/>
              <a:buFont typeface="Trebuchet MS"/>
              <a:buAutoNum type="arabicPeriod" startAt="24"/>
              <a:tabLst>
                <a:tab pos="626745" algn="l"/>
              </a:tabLst>
            </a:pP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Após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separação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das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mercadorias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encaminhamento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Box, 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pessoa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perdas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escolha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aleatoriamente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Box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faça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conferência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das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mercadorias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“Pick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List”,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certificando-se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produtos 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separados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batam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quantidade,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espécie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destino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 entrega;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3776" y="2926079"/>
            <a:ext cx="797052" cy="797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71437" y="1857159"/>
            <a:ext cx="898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75" b="1" i="1">
                <a:latin typeface="Arial"/>
                <a:cs typeface="Arial"/>
              </a:rPr>
              <a:t>E</a:t>
            </a:r>
            <a:r>
              <a:rPr dirty="0" sz="1800" spc="-165" b="1" i="1">
                <a:latin typeface="Arial"/>
                <a:cs typeface="Arial"/>
              </a:rPr>
              <a:t>x</a:t>
            </a:r>
            <a:r>
              <a:rPr dirty="0" sz="1800" spc="-235" b="1" i="1">
                <a:latin typeface="Arial"/>
                <a:cs typeface="Arial"/>
              </a:rPr>
              <a:t>p</a:t>
            </a:r>
            <a:r>
              <a:rPr dirty="0" sz="1800" spc="-220" b="1" i="1">
                <a:latin typeface="Arial"/>
                <a:cs typeface="Arial"/>
              </a:rPr>
              <a:t>e</a:t>
            </a:r>
            <a:r>
              <a:rPr dirty="0" sz="1800" spc="-235" b="1" i="1">
                <a:latin typeface="Arial"/>
                <a:cs typeface="Arial"/>
              </a:rPr>
              <a:t>di</a:t>
            </a:r>
            <a:r>
              <a:rPr dirty="0" sz="1800" spc="-260" b="1" i="1">
                <a:latin typeface="Arial"/>
                <a:cs typeface="Arial"/>
              </a:rPr>
              <a:t>ç</a:t>
            </a:r>
            <a:r>
              <a:rPr dirty="0" sz="1800" spc="-175" b="1" i="1">
                <a:latin typeface="Arial"/>
                <a:cs typeface="Arial"/>
              </a:rPr>
              <a:t>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075" y="3037014"/>
            <a:ext cx="6433820" cy="2757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25"/>
              <a:tabLst>
                <a:tab pos="626745" algn="l"/>
              </a:tabLst>
            </a:pP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só </a:t>
            </a:r>
            <a:r>
              <a:rPr dirty="0" baseline="3086" sz="2700" spc="-202">
                <a:solidFill>
                  <a:srgbClr val="FFFFFF"/>
                </a:solidFill>
                <a:latin typeface="Arial"/>
                <a:cs typeface="Arial"/>
              </a:rPr>
              <a:t>pessoas </a:t>
            </a:r>
            <a:r>
              <a:rPr dirty="0" baseline="3086" sz="2700" spc="-120">
                <a:solidFill>
                  <a:srgbClr val="FFFFFF"/>
                </a:solidFill>
                <a:latin typeface="Arial"/>
                <a:cs typeface="Arial"/>
              </a:rPr>
              <a:t>autorizadas </a:t>
            </a:r>
            <a:r>
              <a:rPr dirty="0" baseline="3086" sz="2700" spc="-179">
                <a:solidFill>
                  <a:srgbClr val="FFFFFF"/>
                </a:solidFill>
                <a:latin typeface="Arial"/>
                <a:cs typeface="Arial"/>
              </a:rPr>
              <a:t>possam </a:t>
            </a: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acessar</a:t>
            </a:r>
            <a:r>
              <a:rPr dirty="0" baseline="3086" sz="2700" spc="-2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área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Produtos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Risco,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evitando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acessos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indevidos,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furtos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roubos;</a:t>
            </a:r>
            <a:endParaRPr sz="1800">
              <a:latin typeface="Arial"/>
              <a:cs typeface="Arial"/>
            </a:endParaRPr>
          </a:p>
          <a:p>
            <a:pPr marL="626110" marR="5080" indent="-613410">
              <a:lnSpc>
                <a:spcPct val="88500"/>
              </a:lnSpc>
              <a:spcBef>
                <a:spcPts val="1200"/>
              </a:spcBef>
              <a:buSzPct val="177777"/>
              <a:buFont typeface="Trebuchet MS"/>
              <a:buAutoNum type="arabicPeriod" startAt="26"/>
              <a:tabLst>
                <a:tab pos="626745" algn="l"/>
              </a:tabLst>
            </a:pPr>
            <a:r>
              <a:rPr dirty="0" sz="1800" spc="-204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produtos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Risco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devem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conferidos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100%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pela 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perdas;</a:t>
            </a:r>
            <a:endParaRPr sz="1800">
              <a:latin typeface="Arial"/>
              <a:cs typeface="Arial"/>
            </a:endParaRPr>
          </a:p>
          <a:p>
            <a:pPr marL="626110" marR="174625" indent="-613410">
              <a:lnSpc>
                <a:spcPct val="93600"/>
              </a:lnSpc>
              <a:spcBef>
                <a:spcPts val="1019"/>
              </a:spcBef>
              <a:buSzPct val="177777"/>
              <a:buFont typeface="Trebuchet MS"/>
              <a:buAutoNum type="arabicPeriod" startAt="26"/>
              <a:tabLst>
                <a:tab pos="626745" algn="l"/>
              </a:tabLst>
            </a:pPr>
            <a:r>
              <a:rPr dirty="0" sz="1800" spc="-21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motorista,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ao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receber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mercadoria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entrega,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deverá 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conferir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100%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conteúdo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presença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conferente 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estabelecimento;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4255" y="2889504"/>
            <a:ext cx="763524" cy="7635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71437" y="1857159"/>
            <a:ext cx="898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75" b="1" i="1">
                <a:latin typeface="Arial"/>
                <a:cs typeface="Arial"/>
              </a:rPr>
              <a:t>E</a:t>
            </a:r>
            <a:r>
              <a:rPr dirty="0" sz="1800" spc="-165" b="1" i="1">
                <a:latin typeface="Arial"/>
                <a:cs typeface="Arial"/>
              </a:rPr>
              <a:t>x</a:t>
            </a:r>
            <a:r>
              <a:rPr dirty="0" sz="1800" spc="-235" b="1" i="1">
                <a:latin typeface="Arial"/>
                <a:cs typeface="Arial"/>
              </a:rPr>
              <a:t>p</a:t>
            </a:r>
            <a:r>
              <a:rPr dirty="0" sz="1800" spc="-220" b="1" i="1">
                <a:latin typeface="Arial"/>
                <a:cs typeface="Arial"/>
              </a:rPr>
              <a:t>e</a:t>
            </a:r>
            <a:r>
              <a:rPr dirty="0" sz="1800" spc="-235" b="1" i="1">
                <a:latin typeface="Arial"/>
                <a:cs typeface="Arial"/>
              </a:rPr>
              <a:t>di</a:t>
            </a:r>
            <a:r>
              <a:rPr dirty="0" sz="1800" spc="-260" b="1" i="1">
                <a:latin typeface="Arial"/>
                <a:cs typeface="Arial"/>
              </a:rPr>
              <a:t>ç</a:t>
            </a:r>
            <a:r>
              <a:rPr dirty="0" sz="1800" spc="-175" b="1" i="1">
                <a:latin typeface="Arial"/>
                <a:cs typeface="Arial"/>
              </a:rPr>
              <a:t>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075" y="3037014"/>
            <a:ext cx="5579110" cy="1660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55"/>
              </a:lnSpc>
            </a:pPr>
            <a:r>
              <a:rPr dirty="0" sz="3200" spc="-280" b="1">
                <a:solidFill>
                  <a:srgbClr val="FFFFFF"/>
                </a:solidFill>
                <a:latin typeface="Trebuchet MS"/>
                <a:cs typeface="Trebuchet MS"/>
              </a:rPr>
              <a:t>28. </a:t>
            </a: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que, </a:t>
            </a:r>
            <a:r>
              <a:rPr dirty="0" baseline="3086" sz="2700" spc="-172">
                <a:solidFill>
                  <a:srgbClr val="FFFFFF"/>
                </a:solidFill>
                <a:latin typeface="Arial"/>
                <a:cs typeface="Arial"/>
              </a:rPr>
              <a:t>após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baseline="3086" sz="2700" spc="-120">
                <a:solidFill>
                  <a:srgbClr val="FFFFFF"/>
                </a:solidFill>
                <a:latin typeface="Arial"/>
                <a:cs typeface="Arial"/>
              </a:rPr>
              <a:t>conferência</a:t>
            </a:r>
            <a:r>
              <a:rPr dirty="0" baseline="3086" sz="2700" spc="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202">
                <a:solidFill>
                  <a:srgbClr val="FFFFFF"/>
                </a:solidFill>
                <a:latin typeface="Arial"/>
                <a:cs typeface="Arial"/>
              </a:rPr>
              <a:t>das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mercadorias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pelo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motorista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armazenamento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</a:t>
            </a:r>
            <a:endParaRPr sz="1800">
              <a:latin typeface="Arial"/>
              <a:cs typeface="Arial"/>
            </a:endParaRPr>
          </a:p>
          <a:p>
            <a:pPr marL="626110" marR="5080" indent="-635">
              <a:lnSpc>
                <a:spcPct val="100000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caminhão,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perdas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escolha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aleatoriamente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caminhão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faça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conferência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novamente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toda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mercadoria,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fim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detectar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há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inconsistências.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39952" y="3302508"/>
            <a:ext cx="422147" cy="4221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1856" y="2820923"/>
            <a:ext cx="829056" cy="829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63979" y="3281426"/>
            <a:ext cx="6015990" cy="13658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307340">
              <a:lnSpc>
                <a:spcPts val="5270"/>
              </a:lnSpc>
              <a:spcBef>
                <a:spcPts val="285"/>
              </a:spcBef>
            </a:pPr>
            <a:r>
              <a:rPr dirty="0" sz="4400" spc="-325" b="1" i="1">
                <a:latin typeface="Arial"/>
                <a:cs typeface="Arial"/>
              </a:rPr>
              <a:t>Dependências </a:t>
            </a:r>
            <a:r>
              <a:rPr dirty="0" sz="4400" spc="-220" b="1" i="1">
                <a:latin typeface="Arial"/>
                <a:cs typeface="Arial"/>
              </a:rPr>
              <a:t>Internas  </a:t>
            </a:r>
            <a:r>
              <a:rPr dirty="0" sz="4400" spc="-295" b="1" i="1">
                <a:latin typeface="Arial"/>
                <a:cs typeface="Arial"/>
              </a:rPr>
              <a:t>do </a:t>
            </a:r>
            <a:r>
              <a:rPr dirty="0" sz="4400" spc="-300" b="1" i="1">
                <a:latin typeface="Arial"/>
                <a:cs typeface="Arial"/>
              </a:rPr>
              <a:t>Centro </a:t>
            </a:r>
            <a:r>
              <a:rPr dirty="0" sz="4400" spc="-310" b="1" i="1">
                <a:latin typeface="Arial"/>
                <a:cs typeface="Arial"/>
              </a:rPr>
              <a:t>de</a:t>
            </a:r>
            <a:r>
              <a:rPr dirty="0" sz="4400" spc="-254" b="1" i="1">
                <a:latin typeface="Arial"/>
                <a:cs typeface="Arial"/>
              </a:rPr>
              <a:t> </a:t>
            </a:r>
            <a:r>
              <a:rPr dirty="0" sz="4400" spc="-240" b="1" i="1">
                <a:latin typeface="Arial"/>
                <a:cs typeface="Arial"/>
              </a:rPr>
              <a:t>Distribuição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840985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9C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225" i="1"/>
              <a:t>D</a:t>
            </a:r>
            <a:r>
              <a:rPr dirty="0" spc="-225" i="1"/>
              <a:t>e</a:t>
            </a:r>
            <a:r>
              <a:rPr dirty="0" spc="-235" i="1"/>
              <a:t>p</a:t>
            </a:r>
            <a:r>
              <a:rPr dirty="0" spc="-220" i="1"/>
              <a:t>e</a:t>
            </a:r>
            <a:r>
              <a:rPr dirty="0" spc="-190" i="1"/>
              <a:t>n</a:t>
            </a:r>
            <a:r>
              <a:rPr dirty="0" spc="-235" i="1"/>
              <a:t>d</a:t>
            </a:r>
            <a:r>
              <a:rPr dirty="0" spc="-220" i="1"/>
              <a:t>ê</a:t>
            </a:r>
            <a:r>
              <a:rPr dirty="0" spc="-204" i="1"/>
              <a:t>n</a:t>
            </a:r>
            <a:r>
              <a:rPr dirty="0" spc="-380" i="1"/>
              <a:t>c</a:t>
            </a:r>
            <a:r>
              <a:rPr dirty="0" spc="-215" i="1"/>
              <a:t>ias </a:t>
            </a:r>
            <a:r>
              <a:rPr dirty="0" spc="-180"/>
              <a:t> </a:t>
            </a:r>
            <a:r>
              <a:rPr dirty="0" spc="-160"/>
              <a:t>Internasdo  </a:t>
            </a:r>
            <a:r>
              <a:rPr dirty="0" spc="-180"/>
              <a:t>Centrode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77025" y="1995461"/>
            <a:ext cx="1050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0" b="1" i="1">
                <a:latin typeface="Arial"/>
                <a:cs typeface="Arial"/>
              </a:rPr>
              <a:t>Distribuição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37014"/>
            <a:ext cx="6810375" cy="2208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745" indent="-614045">
              <a:lnSpc>
                <a:spcPts val="2355"/>
              </a:lnSpc>
              <a:buSzPct val="177777"/>
              <a:buFont typeface="Trebuchet MS"/>
              <a:buAutoNum type="arabicPeriod" startAt="29"/>
              <a:tabLst>
                <a:tab pos="626745" algn="l"/>
              </a:tabLst>
            </a:pPr>
            <a:r>
              <a:rPr dirty="0" baseline="3086" sz="2700" spc="-187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não </a:t>
            </a:r>
            <a:r>
              <a:rPr dirty="0" baseline="3086" sz="2700" spc="-15">
                <a:solidFill>
                  <a:srgbClr val="FFFFFF"/>
                </a:solidFill>
                <a:latin typeface="Arial"/>
                <a:cs typeface="Arial"/>
              </a:rPr>
              <a:t>permitir </a:t>
            </a:r>
            <a:r>
              <a:rPr dirty="0" baseline="3086" sz="2700" spc="-209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entrada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120">
                <a:solidFill>
                  <a:srgbClr val="FFFFFF"/>
                </a:solidFill>
                <a:latin typeface="Arial"/>
                <a:cs typeface="Arial"/>
              </a:rPr>
              <a:t>colaboradores,</a:t>
            </a:r>
            <a:r>
              <a:rPr dirty="0" baseline="3086" sz="2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97">
                <a:solidFill>
                  <a:srgbClr val="FFFFFF"/>
                </a:solidFill>
                <a:latin typeface="Arial"/>
                <a:cs typeface="Arial"/>
              </a:rPr>
              <a:t>visitantes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fornecedores,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portando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bolsas,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mochilas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pochetes. </a:t>
            </a:r>
            <a:r>
              <a:rPr dirty="0" sz="1800" spc="-185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seja</a:t>
            </a:r>
            <a:endParaRPr sz="1800">
              <a:latin typeface="Arial"/>
              <a:cs typeface="Arial"/>
            </a:endParaRPr>
          </a:p>
          <a:p>
            <a:pPr marL="626110" marR="339090" indent="-635">
              <a:lnSpc>
                <a:spcPct val="100000"/>
              </a:lnSpc>
            </a:pP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necessário,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deve-se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fazer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controle,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anotando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dados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 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pessoa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ela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entrou,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deixando-a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ciente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saída 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haverá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vistoria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visual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(conforme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normas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empresa);</a:t>
            </a:r>
            <a:endParaRPr sz="1800">
              <a:latin typeface="Arial"/>
              <a:cs typeface="Arial"/>
            </a:endParaRPr>
          </a:p>
          <a:p>
            <a:pPr marL="626745" marR="52705" indent="-614045">
              <a:lnSpc>
                <a:spcPct val="88500"/>
              </a:lnSpc>
              <a:spcBef>
                <a:spcPts val="1200"/>
              </a:spcBef>
              <a:buSzPct val="177777"/>
              <a:buFont typeface="Trebuchet MS"/>
              <a:buAutoNum type="arabicPeriod" startAt="30"/>
              <a:tabLst>
                <a:tab pos="627380" algn="l"/>
              </a:tabLst>
            </a:pP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haver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rondas constantes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interior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depósito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pela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perdas;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0811" y="2708148"/>
            <a:ext cx="1078865" cy="1078865"/>
          </a:xfrm>
          <a:custGeom>
            <a:avLst/>
            <a:gdLst/>
            <a:ahLst/>
            <a:cxnLst/>
            <a:rect l="l" t="t" r="r" b="b"/>
            <a:pathLst>
              <a:path w="1078865" h="1078864">
                <a:moveTo>
                  <a:pt x="0" y="1078738"/>
                </a:moveTo>
                <a:lnTo>
                  <a:pt x="1078738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7012" y="2881883"/>
            <a:ext cx="874776" cy="874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9C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225" i="1"/>
              <a:t>D</a:t>
            </a:r>
            <a:r>
              <a:rPr dirty="0" spc="-225" i="1"/>
              <a:t>e</a:t>
            </a:r>
            <a:r>
              <a:rPr dirty="0" spc="-235" i="1"/>
              <a:t>p</a:t>
            </a:r>
            <a:r>
              <a:rPr dirty="0" spc="-220" i="1"/>
              <a:t>e</a:t>
            </a:r>
            <a:r>
              <a:rPr dirty="0" spc="-190" i="1"/>
              <a:t>n</a:t>
            </a:r>
            <a:r>
              <a:rPr dirty="0" spc="-235" i="1"/>
              <a:t>d</a:t>
            </a:r>
            <a:r>
              <a:rPr dirty="0" spc="-220" i="1"/>
              <a:t>ê</a:t>
            </a:r>
            <a:r>
              <a:rPr dirty="0" spc="-204" i="1"/>
              <a:t>n</a:t>
            </a:r>
            <a:r>
              <a:rPr dirty="0" spc="-380" i="1"/>
              <a:t>c</a:t>
            </a:r>
            <a:r>
              <a:rPr dirty="0" spc="-215" i="1"/>
              <a:t>ias </a:t>
            </a:r>
            <a:r>
              <a:rPr dirty="0" spc="-180"/>
              <a:t> </a:t>
            </a:r>
            <a:r>
              <a:rPr dirty="0" spc="-160"/>
              <a:t>Internasdo  </a:t>
            </a:r>
            <a:r>
              <a:rPr dirty="0" spc="-180"/>
              <a:t>Centrode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77025" y="1995461"/>
            <a:ext cx="1050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0" b="1" i="1">
                <a:latin typeface="Arial"/>
                <a:cs typeface="Arial"/>
              </a:rPr>
              <a:t>Distribuição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37014"/>
            <a:ext cx="5998210" cy="16598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31"/>
              <a:tabLst>
                <a:tab pos="626745" algn="l"/>
              </a:tabLst>
            </a:pPr>
            <a:r>
              <a:rPr dirty="0" baseline="3086" sz="2700" spc="-1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dirty="0" baseline="3086" sz="2700" spc="-135">
                <a:solidFill>
                  <a:srgbClr val="FFFFFF"/>
                </a:solidFill>
                <a:latin typeface="Arial"/>
                <a:cs typeface="Arial"/>
              </a:rPr>
              <a:t>realizada </a:t>
            </a:r>
            <a:r>
              <a:rPr dirty="0" baseline="3086" sz="2700" spc="-75">
                <a:solidFill>
                  <a:srgbClr val="FFFFFF"/>
                </a:solidFill>
                <a:latin typeface="Arial"/>
                <a:cs typeface="Arial"/>
              </a:rPr>
              <a:t>vistoria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30">
                <a:solidFill>
                  <a:srgbClr val="FFFFFF"/>
                </a:solidFill>
                <a:latin typeface="Arial"/>
                <a:cs typeface="Arial"/>
              </a:rPr>
              <a:t>todo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conteúdo </a:t>
            </a:r>
            <a:r>
              <a:rPr dirty="0" baseline="3086" sz="2700" spc="-202">
                <a:solidFill>
                  <a:srgbClr val="FFFFFF"/>
                </a:solidFill>
                <a:latin typeface="Arial"/>
                <a:cs typeface="Arial"/>
              </a:rPr>
              <a:t>das </a:t>
            </a:r>
            <a:r>
              <a:rPr dirty="0" baseline="3086" sz="2700" spc="-120">
                <a:solidFill>
                  <a:srgbClr val="FFFFFF"/>
                </a:solidFill>
                <a:latin typeface="Arial"/>
                <a:cs typeface="Arial"/>
              </a:rPr>
              <a:t>lixeiras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65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caixas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papelão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antes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seu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recolhimento;</a:t>
            </a:r>
            <a:endParaRPr sz="1800">
              <a:latin typeface="Arial"/>
              <a:cs typeface="Arial"/>
            </a:endParaRPr>
          </a:p>
          <a:p>
            <a:pPr marL="626110" marR="10160" indent="-613410">
              <a:lnSpc>
                <a:spcPct val="93900"/>
              </a:lnSpc>
              <a:spcBef>
                <a:spcPts val="995"/>
              </a:spcBef>
              <a:buSzPct val="177777"/>
              <a:buFont typeface="Trebuchet MS"/>
              <a:buAutoNum type="arabicPeriod" startAt="32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sacos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lixo do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interior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 depósito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sejam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transparentes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evitar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ilícitos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facilitar 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vistoria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pela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 segurança;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019" y="3035807"/>
            <a:ext cx="643128" cy="643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9C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9C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225" i="1"/>
              <a:t>D</a:t>
            </a:r>
            <a:r>
              <a:rPr dirty="0" spc="-225" i="1"/>
              <a:t>e</a:t>
            </a:r>
            <a:r>
              <a:rPr dirty="0" spc="-235" i="1"/>
              <a:t>p</a:t>
            </a:r>
            <a:r>
              <a:rPr dirty="0" spc="-220" i="1"/>
              <a:t>e</a:t>
            </a:r>
            <a:r>
              <a:rPr dirty="0" spc="-190" i="1"/>
              <a:t>n</a:t>
            </a:r>
            <a:r>
              <a:rPr dirty="0" spc="-235" i="1"/>
              <a:t>d</a:t>
            </a:r>
            <a:r>
              <a:rPr dirty="0" spc="-220" i="1"/>
              <a:t>ê</a:t>
            </a:r>
            <a:r>
              <a:rPr dirty="0" spc="-204" i="1"/>
              <a:t>n</a:t>
            </a:r>
            <a:r>
              <a:rPr dirty="0" spc="-380" i="1"/>
              <a:t>c</a:t>
            </a:r>
            <a:r>
              <a:rPr dirty="0" spc="-215" i="1"/>
              <a:t>ias </a:t>
            </a:r>
            <a:r>
              <a:rPr dirty="0" spc="-180"/>
              <a:t> </a:t>
            </a:r>
            <a:r>
              <a:rPr dirty="0" spc="-160"/>
              <a:t>Internasdo  </a:t>
            </a:r>
            <a:r>
              <a:rPr dirty="0" spc="-180"/>
              <a:t>Centrode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77025" y="1995461"/>
            <a:ext cx="1050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0" b="1" i="1">
                <a:latin typeface="Arial"/>
                <a:cs typeface="Arial"/>
              </a:rPr>
              <a:t>Distribuição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37014"/>
            <a:ext cx="6611620" cy="16598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33"/>
              <a:tabLst>
                <a:tab pos="626745" algn="l"/>
              </a:tabLst>
            </a:pPr>
            <a:r>
              <a:rPr dirty="0" baseline="3086" sz="2700" spc="-254">
                <a:solidFill>
                  <a:srgbClr val="FFFFFF"/>
                </a:solidFill>
                <a:latin typeface="Arial"/>
                <a:cs typeface="Arial"/>
              </a:rPr>
              <a:t>Todas as </a:t>
            </a:r>
            <a:r>
              <a:rPr dirty="0" baseline="3086" sz="2700" spc="-179">
                <a:solidFill>
                  <a:srgbClr val="FFFFFF"/>
                </a:solidFill>
                <a:latin typeface="Arial"/>
                <a:cs typeface="Arial"/>
              </a:rPr>
              <a:t>áreas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internas </a:t>
            </a:r>
            <a:r>
              <a:rPr dirty="0" baseline="3086" sz="2700" spc="-82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baseline="3086" sz="2700" spc="-12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97">
                <a:solidFill>
                  <a:srgbClr val="FFFFFF"/>
                </a:solidFill>
                <a:latin typeface="Arial"/>
                <a:cs typeface="Arial"/>
              </a:rPr>
              <a:t>Distribuição </a:t>
            </a:r>
            <a:r>
              <a:rPr dirty="0" baseline="3086" sz="2700" spc="-135">
                <a:solidFill>
                  <a:srgbClr val="FFFFFF"/>
                </a:solidFill>
                <a:latin typeface="Arial"/>
                <a:cs typeface="Arial"/>
              </a:rPr>
              <a:t>devem</a:t>
            </a:r>
            <a:r>
              <a:rPr dirty="0" baseline="3086" sz="2700" spc="8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12">
                <a:solidFill>
                  <a:srgbClr val="FFFFFF"/>
                </a:solidFill>
                <a:latin typeface="Arial"/>
                <a:cs typeface="Arial"/>
              </a:rPr>
              <a:t>possuir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monitoramento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câmeras;</a:t>
            </a:r>
            <a:endParaRPr sz="1800">
              <a:latin typeface="Arial"/>
              <a:cs typeface="Arial"/>
            </a:endParaRPr>
          </a:p>
          <a:p>
            <a:pPr marL="626110" marR="224154" indent="-613410">
              <a:lnSpc>
                <a:spcPct val="93900"/>
              </a:lnSpc>
              <a:spcBef>
                <a:spcPts val="990"/>
              </a:spcBef>
              <a:buSzPct val="177777"/>
              <a:buFont typeface="Trebuchet MS"/>
              <a:buAutoNum type="arabicPeriod" startAt="34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registrar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sistema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livro próprio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todas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as 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ocorrências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anormalidades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constatadas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fim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manter 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memória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corporativa.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2970276"/>
            <a:ext cx="676656" cy="720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6565392" y="0"/>
                </a:moveTo>
                <a:lnTo>
                  <a:pt x="0" y="0"/>
                </a:lnTo>
                <a:lnTo>
                  <a:pt x="0" y="836676"/>
                </a:lnTo>
                <a:lnTo>
                  <a:pt x="6565392" y="836676"/>
                </a:lnTo>
                <a:lnTo>
                  <a:pt x="6565392" y="697230"/>
                </a:lnTo>
                <a:lnTo>
                  <a:pt x="7098182" y="647725"/>
                </a:lnTo>
                <a:lnTo>
                  <a:pt x="6565392" y="488061"/>
                </a:lnTo>
                <a:lnTo>
                  <a:pt x="656539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0" y="0"/>
                </a:moveTo>
                <a:lnTo>
                  <a:pt x="3829812" y="0"/>
                </a:lnTo>
                <a:lnTo>
                  <a:pt x="5471160" y="0"/>
                </a:lnTo>
                <a:lnTo>
                  <a:pt x="6565392" y="0"/>
                </a:lnTo>
                <a:lnTo>
                  <a:pt x="6565392" y="488061"/>
                </a:lnTo>
                <a:lnTo>
                  <a:pt x="7098182" y="647725"/>
                </a:lnTo>
                <a:lnTo>
                  <a:pt x="6565392" y="697230"/>
                </a:lnTo>
                <a:lnTo>
                  <a:pt x="6565392" y="836676"/>
                </a:lnTo>
                <a:lnTo>
                  <a:pt x="5471160" y="836676"/>
                </a:lnTo>
                <a:lnTo>
                  <a:pt x="3829812" y="836676"/>
                </a:lnTo>
                <a:lnTo>
                  <a:pt x="0" y="836676"/>
                </a:lnTo>
                <a:lnTo>
                  <a:pt x="0" y="697230"/>
                </a:lnTo>
                <a:lnTo>
                  <a:pt x="0" y="48806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009CD9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9004" y="5820495"/>
            <a:ext cx="46894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5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CONHEÇA </a:t>
            </a:r>
            <a:r>
              <a:rPr dirty="0" sz="1800" spc="-16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A </a:t>
            </a:r>
            <a:r>
              <a:rPr dirty="0" sz="1800" spc="-110" b="1">
                <a:solidFill>
                  <a:srgbClr val="009CD9"/>
                </a:solidFill>
                <a:latin typeface="Trebuchet MS"/>
                <a:cs typeface="Trebuchet MS"/>
                <a:hlinkClick r:id="rId4"/>
              </a:rPr>
              <a:t>TUB </a:t>
            </a:r>
            <a:r>
              <a:rPr dirty="0" sz="1800" spc="-50" b="1">
                <a:solidFill>
                  <a:srgbClr val="009CD9"/>
                </a:solidFill>
                <a:latin typeface="Trebuchet MS"/>
                <a:cs typeface="Trebuchet MS"/>
                <a:hlinkClick r:id="rId4"/>
              </a:rPr>
              <a:t>CÂMERA </a:t>
            </a:r>
            <a:r>
              <a:rPr dirty="0" sz="1800" spc="-105">
                <a:solidFill>
                  <a:srgbClr val="009CD9"/>
                </a:solidFill>
                <a:latin typeface="Arial"/>
                <a:cs typeface="Arial"/>
                <a:hlinkClick r:id="rId4"/>
              </a:rPr>
              <a:t>– </a:t>
            </a:r>
            <a:r>
              <a:rPr dirty="0" sz="1800" spc="-254">
                <a:solidFill>
                  <a:srgbClr val="009CD9"/>
                </a:solidFill>
                <a:latin typeface="Arial"/>
                <a:cs typeface="Arial"/>
                <a:hlinkClick r:id="rId4"/>
              </a:rPr>
              <a:t>SOLUÇÃO CFTV </a:t>
            </a:r>
            <a:r>
              <a:rPr dirty="0" sz="1800" spc="-20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IDEAL  </a:t>
            </a:r>
            <a:r>
              <a:rPr dirty="0" sz="1800" spc="-265">
                <a:solidFill>
                  <a:srgbClr val="009CD9"/>
                </a:solidFill>
                <a:latin typeface="Arial"/>
                <a:cs typeface="Arial"/>
                <a:hlinkClick r:id="rId4"/>
              </a:rPr>
              <a:t>PARA </a:t>
            </a:r>
            <a:r>
              <a:rPr dirty="0" sz="1800" spc="-175">
                <a:solidFill>
                  <a:srgbClr val="009CD9"/>
                </a:solidFill>
                <a:latin typeface="Arial"/>
                <a:cs typeface="Arial"/>
                <a:hlinkClick r:id="rId4"/>
              </a:rPr>
              <a:t>MONITORAMENTO </a:t>
            </a:r>
            <a:r>
              <a:rPr dirty="0" sz="1800" spc="-26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DE GRANDES</a:t>
            </a:r>
            <a:r>
              <a:rPr dirty="0" sz="1800" spc="-19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1800" spc="-320">
                <a:solidFill>
                  <a:srgbClr val="009CD9"/>
                </a:solidFill>
                <a:latin typeface="Arial"/>
                <a:cs typeface="Arial"/>
                <a:hlinkClick r:id="rId4"/>
              </a:rPr>
              <a:t>ESPAÇOS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32278" y="3281426"/>
            <a:ext cx="5878830" cy="13658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476884">
              <a:lnSpc>
                <a:spcPts val="5270"/>
              </a:lnSpc>
              <a:spcBef>
                <a:spcPts val="285"/>
              </a:spcBef>
            </a:pPr>
            <a:r>
              <a:rPr dirty="0" sz="4400" spc="-340" b="1" i="1">
                <a:latin typeface="Arial"/>
                <a:cs typeface="Arial"/>
              </a:rPr>
              <a:t>Equipe </a:t>
            </a:r>
            <a:r>
              <a:rPr dirty="0" sz="4400" spc="-310" b="1" i="1">
                <a:latin typeface="Arial"/>
                <a:cs typeface="Arial"/>
              </a:rPr>
              <a:t>de </a:t>
            </a:r>
            <a:r>
              <a:rPr dirty="0" sz="4400" spc="-340" b="1" i="1">
                <a:latin typeface="Arial"/>
                <a:cs typeface="Arial"/>
              </a:rPr>
              <a:t>Segurança  </a:t>
            </a:r>
            <a:r>
              <a:rPr dirty="0" sz="4400" spc="-290" b="1" i="1">
                <a:latin typeface="Arial"/>
                <a:cs typeface="Arial"/>
              </a:rPr>
              <a:t>Terceirizada </a:t>
            </a:r>
            <a:r>
              <a:rPr dirty="0" sz="4400" spc="-260" b="1" i="1">
                <a:latin typeface="Arial"/>
                <a:cs typeface="Arial"/>
              </a:rPr>
              <a:t>ou</a:t>
            </a:r>
            <a:r>
              <a:rPr dirty="0" sz="4400" spc="-285" b="1" i="1">
                <a:latin typeface="Arial"/>
                <a:cs typeface="Arial"/>
              </a:rPr>
              <a:t> </a:t>
            </a:r>
            <a:r>
              <a:rPr dirty="0" sz="4400" spc="-254" b="1" i="1">
                <a:latin typeface="Arial"/>
                <a:cs typeface="Arial"/>
              </a:rPr>
              <a:t>Orgânica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840985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84569" y="1174102"/>
            <a:ext cx="103505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dirty="0" spc="-225" i="1"/>
              <a:t>Equipe </a:t>
            </a:r>
            <a:r>
              <a:rPr dirty="0" spc="-229" i="1"/>
              <a:t>de  </a:t>
            </a:r>
            <a:r>
              <a:rPr dirty="0" spc="-229"/>
              <a:t>Segurança  </a:t>
            </a:r>
            <a:r>
              <a:rPr dirty="0" spc="-465"/>
              <a:t>T</a:t>
            </a:r>
            <a:r>
              <a:rPr dirty="0" spc="-225"/>
              <a:t>e</a:t>
            </a:r>
            <a:r>
              <a:rPr dirty="0" spc="-175"/>
              <a:t>r</a:t>
            </a:r>
            <a:r>
              <a:rPr dirty="0" spc="-370"/>
              <a:t>c</a:t>
            </a:r>
            <a:r>
              <a:rPr dirty="0" spc="-225"/>
              <a:t>e</a:t>
            </a:r>
            <a:r>
              <a:rPr dirty="0" spc="-145"/>
              <a:t>i</a:t>
            </a:r>
            <a:r>
              <a:rPr dirty="0" spc="-155"/>
              <a:t>r</a:t>
            </a:r>
            <a:r>
              <a:rPr dirty="0" spc="-155"/>
              <a:t>i</a:t>
            </a:r>
            <a:r>
              <a:rPr dirty="0" spc="-210"/>
              <a:t>z</a:t>
            </a:r>
            <a:r>
              <a:rPr dirty="0" spc="-160"/>
              <a:t>ada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63309" y="1995461"/>
            <a:ext cx="1090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 b="1" i="1">
                <a:latin typeface="Arial"/>
                <a:cs typeface="Arial"/>
              </a:rPr>
              <a:t>ou</a:t>
            </a:r>
            <a:r>
              <a:rPr dirty="0" sz="1800" spc="-380" b="1" i="1">
                <a:latin typeface="Arial"/>
                <a:cs typeface="Arial"/>
              </a:rPr>
              <a:t> </a:t>
            </a:r>
            <a:r>
              <a:rPr dirty="0" sz="1800" spc="-190" b="1" i="1">
                <a:latin typeface="Arial"/>
                <a:cs typeface="Arial"/>
              </a:rPr>
              <a:t>Orgânica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37014"/>
            <a:ext cx="6897370" cy="16598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35"/>
              <a:tabLst>
                <a:tab pos="626745" algn="l"/>
              </a:tabLst>
            </a:pPr>
            <a:r>
              <a:rPr dirty="0" baseline="3086" sz="2700" spc="-487">
                <a:solidFill>
                  <a:srgbClr val="FFFFFF"/>
                </a:solidFill>
                <a:latin typeface="Arial"/>
                <a:cs typeface="Arial"/>
              </a:rPr>
              <a:t>É </a:t>
            </a:r>
            <a:r>
              <a:rPr dirty="0" baseline="3086" sz="2700" spc="-52">
                <a:solidFill>
                  <a:srgbClr val="FFFFFF"/>
                </a:solidFill>
                <a:latin typeface="Arial"/>
                <a:cs typeface="Arial"/>
              </a:rPr>
              <a:t>importante </a:t>
            </a:r>
            <a:r>
              <a:rPr dirty="0" baseline="3086" sz="2700" spc="-7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baseline="3086" sz="2700" spc="-135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baseline="3086" sz="2700" spc="-97">
                <a:solidFill>
                  <a:srgbClr val="FFFFFF"/>
                </a:solidFill>
                <a:latin typeface="Arial"/>
                <a:cs typeface="Arial"/>
              </a:rPr>
              <a:t>equipe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172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baseline="3086" sz="2700" spc="-104">
                <a:solidFill>
                  <a:srgbClr val="FFFFFF"/>
                </a:solidFill>
                <a:latin typeface="Arial"/>
                <a:cs typeface="Arial"/>
              </a:rPr>
              <a:t>terceirizada </a:t>
            </a:r>
            <a:r>
              <a:rPr dirty="0" baseline="3086" sz="2700" spc="-89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dirty="0" baseline="3086" sz="2700" spc="-35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orgânica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bem dimensionada,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atenta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treinada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nas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portarias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dependências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ct val="100000"/>
              </a:lnSpc>
            </a:pP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internas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Distribuição;</a:t>
            </a:r>
            <a:endParaRPr sz="1800">
              <a:latin typeface="Arial"/>
              <a:cs typeface="Arial"/>
            </a:endParaRPr>
          </a:p>
          <a:p>
            <a:pPr marL="626110" marR="323215" indent="-613410">
              <a:lnSpc>
                <a:spcPct val="88500"/>
              </a:lnSpc>
              <a:spcBef>
                <a:spcPts val="1200"/>
              </a:spcBef>
              <a:buSzPct val="177777"/>
              <a:buFont typeface="Trebuchet MS"/>
              <a:buAutoNum type="arabicPeriod" startAt="36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Deve-se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manter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atenção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redobrada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nas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trocas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turno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fim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evitar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assaltos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intrusões;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9204" y="2910852"/>
            <a:ext cx="858012" cy="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00A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00A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84569" y="1174102"/>
            <a:ext cx="103505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dirty="0" spc="-225" i="1"/>
              <a:t>Equipe </a:t>
            </a:r>
            <a:r>
              <a:rPr dirty="0" spc="-229" i="1"/>
              <a:t>de  </a:t>
            </a:r>
            <a:r>
              <a:rPr dirty="0" spc="-229"/>
              <a:t>Segurança  </a:t>
            </a:r>
            <a:r>
              <a:rPr dirty="0" spc="-465"/>
              <a:t>T</a:t>
            </a:r>
            <a:r>
              <a:rPr dirty="0" spc="-225"/>
              <a:t>e</a:t>
            </a:r>
            <a:r>
              <a:rPr dirty="0" spc="-175"/>
              <a:t>r</a:t>
            </a:r>
            <a:r>
              <a:rPr dirty="0" spc="-370"/>
              <a:t>c</a:t>
            </a:r>
            <a:r>
              <a:rPr dirty="0" spc="-225"/>
              <a:t>e</a:t>
            </a:r>
            <a:r>
              <a:rPr dirty="0" spc="-145"/>
              <a:t>i</a:t>
            </a:r>
            <a:r>
              <a:rPr dirty="0" spc="-155"/>
              <a:t>r</a:t>
            </a:r>
            <a:r>
              <a:rPr dirty="0" spc="-155"/>
              <a:t>i</a:t>
            </a:r>
            <a:r>
              <a:rPr dirty="0" spc="-210"/>
              <a:t>z</a:t>
            </a:r>
            <a:r>
              <a:rPr dirty="0" spc="-160"/>
              <a:t>ada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63309" y="1995461"/>
            <a:ext cx="1090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 b="1" i="1">
                <a:latin typeface="Arial"/>
                <a:cs typeface="Arial"/>
              </a:rPr>
              <a:t>ou</a:t>
            </a:r>
            <a:r>
              <a:rPr dirty="0" sz="1800" spc="-380" b="1" i="1">
                <a:latin typeface="Arial"/>
                <a:cs typeface="Arial"/>
              </a:rPr>
              <a:t> </a:t>
            </a:r>
            <a:r>
              <a:rPr dirty="0" sz="1800" spc="-190" b="1" i="1">
                <a:latin typeface="Arial"/>
                <a:cs typeface="Arial"/>
              </a:rPr>
              <a:t>Orgânica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37014"/>
            <a:ext cx="6985634" cy="2757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55"/>
              </a:lnSpc>
              <a:buSzPct val="177777"/>
              <a:buFont typeface="Trebuchet MS"/>
              <a:buAutoNum type="arabicPeriod" startAt="37"/>
              <a:tabLst>
                <a:tab pos="626745" algn="l"/>
              </a:tabLst>
            </a:pPr>
            <a:r>
              <a:rPr dirty="0" baseline="3086" sz="2700" spc="-165">
                <a:solidFill>
                  <a:srgbClr val="FFFFFF"/>
                </a:solidFill>
                <a:latin typeface="Arial"/>
                <a:cs typeface="Arial"/>
              </a:rPr>
              <a:t>Ao </a:t>
            </a:r>
            <a:r>
              <a:rPr dirty="0" baseline="3086" sz="2700" spc="-67">
                <a:solidFill>
                  <a:srgbClr val="FFFFFF"/>
                </a:solidFill>
                <a:latin typeface="Arial"/>
                <a:cs typeface="Arial"/>
              </a:rPr>
              <a:t>contratar </a:t>
            </a:r>
            <a:r>
              <a:rPr dirty="0" baseline="3086" sz="2700" spc="-135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baseline="3086" sz="2700" spc="-142">
                <a:solidFill>
                  <a:srgbClr val="FFFFFF"/>
                </a:solidFill>
                <a:latin typeface="Arial"/>
                <a:cs typeface="Arial"/>
              </a:rPr>
              <a:t>empresa </a:t>
            </a:r>
            <a:r>
              <a:rPr dirty="0" baseline="3086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3086" sz="2700" spc="-165">
                <a:solidFill>
                  <a:srgbClr val="FFFFFF"/>
                </a:solidFill>
                <a:latin typeface="Arial"/>
                <a:cs typeface="Arial"/>
              </a:rPr>
              <a:t>segurança,</a:t>
            </a:r>
            <a:r>
              <a:rPr dirty="0" baseline="3086" sz="2700" spc="-20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75">
                <a:solidFill>
                  <a:srgbClr val="FFFFFF"/>
                </a:solidFill>
                <a:latin typeface="Arial"/>
                <a:cs typeface="Arial"/>
              </a:rPr>
              <a:t>certifique-se</a:t>
            </a:r>
            <a:endParaRPr baseline="3086" sz="2700">
              <a:latin typeface="Arial"/>
              <a:cs typeface="Arial"/>
            </a:endParaRPr>
          </a:p>
          <a:p>
            <a:pPr marL="626110">
              <a:lnSpc>
                <a:spcPts val="1975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ela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possui:</a:t>
            </a:r>
            <a:endParaRPr sz="1800">
              <a:latin typeface="Arial"/>
              <a:cs typeface="Arial"/>
            </a:endParaRPr>
          </a:p>
          <a:p>
            <a:pPr lvl="1" marL="912494" indent="-286385">
              <a:lnSpc>
                <a:spcPct val="100000"/>
              </a:lnSpc>
              <a:buChar char="•"/>
              <a:tabLst>
                <a:tab pos="912494" algn="l"/>
                <a:tab pos="913130" algn="l"/>
              </a:tabLst>
            </a:pP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Autorização</a:t>
            </a:r>
            <a:r>
              <a:rPr dirty="0" sz="1800" spc="-3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funcionamento</a:t>
            </a: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emitido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pelo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Ministério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Justiça;</a:t>
            </a:r>
            <a:endParaRPr sz="1800">
              <a:latin typeface="Arial"/>
              <a:cs typeface="Arial"/>
            </a:endParaRPr>
          </a:p>
          <a:p>
            <a:pPr lvl="1" marL="912494" marR="344170" indent="-286385">
              <a:lnSpc>
                <a:spcPct val="100000"/>
              </a:lnSpc>
              <a:buChar char="•"/>
              <a:tabLst>
                <a:tab pos="912494" algn="l"/>
                <a:tab pos="913130" algn="l"/>
              </a:tabLst>
            </a:pP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Certificado</a:t>
            </a:r>
            <a:r>
              <a:rPr dirty="0" sz="18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15">
                <a:solidFill>
                  <a:srgbClr val="FFFFFF"/>
                </a:solidFill>
                <a:latin typeface="Arial"/>
                <a:cs typeface="Arial"/>
              </a:rPr>
              <a:t>Segurança,</a:t>
            </a: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dirty="0" sz="1800" spc="-2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nome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empresa</a:t>
            </a:r>
            <a:r>
              <a:rPr dirty="0" sz="1800" spc="-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95">
                <a:solidFill>
                  <a:srgbClr val="FFFFFF"/>
                </a:solidFill>
                <a:latin typeface="Arial"/>
                <a:cs typeface="Arial"/>
              </a:rPr>
              <a:t>segurança,</a:t>
            </a: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emitido 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pela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Superintendência </a:t>
            </a:r>
            <a:r>
              <a:rPr dirty="0" sz="1800" spc="-195">
                <a:solidFill>
                  <a:srgbClr val="FFFFFF"/>
                </a:solidFill>
                <a:latin typeface="Arial"/>
                <a:cs typeface="Arial"/>
              </a:rPr>
              <a:t>Regional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Estado, </a:t>
            </a: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com validade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na data </a:t>
            </a:r>
            <a:r>
              <a:rPr dirty="0" sz="1800" spc="-195">
                <a:solidFill>
                  <a:srgbClr val="FFFFFF"/>
                </a:solidFill>
                <a:latin typeface="Arial"/>
                <a:cs typeface="Arial"/>
              </a:rPr>
              <a:t>da  </a:t>
            </a:r>
            <a:r>
              <a:rPr dirty="0" sz="1800" spc="-175">
                <a:solidFill>
                  <a:srgbClr val="FFFFFF"/>
                </a:solidFill>
                <a:latin typeface="Arial"/>
                <a:cs typeface="Arial"/>
              </a:rPr>
              <a:t>apresentação;</a:t>
            </a:r>
            <a:endParaRPr sz="1800">
              <a:latin typeface="Arial"/>
              <a:cs typeface="Arial"/>
            </a:endParaRPr>
          </a:p>
          <a:p>
            <a:pPr lvl="1" marL="912494" marR="5080" indent="-286385">
              <a:lnSpc>
                <a:spcPct val="100000"/>
              </a:lnSpc>
              <a:buChar char="•"/>
              <a:tabLst>
                <a:tab pos="912494" algn="l"/>
                <a:tab pos="913130" algn="l"/>
              </a:tabLst>
            </a:pP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Certificado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85">
                <a:solidFill>
                  <a:srgbClr val="FFFFFF"/>
                </a:solidFill>
                <a:latin typeface="Arial"/>
                <a:cs typeface="Arial"/>
              </a:rPr>
              <a:t>Regularidade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Situação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Cadastramento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perante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Divisão</a:t>
            </a:r>
            <a:r>
              <a:rPr dirty="0" sz="1800" spc="-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Registros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95">
                <a:solidFill>
                  <a:srgbClr val="FFFFFF"/>
                </a:solidFill>
                <a:latin typeface="Arial"/>
                <a:cs typeface="Arial"/>
              </a:rPr>
              <a:t>Diversos</a:t>
            </a: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Secretaria</a:t>
            </a:r>
            <a:r>
              <a:rPr dirty="0" sz="1800" spc="-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0">
                <a:solidFill>
                  <a:srgbClr val="FFFFFF"/>
                </a:solidFill>
                <a:latin typeface="Arial"/>
                <a:cs typeface="Arial"/>
              </a:rPr>
              <a:t>Segurança</a:t>
            </a:r>
            <a:r>
              <a:rPr dirty="0" sz="1800" spc="-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Pública</a:t>
            </a:r>
            <a:r>
              <a:rPr dirty="0" sz="18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dirty="0" sz="1800" spc="-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Estado;</a:t>
            </a:r>
            <a:endParaRPr sz="1800">
              <a:latin typeface="Arial"/>
              <a:cs typeface="Arial"/>
            </a:endParaRPr>
          </a:p>
          <a:p>
            <a:pPr lvl="1" marL="912494" indent="-286385">
              <a:lnSpc>
                <a:spcPct val="100000"/>
              </a:lnSpc>
              <a:buChar char="•"/>
              <a:tabLst>
                <a:tab pos="912494" algn="l"/>
                <a:tab pos="913130" algn="l"/>
              </a:tabLst>
            </a:pP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Certidão</a:t>
            </a:r>
            <a:r>
              <a:rPr dirty="0" sz="18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Divisão</a:t>
            </a:r>
            <a:r>
              <a:rPr dirty="0" sz="18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Controle</a:t>
            </a:r>
            <a:r>
              <a:rPr dirty="0" sz="1800" spc="-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0">
                <a:solidFill>
                  <a:srgbClr val="FFFFFF"/>
                </a:solidFill>
                <a:latin typeface="Arial"/>
                <a:cs typeface="Arial"/>
              </a:rPr>
              <a:t>Segurança</a:t>
            </a:r>
            <a:r>
              <a:rPr dirty="0" sz="1800" spc="-3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800" spc="-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Polícia</a:t>
            </a:r>
            <a:r>
              <a:rPr dirty="0" sz="1800" spc="-2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75">
                <a:solidFill>
                  <a:srgbClr val="FFFFFF"/>
                </a:solidFill>
                <a:latin typeface="Arial"/>
                <a:cs typeface="Arial"/>
              </a:rPr>
              <a:t>Federal;</a:t>
            </a:r>
            <a:endParaRPr sz="1800">
              <a:latin typeface="Arial"/>
              <a:cs typeface="Arial"/>
            </a:endParaRPr>
          </a:p>
          <a:p>
            <a:pPr lvl="1" marL="912494" indent="-286385">
              <a:lnSpc>
                <a:spcPct val="100000"/>
              </a:lnSpc>
              <a:buChar char="•"/>
              <a:tabLst>
                <a:tab pos="912494" algn="l"/>
                <a:tab pos="913130" algn="l"/>
              </a:tabLst>
            </a:pP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Certidões</a:t>
            </a:r>
            <a:r>
              <a:rPr dirty="0" sz="1800" spc="-3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Negativas</a:t>
            </a:r>
            <a:r>
              <a:rPr dirty="0" sz="1800" spc="-3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Débito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junto</a:t>
            </a:r>
            <a:r>
              <a:rPr dirty="0" sz="18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ao</a:t>
            </a:r>
            <a:r>
              <a:rPr dirty="0" sz="1800" spc="-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10">
                <a:solidFill>
                  <a:srgbClr val="FFFFFF"/>
                </a:solidFill>
                <a:latin typeface="Arial"/>
                <a:cs typeface="Arial"/>
              </a:rPr>
              <a:t>INSS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75">
                <a:solidFill>
                  <a:srgbClr val="FFFFFF"/>
                </a:solidFill>
                <a:latin typeface="Arial"/>
                <a:cs typeface="Arial"/>
              </a:rPr>
              <a:t>ISSQN.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3400" y="2915411"/>
            <a:ext cx="768095" cy="7665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1900" y="6280403"/>
            <a:ext cx="1324355" cy="35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50135"/>
            <a:ext cx="9144000" cy="5008245"/>
          </a:xfrm>
          <a:custGeom>
            <a:avLst/>
            <a:gdLst/>
            <a:ahLst/>
            <a:cxnLst/>
            <a:rect l="l" t="t" r="r" b="b"/>
            <a:pathLst>
              <a:path w="9144000" h="5008245">
                <a:moveTo>
                  <a:pt x="0" y="5007864"/>
                </a:moveTo>
                <a:lnTo>
                  <a:pt x="9144000" y="5007864"/>
                </a:lnTo>
                <a:lnTo>
                  <a:pt x="9144000" y="0"/>
                </a:lnTo>
                <a:lnTo>
                  <a:pt x="0" y="0"/>
                </a:lnTo>
                <a:lnTo>
                  <a:pt x="0" y="500786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4116" y="1212278"/>
            <a:ext cx="4217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35" b="1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z="1800" spc="-140" b="1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z="18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z="18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1107" y="6214871"/>
            <a:ext cx="1565148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04800" y="3281426"/>
            <a:ext cx="4331970" cy="13658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217804">
              <a:lnSpc>
                <a:spcPts val="5270"/>
              </a:lnSpc>
              <a:spcBef>
                <a:spcPts val="285"/>
              </a:spcBef>
            </a:pPr>
            <a:r>
              <a:rPr dirty="0" sz="4400" spc="-240" b="1" i="1">
                <a:latin typeface="Arial"/>
                <a:cs typeface="Arial"/>
              </a:rPr>
              <a:t>Central </a:t>
            </a:r>
            <a:r>
              <a:rPr dirty="0" sz="4400" spc="-310" b="1" i="1">
                <a:latin typeface="Arial"/>
                <a:cs typeface="Arial"/>
              </a:rPr>
              <a:t>de </a:t>
            </a:r>
            <a:r>
              <a:rPr dirty="0" sz="4400" spc="-490" b="1" i="1">
                <a:latin typeface="Arial"/>
                <a:cs typeface="Arial"/>
              </a:rPr>
              <a:t>CFTV:  </a:t>
            </a:r>
            <a:r>
              <a:rPr dirty="0" sz="4400" spc="-385" b="1" i="1">
                <a:latin typeface="Arial"/>
                <a:cs typeface="Arial"/>
              </a:rPr>
              <a:t>Torre </a:t>
            </a:r>
            <a:r>
              <a:rPr dirty="0" sz="4400" spc="-310" b="1" i="1">
                <a:latin typeface="Arial"/>
                <a:cs typeface="Arial"/>
              </a:rPr>
              <a:t>de</a:t>
            </a:r>
            <a:r>
              <a:rPr dirty="0" sz="4400" spc="-185" b="1" i="1">
                <a:latin typeface="Arial"/>
                <a:cs typeface="Arial"/>
              </a:rPr>
              <a:t> </a:t>
            </a:r>
            <a:r>
              <a:rPr dirty="0" sz="4400" spc="-315" b="1" i="1">
                <a:latin typeface="Arial"/>
                <a:cs typeface="Arial"/>
              </a:rPr>
              <a:t>Comando</a:t>
            </a:r>
            <a:endParaRPr sz="4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7285" y="4840985"/>
            <a:ext cx="5332095" cy="0"/>
          </a:xfrm>
          <a:custGeom>
            <a:avLst/>
            <a:gdLst/>
            <a:ahLst/>
            <a:cxnLst/>
            <a:rect l="l" t="t" r="r" b="b"/>
            <a:pathLst>
              <a:path w="5332095" h="0">
                <a:moveTo>
                  <a:pt x="0" y="0"/>
                </a:moveTo>
                <a:lnTo>
                  <a:pt x="533185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79413" y="1418018"/>
            <a:ext cx="1256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100"/>
              </a:spcBef>
            </a:pPr>
            <a:r>
              <a:rPr dirty="0" sz="1800" spc="-185" b="1" i="1">
                <a:latin typeface="Arial"/>
                <a:cs typeface="Arial"/>
              </a:rPr>
              <a:t>Central </a:t>
            </a:r>
            <a:r>
              <a:rPr dirty="0" sz="1800" spc="-229" b="1" i="1">
                <a:latin typeface="Arial"/>
                <a:cs typeface="Arial"/>
              </a:rPr>
              <a:t>de  </a:t>
            </a:r>
            <a:r>
              <a:rPr dirty="0" sz="1800" spc="-280" b="1" i="1">
                <a:latin typeface="Arial"/>
                <a:cs typeface="Arial"/>
              </a:rPr>
              <a:t>CFTV:</a:t>
            </a:r>
            <a:r>
              <a:rPr dirty="0" sz="1800" spc="-135" b="1" i="1">
                <a:latin typeface="Arial"/>
                <a:cs typeface="Arial"/>
              </a:rPr>
              <a:t> </a:t>
            </a:r>
            <a:r>
              <a:rPr dirty="0" sz="1800" spc="-200" b="1" i="1">
                <a:latin typeface="Arial"/>
                <a:cs typeface="Arial"/>
              </a:rPr>
              <a:t>Torrede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3893" y="1965058"/>
            <a:ext cx="878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5" b="1" i="1">
                <a:latin typeface="Arial"/>
                <a:cs typeface="Arial"/>
              </a:rPr>
              <a:t>C</a:t>
            </a:r>
            <a:r>
              <a:rPr dirty="0" sz="1800" spc="-215" b="1" i="1">
                <a:latin typeface="Arial"/>
                <a:cs typeface="Arial"/>
              </a:rPr>
              <a:t>o</a:t>
            </a:r>
            <a:r>
              <a:rPr dirty="0" sz="1800" spc="-180" b="1" i="1">
                <a:latin typeface="Arial"/>
                <a:cs typeface="Arial"/>
              </a:rPr>
              <a:t>m</a:t>
            </a:r>
            <a:r>
              <a:rPr dirty="0" sz="1800" spc="-160" b="1" i="1">
                <a:latin typeface="Arial"/>
                <a:cs typeface="Arial"/>
              </a:rPr>
              <a:t>a</a:t>
            </a:r>
            <a:r>
              <a:rPr dirty="0" sz="1800" spc="-160" b="1" i="1">
                <a:latin typeface="Arial"/>
                <a:cs typeface="Arial"/>
              </a:rPr>
              <a:t>n</a:t>
            </a:r>
            <a:r>
              <a:rPr dirty="0" sz="1800" spc="-225" b="1" i="1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05874"/>
            <a:ext cx="6780530" cy="3093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20"/>
              </a:lnSpc>
              <a:buSzPct val="177777"/>
              <a:buFont typeface="Trebuchet MS"/>
              <a:buAutoNum type="arabicPeriod" startAt="38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Distribuição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tenha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1860"/>
              </a:lnSpc>
            </a:pPr>
            <a:r>
              <a:rPr dirty="0" sz="1800" spc="-250">
                <a:solidFill>
                  <a:srgbClr val="FFFFFF"/>
                </a:solidFill>
                <a:latin typeface="Arial"/>
                <a:cs typeface="Arial"/>
              </a:rPr>
              <a:t>CFTV. </a:t>
            </a:r>
            <a:r>
              <a:rPr dirty="0" sz="1800" spc="-155">
                <a:solidFill>
                  <a:srgbClr val="FFFFFF"/>
                </a:solidFill>
                <a:latin typeface="Arial"/>
                <a:cs typeface="Arial"/>
              </a:rPr>
              <a:t>Ela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controlar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todo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sistema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câmeras,</a:t>
            </a:r>
            <a:r>
              <a:rPr dirty="0" sz="1800" spc="-2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alarmes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2075"/>
              </a:lnSpc>
            </a:pP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(internos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perimetrais)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acessos;</a:t>
            </a:r>
            <a:endParaRPr sz="1800">
              <a:latin typeface="Arial"/>
              <a:cs typeface="Arial"/>
            </a:endParaRPr>
          </a:p>
          <a:p>
            <a:pPr marL="626110" marR="301625" indent="-613410">
              <a:lnSpc>
                <a:spcPct val="88700"/>
              </a:lnSpc>
              <a:spcBef>
                <a:spcPts val="880"/>
              </a:spcBef>
              <a:buSzPct val="177777"/>
              <a:buFont typeface="Trebuchet MS"/>
              <a:buAutoNum type="arabicPeriod" startAt="39"/>
              <a:tabLst>
                <a:tab pos="626745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ficar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segregado,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diversas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barreiras 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(físicas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eletrônicas),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último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os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meliantes 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consigam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acessar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caso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invasão.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esse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motivo,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ela 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mesma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ideia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Torre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Comando;</a:t>
            </a:r>
            <a:endParaRPr sz="1800">
              <a:latin typeface="Arial"/>
              <a:cs typeface="Arial"/>
            </a:endParaRPr>
          </a:p>
          <a:p>
            <a:pPr algn="just" marL="626110" marR="16510" indent="-613410">
              <a:lnSpc>
                <a:spcPct val="86900"/>
              </a:lnSpc>
              <a:spcBef>
                <a:spcPts val="940"/>
              </a:spcBef>
              <a:buSzPct val="177777"/>
              <a:buFont typeface="Trebuchet MS"/>
              <a:buAutoNum type="arabicPeriod" startAt="39"/>
              <a:tabLst>
                <a:tab pos="626745" algn="l"/>
              </a:tabLst>
            </a:pP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É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preciso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segunda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(própria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terceirizada)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tenha 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acesso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às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imagens,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garantido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maior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monitoramento 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Distribuição;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019" y="2929140"/>
            <a:ext cx="734568" cy="734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79413" y="1418018"/>
            <a:ext cx="1256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100"/>
              </a:spcBef>
            </a:pPr>
            <a:r>
              <a:rPr dirty="0" sz="1800" spc="-185" b="1" i="1">
                <a:latin typeface="Arial"/>
                <a:cs typeface="Arial"/>
              </a:rPr>
              <a:t>Central </a:t>
            </a:r>
            <a:r>
              <a:rPr dirty="0" sz="1800" spc="-229" b="1" i="1">
                <a:latin typeface="Arial"/>
                <a:cs typeface="Arial"/>
              </a:rPr>
              <a:t>de  </a:t>
            </a:r>
            <a:r>
              <a:rPr dirty="0" sz="1800" spc="-280" b="1" i="1">
                <a:latin typeface="Arial"/>
                <a:cs typeface="Arial"/>
              </a:rPr>
              <a:t>CFTV:</a:t>
            </a:r>
            <a:r>
              <a:rPr dirty="0" sz="1800" spc="-135" b="1" i="1">
                <a:latin typeface="Arial"/>
                <a:cs typeface="Arial"/>
              </a:rPr>
              <a:t> </a:t>
            </a:r>
            <a:r>
              <a:rPr dirty="0" sz="1800" spc="-200" b="1" i="1">
                <a:latin typeface="Arial"/>
                <a:cs typeface="Arial"/>
              </a:rPr>
              <a:t>Torrede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3893" y="1965058"/>
            <a:ext cx="878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5" b="1" i="1">
                <a:latin typeface="Arial"/>
                <a:cs typeface="Arial"/>
              </a:rPr>
              <a:t>C</a:t>
            </a:r>
            <a:r>
              <a:rPr dirty="0" sz="1800" spc="-215" b="1" i="1">
                <a:latin typeface="Arial"/>
                <a:cs typeface="Arial"/>
              </a:rPr>
              <a:t>o</a:t>
            </a:r>
            <a:r>
              <a:rPr dirty="0" sz="1800" spc="-180" b="1" i="1">
                <a:latin typeface="Arial"/>
                <a:cs typeface="Arial"/>
              </a:rPr>
              <a:t>m</a:t>
            </a:r>
            <a:r>
              <a:rPr dirty="0" sz="1800" spc="-160" b="1" i="1">
                <a:latin typeface="Arial"/>
                <a:cs typeface="Arial"/>
              </a:rPr>
              <a:t>a</a:t>
            </a:r>
            <a:r>
              <a:rPr dirty="0" sz="1800" spc="-160" b="1" i="1">
                <a:latin typeface="Arial"/>
                <a:cs typeface="Arial"/>
              </a:rPr>
              <a:t>n</a:t>
            </a:r>
            <a:r>
              <a:rPr dirty="0" sz="1800" spc="-225" b="1" i="1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05874"/>
            <a:ext cx="5815330" cy="2585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20"/>
              </a:lnSpc>
              <a:buSzPct val="177777"/>
              <a:buFont typeface="Trebuchet MS"/>
              <a:buAutoNum type="arabicPeriod" startAt="41"/>
              <a:tabLst>
                <a:tab pos="626745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CFTV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sua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estrutura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alvenaria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1939"/>
              </a:lnSpc>
            </a:pP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grauteada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(maior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resistência);</a:t>
            </a:r>
            <a:endParaRPr sz="1800">
              <a:latin typeface="Arial"/>
              <a:cs typeface="Arial"/>
            </a:endParaRPr>
          </a:p>
          <a:p>
            <a:pPr marL="626110" marR="198755" indent="-613410">
              <a:lnSpc>
                <a:spcPct val="81000"/>
              </a:lnSpc>
              <a:spcBef>
                <a:spcPts val="1190"/>
              </a:spcBef>
              <a:buSzPct val="177777"/>
              <a:buFont typeface="Trebuchet MS"/>
              <a:buAutoNum type="arabicPeriod" startAt="42"/>
              <a:tabLst>
                <a:tab pos="626745" algn="l"/>
              </a:tabLst>
            </a:pPr>
            <a:r>
              <a:rPr dirty="0" baseline="1543" sz="2700" spc="-487">
                <a:solidFill>
                  <a:srgbClr val="FFFFFF"/>
                </a:solidFill>
                <a:latin typeface="Arial"/>
                <a:cs typeface="Arial"/>
              </a:rPr>
              <a:t>É </a:t>
            </a:r>
            <a:r>
              <a:rPr dirty="0" baseline="1543" sz="2700" spc="-112">
                <a:solidFill>
                  <a:srgbClr val="FFFFFF"/>
                </a:solidFill>
                <a:latin typeface="Arial"/>
                <a:cs typeface="Arial"/>
              </a:rPr>
              <a:t>indicada </a:t>
            </a:r>
            <a:r>
              <a:rPr dirty="0" baseline="1543" sz="2700" spc="-52">
                <a:solidFill>
                  <a:srgbClr val="FFFFFF"/>
                </a:solidFill>
                <a:latin typeface="Arial"/>
                <a:cs typeface="Arial"/>
              </a:rPr>
              <a:t>porta </a:t>
            </a:r>
            <a:r>
              <a:rPr dirty="0" baseline="1543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1543" sz="2700" spc="-172">
                <a:solidFill>
                  <a:srgbClr val="FFFFFF"/>
                </a:solidFill>
                <a:latin typeface="Arial"/>
                <a:cs typeface="Arial"/>
              </a:rPr>
              <a:t>aço, </a:t>
            </a:r>
            <a:r>
              <a:rPr dirty="0" baseline="1543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1543" sz="2700" spc="-104">
                <a:solidFill>
                  <a:srgbClr val="FFFFFF"/>
                </a:solidFill>
                <a:latin typeface="Arial"/>
                <a:cs typeface="Arial"/>
              </a:rPr>
              <a:t>preferência </a:t>
            </a:r>
            <a:r>
              <a:rPr dirty="0" baseline="1543" sz="2700" spc="-89">
                <a:solidFill>
                  <a:srgbClr val="FFFFFF"/>
                </a:solidFill>
                <a:latin typeface="Arial"/>
                <a:cs typeface="Arial"/>
              </a:rPr>
              <a:t>blindada, </a:t>
            </a:r>
            <a:r>
              <a:rPr dirty="0" baseline="1543" sz="2700" spc="-142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fechadura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multiponto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olho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mágico;</a:t>
            </a:r>
            <a:endParaRPr sz="1800">
              <a:latin typeface="Arial"/>
              <a:cs typeface="Arial"/>
            </a:endParaRPr>
          </a:p>
          <a:p>
            <a:pPr marL="626110" indent="-613410">
              <a:lnSpc>
                <a:spcPct val="100000"/>
              </a:lnSpc>
              <a:spcBef>
                <a:spcPts val="434"/>
              </a:spcBef>
              <a:buSzPct val="177777"/>
              <a:buFont typeface="Trebuchet MS"/>
              <a:buAutoNum type="arabicPeriod" startAt="42"/>
              <a:tabLst>
                <a:tab pos="626745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CFTV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possuir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banheiro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minicozinha;</a:t>
            </a:r>
            <a:endParaRPr sz="1800">
              <a:latin typeface="Arial"/>
              <a:cs typeface="Arial"/>
            </a:endParaRPr>
          </a:p>
          <a:p>
            <a:pPr marL="626110" marR="617855" indent="-613410">
              <a:lnSpc>
                <a:spcPct val="82100"/>
              </a:lnSpc>
              <a:spcBef>
                <a:spcPts val="844"/>
              </a:spcBef>
              <a:buSzPct val="177777"/>
              <a:buFont typeface="Trebuchet MS"/>
              <a:buAutoNum type="arabicPeriod" startAt="42"/>
              <a:tabLst>
                <a:tab pos="626745" algn="l"/>
              </a:tabLst>
            </a:pP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Recomenda-se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aparelho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ar-condicionado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manutenção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dos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equipamentos;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7491" y="2921507"/>
            <a:ext cx="798576" cy="7970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79413" y="1418018"/>
            <a:ext cx="1256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100"/>
              </a:spcBef>
            </a:pPr>
            <a:r>
              <a:rPr dirty="0" sz="1800" spc="-185" b="1" i="1">
                <a:latin typeface="Arial"/>
                <a:cs typeface="Arial"/>
              </a:rPr>
              <a:t>Central </a:t>
            </a:r>
            <a:r>
              <a:rPr dirty="0" sz="1800" spc="-229" b="1" i="1">
                <a:latin typeface="Arial"/>
                <a:cs typeface="Arial"/>
              </a:rPr>
              <a:t>de  </a:t>
            </a:r>
            <a:r>
              <a:rPr dirty="0" sz="1800" spc="-280" b="1" i="1">
                <a:latin typeface="Arial"/>
                <a:cs typeface="Arial"/>
              </a:rPr>
              <a:t>CFTV:</a:t>
            </a:r>
            <a:r>
              <a:rPr dirty="0" sz="1800" spc="-135" b="1" i="1">
                <a:latin typeface="Arial"/>
                <a:cs typeface="Arial"/>
              </a:rPr>
              <a:t> </a:t>
            </a:r>
            <a:r>
              <a:rPr dirty="0" sz="1800" spc="-200" b="1" i="1">
                <a:latin typeface="Arial"/>
                <a:cs typeface="Arial"/>
              </a:rPr>
              <a:t>Torrede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3893" y="1965058"/>
            <a:ext cx="878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5" b="1" i="1">
                <a:latin typeface="Arial"/>
                <a:cs typeface="Arial"/>
              </a:rPr>
              <a:t>C</a:t>
            </a:r>
            <a:r>
              <a:rPr dirty="0" sz="1800" spc="-215" b="1" i="1">
                <a:latin typeface="Arial"/>
                <a:cs typeface="Arial"/>
              </a:rPr>
              <a:t>o</a:t>
            </a:r>
            <a:r>
              <a:rPr dirty="0" sz="1800" spc="-180" b="1" i="1">
                <a:latin typeface="Arial"/>
                <a:cs typeface="Arial"/>
              </a:rPr>
              <a:t>m</a:t>
            </a:r>
            <a:r>
              <a:rPr dirty="0" sz="1800" spc="-160" b="1" i="1">
                <a:latin typeface="Arial"/>
                <a:cs typeface="Arial"/>
              </a:rPr>
              <a:t>a</a:t>
            </a:r>
            <a:r>
              <a:rPr dirty="0" sz="1800" spc="-160" b="1" i="1">
                <a:latin typeface="Arial"/>
                <a:cs typeface="Arial"/>
              </a:rPr>
              <a:t>n</a:t>
            </a:r>
            <a:r>
              <a:rPr dirty="0" sz="1800" spc="-225" b="1" i="1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05874"/>
            <a:ext cx="6242050" cy="2585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20"/>
              </a:lnSpc>
              <a:buSzPct val="177777"/>
              <a:buFont typeface="Trebuchet MS"/>
              <a:buAutoNum type="arabicPeriod" startAt="45"/>
              <a:tabLst>
                <a:tab pos="626745" algn="l"/>
              </a:tabLst>
            </a:pPr>
            <a:r>
              <a:rPr dirty="0" sz="1800" spc="-185">
                <a:solidFill>
                  <a:srgbClr val="FFFFFF"/>
                </a:solidFill>
                <a:latin typeface="Arial"/>
                <a:cs typeface="Arial"/>
              </a:rPr>
              <a:t>Caso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CFTV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tenha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janelas,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elas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devem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ser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1939"/>
              </a:lnSpc>
            </a:pP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blindadas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película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escura;</a:t>
            </a:r>
            <a:endParaRPr sz="1800">
              <a:latin typeface="Arial"/>
              <a:cs typeface="Arial"/>
            </a:endParaRPr>
          </a:p>
          <a:p>
            <a:pPr algn="just" marL="626110" marR="5080" indent="-613410">
              <a:lnSpc>
                <a:spcPct val="86300"/>
              </a:lnSpc>
              <a:spcBef>
                <a:spcPts val="985"/>
              </a:spcBef>
              <a:buSzPct val="177777"/>
              <a:buFont typeface="Trebuchet MS"/>
              <a:buAutoNum type="arabicPeriod" startAt="46"/>
              <a:tabLst>
                <a:tab pos="626745" algn="l"/>
              </a:tabLst>
            </a:pPr>
            <a:r>
              <a:rPr dirty="0" baseline="1543" sz="2700" spc="-315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baseline="1543" sz="2700" spc="-104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baseline="1543" sz="2700" spc="-142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baseline="1543" sz="2700" spc="-112">
                <a:solidFill>
                  <a:srgbClr val="FFFFFF"/>
                </a:solidFill>
                <a:latin typeface="Arial"/>
                <a:cs typeface="Arial"/>
              </a:rPr>
              <a:t>ficar, </a:t>
            </a:r>
            <a:r>
              <a:rPr dirty="0" baseline="1543" sz="2700" spc="-127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baseline="1543" sz="2700" spc="-97">
                <a:solidFill>
                  <a:srgbClr val="FFFFFF"/>
                </a:solidFill>
                <a:latin typeface="Arial"/>
                <a:cs typeface="Arial"/>
              </a:rPr>
              <a:t>preferência, </a:t>
            </a:r>
            <a:r>
              <a:rPr dirty="0" baseline="1543" sz="2700" spc="-82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dirty="0" baseline="1543" sz="2700" spc="-15">
                <a:solidFill>
                  <a:srgbClr val="FFFFFF"/>
                </a:solidFill>
                <a:latin typeface="Arial"/>
                <a:cs typeface="Arial"/>
              </a:rPr>
              <a:t>último </a:t>
            </a:r>
            <a:r>
              <a:rPr dirty="0" baseline="1543" sz="2700" spc="-112">
                <a:solidFill>
                  <a:srgbClr val="FFFFFF"/>
                </a:solidFill>
                <a:latin typeface="Arial"/>
                <a:cs typeface="Arial"/>
              </a:rPr>
              <a:t>andar </a:t>
            </a:r>
            <a:r>
              <a:rPr dirty="0" baseline="1543" sz="2700" spc="-82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baseline="1543" sz="2700" spc="-12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Distribuição,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caso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tenha um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prédio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administrativo,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em 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um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ponto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estratégico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dentro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Centro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Distribuição;</a:t>
            </a:r>
            <a:endParaRPr sz="1800">
              <a:latin typeface="Arial"/>
              <a:cs typeface="Arial"/>
            </a:endParaRPr>
          </a:p>
          <a:p>
            <a:pPr marL="626110" marR="99060" indent="-613410">
              <a:lnSpc>
                <a:spcPct val="86900"/>
              </a:lnSpc>
              <a:spcBef>
                <a:spcPts val="955"/>
              </a:spcBef>
              <a:buSzPct val="177777"/>
              <a:buFont typeface="Trebuchet MS"/>
              <a:buAutoNum type="arabicPeriod" startAt="46"/>
              <a:tabLst>
                <a:tab pos="626745" algn="l"/>
              </a:tabLst>
            </a:pPr>
            <a:r>
              <a:rPr dirty="0" sz="1800" spc="-21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acesso à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CFTV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ser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controle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acesso 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biométrico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somente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feito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pela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equipe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trabalha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na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9">
                <a:solidFill>
                  <a:srgbClr val="FFFFFF"/>
                </a:solidFill>
                <a:latin typeface="Arial"/>
                <a:cs typeface="Arial"/>
              </a:rPr>
              <a:t>CFTV;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4068" y="3008376"/>
            <a:ext cx="736092" cy="734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511" y="2708148"/>
            <a:ext cx="1263650" cy="1263650"/>
          </a:xfrm>
          <a:custGeom>
            <a:avLst/>
            <a:gdLst/>
            <a:ahLst/>
            <a:cxnLst/>
            <a:rect l="l" t="t" r="r" b="b"/>
            <a:pathLst>
              <a:path w="1263650" h="1263650">
                <a:moveTo>
                  <a:pt x="631698" y="0"/>
                </a:moveTo>
                <a:lnTo>
                  <a:pt x="584553" y="1732"/>
                </a:lnTo>
                <a:lnTo>
                  <a:pt x="538349" y="6849"/>
                </a:lnTo>
                <a:lnTo>
                  <a:pt x="493208" y="15227"/>
                </a:lnTo>
                <a:lnTo>
                  <a:pt x="449253" y="26745"/>
                </a:lnTo>
                <a:lnTo>
                  <a:pt x="406606" y="41280"/>
                </a:lnTo>
                <a:lnTo>
                  <a:pt x="365388" y="58710"/>
                </a:lnTo>
                <a:lnTo>
                  <a:pt x="325721" y="78914"/>
                </a:lnTo>
                <a:lnTo>
                  <a:pt x="287729" y="101769"/>
                </a:lnTo>
                <a:lnTo>
                  <a:pt x="251533" y="127152"/>
                </a:lnTo>
                <a:lnTo>
                  <a:pt x="217255" y="154943"/>
                </a:lnTo>
                <a:lnTo>
                  <a:pt x="185018" y="185018"/>
                </a:lnTo>
                <a:lnTo>
                  <a:pt x="154943" y="217255"/>
                </a:lnTo>
                <a:lnTo>
                  <a:pt x="127152" y="251533"/>
                </a:lnTo>
                <a:lnTo>
                  <a:pt x="101769" y="287729"/>
                </a:lnTo>
                <a:lnTo>
                  <a:pt x="78914" y="325721"/>
                </a:lnTo>
                <a:lnTo>
                  <a:pt x="58710" y="365388"/>
                </a:lnTo>
                <a:lnTo>
                  <a:pt x="41280" y="406606"/>
                </a:lnTo>
                <a:lnTo>
                  <a:pt x="26745" y="449253"/>
                </a:lnTo>
                <a:lnTo>
                  <a:pt x="15227" y="493208"/>
                </a:lnTo>
                <a:lnTo>
                  <a:pt x="6849" y="538349"/>
                </a:lnTo>
                <a:lnTo>
                  <a:pt x="1732" y="584553"/>
                </a:lnTo>
                <a:lnTo>
                  <a:pt x="0" y="631698"/>
                </a:lnTo>
                <a:lnTo>
                  <a:pt x="1732" y="678842"/>
                </a:lnTo>
                <a:lnTo>
                  <a:pt x="6849" y="725046"/>
                </a:lnTo>
                <a:lnTo>
                  <a:pt x="15227" y="770187"/>
                </a:lnTo>
                <a:lnTo>
                  <a:pt x="26745" y="814142"/>
                </a:lnTo>
                <a:lnTo>
                  <a:pt x="41280" y="856789"/>
                </a:lnTo>
                <a:lnTo>
                  <a:pt x="58710" y="898007"/>
                </a:lnTo>
                <a:lnTo>
                  <a:pt x="78914" y="937674"/>
                </a:lnTo>
                <a:lnTo>
                  <a:pt x="101769" y="975666"/>
                </a:lnTo>
                <a:lnTo>
                  <a:pt x="127152" y="1011862"/>
                </a:lnTo>
                <a:lnTo>
                  <a:pt x="154943" y="1046140"/>
                </a:lnTo>
                <a:lnTo>
                  <a:pt x="185018" y="1078377"/>
                </a:lnTo>
                <a:lnTo>
                  <a:pt x="217255" y="1108452"/>
                </a:lnTo>
                <a:lnTo>
                  <a:pt x="251533" y="1136243"/>
                </a:lnTo>
                <a:lnTo>
                  <a:pt x="287729" y="1161626"/>
                </a:lnTo>
                <a:lnTo>
                  <a:pt x="325721" y="1184481"/>
                </a:lnTo>
                <a:lnTo>
                  <a:pt x="365388" y="1204685"/>
                </a:lnTo>
                <a:lnTo>
                  <a:pt x="406606" y="1222115"/>
                </a:lnTo>
                <a:lnTo>
                  <a:pt x="449253" y="1236650"/>
                </a:lnTo>
                <a:lnTo>
                  <a:pt x="493208" y="1248168"/>
                </a:lnTo>
                <a:lnTo>
                  <a:pt x="538349" y="1256546"/>
                </a:lnTo>
                <a:lnTo>
                  <a:pt x="584553" y="1261663"/>
                </a:lnTo>
                <a:lnTo>
                  <a:pt x="631698" y="1263396"/>
                </a:lnTo>
                <a:lnTo>
                  <a:pt x="678842" y="1261663"/>
                </a:lnTo>
                <a:lnTo>
                  <a:pt x="725046" y="1256546"/>
                </a:lnTo>
                <a:lnTo>
                  <a:pt x="770187" y="1248168"/>
                </a:lnTo>
                <a:lnTo>
                  <a:pt x="814142" y="1236650"/>
                </a:lnTo>
                <a:lnTo>
                  <a:pt x="856789" y="1222115"/>
                </a:lnTo>
                <a:lnTo>
                  <a:pt x="898007" y="1204685"/>
                </a:lnTo>
                <a:lnTo>
                  <a:pt x="937674" y="1184481"/>
                </a:lnTo>
                <a:lnTo>
                  <a:pt x="975666" y="1161626"/>
                </a:lnTo>
                <a:lnTo>
                  <a:pt x="1011862" y="1136243"/>
                </a:lnTo>
                <a:lnTo>
                  <a:pt x="1046140" y="1108452"/>
                </a:lnTo>
                <a:lnTo>
                  <a:pt x="1078377" y="1078377"/>
                </a:lnTo>
                <a:lnTo>
                  <a:pt x="1108452" y="1046140"/>
                </a:lnTo>
                <a:lnTo>
                  <a:pt x="1136243" y="1011862"/>
                </a:lnTo>
                <a:lnTo>
                  <a:pt x="1161626" y="975666"/>
                </a:lnTo>
                <a:lnTo>
                  <a:pt x="1184481" y="937674"/>
                </a:lnTo>
                <a:lnTo>
                  <a:pt x="1204685" y="898007"/>
                </a:lnTo>
                <a:lnTo>
                  <a:pt x="1222115" y="856789"/>
                </a:lnTo>
                <a:lnTo>
                  <a:pt x="1236650" y="814142"/>
                </a:lnTo>
                <a:lnTo>
                  <a:pt x="1248168" y="770187"/>
                </a:lnTo>
                <a:lnTo>
                  <a:pt x="1256546" y="725046"/>
                </a:lnTo>
                <a:lnTo>
                  <a:pt x="1261663" y="678842"/>
                </a:lnTo>
                <a:lnTo>
                  <a:pt x="1263396" y="631698"/>
                </a:lnTo>
                <a:lnTo>
                  <a:pt x="1261663" y="584553"/>
                </a:lnTo>
                <a:lnTo>
                  <a:pt x="1256546" y="538349"/>
                </a:lnTo>
                <a:lnTo>
                  <a:pt x="1248168" y="493208"/>
                </a:lnTo>
                <a:lnTo>
                  <a:pt x="1236650" y="449253"/>
                </a:lnTo>
                <a:lnTo>
                  <a:pt x="1222115" y="406606"/>
                </a:lnTo>
                <a:lnTo>
                  <a:pt x="1204685" y="365388"/>
                </a:lnTo>
                <a:lnTo>
                  <a:pt x="1184481" y="325721"/>
                </a:lnTo>
                <a:lnTo>
                  <a:pt x="1161626" y="287729"/>
                </a:lnTo>
                <a:lnTo>
                  <a:pt x="1136243" y="251533"/>
                </a:lnTo>
                <a:lnTo>
                  <a:pt x="1108452" y="217255"/>
                </a:lnTo>
                <a:lnTo>
                  <a:pt x="1078377" y="185018"/>
                </a:lnTo>
                <a:lnTo>
                  <a:pt x="1046140" y="154943"/>
                </a:lnTo>
                <a:lnTo>
                  <a:pt x="1011862" y="127152"/>
                </a:lnTo>
                <a:lnTo>
                  <a:pt x="975666" y="101769"/>
                </a:lnTo>
                <a:lnTo>
                  <a:pt x="937674" y="78914"/>
                </a:lnTo>
                <a:lnTo>
                  <a:pt x="898007" y="58710"/>
                </a:lnTo>
                <a:lnTo>
                  <a:pt x="856789" y="41280"/>
                </a:lnTo>
                <a:lnTo>
                  <a:pt x="814142" y="26745"/>
                </a:lnTo>
                <a:lnTo>
                  <a:pt x="770187" y="15227"/>
                </a:lnTo>
                <a:lnTo>
                  <a:pt x="725046" y="6849"/>
                </a:lnTo>
                <a:lnTo>
                  <a:pt x="678842" y="1732"/>
                </a:lnTo>
                <a:lnTo>
                  <a:pt x="6316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313" y="2647950"/>
            <a:ext cx="1385570" cy="1385570"/>
          </a:xfrm>
          <a:custGeom>
            <a:avLst/>
            <a:gdLst/>
            <a:ahLst/>
            <a:cxnLst/>
            <a:rect l="l" t="t" r="r" b="b"/>
            <a:pathLst>
              <a:path w="1385570" h="1385570">
                <a:moveTo>
                  <a:pt x="0" y="692658"/>
                </a:moveTo>
                <a:lnTo>
                  <a:pt x="1597" y="645233"/>
                </a:lnTo>
                <a:lnTo>
                  <a:pt x="6323" y="598667"/>
                </a:lnTo>
                <a:lnTo>
                  <a:pt x="14072" y="553061"/>
                </a:lnTo>
                <a:lnTo>
                  <a:pt x="24742" y="508520"/>
                </a:lnTo>
                <a:lnTo>
                  <a:pt x="38229" y="465146"/>
                </a:lnTo>
                <a:lnTo>
                  <a:pt x="54431" y="423042"/>
                </a:lnTo>
                <a:lnTo>
                  <a:pt x="73245" y="382311"/>
                </a:lnTo>
                <a:lnTo>
                  <a:pt x="94567" y="343058"/>
                </a:lnTo>
                <a:lnTo>
                  <a:pt x="118293" y="305384"/>
                </a:lnTo>
                <a:lnTo>
                  <a:pt x="144322" y="269393"/>
                </a:lnTo>
                <a:lnTo>
                  <a:pt x="172549" y="235188"/>
                </a:lnTo>
                <a:lnTo>
                  <a:pt x="202872" y="202872"/>
                </a:lnTo>
                <a:lnTo>
                  <a:pt x="235188" y="172549"/>
                </a:lnTo>
                <a:lnTo>
                  <a:pt x="269393" y="144322"/>
                </a:lnTo>
                <a:lnTo>
                  <a:pt x="305384" y="118293"/>
                </a:lnTo>
                <a:lnTo>
                  <a:pt x="343058" y="94567"/>
                </a:lnTo>
                <a:lnTo>
                  <a:pt x="382311" y="73245"/>
                </a:lnTo>
                <a:lnTo>
                  <a:pt x="423042" y="54431"/>
                </a:lnTo>
                <a:lnTo>
                  <a:pt x="465146" y="38229"/>
                </a:lnTo>
                <a:lnTo>
                  <a:pt x="508520" y="24742"/>
                </a:lnTo>
                <a:lnTo>
                  <a:pt x="553061" y="14072"/>
                </a:lnTo>
                <a:lnTo>
                  <a:pt x="598667" y="6323"/>
                </a:lnTo>
                <a:lnTo>
                  <a:pt x="645233" y="1597"/>
                </a:lnTo>
                <a:lnTo>
                  <a:pt x="692658" y="0"/>
                </a:lnTo>
                <a:lnTo>
                  <a:pt x="740082" y="1597"/>
                </a:lnTo>
                <a:lnTo>
                  <a:pt x="786648" y="6323"/>
                </a:lnTo>
                <a:lnTo>
                  <a:pt x="832254" y="14072"/>
                </a:lnTo>
                <a:lnTo>
                  <a:pt x="876795" y="24742"/>
                </a:lnTo>
                <a:lnTo>
                  <a:pt x="920169" y="38229"/>
                </a:lnTo>
                <a:lnTo>
                  <a:pt x="962273" y="54431"/>
                </a:lnTo>
                <a:lnTo>
                  <a:pt x="1003004" y="73245"/>
                </a:lnTo>
                <a:lnTo>
                  <a:pt x="1042257" y="94567"/>
                </a:lnTo>
                <a:lnTo>
                  <a:pt x="1079931" y="118293"/>
                </a:lnTo>
                <a:lnTo>
                  <a:pt x="1115922" y="144322"/>
                </a:lnTo>
                <a:lnTo>
                  <a:pt x="1150127" y="172549"/>
                </a:lnTo>
                <a:lnTo>
                  <a:pt x="1182443" y="202872"/>
                </a:lnTo>
                <a:lnTo>
                  <a:pt x="1212766" y="235188"/>
                </a:lnTo>
                <a:lnTo>
                  <a:pt x="1240993" y="269393"/>
                </a:lnTo>
                <a:lnTo>
                  <a:pt x="1267022" y="305384"/>
                </a:lnTo>
                <a:lnTo>
                  <a:pt x="1290748" y="343058"/>
                </a:lnTo>
                <a:lnTo>
                  <a:pt x="1312070" y="382311"/>
                </a:lnTo>
                <a:lnTo>
                  <a:pt x="1330884" y="423042"/>
                </a:lnTo>
                <a:lnTo>
                  <a:pt x="1347086" y="465146"/>
                </a:lnTo>
                <a:lnTo>
                  <a:pt x="1360573" y="508520"/>
                </a:lnTo>
                <a:lnTo>
                  <a:pt x="1371243" y="553061"/>
                </a:lnTo>
                <a:lnTo>
                  <a:pt x="1378992" y="598667"/>
                </a:lnTo>
                <a:lnTo>
                  <a:pt x="1383718" y="645233"/>
                </a:lnTo>
                <a:lnTo>
                  <a:pt x="1385316" y="692658"/>
                </a:lnTo>
                <a:lnTo>
                  <a:pt x="1383718" y="740082"/>
                </a:lnTo>
                <a:lnTo>
                  <a:pt x="1378992" y="786648"/>
                </a:lnTo>
                <a:lnTo>
                  <a:pt x="1371243" y="832254"/>
                </a:lnTo>
                <a:lnTo>
                  <a:pt x="1360573" y="876795"/>
                </a:lnTo>
                <a:lnTo>
                  <a:pt x="1347086" y="920169"/>
                </a:lnTo>
                <a:lnTo>
                  <a:pt x="1330884" y="962273"/>
                </a:lnTo>
                <a:lnTo>
                  <a:pt x="1312070" y="1003004"/>
                </a:lnTo>
                <a:lnTo>
                  <a:pt x="1290748" y="1042257"/>
                </a:lnTo>
                <a:lnTo>
                  <a:pt x="1267022" y="1079931"/>
                </a:lnTo>
                <a:lnTo>
                  <a:pt x="1240993" y="1115922"/>
                </a:lnTo>
                <a:lnTo>
                  <a:pt x="1212766" y="1150127"/>
                </a:lnTo>
                <a:lnTo>
                  <a:pt x="1182443" y="1182443"/>
                </a:lnTo>
                <a:lnTo>
                  <a:pt x="1150127" y="1212766"/>
                </a:lnTo>
                <a:lnTo>
                  <a:pt x="1115922" y="1240993"/>
                </a:lnTo>
                <a:lnTo>
                  <a:pt x="1079931" y="1267022"/>
                </a:lnTo>
                <a:lnTo>
                  <a:pt x="1042257" y="1290748"/>
                </a:lnTo>
                <a:lnTo>
                  <a:pt x="1003004" y="1312070"/>
                </a:lnTo>
                <a:lnTo>
                  <a:pt x="962273" y="1330884"/>
                </a:lnTo>
                <a:lnTo>
                  <a:pt x="920169" y="1347086"/>
                </a:lnTo>
                <a:lnTo>
                  <a:pt x="876795" y="1360573"/>
                </a:lnTo>
                <a:lnTo>
                  <a:pt x="832254" y="1371243"/>
                </a:lnTo>
                <a:lnTo>
                  <a:pt x="786648" y="1378992"/>
                </a:lnTo>
                <a:lnTo>
                  <a:pt x="740082" y="1383718"/>
                </a:lnTo>
                <a:lnTo>
                  <a:pt x="692658" y="1385316"/>
                </a:lnTo>
                <a:lnTo>
                  <a:pt x="645233" y="1383718"/>
                </a:lnTo>
                <a:lnTo>
                  <a:pt x="598667" y="1378992"/>
                </a:lnTo>
                <a:lnTo>
                  <a:pt x="553061" y="1371243"/>
                </a:lnTo>
                <a:lnTo>
                  <a:pt x="508520" y="1360573"/>
                </a:lnTo>
                <a:lnTo>
                  <a:pt x="465146" y="1347086"/>
                </a:lnTo>
                <a:lnTo>
                  <a:pt x="423042" y="1330884"/>
                </a:lnTo>
                <a:lnTo>
                  <a:pt x="382311" y="1312070"/>
                </a:lnTo>
                <a:lnTo>
                  <a:pt x="343058" y="1290748"/>
                </a:lnTo>
                <a:lnTo>
                  <a:pt x="305384" y="1267022"/>
                </a:lnTo>
                <a:lnTo>
                  <a:pt x="269393" y="1240993"/>
                </a:lnTo>
                <a:lnTo>
                  <a:pt x="235188" y="1212766"/>
                </a:lnTo>
                <a:lnTo>
                  <a:pt x="202872" y="1182443"/>
                </a:lnTo>
                <a:lnTo>
                  <a:pt x="172549" y="1150127"/>
                </a:lnTo>
                <a:lnTo>
                  <a:pt x="144322" y="1115922"/>
                </a:lnTo>
                <a:lnTo>
                  <a:pt x="118293" y="1079931"/>
                </a:lnTo>
                <a:lnTo>
                  <a:pt x="94567" y="1042257"/>
                </a:lnTo>
                <a:lnTo>
                  <a:pt x="73245" y="1003004"/>
                </a:lnTo>
                <a:lnTo>
                  <a:pt x="54431" y="962273"/>
                </a:lnTo>
                <a:lnTo>
                  <a:pt x="38229" y="920169"/>
                </a:lnTo>
                <a:lnTo>
                  <a:pt x="24742" y="876795"/>
                </a:lnTo>
                <a:lnTo>
                  <a:pt x="14072" y="832254"/>
                </a:lnTo>
                <a:lnTo>
                  <a:pt x="6323" y="786648"/>
                </a:lnTo>
                <a:lnTo>
                  <a:pt x="1597" y="740082"/>
                </a:lnTo>
                <a:lnTo>
                  <a:pt x="0" y="692658"/>
                </a:lnTo>
                <a:close/>
              </a:path>
            </a:pathLst>
          </a:custGeom>
          <a:ln w="2895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850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040891"/>
            <a:ext cx="9144000" cy="809625"/>
          </a:xfrm>
          <a:custGeom>
            <a:avLst/>
            <a:gdLst/>
            <a:ahLst/>
            <a:cxnLst/>
            <a:rect l="l" t="t" r="r" b="b"/>
            <a:pathLst>
              <a:path w="9144000" h="809625">
                <a:moveTo>
                  <a:pt x="0" y="809243"/>
                </a:moveTo>
                <a:lnTo>
                  <a:pt x="9144000" y="809243"/>
                </a:lnTo>
                <a:lnTo>
                  <a:pt x="9144000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solidFill>
            <a:srgbClr val="21212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41107" y="0"/>
            <a:ext cx="1536700" cy="2743200"/>
          </a:xfrm>
          <a:custGeom>
            <a:avLst/>
            <a:gdLst/>
            <a:ahLst/>
            <a:cxnLst/>
            <a:rect l="l" t="t" r="r" b="b"/>
            <a:pathLst>
              <a:path w="1536700" h="2743200">
                <a:moveTo>
                  <a:pt x="0" y="0"/>
                </a:moveTo>
                <a:lnTo>
                  <a:pt x="0" y="2743200"/>
                </a:lnTo>
                <a:lnTo>
                  <a:pt x="758304" y="2428671"/>
                </a:lnTo>
                <a:lnTo>
                  <a:pt x="1524790" y="2428671"/>
                </a:lnTo>
                <a:lnTo>
                  <a:pt x="1536181" y="2184"/>
                </a:lnTo>
                <a:lnTo>
                  <a:pt x="735901" y="2184"/>
                </a:lnTo>
                <a:lnTo>
                  <a:pt x="0" y="0"/>
                </a:lnTo>
                <a:close/>
              </a:path>
              <a:path w="1536700" h="2743200">
                <a:moveTo>
                  <a:pt x="1524790" y="2428671"/>
                </a:moveTo>
                <a:lnTo>
                  <a:pt x="758304" y="2428671"/>
                </a:lnTo>
                <a:lnTo>
                  <a:pt x="1523314" y="2743200"/>
                </a:lnTo>
                <a:lnTo>
                  <a:pt x="1524790" y="2428671"/>
                </a:lnTo>
                <a:close/>
              </a:path>
              <a:path w="1536700" h="2743200">
                <a:moveTo>
                  <a:pt x="1536192" y="0"/>
                </a:moveTo>
                <a:lnTo>
                  <a:pt x="735901" y="2184"/>
                </a:lnTo>
                <a:lnTo>
                  <a:pt x="1536181" y="2184"/>
                </a:lnTo>
                <a:lnTo>
                  <a:pt x="15361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116" y="1212278"/>
            <a:ext cx="4217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50 </a:t>
            </a:r>
            <a:r>
              <a:rPr dirty="0" spc="-30" i="0">
                <a:solidFill>
                  <a:srgbClr val="FFFFFF"/>
                </a:solidFill>
                <a:latin typeface="Trebuchet MS"/>
                <a:cs typeface="Trebuchet MS"/>
              </a:rPr>
              <a:t>DICAS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pc="-35" i="0">
                <a:solidFill>
                  <a:srgbClr val="FFFFFF"/>
                </a:solidFill>
                <a:latin typeface="Trebuchet MS"/>
                <a:cs typeface="Trebuchet MS"/>
              </a:rPr>
              <a:t>SEGURANÇA </a:t>
            </a:r>
            <a:r>
              <a:rPr dirty="0" spc="-140" i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PREVENÇÃO 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6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FFFFFF"/>
                </a:solidFill>
                <a:latin typeface="Trebuchet MS"/>
                <a:cs typeface="Trebuchet MS"/>
              </a:rPr>
              <a:t>PERDAS</a:t>
            </a:r>
            <a:r>
              <a:rPr dirty="0" spc="-16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50" i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FFFFFF"/>
                </a:solidFill>
                <a:latin typeface="Trebuchet MS"/>
                <a:cs typeface="Trebuchet MS"/>
              </a:rPr>
              <a:t>CENTROS</a:t>
            </a:r>
            <a:r>
              <a:rPr dirty="0" spc="-1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pc="-150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FFFFFF"/>
                </a:solidFill>
                <a:latin typeface="Trebuchet MS"/>
                <a:cs typeface="Trebuchet MS"/>
              </a:rPr>
              <a:t>DISTRIBUIÇÃO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79413" y="1418018"/>
            <a:ext cx="1256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100"/>
              </a:spcBef>
            </a:pPr>
            <a:r>
              <a:rPr dirty="0" sz="1800" spc="-185" b="1" i="1">
                <a:latin typeface="Arial"/>
                <a:cs typeface="Arial"/>
              </a:rPr>
              <a:t>Central </a:t>
            </a:r>
            <a:r>
              <a:rPr dirty="0" sz="1800" spc="-229" b="1" i="1">
                <a:latin typeface="Arial"/>
                <a:cs typeface="Arial"/>
              </a:rPr>
              <a:t>de  </a:t>
            </a:r>
            <a:r>
              <a:rPr dirty="0" sz="1800" spc="-280" b="1" i="1">
                <a:latin typeface="Arial"/>
                <a:cs typeface="Arial"/>
              </a:rPr>
              <a:t>CFTV:</a:t>
            </a:r>
            <a:r>
              <a:rPr dirty="0" sz="1800" spc="-135" b="1" i="1">
                <a:latin typeface="Arial"/>
                <a:cs typeface="Arial"/>
              </a:rPr>
              <a:t> </a:t>
            </a:r>
            <a:r>
              <a:rPr dirty="0" sz="1800" spc="-200" b="1" i="1">
                <a:latin typeface="Arial"/>
                <a:cs typeface="Arial"/>
              </a:rPr>
              <a:t>Torrede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3893" y="1965058"/>
            <a:ext cx="878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5" b="1" i="1">
                <a:latin typeface="Arial"/>
                <a:cs typeface="Arial"/>
              </a:rPr>
              <a:t>C</a:t>
            </a:r>
            <a:r>
              <a:rPr dirty="0" sz="1800" spc="-215" b="1" i="1">
                <a:latin typeface="Arial"/>
                <a:cs typeface="Arial"/>
              </a:rPr>
              <a:t>o</a:t>
            </a:r>
            <a:r>
              <a:rPr dirty="0" sz="1800" spc="-180" b="1" i="1">
                <a:latin typeface="Arial"/>
                <a:cs typeface="Arial"/>
              </a:rPr>
              <a:t>m</a:t>
            </a:r>
            <a:r>
              <a:rPr dirty="0" sz="1800" spc="-160" b="1" i="1">
                <a:latin typeface="Arial"/>
                <a:cs typeface="Arial"/>
              </a:rPr>
              <a:t>a</a:t>
            </a:r>
            <a:r>
              <a:rPr dirty="0" sz="1800" spc="-160" b="1" i="1">
                <a:latin typeface="Arial"/>
                <a:cs typeface="Arial"/>
              </a:rPr>
              <a:t>n</a:t>
            </a:r>
            <a:r>
              <a:rPr dirty="0" sz="1800" spc="-225" b="1" i="1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3075" y="3005874"/>
            <a:ext cx="6130925" cy="2078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110" indent="-613410">
              <a:lnSpc>
                <a:spcPts val="2320"/>
              </a:lnSpc>
              <a:buSzPct val="177777"/>
              <a:buFont typeface="Trebuchet MS"/>
              <a:buAutoNum type="arabicPeriod" startAt="48"/>
              <a:tabLst>
                <a:tab pos="626745" algn="l"/>
              </a:tabLst>
            </a:pPr>
            <a:r>
              <a:rPr dirty="0" sz="1800" spc="-325">
                <a:solidFill>
                  <a:srgbClr val="FFFFFF"/>
                </a:solidFill>
                <a:latin typeface="Arial"/>
                <a:cs typeface="Arial"/>
              </a:rPr>
              <a:t>É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importante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câmeras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instaladas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do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lado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externo</a:t>
            </a:r>
            <a:r>
              <a:rPr dirty="0" sz="1800" spc="-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da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1860"/>
              </a:lnSpc>
            </a:pP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45">
                <a:solidFill>
                  <a:srgbClr val="FFFFFF"/>
                </a:solidFill>
                <a:latin typeface="Arial"/>
                <a:cs typeface="Arial"/>
              </a:rPr>
              <a:t>CFTV,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captar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imagens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das pessoas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  <a:p>
            <a:pPr marL="626110">
              <a:lnSpc>
                <a:spcPts val="2075"/>
              </a:lnSpc>
            </a:pP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acessam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local;</a:t>
            </a:r>
            <a:endParaRPr sz="1800">
              <a:latin typeface="Arial"/>
              <a:cs typeface="Arial"/>
            </a:endParaRPr>
          </a:p>
          <a:p>
            <a:pPr marL="626110" indent="-613410">
              <a:lnSpc>
                <a:spcPct val="100000"/>
              </a:lnSpc>
              <a:spcBef>
                <a:spcPts val="495"/>
              </a:spcBef>
              <a:buSzPct val="177777"/>
              <a:buFont typeface="Trebuchet MS"/>
              <a:buAutoNum type="arabicPeriod" startAt="49"/>
              <a:tabLst>
                <a:tab pos="626745" algn="l"/>
              </a:tabLst>
            </a:pPr>
            <a:r>
              <a:rPr dirty="0" baseline="1543" sz="2700" spc="-202">
                <a:solidFill>
                  <a:srgbClr val="FFFFFF"/>
                </a:solidFill>
                <a:latin typeface="Arial"/>
                <a:cs typeface="Arial"/>
              </a:rPr>
              <a:t>Também </a:t>
            </a:r>
            <a:r>
              <a:rPr dirty="0" baseline="1543" sz="2700" spc="-165">
                <a:solidFill>
                  <a:srgbClr val="FFFFFF"/>
                </a:solidFill>
                <a:latin typeface="Arial"/>
                <a:cs typeface="Arial"/>
              </a:rPr>
              <a:t>é </a:t>
            </a:r>
            <a:r>
              <a:rPr dirty="0" baseline="1543" sz="2700" spc="-150">
                <a:solidFill>
                  <a:srgbClr val="FFFFFF"/>
                </a:solidFill>
                <a:latin typeface="Arial"/>
                <a:cs typeface="Arial"/>
              </a:rPr>
              <a:t>necessário </a:t>
            </a:r>
            <a:r>
              <a:rPr dirty="0" baseline="1543" sz="2700" spc="-179">
                <a:solidFill>
                  <a:srgbClr val="FFFFFF"/>
                </a:solidFill>
                <a:latin typeface="Arial"/>
                <a:cs typeface="Arial"/>
              </a:rPr>
              <a:t>câmeras </a:t>
            </a:r>
            <a:r>
              <a:rPr dirty="0" baseline="1543" sz="2700" spc="-52">
                <a:solidFill>
                  <a:srgbClr val="FFFFFF"/>
                </a:solidFill>
                <a:latin typeface="Arial"/>
                <a:cs typeface="Arial"/>
              </a:rPr>
              <a:t>dentro </a:t>
            </a:r>
            <a:r>
              <a:rPr dirty="0" baseline="1543" sz="2700" spc="-15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dirty="0" baseline="1543" sz="2700" spc="-12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baseline="1543" sz="2700" spc="-127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baseline="1543" sz="2700" spc="-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543" sz="2700" spc="-345">
                <a:solidFill>
                  <a:srgbClr val="FFFFFF"/>
                </a:solidFill>
                <a:latin typeface="Arial"/>
                <a:cs typeface="Arial"/>
              </a:rPr>
              <a:t>CFTV;</a:t>
            </a:r>
            <a:endParaRPr baseline="1543" sz="2700">
              <a:latin typeface="Arial"/>
              <a:cs typeface="Arial"/>
            </a:endParaRPr>
          </a:p>
          <a:p>
            <a:pPr marL="626110" marR="5080" indent="-613410">
              <a:lnSpc>
                <a:spcPct val="82100"/>
              </a:lnSpc>
              <a:spcBef>
                <a:spcPts val="795"/>
              </a:spcBef>
              <a:buSzPct val="177777"/>
              <a:buFont typeface="Trebuchet MS"/>
              <a:buAutoNum type="arabicPeriod" startAt="49"/>
              <a:tabLst>
                <a:tab pos="626745" algn="l"/>
              </a:tabLst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Central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800" spc="-254">
                <a:solidFill>
                  <a:srgbClr val="FFFFFF"/>
                </a:solidFill>
                <a:latin typeface="Arial"/>
                <a:cs typeface="Arial"/>
              </a:rPr>
              <a:t>CFTV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deve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ter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suas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imagens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monitoradas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por 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uma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segunda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central, 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pode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própria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terceirizada.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5572" y="2851404"/>
            <a:ext cx="975360" cy="975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6565392" y="0"/>
                </a:moveTo>
                <a:lnTo>
                  <a:pt x="0" y="0"/>
                </a:lnTo>
                <a:lnTo>
                  <a:pt x="0" y="836676"/>
                </a:lnTo>
                <a:lnTo>
                  <a:pt x="6565392" y="836676"/>
                </a:lnTo>
                <a:lnTo>
                  <a:pt x="6565392" y="697230"/>
                </a:lnTo>
                <a:lnTo>
                  <a:pt x="7098182" y="647725"/>
                </a:lnTo>
                <a:lnTo>
                  <a:pt x="6565392" y="488061"/>
                </a:lnTo>
                <a:lnTo>
                  <a:pt x="656539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6511" y="5705855"/>
            <a:ext cx="7098665" cy="836930"/>
          </a:xfrm>
          <a:custGeom>
            <a:avLst/>
            <a:gdLst/>
            <a:ahLst/>
            <a:cxnLst/>
            <a:rect l="l" t="t" r="r" b="b"/>
            <a:pathLst>
              <a:path w="7098665" h="836929">
                <a:moveTo>
                  <a:pt x="0" y="0"/>
                </a:moveTo>
                <a:lnTo>
                  <a:pt x="3829812" y="0"/>
                </a:lnTo>
                <a:lnTo>
                  <a:pt x="5471160" y="0"/>
                </a:lnTo>
                <a:lnTo>
                  <a:pt x="6565392" y="0"/>
                </a:lnTo>
                <a:lnTo>
                  <a:pt x="6565392" y="488061"/>
                </a:lnTo>
                <a:lnTo>
                  <a:pt x="7098182" y="647725"/>
                </a:lnTo>
                <a:lnTo>
                  <a:pt x="6565392" y="697230"/>
                </a:lnTo>
                <a:lnTo>
                  <a:pt x="6565392" y="836676"/>
                </a:lnTo>
                <a:lnTo>
                  <a:pt x="5471160" y="836676"/>
                </a:lnTo>
                <a:lnTo>
                  <a:pt x="3829812" y="836676"/>
                </a:lnTo>
                <a:lnTo>
                  <a:pt x="0" y="836676"/>
                </a:lnTo>
                <a:lnTo>
                  <a:pt x="0" y="697230"/>
                </a:lnTo>
                <a:lnTo>
                  <a:pt x="0" y="488061"/>
                </a:lnTo>
                <a:lnTo>
                  <a:pt x="0" y="0"/>
                </a:lnTo>
                <a:close/>
              </a:path>
            </a:pathLst>
          </a:custGeom>
          <a:ln w="12191">
            <a:solidFill>
              <a:srgbClr val="FFC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9004" y="5820495"/>
            <a:ext cx="406907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0">
                <a:solidFill>
                  <a:srgbClr val="FFC000"/>
                </a:solidFill>
                <a:latin typeface="Arial"/>
                <a:cs typeface="Arial"/>
                <a:hlinkClick r:id="rId4"/>
              </a:rPr>
              <a:t>CONHEÇA </a:t>
            </a:r>
            <a:r>
              <a:rPr dirty="0" sz="1800" spc="-210">
                <a:solidFill>
                  <a:srgbClr val="FFC000"/>
                </a:solidFill>
                <a:latin typeface="Arial"/>
                <a:cs typeface="Arial"/>
                <a:hlinkClick r:id="rId4"/>
              </a:rPr>
              <a:t>O </a:t>
            </a:r>
            <a:r>
              <a:rPr dirty="0" sz="1800" spc="-265">
                <a:solidFill>
                  <a:srgbClr val="FFC000"/>
                </a:solidFill>
                <a:latin typeface="Arial"/>
                <a:cs typeface="Arial"/>
                <a:hlinkClick r:id="rId4"/>
              </a:rPr>
              <a:t>SERVIÇO </a:t>
            </a:r>
            <a:r>
              <a:rPr dirty="0" sz="1800" spc="-204">
                <a:solidFill>
                  <a:srgbClr val="FFC000"/>
                </a:solidFill>
                <a:latin typeface="Arial"/>
                <a:cs typeface="Arial"/>
                <a:hlinkClick r:id="rId4"/>
              </a:rPr>
              <a:t>PIONEIRO </a:t>
            </a:r>
            <a:r>
              <a:rPr dirty="0" sz="1800" spc="-175">
                <a:solidFill>
                  <a:srgbClr val="FFC000"/>
                </a:solidFill>
                <a:latin typeface="Arial"/>
                <a:cs typeface="Arial"/>
                <a:hlinkClick r:id="rId4"/>
              </a:rPr>
              <a:t>NO </a:t>
            </a:r>
            <a:r>
              <a:rPr dirty="0" sz="1800" spc="-250">
                <a:solidFill>
                  <a:srgbClr val="FFC000"/>
                </a:solidFill>
                <a:latin typeface="Arial"/>
                <a:cs typeface="Arial"/>
                <a:hlinkClick r:id="rId4"/>
              </a:rPr>
              <a:t>PAÍS </a:t>
            </a:r>
            <a:r>
              <a:rPr dirty="0" sz="1800" spc="-260">
                <a:solidFill>
                  <a:srgbClr val="FFC000"/>
                </a:solidFill>
                <a:latin typeface="Arial"/>
                <a:cs typeface="Arial"/>
                <a:hlinkClick r:id="rId4"/>
              </a:rPr>
              <a:t>DE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50" b="1">
                <a:solidFill>
                  <a:srgbClr val="FFC000"/>
                </a:solidFill>
                <a:latin typeface="Trebuchet MS"/>
                <a:cs typeface="Trebuchet MS"/>
                <a:hlinkClick r:id="rId4"/>
              </a:rPr>
              <a:t>MONITORAMENTO </a:t>
            </a:r>
            <a:r>
              <a:rPr dirty="0" sz="1800" spc="-80" b="1">
                <a:solidFill>
                  <a:srgbClr val="FFC000"/>
                </a:solidFill>
                <a:latin typeface="Trebuchet MS"/>
                <a:cs typeface="Trebuchet MS"/>
                <a:hlinkClick r:id="rId4"/>
              </a:rPr>
              <a:t>INTEGRADO</a:t>
            </a:r>
            <a:r>
              <a:rPr dirty="0" sz="1800" spc="-245" b="1">
                <a:solidFill>
                  <a:srgbClr val="FFC000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-130" b="1">
                <a:solidFill>
                  <a:srgbClr val="FFC000"/>
                </a:solidFill>
                <a:latin typeface="Trebuchet MS"/>
                <a:cs typeface="Trebuchet MS"/>
                <a:hlinkClick r:id="rId4"/>
              </a:rPr>
              <a:t>24H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7032" y="1471155"/>
            <a:ext cx="1297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0001" y="5982690"/>
            <a:ext cx="17157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ww</a:t>
            </a: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</a:t>
            </a:r>
            <a:r>
              <a:rPr dirty="0" sz="1400" spc="-3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.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g</a:t>
            </a:r>
            <a:r>
              <a:rPr dirty="0" sz="1400" spc="-8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u</a:t>
            </a:r>
            <a:r>
              <a:rPr dirty="0" sz="1400" spc="-8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n</a:t>
            </a:r>
            <a:r>
              <a:rPr dirty="0" sz="1400" spc="-9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n</a:t>
            </a: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e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b</a:t>
            </a:r>
            <a:r>
              <a:rPr dirty="0" sz="1400" spc="-12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o</a:t>
            </a:r>
            <a:r>
              <a:rPr dirty="0" sz="1400" spc="-3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.</a:t>
            </a:r>
            <a:r>
              <a:rPr dirty="0" sz="1400" spc="-24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c</a:t>
            </a:r>
            <a:r>
              <a:rPr dirty="0" sz="1400" spc="-9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o</a:t>
            </a:r>
            <a:r>
              <a:rPr dirty="0" sz="1400" spc="-6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m</a:t>
            </a:r>
            <a:r>
              <a:rPr dirty="0" sz="1400" spc="-3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.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b</a:t>
            </a:r>
            <a:r>
              <a:rPr dirty="0" sz="1400" spc="-55" b="1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88235" y="5178552"/>
            <a:ext cx="307848" cy="307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91400" y="5620511"/>
            <a:ext cx="309359" cy="309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34200" y="5620511"/>
            <a:ext cx="306324" cy="3078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53171" y="5620511"/>
            <a:ext cx="309359" cy="309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314943" y="5620511"/>
            <a:ext cx="309359" cy="3093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3550" y="5176477"/>
            <a:ext cx="3395345" cy="104203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-155" b="1" i="1">
                <a:solidFill>
                  <a:srgbClr val="FFFFFF"/>
                </a:solidFill>
                <a:latin typeface="Arial"/>
                <a:cs typeface="Arial"/>
              </a:rPr>
              <a:t>ANDRÉ</a:t>
            </a:r>
            <a:r>
              <a:rPr dirty="0" sz="1400" spc="-1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45" b="1" i="1">
                <a:solidFill>
                  <a:srgbClr val="FFFFFF"/>
                </a:solidFill>
                <a:latin typeface="Arial"/>
                <a:cs typeface="Arial"/>
              </a:rPr>
              <a:t>OCHOA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40"/>
              </a:spcBef>
            </a:pP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Consultor e </a:t>
            </a:r>
            <a:r>
              <a:rPr dirty="0" sz="1400" spc="-95" b="1" i="1">
                <a:solidFill>
                  <a:srgbClr val="FFFFFF"/>
                </a:solidFill>
                <a:latin typeface="Arial"/>
                <a:cs typeface="Arial"/>
              </a:rPr>
              <a:t>Profissional </a:t>
            </a:r>
            <a:r>
              <a:rPr dirty="0" sz="1400" spc="-130" b="1" i="1">
                <a:solidFill>
                  <a:srgbClr val="FFFFFF"/>
                </a:solidFill>
                <a:latin typeface="Arial"/>
                <a:cs typeface="Arial"/>
              </a:rPr>
              <a:t>com </a:t>
            </a:r>
            <a:r>
              <a:rPr dirty="0" sz="1400" spc="-90" b="1" i="1">
                <a:solidFill>
                  <a:srgbClr val="FFFFFF"/>
                </a:solidFill>
                <a:latin typeface="Arial"/>
                <a:cs typeface="Arial"/>
              </a:rPr>
              <a:t>mais </a:t>
            </a:r>
            <a:r>
              <a:rPr dirty="0" sz="1400" spc="-105" b="1" i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400" spc="-10" b="1" i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dirty="0" sz="1400" spc="-1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10" b="1" i="1">
                <a:solidFill>
                  <a:srgbClr val="FFFFFF"/>
                </a:solidFill>
                <a:latin typeface="Arial"/>
                <a:cs typeface="Arial"/>
              </a:rPr>
              <a:t>anos 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400" spc="-80" b="1" i="1">
                <a:solidFill>
                  <a:srgbClr val="FFFFFF"/>
                </a:solidFill>
                <a:latin typeface="Arial"/>
                <a:cs typeface="Arial"/>
              </a:rPr>
              <a:t>experiência </a:t>
            </a:r>
            <a:r>
              <a:rPr dirty="0" sz="1400" spc="-75" b="1" i="1">
                <a:solidFill>
                  <a:srgbClr val="FFFFFF"/>
                </a:solidFill>
                <a:latin typeface="Arial"/>
                <a:cs typeface="Arial"/>
              </a:rPr>
              <a:t>em </a:t>
            </a:r>
            <a:r>
              <a:rPr dirty="0" sz="1400" spc="-110" b="1" i="1">
                <a:solidFill>
                  <a:srgbClr val="FFFFFF"/>
                </a:solidFill>
                <a:latin typeface="Arial"/>
                <a:cs typeface="Arial"/>
              </a:rPr>
              <a:t>Segurança </a:t>
            </a:r>
            <a:r>
              <a:rPr dirty="0" sz="1400" spc="-85" b="1" i="1">
                <a:solidFill>
                  <a:srgbClr val="FFFFFF"/>
                </a:solidFill>
                <a:latin typeface="Arial"/>
                <a:cs typeface="Arial"/>
              </a:rPr>
              <a:t>Empresarial,  </a:t>
            </a:r>
            <a:r>
              <a:rPr dirty="0" sz="1400" spc="-114" b="1" i="1">
                <a:solidFill>
                  <a:srgbClr val="FFFFFF"/>
                </a:solidFill>
                <a:latin typeface="Arial"/>
                <a:cs typeface="Arial"/>
              </a:rPr>
              <a:t>Prevenção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1400" spc="-130" b="1" i="1">
                <a:solidFill>
                  <a:srgbClr val="FFFFFF"/>
                </a:solidFill>
                <a:latin typeface="Arial"/>
                <a:cs typeface="Arial"/>
              </a:rPr>
              <a:t>Perdas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1400" spc="-60" b="1" i="1">
                <a:solidFill>
                  <a:srgbClr val="FFFFFF"/>
                </a:solidFill>
                <a:latin typeface="Arial"/>
                <a:cs typeface="Arial"/>
              </a:rPr>
              <a:t>Auditoria </a:t>
            </a:r>
            <a:r>
              <a:rPr dirty="0" sz="1400" spc="-100" b="1" i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-114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65" b="1" i="1">
                <a:solidFill>
                  <a:srgbClr val="FFFFFF"/>
                </a:solidFill>
                <a:latin typeface="Arial"/>
                <a:cs typeface="Arial"/>
              </a:rPr>
              <a:t>Riscos.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Guilherme Mesquita</dc:creator>
  <dc:title>Apresentação do PowerPoint</dc:title>
  <dcterms:created xsi:type="dcterms:W3CDTF">2019-07-16T22:17:15Z</dcterms:created>
  <dcterms:modified xsi:type="dcterms:W3CDTF">2019-07-16T22:17:15Z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2015-09-03T00:00:00Z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2019-07-16T00:00:00Z</vt:filetime>
  </property>
</Properties>
</file>