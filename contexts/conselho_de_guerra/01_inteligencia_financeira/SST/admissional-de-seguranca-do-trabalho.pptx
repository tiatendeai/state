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434" r:id="rId2"/>
    <p:sldId id="398" r:id="rId3"/>
    <p:sldId id="256" r:id="rId4"/>
    <p:sldId id="368" r:id="rId5"/>
    <p:sldId id="399" r:id="rId6"/>
    <p:sldId id="293" r:id="rId7"/>
    <p:sldId id="294" r:id="rId8"/>
    <p:sldId id="397" r:id="rId9"/>
    <p:sldId id="296" r:id="rId10"/>
    <p:sldId id="297" r:id="rId11"/>
    <p:sldId id="298" r:id="rId12"/>
    <p:sldId id="299" r:id="rId13"/>
    <p:sldId id="370" r:id="rId14"/>
    <p:sldId id="301" r:id="rId15"/>
    <p:sldId id="384" r:id="rId16"/>
    <p:sldId id="385" r:id="rId17"/>
    <p:sldId id="386" r:id="rId18"/>
    <p:sldId id="387" r:id="rId19"/>
    <p:sldId id="388" r:id="rId20"/>
    <p:sldId id="404" r:id="rId21"/>
    <p:sldId id="405" r:id="rId22"/>
    <p:sldId id="406" r:id="rId23"/>
    <p:sldId id="408" r:id="rId24"/>
    <p:sldId id="416" r:id="rId25"/>
    <p:sldId id="428" r:id="rId26"/>
    <p:sldId id="390" r:id="rId27"/>
    <p:sldId id="391" r:id="rId28"/>
    <p:sldId id="427" r:id="rId29"/>
    <p:sldId id="393" r:id="rId30"/>
    <p:sldId id="394" r:id="rId31"/>
    <p:sldId id="400" r:id="rId32"/>
    <p:sldId id="429" r:id="rId33"/>
    <p:sldId id="430" r:id="rId34"/>
    <p:sldId id="431" r:id="rId35"/>
    <p:sldId id="432" r:id="rId36"/>
    <p:sldId id="433" r:id="rId37"/>
    <p:sldId id="401" r:id="rId38"/>
    <p:sldId id="402" r:id="rId39"/>
    <p:sldId id="403" r:id="rId40"/>
    <p:sldId id="316" r:id="rId41"/>
    <p:sldId id="317" r:id="rId42"/>
    <p:sldId id="372" r:id="rId43"/>
    <p:sldId id="373" r:id="rId44"/>
    <p:sldId id="320" r:id="rId45"/>
    <p:sldId id="381" r:id="rId46"/>
    <p:sldId id="383" r:id="rId47"/>
  </p:sldIdLst>
  <p:sldSz cx="9144000" cy="6858000" type="screen4x3"/>
  <p:notesSz cx="7045325" cy="9345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99FF"/>
    <a:srgbClr val="CCFF33"/>
    <a:srgbClr val="66FF33"/>
    <a:srgbClr val="0000FF"/>
    <a:srgbClr val="009900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843" autoAdjust="0"/>
    <p:restoredTop sz="94643" autoAdjust="0"/>
  </p:normalViewPr>
  <p:slideViewPr>
    <p:cSldViewPr>
      <p:cViewPr>
        <p:scale>
          <a:sx n="70" d="100"/>
          <a:sy n="70" d="100"/>
        </p:scale>
        <p:origin x="-390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2763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2563" y="0"/>
            <a:ext cx="3052762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74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6663"/>
            <a:ext cx="3052763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74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2563" y="8856663"/>
            <a:ext cx="3052762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1464DDF-9DD5-4B4C-97C6-D8B9C5D7C7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2763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208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2563" y="0"/>
            <a:ext cx="3052762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65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7450" y="701675"/>
            <a:ext cx="4672013" cy="3503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08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9800" y="4437063"/>
            <a:ext cx="5165725" cy="420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 smtClean="0"/>
              <a:t>Clique para editar os estilos do texto mestre</a:t>
            </a:r>
          </a:p>
          <a:p>
            <a:pPr lvl="1"/>
            <a:r>
              <a:rPr lang="pt-BR" noProof="0" smtClean="0"/>
              <a:t>Segundo nível</a:t>
            </a:r>
          </a:p>
          <a:p>
            <a:pPr lvl="2"/>
            <a:r>
              <a:rPr lang="pt-BR" noProof="0" smtClean="0"/>
              <a:t>Terceiro nível</a:t>
            </a:r>
          </a:p>
          <a:p>
            <a:pPr lvl="3"/>
            <a:r>
              <a:rPr lang="pt-BR" noProof="0" smtClean="0"/>
              <a:t>Quarto nível</a:t>
            </a:r>
          </a:p>
          <a:p>
            <a:pPr lvl="4"/>
            <a:r>
              <a:rPr lang="pt-BR" noProof="0" smtClean="0"/>
              <a:t>Quinto nível</a:t>
            </a:r>
          </a:p>
        </p:txBody>
      </p:sp>
      <p:sp>
        <p:nvSpPr>
          <p:cNvPr id="1208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78888"/>
            <a:ext cx="3052763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208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2563" y="8878888"/>
            <a:ext cx="3052762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DCABF50-EDC8-4AE8-9B74-85A4AF51FAB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081D82-175C-4AD5-9777-800992EA05FB}" type="slidenum">
              <a:rPr lang="pt-BR"/>
              <a:pPr/>
              <a:t>3</a:t>
            </a:fld>
            <a:endParaRPr lang="pt-BR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659BBC-7A85-4AEA-BC06-8E1ECE13A71A}" type="slidenum">
              <a:rPr lang="pt-BR"/>
              <a:pPr/>
              <a:t>13</a:t>
            </a:fld>
            <a:endParaRPr lang="pt-BR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pt-B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pt-BR" noProof="0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173038" y="176213"/>
            <a:ext cx="8791575" cy="650557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/>
          </a:p>
        </p:txBody>
      </p:sp>
      <p:sp>
        <p:nvSpPr>
          <p:cNvPr id="1032" name="Line 8"/>
          <p:cNvSpPr>
            <a:spLocks noChangeShapeType="1"/>
          </p:cNvSpPr>
          <p:nvPr userDrawn="1"/>
        </p:nvSpPr>
        <p:spPr bwMode="auto">
          <a:xfrm>
            <a:off x="303213" y="0"/>
            <a:ext cx="0" cy="4572000"/>
          </a:xfrm>
          <a:prstGeom prst="line">
            <a:avLst/>
          </a:prstGeom>
          <a:noFill/>
          <a:ln w="47625" cmpd="thickThin">
            <a:solidFill>
              <a:srgbClr val="0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pt-BR"/>
          </a:p>
        </p:txBody>
      </p:sp>
      <p:sp>
        <p:nvSpPr>
          <p:cNvPr id="1033" name="Line 9"/>
          <p:cNvSpPr>
            <a:spLocks noChangeShapeType="1"/>
          </p:cNvSpPr>
          <p:nvPr userDrawn="1"/>
        </p:nvSpPr>
        <p:spPr bwMode="auto">
          <a:xfrm>
            <a:off x="-1588" y="304800"/>
            <a:ext cx="7620001" cy="0"/>
          </a:xfrm>
          <a:prstGeom prst="line">
            <a:avLst/>
          </a:prstGeom>
          <a:noFill/>
          <a:ln w="47625" cmpd="thickThin">
            <a:solidFill>
              <a:srgbClr val="0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pt-BR"/>
          </a:p>
        </p:txBody>
      </p:sp>
      <p:sp>
        <p:nvSpPr>
          <p:cNvPr id="1034" name="Line 10"/>
          <p:cNvSpPr>
            <a:spLocks noChangeShapeType="1"/>
          </p:cNvSpPr>
          <p:nvPr userDrawn="1"/>
        </p:nvSpPr>
        <p:spPr bwMode="auto">
          <a:xfrm>
            <a:off x="8913813" y="1447800"/>
            <a:ext cx="0" cy="5181600"/>
          </a:xfrm>
          <a:prstGeom prst="line">
            <a:avLst/>
          </a:prstGeom>
          <a:noFill/>
          <a:ln w="47625" cmpd="thickThin">
            <a:solidFill>
              <a:srgbClr val="0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pt-BR"/>
          </a:p>
        </p:txBody>
      </p:sp>
      <p:sp>
        <p:nvSpPr>
          <p:cNvPr id="1035" name="Line 11"/>
          <p:cNvSpPr>
            <a:spLocks noChangeShapeType="1"/>
          </p:cNvSpPr>
          <p:nvPr userDrawn="1"/>
        </p:nvSpPr>
        <p:spPr bwMode="auto">
          <a:xfrm>
            <a:off x="1522413" y="6629400"/>
            <a:ext cx="7391400" cy="0"/>
          </a:xfrm>
          <a:prstGeom prst="line">
            <a:avLst/>
          </a:prstGeom>
          <a:noFill/>
          <a:ln w="47625" cmpd="thickThin">
            <a:solidFill>
              <a:srgbClr val="000080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22325" y="2214554"/>
            <a:ext cx="712157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pt-BR" sz="3600" b="1" spc="300" dirty="0">
                <a:ln w="11430" cmpd="sng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TREINAMENTO ADMISSIONAL DE </a:t>
            </a:r>
          </a:p>
          <a:p>
            <a:pPr algn="ctr">
              <a:defRPr/>
            </a:pPr>
            <a:r>
              <a:rPr lang="pt-BR" sz="3600" b="1" spc="300" dirty="0">
                <a:ln w="11430" cmpd="sng">
                  <a:solidFill>
                    <a:sysClr val="windowText" lastClr="000000"/>
                  </a:solidFill>
                  <a:prstDash val="solid"/>
                  <a:miter lim="800000"/>
                </a:ln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SEGURANÇA DO TRABALHO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9"/>
          <p:cNvSpPr>
            <a:spLocks noChangeArrowheads="1"/>
          </p:cNvSpPr>
          <p:nvPr/>
        </p:nvSpPr>
        <p:spPr bwMode="auto">
          <a:xfrm>
            <a:off x="611188" y="476250"/>
            <a:ext cx="7848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4000" b="1">
                <a:latin typeface="Comic Sans MS" pitchFamily="66" charset="0"/>
              </a:rPr>
              <a:t>SEESMT</a:t>
            </a:r>
            <a:endParaRPr lang="pt-BR" sz="4000" b="1" u="sng">
              <a:latin typeface="Comic Sans MS" pitchFamily="66" charset="0"/>
            </a:endParaRPr>
          </a:p>
        </p:txBody>
      </p:sp>
      <p:sp>
        <p:nvSpPr>
          <p:cNvPr id="3075" name="Text Box 10"/>
          <p:cNvSpPr txBox="1">
            <a:spLocks noChangeArrowheads="1"/>
          </p:cNvSpPr>
          <p:nvPr/>
        </p:nvSpPr>
        <p:spPr bwMode="auto">
          <a:xfrm>
            <a:off x="611188" y="1495425"/>
            <a:ext cx="8075612" cy="854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defTabSz="762000">
              <a:spcBef>
                <a:spcPct val="50000"/>
              </a:spcBef>
            </a:pPr>
            <a:r>
              <a:rPr lang="pt-BR" sz="2500">
                <a:latin typeface="Comic Sans MS" pitchFamily="66" charset="0"/>
              </a:rPr>
              <a:t>Serviço Especializado em Engenharia de Segurança e Medicina do Trabalho</a:t>
            </a:r>
          </a:p>
        </p:txBody>
      </p:sp>
      <p:sp>
        <p:nvSpPr>
          <p:cNvPr id="3076" name="Text Box 11"/>
          <p:cNvSpPr txBox="1">
            <a:spLocks noChangeArrowheads="1"/>
          </p:cNvSpPr>
          <p:nvPr/>
        </p:nvSpPr>
        <p:spPr bwMode="auto">
          <a:xfrm>
            <a:off x="611188" y="3079750"/>
            <a:ext cx="8075612" cy="1501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>
              <a:spcBef>
                <a:spcPct val="50000"/>
              </a:spcBef>
            </a:pPr>
            <a:r>
              <a:rPr lang="pt-BR" sz="3000" b="1">
                <a:latin typeface="Comic Sans MS" pitchFamily="66" charset="0"/>
              </a:rPr>
              <a:t>OBJETIVO:</a:t>
            </a:r>
          </a:p>
          <a:p>
            <a:pPr defTabSz="762000">
              <a:spcBef>
                <a:spcPct val="50000"/>
              </a:spcBef>
            </a:pPr>
            <a:r>
              <a:rPr lang="pt-BR" sz="2500">
                <a:latin typeface="Comic Sans MS" pitchFamily="66" charset="0"/>
              </a:rPr>
              <a:t>Promover a saúde e proteger a integridade física e mental do trabalhador no local de trabalho.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5"/>
          <p:cNvSpPr txBox="1">
            <a:spLocks noChangeArrowheads="1"/>
          </p:cNvSpPr>
          <p:nvPr/>
        </p:nvSpPr>
        <p:spPr bwMode="auto">
          <a:xfrm>
            <a:off x="611188" y="3008313"/>
            <a:ext cx="8075612" cy="1616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defTabSz="762000">
              <a:spcBef>
                <a:spcPct val="50000"/>
              </a:spcBef>
            </a:pPr>
            <a:r>
              <a:rPr lang="pt-BR" sz="2500">
                <a:latin typeface="Comic Sans MS" pitchFamily="66" charset="0"/>
              </a:rPr>
              <a:t>Conjunto de medidas e ações aplicadas para prevenir acidentes nas atividades das empresas, preservando a integridade física do trabalhador e os bens materiais da Empresa.</a:t>
            </a:r>
          </a:p>
        </p:txBody>
      </p:sp>
      <p:sp>
        <p:nvSpPr>
          <p:cNvPr id="4099" name="Rectangle 17"/>
          <p:cNvSpPr>
            <a:spLocks noChangeArrowheads="1"/>
          </p:cNvSpPr>
          <p:nvPr/>
        </p:nvSpPr>
        <p:spPr bwMode="auto">
          <a:xfrm>
            <a:off x="611188" y="692150"/>
            <a:ext cx="78486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4000" b="1">
                <a:latin typeface="Comic Sans MS" pitchFamily="66" charset="0"/>
              </a:rPr>
              <a:t>O QUE É</a:t>
            </a:r>
          </a:p>
          <a:p>
            <a:pPr algn="ctr"/>
            <a:r>
              <a:rPr lang="pt-BR" sz="4000" b="1" u="sng">
                <a:latin typeface="Comic Sans MS" pitchFamily="66" charset="0"/>
              </a:rPr>
              <a:t>SEGURANÇA DO TRABALHO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13"/>
          <p:cNvSpPr txBox="1">
            <a:spLocks noChangeArrowheads="1"/>
          </p:cNvSpPr>
          <p:nvPr/>
        </p:nvSpPr>
        <p:spPr bwMode="auto">
          <a:xfrm>
            <a:off x="539750" y="476250"/>
            <a:ext cx="738505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4000" b="1">
                <a:latin typeface="Comic Sans MS" pitchFamily="66" charset="0"/>
              </a:rPr>
              <a:t>RESPONSABILIDADES DO EMPREGADO</a:t>
            </a:r>
          </a:p>
        </p:txBody>
      </p:sp>
      <p:sp>
        <p:nvSpPr>
          <p:cNvPr id="5123" name="Text Box 14"/>
          <p:cNvSpPr txBox="1">
            <a:spLocks noChangeArrowheads="1"/>
          </p:cNvSpPr>
          <p:nvPr/>
        </p:nvSpPr>
        <p:spPr bwMode="auto">
          <a:xfrm>
            <a:off x="395288" y="1773238"/>
            <a:ext cx="8353425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pt-BR" sz="2500">
                <a:latin typeface="Comic Sans MS" pitchFamily="66" charset="0"/>
              </a:rPr>
              <a:t>Cumprir as disposições legais e regulamentares sobre Seg. e Medicina do Trabalho, inclusive </a:t>
            </a:r>
            <a:r>
              <a:rPr lang="pt-BR" sz="2500" b="1">
                <a:latin typeface="Comic Sans MS" pitchFamily="66" charset="0"/>
              </a:rPr>
              <a:t>ORDENS DE SERVIÇO (O.S.)</a:t>
            </a:r>
            <a:r>
              <a:rPr lang="pt-BR" sz="2500">
                <a:latin typeface="Comic Sans MS" pitchFamily="66" charset="0"/>
              </a:rPr>
              <a:t> sobre segurança expedidas pelo empregador.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pt-BR" sz="2500">
                <a:latin typeface="Comic Sans MS" pitchFamily="66" charset="0"/>
              </a:rPr>
              <a:t>Usar o EPI fornecido pela empresa.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pt-BR" sz="2500">
                <a:latin typeface="Comic Sans MS" pitchFamily="66" charset="0"/>
              </a:rPr>
              <a:t>Submeter-se aos exames médicos previstos nas NRs.</a:t>
            </a:r>
          </a:p>
          <a:p>
            <a:pPr>
              <a:lnSpc>
                <a:spcPct val="120000"/>
              </a:lnSpc>
              <a:buFont typeface="Wingdings" pitchFamily="2" charset="2"/>
              <a:buChar char="ü"/>
            </a:pPr>
            <a:r>
              <a:rPr lang="pt-BR" sz="2500">
                <a:latin typeface="Comic Sans MS" pitchFamily="66" charset="0"/>
              </a:rPr>
              <a:t>Colaborar com a empresa na aplicação das Normas Regulamentadoras  (N.R’s</a:t>
            </a:r>
            <a:r>
              <a:rPr lang="pt-BR" sz="2500" b="1">
                <a:latin typeface="Comic Sans MS" pitchFamily="66" charset="0"/>
              </a:rPr>
              <a:t>).</a:t>
            </a:r>
            <a:endParaRPr lang="pt-BR" sz="250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ChangeArrowheads="1"/>
          </p:cNvSpPr>
          <p:nvPr/>
        </p:nvSpPr>
        <p:spPr bwMode="auto">
          <a:xfrm>
            <a:off x="468313" y="1458913"/>
            <a:ext cx="8280400" cy="3902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pt-BR" sz="2500">
                <a:latin typeface="Comic Sans MS" pitchFamily="66" charset="0"/>
              </a:rPr>
              <a:t>Criada para cumprir a legislação de segurança e medicina do trabalho em vigor,  NR 01 – disposições gerais, aprovada pela portaria 3.314 de 08/06/78.</a:t>
            </a:r>
          </a:p>
          <a:p>
            <a:r>
              <a:rPr lang="pt-BR" sz="2500">
                <a:latin typeface="Comic Sans MS" pitchFamily="66" charset="0"/>
              </a:rPr>
              <a:t>Visa a preservação da integridade física dos empregados.</a:t>
            </a:r>
          </a:p>
          <a:p>
            <a:r>
              <a:rPr lang="pt-BR" sz="2500">
                <a:latin typeface="Comic Sans MS" pitchFamily="66" charset="0"/>
              </a:rPr>
              <a:t>Será entregue para todos os empregados uma cópia dessa ordem de serviço (O.S.) Sendo obrigatória a assinatura do empregado, com recibo de entrega, para ficar arquivado na empresa, e ser apresentado ao M.T.E. Caso ocorra uma fiscalização.</a:t>
            </a:r>
          </a:p>
        </p:txBody>
      </p:sp>
      <p:sp>
        <p:nvSpPr>
          <p:cNvPr id="6147" name="Rectangle 5"/>
          <p:cNvSpPr>
            <a:spLocks noChangeArrowheads="1"/>
          </p:cNvSpPr>
          <p:nvPr/>
        </p:nvSpPr>
        <p:spPr bwMode="auto">
          <a:xfrm>
            <a:off x="684213" y="404813"/>
            <a:ext cx="549116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 sz="4000">
                <a:latin typeface="Comic Sans MS" pitchFamily="66" charset="0"/>
              </a:rPr>
              <a:t>ORDEM DE SERVIÇO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3"/>
          <p:cNvSpPr txBox="1">
            <a:spLocks noChangeArrowheads="1"/>
          </p:cNvSpPr>
          <p:nvPr/>
        </p:nvSpPr>
        <p:spPr bwMode="auto">
          <a:xfrm>
            <a:off x="684213" y="4384675"/>
            <a:ext cx="7691437" cy="19970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defTabSz="762000">
              <a:spcBef>
                <a:spcPct val="50000"/>
              </a:spcBef>
              <a:buFont typeface="Monotype Sorts" pitchFamily="2" charset="2"/>
              <a:buNone/>
            </a:pPr>
            <a:r>
              <a:rPr lang="pt-BR" sz="2500" b="1">
                <a:latin typeface="Comic Sans MS" pitchFamily="66" charset="0"/>
              </a:rPr>
              <a:t>PODENDO PROVOCAR:</a:t>
            </a:r>
          </a:p>
          <a:p>
            <a:pPr defTabSz="762000">
              <a:spcBef>
                <a:spcPct val="50000"/>
              </a:spcBef>
              <a:buFontTx/>
              <a:buChar char="•"/>
            </a:pPr>
            <a:r>
              <a:rPr lang="pt-BR" sz="2500">
                <a:latin typeface="Comic Sans MS" pitchFamily="66" charset="0"/>
              </a:rPr>
              <a:t>  Perda total, parcial, permanente ou temporária da  capacidade para o trabalho.</a:t>
            </a:r>
          </a:p>
          <a:p>
            <a:pPr defTabSz="762000">
              <a:spcBef>
                <a:spcPct val="50000"/>
              </a:spcBef>
              <a:buFontTx/>
              <a:buChar char="•"/>
            </a:pPr>
            <a:r>
              <a:rPr lang="pt-BR" sz="2500">
                <a:latin typeface="Comic Sans MS" pitchFamily="66" charset="0"/>
              </a:rPr>
              <a:t> Morte.</a:t>
            </a:r>
          </a:p>
        </p:txBody>
      </p:sp>
      <p:sp>
        <p:nvSpPr>
          <p:cNvPr id="7171" name="Rectangle 15"/>
          <p:cNvSpPr>
            <a:spLocks noChangeArrowheads="1"/>
          </p:cNvSpPr>
          <p:nvPr/>
        </p:nvSpPr>
        <p:spPr bwMode="auto">
          <a:xfrm>
            <a:off x="376238" y="388938"/>
            <a:ext cx="8372475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pt-BR" sz="4000" b="1">
                <a:latin typeface="Comic Sans MS" pitchFamily="66" charset="0"/>
              </a:rPr>
              <a:t>O QUE É ACIDENTE DE TRABALHO</a:t>
            </a:r>
          </a:p>
        </p:txBody>
      </p:sp>
      <p:sp>
        <p:nvSpPr>
          <p:cNvPr id="7172" name="Rectangle 16"/>
          <p:cNvSpPr>
            <a:spLocks noChangeArrowheads="1"/>
          </p:cNvSpPr>
          <p:nvPr/>
        </p:nvSpPr>
        <p:spPr bwMode="auto">
          <a:xfrm>
            <a:off x="468313" y="1844675"/>
            <a:ext cx="8351837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sz="2500">
                <a:latin typeface="Comic Sans MS" pitchFamily="66" charset="0"/>
              </a:rPr>
              <a:t>É toda ocorrência que no exercício do trabalho, provoque:</a:t>
            </a:r>
          </a:p>
          <a:p>
            <a:endParaRPr lang="pt-BR" sz="2500">
              <a:latin typeface="Comic Sans MS" pitchFamily="66" charset="0"/>
            </a:endParaRPr>
          </a:p>
          <a:p>
            <a:pPr>
              <a:buFontTx/>
              <a:buChar char="•"/>
            </a:pPr>
            <a:r>
              <a:rPr lang="pt-BR" sz="2500">
                <a:latin typeface="Comic Sans MS" pitchFamily="66" charset="0"/>
              </a:rPr>
              <a:t>Lesão Corporal;</a:t>
            </a:r>
          </a:p>
          <a:p>
            <a:pPr>
              <a:buFontTx/>
              <a:buChar char="•"/>
            </a:pPr>
            <a:r>
              <a:rPr lang="pt-BR" sz="2500">
                <a:latin typeface="Comic Sans MS" pitchFamily="66" charset="0"/>
              </a:rPr>
              <a:t>Perturbação Funcional;</a:t>
            </a:r>
          </a:p>
          <a:p>
            <a:pPr>
              <a:buFontTx/>
              <a:buChar char="•"/>
            </a:pPr>
            <a:r>
              <a:rPr lang="pt-BR" sz="2500">
                <a:latin typeface="Comic Sans MS" pitchFamily="66" charset="0"/>
              </a:rPr>
              <a:t>Doença;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2"/>
          <p:cNvSpPr>
            <a:spLocks noChangeArrowheads="1"/>
          </p:cNvSpPr>
          <p:nvPr/>
        </p:nvSpPr>
        <p:spPr bwMode="auto">
          <a:xfrm>
            <a:off x="468313" y="477838"/>
            <a:ext cx="820737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pt-BR" sz="4000">
                <a:latin typeface="Comic Sans MS" pitchFamily="66" charset="0"/>
              </a:rPr>
              <a:t>DOENÇAS PROFISSIONAIS</a:t>
            </a:r>
          </a:p>
        </p:txBody>
      </p:sp>
      <p:sp>
        <p:nvSpPr>
          <p:cNvPr id="8195" name="Rectangle 16"/>
          <p:cNvSpPr>
            <a:spLocks noChangeArrowheads="1"/>
          </p:cNvSpPr>
          <p:nvPr/>
        </p:nvSpPr>
        <p:spPr bwMode="auto">
          <a:xfrm>
            <a:off x="684213" y="1397000"/>
            <a:ext cx="7705725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pt-BR" sz="2500">
                <a:latin typeface="Comic Sans MS" pitchFamily="66" charset="0"/>
              </a:rPr>
              <a:t>São aquelas adquiridas ou desencadeadas pelo exercício do trabalho peculiares a uma determinada atividade.</a:t>
            </a:r>
          </a:p>
          <a:p>
            <a:r>
              <a:rPr lang="pt-BR" sz="2500" u="sng">
                <a:latin typeface="Comic Sans MS" pitchFamily="66" charset="0"/>
              </a:rPr>
              <a:t>Ex.</a:t>
            </a:r>
            <a:r>
              <a:rPr lang="pt-BR" sz="2500">
                <a:latin typeface="Comic Sans MS" pitchFamily="66" charset="0"/>
              </a:rPr>
              <a:t>. : Dermatite, LER, etc.</a:t>
            </a:r>
          </a:p>
        </p:txBody>
      </p:sp>
      <p:sp>
        <p:nvSpPr>
          <p:cNvPr id="8196" name="Rectangle 17"/>
          <p:cNvSpPr>
            <a:spLocks noChangeArrowheads="1"/>
          </p:cNvSpPr>
          <p:nvPr/>
        </p:nvSpPr>
        <p:spPr bwMode="auto">
          <a:xfrm>
            <a:off x="539750" y="3649663"/>
            <a:ext cx="8208963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r>
              <a:rPr lang="pt-BR" sz="3000" b="1">
                <a:latin typeface="Comic Sans MS" pitchFamily="66" charset="0"/>
              </a:rPr>
              <a:t>CAUSAS DE ACIDENTES DE TRABALHO</a:t>
            </a:r>
          </a:p>
        </p:txBody>
      </p:sp>
      <p:sp>
        <p:nvSpPr>
          <p:cNvPr id="8197" name="Text Box 18"/>
          <p:cNvSpPr txBox="1">
            <a:spLocks noChangeArrowheads="1"/>
          </p:cNvSpPr>
          <p:nvPr/>
        </p:nvSpPr>
        <p:spPr bwMode="auto">
          <a:xfrm>
            <a:off x="611188" y="4421188"/>
            <a:ext cx="8064500" cy="12350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pt-BR" sz="2500" b="1">
                <a:latin typeface="Comic Sans MS" pitchFamily="66" charset="0"/>
              </a:rPr>
              <a:t>Atos inseguros:</a:t>
            </a:r>
          </a:p>
          <a:p>
            <a:r>
              <a:rPr lang="pt-BR" sz="2500">
                <a:latin typeface="Comic Sans MS" pitchFamily="66" charset="0"/>
              </a:rPr>
              <a:t>São originados de erros conscientes do trabalhador, ou seja, ele sabe o que está errado, mas o faz.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3065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b="1" smtClean="0">
                <a:latin typeface="Comic Sans MS" pitchFamily="66" charset="0"/>
              </a:rPr>
              <a:t>ATITUDES QUE PODEM PROVOCAR ACIDENTES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 bwMode="auto">
          <a:xfrm>
            <a:off x="685800" y="2341563"/>
            <a:ext cx="7702550" cy="2671762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500" smtClean="0">
                <a:latin typeface="Comic Sans MS" pitchFamily="66" charset="0"/>
              </a:rPr>
              <a:t>EXCESSO DE CONFIANÇA;</a:t>
            </a:r>
          </a:p>
          <a:p>
            <a:r>
              <a:rPr lang="pt-BR" sz="2500" smtClean="0">
                <a:latin typeface="Comic Sans MS" pitchFamily="66" charset="0"/>
              </a:rPr>
              <a:t>TEIMOSIA/ORGULHO;</a:t>
            </a:r>
          </a:p>
          <a:p>
            <a:r>
              <a:rPr lang="pt-BR" sz="2500" smtClean="0">
                <a:latin typeface="Comic Sans MS" pitchFamily="66" charset="0"/>
              </a:rPr>
              <a:t>IGNORÂNCIA, NEGLIGENCIA, PRESSA, FALTA DE ATENÇÃO, ESFORÇO EXCESSIVO, FADIGA, STRESS.</a:t>
            </a:r>
          </a:p>
          <a:p>
            <a:r>
              <a:rPr lang="pt-BR" sz="2500" smtClean="0">
                <a:latin typeface="Comic Sans MS" pitchFamily="66" charset="0"/>
              </a:rPr>
              <a:t>FALTA DE COOPERAÇÃO.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12"/>
          <p:cNvSpPr>
            <a:spLocks noChangeArrowheads="1"/>
          </p:cNvSpPr>
          <p:nvPr/>
        </p:nvSpPr>
        <p:spPr bwMode="auto">
          <a:xfrm>
            <a:off x="827088" y="476250"/>
            <a:ext cx="7848600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pt-BR" sz="4000" b="1">
                <a:latin typeface="Comic Sans MS" pitchFamily="66" charset="0"/>
              </a:rPr>
              <a:t>CAUSAS DE ACIDENTES </a:t>
            </a:r>
            <a:br>
              <a:rPr lang="pt-BR" sz="4000" b="1">
                <a:latin typeface="Comic Sans MS" pitchFamily="66" charset="0"/>
              </a:rPr>
            </a:br>
            <a:r>
              <a:rPr lang="pt-BR" sz="4000" b="1">
                <a:latin typeface="Comic Sans MS" pitchFamily="66" charset="0"/>
              </a:rPr>
              <a:t>DE TRABALHO</a:t>
            </a:r>
          </a:p>
        </p:txBody>
      </p:sp>
      <p:sp>
        <p:nvSpPr>
          <p:cNvPr id="10243" name="Text Box 14"/>
          <p:cNvSpPr txBox="1">
            <a:spLocks noChangeArrowheads="1"/>
          </p:cNvSpPr>
          <p:nvPr/>
        </p:nvSpPr>
        <p:spPr bwMode="auto">
          <a:xfrm>
            <a:off x="611188" y="2060575"/>
            <a:ext cx="8137525" cy="40544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pt-BR" sz="3000">
                <a:latin typeface="Comic Sans MS" pitchFamily="66" charset="0"/>
              </a:rPr>
              <a:t>Exemplos de Atos inseguros:</a:t>
            </a:r>
          </a:p>
          <a:p>
            <a:endParaRPr lang="pt-BR" sz="3000">
              <a:latin typeface="Comic Sans MS" pitchFamily="66" charset="0"/>
            </a:endParaRPr>
          </a:p>
          <a:p>
            <a:pPr>
              <a:buFontTx/>
              <a:buChar char="•"/>
            </a:pPr>
            <a:r>
              <a:rPr lang="pt-BR" sz="2500">
                <a:latin typeface="Comic Sans MS" pitchFamily="66" charset="0"/>
              </a:rPr>
              <a:t>Agir sem permissão, sabendo que deve pedi-la;</a:t>
            </a:r>
          </a:p>
          <a:p>
            <a:pPr>
              <a:buFontTx/>
              <a:buChar char="•"/>
            </a:pPr>
            <a:r>
              <a:rPr lang="pt-BR" sz="2500">
                <a:latin typeface="Comic Sans MS" pitchFamily="66" charset="0"/>
              </a:rPr>
              <a:t>Brincar em local de trabalho;</a:t>
            </a:r>
          </a:p>
          <a:p>
            <a:pPr>
              <a:buFontTx/>
              <a:buChar char="•"/>
            </a:pPr>
            <a:r>
              <a:rPr lang="pt-BR" sz="2500">
                <a:latin typeface="Comic Sans MS" pitchFamily="66" charset="0"/>
              </a:rPr>
              <a:t>Inutilizar dispositivos de segurança, sendo conhecedor de suas necessidades;</a:t>
            </a:r>
          </a:p>
          <a:p>
            <a:pPr>
              <a:buFontTx/>
              <a:buChar char="•"/>
            </a:pPr>
            <a:r>
              <a:rPr lang="pt-BR" sz="2500">
                <a:latin typeface="Comic Sans MS" pitchFamily="66" charset="0"/>
              </a:rPr>
              <a:t>Dirigir perigosamente, sendo habilitado;</a:t>
            </a:r>
          </a:p>
          <a:p>
            <a:pPr>
              <a:buFontTx/>
              <a:buChar char="•"/>
            </a:pPr>
            <a:r>
              <a:rPr lang="pt-BR" sz="2500">
                <a:latin typeface="Comic Sans MS" pitchFamily="66" charset="0"/>
              </a:rPr>
              <a:t>Não usar E.P.I, sabendo que é para usá-lo;</a:t>
            </a:r>
          </a:p>
          <a:p>
            <a:pPr>
              <a:buFontTx/>
              <a:buChar char="•"/>
            </a:pPr>
            <a:r>
              <a:rPr lang="pt-BR" sz="2500">
                <a:latin typeface="Comic Sans MS" pitchFamily="66" charset="0"/>
              </a:rPr>
              <a:t>Não cumprir as normas de segurança, sendo conhecedor das mesmas.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2"/>
          <p:cNvSpPr>
            <a:spLocks noChangeArrowheads="1"/>
          </p:cNvSpPr>
          <p:nvPr/>
        </p:nvSpPr>
        <p:spPr bwMode="auto">
          <a:xfrm>
            <a:off x="468313" y="409575"/>
            <a:ext cx="82804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pt-BR" sz="4000" b="1">
                <a:latin typeface="Comic Sans MS" pitchFamily="66" charset="0"/>
              </a:rPr>
              <a:t>CAUSAS DE ACIDENTES </a:t>
            </a:r>
            <a:br>
              <a:rPr lang="pt-BR" sz="4000" b="1">
                <a:latin typeface="Comic Sans MS" pitchFamily="66" charset="0"/>
              </a:rPr>
            </a:br>
            <a:r>
              <a:rPr lang="pt-BR" sz="4000" b="1">
                <a:latin typeface="Comic Sans MS" pitchFamily="66" charset="0"/>
              </a:rPr>
              <a:t>DE TRABALHO</a:t>
            </a:r>
          </a:p>
        </p:txBody>
      </p:sp>
      <p:sp>
        <p:nvSpPr>
          <p:cNvPr id="11267" name="Text Box 14"/>
          <p:cNvSpPr txBox="1">
            <a:spLocks noChangeArrowheads="1"/>
          </p:cNvSpPr>
          <p:nvPr/>
        </p:nvSpPr>
        <p:spPr bwMode="auto">
          <a:xfrm>
            <a:off x="468313" y="1916113"/>
            <a:ext cx="8208962" cy="17684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pt-BR" sz="3000" b="1">
                <a:latin typeface="Comic Sans MS" pitchFamily="66" charset="0"/>
              </a:rPr>
              <a:t>Condições inseguras:</a:t>
            </a:r>
          </a:p>
          <a:p>
            <a:pPr>
              <a:spcBef>
                <a:spcPct val="20000"/>
              </a:spcBef>
            </a:pPr>
            <a:r>
              <a:rPr lang="pt-BR" sz="2500">
                <a:latin typeface="Comic Sans MS" pitchFamily="66" charset="0"/>
              </a:rPr>
              <a:t>Presentes no ambiente de trabalho, comprometem a segurança do trabalhador e a própria segurança das instalações e dos equipamentos.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2"/>
          <p:cNvSpPr>
            <a:spLocks noChangeArrowheads="1"/>
          </p:cNvSpPr>
          <p:nvPr/>
        </p:nvSpPr>
        <p:spPr bwMode="auto">
          <a:xfrm>
            <a:off x="468313" y="476250"/>
            <a:ext cx="8280400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pt-BR" sz="4000" b="1">
                <a:latin typeface="Comic Sans MS" pitchFamily="66" charset="0"/>
              </a:rPr>
              <a:t>CAUSAS DE ACIDENTES </a:t>
            </a:r>
            <a:br>
              <a:rPr lang="pt-BR" sz="4000" b="1">
                <a:latin typeface="Comic Sans MS" pitchFamily="66" charset="0"/>
              </a:rPr>
            </a:br>
            <a:r>
              <a:rPr lang="pt-BR" sz="4000" b="1">
                <a:latin typeface="Comic Sans MS" pitchFamily="66" charset="0"/>
              </a:rPr>
              <a:t>DE TRABALHO</a:t>
            </a:r>
          </a:p>
        </p:txBody>
      </p:sp>
      <p:sp>
        <p:nvSpPr>
          <p:cNvPr id="12291" name="Text Box 14"/>
          <p:cNvSpPr txBox="1">
            <a:spLocks noChangeArrowheads="1"/>
          </p:cNvSpPr>
          <p:nvPr/>
        </p:nvSpPr>
        <p:spPr bwMode="auto">
          <a:xfrm>
            <a:off x="539750" y="2819400"/>
            <a:ext cx="8223250" cy="23780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pt-BR" sz="2500">
                <a:solidFill>
                  <a:srgbClr val="000000"/>
                </a:solidFill>
                <a:latin typeface="Comic Sans MS" pitchFamily="66" charset="0"/>
              </a:rPr>
              <a:t>Deficiências na construção e instalações da empresa: piso, ruído e trepidação, falta de ordem e limpeza.</a:t>
            </a:r>
          </a:p>
          <a:p>
            <a:pPr>
              <a:buFontTx/>
              <a:buChar char="•"/>
            </a:pPr>
            <a:r>
              <a:rPr lang="pt-BR" sz="2500">
                <a:solidFill>
                  <a:srgbClr val="000000"/>
                </a:solidFill>
                <a:latin typeface="Comic Sans MS" pitchFamily="66" charset="0"/>
              </a:rPr>
              <a:t>Deficiências no maquinário: falta de proteção, máquinas com defeito e sem manutenção, etc.</a:t>
            </a:r>
          </a:p>
          <a:p>
            <a:pPr>
              <a:buFontTx/>
              <a:buChar char="•"/>
            </a:pPr>
            <a:r>
              <a:rPr lang="pt-BR" sz="2500">
                <a:solidFill>
                  <a:srgbClr val="000000"/>
                </a:solidFill>
                <a:latin typeface="Comic Sans MS" pitchFamily="66" charset="0"/>
              </a:rPr>
              <a:t>Deficiências na proteção do trabalhador: roupas não apropriadas, calçados impróprios, proteção deficiente.</a:t>
            </a:r>
          </a:p>
        </p:txBody>
      </p:sp>
      <p:sp>
        <p:nvSpPr>
          <p:cNvPr id="12292" name="Rectangle 16"/>
          <p:cNvSpPr>
            <a:spLocks noChangeArrowheads="1"/>
          </p:cNvSpPr>
          <p:nvPr/>
        </p:nvSpPr>
        <p:spPr bwMode="auto">
          <a:xfrm>
            <a:off x="539750" y="2133600"/>
            <a:ext cx="7239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pt-BR" sz="3000" b="1">
                <a:latin typeface="Comic Sans MS" pitchFamily="66" charset="0"/>
              </a:rPr>
              <a:t>Exemplos de Condições Inseguras: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2"/>
          <p:cNvSpPr>
            <a:spLocks noChangeArrowheads="1"/>
          </p:cNvSpPr>
          <p:nvPr/>
        </p:nvSpPr>
        <p:spPr bwMode="auto">
          <a:xfrm>
            <a:off x="468313" y="493713"/>
            <a:ext cx="8280400" cy="120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r>
              <a:rPr lang="pt-BR" sz="4000" b="1">
                <a:latin typeface="Comic Sans MS" pitchFamily="66" charset="0"/>
              </a:rPr>
              <a:t>CAUSAS DE ACIDENTES </a:t>
            </a:r>
            <a:br>
              <a:rPr lang="pt-BR" sz="4000" b="1">
                <a:latin typeface="Comic Sans MS" pitchFamily="66" charset="0"/>
              </a:rPr>
            </a:br>
            <a:r>
              <a:rPr lang="pt-BR" sz="4000" b="1">
                <a:latin typeface="Comic Sans MS" pitchFamily="66" charset="0"/>
              </a:rPr>
              <a:t>DE TRABALHO</a:t>
            </a:r>
          </a:p>
        </p:txBody>
      </p:sp>
      <p:sp>
        <p:nvSpPr>
          <p:cNvPr id="13315" name="Rectangle 13"/>
          <p:cNvSpPr>
            <a:spLocks noChangeArrowheads="1"/>
          </p:cNvSpPr>
          <p:nvPr/>
        </p:nvSpPr>
        <p:spPr bwMode="auto">
          <a:xfrm>
            <a:off x="539750" y="1905000"/>
            <a:ext cx="82232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342900" indent="-342900">
              <a:spcBef>
                <a:spcPct val="20000"/>
              </a:spcBef>
            </a:pPr>
            <a:r>
              <a:rPr lang="pt-BR" sz="3000" b="1">
                <a:latin typeface="Comic Sans MS" pitchFamily="66" charset="0"/>
              </a:rPr>
              <a:t>Fator Pessoal de Insegurança:</a:t>
            </a:r>
          </a:p>
        </p:txBody>
      </p:sp>
      <p:sp>
        <p:nvSpPr>
          <p:cNvPr id="13316" name="Text Box 14"/>
          <p:cNvSpPr txBox="1">
            <a:spLocks noChangeArrowheads="1"/>
          </p:cNvSpPr>
          <p:nvPr/>
        </p:nvSpPr>
        <p:spPr bwMode="auto">
          <a:xfrm>
            <a:off x="468313" y="2551113"/>
            <a:ext cx="8174037" cy="31400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pt-BR" sz="2500">
                <a:solidFill>
                  <a:srgbClr val="000000"/>
                </a:solidFill>
                <a:latin typeface="Comic Sans MS" pitchFamily="66" charset="0"/>
              </a:rPr>
              <a:t>Dividem-se em dois grupos :</a:t>
            </a:r>
          </a:p>
          <a:p>
            <a:endParaRPr lang="pt-BR" sz="2500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pt-BR" sz="2500" u="sng">
                <a:solidFill>
                  <a:srgbClr val="0000FF"/>
                </a:solidFill>
                <a:latin typeface="Comic Sans MS" pitchFamily="66" charset="0"/>
              </a:rPr>
              <a:t>Erro inconsciente do acidentado</a:t>
            </a:r>
            <a:r>
              <a:rPr lang="pt-BR" sz="2500">
                <a:solidFill>
                  <a:srgbClr val="000000"/>
                </a:solidFill>
                <a:latin typeface="Comic Sans MS" pitchFamily="66" charset="0"/>
              </a:rPr>
              <a:t>, ou seja, quando ele não sabe ou não percebe que está errado;</a:t>
            </a:r>
          </a:p>
          <a:p>
            <a:r>
              <a:rPr lang="pt-BR" sz="2500">
                <a:solidFill>
                  <a:srgbClr val="000000"/>
                </a:solidFill>
                <a:latin typeface="Comic Sans MS" pitchFamily="66" charset="0"/>
              </a:rPr>
              <a:t>Distração, esquecimento, falta de conhecimento.</a:t>
            </a:r>
          </a:p>
          <a:p>
            <a:endParaRPr lang="pt-BR" sz="2500">
              <a:solidFill>
                <a:srgbClr val="000000"/>
              </a:solidFill>
              <a:latin typeface="Comic Sans MS" pitchFamily="66" charset="0"/>
            </a:endParaRPr>
          </a:p>
          <a:p>
            <a:r>
              <a:rPr lang="pt-BR" sz="2500" u="sng">
                <a:solidFill>
                  <a:srgbClr val="0000FF"/>
                </a:solidFill>
                <a:latin typeface="Comic Sans MS" pitchFamily="66" charset="0"/>
              </a:rPr>
              <a:t>Falhas orgânicas do acidentado</a:t>
            </a:r>
            <a:r>
              <a:rPr lang="pt-BR" sz="2500">
                <a:solidFill>
                  <a:srgbClr val="0000FF"/>
                </a:solidFill>
                <a:latin typeface="Comic Sans MS" pitchFamily="66" charset="0"/>
              </a:rPr>
              <a:t>:</a:t>
            </a:r>
          </a:p>
          <a:p>
            <a:r>
              <a:rPr lang="pt-BR" sz="2500">
                <a:solidFill>
                  <a:srgbClr val="000000"/>
                </a:solidFill>
                <a:latin typeface="Comic Sans MS" pitchFamily="66" charset="0"/>
              </a:rPr>
              <a:t>Desmaios, cãibras, ataque epiléptico.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1"/>
          <p:cNvSpPr txBox="1">
            <a:spLocks noChangeArrowheads="1"/>
          </p:cNvSpPr>
          <p:nvPr/>
        </p:nvSpPr>
        <p:spPr bwMode="auto">
          <a:xfrm>
            <a:off x="1660525" y="134143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pt-BR">
              <a:latin typeface="Comic Sans MS" pitchFamily="66" charset="0"/>
            </a:endParaRPr>
          </a:p>
        </p:txBody>
      </p:sp>
      <p:sp>
        <p:nvSpPr>
          <p:cNvPr id="14339" name="Text Box 13"/>
          <p:cNvSpPr txBox="1">
            <a:spLocks noChangeArrowheads="1"/>
          </p:cNvSpPr>
          <p:nvPr/>
        </p:nvSpPr>
        <p:spPr bwMode="auto">
          <a:xfrm>
            <a:off x="307975" y="476250"/>
            <a:ext cx="85852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4000" b="1">
                <a:latin typeface="Comic Sans MS" pitchFamily="66" charset="0"/>
              </a:rPr>
              <a:t>CONSEQÜÊNCIAS DO ACIDENTE</a:t>
            </a:r>
          </a:p>
        </p:txBody>
      </p:sp>
      <p:sp>
        <p:nvSpPr>
          <p:cNvPr id="14340" name="Text Box 14"/>
          <p:cNvSpPr txBox="1">
            <a:spLocks noChangeArrowheads="1"/>
          </p:cNvSpPr>
          <p:nvPr/>
        </p:nvSpPr>
        <p:spPr bwMode="auto">
          <a:xfrm>
            <a:off x="395288" y="2103438"/>
            <a:ext cx="256381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 algn="ctr"/>
            <a:r>
              <a:rPr lang="pt-BR" b="1">
                <a:solidFill>
                  <a:srgbClr val="FF0000"/>
                </a:solidFill>
                <a:latin typeface="Comic Sans MS" pitchFamily="66" charset="0"/>
              </a:rPr>
              <a:t>DANOSAS</a:t>
            </a:r>
            <a:endParaRPr lang="pt-BR">
              <a:solidFill>
                <a:srgbClr val="0000FF"/>
              </a:solidFill>
              <a:latin typeface="Comic Sans MS" pitchFamily="66" charset="0"/>
            </a:endParaRPr>
          </a:p>
        </p:txBody>
      </p:sp>
      <p:sp>
        <p:nvSpPr>
          <p:cNvPr id="14341" name="Text Box 15"/>
          <p:cNvSpPr txBox="1">
            <a:spLocks noChangeArrowheads="1"/>
          </p:cNvSpPr>
          <p:nvPr/>
        </p:nvSpPr>
        <p:spPr bwMode="auto">
          <a:xfrm>
            <a:off x="1547813" y="2889250"/>
            <a:ext cx="5392737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pt-BR" sz="2500" b="1">
                <a:latin typeface="Comic Sans MS" pitchFamily="66" charset="0"/>
              </a:rPr>
              <a:t>PARA O ACIDENTADO/FAMÍLIA</a:t>
            </a:r>
          </a:p>
          <a:p>
            <a:pPr algn="r">
              <a:buFont typeface="Symbol" pitchFamily="18" charset="2"/>
              <a:buChar char="·"/>
            </a:pPr>
            <a:r>
              <a:rPr lang="pt-BR" sz="2500" b="1">
                <a:latin typeface="Comic Sans MS" pitchFamily="66" charset="0"/>
              </a:rPr>
              <a:t>PARA A EMPRESA.</a:t>
            </a:r>
          </a:p>
          <a:p>
            <a:pPr algn="r"/>
            <a:endParaRPr lang="pt-BR" sz="2500" b="1">
              <a:latin typeface="Comic Sans MS" pitchFamily="66" charset="0"/>
            </a:endParaRPr>
          </a:p>
          <a:p>
            <a:pPr algn="r">
              <a:buFont typeface="Symbol" pitchFamily="18" charset="2"/>
              <a:buChar char="·"/>
            </a:pPr>
            <a:r>
              <a:rPr lang="pt-BR" sz="2500" b="1">
                <a:solidFill>
                  <a:srgbClr val="0000FF"/>
                </a:solidFill>
                <a:latin typeface="Comic Sans MS" pitchFamily="66" charset="0"/>
              </a:rPr>
              <a:t>SOCIAL</a:t>
            </a:r>
          </a:p>
          <a:p>
            <a:pPr algn="r">
              <a:buFont typeface="Symbol" pitchFamily="18" charset="2"/>
              <a:buChar char="·"/>
            </a:pPr>
            <a:r>
              <a:rPr lang="pt-BR" sz="2500" b="1">
                <a:solidFill>
                  <a:srgbClr val="0000FF"/>
                </a:solidFill>
                <a:latin typeface="Comic Sans MS" pitchFamily="66" charset="0"/>
              </a:rPr>
              <a:t>ECONÔMICO</a:t>
            </a:r>
            <a:endParaRPr lang="pt-BR" sz="2500">
              <a:solidFill>
                <a:srgbClr val="0000FF"/>
              </a:solidFill>
              <a:latin typeface="Comic Sans MS" pitchFamily="66" charset="0"/>
            </a:endParaRPr>
          </a:p>
          <a:p>
            <a:pPr algn="r"/>
            <a:endParaRPr lang="pt-BR" sz="250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2"/>
          <p:cNvSpPr>
            <a:spLocks noChangeArrowheads="1"/>
          </p:cNvSpPr>
          <p:nvPr/>
        </p:nvSpPr>
        <p:spPr bwMode="auto">
          <a:xfrm>
            <a:off x="1524000" y="304800"/>
            <a:ext cx="7239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algn="ctr"/>
            <a:endParaRPr lang="pt-BR" sz="4000">
              <a:solidFill>
                <a:schemeClr val="hlink"/>
              </a:solidFill>
              <a:latin typeface="Comic Sans MS" pitchFamily="66" charset="0"/>
            </a:endParaRPr>
          </a:p>
        </p:txBody>
      </p:sp>
      <p:sp>
        <p:nvSpPr>
          <p:cNvPr id="15363" name="Text Box 14"/>
          <p:cNvSpPr txBox="1">
            <a:spLocks noChangeArrowheads="1"/>
          </p:cNvSpPr>
          <p:nvPr/>
        </p:nvSpPr>
        <p:spPr bwMode="auto">
          <a:xfrm>
            <a:off x="468313" y="3581400"/>
            <a:ext cx="8351837" cy="264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defTabSz="762000">
              <a:spcBef>
                <a:spcPct val="50000"/>
              </a:spcBef>
              <a:buFont typeface="Monotype Sorts" pitchFamily="2" charset="2"/>
              <a:buNone/>
            </a:pPr>
            <a:r>
              <a:rPr lang="pt-BR" sz="3000" b="1" dirty="0">
                <a:latin typeface="Comic Sans MS" pitchFamily="66" charset="0"/>
              </a:rPr>
              <a:t>PROVIDENCIAR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 DOCUMENTAÇÃO: 24 HORAS;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 SE FOR ACIDENTE DE TRÂNSITO OU  AGRESSÃO, FAZER O BOLETIM DE OCORRÊNCIA.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 APRESENTAR 02 TESTEMUNHAS;</a:t>
            </a:r>
          </a:p>
        </p:txBody>
      </p:sp>
      <p:sp>
        <p:nvSpPr>
          <p:cNvPr id="15364" name="Text Box 15"/>
          <p:cNvSpPr txBox="1">
            <a:spLocks noChangeArrowheads="1"/>
          </p:cNvSpPr>
          <p:nvPr/>
        </p:nvSpPr>
        <p:spPr bwMode="auto">
          <a:xfrm>
            <a:off x="468313" y="333375"/>
            <a:ext cx="7837487" cy="247760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algn="ctr" defTabSz="762000">
              <a:spcBef>
                <a:spcPct val="50000"/>
              </a:spcBef>
            </a:pPr>
            <a:r>
              <a:rPr lang="pt-BR" sz="3000" b="1" dirty="0">
                <a:latin typeface="Comic Sans MS" pitchFamily="66" charset="0"/>
              </a:rPr>
              <a:t>EM CASO DE ACIDENTES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 SOCORRER A VÍTIMA;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 INFORMAR AO </a:t>
            </a:r>
            <a:r>
              <a:rPr lang="pt-BR" sz="2500" dirty="0" smtClean="0">
                <a:latin typeface="Comic Sans MS" pitchFamily="66" charset="0"/>
              </a:rPr>
              <a:t>ENCARREGADO DO SETOR </a:t>
            </a:r>
            <a:r>
              <a:rPr lang="pt-BR" sz="2500" dirty="0">
                <a:latin typeface="Comic Sans MS" pitchFamily="66" charset="0"/>
              </a:rPr>
              <a:t>PARA QUE SEJAM TOMADAS AS </a:t>
            </a:r>
            <a:r>
              <a:rPr lang="pt-BR" sz="2500" dirty="0" smtClean="0">
                <a:latin typeface="Comic Sans MS" pitchFamily="66" charset="0"/>
              </a:rPr>
              <a:t>DEVIDAS PROVIDÊNCIAS.</a:t>
            </a:r>
            <a:endParaRPr lang="pt-BR" sz="2500" dirty="0"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333375"/>
            <a:ext cx="7772400" cy="7191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b="1" smtClean="0">
                <a:latin typeface="Comic Sans MS" pitchFamily="66" charset="0"/>
              </a:rPr>
              <a:t>ACIDENTE DE TRAJETO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838325"/>
            <a:ext cx="8207375" cy="13033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smtClean="0">
                <a:latin typeface="Comic Sans MS" pitchFamily="66" charset="0"/>
              </a:rPr>
              <a:t>É o acidente que ocorre no trajeto entre a sua residência para o trabalho, ou deste para sua residência.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b="1" smtClean="0">
                <a:latin typeface="Comic Sans MS" pitchFamily="66" charset="0"/>
              </a:rPr>
              <a:t>CARACTERIZAÇÃO DO ACIDENTE DE TRAJETO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26003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500" smtClean="0">
                <a:latin typeface="Comic Sans MS" pitchFamily="66" charset="0"/>
              </a:rPr>
              <a:t>Caso o acidente envolva veículos de transporte: Apresentar o Boletim de Ocorrência Policial.</a:t>
            </a:r>
          </a:p>
          <a:p>
            <a:r>
              <a:rPr lang="pt-BR" sz="2500" smtClean="0">
                <a:latin typeface="Comic Sans MS" pitchFamily="66" charset="0"/>
              </a:rPr>
              <a:t>Cópia da Guia de Atendimento hospitalar.</a:t>
            </a:r>
          </a:p>
          <a:p>
            <a:r>
              <a:rPr lang="pt-BR" sz="2500" smtClean="0">
                <a:latin typeface="Comic Sans MS" pitchFamily="66" charset="0"/>
              </a:rPr>
              <a:t> Informar a empresa no primeiro dia útil após o acidente, para que seja aberta uma C.A.T (Comunicação de Acidente de Trabalho)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b="1" smtClean="0">
                <a:latin typeface="Comic Sans MS" pitchFamily="66" charset="0"/>
              </a:rPr>
              <a:t>EPI – EQUIPAMENTO DE PROTEÇÃO INDIVIDUAL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17351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pt-BR" sz="800" smtClean="0">
                <a:latin typeface="Comic Sans MS" pitchFamily="66" charset="0"/>
              </a:rPr>
              <a:t> </a:t>
            </a:r>
            <a:r>
              <a:rPr lang="pt-BR" smtClean="0">
                <a:latin typeface="Comic Sans MS" pitchFamily="66" charset="0"/>
              </a:rPr>
              <a:t>– É todo dispositivo ou produto, de uso individual, utilizado pelo trabalhador, destinado a proteção de riscos suscetíveis de ameaçar a segurança e a saúde no trabalho.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3375"/>
            <a:ext cx="8497887" cy="7921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b="1" smtClean="0">
                <a:latin typeface="Comic Sans MS" pitchFamily="66" charset="0"/>
              </a:rPr>
              <a:t>OBRIGAÇÕES DO EMPREGADOR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052513"/>
            <a:ext cx="8640763" cy="55451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500" smtClean="0">
                <a:latin typeface="Comic Sans MS" pitchFamily="66" charset="0"/>
              </a:rPr>
              <a:t>A empresa é obrigada a fornecer aos empregados, de forma gratuita, EPI adequado ao risco, em perfeito estado de conservação e funcionamento.</a:t>
            </a:r>
          </a:p>
          <a:p>
            <a:r>
              <a:rPr lang="pt-BR" sz="2500" smtClean="0">
                <a:latin typeface="Comic Sans MS" pitchFamily="66" charset="0"/>
              </a:rPr>
              <a:t>Adquirir o EPI adequado ao risco da atividade e exigir seu uso.</a:t>
            </a:r>
          </a:p>
          <a:p>
            <a:r>
              <a:rPr lang="pt-BR" sz="2500" smtClean="0">
                <a:latin typeface="Comic Sans MS" pitchFamily="66" charset="0"/>
              </a:rPr>
              <a:t>Fornecer somente EPI aprovado pelo órgão nacional competente;</a:t>
            </a:r>
          </a:p>
          <a:p>
            <a:r>
              <a:rPr lang="pt-BR" sz="2500" smtClean="0">
                <a:latin typeface="Comic Sans MS" pitchFamily="66" charset="0"/>
              </a:rPr>
              <a:t>Orientar e treinar o trabalhador quanto a seu uso, guarda e conservação;</a:t>
            </a:r>
          </a:p>
          <a:p>
            <a:r>
              <a:rPr lang="pt-BR" sz="2500" smtClean="0">
                <a:latin typeface="Comic Sans MS" pitchFamily="66" charset="0"/>
              </a:rPr>
              <a:t>Substituir imediatamente quando extraviado ou danificado;</a:t>
            </a:r>
          </a:p>
          <a:p>
            <a:r>
              <a:rPr lang="pt-BR" sz="2500" smtClean="0">
                <a:latin typeface="Comic Sans MS" pitchFamily="66" charset="0"/>
              </a:rPr>
              <a:t>Responsabilizar-se por sua manutenção e higienização.</a:t>
            </a:r>
          </a:p>
          <a:p>
            <a:r>
              <a:rPr lang="pt-BR" sz="2500" smtClean="0">
                <a:latin typeface="Comic Sans MS" pitchFamily="66" charset="0"/>
              </a:rPr>
              <a:t>Comunicar ao MTE qualquer irregularidade observada.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549275"/>
            <a:ext cx="8207375" cy="7318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b="1" smtClean="0">
                <a:latin typeface="Comic Sans MS" pitchFamily="66" charset="0"/>
              </a:rPr>
              <a:t>OBRIGAÇÕES DO EMPREGADO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2743200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pt-BR" sz="2500" smtClean="0">
                <a:latin typeface="Comic Sans MS" pitchFamily="66" charset="0"/>
              </a:rPr>
              <a:t>Usar, utilizando-o somente apenas para a finalidade a que se destina;</a:t>
            </a:r>
          </a:p>
          <a:p>
            <a:pPr>
              <a:lnSpc>
                <a:spcPct val="90000"/>
              </a:lnSpc>
            </a:pPr>
            <a:r>
              <a:rPr lang="pt-BR" sz="2500" smtClean="0">
                <a:latin typeface="Comic Sans MS" pitchFamily="66" charset="0"/>
              </a:rPr>
              <a:t>Responsabilizar-se por sua guarda e conservação;</a:t>
            </a:r>
          </a:p>
          <a:p>
            <a:pPr>
              <a:lnSpc>
                <a:spcPct val="90000"/>
              </a:lnSpc>
            </a:pPr>
            <a:r>
              <a:rPr lang="pt-BR" sz="2500" smtClean="0">
                <a:latin typeface="Comic Sans MS" pitchFamily="66" charset="0"/>
              </a:rPr>
              <a:t>Comunicar qualquer alteração que o torne impróprio para uso;</a:t>
            </a:r>
          </a:p>
          <a:p>
            <a:pPr>
              <a:lnSpc>
                <a:spcPct val="90000"/>
              </a:lnSpc>
            </a:pPr>
            <a:r>
              <a:rPr lang="pt-BR" sz="2500" smtClean="0">
                <a:latin typeface="Comic Sans MS" pitchFamily="66" charset="0"/>
              </a:rPr>
              <a:t>Cumprir as determinações do empregador sobre seu uso adequado.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PRINCIPAIS EPIs: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62877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Calçados de Segurança</a:t>
            </a:r>
          </a:p>
          <a:p>
            <a:endParaRPr lang="pt-BR" smtClean="0"/>
          </a:p>
          <a:p>
            <a:endParaRPr lang="pt-BR" smtClean="0"/>
          </a:p>
          <a:p>
            <a:endParaRPr lang="pt-BR" smtClean="0"/>
          </a:p>
        </p:txBody>
      </p:sp>
      <p:pic>
        <p:nvPicPr>
          <p:cNvPr id="17203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55875" y="2420938"/>
            <a:ext cx="3589338" cy="329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20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Principais EPIs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Protetor Respiratório</a:t>
            </a:r>
          </a:p>
          <a:p>
            <a:endParaRPr lang="pt-BR" smtClean="0"/>
          </a:p>
          <a:p>
            <a:endParaRPr lang="pt-BR" smtClean="0"/>
          </a:p>
        </p:txBody>
      </p:sp>
      <p:pic>
        <p:nvPicPr>
          <p:cNvPr id="17306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00338" y="2390775"/>
            <a:ext cx="2663825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3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Principais EPIs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Protetor Auricular</a:t>
            </a:r>
          </a:p>
          <a:p>
            <a:endParaRPr lang="pt-BR" smtClean="0"/>
          </a:p>
          <a:p>
            <a:endParaRPr lang="pt-BR" smtClean="0"/>
          </a:p>
        </p:txBody>
      </p:sp>
      <p:pic>
        <p:nvPicPr>
          <p:cNvPr id="1740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16238" y="2708275"/>
            <a:ext cx="2447925" cy="232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Principais EPIs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Vestimenta</a:t>
            </a:r>
          </a:p>
          <a:p>
            <a:endParaRPr lang="pt-BR" smtClean="0"/>
          </a:p>
          <a:p>
            <a:endParaRPr lang="pt-BR" smtClean="0"/>
          </a:p>
        </p:txBody>
      </p:sp>
      <p:pic>
        <p:nvPicPr>
          <p:cNvPr id="1761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39975" y="2708275"/>
            <a:ext cx="4103688" cy="281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Luvas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>
              <a:buFontTx/>
              <a:buNone/>
            </a:pPr>
            <a:r>
              <a:rPr lang="pt-BR" sz="3600" b="1" smtClean="0">
                <a:cs typeface="Times New Roman" pitchFamily="18" charset="0"/>
              </a:rPr>
              <a:t>Luvas para limpeza geral: </a:t>
            </a:r>
          </a:p>
          <a:p>
            <a:pPr algn="just"/>
            <a:r>
              <a:rPr lang="pt-BR" b="1" smtClean="0">
                <a:cs typeface="Times New Roman" pitchFamily="18" charset="0"/>
              </a:rPr>
              <a:t>São de borracha grossa, utilizadas para serviços de limpeza e descontaminação de instrumentos, equipamentos e superfícies; </a:t>
            </a:r>
          </a:p>
          <a:p>
            <a:pPr algn="just"/>
            <a:r>
              <a:rPr lang="pt-BR" b="1" smtClean="0">
                <a:cs typeface="Times New Roman" pitchFamily="18" charset="0"/>
              </a:rPr>
              <a:t>São reutilizáveis, se não estiverem furadas ou rasgadas; </a:t>
            </a:r>
          </a:p>
          <a:p>
            <a:pPr algn="just"/>
            <a:r>
              <a:rPr lang="pt-BR" b="1" smtClean="0">
                <a:cs typeface="Times New Roman" pitchFamily="18" charset="0"/>
              </a:rPr>
              <a:t>Devem ser descontaminadas após o uso. </a:t>
            </a:r>
          </a:p>
          <a:p>
            <a:pPr algn="just"/>
            <a:endParaRPr lang="pt-BR" b="1" smtClean="0"/>
          </a:p>
          <a:p>
            <a:endParaRPr lang="pt-BR" smtClean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800" smtClean="0"/>
              <a:t>RELATÓRIOS DE SEGURANÇA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844675"/>
            <a:ext cx="8229600" cy="4525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  <a:p>
            <a:r>
              <a:rPr lang="pt-BR" sz="3600" smtClean="0"/>
              <a:t>PPRA. </a:t>
            </a:r>
          </a:p>
          <a:p>
            <a:r>
              <a:rPr lang="pt-BR" sz="3600" smtClean="0"/>
              <a:t>LTCAT.</a:t>
            </a:r>
          </a:p>
          <a:p>
            <a:r>
              <a:rPr lang="pt-BR" sz="3600" smtClean="0"/>
              <a:t>PCMSO.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8032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b="1" smtClean="0">
                <a:latin typeface="Comic Sans MS" pitchFamily="66" charset="0"/>
              </a:rPr>
              <a:t>PPRA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981200"/>
            <a:ext cx="8207375" cy="296068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500" smtClean="0">
                <a:latin typeface="Comic Sans MS" pitchFamily="66" charset="0"/>
              </a:rPr>
              <a:t> </a:t>
            </a:r>
            <a:r>
              <a:rPr lang="pt-BR" sz="2500" b="1" smtClean="0">
                <a:latin typeface="Comic Sans MS" pitchFamily="66" charset="0"/>
              </a:rPr>
              <a:t>Programa de Prevenção dos Riscos Ambientais</a:t>
            </a:r>
          </a:p>
          <a:p>
            <a:endParaRPr lang="pt-BR" sz="2500" smtClean="0">
              <a:latin typeface="Comic Sans MS" pitchFamily="66" charset="0"/>
            </a:endParaRPr>
          </a:p>
          <a:p>
            <a:r>
              <a:rPr lang="pt-BR" sz="2500" b="1" smtClean="0">
                <a:latin typeface="Comic Sans MS" pitchFamily="66" charset="0"/>
              </a:rPr>
              <a:t>Objetivo</a:t>
            </a:r>
            <a:r>
              <a:rPr lang="pt-BR" sz="2500" smtClean="0">
                <a:latin typeface="Comic Sans MS" pitchFamily="66" charset="0"/>
              </a:rPr>
              <a:t>: P</a:t>
            </a:r>
            <a:r>
              <a:rPr lang="pt-BR" sz="2500" b="1" smtClean="0">
                <a:latin typeface="Comic Sans MS" pitchFamily="66" charset="0"/>
              </a:rPr>
              <a:t>reservar a saúde e integridade física do trabalhador, através do reconhecimento dos riscos existentes para cada função na empresa, com sua respectiva medida de controle.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33375"/>
            <a:ext cx="7772400" cy="7191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b="1" smtClean="0">
                <a:latin typeface="Comic Sans MS" pitchFamily="66" charset="0"/>
              </a:rPr>
              <a:t>RISCOS AMBIENTAIS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189038"/>
            <a:ext cx="8280400" cy="173513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500" smtClean="0">
                <a:latin typeface="Comic Sans MS" pitchFamily="66" charset="0"/>
              </a:rPr>
              <a:t>Consideram-se riscos ambientais os agentes físicos, químicos, biológicos e ergonômicos, existentes no ambiente de trabalho, capazes de causar danos à saúde do trabalhador.</a:t>
            </a:r>
          </a:p>
        </p:txBody>
      </p:sp>
      <p:sp>
        <p:nvSpPr>
          <p:cNvPr id="46084" name="Rectangle 9"/>
          <p:cNvSpPr>
            <a:spLocks noChangeArrowheads="1"/>
          </p:cNvSpPr>
          <p:nvPr/>
        </p:nvSpPr>
        <p:spPr bwMode="auto">
          <a:xfrm>
            <a:off x="685800" y="2852738"/>
            <a:ext cx="77724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pt-BR" sz="3000" b="1">
                <a:solidFill>
                  <a:schemeClr val="tx2"/>
                </a:solidFill>
                <a:latin typeface="Comic Sans MS" pitchFamily="66" charset="0"/>
              </a:rPr>
              <a:t>TIPOS DE RISCOS</a:t>
            </a:r>
          </a:p>
        </p:txBody>
      </p:sp>
      <p:sp>
        <p:nvSpPr>
          <p:cNvPr id="46085" name="Rectangle 10"/>
          <p:cNvSpPr>
            <a:spLocks noChangeArrowheads="1"/>
          </p:cNvSpPr>
          <p:nvPr/>
        </p:nvSpPr>
        <p:spPr bwMode="auto">
          <a:xfrm>
            <a:off x="395288" y="3490913"/>
            <a:ext cx="8353425" cy="303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pt-BR" sz="2500" b="1">
                <a:latin typeface="Comic Sans MS" pitchFamily="66" charset="0"/>
              </a:rPr>
              <a:t>Riscos Físicos</a:t>
            </a:r>
            <a:r>
              <a:rPr lang="pt-BR" sz="2500">
                <a:latin typeface="Comic Sans MS" pitchFamily="66" charset="0"/>
              </a:rPr>
              <a:t> – Ruídos, vibrações, temperaturas anormais, pressões ionizantes, iluminação e umidade.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pt-BR" sz="2500" b="1">
                <a:latin typeface="Comic Sans MS" pitchFamily="66" charset="0"/>
              </a:rPr>
              <a:t>Riscos Químicos</a:t>
            </a:r>
            <a:r>
              <a:rPr lang="pt-BR" sz="2500">
                <a:latin typeface="Comic Sans MS" pitchFamily="66" charset="0"/>
              </a:rPr>
              <a:t> – Névoas, neblinas, poeiras, fumos, gases e vapores.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pt-BR" sz="2500" b="1">
                <a:latin typeface="Comic Sans MS" pitchFamily="66" charset="0"/>
              </a:rPr>
              <a:t>Riscos Biológicos</a:t>
            </a:r>
            <a:r>
              <a:rPr lang="pt-BR" sz="2500">
                <a:latin typeface="Comic Sans MS" pitchFamily="66" charset="0"/>
              </a:rPr>
              <a:t> – Bactérias, fungos, protozoários e vírus.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pt-BR" sz="2500" b="1">
                <a:latin typeface="Comic Sans MS" pitchFamily="66" charset="0"/>
              </a:rPr>
              <a:t>Riscos Ergonômicos</a:t>
            </a:r>
            <a:r>
              <a:rPr lang="pt-BR" sz="2500">
                <a:latin typeface="Comic Sans MS" pitchFamily="66" charset="0"/>
              </a:rPr>
              <a:t> – Postura inadequada.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800" b="1" smtClean="0">
                <a:latin typeface="Comic Sans MS" pitchFamily="66" charset="0"/>
              </a:rPr>
              <a:t>LTCAT</a:t>
            </a:r>
            <a:r>
              <a:rPr lang="pt-BR" sz="4800" smtClean="0">
                <a:latin typeface="Comic Sans MS" pitchFamily="66" charset="0"/>
              </a:rPr>
              <a:t> 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2800" smtClean="0">
                <a:latin typeface="Comic Sans MS" pitchFamily="66" charset="0"/>
              </a:rPr>
              <a:t>Laudo Técnico das Condições Ambientais de Trabalho. </a:t>
            </a:r>
          </a:p>
          <a:p>
            <a:r>
              <a:rPr lang="pt-BR" sz="2800" smtClean="0">
                <a:latin typeface="Comic Sans MS" pitchFamily="66" charset="0"/>
              </a:rPr>
              <a:t>Ele é confeccionado com base em um levantamento dos riscos ambientais (no ambiente de trabalho) por meio de uma visita realizada por engenheiro ou médico do trabalho. Estes devem vistoriar o local e Determinar quais os riscos existentes. O prazo para renovação é anual.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731838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b="1" smtClean="0">
                <a:latin typeface="Comic Sans MS" pitchFamily="66" charset="0"/>
              </a:rPr>
              <a:t>PCMSO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2205038"/>
            <a:ext cx="7772400" cy="216852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>
                <a:latin typeface="Comic Sans MS" pitchFamily="66" charset="0"/>
              </a:rPr>
              <a:t>Programa de Controle Médico e Saúde Ocupacional.</a:t>
            </a:r>
          </a:p>
          <a:p>
            <a:r>
              <a:rPr lang="pt-BR" smtClean="0">
                <a:latin typeface="Comic Sans MS" pitchFamily="66" charset="0"/>
              </a:rPr>
              <a:t>O PCMSO deverá ser planejado com base nos riscos à saúde dos trabalhadores, especialmente os identificados nas avaliações ambientais.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04813"/>
            <a:ext cx="7772400" cy="803275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b="1" smtClean="0">
                <a:latin typeface="Comic Sans MS" pitchFamily="66" charset="0"/>
              </a:rPr>
              <a:t>SERVIÇO MÉDICO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412875"/>
            <a:ext cx="8280400" cy="223996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>
                <a:latin typeface="Comic Sans MS" pitchFamily="66" charset="0"/>
              </a:rPr>
              <a:t>Realiza Medicina Ocupacional</a:t>
            </a:r>
          </a:p>
          <a:p>
            <a:r>
              <a:rPr lang="pt-BR" smtClean="0">
                <a:latin typeface="Comic Sans MS" pitchFamily="66" charset="0"/>
              </a:rPr>
              <a:t>Avalia os Atestados médicos apresentados</a:t>
            </a:r>
          </a:p>
          <a:p>
            <a:r>
              <a:rPr lang="pt-BR" smtClean="0">
                <a:latin typeface="Comic Sans MS" pitchFamily="66" charset="0"/>
              </a:rPr>
              <a:t>Responsável pelos exames médicos: Admissionais, Periódicos, Retorno ao trabalho, Mudança de função, Demissional e Homologação de Atestados Médicos.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smtClean="0"/>
              <a:t>HOMOLOGAÇÃO DE ATESTADOS MÉDICOS	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80000"/>
              </a:lnSpc>
            </a:pPr>
            <a:r>
              <a:rPr lang="pt-BR" sz="2800" dirty="0" smtClean="0"/>
              <a:t>A empresa através do Médico do Trabalho só pode homologar os afastamentos médicos até o 15º dia.</a:t>
            </a:r>
          </a:p>
          <a:p>
            <a:pPr>
              <a:lnSpc>
                <a:spcPct val="80000"/>
              </a:lnSpc>
            </a:pPr>
            <a:r>
              <a:rPr lang="pt-BR" sz="2800" dirty="0" smtClean="0"/>
              <a:t>A partir do 16º dia é necessário agendar perícia no INSS (1ª perícia é agendado pela empresa).</a:t>
            </a:r>
          </a:p>
          <a:p>
            <a:pPr>
              <a:lnSpc>
                <a:spcPct val="80000"/>
              </a:lnSpc>
            </a:pPr>
            <a:r>
              <a:rPr lang="pt-BR" sz="2800" dirty="0" smtClean="0"/>
              <a:t>Os afastamentos são cumulativos no período de 60 (sessenta) dias.</a:t>
            </a:r>
          </a:p>
          <a:p>
            <a:pPr>
              <a:lnSpc>
                <a:spcPct val="80000"/>
              </a:lnSpc>
            </a:pPr>
            <a:r>
              <a:rPr lang="pt-BR" sz="2800" dirty="0" smtClean="0"/>
              <a:t>Se o empregado não estiver em condições de se deslocar até o seu local de trabalho, um familiar poderá apresentar o atestado ao Setor de RH. </a:t>
            </a:r>
          </a:p>
          <a:p>
            <a:pPr>
              <a:lnSpc>
                <a:spcPct val="80000"/>
              </a:lnSpc>
            </a:pPr>
            <a:r>
              <a:rPr lang="pt-BR" sz="2800" dirty="0" smtClean="0"/>
              <a:t>Solicitamos que informem o numero do seu telefone no verso do atestado para possíveis esclarecimentos.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smtClean="0"/>
              <a:t>FALTAS ABONADAS/JUSTIFICADAS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ABONADAS – que são pagas pelo empregador (art. 473 da CLT)</a:t>
            </a:r>
          </a:p>
          <a:p>
            <a:r>
              <a:rPr lang="pt-BR" smtClean="0"/>
              <a:t>JUSTIFICADAS - que justificam a ausência, porem, a remuneração não é obrigatória por lei;</a:t>
            </a:r>
          </a:p>
          <a:p>
            <a:r>
              <a:rPr lang="pt-BR" smtClean="0"/>
              <a:t>INJUSTIFICADAS – a ausência não é justificada pelo empregado, logo, ele não recebe remuneração.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smtClean="0"/>
              <a:t>FALTAS JUSTIFICADAS/ABONADAS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A ausência da mãe que acompanha o filho com problemas de saúde,  é uma falta justificada, mas não é abonada, ou seja, a empresa não está obrigada a pagar a respectiva remuneração (salvo disposição em contrário em acordo e/ou convenção coletiva)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smtClean="0"/>
              <a:t>REDUÇÃO DO PERÍODO DE GOZO DE FÉRIAS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Se o empregado comete excesso da faltas injustificadas, o empregador pode reduzir o período de descanso do empregado. Nesse sentido a CLT em art. 130 determinou um sistema de escalonamento: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smtClean="0"/>
              <a:t>REDUÇÃO DO PERÍODO DE GOZO DE FÉRIAS</a:t>
            </a:r>
          </a:p>
        </p:txBody>
      </p:sp>
      <p:graphicFrame>
        <p:nvGraphicFramePr>
          <p:cNvPr id="201757" name="Group 29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715193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755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FALTAS INJUSTIFICADAS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DIREITO A FÉRIAS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Até 5 faltas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 6 a 14 - faltas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24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4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 15 a 23 - faltas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2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De 24 a 32 - faltas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556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Acima de 32 - faltas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FÉRIAS – PERDA DO DIREITO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Não faz jus às férias o empregado que, no curso do período aquisitivo, houver faltado ao serviço mais de 32 vezes (inteligência do art. 130, inciso IV, da CLT)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smtClean="0"/>
              <a:t>Comissão Interna de Prevenção de Acidentes - CIPA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  <a:p>
            <a:r>
              <a:rPr lang="pt-BR" smtClean="0"/>
              <a:t>A CIPA, tem como objetivo a prevenção de acidentes e doenças decorrentes do trabalho.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mtClean="0"/>
              <a:t>ORGANIZAÇÃO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90000"/>
              </a:lnSpc>
            </a:pPr>
            <a:r>
              <a:rPr lang="pt-BR" sz="2400" smtClean="0"/>
              <a:t>A CIPA será composta de representantes do empregador e dos empregados;</a:t>
            </a:r>
          </a:p>
          <a:p>
            <a:pPr>
              <a:lnSpc>
                <a:spcPct val="90000"/>
              </a:lnSpc>
            </a:pPr>
            <a:r>
              <a:rPr lang="pt-BR" sz="2400" smtClean="0"/>
              <a:t>Os representantes do empregador, titulares e suplentes serão por eles designados.</a:t>
            </a:r>
          </a:p>
          <a:p>
            <a:pPr>
              <a:lnSpc>
                <a:spcPct val="90000"/>
              </a:lnSpc>
            </a:pPr>
            <a:r>
              <a:rPr lang="pt-BR" sz="2400" smtClean="0"/>
              <a:t>Os representantes dos empregados, titulares e suplentes, serão eleitos em escrutínio secreto, pelos empregados;</a:t>
            </a:r>
          </a:p>
          <a:p>
            <a:pPr>
              <a:lnSpc>
                <a:spcPct val="90000"/>
              </a:lnSpc>
            </a:pPr>
            <a:r>
              <a:rPr lang="pt-BR" sz="2400" smtClean="0"/>
              <a:t>O mandato dos membros eleitos da CIPA terá a duração de um ano, permitida uma reeleição.</a:t>
            </a:r>
          </a:p>
          <a:p>
            <a:pPr>
              <a:lnSpc>
                <a:spcPct val="90000"/>
              </a:lnSpc>
            </a:pPr>
            <a:r>
              <a:rPr lang="pt-BR" sz="2400" smtClean="0"/>
              <a:t>O empregador designará entre seus representantes o Presidente da CIPA, e os representantes dos empregados escolherão entre os titulares o vice-presidente.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sz="4000" smtClean="0"/>
              <a:t/>
            </a:r>
            <a:br>
              <a:rPr lang="pt-BR" sz="4000" smtClean="0"/>
            </a:br>
            <a:r>
              <a:rPr lang="pt-BR" sz="4000" smtClean="0"/>
              <a:t>FUNCIONAMENTO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 smtClean="0"/>
          </a:p>
          <a:p>
            <a:r>
              <a:rPr lang="pt-BR" smtClean="0"/>
              <a:t>A CIPA terá reuniões ordinárias mensais, de acordo com o calendário preestabelecido;</a:t>
            </a:r>
          </a:p>
          <a:p>
            <a:r>
              <a:rPr lang="pt-BR" smtClean="0"/>
              <a:t>As reuniões ordinárias da CIPA serão realizadas durante o expediente normal da empresa;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3"/>
          <p:cNvSpPr>
            <a:spLocks noChangeArrowheads="1"/>
          </p:cNvSpPr>
          <p:nvPr/>
        </p:nvSpPr>
        <p:spPr bwMode="auto">
          <a:xfrm>
            <a:off x="395288" y="2133600"/>
            <a:ext cx="8382000" cy="3787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>
              <a:spcBef>
                <a:spcPct val="50000"/>
              </a:spcBef>
            </a:pPr>
            <a:r>
              <a:rPr lang="pt-BR" sz="3000">
                <a:latin typeface="Comic Sans MS" pitchFamily="66" charset="0"/>
              </a:rPr>
              <a:t>AÇÕES PARA EVITAR INCÊNDIOS: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2500">
                <a:latin typeface="Comic Sans MS" pitchFamily="66" charset="0"/>
              </a:rPr>
              <a:t> não fume em locais proibidos;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2500">
                <a:latin typeface="Comic Sans MS" pitchFamily="66" charset="0"/>
              </a:rPr>
              <a:t> conserve as instalações elétricas em perfeito funcionamento;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2500">
                <a:latin typeface="Comic Sans MS" pitchFamily="66" charset="0"/>
              </a:rPr>
              <a:t>Evite a sobrecarga nas instalações elétricas;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2500">
                <a:latin typeface="Comic Sans MS" pitchFamily="66" charset="0"/>
              </a:rPr>
              <a:t> evite acúmulo de materiais inflamáveis;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Ø"/>
            </a:pPr>
            <a:r>
              <a:rPr lang="pt-BR" sz="2500">
                <a:latin typeface="Comic Sans MS" pitchFamily="66" charset="0"/>
              </a:rPr>
              <a:t>evite queimar papéis e outros em locais inadequados</a:t>
            </a:r>
          </a:p>
        </p:txBody>
      </p:sp>
      <p:sp>
        <p:nvSpPr>
          <p:cNvPr id="59395" name="Rectangle 15"/>
          <p:cNvSpPr>
            <a:spLocks noChangeArrowheads="1"/>
          </p:cNvSpPr>
          <p:nvPr/>
        </p:nvSpPr>
        <p:spPr bwMode="auto">
          <a:xfrm>
            <a:off x="468313" y="476250"/>
            <a:ext cx="82804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4000" b="1">
                <a:latin typeface="Comic Sans MS" pitchFamily="66" charset="0"/>
              </a:rPr>
              <a:t>PREVENÇÃO E COMBATE </a:t>
            </a:r>
          </a:p>
          <a:p>
            <a:pPr algn="ctr"/>
            <a:r>
              <a:rPr lang="pt-BR" sz="4000" b="1">
                <a:latin typeface="Comic Sans MS" pitchFamily="66" charset="0"/>
              </a:rPr>
              <a:t>A SINISTROS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13"/>
          <p:cNvSpPr txBox="1">
            <a:spLocks noChangeArrowheads="1"/>
          </p:cNvSpPr>
          <p:nvPr/>
        </p:nvSpPr>
        <p:spPr bwMode="auto">
          <a:xfrm>
            <a:off x="900113" y="1676400"/>
            <a:ext cx="7086600" cy="24733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defTabSz="762000">
              <a:spcBef>
                <a:spcPct val="50000"/>
              </a:spcBef>
              <a:buFont typeface="Wingdings" pitchFamily="2" charset="2"/>
              <a:buChar char="§"/>
            </a:pPr>
            <a:r>
              <a:rPr lang="pt-BR" sz="2600">
                <a:latin typeface="Comic Sans MS" pitchFamily="66" charset="0"/>
              </a:rPr>
              <a:t>Mantenha a calma;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§"/>
            </a:pPr>
            <a:r>
              <a:rPr lang="pt-BR" sz="2600">
                <a:latin typeface="Comic Sans MS" pitchFamily="66" charset="0"/>
              </a:rPr>
              <a:t>Aguarde instruções da Segurança do Trabalho (quando existir na unidade);</a:t>
            </a:r>
          </a:p>
          <a:p>
            <a:pPr defTabSz="762000">
              <a:spcBef>
                <a:spcPct val="50000"/>
              </a:spcBef>
              <a:buFont typeface="Wingdings" pitchFamily="2" charset="2"/>
              <a:buChar char="§"/>
            </a:pPr>
            <a:r>
              <a:rPr lang="pt-BR" sz="2600">
                <a:latin typeface="Comic Sans MS" pitchFamily="66" charset="0"/>
              </a:rPr>
              <a:t>Use equipamentos de combate a incêndio disponíveis: extintores, hidrantes, etc.;.</a:t>
            </a:r>
          </a:p>
        </p:txBody>
      </p:sp>
      <p:sp>
        <p:nvSpPr>
          <p:cNvPr id="60419" name="Rectangle 15"/>
          <p:cNvSpPr>
            <a:spLocks noChangeArrowheads="1"/>
          </p:cNvSpPr>
          <p:nvPr/>
        </p:nvSpPr>
        <p:spPr bwMode="auto">
          <a:xfrm>
            <a:off x="684213" y="495300"/>
            <a:ext cx="73421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Font typeface="Monotype Sorts" pitchFamily="2" charset="2"/>
              <a:buNone/>
            </a:pPr>
            <a:r>
              <a:rPr lang="pt-BR" sz="4000" b="1">
                <a:latin typeface="Comic Sans MS" pitchFamily="66" charset="0"/>
              </a:rPr>
              <a:t>EM CASO DE EMERGÊNCIA</a:t>
            </a:r>
            <a:r>
              <a:rPr lang="pt-BR" sz="4000">
                <a:latin typeface="Comic Sans MS" pitchFamily="66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1"/>
          <p:cNvSpPr txBox="1">
            <a:spLocks noChangeArrowheads="1"/>
          </p:cNvSpPr>
          <p:nvPr/>
        </p:nvSpPr>
        <p:spPr bwMode="auto">
          <a:xfrm>
            <a:off x="611188" y="476250"/>
            <a:ext cx="80645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4000" b="1">
                <a:latin typeface="Comic Sans MS" pitchFamily="66" charset="0"/>
              </a:rPr>
              <a:t>VEJA ALGUMAS DICAS</a:t>
            </a:r>
            <a:endParaRPr lang="pt-BR" sz="4000">
              <a:latin typeface="Comic Sans MS" pitchFamily="66" charset="0"/>
            </a:endParaRPr>
          </a:p>
        </p:txBody>
      </p:sp>
      <p:sp>
        <p:nvSpPr>
          <p:cNvPr id="61443" name="Text Box 12"/>
          <p:cNvSpPr txBox="1">
            <a:spLocks noChangeArrowheads="1"/>
          </p:cNvSpPr>
          <p:nvPr/>
        </p:nvSpPr>
        <p:spPr bwMode="auto">
          <a:xfrm>
            <a:off x="468313" y="1268413"/>
            <a:ext cx="8207375" cy="3554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Trabalhe com atenção.</a:t>
            </a:r>
          </a:p>
          <a:p>
            <a:pPr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Em se tratando de prevenção, não confie demais em você mesmo.</a:t>
            </a:r>
          </a:p>
          <a:p>
            <a:pPr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Não seja orgulhoso, você não sabe tudo.</a:t>
            </a:r>
          </a:p>
          <a:p>
            <a:pPr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Se não pode fazer, peça ajuda.</a:t>
            </a:r>
          </a:p>
          <a:p>
            <a:pPr>
              <a:buFont typeface="Wingdings" pitchFamily="2" charset="2"/>
              <a:buChar char="§"/>
            </a:pPr>
            <a:r>
              <a:rPr lang="pt-BR" sz="2500" dirty="0" smtClean="0">
                <a:latin typeface="Comic Sans MS" pitchFamily="66" charset="0"/>
              </a:rPr>
              <a:t>Respeite </a:t>
            </a:r>
            <a:r>
              <a:rPr lang="pt-BR" sz="2500" dirty="0">
                <a:latin typeface="Comic Sans MS" pitchFamily="66" charset="0"/>
              </a:rPr>
              <a:t>as normas de Segurança.</a:t>
            </a:r>
          </a:p>
          <a:p>
            <a:pPr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Procure conhecer os riscos de sua profissão.</a:t>
            </a:r>
          </a:p>
          <a:p>
            <a:pPr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Não confie na sorte.</a:t>
            </a:r>
          </a:p>
          <a:p>
            <a:pPr>
              <a:buFont typeface="Wingdings" pitchFamily="2" charset="2"/>
              <a:buChar char="§"/>
            </a:pPr>
            <a:r>
              <a:rPr lang="pt-BR" sz="2500" dirty="0">
                <a:latin typeface="Comic Sans MS" pitchFamily="66" charset="0"/>
              </a:rPr>
              <a:t>Ame e respeite a sua vida, pois ela é única.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ext Box 12"/>
          <p:cNvSpPr txBox="1">
            <a:spLocks noChangeArrowheads="1"/>
          </p:cNvSpPr>
          <p:nvPr/>
        </p:nvSpPr>
        <p:spPr bwMode="auto">
          <a:xfrm>
            <a:off x="468313" y="476250"/>
            <a:ext cx="813593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4000" b="1">
                <a:latin typeface="Comic Sans MS" pitchFamily="66" charset="0"/>
              </a:rPr>
              <a:t>EVITE:</a:t>
            </a:r>
            <a:endParaRPr lang="pt-BR" sz="4000">
              <a:latin typeface="Comic Sans MS" pitchFamily="66" charset="0"/>
            </a:endParaRPr>
          </a:p>
        </p:txBody>
      </p:sp>
      <p:sp>
        <p:nvSpPr>
          <p:cNvPr id="62467" name="Text Box 13"/>
          <p:cNvSpPr txBox="1">
            <a:spLocks noChangeArrowheads="1"/>
          </p:cNvSpPr>
          <p:nvPr/>
        </p:nvSpPr>
        <p:spPr bwMode="auto">
          <a:xfrm>
            <a:off x="468313" y="1524000"/>
            <a:ext cx="8351837" cy="298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Symbol" pitchFamily="18" charset="2"/>
              <a:buChar char="·"/>
            </a:pPr>
            <a:endParaRPr lang="pt-BR" sz="2500">
              <a:solidFill>
                <a:schemeClr val="tx2"/>
              </a:solidFill>
              <a:latin typeface="Comic Sans MS" pitchFamily="66" charset="0"/>
            </a:endParaRPr>
          </a:p>
          <a:p>
            <a:pPr>
              <a:buFont typeface="Symbol" pitchFamily="18" charset="2"/>
              <a:buChar char="·"/>
            </a:pPr>
            <a:r>
              <a:rPr lang="pt-BR" sz="2800">
                <a:solidFill>
                  <a:schemeClr val="tx2"/>
                </a:solidFill>
                <a:latin typeface="Comic Sans MS" pitchFamily="66" charset="0"/>
              </a:rPr>
              <a:t>Conversar e distrair-se enquanto trabalha;</a:t>
            </a:r>
          </a:p>
          <a:p>
            <a:pPr>
              <a:buFont typeface="Symbol" pitchFamily="18" charset="2"/>
              <a:buChar char="·"/>
            </a:pPr>
            <a:r>
              <a:rPr lang="pt-BR" sz="2800">
                <a:solidFill>
                  <a:schemeClr val="tx2"/>
                </a:solidFill>
                <a:latin typeface="Comic Sans MS" pitchFamily="66" charset="0"/>
              </a:rPr>
              <a:t>Realizar tarefas sem que esteja habilitado a fazê-las;</a:t>
            </a:r>
          </a:p>
          <a:p>
            <a:pPr>
              <a:buFont typeface="Symbol" pitchFamily="18" charset="2"/>
              <a:buChar char="·"/>
            </a:pPr>
            <a:r>
              <a:rPr lang="pt-BR" sz="2800">
                <a:solidFill>
                  <a:schemeClr val="tx2"/>
                </a:solidFill>
                <a:latin typeface="Comic Sans MS" pitchFamily="66" charset="0"/>
              </a:rPr>
              <a:t>Correrias;</a:t>
            </a:r>
          </a:p>
          <a:p>
            <a:pPr>
              <a:buFont typeface="Symbol" pitchFamily="18" charset="2"/>
              <a:buChar char="·"/>
            </a:pPr>
            <a:r>
              <a:rPr lang="pt-BR" sz="2800">
                <a:solidFill>
                  <a:schemeClr val="tx2"/>
                </a:solidFill>
                <a:latin typeface="Comic Sans MS" pitchFamily="66" charset="0"/>
              </a:rPr>
              <a:t>Trabalhar sem o Equipamento de Segurança.</a:t>
            </a:r>
          </a:p>
          <a:p>
            <a:endParaRPr lang="pt-BR" sz="2500">
              <a:solidFill>
                <a:schemeClr val="tx2"/>
              </a:solidFill>
              <a:latin typeface="Comic Sans MS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3"/>
          <p:cNvSpPr txBox="1">
            <a:spLocks noChangeArrowheads="1"/>
          </p:cNvSpPr>
          <p:nvPr/>
        </p:nvSpPr>
        <p:spPr bwMode="auto">
          <a:xfrm>
            <a:off x="539750" y="2516188"/>
            <a:ext cx="80645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4000" b="1">
                <a:solidFill>
                  <a:srgbClr val="800000"/>
                </a:solidFill>
                <a:latin typeface="Comic Sans MS" pitchFamily="66" charset="0"/>
              </a:rPr>
              <a:t>Trabalhar com Segurança implica ter respeito e dignidade à própria vida.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ext Box 8"/>
          <p:cNvSpPr txBox="1">
            <a:spLocks noChangeArrowheads="1"/>
          </p:cNvSpPr>
          <p:nvPr/>
        </p:nvSpPr>
        <p:spPr bwMode="auto">
          <a:xfrm>
            <a:off x="539750" y="1563688"/>
            <a:ext cx="8064500" cy="374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4000" b="1">
                <a:latin typeface="Comic Sans MS" pitchFamily="66" charset="0"/>
              </a:rPr>
              <a:t>LEMBRE-SE :</a:t>
            </a:r>
          </a:p>
          <a:p>
            <a:pPr algn="ctr"/>
            <a:endParaRPr lang="pt-BR" sz="4000" b="1">
              <a:latin typeface="Comic Sans MS" pitchFamily="66" charset="0"/>
            </a:endParaRPr>
          </a:p>
          <a:p>
            <a:pPr algn="ctr"/>
            <a:r>
              <a:rPr lang="pt-BR" sz="4000" b="1">
                <a:latin typeface="Comic Sans MS" pitchFamily="66" charset="0"/>
              </a:rPr>
              <a:t>O trabalho representa promessa de vida, e não um atalho para o sofrimento, dor, e morte.</a:t>
            </a:r>
            <a:endParaRPr lang="pt-BR" sz="4000">
              <a:latin typeface="Comic Sans MS" pitchFamily="66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8"/>
          <p:cNvSpPr txBox="1">
            <a:spLocks noChangeArrowheads="1"/>
          </p:cNvSpPr>
          <p:nvPr/>
        </p:nvSpPr>
        <p:spPr bwMode="auto">
          <a:xfrm>
            <a:off x="611188" y="1978025"/>
            <a:ext cx="8064500" cy="253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pt-BR" sz="4000" b="1">
                <a:solidFill>
                  <a:srgbClr val="800000"/>
                </a:solidFill>
                <a:latin typeface="Comic Sans MS" pitchFamily="66" charset="0"/>
              </a:rPr>
              <a:t>Valorize sua vida, pois ela não têm preço, pratique segurança.</a:t>
            </a:r>
          </a:p>
          <a:p>
            <a:pPr algn="ctr"/>
            <a:endParaRPr lang="pt-BR" sz="4000" b="1">
              <a:solidFill>
                <a:srgbClr val="800000"/>
              </a:solidFill>
              <a:latin typeface="Comic Sans MS" pitchFamily="66" charset="0"/>
            </a:endParaRPr>
          </a:p>
          <a:p>
            <a:pPr algn="ctr"/>
            <a:r>
              <a:rPr lang="pt-BR" sz="4000" b="1">
                <a:solidFill>
                  <a:srgbClr val="800000"/>
                </a:solidFill>
                <a:latin typeface="Comic Sans MS" pitchFamily="66" charset="0"/>
              </a:rPr>
              <a:t>Segurança é um estilo de vida.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trutura padrão">
  <a:themeElements>
    <a:clrScheme name="Estrutura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1264</TotalTime>
  <Words>1852</Words>
  <Application>Microsoft Office PowerPoint</Application>
  <PresentationFormat>Apresentação na tela (4:3)</PresentationFormat>
  <Paragraphs>217</Paragraphs>
  <Slides>46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46</vt:i4>
      </vt:variant>
    </vt:vector>
  </HeadingPairs>
  <TitlesOfParts>
    <vt:vector size="47" baseType="lpstr">
      <vt:lpstr>Estrutura padrão</vt:lpstr>
      <vt:lpstr>Slide 1</vt:lpstr>
      <vt:lpstr>Slide 2</vt:lpstr>
      <vt:lpstr>Slide 3</vt:lpstr>
      <vt:lpstr>Slide 4</vt:lpstr>
      <vt:lpstr>Slide 5</vt:lpstr>
      <vt:lpstr>Slide 6</vt:lpstr>
      <vt:lpstr>Slide 7</vt:lpstr>
      <vt:lpstr>ATITUDES QUE PODEM PROVOCAR ACIDENTES</vt:lpstr>
      <vt:lpstr>Slide 9</vt:lpstr>
      <vt:lpstr>Slide 10</vt:lpstr>
      <vt:lpstr>Slide 11</vt:lpstr>
      <vt:lpstr>Slide 12</vt:lpstr>
      <vt:lpstr>Slide 13</vt:lpstr>
      <vt:lpstr>Slide 14</vt:lpstr>
      <vt:lpstr>ACIDENTE DE TRAJETO</vt:lpstr>
      <vt:lpstr>CARACTERIZAÇÃO DO ACIDENTE DE TRAJETO</vt:lpstr>
      <vt:lpstr>EPI – EQUIPAMENTO DE PROTEÇÃO INDIVIDUAL</vt:lpstr>
      <vt:lpstr>OBRIGAÇÕES DO EMPREGADOR</vt:lpstr>
      <vt:lpstr>OBRIGAÇÕES DO EMPREGADO</vt:lpstr>
      <vt:lpstr>PRINCIPAIS EPIs:</vt:lpstr>
      <vt:lpstr>Principais EPIs</vt:lpstr>
      <vt:lpstr>Principais EPIs</vt:lpstr>
      <vt:lpstr>Principais EPIs</vt:lpstr>
      <vt:lpstr>Luvas</vt:lpstr>
      <vt:lpstr>RELATÓRIOS DE SEGURANÇA</vt:lpstr>
      <vt:lpstr>PPRA</vt:lpstr>
      <vt:lpstr>RISCOS AMBIENTAIS</vt:lpstr>
      <vt:lpstr>LTCAT </vt:lpstr>
      <vt:lpstr>PCMSO</vt:lpstr>
      <vt:lpstr>SERVIÇO MÉDICO</vt:lpstr>
      <vt:lpstr>HOMOLOGAÇÃO DE ATESTADOS MÉDICOS </vt:lpstr>
      <vt:lpstr>FALTAS ABONADAS/JUSTIFICADAS</vt:lpstr>
      <vt:lpstr>FALTAS JUSTIFICADAS/ABONADAS</vt:lpstr>
      <vt:lpstr>REDUÇÃO DO PERÍODO DE GOZO DE FÉRIAS</vt:lpstr>
      <vt:lpstr>REDUÇÃO DO PERÍODO DE GOZO DE FÉRIAS</vt:lpstr>
      <vt:lpstr>FÉRIAS – PERDA DO DIREITO</vt:lpstr>
      <vt:lpstr>Comissão Interna de Prevenção de Acidentes - CIPA</vt:lpstr>
      <vt:lpstr>ORGANIZAÇÃO</vt:lpstr>
      <vt:lpstr> FUNCIONAMENTO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Perdigão Agroindustrial S.A.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sem título </dc:title>
  <dc:creator>jpj</dc:creator>
  <cp:lastModifiedBy>lourinaldo nunes de jesus</cp:lastModifiedBy>
  <cp:revision>129</cp:revision>
  <cp:lastPrinted>2001-03-09T16:40:55Z</cp:lastPrinted>
  <dcterms:created xsi:type="dcterms:W3CDTF">2000-12-27T12:41:11Z</dcterms:created>
  <dcterms:modified xsi:type="dcterms:W3CDTF">2011-07-27T20:47:56Z</dcterms:modified>
</cp:coreProperties>
</file>