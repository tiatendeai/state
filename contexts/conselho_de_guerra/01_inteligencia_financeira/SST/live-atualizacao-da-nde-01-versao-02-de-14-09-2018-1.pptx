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473" r:id="rId4"/>
    <p:sldId id="336" r:id="rId5"/>
    <p:sldId id="494" r:id="rId6"/>
    <p:sldId id="495" r:id="rId7"/>
    <p:sldId id="496" r:id="rId8"/>
    <p:sldId id="499" r:id="rId9"/>
    <p:sldId id="500" r:id="rId10"/>
    <p:sldId id="498" r:id="rId11"/>
    <p:sldId id="497" r:id="rId12"/>
    <p:sldId id="501" r:id="rId13"/>
    <p:sldId id="502" r:id="rId14"/>
    <p:sldId id="503" r:id="rId15"/>
    <p:sldId id="505" r:id="rId16"/>
    <p:sldId id="507" r:id="rId17"/>
    <p:sldId id="508" r:id="rId18"/>
    <p:sldId id="506" r:id="rId19"/>
    <p:sldId id="509" r:id="rId20"/>
    <p:sldId id="510" r:id="rId21"/>
    <p:sldId id="511" r:id="rId22"/>
    <p:sldId id="512" r:id="rId23"/>
    <p:sldId id="513" r:id="rId24"/>
    <p:sldId id="517" r:id="rId25"/>
    <p:sldId id="518" r:id="rId26"/>
    <p:sldId id="519" r:id="rId27"/>
    <p:sldId id="521" r:id="rId28"/>
    <p:sldId id="524" r:id="rId29"/>
    <p:sldId id="526" r:id="rId30"/>
    <p:sldId id="527" r:id="rId31"/>
    <p:sldId id="525" r:id="rId32"/>
    <p:sldId id="528" r:id="rId33"/>
    <p:sldId id="529" r:id="rId34"/>
    <p:sldId id="530" r:id="rId35"/>
    <p:sldId id="531" r:id="rId36"/>
    <p:sldId id="533" r:id="rId37"/>
    <p:sldId id="534" r:id="rId38"/>
    <p:sldId id="532" r:id="rId39"/>
    <p:sldId id="514" r:id="rId40"/>
    <p:sldId id="516" r:id="rId41"/>
    <p:sldId id="535" r:id="rId42"/>
    <p:sldId id="537" r:id="rId43"/>
    <p:sldId id="536" r:id="rId44"/>
    <p:sldId id="538" r:id="rId45"/>
    <p:sldId id="539" r:id="rId46"/>
    <p:sldId id="540" r:id="rId47"/>
    <p:sldId id="541" r:id="rId48"/>
    <p:sldId id="542" r:id="rId49"/>
    <p:sldId id="543" r:id="rId50"/>
    <p:sldId id="544" r:id="rId51"/>
    <p:sldId id="545" r:id="rId52"/>
    <p:sldId id="546" r:id="rId53"/>
    <p:sldId id="547" r:id="rId54"/>
    <p:sldId id="548" r:id="rId55"/>
    <p:sldId id="298" r:id="rId5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348" autoAdjust="0"/>
    <p:restoredTop sz="93190" autoAdjust="0"/>
  </p:normalViewPr>
  <p:slideViewPr>
    <p:cSldViewPr>
      <p:cViewPr varScale="1">
        <p:scale>
          <a:sx n="68" d="100"/>
          <a:sy n="68" d="100"/>
        </p:scale>
        <p:origin x="-153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DE4B7A1-35E7-4A83-99F5-A81092F11E34}" type="datetimeFigureOut">
              <a:rPr lang="pt-BR" smtClean="0"/>
              <a:pPr/>
              <a:t>14/09/2018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6D96863-892C-47E6-957C-D7DF170AC2C6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portal.esocial.gov.br/manua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85720" y="0"/>
            <a:ext cx="8572560" cy="1471586"/>
          </a:xfrm>
        </p:spPr>
        <p:txBody>
          <a:bodyPr>
            <a:noAutofit/>
          </a:bodyPr>
          <a:lstStyle/>
          <a:p>
            <a:r>
              <a:rPr lang="pt-BR" sz="4800" dirty="0" smtClean="0"/>
              <a:t>eSocial na Saúde Ocupacional e Segurança do Trabalho</a:t>
            </a:r>
            <a:endParaRPr lang="pt-BR" sz="48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6635" y="4714884"/>
            <a:ext cx="3732753" cy="2143116"/>
          </a:xfrm>
          <a:prstGeom prst="rect">
            <a:avLst/>
          </a:prstGeom>
          <a:noFill/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0" y="2571744"/>
            <a:ext cx="9144000" cy="61435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Transmissão </a:t>
            </a: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15/09/2018 </a:t>
            </a: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às </a:t>
            </a: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16h00min</a:t>
            </a:r>
          </a:p>
          <a:p>
            <a:pPr lvl="0" algn="ctr">
              <a:spcBef>
                <a:spcPct val="0"/>
              </a:spcBef>
              <a:defRPr/>
            </a:pPr>
            <a:r>
              <a:rPr lang="pt-BR" sz="3600" b="1" dirty="0" err="1" smtClean="0">
                <a:latin typeface="Arial" pitchFamily="34" charset="0"/>
                <a:ea typeface="+mj-ea"/>
                <a:cs typeface="Arial" pitchFamily="34" charset="0"/>
              </a:rPr>
              <a:t>Live</a:t>
            </a: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 - Atualização da NDE 01 - Versão </a:t>
            </a: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02 </a:t>
            </a:r>
          </a:p>
          <a:p>
            <a:pPr lvl="0" algn="ctr">
              <a:spcBef>
                <a:spcPct val="0"/>
              </a:spcBef>
              <a:defRPr/>
            </a:pP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de </a:t>
            </a:r>
            <a:r>
              <a:rPr lang="pt-BR" sz="3600" b="1" dirty="0" smtClean="0">
                <a:latin typeface="Arial" pitchFamily="34" charset="0"/>
                <a:ea typeface="+mj-ea"/>
                <a:cs typeface="Arial" pitchFamily="34" charset="0"/>
              </a:rPr>
              <a:t>14-09-2018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85720" y="2928934"/>
            <a:ext cx="8572560" cy="182880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Contato:</a:t>
            </a:r>
            <a:r>
              <a:rPr kumimoji="0" lang="pt-BR" sz="3200" b="1" i="0" u="none" strike="noStrike" kern="1200" cap="none" spc="0" normalizeH="0" noProof="0" dirty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(17) 99179-1467 com Michel Carvalho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200" b="1" baseline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Envie</a:t>
            </a:r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a palavra “grupo” para o </a:t>
            </a:r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meu </a:t>
            </a:r>
            <a:r>
              <a:rPr lang="pt-BR" sz="3200" b="1" dirty="0" err="1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whats</a:t>
            </a:r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 e venha fazer parte de nosso grupo de estudos.</a:t>
            </a: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4274" name="Picture 2" descr="http://fiodamiada.com/wp-content/uploads/2015/07/increvas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826" y="6223706"/>
            <a:ext cx="2714644" cy="7057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57158" y="1929364"/>
            <a:ext cx="85011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u="sng" dirty="0" smtClean="0">
                <a:latin typeface="Times New Roman" pitchFamily="18" charset="0"/>
                <a:cs typeface="Times New Roman" pitchFamily="18" charset="0"/>
              </a:rPr>
              <a:t>NDE 01 de 2018</a:t>
            </a:r>
          </a:p>
          <a:p>
            <a:pPr algn="ctr"/>
            <a:endParaRPr lang="pt-BR" sz="4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pt-BR" sz="4800" b="1" u="sng" dirty="0" smtClean="0">
                <a:latin typeface="Times New Roman" pitchFamily="18" charset="0"/>
                <a:cs typeface="Times New Roman" pitchFamily="18" charset="0"/>
              </a:rPr>
              <a:t>Versão 2.0 </a:t>
            </a:r>
          </a:p>
          <a:p>
            <a:pPr algn="ctr"/>
            <a:endParaRPr lang="pt-BR" sz="48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pt-BR" sz="4800" b="1" u="sng" dirty="0" smtClean="0">
                <a:latin typeface="Times New Roman" pitchFamily="18" charset="0"/>
                <a:cs typeface="Times New Roman" pitchFamily="18" charset="0"/>
              </a:rPr>
              <a:t>14/09/2018</a:t>
            </a:r>
            <a:r>
              <a:rPr lang="pt-BR" sz="4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 </a:t>
            </a:r>
            <a:endParaRPr lang="pt-BR" sz="4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57158" y="1929364"/>
            <a:ext cx="85011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Principais </a:t>
            </a:r>
            <a:r>
              <a:rPr lang="pt-BR" sz="6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Alterações nos Eventos e Tabelas </a:t>
            </a:r>
            <a:r>
              <a:rPr lang="pt-BR" sz="6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para SST </a:t>
            </a:r>
            <a:r>
              <a:rPr lang="pt-BR" sz="4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600" dirty="0" smtClean="0"/>
              <a:t>Esta Nota de Documentação Evolutiva - NDE tem como objetivo disponibilizar o leiaute dos eventos de </a:t>
            </a:r>
            <a:r>
              <a:rPr lang="pt-BR" sz="3600" dirty="0" smtClean="0"/>
              <a:t>Segurança </a:t>
            </a:r>
            <a:r>
              <a:rPr lang="pt-BR" sz="3600" dirty="0" smtClean="0"/>
              <a:t>e Saúde no Trabalho - SST, </a:t>
            </a:r>
            <a:r>
              <a:rPr lang="pt-BR" sz="3600" b="1" u="sng" dirty="0" smtClean="0">
                <a:latin typeface="Times New Roman" pitchFamily="18" charset="0"/>
                <a:cs typeface="Times New Roman" pitchFamily="18" charset="0"/>
              </a:rPr>
              <a:t>cuja obrigatoriedade tem início a partir de janeiro de 2019</a:t>
            </a:r>
            <a:r>
              <a:rPr lang="pt-BR" sz="3600" dirty="0" smtClean="0"/>
              <a:t>, de acordo </a:t>
            </a:r>
            <a:r>
              <a:rPr lang="pt-BR" sz="3600" dirty="0" smtClean="0"/>
              <a:t>com </a:t>
            </a:r>
            <a:r>
              <a:rPr lang="pt-BR" sz="3600" dirty="0" smtClean="0"/>
              <a:t>o cronograma de implantação do eSocial. </a:t>
            </a:r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/>
              <a:t>Previsão de implantação </a:t>
            </a:r>
          </a:p>
          <a:p>
            <a:pPr algn="just"/>
            <a:r>
              <a:rPr lang="pt-BR" sz="4000" dirty="0" smtClean="0"/>
              <a:t> </a:t>
            </a:r>
          </a:p>
          <a:p>
            <a:pPr algn="just"/>
            <a:r>
              <a:rPr lang="pt-BR" sz="4000" u="sng" dirty="0" smtClean="0"/>
              <a:t>Brevemente será disponibilizada</a:t>
            </a:r>
            <a:r>
              <a:rPr lang="pt-BR" sz="4000" dirty="0" smtClean="0"/>
              <a:t> a previsão de implantação nos ambientes de produção restrita e </a:t>
            </a:r>
            <a:r>
              <a:rPr lang="pt-BR" sz="4000" dirty="0" smtClean="0"/>
              <a:t>produção.</a:t>
            </a:r>
            <a:endParaRPr lang="pt-B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1º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Tx/>
              <a:buChar char="-"/>
            </a:pPr>
            <a:r>
              <a:rPr lang="pt-BR" sz="4000" b="1" dirty="0" smtClean="0">
                <a:latin typeface="Arial" pitchFamily="34" charset="0"/>
                <a:cs typeface="Arial" pitchFamily="34" charset="0"/>
              </a:rPr>
              <a:t>Exclusão do preenchimento no S-1005 dos Planos e Programas</a:t>
            </a:r>
          </a:p>
          <a:p>
            <a:pPr algn="just">
              <a:buFontTx/>
              <a:buChar char="-"/>
            </a:pPr>
            <a:endParaRPr lang="pt-BR" sz="4000" b="1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Tx/>
              <a:buChar char="-"/>
            </a:pPr>
            <a:r>
              <a:rPr lang="pt-BR" sz="4000" b="1" dirty="0" smtClean="0">
                <a:latin typeface="Arial" pitchFamily="34" charset="0"/>
                <a:cs typeface="Arial" pitchFamily="34" charset="0"/>
              </a:rPr>
              <a:t>Exclusão da Tabela 30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2º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4000" b="1" dirty="0" smtClean="0">
                <a:latin typeface="Arial" pitchFamily="34" charset="0"/>
                <a:cs typeface="Arial" pitchFamily="34" charset="0"/>
              </a:rPr>
              <a:t>Evento S-1060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85720" y="1493959"/>
            <a:ext cx="85725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Data Inicial do Ambiente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/>
            <a:endParaRPr lang="pt-BR" sz="36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3600" dirty="0" smtClean="0">
                <a:latin typeface="Arial" pitchFamily="34" charset="0"/>
                <a:cs typeface="Arial" pitchFamily="34" charset="0"/>
              </a:rPr>
              <a:t>Validação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: Deve ser uma data válida, igual ou posterior à data de início da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obrigatoriedade </a:t>
            </a:r>
            <a:r>
              <a:rPr lang="pt-BR" sz="3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(dos </a:t>
            </a:r>
            <a:r>
              <a:rPr lang="pt-BR" sz="3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eventos de Segurança e Saúde no Trabalho (SST</a:t>
            </a:r>
            <a:r>
              <a:rPr lang="pt-BR" sz="3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)) </a:t>
            </a:r>
            <a:r>
              <a:rPr lang="pt-BR" sz="3600" u="sng" dirty="0" smtClean="0">
                <a:latin typeface="Arial" pitchFamily="34" charset="0"/>
                <a:cs typeface="Arial" pitchFamily="34" charset="0"/>
              </a:rPr>
              <a:t>deste evento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para o empregador no eSocial, no formato AAAA-MM. </a:t>
            </a:r>
            <a:endParaRPr lang="pt-BR" sz="36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85720" y="1493959"/>
            <a:ext cx="857256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b="1" u="sng" dirty="0" smtClean="0">
                <a:latin typeface="Arial" pitchFamily="34" charset="0"/>
                <a:cs typeface="Arial" pitchFamily="34" charset="0"/>
              </a:rPr>
              <a:t>Tipo e Numero de Inscrição do Ambiente</a:t>
            </a:r>
            <a:endParaRPr lang="pt-BR" sz="32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3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Tx/>
              <a:buChar char="-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Preenchimento opcional dos campos</a:t>
            </a:r>
          </a:p>
          <a:p>
            <a:pPr algn="just"/>
            <a:endParaRPr lang="pt-BR" sz="1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FontTx/>
              <a:buChar char="-"/>
            </a:pPr>
            <a:r>
              <a:rPr lang="pt-BR" sz="3200" dirty="0" smtClean="0">
                <a:latin typeface="Arial" pitchFamily="34" charset="0"/>
                <a:cs typeface="Arial" pitchFamily="34" charset="0"/>
              </a:rPr>
              <a:t>Informar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o </a:t>
            </a:r>
            <a:r>
              <a:rPr lang="pt-BR" sz="3200" b="1" u="sng" dirty="0" smtClean="0">
                <a:latin typeface="Arial" pitchFamily="34" charset="0"/>
                <a:cs typeface="Arial" pitchFamily="34" charset="0"/>
              </a:rPr>
              <a:t>código atribuído pela empresa para a lotação tributária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Validação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: Preenchimento obrigatório e exclusivo se {</a:t>
            </a:r>
            <a:r>
              <a:rPr lang="pt-BR" sz="3200" dirty="0" err="1" smtClean="0">
                <a:latin typeface="Arial" pitchFamily="34" charset="0"/>
                <a:cs typeface="Arial" pitchFamily="34" charset="0"/>
              </a:rPr>
              <a:t>localAmb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} = [2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](Estabelecimento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de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terceiros). </a:t>
            </a:r>
            <a:r>
              <a:rPr lang="pt-BR" sz="3200" dirty="0" smtClean="0">
                <a:latin typeface="Arial" pitchFamily="34" charset="0"/>
                <a:cs typeface="Arial" pitchFamily="34" charset="0"/>
              </a:rPr>
              <a:t>Se informado, deve ser um código existente em S-1020 - Tabela de Lotações Tributárias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928662" y="1405582"/>
            <a:ext cx="71616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PREENCHIMENTO  INICIAL - CADASTRO</a:t>
            </a:r>
            <a:endParaRPr lang="pt-BR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42910" y="2571744"/>
            <a:ext cx="119403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Código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71604" y="2571744"/>
            <a:ext cx="64294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285984" y="2571744"/>
            <a:ext cx="11407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Numero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357554" y="2571744"/>
            <a:ext cx="235745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42910" y="2106690"/>
            <a:ext cx="92869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Aplic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571604" y="2106690"/>
            <a:ext cx="85725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00298" y="2100196"/>
            <a:ext cx="92869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Prod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8992" y="2100196"/>
            <a:ext cx="85725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357686" y="2100196"/>
            <a:ext cx="92869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Versão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357818" y="2100196"/>
            <a:ext cx="85725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642910" y="307181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Cod.A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1714480" y="3071810"/>
            <a:ext cx="221457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err="1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ProducaoSolda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00496" y="307181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Dt</a:t>
            </a:r>
            <a:r>
              <a:rPr lang="pt-BR" sz="2000" dirty="0" smtClean="0">
                <a:solidFill>
                  <a:schemeClr val="bg1"/>
                </a:solidFill>
              </a:rPr>
              <a:t> </a:t>
            </a:r>
            <a:r>
              <a:rPr lang="pt-BR" sz="2000" dirty="0" err="1" smtClean="0">
                <a:solidFill>
                  <a:schemeClr val="bg1"/>
                </a:solidFill>
              </a:rPr>
              <a:t>Inic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5072066" y="307181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2019-01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6215074" y="307181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Dt</a:t>
            </a:r>
            <a:r>
              <a:rPr lang="pt-BR" sz="2000" dirty="0" smtClean="0">
                <a:solidFill>
                  <a:schemeClr val="bg1"/>
                </a:solidFill>
              </a:rPr>
              <a:t> </a:t>
            </a:r>
            <a:r>
              <a:rPr lang="pt-BR" sz="2000" dirty="0" err="1" smtClean="0">
                <a:solidFill>
                  <a:schemeClr val="bg1"/>
                </a:solidFill>
              </a:rPr>
              <a:t>Inic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7286644" y="3071810"/>
            <a:ext cx="100013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42910" y="357187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Descr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714480" y="3571876"/>
            <a:ext cx="635798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Barracão de Solda, construído em piso ......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642910" y="402902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Local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2786050" y="4029022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Estabelecimento do próprio empregador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643042" y="4029022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642910" y="450057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Tipo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2786050" y="4500570"/>
            <a:ext cx="41434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CNPJ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1643042" y="4500570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642910" y="495771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Inscr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2786050" y="4957716"/>
            <a:ext cx="41434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Numero da Inscrição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1643042" y="4957716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01234567000111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642910" y="628652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TAB</a:t>
            </a:r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2786050" y="6286520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Ruído contínuo ou Intermitente 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1643042" y="6286520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01.001.002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0" name="Conector reto 49"/>
          <p:cNvCxnSpPr/>
          <p:nvPr/>
        </p:nvCxnSpPr>
        <p:spPr>
          <a:xfrm>
            <a:off x="0" y="6472316"/>
            <a:ext cx="9144000" cy="15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5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53" name="CaixaDeTexto 52"/>
          <p:cNvSpPr txBox="1"/>
          <p:nvPr/>
        </p:nvSpPr>
        <p:spPr>
          <a:xfrm>
            <a:off x="642910" y="5429264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Lotação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2786050" y="5429264"/>
            <a:ext cx="41434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Código de Lotação Tributária</a:t>
            </a:r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1643042" y="5429264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Retângulo de cantos arredondados 55"/>
          <p:cNvSpPr/>
          <p:nvPr/>
        </p:nvSpPr>
        <p:spPr>
          <a:xfrm>
            <a:off x="500034" y="4429132"/>
            <a:ext cx="6643734" cy="1428760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Nuvem 56"/>
          <p:cNvSpPr/>
          <p:nvPr/>
        </p:nvSpPr>
        <p:spPr>
          <a:xfrm>
            <a:off x="6572264" y="4643446"/>
            <a:ext cx="2357422" cy="142876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/>
          <p:cNvSpPr/>
          <p:nvPr/>
        </p:nvSpPr>
        <p:spPr>
          <a:xfrm>
            <a:off x="6786578" y="5072074"/>
            <a:ext cx="20024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 smtClean="0">
                <a:latin typeface="Times New Roman" pitchFamily="18" charset="0"/>
                <a:cs typeface="Times New Roman" pitchFamily="18" charset="0"/>
              </a:rPr>
              <a:t>OPCIONAL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3º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4000" b="1" dirty="0" smtClean="0">
                <a:latin typeface="Arial" pitchFamily="34" charset="0"/>
                <a:cs typeface="Arial" pitchFamily="34" charset="0"/>
              </a:rPr>
              <a:t>Evento </a:t>
            </a:r>
            <a:r>
              <a:rPr lang="pt-BR" sz="4000" b="1" dirty="0" smtClean="0">
                <a:latin typeface="Arial" pitchFamily="34" charset="0"/>
                <a:cs typeface="Arial" pitchFamily="34" charset="0"/>
              </a:rPr>
              <a:t>S-1065 - </a:t>
            </a:r>
            <a:r>
              <a:rPr lang="pt-BR" sz="3200" b="1" i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Evento </a:t>
            </a:r>
            <a:r>
              <a:rPr lang="pt-BR" sz="3200" b="1" i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excluído. </a:t>
            </a:r>
            <a:endParaRPr lang="pt-BR" sz="3200" b="1" i="1" u="sng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pt-BR" sz="3200" b="1" i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3200" b="1" i="1" dirty="0" smtClean="0">
                <a:latin typeface="Arial" pitchFamily="34" charset="0"/>
                <a:cs typeface="Arial" pitchFamily="34" charset="0"/>
              </a:rPr>
              <a:t>As </a:t>
            </a:r>
            <a:r>
              <a:rPr lang="pt-BR" sz="3200" b="1" i="1" dirty="0" smtClean="0">
                <a:latin typeface="Arial" pitchFamily="34" charset="0"/>
                <a:cs typeface="Arial" pitchFamily="34" charset="0"/>
              </a:rPr>
              <a:t>informações referentes a equipamentos de proteção </a:t>
            </a:r>
            <a:r>
              <a:rPr lang="pt-BR" sz="3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serão prestadas no evento S-2240.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4º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Evento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S-2220</a:t>
            </a:r>
            <a:endParaRPr lang="pt-BR" sz="3600" b="1" i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4º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Excluído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o grupo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monit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e respectivo campo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/>
            <a:endParaRPr lang="pt-BR" sz="4400" b="1" i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Tipo do exame, conforme opções abaixo: </a:t>
            </a:r>
            <a:r>
              <a:rPr lang="pt-BR" sz="3200" b="1" i="1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0 - Exame médico ocupacional; 1 - Exame toxicológico do motorista profissional.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928662" y="1405582"/>
            <a:ext cx="4929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PREENCHIMENTO  INICIAL</a:t>
            </a:r>
            <a:endParaRPr lang="pt-BR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42910" y="242886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71604" y="2428868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071670" y="24288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143240" y="24288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500298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3428992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357686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286380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6215074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7143768" y="2071678"/>
            <a:ext cx="150019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357818" y="24288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6429388" y="24288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84535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286116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357686" y="284535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42910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Inform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571604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5929322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Categor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000892" y="2845354"/>
            <a:ext cx="164307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642910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1714480" y="3357562"/>
            <a:ext cx="13573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3214678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Exame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4286248" y="3357562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6000760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357562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642910" y="40005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1714480" y="400050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3" name="Conector reto 52"/>
          <p:cNvCxnSpPr/>
          <p:nvPr/>
        </p:nvCxnSpPr>
        <p:spPr>
          <a:xfrm>
            <a:off x="642910" y="3857628"/>
            <a:ext cx="7929618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3357554" y="40005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4429124" y="400050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0295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5357818" y="40005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Ordem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6429388" y="400050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7000892" y="39883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Resultad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8072462" y="3988362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Conector reto 56"/>
          <p:cNvCxnSpPr/>
          <p:nvPr/>
        </p:nvCxnSpPr>
        <p:spPr>
          <a:xfrm>
            <a:off x="642910" y="4500570"/>
            <a:ext cx="7929618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642910" y="46313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1714480" y="4631304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123.456.789-11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3500430" y="464344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NIT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4572000" y="4643446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123.456.789-11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42910" y="505993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Nome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1714480" y="5059932"/>
            <a:ext cx="457203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Nome do Médico Executante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6357950" y="464344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Inscrição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7429520" y="464344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6357950" y="50720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UF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7429520" y="50720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MG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4" name="Conector reto 53"/>
          <p:cNvCxnSpPr/>
          <p:nvPr/>
        </p:nvCxnSpPr>
        <p:spPr>
          <a:xfrm>
            <a:off x="642910" y="5570552"/>
            <a:ext cx="7929618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642910" y="570287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1714480" y="5702874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123.456.789-11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642910" y="613150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Nome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1714480" y="6131502"/>
            <a:ext cx="628654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Nome do Médico Executante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3500430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Inscrição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4572000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5786446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UF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9" name="CaixaDeTexto 78"/>
          <p:cNvSpPr txBox="1"/>
          <p:nvPr/>
        </p:nvSpPr>
        <p:spPr>
          <a:xfrm>
            <a:off x="6858016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MG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Conector reto 71"/>
          <p:cNvCxnSpPr/>
          <p:nvPr/>
        </p:nvCxnSpPr>
        <p:spPr>
          <a:xfrm>
            <a:off x="642910" y="3571876"/>
            <a:ext cx="2428892" cy="158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3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00034" y="1928802"/>
            <a:ext cx="835824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4º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Excluído o grupo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toxicologico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e respectivos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campos, estará no Evento S-2221</a:t>
            </a:r>
            <a:endParaRPr lang="pt-BR" sz="4400" b="1" i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4º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dtAso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– alterada validação. 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4400" b="1" i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200" i="1" dirty="0" smtClean="0">
                <a:latin typeface="Arial" pitchFamily="34" charset="0"/>
                <a:cs typeface="Arial" pitchFamily="34" charset="0"/>
              </a:rPr>
              <a:t>Validação: Deve ser uma data válida, igual ou anterior à data atual e igual ou posterior à data de início da obrigatoriedade </a:t>
            </a:r>
            <a:r>
              <a:rPr lang="pt-BR" sz="3200" b="1" i="1" u="sng" dirty="0" smtClean="0">
                <a:latin typeface="Arial" pitchFamily="34" charset="0"/>
                <a:cs typeface="Arial" pitchFamily="34" charset="0"/>
              </a:rPr>
              <a:t>deste evento </a:t>
            </a:r>
            <a:r>
              <a:rPr lang="pt-BR" sz="3200" i="1" dirty="0" smtClean="0">
                <a:latin typeface="Arial" pitchFamily="34" charset="0"/>
                <a:cs typeface="Arial" pitchFamily="34" charset="0"/>
              </a:rPr>
              <a:t>para o empregador no eSocial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4º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CPF e NIS – alterada ocorrência. </a:t>
            </a:r>
          </a:p>
          <a:p>
            <a:pPr algn="ctr"/>
            <a:endParaRPr lang="pt-BR" sz="4400" b="1" i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200" i="1" dirty="0" smtClean="0">
                <a:latin typeface="Arial" pitchFamily="34" charset="0"/>
                <a:cs typeface="Arial" pitchFamily="34" charset="0"/>
              </a:rPr>
              <a:t>Validação</a:t>
            </a:r>
            <a:r>
              <a:rPr lang="pt-BR" sz="3200" i="1" dirty="0" smtClean="0">
                <a:latin typeface="Arial" pitchFamily="34" charset="0"/>
                <a:cs typeface="Arial" pitchFamily="34" charset="0"/>
              </a:rPr>
              <a:t>: Passando a não ser obrigatório</a:t>
            </a:r>
            <a:endParaRPr lang="pt-BR" sz="3200" i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928662" y="1405582"/>
            <a:ext cx="4929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PREENCHIMENTO  INICIAL</a:t>
            </a:r>
            <a:endParaRPr lang="pt-BR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42910" y="242886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71604" y="2428868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071670" y="24288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143240" y="24288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500298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3428992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357686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286380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6215074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7143768" y="2071678"/>
            <a:ext cx="150019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357818" y="24288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6429388" y="24288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84535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286116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357686" y="284535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42910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Inform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571604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5929322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Categor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000892" y="2845354"/>
            <a:ext cx="164307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642910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1714480" y="3357562"/>
            <a:ext cx="13573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3214678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Exame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4286248" y="3357562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6000760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357562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642910" y="40005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1714480" y="400050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3" name="Conector reto 52"/>
          <p:cNvCxnSpPr/>
          <p:nvPr/>
        </p:nvCxnSpPr>
        <p:spPr>
          <a:xfrm>
            <a:off x="642910" y="3857628"/>
            <a:ext cx="7929618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3357554" y="40005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4429124" y="400050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0295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5357818" y="40005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Ordem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6429388" y="400050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7000892" y="39883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Resultad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8072462" y="3988362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7" name="Conector reto 56"/>
          <p:cNvCxnSpPr/>
          <p:nvPr/>
        </p:nvCxnSpPr>
        <p:spPr>
          <a:xfrm>
            <a:off x="642910" y="4500570"/>
            <a:ext cx="7929618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/>
          <p:cNvSpPr txBox="1"/>
          <p:nvPr/>
        </p:nvSpPr>
        <p:spPr>
          <a:xfrm>
            <a:off x="642910" y="46313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1714480" y="4631304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123.456.789-11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3500430" y="464344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NIT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4572000" y="4643446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123.456.789-11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42910" y="505993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Nome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1714480" y="5059932"/>
            <a:ext cx="457203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Nome do Médico Executante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6357950" y="464344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Inscrição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7429520" y="464344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6357950" y="50720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UF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7429520" y="50720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MG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4" name="Conector reto 53"/>
          <p:cNvCxnSpPr/>
          <p:nvPr/>
        </p:nvCxnSpPr>
        <p:spPr>
          <a:xfrm>
            <a:off x="642910" y="5570552"/>
            <a:ext cx="7929618" cy="15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642910" y="570287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1714480" y="5702874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123.456.789-11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642910" y="613150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Nome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1714480" y="6131502"/>
            <a:ext cx="628654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Nome do Médico Executante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3500430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Inscrição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4572000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5786446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UF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9" name="CaixaDeTexto 78"/>
          <p:cNvSpPr txBox="1"/>
          <p:nvPr/>
        </p:nvSpPr>
        <p:spPr>
          <a:xfrm>
            <a:off x="6858016" y="5702874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MG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2" name="Conector reto 71"/>
          <p:cNvCxnSpPr/>
          <p:nvPr/>
        </p:nvCxnSpPr>
        <p:spPr>
          <a:xfrm>
            <a:off x="642910" y="3571876"/>
            <a:ext cx="2428892" cy="158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tângulo de cantos arredondados 72"/>
          <p:cNvSpPr/>
          <p:nvPr/>
        </p:nvSpPr>
        <p:spPr>
          <a:xfrm>
            <a:off x="500034" y="4572008"/>
            <a:ext cx="5857916" cy="50006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de seta reta 80"/>
          <p:cNvCxnSpPr/>
          <p:nvPr/>
        </p:nvCxnSpPr>
        <p:spPr>
          <a:xfrm rot="5400000" flipH="1" flipV="1">
            <a:off x="-285784" y="5572140"/>
            <a:ext cx="1143008" cy="285752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84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5</a:t>
            </a:r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 Criação do Evento S-2221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Exame Toxicológico do Motorista Profissional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928662" y="1405582"/>
            <a:ext cx="4929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PREENCHIMENTO  INICIAL</a:t>
            </a:r>
            <a:endParaRPr lang="pt-BR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42910" y="242886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71604" y="2428868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071670" y="24288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143240" y="24288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500298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3428992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4357686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286380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6215074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7143768" y="2071678"/>
            <a:ext cx="150019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5357818" y="24288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6429388" y="24288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84535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286116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357686" y="2845354"/>
            <a:ext cx="157163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42910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Inform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1571604" y="2071678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5929322" y="28453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Categor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000892" y="2845354"/>
            <a:ext cx="164307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642910" y="335756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1714480" y="3357562"/>
            <a:ext cx="13573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642910" y="377404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714480" y="3774048"/>
            <a:ext cx="13573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09/01/2019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642910" y="420267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1714480" y="4202676"/>
            <a:ext cx="264320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01234567000122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642910" y="463130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Cód.Exa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1714480" y="4631304"/>
            <a:ext cx="264320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AE123456789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514351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Nome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714480" y="5143512"/>
            <a:ext cx="628654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Nome do Médico 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42910" y="5572140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Inscrição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1714480" y="5572140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2928926" y="5572140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UF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4000496" y="5572140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MG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54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Evento S-2240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Excluído o grupo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epc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e respectivos campos.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215074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143768" y="137367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42910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714480" y="181444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42910" y="138581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571604" y="1385816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00298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8992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357686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286380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000496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072066" y="1814444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243072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571868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643438" y="2243072"/>
            <a:ext cx="7143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429256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Categor.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500826" y="2243072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42910" y="267170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 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14480" y="2671700"/>
            <a:ext cx="128588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3071802" y="268384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Cod. 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143372" y="268384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ProducaoSolda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310032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Descr.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714480" y="3100328"/>
            <a:ext cx="557216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Realizar</a:t>
            </a:r>
            <a:r>
              <a:rPr lang="pt-B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manutenção em componentes, ...</a:t>
            </a:r>
            <a:endParaRPr lang="pt-BR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642910" y="352895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AtivPIAE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714480" y="352895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99.999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3929058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TAB</a:t>
            </a:r>
            <a:r>
              <a:rPr lang="pt-BR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29190" y="3528956"/>
            <a:ext cx="21431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01.001.002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8072462" y="3528956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642910" y="442687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Aval.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2786050" y="4426872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01 - Dose diária de ruído (número adimensional)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643042" y="4426872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42910" y="396972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Valor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2786050" y="3969726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Valor Obtido na avaliação do agente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643042" y="3969726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97,05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42910" y="485550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Técnica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1643042" y="4855500"/>
            <a:ext cx="642942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NR 15, Anexo 01, Dosimetro Instruterm DOS 700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42910" y="5314906"/>
            <a:ext cx="157163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Insalubridade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214546" y="5314906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2643174" y="5314906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Periculosidade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286248" y="5314906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4714876" y="5314906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Ap. Especial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6357950" y="5314906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42910" y="5814972"/>
            <a:ext cx="71438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EPC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1357290" y="5814972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1785918" y="5814972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Hierarquia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3500430" y="5814972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3929058" y="5814972"/>
            <a:ext cx="5715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EPI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4500562" y="5814972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4929190" y="5814972"/>
            <a:ext cx="121444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Cód. EPC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6143636" y="5814972"/>
            <a:ext cx="135732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EXPQ01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7500958" y="5814972"/>
            <a:ext cx="85725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Eficaz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8358214" y="5814972"/>
            <a:ext cx="34766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tângulo de cantos arredondados 72"/>
          <p:cNvSpPr/>
          <p:nvPr/>
        </p:nvSpPr>
        <p:spPr>
          <a:xfrm>
            <a:off x="4857752" y="5786454"/>
            <a:ext cx="3929090" cy="50006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6" name="Conector de seta reta 75"/>
          <p:cNvCxnSpPr/>
          <p:nvPr/>
        </p:nvCxnSpPr>
        <p:spPr>
          <a:xfrm flipV="1">
            <a:off x="3214678" y="6000768"/>
            <a:ext cx="1571636" cy="500066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0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limTol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– criado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600" i="1" dirty="0" smtClean="0">
                <a:latin typeface="Arial" pitchFamily="34" charset="0"/>
                <a:cs typeface="Arial" pitchFamily="34" charset="0"/>
              </a:rPr>
              <a:t>Limite de tolerância calculado para agentes específicos, conforme técnica de medição exigida na legislação.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215074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143768" y="137367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42910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714480" y="181444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42910" y="138581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571604" y="1385816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00298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8992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357686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286380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000496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072066" y="1814444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243072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571868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643438" y="2243072"/>
            <a:ext cx="7143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429256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Categor.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500826" y="2243072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42910" y="267170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 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14480" y="2671700"/>
            <a:ext cx="128588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3071802" y="268384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Cod. 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143372" y="268384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ProducaoSolda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310032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Descr.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714480" y="3100328"/>
            <a:ext cx="557216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Realizar</a:t>
            </a:r>
            <a:r>
              <a:rPr lang="pt-B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manutenção em componentes, ...</a:t>
            </a:r>
            <a:endParaRPr lang="pt-BR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642910" y="352895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AtivPIAE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714480" y="352895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99.999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3929058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TAB</a:t>
            </a:r>
            <a:r>
              <a:rPr lang="pt-BR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29190" y="3528956"/>
            <a:ext cx="21431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01.001.002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8072462" y="3528956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642910" y="442687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Aval.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2786050" y="4426872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01 - Dose diária de ruído (número adimensional)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643042" y="4426872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42910" y="396972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Valor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2786050" y="3969726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Valor Obtido na avaliação do agente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643042" y="3969726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97,05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42910" y="549844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Técnica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1643042" y="5498442"/>
            <a:ext cx="642942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NR 15, Anexo 01, Dosimetro Instruterm DOS 700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42910" y="5957848"/>
            <a:ext cx="157163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Insalubridade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214546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2643174" y="5957848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Periculosidade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286248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4714876" y="5957848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Ap. Especial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6357950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tângulo de cantos arredondados 72"/>
          <p:cNvSpPr/>
          <p:nvPr/>
        </p:nvSpPr>
        <p:spPr>
          <a:xfrm>
            <a:off x="571472" y="4857760"/>
            <a:ext cx="7643866" cy="571504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9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77" name="CaixaDeTexto 76"/>
          <p:cNvSpPr txBox="1"/>
          <p:nvPr/>
        </p:nvSpPr>
        <p:spPr>
          <a:xfrm>
            <a:off x="642910" y="4929198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L.T.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2786050" y="4929198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Limite de Tolerância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CaixaDeTexto 80"/>
          <p:cNvSpPr txBox="1"/>
          <p:nvPr/>
        </p:nvSpPr>
        <p:spPr>
          <a:xfrm>
            <a:off x="1643042" y="4929198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6" name="Conector de seta reta 75"/>
          <p:cNvCxnSpPr/>
          <p:nvPr/>
        </p:nvCxnSpPr>
        <p:spPr>
          <a:xfrm rot="16200000" flipV="1">
            <a:off x="2464579" y="5250669"/>
            <a:ext cx="1000132" cy="78581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unMed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– alterada descrição e incluídos valores válidos.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600" i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Anterior – 18 unidades</a:t>
            </a: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Atual – 44 unidades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01 - Dose diária de ruído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Q=5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; </a:t>
            </a:r>
          </a:p>
          <a:p>
            <a:pPr algn="ctr"/>
            <a:r>
              <a:rPr lang="pt-BR" sz="3600" b="1" dirty="0" smtClean="0">
                <a:latin typeface="Arial" pitchFamily="34" charset="0"/>
                <a:cs typeface="Arial" pitchFamily="34" charset="0"/>
              </a:rPr>
              <a:t>44 -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Decibel (A) (dB(A)) NEN Q=3. </a:t>
            </a:r>
            <a:endParaRPr lang="pt-BR" sz="36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3600" i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Campos insalubridade, periculosidade e aposentadoria especial –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alterada ocorrência e incluída validação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Campos de Preenchimentos Opcionais, desde que: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000" b="1" i="1" dirty="0" smtClean="0">
                <a:latin typeface="Arial" pitchFamily="34" charset="0"/>
                <a:cs typeface="Arial" pitchFamily="34" charset="0"/>
              </a:rPr>
              <a:t>Matricula não seja 104 ou 201 ou 202 ou 901, nos casos de insalubridade e periculosidade.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600" b="1" dirty="0" smtClean="0">
                <a:latin typeface="Arial" pitchFamily="34" charset="0"/>
                <a:cs typeface="Arial" pitchFamily="34" charset="0"/>
              </a:rPr>
              <a:t>104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Empregado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– Doméstico</a:t>
            </a:r>
          </a:p>
          <a:p>
            <a:r>
              <a:rPr lang="pt-BR" sz="3600" b="1" dirty="0" smtClean="0">
                <a:latin typeface="Arial" pitchFamily="34" charset="0"/>
                <a:cs typeface="Arial" pitchFamily="34" charset="0"/>
              </a:rPr>
              <a:t>201 Trabalhador Avulso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Portuário</a:t>
            </a:r>
          </a:p>
          <a:p>
            <a:r>
              <a:rPr lang="pt-BR" sz="3600" b="1" dirty="0" smtClean="0">
                <a:latin typeface="Arial" pitchFamily="34" charset="0"/>
                <a:cs typeface="Arial" pitchFamily="34" charset="0"/>
              </a:rPr>
              <a:t>202 Trabalhador Avulso Não </a:t>
            </a:r>
            <a:r>
              <a:rPr lang="pt-BR" sz="3600" b="1" dirty="0" smtClean="0">
                <a:latin typeface="Arial" pitchFamily="34" charset="0"/>
                <a:cs typeface="Arial" pitchFamily="34" charset="0"/>
              </a:rPr>
              <a:t>Portuário</a:t>
            </a:r>
          </a:p>
          <a:p>
            <a:r>
              <a:rPr lang="pt-BR" sz="3600" b="1" dirty="0" smtClean="0">
                <a:latin typeface="Arial" pitchFamily="34" charset="0"/>
                <a:cs typeface="Arial" pitchFamily="34" charset="0"/>
              </a:rPr>
              <a:t>901 Estagiário</a:t>
            </a:r>
            <a:endParaRPr lang="pt-BR" sz="36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215074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143768" y="137367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42910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714480" y="181444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42910" y="138581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571604" y="1385816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00298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8992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357686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286380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000496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072066" y="1814444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243072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571868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643438" y="2243072"/>
            <a:ext cx="7143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429256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Categor.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500826" y="2243072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42910" y="267170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 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14480" y="2671700"/>
            <a:ext cx="128588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3071802" y="268384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Cod. 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143372" y="268384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ProducaoSolda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310032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Descr.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714480" y="3100328"/>
            <a:ext cx="557216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Realizar</a:t>
            </a:r>
            <a:r>
              <a:rPr lang="pt-B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manutenção em componentes, ...</a:t>
            </a:r>
            <a:endParaRPr lang="pt-BR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642910" y="352895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AtivPIAE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714480" y="352895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99.999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3929058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TAB</a:t>
            </a:r>
            <a:r>
              <a:rPr lang="pt-BR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29190" y="3528956"/>
            <a:ext cx="21431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01.001.002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8072462" y="3528956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642910" y="442687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Aval.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2786050" y="4426872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01 - Dose diária de ruído (número adimensional)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643042" y="4426872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42910" y="396972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Valor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2786050" y="3969726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Valor Obtido na avaliação do agente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643042" y="3969726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97,05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42910" y="549844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Técnica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1643042" y="5498442"/>
            <a:ext cx="642942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NR 15, Anexo 01, Dosimetro Instruterm DOS 700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42910" y="5957848"/>
            <a:ext cx="157163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Insalubridade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214546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2643174" y="5957848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Periculosidade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286248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4714876" y="5957848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Ap. Especial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6357950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tângulo de cantos arredondados 72"/>
          <p:cNvSpPr/>
          <p:nvPr/>
        </p:nvSpPr>
        <p:spPr>
          <a:xfrm>
            <a:off x="571472" y="4857760"/>
            <a:ext cx="7643866" cy="571504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9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77" name="CaixaDeTexto 76"/>
          <p:cNvSpPr txBox="1"/>
          <p:nvPr/>
        </p:nvSpPr>
        <p:spPr>
          <a:xfrm>
            <a:off x="642910" y="4929198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L.T.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2786050" y="4929198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Limite de Tolerância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CaixaDeTexto 80"/>
          <p:cNvSpPr txBox="1"/>
          <p:nvPr/>
        </p:nvSpPr>
        <p:spPr>
          <a:xfrm>
            <a:off x="1643042" y="4929198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6" name="Conector de seta reta 75"/>
          <p:cNvCxnSpPr/>
          <p:nvPr/>
        </p:nvCxnSpPr>
        <p:spPr>
          <a:xfrm rot="16200000" flipV="1">
            <a:off x="2464579" y="5250669"/>
            <a:ext cx="1000132" cy="78581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Campos de Preenchimentos Opcionais, desde que: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000" b="1" i="1" dirty="0" smtClean="0">
                <a:latin typeface="Arial" pitchFamily="34" charset="0"/>
                <a:cs typeface="Arial" pitchFamily="34" charset="0"/>
              </a:rPr>
              <a:t>Matricula não seja 104 ou 201 ou 202 </a:t>
            </a:r>
            <a:r>
              <a:rPr lang="pt-BR" sz="4000" b="1" i="1" dirty="0" smtClean="0">
                <a:latin typeface="Arial" pitchFamily="34" charset="0"/>
                <a:cs typeface="Arial" pitchFamily="34" charset="0"/>
              </a:rPr>
              <a:t>ou </a:t>
            </a:r>
            <a:r>
              <a:rPr lang="pt-BR" sz="4000" b="1" i="1" dirty="0" smtClean="0">
                <a:latin typeface="Arial" pitchFamily="34" charset="0"/>
                <a:cs typeface="Arial" pitchFamily="34" charset="0"/>
              </a:rPr>
              <a:t>731 ou 734 ou 738, nos casos de aposentadoria especial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731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Contribuinte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individual-Cooperado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que presta serviços por intermédio de Cooperativa de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Trabalho</a:t>
            </a:r>
          </a:p>
          <a:p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734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Contribuinte individual - Transportador Cooperado que presta serviços por intermédio de cooperativa de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trabalho</a:t>
            </a:r>
          </a:p>
          <a:p>
            <a:pPr>
              <a:buFontTx/>
              <a:buChar char="-"/>
            </a:pP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738 Contribuinte individual - Cooperado filiado a Cooperativa de Produção</a:t>
            </a: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endParaRPr lang="pt-BR" sz="36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215074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143768" y="137367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42910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714480" y="181444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42910" y="138581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571604" y="1385816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00298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8992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357686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286380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000496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072066" y="1814444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243072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571868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643438" y="2243072"/>
            <a:ext cx="7143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429256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Categor.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500826" y="2243072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42910" y="267170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 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14480" y="2671700"/>
            <a:ext cx="128588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3071802" y="268384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Cod. 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143372" y="268384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ProducaoSolda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310032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Descr.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714480" y="3100328"/>
            <a:ext cx="557216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Realizar</a:t>
            </a:r>
            <a:r>
              <a:rPr lang="pt-B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manutenção em componentes, ...</a:t>
            </a:r>
            <a:endParaRPr lang="pt-BR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642910" y="352895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AtivPIAE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714480" y="352895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99.999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3929058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TAB</a:t>
            </a:r>
            <a:r>
              <a:rPr lang="pt-BR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29190" y="3528956"/>
            <a:ext cx="21431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01.001.002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8072462" y="3528956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642910" y="442687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Aval.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2786050" y="4426872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01 - Dose diária de ruído (número adimensional)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643042" y="4426872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42910" y="396972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Valor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2786050" y="3969726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Valor Obtido na avaliação do agente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643042" y="3969726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97,05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42910" y="5386344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Técnica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1643042" y="5386344"/>
            <a:ext cx="642942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NR 15, Anexo 01, Dosimetro Instruterm DOS 700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42910" y="5957848"/>
            <a:ext cx="157163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Insalubridade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214546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2643174" y="5957848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Periculosidade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286248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4714876" y="5957848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Ap. Especial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6357950" y="5957848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tângulo de cantos arredondados 72"/>
          <p:cNvSpPr/>
          <p:nvPr/>
        </p:nvSpPr>
        <p:spPr>
          <a:xfrm>
            <a:off x="428596" y="5857892"/>
            <a:ext cx="6429420" cy="571504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9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77" name="CaixaDeTexto 76"/>
          <p:cNvSpPr txBox="1"/>
          <p:nvPr/>
        </p:nvSpPr>
        <p:spPr>
          <a:xfrm>
            <a:off x="642910" y="4929198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err="1" smtClean="0">
                <a:solidFill>
                  <a:schemeClr val="bg1"/>
                </a:solidFill>
              </a:rPr>
              <a:t>L.T.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2786050" y="4929198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Limite de Tolerância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CaixaDeTexto 80"/>
          <p:cNvSpPr txBox="1"/>
          <p:nvPr/>
        </p:nvSpPr>
        <p:spPr>
          <a:xfrm>
            <a:off x="1643042" y="4929198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85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6" name="Conector de seta reta 75"/>
          <p:cNvCxnSpPr/>
          <p:nvPr/>
        </p:nvCxnSpPr>
        <p:spPr>
          <a:xfrm rot="10800000">
            <a:off x="7000892" y="6143644"/>
            <a:ext cx="2071670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Campo Utiliza EPC ? (Descrição)</a:t>
            </a:r>
          </a:p>
          <a:p>
            <a:r>
              <a:rPr lang="pt-BR" sz="3600" dirty="0" smtClean="0">
                <a:latin typeface="Arial" pitchFamily="34" charset="0"/>
                <a:cs typeface="Arial" pitchFamily="34" charset="0"/>
              </a:rPr>
              <a:t>A empresa implementa medidas de proteção coletiva (EPC) para eliminar ou reduzir a exposição dos trabalhadores ao fator de risco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?.</a:t>
            </a:r>
          </a:p>
          <a:p>
            <a:endParaRPr lang="pt-BR" sz="36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Antes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pt-BR" sz="3600" dirty="0" smtClean="0">
                <a:latin typeface="Arial" pitchFamily="34" charset="0"/>
                <a:cs typeface="Arial" pitchFamily="34" charset="0"/>
              </a:rPr>
              <a:t>0 - Não se aplica; 1 - Não utilizado; 2 - Utilizado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pt-BR" sz="36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Hoje</a:t>
            </a:r>
          </a:p>
          <a:p>
            <a:r>
              <a:rPr lang="pt-BR" sz="3600" dirty="0" smtClean="0">
                <a:latin typeface="Arial" pitchFamily="34" charset="0"/>
                <a:cs typeface="Arial" pitchFamily="34" charset="0"/>
              </a:rPr>
              <a:t>0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- Não se aplica; 1 - Não implementa; 2 -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Implementada</a:t>
            </a:r>
            <a:endParaRPr lang="pt-BR" sz="36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3600" b="1" u="sng" dirty="0" err="1" smtClean="0">
                <a:latin typeface="Arial" pitchFamily="34" charset="0"/>
                <a:cs typeface="Arial" pitchFamily="34" charset="0"/>
              </a:rPr>
              <a:t>epcEpi</a:t>
            </a:r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pt-BR" sz="3600" b="1" u="sng" dirty="0" err="1" smtClean="0">
                <a:latin typeface="Arial" pitchFamily="34" charset="0"/>
                <a:cs typeface="Arial" pitchFamily="34" charset="0"/>
              </a:rPr>
              <a:t>eficEpc</a:t>
            </a:r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} – </a:t>
            </a:r>
            <a:r>
              <a:rPr lang="pt-BR" sz="3600" b="1" u="sng" dirty="0" smtClean="0">
                <a:latin typeface="Arial" pitchFamily="34" charset="0"/>
                <a:cs typeface="Arial" pitchFamily="34" charset="0"/>
              </a:rPr>
              <a:t>criado</a:t>
            </a:r>
          </a:p>
          <a:p>
            <a:endParaRPr lang="pt-BR" sz="3600" b="1" u="sng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600" dirty="0" smtClean="0">
                <a:latin typeface="Arial" pitchFamily="34" charset="0"/>
                <a:cs typeface="Arial" pitchFamily="34" charset="0"/>
              </a:rPr>
              <a:t>Os EPCs são eficazes na neutralização dos riscos ao trabalhador? </a:t>
            </a:r>
            <a:endParaRPr lang="pt-BR" sz="3600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600" dirty="0" smtClean="0">
                <a:latin typeface="Arial" pitchFamily="34" charset="0"/>
                <a:cs typeface="Arial" pitchFamily="34" charset="0"/>
              </a:rPr>
              <a:t>S 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- Sim; N - Não.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 txBox="1">
            <a:spLocks/>
          </p:cNvSpPr>
          <p:nvPr/>
        </p:nvSpPr>
        <p:spPr>
          <a:xfrm>
            <a:off x="0" y="6286520"/>
            <a:ext cx="9144000" cy="57148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Todos direitos reservados a Michel Carvalho – Criador deste conteúdo.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6215074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7143768" y="137367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42910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714480" y="181444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42910" y="138581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571604" y="1385816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2500298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8992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357686" y="137367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286380" y="1373674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4000496" y="18144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072066" y="1814444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642910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714480" y="2243072"/>
            <a:ext cx="178595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571868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643438" y="2243072"/>
            <a:ext cx="71438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429256" y="224307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Categor.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500826" y="2243072"/>
            <a:ext cx="85725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42910" y="267170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 Ad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14480" y="2671700"/>
            <a:ext cx="128588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3071802" y="268384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Cod. A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143372" y="268384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ProducaoSolda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310032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Descr.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714480" y="3100328"/>
            <a:ext cx="557216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Realizar</a:t>
            </a:r>
            <a:r>
              <a:rPr lang="pt-BR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manutenção em componentes, ...</a:t>
            </a:r>
            <a:endParaRPr lang="pt-BR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642910" y="3528956"/>
            <a:ext cx="114300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AtivPIAE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1714480" y="352895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99.999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3929058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TAB</a:t>
            </a:r>
            <a:r>
              <a:rPr lang="pt-BR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929190" y="3528956"/>
            <a:ext cx="21431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01.001.002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7072330" y="352895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8072462" y="3528956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642910" y="4426872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Aval.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2786050" y="4426872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01 - Dose diária de ruído (número adimensional)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643042" y="4426872"/>
            <a:ext cx="1143008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42910" y="3969726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</a:rPr>
              <a:t>Valor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2786050" y="3969726"/>
            <a:ext cx="52864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Valor Obtido na avaliação do agente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643042" y="3969726"/>
            <a:ext cx="214314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97,05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42910" y="4855500"/>
            <a:ext cx="107157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Técnica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1643042" y="4855500"/>
            <a:ext cx="642942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NR 15, Anexo 01, Dosimetro Instruterm DOS 700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42910" y="5314906"/>
            <a:ext cx="157163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Insalubridade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214546" y="5314906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2643174" y="5314906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Periculosidade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4286248" y="5314906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4714876" y="5314906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Ap. Especial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6357950" y="5314906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42910" y="5814972"/>
            <a:ext cx="71438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EPC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1357290" y="5814972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2009756" y="5814972"/>
            <a:ext cx="171451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EPC Eficaz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3724268" y="5814972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4572000" y="5814972"/>
            <a:ext cx="571504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EPI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5143504" y="5814972"/>
            <a:ext cx="357190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Retângulo de cantos arredondados 72"/>
          <p:cNvSpPr/>
          <p:nvPr/>
        </p:nvSpPr>
        <p:spPr>
          <a:xfrm>
            <a:off x="2000232" y="5786454"/>
            <a:ext cx="2143140" cy="50006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6" name="Conector de seta reta 75"/>
          <p:cNvCxnSpPr/>
          <p:nvPr/>
        </p:nvCxnSpPr>
        <p:spPr>
          <a:xfrm rot="10800000">
            <a:off x="4071934" y="6429396"/>
            <a:ext cx="1928826" cy="21433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9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Retirado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codEP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I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da chave e </a:t>
            </a:r>
            <a:r>
              <a:rPr lang="pt-BR" sz="4400" b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inseridos campos {</a:t>
            </a:r>
            <a:r>
              <a:rPr lang="pt-BR" sz="4400" b="1" u="sng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caEPI</a:t>
            </a:r>
            <a:r>
              <a:rPr lang="pt-BR" sz="4400" b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} e {</a:t>
            </a:r>
            <a:r>
              <a:rPr lang="pt-BR" sz="4400" b="1" u="sng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dscEPI</a:t>
            </a:r>
            <a:r>
              <a:rPr lang="pt-BR" sz="4400" b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}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como chave.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aixaDeTexto 75"/>
          <p:cNvSpPr txBox="1"/>
          <p:nvPr/>
        </p:nvSpPr>
        <p:spPr>
          <a:xfrm>
            <a:off x="500034" y="1445112"/>
            <a:ext cx="121444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Cód. EPI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1714480" y="1445112"/>
            <a:ext cx="135732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5745EPA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500034" y="3000372"/>
            <a:ext cx="85725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Eficaz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357290" y="3000372"/>
            <a:ext cx="34766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6215074" y="3476154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00034" y="3476154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EPI complementa medidas de proteção para exposição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215074" y="3904782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500034" y="3904782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Fiscalização sobre o uso correto do EPI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215106" y="4333410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500066" y="4333410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Prazo de Validade do CA do EPI em ordem ?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6215106" y="4774180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500066" y="4774180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Fichas de </a:t>
            </a:r>
            <a:r>
              <a:rPr lang="pt-BR" dirty="0" err="1" smtClean="0">
                <a:solidFill>
                  <a:schemeClr val="bg1"/>
                </a:solidFill>
              </a:rPr>
              <a:t>EPIs</a:t>
            </a:r>
            <a:r>
              <a:rPr lang="pt-BR" dirty="0" smtClean="0">
                <a:solidFill>
                  <a:schemeClr val="bg1"/>
                </a:solidFill>
              </a:rPr>
              <a:t> com Periodicidade de Trocas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6215074" y="5190666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500034" y="5190666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Controle de Higienização do EPI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215074" y="5631436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500034" y="5631436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Controle de manutenção do EPI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2" name="Retângulo de cantos arredondados 51"/>
          <p:cNvSpPr/>
          <p:nvPr/>
        </p:nvSpPr>
        <p:spPr>
          <a:xfrm>
            <a:off x="428596" y="1428736"/>
            <a:ext cx="2643206" cy="50006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3" name="Conector de seta reta 52"/>
          <p:cNvCxnSpPr/>
          <p:nvPr/>
        </p:nvCxnSpPr>
        <p:spPr>
          <a:xfrm>
            <a:off x="3143240" y="1643050"/>
            <a:ext cx="1071570" cy="158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4357686" y="1428736"/>
            <a:ext cx="121444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CA EPI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5572132" y="1428736"/>
            <a:ext cx="135732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5745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Retângulo de cantos arredondados 59"/>
          <p:cNvSpPr/>
          <p:nvPr/>
        </p:nvSpPr>
        <p:spPr>
          <a:xfrm>
            <a:off x="4286248" y="1357298"/>
            <a:ext cx="2643206" cy="500066"/>
          </a:xfrm>
          <a:prstGeom prst="round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CaixaDeTexto 60"/>
          <p:cNvSpPr txBox="1"/>
          <p:nvPr/>
        </p:nvSpPr>
        <p:spPr>
          <a:xfrm>
            <a:off x="500034" y="2214554"/>
            <a:ext cx="121444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Descrição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1714480" y="2214554"/>
            <a:ext cx="657229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Descrição do EPI com até 999 caracteres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Retângulo de cantos arredondados 62"/>
          <p:cNvSpPr/>
          <p:nvPr/>
        </p:nvSpPr>
        <p:spPr>
          <a:xfrm>
            <a:off x="357158" y="2214554"/>
            <a:ext cx="8143932" cy="500066"/>
          </a:xfrm>
          <a:prstGeom prst="roundRect">
            <a:avLst/>
          </a:prstGeom>
          <a:noFill/>
          <a:ln w="762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4" name="Conector de seta reta 63"/>
          <p:cNvCxnSpPr/>
          <p:nvPr/>
        </p:nvCxnSpPr>
        <p:spPr>
          <a:xfrm>
            <a:off x="3000364" y="1857364"/>
            <a:ext cx="571504" cy="285752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ítulo 1"/>
          <p:cNvSpPr txBox="1">
            <a:spLocks/>
          </p:cNvSpPr>
          <p:nvPr/>
        </p:nvSpPr>
        <p:spPr>
          <a:xfrm>
            <a:off x="2071670" y="-71462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9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eficEpi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– alterada descrição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r>
              <a:rPr lang="pt-BR" sz="3200" b="1" dirty="0" smtClean="0">
                <a:latin typeface="Arial" pitchFamily="34" charset="0"/>
                <a:cs typeface="Arial" pitchFamily="34" charset="0"/>
              </a:rPr>
              <a:t>O 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EPI é eficaz na neutralização do</a:t>
            </a:r>
            <a:r>
              <a:rPr lang="pt-BR" sz="3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 risco</a:t>
            </a:r>
            <a:r>
              <a:rPr lang="pt-BR" sz="3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pt-BR" sz="3200" b="1" dirty="0" smtClean="0">
                <a:latin typeface="Arial" pitchFamily="34" charset="0"/>
                <a:cs typeface="Arial" pitchFamily="34" charset="0"/>
              </a:rPr>
              <a:t> ao trabalhador? S - Sim; N - Não. </a:t>
            </a:r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endParaRPr lang="pt-BR" sz="3200" b="1" dirty="0" smtClean="0">
              <a:latin typeface="Arial" pitchFamily="34" charset="0"/>
              <a:cs typeface="Arial" pitchFamily="34" charset="0"/>
            </a:endParaRPr>
          </a:p>
          <a:p>
            <a:endParaRPr lang="pt-BR" sz="32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062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usoInint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– criado. 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100" b="1" dirty="0" smtClean="0">
                <a:latin typeface="Arial" pitchFamily="34" charset="0"/>
                <a:cs typeface="Arial" pitchFamily="34" charset="0"/>
              </a:rPr>
              <a:t>Foi observado o uso ininterrupto do EPI ao longo do tempo, conforme especificação técnica do fabricante nacional ou importador, ajustadas às condições de campo? </a:t>
            </a:r>
            <a:endParaRPr lang="pt-BR" sz="31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100" b="1" dirty="0" smtClean="0">
                <a:latin typeface="Arial" pitchFamily="34" charset="0"/>
                <a:cs typeface="Arial" pitchFamily="34" charset="0"/>
              </a:rPr>
              <a:t>S </a:t>
            </a:r>
            <a:r>
              <a:rPr lang="pt-BR" sz="3100" b="1" dirty="0" smtClean="0">
                <a:latin typeface="Arial" pitchFamily="34" charset="0"/>
                <a:cs typeface="Arial" pitchFamily="34" charset="0"/>
              </a:rPr>
              <a:t>- Sim; N - Não.</a:t>
            </a:r>
            <a:endParaRPr lang="pt-BR" sz="32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aixaDeTexto 35"/>
          <p:cNvSpPr txBox="1"/>
          <p:nvPr/>
        </p:nvSpPr>
        <p:spPr>
          <a:xfrm>
            <a:off x="3143240" y="1714488"/>
            <a:ext cx="85725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Eficaz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000496" y="1714488"/>
            <a:ext cx="34766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6215074" y="3476154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00034" y="3476154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Tentativa de Medidas Coletivas, Administrativas...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6215074" y="3904782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500034" y="3904782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Condições de Funcionamento do EPI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6215106" y="4786322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500066" y="4786322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Prazo de Validade do CA do EPI em ordem ?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6215106" y="5227092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500066" y="5227092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Fichas de </a:t>
            </a:r>
            <a:r>
              <a:rPr lang="pt-BR" dirty="0" err="1" smtClean="0">
                <a:solidFill>
                  <a:schemeClr val="bg1"/>
                </a:solidFill>
              </a:rPr>
              <a:t>EPIs</a:t>
            </a:r>
            <a:r>
              <a:rPr lang="pt-BR" dirty="0" smtClean="0">
                <a:solidFill>
                  <a:schemeClr val="bg1"/>
                </a:solidFill>
              </a:rPr>
              <a:t> com Periodicidade de Trocas 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6215074" y="5702874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500034" y="5702874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Controle de Higienização do EPI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500034" y="1714488"/>
            <a:ext cx="121444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CA EPI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714480" y="1714488"/>
            <a:ext cx="1357322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5745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500034" y="2214554"/>
            <a:ext cx="121444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Descrição</a:t>
            </a:r>
            <a:endParaRPr lang="pt-BR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1714480" y="2214554"/>
            <a:ext cx="6572296" cy="4001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Descrição do EPI com até 999 caracteres</a:t>
            </a:r>
            <a:endParaRPr lang="pt-BR" sz="20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Título 1"/>
          <p:cNvSpPr txBox="1">
            <a:spLocks/>
          </p:cNvSpPr>
          <p:nvPr/>
        </p:nvSpPr>
        <p:spPr>
          <a:xfrm>
            <a:off x="2143108" y="0"/>
            <a:ext cx="6572296" cy="13287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1200" cap="none" spc="0" normalizeH="0" baseline="0" noProof="0" smtClean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eSocial na Saúde Ocupacional e Segurança do Trabalho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tint val="90000"/>
                  <a:satMod val="120000"/>
                </a:schemeClr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9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29" name="CaixaDeTexto 28"/>
          <p:cNvSpPr txBox="1"/>
          <p:nvPr/>
        </p:nvSpPr>
        <p:spPr>
          <a:xfrm>
            <a:off x="6215074" y="4345552"/>
            <a:ext cx="42862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500034" y="4345552"/>
            <a:ext cx="571504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Uso ininterrupto </a:t>
            </a:r>
            <a:r>
              <a:rPr lang="pt-BR" dirty="0" smtClean="0">
                <a:solidFill>
                  <a:schemeClr val="bg1"/>
                </a:solidFill>
              </a:rPr>
              <a:t>do EPI</a:t>
            </a:r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508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6º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Campo {</a:t>
            </a:r>
            <a:r>
              <a:rPr lang="pt-BR" sz="4400" b="1" u="sng" dirty="0" err="1" smtClean="0">
                <a:latin typeface="Arial" pitchFamily="34" charset="0"/>
                <a:cs typeface="Arial" pitchFamily="34" charset="0"/>
              </a:rPr>
              <a:t>metErg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}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e {Observação}– 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alterada ocorrência. . 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3100" b="1" dirty="0" smtClean="0">
                <a:latin typeface="Arial" pitchFamily="34" charset="0"/>
                <a:cs typeface="Arial" pitchFamily="34" charset="0"/>
              </a:rPr>
              <a:t>Antes Obrigatório agora Opcional</a:t>
            </a:r>
            <a:endParaRPr lang="pt-BR" sz="32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7º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S-2245</a:t>
            </a: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Alterado o nome do evento.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7º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000" b="1" u="sng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Treinamentos e Capacitações</a:t>
            </a:r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Treinamentos</a:t>
            </a:r>
            <a:r>
              <a:rPr lang="pt-BR" sz="4400" b="1" u="sng" dirty="0" smtClean="0">
                <a:latin typeface="Arial" pitchFamily="34" charset="0"/>
                <a:cs typeface="Arial" pitchFamily="34" charset="0"/>
              </a:rPr>
              <a:t>, Capacitações e Exercícios Simulados.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7º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Criado o grupo {</a:t>
            </a:r>
            <a:r>
              <a:rPr lang="pt-BR" sz="4000" b="1" u="sng" dirty="0" err="1" smtClean="0">
                <a:latin typeface="Arial" pitchFamily="34" charset="0"/>
                <a:cs typeface="Arial" pitchFamily="34" charset="0"/>
              </a:rPr>
              <a:t>treiCap</a:t>
            </a:r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pt-BR" sz="4000" b="1" u="sng" dirty="0" err="1" smtClean="0">
                <a:latin typeface="Arial" pitchFamily="34" charset="0"/>
                <a:cs typeface="Arial" pitchFamily="34" charset="0"/>
              </a:rPr>
              <a:t>infoComplem</a:t>
            </a:r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} e respectivos campos.</a:t>
            </a:r>
            <a:endParaRPr lang="pt-BR" sz="4400" b="1" u="sng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8" name="CaixaDeTexto 47"/>
          <p:cNvSpPr txBox="1"/>
          <p:nvPr/>
        </p:nvSpPr>
        <p:spPr>
          <a:xfrm>
            <a:off x="642910" y="2214554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571604" y="2214554"/>
            <a:ext cx="500066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5286380" y="221455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CNPJ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1" name="CaixaDeTexto 50"/>
          <p:cNvSpPr txBox="1"/>
          <p:nvPr/>
        </p:nvSpPr>
        <p:spPr>
          <a:xfrm>
            <a:off x="6357950" y="221455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2071670" y="2214554"/>
            <a:ext cx="278608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i="1" dirty="0" smtClean="0">
                <a:solidFill>
                  <a:schemeClr val="bg1"/>
                </a:solidFill>
              </a:rPr>
              <a:t> </a:t>
            </a:r>
            <a:r>
              <a:rPr lang="pt-BR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01 para CNPJ e 02 CPF</a:t>
            </a:r>
            <a:endParaRPr lang="pt-BR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2643174" y="178592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Aplic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3571868" y="1785926"/>
            <a:ext cx="100013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4643438" y="178592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Prod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5572132" y="1785926"/>
            <a:ext cx="100013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6643702" y="178592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Versão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7572396" y="1785926"/>
            <a:ext cx="100013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2.04.2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642910" y="264318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1714480" y="264318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0123456799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4000496" y="264318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PIS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5072066" y="264318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98765432155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4000496" y="305966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5072066" y="305966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642910" y="1785926"/>
            <a:ext cx="92869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Inform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1571604" y="1785926"/>
            <a:ext cx="100013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642910" y="307181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Categor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1714480" y="3071810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0101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642910" y="420267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Data: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1714480" y="420267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08/01/2019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4000496" y="4214818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Duração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5072066" y="4214818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06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CaixaDeTexto 72"/>
          <p:cNvSpPr txBox="1"/>
          <p:nvPr/>
        </p:nvSpPr>
        <p:spPr>
          <a:xfrm>
            <a:off x="642910" y="464344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Modalid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4" name="CaixaDeTexto 73"/>
          <p:cNvSpPr txBox="1"/>
          <p:nvPr/>
        </p:nvSpPr>
        <p:spPr>
          <a:xfrm>
            <a:off x="1714480" y="464344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4000496" y="4643446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TIPO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5072066" y="4643446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3214678" y="5084216"/>
            <a:ext cx="929315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Nome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4143372" y="5084216"/>
            <a:ext cx="385765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 err="1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Fulado</a:t>
            </a:r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de Tal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CaixaDeTexto 78"/>
          <p:cNvSpPr txBox="1"/>
          <p:nvPr/>
        </p:nvSpPr>
        <p:spPr>
          <a:xfrm>
            <a:off x="642910" y="5072074"/>
            <a:ext cx="78581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CPF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0" name="CaixaDeTexto 79"/>
          <p:cNvSpPr txBox="1"/>
          <p:nvPr/>
        </p:nvSpPr>
        <p:spPr>
          <a:xfrm>
            <a:off x="1428728" y="5072074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12345678912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CaixaDeTexto 80"/>
          <p:cNvSpPr txBox="1"/>
          <p:nvPr/>
        </p:nvSpPr>
        <p:spPr>
          <a:xfrm>
            <a:off x="642910" y="5500702"/>
            <a:ext cx="78581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Cap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2" name="CaixaDeTexto 81"/>
          <p:cNvSpPr txBox="1"/>
          <p:nvPr/>
        </p:nvSpPr>
        <p:spPr>
          <a:xfrm>
            <a:off x="1428728" y="5500702"/>
            <a:ext cx="171451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CaixaDeTexto 82"/>
          <p:cNvSpPr txBox="1"/>
          <p:nvPr/>
        </p:nvSpPr>
        <p:spPr>
          <a:xfrm>
            <a:off x="3214678" y="5512844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Matric.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4" name="CaixaDeTexto 83"/>
          <p:cNvSpPr txBox="1"/>
          <p:nvPr/>
        </p:nvSpPr>
        <p:spPr>
          <a:xfrm>
            <a:off x="4286248" y="5512844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642910" y="5917188"/>
            <a:ext cx="1357322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Formação: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6" name="CaixaDeTexto 85"/>
          <p:cNvSpPr txBox="1"/>
          <p:nvPr/>
        </p:nvSpPr>
        <p:spPr>
          <a:xfrm>
            <a:off x="2000232" y="5917188"/>
            <a:ext cx="614366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Médico do Trabalho, Engenheiro, Técnico de Segurança, </a:t>
            </a:r>
            <a:r>
              <a:rPr lang="pt-BR" b="1" dirty="0" err="1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etc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CaixaDeTexto 86"/>
          <p:cNvSpPr txBox="1"/>
          <p:nvPr/>
        </p:nvSpPr>
        <p:spPr>
          <a:xfrm>
            <a:off x="642910" y="3714752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Cód.Trei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8" name="CaixaDeTexto 87"/>
          <p:cNvSpPr txBox="1"/>
          <p:nvPr/>
        </p:nvSpPr>
        <p:spPr>
          <a:xfrm>
            <a:off x="1714480" y="3714752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3501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4000496" y="3702610"/>
            <a:ext cx="1071570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 smtClean="0">
                <a:solidFill>
                  <a:schemeClr val="bg1"/>
                </a:solidFill>
              </a:rPr>
              <a:t>Observ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90" name="CaixaDeTexto 89"/>
          <p:cNvSpPr txBox="1"/>
          <p:nvPr/>
        </p:nvSpPr>
        <p:spPr>
          <a:xfrm>
            <a:off x="5072066" y="3702610"/>
            <a:ext cx="2214578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xxxxxxxxxx</a:t>
            </a:r>
            <a:endParaRPr lang="pt-BR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1" name="Retângulo de cantos arredondados 90"/>
          <p:cNvSpPr/>
          <p:nvPr/>
        </p:nvSpPr>
        <p:spPr>
          <a:xfrm>
            <a:off x="4000496" y="3643314"/>
            <a:ext cx="4071966" cy="500066"/>
          </a:xfrm>
          <a:prstGeom prst="round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2" name="Conector de seta reta 91"/>
          <p:cNvCxnSpPr/>
          <p:nvPr/>
        </p:nvCxnSpPr>
        <p:spPr>
          <a:xfrm rot="16200000" flipV="1">
            <a:off x="7572396" y="4500570"/>
            <a:ext cx="1357322" cy="928694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42844" y="1428736"/>
            <a:ext cx="8858312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b="1" u="sng" dirty="0" smtClean="0">
                <a:latin typeface="Arial" pitchFamily="34" charset="0"/>
                <a:cs typeface="Arial" pitchFamily="34" charset="0"/>
              </a:rPr>
              <a:t>7º Mudança na versão 2.0</a:t>
            </a:r>
          </a:p>
          <a:p>
            <a:pPr algn="just"/>
            <a:endParaRPr lang="pt-BR" sz="4000" b="1" u="sng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2800" b="1" dirty="0" smtClean="0">
                <a:latin typeface="Arial" pitchFamily="34" charset="0"/>
                <a:cs typeface="Arial" pitchFamily="34" charset="0"/>
              </a:rPr>
              <a:t>Tabela 29 – conforme itens abaixo: </a:t>
            </a:r>
            <a:r>
              <a:rPr lang="pt-BR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a) Divididos códigos em grupos ("TREINAMENTOS, CAPACITAÇÕES E EXERCÍCIOS SIMULADOS - REGISTRO OBRIGATÓRIO", </a:t>
            </a: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"OUTRAS ANOTAÇÕES - REGISTRO OBRIGATÓRIO"</a:t>
            </a:r>
            <a:r>
              <a:rPr lang="pt-BR" sz="2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e "TREINAMENTOS, CAPACITAÇÕES E EXERCÍCIOS SIMULADOS - REGISTRO NÃO OBRIGATÓRIO"</a:t>
            </a:r>
            <a:r>
              <a:rPr lang="pt-BR" sz="2800" b="1" dirty="0" smtClean="0">
                <a:latin typeface="Arial" pitchFamily="34" charset="0"/>
                <a:cs typeface="Arial" pitchFamily="34" charset="0"/>
              </a:rPr>
              <a:t>); b) Incluídos códigos [1006] e [1207]; e c) Alterada descrição dos códigos [0099], [1901] e [3504].</a:t>
            </a:r>
            <a:endParaRPr lang="pt-BR" sz="28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983" y="1643050"/>
            <a:ext cx="9045017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14282" y="1305342"/>
            <a:ext cx="89297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 inicio da obrigatoriedade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de prestação das informações de SST pelas empresas </a:t>
            </a:r>
            <a:r>
              <a:rPr lang="pt-BR" sz="36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está previsto para 2019, com previsão de faseamento.</a:t>
            </a:r>
            <a:r>
              <a:rPr lang="pt-BR" sz="3600" dirty="0" smtClean="0">
                <a:latin typeface="Arial" pitchFamily="34" charset="0"/>
                <a:cs typeface="Arial" pitchFamily="34" charset="0"/>
              </a:rPr>
              <a:t> de acordo com o grupo a que pertencem os entes obrigados e que se encontram detalhados no Manual de Orientação do eSocial — MOS. </a:t>
            </a:r>
            <a:endParaRPr lang="pt-BR" sz="3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14282" y="1973413"/>
            <a:ext cx="850112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As fontes 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desses dados serão os programas de gerenciamento de risco</a:t>
            </a:r>
            <a:r>
              <a:rPr lang="pt-BR" sz="40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, tais como PPRA e Análise Ergonômica, avaliações ambientais do LTCAT, dentre outros</a:t>
            </a:r>
            <a:r>
              <a:rPr lang="pt-BR" sz="4000" dirty="0" smtClean="0">
                <a:latin typeface="Arial" pitchFamily="34" charset="0"/>
                <a:cs typeface="Arial" pitchFamily="34" charset="0"/>
              </a:rPr>
              <a:t>. 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14282" y="1973413"/>
            <a:ext cx="850112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 smtClean="0"/>
              <a:t>De posse dessas informações, e utilizando-se </a:t>
            </a:r>
            <a:r>
              <a:rPr lang="pt-BR" sz="4000" b="1" dirty="0" smtClean="0">
                <a:solidFill>
                  <a:srgbClr val="002060"/>
                </a:solidFill>
              </a:rPr>
              <a:t>de programas de malha fiscal</a:t>
            </a:r>
            <a:r>
              <a:rPr lang="pt-BR" sz="4000" dirty="0" smtClean="0"/>
              <a:t>, em desenvolvimento, será possível traçarmos um panorama mais abrangente das condições de Segurança e Saúde no Trabalho nas empresas do pais.</a:t>
            </a:r>
            <a:endParaRPr lang="pt-BR" sz="4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572296" cy="1328734"/>
          </a:xfrm>
        </p:spPr>
        <p:txBody>
          <a:bodyPr>
            <a:noAutofit/>
          </a:bodyPr>
          <a:lstStyle/>
          <a:p>
            <a:r>
              <a:rPr lang="pt-BR" sz="3600" dirty="0" smtClean="0"/>
              <a:t>eSocial na Saúde Ocupacional e Segurança do Trabalho</a:t>
            </a:r>
            <a:endParaRPr lang="pt-BR" sz="36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4" name="Título 1"/>
          <p:cNvSpPr txBox="1">
            <a:spLocks/>
          </p:cNvSpPr>
          <p:nvPr/>
        </p:nvSpPr>
        <p:spPr>
          <a:xfrm>
            <a:off x="357158" y="2500306"/>
            <a:ext cx="8572560" cy="4071966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lvl="0">
              <a:spcBef>
                <a:spcPct val="0"/>
              </a:spcBef>
              <a:defRPr/>
            </a:pPr>
            <a:endParaRPr lang="pt-BR" sz="3200" b="1" dirty="0" smtClean="0"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607" y="1938338"/>
            <a:ext cx="8486235" cy="4419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71670" y="-71462"/>
            <a:ext cx="6858048" cy="1328734"/>
          </a:xfrm>
        </p:spPr>
        <p:txBody>
          <a:bodyPr>
            <a:noAutofit/>
          </a:bodyPr>
          <a:lstStyle/>
          <a:p>
            <a:r>
              <a:rPr lang="pt-BR" sz="3200" dirty="0" smtClean="0"/>
              <a:t>eSocial na Saúde Ocupacional e Segurança do Trabalho</a:t>
            </a:r>
            <a:endParaRPr lang="pt-BR" sz="3200" dirty="0"/>
          </a:p>
        </p:txBody>
      </p:sp>
      <p:pic>
        <p:nvPicPr>
          <p:cNvPr id="35842" name="Picture 2" descr="Resultado de imagem para esoc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214578" cy="1271474"/>
          </a:xfrm>
          <a:prstGeom prst="rect">
            <a:avLst/>
          </a:prstGeom>
          <a:noFill/>
        </p:spPr>
      </p:pic>
      <p:sp>
        <p:nvSpPr>
          <p:cNvPr id="7" name="Retângulo 6"/>
          <p:cNvSpPr/>
          <p:nvPr/>
        </p:nvSpPr>
        <p:spPr>
          <a:xfrm>
            <a:off x="571472" y="1714488"/>
            <a:ext cx="792961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Fontes:</a:t>
            </a:r>
            <a:endParaRPr lang="pt-BR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  <a:hlinkClick r:id="rId3"/>
              </a:rPr>
              <a:t>http://portal.esocial.gov.br/manuais</a:t>
            </a:r>
            <a:endParaRPr lang="pt-BR" sz="32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NDE 01 / </a:t>
            </a:r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2018  - Versão 2.0</a:t>
            </a:r>
            <a:endParaRPr lang="pt-BR" sz="32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MOS –versão </a:t>
            </a:r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2.4.02</a:t>
            </a:r>
            <a:endParaRPr lang="pt-BR" sz="32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just"/>
            <a:endParaRPr lang="pt-BR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Contato: Michel Carvalho</a:t>
            </a:r>
          </a:p>
          <a:p>
            <a:pPr algn="just"/>
            <a:r>
              <a:rPr lang="pt-BR" sz="3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(17) 99179-1467 </a:t>
            </a:r>
            <a:r>
              <a:rPr lang="pt-BR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endParaRPr lang="pt-BR" sz="32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pt-BR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3200" i="1" dirty="0" smtClean="0"/>
              <a:t>Obrigado a todos e que Deus lhe abençoe.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2815</TotalTime>
  <Words>2514</Words>
  <Application>Microsoft Office PowerPoint</Application>
  <PresentationFormat>Apresentação na tela (4:3)</PresentationFormat>
  <Paragraphs>741</Paragraphs>
  <Slides>55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56" baseType="lpstr">
      <vt:lpstr>Fluxo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Slide 14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Slide 23</vt:lpstr>
      <vt:lpstr>eSocial na Saúde Ocupacional e Segurança do Trabalho</vt:lpstr>
      <vt:lpstr>Slide 25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Slide 31</vt:lpstr>
      <vt:lpstr>eSocial na Saúde Ocupacional e Segurança do Trabalho</vt:lpstr>
      <vt:lpstr>eSocial na Saúde Ocupacional e Segurança do Trabalho</vt:lpstr>
      <vt:lpstr>Slide 34</vt:lpstr>
      <vt:lpstr>eSocial na Saúde Ocupacional e Segurança do Trabalho</vt:lpstr>
      <vt:lpstr>eSocial na Saúde Ocupacional e Segurança do Trabalho</vt:lpstr>
      <vt:lpstr>eSocial na Saúde Ocupacional e Segurança do Trabalho</vt:lpstr>
      <vt:lpstr>Slide 38</vt:lpstr>
      <vt:lpstr>eSocial na Saúde Ocupacional e Segurança do Trabalho</vt:lpstr>
      <vt:lpstr>Slide 40</vt:lpstr>
      <vt:lpstr>eSocial na Saúde Ocupacional e Segurança do Trabalho</vt:lpstr>
      <vt:lpstr>eSocial na Saúde Ocupacional e Segurança do Trabalho</vt:lpstr>
      <vt:lpstr>Slide 43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  <vt:lpstr>eSocial na Saúde Ocupacional e Segurança do Trabalho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eSocial na Saúde Ocupacional e Segurança do Trabalho</dc:title>
  <dc:creator>Treinamento</dc:creator>
  <cp:lastModifiedBy>Treinamento</cp:lastModifiedBy>
  <cp:revision>196</cp:revision>
  <dcterms:created xsi:type="dcterms:W3CDTF">2018-05-26T11:15:44Z</dcterms:created>
  <dcterms:modified xsi:type="dcterms:W3CDTF">2018-09-15T18:49:20Z</dcterms:modified>
</cp:coreProperties>
</file>