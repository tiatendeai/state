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Lst>
  <p:notesMasterIdLst>
    <p:notesMasterId r:id="rId119"/>
  </p:notesMasterIdLst>
  <p:sldIdLst>
    <p:sldId id="256" r:id="rId3"/>
    <p:sldId id="263" r:id="rId4"/>
    <p:sldId id="322" r:id="rId5"/>
    <p:sldId id="615" r:id="rId6"/>
    <p:sldId id="323" r:id="rId7"/>
    <p:sldId id="333" r:id="rId8"/>
    <p:sldId id="334" r:id="rId9"/>
    <p:sldId id="347" r:id="rId10"/>
    <p:sldId id="348" r:id="rId11"/>
    <p:sldId id="335" r:id="rId12"/>
    <p:sldId id="340" r:id="rId13"/>
    <p:sldId id="581" r:id="rId14"/>
    <p:sldId id="343" r:id="rId15"/>
    <p:sldId id="344" r:id="rId16"/>
    <p:sldId id="582" r:id="rId17"/>
    <p:sldId id="616" r:id="rId18"/>
    <p:sldId id="618" r:id="rId19"/>
    <p:sldId id="620" r:id="rId20"/>
    <p:sldId id="583" r:id="rId21"/>
    <p:sldId id="584" r:id="rId22"/>
    <p:sldId id="617" r:id="rId23"/>
    <p:sldId id="619" r:id="rId24"/>
    <p:sldId id="621" r:id="rId25"/>
    <p:sldId id="341" r:id="rId26"/>
    <p:sldId id="350" r:id="rId27"/>
    <p:sldId id="352" r:id="rId28"/>
    <p:sldId id="351" r:id="rId29"/>
    <p:sldId id="337" r:id="rId30"/>
    <p:sldId id="338" r:id="rId31"/>
    <p:sldId id="354" r:id="rId32"/>
    <p:sldId id="355" r:id="rId33"/>
    <p:sldId id="362" r:id="rId34"/>
    <p:sldId id="366" r:id="rId35"/>
    <p:sldId id="586" r:id="rId36"/>
    <p:sldId id="367" r:id="rId37"/>
    <p:sldId id="371" r:id="rId38"/>
    <p:sldId id="588" r:id="rId39"/>
    <p:sldId id="373" r:id="rId40"/>
    <p:sldId id="377" r:id="rId41"/>
    <p:sldId id="374" r:id="rId42"/>
    <p:sldId id="380" r:id="rId43"/>
    <p:sldId id="358" r:id="rId44"/>
    <p:sldId id="398" r:id="rId45"/>
    <p:sldId id="396" r:id="rId46"/>
    <p:sldId id="395" r:id="rId47"/>
    <p:sldId id="390" r:id="rId48"/>
    <p:sldId id="389" r:id="rId49"/>
    <p:sldId id="388" r:id="rId50"/>
    <p:sldId id="387" r:id="rId51"/>
    <p:sldId id="386" r:id="rId52"/>
    <p:sldId id="385" r:id="rId53"/>
    <p:sldId id="413" r:id="rId54"/>
    <p:sldId id="412" r:id="rId55"/>
    <p:sldId id="405" r:id="rId56"/>
    <p:sldId id="410" r:id="rId57"/>
    <p:sldId id="590" r:id="rId58"/>
    <p:sldId id="402" r:id="rId59"/>
    <p:sldId id="401" r:id="rId60"/>
    <p:sldId id="400" r:id="rId61"/>
    <p:sldId id="422" r:id="rId62"/>
    <p:sldId id="419" r:id="rId63"/>
    <p:sldId id="591" r:id="rId64"/>
    <p:sldId id="417" r:id="rId65"/>
    <p:sldId id="592" r:id="rId66"/>
    <p:sldId id="426" r:id="rId67"/>
    <p:sldId id="593" r:id="rId68"/>
    <p:sldId id="424" r:id="rId69"/>
    <p:sldId id="321" r:id="rId70"/>
    <p:sldId id="433" r:id="rId71"/>
    <p:sldId id="434" r:id="rId72"/>
    <p:sldId id="435" r:id="rId73"/>
    <p:sldId id="604" r:id="rId74"/>
    <p:sldId id="603" r:id="rId75"/>
    <p:sldId id="605" r:id="rId76"/>
    <p:sldId id="606" r:id="rId77"/>
    <p:sldId id="438" r:id="rId78"/>
    <p:sldId id="443" r:id="rId79"/>
    <p:sldId id="452" r:id="rId80"/>
    <p:sldId id="453" r:id="rId81"/>
    <p:sldId id="454" r:id="rId82"/>
    <p:sldId id="455" r:id="rId83"/>
    <p:sldId id="456" r:id="rId84"/>
    <p:sldId id="457" r:id="rId85"/>
    <p:sldId id="595" r:id="rId86"/>
    <p:sldId id="596" r:id="rId87"/>
    <p:sldId id="460" r:id="rId88"/>
    <p:sldId id="461" r:id="rId89"/>
    <p:sldId id="462" r:id="rId90"/>
    <p:sldId id="597" r:id="rId91"/>
    <p:sldId id="464" r:id="rId92"/>
    <p:sldId id="465" r:id="rId93"/>
    <p:sldId id="468" r:id="rId94"/>
    <p:sldId id="473" r:id="rId95"/>
    <p:sldId id="474" r:id="rId96"/>
    <p:sldId id="485" r:id="rId97"/>
    <p:sldId id="490" r:id="rId98"/>
    <p:sldId id="498" r:id="rId99"/>
    <p:sldId id="499" r:id="rId100"/>
    <p:sldId id="507" r:id="rId101"/>
    <p:sldId id="508" r:id="rId102"/>
    <p:sldId id="544" r:id="rId103"/>
    <p:sldId id="607" r:id="rId104"/>
    <p:sldId id="539" r:id="rId105"/>
    <p:sldId id="557" r:id="rId106"/>
    <p:sldId id="608" r:id="rId107"/>
    <p:sldId id="598" r:id="rId108"/>
    <p:sldId id="560" r:id="rId109"/>
    <p:sldId id="576" r:id="rId110"/>
    <p:sldId id="609" r:id="rId111"/>
    <p:sldId id="577" r:id="rId112"/>
    <p:sldId id="610" r:id="rId113"/>
    <p:sldId id="580" r:id="rId114"/>
    <p:sldId id="585" r:id="rId115"/>
    <p:sldId id="601" r:id="rId116"/>
    <p:sldId id="611" r:id="rId117"/>
    <p:sldId id="602" r:id="rId118"/>
  </p:sldIdLst>
  <p:sldSz cx="9144000" cy="6858000" type="screen4x3"/>
  <p:notesSz cx="7559675" cy="10691813"/>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5" autoAdjust="0"/>
    <p:restoredTop sz="92895" autoAdjust="0"/>
  </p:normalViewPr>
  <p:slideViewPr>
    <p:cSldViewPr>
      <p:cViewPr>
        <p:scale>
          <a:sx n="76" d="100"/>
          <a:sy n="76" d="100"/>
        </p:scale>
        <p:origin x="-1212" y="24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tableStyles" Target="tableStyles.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slide" Target="slides/slide80.xml"/><Relationship Id="rId90" Type="http://schemas.openxmlformats.org/officeDocument/2006/relationships/slide" Target="slides/slide88.xml"/><Relationship Id="rId95" Type="http://schemas.openxmlformats.org/officeDocument/2006/relationships/slide" Target="slides/slide93.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113" Type="http://schemas.openxmlformats.org/officeDocument/2006/relationships/slide" Target="slides/slide111.xml"/><Relationship Id="rId118" Type="http://schemas.openxmlformats.org/officeDocument/2006/relationships/slide" Target="slides/slide116.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slide" Target="slides/slide78.xml"/><Relationship Id="rId85" Type="http://schemas.openxmlformats.org/officeDocument/2006/relationships/slide" Target="slides/slide83.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103" Type="http://schemas.openxmlformats.org/officeDocument/2006/relationships/slide" Target="slides/slide101.xml"/><Relationship Id="rId108" Type="http://schemas.openxmlformats.org/officeDocument/2006/relationships/slide" Target="slides/slide106.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slide" Target="slides/slide81.xml"/><Relationship Id="rId88" Type="http://schemas.openxmlformats.org/officeDocument/2006/relationships/slide" Target="slides/slide86.xml"/><Relationship Id="rId91" Type="http://schemas.openxmlformats.org/officeDocument/2006/relationships/slide" Target="slides/slide89.xml"/><Relationship Id="rId96" Type="http://schemas.openxmlformats.org/officeDocument/2006/relationships/slide" Target="slides/slide94.xml"/><Relationship Id="rId111" Type="http://schemas.openxmlformats.org/officeDocument/2006/relationships/slide" Target="slides/slide109.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6" Type="http://schemas.openxmlformats.org/officeDocument/2006/relationships/slide" Target="slides/slide104.xml"/><Relationship Id="rId114" Type="http://schemas.openxmlformats.org/officeDocument/2006/relationships/slide" Target="slides/slide112.xml"/><Relationship Id="rId119" Type="http://schemas.openxmlformats.org/officeDocument/2006/relationships/notesMaster" Target="notesMasters/notesMaster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slide" Target="slides/slide76.xml"/><Relationship Id="rId81" Type="http://schemas.openxmlformats.org/officeDocument/2006/relationships/slide" Target="slides/slide79.xml"/><Relationship Id="rId86" Type="http://schemas.openxmlformats.org/officeDocument/2006/relationships/slide" Target="slides/slide84.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presProps" Target="presProp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3276600" cy="5349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4281488" y="0"/>
            <a:ext cx="3276600" cy="534988"/>
          </a:xfrm>
          <a:prstGeom prst="rect">
            <a:avLst/>
          </a:prstGeom>
        </p:spPr>
        <p:txBody>
          <a:bodyPr vert="horz" lIns="91440" tIns="45720" rIns="91440" bIns="45720" rtlCol="0"/>
          <a:lstStyle>
            <a:lvl1pPr algn="r">
              <a:defRPr sz="1200"/>
            </a:lvl1pPr>
          </a:lstStyle>
          <a:p>
            <a:fld id="{89FB9B27-D5AC-4524-A005-F0E6EC6BAE5B}" type="datetimeFigureOut">
              <a:rPr lang="pt-BR" smtClean="0"/>
              <a:pPr/>
              <a:t>08/05/2018</a:t>
            </a:fld>
            <a:endParaRPr lang="pt-BR"/>
          </a:p>
        </p:txBody>
      </p:sp>
      <p:sp>
        <p:nvSpPr>
          <p:cNvPr id="4" name="Espaço Reservado para Imagem de Slide 3"/>
          <p:cNvSpPr>
            <a:spLocks noGrp="1" noRot="1" noChangeAspect="1"/>
          </p:cNvSpPr>
          <p:nvPr>
            <p:ph type="sldImg" idx="2"/>
          </p:nvPr>
        </p:nvSpPr>
        <p:spPr>
          <a:xfrm>
            <a:off x="1106488" y="801688"/>
            <a:ext cx="5346700" cy="4010025"/>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755650" y="5078413"/>
            <a:ext cx="6048375" cy="4811712"/>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10155238"/>
            <a:ext cx="3276600" cy="5349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4281488" y="10155238"/>
            <a:ext cx="3276600" cy="534987"/>
          </a:xfrm>
          <a:prstGeom prst="rect">
            <a:avLst/>
          </a:prstGeom>
        </p:spPr>
        <p:txBody>
          <a:bodyPr vert="horz" lIns="91440" tIns="45720" rIns="91440" bIns="45720" rtlCol="0" anchor="b"/>
          <a:lstStyle>
            <a:lvl1pPr algn="r">
              <a:defRPr sz="1200"/>
            </a:lvl1pPr>
          </a:lstStyle>
          <a:p>
            <a:fld id="{FF63BC0A-B478-4FC0-A635-B81BD4DFF4BC}" type="slidenum">
              <a:rPr lang="pt-BR" smtClean="0"/>
              <a:pPr/>
              <a:t>‹nº›</a:t>
            </a:fld>
            <a:endParaRPr lang="pt-BR"/>
          </a:p>
        </p:txBody>
      </p:sp>
    </p:spTree>
    <p:extLst>
      <p:ext uri="{BB962C8B-B14F-4D97-AF65-F5344CB8AC3E}">
        <p14:creationId xmlns:p14="http://schemas.microsoft.com/office/powerpoint/2010/main" val="71446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smtClean="0"/>
              <a:t>CRCR</a:t>
            </a:r>
          </a:p>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a:t>
            </a:fld>
            <a:endParaRPr lang="pt-BR" dirty="0"/>
          </a:p>
        </p:txBody>
      </p:sp>
    </p:spTree>
    <p:extLst>
      <p:ext uri="{BB962C8B-B14F-4D97-AF65-F5344CB8AC3E}">
        <p14:creationId xmlns:p14="http://schemas.microsoft.com/office/powerpoint/2010/main" val="21680946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a:t>
            </a:fld>
            <a:endParaRPr lang="pt-BR" dirty="0"/>
          </a:p>
        </p:txBody>
      </p:sp>
    </p:spTree>
    <p:extLst>
      <p:ext uri="{BB962C8B-B14F-4D97-AF65-F5344CB8AC3E}">
        <p14:creationId xmlns:p14="http://schemas.microsoft.com/office/powerpoint/2010/main" val="8724477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a:t>
            </a:fld>
            <a:endParaRPr lang="pt-BR" dirty="0"/>
          </a:p>
        </p:txBody>
      </p:sp>
    </p:spTree>
    <p:extLst>
      <p:ext uri="{BB962C8B-B14F-4D97-AF65-F5344CB8AC3E}">
        <p14:creationId xmlns:p14="http://schemas.microsoft.com/office/powerpoint/2010/main" val="8724477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a:t>
            </a:fld>
            <a:endParaRPr lang="pt-BR" dirty="0"/>
          </a:p>
        </p:txBody>
      </p:sp>
    </p:spTree>
    <p:extLst>
      <p:ext uri="{BB962C8B-B14F-4D97-AF65-F5344CB8AC3E}">
        <p14:creationId xmlns:p14="http://schemas.microsoft.com/office/powerpoint/2010/main" val="8724477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a:t>
            </a:fld>
            <a:endParaRPr lang="pt-BR" dirty="0"/>
          </a:p>
        </p:txBody>
      </p:sp>
    </p:spTree>
    <p:extLst>
      <p:ext uri="{BB962C8B-B14F-4D97-AF65-F5344CB8AC3E}">
        <p14:creationId xmlns:p14="http://schemas.microsoft.com/office/powerpoint/2010/main" val="8724477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13</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18</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20</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23</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28</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29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30</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33</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38</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39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40</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43</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48</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49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50</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53</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58</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59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60</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61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62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63</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64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65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66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67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69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70</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71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72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73</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74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75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76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77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79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80</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83</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88</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89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90</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93</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98</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99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100</a:t>
            </a:fld>
            <a:endParaRPr lang="pt-BR" dirty="0"/>
          </a:p>
        </p:txBody>
      </p:sp>
    </p:spTree>
    <p:extLst>
      <p:ext uri="{BB962C8B-B14F-4D97-AF65-F5344CB8AC3E}">
        <p14:creationId xmlns:p14="http://schemas.microsoft.com/office/powerpoint/2010/main" val="872447762"/>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normAutofit/>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103</a:t>
            </a:fld>
            <a:endParaRPr lang="pt-B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106</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107</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108</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109</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110</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111</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112</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pPr/>
              <a:t>113</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t>114</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t>115</a:t>
            </a:fld>
            <a:endParaRPr lang="pt-BR"/>
          </a:p>
        </p:txBody>
      </p:sp>
    </p:spTree>
    <p:extLst>
      <p:ext uri="{BB962C8B-B14F-4D97-AF65-F5344CB8AC3E}">
        <p14:creationId xmlns:p14="http://schemas.microsoft.com/office/powerpoint/2010/main" val="872447762"/>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FF63BC0A-B478-4FC0-A635-B81BD4DFF4BC}" type="slidenum">
              <a:rPr lang="pt-BR" smtClean="0"/>
              <a:t>116</a:t>
            </a:fld>
            <a:endParaRPr lang="pt-BR"/>
          </a:p>
        </p:txBody>
      </p:sp>
    </p:spTree>
    <p:extLst>
      <p:ext uri="{BB962C8B-B14F-4D97-AF65-F5344CB8AC3E}">
        <p14:creationId xmlns:p14="http://schemas.microsoft.com/office/powerpoint/2010/main" val="872447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3"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5" name="PlaceHolder 2"/>
          <p:cNvSpPr>
            <a:spLocks noGrp="1"/>
          </p:cNvSpPr>
          <p:nvPr>
            <p:ph type="body"/>
          </p:nvPr>
        </p:nvSpPr>
        <p:spPr>
          <a:xfrm>
            <a:off x="457200" y="1604520"/>
            <a:ext cx="822924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7" name="PlaceHolder 2"/>
          <p:cNvSpPr>
            <a:spLocks noGrp="1"/>
          </p:cNvSpPr>
          <p:nvPr>
            <p:ph type="body"/>
          </p:nvPr>
        </p:nvSpPr>
        <p:spPr>
          <a:xfrm>
            <a:off x="45720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8" name="PlaceHolder 3"/>
          <p:cNvSpPr>
            <a:spLocks noGrp="1"/>
          </p:cNvSpPr>
          <p:nvPr>
            <p:ph type="body"/>
          </p:nvPr>
        </p:nvSpPr>
        <p:spPr>
          <a:xfrm>
            <a:off x="467424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12" name="PlaceHolder 2"/>
          <p:cNvSpPr>
            <a:spLocks noGrp="1"/>
          </p:cNvSpPr>
          <p:nvPr>
            <p:ph type="body"/>
          </p:nvPr>
        </p:nvSpPr>
        <p:spPr>
          <a:xfrm>
            <a:off x="45720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13" name="PlaceHolder 3"/>
          <p:cNvSpPr>
            <a:spLocks noGrp="1"/>
          </p:cNvSpPr>
          <p:nvPr>
            <p:ph type="body"/>
          </p:nvPr>
        </p:nvSpPr>
        <p:spPr>
          <a:xfrm>
            <a:off x="45720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14" name="PlaceHolder 4"/>
          <p:cNvSpPr>
            <a:spLocks noGrp="1"/>
          </p:cNvSpPr>
          <p:nvPr>
            <p:ph type="body"/>
          </p:nvPr>
        </p:nvSpPr>
        <p:spPr>
          <a:xfrm>
            <a:off x="467424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16" name="PlaceHolder 2"/>
          <p:cNvSpPr>
            <a:spLocks noGrp="1"/>
          </p:cNvSpPr>
          <p:nvPr>
            <p:ph type="body"/>
          </p:nvPr>
        </p:nvSpPr>
        <p:spPr>
          <a:xfrm>
            <a:off x="45720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17" name="PlaceHolder 3"/>
          <p:cNvSpPr>
            <a:spLocks noGrp="1"/>
          </p:cNvSpPr>
          <p:nvPr>
            <p:ph type="body"/>
          </p:nvPr>
        </p:nvSpPr>
        <p:spPr>
          <a:xfrm>
            <a:off x="467424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18" name="PlaceHolder 4"/>
          <p:cNvSpPr>
            <a:spLocks noGrp="1"/>
          </p:cNvSpPr>
          <p:nvPr>
            <p:ph type="body"/>
          </p:nvPr>
        </p:nvSpPr>
        <p:spPr>
          <a:xfrm>
            <a:off x="467424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20" name="PlaceHolder 2"/>
          <p:cNvSpPr>
            <a:spLocks noGrp="1"/>
          </p:cNvSpPr>
          <p:nvPr>
            <p:ph type="body"/>
          </p:nvPr>
        </p:nvSpPr>
        <p:spPr>
          <a:xfrm>
            <a:off x="45720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21" name="PlaceHolder 3"/>
          <p:cNvSpPr>
            <a:spLocks noGrp="1"/>
          </p:cNvSpPr>
          <p:nvPr>
            <p:ph type="body"/>
          </p:nvPr>
        </p:nvSpPr>
        <p:spPr>
          <a:xfrm>
            <a:off x="467424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22" name="PlaceHolder 4"/>
          <p:cNvSpPr>
            <a:spLocks noGrp="1"/>
          </p:cNvSpPr>
          <p:nvPr>
            <p:ph type="body"/>
          </p:nvPr>
        </p:nvSpPr>
        <p:spPr>
          <a:xfrm>
            <a:off x="457200" y="3682080"/>
            <a:ext cx="822924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24" name="PlaceHolder 2"/>
          <p:cNvSpPr>
            <a:spLocks noGrp="1"/>
          </p:cNvSpPr>
          <p:nvPr>
            <p:ph type="body"/>
          </p:nvPr>
        </p:nvSpPr>
        <p:spPr>
          <a:xfrm>
            <a:off x="457200" y="1604520"/>
            <a:ext cx="822924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25" name="PlaceHolder 3"/>
          <p:cNvSpPr>
            <a:spLocks noGrp="1"/>
          </p:cNvSpPr>
          <p:nvPr>
            <p:ph type="body"/>
          </p:nvPr>
        </p:nvSpPr>
        <p:spPr>
          <a:xfrm>
            <a:off x="457200" y="3682080"/>
            <a:ext cx="822924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27" name="PlaceHolder 2"/>
          <p:cNvSpPr>
            <a:spLocks noGrp="1"/>
          </p:cNvSpPr>
          <p:nvPr>
            <p:ph type="body"/>
          </p:nvPr>
        </p:nvSpPr>
        <p:spPr>
          <a:xfrm>
            <a:off x="45720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28" name="PlaceHolder 3"/>
          <p:cNvSpPr>
            <a:spLocks noGrp="1"/>
          </p:cNvSpPr>
          <p:nvPr>
            <p:ph type="body"/>
          </p:nvPr>
        </p:nvSpPr>
        <p:spPr>
          <a:xfrm>
            <a:off x="467424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29" name="PlaceHolder 4"/>
          <p:cNvSpPr>
            <a:spLocks noGrp="1"/>
          </p:cNvSpPr>
          <p:nvPr>
            <p:ph type="body"/>
          </p:nvPr>
        </p:nvSpPr>
        <p:spPr>
          <a:xfrm>
            <a:off x="467424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30" name="PlaceHolder 5"/>
          <p:cNvSpPr>
            <a:spLocks noGrp="1"/>
          </p:cNvSpPr>
          <p:nvPr>
            <p:ph type="body"/>
          </p:nvPr>
        </p:nvSpPr>
        <p:spPr>
          <a:xfrm>
            <a:off x="45720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32" name="PlaceHolder 2"/>
          <p:cNvSpPr>
            <a:spLocks noGrp="1"/>
          </p:cNvSpPr>
          <p:nvPr>
            <p:ph type="body"/>
          </p:nvPr>
        </p:nvSpPr>
        <p:spPr>
          <a:xfrm>
            <a:off x="457200" y="1604520"/>
            <a:ext cx="822924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33" name="PlaceHolder 3"/>
          <p:cNvSpPr>
            <a:spLocks noGrp="1"/>
          </p:cNvSpPr>
          <p:nvPr>
            <p:ph type="body"/>
          </p:nvPr>
        </p:nvSpPr>
        <p:spPr>
          <a:xfrm>
            <a:off x="457200" y="1604520"/>
            <a:ext cx="822924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pic>
        <p:nvPicPr>
          <p:cNvPr id="34" name="Imagem 33"/>
          <p:cNvPicPr/>
          <p:nvPr/>
        </p:nvPicPr>
        <p:blipFill>
          <a:blip r:embed="rId2"/>
          <a:stretch/>
        </p:blipFill>
        <p:spPr>
          <a:xfrm>
            <a:off x="2079000" y="1604520"/>
            <a:ext cx="4984920" cy="3977280"/>
          </a:xfrm>
          <a:prstGeom prst="rect">
            <a:avLst/>
          </a:prstGeom>
          <a:ln>
            <a:noFill/>
          </a:ln>
        </p:spPr>
      </p:pic>
      <p:pic>
        <p:nvPicPr>
          <p:cNvPr id="35" name="Imagem 34"/>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8"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39" name="PlaceHolder 2"/>
          <p:cNvSpPr>
            <a:spLocks noGrp="1"/>
          </p:cNvSpPr>
          <p:nvPr>
            <p:ph type="subTitle"/>
          </p:nvPr>
        </p:nvSpPr>
        <p:spPr>
          <a:xfrm>
            <a:off x="457200" y="1604520"/>
            <a:ext cx="8229240" cy="3977280"/>
          </a:xfrm>
          <a:prstGeom prst="rect">
            <a:avLst/>
          </a:prstGeom>
        </p:spPr>
        <p:txBody>
          <a:bodyPr lIns="0" tIns="0" rIns="0" bIns="0" anchor="ctr"/>
          <a:lstStyle/>
          <a:p>
            <a:pPr algn="ctr"/>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40"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41" name="PlaceHolder 2"/>
          <p:cNvSpPr>
            <a:spLocks noGrp="1"/>
          </p:cNvSpPr>
          <p:nvPr>
            <p:ph type="body"/>
          </p:nvPr>
        </p:nvSpPr>
        <p:spPr>
          <a:xfrm>
            <a:off x="457200" y="1604520"/>
            <a:ext cx="822924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4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43" name="PlaceHolder 2"/>
          <p:cNvSpPr>
            <a:spLocks noGrp="1"/>
          </p:cNvSpPr>
          <p:nvPr>
            <p:ph type="body"/>
          </p:nvPr>
        </p:nvSpPr>
        <p:spPr>
          <a:xfrm>
            <a:off x="45720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44" name="PlaceHolder 3"/>
          <p:cNvSpPr>
            <a:spLocks noGrp="1"/>
          </p:cNvSpPr>
          <p:nvPr>
            <p:ph type="body"/>
          </p:nvPr>
        </p:nvSpPr>
        <p:spPr>
          <a:xfrm>
            <a:off x="467424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46" name="PlaceHolder 1"/>
          <p:cNvSpPr>
            <a:spLocks noGrp="1"/>
          </p:cNvSpPr>
          <p:nvPr>
            <p:ph type="subTitle"/>
          </p:nvPr>
        </p:nvSpPr>
        <p:spPr>
          <a:xfrm>
            <a:off x="457200" y="273600"/>
            <a:ext cx="8229240" cy="5307840"/>
          </a:xfrm>
          <a:prstGeom prst="rect">
            <a:avLst/>
          </a:prstGeom>
        </p:spPr>
        <p:txBody>
          <a:bodyPr lIns="0" tIns="0" rIns="0" bIns="0" anchor="ctr"/>
          <a:lstStyle/>
          <a:p>
            <a:pPr algn="ctr"/>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48" name="PlaceHolder 2"/>
          <p:cNvSpPr>
            <a:spLocks noGrp="1"/>
          </p:cNvSpPr>
          <p:nvPr>
            <p:ph type="body"/>
          </p:nvPr>
        </p:nvSpPr>
        <p:spPr>
          <a:xfrm>
            <a:off x="45720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49" name="PlaceHolder 3"/>
          <p:cNvSpPr>
            <a:spLocks noGrp="1"/>
          </p:cNvSpPr>
          <p:nvPr>
            <p:ph type="body"/>
          </p:nvPr>
        </p:nvSpPr>
        <p:spPr>
          <a:xfrm>
            <a:off x="45720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50" name="PlaceHolder 4"/>
          <p:cNvSpPr>
            <a:spLocks noGrp="1"/>
          </p:cNvSpPr>
          <p:nvPr>
            <p:ph type="body"/>
          </p:nvPr>
        </p:nvSpPr>
        <p:spPr>
          <a:xfrm>
            <a:off x="467424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51"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52" name="PlaceHolder 2"/>
          <p:cNvSpPr>
            <a:spLocks noGrp="1"/>
          </p:cNvSpPr>
          <p:nvPr>
            <p:ph type="body"/>
          </p:nvPr>
        </p:nvSpPr>
        <p:spPr>
          <a:xfrm>
            <a:off x="457200" y="1604520"/>
            <a:ext cx="401580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53" name="PlaceHolder 3"/>
          <p:cNvSpPr>
            <a:spLocks noGrp="1"/>
          </p:cNvSpPr>
          <p:nvPr>
            <p:ph type="body"/>
          </p:nvPr>
        </p:nvSpPr>
        <p:spPr>
          <a:xfrm>
            <a:off x="467424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54" name="PlaceHolder 4"/>
          <p:cNvSpPr>
            <a:spLocks noGrp="1"/>
          </p:cNvSpPr>
          <p:nvPr>
            <p:ph type="body"/>
          </p:nvPr>
        </p:nvSpPr>
        <p:spPr>
          <a:xfrm>
            <a:off x="467424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56" name="PlaceHolder 2"/>
          <p:cNvSpPr>
            <a:spLocks noGrp="1"/>
          </p:cNvSpPr>
          <p:nvPr>
            <p:ph type="body"/>
          </p:nvPr>
        </p:nvSpPr>
        <p:spPr>
          <a:xfrm>
            <a:off x="45720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57" name="PlaceHolder 3"/>
          <p:cNvSpPr>
            <a:spLocks noGrp="1"/>
          </p:cNvSpPr>
          <p:nvPr>
            <p:ph type="body"/>
          </p:nvPr>
        </p:nvSpPr>
        <p:spPr>
          <a:xfrm>
            <a:off x="467424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58" name="PlaceHolder 4"/>
          <p:cNvSpPr>
            <a:spLocks noGrp="1"/>
          </p:cNvSpPr>
          <p:nvPr>
            <p:ph type="body"/>
          </p:nvPr>
        </p:nvSpPr>
        <p:spPr>
          <a:xfrm>
            <a:off x="457200" y="3682080"/>
            <a:ext cx="822924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60" name="PlaceHolder 2"/>
          <p:cNvSpPr>
            <a:spLocks noGrp="1"/>
          </p:cNvSpPr>
          <p:nvPr>
            <p:ph type="body"/>
          </p:nvPr>
        </p:nvSpPr>
        <p:spPr>
          <a:xfrm>
            <a:off x="457200" y="1604520"/>
            <a:ext cx="822924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61" name="PlaceHolder 3"/>
          <p:cNvSpPr>
            <a:spLocks noGrp="1"/>
          </p:cNvSpPr>
          <p:nvPr>
            <p:ph type="body"/>
          </p:nvPr>
        </p:nvSpPr>
        <p:spPr>
          <a:xfrm>
            <a:off x="457200" y="3682080"/>
            <a:ext cx="822924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63" name="PlaceHolder 2"/>
          <p:cNvSpPr>
            <a:spLocks noGrp="1"/>
          </p:cNvSpPr>
          <p:nvPr>
            <p:ph type="body"/>
          </p:nvPr>
        </p:nvSpPr>
        <p:spPr>
          <a:xfrm>
            <a:off x="45720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64" name="PlaceHolder 3"/>
          <p:cNvSpPr>
            <a:spLocks noGrp="1"/>
          </p:cNvSpPr>
          <p:nvPr>
            <p:ph type="body"/>
          </p:nvPr>
        </p:nvSpPr>
        <p:spPr>
          <a:xfrm>
            <a:off x="4674240" y="160452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65" name="PlaceHolder 4"/>
          <p:cNvSpPr>
            <a:spLocks noGrp="1"/>
          </p:cNvSpPr>
          <p:nvPr>
            <p:ph type="body"/>
          </p:nvPr>
        </p:nvSpPr>
        <p:spPr>
          <a:xfrm>
            <a:off x="467424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66" name="PlaceHolder 5"/>
          <p:cNvSpPr>
            <a:spLocks noGrp="1"/>
          </p:cNvSpPr>
          <p:nvPr>
            <p:ph type="body"/>
          </p:nvPr>
        </p:nvSpPr>
        <p:spPr>
          <a:xfrm>
            <a:off x="457200" y="3682080"/>
            <a:ext cx="4015800" cy="189684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457200" y="273600"/>
            <a:ext cx="8229240" cy="114480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68" name="PlaceHolder 2"/>
          <p:cNvSpPr>
            <a:spLocks noGrp="1"/>
          </p:cNvSpPr>
          <p:nvPr>
            <p:ph type="body"/>
          </p:nvPr>
        </p:nvSpPr>
        <p:spPr>
          <a:xfrm>
            <a:off x="457200" y="1604520"/>
            <a:ext cx="822924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sp>
        <p:nvSpPr>
          <p:cNvPr id="69" name="PlaceHolder 3"/>
          <p:cNvSpPr>
            <a:spLocks noGrp="1"/>
          </p:cNvSpPr>
          <p:nvPr>
            <p:ph type="body"/>
          </p:nvPr>
        </p:nvSpPr>
        <p:spPr>
          <a:xfrm>
            <a:off x="457200" y="1604520"/>
            <a:ext cx="8229240" cy="3977280"/>
          </a:xfrm>
          <a:prstGeom prst="rect">
            <a:avLst/>
          </a:prstGeom>
        </p:spPr>
        <p:txBody>
          <a:bodyPr lIns="0" tIns="0" rIns="0" bIns="0"/>
          <a:lstStyle/>
          <a:p>
            <a:endParaRPr lang="pt-BR" sz="3200" b="0" strike="noStrike" spc="-1">
              <a:solidFill>
                <a:srgbClr val="000000"/>
              </a:solidFill>
              <a:uFill>
                <a:solidFill>
                  <a:srgbClr val="FFFFFF"/>
                </a:solidFill>
              </a:uFill>
              <a:latin typeface="Arial"/>
            </a:endParaRPr>
          </a:p>
        </p:txBody>
      </p:sp>
      <p:pic>
        <p:nvPicPr>
          <p:cNvPr id="70" name="Imagem 69"/>
          <p:cNvPicPr/>
          <p:nvPr/>
        </p:nvPicPr>
        <p:blipFill>
          <a:blip r:embed="rId2"/>
          <a:stretch/>
        </p:blipFill>
        <p:spPr>
          <a:xfrm>
            <a:off x="2079000" y="1604520"/>
            <a:ext cx="4984920" cy="3977280"/>
          </a:xfrm>
          <a:prstGeom prst="rect">
            <a:avLst/>
          </a:prstGeom>
          <a:ln>
            <a:noFill/>
          </a:ln>
        </p:spPr>
      </p:pic>
      <p:pic>
        <p:nvPicPr>
          <p:cNvPr id="71" name="Imagem 70"/>
          <p:cNvPicPr/>
          <p:nvPr/>
        </p:nvPicPr>
        <p:blipFill>
          <a:blip r:embed="rId2"/>
          <a:stretch/>
        </p:blipFill>
        <p:spPr>
          <a:xfrm>
            <a:off x="2079000" y="1604520"/>
            <a:ext cx="4984920" cy="3977280"/>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73600"/>
            <a:ext cx="8228880" cy="1144440"/>
          </a:xfrm>
          <a:prstGeom prst="rect">
            <a:avLst/>
          </a:prstGeom>
        </p:spPr>
        <p:txBody>
          <a:bodyPr lIns="0" tIns="0" rIns="0" bIns="0" anchor="ctr"/>
          <a:lstStyle/>
          <a:p>
            <a:pPr algn="ctr"/>
            <a:endParaRPr lang="pt-BR" sz="4400" b="0" strike="noStrike" spc="-1">
              <a:solidFill>
                <a:srgbClr val="000000"/>
              </a:solidFill>
              <a:uFill>
                <a:solidFill>
                  <a:srgbClr val="FFFFFF"/>
                </a:solidFill>
              </a:uFill>
              <a:latin typeface="Arial"/>
            </a:endParaRPr>
          </a:p>
        </p:txBody>
      </p:sp>
      <p:sp>
        <p:nvSpPr>
          <p:cNvPr id="3" name="PlaceHolder 2"/>
          <p:cNvSpPr>
            <a:spLocks noGrp="1"/>
          </p:cNvSpPr>
          <p:nvPr>
            <p:ph type="body"/>
          </p:nvPr>
        </p:nvSpPr>
        <p:spPr>
          <a:xfrm>
            <a:off x="457200" y="1604520"/>
            <a:ext cx="8228880" cy="3976920"/>
          </a:xfrm>
          <a:prstGeom prst="rect">
            <a:avLst/>
          </a:prstGeom>
        </p:spPr>
        <p:txBody>
          <a:bodyPr lIns="0" tIns="0" rIns="0" bIns="0"/>
          <a:lstStyle/>
          <a:p>
            <a:pPr marL="432000" indent="-324000">
              <a:buClr>
                <a:srgbClr val="000000"/>
              </a:buClr>
              <a:buSzPct val="45000"/>
              <a:buFont typeface="Wingdings" charset="2"/>
              <a:buChar char=""/>
            </a:pPr>
            <a:r>
              <a:rPr lang="pt-BR" sz="1800" b="0" strike="noStrike" spc="-1">
                <a:solidFill>
                  <a:srgbClr val="000000"/>
                </a:solidFill>
                <a:uFill>
                  <a:solidFill>
                    <a:srgbClr val="FFFFFF"/>
                  </a:solidFill>
                </a:uFill>
                <a:latin typeface="Arial"/>
              </a:rPr>
              <a:t>Clique para editar o formato do texto da estrutura de tópicos</a:t>
            </a:r>
          </a:p>
          <a:p>
            <a:pPr marL="864000" lvl="1" indent="-324000">
              <a:buClr>
                <a:srgbClr val="000000"/>
              </a:buClr>
              <a:buSzPct val="75000"/>
              <a:buFont typeface="Symbol" charset="2"/>
              <a:buChar char=""/>
            </a:pPr>
            <a:r>
              <a:rPr lang="pt-BR" sz="1800" b="0" strike="noStrike" spc="-1">
                <a:solidFill>
                  <a:srgbClr val="000000"/>
                </a:solidFill>
                <a:uFill>
                  <a:solidFill>
                    <a:srgbClr val="FFFFFF"/>
                  </a:solidFill>
                </a:uFill>
                <a:latin typeface="Arial"/>
              </a:rPr>
              <a:t>2.º nível da estrutura de tópicos</a:t>
            </a:r>
          </a:p>
          <a:p>
            <a:pPr marL="1296000" lvl="2" indent="-288000">
              <a:buClr>
                <a:srgbClr val="000000"/>
              </a:buClr>
              <a:buSzPct val="45000"/>
              <a:buFont typeface="Wingdings" charset="2"/>
              <a:buChar char=""/>
            </a:pPr>
            <a:r>
              <a:rPr lang="pt-BR" sz="1800" b="0" strike="noStrike" spc="-1">
                <a:solidFill>
                  <a:srgbClr val="000000"/>
                </a:solidFill>
                <a:uFill>
                  <a:solidFill>
                    <a:srgbClr val="FFFFFF"/>
                  </a:solidFill>
                </a:uFill>
                <a:latin typeface="Arial"/>
              </a:rPr>
              <a:t>3.º nível da estrutura de tópicos</a:t>
            </a:r>
          </a:p>
          <a:p>
            <a:pPr marL="1728000" lvl="3" indent="-216000">
              <a:buClr>
                <a:srgbClr val="000000"/>
              </a:buClr>
              <a:buSzPct val="75000"/>
              <a:buFont typeface="Symbol" charset="2"/>
              <a:buChar char=""/>
            </a:pPr>
            <a:r>
              <a:rPr lang="pt-BR" sz="1800" b="0" strike="noStrike" spc="-1">
                <a:solidFill>
                  <a:srgbClr val="000000"/>
                </a:solidFill>
                <a:uFill>
                  <a:solidFill>
                    <a:srgbClr val="FFFFFF"/>
                  </a:solidFill>
                </a:uFill>
                <a:latin typeface="Arial"/>
              </a:rPr>
              <a:t>4.º nível da estrutura de tópicos</a:t>
            </a:r>
          </a:p>
          <a:p>
            <a:pPr marL="2160000" lvl="4" indent="-216000">
              <a:buClr>
                <a:srgbClr val="000000"/>
              </a:buClr>
              <a:buSzPct val="45000"/>
              <a:buFont typeface="Wingdings" charset="2"/>
              <a:buChar char=""/>
            </a:pPr>
            <a:r>
              <a:rPr lang="pt-BR" sz="1800" b="0" strike="noStrike" spc="-1">
                <a:solidFill>
                  <a:srgbClr val="000000"/>
                </a:solidFill>
                <a:uFill>
                  <a:solidFill>
                    <a:srgbClr val="FFFFFF"/>
                  </a:solidFill>
                </a:uFill>
                <a:latin typeface="Arial"/>
              </a:rPr>
              <a:t>5.º nível da estrutura de tópicos</a:t>
            </a:r>
          </a:p>
          <a:p>
            <a:pPr marL="2592000" lvl="5" indent="-216000">
              <a:buClr>
                <a:srgbClr val="000000"/>
              </a:buClr>
              <a:buSzPct val="45000"/>
              <a:buFont typeface="Wingdings" charset="2"/>
              <a:buChar char=""/>
            </a:pPr>
            <a:r>
              <a:rPr lang="pt-BR" sz="1800" b="0" strike="noStrike" spc="-1">
                <a:solidFill>
                  <a:srgbClr val="000000"/>
                </a:solidFill>
                <a:uFill>
                  <a:solidFill>
                    <a:srgbClr val="FFFFFF"/>
                  </a:solidFill>
                </a:uFill>
                <a:latin typeface="Arial"/>
              </a:rPr>
              <a:t>6.º nível da estrutura de tópicos</a:t>
            </a:r>
          </a:p>
          <a:p>
            <a:pPr marL="3024000" lvl="6" indent="-216000">
              <a:buClr>
                <a:srgbClr val="000000"/>
              </a:buClr>
              <a:buSzPct val="45000"/>
              <a:buFont typeface="Wingdings" charset="2"/>
              <a:buChar char=""/>
            </a:pPr>
            <a:r>
              <a:rPr lang="pt-BR" sz="1800" b="0" strike="noStrike" spc="-1">
                <a:solidFill>
                  <a:srgbClr val="000000"/>
                </a:solidFill>
                <a:uFill>
                  <a:solidFill>
                    <a:srgbClr val="FFFFFF"/>
                  </a:solidFill>
                </a:uFill>
                <a:latin typeface="Arial"/>
              </a:rPr>
              <a:t>7.º nível da estrutura de tópicos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6" name="PlaceHolder 1"/>
          <p:cNvSpPr>
            <a:spLocks noGrp="1"/>
          </p:cNvSpPr>
          <p:nvPr>
            <p:ph type="title"/>
          </p:nvPr>
        </p:nvSpPr>
        <p:spPr>
          <a:xfrm>
            <a:off x="457200" y="273600"/>
            <a:ext cx="8229240" cy="1144800"/>
          </a:xfrm>
          <a:prstGeom prst="rect">
            <a:avLst/>
          </a:prstGeom>
        </p:spPr>
        <p:txBody>
          <a:bodyPr lIns="0" tIns="0" rIns="0" bIns="0" anchor="ctr"/>
          <a:lstStyle/>
          <a:p>
            <a:pPr algn="ctr"/>
            <a:r>
              <a:rPr lang="pt-BR" sz="4400" b="0" strike="noStrike" spc="-1">
                <a:solidFill>
                  <a:srgbClr val="000000"/>
                </a:solidFill>
                <a:uFill>
                  <a:solidFill>
                    <a:srgbClr val="FFFFFF"/>
                  </a:solidFill>
                </a:uFill>
                <a:latin typeface="Arial"/>
              </a:rPr>
              <a:t>Clique para editar o formato do texto do título</a:t>
            </a:r>
          </a:p>
        </p:txBody>
      </p:sp>
      <p:sp>
        <p:nvSpPr>
          <p:cNvPr id="37" name="PlaceHolder 2"/>
          <p:cNvSpPr>
            <a:spLocks noGrp="1"/>
          </p:cNvSpPr>
          <p:nvPr>
            <p:ph type="body"/>
          </p:nvPr>
        </p:nvSpPr>
        <p:spPr>
          <a:xfrm>
            <a:off x="457200" y="1604520"/>
            <a:ext cx="8229240" cy="3977280"/>
          </a:xfrm>
          <a:prstGeom prst="rect">
            <a:avLst/>
          </a:prstGeom>
        </p:spPr>
        <p:txBody>
          <a:bodyPr lIns="0" tIns="0" rIns="0" bIns="0"/>
          <a:lstStyle/>
          <a:p>
            <a:pPr marL="432000" indent="-324000">
              <a:buClr>
                <a:srgbClr val="000000"/>
              </a:buClr>
              <a:buSzPct val="45000"/>
              <a:buFont typeface="Wingdings" charset="2"/>
              <a:buChar char=""/>
            </a:pPr>
            <a:r>
              <a:rPr lang="pt-BR" sz="3200" b="0" strike="noStrike" spc="-1">
                <a:solidFill>
                  <a:srgbClr val="000000"/>
                </a:solidFill>
                <a:uFill>
                  <a:solidFill>
                    <a:srgbClr val="FFFFFF"/>
                  </a:solidFill>
                </a:uFill>
                <a:latin typeface="Arial"/>
              </a:rPr>
              <a:t>Clique para editar o formato do texto da estrutura de tópicos</a:t>
            </a:r>
          </a:p>
          <a:p>
            <a:pPr marL="864000" lvl="1" indent="-324000">
              <a:buClr>
                <a:srgbClr val="000000"/>
              </a:buClr>
              <a:buSzPct val="75000"/>
              <a:buFont typeface="Symbol" charset="2"/>
              <a:buChar char=""/>
            </a:pPr>
            <a:r>
              <a:rPr lang="pt-BR" sz="2800" b="0" strike="noStrike" spc="-1">
                <a:solidFill>
                  <a:srgbClr val="000000"/>
                </a:solidFill>
                <a:uFill>
                  <a:solidFill>
                    <a:srgbClr val="FFFFFF"/>
                  </a:solidFill>
                </a:uFill>
                <a:latin typeface="Arial"/>
              </a:rPr>
              <a:t>2.º nível da estrutura de tópicos</a:t>
            </a:r>
          </a:p>
          <a:p>
            <a:pPr marL="1296000" lvl="2" indent="-288000">
              <a:buClr>
                <a:srgbClr val="000000"/>
              </a:buClr>
              <a:buSzPct val="45000"/>
              <a:buFont typeface="Wingdings" charset="2"/>
              <a:buChar char=""/>
            </a:pPr>
            <a:r>
              <a:rPr lang="pt-BR" sz="2400" b="0" strike="noStrike" spc="-1">
                <a:solidFill>
                  <a:srgbClr val="000000"/>
                </a:solidFill>
                <a:uFill>
                  <a:solidFill>
                    <a:srgbClr val="FFFFFF"/>
                  </a:solidFill>
                </a:uFill>
                <a:latin typeface="Arial"/>
              </a:rPr>
              <a:t>3.º nível da estrutura de tópicos</a:t>
            </a:r>
          </a:p>
          <a:p>
            <a:pPr marL="1728000" lvl="3" indent="-216000">
              <a:buClr>
                <a:srgbClr val="000000"/>
              </a:buClr>
              <a:buSzPct val="75000"/>
              <a:buFont typeface="Symbol" charset="2"/>
              <a:buChar char=""/>
            </a:pPr>
            <a:r>
              <a:rPr lang="pt-BR" sz="2000" b="0" strike="noStrike" spc="-1">
                <a:solidFill>
                  <a:srgbClr val="000000"/>
                </a:solidFill>
                <a:uFill>
                  <a:solidFill>
                    <a:srgbClr val="FFFFFF"/>
                  </a:solidFill>
                </a:uFill>
                <a:latin typeface="Arial"/>
              </a:rPr>
              <a:t>4.º nível da estrutura de tópicos</a:t>
            </a:r>
          </a:p>
          <a:p>
            <a:pPr marL="2160000" lvl="4" indent="-216000">
              <a:buClr>
                <a:srgbClr val="000000"/>
              </a:buClr>
              <a:buSzPct val="45000"/>
              <a:buFont typeface="Wingdings" charset="2"/>
              <a:buChar char=""/>
            </a:pPr>
            <a:r>
              <a:rPr lang="pt-BR" sz="2000" b="0" strike="noStrike" spc="-1">
                <a:solidFill>
                  <a:srgbClr val="000000"/>
                </a:solidFill>
                <a:uFill>
                  <a:solidFill>
                    <a:srgbClr val="FFFFFF"/>
                  </a:solidFill>
                </a:uFill>
                <a:latin typeface="Arial"/>
              </a:rPr>
              <a:t>5.º nível da estrutura de tópicos</a:t>
            </a:r>
          </a:p>
          <a:p>
            <a:pPr marL="2592000" lvl="5" indent="-216000">
              <a:buClr>
                <a:srgbClr val="000000"/>
              </a:buClr>
              <a:buSzPct val="45000"/>
              <a:buFont typeface="Wingdings" charset="2"/>
              <a:buChar char=""/>
            </a:pPr>
            <a:r>
              <a:rPr lang="pt-BR" sz="2000" b="0" strike="noStrike" spc="-1">
                <a:solidFill>
                  <a:srgbClr val="000000"/>
                </a:solidFill>
                <a:uFill>
                  <a:solidFill>
                    <a:srgbClr val="FFFFFF"/>
                  </a:solidFill>
                </a:uFill>
                <a:latin typeface="Arial"/>
              </a:rPr>
              <a:t>6.º nível da estrutura de tópicos</a:t>
            </a:r>
          </a:p>
          <a:p>
            <a:pPr marL="3024000" lvl="6" indent="-216000">
              <a:buClr>
                <a:srgbClr val="000000"/>
              </a:buClr>
              <a:buSzPct val="45000"/>
              <a:buFont typeface="Wingdings" charset="2"/>
              <a:buChar char=""/>
            </a:pPr>
            <a:r>
              <a:rPr lang="pt-BR" sz="2000" b="0" strike="noStrike" spc="-1">
                <a:solidFill>
                  <a:srgbClr val="000000"/>
                </a:solidFill>
                <a:uFill>
                  <a:solidFill>
                    <a:srgbClr val="FFFFFF"/>
                  </a:solidFill>
                </a:uFill>
                <a:latin typeface="Arial"/>
              </a:rPr>
              <a:t>7.º nível da estrutura de tópicos</a:t>
            </a: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p:bodyStyle/>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13.xml"/><Relationship Id="rId5" Type="http://schemas.openxmlformats.org/officeDocument/2006/relationships/image" Target="../media/image5.jpe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2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3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4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9.xml"/><Relationship Id="rId1" Type="http://schemas.openxmlformats.org/officeDocument/2006/relationships/slideLayout" Target="../slideLayouts/slideLayout13.xml"/><Relationship Id="rId5" Type="http://schemas.openxmlformats.org/officeDocument/2006/relationships/image" Target="../media/image6.png"/><Relationship Id="rId4" Type="http://schemas.openxmlformats.org/officeDocument/2006/relationships/image" Target="../media/image4.png"/></Relationships>
</file>

<file path=ppt/slides/_rels/slide5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4.xml"/><Relationship Id="rId1" Type="http://schemas.openxmlformats.org/officeDocument/2006/relationships/slideLayout" Target="../slideLayouts/slideLayout13.xml"/><Relationship Id="rId5" Type="http://schemas.openxmlformats.org/officeDocument/2006/relationships/image" Target="../media/image7.png"/><Relationship Id="rId4" Type="http://schemas.openxmlformats.org/officeDocument/2006/relationships/image" Target="../media/image4.png"/></Relationships>
</file>

<file path=ppt/slides/_rels/slide5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13.xml"/></Relationships>
</file>

<file path=ppt/slides/_rels/slide7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7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8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8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9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9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1.xml"/><Relationship Id="rId1" Type="http://schemas.openxmlformats.org/officeDocument/2006/relationships/slideLayout" Target="../slideLayouts/slideLayout13.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4.png"/></Relationships>
</file>

<file path=ppt/slides/_rels/slide10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2.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3.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5.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6.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0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7.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8.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09.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0.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1.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1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2.xml"/><Relationship Id="rId1" Type="http://schemas.openxmlformats.org/officeDocument/2006/relationships/slideLayout" Target="../slideLayouts/slideLayout13.xml"/><Relationship Id="rId5" Type="http://schemas.openxmlformats.org/officeDocument/2006/relationships/image" Target="../media/image11.png"/><Relationship Id="rId4" Type="http://schemas.openxmlformats.org/officeDocument/2006/relationships/image" Target="../media/image10.png"/></Relationships>
</file>

<file path=ppt/slides/_rels/slide11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3.xml"/><Relationship Id="rId1" Type="http://schemas.openxmlformats.org/officeDocument/2006/relationships/slideLayout" Target="../slideLayouts/slideLayout13.xml"/><Relationship Id="rId4" Type="http://schemas.openxmlformats.org/officeDocument/2006/relationships/image" Target="../media/image10.png"/></Relationships>
</file>

<file path=ppt/slides/_rels/slide1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14.xml"/><Relationship Id="rId1" Type="http://schemas.openxmlformats.org/officeDocument/2006/relationships/slideLayout" Target="../slideLayouts/slideLayout13.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CustomShape 1"/>
          <p:cNvSpPr/>
          <p:nvPr/>
        </p:nvSpPr>
        <p:spPr>
          <a:xfrm>
            <a:off x="685800" y="2130480"/>
            <a:ext cx="7771320" cy="1468800"/>
          </a:xfrm>
          <a:prstGeom prst="rect">
            <a:avLst/>
          </a:prstGeom>
          <a:noFill/>
          <a:ln>
            <a:noFill/>
          </a:ln>
        </p:spPr>
        <p:style>
          <a:lnRef idx="0">
            <a:scrgbClr r="0" g="0" b="0"/>
          </a:lnRef>
          <a:fillRef idx="0">
            <a:scrgbClr r="0" g="0" b="0"/>
          </a:fillRef>
          <a:effectRef idx="0">
            <a:scrgbClr r="0" g="0" b="0"/>
          </a:effectRef>
          <a:fontRef idx="minor"/>
        </p:style>
      </p:sp>
      <p:sp>
        <p:nvSpPr>
          <p:cNvPr id="73" name="CustomShape 2"/>
          <p:cNvSpPr/>
          <p:nvPr/>
        </p:nvSpPr>
        <p:spPr>
          <a:xfrm>
            <a:off x="1371600" y="3886200"/>
            <a:ext cx="6399720" cy="1751400"/>
          </a:xfrm>
          <a:prstGeom prst="rect">
            <a:avLst/>
          </a:prstGeom>
          <a:noFill/>
          <a:ln>
            <a:noFill/>
          </a:ln>
        </p:spPr>
        <p:style>
          <a:lnRef idx="0">
            <a:scrgbClr r="0" g="0" b="0"/>
          </a:lnRef>
          <a:fillRef idx="0">
            <a:scrgbClr r="0" g="0" b="0"/>
          </a:fillRef>
          <a:effectRef idx="0">
            <a:scrgbClr r="0" g="0" b="0"/>
          </a:effectRef>
          <a:fontRef idx="minor"/>
        </p:style>
      </p:sp>
      <p:pic>
        <p:nvPicPr>
          <p:cNvPr id="74" name="Picture 2"/>
          <p:cNvPicPr/>
          <p:nvPr/>
        </p:nvPicPr>
        <p:blipFill>
          <a:blip r:embed="rId3"/>
          <a:stretch/>
        </p:blipFill>
        <p:spPr>
          <a:xfrm>
            <a:off x="0" y="360"/>
            <a:ext cx="9142920" cy="6856920"/>
          </a:xfrm>
          <a:prstGeom prst="rect">
            <a:avLst/>
          </a:prstGeom>
          <a:ln>
            <a:noFill/>
          </a:ln>
        </p:spPr>
      </p:pic>
      <p:sp>
        <p:nvSpPr>
          <p:cNvPr id="75" name="CustomShape 3"/>
          <p:cNvSpPr/>
          <p:nvPr/>
        </p:nvSpPr>
        <p:spPr>
          <a:xfrm>
            <a:off x="42120" y="6408000"/>
            <a:ext cx="2045160" cy="287280"/>
          </a:xfrm>
          <a:prstGeom prst="rect">
            <a:avLst/>
          </a:prstGeom>
          <a:noFill/>
          <a:ln>
            <a:noFill/>
          </a:ln>
        </p:spPr>
        <p:style>
          <a:lnRef idx="0">
            <a:scrgbClr r="0" g="0" b="0"/>
          </a:lnRef>
          <a:fillRef idx="0">
            <a:scrgbClr r="0" g="0" b="0"/>
          </a:fillRef>
          <a:effectRef idx="0">
            <a:scrgbClr r="0" g="0" b="0"/>
          </a:effectRef>
          <a:fontRef idx="minor"/>
        </p:style>
      </p:sp>
      <p:sp>
        <p:nvSpPr>
          <p:cNvPr id="2" name="CaixaDeTexto 1"/>
          <p:cNvSpPr txBox="1"/>
          <p:nvPr/>
        </p:nvSpPr>
        <p:spPr>
          <a:xfrm>
            <a:off x="899592" y="2864880"/>
            <a:ext cx="7557528" cy="369332"/>
          </a:xfrm>
          <a:prstGeom prst="rect">
            <a:avLst/>
          </a:prstGeom>
          <a:noFill/>
        </p:spPr>
        <p:txBody>
          <a:bodyPr wrap="square" rtlCol="0">
            <a:spAutoFit/>
          </a:bodyPr>
          <a:lstStyle/>
          <a:p>
            <a:endParaRPr lang="pt-BR" dirty="0"/>
          </a:p>
        </p:txBody>
      </p:sp>
      <p:sp>
        <p:nvSpPr>
          <p:cNvPr id="3" name="CaixaDeTexto 2"/>
          <p:cNvSpPr txBox="1"/>
          <p:nvPr/>
        </p:nvSpPr>
        <p:spPr>
          <a:xfrm>
            <a:off x="395536" y="3049546"/>
            <a:ext cx="7992888" cy="2062103"/>
          </a:xfrm>
          <a:prstGeom prst="rect">
            <a:avLst/>
          </a:prstGeom>
          <a:noFill/>
        </p:spPr>
        <p:txBody>
          <a:bodyPr wrap="square" rtlCol="0">
            <a:spAutoFit/>
          </a:bodyPr>
          <a:lstStyle/>
          <a:p>
            <a:pPr indent="540000" algn="ctr"/>
            <a:endParaRPr lang="pt-BR" sz="4400" b="1" dirty="0" smtClean="0">
              <a:solidFill>
                <a:schemeClr val="accent1">
                  <a:lumMod val="75000"/>
                </a:schemeClr>
              </a:solidFill>
              <a:latin typeface="Times New Roman" pitchFamily="18" charset="0"/>
              <a:cs typeface="Times New Roman" pitchFamily="18" charset="0"/>
            </a:endParaRPr>
          </a:p>
          <a:p>
            <a:pPr indent="540000" algn="ctr"/>
            <a:r>
              <a:rPr lang="pt-BR" sz="4400" b="1" dirty="0" smtClean="0">
                <a:solidFill>
                  <a:srgbClr val="FFC000"/>
                </a:solidFill>
                <a:latin typeface="Times New Roman" pitchFamily="18" charset="0"/>
                <a:cs typeface="Times New Roman" pitchFamily="18" charset="0"/>
              </a:rPr>
              <a:t>e-SOCIAL</a:t>
            </a:r>
          </a:p>
          <a:p>
            <a:pPr indent="540000" algn="ctr"/>
            <a:endParaRPr lang="pt-BR" sz="4000" b="1" dirty="0" smtClean="0">
              <a:solidFill>
                <a:schemeClr val="accent1">
                  <a:lumMod val="75000"/>
                </a:schemeClr>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1080" y="0"/>
            <a:ext cx="9142920" cy="707121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dirty="0">
                <a:solidFill>
                  <a:srgbClr val="595959"/>
                </a:solidFill>
                <a:uFill>
                  <a:solidFill>
                    <a:srgbClr val="FFFFFF"/>
                  </a:solidFill>
                </a:uFill>
                <a:latin typeface="Calibri"/>
                <a:ea typeface="DejaVu Sans"/>
              </a:rPr>
              <a:t>www.escolaseac.com</a:t>
            </a:r>
            <a:endParaRPr lang="pt-BR" sz="1800" b="0" strike="noStrike" spc="-1" dirty="0">
              <a:solidFill>
                <a:srgbClr val="000000"/>
              </a:solidFill>
              <a:uFill>
                <a:solidFill>
                  <a:srgbClr val="FFFFFF"/>
                </a:solidFill>
              </a:uFill>
              <a:latin typeface="Arial"/>
            </a:endParaRPr>
          </a:p>
        </p:txBody>
      </p:sp>
      <p:sp>
        <p:nvSpPr>
          <p:cNvPr id="3" name="CaixaDeTexto 2"/>
          <p:cNvSpPr txBox="1"/>
          <p:nvPr/>
        </p:nvSpPr>
        <p:spPr>
          <a:xfrm>
            <a:off x="412020" y="1357468"/>
            <a:ext cx="7801200" cy="9264075"/>
          </a:xfrm>
          <a:prstGeom prst="rect">
            <a:avLst/>
          </a:prstGeom>
          <a:noFill/>
        </p:spPr>
        <p:txBody>
          <a:bodyPr wrap="square" rtlCol="0">
            <a:spAutoFit/>
          </a:bodyPr>
          <a:lstStyle/>
          <a:p>
            <a:pPr algn="ctr" fontAlgn="base"/>
            <a:r>
              <a:rPr lang="pt-BR" sz="3600" b="1" dirty="0" smtClean="0">
                <a:solidFill>
                  <a:srgbClr val="FFC000"/>
                </a:solidFill>
                <a:latin typeface="Times New Roman" pitchFamily="18" charset="0"/>
                <a:cs typeface="Times New Roman" pitchFamily="18" charset="0"/>
              </a:rPr>
              <a:t>Entenda o </a:t>
            </a:r>
            <a:r>
              <a:rPr lang="pt-BR" sz="3600" b="1" dirty="0" err="1" smtClean="0">
                <a:solidFill>
                  <a:srgbClr val="FFC000"/>
                </a:solidFill>
                <a:latin typeface="Times New Roman" pitchFamily="18" charset="0"/>
                <a:cs typeface="Times New Roman" pitchFamily="18" charset="0"/>
              </a:rPr>
              <a:t>eSocial</a:t>
            </a:r>
            <a:endParaRPr lang="pt-BR" sz="3600" b="1" dirty="0" smtClean="0">
              <a:solidFill>
                <a:srgbClr val="FFC000"/>
              </a:solidFill>
              <a:latin typeface="Times New Roman" pitchFamily="18" charset="0"/>
              <a:cs typeface="Times New Roman" pitchFamily="18" charset="0"/>
            </a:endParaRPr>
          </a:p>
          <a:p>
            <a:pPr indent="540000" algn="just" fontAlgn="base"/>
            <a:r>
              <a:rPr lang="pt-BR" sz="2800" dirty="0" smtClean="0">
                <a:solidFill>
                  <a:srgbClr val="FF0000"/>
                </a:solidFill>
                <a:latin typeface="Times New Roman" pitchFamily="18" charset="0"/>
                <a:cs typeface="Times New Roman" pitchFamily="18" charset="0"/>
              </a:rPr>
              <a:t>Obrigatório a partir de janeiro/2018;</a:t>
            </a:r>
          </a:p>
          <a:p>
            <a:pPr indent="540000" algn="just" fontAlgn="base"/>
            <a:endParaRPr lang="pt-BR" sz="2800" dirty="0">
              <a:solidFill>
                <a:srgbClr val="FF0000"/>
              </a:solidFill>
              <a:latin typeface="Times New Roman" pitchFamily="18" charset="0"/>
              <a:cs typeface="Times New Roman" pitchFamily="18" charset="0"/>
            </a:endParaRPr>
          </a:p>
          <a:p>
            <a:pPr indent="540000" algn="just" fontAlgn="base"/>
            <a:r>
              <a:rPr lang="pt-BR" sz="2800" dirty="0" smtClean="0">
                <a:solidFill>
                  <a:srgbClr val="FF0000"/>
                </a:solidFill>
                <a:latin typeface="Times New Roman" pitchFamily="18" charset="0"/>
                <a:cs typeface="Times New Roman" pitchFamily="18" charset="0"/>
              </a:rPr>
              <a:t>Nova forma de prestação de informações no mundo do trabalho;</a:t>
            </a:r>
            <a:r>
              <a:rPr lang="pt-BR" sz="2800" dirty="0" smtClean="0">
                <a:solidFill>
                  <a:schemeClr val="accent1">
                    <a:lumMod val="75000"/>
                  </a:schemeClr>
                </a:solidFill>
                <a:latin typeface="Times New Roman" pitchFamily="18" charset="0"/>
                <a:cs typeface="Times New Roman" pitchFamily="18" charset="0"/>
              </a:rPr>
              <a:t> </a:t>
            </a:r>
          </a:p>
          <a:p>
            <a:pPr indent="540000" algn="just" fontAlgn="base"/>
            <a:endParaRPr lang="pt-BR" sz="2800" dirty="0">
              <a:solidFill>
                <a:schemeClr val="accent1">
                  <a:lumMod val="75000"/>
                </a:schemeClr>
              </a:solidFill>
              <a:latin typeface="Times New Roman" pitchFamily="18" charset="0"/>
              <a:cs typeface="Times New Roman" pitchFamily="18" charset="0"/>
            </a:endParaRPr>
          </a:p>
          <a:p>
            <a:pPr indent="540000" algn="just" fontAlgn="base"/>
            <a:r>
              <a:rPr lang="pt-BR" sz="2800" dirty="0" smtClean="0">
                <a:solidFill>
                  <a:srgbClr val="FF0000"/>
                </a:solidFill>
                <a:latin typeface="Times New Roman" pitchFamily="18" charset="0"/>
                <a:cs typeface="Times New Roman" pitchFamily="18" charset="0"/>
              </a:rPr>
              <a:t>Atingirá 18  milhões de empregadores e 44 milhões de trabalhadores. </a:t>
            </a:r>
          </a:p>
          <a:p>
            <a:pPr indent="540000" algn="just" fontAlgn="base"/>
            <a:r>
              <a:rPr lang="pt-BR" sz="2800" dirty="0" smtClean="0">
                <a:solidFill>
                  <a:schemeClr val="accent1">
                    <a:lumMod val="75000"/>
                  </a:schemeClr>
                </a:solidFill>
                <a:latin typeface="Times New Roman" pitchFamily="18" charset="0"/>
                <a:cs typeface="Times New Roman" pitchFamily="18" charset="0"/>
              </a:rPr>
              <a:t>  </a:t>
            </a:r>
          </a:p>
          <a:p>
            <a:pPr indent="540000" algn="just" fontAlgn="base"/>
            <a:r>
              <a:rPr lang="pt-BR" sz="2800" dirty="0" smtClean="0">
                <a:solidFill>
                  <a:srgbClr val="FF0000"/>
                </a:solidFill>
                <a:latin typeface="Times New Roman" pitchFamily="18" charset="0"/>
                <a:cs typeface="Times New Roman" pitchFamily="18" charset="0"/>
              </a:rPr>
              <a:t>Projeto Conjunto do Governo Federal, Caixa Econômica Federal, Previdência Social, Receita Federal e Ministério do Trabalho.      </a:t>
            </a:r>
          </a:p>
          <a:p>
            <a:pPr fontAlgn="base"/>
            <a:endParaRPr lang="pt-BR" sz="2800" dirty="0" smtClean="0">
              <a:solidFill>
                <a:schemeClr val="accent1">
                  <a:lumMod val="75000"/>
                </a:schemeClr>
              </a:solidFill>
              <a:latin typeface="Times New Roman" pitchFamily="18" charset="0"/>
              <a:cs typeface="Times New Roman" pitchFamily="18" charset="0"/>
            </a:endParaRPr>
          </a:p>
          <a:p>
            <a:pPr fontAlgn="base"/>
            <a:endParaRPr lang="pt-BR" sz="2800" dirty="0" smtClean="0">
              <a:solidFill>
                <a:schemeClr val="accent1">
                  <a:lumMod val="75000"/>
                </a:schemeClr>
              </a:solidFill>
              <a:latin typeface="Times New Roman" pitchFamily="18" charset="0"/>
              <a:cs typeface="Times New Roman" pitchFamily="18" charset="0"/>
            </a:endParaRPr>
          </a:p>
          <a:p>
            <a:pPr fontAlgn="base"/>
            <a:endParaRPr lang="pt-BR" sz="2800" dirty="0" smtClean="0">
              <a:solidFill>
                <a:schemeClr val="accent1">
                  <a:lumMod val="75000"/>
                </a:schemeClr>
              </a:solidFill>
              <a:latin typeface="Times New Roman" pitchFamily="18" charset="0"/>
              <a:cs typeface="Times New Roman" pitchFamily="18" charset="0"/>
            </a:endParaRPr>
          </a:p>
          <a:p>
            <a:pPr fontAlgn="base"/>
            <a:endParaRPr lang="pt-BR" sz="2800" dirty="0" smtClean="0">
              <a:solidFill>
                <a:schemeClr val="accent1">
                  <a:lumMod val="75000"/>
                </a:schemeClr>
              </a:solidFill>
              <a:latin typeface="Times New Roman" pitchFamily="18" charset="0"/>
              <a:cs typeface="Times New Roman" pitchFamily="18" charset="0"/>
            </a:endParaRPr>
          </a:p>
          <a:p>
            <a:pPr fontAlgn="base"/>
            <a:endParaRPr lang="pt-BR" sz="2800" dirty="0">
              <a:solidFill>
                <a:schemeClr val="accent1">
                  <a:lumMod val="75000"/>
                </a:schemeClr>
              </a:solidFill>
              <a:latin typeface="Times New Roman" pitchFamily="18" charset="0"/>
              <a:cs typeface="Times New Roman" pitchFamily="18" charset="0"/>
            </a:endParaRPr>
          </a:p>
          <a:p>
            <a:pPr fontAlgn="base"/>
            <a:endParaRPr lang="pt-BR" sz="2800" dirty="0" smtClean="0">
              <a:solidFill>
                <a:schemeClr val="accent1">
                  <a:lumMod val="75000"/>
                </a:schemeClr>
              </a:solidFill>
              <a:latin typeface="Times New Roman" pitchFamily="18" charset="0"/>
              <a:cs typeface="Times New Roman" pitchFamily="18" charset="0"/>
            </a:endParaRPr>
          </a:p>
          <a:p>
            <a:pPr fontAlgn="base"/>
            <a:endParaRPr lang="pt-BR" sz="2800" dirty="0">
              <a:solidFill>
                <a:schemeClr val="accent1">
                  <a:lumMod val="75000"/>
                </a:schemeClr>
              </a:solidFill>
              <a:latin typeface="Times New Roman" pitchFamily="18" charset="0"/>
              <a:cs typeface="Times New Roman" pitchFamily="18" charset="0"/>
            </a:endParaRPr>
          </a:p>
          <a:p>
            <a:pPr fontAlgn="base"/>
            <a:endParaRPr lang="pt-BR" sz="2800" dirty="0" smtClean="0">
              <a:solidFill>
                <a:schemeClr val="accent1">
                  <a:lumMod val="75000"/>
                </a:schemeClr>
              </a:solidFill>
              <a:latin typeface="Times New Roman" pitchFamily="18" charset="0"/>
              <a:cs typeface="Times New Roman" pitchFamily="18" charset="0"/>
            </a:endParaRPr>
          </a:p>
          <a:p>
            <a:pPr fontAlgn="base"/>
            <a:endParaRPr lang="pt-BR" sz="2800" dirty="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858702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dirty="0">
                <a:solidFill>
                  <a:srgbClr val="595959"/>
                </a:solidFill>
                <a:uFill>
                  <a:solidFill>
                    <a:srgbClr val="FFFFFF"/>
                  </a:solidFill>
                </a:uFill>
                <a:latin typeface="Calibri"/>
                <a:ea typeface="DejaVu Sans"/>
              </a:rPr>
              <a:t>www.escolaseac.com</a:t>
            </a:r>
            <a:endParaRPr lang="pt-BR" sz="1800" b="0" strike="noStrike" spc="-1" dirty="0">
              <a:solidFill>
                <a:srgbClr val="000000"/>
              </a:solidFill>
              <a:uFill>
                <a:solidFill>
                  <a:srgbClr val="FFFFFF"/>
                </a:solidFill>
              </a:uFill>
              <a:latin typeface="Arial"/>
            </a:endParaRPr>
          </a:p>
        </p:txBody>
      </p:sp>
      <p:sp>
        <p:nvSpPr>
          <p:cNvPr id="3" name="CaixaDeTexto 2"/>
          <p:cNvSpPr txBox="1"/>
          <p:nvPr/>
        </p:nvSpPr>
        <p:spPr>
          <a:xfrm>
            <a:off x="412020" y="1344942"/>
            <a:ext cx="7801200" cy="4924425"/>
          </a:xfrm>
          <a:prstGeom prst="rect">
            <a:avLst/>
          </a:prstGeom>
          <a:noFill/>
        </p:spPr>
        <p:txBody>
          <a:bodyPr wrap="square" rtlCol="0">
            <a:spAutoFit/>
          </a:bodyPr>
          <a:lstStyle/>
          <a:p>
            <a:pPr indent="540000" algn="just"/>
            <a:endParaRPr lang="pt-BR" sz="1200" dirty="0" smtClean="0">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Cumprimento de obrigações fiscais, trabalhistas e previdenciárias de forma unificada e organizada;</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Substituição de 15 prestações de informações ao governo, como por exemplo GFIP, RAIS, CAGED e DIRF;</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Benefícios aos trabalhadores - Acesso aos direitos trabalhista e previdenciários de maneira rápida e efetiva. </a:t>
            </a:r>
            <a:endParaRPr lang="pt-BR" sz="2800" dirty="0">
              <a:solidFill>
                <a:srgbClr val="FF0000"/>
              </a:solidFill>
              <a:latin typeface="Times New Roman" pitchFamily="18" charset="0"/>
              <a:cs typeface="Times New Roman" pitchFamily="18" charset="0"/>
            </a:endParaRPr>
          </a:p>
          <a:p>
            <a:pPr algn="ctr"/>
            <a:r>
              <a:rPr lang="pt-BR" sz="1000" b="1" dirty="0" smtClean="0">
                <a:solidFill>
                  <a:srgbClr val="FF0000"/>
                </a:solidFill>
                <a:latin typeface="Times New Roman" pitchFamily="18" charset="0"/>
                <a:cs typeface="Times New Roman" pitchFamily="18" charset="0"/>
              </a:rPr>
              <a:t> </a:t>
            </a:r>
          </a:p>
        </p:txBody>
      </p:sp>
    </p:spTree>
    <p:extLst>
      <p:ext uri="{BB962C8B-B14F-4D97-AF65-F5344CB8AC3E}">
        <p14:creationId xmlns:p14="http://schemas.microsoft.com/office/powerpoint/2010/main" val="78834333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dirty="0">
                <a:solidFill>
                  <a:srgbClr val="595959"/>
                </a:solidFill>
                <a:uFill>
                  <a:solidFill>
                    <a:srgbClr val="FFFFFF"/>
                  </a:solidFill>
                </a:uFill>
                <a:latin typeface="Calibri"/>
                <a:ea typeface="DejaVu Sans"/>
              </a:rPr>
              <a:t>www.escolaseac.com</a:t>
            </a:r>
            <a:endParaRPr lang="pt-BR" sz="1800" b="0" strike="noStrike" spc="-1" dirty="0">
              <a:solidFill>
                <a:srgbClr val="000000"/>
              </a:solidFill>
              <a:uFill>
                <a:solidFill>
                  <a:srgbClr val="FFFFFF"/>
                </a:solidFill>
              </a:uFill>
              <a:latin typeface="Arial"/>
            </a:endParaRPr>
          </a:p>
        </p:txBody>
      </p:sp>
      <p:sp>
        <p:nvSpPr>
          <p:cNvPr id="3" name="CaixaDeTexto 2"/>
          <p:cNvSpPr txBox="1"/>
          <p:nvPr/>
        </p:nvSpPr>
        <p:spPr>
          <a:xfrm>
            <a:off x="412020" y="1344942"/>
            <a:ext cx="7801200" cy="4247317"/>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Principais Desafios do </a:t>
            </a:r>
            <a:r>
              <a:rPr lang="pt-BR" sz="3600" b="1" dirty="0" err="1" smtClean="0">
                <a:solidFill>
                  <a:srgbClr val="FFC000"/>
                </a:solidFill>
                <a:latin typeface="Times New Roman" pitchFamily="18" charset="0"/>
                <a:cs typeface="Times New Roman" pitchFamily="18" charset="0"/>
              </a:rPr>
              <a:t>eSocial</a:t>
            </a:r>
            <a:r>
              <a:rPr lang="pt-BR" sz="3600" b="1" dirty="0" smtClean="0">
                <a:solidFill>
                  <a:srgbClr val="FFC000"/>
                </a:solidFill>
                <a:latin typeface="Times New Roman" pitchFamily="18" charset="0"/>
                <a:cs typeface="Times New Roman" pitchFamily="18" charset="0"/>
              </a:rPr>
              <a:t>:</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Validação Cadastral;</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Mudança de Cultura das Organizações;</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Adaptação de Novos Procedimentos na Área Trabalhista.</a:t>
            </a:r>
          </a:p>
          <a:p>
            <a:pPr indent="540000" algn="just"/>
            <a:endParaRPr lang="pt-BR" sz="2800" dirty="0" smtClean="0">
              <a:solidFill>
                <a:srgbClr val="FF0000"/>
              </a:solidFill>
              <a:latin typeface="Times New Roman" pitchFamily="18" charset="0"/>
              <a:cs typeface="Times New Roman" pitchFamily="18" charset="0"/>
            </a:endParaRPr>
          </a:p>
          <a:p>
            <a:pPr algn="ctr"/>
            <a:r>
              <a:rPr lang="pt-BR" sz="1000" b="1" dirty="0" smtClean="0">
                <a:solidFill>
                  <a:srgbClr val="FF0000"/>
                </a:solidFill>
                <a:latin typeface="Times New Roman" pitchFamily="18" charset="0"/>
                <a:cs typeface="Times New Roman" pitchFamily="18" charset="0"/>
              </a:rPr>
              <a:t> </a:t>
            </a:r>
          </a:p>
        </p:txBody>
      </p:sp>
    </p:spTree>
    <p:extLst>
      <p:ext uri="{BB962C8B-B14F-4D97-AF65-F5344CB8AC3E}">
        <p14:creationId xmlns:p14="http://schemas.microsoft.com/office/powerpoint/2010/main" val="52290166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dirty="0">
                <a:solidFill>
                  <a:srgbClr val="595959"/>
                </a:solidFill>
                <a:uFill>
                  <a:solidFill>
                    <a:srgbClr val="FFFFFF"/>
                  </a:solidFill>
                </a:uFill>
                <a:latin typeface="Calibri"/>
                <a:ea typeface="DejaVu Sans"/>
              </a:rPr>
              <a:t>www.escolaseac.com</a:t>
            </a:r>
            <a:endParaRPr lang="pt-BR" sz="1800" b="0" strike="noStrike" spc="-1" dirty="0">
              <a:solidFill>
                <a:srgbClr val="000000"/>
              </a:solidFill>
              <a:uFill>
                <a:solidFill>
                  <a:srgbClr val="FFFFFF"/>
                </a:solidFill>
              </a:uFill>
              <a:latin typeface="Arial"/>
            </a:endParaRPr>
          </a:p>
        </p:txBody>
      </p:sp>
      <p:sp>
        <p:nvSpPr>
          <p:cNvPr id="3" name="CaixaDeTexto 2"/>
          <p:cNvSpPr txBox="1"/>
          <p:nvPr/>
        </p:nvSpPr>
        <p:spPr>
          <a:xfrm>
            <a:off x="412020" y="1344942"/>
            <a:ext cx="7801200" cy="5386090"/>
          </a:xfrm>
          <a:prstGeom prst="rect">
            <a:avLst/>
          </a:prstGeom>
          <a:noFill/>
        </p:spPr>
        <p:txBody>
          <a:bodyPr wrap="square" rtlCol="0">
            <a:spAutoFit/>
          </a:bodyPr>
          <a:lstStyle/>
          <a:p>
            <a:pPr algn="ctr"/>
            <a:r>
              <a:rPr lang="pt-BR" sz="2800" dirty="0" smtClean="0">
                <a:latin typeface="Times New Roman" pitchFamily="18" charset="0"/>
                <a:cs typeface="Times New Roman" pitchFamily="18" charset="0"/>
              </a:rPr>
              <a:t>       </a:t>
            </a:r>
            <a:r>
              <a:rPr lang="pt-BR" sz="3600" b="1" dirty="0" smtClean="0">
                <a:solidFill>
                  <a:srgbClr val="FFC000"/>
                </a:solidFill>
                <a:latin typeface="Times New Roman" pitchFamily="18" charset="0"/>
                <a:cs typeface="Times New Roman" pitchFamily="18" charset="0"/>
              </a:rPr>
              <a:t>Portal Simplificado: </a:t>
            </a:r>
            <a:endParaRPr lang="pt-BR" sz="3600" b="1" dirty="0">
              <a:solidFill>
                <a:srgbClr val="FFC000"/>
              </a:solidFill>
              <a:latin typeface="Times New Roman" pitchFamily="18" charset="0"/>
              <a:cs typeface="Times New Roman" pitchFamily="18" charset="0"/>
            </a:endParaRPr>
          </a:p>
          <a:p>
            <a:pPr indent="540000" algn="just"/>
            <a:r>
              <a:rPr lang="pt-BR" sz="2800" dirty="0" smtClean="0">
                <a:latin typeface="Times New Roman" pitchFamily="18" charset="0"/>
                <a:cs typeface="Times New Roman" pitchFamily="18" charset="0"/>
              </a:rPr>
              <a:t> </a:t>
            </a:r>
            <a:endParaRPr lang="pt-BR" sz="2800" dirty="0" smtClean="0">
              <a:solidFill>
                <a:srgbClr val="FF0000"/>
              </a:solidFill>
              <a:latin typeface="Times New Roman" pitchFamily="18" charset="0"/>
              <a:cs typeface="Times New Roman" pitchFamily="18" charset="0"/>
            </a:endParaRPr>
          </a:p>
          <a:p>
            <a:pPr indent="540000" algn="just"/>
            <a:r>
              <a:rPr lang="pt-BR" sz="2800" dirty="0">
                <a:solidFill>
                  <a:srgbClr val="FF0000"/>
                </a:solidFill>
                <a:latin typeface="Times New Roman" pitchFamily="18" charset="0"/>
                <a:cs typeface="Times New Roman" pitchFamily="18" charset="0"/>
              </a:rPr>
              <a:t> </a:t>
            </a:r>
            <a:r>
              <a:rPr lang="pt-BR" sz="2800" dirty="0" smtClean="0">
                <a:solidFill>
                  <a:srgbClr val="FF0000"/>
                </a:solidFill>
                <a:latin typeface="Times New Roman" pitchFamily="18" charset="0"/>
                <a:cs typeface="Times New Roman" pitchFamily="18" charset="0"/>
              </a:rPr>
              <a:t>ME, EPP, </a:t>
            </a:r>
            <a:r>
              <a:rPr lang="pt-BR" sz="2800" dirty="0" err="1" smtClean="0">
                <a:solidFill>
                  <a:srgbClr val="FF0000"/>
                </a:solidFill>
                <a:latin typeface="Times New Roman" pitchFamily="18" charset="0"/>
                <a:cs typeface="Times New Roman" pitchFamily="18" charset="0"/>
              </a:rPr>
              <a:t>MEIs</a:t>
            </a:r>
            <a:r>
              <a:rPr lang="pt-BR" sz="2800" dirty="0" smtClean="0">
                <a:solidFill>
                  <a:srgbClr val="FF0000"/>
                </a:solidFill>
                <a:latin typeface="Times New Roman" pitchFamily="18" charset="0"/>
                <a:cs typeface="Times New Roman" pitchFamily="18" charset="0"/>
              </a:rPr>
              <a:t> poderão se utilizar do Portal Simplificado, que busca facilitar o cumprimento das obrigações fiscais, trabalhistas e previdenciárias para este publico. </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Empregadores domésticos, pequenos produtores rurais e segurados especiais também serão direcionados ao Portal Simplificado. </a:t>
            </a:r>
          </a:p>
          <a:p>
            <a:pPr algn="just"/>
            <a:endParaRPr lang="pt-BR" sz="2800" dirty="0" smtClean="0">
              <a:latin typeface="Times New Roman" pitchFamily="18" charset="0"/>
              <a:cs typeface="Times New Roman" pitchFamily="18" charset="0"/>
            </a:endParaRPr>
          </a:p>
          <a:p>
            <a:pPr algn="just"/>
            <a:endParaRPr lang="pt-BR" sz="28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5131400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3280" cy="702940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611560" y="1344942"/>
            <a:ext cx="7601660" cy="2246769"/>
          </a:xfrm>
          <a:prstGeom prst="rect">
            <a:avLst/>
          </a:prstGeom>
          <a:noFill/>
        </p:spPr>
        <p:txBody>
          <a:bodyPr wrap="square" rtlCol="0">
            <a:spAutoFit/>
          </a:bodyPr>
          <a:lstStyle/>
          <a:p>
            <a:pPr indent="540000" algn="just" fontAlgn="base"/>
            <a:endParaRPr lang="pt-BR" sz="2800" dirty="0">
              <a:latin typeface="Times New Roman" pitchFamily="18" charset="0"/>
              <a:cs typeface="Times New Roman" pitchFamily="18" charset="0"/>
            </a:endParaRPr>
          </a:p>
          <a:p>
            <a:pPr indent="540000" algn="just" fontAlgn="base"/>
            <a:endParaRPr lang="pt-BR" sz="2800" dirty="0" smtClean="0">
              <a:latin typeface="Times New Roman" pitchFamily="18" charset="0"/>
              <a:cs typeface="Times New Roman" pitchFamily="18" charset="0"/>
            </a:endParaRPr>
          </a:p>
          <a:p>
            <a:pPr indent="540000" algn="just" fontAlgn="base"/>
            <a:endParaRPr lang="pt-BR" sz="2800" dirty="0">
              <a:latin typeface="Times New Roman" pitchFamily="18" charset="0"/>
              <a:cs typeface="Times New Roman" pitchFamily="18" charset="0"/>
            </a:endParaRPr>
          </a:p>
          <a:p>
            <a:pPr indent="540000" algn="ctr"/>
            <a:endParaRPr lang="pt-BR" sz="3200" b="1" dirty="0" smtClean="0">
              <a:solidFill>
                <a:schemeClr val="accent1">
                  <a:lumMod val="75000"/>
                </a:schemeClr>
              </a:solidFill>
              <a:latin typeface="Times New Roman" pitchFamily="18" charset="0"/>
              <a:cs typeface="Times New Roman" pitchFamily="18" charset="0"/>
            </a:endParaRPr>
          </a:p>
          <a:p>
            <a:pPr indent="540000" algn="just"/>
            <a:endParaRPr lang="pt-BR" sz="2400" dirty="0" smtClean="0">
              <a:solidFill>
                <a:schemeClr val="accent1">
                  <a:lumMod val="75000"/>
                </a:schemeClr>
              </a:solidFill>
              <a:latin typeface="Times New Roman" pitchFamily="18" charset="0"/>
              <a:cs typeface="Times New Roman" pitchFamily="18" charset="0"/>
            </a:endParaRPr>
          </a:p>
        </p:txBody>
      </p:sp>
      <p:pic>
        <p:nvPicPr>
          <p:cNvPr id="9" name="Imagem 8" descr="http://portal.esocial.gov.br/noticias/esocial-sera-implantado-em-cinco-fases-a-partir-de-janeiro-de-2018/esocial-faseamento.jpg/@@images/76d287e7-40ed-4180-8a6d-614aa8fc992f.jpeg"/>
          <p:cNvPicPr/>
          <p:nvPr/>
        </p:nvPicPr>
        <p:blipFill>
          <a:blip r:embed="rId5"/>
          <a:srcRect/>
          <a:stretch>
            <a:fillRect/>
          </a:stretch>
        </p:blipFill>
        <p:spPr bwMode="auto">
          <a:xfrm>
            <a:off x="357158" y="2214554"/>
            <a:ext cx="8358246" cy="4357718"/>
          </a:xfrm>
          <a:prstGeom prst="rect">
            <a:avLst/>
          </a:prstGeom>
          <a:noFill/>
          <a:ln w="9525">
            <a:noFill/>
            <a:miter lim="800000"/>
            <a:headEnd/>
            <a:tailEnd/>
          </a:ln>
        </p:spPr>
      </p:pic>
      <p:sp>
        <p:nvSpPr>
          <p:cNvPr id="12" name="CaixaDeTexto 11"/>
          <p:cNvSpPr txBox="1"/>
          <p:nvPr/>
        </p:nvSpPr>
        <p:spPr>
          <a:xfrm>
            <a:off x="611560" y="1142985"/>
            <a:ext cx="7128792" cy="646331"/>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Cronograma de Implantação:</a:t>
            </a:r>
            <a:endParaRPr lang="pt-BR" sz="3600" b="1" dirty="0">
              <a:solidFill>
                <a:srgbClr val="FFC000"/>
              </a:solidFill>
              <a:latin typeface="Times New Roman" pitchFamily="18" charset="0"/>
              <a:cs typeface="Times New Roman" pitchFamily="18" charset="0"/>
            </a:endParaRPr>
          </a:p>
        </p:txBody>
      </p:sp>
    </p:spTree>
    <p:extLst>
      <p:ext uri="{BB962C8B-B14F-4D97-AF65-F5344CB8AC3E}">
        <p14:creationId xmlns:p14="http://schemas.microsoft.com/office/powerpoint/2010/main" val="345746797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0" y="108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601582" y="1000108"/>
            <a:ext cx="7601660" cy="4462760"/>
          </a:xfrm>
          <a:prstGeom prst="rect">
            <a:avLst/>
          </a:prstGeom>
          <a:noFill/>
        </p:spPr>
        <p:txBody>
          <a:bodyPr wrap="square" rtlCol="0">
            <a:spAutoFit/>
          </a:bodyPr>
          <a:lstStyle/>
          <a:p>
            <a:pPr indent="540000" algn="ctr" fontAlgn="base"/>
            <a:r>
              <a:rPr lang="pt-BR" sz="3600" b="1" dirty="0" smtClean="0">
                <a:solidFill>
                  <a:srgbClr val="FFC000"/>
                </a:solidFill>
                <a:latin typeface="Times New Roman" pitchFamily="18" charset="0"/>
                <a:cs typeface="Times New Roman" pitchFamily="18" charset="0"/>
              </a:rPr>
              <a:t>Etapa 1 – Grandes Empresas</a:t>
            </a:r>
          </a:p>
          <a:p>
            <a:pPr indent="540000" algn="just" fontAlgn="base"/>
            <a:r>
              <a:rPr lang="pt-BR" sz="2800" dirty="0" smtClean="0">
                <a:latin typeface="Times New Roman" pitchFamily="18" charset="0"/>
                <a:cs typeface="Times New Roman" pitchFamily="18" charset="0"/>
              </a:rPr>
              <a:t> </a:t>
            </a:r>
          </a:p>
          <a:p>
            <a:pPr indent="540000" algn="just" fontAlgn="base"/>
            <a:r>
              <a:rPr lang="pt-BR" sz="2800" b="1" dirty="0" smtClean="0">
                <a:solidFill>
                  <a:srgbClr val="FF0000"/>
                </a:solidFill>
                <a:latin typeface="Times New Roman" pitchFamily="18" charset="0"/>
                <a:cs typeface="Times New Roman" pitchFamily="18" charset="0"/>
              </a:rPr>
              <a:t>Fase 1</a:t>
            </a:r>
            <a:r>
              <a:rPr lang="pt-BR" sz="2800" dirty="0" smtClean="0">
                <a:solidFill>
                  <a:srgbClr val="FF0000"/>
                </a:solidFill>
                <a:latin typeface="Times New Roman" pitchFamily="18" charset="0"/>
                <a:cs typeface="Times New Roman" pitchFamily="18" charset="0"/>
              </a:rPr>
              <a:t>: Janeiro/18 – Cadastros e Tabelas;</a:t>
            </a:r>
          </a:p>
          <a:p>
            <a:pPr indent="540000" algn="just" fontAlgn="base"/>
            <a:endParaRPr lang="pt-BR" sz="2800" dirty="0" smtClean="0">
              <a:solidFill>
                <a:srgbClr val="FF0000"/>
              </a:solidFill>
              <a:latin typeface="Times New Roman" pitchFamily="18" charset="0"/>
              <a:cs typeface="Times New Roman" pitchFamily="18" charset="0"/>
            </a:endParaRPr>
          </a:p>
          <a:p>
            <a:pPr indent="540000" algn="just" fontAlgn="base"/>
            <a:r>
              <a:rPr lang="pt-BR" sz="2800" dirty="0" smtClean="0">
                <a:solidFill>
                  <a:srgbClr val="FF0000"/>
                </a:solidFill>
                <a:latin typeface="Times New Roman" pitchFamily="18" charset="0"/>
                <a:cs typeface="Times New Roman" pitchFamily="18" charset="0"/>
              </a:rPr>
              <a:t> </a:t>
            </a:r>
          </a:p>
          <a:p>
            <a:pPr indent="540000" algn="just" fontAlgn="base"/>
            <a:r>
              <a:rPr lang="pt-BR" sz="2800" b="1" dirty="0" smtClean="0">
                <a:solidFill>
                  <a:srgbClr val="FF0000"/>
                </a:solidFill>
                <a:latin typeface="Times New Roman" pitchFamily="18" charset="0"/>
                <a:cs typeface="Times New Roman" pitchFamily="18" charset="0"/>
              </a:rPr>
              <a:t>Fase 2</a:t>
            </a:r>
            <a:r>
              <a:rPr lang="pt-BR" sz="2800" dirty="0" smtClean="0">
                <a:solidFill>
                  <a:srgbClr val="FF0000"/>
                </a:solidFill>
                <a:latin typeface="Times New Roman" pitchFamily="18" charset="0"/>
                <a:cs typeface="Times New Roman" pitchFamily="18" charset="0"/>
              </a:rPr>
              <a:t>: Março/18: Informações relativas aos trabalhadores e seus vínculos (eventos não periódicos), como admissões, afastamentos e desligamentos;</a:t>
            </a:r>
          </a:p>
          <a:p>
            <a:pPr indent="540000" algn="just"/>
            <a:endParaRPr lang="pt-BR" sz="24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69272385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601582" y="1344942"/>
            <a:ext cx="7601660" cy="7478970"/>
          </a:xfrm>
          <a:prstGeom prst="rect">
            <a:avLst/>
          </a:prstGeom>
          <a:noFill/>
        </p:spPr>
        <p:txBody>
          <a:bodyPr wrap="square" rtlCol="0">
            <a:spAutoFit/>
          </a:bodyPr>
          <a:lstStyle/>
          <a:p>
            <a:pPr indent="540000" algn="just" fontAlgn="base"/>
            <a:r>
              <a:rPr lang="pt-BR" sz="2800" b="1" dirty="0" smtClean="0">
                <a:solidFill>
                  <a:srgbClr val="FF0000"/>
                </a:solidFill>
                <a:latin typeface="Times New Roman" pitchFamily="18" charset="0"/>
                <a:cs typeface="Times New Roman" pitchFamily="18" charset="0"/>
              </a:rPr>
              <a:t>Fase 3</a:t>
            </a:r>
            <a:r>
              <a:rPr lang="pt-BR" sz="2800" dirty="0" smtClean="0">
                <a:solidFill>
                  <a:srgbClr val="FF0000"/>
                </a:solidFill>
                <a:latin typeface="Times New Roman" pitchFamily="18" charset="0"/>
                <a:cs typeface="Times New Roman" pitchFamily="18" charset="0"/>
              </a:rPr>
              <a:t>: Maio/18: Folha de Pagamento;</a:t>
            </a:r>
          </a:p>
          <a:p>
            <a:pPr indent="540000" algn="just" fontAlgn="base"/>
            <a:endParaRPr lang="pt-BR" sz="2800" b="1" dirty="0" smtClean="0">
              <a:solidFill>
                <a:srgbClr val="FF0000"/>
              </a:solidFill>
              <a:latin typeface="Times New Roman" pitchFamily="18" charset="0"/>
              <a:cs typeface="Times New Roman" pitchFamily="18" charset="0"/>
            </a:endParaRPr>
          </a:p>
          <a:p>
            <a:pPr indent="540000" algn="just" fontAlgn="base"/>
            <a:endParaRPr lang="pt-BR" sz="2800" b="1" dirty="0" smtClean="0">
              <a:solidFill>
                <a:srgbClr val="FF0000"/>
              </a:solidFill>
              <a:latin typeface="Times New Roman" pitchFamily="18" charset="0"/>
              <a:cs typeface="Times New Roman" pitchFamily="18" charset="0"/>
            </a:endParaRPr>
          </a:p>
          <a:p>
            <a:pPr indent="540000" algn="just" fontAlgn="base"/>
            <a:r>
              <a:rPr lang="pt-BR" sz="2800" b="1" dirty="0" smtClean="0">
                <a:solidFill>
                  <a:srgbClr val="FF0000"/>
                </a:solidFill>
                <a:latin typeface="Times New Roman" pitchFamily="18" charset="0"/>
                <a:cs typeface="Times New Roman" pitchFamily="18" charset="0"/>
              </a:rPr>
              <a:t>Fase 4</a:t>
            </a:r>
            <a:r>
              <a:rPr lang="pt-BR" sz="2800" dirty="0" smtClean="0">
                <a:solidFill>
                  <a:srgbClr val="FF0000"/>
                </a:solidFill>
                <a:latin typeface="Times New Roman" pitchFamily="18" charset="0"/>
                <a:cs typeface="Times New Roman" pitchFamily="18" charset="0"/>
              </a:rPr>
              <a:t>: Julho/18: Substituição da GFIP;</a:t>
            </a:r>
          </a:p>
          <a:p>
            <a:pPr indent="540000" algn="just" fontAlgn="base"/>
            <a:r>
              <a:rPr lang="pt-BR" sz="2800" dirty="0" smtClean="0">
                <a:solidFill>
                  <a:srgbClr val="FF0000"/>
                </a:solidFill>
                <a:latin typeface="Times New Roman" pitchFamily="18" charset="0"/>
                <a:cs typeface="Times New Roman" pitchFamily="18" charset="0"/>
              </a:rPr>
              <a:t>Fatos Geradores que ocorram a partir de 01/07/2018.</a:t>
            </a:r>
          </a:p>
          <a:p>
            <a:pPr indent="540000" algn="just" fontAlgn="base"/>
            <a:endParaRPr lang="pt-BR" sz="2800" b="1" dirty="0" smtClean="0">
              <a:solidFill>
                <a:srgbClr val="FF0000"/>
              </a:solidFill>
              <a:latin typeface="Times New Roman" pitchFamily="18" charset="0"/>
              <a:cs typeface="Times New Roman" pitchFamily="18" charset="0"/>
            </a:endParaRPr>
          </a:p>
          <a:p>
            <a:pPr indent="540000" algn="just" fontAlgn="base"/>
            <a:endParaRPr lang="pt-BR" sz="2800" b="1" dirty="0" smtClean="0">
              <a:solidFill>
                <a:srgbClr val="FF0000"/>
              </a:solidFill>
              <a:latin typeface="Times New Roman" pitchFamily="18" charset="0"/>
              <a:cs typeface="Times New Roman" pitchFamily="18" charset="0"/>
            </a:endParaRPr>
          </a:p>
          <a:p>
            <a:pPr indent="540000" algn="just" fontAlgn="base"/>
            <a:r>
              <a:rPr lang="pt-BR" sz="2800" b="1" dirty="0" smtClean="0">
                <a:solidFill>
                  <a:srgbClr val="FF0000"/>
                </a:solidFill>
                <a:latin typeface="Times New Roman" pitchFamily="18" charset="0"/>
                <a:cs typeface="Times New Roman" pitchFamily="18" charset="0"/>
              </a:rPr>
              <a:t>Fase 5</a:t>
            </a:r>
            <a:r>
              <a:rPr lang="pt-BR" sz="2800" dirty="0" smtClean="0">
                <a:solidFill>
                  <a:srgbClr val="FF0000"/>
                </a:solidFill>
                <a:latin typeface="Times New Roman" pitchFamily="18" charset="0"/>
                <a:cs typeface="Times New Roman" pitchFamily="18" charset="0"/>
              </a:rPr>
              <a:t>: Janeiro/19: Dados de Saúde e Segurança do Trabalhador. </a:t>
            </a:r>
          </a:p>
          <a:p>
            <a:pPr indent="540000" algn="just"/>
            <a:endParaRPr lang="pt-BR" sz="2800" dirty="0">
              <a:solidFill>
                <a:schemeClr val="accent1">
                  <a:lumMod val="75000"/>
                </a:schemeClr>
              </a:solidFill>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a:p>
            <a:pPr indent="540000" algn="ctr"/>
            <a:endParaRPr lang="pt-BR" sz="1200" dirty="0">
              <a:solidFill>
                <a:srgbClr val="FF0000"/>
              </a:solidFill>
              <a:latin typeface="Times New Roman" pitchFamily="18" charset="0"/>
              <a:cs typeface="Times New Roman" pitchFamily="18" charset="0"/>
            </a:endParaRPr>
          </a:p>
          <a:p>
            <a:pPr indent="540000" algn="ctr"/>
            <a:endParaRPr lang="pt-BR" sz="1200" dirty="0" smtClean="0">
              <a:solidFill>
                <a:srgbClr val="FF0000"/>
              </a:solidFill>
              <a:latin typeface="Times New Roman" pitchFamily="18" charset="0"/>
              <a:cs typeface="Times New Roman" pitchFamily="18" charset="0"/>
            </a:endParaRPr>
          </a:p>
          <a:p>
            <a:pPr indent="540000" algn="ctr"/>
            <a:endParaRPr lang="pt-BR" sz="1200" dirty="0">
              <a:solidFill>
                <a:srgbClr val="FF0000"/>
              </a:solidFill>
              <a:latin typeface="Times New Roman" pitchFamily="18" charset="0"/>
              <a:cs typeface="Times New Roman" pitchFamily="18" charset="0"/>
            </a:endParaRPr>
          </a:p>
          <a:p>
            <a:pPr indent="540000" algn="ctr"/>
            <a:endParaRPr lang="pt-BR" sz="1200" dirty="0">
              <a:solidFill>
                <a:srgbClr val="FF0000"/>
              </a:solidFill>
              <a:latin typeface="Times New Roman" pitchFamily="18" charset="0"/>
              <a:cs typeface="Times New Roman" pitchFamily="18" charset="0"/>
            </a:endParaRPr>
          </a:p>
          <a:p>
            <a:pPr indent="540000" algn="just"/>
            <a:endParaRPr lang="pt-BR" sz="2800" dirty="0" smtClean="0">
              <a:solidFill>
                <a:schemeClr val="accent1">
                  <a:lumMod val="75000"/>
                </a:schemeClr>
              </a:solidFill>
              <a:latin typeface="Times New Roman" pitchFamily="18" charset="0"/>
              <a:cs typeface="Times New Roman" pitchFamily="18" charset="0"/>
            </a:endParaRPr>
          </a:p>
          <a:p>
            <a:pPr indent="540000" algn="just" fontAlgn="base"/>
            <a:endParaRPr lang="pt-BR" sz="2800" dirty="0">
              <a:latin typeface="Times New Roman" pitchFamily="18" charset="0"/>
              <a:cs typeface="Times New Roman" pitchFamily="18" charset="0"/>
            </a:endParaRPr>
          </a:p>
          <a:p>
            <a:pPr indent="540000" algn="ctr"/>
            <a:endParaRPr lang="pt-BR" sz="3200" b="1" dirty="0" smtClean="0">
              <a:solidFill>
                <a:schemeClr val="accent1">
                  <a:lumMod val="75000"/>
                </a:schemeClr>
              </a:solidFill>
              <a:latin typeface="Times New Roman" pitchFamily="18" charset="0"/>
              <a:cs typeface="Times New Roman" pitchFamily="18" charset="0"/>
            </a:endParaRPr>
          </a:p>
          <a:p>
            <a:pPr indent="540000" algn="just"/>
            <a:endParaRPr lang="pt-BR" sz="24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86062905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601582" y="1344942"/>
            <a:ext cx="7601660" cy="6494085"/>
          </a:xfrm>
          <a:prstGeom prst="rect">
            <a:avLst/>
          </a:prstGeom>
          <a:noFill/>
        </p:spPr>
        <p:txBody>
          <a:bodyPr wrap="square" rtlCol="0">
            <a:spAutoFit/>
          </a:bodyPr>
          <a:lstStyle/>
          <a:p>
            <a:pPr indent="540000" algn="ctr" fontAlgn="base"/>
            <a:r>
              <a:rPr lang="pt-BR" sz="3600" b="1" dirty="0" smtClean="0">
                <a:solidFill>
                  <a:srgbClr val="FFC000"/>
                </a:solidFill>
                <a:latin typeface="Times New Roman" pitchFamily="18" charset="0"/>
                <a:cs typeface="Times New Roman" pitchFamily="18" charset="0"/>
              </a:rPr>
              <a:t>Etapa 2 – Demais Empresas</a:t>
            </a:r>
            <a:endParaRPr lang="pt-BR" sz="3600" dirty="0" smtClean="0">
              <a:solidFill>
                <a:srgbClr val="FFC000"/>
              </a:solidFill>
              <a:latin typeface="Times New Roman" pitchFamily="18" charset="0"/>
              <a:cs typeface="Times New Roman" pitchFamily="18" charset="0"/>
            </a:endParaRPr>
          </a:p>
          <a:p>
            <a:pPr indent="540000" algn="just" fontAlgn="base"/>
            <a:r>
              <a:rPr lang="pt-BR" sz="2800" dirty="0" smtClean="0">
                <a:solidFill>
                  <a:schemeClr val="accent1">
                    <a:lumMod val="75000"/>
                  </a:schemeClr>
                </a:solidFill>
                <a:latin typeface="Times New Roman" pitchFamily="18" charset="0"/>
                <a:cs typeface="Times New Roman" pitchFamily="18" charset="0"/>
              </a:rPr>
              <a:t> </a:t>
            </a:r>
          </a:p>
          <a:p>
            <a:pPr indent="540000" algn="just" fontAlgn="base"/>
            <a:r>
              <a:rPr lang="pt-BR" sz="2800" b="1" dirty="0" smtClean="0">
                <a:solidFill>
                  <a:srgbClr val="FF0000"/>
                </a:solidFill>
                <a:latin typeface="Times New Roman" pitchFamily="18" charset="0"/>
                <a:cs typeface="Times New Roman" pitchFamily="18" charset="0"/>
              </a:rPr>
              <a:t>Fase 1</a:t>
            </a:r>
            <a:r>
              <a:rPr lang="pt-BR" sz="2800" dirty="0" smtClean="0">
                <a:solidFill>
                  <a:srgbClr val="FF0000"/>
                </a:solidFill>
                <a:latin typeface="Times New Roman" pitchFamily="18" charset="0"/>
                <a:cs typeface="Times New Roman" pitchFamily="18" charset="0"/>
              </a:rPr>
              <a:t>: Julho/18 – Cadastro do Empregador e Tabelas;</a:t>
            </a:r>
          </a:p>
          <a:p>
            <a:pPr indent="540000" algn="just"/>
            <a:endParaRPr lang="pt-BR" sz="2800" b="1" dirty="0" smtClean="0">
              <a:solidFill>
                <a:srgbClr val="FF0000"/>
              </a:solidFill>
              <a:latin typeface="Times New Roman" pitchFamily="18" charset="0"/>
              <a:cs typeface="Times New Roman" pitchFamily="18" charset="0"/>
            </a:endParaRPr>
          </a:p>
          <a:p>
            <a:pPr indent="540000" algn="just"/>
            <a:r>
              <a:rPr lang="pt-BR" sz="2800" b="1" dirty="0" smtClean="0">
                <a:solidFill>
                  <a:srgbClr val="FF0000"/>
                </a:solidFill>
                <a:latin typeface="Times New Roman" pitchFamily="18" charset="0"/>
                <a:cs typeface="Times New Roman" pitchFamily="18" charset="0"/>
              </a:rPr>
              <a:t>Fase 2</a:t>
            </a:r>
            <a:r>
              <a:rPr lang="pt-BR" sz="2800" dirty="0" smtClean="0">
                <a:solidFill>
                  <a:srgbClr val="FF0000"/>
                </a:solidFill>
                <a:latin typeface="Times New Roman" pitchFamily="18" charset="0"/>
                <a:cs typeface="Times New Roman" pitchFamily="18" charset="0"/>
              </a:rPr>
              <a:t>: Set/18: Informações relativas aos trabalhadores e seus vínculos (eventos não periódicos), como admissões, afastamentos e desligamentos;</a:t>
            </a:r>
            <a:endParaRPr lang="pt-BR" sz="2800" dirty="0">
              <a:solidFill>
                <a:srgbClr val="FF0000"/>
              </a:solidFill>
              <a:latin typeface="Times New Roman" pitchFamily="18" charset="0"/>
              <a:cs typeface="Times New Roman" pitchFamily="18" charset="0"/>
            </a:endParaRPr>
          </a:p>
          <a:p>
            <a:pPr indent="540000" algn="ctr" fontAlgn="base"/>
            <a:endParaRPr lang="pt-BR" sz="1200" dirty="0" smtClean="0">
              <a:solidFill>
                <a:srgbClr val="FF0000"/>
              </a:solidFill>
              <a:latin typeface="Times New Roman" pitchFamily="18" charset="0"/>
              <a:cs typeface="Times New Roman" pitchFamily="18" charset="0"/>
            </a:endParaRPr>
          </a:p>
          <a:p>
            <a:pPr indent="540000" algn="ctr" fontAlgn="base"/>
            <a:endParaRPr lang="pt-BR" sz="1200" dirty="0" smtClean="0">
              <a:solidFill>
                <a:srgbClr val="FF0000"/>
              </a:solidFill>
              <a:latin typeface="Times New Roman" pitchFamily="18" charset="0"/>
              <a:cs typeface="Times New Roman" pitchFamily="18" charset="0"/>
            </a:endParaRPr>
          </a:p>
          <a:p>
            <a:pPr indent="540000" algn="ctr" fontAlgn="base"/>
            <a:endParaRPr lang="pt-BR" sz="1200" dirty="0">
              <a:solidFill>
                <a:srgbClr val="FF0000"/>
              </a:solidFill>
              <a:latin typeface="Times New Roman" pitchFamily="18" charset="0"/>
              <a:cs typeface="Times New Roman" pitchFamily="18" charset="0"/>
            </a:endParaRPr>
          </a:p>
          <a:p>
            <a:pPr indent="540000" algn="ctr" fontAlgn="base"/>
            <a:endParaRPr lang="pt-BR" sz="1200" dirty="0" smtClean="0">
              <a:solidFill>
                <a:srgbClr val="FF0000"/>
              </a:solidFill>
              <a:latin typeface="Times New Roman" pitchFamily="18" charset="0"/>
              <a:cs typeface="Times New Roman" pitchFamily="18" charset="0"/>
            </a:endParaRPr>
          </a:p>
          <a:p>
            <a:pPr indent="540000" algn="ctr" fontAlgn="base"/>
            <a:endParaRPr lang="pt-BR" sz="1200" dirty="0" smtClean="0">
              <a:solidFill>
                <a:srgbClr val="FF0000"/>
              </a:solidFill>
              <a:latin typeface="Times New Roman" pitchFamily="18" charset="0"/>
              <a:cs typeface="Times New Roman" pitchFamily="18" charset="0"/>
            </a:endParaRPr>
          </a:p>
          <a:p>
            <a:pPr indent="540000" algn="just" fontAlgn="base"/>
            <a:endParaRPr lang="pt-BR" sz="2800" dirty="0">
              <a:latin typeface="Times New Roman" pitchFamily="18" charset="0"/>
              <a:cs typeface="Times New Roman" pitchFamily="18" charset="0"/>
            </a:endParaRPr>
          </a:p>
          <a:p>
            <a:pPr indent="540000" algn="ctr"/>
            <a:endParaRPr lang="pt-BR" sz="3200" b="1" dirty="0" smtClean="0">
              <a:solidFill>
                <a:schemeClr val="accent1">
                  <a:lumMod val="75000"/>
                </a:schemeClr>
              </a:solidFill>
              <a:latin typeface="Times New Roman" pitchFamily="18" charset="0"/>
              <a:cs typeface="Times New Roman" pitchFamily="18" charset="0"/>
            </a:endParaRPr>
          </a:p>
          <a:p>
            <a:pPr indent="540000" algn="just"/>
            <a:endParaRPr lang="pt-BR" sz="24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283363441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5139869"/>
          </a:xfrm>
          <a:prstGeom prst="rect">
            <a:avLst/>
          </a:prstGeom>
          <a:noFill/>
        </p:spPr>
        <p:txBody>
          <a:bodyPr wrap="square" rtlCol="0">
            <a:spAutoFit/>
          </a:bodyPr>
          <a:lstStyle/>
          <a:p>
            <a:pPr indent="540000" algn="just" fontAlgn="base"/>
            <a:r>
              <a:rPr lang="pt-BR" sz="2800" b="1" dirty="0" smtClean="0">
                <a:solidFill>
                  <a:srgbClr val="FF0000"/>
                </a:solidFill>
                <a:latin typeface="Times New Roman" pitchFamily="18" charset="0"/>
                <a:cs typeface="Times New Roman" pitchFamily="18" charset="0"/>
              </a:rPr>
              <a:t>Fase 3</a:t>
            </a:r>
            <a:r>
              <a:rPr lang="pt-BR" sz="2800" dirty="0" smtClean="0">
                <a:solidFill>
                  <a:srgbClr val="FF0000"/>
                </a:solidFill>
                <a:latin typeface="Times New Roman" pitchFamily="18" charset="0"/>
                <a:cs typeface="Times New Roman" pitchFamily="18" charset="0"/>
              </a:rPr>
              <a:t>: Nov/18: Folha de Pagamento;</a:t>
            </a:r>
          </a:p>
          <a:p>
            <a:pPr indent="540000" algn="just" fontAlgn="base"/>
            <a:endParaRPr lang="pt-BR" sz="2800" b="1" dirty="0" smtClean="0">
              <a:solidFill>
                <a:srgbClr val="FF0000"/>
              </a:solidFill>
              <a:latin typeface="Times New Roman" pitchFamily="18" charset="0"/>
              <a:cs typeface="Times New Roman" pitchFamily="18" charset="0"/>
            </a:endParaRPr>
          </a:p>
          <a:p>
            <a:pPr indent="540000" algn="just" fontAlgn="base"/>
            <a:endParaRPr lang="pt-BR" sz="2800" b="1" dirty="0" smtClean="0">
              <a:solidFill>
                <a:srgbClr val="FF0000"/>
              </a:solidFill>
              <a:latin typeface="Times New Roman" pitchFamily="18" charset="0"/>
              <a:cs typeface="Times New Roman" pitchFamily="18" charset="0"/>
            </a:endParaRPr>
          </a:p>
          <a:p>
            <a:pPr indent="540000" algn="just" fontAlgn="base"/>
            <a:r>
              <a:rPr lang="pt-BR" sz="2800" b="1" dirty="0" smtClean="0">
                <a:solidFill>
                  <a:srgbClr val="FF0000"/>
                </a:solidFill>
                <a:latin typeface="Times New Roman" pitchFamily="18" charset="0"/>
                <a:cs typeface="Times New Roman" pitchFamily="18" charset="0"/>
              </a:rPr>
              <a:t>Fase 4</a:t>
            </a:r>
            <a:r>
              <a:rPr lang="pt-BR" sz="2800" dirty="0" smtClean="0">
                <a:solidFill>
                  <a:srgbClr val="FF0000"/>
                </a:solidFill>
                <a:latin typeface="Times New Roman" pitchFamily="18" charset="0"/>
                <a:cs typeface="Times New Roman" pitchFamily="18" charset="0"/>
              </a:rPr>
              <a:t>: Janeiro/19: Substituição da GFIP; Fatos Geradores que ocorram a partir de 01/01/2019.</a:t>
            </a:r>
          </a:p>
          <a:p>
            <a:pPr indent="540000" algn="just" fontAlgn="base"/>
            <a:endParaRPr lang="pt-BR" sz="2800" b="1" dirty="0" smtClean="0">
              <a:solidFill>
                <a:srgbClr val="FF0000"/>
              </a:solidFill>
              <a:latin typeface="Times New Roman" pitchFamily="18" charset="0"/>
              <a:cs typeface="Times New Roman" pitchFamily="18" charset="0"/>
            </a:endParaRPr>
          </a:p>
          <a:p>
            <a:pPr indent="540000" algn="just" fontAlgn="base"/>
            <a:endParaRPr lang="pt-BR" sz="2800" b="1" dirty="0" smtClean="0">
              <a:solidFill>
                <a:srgbClr val="FF0000"/>
              </a:solidFill>
              <a:latin typeface="Times New Roman" pitchFamily="18" charset="0"/>
              <a:cs typeface="Times New Roman" pitchFamily="18" charset="0"/>
            </a:endParaRPr>
          </a:p>
          <a:p>
            <a:pPr indent="540000" algn="just" fontAlgn="base"/>
            <a:r>
              <a:rPr lang="pt-BR" sz="2800" b="1" dirty="0" smtClean="0">
                <a:solidFill>
                  <a:srgbClr val="FF0000"/>
                </a:solidFill>
                <a:latin typeface="Times New Roman" pitchFamily="18" charset="0"/>
                <a:cs typeface="Times New Roman" pitchFamily="18" charset="0"/>
              </a:rPr>
              <a:t>Fase 5</a:t>
            </a:r>
            <a:r>
              <a:rPr lang="pt-BR" sz="2800" dirty="0" smtClean="0">
                <a:solidFill>
                  <a:srgbClr val="FF0000"/>
                </a:solidFill>
                <a:latin typeface="Times New Roman" pitchFamily="18" charset="0"/>
                <a:cs typeface="Times New Roman" pitchFamily="18" charset="0"/>
              </a:rPr>
              <a:t>: Janeiro/19: Dados de Saúde e Segurança do Trabalhador.</a:t>
            </a:r>
          </a:p>
          <a:p>
            <a:pPr fontAlgn="base"/>
            <a:r>
              <a:rPr lang="pt-BR" sz="2800" dirty="0" smtClean="0">
                <a:solidFill>
                  <a:srgbClr val="FF0000"/>
                </a:solidFill>
                <a:latin typeface="Times New Roman" pitchFamily="18" charset="0"/>
                <a:cs typeface="Times New Roman" pitchFamily="18" charset="0"/>
              </a:rPr>
              <a:t> </a:t>
            </a:r>
          </a:p>
          <a:p>
            <a:pPr indent="540000" algn="just"/>
            <a:endParaRPr lang="pt-BR" sz="2800" dirty="0" smtClean="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54611784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6463308"/>
          </a:xfrm>
          <a:prstGeom prst="rect">
            <a:avLst/>
          </a:prstGeom>
          <a:noFill/>
        </p:spPr>
        <p:txBody>
          <a:bodyPr wrap="square" rtlCol="0">
            <a:spAutoFit/>
          </a:bodyPr>
          <a:lstStyle/>
          <a:p>
            <a:pPr indent="540000" algn="ctr"/>
            <a:r>
              <a:rPr lang="pt-BR" sz="3600" dirty="0" smtClean="0">
                <a:solidFill>
                  <a:srgbClr val="FFC000"/>
                </a:solidFill>
                <a:latin typeface="Times New Roman" pitchFamily="18" charset="0"/>
                <a:cs typeface="Times New Roman" pitchFamily="18" charset="0"/>
              </a:rPr>
              <a:t> </a:t>
            </a:r>
            <a:r>
              <a:rPr lang="pt-BR" sz="3600" b="1" dirty="0" smtClean="0">
                <a:solidFill>
                  <a:srgbClr val="FFC000"/>
                </a:solidFill>
                <a:latin typeface="Times New Roman" pitchFamily="18" charset="0"/>
                <a:cs typeface="Times New Roman" pitchFamily="18" charset="0"/>
              </a:rPr>
              <a:t>Etapa 3 - Entes Públicos</a:t>
            </a:r>
            <a:endParaRPr lang="pt-BR" sz="3600" dirty="0" smtClean="0">
              <a:solidFill>
                <a:srgbClr val="FFC000"/>
              </a:solidFill>
              <a:latin typeface="Times New Roman" pitchFamily="18" charset="0"/>
              <a:cs typeface="Times New Roman" pitchFamily="18" charset="0"/>
            </a:endParaRPr>
          </a:p>
          <a:p>
            <a:pPr indent="540000" algn="just" fontAlgn="base"/>
            <a:r>
              <a:rPr lang="pt-BR" sz="2800" dirty="0" smtClean="0">
                <a:latin typeface="Times New Roman" pitchFamily="18" charset="0"/>
                <a:cs typeface="Times New Roman" pitchFamily="18" charset="0"/>
              </a:rPr>
              <a:t> </a:t>
            </a:r>
          </a:p>
          <a:p>
            <a:pPr indent="540000" algn="just" fontAlgn="base"/>
            <a:r>
              <a:rPr lang="pt-BR" sz="2800" b="1" dirty="0" smtClean="0">
                <a:solidFill>
                  <a:srgbClr val="FF0000"/>
                </a:solidFill>
                <a:latin typeface="Times New Roman" pitchFamily="18" charset="0"/>
                <a:cs typeface="Times New Roman" pitchFamily="18" charset="0"/>
              </a:rPr>
              <a:t>Fase 1</a:t>
            </a:r>
            <a:r>
              <a:rPr lang="pt-BR" sz="2800" dirty="0" smtClean="0">
                <a:solidFill>
                  <a:srgbClr val="FF0000"/>
                </a:solidFill>
                <a:latin typeface="Times New Roman" pitchFamily="18" charset="0"/>
                <a:cs typeface="Times New Roman" pitchFamily="18" charset="0"/>
              </a:rPr>
              <a:t>: Janeiro/19 – Cadastros dos Órgãos e Tabelas;</a:t>
            </a:r>
          </a:p>
          <a:p>
            <a:pPr indent="540000" algn="just" fontAlgn="base"/>
            <a:endParaRPr lang="pt-BR" sz="2800" b="1" dirty="0">
              <a:solidFill>
                <a:srgbClr val="FF0000"/>
              </a:solidFill>
              <a:latin typeface="Times New Roman" pitchFamily="18" charset="0"/>
              <a:cs typeface="Times New Roman" pitchFamily="18" charset="0"/>
            </a:endParaRPr>
          </a:p>
          <a:p>
            <a:pPr indent="540000" algn="just" fontAlgn="base"/>
            <a:r>
              <a:rPr lang="pt-BR" sz="2800" b="1" dirty="0" smtClean="0">
                <a:solidFill>
                  <a:srgbClr val="FF0000"/>
                </a:solidFill>
                <a:latin typeface="Times New Roman" pitchFamily="18" charset="0"/>
                <a:cs typeface="Times New Roman" pitchFamily="18" charset="0"/>
              </a:rPr>
              <a:t>Fase 2</a:t>
            </a:r>
            <a:r>
              <a:rPr lang="pt-BR" sz="2800" dirty="0" smtClean="0">
                <a:solidFill>
                  <a:srgbClr val="FF0000"/>
                </a:solidFill>
                <a:latin typeface="Times New Roman" pitchFamily="18" charset="0"/>
                <a:cs typeface="Times New Roman" pitchFamily="18" charset="0"/>
              </a:rPr>
              <a:t>: Março/19: Informações relativas aos servidores e seus vínculos com os órgãos (eventos não periódicos) Ex: admissões, afastamentos e desligamentos;</a:t>
            </a:r>
          </a:p>
          <a:p>
            <a:pPr indent="540000" algn="just" fontAlgn="base"/>
            <a:endParaRPr lang="pt-BR" sz="2800" dirty="0">
              <a:solidFill>
                <a:srgbClr val="FF0000"/>
              </a:solidFill>
              <a:latin typeface="Times New Roman" pitchFamily="18" charset="0"/>
              <a:cs typeface="Times New Roman" pitchFamily="18" charset="0"/>
            </a:endParaRPr>
          </a:p>
          <a:p>
            <a:pPr indent="540000" algn="ctr" fontAlgn="base"/>
            <a:endParaRPr lang="pt-BR" sz="1000" dirty="0" smtClean="0">
              <a:solidFill>
                <a:srgbClr val="FF0000"/>
              </a:solidFill>
              <a:latin typeface="Times New Roman" pitchFamily="18" charset="0"/>
              <a:cs typeface="Times New Roman" pitchFamily="18" charset="0"/>
            </a:endParaRPr>
          </a:p>
          <a:p>
            <a:pPr indent="540000" algn="ctr" fontAlgn="base"/>
            <a:endParaRPr lang="pt-BR" sz="1000" dirty="0">
              <a:solidFill>
                <a:srgbClr val="FF0000"/>
              </a:solidFill>
              <a:latin typeface="Times New Roman" pitchFamily="18" charset="0"/>
              <a:cs typeface="Times New Roman" pitchFamily="18" charset="0"/>
            </a:endParaRPr>
          </a:p>
          <a:p>
            <a:pPr indent="540000" algn="ctr" fontAlgn="base"/>
            <a:endParaRPr lang="pt-BR" sz="1000" dirty="0" smtClean="0">
              <a:solidFill>
                <a:srgbClr val="FF0000"/>
              </a:solidFill>
              <a:latin typeface="Times New Roman" pitchFamily="18" charset="0"/>
              <a:cs typeface="Times New Roman" pitchFamily="18" charset="0"/>
            </a:endParaRPr>
          </a:p>
          <a:p>
            <a:pPr indent="540000" algn="ctr" fontAlgn="base"/>
            <a:endParaRPr lang="pt-BR" sz="1000" dirty="0">
              <a:solidFill>
                <a:srgbClr val="FF0000"/>
              </a:solidFill>
              <a:latin typeface="Times New Roman" pitchFamily="18" charset="0"/>
              <a:cs typeface="Times New Roman" pitchFamily="18" charset="0"/>
            </a:endParaRPr>
          </a:p>
          <a:p>
            <a:pPr indent="540000" algn="just" fontAlgn="base"/>
            <a:endParaRPr lang="pt-BR" sz="2800" dirty="0" smtClean="0">
              <a:solidFill>
                <a:srgbClr val="FF0000"/>
              </a:solidFill>
              <a:latin typeface="Times New Roman" pitchFamily="18" charset="0"/>
              <a:cs typeface="Times New Roman" pitchFamily="18" charset="0"/>
            </a:endParaRPr>
          </a:p>
          <a:p>
            <a:pPr indent="540000" algn="just"/>
            <a:endParaRPr lang="pt-BR" sz="2400" dirty="0">
              <a:solidFill>
                <a:schemeClr val="accent1">
                  <a:lumMod val="75000"/>
                </a:schemeClr>
              </a:solidFill>
              <a:latin typeface="Times New Roman" pitchFamily="18" charset="0"/>
              <a:cs typeface="Times New Roman" pitchFamily="18" charset="0"/>
            </a:endParaRPr>
          </a:p>
          <a:p>
            <a:pPr indent="540000" algn="just"/>
            <a:endParaRPr lang="pt-BR" sz="24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27114060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5416868"/>
          </a:xfrm>
          <a:prstGeom prst="rect">
            <a:avLst/>
          </a:prstGeom>
          <a:noFill/>
        </p:spPr>
        <p:txBody>
          <a:bodyPr wrap="square" rtlCol="0">
            <a:spAutoFit/>
          </a:bodyPr>
          <a:lstStyle/>
          <a:p>
            <a:pPr indent="540000" algn="ctr"/>
            <a:r>
              <a:rPr lang="pt-BR" sz="3600" dirty="0" smtClean="0">
                <a:solidFill>
                  <a:srgbClr val="FFC000"/>
                </a:solidFill>
                <a:latin typeface="Times New Roman" pitchFamily="18" charset="0"/>
                <a:cs typeface="Times New Roman" pitchFamily="18" charset="0"/>
              </a:rPr>
              <a:t> </a:t>
            </a:r>
            <a:r>
              <a:rPr lang="pt-BR" sz="3600" b="1" dirty="0" smtClean="0">
                <a:solidFill>
                  <a:srgbClr val="FFC000"/>
                </a:solidFill>
                <a:latin typeface="Times New Roman" pitchFamily="18" charset="0"/>
                <a:cs typeface="Times New Roman" pitchFamily="18" charset="0"/>
              </a:rPr>
              <a:t>Etapa 3 - Entes Públicos</a:t>
            </a:r>
            <a:endParaRPr lang="pt-BR" sz="3600" dirty="0" smtClean="0">
              <a:solidFill>
                <a:srgbClr val="FFC000"/>
              </a:solidFill>
              <a:latin typeface="Times New Roman" pitchFamily="18" charset="0"/>
              <a:cs typeface="Times New Roman" pitchFamily="18" charset="0"/>
            </a:endParaRPr>
          </a:p>
          <a:p>
            <a:pPr indent="540000" algn="just" fontAlgn="base"/>
            <a:r>
              <a:rPr lang="pt-BR" sz="2400" dirty="0" smtClean="0">
                <a:latin typeface="Times New Roman" pitchFamily="18" charset="0"/>
                <a:cs typeface="Times New Roman" pitchFamily="18" charset="0"/>
              </a:rPr>
              <a:t> </a:t>
            </a:r>
          </a:p>
          <a:p>
            <a:pPr indent="540000" algn="just" fontAlgn="base"/>
            <a:r>
              <a:rPr lang="pt-BR" sz="2800" b="1" dirty="0" smtClean="0">
                <a:solidFill>
                  <a:srgbClr val="FF0000"/>
                </a:solidFill>
                <a:latin typeface="Times New Roman" pitchFamily="18" charset="0"/>
                <a:cs typeface="Times New Roman" pitchFamily="18" charset="0"/>
              </a:rPr>
              <a:t>Fase 4</a:t>
            </a:r>
            <a:r>
              <a:rPr lang="pt-BR" sz="2800" dirty="0" smtClean="0">
                <a:solidFill>
                  <a:srgbClr val="FF0000"/>
                </a:solidFill>
                <a:latin typeface="Times New Roman" pitchFamily="18" charset="0"/>
                <a:cs typeface="Times New Roman" pitchFamily="18" charset="0"/>
              </a:rPr>
              <a:t>: Julho/19: Substituição da GFIP; </a:t>
            </a:r>
          </a:p>
          <a:p>
            <a:pPr indent="540000" algn="just" fontAlgn="base"/>
            <a:r>
              <a:rPr lang="pt-BR" sz="2800" dirty="0" smtClean="0">
                <a:solidFill>
                  <a:srgbClr val="FF0000"/>
                </a:solidFill>
                <a:latin typeface="Times New Roman" pitchFamily="18" charset="0"/>
                <a:cs typeface="Times New Roman" pitchFamily="18" charset="0"/>
              </a:rPr>
              <a:t>Fatos Geradores que ocorram a partir de 01/07/2019.</a:t>
            </a:r>
          </a:p>
          <a:p>
            <a:pPr indent="540000" algn="just" fontAlgn="base"/>
            <a:endParaRPr lang="pt-BR" sz="2800" b="1" dirty="0">
              <a:solidFill>
                <a:srgbClr val="FF0000"/>
              </a:solidFill>
              <a:latin typeface="Times New Roman" pitchFamily="18" charset="0"/>
              <a:cs typeface="Times New Roman" pitchFamily="18" charset="0"/>
            </a:endParaRPr>
          </a:p>
          <a:p>
            <a:pPr indent="540000" algn="just" fontAlgn="base"/>
            <a:endParaRPr lang="pt-BR" sz="2800" b="1" dirty="0" smtClean="0">
              <a:solidFill>
                <a:srgbClr val="FF0000"/>
              </a:solidFill>
              <a:latin typeface="Times New Roman" pitchFamily="18" charset="0"/>
              <a:cs typeface="Times New Roman" pitchFamily="18" charset="0"/>
            </a:endParaRPr>
          </a:p>
          <a:p>
            <a:pPr indent="540000" algn="just" fontAlgn="base"/>
            <a:r>
              <a:rPr lang="pt-BR" sz="2800" b="1" dirty="0" smtClean="0">
                <a:solidFill>
                  <a:srgbClr val="FF0000"/>
                </a:solidFill>
                <a:latin typeface="Times New Roman" pitchFamily="18" charset="0"/>
                <a:cs typeface="Times New Roman" pitchFamily="18" charset="0"/>
              </a:rPr>
              <a:t>Fase 5</a:t>
            </a:r>
            <a:r>
              <a:rPr lang="pt-BR" sz="2800" dirty="0" smtClean="0">
                <a:solidFill>
                  <a:srgbClr val="FF0000"/>
                </a:solidFill>
                <a:latin typeface="Times New Roman" pitchFamily="18" charset="0"/>
                <a:cs typeface="Times New Roman" pitchFamily="18" charset="0"/>
              </a:rPr>
              <a:t>: Julho/19: Dados de </a:t>
            </a:r>
            <a:r>
              <a:rPr lang="pt-BR" sz="2800" dirty="0">
                <a:solidFill>
                  <a:srgbClr val="FF0000"/>
                </a:solidFill>
                <a:latin typeface="Times New Roman" pitchFamily="18" charset="0"/>
                <a:cs typeface="Times New Roman" pitchFamily="18" charset="0"/>
              </a:rPr>
              <a:t>S</a:t>
            </a:r>
            <a:r>
              <a:rPr lang="pt-BR" sz="2800" dirty="0" smtClean="0">
                <a:solidFill>
                  <a:srgbClr val="FF0000"/>
                </a:solidFill>
                <a:latin typeface="Times New Roman" pitchFamily="18" charset="0"/>
                <a:cs typeface="Times New Roman" pitchFamily="18" charset="0"/>
              </a:rPr>
              <a:t>egurança e </a:t>
            </a:r>
            <a:r>
              <a:rPr lang="pt-BR" sz="2800" dirty="0">
                <a:solidFill>
                  <a:srgbClr val="FF0000"/>
                </a:solidFill>
                <a:latin typeface="Times New Roman" pitchFamily="18" charset="0"/>
                <a:cs typeface="Times New Roman" pitchFamily="18" charset="0"/>
              </a:rPr>
              <a:t>S</a:t>
            </a:r>
            <a:r>
              <a:rPr lang="pt-BR" sz="2800" dirty="0" smtClean="0">
                <a:solidFill>
                  <a:srgbClr val="FF0000"/>
                </a:solidFill>
                <a:latin typeface="Times New Roman" pitchFamily="18" charset="0"/>
                <a:cs typeface="Times New Roman" pitchFamily="18" charset="0"/>
              </a:rPr>
              <a:t>aúde do Trabalhador.</a:t>
            </a:r>
          </a:p>
          <a:p>
            <a:pPr indent="540000" algn="ctr"/>
            <a:endParaRPr lang="pt-BR" sz="1000" dirty="0">
              <a:solidFill>
                <a:schemeClr val="accent1">
                  <a:lumMod val="75000"/>
                </a:schemeClr>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75180528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7072338"/>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071546"/>
            <a:ext cx="7801200" cy="6124754"/>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 </a:t>
            </a:r>
            <a:r>
              <a:rPr lang="pt-BR" sz="3600" b="1" dirty="0" err="1" smtClean="0">
                <a:solidFill>
                  <a:srgbClr val="FFC000"/>
                </a:solidFill>
                <a:latin typeface="Times New Roman" pitchFamily="18" charset="0"/>
                <a:cs typeface="Times New Roman" pitchFamily="18" charset="0"/>
              </a:rPr>
              <a:t>e</a:t>
            </a:r>
            <a:r>
              <a:rPr lang="pt-BR" sz="3600" b="1" dirty="0" err="1">
                <a:solidFill>
                  <a:srgbClr val="FFC000"/>
                </a:solidFill>
                <a:latin typeface="Times New Roman" pitchFamily="18" charset="0"/>
                <a:cs typeface="Times New Roman" pitchFamily="18" charset="0"/>
              </a:rPr>
              <a:t>S</a:t>
            </a:r>
            <a:r>
              <a:rPr lang="pt-BR" sz="3600" b="1" dirty="0" err="1" smtClean="0">
                <a:solidFill>
                  <a:srgbClr val="FFC000"/>
                </a:solidFill>
                <a:latin typeface="Times New Roman" pitchFamily="18" charset="0"/>
                <a:cs typeface="Times New Roman" pitchFamily="18" charset="0"/>
              </a:rPr>
              <a:t>ocial</a:t>
            </a:r>
            <a:r>
              <a:rPr lang="pt-BR" sz="3600" b="1" dirty="0" smtClean="0">
                <a:solidFill>
                  <a:srgbClr val="FFC000"/>
                </a:solidFill>
                <a:latin typeface="Times New Roman" pitchFamily="18" charset="0"/>
                <a:cs typeface="Times New Roman" pitchFamily="18" charset="0"/>
              </a:rPr>
              <a:t> x Sistemas Complementares:</a:t>
            </a:r>
            <a:endParaRPr lang="pt-BR" sz="3600" b="1" dirty="0" smtClean="0">
              <a:latin typeface="Times New Roman" pitchFamily="18" charset="0"/>
              <a:cs typeface="Times New Roman" pitchFamily="18" charset="0"/>
            </a:endParaRPr>
          </a:p>
          <a:p>
            <a:endParaRPr lang="pt-BR" sz="2800" b="1" dirty="0" smtClean="0">
              <a:latin typeface="Times New Roman" pitchFamily="18" charset="0"/>
              <a:cs typeface="Times New Roman" pitchFamily="18" charset="0"/>
            </a:endParaRPr>
          </a:p>
          <a:p>
            <a:pPr algn="ctr"/>
            <a:r>
              <a:rPr lang="pt-BR" sz="2800" dirty="0" err="1" smtClean="0">
                <a:solidFill>
                  <a:srgbClr val="FF0000"/>
                </a:solidFill>
                <a:latin typeface="Times New Roman" pitchFamily="18" charset="0"/>
                <a:cs typeface="Times New Roman" pitchFamily="18" charset="0"/>
              </a:rPr>
              <a:t>eSocial</a:t>
            </a:r>
            <a:r>
              <a:rPr lang="pt-BR" sz="2800" dirty="0" smtClean="0">
                <a:solidFill>
                  <a:srgbClr val="FF0000"/>
                </a:solidFill>
                <a:latin typeface="Times New Roman" pitchFamily="18" charset="0"/>
                <a:cs typeface="Times New Roman" pitchFamily="18" charset="0"/>
              </a:rPr>
              <a:t>: </a:t>
            </a:r>
          </a:p>
          <a:p>
            <a:r>
              <a:rPr lang="pt-BR" sz="2800" u="sng" dirty="0" smtClean="0">
                <a:solidFill>
                  <a:srgbClr val="FF0000"/>
                </a:solidFill>
                <a:latin typeface="Times New Roman" pitchFamily="18" charset="0"/>
                <a:cs typeface="Times New Roman" pitchFamily="18" charset="0"/>
              </a:rPr>
              <a:t>Débitos</a:t>
            </a:r>
          </a:p>
          <a:p>
            <a:pPr marL="457200" indent="-457200">
              <a:buFont typeface="Arial" charset="0"/>
              <a:buChar char="•"/>
            </a:pPr>
            <a:r>
              <a:rPr lang="pt-BR" sz="2800" dirty="0" smtClean="0">
                <a:solidFill>
                  <a:srgbClr val="FF0000"/>
                </a:solidFill>
                <a:latin typeface="Times New Roman" pitchFamily="18" charset="0"/>
                <a:cs typeface="Times New Roman" pitchFamily="18" charset="0"/>
              </a:rPr>
              <a:t>Remunerações;</a:t>
            </a:r>
          </a:p>
          <a:p>
            <a:pPr marL="457200" indent="-457200">
              <a:buFont typeface="Arial" charset="0"/>
              <a:buChar char="•"/>
            </a:pPr>
            <a:r>
              <a:rPr lang="pt-BR" sz="2800" dirty="0" smtClean="0">
                <a:solidFill>
                  <a:srgbClr val="FF0000"/>
                </a:solidFill>
                <a:latin typeface="Times New Roman" pitchFamily="18" charset="0"/>
                <a:cs typeface="Times New Roman" pitchFamily="18" charset="0"/>
              </a:rPr>
              <a:t>Comercialização Produção Rural- PF</a:t>
            </a:r>
          </a:p>
          <a:p>
            <a:pPr marL="457200" indent="-457200">
              <a:buFont typeface="Arial" charset="0"/>
              <a:buChar char="•"/>
            </a:pPr>
            <a:r>
              <a:rPr lang="pt-BR" sz="2800" dirty="0" smtClean="0">
                <a:solidFill>
                  <a:srgbClr val="FF0000"/>
                </a:solidFill>
                <a:latin typeface="Times New Roman" pitchFamily="18" charset="0"/>
                <a:cs typeface="Times New Roman" pitchFamily="18" charset="0"/>
              </a:rPr>
              <a:t>Aquisição Produção Rural - PF e PJ (PA –Programa de Aquisição de Alimentos-art. 19 da Lei 10.696/03)</a:t>
            </a:r>
          </a:p>
          <a:p>
            <a:pPr marL="457200" indent="-457200">
              <a:buFont typeface="Arial" charset="0"/>
              <a:buChar char="•"/>
            </a:pPr>
            <a:endParaRPr lang="pt-BR" sz="2800" dirty="0" smtClean="0">
              <a:solidFill>
                <a:srgbClr val="FF0000"/>
              </a:solidFill>
              <a:latin typeface="Times New Roman" pitchFamily="18" charset="0"/>
              <a:cs typeface="Times New Roman" pitchFamily="18" charset="0"/>
            </a:endParaRPr>
          </a:p>
          <a:p>
            <a:r>
              <a:rPr lang="pt-BR" sz="2800" u="sng" dirty="0" smtClean="0">
                <a:solidFill>
                  <a:srgbClr val="FF0000"/>
                </a:solidFill>
                <a:latin typeface="Times New Roman" pitchFamily="18" charset="0"/>
                <a:cs typeface="Times New Roman" pitchFamily="18" charset="0"/>
              </a:rPr>
              <a:t>Créditos:</a:t>
            </a:r>
          </a:p>
          <a:p>
            <a:pPr marL="457200" indent="-457200">
              <a:buFont typeface="Arial" charset="0"/>
              <a:buChar char="•"/>
            </a:pPr>
            <a:r>
              <a:rPr lang="pt-BR" sz="2800" dirty="0" smtClean="0">
                <a:solidFill>
                  <a:srgbClr val="FF0000"/>
                </a:solidFill>
                <a:latin typeface="Times New Roman" pitchFamily="18" charset="0"/>
                <a:cs typeface="Times New Roman" pitchFamily="18" charset="0"/>
              </a:rPr>
              <a:t>Salário Família;</a:t>
            </a:r>
          </a:p>
          <a:p>
            <a:pPr marL="457200" indent="-457200">
              <a:buFont typeface="Arial" charset="0"/>
              <a:buChar char="•"/>
            </a:pPr>
            <a:r>
              <a:rPr lang="pt-BR" sz="2800" dirty="0" smtClean="0">
                <a:solidFill>
                  <a:srgbClr val="FF0000"/>
                </a:solidFill>
                <a:latin typeface="Times New Roman" pitchFamily="18" charset="0"/>
                <a:cs typeface="Times New Roman" pitchFamily="18" charset="0"/>
              </a:rPr>
              <a:t>Salário Maternidade.</a:t>
            </a:r>
          </a:p>
          <a:p>
            <a:pPr algn="ctr"/>
            <a:endParaRPr lang="pt-BR" sz="1000" b="1"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99835131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5539978"/>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EFD-REINF</a:t>
            </a:r>
          </a:p>
          <a:p>
            <a:pPr indent="540000" algn="just"/>
            <a:r>
              <a:rPr lang="pt-BR" sz="2800" u="sng" dirty="0" smtClean="0">
                <a:solidFill>
                  <a:srgbClr val="FF0000"/>
                </a:solidFill>
                <a:latin typeface="Times New Roman" pitchFamily="18" charset="0"/>
                <a:cs typeface="Times New Roman" pitchFamily="18" charset="0"/>
              </a:rPr>
              <a:t>Débitos:</a:t>
            </a:r>
          </a:p>
          <a:p>
            <a:pPr marL="457200" indent="540000" algn="just">
              <a:buFont typeface="Arial" charset="0"/>
              <a:buChar char="•"/>
            </a:pPr>
            <a:r>
              <a:rPr lang="pt-BR" sz="2800" dirty="0" smtClean="0">
                <a:solidFill>
                  <a:srgbClr val="FF0000"/>
                </a:solidFill>
                <a:latin typeface="Times New Roman" pitchFamily="18" charset="0"/>
                <a:cs typeface="Times New Roman" pitchFamily="18" charset="0"/>
              </a:rPr>
              <a:t>Retenções feitas sobre notas fiscais-Lei 9.711/98(serviços tomados);</a:t>
            </a:r>
          </a:p>
          <a:p>
            <a:pPr marL="457200" indent="540000" algn="just">
              <a:buFont typeface="Arial" charset="0"/>
              <a:buChar char="•"/>
            </a:pPr>
            <a:r>
              <a:rPr lang="pt-BR" sz="2800" dirty="0" smtClean="0">
                <a:solidFill>
                  <a:srgbClr val="FF0000"/>
                </a:solidFill>
                <a:latin typeface="Times New Roman" pitchFamily="18" charset="0"/>
                <a:cs typeface="Times New Roman" pitchFamily="18" charset="0"/>
              </a:rPr>
              <a:t>Comercialização Produção Rural – PJ;</a:t>
            </a:r>
          </a:p>
          <a:p>
            <a:pPr marL="457200" indent="540000" algn="just">
              <a:buFont typeface="Arial" charset="0"/>
              <a:buChar char="•"/>
            </a:pPr>
            <a:r>
              <a:rPr lang="pt-BR" sz="2800" dirty="0" smtClean="0">
                <a:solidFill>
                  <a:srgbClr val="FF0000"/>
                </a:solidFill>
                <a:latin typeface="Times New Roman" pitchFamily="18" charset="0"/>
                <a:cs typeface="Times New Roman" pitchFamily="18" charset="0"/>
              </a:rPr>
              <a:t>Patrocínio de Clubes de Futebol;</a:t>
            </a:r>
          </a:p>
          <a:p>
            <a:pPr marL="457200" indent="540000" algn="just">
              <a:buFont typeface="Arial" charset="0"/>
              <a:buChar char="•"/>
            </a:pPr>
            <a:r>
              <a:rPr lang="pt-BR" sz="2800" dirty="0" smtClean="0">
                <a:solidFill>
                  <a:srgbClr val="FF0000"/>
                </a:solidFill>
                <a:latin typeface="Times New Roman" pitchFamily="18" charset="0"/>
                <a:cs typeface="Times New Roman" pitchFamily="18" charset="0"/>
              </a:rPr>
              <a:t>CPRB – Lei 12.546/11;</a:t>
            </a:r>
          </a:p>
          <a:p>
            <a:pPr marL="457200" indent="540000" algn="just">
              <a:buFont typeface="Arial" charset="0"/>
              <a:buChar char="•"/>
            </a:pPr>
            <a:r>
              <a:rPr lang="pt-BR" sz="2800" dirty="0" smtClean="0">
                <a:solidFill>
                  <a:srgbClr val="FF0000"/>
                </a:solidFill>
                <a:latin typeface="Times New Roman" pitchFamily="18" charset="0"/>
                <a:cs typeface="Times New Roman" pitchFamily="18" charset="0"/>
              </a:rPr>
              <a:t>Receita de Espetáculos Desportivos;</a:t>
            </a:r>
          </a:p>
          <a:p>
            <a:pPr indent="540000" algn="just"/>
            <a:endParaRPr lang="pt-BR" sz="2800" b="1" dirty="0" smtClean="0">
              <a:solidFill>
                <a:srgbClr val="FF0000"/>
              </a:solidFill>
              <a:latin typeface="Times New Roman" pitchFamily="18" charset="0"/>
              <a:cs typeface="Times New Roman" pitchFamily="18" charset="0"/>
            </a:endParaRPr>
          </a:p>
          <a:p>
            <a:pPr indent="540000" algn="just"/>
            <a:r>
              <a:rPr lang="pt-BR" sz="2800" u="sng" dirty="0" smtClean="0">
                <a:solidFill>
                  <a:srgbClr val="FF0000"/>
                </a:solidFill>
                <a:latin typeface="Times New Roman" pitchFamily="18" charset="0"/>
                <a:cs typeface="Times New Roman" pitchFamily="18" charset="0"/>
              </a:rPr>
              <a:t>Créditos:</a:t>
            </a:r>
          </a:p>
          <a:p>
            <a:pPr indent="540000" algn="just"/>
            <a:r>
              <a:rPr lang="pt-BR" sz="2800" dirty="0" smtClean="0">
                <a:solidFill>
                  <a:srgbClr val="FF0000"/>
                </a:solidFill>
                <a:latin typeface="Times New Roman" pitchFamily="18" charset="0"/>
                <a:cs typeface="Times New Roman" pitchFamily="18" charset="0"/>
              </a:rPr>
              <a:t>Retenções Sofridas sobre notas fiscais Lei 9.711/98 (serviços Prestados).</a:t>
            </a:r>
            <a:endParaRPr lang="pt-BR" sz="1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41716250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5878532"/>
          </a:xfrm>
          <a:prstGeom prst="rect">
            <a:avLst/>
          </a:prstGeom>
          <a:noFill/>
        </p:spPr>
        <p:txBody>
          <a:bodyPr wrap="square" rtlCol="0">
            <a:spAutoFit/>
          </a:bodyPr>
          <a:lstStyle/>
          <a:p>
            <a:pPr indent="540000" algn="ctr"/>
            <a:endParaRPr lang="pt-BR" sz="3600" b="1" dirty="0" smtClean="0">
              <a:solidFill>
                <a:srgbClr val="FFC000"/>
              </a:solidFill>
              <a:latin typeface="Times New Roman" pitchFamily="18" charset="0"/>
              <a:cs typeface="Times New Roman" pitchFamily="18" charset="0"/>
            </a:endParaRPr>
          </a:p>
          <a:p>
            <a:pPr indent="540000" algn="ctr"/>
            <a:r>
              <a:rPr lang="pt-BR" sz="3600" b="1" dirty="0" smtClean="0">
                <a:solidFill>
                  <a:srgbClr val="FFC000"/>
                </a:solidFill>
                <a:latin typeface="Times New Roman" pitchFamily="18" charset="0"/>
                <a:cs typeface="Times New Roman" pitchFamily="18" charset="0"/>
              </a:rPr>
              <a:t>EFD-REINF</a:t>
            </a:r>
          </a:p>
          <a:p>
            <a:pPr indent="540000" algn="ctr"/>
            <a:endParaRPr lang="pt-BR" sz="36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Prazo de envio: Até o dia 15 do mês seguinte. </a:t>
            </a:r>
          </a:p>
          <a:p>
            <a:pPr indent="540000" algn="just">
              <a:lnSpc>
                <a:spcPct val="150000"/>
              </a:lnSpc>
            </a:pPr>
            <a:endParaRPr lang="pt-BR" sz="2800" dirty="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Quando dia 15 cair em dia não útil antecipa-se o envio para o primeiro dia útil anterior.</a:t>
            </a: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72129732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6309420"/>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EFD-REINF</a:t>
            </a:r>
          </a:p>
          <a:p>
            <a:pPr indent="540000" algn="ctr"/>
            <a:r>
              <a:rPr lang="pt-BR" sz="3600" dirty="0" smtClean="0">
                <a:solidFill>
                  <a:srgbClr val="FF0000"/>
                </a:solidFill>
                <a:latin typeface="Times New Roman" pitchFamily="18" charset="0"/>
                <a:cs typeface="Times New Roman" pitchFamily="18" charset="0"/>
              </a:rPr>
              <a:t> </a:t>
            </a:r>
            <a:r>
              <a:rPr lang="pt-BR" sz="3600" b="1" dirty="0" smtClean="0">
                <a:solidFill>
                  <a:srgbClr val="FFC000"/>
                </a:solidFill>
                <a:latin typeface="Times New Roman" pitchFamily="18" charset="0"/>
                <a:cs typeface="Times New Roman" pitchFamily="18" charset="0"/>
              </a:rPr>
              <a:t>Inicio da Obrigatoriedade:</a:t>
            </a:r>
            <a:endParaRPr lang="pt-BR" sz="3600" b="1" dirty="0">
              <a:solidFill>
                <a:srgbClr val="FFC000"/>
              </a:solidFill>
              <a:latin typeface="Times New Roman" pitchFamily="18" charset="0"/>
              <a:cs typeface="Times New Roman" pitchFamily="18" charset="0"/>
            </a:endParaRP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Grandes Empresas: Fatos Geradores ocorridos a partir de 01/05/2018;</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Demais Empresas: Fatos Geradores ocorridos a partir de 01/11/2018.</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Entes Públicos: Fatos Geradores ocorridos a partir de 01/05/2019.</a:t>
            </a:r>
          </a:p>
          <a:p>
            <a:pPr indent="540000" algn="ctr"/>
            <a:r>
              <a:rPr lang="pt-BR" dirty="0" smtClean="0">
                <a:solidFill>
                  <a:srgbClr val="FF0000"/>
                </a:solidFill>
                <a:latin typeface="Times New Roman" pitchFamily="18" charset="0"/>
                <a:cs typeface="Times New Roman" pitchFamily="18" charset="0"/>
              </a:rPr>
              <a:t>IN 1701 de 03/2017 alterado pela IN 1767 de 12/2017.</a:t>
            </a: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12576239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6309420"/>
          </a:xfrm>
          <a:prstGeom prst="rect">
            <a:avLst/>
          </a:prstGeom>
          <a:noFill/>
        </p:spPr>
        <p:txBody>
          <a:bodyPr wrap="square" rtlCol="0">
            <a:spAutoFit/>
          </a:bodyPr>
          <a:lstStyle/>
          <a:p>
            <a:pPr indent="540000" algn="ctr"/>
            <a:r>
              <a:rPr lang="pt-BR" sz="3600" b="1" dirty="0" err="1" smtClean="0">
                <a:solidFill>
                  <a:srgbClr val="FFC000"/>
                </a:solidFill>
                <a:latin typeface="Times New Roman" pitchFamily="18" charset="0"/>
                <a:cs typeface="Times New Roman" pitchFamily="18" charset="0"/>
              </a:rPr>
              <a:t>DCTFWeb</a:t>
            </a:r>
            <a:r>
              <a:rPr lang="pt-BR" sz="3600" b="1" dirty="0" smtClean="0">
                <a:solidFill>
                  <a:srgbClr val="FFC000"/>
                </a:solidFill>
                <a:latin typeface="Times New Roman" pitchFamily="18" charset="0"/>
                <a:cs typeface="Times New Roman" pitchFamily="18" charset="0"/>
              </a:rPr>
              <a:t>:</a:t>
            </a:r>
          </a:p>
          <a:p>
            <a:pPr indent="540000" algn="ctr"/>
            <a:r>
              <a:rPr lang="pt-BR" sz="3600" dirty="0" smtClean="0">
                <a:solidFill>
                  <a:srgbClr val="FF0000"/>
                </a:solidFill>
                <a:latin typeface="Times New Roman" pitchFamily="18" charset="0"/>
                <a:cs typeface="Times New Roman" pitchFamily="18" charset="0"/>
              </a:rPr>
              <a:t> </a:t>
            </a:r>
            <a:r>
              <a:rPr lang="pt-BR" sz="3600" b="1" dirty="0" smtClean="0">
                <a:solidFill>
                  <a:srgbClr val="FFC000"/>
                </a:solidFill>
                <a:latin typeface="Times New Roman" pitchFamily="18" charset="0"/>
                <a:cs typeface="Times New Roman" pitchFamily="18" charset="0"/>
              </a:rPr>
              <a:t>Inicio da Obrigatoriedade:</a:t>
            </a:r>
            <a:endParaRPr lang="pt-BR" sz="3600" b="1" dirty="0">
              <a:solidFill>
                <a:srgbClr val="FFC000"/>
              </a:solidFill>
              <a:latin typeface="Times New Roman" pitchFamily="18" charset="0"/>
              <a:cs typeface="Times New Roman" pitchFamily="18" charset="0"/>
            </a:endParaRP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Grandes Empresas: Fatos Geradores ocorridos a partir de 01/07/2018, em substituição a GFIP.</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Demais Empresas: Fatos Geradores ocorridos a partir de 01/01/2019, em substituição a GFIP.</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Entes Públicos: Fatos Geradores ocorridos a partir de 01/07/2019.</a:t>
            </a:r>
          </a:p>
          <a:p>
            <a:pPr indent="540000" algn="ctr"/>
            <a:r>
              <a:rPr lang="pt-BR" dirty="0" smtClean="0">
                <a:solidFill>
                  <a:srgbClr val="FF0000"/>
                </a:solidFill>
                <a:latin typeface="Times New Roman" pitchFamily="18" charset="0"/>
                <a:cs typeface="Times New Roman" pitchFamily="18" charset="0"/>
              </a:rPr>
              <a:t>Instrução Normativa 1787 de 02/2018.</a:t>
            </a: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4424373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6186309"/>
          </a:xfrm>
          <a:prstGeom prst="rect">
            <a:avLst/>
          </a:prstGeom>
          <a:noFill/>
        </p:spPr>
        <p:txBody>
          <a:bodyPr wrap="square" rtlCol="0">
            <a:spAutoFit/>
          </a:bodyPr>
          <a:lstStyle/>
          <a:p>
            <a:pPr indent="540000" algn="ctr"/>
            <a:r>
              <a:rPr lang="pt-BR" sz="3600" b="1" dirty="0" err="1" smtClean="0">
                <a:solidFill>
                  <a:srgbClr val="FFC000"/>
                </a:solidFill>
                <a:latin typeface="Times New Roman" pitchFamily="18" charset="0"/>
                <a:cs typeface="Times New Roman" pitchFamily="18" charset="0"/>
              </a:rPr>
              <a:t>DCTFWeb</a:t>
            </a:r>
            <a:r>
              <a:rPr lang="pt-BR" sz="3600" b="1" dirty="0" smtClean="0">
                <a:solidFill>
                  <a:srgbClr val="FFC000"/>
                </a:solidFill>
                <a:latin typeface="Times New Roman" pitchFamily="18" charset="0"/>
                <a:cs typeface="Times New Roman" pitchFamily="18" charset="0"/>
              </a:rPr>
              <a:t>:</a:t>
            </a:r>
          </a:p>
          <a:p>
            <a:pPr indent="540000" algn="ctr"/>
            <a:r>
              <a:rPr lang="pt-BR" sz="3600" dirty="0" smtClean="0">
                <a:solidFill>
                  <a:srgbClr val="FF0000"/>
                </a:solidFill>
                <a:latin typeface="Times New Roman" pitchFamily="18" charset="0"/>
                <a:cs typeface="Times New Roman" pitchFamily="18" charset="0"/>
              </a:rPr>
              <a:t> </a:t>
            </a:r>
            <a:r>
              <a:rPr lang="pt-BR" sz="3600" b="1" dirty="0" smtClean="0">
                <a:solidFill>
                  <a:srgbClr val="FFC000"/>
                </a:solidFill>
                <a:latin typeface="Times New Roman" pitchFamily="18" charset="0"/>
                <a:cs typeface="Times New Roman" pitchFamily="18" charset="0"/>
              </a:rPr>
              <a:t>Inicio da Obrigatoriedade:</a:t>
            </a:r>
            <a:endParaRPr lang="pt-BR" sz="3600" b="1" dirty="0">
              <a:solidFill>
                <a:srgbClr val="FFC000"/>
              </a:solidFill>
              <a:latin typeface="Times New Roman" pitchFamily="18" charset="0"/>
              <a:cs typeface="Times New Roman" pitchFamily="18" charset="0"/>
            </a:endParaRPr>
          </a:p>
          <a:p>
            <a:pPr indent="540000" algn="just">
              <a:lnSpc>
                <a:spcPct val="150000"/>
              </a:lnSpc>
            </a:pPr>
            <a:endParaRPr lang="pt-BR" sz="2800" dirty="0" smtClean="0"/>
          </a:p>
          <a:p>
            <a:pPr indent="540000" algn="just">
              <a:lnSpc>
                <a:spcPct val="150000"/>
              </a:lnSpc>
            </a:pPr>
            <a:r>
              <a:rPr lang="pt-BR" sz="2800" dirty="0" smtClean="0">
                <a:solidFill>
                  <a:srgbClr val="FF0000"/>
                </a:solidFill>
                <a:latin typeface="Times New Roman" pitchFamily="18" charset="0"/>
                <a:cs typeface="Times New Roman" pitchFamily="18" charset="0"/>
              </a:rPr>
              <a:t>As </a:t>
            </a:r>
            <a:r>
              <a:rPr lang="pt-BR" sz="2800" dirty="0">
                <a:solidFill>
                  <a:srgbClr val="FF0000"/>
                </a:solidFill>
                <a:latin typeface="Times New Roman" pitchFamily="18" charset="0"/>
                <a:cs typeface="Times New Roman" pitchFamily="18" charset="0"/>
              </a:rPr>
              <a:t>pessoas jurídicas imunes e isentas devem obedecer ao prazo de </a:t>
            </a:r>
            <a:r>
              <a:rPr lang="pt-BR" sz="2800" dirty="0" smtClean="0">
                <a:solidFill>
                  <a:srgbClr val="FF0000"/>
                </a:solidFill>
                <a:latin typeface="Times New Roman" pitchFamily="18" charset="0"/>
                <a:cs typeface="Times New Roman" pitchFamily="18" charset="0"/>
              </a:rPr>
              <a:t>01/01/2019</a:t>
            </a:r>
            <a:r>
              <a:rPr lang="pt-BR" sz="2800" dirty="0">
                <a:solidFill>
                  <a:srgbClr val="FF0000"/>
                </a:solidFill>
                <a:latin typeface="Times New Roman" pitchFamily="18" charset="0"/>
                <a:cs typeface="Times New Roman" pitchFamily="18" charset="0"/>
              </a:rPr>
              <a:t>, mesmo que tenham registrado faturamento acima de R$ 78 milhões em 2016.</a:t>
            </a:r>
          </a:p>
          <a:p>
            <a:pPr indent="540000" algn="ctr"/>
            <a:endParaRPr lang="pt-BR" dirty="0" smtClean="0">
              <a:solidFill>
                <a:srgbClr val="FF0000"/>
              </a:solidFill>
              <a:latin typeface="Times New Roman" pitchFamily="18" charset="0"/>
              <a:cs typeface="Times New Roman" pitchFamily="18" charset="0"/>
            </a:endParaRPr>
          </a:p>
          <a:p>
            <a:pPr indent="540000" algn="ctr"/>
            <a:endParaRPr lang="pt-BR" dirty="0">
              <a:solidFill>
                <a:srgbClr val="FF0000"/>
              </a:solidFill>
              <a:latin typeface="Times New Roman" pitchFamily="18" charset="0"/>
              <a:cs typeface="Times New Roman" pitchFamily="18" charset="0"/>
            </a:endParaRPr>
          </a:p>
          <a:p>
            <a:pPr indent="540000" algn="ctr"/>
            <a:r>
              <a:rPr lang="pt-BR" dirty="0" smtClean="0">
                <a:solidFill>
                  <a:srgbClr val="FF0000"/>
                </a:solidFill>
                <a:latin typeface="Times New Roman" pitchFamily="18" charset="0"/>
                <a:cs typeface="Times New Roman" pitchFamily="18" charset="0"/>
              </a:rPr>
              <a:t>Instrução Normativa 1787 de 02/2018.</a:t>
            </a: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99386042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5293757"/>
          </a:xfrm>
          <a:prstGeom prst="rect">
            <a:avLst/>
          </a:prstGeom>
          <a:noFill/>
        </p:spPr>
        <p:txBody>
          <a:bodyPr wrap="square" rtlCol="0">
            <a:spAutoFit/>
          </a:bodyPr>
          <a:lstStyle/>
          <a:p>
            <a:pPr indent="540000" algn="ctr"/>
            <a:r>
              <a:rPr lang="pt-BR" sz="3600" b="1" dirty="0" err="1" smtClean="0">
                <a:solidFill>
                  <a:srgbClr val="FFC000"/>
                </a:solidFill>
                <a:latin typeface="Times New Roman" pitchFamily="18" charset="0"/>
                <a:cs typeface="Times New Roman" pitchFamily="18" charset="0"/>
              </a:rPr>
              <a:t>DCTFWeb</a:t>
            </a:r>
            <a:endParaRPr lang="pt-BR" sz="3600" b="1" dirty="0" smtClean="0">
              <a:solidFill>
                <a:srgbClr val="FFC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marL="457200" indent="-457200" algn="just">
              <a:buFont typeface="Arial" charset="0"/>
              <a:buChar char="•"/>
            </a:pPr>
            <a:r>
              <a:rPr lang="pt-BR" sz="2800" dirty="0" smtClean="0">
                <a:solidFill>
                  <a:srgbClr val="FF0000"/>
                </a:solidFill>
                <a:latin typeface="Times New Roman" pitchFamily="18" charset="0"/>
                <a:cs typeface="Times New Roman" pitchFamily="18" charset="0"/>
              </a:rPr>
              <a:t>Recebe e consolida as apurações enviadas pelas escriturações;</a:t>
            </a:r>
          </a:p>
          <a:p>
            <a:pPr marL="457200" indent="-457200" algn="just">
              <a:buFont typeface="Arial" charset="0"/>
              <a:buChar char="•"/>
            </a:pPr>
            <a:r>
              <a:rPr lang="pt-BR" sz="2800" dirty="0" smtClean="0">
                <a:solidFill>
                  <a:srgbClr val="FF0000"/>
                </a:solidFill>
                <a:latin typeface="Times New Roman" pitchFamily="18" charset="0"/>
                <a:cs typeface="Times New Roman" pitchFamily="18" charset="0"/>
              </a:rPr>
              <a:t>Recebe outros créditos (importados ou inseridos manualmente);</a:t>
            </a:r>
          </a:p>
          <a:p>
            <a:pPr marL="457200" indent="-457200" algn="just">
              <a:buFont typeface="Arial" charset="0"/>
              <a:buChar char="•"/>
            </a:pPr>
            <a:r>
              <a:rPr lang="pt-BR" sz="2800" dirty="0" smtClean="0">
                <a:solidFill>
                  <a:srgbClr val="FF0000"/>
                </a:solidFill>
                <a:latin typeface="Times New Roman" pitchFamily="18" charset="0"/>
                <a:cs typeface="Times New Roman" pitchFamily="18" charset="0"/>
              </a:rPr>
              <a:t>Exclusões;</a:t>
            </a:r>
          </a:p>
          <a:p>
            <a:pPr marL="457200" indent="-457200" algn="just">
              <a:buFont typeface="Arial" charset="0"/>
              <a:buChar char="•"/>
            </a:pPr>
            <a:r>
              <a:rPr lang="pt-BR" sz="2800" dirty="0" smtClean="0">
                <a:solidFill>
                  <a:srgbClr val="FF0000"/>
                </a:solidFill>
                <a:latin typeface="Times New Roman" pitchFamily="18" charset="0"/>
                <a:cs typeface="Times New Roman" pitchFamily="18" charset="0"/>
              </a:rPr>
              <a:t>Suspensões;</a:t>
            </a:r>
          </a:p>
          <a:p>
            <a:pPr marL="457200" indent="-457200" algn="just">
              <a:buFont typeface="Arial" charset="0"/>
              <a:buChar char="•"/>
            </a:pPr>
            <a:r>
              <a:rPr lang="pt-BR" sz="2800" dirty="0" smtClean="0">
                <a:solidFill>
                  <a:srgbClr val="FF0000"/>
                </a:solidFill>
                <a:latin typeface="Times New Roman" pitchFamily="18" charset="0"/>
                <a:cs typeface="Times New Roman" pitchFamily="18" charset="0"/>
              </a:rPr>
              <a:t>Parcelamentos;</a:t>
            </a:r>
          </a:p>
          <a:p>
            <a:pPr marL="457200" indent="-457200" algn="just">
              <a:buFont typeface="Arial" charset="0"/>
              <a:buChar char="•"/>
            </a:pPr>
            <a:r>
              <a:rPr lang="pt-BR" sz="2800" dirty="0" smtClean="0">
                <a:solidFill>
                  <a:srgbClr val="FF0000"/>
                </a:solidFill>
                <a:latin typeface="Times New Roman" pitchFamily="18" charset="0"/>
                <a:cs typeface="Times New Roman" pitchFamily="18" charset="0"/>
              </a:rPr>
              <a:t>Compensações</a:t>
            </a:r>
          </a:p>
          <a:p>
            <a:pPr marL="457200" indent="-457200" algn="just">
              <a:buFont typeface="Arial" charset="0"/>
              <a:buChar char="•"/>
            </a:pPr>
            <a:r>
              <a:rPr lang="pt-BR" sz="2800" dirty="0" smtClean="0">
                <a:solidFill>
                  <a:srgbClr val="FF0000"/>
                </a:solidFill>
                <a:latin typeface="Times New Roman" pitchFamily="18" charset="0"/>
                <a:cs typeface="Times New Roman" pitchFamily="18" charset="0"/>
              </a:rPr>
              <a:t>Pagamentos.</a:t>
            </a:r>
            <a:endParaRPr lang="pt-BR" sz="28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4015369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4555093"/>
          </a:xfrm>
          <a:prstGeom prst="rect">
            <a:avLst/>
          </a:prstGeom>
          <a:noFill/>
        </p:spPr>
        <p:txBody>
          <a:bodyPr wrap="square" rtlCol="0">
            <a:spAutoFit/>
          </a:bodyPr>
          <a:lstStyle/>
          <a:p>
            <a:pPr indent="540000" algn="ctr"/>
            <a:r>
              <a:rPr lang="pt-BR" sz="3600" b="1" dirty="0" err="1" smtClean="0">
                <a:solidFill>
                  <a:srgbClr val="FFC000"/>
                </a:solidFill>
                <a:latin typeface="Times New Roman" pitchFamily="18" charset="0"/>
                <a:cs typeface="Times New Roman" pitchFamily="18" charset="0"/>
              </a:rPr>
              <a:t>DCTFWeb</a:t>
            </a:r>
            <a:endParaRPr lang="pt-BR" sz="3600" b="1" dirty="0" smtClean="0">
              <a:solidFill>
                <a:srgbClr val="FFC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r>
              <a:rPr lang="pt-BR" sz="2800" u="sng" dirty="0">
                <a:solidFill>
                  <a:srgbClr val="FF0000"/>
                </a:solidFill>
                <a:latin typeface="Times New Roman" pitchFamily="18" charset="0"/>
                <a:cs typeface="Times New Roman" pitchFamily="18" charset="0"/>
              </a:rPr>
              <a:t> </a:t>
            </a:r>
            <a:r>
              <a:rPr lang="pt-BR" sz="2800" u="sng" dirty="0" smtClean="0">
                <a:solidFill>
                  <a:srgbClr val="FF0000"/>
                </a:solidFill>
                <a:latin typeface="Times New Roman" pitchFamily="18" charset="0"/>
                <a:cs typeface="Times New Roman" pitchFamily="18" charset="0"/>
              </a:rPr>
              <a:t>Efetua a vinculação dos créditos com os débitos:</a:t>
            </a:r>
          </a:p>
          <a:p>
            <a:pPr indent="540000" algn="just"/>
            <a:r>
              <a:rPr lang="pt-BR" sz="2800" dirty="0" smtClean="0">
                <a:solidFill>
                  <a:srgbClr val="FF0000"/>
                </a:solidFill>
                <a:latin typeface="Times New Roman" pitchFamily="18" charset="0"/>
                <a:cs typeface="Times New Roman" pitchFamily="18" charset="0"/>
              </a:rPr>
              <a:t>   </a:t>
            </a:r>
          </a:p>
          <a:p>
            <a:pPr indent="540000" algn="just"/>
            <a:r>
              <a:rPr lang="pt-BR" sz="2800" dirty="0">
                <a:solidFill>
                  <a:srgbClr val="FF0000"/>
                </a:solidFill>
                <a:latin typeface="Times New Roman" pitchFamily="18" charset="0"/>
                <a:cs typeface="Times New Roman" pitchFamily="18" charset="0"/>
              </a:rPr>
              <a:t> </a:t>
            </a:r>
            <a:r>
              <a:rPr lang="pt-BR" sz="2800" dirty="0" smtClean="0">
                <a:solidFill>
                  <a:srgbClr val="FF0000"/>
                </a:solidFill>
                <a:latin typeface="Times New Roman" pitchFamily="18" charset="0"/>
                <a:cs typeface="Times New Roman" pitchFamily="18" charset="0"/>
              </a:rPr>
              <a:t>  Apura o saldo a pagar;</a:t>
            </a:r>
          </a:p>
          <a:p>
            <a:pPr marL="171450" indent="540000" algn="just">
              <a:buFont typeface="Arial" charset="0"/>
              <a:buChar char="•"/>
            </a:pPr>
            <a:r>
              <a:rPr lang="pt-BR" sz="2800" dirty="0" smtClean="0">
                <a:solidFill>
                  <a:srgbClr val="FF0000"/>
                </a:solidFill>
                <a:latin typeface="Times New Roman" pitchFamily="18" charset="0"/>
                <a:cs typeface="Times New Roman" pitchFamily="18" charset="0"/>
              </a:rPr>
              <a:t>Transmissão da </a:t>
            </a:r>
            <a:r>
              <a:rPr lang="pt-BR" sz="2800" dirty="0" err="1" smtClean="0">
                <a:solidFill>
                  <a:srgbClr val="FF0000"/>
                </a:solidFill>
                <a:latin typeface="Times New Roman" pitchFamily="18" charset="0"/>
                <a:cs typeface="Times New Roman" pitchFamily="18" charset="0"/>
              </a:rPr>
              <a:t>DCTFWeb</a:t>
            </a:r>
            <a:r>
              <a:rPr lang="pt-BR" sz="2800" dirty="0" smtClean="0">
                <a:solidFill>
                  <a:srgbClr val="FF0000"/>
                </a:solidFill>
                <a:latin typeface="Times New Roman" pitchFamily="18" charset="0"/>
                <a:cs typeface="Times New Roman" pitchFamily="18" charset="0"/>
              </a:rPr>
              <a:t> </a:t>
            </a:r>
          </a:p>
          <a:p>
            <a:pPr marL="171450" indent="540000" algn="just">
              <a:buFont typeface="Arial" charset="0"/>
              <a:buChar char="•"/>
            </a:pPr>
            <a:r>
              <a:rPr lang="pt-BR" sz="2800" dirty="0" smtClean="0">
                <a:solidFill>
                  <a:srgbClr val="FF0000"/>
                </a:solidFill>
                <a:latin typeface="Times New Roman" pitchFamily="18" charset="0"/>
                <a:cs typeface="Times New Roman" pitchFamily="18" charset="0"/>
              </a:rPr>
              <a:t>Gera DARF, inclusive em atraso (</a:t>
            </a:r>
            <a:r>
              <a:rPr lang="pt-BR" sz="2800" dirty="0" err="1" smtClean="0">
                <a:solidFill>
                  <a:srgbClr val="FF0000"/>
                </a:solidFill>
                <a:latin typeface="Times New Roman" pitchFamily="18" charset="0"/>
                <a:cs typeface="Times New Roman" pitchFamily="18" charset="0"/>
              </a:rPr>
              <a:t>Vencto</a:t>
            </a:r>
            <a:r>
              <a:rPr lang="pt-BR" sz="2800" dirty="0" smtClean="0">
                <a:solidFill>
                  <a:srgbClr val="FF0000"/>
                </a:solidFill>
                <a:latin typeface="Times New Roman" pitchFamily="18" charset="0"/>
                <a:cs typeface="Times New Roman" pitchFamily="18" charset="0"/>
              </a:rPr>
              <a:t> dia 20 do mês seguinte);</a:t>
            </a:r>
          </a:p>
          <a:p>
            <a:pPr marL="171450" indent="540000" algn="just">
              <a:buFont typeface="Arial" charset="0"/>
              <a:buChar char="•"/>
            </a:pPr>
            <a:r>
              <a:rPr lang="pt-BR" sz="2800" dirty="0" smtClean="0">
                <a:solidFill>
                  <a:srgbClr val="FF0000"/>
                </a:solidFill>
                <a:latin typeface="Times New Roman" pitchFamily="18" charset="0"/>
                <a:cs typeface="Times New Roman" pitchFamily="18" charset="0"/>
              </a:rPr>
              <a:t>Permite a retificação da </a:t>
            </a:r>
            <a:r>
              <a:rPr lang="pt-BR" sz="2800" dirty="0" err="1" smtClean="0">
                <a:solidFill>
                  <a:srgbClr val="FF0000"/>
                </a:solidFill>
                <a:latin typeface="Times New Roman" pitchFamily="18" charset="0"/>
                <a:cs typeface="Times New Roman" pitchFamily="18" charset="0"/>
              </a:rPr>
              <a:t>DCTFWeb</a:t>
            </a:r>
            <a:r>
              <a:rPr lang="pt-BR" sz="2800" dirty="0" smtClean="0">
                <a:solidFill>
                  <a:srgbClr val="FF0000"/>
                </a:solidFill>
                <a:latin typeface="Times New Roman" pitchFamily="18" charset="0"/>
                <a:cs typeface="Times New Roman" pitchFamily="18" charset="0"/>
              </a:rPr>
              <a:t>;</a:t>
            </a:r>
          </a:p>
          <a:p>
            <a:pPr marL="171450" indent="540000" algn="just">
              <a:buFont typeface="Arial" charset="0"/>
              <a:buChar char="•"/>
            </a:pPr>
            <a:r>
              <a:rPr lang="pt-BR" sz="2800" dirty="0" smtClean="0">
                <a:solidFill>
                  <a:srgbClr val="FF0000"/>
                </a:solidFill>
                <a:latin typeface="Times New Roman" pitchFamily="18" charset="0"/>
                <a:cs typeface="Times New Roman" pitchFamily="18" charset="0"/>
              </a:rPr>
              <a:t>Permite consultas e geração de relatórios.</a:t>
            </a:r>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13723012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5139869"/>
          </a:xfrm>
          <a:prstGeom prst="rect">
            <a:avLst/>
          </a:prstGeom>
          <a:noFill/>
        </p:spPr>
        <p:txBody>
          <a:bodyPr wrap="square" rtlCol="0">
            <a:spAutoFit/>
          </a:bodyPr>
          <a:lstStyle/>
          <a:p>
            <a:pPr indent="540000" algn="ctr"/>
            <a:r>
              <a:rPr lang="pt-BR" sz="3600" b="1" dirty="0" err="1" smtClean="0">
                <a:solidFill>
                  <a:srgbClr val="FFC000"/>
                </a:solidFill>
                <a:latin typeface="Times New Roman" pitchFamily="18" charset="0"/>
                <a:cs typeface="Times New Roman" pitchFamily="18" charset="0"/>
              </a:rPr>
              <a:t>DCTFWeb</a:t>
            </a:r>
            <a:endParaRPr lang="pt-BR" sz="3600" b="1" dirty="0" smtClean="0">
              <a:solidFill>
                <a:srgbClr val="FFC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a:p>
            <a:pPr indent="540000" algn="just"/>
            <a:r>
              <a:rPr lang="pt-BR" sz="2800" u="sng" dirty="0">
                <a:solidFill>
                  <a:srgbClr val="FF0000"/>
                </a:solidFill>
                <a:latin typeface="Times New Roman" pitchFamily="18" charset="0"/>
                <a:cs typeface="Times New Roman" pitchFamily="18" charset="0"/>
              </a:rPr>
              <a:t> </a:t>
            </a:r>
            <a:r>
              <a:rPr lang="pt-BR" sz="2800" u="sng" dirty="0" smtClean="0">
                <a:solidFill>
                  <a:srgbClr val="FF0000"/>
                </a:solidFill>
                <a:latin typeface="Times New Roman" pitchFamily="18" charset="0"/>
                <a:cs typeface="Times New Roman" pitchFamily="18" charset="0"/>
              </a:rPr>
              <a:t>Efetua a vinculação dos créditos com os débitos:</a:t>
            </a:r>
          </a:p>
          <a:p>
            <a:pPr indent="540000" algn="just"/>
            <a:r>
              <a:rPr lang="pt-BR" sz="2800" dirty="0" smtClean="0">
                <a:solidFill>
                  <a:srgbClr val="FF0000"/>
                </a:solidFill>
                <a:latin typeface="Times New Roman" pitchFamily="18" charset="0"/>
                <a:cs typeface="Times New Roman" pitchFamily="18" charset="0"/>
              </a:rPr>
              <a:t>   </a:t>
            </a:r>
          </a:p>
          <a:p>
            <a:pPr indent="540000" algn="just"/>
            <a:r>
              <a:rPr lang="pt-BR" sz="2800" dirty="0">
                <a:solidFill>
                  <a:srgbClr val="FF0000"/>
                </a:solidFill>
                <a:latin typeface="Times New Roman" pitchFamily="18" charset="0"/>
                <a:cs typeface="Times New Roman" pitchFamily="18" charset="0"/>
              </a:rPr>
              <a:t> </a:t>
            </a:r>
            <a:r>
              <a:rPr lang="pt-BR" sz="2800" dirty="0" smtClean="0">
                <a:solidFill>
                  <a:srgbClr val="FF0000"/>
                </a:solidFill>
                <a:latin typeface="Times New Roman" pitchFamily="18" charset="0"/>
                <a:cs typeface="Times New Roman" pitchFamily="18" charset="0"/>
              </a:rPr>
              <a:t>  Apura o saldo a pagar;</a:t>
            </a:r>
          </a:p>
          <a:p>
            <a:pPr marL="171450" indent="540000" algn="just">
              <a:buFont typeface="Arial" charset="0"/>
              <a:buChar char="•"/>
            </a:pPr>
            <a:r>
              <a:rPr lang="pt-BR" sz="2800" dirty="0" smtClean="0">
                <a:solidFill>
                  <a:srgbClr val="FF0000"/>
                </a:solidFill>
                <a:latin typeface="Times New Roman" pitchFamily="18" charset="0"/>
                <a:cs typeface="Times New Roman" pitchFamily="18" charset="0"/>
              </a:rPr>
              <a:t>Transmissão da </a:t>
            </a:r>
            <a:r>
              <a:rPr lang="pt-BR" sz="2800" dirty="0" err="1" smtClean="0">
                <a:solidFill>
                  <a:srgbClr val="FF0000"/>
                </a:solidFill>
                <a:latin typeface="Times New Roman" pitchFamily="18" charset="0"/>
                <a:cs typeface="Times New Roman" pitchFamily="18" charset="0"/>
              </a:rPr>
              <a:t>DCTFWeb</a:t>
            </a:r>
            <a:r>
              <a:rPr lang="pt-BR" sz="2800" dirty="0" smtClean="0">
                <a:solidFill>
                  <a:srgbClr val="FF0000"/>
                </a:solidFill>
                <a:latin typeface="Times New Roman" pitchFamily="18" charset="0"/>
                <a:cs typeface="Times New Roman" pitchFamily="18" charset="0"/>
              </a:rPr>
              <a:t> –Prazo até dia 15 do mês seguinte;</a:t>
            </a:r>
          </a:p>
          <a:p>
            <a:pPr marL="171450" indent="540000" algn="just">
              <a:buFont typeface="Arial" charset="0"/>
              <a:buChar char="•"/>
            </a:pPr>
            <a:r>
              <a:rPr lang="pt-BR" sz="2800" dirty="0" smtClean="0">
                <a:solidFill>
                  <a:srgbClr val="FF0000"/>
                </a:solidFill>
                <a:latin typeface="Times New Roman" pitchFamily="18" charset="0"/>
                <a:cs typeface="Times New Roman" pitchFamily="18" charset="0"/>
              </a:rPr>
              <a:t>Gera DARF, inclusive em atraso (</a:t>
            </a:r>
            <a:r>
              <a:rPr lang="pt-BR" sz="2800" dirty="0" err="1" smtClean="0">
                <a:solidFill>
                  <a:srgbClr val="FF0000"/>
                </a:solidFill>
                <a:latin typeface="Times New Roman" pitchFamily="18" charset="0"/>
                <a:cs typeface="Times New Roman" pitchFamily="18" charset="0"/>
              </a:rPr>
              <a:t>Vencto</a:t>
            </a:r>
            <a:r>
              <a:rPr lang="pt-BR" sz="2800" dirty="0" smtClean="0">
                <a:solidFill>
                  <a:srgbClr val="FF0000"/>
                </a:solidFill>
                <a:latin typeface="Times New Roman" pitchFamily="18" charset="0"/>
                <a:cs typeface="Times New Roman" pitchFamily="18" charset="0"/>
              </a:rPr>
              <a:t> dia 20 do mês seguinte);</a:t>
            </a:r>
          </a:p>
          <a:p>
            <a:pPr marL="171450" indent="540000" algn="just">
              <a:buFont typeface="Arial" charset="0"/>
              <a:buChar char="•"/>
            </a:pPr>
            <a:r>
              <a:rPr lang="pt-BR" sz="2800" dirty="0" smtClean="0">
                <a:solidFill>
                  <a:srgbClr val="FF0000"/>
                </a:solidFill>
                <a:latin typeface="Times New Roman" pitchFamily="18" charset="0"/>
                <a:cs typeface="Times New Roman" pitchFamily="18" charset="0"/>
              </a:rPr>
              <a:t>Permite a retificação da </a:t>
            </a:r>
            <a:r>
              <a:rPr lang="pt-BR" sz="2800" dirty="0" err="1" smtClean="0">
                <a:solidFill>
                  <a:srgbClr val="FF0000"/>
                </a:solidFill>
                <a:latin typeface="Times New Roman" pitchFamily="18" charset="0"/>
                <a:cs typeface="Times New Roman" pitchFamily="18" charset="0"/>
              </a:rPr>
              <a:t>DCTFWeb</a:t>
            </a:r>
            <a:r>
              <a:rPr lang="pt-BR" sz="2800" dirty="0" smtClean="0">
                <a:solidFill>
                  <a:srgbClr val="FF0000"/>
                </a:solidFill>
                <a:latin typeface="Times New Roman" pitchFamily="18" charset="0"/>
                <a:cs typeface="Times New Roman" pitchFamily="18" charset="0"/>
              </a:rPr>
              <a:t>;</a:t>
            </a:r>
          </a:p>
          <a:p>
            <a:pPr marL="171450" indent="540000" algn="just">
              <a:buFont typeface="Arial" charset="0"/>
              <a:buChar char="•"/>
            </a:pPr>
            <a:r>
              <a:rPr lang="pt-BR" sz="2800" dirty="0" smtClean="0">
                <a:solidFill>
                  <a:srgbClr val="FF0000"/>
                </a:solidFill>
                <a:latin typeface="Times New Roman" pitchFamily="18" charset="0"/>
                <a:cs typeface="Times New Roman" pitchFamily="18" charset="0"/>
              </a:rPr>
              <a:t>Permite consultas e geração de relatórios.</a:t>
            </a:r>
            <a:endParaRPr lang="pt-BR" sz="1000" dirty="0" smtClean="0">
              <a:solidFill>
                <a:srgbClr val="FF0000"/>
              </a:solidFill>
              <a:latin typeface="Times New Roman" pitchFamily="18" charset="0"/>
              <a:cs typeface="Times New Roman" pitchFamily="18" charset="0"/>
            </a:endParaRPr>
          </a:p>
          <a:p>
            <a:pPr indent="540000" algn="just"/>
            <a:endParaRPr lang="pt-BR" sz="10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77952380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5663089"/>
          </a:xfrm>
          <a:prstGeom prst="rect">
            <a:avLst/>
          </a:prstGeom>
          <a:noFill/>
        </p:spPr>
        <p:txBody>
          <a:bodyPr wrap="square" rtlCol="0">
            <a:spAutoFit/>
          </a:bodyPr>
          <a:lstStyle/>
          <a:p>
            <a:pPr indent="540000" algn="ctr"/>
            <a:r>
              <a:rPr lang="pt-BR" sz="3600" b="1" dirty="0" err="1" smtClean="0">
                <a:solidFill>
                  <a:srgbClr val="FFC000"/>
                </a:solidFill>
                <a:latin typeface="Times New Roman" pitchFamily="18" charset="0"/>
                <a:cs typeface="Times New Roman" pitchFamily="18" charset="0"/>
              </a:rPr>
              <a:t>DCTFWeb</a:t>
            </a:r>
            <a:endParaRPr lang="pt-BR" sz="3600" b="1" dirty="0" smtClean="0">
              <a:solidFill>
                <a:srgbClr val="FFC000"/>
              </a:solidFill>
              <a:latin typeface="Times New Roman" pitchFamily="18" charset="0"/>
              <a:cs typeface="Times New Roman" pitchFamily="18" charset="0"/>
            </a:endParaRPr>
          </a:p>
          <a:p>
            <a:pPr indent="540000" algn="ctr"/>
            <a:r>
              <a:rPr lang="pt-BR" sz="3600" b="1" dirty="0" smtClean="0">
                <a:solidFill>
                  <a:srgbClr val="FFC000"/>
                </a:solidFill>
                <a:latin typeface="Times New Roman" pitchFamily="18" charset="0"/>
                <a:cs typeface="Times New Roman" pitchFamily="18" charset="0"/>
              </a:rPr>
              <a:t>Prazo de Envio:</a:t>
            </a:r>
          </a:p>
          <a:p>
            <a:pPr indent="540000" algn="just"/>
            <a:r>
              <a:rPr lang="pt-BR" sz="2800" dirty="0" smtClean="0">
                <a:solidFill>
                  <a:srgbClr val="FF0000"/>
                </a:solidFill>
                <a:latin typeface="Times New Roman" pitchFamily="18" charset="0"/>
                <a:cs typeface="Times New Roman" pitchFamily="18" charset="0"/>
              </a:rPr>
              <a:t>Envio Mensal até dia 15 do mês seguinte;</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Envio Anual – Contempla a Gratificação Natalina e o envio deverá ser feito até dia 20 de dezembro do ano correspondente.</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Lembrando que o não envio sujeita o contribuinte a multa, a qual será gerada automaticamente, e ainda, acarretará no impedimento de emissão de Certidão Negativa.</a:t>
            </a:r>
            <a:endParaRPr lang="pt-BR" sz="2800" dirty="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6429497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4862870"/>
          </a:xfrm>
          <a:prstGeom prst="rect">
            <a:avLst/>
          </a:prstGeom>
          <a:noFill/>
        </p:spPr>
        <p:txBody>
          <a:bodyPr wrap="square" rtlCol="0">
            <a:spAutoFit/>
          </a:bodyPr>
          <a:lstStyle/>
          <a:p>
            <a:pPr indent="540000" algn="ctr"/>
            <a:r>
              <a:rPr lang="pt-BR" sz="3600" b="1" dirty="0" err="1" smtClean="0">
                <a:solidFill>
                  <a:srgbClr val="FFC000"/>
                </a:solidFill>
                <a:latin typeface="Times New Roman" pitchFamily="18" charset="0"/>
                <a:cs typeface="Times New Roman" pitchFamily="18" charset="0"/>
              </a:rPr>
              <a:t>DCTFWeb</a:t>
            </a:r>
            <a:r>
              <a:rPr lang="pt-BR" sz="3600" b="1" dirty="0">
                <a:solidFill>
                  <a:srgbClr val="FFC000"/>
                </a:solidFill>
                <a:latin typeface="Times New Roman" pitchFamily="18" charset="0"/>
                <a:cs typeface="Times New Roman" pitchFamily="18" charset="0"/>
              </a:rPr>
              <a:t> </a:t>
            </a:r>
            <a:r>
              <a:rPr lang="pt-BR" sz="3600" b="1" dirty="0" smtClean="0">
                <a:solidFill>
                  <a:srgbClr val="FFC000"/>
                </a:solidFill>
                <a:latin typeface="Times New Roman" pitchFamily="18" charset="0"/>
                <a:cs typeface="Times New Roman" pitchFamily="18" charset="0"/>
              </a:rPr>
              <a:t>- Atenção:</a:t>
            </a:r>
          </a:p>
          <a:p>
            <a:pPr indent="540000" algn="just">
              <a:lnSpc>
                <a:spcPct val="150000"/>
              </a:lnSpc>
            </a:pPr>
            <a:r>
              <a:rPr lang="pt-BR" sz="2800" dirty="0">
                <a:solidFill>
                  <a:srgbClr val="FF0000"/>
                </a:solidFill>
                <a:latin typeface="Times New Roman" pitchFamily="18" charset="0"/>
                <a:cs typeface="Times New Roman" pitchFamily="18" charset="0"/>
              </a:rPr>
              <a:t>As ME e as EPP enquadradas no Simples Nacional que apresentam a DCTF em razão da CPRB deixarão de estar obrigadas à apresentação dessa declaração a partir do início da obrigatoriedade de apresentação da </a:t>
            </a:r>
            <a:r>
              <a:rPr lang="pt-BR" sz="2800" dirty="0" err="1">
                <a:solidFill>
                  <a:srgbClr val="FF0000"/>
                </a:solidFill>
                <a:latin typeface="Times New Roman" pitchFamily="18" charset="0"/>
                <a:cs typeface="Times New Roman" pitchFamily="18" charset="0"/>
              </a:rPr>
              <a:t>DCTFWeb</a:t>
            </a:r>
            <a:r>
              <a:rPr lang="pt-BR" sz="2800" dirty="0">
                <a:solidFill>
                  <a:srgbClr val="FF0000"/>
                </a:solidFill>
                <a:latin typeface="Times New Roman" pitchFamily="18" charset="0"/>
                <a:cs typeface="Times New Roman" pitchFamily="18" charset="0"/>
              </a:rPr>
              <a:t>, em conformidade com o cronograma apresentado</a:t>
            </a:r>
            <a:r>
              <a:rPr lang="pt-BR" sz="3600" dirty="0">
                <a:solidFill>
                  <a:srgbClr val="FF0000"/>
                </a:solidFill>
              </a:rPr>
              <a:t>.</a:t>
            </a:r>
            <a:endParaRPr lang="pt-BR" sz="3600" b="1" dirty="0" smtClean="0">
              <a:solidFill>
                <a:srgbClr val="FF0000"/>
              </a:solidFill>
              <a:latin typeface="Times New Roman" pitchFamily="18" charset="0"/>
              <a:cs typeface="Times New Roman" pitchFamily="18" charset="0"/>
            </a:endParaRPr>
          </a:p>
          <a:p>
            <a:pPr indent="540000" algn="just"/>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60411165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5509200"/>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Ambientes do eSocial:</a:t>
            </a:r>
            <a:endParaRPr lang="pt-BR" sz="3600" dirty="0" smtClean="0">
              <a:solidFill>
                <a:srgbClr val="FFC000"/>
              </a:solidFill>
              <a:latin typeface="Times New Roman" pitchFamily="18" charset="0"/>
              <a:cs typeface="Times New Roman" pitchFamily="18" charset="0"/>
            </a:endParaRPr>
          </a:p>
          <a:p>
            <a:r>
              <a:rPr lang="pt-BR" sz="2800" dirty="0" smtClean="0">
                <a:latin typeface="Times New Roman" pitchFamily="18" charset="0"/>
                <a:cs typeface="Times New Roman" pitchFamily="18" charset="0"/>
              </a:rPr>
              <a:t>  </a:t>
            </a:r>
            <a:r>
              <a:rPr lang="pt-BR" sz="2800" dirty="0" smtClean="0">
                <a:solidFill>
                  <a:srgbClr val="FF0000"/>
                </a:solidFill>
                <a:latin typeface="Times New Roman" pitchFamily="18" charset="0"/>
                <a:cs typeface="Times New Roman" pitchFamily="18" charset="0"/>
              </a:rPr>
              <a:t>Existem duas espécies de ambientes no </a:t>
            </a:r>
            <a:r>
              <a:rPr lang="pt-BR" sz="2800" dirty="0" err="1" smtClean="0">
                <a:solidFill>
                  <a:srgbClr val="FF0000"/>
                </a:solidFill>
                <a:latin typeface="Times New Roman" pitchFamily="18" charset="0"/>
                <a:cs typeface="Times New Roman" pitchFamily="18" charset="0"/>
              </a:rPr>
              <a:t>eSocial</a:t>
            </a:r>
            <a:r>
              <a:rPr lang="pt-BR" sz="2800" dirty="0" smtClean="0">
                <a:solidFill>
                  <a:srgbClr val="FF0000"/>
                </a:solidFill>
                <a:latin typeface="Times New Roman" pitchFamily="18" charset="0"/>
                <a:cs typeface="Times New Roman" pitchFamily="18" charset="0"/>
              </a:rPr>
              <a:t>: </a:t>
            </a:r>
          </a:p>
          <a:p>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 a) Produção – Ambiente destinado para processamento e apuração das informações do empregador que produz todos os efeitos jurídicos.</a:t>
            </a:r>
          </a:p>
          <a:p>
            <a:pPr indent="540000" algn="just"/>
            <a:r>
              <a:rPr lang="pt-BR" sz="2800" dirty="0" smtClean="0">
                <a:solidFill>
                  <a:srgbClr val="FF0000"/>
                </a:solidFill>
                <a:latin typeface="Times New Roman" pitchFamily="18" charset="0"/>
                <a:cs typeface="Times New Roman" pitchFamily="18" charset="0"/>
              </a:rPr>
              <a:t> </a:t>
            </a:r>
          </a:p>
          <a:p>
            <a:pPr indent="540000" algn="just"/>
            <a:r>
              <a:rPr lang="pt-BR" sz="2800" dirty="0" smtClean="0">
                <a:solidFill>
                  <a:srgbClr val="FF0000"/>
                </a:solidFill>
                <a:latin typeface="Times New Roman" pitchFamily="18" charset="0"/>
                <a:cs typeface="Times New Roman" pitchFamily="18" charset="0"/>
              </a:rPr>
              <a:t>b) Produção restrita - Ambiente de teste no qual as informações do empregador não serão validadas com os sistemas externos e não produzirão efeitos jurídicos.</a:t>
            </a:r>
          </a:p>
          <a:p>
            <a:pPr indent="540000" algn="ctr"/>
            <a:endParaRPr lang="pt-BR" sz="1200" dirty="0" smtClean="0">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71331521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000108"/>
            <a:ext cx="8303384" cy="5201424"/>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 Lógica do sistema e Recomendações:</a:t>
            </a:r>
            <a:r>
              <a:rPr lang="pt-BR" sz="3600" dirty="0" smtClean="0">
                <a:solidFill>
                  <a:srgbClr val="FFC000"/>
                </a:solidFill>
                <a:latin typeface="Times New Roman" pitchFamily="18" charset="0"/>
                <a:cs typeface="Times New Roman" pitchFamily="18" charset="0"/>
              </a:rPr>
              <a:t> </a:t>
            </a:r>
          </a:p>
          <a:p>
            <a:pPr indent="540000" algn="ctr"/>
            <a:endParaRPr lang="pt-BR" sz="2800" dirty="0" smtClean="0">
              <a:solidFill>
                <a:schemeClr val="accent1">
                  <a:lumMod val="75000"/>
                </a:schemeClr>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Informações agrupadas por meio de eventos;</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Sequencia Lógico dentro do processo;</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Eventos iniciais serão utilizados nos eventos seguintes e para se alterar um dado é necessário verificar as consequências desta alteração.</a:t>
            </a:r>
            <a:endParaRPr lang="pt-BR" sz="2800" dirty="0" smtClean="0">
              <a:solidFill>
                <a:schemeClr val="accent1">
                  <a:lumMod val="75000"/>
                </a:schemeClr>
              </a:solidFill>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a:p>
            <a:pPr indent="540000" algn="ctr"/>
            <a:endParaRPr lang="pt-BR" sz="1200" dirty="0">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a:p>
            <a:pPr indent="540000" algn="ctr"/>
            <a:endParaRPr lang="pt-BR" sz="1200" dirty="0">
              <a:latin typeface="Times New Roman" pitchFamily="18" charset="0"/>
              <a:cs typeface="Times New Roman" pitchFamily="18" charset="0"/>
            </a:endParaRPr>
          </a:p>
          <a:p>
            <a:pPr indent="540000" algn="ctr"/>
            <a:endParaRPr lang="pt-BR" sz="1200" dirty="0" smtClean="0">
              <a:solidFill>
                <a:srgbClr val="FF0000"/>
              </a:solidFill>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93833546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4955203"/>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Situação especial: Trabalhador Estrangeiro:</a:t>
            </a:r>
          </a:p>
          <a:p>
            <a:pPr algn="ctr"/>
            <a:r>
              <a:rPr lang="pt-BR" sz="2800" b="1" dirty="0" smtClean="0">
                <a:solidFill>
                  <a:schemeClr val="accent1">
                    <a:lumMod val="75000"/>
                  </a:schemeClr>
                </a:solidFill>
              </a:rPr>
              <a:t> </a:t>
            </a:r>
            <a:r>
              <a:rPr lang="pt-BR" sz="2400" dirty="0" smtClean="0"/>
              <a:t> </a:t>
            </a:r>
          </a:p>
          <a:p>
            <a:pPr indent="540000" algn="just"/>
            <a:r>
              <a:rPr lang="pt-BR" sz="2400" dirty="0" smtClean="0"/>
              <a:t> </a:t>
            </a:r>
            <a:r>
              <a:rPr lang="pt-BR" sz="2800" dirty="0" smtClean="0">
                <a:solidFill>
                  <a:srgbClr val="FF0000"/>
                </a:solidFill>
                <a:latin typeface="Times New Roman" pitchFamily="18" charset="0"/>
                <a:cs typeface="Times New Roman" pitchFamily="18" charset="0"/>
              </a:rPr>
              <a:t>A Receita Federal, em parceria com o Ministério das Relações Exteriores - MRE, implementou nova sistemática de atendimento de inscrição no CPF para pessoas físicas residentes no exterior. </a:t>
            </a:r>
          </a:p>
          <a:p>
            <a:pPr indent="540000" algn="just"/>
            <a:endParaRPr lang="pt-BR" sz="2800" dirty="0">
              <a:solidFill>
                <a:schemeClr val="accent1">
                  <a:lumMod val="75000"/>
                </a:schemeClr>
              </a:solidFill>
              <a:latin typeface="Times New Roman" pitchFamily="18" charset="0"/>
              <a:cs typeface="Times New Roman" pitchFamily="18" charset="0"/>
            </a:endParaRPr>
          </a:p>
          <a:p>
            <a:pPr indent="540000" algn="just"/>
            <a:endParaRPr lang="pt-BR" sz="2800" dirty="0" smtClean="0">
              <a:solidFill>
                <a:schemeClr val="accent1">
                  <a:lumMod val="75000"/>
                </a:schemeClr>
              </a:solidFill>
              <a:latin typeface="Times New Roman" pitchFamily="18" charset="0"/>
              <a:cs typeface="Times New Roman" pitchFamily="18" charset="0"/>
            </a:endParaRPr>
          </a:p>
          <a:p>
            <a:pPr indent="540000" algn="just"/>
            <a:endParaRPr lang="pt-BR" sz="2400" dirty="0" smtClean="0">
              <a:solidFill>
                <a:schemeClr val="accent1">
                  <a:lumMod val="75000"/>
                </a:schemeClr>
              </a:solidFill>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143891659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5262979"/>
          </a:xfrm>
          <a:prstGeom prst="rect">
            <a:avLst/>
          </a:prstGeom>
          <a:noFill/>
        </p:spPr>
        <p:txBody>
          <a:bodyPr wrap="square" rtlCol="0">
            <a:spAutoFit/>
          </a:bodyPr>
          <a:lstStyle/>
          <a:p>
            <a:pPr indent="540000" algn="ctr"/>
            <a:r>
              <a:rPr lang="pt-BR" sz="2800" dirty="0" smtClean="0"/>
              <a:t> </a:t>
            </a:r>
            <a:r>
              <a:rPr lang="pt-BR" sz="3600" b="1" dirty="0" smtClean="0">
                <a:solidFill>
                  <a:srgbClr val="FFC000"/>
                </a:solidFill>
                <a:latin typeface="Times New Roman" pitchFamily="18" charset="0"/>
                <a:cs typeface="Times New Roman" pitchFamily="18" charset="0"/>
              </a:rPr>
              <a:t>Procedimentos:</a:t>
            </a:r>
          </a:p>
          <a:p>
            <a:pPr indent="540000" algn="ctr"/>
            <a:endParaRPr lang="pt-BR" sz="3600" b="1" dirty="0" smtClean="0">
              <a:solidFill>
                <a:srgbClr val="FFC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 Preencher o formulário eletrônico nas versões em português, espanhol ou inglês, disponível no portal da RFB, no endereço www.receita.fazenda.gov.br, e imprimi-lo; e</a:t>
            </a:r>
          </a:p>
          <a:p>
            <a:pPr indent="540000" algn="just"/>
            <a:r>
              <a:rPr lang="pt-BR" sz="2800" dirty="0" smtClean="0">
                <a:solidFill>
                  <a:srgbClr val="FF0000"/>
                </a:solidFill>
                <a:latin typeface="Times New Roman" pitchFamily="18" charset="0"/>
                <a:cs typeface="Times New Roman" pitchFamily="18" charset="0"/>
              </a:rPr>
              <a:t> </a:t>
            </a:r>
          </a:p>
          <a:p>
            <a:pPr indent="540000" algn="just"/>
            <a:r>
              <a:rPr lang="pt-BR" sz="2800" dirty="0" smtClean="0">
                <a:solidFill>
                  <a:srgbClr val="FF0000"/>
                </a:solidFill>
                <a:latin typeface="Times New Roman" pitchFamily="18" charset="0"/>
                <a:cs typeface="Times New Roman" pitchFamily="18" charset="0"/>
              </a:rPr>
              <a:t>b) Entregar o formulário, acompanhado de cópia dos documentos pessoais, em uma repartição consular brasileira (Consulado ou Embaixada com setor consular), para fins de conclusão da solicitação. </a:t>
            </a:r>
            <a:endParaRPr lang="pt-BR" sz="2800" b="1" dirty="0">
              <a:solidFill>
                <a:schemeClr val="accent1">
                  <a:lumMod val="75000"/>
                </a:schemeClr>
              </a:solidFill>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408928957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071546"/>
            <a:ext cx="7801200" cy="5186035"/>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Descrição Simplificada</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O </a:t>
            </a:r>
            <a:r>
              <a:rPr lang="pt-BR" sz="2800" dirty="0" err="1">
                <a:solidFill>
                  <a:srgbClr val="FF0000"/>
                </a:solidFill>
                <a:latin typeface="Times New Roman" pitchFamily="18" charset="0"/>
                <a:cs typeface="Times New Roman" pitchFamily="18" charset="0"/>
              </a:rPr>
              <a:t>eSocial</a:t>
            </a:r>
            <a:r>
              <a:rPr lang="pt-BR" sz="2800" dirty="0">
                <a:solidFill>
                  <a:srgbClr val="FF0000"/>
                </a:solidFill>
                <a:latin typeface="Times New Roman" pitchFamily="18" charset="0"/>
                <a:cs typeface="Times New Roman" pitchFamily="18" charset="0"/>
              </a:rPr>
              <a:t> não funciona por meio de um Programa </a:t>
            </a:r>
            <a:r>
              <a:rPr lang="pt-BR" sz="2800" dirty="0" err="1">
                <a:solidFill>
                  <a:srgbClr val="FF0000"/>
                </a:solidFill>
                <a:latin typeface="Times New Roman" pitchFamily="18" charset="0"/>
                <a:cs typeface="Times New Roman" pitchFamily="18" charset="0"/>
              </a:rPr>
              <a:t>offline</a:t>
            </a:r>
            <a:r>
              <a:rPr lang="pt-BR" sz="2800" dirty="0">
                <a:solidFill>
                  <a:srgbClr val="FF0000"/>
                </a:solidFill>
                <a:latin typeface="Times New Roman" pitchFamily="18" charset="0"/>
                <a:cs typeface="Times New Roman" pitchFamily="18" charset="0"/>
              </a:rPr>
              <a:t> Gerador de Declaração – PGD ou Validador e </a:t>
            </a:r>
            <a:r>
              <a:rPr lang="pt-BR" sz="2800" dirty="0" err="1">
                <a:solidFill>
                  <a:srgbClr val="FF0000"/>
                </a:solidFill>
                <a:latin typeface="Times New Roman" pitchFamily="18" charset="0"/>
                <a:cs typeface="Times New Roman" pitchFamily="18" charset="0"/>
              </a:rPr>
              <a:t>Assinador</a:t>
            </a:r>
            <a:r>
              <a:rPr lang="pt-BR" sz="2800" dirty="0">
                <a:solidFill>
                  <a:srgbClr val="FF0000"/>
                </a:solidFill>
                <a:latin typeface="Times New Roman" pitchFamily="18" charset="0"/>
                <a:cs typeface="Times New Roman" pitchFamily="18" charset="0"/>
              </a:rPr>
              <a:t> – </a:t>
            </a:r>
            <a:r>
              <a:rPr lang="pt-BR" sz="2800" dirty="0" smtClean="0">
                <a:solidFill>
                  <a:srgbClr val="FF0000"/>
                </a:solidFill>
                <a:latin typeface="Times New Roman" pitchFamily="18" charset="0"/>
                <a:cs typeface="Times New Roman" pitchFamily="18" charset="0"/>
              </a:rPr>
              <a:t>PVA</a:t>
            </a:r>
            <a:r>
              <a:rPr lang="pt-BR" sz="2800" dirty="0">
                <a:solidFill>
                  <a:srgbClr val="FF0000"/>
                </a:solidFill>
                <a:latin typeface="Times New Roman" pitchFamily="18" charset="0"/>
                <a:cs typeface="Times New Roman" pitchFamily="18" charset="0"/>
              </a:rPr>
              <a:t>.</a:t>
            </a:r>
            <a:r>
              <a:rPr lang="pt-BR" sz="2800" dirty="0" smtClean="0">
                <a:solidFill>
                  <a:srgbClr val="FF0000"/>
                </a:solidFill>
                <a:latin typeface="Times New Roman" pitchFamily="18" charset="0"/>
                <a:cs typeface="Times New Roman" pitchFamily="18" charset="0"/>
              </a:rPr>
              <a:t> </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Não </a:t>
            </a:r>
            <a:r>
              <a:rPr lang="pt-BR" sz="2800" dirty="0">
                <a:solidFill>
                  <a:srgbClr val="FF0000"/>
                </a:solidFill>
                <a:latin typeface="Times New Roman" pitchFamily="18" charset="0"/>
                <a:cs typeface="Times New Roman" pitchFamily="18" charset="0"/>
              </a:rPr>
              <a:t>possui um aplicativo para download no ambiente do empregador/contribuinte/órgão público que importe o arquivo e faça as validações antes de transmitir</a:t>
            </a:r>
            <a:r>
              <a:rPr lang="pt-BR" sz="2800" dirty="0" smtClean="0">
                <a:solidFill>
                  <a:srgbClr val="FF0000"/>
                </a:solidFill>
                <a:latin typeface="Times New Roman" pitchFamily="18" charset="0"/>
                <a:cs typeface="Times New Roman" pitchFamily="18" charset="0"/>
              </a:rPr>
              <a:t>.</a:t>
            </a:r>
            <a:r>
              <a:rPr lang="pt-BR" sz="3600" dirty="0" smtClean="0">
                <a:solidFill>
                  <a:srgbClr val="FFC000"/>
                </a:solidFill>
                <a:latin typeface="Times New Roman" pitchFamily="18" charset="0"/>
                <a:cs typeface="Times New Roman" pitchFamily="18" charset="0"/>
              </a:rPr>
              <a:t> </a:t>
            </a:r>
          </a:p>
          <a:p>
            <a:pPr indent="540000" algn="just"/>
            <a:r>
              <a:rPr lang="pt-BR" sz="2400" dirty="0" smtClean="0"/>
              <a:t> </a:t>
            </a:r>
            <a:endParaRPr lang="pt-BR" sz="1100" dirty="0" smtClean="0">
              <a:solidFill>
                <a:srgbClr val="FF0000"/>
              </a:solidFill>
              <a:latin typeface="Times New Roman" pitchFamily="18" charset="0"/>
              <a:cs typeface="Times New Roman" pitchFamily="18" charset="0"/>
            </a:endParaRPr>
          </a:p>
          <a:p>
            <a:pPr indent="540000" algn="ctr"/>
            <a:endParaRPr lang="pt-BR" sz="11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90745946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071546"/>
            <a:ext cx="8446260" cy="5693866"/>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O Arquivo pode ser Gerado de Duas </a:t>
            </a:r>
            <a:r>
              <a:rPr lang="pt-BR" sz="3600" b="1" dirty="0">
                <a:solidFill>
                  <a:srgbClr val="FFC000"/>
                </a:solidFill>
                <a:latin typeface="Times New Roman" pitchFamily="18" charset="0"/>
                <a:cs typeface="Times New Roman" pitchFamily="18" charset="0"/>
              </a:rPr>
              <a:t>F</a:t>
            </a:r>
            <a:r>
              <a:rPr lang="pt-BR" sz="3600" b="1" dirty="0" smtClean="0">
                <a:solidFill>
                  <a:srgbClr val="FFC000"/>
                </a:solidFill>
                <a:latin typeface="Times New Roman" pitchFamily="18" charset="0"/>
                <a:cs typeface="Times New Roman" pitchFamily="18" charset="0"/>
              </a:rPr>
              <a:t>ormas:</a:t>
            </a:r>
          </a:p>
          <a:p>
            <a:pPr indent="540000" algn="just"/>
            <a:r>
              <a:rPr lang="pt-BR" sz="2800" dirty="0" smtClean="0">
                <a:solidFill>
                  <a:srgbClr val="FF0000"/>
                </a:solidFill>
                <a:latin typeface="Times New Roman" pitchFamily="18" charset="0"/>
                <a:cs typeface="Times New Roman" pitchFamily="18" charset="0"/>
              </a:rPr>
              <a:t> </a:t>
            </a:r>
          </a:p>
          <a:p>
            <a:pPr indent="540000" algn="just"/>
            <a:r>
              <a:rPr lang="pt-BR" sz="2800" dirty="0" smtClean="0">
                <a:solidFill>
                  <a:srgbClr val="FF0000"/>
                </a:solidFill>
                <a:latin typeface="Times New Roman" pitchFamily="18" charset="0"/>
                <a:cs typeface="Times New Roman" pitchFamily="18" charset="0"/>
              </a:rPr>
              <a:t>a) pelo sistema de propriedade do empregador/contribuinte/órgão público ou contratado de terceiros, ou</a:t>
            </a:r>
            <a:endParaRPr lang="pt-BR" sz="2800" dirty="0">
              <a:solidFill>
                <a:srgbClr val="FF0000"/>
              </a:solidFill>
              <a:latin typeface="Times New Roman" pitchFamily="18" charset="0"/>
              <a:cs typeface="Times New Roman" pitchFamily="18" charset="0"/>
            </a:endParaRPr>
          </a:p>
          <a:p>
            <a:pPr indent="540000" algn="just">
              <a:buAutoNum type="alphaLcParenR"/>
            </a:pPr>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b</a:t>
            </a:r>
            <a:r>
              <a:rPr lang="pt-BR" sz="2800" dirty="0">
                <a:solidFill>
                  <a:srgbClr val="FF0000"/>
                </a:solidFill>
                <a:latin typeface="Times New Roman" pitchFamily="18" charset="0"/>
                <a:cs typeface="Times New Roman" pitchFamily="18" charset="0"/>
              </a:rPr>
              <a:t>) diretamente no Portal do </a:t>
            </a:r>
            <a:r>
              <a:rPr lang="pt-BR" sz="2800" dirty="0" err="1">
                <a:solidFill>
                  <a:srgbClr val="FF0000"/>
                </a:solidFill>
                <a:latin typeface="Times New Roman" pitchFamily="18" charset="0"/>
                <a:cs typeface="Times New Roman" pitchFamily="18" charset="0"/>
              </a:rPr>
              <a:t>eSocial</a:t>
            </a:r>
            <a:r>
              <a:rPr lang="pt-BR" sz="2800" dirty="0">
                <a:solidFill>
                  <a:srgbClr val="FF0000"/>
                </a:solidFill>
                <a:latin typeface="Times New Roman" pitchFamily="18" charset="0"/>
                <a:cs typeface="Times New Roman" pitchFamily="18" charset="0"/>
              </a:rPr>
              <a:t> na internet - http://www.esocial.gov.br/,</a:t>
            </a:r>
            <a:endParaRPr lang="pt-BR" sz="2800" dirty="0" smtClean="0">
              <a:solidFill>
                <a:srgbClr val="FF0000"/>
              </a:solidFill>
              <a:latin typeface="Times New Roman" pitchFamily="18" charset="0"/>
              <a:cs typeface="Times New Roman" pitchFamily="18" charset="0"/>
            </a:endParaRPr>
          </a:p>
          <a:p>
            <a:pPr indent="540000" algn="ctr"/>
            <a:endParaRPr lang="pt-BR" sz="1200" dirty="0">
              <a:solidFill>
                <a:srgbClr val="FF0000"/>
              </a:solidFill>
              <a:latin typeface="Times New Roman" pitchFamily="18" charset="0"/>
              <a:cs typeface="Times New Roman" pitchFamily="18" charset="0"/>
            </a:endParaRPr>
          </a:p>
          <a:p>
            <a:pPr indent="540000" algn="ctr"/>
            <a:endParaRPr lang="pt-BR" sz="1200" dirty="0" smtClean="0">
              <a:solidFill>
                <a:srgbClr val="FF0000"/>
              </a:solidFill>
              <a:latin typeface="Times New Roman" pitchFamily="18" charset="0"/>
              <a:cs typeface="Times New Roman" pitchFamily="18" charset="0"/>
            </a:endParaRPr>
          </a:p>
          <a:p>
            <a:pPr indent="540000" algn="ctr"/>
            <a:endParaRPr lang="pt-BR" sz="1200" dirty="0">
              <a:solidFill>
                <a:srgbClr val="FF0000"/>
              </a:solidFill>
              <a:latin typeface="Times New Roman" pitchFamily="18" charset="0"/>
              <a:cs typeface="Times New Roman" pitchFamily="18" charset="0"/>
            </a:endParaRPr>
          </a:p>
          <a:p>
            <a:pPr indent="540000" algn="ctr"/>
            <a:endParaRPr lang="pt-BR" sz="1200" dirty="0" smtClean="0">
              <a:solidFill>
                <a:srgbClr val="FF0000"/>
              </a:solidFill>
              <a:latin typeface="Times New Roman" pitchFamily="18" charset="0"/>
              <a:cs typeface="Times New Roman" pitchFamily="18" charset="0"/>
            </a:endParaRPr>
          </a:p>
          <a:p>
            <a:pPr indent="540000" algn="ctr"/>
            <a:endParaRPr lang="pt-BR" sz="1200" dirty="0">
              <a:solidFill>
                <a:srgbClr val="FF0000"/>
              </a:solidFill>
              <a:latin typeface="Times New Roman" pitchFamily="18" charset="0"/>
              <a:cs typeface="Times New Roman" pitchFamily="18" charset="0"/>
            </a:endParaRPr>
          </a:p>
          <a:p>
            <a:pPr indent="540000" algn="ctr"/>
            <a:endParaRPr lang="pt-BR" sz="1200" dirty="0" smtClean="0">
              <a:solidFill>
                <a:srgbClr val="FF0000"/>
              </a:solidFill>
              <a:latin typeface="Times New Roman" pitchFamily="18" charset="0"/>
              <a:cs typeface="Times New Roman" pitchFamily="18" charset="0"/>
            </a:endParaRPr>
          </a:p>
          <a:p>
            <a:pPr indent="540000" algn="ctr"/>
            <a:endParaRPr lang="pt-BR" sz="12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93977166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071546"/>
            <a:ext cx="7801200" cy="6632585"/>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O Processamento do </a:t>
            </a:r>
            <a:r>
              <a:rPr lang="pt-BR" sz="3600" b="1" dirty="0" err="1" smtClean="0">
                <a:solidFill>
                  <a:srgbClr val="FFC000"/>
                </a:solidFill>
                <a:latin typeface="Times New Roman" pitchFamily="18" charset="0"/>
                <a:cs typeface="Times New Roman" pitchFamily="18" charset="0"/>
              </a:rPr>
              <a:t>eSocial</a:t>
            </a:r>
            <a:endParaRPr lang="pt-BR" sz="3600" b="1" dirty="0" smtClean="0">
              <a:solidFill>
                <a:srgbClr val="FFC000"/>
              </a:solidFill>
              <a:latin typeface="Times New Roman" pitchFamily="18" charset="0"/>
              <a:cs typeface="Times New Roman" pitchFamily="18" charset="0"/>
            </a:endParaRPr>
          </a:p>
          <a:p>
            <a:pPr indent="540000" algn="just"/>
            <a:endParaRPr lang="pt-BR" sz="3600" b="1" dirty="0">
              <a:solidFill>
                <a:srgbClr val="FFC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Transmissão;</a:t>
            </a:r>
          </a:p>
          <a:p>
            <a:pPr indent="540000" algn="just"/>
            <a:r>
              <a:rPr lang="pt-BR" sz="2800" dirty="0" smtClean="0">
                <a:solidFill>
                  <a:srgbClr val="FF0000"/>
                </a:solidFill>
                <a:latin typeface="Times New Roman" pitchFamily="18" charset="0"/>
                <a:cs typeface="Times New Roman" pitchFamily="18" charset="0"/>
              </a:rPr>
              <a:t> </a:t>
            </a:r>
          </a:p>
          <a:p>
            <a:pPr indent="540000" algn="just"/>
            <a:r>
              <a:rPr lang="pt-BR" sz="2800" dirty="0" smtClean="0">
                <a:solidFill>
                  <a:srgbClr val="FF0000"/>
                </a:solidFill>
                <a:latin typeface="Times New Roman" pitchFamily="18" charset="0"/>
                <a:cs typeface="Times New Roman" pitchFamily="18" charset="0"/>
              </a:rPr>
              <a:t>Validações, recibo de entrega ou mensagem de erro.</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O número do recibo de entrega é a referência a ser utilizada em eventuais retificações ou exclusões.</a:t>
            </a:r>
          </a:p>
          <a:p>
            <a:pPr indent="540000" algn="just"/>
            <a:endParaRPr lang="pt-BR" sz="2400" b="1" dirty="0" smtClean="0">
              <a:solidFill>
                <a:schemeClr val="accent1">
                  <a:lumMod val="75000"/>
                </a:schemeClr>
              </a:solidFill>
              <a:latin typeface="Times New Roman" pitchFamily="18" charset="0"/>
              <a:cs typeface="Times New Roman" pitchFamily="18" charset="0"/>
            </a:endParaRPr>
          </a:p>
          <a:p>
            <a:pPr indent="540000" algn="ctr"/>
            <a:endParaRPr lang="pt-BR" sz="1100" dirty="0" smtClean="0">
              <a:solidFill>
                <a:srgbClr val="FF0000"/>
              </a:solidFill>
              <a:latin typeface="Times New Roman" pitchFamily="18" charset="0"/>
              <a:cs typeface="Times New Roman" pitchFamily="18" charset="0"/>
            </a:endParaRPr>
          </a:p>
          <a:p>
            <a:pPr indent="540000" algn="ctr"/>
            <a:endParaRPr lang="pt-BR" sz="1100" dirty="0">
              <a:solidFill>
                <a:srgbClr val="FF0000"/>
              </a:solidFill>
              <a:latin typeface="Times New Roman" pitchFamily="18" charset="0"/>
              <a:cs typeface="Times New Roman" pitchFamily="18" charset="0"/>
            </a:endParaRPr>
          </a:p>
          <a:p>
            <a:pPr indent="540000" algn="ctr"/>
            <a:endParaRPr lang="pt-BR" sz="1100" dirty="0" smtClean="0">
              <a:solidFill>
                <a:srgbClr val="FF0000"/>
              </a:solidFill>
              <a:latin typeface="Times New Roman" pitchFamily="18" charset="0"/>
              <a:cs typeface="Times New Roman" pitchFamily="18" charset="0"/>
            </a:endParaRPr>
          </a:p>
          <a:p>
            <a:pPr indent="540000" algn="ctr"/>
            <a:endParaRPr lang="pt-BR" sz="1100" dirty="0">
              <a:solidFill>
                <a:srgbClr val="FF0000"/>
              </a:solidFill>
              <a:latin typeface="Times New Roman" pitchFamily="18" charset="0"/>
              <a:cs typeface="Times New Roman" pitchFamily="18" charset="0"/>
            </a:endParaRPr>
          </a:p>
          <a:p>
            <a:pPr indent="540000" algn="ctr"/>
            <a:endParaRPr lang="pt-BR" sz="1100" dirty="0" smtClean="0">
              <a:solidFill>
                <a:srgbClr val="FF0000"/>
              </a:solidFill>
              <a:latin typeface="Times New Roman" pitchFamily="18" charset="0"/>
              <a:cs typeface="Times New Roman" pitchFamily="18" charset="0"/>
            </a:endParaRPr>
          </a:p>
          <a:p>
            <a:pPr indent="540000" algn="ctr"/>
            <a:endParaRPr lang="pt-BR" sz="1100" dirty="0">
              <a:solidFill>
                <a:srgbClr val="FF0000"/>
              </a:solidFill>
              <a:latin typeface="Times New Roman" pitchFamily="18" charset="0"/>
              <a:cs typeface="Times New Roman" pitchFamily="18" charset="0"/>
            </a:endParaRPr>
          </a:p>
          <a:p>
            <a:pPr indent="540000" algn="ctr"/>
            <a:endParaRPr lang="pt-BR" sz="1100" dirty="0" smtClean="0">
              <a:solidFill>
                <a:srgbClr val="FF0000"/>
              </a:solidFill>
              <a:latin typeface="Times New Roman" pitchFamily="18" charset="0"/>
              <a:cs typeface="Times New Roman" pitchFamily="18" charset="0"/>
            </a:endParaRPr>
          </a:p>
          <a:p>
            <a:pPr indent="540000" algn="ctr"/>
            <a:endParaRPr lang="pt-BR" sz="1100" dirty="0">
              <a:solidFill>
                <a:srgbClr val="FF0000"/>
              </a:solidFill>
              <a:latin typeface="Times New Roman" pitchFamily="18" charset="0"/>
              <a:cs typeface="Times New Roman" pitchFamily="18" charset="0"/>
            </a:endParaRPr>
          </a:p>
          <a:p>
            <a:pPr indent="540000" algn="ctr"/>
            <a:endParaRPr lang="pt-BR" sz="1100" dirty="0" smtClean="0">
              <a:solidFill>
                <a:srgbClr val="FF0000"/>
              </a:solidFill>
              <a:latin typeface="Times New Roman" pitchFamily="18" charset="0"/>
              <a:cs typeface="Times New Roman" pitchFamily="18" charset="0"/>
            </a:endParaRPr>
          </a:p>
          <a:p>
            <a:pPr indent="540000" algn="ctr"/>
            <a:endParaRPr lang="pt-BR" sz="1100" dirty="0">
              <a:solidFill>
                <a:srgbClr val="FF0000"/>
              </a:solidFill>
              <a:latin typeface="Times New Roman" pitchFamily="18" charset="0"/>
              <a:cs typeface="Times New Roman" pitchFamily="18" charset="0"/>
            </a:endParaRPr>
          </a:p>
          <a:p>
            <a:pPr indent="540000" algn="ctr"/>
            <a:r>
              <a:rPr lang="pt-BR" sz="1100" dirty="0" smtClean="0">
                <a:solidFill>
                  <a:srgbClr val="FF0000"/>
                </a:solidFill>
                <a:latin typeface="Times New Roman" pitchFamily="18" charset="0"/>
                <a:cs typeface="Times New Roman" pitchFamily="18" charset="0"/>
              </a:rPr>
              <a:t>Fonte: Manual do </a:t>
            </a:r>
            <a:r>
              <a:rPr lang="pt-BR" sz="1100" dirty="0" err="1" smtClean="0">
                <a:solidFill>
                  <a:srgbClr val="FF0000"/>
                </a:solidFill>
                <a:latin typeface="Times New Roman" pitchFamily="18" charset="0"/>
                <a:cs typeface="Times New Roman" pitchFamily="18" charset="0"/>
              </a:rPr>
              <a:t>eSocial</a:t>
            </a:r>
            <a:r>
              <a:rPr lang="pt-BR" sz="1100" dirty="0" smtClean="0">
                <a:solidFill>
                  <a:srgbClr val="FF0000"/>
                </a:solidFill>
                <a:latin typeface="Times New Roman" pitchFamily="18" charset="0"/>
                <a:cs typeface="Times New Roman" pitchFamily="18" charset="0"/>
              </a:rPr>
              <a:t> Versão 2.4</a:t>
            </a:r>
          </a:p>
        </p:txBody>
      </p:sp>
    </p:spTree>
    <p:extLst>
      <p:ext uri="{BB962C8B-B14F-4D97-AF65-F5344CB8AC3E}">
        <p14:creationId xmlns:p14="http://schemas.microsoft.com/office/powerpoint/2010/main" val="26605074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1080" y="108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000108"/>
            <a:ext cx="7801200" cy="7478970"/>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Acesso ao </a:t>
            </a:r>
            <a:r>
              <a:rPr lang="pt-BR" sz="3600" b="1" dirty="0" err="1" smtClean="0">
                <a:solidFill>
                  <a:srgbClr val="FFC000"/>
                </a:solidFill>
                <a:latin typeface="Times New Roman" pitchFamily="18" charset="0"/>
                <a:cs typeface="Times New Roman" pitchFamily="18" charset="0"/>
              </a:rPr>
              <a:t>eSocial</a:t>
            </a:r>
            <a:r>
              <a:rPr lang="pt-BR" sz="2800" dirty="0" smtClean="0">
                <a:solidFill>
                  <a:srgbClr val="FFC000"/>
                </a:solidFill>
                <a:latin typeface="Times New Roman" pitchFamily="18" charset="0"/>
                <a:cs typeface="Times New Roman" pitchFamily="18" charset="0"/>
              </a:rPr>
              <a:t> </a:t>
            </a:r>
          </a:p>
          <a:p>
            <a:pPr indent="540000" algn="just"/>
            <a:r>
              <a:rPr lang="pt-BR" sz="2800" dirty="0" smtClean="0">
                <a:solidFill>
                  <a:srgbClr val="FF0000"/>
                </a:solidFill>
                <a:latin typeface="Times New Roman" pitchFamily="18" charset="0"/>
                <a:cs typeface="Times New Roman" pitchFamily="18" charset="0"/>
              </a:rPr>
              <a:t>Certificado digital A1 ou A3.</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a:solidFill>
                  <a:srgbClr val="FF0000"/>
                </a:solidFill>
                <a:latin typeface="Times New Roman" pitchFamily="18" charset="0"/>
                <a:cs typeface="Times New Roman" pitchFamily="18" charset="0"/>
              </a:rPr>
              <a:t>Os certificados digitais serão exigidos em dois momentos distintos</a:t>
            </a:r>
            <a:r>
              <a:rPr lang="pt-BR" sz="2800" dirty="0" smtClean="0">
                <a:solidFill>
                  <a:srgbClr val="FF0000"/>
                </a:solidFill>
                <a:latin typeface="Times New Roman" pitchFamily="18" charset="0"/>
                <a:cs typeface="Times New Roman" pitchFamily="18" charset="0"/>
              </a:rPr>
              <a:t>:</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Acesso e Assinatura Digital de Documentos.</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 A ME e EPP que possua apenas um colaborador, o MEI, o contribuinte individual, o segurado especial, o empregador doméstico, assim como o produtor rural pessoa física que possua até 7 empregados poderá enviar com código de acesso.</a:t>
            </a:r>
          </a:p>
          <a:p>
            <a:pPr indent="540000" algn="just"/>
            <a:endParaRPr lang="pt-BR" sz="28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just"/>
            <a:endParaRPr lang="pt-BR" sz="2800" dirty="0">
              <a:solidFill>
                <a:srgbClr val="FF0000"/>
              </a:solidFill>
              <a:latin typeface="Times New Roman" pitchFamily="18" charset="0"/>
              <a:cs typeface="Times New Roman" pitchFamily="18" charset="0"/>
            </a:endParaRPr>
          </a:p>
          <a:p>
            <a:pPr indent="540000" algn="just"/>
            <a:endParaRPr lang="pt-BR" sz="1200" dirty="0">
              <a:latin typeface="Times New Roman" pitchFamily="18" charset="0"/>
              <a:cs typeface="Times New Roman" pitchFamily="18" charset="0"/>
            </a:endParaRPr>
          </a:p>
        </p:txBody>
      </p:sp>
    </p:spTree>
    <p:extLst>
      <p:ext uri="{BB962C8B-B14F-4D97-AF65-F5344CB8AC3E}">
        <p14:creationId xmlns:p14="http://schemas.microsoft.com/office/powerpoint/2010/main" val="373832351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071546"/>
            <a:ext cx="7801200" cy="6924973"/>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Como </a:t>
            </a:r>
            <a:r>
              <a:rPr lang="pt-BR" sz="3600" b="1" dirty="0">
                <a:solidFill>
                  <a:srgbClr val="FFC000"/>
                </a:solidFill>
                <a:latin typeface="Times New Roman" pitchFamily="18" charset="0"/>
                <a:cs typeface="Times New Roman" pitchFamily="18" charset="0"/>
              </a:rPr>
              <a:t>S</a:t>
            </a:r>
            <a:r>
              <a:rPr lang="pt-BR" sz="3600" b="1" dirty="0" smtClean="0">
                <a:solidFill>
                  <a:srgbClr val="FFC000"/>
                </a:solidFill>
                <a:latin typeface="Times New Roman" pitchFamily="18" charset="0"/>
                <a:cs typeface="Times New Roman" pitchFamily="18" charset="0"/>
              </a:rPr>
              <a:t>erá </a:t>
            </a:r>
            <a:r>
              <a:rPr lang="pt-BR" sz="3600" b="1" dirty="0">
                <a:solidFill>
                  <a:srgbClr val="FFC000"/>
                </a:solidFill>
                <a:latin typeface="Times New Roman" pitchFamily="18" charset="0"/>
                <a:cs typeface="Times New Roman" pitchFamily="18" charset="0"/>
              </a:rPr>
              <a:t>F</a:t>
            </a:r>
            <a:r>
              <a:rPr lang="pt-BR" sz="3600" b="1" dirty="0" smtClean="0">
                <a:solidFill>
                  <a:srgbClr val="FFC000"/>
                </a:solidFill>
                <a:latin typeface="Times New Roman" pitchFamily="18" charset="0"/>
                <a:cs typeface="Times New Roman" pitchFamily="18" charset="0"/>
              </a:rPr>
              <a:t>eita a Constituição de Créditos e Geração de Guias de Recolhimento?</a:t>
            </a:r>
            <a:endParaRPr lang="pt-BR" sz="3600" dirty="0" smtClean="0">
              <a:solidFill>
                <a:srgbClr val="FFC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 a) No sítio da Receita Federal do Brasil – RFB para as contribuições previdenciárias, contribuições para terceiros e imposto de renda referente à remuneração do trabalhador;</a:t>
            </a:r>
            <a:endParaRPr lang="pt-BR" sz="2800" dirty="0">
              <a:solidFill>
                <a:srgbClr val="FF0000"/>
              </a:solidFill>
              <a:latin typeface="Times New Roman" pitchFamily="18" charset="0"/>
              <a:cs typeface="Times New Roman" pitchFamily="18" charset="0"/>
            </a:endParaRPr>
          </a:p>
          <a:p>
            <a:pPr indent="540000" algn="just"/>
            <a:r>
              <a:rPr lang="pt-BR" sz="2800" dirty="0">
                <a:solidFill>
                  <a:srgbClr val="FF0000"/>
                </a:solidFill>
                <a:latin typeface="Times New Roman" pitchFamily="18" charset="0"/>
                <a:cs typeface="Times New Roman" pitchFamily="18" charset="0"/>
              </a:rPr>
              <a:t>b) No sítio da Caixa Econômica Federal – CAIXA para o FGTS. </a:t>
            </a:r>
            <a:endParaRPr lang="pt-BR" sz="2800" dirty="0" smtClean="0">
              <a:solidFill>
                <a:srgbClr val="FF0000"/>
              </a:solidFill>
              <a:latin typeface="Times New Roman" pitchFamily="18" charset="0"/>
              <a:cs typeface="Times New Roman" pitchFamily="18" charset="0"/>
            </a:endParaRPr>
          </a:p>
          <a:p>
            <a:pPr indent="540000" algn="just"/>
            <a:r>
              <a:rPr lang="pt-BR" sz="2800" dirty="0">
                <a:solidFill>
                  <a:srgbClr val="FF0000"/>
                </a:solidFill>
                <a:latin typeface="Times New Roman" pitchFamily="18" charset="0"/>
                <a:cs typeface="Times New Roman" pitchFamily="18" charset="0"/>
              </a:rPr>
              <a:t>No </a:t>
            </a:r>
            <a:r>
              <a:rPr lang="pt-BR" sz="2800" dirty="0" err="1">
                <a:solidFill>
                  <a:srgbClr val="FF0000"/>
                </a:solidFill>
                <a:latin typeface="Times New Roman" pitchFamily="18" charset="0"/>
                <a:cs typeface="Times New Roman" pitchFamily="18" charset="0"/>
              </a:rPr>
              <a:t>DCTFWeb</a:t>
            </a:r>
            <a:r>
              <a:rPr lang="pt-BR" sz="2800" dirty="0">
                <a:solidFill>
                  <a:srgbClr val="FF0000"/>
                </a:solidFill>
                <a:latin typeface="Times New Roman" pitchFamily="18" charset="0"/>
                <a:cs typeface="Times New Roman" pitchFamily="18" charset="0"/>
              </a:rPr>
              <a:t> serão disponibilizadas as formas de liquidação dos débitos tributários.</a:t>
            </a:r>
          </a:p>
          <a:p>
            <a:pPr indent="540000" algn="just"/>
            <a:endParaRPr lang="pt-BR" sz="2800" dirty="0" smtClean="0">
              <a:solidFill>
                <a:srgbClr val="FF0000"/>
              </a:solidFill>
              <a:latin typeface="Times New Roman" pitchFamily="18" charset="0"/>
              <a:cs typeface="Times New Roman" pitchFamily="18" charset="0"/>
            </a:endParaRPr>
          </a:p>
          <a:p>
            <a:pPr indent="540000" algn="just"/>
            <a:endParaRPr lang="pt-BR" sz="2800" dirty="0">
              <a:solidFill>
                <a:srgbClr val="FF0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82731889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4647426"/>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Como Deve Ser Elaborada a Folha de Pagamento?</a:t>
            </a:r>
            <a:endParaRPr lang="pt-BR" sz="3600" dirty="0" smtClean="0">
              <a:solidFill>
                <a:srgbClr val="FFC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  folha de pagamento deve ser elaborada mensalmente, de forma coletiva, por estabelecimento, por obra de construção civil e por tomador de serviços, com a correspondente totalização.</a:t>
            </a:r>
          </a:p>
          <a:p>
            <a:pPr indent="540000" algn="just"/>
            <a:endParaRPr lang="pt-BR" sz="1200" dirty="0" smtClean="0">
              <a:latin typeface="Times New Roman" pitchFamily="18" charset="0"/>
              <a:cs typeface="Times New Roman" pitchFamily="18" charset="0"/>
            </a:endParaRPr>
          </a:p>
          <a:p>
            <a:pPr indent="540000" algn="ctr"/>
            <a:endParaRPr lang="pt-BR" sz="1200" dirty="0">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00511910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5078313"/>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Quais as Informações </a:t>
            </a:r>
            <a:r>
              <a:rPr lang="pt-BR" sz="3600" b="1" dirty="0">
                <a:solidFill>
                  <a:srgbClr val="FFC000"/>
                </a:solidFill>
                <a:latin typeface="Times New Roman" pitchFamily="18" charset="0"/>
                <a:cs typeface="Times New Roman" pitchFamily="18" charset="0"/>
              </a:rPr>
              <a:t>D</a:t>
            </a:r>
            <a:r>
              <a:rPr lang="pt-BR" sz="3600" b="1" dirty="0" smtClean="0">
                <a:solidFill>
                  <a:srgbClr val="FFC000"/>
                </a:solidFill>
                <a:latin typeface="Times New Roman" pitchFamily="18" charset="0"/>
                <a:cs typeface="Times New Roman" pitchFamily="18" charset="0"/>
              </a:rPr>
              <a:t>everão </a:t>
            </a:r>
            <a:r>
              <a:rPr lang="pt-BR" sz="3600" b="1" dirty="0">
                <a:solidFill>
                  <a:srgbClr val="FFC000"/>
                </a:solidFill>
                <a:latin typeface="Times New Roman" pitchFamily="18" charset="0"/>
                <a:cs typeface="Times New Roman" pitchFamily="18" charset="0"/>
              </a:rPr>
              <a:t>C</a:t>
            </a:r>
            <a:r>
              <a:rPr lang="pt-BR" sz="3600" b="1" dirty="0" smtClean="0">
                <a:solidFill>
                  <a:srgbClr val="FFC000"/>
                </a:solidFill>
                <a:latin typeface="Times New Roman" pitchFamily="18" charset="0"/>
                <a:cs typeface="Times New Roman" pitchFamily="18" charset="0"/>
              </a:rPr>
              <a:t>onstar na Folha de Pagamento?</a:t>
            </a:r>
            <a:endParaRPr lang="pt-BR" sz="3600" dirty="0" smtClean="0">
              <a:solidFill>
                <a:srgbClr val="FFC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a:p>
            <a:pPr marL="514350" indent="-514350" algn="just">
              <a:buAutoNum type="alphaLcParenR"/>
            </a:pPr>
            <a:r>
              <a:rPr lang="pt-BR" sz="2800" dirty="0" smtClean="0">
                <a:solidFill>
                  <a:srgbClr val="FF0000"/>
                </a:solidFill>
                <a:latin typeface="Times New Roman" pitchFamily="18" charset="0"/>
                <a:cs typeface="Times New Roman" pitchFamily="18" charset="0"/>
              </a:rPr>
              <a:t>Discriminar o nome dos segurados, indicando carreira, cargo, função ou serviço prestado;</a:t>
            </a:r>
          </a:p>
          <a:p>
            <a:pPr marL="514350" indent="-514350" algn="just">
              <a:buAutoNum type="alphaLcParenR"/>
            </a:pPr>
            <a:endParaRPr lang="pt-BR" sz="2800" dirty="0">
              <a:solidFill>
                <a:srgbClr val="FF0000"/>
              </a:solidFill>
              <a:latin typeface="Times New Roman" pitchFamily="18" charset="0"/>
              <a:cs typeface="Times New Roman" pitchFamily="18" charset="0"/>
            </a:endParaRPr>
          </a:p>
          <a:p>
            <a:pPr marL="514350" indent="-514350" algn="just">
              <a:buAutoNum type="alphaLcParenR"/>
            </a:pPr>
            <a:r>
              <a:rPr lang="pt-BR" sz="2800" dirty="0" smtClean="0">
                <a:solidFill>
                  <a:srgbClr val="FF0000"/>
                </a:solidFill>
                <a:latin typeface="Times New Roman" pitchFamily="18" charset="0"/>
                <a:cs typeface="Times New Roman" pitchFamily="18" charset="0"/>
              </a:rPr>
              <a:t>Agrupar os segurados por categoria;</a:t>
            </a:r>
          </a:p>
          <a:p>
            <a:pPr marL="514350" indent="-514350" algn="just">
              <a:buAutoNum type="alphaLcParenR"/>
            </a:pPr>
            <a:endParaRPr lang="pt-BR" sz="2800" dirty="0">
              <a:solidFill>
                <a:srgbClr val="FF0000"/>
              </a:solidFill>
              <a:latin typeface="Times New Roman" pitchFamily="18" charset="0"/>
              <a:cs typeface="Times New Roman" pitchFamily="18" charset="0"/>
            </a:endParaRPr>
          </a:p>
          <a:p>
            <a:pPr marL="514350" indent="-514350" algn="just">
              <a:buAutoNum type="alphaLcParenR"/>
            </a:pPr>
            <a:r>
              <a:rPr lang="pt-BR" sz="2800" dirty="0" smtClean="0">
                <a:solidFill>
                  <a:srgbClr val="FF0000"/>
                </a:solidFill>
                <a:latin typeface="Times New Roman" pitchFamily="18" charset="0"/>
                <a:cs typeface="Times New Roman" pitchFamily="18" charset="0"/>
              </a:rPr>
              <a:t>Indicar seguradas em licença maternidade;</a:t>
            </a:r>
          </a:p>
          <a:p>
            <a:pPr indent="540000" algn="just"/>
            <a:endParaRPr lang="pt-BR" sz="1200" dirty="0" smtClean="0">
              <a:latin typeface="Times New Roman" pitchFamily="18" charset="0"/>
              <a:cs typeface="Times New Roman" pitchFamily="18" charset="0"/>
            </a:endParaRPr>
          </a:p>
          <a:p>
            <a:pPr indent="540000" algn="ctr"/>
            <a:endParaRPr lang="pt-BR" sz="1200" dirty="0">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57039699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071546"/>
            <a:ext cx="7801200" cy="5632311"/>
          </a:xfrm>
          <a:prstGeom prst="rect">
            <a:avLst/>
          </a:prstGeom>
          <a:noFill/>
        </p:spPr>
        <p:txBody>
          <a:bodyPr wrap="square" rtlCol="0">
            <a:spAutoFit/>
          </a:bodyPr>
          <a:lstStyle/>
          <a:p>
            <a:pPr indent="540000" algn="just"/>
            <a:r>
              <a:rPr lang="pt-BR" sz="2800" dirty="0" smtClean="0">
                <a:solidFill>
                  <a:srgbClr val="FF0000"/>
                </a:solidFill>
                <a:latin typeface="Times New Roman" pitchFamily="18" charset="0"/>
                <a:cs typeface="Times New Roman" pitchFamily="18" charset="0"/>
              </a:rPr>
              <a:t>d) destacar as parcelas integrantes e não integrantes da remuneração e os descontos legais; </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e) indicar o número de quotas de salário-família atribuídas a cada segurado;</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 f) quantificar o número de horas extras prestadas por trabalhador no período;</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 g) indicar a quantidade de horas noturnas laboradas e o percentual aplicado para a obtenção do valor do adicional noturno.</a:t>
            </a:r>
          </a:p>
          <a:p>
            <a:pPr indent="540000" algn="ctr"/>
            <a:endParaRPr lang="pt-BR" sz="1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46628833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142984"/>
            <a:ext cx="7801200" cy="3970318"/>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Quando o Movimento da Folha Presume-se Aberto?</a:t>
            </a:r>
          </a:p>
          <a:p>
            <a:pPr indent="540000" algn="just">
              <a:lnSpc>
                <a:spcPct val="150000"/>
              </a:lnSpc>
            </a:pPr>
            <a:endParaRPr lang="pt-BR" sz="2800" dirty="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O movimento relativo à Folha de Pagamento presume-se aberto com o envio do primeiro evento “S-1200 – Remuneração do Trabalhador.</a:t>
            </a:r>
            <a:endParaRPr lang="pt-BR" sz="1200" dirty="0" smtClean="0">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4001649719"/>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142984"/>
            <a:ext cx="7801200" cy="3447098"/>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Quando o Movimento da Folha Presume-se Fechado?</a:t>
            </a:r>
          </a:p>
          <a:p>
            <a:pPr indent="540000" algn="just"/>
            <a:endParaRPr lang="pt-BR" sz="2800" dirty="0">
              <a:solidFill>
                <a:srgbClr val="FF0000"/>
              </a:solidFill>
              <a:latin typeface="Times New Roman" pitchFamily="18" charset="0"/>
              <a:cs typeface="Times New Roman" pitchFamily="18" charset="0"/>
            </a:endParaRPr>
          </a:p>
          <a:p>
            <a:pPr indent="540000" algn="just">
              <a:lnSpc>
                <a:spcPct val="150000"/>
              </a:lnSpc>
            </a:pPr>
            <a:r>
              <a:rPr lang="pt-BR" sz="2800" dirty="0">
                <a:solidFill>
                  <a:srgbClr val="FF0000"/>
                </a:solidFill>
                <a:latin typeface="Times New Roman" pitchFamily="18" charset="0"/>
                <a:cs typeface="Times New Roman" pitchFamily="18" charset="0"/>
              </a:rPr>
              <a:t>A transmissão do evento “S-1299 - Fechamento dos Eventos Periódicos” pelo </a:t>
            </a:r>
            <a:r>
              <a:rPr lang="pt-BR" sz="2800" dirty="0" err="1" smtClean="0">
                <a:solidFill>
                  <a:srgbClr val="FF0000"/>
                </a:solidFill>
                <a:latin typeface="Times New Roman" pitchFamily="18" charset="0"/>
                <a:cs typeface="Times New Roman" pitchFamily="18" charset="0"/>
              </a:rPr>
              <a:t>eSocial</a:t>
            </a:r>
            <a:r>
              <a:rPr lang="pt-BR" sz="2800" dirty="0">
                <a:solidFill>
                  <a:srgbClr val="FF0000"/>
                </a:solidFill>
                <a:latin typeface="Times New Roman" pitchFamily="18" charset="0"/>
                <a:cs typeface="Times New Roman" pitchFamily="18" charset="0"/>
              </a:rPr>
              <a:t>.</a:t>
            </a:r>
            <a:endParaRPr lang="pt-BR" sz="1200" dirty="0" smtClean="0">
              <a:latin typeface="Times New Roman" pitchFamily="18" charset="0"/>
              <a:cs typeface="Times New Roman" pitchFamily="18" charset="0"/>
            </a:endParaRPr>
          </a:p>
          <a:p>
            <a:pPr indent="540000" algn="ctr"/>
            <a:endParaRPr lang="pt-BR" sz="1200" dirty="0">
              <a:latin typeface="Times New Roman" pitchFamily="18" charset="0"/>
              <a:cs typeface="Times New Roman" pitchFamily="18" charset="0"/>
            </a:endParaRPr>
          </a:p>
          <a:p>
            <a:pPr indent="540000" algn="ctr"/>
            <a:endParaRPr lang="pt-BR" sz="1200" dirty="0" smtClean="0">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54027244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000108"/>
            <a:ext cx="7801200" cy="5693866"/>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Qual o Regime Utilizado Para Apuração dos Tributos e Contribuições?</a:t>
            </a:r>
          </a:p>
          <a:p>
            <a:r>
              <a:rPr lang="pt-BR" sz="3600" dirty="0" smtClean="0">
                <a:solidFill>
                  <a:srgbClr val="FFC000"/>
                </a:solidFill>
                <a:latin typeface="Times New Roman" pitchFamily="18" charset="0"/>
                <a:cs typeface="Times New Roman" pitchFamily="18" charset="0"/>
              </a:rPr>
              <a:t> </a:t>
            </a:r>
          </a:p>
          <a:p>
            <a:pPr indent="540000" algn="just"/>
            <a:r>
              <a:rPr lang="pt-BR" sz="3600" dirty="0" smtClean="0">
                <a:solidFill>
                  <a:srgbClr val="FF0000"/>
                </a:solidFill>
                <a:latin typeface="Times New Roman" pitchFamily="18" charset="0"/>
                <a:cs typeface="Times New Roman" pitchFamily="18" charset="0"/>
              </a:rPr>
              <a:t>Contribuição Previdenciária e FGTS regime de competência;</a:t>
            </a:r>
          </a:p>
          <a:p>
            <a:pPr indent="540000" algn="just"/>
            <a:endParaRPr lang="pt-BR" sz="3600" dirty="0">
              <a:solidFill>
                <a:srgbClr val="FF0000"/>
              </a:solidFill>
              <a:latin typeface="Times New Roman" pitchFamily="18" charset="0"/>
              <a:cs typeface="Times New Roman" pitchFamily="18" charset="0"/>
            </a:endParaRPr>
          </a:p>
          <a:p>
            <a:pPr indent="540000" algn="just"/>
            <a:r>
              <a:rPr lang="pt-BR" sz="3600" dirty="0" smtClean="0">
                <a:solidFill>
                  <a:srgbClr val="FF0000"/>
                </a:solidFill>
                <a:latin typeface="Times New Roman" pitchFamily="18" charset="0"/>
                <a:cs typeface="Times New Roman" pitchFamily="18" charset="0"/>
              </a:rPr>
              <a:t>Imposto de Renda Retido na Fonte regime de caixa.</a:t>
            </a: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57502590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431983"/>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Como Informar o Pagamento?</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 data de pagamento efetivo ao empregado será informada no evento “S1210 - Pagamentos de Rendimentos do Trabalho”, acompanhada das rubricas que representam os descontos de IRRF, bem como das deduções da base IRRF (ex. pensão alimentícia), que seguem o regime de caixa. </a:t>
            </a:r>
          </a:p>
          <a:p>
            <a:pPr indent="540000" algn="ctr"/>
            <a:endParaRPr lang="pt-BR" sz="10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57502590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486" y="1344942"/>
            <a:ext cx="7801200" cy="3354765"/>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Com Relação aos Pagamentos O Que </a:t>
            </a:r>
            <a:r>
              <a:rPr lang="pt-BR" sz="3600" b="1" dirty="0">
                <a:solidFill>
                  <a:srgbClr val="FFC000"/>
                </a:solidFill>
                <a:latin typeface="Times New Roman" pitchFamily="18" charset="0"/>
                <a:cs typeface="Times New Roman" pitchFamily="18" charset="0"/>
              </a:rPr>
              <a:t>S</a:t>
            </a:r>
            <a:r>
              <a:rPr lang="pt-BR" sz="3600" b="1" dirty="0" smtClean="0">
                <a:solidFill>
                  <a:srgbClr val="FFC000"/>
                </a:solidFill>
                <a:latin typeface="Times New Roman" pitchFamily="18" charset="0"/>
                <a:cs typeface="Times New Roman" pitchFamily="18" charset="0"/>
              </a:rPr>
              <a:t>ão Exceções a Regra?</a:t>
            </a:r>
          </a:p>
          <a:p>
            <a:pPr marL="51435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 As situações de pagamento parcial;</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b) O </a:t>
            </a:r>
            <a:r>
              <a:rPr lang="pt-BR" sz="2800" dirty="0">
                <a:solidFill>
                  <a:srgbClr val="FF0000"/>
                </a:solidFill>
                <a:latin typeface="Times New Roman" pitchFamily="18" charset="0"/>
                <a:cs typeface="Times New Roman" pitchFamily="18" charset="0"/>
              </a:rPr>
              <a:t>valor pago a título de Recibo de Antecipação de </a:t>
            </a:r>
            <a:r>
              <a:rPr lang="pt-BR" sz="2800" dirty="0" smtClean="0">
                <a:solidFill>
                  <a:srgbClr val="FF0000"/>
                </a:solidFill>
                <a:latin typeface="Times New Roman" pitchFamily="18" charset="0"/>
                <a:cs typeface="Times New Roman" pitchFamily="18" charset="0"/>
              </a:rPr>
              <a:t>Férias</a:t>
            </a:r>
            <a:r>
              <a:rPr lang="pt-BR" sz="2800" dirty="0">
                <a:solidFill>
                  <a:srgbClr val="FF0000"/>
                </a:solidFill>
                <a:latin typeface="Times New Roman" pitchFamily="18" charset="0"/>
                <a:cs typeface="Times New Roman" pitchFamily="18" charset="0"/>
              </a:rPr>
              <a:t>.</a:t>
            </a:r>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48760302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970318"/>
          </a:xfrm>
          <a:prstGeom prst="rect">
            <a:avLst/>
          </a:prstGeom>
          <a:noFill/>
        </p:spPr>
        <p:txBody>
          <a:bodyPr wrap="square" rtlCol="0">
            <a:spAutoFit/>
          </a:bodyPr>
          <a:lstStyle/>
          <a:p>
            <a:pPr indent="540000" algn="just"/>
            <a:r>
              <a:rPr lang="pt-BR" sz="2800" dirty="0">
                <a:solidFill>
                  <a:srgbClr val="FF0000"/>
                </a:solidFill>
                <a:latin typeface="Times New Roman" pitchFamily="18" charset="0"/>
                <a:cs typeface="Times New Roman" pitchFamily="18" charset="0"/>
              </a:rPr>
              <a:t>O</a:t>
            </a:r>
            <a:r>
              <a:rPr lang="pt-BR" sz="2800" dirty="0" smtClean="0">
                <a:solidFill>
                  <a:srgbClr val="FF0000"/>
                </a:solidFill>
                <a:latin typeface="Times New Roman" pitchFamily="18" charset="0"/>
                <a:cs typeface="Times New Roman" pitchFamily="18" charset="0"/>
              </a:rPr>
              <a:t>s valores pagos a título de férias integrarão a folha da competência (S-1200), proporcionalmente aos dias de férias gozados, como base de cálculo da Contribuição Previdenciária e do FGTS.</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 c) Os pagamentos relativos a competências anteriores efetuados no início de obrigatoriedade, devem ser informados no grupo [</a:t>
            </a:r>
            <a:r>
              <a:rPr lang="pt-BR" sz="2800" dirty="0" err="1" smtClean="0">
                <a:solidFill>
                  <a:srgbClr val="FF0000"/>
                </a:solidFill>
                <a:latin typeface="Times New Roman" pitchFamily="18" charset="0"/>
                <a:cs typeface="Times New Roman" pitchFamily="18" charset="0"/>
              </a:rPr>
              <a:t>detPgtoAnt</a:t>
            </a:r>
            <a:r>
              <a:rPr lang="pt-BR" sz="2800" dirty="0" smtClean="0">
                <a:solidFill>
                  <a:srgbClr val="FF0000"/>
                </a:solidFill>
                <a:latin typeface="Times New Roman" pitchFamily="18" charset="0"/>
                <a:cs typeface="Times New Roman" pitchFamily="18" charset="0"/>
              </a:rPr>
              <a:t>] e serão apenas informativos.</a:t>
            </a:r>
          </a:p>
        </p:txBody>
      </p:sp>
    </p:spTree>
    <p:extLst>
      <p:ext uri="{BB962C8B-B14F-4D97-AF65-F5344CB8AC3E}">
        <p14:creationId xmlns:p14="http://schemas.microsoft.com/office/powerpoint/2010/main" val="248760302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412020" y="1344942"/>
            <a:ext cx="7801200" cy="6986528"/>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Como proceder nos casos </a:t>
            </a:r>
          </a:p>
          <a:p>
            <a:pPr indent="540000" algn="ctr"/>
            <a:r>
              <a:rPr lang="pt-BR" sz="3600" b="1" dirty="0" smtClean="0">
                <a:solidFill>
                  <a:srgbClr val="FFC000"/>
                </a:solidFill>
                <a:latin typeface="Times New Roman" pitchFamily="18" charset="0"/>
                <a:cs typeface="Times New Roman" pitchFamily="18" charset="0"/>
              </a:rPr>
              <a:t>“Sem Movimento”?</a:t>
            </a:r>
          </a:p>
          <a:p>
            <a:pPr indent="540000" algn="just"/>
            <a:endParaRPr lang="pt-BR" sz="2800" dirty="0" smtClean="0">
              <a:solidFill>
                <a:schemeClr val="accent1">
                  <a:lumMod val="75000"/>
                </a:schemeClr>
              </a:solidFill>
              <a:latin typeface="Times New Roman" pitchFamily="18" charset="0"/>
              <a:cs typeface="Times New Roman" pitchFamily="18" charset="0"/>
            </a:endParaRPr>
          </a:p>
          <a:p>
            <a:pPr indent="540000" algn="just"/>
            <a:r>
              <a:rPr lang="pt-BR" sz="2800" dirty="0">
                <a:solidFill>
                  <a:srgbClr val="FF0000"/>
                </a:solidFill>
                <a:latin typeface="Times New Roman" pitchFamily="18" charset="0"/>
                <a:cs typeface="Times New Roman" pitchFamily="18" charset="0"/>
              </a:rPr>
              <a:t>O</a:t>
            </a:r>
            <a:r>
              <a:rPr lang="pt-BR" sz="2800" dirty="0" smtClean="0">
                <a:solidFill>
                  <a:srgbClr val="FF0000"/>
                </a:solidFill>
                <a:latin typeface="Times New Roman" pitchFamily="18" charset="0"/>
                <a:cs typeface="Times New Roman" pitchFamily="18" charset="0"/>
              </a:rPr>
              <a:t> empregador </a:t>
            </a:r>
            <a:r>
              <a:rPr lang="pt-BR" sz="2800" dirty="0">
                <a:solidFill>
                  <a:srgbClr val="FF0000"/>
                </a:solidFill>
                <a:latin typeface="Times New Roman" pitchFamily="18" charset="0"/>
                <a:cs typeface="Times New Roman" pitchFamily="18" charset="0"/>
              </a:rPr>
              <a:t>enviará o “S-1299 - Fechamento dos </a:t>
            </a:r>
            <a:r>
              <a:rPr lang="pt-BR" sz="2800" dirty="0" smtClean="0">
                <a:solidFill>
                  <a:srgbClr val="FF0000"/>
                </a:solidFill>
                <a:latin typeface="Times New Roman" pitchFamily="18" charset="0"/>
                <a:cs typeface="Times New Roman" pitchFamily="18" charset="0"/>
              </a:rPr>
              <a:t>Eventos Periódicos</a:t>
            </a:r>
            <a:r>
              <a:rPr lang="pt-BR" sz="2800" dirty="0">
                <a:solidFill>
                  <a:srgbClr val="FF0000"/>
                </a:solidFill>
                <a:latin typeface="Times New Roman" pitchFamily="18" charset="0"/>
                <a:cs typeface="Times New Roman" pitchFamily="18" charset="0"/>
              </a:rPr>
              <a:t>” como sem movimento na primeira competência do ano em que esta situação ocorrer</a:t>
            </a:r>
            <a:r>
              <a:rPr lang="pt-BR" sz="2800" dirty="0" smtClean="0">
                <a:solidFill>
                  <a:srgbClr val="FF0000"/>
                </a:solidFill>
                <a:latin typeface="Times New Roman" pitchFamily="18" charset="0"/>
                <a:cs typeface="Times New Roman" pitchFamily="18" charset="0"/>
              </a:rPr>
              <a:t>.</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Caso </a:t>
            </a:r>
            <a:r>
              <a:rPr lang="pt-BR" sz="2800" dirty="0">
                <a:solidFill>
                  <a:srgbClr val="FF0000"/>
                </a:solidFill>
                <a:latin typeface="Times New Roman" pitchFamily="18" charset="0"/>
                <a:cs typeface="Times New Roman" pitchFamily="18" charset="0"/>
              </a:rPr>
              <a:t>a situação sem movimento persista nos anos seguintes, o empregador/contribuinte </a:t>
            </a:r>
            <a:r>
              <a:rPr lang="pt-BR" sz="2800" dirty="0" smtClean="0">
                <a:solidFill>
                  <a:srgbClr val="FF0000"/>
                </a:solidFill>
                <a:latin typeface="Times New Roman" pitchFamily="18" charset="0"/>
                <a:cs typeface="Times New Roman" pitchFamily="18" charset="0"/>
              </a:rPr>
              <a:t>deverá repetir </a:t>
            </a:r>
            <a:r>
              <a:rPr lang="pt-BR" sz="2800" dirty="0">
                <a:solidFill>
                  <a:srgbClr val="FF0000"/>
                </a:solidFill>
                <a:latin typeface="Times New Roman" pitchFamily="18" charset="0"/>
                <a:cs typeface="Times New Roman" pitchFamily="18" charset="0"/>
              </a:rPr>
              <a:t>este procedimento na competência janeiro de cada ano</a:t>
            </a:r>
            <a:r>
              <a:rPr lang="pt-BR" sz="2800" dirty="0" smtClean="0">
                <a:solidFill>
                  <a:srgbClr val="FF0000"/>
                </a:solidFill>
                <a:latin typeface="Times New Roman" pitchFamily="18" charset="0"/>
                <a:cs typeface="Times New Roman" pitchFamily="18" charset="0"/>
              </a:rPr>
              <a:t>.                                 </a:t>
            </a:r>
          </a:p>
          <a:p>
            <a:pPr indent="540000" algn="just"/>
            <a:endParaRPr lang="pt-BR" sz="2800" dirty="0">
              <a:latin typeface="Times New Roman" pitchFamily="18" charset="0"/>
              <a:cs typeface="Times New Roman" pitchFamily="18" charset="0"/>
            </a:endParaRPr>
          </a:p>
          <a:p>
            <a:pPr indent="540000" algn="ctr"/>
            <a:r>
              <a:rPr lang="pt-BR" sz="1200" dirty="0">
                <a:latin typeface="Times New Roman" pitchFamily="18" charset="0"/>
                <a:cs typeface="Times New Roman" pitchFamily="18" charset="0"/>
              </a:rPr>
              <a:t>Fonte: Manual do </a:t>
            </a:r>
            <a:r>
              <a:rPr lang="pt-BR" sz="1200" dirty="0" err="1">
                <a:latin typeface="Times New Roman" pitchFamily="18" charset="0"/>
                <a:cs typeface="Times New Roman" pitchFamily="18" charset="0"/>
              </a:rPr>
              <a:t>eSocial</a:t>
            </a:r>
            <a:r>
              <a:rPr lang="pt-BR" sz="1200" dirty="0">
                <a:latin typeface="Times New Roman" pitchFamily="18" charset="0"/>
                <a:cs typeface="Times New Roman" pitchFamily="18" charset="0"/>
              </a:rPr>
              <a:t> Versão 2.2 </a:t>
            </a:r>
          </a:p>
          <a:p>
            <a:pPr indent="540000" algn="just"/>
            <a:endParaRPr lang="pt-BR" sz="2800" dirty="0" smtClean="0">
              <a:latin typeface="Times New Roman" pitchFamily="18" charset="0"/>
              <a:cs typeface="Times New Roman" pitchFamily="18" charset="0"/>
            </a:endParaRP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4109763913"/>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370427"/>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Quais os Eventos São Passíveis de Alteração?</a:t>
            </a:r>
            <a:endParaRPr lang="pt-BR" sz="3600" dirty="0" smtClean="0">
              <a:solidFill>
                <a:srgbClr val="FFC000"/>
              </a:solidFill>
              <a:latin typeface="Times New Roman" pitchFamily="18" charset="0"/>
              <a:cs typeface="Times New Roman" pitchFamily="18" charset="0"/>
            </a:endParaRPr>
          </a:p>
          <a:p>
            <a:r>
              <a:rPr lang="pt-BR" sz="2800" dirty="0" smtClean="0"/>
              <a:t> </a:t>
            </a:r>
          </a:p>
          <a:p>
            <a:pPr indent="540000" algn="just">
              <a:lnSpc>
                <a:spcPct val="150000"/>
              </a:lnSpc>
            </a:pPr>
            <a:r>
              <a:rPr lang="pt-BR" sz="2800" dirty="0" smtClean="0"/>
              <a:t> </a:t>
            </a:r>
            <a:r>
              <a:rPr lang="pt-BR" sz="2800" dirty="0" smtClean="0">
                <a:solidFill>
                  <a:srgbClr val="FF0000"/>
                </a:solidFill>
                <a:latin typeface="Times New Roman" pitchFamily="18" charset="0"/>
                <a:cs typeface="Times New Roman" pitchFamily="18" charset="0"/>
              </a:rPr>
              <a:t>O procedimento ALTERAÇÃO das informações transmitidas ao eSocial ocorre somente nos eventos de Tabelas (S-1005 a S-1080) e no evento “S-1000 - Informações do Empregador. </a:t>
            </a:r>
            <a:endParaRPr lang="pt-BR" sz="1000" dirty="0" smtClean="0">
              <a:solidFill>
                <a:srgbClr val="FF0000"/>
              </a:solidFill>
              <a:latin typeface="Times New Roman" pitchFamily="18" charset="0"/>
              <a:cs typeface="Times New Roman" pitchFamily="18" charset="0"/>
            </a:endParaRPr>
          </a:p>
          <a:p>
            <a:pPr indent="540000" algn="ctr"/>
            <a:r>
              <a:rPr lang="pt-BR" sz="1000" dirty="0">
                <a:solidFill>
                  <a:srgbClr val="FF0000"/>
                </a:solidFill>
                <a:latin typeface="Times New Roman" pitchFamily="18" charset="0"/>
                <a:cs typeface="Times New Roman" pitchFamily="18" charset="0"/>
              </a:rPr>
              <a:t> </a:t>
            </a:r>
            <a:r>
              <a:rPr lang="pt-BR" sz="1000" dirty="0" smtClean="0">
                <a:solidFill>
                  <a:srgbClr val="FF0000"/>
                </a:solidFill>
                <a:latin typeface="Times New Roman" pitchFamily="18" charset="0"/>
                <a:cs typeface="Times New Roman" pitchFamily="18" charset="0"/>
              </a:rPr>
              <a:t>                                                                             </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142984"/>
            <a:ext cx="7801200" cy="6278642"/>
          </a:xfrm>
          <a:prstGeom prst="rect">
            <a:avLst/>
          </a:prstGeom>
          <a:noFill/>
        </p:spPr>
        <p:txBody>
          <a:bodyPr wrap="square" rtlCol="0">
            <a:spAutoFit/>
          </a:bodyPr>
          <a:lstStyle/>
          <a:p>
            <a:pPr indent="540000" algn="just"/>
            <a:r>
              <a:rPr lang="pt-BR" sz="3600" b="1" dirty="0">
                <a:solidFill>
                  <a:srgbClr val="FFC000"/>
                </a:solidFill>
                <a:latin typeface="Times New Roman" pitchFamily="18" charset="0"/>
                <a:cs typeface="Times New Roman" pitchFamily="18" charset="0"/>
              </a:rPr>
              <a:t>Quais os Eventos São Passíveis de </a:t>
            </a:r>
            <a:r>
              <a:rPr lang="pt-BR" sz="3600" b="1" dirty="0" smtClean="0">
                <a:solidFill>
                  <a:srgbClr val="FFC000"/>
                </a:solidFill>
                <a:latin typeface="Times New Roman" pitchFamily="18" charset="0"/>
                <a:cs typeface="Times New Roman" pitchFamily="18" charset="0"/>
              </a:rPr>
              <a:t>Retificação?</a:t>
            </a:r>
            <a:endParaRPr lang="pt-BR" sz="3600" dirty="0">
              <a:solidFill>
                <a:srgbClr val="FFC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Todos os demais casos de “alteração” nas informações transmitidas serão tratados pelo eSocial como procedimentos de RETIFICAÇÃO, ou mesmo de EXCLUSÃO.  </a:t>
            </a:r>
          </a:p>
          <a:p>
            <a:pPr indent="540000" algn="just"/>
            <a:endParaRPr lang="pt-BR" sz="2800" dirty="0">
              <a:solidFill>
                <a:srgbClr val="FF0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a:p>
            <a:pPr indent="540000" algn="just"/>
            <a:endParaRPr lang="pt-BR" sz="28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293757"/>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Importante:</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As </a:t>
            </a:r>
            <a:r>
              <a:rPr lang="pt-BR" sz="2800" dirty="0">
                <a:solidFill>
                  <a:srgbClr val="FF0000"/>
                </a:solidFill>
                <a:latin typeface="Times New Roman" pitchFamily="18" charset="0"/>
                <a:cs typeface="Times New Roman" pitchFamily="18" charset="0"/>
              </a:rPr>
              <a:t>alterações em eventos não periódicos, e principalmente em eventos de Tabelas, podem trazer consequências nos cálculos e apurações de fechamento dos eventos periódicos. </a:t>
            </a:r>
          </a:p>
          <a:p>
            <a:pPr indent="540000" algn="just"/>
            <a:r>
              <a:rPr lang="pt-BR" sz="2800" dirty="0" smtClean="0">
                <a:solidFill>
                  <a:srgbClr val="FF0000"/>
                </a:solidFill>
                <a:latin typeface="Times New Roman" pitchFamily="18" charset="0"/>
                <a:cs typeface="Times New Roman" pitchFamily="18" charset="0"/>
              </a:rPr>
              <a:t>Assim sendo, é necessário rigoroso controle para que uma alteração não torne inconsistente um movimento de evento periódico já fechado para determinado período de apuração. </a:t>
            </a:r>
            <a:r>
              <a:rPr lang="pt-BR" sz="2800" dirty="0" smtClean="0"/>
              <a:t> </a:t>
            </a:r>
          </a:p>
          <a:p>
            <a:pPr indent="540000" algn="ctr"/>
            <a:endParaRPr lang="pt-BR" sz="1000" dirty="0" smtClean="0">
              <a:solidFill>
                <a:schemeClr val="accent1">
                  <a:lumMod val="75000"/>
                </a:schemeClr>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a:p>
            <a:pPr indent="540000" algn="ctr"/>
            <a:endParaRPr lang="pt-BR" sz="1000" dirty="0">
              <a:solidFill>
                <a:srgbClr val="FF0000"/>
              </a:solidFill>
              <a:latin typeface="Times New Roman" pitchFamily="18" charset="0"/>
              <a:cs typeface="Times New Roman" pitchFamily="18" charset="0"/>
            </a:endParaRPr>
          </a:p>
          <a:p>
            <a:pPr indent="540000" algn="ctr"/>
            <a:endParaRPr lang="pt-BR" sz="10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000108"/>
            <a:ext cx="8623966" cy="3785652"/>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Como  Consultar as Informações Transmitidas?</a:t>
            </a:r>
            <a:endParaRPr lang="pt-BR" sz="3600" dirty="0" smtClean="0">
              <a:solidFill>
                <a:srgbClr val="FFC000"/>
              </a:solidFill>
              <a:latin typeface="Times New Roman" pitchFamily="18" charset="0"/>
              <a:cs typeface="Times New Roman" pitchFamily="18" charset="0"/>
            </a:endParaRPr>
          </a:p>
          <a:p>
            <a:pPr indent="540000" algn="just">
              <a:lnSpc>
                <a:spcPct val="150000"/>
              </a:lnSpc>
            </a:pPr>
            <a:r>
              <a:rPr lang="pt-BR" sz="2800" b="1" dirty="0" smtClean="0">
                <a:solidFill>
                  <a:srgbClr val="FFC000"/>
                </a:solidFill>
                <a:latin typeface="Times New Roman" pitchFamily="18" charset="0"/>
                <a:cs typeface="Times New Roman" pitchFamily="18" charset="0"/>
              </a:rPr>
              <a:t> </a:t>
            </a:r>
            <a:endParaRPr lang="pt-BR" sz="2800" dirty="0" smtClean="0">
              <a:solidFill>
                <a:srgbClr val="FFC000"/>
              </a:solidFill>
              <a:latin typeface="Times New Roman" pitchFamily="18" charset="0"/>
              <a:cs typeface="Times New Roman" pitchFamily="18" charset="0"/>
            </a:endParaRPr>
          </a:p>
          <a:p>
            <a:pPr indent="540000" algn="just">
              <a:lnSpc>
                <a:spcPct val="150000"/>
              </a:lnSpc>
            </a:pPr>
            <a:r>
              <a:rPr lang="pt-BR" sz="2800" dirty="0" smtClean="0">
                <a:latin typeface="Times New Roman" pitchFamily="18" charset="0"/>
                <a:cs typeface="Times New Roman" pitchFamily="18" charset="0"/>
              </a:rPr>
              <a:t> </a:t>
            </a:r>
            <a:r>
              <a:rPr lang="pt-BR" sz="2800" dirty="0" smtClean="0">
                <a:solidFill>
                  <a:srgbClr val="FF0000"/>
                </a:solidFill>
                <a:latin typeface="Times New Roman" pitchFamily="18" charset="0"/>
                <a:cs typeface="Times New Roman" pitchFamily="18" charset="0"/>
              </a:rPr>
              <a:t>O empregador declarante poderá recuperar as informações transmitidas “baixando” os arquivos enviados, utilizando-se da ferramenta </a:t>
            </a:r>
            <a:r>
              <a:rPr lang="pt-BR" sz="2800" dirty="0" err="1" smtClean="0">
                <a:solidFill>
                  <a:srgbClr val="FF0000"/>
                </a:solidFill>
                <a:latin typeface="Times New Roman" pitchFamily="18" charset="0"/>
                <a:cs typeface="Times New Roman" pitchFamily="18" charset="0"/>
              </a:rPr>
              <a:t>eSocialBX</a:t>
            </a:r>
            <a:r>
              <a:rPr lang="pt-BR" sz="2800" dirty="0" smtClean="0">
                <a:solidFill>
                  <a:srgbClr val="FF0000"/>
                </a:solidFill>
                <a:latin typeface="Times New Roman" pitchFamily="18" charset="0"/>
                <a:cs typeface="Times New Roman" pitchFamily="18" charset="0"/>
              </a:rPr>
              <a:t>. </a:t>
            </a:r>
            <a:endParaRPr lang="pt-BR" sz="24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0" y="0"/>
            <a:ext cx="9142920" cy="6572272"/>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000108"/>
            <a:ext cx="8481090" cy="8525411"/>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Eventos de Saúde e Segurança no Trabalho – SST </a:t>
            </a:r>
            <a:r>
              <a:rPr lang="pt-BR" sz="3600" dirty="0" smtClean="0"/>
              <a:t> </a:t>
            </a:r>
          </a:p>
          <a:p>
            <a:pPr indent="540000" algn="just"/>
            <a:r>
              <a:rPr lang="pt-BR" sz="2800" dirty="0" smtClean="0">
                <a:solidFill>
                  <a:srgbClr val="FF0000"/>
                </a:solidFill>
                <a:latin typeface="Times New Roman" pitchFamily="18" charset="0"/>
                <a:cs typeface="Times New Roman" pitchFamily="18" charset="0"/>
              </a:rPr>
              <a:t>São definidos como eventos de Saúde e Segurança do Trabalhador – SST os abaixo elencados:</a:t>
            </a:r>
          </a:p>
          <a:p>
            <a:pPr indent="540000" algn="just"/>
            <a:r>
              <a:rPr lang="pt-BR" sz="2800" dirty="0" smtClean="0">
                <a:solidFill>
                  <a:srgbClr val="FF0000"/>
                </a:solidFill>
                <a:latin typeface="Times New Roman" pitchFamily="18" charset="0"/>
                <a:cs typeface="Times New Roman" pitchFamily="18" charset="0"/>
              </a:rPr>
              <a:t> </a:t>
            </a:r>
          </a:p>
          <a:p>
            <a:pPr lvl="0">
              <a:buFont typeface="Arial" pitchFamily="34" charset="0"/>
              <a:buChar char="•"/>
            </a:pPr>
            <a:r>
              <a:rPr lang="pt-BR" sz="2800" dirty="0" smtClean="0">
                <a:solidFill>
                  <a:srgbClr val="FF0000"/>
                </a:solidFill>
                <a:latin typeface="Times New Roman" pitchFamily="18" charset="0"/>
                <a:cs typeface="Times New Roman" pitchFamily="18" charset="0"/>
              </a:rPr>
              <a:t>S-1060 - Tabela de Ambientes de Trabalho;</a:t>
            </a:r>
          </a:p>
          <a:p>
            <a:pPr lvl="0">
              <a:buFont typeface="Arial" pitchFamily="34" charset="0"/>
              <a:buChar char="•"/>
            </a:pPr>
            <a:r>
              <a:rPr lang="pt-BR" sz="2800" dirty="0" smtClean="0">
                <a:solidFill>
                  <a:srgbClr val="FF0000"/>
                </a:solidFill>
                <a:latin typeface="Times New Roman" pitchFamily="18" charset="0"/>
                <a:cs typeface="Times New Roman" pitchFamily="18" charset="0"/>
              </a:rPr>
              <a:t>S-2210 - Comunicação de Acidente de Trabalho;</a:t>
            </a:r>
          </a:p>
          <a:p>
            <a:pPr lvl="0">
              <a:buFont typeface="Arial" pitchFamily="34" charset="0"/>
              <a:buChar char="•"/>
            </a:pPr>
            <a:r>
              <a:rPr lang="pt-BR" sz="2800" dirty="0" smtClean="0">
                <a:solidFill>
                  <a:srgbClr val="FF0000"/>
                </a:solidFill>
                <a:latin typeface="Times New Roman" pitchFamily="18" charset="0"/>
                <a:cs typeface="Times New Roman" pitchFamily="18" charset="0"/>
              </a:rPr>
              <a:t>S-2220 - Monitoramento da Saúde do Trabalhador;</a:t>
            </a:r>
          </a:p>
          <a:p>
            <a:pPr lvl="0">
              <a:buFont typeface="Arial" pitchFamily="34" charset="0"/>
              <a:buChar char="•"/>
            </a:pPr>
            <a:r>
              <a:rPr lang="pt-BR" sz="2800" dirty="0" smtClean="0">
                <a:solidFill>
                  <a:srgbClr val="FF0000"/>
                </a:solidFill>
                <a:latin typeface="Times New Roman" pitchFamily="18" charset="0"/>
                <a:cs typeface="Times New Roman" pitchFamily="18" charset="0"/>
              </a:rPr>
              <a:t>S-2240 - Condições Ambientais do Trabalho - Fatores de Risco;</a:t>
            </a:r>
          </a:p>
          <a:p>
            <a:pPr lvl="0">
              <a:buFont typeface="Arial" pitchFamily="34" charset="0"/>
              <a:buChar char="•"/>
            </a:pPr>
            <a:r>
              <a:rPr lang="pt-BR" sz="2800" dirty="0" smtClean="0">
                <a:solidFill>
                  <a:srgbClr val="FF0000"/>
                </a:solidFill>
                <a:latin typeface="Times New Roman" pitchFamily="18" charset="0"/>
                <a:cs typeface="Times New Roman" pitchFamily="18" charset="0"/>
              </a:rPr>
              <a:t>S-2241 - Insalubridade, Periculosidade e Aposentadoria Especial.</a:t>
            </a:r>
          </a:p>
          <a:p>
            <a:pPr lvl="0">
              <a:buFont typeface="Arial" pitchFamily="34" charset="0"/>
              <a:buChar char="•"/>
            </a:pPr>
            <a:endParaRPr lang="pt-BR" sz="2800" dirty="0" smtClean="0">
              <a:latin typeface="Times New Roman" pitchFamily="18" charset="0"/>
              <a:cs typeface="Times New Roman" pitchFamily="18" charset="0"/>
            </a:endParaRPr>
          </a:p>
          <a:p>
            <a:pPr indent="540000" algn="just"/>
            <a:endParaRPr lang="pt-BR" sz="2800" dirty="0" smtClean="0">
              <a:latin typeface="Times New Roman" pitchFamily="18" charset="0"/>
              <a:cs typeface="Times New Roman" pitchFamily="18" charset="0"/>
            </a:endParaRPr>
          </a:p>
          <a:p>
            <a:pPr indent="540000" algn="just"/>
            <a:endParaRPr lang="pt-BR" sz="2800" dirty="0" smtClean="0">
              <a:latin typeface="Times New Roman" pitchFamily="18" charset="0"/>
              <a:cs typeface="Times New Roman" pitchFamily="18" charset="0"/>
            </a:endParaRPr>
          </a:p>
          <a:p>
            <a:pPr indent="540000" algn="just"/>
            <a:endParaRPr lang="pt-BR" sz="2800" dirty="0" smtClean="0">
              <a:latin typeface="Times New Roman" pitchFamily="18" charset="0"/>
              <a:cs typeface="Times New Roman" pitchFamily="18" charset="0"/>
            </a:endParaRPr>
          </a:p>
          <a:p>
            <a:pPr indent="540000" algn="just"/>
            <a:r>
              <a:rPr lang="pt-BR" sz="2800" dirty="0" smtClean="0">
                <a:latin typeface="Times New Roman" pitchFamily="18" charset="0"/>
                <a:cs typeface="Times New Roman" pitchFamily="18" charset="0"/>
              </a:rPr>
              <a:t> </a:t>
            </a:r>
          </a:p>
          <a:p>
            <a:pPr indent="540000" algn="just"/>
            <a:r>
              <a:rPr lang="pt-BR" sz="2800" b="1" dirty="0">
                <a:solidFill>
                  <a:schemeClr val="accent1">
                    <a:lumMod val="75000"/>
                  </a:schemeClr>
                </a:solidFill>
                <a:latin typeface="Times New Roman" pitchFamily="18" charset="0"/>
                <a:cs typeface="Times New Roman" pitchFamily="18" charset="0"/>
              </a:rPr>
              <a:t> </a:t>
            </a:r>
            <a:endParaRPr lang="pt-BR" sz="2800" b="1" dirty="0" smtClean="0">
              <a:solidFill>
                <a:schemeClr val="accent1">
                  <a:lumMod val="75000"/>
                </a:schemeClr>
              </a:solidFill>
              <a:latin typeface="Times New Roman" pitchFamily="18" charset="0"/>
              <a:cs typeface="Times New Roman" pitchFamily="18" charset="0"/>
            </a:endParaRP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6555641"/>
          </a:xfrm>
          <a:prstGeom prst="rect">
            <a:avLst/>
          </a:prstGeom>
          <a:noFill/>
        </p:spPr>
        <p:txBody>
          <a:bodyPr wrap="square" rtlCol="0">
            <a:spAutoFit/>
          </a:bodyPr>
          <a:lstStyle/>
          <a:p>
            <a:pPr indent="540000" algn="just">
              <a:lnSpc>
                <a:spcPct val="150000"/>
              </a:lnSpc>
            </a:pPr>
            <a:r>
              <a:rPr lang="pt-BR" sz="2800" dirty="0" smtClean="0">
                <a:solidFill>
                  <a:srgbClr val="FF0000"/>
                </a:solidFill>
                <a:latin typeface="Times New Roman" pitchFamily="18" charset="0"/>
                <a:cs typeface="Times New Roman" pitchFamily="18" charset="0"/>
              </a:rPr>
              <a:t>Tais eventos estão diretamente relacionados à SST, porém existem dados em outros eventos que serão utilizados para compor as informações existentes nos formulários substituídos, tais como o PPP e a CAT. </a:t>
            </a:r>
          </a:p>
          <a:p>
            <a:pPr indent="540000" algn="just">
              <a:lnSpc>
                <a:spcPct val="150000"/>
              </a:lnSpc>
            </a:pPr>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Desta forma, o fluxo do eSocial, no que tange às informações de SST, é estruturado da seguinte forma:</a:t>
            </a:r>
          </a:p>
          <a:p>
            <a:r>
              <a:rPr lang="pt-BR" sz="2800" dirty="0" smtClean="0">
                <a:solidFill>
                  <a:srgbClr val="FF0000"/>
                </a:solidFill>
                <a:latin typeface="Times New Roman" pitchFamily="18" charset="0"/>
                <a:cs typeface="Times New Roman" pitchFamily="18" charset="0"/>
              </a:rPr>
              <a:t> </a:t>
            </a:r>
          </a:p>
          <a:p>
            <a:pPr indent="540000" algn="just"/>
            <a:endParaRPr lang="pt-BR" sz="2800" b="1" dirty="0" smtClean="0">
              <a:solidFill>
                <a:schemeClr val="accent1">
                  <a:lumMod val="75000"/>
                </a:schemeClr>
              </a:solidFill>
              <a:latin typeface="Times New Roman" pitchFamily="18" charset="0"/>
              <a:cs typeface="Times New Roman" pitchFamily="18" charset="0"/>
            </a:endParaRP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pic>
        <p:nvPicPr>
          <p:cNvPr id="8" name="Imagem 7" descr="http://www.mgpconsultoria.com.br/wp-content/uploads/2017/11/esocial-sa%C3%BAde-e-seguran%C3%A7a-no-trabalho-sst-mgp-consultoria-2.png"/>
          <p:cNvPicPr/>
          <p:nvPr/>
        </p:nvPicPr>
        <p:blipFill>
          <a:blip r:embed="rId5"/>
          <a:srcRect/>
          <a:stretch>
            <a:fillRect/>
          </a:stretch>
        </p:blipFill>
        <p:spPr bwMode="auto">
          <a:xfrm>
            <a:off x="1000100" y="1071546"/>
            <a:ext cx="7572428" cy="3725606"/>
          </a:xfrm>
          <a:prstGeom prst="rect">
            <a:avLst/>
          </a:prstGeom>
          <a:noFill/>
          <a:ln w="9525">
            <a:noFill/>
            <a:miter lim="800000"/>
            <a:headEnd/>
            <a:tailEnd/>
          </a:ln>
        </p:spPr>
      </p:pic>
      <p:sp>
        <p:nvSpPr>
          <p:cNvPr id="10" name="CaixaDeTexto 9"/>
          <p:cNvSpPr txBox="1"/>
          <p:nvPr/>
        </p:nvSpPr>
        <p:spPr>
          <a:xfrm>
            <a:off x="928662" y="4797152"/>
            <a:ext cx="7643866" cy="1815882"/>
          </a:xfrm>
          <a:prstGeom prst="rect">
            <a:avLst/>
          </a:prstGeom>
          <a:noFill/>
        </p:spPr>
        <p:txBody>
          <a:bodyPr wrap="square" rtlCol="0">
            <a:spAutoFit/>
          </a:bodyPr>
          <a:lstStyle/>
          <a:p>
            <a:pPr indent="540000" algn="just"/>
            <a:r>
              <a:rPr lang="pt-BR" sz="2800" dirty="0">
                <a:solidFill>
                  <a:srgbClr val="FF0000"/>
                </a:solidFill>
                <a:latin typeface="Times New Roman" pitchFamily="18" charset="0"/>
                <a:cs typeface="Times New Roman" pitchFamily="18" charset="0"/>
              </a:rPr>
              <a:t>No grupo de “Reconhecimento dos Fatores de Risco e Monitoramento Biológico”, destacado no fluxo acima, estão incluídos os seguintes eventos: </a:t>
            </a:r>
          </a:p>
          <a:p>
            <a:endParaRPr lang="pt-BR" sz="2800" dirty="0"/>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754874"/>
          </a:xfrm>
          <a:prstGeom prst="rect">
            <a:avLst/>
          </a:prstGeom>
          <a:noFill/>
        </p:spPr>
        <p:txBody>
          <a:bodyPr wrap="square" rtlCol="0">
            <a:spAutoFit/>
          </a:bodyPr>
          <a:lstStyle/>
          <a:p>
            <a:pPr lvl="0" algn="just"/>
            <a:r>
              <a:rPr lang="pt-BR" sz="2800" u="sng" dirty="0" smtClean="0">
                <a:solidFill>
                  <a:srgbClr val="FF0000"/>
                </a:solidFill>
              </a:rPr>
              <a:t> </a:t>
            </a:r>
          </a:p>
          <a:p>
            <a:pPr lvl="0" indent="540000" algn="just">
              <a:lnSpc>
                <a:spcPct val="150000"/>
              </a:lnSpc>
              <a:buFont typeface="Arial" pitchFamily="34" charset="0"/>
              <a:buChar char="•"/>
            </a:pPr>
            <a:r>
              <a:rPr lang="pt-BR" sz="2800" u="sng" dirty="0" smtClean="0">
                <a:solidFill>
                  <a:srgbClr val="FF0000"/>
                </a:solidFill>
                <a:latin typeface="Times New Roman" pitchFamily="18" charset="0"/>
                <a:cs typeface="Times New Roman" pitchFamily="18" charset="0"/>
              </a:rPr>
              <a:t>Evento S-1060 – Tabela de Ambientes de Trabalho</a:t>
            </a:r>
            <a:r>
              <a:rPr lang="pt-BR" sz="2800" dirty="0" smtClean="0">
                <a:solidFill>
                  <a:srgbClr val="FF0000"/>
                </a:solidFill>
                <a:latin typeface="Times New Roman" pitchFamily="18" charset="0"/>
                <a:cs typeface="Times New Roman" pitchFamily="18" charset="0"/>
              </a:rPr>
              <a:t>: Será descrito os ambientes existentes na empresa e os fatores de risco a ele associados (utilizar tabela 23), atribuindo-se um código a este ambiente. </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754874"/>
          </a:xfrm>
          <a:prstGeom prst="rect">
            <a:avLst/>
          </a:prstGeom>
          <a:noFill/>
        </p:spPr>
        <p:txBody>
          <a:bodyPr wrap="square" rtlCol="0">
            <a:spAutoFit/>
          </a:bodyPr>
          <a:lstStyle/>
          <a:p>
            <a:pPr lvl="0" indent="540000" algn="just">
              <a:lnSpc>
                <a:spcPct val="150000"/>
              </a:lnSpc>
              <a:buFont typeface="Arial" pitchFamily="34" charset="0"/>
              <a:buChar char="•"/>
            </a:pPr>
            <a:r>
              <a:rPr lang="pt-BR" sz="2800" u="sng" dirty="0" smtClean="0">
                <a:solidFill>
                  <a:srgbClr val="FF0000"/>
                </a:solidFill>
                <a:latin typeface="Times New Roman" pitchFamily="18" charset="0"/>
                <a:cs typeface="Times New Roman" pitchFamily="18" charset="0"/>
              </a:rPr>
              <a:t>Evento S-2220 – Monitoramento da Saúde do Trabalhador</a:t>
            </a:r>
            <a:r>
              <a:rPr lang="pt-BR" sz="2800" dirty="0" smtClean="0">
                <a:solidFill>
                  <a:srgbClr val="FF0000"/>
                </a:solidFill>
                <a:latin typeface="Times New Roman" pitchFamily="18" charset="0"/>
                <a:cs typeface="Times New Roman" pitchFamily="18" charset="0"/>
              </a:rPr>
              <a:t>: </a:t>
            </a:r>
            <a:r>
              <a:rPr lang="pt-BR" sz="2800" dirty="0">
                <a:solidFill>
                  <a:srgbClr val="FF0000"/>
                </a:solidFill>
                <a:latin typeface="Times New Roman" pitchFamily="18" charset="0"/>
                <a:cs typeface="Times New Roman" pitchFamily="18" charset="0"/>
              </a:rPr>
              <a:t>A</a:t>
            </a:r>
            <a:r>
              <a:rPr lang="pt-BR" sz="2800" dirty="0" smtClean="0">
                <a:solidFill>
                  <a:srgbClr val="FF0000"/>
                </a:solidFill>
                <a:latin typeface="Times New Roman" pitchFamily="18" charset="0"/>
                <a:cs typeface="Times New Roman" pitchFamily="18" charset="0"/>
              </a:rPr>
              <a:t>companhamento da saúde do trabalhador durante o seu contrato de trabalho, com as informações relativas aos atestados de saúde ocupacional (ASO) e seus exames complementares.</a:t>
            </a: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57158" y="1000108"/>
            <a:ext cx="8671642" cy="4401205"/>
          </a:xfrm>
          <a:prstGeom prst="rect">
            <a:avLst/>
          </a:prstGeom>
          <a:noFill/>
        </p:spPr>
        <p:txBody>
          <a:bodyPr wrap="square" rtlCol="0">
            <a:spAutoFit/>
          </a:bodyPr>
          <a:lstStyle/>
          <a:p>
            <a:pPr algn="just"/>
            <a:endParaRPr lang="pt-BR" sz="2800" u="sng" dirty="0">
              <a:solidFill>
                <a:srgbClr val="FF0000"/>
              </a:solidFill>
              <a:latin typeface="Times New Roman" pitchFamily="18" charset="0"/>
              <a:cs typeface="Times New Roman" pitchFamily="18" charset="0"/>
            </a:endParaRPr>
          </a:p>
          <a:p>
            <a:pPr indent="540000" algn="just">
              <a:lnSpc>
                <a:spcPct val="150000"/>
              </a:lnSpc>
              <a:buFont typeface="Arial" pitchFamily="34" charset="0"/>
              <a:buChar char="•"/>
            </a:pPr>
            <a:r>
              <a:rPr lang="pt-BR" sz="2800" u="sng" dirty="0" smtClean="0">
                <a:solidFill>
                  <a:srgbClr val="FF0000"/>
                </a:solidFill>
                <a:latin typeface="Times New Roman" pitchFamily="18" charset="0"/>
                <a:cs typeface="Times New Roman" pitchFamily="18" charset="0"/>
              </a:rPr>
              <a:t>Evento S-2240 – Condições Ambientais do Trabalho</a:t>
            </a:r>
            <a:r>
              <a:rPr lang="pt-BR" sz="2800" dirty="0" smtClean="0">
                <a:solidFill>
                  <a:srgbClr val="FF0000"/>
                </a:solidFill>
                <a:latin typeface="Times New Roman" pitchFamily="18" charset="0"/>
                <a:cs typeface="Times New Roman" pitchFamily="18" charset="0"/>
              </a:rPr>
              <a:t> – Fatores de Risco: Registrará a vinculação de cada trabalhador aos ambientes em que exercem atividades (códigos do evento S-1060). Será individualizado a quais fatores de risco o trabalhador está exposto, bem como a descrição das proteções coletivas e individuais utilizadas.</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185761"/>
          </a:xfrm>
          <a:prstGeom prst="rect">
            <a:avLst/>
          </a:prstGeom>
          <a:noFill/>
        </p:spPr>
        <p:txBody>
          <a:bodyPr wrap="square" rtlCol="0">
            <a:spAutoFit/>
          </a:bodyPr>
          <a:lstStyle/>
          <a:p>
            <a:pPr lvl="0" indent="540000" algn="just">
              <a:lnSpc>
                <a:spcPct val="150000"/>
              </a:lnSpc>
              <a:buFont typeface="Arial" pitchFamily="34" charset="0"/>
              <a:buChar char="•"/>
            </a:pPr>
            <a:r>
              <a:rPr lang="pt-BR" sz="2800" u="sng" dirty="0" smtClean="0">
                <a:solidFill>
                  <a:srgbClr val="FF0000"/>
                </a:solidFill>
                <a:latin typeface="Times New Roman" pitchFamily="18" charset="0"/>
                <a:cs typeface="Times New Roman" pitchFamily="18" charset="0"/>
              </a:rPr>
              <a:t>Evento S-2241 – Insalubridade, Periculosidade e Aposentadoria Especial</a:t>
            </a:r>
            <a:r>
              <a:rPr lang="pt-BR" sz="2800" dirty="0" smtClean="0">
                <a:solidFill>
                  <a:srgbClr val="FF0000"/>
                </a:solidFill>
                <a:latin typeface="Times New Roman" pitchFamily="18" charset="0"/>
                <a:cs typeface="Times New Roman" pitchFamily="18" charset="0"/>
              </a:rPr>
              <a:t>: Informação das exposições declaradas no evento S-2240 acarretam o direito ao pagamento aos adicionais de Insalubridade, Periculosidade </a:t>
            </a:r>
            <a:r>
              <a:rPr lang="pt-BR" sz="2800" dirty="0">
                <a:solidFill>
                  <a:srgbClr val="FF0000"/>
                </a:solidFill>
                <a:latin typeface="Times New Roman" pitchFamily="18" charset="0"/>
                <a:cs typeface="Times New Roman" pitchFamily="18" charset="0"/>
              </a:rPr>
              <a:t>e</a:t>
            </a:r>
            <a:r>
              <a:rPr lang="pt-BR" sz="2800" dirty="0" smtClean="0">
                <a:solidFill>
                  <a:srgbClr val="FF0000"/>
                </a:solidFill>
                <a:latin typeface="Times New Roman" pitchFamily="18" charset="0"/>
                <a:cs typeface="Times New Roman" pitchFamily="18" charset="0"/>
              </a:rPr>
              <a:t>  da aposentadoria especial.</a:t>
            </a:r>
          </a:p>
          <a:p>
            <a:pPr indent="540000" algn="just"/>
            <a:r>
              <a:rPr lang="pt-BR" sz="2800" b="1" dirty="0" smtClean="0">
                <a:solidFill>
                  <a:srgbClr val="FF0000"/>
                </a:solidFill>
                <a:latin typeface="Times New Roman" pitchFamily="18" charset="0"/>
                <a:cs typeface="Times New Roman" pitchFamily="18" charset="0"/>
              </a:rPr>
              <a:t> </a:t>
            </a: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0" y="-214338"/>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57158" y="1142985"/>
            <a:ext cx="8643998" cy="2677656"/>
          </a:xfrm>
          <a:prstGeom prst="rect">
            <a:avLst/>
          </a:prstGeom>
          <a:noFill/>
        </p:spPr>
        <p:txBody>
          <a:bodyPr wrap="square" rtlCol="0">
            <a:spAutoFit/>
          </a:bodyPr>
          <a:lstStyle/>
          <a:p>
            <a:pPr indent="540000" algn="just"/>
            <a:r>
              <a:rPr lang="pt-BR" sz="2800" dirty="0" smtClean="0">
                <a:solidFill>
                  <a:srgbClr val="FF0000"/>
                </a:solidFill>
                <a:latin typeface="Times New Roman" pitchFamily="18" charset="0"/>
                <a:cs typeface="Times New Roman" pitchFamily="18" charset="0"/>
              </a:rPr>
              <a:t>Para melhor sistematização das informações acima, podemos representá-las no seguinte fluxo:</a:t>
            </a:r>
          </a:p>
          <a:p>
            <a:endParaRPr lang="pt-BR" sz="2800" dirty="0" smtClean="0"/>
          </a:p>
          <a:p>
            <a:endParaRPr lang="pt-BR" sz="2800" dirty="0" smtClean="0"/>
          </a:p>
          <a:p>
            <a:endParaRPr lang="pt-BR" sz="2800" dirty="0" smtClean="0"/>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pic>
        <p:nvPicPr>
          <p:cNvPr id="8" name="Imagem 7" descr="http://www.mgpconsultoria.com.br/wp-content/uploads/2017/11/esocial-sa%C3%BAde-e-seguran%C3%A7a-no-trabalho-sst-mgp-consultoria-7.png"/>
          <p:cNvPicPr/>
          <p:nvPr/>
        </p:nvPicPr>
        <p:blipFill>
          <a:blip r:embed="rId5"/>
          <a:srcRect/>
          <a:stretch>
            <a:fillRect/>
          </a:stretch>
        </p:blipFill>
        <p:spPr bwMode="auto">
          <a:xfrm>
            <a:off x="571472" y="2285992"/>
            <a:ext cx="7929618" cy="4429156"/>
          </a:xfrm>
          <a:prstGeom prst="rect">
            <a:avLst/>
          </a:prstGeom>
          <a:noFill/>
          <a:ln w="9525">
            <a:noFill/>
            <a:miter lim="800000"/>
            <a:headEnd/>
            <a:tailEnd/>
          </a:ln>
        </p:spPr>
      </p:pic>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142984"/>
            <a:ext cx="7801200" cy="4031873"/>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Importante:</a:t>
            </a:r>
          </a:p>
          <a:p>
            <a:pPr indent="540000" algn="just"/>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A efetiva declaração da empresa de que deve os adicionais de insalubridade e periculosidade será feita no evento “S-1200 – Remuneração do Trabalhador”.</a:t>
            </a:r>
          </a:p>
          <a:p>
            <a:pPr indent="540000" algn="just"/>
            <a:endParaRPr lang="pt-BR" sz="24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142984"/>
            <a:ext cx="7801200" cy="4832092"/>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Qual é o Papel da Tabela 23?</a:t>
            </a:r>
          </a:p>
          <a:p>
            <a:pPr indent="540000" algn="just"/>
            <a:endParaRPr lang="pt-BR" sz="24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Promover o monitoramento efetivo do ambiente de trabalho e da exposição a fatores de risco.</a:t>
            </a:r>
          </a:p>
          <a:p>
            <a:pPr indent="540000" algn="just"/>
            <a:r>
              <a:rPr lang="pt-BR" sz="2800" dirty="0" smtClean="0">
                <a:solidFill>
                  <a:srgbClr val="FF0000"/>
                </a:solidFill>
                <a:latin typeface="Times New Roman" pitchFamily="18" charset="0"/>
                <a:cs typeface="Times New Roman" pitchFamily="18" charset="0"/>
              </a:rPr>
              <a:t>Por tal motivo contempla todos os agentes nocivos constantes na Legislação Previdenciária pra fins de aposentadoria especial e Normas que regulamentam os adicionais de insalubridade e periculosidade permitindo a perfeita correlação entre os fatores de risco e o pagamento dos adicionais.</a:t>
            </a:r>
          </a:p>
          <a:p>
            <a:pPr indent="540000" algn="just"/>
            <a:endParaRPr lang="pt-BR" sz="24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96356598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139321"/>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Quando Informar </a:t>
            </a:r>
            <a:r>
              <a:rPr lang="pt-BR" sz="3600" b="1" dirty="0">
                <a:solidFill>
                  <a:srgbClr val="FFC000"/>
                </a:solidFill>
                <a:latin typeface="Times New Roman" pitchFamily="18" charset="0"/>
                <a:cs typeface="Times New Roman" pitchFamily="18" charset="0"/>
              </a:rPr>
              <a:t>a</a:t>
            </a:r>
            <a:r>
              <a:rPr lang="pt-BR" sz="3600" b="1" dirty="0" smtClean="0">
                <a:solidFill>
                  <a:srgbClr val="FFC000"/>
                </a:solidFill>
                <a:latin typeface="Times New Roman" pitchFamily="18" charset="0"/>
                <a:cs typeface="Times New Roman" pitchFamily="18" charset="0"/>
              </a:rPr>
              <a:t> Aquisição de Produção Rural-S1250?</a:t>
            </a:r>
            <a:endParaRPr lang="pt-BR" sz="3600" dirty="0" smtClean="0">
              <a:solidFill>
                <a:srgbClr val="FFC000"/>
              </a:solidFill>
              <a:latin typeface="Times New Roman" pitchFamily="18" charset="0"/>
              <a:cs typeface="Times New Roman" pitchFamily="18" charset="0"/>
            </a:endParaRPr>
          </a:p>
          <a:p>
            <a:pPr indent="540000" algn="just">
              <a:lnSpc>
                <a:spcPct val="150000"/>
              </a:lnSpc>
            </a:pPr>
            <a:r>
              <a:rPr lang="pt-BR" sz="2800" b="1" dirty="0" smtClean="0">
                <a:latin typeface="Times New Roman" pitchFamily="18" charset="0"/>
                <a:cs typeface="Times New Roman" pitchFamily="18" charset="0"/>
              </a:rPr>
              <a:t> </a:t>
            </a:r>
            <a:endParaRPr lang="pt-BR" sz="2800" dirty="0" smtClean="0">
              <a:latin typeface="Times New Roman" pitchFamily="18" charset="0"/>
              <a:cs typeface="Times New Roman" pitchFamily="18" charset="0"/>
            </a:endParaRPr>
          </a:p>
          <a:p>
            <a:pPr indent="540000" algn="just">
              <a:lnSpc>
                <a:spcPct val="150000"/>
              </a:lnSpc>
            </a:pPr>
            <a:r>
              <a:rPr lang="pt-BR" sz="2800" b="1" dirty="0" smtClean="0">
                <a:latin typeface="Times New Roman" pitchFamily="18" charset="0"/>
                <a:cs typeface="Times New Roman" pitchFamily="18" charset="0"/>
              </a:rPr>
              <a:t> </a:t>
            </a:r>
            <a:r>
              <a:rPr lang="pt-BR" sz="2800" dirty="0" smtClean="0">
                <a:solidFill>
                  <a:srgbClr val="FF0000"/>
                </a:solidFill>
                <a:latin typeface="Times New Roman" pitchFamily="18" charset="0"/>
                <a:cs typeface="Times New Roman" pitchFamily="18" charset="0"/>
              </a:rPr>
              <a:t>Sempre que houver aquisição de produção rural de origem animal ou vegetal.</a:t>
            </a:r>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524315"/>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Quem está obrigado</a:t>
            </a:r>
            <a:r>
              <a:rPr lang="pt-BR" sz="3600" dirty="0">
                <a:solidFill>
                  <a:srgbClr val="FFC000"/>
                </a:solidFill>
                <a:latin typeface="Times New Roman" pitchFamily="18" charset="0"/>
                <a:cs typeface="Times New Roman" pitchFamily="18" charset="0"/>
              </a:rPr>
              <a:t>?</a:t>
            </a:r>
            <a:endParaRPr lang="pt-BR" sz="3600" dirty="0" smtClean="0">
              <a:solidFill>
                <a:srgbClr val="FFC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 Pessoas Jurídicas em geral, quando efetuar aquisição de produtos rurais de pessoa física ou de segurado especial, </a:t>
            </a:r>
          </a:p>
          <a:p>
            <a:pPr indent="540000" algn="just"/>
            <a:r>
              <a:rPr lang="pt-BR" sz="2800" dirty="0" smtClean="0">
                <a:solidFill>
                  <a:srgbClr val="FF0000"/>
                </a:solidFill>
                <a:latin typeface="Times New Roman" pitchFamily="18" charset="0"/>
                <a:cs typeface="Times New Roman" pitchFamily="18" charset="0"/>
              </a:rPr>
              <a:t> </a:t>
            </a:r>
          </a:p>
          <a:p>
            <a:pPr indent="540000" algn="just"/>
            <a:r>
              <a:rPr lang="pt-BR" sz="2800" dirty="0" smtClean="0">
                <a:solidFill>
                  <a:srgbClr val="FF0000"/>
                </a:solidFill>
                <a:latin typeface="Times New Roman" pitchFamily="18" charset="0"/>
                <a:cs typeface="Times New Roman" pitchFamily="18" charset="0"/>
              </a:rPr>
              <a:t>b) Pessoa Física (intermediário) que adquire produção de produtor rural pessoa física ou de segurado especial para venda no varejo a consumidor final pessoa física</a:t>
            </a:r>
            <a:r>
              <a:rPr lang="pt-BR" sz="2800" dirty="0">
                <a:solidFill>
                  <a:srgbClr val="FF0000"/>
                </a:solidFill>
                <a:latin typeface="Times New Roman" pitchFamily="18" charset="0"/>
                <a:cs typeface="Times New Roman" pitchFamily="18" charset="0"/>
              </a:rPr>
              <a:t>;</a:t>
            </a:r>
            <a:endParaRPr lang="pt-BR" sz="2800" dirty="0" smtClean="0">
              <a:solidFill>
                <a:srgbClr val="FF0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6124754"/>
          </a:xfrm>
          <a:prstGeom prst="rect">
            <a:avLst/>
          </a:prstGeom>
          <a:noFill/>
        </p:spPr>
        <p:txBody>
          <a:bodyPr wrap="square" rtlCol="0">
            <a:spAutoFit/>
          </a:bodyPr>
          <a:lstStyle/>
          <a:p>
            <a:pPr indent="540000" algn="just"/>
            <a:r>
              <a:rPr lang="pt-BR" sz="2800" dirty="0" smtClean="0"/>
              <a:t> </a:t>
            </a:r>
            <a:r>
              <a:rPr lang="pt-BR" sz="2800" dirty="0" smtClean="0">
                <a:solidFill>
                  <a:srgbClr val="FF0000"/>
                </a:solidFill>
                <a:latin typeface="Times New Roman" pitchFamily="18" charset="0"/>
                <a:cs typeface="Times New Roman" pitchFamily="18" charset="0"/>
              </a:rPr>
              <a:t>c) Entidade inscrita no Programa de Aquisição de Alimentos (PAA), quando a mesma efetuar a aquisição de produtos rurais no âmbito do PAA, de produtor rural pessoa física ou pessoa jurídica; </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d) A cooperativa adquirente de produto rural;</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e) A Companhia Nacional de Abastecimento (CONAB), quando adquirir produtos do produtor rural pessoa física ou do produtor rural pessoa jurídica, destinados ao Programa de Aquisição de Alimentos, instituído pelo art. 19 da Lei nº 10.696/2003. </a:t>
            </a: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071546"/>
            <a:ext cx="7801200" cy="4955203"/>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Qual é o Prazo de Envio?</a:t>
            </a:r>
          </a:p>
          <a:p>
            <a:pPr indent="540000" algn="just"/>
            <a:endParaRPr lang="pt-BR" sz="2800" b="1" dirty="0" smtClean="0">
              <a:solidFill>
                <a:srgbClr val="FF0000"/>
              </a:solidFill>
              <a:latin typeface="Times New Roman" pitchFamily="18" charset="0"/>
              <a:cs typeface="Times New Roman" pitchFamily="18" charset="0"/>
            </a:endParaRPr>
          </a:p>
          <a:p>
            <a:pPr indent="540000" algn="just"/>
            <a:r>
              <a:rPr lang="pt-BR" sz="2800" dirty="0">
                <a:solidFill>
                  <a:srgbClr val="FF0000"/>
                </a:solidFill>
                <a:latin typeface="Times New Roman" pitchFamily="18" charset="0"/>
                <a:cs typeface="Times New Roman" pitchFamily="18" charset="0"/>
              </a:rPr>
              <a:t>E</a:t>
            </a:r>
            <a:r>
              <a:rPr lang="pt-BR" sz="2800" dirty="0" smtClean="0">
                <a:solidFill>
                  <a:srgbClr val="FF0000"/>
                </a:solidFill>
                <a:latin typeface="Times New Roman" pitchFamily="18" charset="0"/>
                <a:cs typeface="Times New Roman" pitchFamily="18" charset="0"/>
              </a:rPr>
              <a:t>ste evento deve ser enviado até o dia 07 do mês seguinte ou antes do envio do evento S - 1299 – Fechamento dos Eventos Periódicos, o que ocorrer primeiro. </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Antecipa-se o envio deste evento para o dia útil imediatamente anterior quando não houver expediente bancário.</a:t>
            </a:r>
          </a:p>
          <a:p>
            <a:pPr indent="540000" algn="just"/>
            <a:r>
              <a:rPr lang="pt-BR" sz="2800" b="1" dirty="0" smtClean="0">
                <a:solidFill>
                  <a:srgbClr val="FF0000"/>
                </a:solidFill>
                <a:latin typeface="Times New Roman" pitchFamily="18" charset="0"/>
                <a:cs typeface="Times New Roman" pitchFamily="18" charset="0"/>
              </a:rPr>
              <a:t> </a:t>
            </a:r>
            <a:endParaRPr lang="pt-BR" sz="28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539978"/>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Quais Algumas </a:t>
            </a:r>
            <a:r>
              <a:rPr lang="pt-BR" sz="3600" b="1" dirty="0" smtClean="0">
                <a:solidFill>
                  <a:srgbClr val="FFC000"/>
                </a:solidFill>
                <a:latin typeface="Times New Roman" pitchFamily="18" charset="0"/>
                <a:cs typeface="Times New Roman" pitchFamily="18" charset="0"/>
              </a:rPr>
              <a:t>Outras Situações em que o Evento Deverá Ser Informado?</a:t>
            </a:r>
          </a:p>
          <a:p>
            <a:pPr indent="540000" algn="just"/>
            <a:endParaRPr lang="pt-BR" sz="3600" b="1" dirty="0" smtClean="0">
              <a:solidFill>
                <a:srgbClr val="FFC000"/>
              </a:solidFill>
              <a:latin typeface="Times New Roman" pitchFamily="18" charset="0"/>
              <a:cs typeface="Times New Roman" pitchFamily="18" charset="0"/>
            </a:endParaRPr>
          </a:p>
          <a:p>
            <a:pPr lvl="0" indent="540000" algn="just">
              <a:lnSpc>
                <a:spcPct val="150000"/>
              </a:lnSpc>
            </a:pPr>
            <a:r>
              <a:rPr lang="pt-BR" sz="2800" dirty="0" smtClean="0">
                <a:solidFill>
                  <a:srgbClr val="FF0000"/>
                </a:solidFill>
                <a:latin typeface="Times New Roman" pitchFamily="18" charset="0"/>
                <a:cs typeface="Times New Roman" pitchFamily="18" charset="0"/>
              </a:rPr>
              <a:t> Na dação em pagamento, na permuta, no ressarcimento, na indenização ou na compensação feita com produtos rurais pelo produtor rural com adquirente, consignatário, cooperativa ou consumidor; </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339650"/>
          </a:xfrm>
          <a:prstGeom prst="rect">
            <a:avLst/>
          </a:prstGeom>
          <a:noFill/>
        </p:spPr>
        <p:txBody>
          <a:bodyPr wrap="square" rtlCol="0">
            <a:spAutoFit/>
          </a:bodyPr>
          <a:lstStyle/>
          <a:p>
            <a:pPr indent="540000" algn="just">
              <a:lnSpc>
                <a:spcPct val="150000"/>
              </a:lnSpc>
            </a:pPr>
            <a:r>
              <a:rPr lang="pt-BR" sz="2800" dirty="0" smtClean="0">
                <a:solidFill>
                  <a:srgbClr val="FF0000"/>
                </a:solidFill>
                <a:latin typeface="Times New Roman" pitchFamily="18" charset="0"/>
                <a:cs typeface="Times New Roman" pitchFamily="18" charset="0"/>
              </a:rPr>
              <a:t>Quando houver qualquer crédito ou pagamento efetuado pela cooperativa aos cooperados, representando complementação de preço do produto rural, incluindo-se, dentre outros, as sobras, os retornos, as bonificações e os incentivos próprios ou governamentais; </a:t>
            </a:r>
          </a:p>
          <a:p>
            <a:pPr indent="540000" algn="just"/>
            <a:endParaRPr lang="pt-BR" sz="24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4160067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000108"/>
            <a:ext cx="7801200" cy="4955203"/>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Registro Preliminar - S2190</a:t>
            </a:r>
          </a:p>
          <a:p>
            <a:pPr indent="540000" algn="just">
              <a:lnSpc>
                <a:spcPct val="150000"/>
              </a:lnSpc>
            </a:pPr>
            <a:r>
              <a:rPr lang="pt-BR" sz="2800" dirty="0" smtClean="0">
                <a:solidFill>
                  <a:srgbClr val="FF0000"/>
                </a:solidFill>
                <a:latin typeface="Times New Roman" pitchFamily="18" charset="0"/>
                <a:cs typeface="Times New Roman" pitchFamily="18" charset="0"/>
              </a:rPr>
              <a:t>Evento Opcional</a:t>
            </a:r>
            <a:endParaRPr lang="pt-BR" sz="2800" dirty="0">
              <a:solidFill>
                <a:srgbClr val="FF0000"/>
              </a:solidFill>
              <a:latin typeface="Times New Roman" pitchFamily="18" charset="0"/>
              <a:cs typeface="Times New Roman" pitchFamily="18" charset="0"/>
            </a:endParaRPr>
          </a:p>
          <a:p>
            <a:pPr indent="540000" algn="just">
              <a:lnSpc>
                <a:spcPct val="150000"/>
              </a:lnSpc>
            </a:pPr>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Não utilizar para trabalhadores sem vinculo.</a:t>
            </a:r>
          </a:p>
          <a:p>
            <a:pPr indent="540000" algn="just">
              <a:lnSpc>
                <a:spcPct val="150000"/>
              </a:lnSpc>
            </a:pPr>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Não é permitido retificar este evento havendo necessidade deverá ser excluído.</a:t>
            </a:r>
          </a:p>
          <a:p>
            <a:pPr indent="540000"/>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000108"/>
            <a:ext cx="7801200" cy="3970318"/>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Admissão - S2200</a:t>
            </a:r>
          </a:p>
          <a:p>
            <a:pPr indent="540000" algn="just"/>
            <a:endParaRPr lang="pt-BR" sz="3600" dirty="0" smtClean="0">
              <a:solidFill>
                <a:srgbClr val="FF0000"/>
              </a:solidFill>
              <a:latin typeface="Times New Roman" pitchFamily="18" charset="0"/>
              <a:cs typeface="Times New Roman" pitchFamily="18" charset="0"/>
            </a:endParaRPr>
          </a:p>
          <a:p>
            <a:pPr indent="540000" algn="just"/>
            <a:r>
              <a:rPr lang="pt-BR" sz="3600" dirty="0" smtClean="0">
                <a:solidFill>
                  <a:srgbClr val="FF0000"/>
                </a:solidFill>
                <a:latin typeface="Times New Roman" pitchFamily="18" charset="0"/>
                <a:cs typeface="Times New Roman" pitchFamily="18" charset="0"/>
              </a:rPr>
              <a:t>Evento Obrigatório</a:t>
            </a:r>
          </a:p>
          <a:p>
            <a:pPr indent="540000" algn="just"/>
            <a:endParaRPr lang="pt-BR" sz="3600" dirty="0" smtClean="0">
              <a:solidFill>
                <a:srgbClr val="FF0000"/>
              </a:solidFill>
              <a:latin typeface="Times New Roman" pitchFamily="18" charset="0"/>
              <a:cs typeface="Times New Roman" pitchFamily="18" charset="0"/>
            </a:endParaRPr>
          </a:p>
          <a:p>
            <a:pPr indent="540000" algn="just"/>
            <a:r>
              <a:rPr lang="pt-BR" sz="3600" dirty="0" smtClean="0">
                <a:solidFill>
                  <a:srgbClr val="FF0000"/>
                </a:solidFill>
                <a:latin typeface="Times New Roman" pitchFamily="18" charset="0"/>
                <a:cs typeface="Times New Roman" pitchFamily="18" charset="0"/>
              </a:rPr>
              <a:t> Prazo de Envio</a:t>
            </a:r>
          </a:p>
          <a:p>
            <a:pPr indent="540000" algn="just"/>
            <a:r>
              <a:rPr lang="pt-BR" sz="3600" dirty="0" smtClean="0">
                <a:solidFill>
                  <a:srgbClr val="FF0000"/>
                </a:solidFill>
                <a:latin typeface="Times New Roman" pitchFamily="18" charset="0"/>
                <a:cs typeface="Times New Roman" pitchFamily="18" charset="0"/>
              </a:rPr>
              <a:t>      </a:t>
            </a:r>
          </a:p>
          <a:p>
            <a:pPr indent="540000" algn="just"/>
            <a:r>
              <a:rPr lang="pt-BR" sz="3600" dirty="0">
                <a:solidFill>
                  <a:srgbClr val="FF0000"/>
                </a:solidFill>
                <a:latin typeface="Times New Roman" pitchFamily="18" charset="0"/>
                <a:cs typeface="Times New Roman" pitchFamily="18" charset="0"/>
              </a:rPr>
              <a:t> </a:t>
            </a:r>
            <a:r>
              <a:rPr lang="pt-BR" sz="3600" dirty="0" smtClean="0">
                <a:solidFill>
                  <a:srgbClr val="FF0000"/>
                </a:solidFill>
                <a:latin typeface="Times New Roman" pitchFamily="18" charset="0"/>
                <a:cs typeface="Times New Roman" pitchFamily="18" charset="0"/>
              </a:rPr>
              <a:t>Validação Cadastral</a:t>
            </a:r>
          </a:p>
        </p:txBody>
      </p:sp>
    </p:spTree>
    <p:extLst>
      <p:ext uri="{BB962C8B-B14F-4D97-AF65-F5344CB8AC3E}">
        <p14:creationId xmlns:p14="http://schemas.microsoft.com/office/powerpoint/2010/main" val="43669943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86453"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770537"/>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Quais as Alterações </a:t>
            </a:r>
            <a:r>
              <a:rPr lang="pt-BR" sz="3600" b="1" dirty="0">
                <a:solidFill>
                  <a:srgbClr val="FFC000"/>
                </a:solidFill>
                <a:latin typeface="Times New Roman" pitchFamily="18" charset="0"/>
                <a:cs typeface="Times New Roman" pitchFamily="18" charset="0"/>
              </a:rPr>
              <a:t>S</a:t>
            </a:r>
            <a:r>
              <a:rPr lang="pt-BR" sz="3600" b="1" dirty="0" smtClean="0">
                <a:solidFill>
                  <a:srgbClr val="FFC000"/>
                </a:solidFill>
                <a:latin typeface="Times New Roman" pitchFamily="18" charset="0"/>
                <a:cs typeface="Times New Roman" pitchFamily="18" charset="0"/>
              </a:rPr>
              <a:t>erão </a:t>
            </a:r>
            <a:r>
              <a:rPr lang="pt-BR" sz="3600" b="1" dirty="0">
                <a:solidFill>
                  <a:srgbClr val="FFC000"/>
                </a:solidFill>
                <a:latin typeface="Times New Roman" pitchFamily="18" charset="0"/>
                <a:cs typeface="Times New Roman" pitchFamily="18" charset="0"/>
              </a:rPr>
              <a:t>R</a:t>
            </a:r>
            <a:r>
              <a:rPr lang="pt-BR" sz="3600" b="1" dirty="0" smtClean="0">
                <a:solidFill>
                  <a:srgbClr val="FFC000"/>
                </a:solidFill>
                <a:latin typeface="Times New Roman" pitchFamily="18" charset="0"/>
                <a:cs typeface="Times New Roman" pitchFamily="18" charset="0"/>
              </a:rPr>
              <a:t>egistradas no Evento S-2206- Alteração de Contrato de Trabalho? </a:t>
            </a:r>
            <a:endParaRPr lang="pt-BR" sz="3600" dirty="0" smtClean="0">
              <a:solidFill>
                <a:srgbClr val="FFC000"/>
              </a:solidFill>
            </a:endParaRPr>
          </a:p>
          <a:p>
            <a:pPr indent="540000" algn="just"/>
            <a:r>
              <a:rPr lang="pt-BR" sz="2800" dirty="0" smtClean="0">
                <a:solidFill>
                  <a:srgbClr val="FF0000"/>
                </a:solidFill>
                <a:latin typeface="Times New Roman" pitchFamily="18" charset="0"/>
                <a:cs typeface="Times New Roman" pitchFamily="18" charset="0"/>
              </a:rPr>
              <a:t>Remuneração,</a:t>
            </a:r>
          </a:p>
          <a:p>
            <a:pPr indent="540000" algn="just"/>
            <a:r>
              <a:rPr lang="pt-BR" sz="2800" dirty="0" smtClean="0">
                <a:solidFill>
                  <a:srgbClr val="FF0000"/>
                </a:solidFill>
                <a:latin typeface="Times New Roman" pitchFamily="18" charset="0"/>
                <a:cs typeface="Times New Roman" pitchFamily="18" charset="0"/>
              </a:rPr>
              <a:t>Periodicidade de pagamento, </a:t>
            </a:r>
          </a:p>
          <a:p>
            <a:pPr indent="540000" algn="just"/>
            <a:r>
              <a:rPr lang="pt-BR" sz="2800" dirty="0" smtClean="0">
                <a:solidFill>
                  <a:srgbClr val="FF0000"/>
                </a:solidFill>
                <a:latin typeface="Times New Roman" pitchFamily="18" charset="0"/>
                <a:cs typeface="Times New Roman" pitchFamily="18" charset="0"/>
              </a:rPr>
              <a:t>Duração do contrato, </a:t>
            </a:r>
          </a:p>
          <a:p>
            <a:pPr indent="540000" algn="just"/>
            <a:r>
              <a:rPr lang="pt-BR" sz="2800" dirty="0">
                <a:solidFill>
                  <a:srgbClr val="FF0000"/>
                </a:solidFill>
                <a:latin typeface="Times New Roman" pitchFamily="18" charset="0"/>
                <a:cs typeface="Times New Roman" pitchFamily="18" charset="0"/>
              </a:rPr>
              <a:t>L</a:t>
            </a:r>
            <a:r>
              <a:rPr lang="pt-BR" sz="2800" dirty="0" smtClean="0">
                <a:solidFill>
                  <a:srgbClr val="FF0000"/>
                </a:solidFill>
                <a:latin typeface="Times New Roman" pitchFamily="18" charset="0"/>
                <a:cs typeface="Times New Roman" pitchFamily="18" charset="0"/>
              </a:rPr>
              <a:t>ocal, </a:t>
            </a:r>
          </a:p>
          <a:p>
            <a:pPr indent="540000" algn="just"/>
            <a:r>
              <a:rPr lang="pt-BR" sz="2800" dirty="0" smtClean="0">
                <a:solidFill>
                  <a:srgbClr val="FF0000"/>
                </a:solidFill>
                <a:latin typeface="Times New Roman" pitchFamily="18" charset="0"/>
                <a:cs typeface="Times New Roman" pitchFamily="18" charset="0"/>
              </a:rPr>
              <a:t>Cargo ou </a:t>
            </a:r>
            <a:r>
              <a:rPr lang="pt-BR" sz="2800" dirty="0">
                <a:solidFill>
                  <a:srgbClr val="FF0000"/>
                </a:solidFill>
                <a:latin typeface="Times New Roman" pitchFamily="18" charset="0"/>
                <a:cs typeface="Times New Roman" pitchFamily="18" charset="0"/>
              </a:rPr>
              <a:t>F</a:t>
            </a:r>
            <a:r>
              <a:rPr lang="pt-BR" sz="2800" dirty="0" smtClean="0">
                <a:solidFill>
                  <a:srgbClr val="FF0000"/>
                </a:solidFill>
                <a:latin typeface="Times New Roman" pitchFamily="18" charset="0"/>
                <a:cs typeface="Times New Roman" pitchFamily="18" charset="0"/>
              </a:rPr>
              <a:t>unção, </a:t>
            </a:r>
          </a:p>
          <a:p>
            <a:pPr indent="540000" algn="just"/>
            <a:r>
              <a:rPr lang="pt-BR" sz="2800" dirty="0" smtClean="0">
                <a:solidFill>
                  <a:srgbClr val="FF0000"/>
                </a:solidFill>
                <a:latin typeface="Times New Roman" pitchFamily="18" charset="0"/>
                <a:cs typeface="Times New Roman" pitchFamily="18" charset="0"/>
              </a:rPr>
              <a:t>Jornada, </a:t>
            </a:r>
          </a:p>
          <a:p>
            <a:pPr indent="540000" algn="just"/>
            <a:r>
              <a:rPr lang="pt-BR" sz="2800" dirty="0" smtClean="0">
                <a:solidFill>
                  <a:srgbClr val="FF0000"/>
                </a:solidFill>
                <a:latin typeface="Times New Roman" pitchFamily="18" charset="0"/>
                <a:cs typeface="Times New Roman" pitchFamily="18" charset="0"/>
              </a:rPr>
              <a:t>entre outros.</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86454" y="0"/>
            <a:ext cx="9338973"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785652"/>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Quem Está Obrigado?</a:t>
            </a:r>
          </a:p>
          <a:p>
            <a:pPr indent="540000" algn="ctr"/>
            <a:endParaRPr lang="pt-BR" sz="3600" b="1" dirty="0" smtClean="0">
              <a:solidFill>
                <a:srgbClr val="FFC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 Todo empregador em relação ao vínculo do empregado, ou a empresa de trabalho temporário em relação ao trabalhador temporário cujo contrato de trabalho seja objeto de alteração.</a:t>
            </a:r>
            <a:endParaRPr lang="pt-BR"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306510645"/>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324535"/>
          </a:xfrm>
          <a:prstGeom prst="rect">
            <a:avLst/>
          </a:prstGeom>
          <a:noFill/>
        </p:spPr>
        <p:txBody>
          <a:bodyPr wrap="square" rtlCol="0">
            <a:spAutoFit/>
          </a:bodyPr>
          <a:lstStyle/>
          <a:p>
            <a:pPr indent="540000" algn="ctr"/>
            <a:r>
              <a:rPr lang="pt-BR" sz="2800" dirty="0" smtClean="0">
                <a:solidFill>
                  <a:srgbClr val="FF0000"/>
                </a:solidFill>
                <a:latin typeface="Times New Roman" pitchFamily="18" charset="0"/>
                <a:cs typeface="Times New Roman" pitchFamily="18" charset="0"/>
              </a:rPr>
              <a:t> </a:t>
            </a:r>
            <a:r>
              <a:rPr lang="pt-BR" sz="3600" b="1" dirty="0" smtClean="0">
                <a:solidFill>
                  <a:srgbClr val="FFC000"/>
                </a:solidFill>
                <a:latin typeface="Times New Roman" pitchFamily="18" charset="0"/>
                <a:cs typeface="Times New Roman" pitchFamily="18" charset="0"/>
              </a:rPr>
              <a:t>Importante:</a:t>
            </a:r>
            <a:endParaRPr lang="pt-BR" sz="3600" dirty="0" smtClean="0">
              <a:solidFill>
                <a:srgbClr val="FFC000"/>
              </a:solidFill>
              <a:latin typeface="Times New Roman" pitchFamily="18" charset="0"/>
              <a:cs typeface="Times New Roman" pitchFamily="18" charset="0"/>
            </a:endParaRPr>
          </a:p>
          <a:p>
            <a:pPr indent="540000" algn="just">
              <a:lnSpc>
                <a:spcPct val="150000"/>
              </a:lnSpc>
            </a:pPr>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Este evento não deve ser utilizado para corrigir informações enviadas incorretamente no evento de admissão do trabalhador. Neste caso deve ser enviado arquivo retificador do próprio evento de admissão.</a:t>
            </a:r>
          </a:p>
          <a:p>
            <a:pPr indent="540000" algn="just"/>
            <a:endParaRPr lang="pt-BR" sz="2800" dirty="0" smtClean="0">
              <a:solidFill>
                <a:srgbClr val="FF0000"/>
              </a:solidFill>
              <a:latin typeface="Times New Roman" pitchFamily="18" charset="0"/>
              <a:cs typeface="Times New Roman" pitchFamily="18" charset="0"/>
            </a:endParaRPr>
          </a:p>
          <a:p>
            <a:pPr indent="540000" algn="just"/>
            <a:endParaRPr lang="pt-BR" sz="24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2"/>
          <a:stretch/>
        </p:blipFill>
        <p:spPr>
          <a:xfrm>
            <a:off x="720" y="0"/>
            <a:ext cx="9142920" cy="6856920"/>
          </a:xfrm>
          <a:prstGeom prst="rect">
            <a:avLst/>
          </a:prstGeom>
          <a:ln>
            <a:noFill/>
          </a:ln>
        </p:spPr>
      </p:pic>
      <p:pic>
        <p:nvPicPr>
          <p:cNvPr id="79" name="Imagem 4"/>
          <p:cNvPicPr/>
          <p:nvPr/>
        </p:nvPicPr>
        <p:blipFill>
          <a:blip r:embed="rId3"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2" name="CaixaDeTexto 1"/>
          <p:cNvSpPr txBox="1"/>
          <p:nvPr/>
        </p:nvSpPr>
        <p:spPr>
          <a:xfrm>
            <a:off x="513566" y="1268760"/>
            <a:ext cx="7982074" cy="4031873"/>
          </a:xfrm>
          <a:prstGeom prst="rect">
            <a:avLst/>
          </a:prstGeom>
          <a:noFill/>
        </p:spPr>
        <p:txBody>
          <a:bodyPr wrap="square" rtlCol="0">
            <a:spAutoFit/>
          </a:bodyPr>
          <a:lstStyle/>
          <a:p>
            <a:pPr indent="540000" algn="ctr"/>
            <a:r>
              <a:rPr lang="pt-BR" sz="3600" b="1" dirty="0">
                <a:solidFill>
                  <a:srgbClr val="FFC000"/>
                </a:solidFill>
                <a:latin typeface="Times New Roman" pitchFamily="18" charset="0"/>
                <a:cs typeface="Times New Roman" pitchFamily="18" charset="0"/>
              </a:rPr>
              <a:t>Importante:</a:t>
            </a:r>
            <a:endParaRPr lang="pt-BR" sz="3600" dirty="0">
              <a:solidFill>
                <a:srgbClr val="FFC000"/>
              </a:solidFill>
              <a:latin typeface="Times New Roman" pitchFamily="18" charset="0"/>
              <a:cs typeface="Times New Roman" pitchFamily="18" charset="0"/>
            </a:endParaRPr>
          </a:p>
          <a:p>
            <a:pPr indent="540000" algn="just"/>
            <a:endParaRPr lang="pt-BR" sz="2400" b="1" dirty="0" smtClean="0">
              <a:solidFill>
                <a:schemeClr val="accent1">
                  <a:lumMod val="75000"/>
                </a:schemeClr>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As alterações do contrato de trabalho devem ser transmitidas antes do envio do próximo evento de remuneração deste empregado/servidor, reportando-se à data do fato ocorrido. </a:t>
            </a:r>
          </a:p>
          <a:p>
            <a:pPr indent="540000" algn="just"/>
            <a:endParaRPr lang="pt-BR" sz="28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79969138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1080" y="108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232202"/>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Quando informar o evento S-2230 – Afastamento Temporário?</a:t>
            </a:r>
            <a:endParaRPr lang="pt-BR" sz="3600" dirty="0" smtClean="0">
              <a:solidFill>
                <a:srgbClr val="FFC000"/>
              </a:solidFill>
              <a:latin typeface="Times New Roman" pitchFamily="18" charset="0"/>
              <a:cs typeface="Times New Roman" pitchFamily="18" charset="0"/>
            </a:endParaRPr>
          </a:p>
          <a:p>
            <a:r>
              <a:rPr lang="pt-BR" sz="2800" dirty="0" smtClean="0">
                <a:solidFill>
                  <a:srgbClr val="FFC000"/>
                </a:solidFill>
                <a:latin typeface="Times New Roman" pitchFamily="18" charset="0"/>
                <a:cs typeface="Times New Roman" pitchFamily="18" charset="0"/>
              </a:rPr>
              <a:t> </a:t>
            </a:r>
          </a:p>
          <a:p>
            <a:pPr indent="540000" algn="just">
              <a:lnSpc>
                <a:spcPct val="150000"/>
              </a:lnSpc>
            </a:pPr>
            <a:r>
              <a:rPr lang="pt-BR" sz="2800" dirty="0" smtClean="0">
                <a:latin typeface="Times New Roman" pitchFamily="18" charset="0"/>
                <a:cs typeface="Times New Roman" pitchFamily="18" charset="0"/>
              </a:rPr>
              <a:t> </a:t>
            </a:r>
            <a:r>
              <a:rPr lang="pt-BR" sz="2800" dirty="0" smtClean="0">
                <a:solidFill>
                  <a:srgbClr val="FF0000"/>
                </a:solidFill>
                <a:latin typeface="Times New Roman" pitchFamily="18" charset="0"/>
                <a:cs typeface="Times New Roman" pitchFamily="18" charset="0"/>
              </a:rPr>
              <a:t>Sempre que houver afastamentos temporários dos empregados e trabalhadores avulsos, por quaisquer dos motivos elencados na tabela 18 – Motivos de Afastamento, bem como eventuais alterações e prorrogações. </a:t>
            </a:r>
          </a:p>
          <a:p>
            <a:pPr indent="540000" algn="just"/>
            <a:r>
              <a:rPr lang="pt-BR" sz="2400" dirty="0" smtClean="0">
                <a:solidFill>
                  <a:srgbClr val="FF0000"/>
                </a:solidFill>
                <a:latin typeface="Times New Roman" pitchFamily="18" charset="0"/>
                <a:cs typeface="Times New Roman" pitchFamily="18" charset="0"/>
              </a:rPr>
              <a:t> </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093428"/>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Quem está obrigado?</a:t>
            </a:r>
            <a:r>
              <a:rPr lang="pt-BR" sz="3600" dirty="0" smtClean="0">
                <a:solidFill>
                  <a:srgbClr val="FFC000"/>
                </a:solidFill>
                <a:latin typeface="Times New Roman" pitchFamily="18" charset="0"/>
                <a:cs typeface="Times New Roman" pitchFamily="18" charset="0"/>
              </a:rPr>
              <a:t> </a:t>
            </a:r>
          </a:p>
          <a:p>
            <a:pPr indent="540000" algn="ctr"/>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O empregador, toda vez que o trabalhador se afastar de suas atividades laborais em decorrência de um dos motivos constantes na tabela 18, com indicação de obrigatoriedade.</a:t>
            </a:r>
          </a:p>
          <a:p>
            <a:pPr indent="540000" algn="ctr"/>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416868"/>
          </a:xfrm>
          <a:prstGeom prst="rect">
            <a:avLst/>
          </a:prstGeom>
          <a:noFill/>
        </p:spPr>
        <p:txBody>
          <a:bodyPr wrap="square" rtlCol="0">
            <a:spAutoFit/>
          </a:bodyPr>
          <a:lstStyle/>
          <a:p>
            <a:pPr indent="540000" algn="just">
              <a:lnSpc>
                <a:spcPct val="150000"/>
              </a:lnSpc>
            </a:pPr>
            <a:r>
              <a:rPr lang="pt-BR" sz="3600" b="1" dirty="0" smtClean="0">
                <a:solidFill>
                  <a:srgbClr val="FFC000"/>
                </a:solidFill>
                <a:latin typeface="Times New Roman" pitchFamily="18" charset="0"/>
                <a:cs typeface="Times New Roman" pitchFamily="18" charset="0"/>
              </a:rPr>
              <a:t>Quais o Prazo de Envio dos Afastamentos?</a:t>
            </a:r>
          </a:p>
          <a:p>
            <a:pPr indent="540000" algn="just">
              <a:lnSpc>
                <a:spcPct val="150000"/>
              </a:lnSpc>
            </a:pPr>
            <a:r>
              <a:rPr lang="pt-BR" sz="2800" dirty="0" smtClean="0">
                <a:solidFill>
                  <a:srgbClr val="FF0000"/>
                </a:solidFill>
                <a:latin typeface="Times New Roman" pitchFamily="18" charset="0"/>
                <a:cs typeface="Times New Roman" pitchFamily="18" charset="0"/>
              </a:rPr>
              <a:t>a) Afastamento temporário ocasionado por </a:t>
            </a:r>
            <a:r>
              <a:rPr lang="pt-BR" sz="2800" b="1" dirty="0" smtClean="0">
                <a:solidFill>
                  <a:srgbClr val="FF0000"/>
                </a:solidFill>
                <a:latin typeface="Times New Roman" pitchFamily="18" charset="0"/>
                <a:cs typeface="Times New Roman" pitchFamily="18" charset="0"/>
              </a:rPr>
              <a:t>acidente de trabalho</a:t>
            </a:r>
            <a:r>
              <a:rPr lang="pt-BR" sz="2800" dirty="0" smtClean="0">
                <a:solidFill>
                  <a:srgbClr val="FF0000"/>
                </a:solidFill>
                <a:latin typeface="Times New Roman" pitchFamily="18" charset="0"/>
                <a:cs typeface="Times New Roman" pitchFamily="18" charset="0"/>
              </a:rPr>
              <a:t>, agravo de saúde ou doença com duração não superior a 15 (quinze) dias, deve ser enviado </a:t>
            </a:r>
            <a:r>
              <a:rPr lang="pt-BR" sz="2800" b="1" dirty="0" smtClean="0">
                <a:solidFill>
                  <a:srgbClr val="FF0000"/>
                </a:solidFill>
                <a:latin typeface="Times New Roman" pitchFamily="18" charset="0"/>
                <a:cs typeface="Times New Roman" pitchFamily="18" charset="0"/>
              </a:rPr>
              <a:t>até o dia 7 (sete) do mês </a:t>
            </a:r>
            <a:r>
              <a:rPr lang="pt-BR" sz="2800" dirty="0" smtClean="0">
                <a:solidFill>
                  <a:srgbClr val="FF0000"/>
                </a:solidFill>
                <a:latin typeface="Times New Roman" pitchFamily="18" charset="0"/>
                <a:cs typeface="Times New Roman" pitchFamily="18" charset="0"/>
              </a:rPr>
              <a:t>subsequente da sua ocorrência. </a:t>
            </a:r>
          </a:p>
          <a:p>
            <a:pPr indent="540000" algn="just"/>
            <a:r>
              <a:rPr lang="pt-BR" sz="2800" dirty="0" smtClean="0">
                <a:solidFill>
                  <a:srgbClr val="FF0000"/>
                </a:solidFill>
                <a:latin typeface="Times New Roman" pitchFamily="18" charset="0"/>
                <a:cs typeface="Times New Roman" pitchFamily="18" charset="0"/>
              </a:rPr>
              <a:t>.</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246530"/>
          </a:xfrm>
          <a:prstGeom prst="rect">
            <a:avLst/>
          </a:prstGeom>
          <a:noFill/>
        </p:spPr>
        <p:txBody>
          <a:bodyPr wrap="square" rtlCol="0">
            <a:spAutoFit/>
          </a:bodyPr>
          <a:lstStyle/>
          <a:p>
            <a:pPr indent="540000" algn="just">
              <a:lnSpc>
                <a:spcPct val="150000"/>
              </a:lnSpc>
            </a:pPr>
            <a:r>
              <a:rPr lang="pt-BR" sz="2800" dirty="0" smtClean="0">
                <a:solidFill>
                  <a:srgbClr val="FF0000"/>
                </a:solidFill>
                <a:latin typeface="Times New Roman" pitchFamily="18" charset="0"/>
                <a:cs typeface="Times New Roman" pitchFamily="18" charset="0"/>
              </a:rPr>
              <a:t>b) Afastamento temporário ocasionado por </a:t>
            </a:r>
            <a:r>
              <a:rPr lang="pt-BR" sz="2800" b="1" dirty="0" smtClean="0">
                <a:solidFill>
                  <a:srgbClr val="FF0000"/>
                </a:solidFill>
                <a:latin typeface="Times New Roman" pitchFamily="18" charset="0"/>
                <a:cs typeface="Times New Roman" pitchFamily="18" charset="0"/>
              </a:rPr>
              <a:t>acidente de qualquer natureza</a:t>
            </a:r>
            <a:r>
              <a:rPr lang="pt-BR" sz="2800" dirty="0" smtClean="0">
                <a:solidFill>
                  <a:srgbClr val="FF0000"/>
                </a:solidFill>
                <a:latin typeface="Times New Roman" pitchFamily="18" charset="0"/>
                <a:cs typeface="Times New Roman" pitchFamily="18" charset="0"/>
              </a:rPr>
              <a:t>, agravo de saúde ou doença não relacionados ao trabalho, com duração entre 3 (três) a 15 (quinze) dias, deve ser enviado até </a:t>
            </a:r>
            <a:r>
              <a:rPr lang="pt-BR" sz="2800" b="1" dirty="0" smtClean="0">
                <a:solidFill>
                  <a:srgbClr val="FF0000"/>
                </a:solidFill>
                <a:latin typeface="Times New Roman" pitchFamily="18" charset="0"/>
                <a:cs typeface="Times New Roman" pitchFamily="18" charset="0"/>
              </a:rPr>
              <a:t>o dia 7 (sete) do mês</a:t>
            </a:r>
            <a:r>
              <a:rPr lang="pt-BR" sz="2800" dirty="0" smtClean="0">
                <a:solidFill>
                  <a:srgbClr val="FF0000"/>
                </a:solidFill>
                <a:latin typeface="Times New Roman" pitchFamily="18" charset="0"/>
                <a:cs typeface="Times New Roman" pitchFamily="18" charset="0"/>
              </a:rPr>
              <a:t> subsequente da sua ocorrência.</a:t>
            </a:r>
          </a:p>
        </p:txBody>
      </p:sp>
    </p:spTree>
    <p:extLst>
      <p:ext uri="{BB962C8B-B14F-4D97-AF65-F5344CB8AC3E}">
        <p14:creationId xmlns:p14="http://schemas.microsoft.com/office/powerpoint/2010/main" val="96740946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754874"/>
          </a:xfrm>
          <a:prstGeom prst="rect">
            <a:avLst/>
          </a:prstGeom>
          <a:noFill/>
        </p:spPr>
        <p:txBody>
          <a:bodyPr wrap="square" rtlCol="0">
            <a:spAutoFit/>
          </a:bodyPr>
          <a:lstStyle/>
          <a:p>
            <a:pPr indent="540000" algn="just">
              <a:lnSpc>
                <a:spcPct val="150000"/>
              </a:lnSpc>
            </a:pPr>
            <a:r>
              <a:rPr lang="pt-BR" sz="2800" dirty="0">
                <a:solidFill>
                  <a:srgbClr val="FF0000"/>
                </a:solidFill>
                <a:latin typeface="Times New Roman" pitchFamily="18" charset="0"/>
                <a:cs typeface="Times New Roman" pitchFamily="18" charset="0"/>
              </a:rPr>
              <a:t>c</a:t>
            </a:r>
            <a:r>
              <a:rPr lang="pt-BR" sz="2800" dirty="0" smtClean="0">
                <a:solidFill>
                  <a:srgbClr val="FF0000"/>
                </a:solidFill>
                <a:latin typeface="Times New Roman" pitchFamily="18" charset="0"/>
                <a:cs typeface="Times New Roman" pitchFamily="18" charset="0"/>
              </a:rPr>
              <a:t>) Afastamento temporário ocasionado por </a:t>
            </a:r>
            <a:r>
              <a:rPr lang="pt-BR" sz="2800" b="1" dirty="0" smtClean="0">
                <a:solidFill>
                  <a:srgbClr val="FF0000"/>
                </a:solidFill>
                <a:latin typeface="Times New Roman" pitchFamily="18" charset="0"/>
                <a:cs typeface="Times New Roman" pitchFamily="18" charset="0"/>
              </a:rPr>
              <a:t>acidente de trabalho</a:t>
            </a:r>
            <a:r>
              <a:rPr lang="pt-BR" sz="2800" dirty="0" smtClean="0">
                <a:solidFill>
                  <a:srgbClr val="FF0000"/>
                </a:solidFill>
                <a:latin typeface="Times New Roman" pitchFamily="18" charset="0"/>
                <a:cs typeface="Times New Roman" pitchFamily="18" charset="0"/>
              </a:rPr>
              <a:t>, acidente de qualquer natureza, agravo de saúde ou doença com duração superior a 15 (quinze) dias, deve ser enviado </a:t>
            </a:r>
            <a:r>
              <a:rPr lang="pt-BR" sz="2800" b="1" dirty="0" smtClean="0">
                <a:solidFill>
                  <a:srgbClr val="FF0000"/>
                </a:solidFill>
                <a:latin typeface="Times New Roman" pitchFamily="18" charset="0"/>
                <a:cs typeface="Times New Roman" pitchFamily="18" charset="0"/>
              </a:rPr>
              <a:t>até o dia 16 º dia do mês </a:t>
            </a:r>
            <a:r>
              <a:rPr lang="pt-BR" sz="2800" dirty="0" smtClean="0">
                <a:solidFill>
                  <a:srgbClr val="FF0000"/>
                </a:solidFill>
                <a:latin typeface="Times New Roman" pitchFamily="18" charset="0"/>
                <a:cs typeface="Times New Roman" pitchFamily="18" charset="0"/>
              </a:rPr>
              <a:t>subsequente da sua ocorrência. </a:t>
            </a:r>
          </a:p>
          <a:p>
            <a:pPr indent="540000" algn="just"/>
            <a:r>
              <a:rPr lang="pt-BR" sz="2800" dirty="0" smtClean="0">
                <a:solidFill>
                  <a:srgbClr val="FF0000"/>
                </a:solidFill>
                <a:latin typeface="Times New Roman" pitchFamily="18" charset="0"/>
                <a:cs typeface="Times New Roman" pitchFamily="18" charset="0"/>
              </a:rPr>
              <a:t>.</a:t>
            </a:r>
          </a:p>
        </p:txBody>
      </p:sp>
    </p:spTree>
    <p:extLst>
      <p:ext uri="{BB962C8B-B14F-4D97-AF65-F5344CB8AC3E}">
        <p14:creationId xmlns:p14="http://schemas.microsoft.com/office/powerpoint/2010/main" val="267302002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401205"/>
          </a:xfrm>
          <a:prstGeom prst="rect">
            <a:avLst/>
          </a:prstGeom>
          <a:noFill/>
        </p:spPr>
        <p:txBody>
          <a:bodyPr wrap="square" rtlCol="0">
            <a:spAutoFit/>
          </a:bodyPr>
          <a:lstStyle/>
          <a:p>
            <a:pPr indent="540000" algn="just">
              <a:lnSpc>
                <a:spcPct val="150000"/>
              </a:lnSpc>
            </a:pPr>
            <a:r>
              <a:rPr lang="pt-BR" sz="2800" dirty="0" smtClean="0">
                <a:solidFill>
                  <a:srgbClr val="FF0000"/>
                </a:solidFill>
                <a:latin typeface="Times New Roman" pitchFamily="18" charset="0"/>
                <a:cs typeface="Times New Roman" pitchFamily="18" charset="0"/>
              </a:rPr>
              <a:t>d) Afastamento temporário ocasionado pelo mesmo acidente, que ocorrerem dentro do prazo de 60 dias e totalizar, na somatória dos tempos, duração superior a 15 dias, independente da duração individual de cada afastamento, devem ser enviados isoladamente, </a:t>
            </a:r>
            <a:r>
              <a:rPr lang="pt-BR" sz="2800" b="1" dirty="0" smtClean="0">
                <a:solidFill>
                  <a:srgbClr val="FF0000"/>
                </a:solidFill>
                <a:latin typeface="Times New Roman" pitchFamily="18" charset="0"/>
                <a:cs typeface="Times New Roman" pitchFamily="18" charset="0"/>
              </a:rPr>
              <a:t>no 16º dia do afastamento</a:t>
            </a:r>
            <a:r>
              <a:rPr lang="pt-BR" sz="2800" dirty="0" smtClean="0">
                <a:solidFill>
                  <a:srgbClr val="FF0000"/>
                </a:solidFill>
                <a:latin typeface="Times New Roman" pitchFamily="18" charset="0"/>
                <a:cs typeface="Times New Roman" pitchFamily="18" charset="0"/>
              </a:rPr>
              <a:t>.</a:t>
            </a: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62180455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246530"/>
          </a:xfrm>
          <a:prstGeom prst="rect">
            <a:avLst/>
          </a:prstGeom>
          <a:noFill/>
        </p:spPr>
        <p:txBody>
          <a:bodyPr wrap="square" rtlCol="0">
            <a:spAutoFit/>
          </a:bodyPr>
          <a:lstStyle/>
          <a:p>
            <a:pPr indent="540000" algn="just">
              <a:lnSpc>
                <a:spcPct val="150000"/>
              </a:lnSpc>
            </a:pPr>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e) Demais afastamentos devem ser enviados até o dia 07 do mês subsequente ao da sua ocorrência ou até o envio dos eventos mensais de remuneração a que se relacionem.</a:t>
            </a:r>
          </a:p>
        </p:txBody>
      </p:sp>
    </p:spTree>
    <p:extLst>
      <p:ext uri="{BB962C8B-B14F-4D97-AF65-F5344CB8AC3E}">
        <p14:creationId xmlns:p14="http://schemas.microsoft.com/office/powerpoint/2010/main" val="156115010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8195338" cy="2923877"/>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Qual a Data a Ser Informada no Afastamento?</a:t>
            </a:r>
            <a:endParaRPr lang="pt-BR" sz="3600" dirty="0" smtClean="0">
              <a:solidFill>
                <a:srgbClr val="FFC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 data a ser informada no evento é a do efetivo afastamento do trabalhador.</a:t>
            </a:r>
          </a:p>
          <a:p>
            <a:pPr indent="540000" algn="just"/>
            <a:r>
              <a:rPr lang="pt-BR" sz="2800" dirty="0" smtClean="0">
                <a:solidFill>
                  <a:srgbClr val="FF0000"/>
                </a:solidFill>
                <a:latin typeface="Times New Roman" pitchFamily="18" charset="0"/>
                <a:cs typeface="Times New Roman" pitchFamily="18" charset="0"/>
              </a:rPr>
              <a:t> </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816977"/>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Como Informar Novo Afastamento?</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 informação de um novo motivo de afastamento só é possível mediante o envio do término do afastamento anterior. Por exemplo, se uma empregada gestante se afasta para gozo de férias e durante essas férias ocorre o parto, deve ser informado o retorno do afastamento relativo as férias na data anterior ao do parto (ou feita sua retificação caso a data do retorno já tenha sido informada) e encaminhado um novo evento de afastamento informando o início da licença maternidade.</a:t>
            </a: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2"/>
          <a:stretch/>
        </p:blipFill>
        <p:spPr>
          <a:xfrm>
            <a:off x="720" y="0"/>
            <a:ext cx="9142920" cy="6856920"/>
          </a:xfrm>
          <a:prstGeom prst="rect">
            <a:avLst/>
          </a:prstGeom>
          <a:ln>
            <a:noFill/>
          </a:ln>
        </p:spPr>
      </p:pic>
      <p:pic>
        <p:nvPicPr>
          <p:cNvPr id="79" name="Imagem 4"/>
          <p:cNvPicPr/>
          <p:nvPr/>
        </p:nvPicPr>
        <p:blipFill>
          <a:blip r:embed="rId3"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2" name="CaixaDeTexto 1"/>
          <p:cNvSpPr txBox="1"/>
          <p:nvPr/>
        </p:nvSpPr>
        <p:spPr>
          <a:xfrm>
            <a:off x="513566" y="1268760"/>
            <a:ext cx="7982074" cy="5078313"/>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Qual o Objetivo do Evento de Aviso Prévio?</a:t>
            </a:r>
            <a:endParaRPr lang="pt-BR" sz="3600" dirty="0" smtClean="0">
              <a:solidFill>
                <a:srgbClr val="FFC000"/>
              </a:solidFill>
              <a:latin typeface="Times New Roman" pitchFamily="18" charset="0"/>
              <a:cs typeface="Times New Roman" pitchFamily="18" charset="0"/>
            </a:endParaRPr>
          </a:p>
          <a:p>
            <a:pPr indent="540000" algn="just"/>
            <a:r>
              <a:rPr lang="pt-BR" sz="2800" b="1" dirty="0" smtClean="0">
                <a:latin typeface="Times New Roman" pitchFamily="18" charset="0"/>
                <a:cs typeface="Times New Roman" pitchFamily="18" charset="0"/>
              </a:rPr>
              <a:t> </a:t>
            </a:r>
            <a:endParaRPr lang="pt-BR" sz="2800" dirty="0" smtClean="0">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 </a:t>
            </a:r>
            <a:r>
              <a:rPr lang="pt-BR" sz="2800" dirty="0">
                <a:solidFill>
                  <a:srgbClr val="FF0000"/>
                </a:solidFill>
                <a:latin typeface="Times New Roman" pitchFamily="18" charset="0"/>
                <a:cs typeface="Times New Roman" pitchFamily="18" charset="0"/>
              </a:rPr>
              <a:t>E</a:t>
            </a:r>
            <a:r>
              <a:rPr lang="pt-BR" sz="2800" dirty="0" smtClean="0">
                <a:solidFill>
                  <a:srgbClr val="FF0000"/>
                </a:solidFill>
                <a:latin typeface="Times New Roman" pitchFamily="18" charset="0"/>
                <a:cs typeface="Times New Roman" pitchFamily="18" charset="0"/>
              </a:rPr>
              <a:t>ste evento tem como objetivo registrar a comunicação e o possível cancelamento do aviso prévio de iniciativa do empregador ou do empregado. Aviso prévio é o documento de comunicação, antecipada e obrigatória, em que uma das partes contratantes (empregador ou empregado) deseja rescindir, sem justa causa, o contrato de trabalho vigente. </a:t>
            </a:r>
            <a:endParaRPr lang="pt-BR"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79969138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662541"/>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Quem está obrigado?</a:t>
            </a:r>
            <a:r>
              <a:rPr lang="pt-BR" sz="3600" dirty="0" smtClean="0">
                <a:solidFill>
                  <a:srgbClr val="FFC000"/>
                </a:solidFill>
                <a:latin typeface="Times New Roman" pitchFamily="18" charset="0"/>
                <a:cs typeface="Times New Roman" pitchFamily="18" charset="0"/>
              </a:rPr>
              <a:t> </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O empregador, sempre que ocorrer a comunicação da rescisão do contrato de trabalho, sem justa causa. </a:t>
            </a:r>
          </a:p>
          <a:p>
            <a:pPr indent="540000" algn="just"/>
            <a:r>
              <a:rPr lang="pt-BR" sz="2800" dirty="0" smtClean="0">
                <a:solidFill>
                  <a:srgbClr val="FF0000"/>
                </a:solidFill>
                <a:latin typeface="Times New Roman" pitchFamily="18" charset="0"/>
                <a:cs typeface="Times New Roman" pitchFamily="18" charset="0"/>
              </a:rPr>
              <a:t>Prazo de envio: este evento deve ser enviado em até 10 (dez) dias de sua comunicação. </a:t>
            </a: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078313"/>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Quando Deverá Ser Enviado o Aviso Prévio?</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O aviso prévio indenizado não gera o envio deste evento. Esta informação constará somente no evento S-2299 - Desligamento. </a:t>
            </a:r>
          </a:p>
          <a:p>
            <a:pPr indent="540000" algn="just"/>
            <a:r>
              <a:rPr lang="pt-BR" sz="2800" dirty="0" smtClean="0">
                <a:solidFill>
                  <a:srgbClr val="FF0000"/>
                </a:solidFill>
                <a:latin typeface="Times New Roman" pitchFamily="18" charset="0"/>
                <a:cs typeface="Times New Roman" pitchFamily="18" charset="0"/>
              </a:rPr>
              <a:t>Este evento deve ser utilizado apenas quando houver o cumprimento do aviso prévio.</a:t>
            </a:r>
          </a:p>
          <a:p>
            <a:pPr indent="540000" algn="just"/>
            <a:r>
              <a:rPr lang="pt-BR" sz="2800" dirty="0" smtClean="0">
                <a:solidFill>
                  <a:srgbClr val="FF0000"/>
                </a:solidFill>
                <a:latin typeface="Times New Roman" pitchFamily="18" charset="0"/>
                <a:cs typeface="Times New Roman" pitchFamily="18" charset="0"/>
              </a:rPr>
              <a:t> O aviso prévio está classificado em 4 tipos, por indicação de quem avisou o desligamento: </a:t>
            </a: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539191"/>
          </a:xfrm>
          <a:prstGeom prst="rect">
            <a:avLst/>
          </a:prstGeom>
          <a:noFill/>
        </p:spPr>
        <p:txBody>
          <a:bodyPr wrap="square" rtlCol="0">
            <a:spAutoFit/>
          </a:bodyPr>
          <a:lstStyle/>
          <a:p>
            <a:pPr lvl="0" indent="540000" algn="just">
              <a:lnSpc>
                <a:spcPct val="150000"/>
              </a:lnSpc>
            </a:pPr>
            <a:r>
              <a:rPr lang="pt-BR" sz="2800" dirty="0" smtClean="0">
                <a:solidFill>
                  <a:srgbClr val="FF0000"/>
                </a:solidFill>
                <a:latin typeface="Times New Roman" pitchFamily="18" charset="0"/>
                <a:cs typeface="Times New Roman" pitchFamily="18" charset="0"/>
              </a:rPr>
              <a:t>Aviso prévio trabalhado dado pelo empregador ao empregado que optou pela redução de duas horas diárias (caput do art. 488 da CLT); </a:t>
            </a:r>
          </a:p>
          <a:p>
            <a:pPr lvl="0" indent="540000" algn="just">
              <a:lnSpc>
                <a:spcPct val="150000"/>
              </a:lnSpc>
            </a:pPr>
            <a:endParaRPr lang="pt-BR" sz="2800" dirty="0">
              <a:solidFill>
                <a:srgbClr val="FF0000"/>
              </a:solidFill>
              <a:latin typeface="Times New Roman" pitchFamily="18" charset="0"/>
              <a:cs typeface="Times New Roman" pitchFamily="18" charset="0"/>
            </a:endParaRPr>
          </a:p>
          <a:p>
            <a:pPr lvl="0" indent="540000" algn="just">
              <a:lnSpc>
                <a:spcPct val="150000"/>
              </a:lnSpc>
            </a:pPr>
            <a:r>
              <a:rPr lang="pt-BR" sz="2800" dirty="0" smtClean="0">
                <a:solidFill>
                  <a:srgbClr val="FF0000"/>
                </a:solidFill>
                <a:latin typeface="Times New Roman" pitchFamily="18" charset="0"/>
                <a:cs typeface="Times New Roman" pitchFamily="18" charset="0"/>
              </a:rPr>
              <a:t>Aviso prévio trabalhado dado pelo empregador ao empregado que optou pela redução de dias corridos (parágrafo único do art. 488 da CLT); </a:t>
            </a:r>
            <a:endParaRPr lang="pt-BR"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693866"/>
          </a:xfrm>
          <a:prstGeom prst="rect">
            <a:avLst/>
          </a:prstGeom>
          <a:noFill/>
        </p:spPr>
        <p:txBody>
          <a:bodyPr wrap="square" rtlCol="0">
            <a:spAutoFit/>
          </a:bodyPr>
          <a:lstStyle/>
          <a:p>
            <a:pPr lvl="0" indent="540000" algn="just">
              <a:lnSpc>
                <a:spcPct val="150000"/>
              </a:lnSpc>
            </a:pPr>
            <a:r>
              <a:rPr lang="pt-BR" sz="2800" dirty="0" smtClean="0">
                <a:solidFill>
                  <a:srgbClr val="FF0000"/>
                </a:solidFill>
                <a:latin typeface="Times New Roman" pitchFamily="18" charset="0"/>
                <a:cs typeface="Times New Roman" pitchFamily="18" charset="0"/>
              </a:rPr>
              <a:t>Aviso prévio dado pelo empregado (pedido de demissão), não dispensado de seu cumprimento, sob pena de desconto, pelo empregador, dos salários correspondentes ao prazo respectivo (§2º do art. 487 da CLT); </a:t>
            </a:r>
          </a:p>
          <a:p>
            <a:pPr lvl="0" indent="540000" algn="just">
              <a:lnSpc>
                <a:spcPct val="150000"/>
              </a:lnSpc>
            </a:pPr>
            <a:r>
              <a:rPr lang="pt-BR" sz="2800" dirty="0" smtClean="0">
                <a:solidFill>
                  <a:srgbClr val="FF0000"/>
                </a:solidFill>
                <a:latin typeface="Times New Roman" pitchFamily="18" charset="0"/>
                <a:cs typeface="Times New Roman" pitchFamily="18" charset="0"/>
              </a:rPr>
              <a:t>Aviso prévio trabalhado dado pelo empregador rural ao empregado, com redução de um dia por semana (art. 15 da Lei 5889/73).</a:t>
            </a: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071546"/>
            <a:ext cx="7801200" cy="5078313"/>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Como Informar Aviso Prévio Misto?</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Tratando-se de aviso prévio misto, ou seja, parte trabalhada e parte indenizada, o empregador deve enviar o evento S-2250 – Aviso prévio, com a indicação da data prevista para a rescisão (fim do período trabalhado) e incluir no evento S – 2299 – Desligamento o valor do aviso prévio indenizado, correspondente aos dias indenizados.</a:t>
            </a: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071546"/>
            <a:ext cx="7801200" cy="5847755"/>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A recuso do Trabalhador de Comparecer ao Trabalho no Aviso Prévio Altera o Tipo de Aviso?</a:t>
            </a:r>
          </a:p>
          <a:p>
            <a:pPr indent="540000" algn="just"/>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A recusa do empregado de comparecer ao trabalho durante o período do cumprimento do aviso prévio não altera o tipo de aviso, devendo os dias sem comparecimento serem considerados como faltosos.</a:t>
            </a: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254366861"/>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142984"/>
            <a:ext cx="7801200" cy="5201424"/>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Quando Será Utilizado este Evento Para Cancelamento do próprio evento do Aviso Prévio?</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 utilização deste evento para CANCELAR a comunicação do aviso prévio é opcional e pode ser utilizada quando o empregador deseja comunicar que houve a reconsideração do aviso prévio, após comunicar o AVISO PRÉVIO, seja ele de iniciativa da empresa ou do trabalhador, necessite torná-lo se efeito. </a:t>
            </a:r>
          </a:p>
        </p:txBody>
      </p:sp>
    </p:spTree>
    <p:extLst>
      <p:ext uri="{BB962C8B-B14F-4D97-AF65-F5344CB8AC3E}">
        <p14:creationId xmlns:p14="http://schemas.microsoft.com/office/powerpoint/2010/main" val="163130757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179512" y="980728"/>
            <a:ext cx="8849288" cy="4001095"/>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Como Proceder em Caso de Envio Indevido de Aviso Prévio?</a:t>
            </a:r>
          </a:p>
          <a:p>
            <a:pPr indent="540000" algn="just"/>
            <a:endParaRPr lang="pt-BR" sz="2800" dirty="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Na hipótese deste evento, Aviso Prévio, ter sido transmitido indevidamente deve ser enviado o evento “S-3000 – Exclusão de Eventos”, para sua exclusão. </a:t>
            </a: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940088"/>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Como Proceder em Casos De Cumprimento Parcial do Aviso?</a:t>
            </a:r>
            <a:endParaRPr lang="pt-BR" sz="3600" b="1" dirty="0">
              <a:solidFill>
                <a:srgbClr val="FFC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Em caso de cumprimento parcial de aviso, não há necessidade de retificação do evento S – 2250 – Aviso prévio e sim de ser informado no campo {</a:t>
            </a:r>
            <a:r>
              <a:rPr lang="pt-BR" sz="2800" dirty="0" err="1" smtClean="0">
                <a:solidFill>
                  <a:srgbClr val="FF0000"/>
                </a:solidFill>
                <a:latin typeface="Times New Roman" pitchFamily="18" charset="0"/>
                <a:cs typeface="Times New Roman" pitchFamily="18" charset="0"/>
              </a:rPr>
              <a:t>IndCumprParc</a:t>
            </a:r>
            <a:r>
              <a:rPr lang="pt-BR" sz="2800" dirty="0" smtClean="0">
                <a:solidFill>
                  <a:srgbClr val="FF0000"/>
                </a:solidFill>
                <a:latin typeface="Times New Roman" pitchFamily="18" charset="0"/>
                <a:cs typeface="Times New Roman" pitchFamily="18" charset="0"/>
              </a:rPr>
              <a:t>} do evento S-2299 as seguintes opções: “1 – cumprimento parcial em razão de obtenção de novo emprego; 2 – cumprimento parcial por iniciativa do empregador”. Tratando-se da opção “2”, o empregador deve informar, ainda, no evento “S – 2299 – Desligamento”, o valor dos dias indenizados de aviso prévio. </a:t>
            </a: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179512" y="980728"/>
            <a:ext cx="7998878" cy="5201424"/>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Como Proceder em Casos de Afastamento Temporário Durante o Aviso Prévio?</a:t>
            </a:r>
            <a:endParaRPr lang="pt-BR" sz="3600" b="1" dirty="0">
              <a:solidFill>
                <a:srgbClr val="FFC000"/>
              </a:solidFill>
              <a:latin typeface="Times New Roman" pitchFamily="18" charset="0"/>
              <a:cs typeface="Times New Roman" pitchFamily="18" charset="0"/>
            </a:endParaRP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Ocorrendo afastamento temporário durante o cumprimento do aviso e, em razão disso, houver prorrogação da rescisão contratual, o aviso prévio não deverá ser retificado ou cancelado. O empregador deve enviar o evento “S-2230 – Afastamento temporário”.</a:t>
            </a:r>
            <a:endParaRPr lang="pt-BR" sz="2800" b="1" dirty="0" smtClean="0">
              <a:solidFill>
                <a:srgbClr val="FF0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179512" y="980728"/>
            <a:ext cx="8849288" cy="4524315"/>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Outras Informações sobre Aviso Prévio:</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 Todo aviso prévio deve ser validado por um evento de desligamento. Caso este não ocorra o aviso perde a validade na data do seu vencimento e o contrato continua válido.</a:t>
            </a:r>
          </a:p>
          <a:p>
            <a:pPr indent="540000" algn="just"/>
            <a:r>
              <a:rPr lang="pt-BR" sz="2800" dirty="0" smtClean="0">
                <a:solidFill>
                  <a:srgbClr val="FF0000"/>
                </a:solidFill>
                <a:latin typeface="Times New Roman" pitchFamily="18" charset="0"/>
                <a:cs typeface="Times New Roman" pitchFamily="18" charset="0"/>
              </a:rPr>
              <a:t> </a:t>
            </a:r>
          </a:p>
          <a:p>
            <a:pPr indent="540000" algn="just"/>
            <a:r>
              <a:rPr lang="pt-BR" sz="2800" dirty="0" smtClean="0">
                <a:solidFill>
                  <a:srgbClr val="FF0000"/>
                </a:solidFill>
                <a:latin typeface="Times New Roman" pitchFamily="18" charset="0"/>
                <a:cs typeface="Times New Roman" pitchFamily="18" charset="0"/>
              </a:rPr>
              <a:t> O envio de um novo evento de aviso prévio implica o cancelamento do evento, anteriormente enviado. </a:t>
            </a:r>
          </a:p>
          <a:p>
            <a:pPr indent="540000" algn="just"/>
            <a:endParaRPr lang="pt-BR" sz="2800" dirty="0">
              <a:solidFill>
                <a:srgbClr val="FF0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275788719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2800767"/>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Desligamento- S2290</a:t>
            </a:r>
            <a:endParaRPr lang="pt-BR" sz="3600" dirty="0" smtClean="0">
              <a:solidFill>
                <a:srgbClr val="FFC000"/>
              </a:solidFill>
              <a:latin typeface="Times New Roman" pitchFamily="18" charset="0"/>
              <a:cs typeface="Times New Roman" pitchFamily="18" charset="0"/>
            </a:endParaRPr>
          </a:p>
          <a:p>
            <a:pPr algn="ctr"/>
            <a:r>
              <a:rPr lang="pt-BR" sz="2800" b="1" dirty="0" smtClean="0">
                <a:solidFill>
                  <a:schemeClr val="accent1">
                    <a:lumMod val="75000"/>
                  </a:schemeClr>
                </a:solidFill>
                <a:latin typeface="Times New Roman" pitchFamily="18" charset="0"/>
                <a:cs typeface="Times New Roman" pitchFamily="18" charset="0"/>
              </a:rPr>
              <a:t> </a:t>
            </a:r>
            <a:endParaRPr lang="pt-BR" sz="2800" dirty="0" smtClean="0">
              <a:solidFill>
                <a:schemeClr val="accent1">
                  <a:lumMod val="75000"/>
                </a:schemeClr>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São as informações destinadas a registrar o desligamento do trabalhador da empresa.</a:t>
            </a: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107504" y="980728"/>
            <a:ext cx="8712968" cy="4985980"/>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Qual é o Prazo de </a:t>
            </a:r>
            <a:r>
              <a:rPr lang="pt-BR" sz="3600" b="1" dirty="0">
                <a:solidFill>
                  <a:srgbClr val="FFC000"/>
                </a:solidFill>
                <a:latin typeface="Times New Roman" pitchFamily="18" charset="0"/>
                <a:cs typeface="Times New Roman" pitchFamily="18" charset="0"/>
              </a:rPr>
              <a:t>E</a:t>
            </a:r>
            <a:r>
              <a:rPr lang="pt-BR" sz="3600" b="1" dirty="0" smtClean="0">
                <a:solidFill>
                  <a:srgbClr val="FFC000"/>
                </a:solidFill>
                <a:latin typeface="Times New Roman" pitchFamily="18" charset="0"/>
                <a:cs typeface="Times New Roman" pitchFamily="18" charset="0"/>
              </a:rPr>
              <a:t>nvio Do Desligamento?</a:t>
            </a:r>
          </a:p>
          <a:p>
            <a:pPr indent="540000" algn="just"/>
            <a:r>
              <a:rPr lang="pt-BR" sz="3600" dirty="0" smtClean="0">
                <a:solidFill>
                  <a:srgbClr val="FFC000"/>
                </a:solidFill>
                <a:latin typeface="Times New Roman" pitchFamily="18" charset="0"/>
                <a:cs typeface="Times New Roman" pitchFamily="18" charset="0"/>
              </a:rPr>
              <a:t> </a:t>
            </a:r>
          </a:p>
          <a:p>
            <a:pPr indent="540000" algn="just">
              <a:lnSpc>
                <a:spcPct val="150000"/>
              </a:lnSpc>
            </a:pPr>
            <a:r>
              <a:rPr lang="pt-BR" sz="2800" dirty="0" smtClean="0">
                <a:solidFill>
                  <a:srgbClr val="FF0000"/>
                </a:solidFill>
                <a:latin typeface="Times New Roman" pitchFamily="18" charset="0"/>
                <a:cs typeface="Times New Roman" pitchFamily="18" charset="0"/>
              </a:rPr>
              <a:t>As informações de desligamento de empregados devem ser enviadas até 10 (dez) dias seguintes à data do desligamento, desde que não ultrapasse a data do envio do evento “S-1200 – Remuneração”, para o empregado a que se refere o desligamento. </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142984"/>
            <a:ext cx="8338214" cy="4862870"/>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O Que Deverá Ser Informado no Evento de Desligamento?</a:t>
            </a:r>
          </a:p>
          <a:p>
            <a:pPr indent="540000" algn="just"/>
            <a:endParaRPr lang="pt-BR" sz="2800" dirty="0" smtClean="0">
              <a:solidFill>
                <a:srgbClr val="FFC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É nesse evento que a empresa deve informar os valores das verbas rescisórias, individualizando por itens da remuneração do trabalhador que, por sua vez, devem estar de acordo com a Tabela de Rubricas cadastrada pela empresa.</a:t>
            </a:r>
            <a:endParaRPr lang="pt-BR"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107504" y="980728"/>
            <a:ext cx="8465024" cy="5832366"/>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Como Informar Diferenças Salariais Devidas Após o Envio do Evento de Desligamento?</a:t>
            </a:r>
          </a:p>
          <a:p>
            <a:pPr indent="540000" algn="just"/>
            <a:endParaRPr lang="pt-BR" sz="2800" dirty="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As diferenças salariais, provenientes de sentenças normativas, convenções ou acordos coletivos de trabalho e participação de lucros e resultados, devidas após o envio do evento “Desligamento”, devem ser informadas em campos próprios no evento S-1200 -Remuneração. </a:t>
            </a:r>
          </a:p>
          <a:p>
            <a:pPr indent="540000" algn="just"/>
            <a:endParaRPr lang="pt-BR" sz="27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647426"/>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O que mais Informar no Evento de Desligamento?</a:t>
            </a:r>
          </a:p>
          <a:p>
            <a:pPr indent="540000" algn="just"/>
            <a:r>
              <a:rPr lang="pt-BR" sz="2800" dirty="0" smtClean="0">
                <a:solidFill>
                  <a:srgbClr val="FF0000"/>
                </a:solidFill>
                <a:latin typeface="Times New Roman" pitchFamily="18" charset="0"/>
                <a:cs typeface="Times New Roman" pitchFamily="18" charset="0"/>
              </a:rPr>
              <a:t> </a:t>
            </a:r>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Neste evento deve ser informado a Data do Atestado de Saúde Ocupacional – ASO </a:t>
            </a:r>
            <a:r>
              <a:rPr lang="pt-BR" sz="2800" dirty="0" err="1" smtClean="0">
                <a:solidFill>
                  <a:srgbClr val="FF0000"/>
                </a:solidFill>
                <a:latin typeface="Times New Roman" pitchFamily="18" charset="0"/>
                <a:cs typeface="Times New Roman" pitchFamily="18" charset="0"/>
              </a:rPr>
              <a:t>Demissional</a:t>
            </a:r>
            <a:r>
              <a:rPr lang="pt-BR" sz="2800" dirty="0" smtClean="0">
                <a:solidFill>
                  <a:srgbClr val="FF0000"/>
                </a:solidFill>
                <a:latin typeface="Times New Roman" pitchFamily="18" charset="0"/>
                <a:cs typeface="Times New Roman" pitchFamily="18" charset="0"/>
              </a:rPr>
              <a:t> e o CRM do médico responsável.</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Para servidores de regime jurídico estatutário e regime administrativo especial deverão ser seguidas as regras dos respectivos estatutos. </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570208"/>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Quais são Alguns Eventos Que Podem Ocorrer Após o Desligamento?</a:t>
            </a:r>
          </a:p>
          <a:p>
            <a:pPr indent="540000" algn="just"/>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S-1200 - Remuneração relativa a períodos anteriores , desde que o período de referência esteja compreendido na vigência do contrato de trabalho; </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539430"/>
          </a:xfrm>
          <a:prstGeom prst="rect">
            <a:avLst/>
          </a:prstGeom>
          <a:noFill/>
        </p:spPr>
        <p:txBody>
          <a:bodyPr wrap="square" rtlCol="0">
            <a:spAutoFit/>
          </a:bodyPr>
          <a:lstStyle/>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S-2220 </a:t>
            </a:r>
            <a:r>
              <a:rPr lang="pt-BR" sz="2800" dirty="0" smtClean="0">
                <a:solidFill>
                  <a:srgbClr val="FF0000"/>
                </a:solidFill>
                <a:latin typeface="Times New Roman" pitchFamily="18" charset="0"/>
                <a:cs typeface="Times New Roman" pitchFamily="18" charset="0"/>
              </a:rPr>
              <a:t>- Monitoramento de Saúde do Trabalhador; </a:t>
            </a:r>
            <a:endParaRPr lang="pt-BR" sz="2800" dirty="0">
              <a:solidFill>
                <a:srgbClr val="FF0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S-2298 - Reintegração</a:t>
            </a:r>
            <a:endParaRPr lang="pt-BR" sz="2800" dirty="0">
              <a:solidFill>
                <a:srgbClr val="FF0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 </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647426"/>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Quando Utilizar o Evento de Reintegração?</a:t>
            </a:r>
            <a:endParaRPr lang="pt-BR" sz="3600" dirty="0" smtClean="0">
              <a:solidFill>
                <a:srgbClr val="FFC000"/>
              </a:solidFill>
              <a:latin typeface="Times New Roman" pitchFamily="18" charset="0"/>
              <a:cs typeface="Times New Roman" pitchFamily="18" charset="0"/>
            </a:endParaRPr>
          </a:p>
          <a:p>
            <a:pPr indent="540000" algn="ctr"/>
            <a:r>
              <a:rPr lang="pt-BR" sz="2800" dirty="0" smtClean="0">
                <a:solidFill>
                  <a:srgbClr val="FF0000"/>
                </a:solidFill>
                <a:latin typeface="Times New Roman" pitchFamily="18" charset="0"/>
                <a:cs typeface="Times New Roman" pitchFamily="18" charset="0"/>
              </a:rPr>
              <a:t> </a:t>
            </a:r>
          </a:p>
          <a:p>
            <a:pPr indent="540000" algn="just"/>
            <a:r>
              <a:rPr lang="pt-BR" sz="2800" dirty="0" smtClean="0">
                <a:solidFill>
                  <a:srgbClr val="FF0000"/>
                </a:solidFill>
                <a:latin typeface="Times New Roman" pitchFamily="18" charset="0"/>
                <a:cs typeface="Times New Roman" pitchFamily="18" charset="0"/>
              </a:rPr>
              <a:t> Toda fez que o empregador por obrigatoriedade precisar reintegrar um colaborador.</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Integram o conceito de reintegração, para fins do eSocial, todos os atos que restabelecem o vínculo tornando sem efeito o desligamento.</a:t>
            </a: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142984"/>
            <a:ext cx="7801200" cy="4093428"/>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Qual o Prazo de envio? </a:t>
            </a:r>
          </a:p>
          <a:p>
            <a:pPr indent="540000" algn="just"/>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Até o dia 07 (sete) do mês seguinte a que se refere a reintegração, desde que não ultrapasse a data do envio do evento “S-1200 - Remuneração de Trabalhador</a:t>
            </a:r>
            <a:r>
              <a:rPr lang="pt-BR" sz="2800" dirty="0">
                <a:solidFill>
                  <a:srgbClr val="FF0000"/>
                </a:solidFill>
                <a:latin typeface="Times New Roman" pitchFamily="18" charset="0"/>
                <a:cs typeface="Times New Roman" pitchFamily="18" charset="0"/>
              </a:rPr>
              <a:t>.</a:t>
            </a:r>
            <a:endParaRPr lang="pt-BR" sz="2800" dirty="0" smtClean="0">
              <a:solidFill>
                <a:srgbClr val="FF0000"/>
              </a:solidFill>
              <a:latin typeface="Times New Roman" pitchFamily="18" charset="0"/>
              <a:cs typeface="Times New Roman" pitchFamily="18" charset="0"/>
            </a:endParaRP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354765"/>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Na Reintegração o Que Dever Ser </a:t>
            </a:r>
            <a:r>
              <a:rPr lang="pt-BR" sz="3600" b="1" dirty="0">
                <a:solidFill>
                  <a:srgbClr val="FFC000"/>
                </a:solidFill>
                <a:latin typeface="Times New Roman" pitchFamily="18" charset="0"/>
                <a:cs typeface="Times New Roman" pitchFamily="18" charset="0"/>
              </a:rPr>
              <a:t>M</a:t>
            </a:r>
            <a:r>
              <a:rPr lang="pt-BR" sz="3600" b="1" dirty="0" smtClean="0">
                <a:solidFill>
                  <a:srgbClr val="FFC000"/>
                </a:solidFill>
                <a:latin typeface="Times New Roman" pitchFamily="18" charset="0"/>
                <a:cs typeface="Times New Roman" pitchFamily="18" charset="0"/>
              </a:rPr>
              <a:t>antido </a:t>
            </a:r>
            <a:r>
              <a:rPr lang="pt-BR" sz="3600" b="1" dirty="0">
                <a:solidFill>
                  <a:srgbClr val="FFC000"/>
                </a:solidFill>
                <a:latin typeface="Times New Roman" pitchFamily="18" charset="0"/>
                <a:cs typeface="Times New Roman" pitchFamily="18" charset="0"/>
              </a:rPr>
              <a:t>C</a:t>
            </a:r>
            <a:r>
              <a:rPr lang="pt-BR" sz="3600" b="1" dirty="0" smtClean="0">
                <a:solidFill>
                  <a:srgbClr val="FFC000"/>
                </a:solidFill>
                <a:latin typeface="Times New Roman" pitchFamily="18" charset="0"/>
                <a:cs typeface="Times New Roman" pitchFamily="18" charset="0"/>
              </a:rPr>
              <a:t>om Relação ao Cadastro?</a:t>
            </a:r>
          </a:p>
          <a:p>
            <a:pPr indent="540000" algn="just"/>
            <a:endParaRPr lang="pt-BR" sz="2800" dirty="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Na reintegração deve ser mantida a matrícula anteriormente cadastrada no eSocial.</a:t>
            </a:r>
          </a:p>
          <a:p>
            <a:pPr indent="540000" algn="just"/>
            <a:r>
              <a:rPr lang="pt-BR" sz="2800" dirty="0" smtClean="0">
                <a:solidFill>
                  <a:srgbClr val="FF0000"/>
                </a:solidFill>
                <a:latin typeface="Times New Roman" pitchFamily="18" charset="0"/>
                <a:cs typeface="Times New Roman" pitchFamily="18" charset="0"/>
              </a:rPr>
              <a:t> </a:t>
            </a:r>
            <a:endParaRPr lang="pt-BR"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dirty="0">
                <a:solidFill>
                  <a:srgbClr val="595959"/>
                </a:solidFill>
                <a:uFill>
                  <a:solidFill>
                    <a:srgbClr val="FFFFFF"/>
                  </a:solidFill>
                </a:uFill>
                <a:latin typeface="Calibri"/>
                <a:ea typeface="DejaVu Sans"/>
              </a:rPr>
              <a:t>www.escolaseac.com</a:t>
            </a:r>
            <a:endParaRPr lang="pt-BR" sz="1800" b="0" strike="noStrike" spc="-1" dirty="0">
              <a:solidFill>
                <a:srgbClr val="000000"/>
              </a:solidFill>
              <a:uFill>
                <a:solidFill>
                  <a:srgbClr val="FFFFFF"/>
                </a:solidFill>
              </a:uFill>
              <a:latin typeface="Arial"/>
            </a:endParaRPr>
          </a:p>
        </p:txBody>
      </p:sp>
      <p:sp>
        <p:nvSpPr>
          <p:cNvPr id="3" name="CaixaDeTexto 2"/>
          <p:cNvSpPr txBox="1"/>
          <p:nvPr/>
        </p:nvSpPr>
        <p:spPr>
          <a:xfrm>
            <a:off x="179512" y="1052736"/>
            <a:ext cx="8607330" cy="5416868"/>
          </a:xfrm>
          <a:prstGeom prst="rect">
            <a:avLst/>
          </a:prstGeom>
          <a:noFill/>
        </p:spPr>
        <p:txBody>
          <a:bodyPr wrap="square" rtlCol="0">
            <a:spAutoFit/>
          </a:bodyPr>
          <a:lstStyle/>
          <a:p>
            <a:pPr indent="540000" algn="just"/>
            <a:r>
              <a:rPr lang="pt-BR" sz="3600" b="1" dirty="0" smtClean="0">
                <a:solidFill>
                  <a:srgbClr val="FFC000"/>
                </a:solidFill>
                <a:latin typeface="Times New Roman" pitchFamily="18" charset="0"/>
                <a:cs typeface="Times New Roman" pitchFamily="18" charset="0"/>
              </a:rPr>
              <a:t>Quando Utilizar o Evento  S-2241 – Insalubridade, Periculosidade e Aposentadoria Especial?</a:t>
            </a:r>
            <a:endParaRPr lang="pt-BR" sz="3600" dirty="0" smtClean="0">
              <a:solidFill>
                <a:srgbClr val="FFC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Este evento é utilizado pelo empregador para registrar os fatores de risco descritos na Tabela 23 – Fatores de Risco Ambientais, que criam condições de insalubridade ou periculosidade no ambiente de trabalho, bem como a aposentadoria especial.</a:t>
            </a: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142984"/>
            <a:ext cx="7801200" cy="4647426"/>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S-2300 – Trabalhador Sem Vínculo de Emprego/Estatutário </a:t>
            </a:r>
            <a:r>
              <a:rPr lang="pt-BR" sz="3600" b="1" dirty="0" smtClean="0">
                <a:solidFill>
                  <a:srgbClr val="FFC000"/>
                </a:solidFill>
              </a:rPr>
              <a:t> </a:t>
            </a:r>
            <a:endParaRPr lang="pt-BR" sz="3600" dirty="0" smtClean="0">
              <a:solidFill>
                <a:srgbClr val="FFC000"/>
              </a:solidFill>
            </a:endParaRPr>
          </a:p>
          <a:p>
            <a:pPr indent="540000" algn="just"/>
            <a:r>
              <a:rPr lang="pt-BR" sz="2800" b="1" dirty="0" smtClean="0">
                <a:solidFill>
                  <a:srgbClr val="FF0000"/>
                </a:solidFill>
              </a:rPr>
              <a:t> </a:t>
            </a:r>
          </a:p>
          <a:p>
            <a:pPr indent="540000" algn="just">
              <a:lnSpc>
                <a:spcPct val="150000"/>
              </a:lnSpc>
            </a:pPr>
            <a:r>
              <a:rPr lang="pt-BR" sz="2800" dirty="0" smtClean="0">
                <a:solidFill>
                  <a:srgbClr val="FF0000"/>
                </a:solidFill>
                <a:latin typeface="Times New Roman" pitchFamily="18" charset="0"/>
                <a:cs typeface="Times New Roman" pitchFamily="18" charset="0"/>
              </a:rPr>
              <a:t>Este evento é utilizado para prestar informações cadastrais relativas a trabalhadores que não possuem vínculo de emprego/estatutário com a empresa/órgão público. </a:t>
            </a: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142984"/>
            <a:ext cx="7801200" cy="4739759"/>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S-2300 – Quem Esta Obrigado?</a:t>
            </a:r>
            <a:r>
              <a:rPr lang="pt-BR" sz="3600" b="1" dirty="0" smtClean="0">
                <a:solidFill>
                  <a:srgbClr val="FFC000"/>
                </a:solidFill>
              </a:rPr>
              <a:t> </a:t>
            </a:r>
            <a:endParaRPr lang="pt-BR" sz="3600" dirty="0" smtClean="0">
              <a:solidFill>
                <a:srgbClr val="FFC000"/>
              </a:solidFill>
            </a:endParaRPr>
          </a:p>
          <a:p>
            <a:pPr indent="540000" algn="just"/>
            <a:r>
              <a:rPr lang="pt-BR" sz="2800" b="1" dirty="0" smtClean="0">
                <a:solidFill>
                  <a:srgbClr val="FF0000"/>
                </a:solidFill>
              </a:rPr>
              <a:t> </a:t>
            </a:r>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a:solidFill>
                  <a:srgbClr val="FF0000"/>
                </a:solidFill>
                <a:latin typeface="Times New Roman" pitchFamily="18" charset="0"/>
                <a:cs typeface="Times New Roman" pitchFamily="18" charset="0"/>
              </a:rPr>
              <a:t>O</a:t>
            </a:r>
            <a:r>
              <a:rPr lang="pt-BR" sz="2800" dirty="0" smtClean="0">
                <a:solidFill>
                  <a:srgbClr val="FF0000"/>
                </a:solidFill>
                <a:latin typeface="Times New Roman" pitchFamily="18" charset="0"/>
                <a:cs typeface="Times New Roman" pitchFamily="18" charset="0"/>
              </a:rPr>
              <a:t> empregador gestor de mão de obra, o sindicato de trabalhadores avulsos não portuários e a cooperativa, quando utilizarem mão de obra dos seguintes trabalhadores, sem vínculo de emprego ou estatutário.</a:t>
            </a: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193795113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2" name="CaixaDeTexto 1"/>
          <p:cNvSpPr txBox="1"/>
          <p:nvPr/>
        </p:nvSpPr>
        <p:spPr>
          <a:xfrm>
            <a:off x="513566" y="1268760"/>
            <a:ext cx="7982074" cy="830997"/>
          </a:xfrm>
          <a:prstGeom prst="rect">
            <a:avLst/>
          </a:prstGeom>
          <a:noFill/>
        </p:spPr>
        <p:txBody>
          <a:bodyPr wrap="square" rtlCol="0">
            <a:spAutoFit/>
          </a:bodyPr>
          <a:lstStyle/>
          <a:p>
            <a:pPr indent="540000" algn="just"/>
            <a:endParaRPr lang="pt-BR" sz="2400" b="1" dirty="0" smtClean="0">
              <a:solidFill>
                <a:schemeClr val="accent1">
                  <a:lumMod val="75000"/>
                </a:schemeClr>
              </a:solidFill>
              <a:latin typeface="Times New Roman" pitchFamily="18" charset="0"/>
              <a:cs typeface="Times New Roman" pitchFamily="18" charset="0"/>
            </a:endParaRPr>
          </a:p>
          <a:p>
            <a:pPr algn="ctr"/>
            <a:endParaRPr lang="pt-BR" sz="2400" b="1" dirty="0">
              <a:solidFill>
                <a:schemeClr val="accent1">
                  <a:lumMod val="75000"/>
                </a:schemeClr>
              </a:solidFill>
              <a:latin typeface="Times New Roman" pitchFamily="18" charset="0"/>
              <a:cs typeface="Times New Roman" pitchFamily="18" charset="0"/>
            </a:endParaRPr>
          </a:p>
        </p:txBody>
      </p:sp>
      <p:pic>
        <p:nvPicPr>
          <p:cNvPr id="9" name="Imagem 8" descr="http://www.mgpconsultoria.com.br/wp-content/uploads/2017/11/s2300-trabalhador-sem-v%C3%ADnculo-de-emprego-in%C3%ADcio-tabela-1.jpg"/>
          <p:cNvPicPr/>
          <p:nvPr/>
        </p:nvPicPr>
        <p:blipFill>
          <a:blip r:embed="rId5"/>
          <a:srcRect/>
          <a:stretch>
            <a:fillRect/>
          </a:stretch>
        </p:blipFill>
        <p:spPr bwMode="auto">
          <a:xfrm>
            <a:off x="928662" y="1214422"/>
            <a:ext cx="6429420" cy="1214446"/>
          </a:xfrm>
          <a:prstGeom prst="rect">
            <a:avLst/>
          </a:prstGeom>
          <a:noFill/>
          <a:ln w="9525">
            <a:noFill/>
            <a:miter lim="800000"/>
            <a:headEnd/>
            <a:tailEnd/>
          </a:ln>
        </p:spPr>
      </p:pic>
      <p:pic>
        <p:nvPicPr>
          <p:cNvPr id="10" name="Imagem 9" descr="http://www.mgpconsultoria.com.br/wp-content/uploads/2017/11/s2300-trabalhador-sem-v%C3%ADnculo-de-emprego-in%C3%ADcio-tabela-2.jpg"/>
          <p:cNvPicPr/>
          <p:nvPr/>
        </p:nvPicPr>
        <p:blipFill>
          <a:blip r:embed="rId6"/>
          <a:srcRect/>
          <a:stretch>
            <a:fillRect/>
          </a:stretch>
        </p:blipFill>
        <p:spPr bwMode="auto">
          <a:xfrm>
            <a:off x="928662" y="2428868"/>
            <a:ext cx="6429420" cy="3232380"/>
          </a:xfrm>
          <a:prstGeom prst="rect">
            <a:avLst/>
          </a:prstGeom>
          <a:noFill/>
          <a:ln w="9525">
            <a:noFill/>
            <a:miter lim="800000"/>
            <a:headEnd/>
            <a:tailEnd/>
          </a:ln>
        </p:spPr>
      </p:pic>
    </p:spTree>
    <p:extLst>
      <p:ext uri="{BB962C8B-B14F-4D97-AF65-F5344CB8AC3E}">
        <p14:creationId xmlns:p14="http://schemas.microsoft.com/office/powerpoint/2010/main" val="279969138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980728"/>
            <a:ext cx="8443282" cy="4431983"/>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S-5002 – Imposto de Renda Retido na Fonte</a:t>
            </a:r>
            <a:r>
              <a:rPr lang="pt-BR" sz="3600" dirty="0">
                <a:solidFill>
                  <a:srgbClr val="FFC000"/>
                </a:solidFill>
                <a:latin typeface="Times New Roman" pitchFamily="18" charset="0"/>
                <a:cs typeface="Times New Roman" pitchFamily="18" charset="0"/>
              </a:rPr>
              <a:t>:</a:t>
            </a:r>
            <a:endParaRPr lang="pt-BR" sz="3600" dirty="0" smtClean="0">
              <a:solidFill>
                <a:srgbClr val="FFC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Trata-se de um evento de retorno do ambiente nacional do eSocial para cada evento de Pagamentos de Rendimentos do Trabalho (S-1210), que tenha sido transmitido pelo empregador e internalizado pelo ambiente nacional do eSocial após as devidas validações.</a:t>
            </a:r>
            <a:endParaRPr lang="pt-BR"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980728"/>
            <a:ext cx="8443282" cy="4862870"/>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S-5002 – Imposto de Renda Retido na Fonte</a:t>
            </a:r>
            <a:r>
              <a:rPr lang="pt-BR" sz="3600" dirty="0">
                <a:solidFill>
                  <a:srgbClr val="FFC000"/>
                </a:solidFill>
                <a:latin typeface="Times New Roman" pitchFamily="18" charset="0"/>
                <a:cs typeface="Times New Roman" pitchFamily="18" charset="0"/>
              </a:rPr>
              <a:t>:</a:t>
            </a:r>
            <a:endParaRPr lang="pt-BR" sz="3600" dirty="0" smtClean="0">
              <a:solidFill>
                <a:srgbClr val="FFC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Neste evento constará a totalização dos rendimentos tributáveis e não tributáveis, o Imposto de Renda Retido na Fonte, as deduções do rendimento tributável bruto, isenções, demandas judiciais e suspensão de incidência em função de decisões judiciais. </a:t>
            </a:r>
            <a:endParaRPr lang="pt-BR"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70800033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142984"/>
            <a:ext cx="7801200" cy="3231654"/>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Qual o Prazo de Envio?</a:t>
            </a:r>
            <a:r>
              <a:rPr lang="pt-BR" sz="3600" dirty="0" smtClean="0">
                <a:solidFill>
                  <a:srgbClr val="FFC000"/>
                </a:solidFill>
                <a:latin typeface="Times New Roman" pitchFamily="18" charset="0"/>
                <a:cs typeface="Times New Roman" pitchFamily="18" charset="0"/>
              </a:rPr>
              <a:t> </a:t>
            </a:r>
          </a:p>
          <a:p>
            <a:pPr indent="540000" algn="just">
              <a:lnSpc>
                <a:spcPct val="150000"/>
              </a:lnSpc>
            </a:pPr>
            <a:endParaRPr lang="pt-BR" sz="2800" dirty="0">
              <a:solidFill>
                <a:srgbClr val="FF0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O evento é gerado na medida em que os eventos de pagamentos são transmitidos e após as devidas validações. </a:t>
            </a:r>
            <a:endParaRPr lang="pt-BR"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92832133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509200"/>
          </a:xfrm>
          <a:prstGeom prst="rect">
            <a:avLst/>
          </a:prstGeom>
          <a:noFill/>
        </p:spPr>
        <p:txBody>
          <a:bodyPr wrap="square" rtlCol="0">
            <a:spAutoFit/>
          </a:bodyPr>
          <a:lstStyle/>
          <a:p>
            <a:pPr indent="540000" algn="ctr"/>
            <a:r>
              <a:rPr lang="pt-BR" sz="2800" b="1" dirty="0" smtClean="0"/>
              <a:t> </a:t>
            </a:r>
            <a:r>
              <a:rPr lang="pt-BR" sz="3600" b="1" dirty="0" smtClean="0">
                <a:solidFill>
                  <a:srgbClr val="FFC000"/>
                </a:solidFill>
                <a:latin typeface="Times New Roman" pitchFamily="18" charset="0"/>
                <a:cs typeface="Times New Roman" pitchFamily="18" charset="0"/>
              </a:rPr>
              <a:t>Pré-requisitos:</a:t>
            </a:r>
            <a:r>
              <a:rPr lang="pt-BR" sz="3600" dirty="0" smtClean="0">
                <a:solidFill>
                  <a:srgbClr val="FFC000"/>
                </a:solidFill>
                <a:latin typeface="Times New Roman" pitchFamily="18" charset="0"/>
                <a:cs typeface="Times New Roman" pitchFamily="18" charset="0"/>
              </a:rPr>
              <a:t> </a:t>
            </a:r>
          </a:p>
          <a:p>
            <a:pPr indent="540000" algn="just">
              <a:lnSpc>
                <a:spcPct val="150000"/>
              </a:lnSpc>
            </a:pPr>
            <a:r>
              <a:rPr lang="pt-BR" sz="2800" dirty="0" smtClean="0">
                <a:solidFill>
                  <a:srgbClr val="FF0000"/>
                </a:solidFill>
                <a:latin typeface="Times New Roman" pitchFamily="18" charset="0"/>
                <a:cs typeface="Times New Roman" pitchFamily="18" charset="0"/>
              </a:rPr>
              <a:t>Envio de evento de Pagamentos de Rendimentos do Trabalho (S-1210). </a:t>
            </a:r>
            <a:endParaRPr lang="pt-BR" sz="3600" b="1" dirty="0" smtClean="0">
              <a:solidFill>
                <a:srgbClr val="FFC000"/>
              </a:solidFill>
              <a:latin typeface="Times New Roman" pitchFamily="18" charset="0"/>
              <a:cs typeface="Times New Roman" pitchFamily="18" charset="0"/>
            </a:endParaRPr>
          </a:p>
          <a:p>
            <a:pPr indent="540000" algn="ctr"/>
            <a:r>
              <a:rPr lang="pt-BR" sz="3600" b="1" dirty="0" smtClean="0">
                <a:solidFill>
                  <a:srgbClr val="FFC000"/>
                </a:solidFill>
                <a:latin typeface="Times New Roman" pitchFamily="18" charset="0"/>
                <a:cs typeface="Times New Roman" pitchFamily="18" charset="0"/>
              </a:rPr>
              <a:t>Informações Adicionais:</a:t>
            </a:r>
            <a:endParaRPr lang="pt-BR" sz="3600" dirty="0" smtClean="0">
              <a:solidFill>
                <a:srgbClr val="FFC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Para geração dos valores contemplados no evento S-5002, são utilizadas informações do evento de pagamentos (S-1210) e também informações dos eventos remuneratórios (S-1200, S-1202, S-1207, S-2299 e S-2399) que tenham sido referenciados no evento de pagamentos. </a:t>
            </a: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214422"/>
            <a:ext cx="7801200" cy="5078313"/>
          </a:xfrm>
          <a:prstGeom prst="rect">
            <a:avLst/>
          </a:prstGeom>
          <a:noFill/>
        </p:spPr>
        <p:txBody>
          <a:bodyPr wrap="square" rtlCol="0">
            <a:spAutoFit/>
          </a:bodyPr>
          <a:lstStyle/>
          <a:p>
            <a:pPr algn="ctr"/>
            <a:r>
              <a:rPr lang="pt-BR" sz="3600" b="1" dirty="0" smtClean="0">
                <a:solidFill>
                  <a:srgbClr val="FFC000"/>
                </a:solidFill>
                <a:latin typeface="Times New Roman" pitchFamily="18" charset="0"/>
                <a:cs typeface="Times New Roman" pitchFamily="18" charset="0"/>
              </a:rPr>
              <a:t>Exclusão de Eventos </a:t>
            </a:r>
            <a:endParaRPr lang="pt-BR" sz="2800" dirty="0"/>
          </a:p>
          <a:p>
            <a:pPr algn="ctr"/>
            <a:endParaRPr lang="pt-BR" sz="3600" b="1" dirty="0">
              <a:solidFill>
                <a:srgbClr val="FFC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Utilizado para tornar sem efeito um evento enviado indevidamente, o qual deve estar incluído entre as faixas S-1200 a S-2400, com exceção dos eventos S-1299 – Fechamento dos Eventos Periódicos e S-1298 – Reabertura dos Eventos Periódicos. </a:t>
            </a: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179512" y="1000108"/>
            <a:ext cx="8424936" cy="4985980"/>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Pré-requisitos:</a:t>
            </a:r>
            <a:r>
              <a:rPr lang="pt-BR" sz="3600" dirty="0" smtClean="0">
                <a:solidFill>
                  <a:srgbClr val="FFC000"/>
                </a:solidFill>
                <a:latin typeface="Times New Roman" pitchFamily="18" charset="0"/>
                <a:cs typeface="Times New Roman" pitchFamily="18" charset="0"/>
              </a:rPr>
              <a:t> </a:t>
            </a:r>
          </a:p>
          <a:p>
            <a:pPr indent="540000" algn="just"/>
            <a:endParaRPr lang="pt-BR" sz="2800" dirty="0" smtClean="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Envio anterior do evento a ser excluído. </a:t>
            </a:r>
          </a:p>
          <a:p>
            <a:pPr indent="540000" algn="ctr"/>
            <a:endParaRPr lang="pt-BR" sz="3600" b="1" dirty="0" smtClean="0">
              <a:solidFill>
                <a:srgbClr val="FFC000"/>
              </a:solidFill>
              <a:latin typeface="Times New Roman" pitchFamily="18" charset="0"/>
              <a:cs typeface="Times New Roman" pitchFamily="18" charset="0"/>
            </a:endParaRPr>
          </a:p>
          <a:p>
            <a:pPr indent="540000" algn="ctr"/>
            <a:r>
              <a:rPr lang="pt-BR" sz="3600" b="1" dirty="0" smtClean="0">
                <a:solidFill>
                  <a:srgbClr val="FFC000"/>
                </a:solidFill>
                <a:latin typeface="Times New Roman" pitchFamily="18" charset="0"/>
                <a:cs typeface="Times New Roman" pitchFamily="18" charset="0"/>
              </a:rPr>
              <a:t>Informações </a:t>
            </a:r>
            <a:r>
              <a:rPr lang="pt-BR" sz="3600" b="1" dirty="0">
                <a:solidFill>
                  <a:srgbClr val="FFC000"/>
                </a:solidFill>
                <a:latin typeface="Times New Roman" pitchFamily="18" charset="0"/>
                <a:cs typeface="Times New Roman" pitchFamily="18" charset="0"/>
              </a:rPr>
              <a:t>A</a:t>
            </a:r>
            <a:r>
              <a:rPr lang="pt-BR" sz="3600" b="1" dirty="0" smtClean="0">
                <a:solidFill>
                  <a:srgbClr val="FFC000"/>
                </a:solidFill>
                <a:latin typeface="Times New Roman" pitchFamily="18" charset="0"/>
                <a:cs typeface="Times New Roman" pitchFamily="18" charset="0"/>
              </a:rPr>
              <a:t>dicionais:</a:t>
            </a:r>
            <a:endParaRPr lang="pt-BR" sz="3600" dirty="0" smtClean="0">
              <a:solidFill>
                <a:srgbClr val="FFC000"/>
              </a:solidFill>
              <a:latin typeface="Times New Roman" pitchFamily="18" charset="0"/>
              <a:cs typeface="Times New Roman" pitchFamily="18" charset="0"/>
            </a:endParaRPr>
          </a:p>
          <a:p>
            <a:pPr indent="540000" algn="just">
              <a:lnSpc>
                <a:spcPct val="150000"/>
              </a:lnSpc>
            </a:pPr>
            <a:r>
              <a:rPr lang="pt-BR" sz="2800" dirty="0" smtClean="0">
                <a:solidFill>
                  <a:srgbClr val="FF0000"/>
                </a:solidFill>
                <a:latin typeface="Times New Roman" pitchFamily="18" charset="0"/>
                <a:cs typeface="Times New Roman" pitchFamily="18" charset="0"/>
              </a:rPr>
              <a:t> A exclusão implica a perda dos efeitos jurídicos relativos ao cumprimento da obrigação de prestar informações ao eSocial, dentro dos prazos estabelecidos.</a:t>
            </a:r>
          </a:p>
          <a:p>
            <a:pPr indent="540000" algn="just"/>
            <a:endParaRPr lang="pt-BR"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425306451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179512" y="1000108"/>
            <a:ext cx="8424936" cy="4801314"/>
          </a:xfrm>
          <a:prstGeom prst="rect">
            <a:avLst/>
          </a:prstGeom>
          <a:noFill/>
        </p:spPr>
        <p:txBody>
          <a:bodyPr wrap="square" rtlCol="0">
            <a:spAutoFit/>
          </a:bodyPr>
          <a:lstStyle/>
          <a:p>
            <a:pPr indent="540000" algn="ctr">
              <a:lnSpc>
                <a:spcPct val="150000"/>
              </a:lnSpc>
            </a:pPr>
            <a:r>
              <a:rPr lang="pt-BR" sz="3600" b="1" dirty="0" smtClean="0">
                <a:solidFill>
                  <a:srgbClr val="FFC000"/>
                </a:solidFill>
                <a:latin typeface="Times New Roman" pitchFamily="18" charset="0"/>
                <a:cs typeface="Times New Roman" pitchFamily="18" charset="0"/>
              </a:rPr>
              <a:t>Importante:</a:t>
            </a:r>
          </a:p>
          <a:p>
            <a:pPr indent="540000" algn="just">
              <a:lnSpc>
                <a:spcPct val="150000"/>
              </a:lnSpc>
            </a:pPr>
            <a:r>
              <a:rPr lang="pt-BR" sz="2800" dirty="0" smtClean="0">
                <a:solidFill>
                  <a:srgbClr val="FF0000"/>
                </a:solidFill>
                <a:latin typeface="Times New Roman" pitchFamily="18" charset="0"/>
                <a:cs typeface="Times New Roman" pitchFamily="18" charset="0"/>
              </a:rPr>
              <a:t>Não é possível excluir nenhum dos eventos periódicos relativos ao período de apuração fechado, ou seja, para o qual já exista evento S-1299 – Fechamento dos Eventos Periódicos - antes do envio do evento de reabertura respectivo S-1298 – Reabertura dos Eventos Periódicos - para o período de apuração. </a:t>
            </a:r>
            <a:endParaRPr lang="pt-BR" sz="2800"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071546"/>
            <a:ext cx="7801200" cy="5478423"/>
          </a:xfrm>
          <a:prstGeom prst="rect">
            <a:avLst/>
          </a:prstGeom>
          <a:noFill/>
        </p:spPr>
        <p:txBody>
          <a:bodyPr wrap="square" rtlCol="0">
            <a:spAutoFit/>
          </a:bodyPr>
          <a:lstStyle/>
          <a:p>
            <a:pPr indent="540000" algn="just">
              <a:lnSpc>
                <a:spcPct val="150000"/>
              </a:lnSpc>
            </a:pPr>
            <a:r>
              <a:rPr lang="pt-BR" sz="2800" dirty="0" smtClean="0">
                <a:solidFill>
                  <a:srgbClr val="FF0000"/>
                </a:solidFill>
                <a:latin typeface="Times New Roman" pitchFamily="18" charset="0"/>
                <a:cs typeface="Times New Roman" pitchFamily="18" charset="0"/>
              </a:rPr>
              <a:t>Para a exclusão de um evento deve-se informar o número de seu recibo de entrega. </a:t>
            </a:r>
          </a:p>
          <a:p>
            <a:pPr indent="540000" algn="just">
              <a:lnSpc>
                <a:spcPct val="150000"/>
              </a:lnSpc>
            </a:pPr>
            <a:endParaRPr lang="pt-BR" sz="2800" dirty="0">
              <a:solidFill>
                <a:srgbClr val="FF0000"/>
              </a:solidFill>
              <a:latin typeface="Times New Roman" pitchFamily="18" charset="0"/>
              <a:cs typeface="Times New Roman" pitchFamily="18" charset="0"/>
            </a:endParaRPr>
          </a:p>
          <a:p>
            <a:pPr indent="540000" algn="just">
              <a:lnSpc>
                <a:spcPct val="150000"/>
              </a:lnSpc>
            </a:pPr>
            <a:r>
              <a:rPr lang="pt-BR" sz="2800" dirty="0">
                <a:solidFill>
                  <a:srgbClr val="FF0000"/>
                </a:solidFill>
                <a:latin typeface="Times New Roman" pitchFamily="18" charset="0"/>
                <a:cs typeface="Times New Roman" pitchFamily="18" charset="0"/>
              </a:rPr>
              <a:t>No caso de exclusão de eventos em que exista a identificação do trabalhador, o </a:t>
            </a:r>
            <a:r>
              <a:rPr lang="pt-BR" sz="2800" dirty="0" err="1">
                <a:solidFill>
                  <a:srgbClr val="FF0000"/>
                </a:solidFill>
                <a:latin typeface="Times New Roman" pitchFamily="18" charset="0"/>
                <a:cs typeface="Times New Roman" pitchFamily="18" charset="0"/>
              </a:rPr>
              <a:t>eSocial</a:t>
            </a:r>
            <a:r>
              <a:rPr lang="pt-BR" sz="2800" dirty="0">
                <a:solidFill>
                  <a:srgbClr val="FF0000"/>
                </a:solidFill>
                <a:latin typeface="Times New Roman" pitchFamily="18" charset="0"/>
                <a:cs typeface="Times New Roman" pitchFamily="18" charset="0"/>
              </a:rPr>
              <a:t>, além do número do recibo de entrega também valida o CPF e NIS do trabalhador.</a:t>
            </a:r>
          </a:p>
          <a:p>
            <a:pPr indent="540000" algn="just"/>
            <a:endParaRPr lang="pt-BR" sz="2800" dirty="0" smtClean="0">
              <a:solidFill>
                <a:srgbClr val="FF0000"/>
              </a:solidFill>
              <a:latin typeface="Times New Roman" pitchFamily="18" charset="0"/>
              <a:cs typeface="Times New Roman" pitchFamily="18" charset="0"/>
            </a:endParaRPr>
          </a:p>
          <a:p>
            <a:pPr indent="540000" algn="just"/>
            <a:endParaRPr lang="pt-BR" sz="2800" dirty="0" smtClean="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val="4141228442"/>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108543"/>
          </a:xfrm>
          <a:prstGeom prst="rect">
            <a:avLst/>
          </a:prstGeom>
          <a:noFill/>
        </p:spPr>
        <p:txBody>
          <a:bodyPr wrap="square" rtlCol="0">
            <a:spAutoFit/>
          </a:bodyPr>
          <a:lstStyle/>
          <a:p>
            <a:pPr indent="540000" algn="just">
              <a:lnSpc>
                <a:spcPct val="150000"/>
              </a:lnSpc>
            </a:pPr>
            <a:r>
              <a:rPr lang="pt-BR" sz="2800" dirty="0" smtClean="0">
                <a:solidFill>
                  <a:srgbClr val="FF0000"/>
                </a:solidFill>
                <a:latin typeface="Times New Roman" pitchFamily="18" charset="0"/>
                <a:cs typeface="Times New Roman" pitchFamily="18" charset="0"/>
              </a:rPr>
              <a:t>Este evento não pode ser utilizado para exclusão dos registros que compõem as tabelas (S-1005 a S1080) e as informações do empregador/contribuinte (S-1000).</a:t>
            </a: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65877397"/>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cstate="print"/>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052736"/>
            <a:ext cx="8443282" cy="4216539"/>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Novidades x </a:t>
            </a:r>
            <a:r>
              <a:rPr lang="pt-BR" sz="3600" b="1" dirty="0" err="1" smtClean="0">
                <a:solidFill>
                  <a:srgbClr val="FFC000"/>
                </a:solidFill>
                <a:latin typeface="Times New Roman" pitchFamily="18" charset="0"/>
                <a:cs typeface="Times New Roman" pitchFamily="18" charset="0"/>
              </a:rPr>
              <a:t>eSocial</a:t>
            </a:r>
            <a:endParaRPr lang="pt-BR" sz="3600" b="1" dirty="0" smtClean="0">
              <a:solidFill>
                <a:srgbClr val="FFC000"/>
              </a:solidFill>
              <a:latin typeface="Times New Roman" pitchFamily="18" charset="0"/>
              <a:cs typeface="Times New Roman" pitchFamily="18" charset="0"/>
            </a:endParaRPr>
          </a:p>
          <a:p>
            <a:pPr indent="540000" algn="ctr"/>
            <a:endParaRPr lang="pt-BR" sz="3600" b="1" dirty="0" smtClean="0">
              <a:solidFill>
                <a:srgbClr val="FFC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Ambiente </a:t>
            </a:r>
            <a:r>
              <a:rPr lang="pt-BR" sz="2800" dirty="0">
                <a:solidFill>
                  <a:srgbClr val="FF0000"/>
                </a:solidFill>
                <a:latin typeface="Times New Roman" pitchFamily="18" charset="0"/>
                <a:cs typeface="Times New Roman" pitchFamily="18" charset="0"/>
              </a:rPr>
              <a:t>de Testes DCTFWEB</a:t>
            </a:r>
          </a:p>
          <a:p>
            <a:pPr indent="540000" algn="just" fontAlgn="base"/>
            <a:endParaRPr lang="pt-BR" sz="2800" dirty="0" smtClean="0">
              <a:solidFill>
                <a:srgbClr val="FF0000"/>
              </a:solidFill>
              <a:latin typeface="Times New Roman" pitchFamily="18" charset="0"/>
              <a:cs typeface="Times New Roman" pitchFamily="18" charset="0"/>
            </a:endParaRPr>
          </a:p>
          <a:p>
            <a:pPr indent="540000" algn="just" fontAlgn="base"/>
            <a:r>
              <a:rPr lang="pt-BR" sz="2800" dirty="0" smtClean="0">
                <a:solidFill>
                  <a:srgbClr val="FF0000"/>
                </a:solidFill>
                <a:latin typeface="Times New Roman" pitchFamily="18" charset="0"/>
                <a:cs typeface="Times New Roman" pitchFamily="18" charset="0"/>
              </a:rPr>
              <a:t>A </a:t>
            </a:r>
            <a:r>
              <a:rPr lang="pt-BR" sz="2800" dirty="0">
                <a:solidFill>
                  <a:srgbClr val="FF0000"/>
                </a:solidFill>
                <a:latin typeface="Times New Roman" pitchFamily="18" charset="0"/>
                <a:cs typeface="Times New Roman" pitchFamily="18" charset="0"/>
              </a:rPr>
              <a:t>partir do dia 8 de maio de 2018, estará disponível para testes, em ambiente de produção restrita, a Declaração de Débitos e Créditos Tributários Federais Previdenciários e de Outras Entidades e Fundos (</a:t>
            </a:r>
            <a:r>
              <a:rPr lang="pt-BR" sz="2800" dirty="0" err="1">
                <a:solidFill>
                  <a:srgbClr val="FF0000"/>
                </a:solidFill>
                <a:latin typeface="Times New Roman" pitchFamily="18" charset="0"/>
                <a:cs typeface="Times New Roman" pitchFamily="18" charset="0"/>
              </a:rPr>
              <a:t>DCTFWeb</a:t>
            </a:r>
            <a:r>
              <a:rPr lang="pt-BR" sz="2800" dirty="0">
                <a:solidFill>
                  <a:srgbClr val="FF0000"/>
                </a:solidFill>
                <a:latin typeface="Times New Roman" pitchFamily="18" charset="0"/>
                <a:cs typeface="Times New Roman" pitchFamily="18" charset="0"/>
              </a:rPr>
              <a:t>). </a:t>
            </a:r>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332079018"/>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3354765"/>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O e-Social traz novas exigências com relação a Legislação trabalhista?</a:t>
            </a:r>
          </a:p>
          <a:p>
            <a:pPr indent="540000" algn="ctr"/>
            <a:endParaRPr lang="pt-BR" sz="2800" b="1" dirty="0">
              <a:solidFill>
                <a:schemeClr val="accent1">
                  <a:lumMod val="75000"/>
                </a:schemeClr>
              </a:solidFill>
              <a:latin typeface="Times New Roman" pitchFamily="18" charset="0"/>
              <a:cs typeface="Times New Roman" pitchFamily="18" charset="0"/>
            </a:endParaRPr>
          </a:p>
          <a:p>
            <a:pPr indent="540000" algn="just"/>
            <a:r>
              <a:rPr lang="pt-BR" sz="2800" b="1" dirty="0" smtClean="0">
                <a:solidFill>
                  <a:srgbClr val="FF0000"/>
                </a:solidFill>
                <a:latin typeface="Times New Roman" pitchFamily="18" charset="0"/>
                <a:cs typeface="Times New Roman" pitchFamily="18" charset="0"/>
              </a:rPr>
              <a:t>Não!!! </a:t>
            </a:r>
            <a:r>
              <a:rPr lang="pt-BR" sz="2800" dirty="0">
                <a:solidFill>
                  <a:srgbClr val="FF0000"/>
                </a:solidFill>
                <a:latin typeface="Times New Roman" pitchFamily="18" charset="0"/>
                <a:cs typeface="Times New Roman" pitchFamily="18" charset="0"/>
              </a:rPr>
              <a:t>O</a:t>
            </a:r>
            <a:r>
              <a:rPr lang="pt-BR" sz="2800" dirty="0" smtClean="0">
                <a:solidFill>
                  <a:srgbClr val="FF0000"/>
                </a:solidFill>
                <a:latin typeface="Times New Roman" pitchFamily="18" charset="0"/>
                <a:cs typeface="Times New Roman" pitchFamily="18" charset="0"/>
              </a:rPr>
              <a:t> </a:t>
            </a:r>
            <a:r>
              <a:rPr lang="pt-BR" sz="2800" dirty="0" err="1">
                <a:solidFill>
                  <a:srgbClr val="FF0000"/>
                </a:solidFill>
                <a:latin typeface="Times New Roman" pitchFamily="18" charset="0"/>
                <a:cs typeface="Times New Roman" pitchFamily="18" charset="0"/>
              </a:rPr>
              <a:t>eSocial</a:t>
            </a:r>
            <a:r>
              <a:rPr lang="pt-BR" sz="2800" dirty="0">
                <a:solidFill>
                  <a:srgbClr val="FF0000"/>
                </a:solidFill>
                <a:latin typeface="Times New Roman" pitchFamily="18" charset="0"/>
                <a:cs typeface="Times New Roman" pitchFamily="18" charset="0"/>
              </a:rPr>
              <a:t> não pretende exigir nenhuma informação que já não seja do cotidiano trabalhista</a:t>
            </a:r>
            <a:r>
              <a:rPr lang="pt-BR" sz="2800" dirty="0" smtClean="0">
                <a:solidFill>
                  <a:srgbClr val="FF0000"/>
                </a:solidFill>
                <a:latin typeface="Times New Roman" pitchFamily="18" charset="0"/>
                <a:cs typeface="Times New Roman" pitchFamily="18" charset="0"/>
              </a:rPr>
              <a:t>.</a:t>
            </a:r>
          </a:p>
          <a:p>
            <a:pPr indent="540000" algn="just"/>
            <a:endParaRPr lang="pt-BR" sz="2800" b="1" dirty="0" smtClean="0">
              <a:solidFill>
                <a:schemeClr val="accent1">
                  <a:lumMod val="75000"/>
                </a:schemeClr>
              </a:solidFill>
              <a:latin typeface="Times New Roman" pitchFamily="18" charset="0"/>
              <a:cs typeface="Times New Roman" pitchFamily="18" charset="0"/>
            </a:endParaRP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pic>
        <p:nvPicPr>
          <p:cNvPr id="1027" name="Picture 3" descr="C:\Users\debora\Desktop\download.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95736" y="4005064"/>
            <a:ext cx="4032448" cy="18757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17728380"/>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4955203"/>
          </a:xfrm>
          <a:prstGeom prst="rect">
            <a:avLst/>
          </a:prstGeom>
          <a:noFill/>
        </p:spPr>
        <p:txBody>
          <a:bodyPr wrap="square" rtlCol="0">
            <a:spAutoFit/>
          </a:bodyPr>
          <a:lstStyle/>
          <a:p>
            <a:pPr indent="540000" algn="ctr"/>
            <a:r>
              <a:rPr lang="pt-BR" sz="3600" b="1" dirty="0" smtClean="0">
                <a:solidFill>
                  <a:srgbClr val="FFC000"/>
                </a:solidFill>
                <a:latin typeface="Times New Roman" pitchFamily="18" charset="0"/>
                <a:cs typeface="Times New Roman" pitchFamily="18" charset="0"/>
              </a:rPr>
              <a:t>Referências:</a:t>
            </a:r>
          </a:p>
          <a:p>
            <a:pPr indent="540000" algn="ctr"/>
            <a:endParaRPr lang="pt-BR" sz="2800" b="1" dirty="0">
              <a:solidFill>
                <a:schemeClr val="accent1">
                  <a:lumMod val="75000"/>
                </a:schemeClr>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Manual </a:t>
            </a:r>
            <a:r>
              <a:rPr lang="pt-BR" sz="2800" dirty="0" err="1" smtClean="0">
                <a:solidFill>
                  <a:srgbClr val="FF0000"/>
                </a:solidFill>
                <a:latin typeface="Times New Roman" pitchFamily="18" charset="0"/>
                <a:cs typeface="Times New Roman" pitchFamily="18" charset="0"/>
              </a:rPr>
              <a:t>eSocial</a:t>
            </a:r>
            <a:r>
              <a:rPr lang="pt-BR" sz="2800" dirty="0" smtClean="0">
                <a:solidFill>
                  <a:srgbClr val="FF0000"/>
                </a:solidFill>
                <a:latin typeface="Times New Roman" pitchFamily="18" charset="0"/>
                <a:cs typeface="Times New Roman" pitchFamily="18" charset="0"/>
              </a:rPr>
              <a:t> Versão 2.4</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Manual </a:t>
            </a:r>
            <a:r>
              <a:rPr lang="pt-BR" sz="2800" dirty="0" err="1" smtClean="0">
                <a:solidFill>
                  <a:srgbClr val="FF0000"/>
                </a:solidFill>
                <a:latin typeface="Times New Roman" pitchFamily="18" charset="0"/>
                <a:cs typeface="Times New Roman" pitchFamily="18" charset="0"/>
              </a:rPr>
              <a:t>DCTFWeb</a:t>
            </a:r>
            <a:r>
              <a:rPr lang="pt-BR" sz="2800" dirty="0" smtClean="0">
                <a:solidFill>
                  <a:srgbClr val="FF0000"/>
                </a:solidFill>
                <a:latin typeface="Times New Roman" pitchFamily="18" charset="0"/>
                <a:cs typeface="Times New Roman" pitchFamily="18" charset="0"/>
              </a:rPr>
              <a:t> 1.0</a:t>
            </a: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err="1" smtClean="0">
                <a:solidFill>
                  <a:srgbClr val="FF0000"/>
                </a:solidFill>
                <a:latin typeface="Times New Roman" pitchFamily="18" charset="0"/>
                <a:cs typeface="Times New Roman" pitchFamily="18" charset="0"/>
              </a:rPr>
              <a:t>Potal</a:t>
            </a:r>
            <a:r>
              <a:rPr lang="pt-BR" sz="2800" dirty="0" smtClean="0">
                <a:solidFill>
                  <a:srgbClr val="FF0000"/>
                </a:solidFill>
                <a:latin typeface="Times New Roman" pitchFamily="18" charset="0"/>
                <a:cs typeface="Times New Roman" pitchFamily="18" charset="0"/>
              </a:rPr>
              <a:t> </a:t>
            </a:r>
            <a:r>
              <a:rPr lang="pt-BR" sz="2800" dirty="0" err="1" smtClean="0">
                <a:solidFill>
                  <a:srgbClr val="FF0000"/>
                </a:solidFill>
                <a:latin typeface="Times New Roman" pitchFamily="18" charset="0"/>
                <a:cs typeface="Times New Roman" pitchFamily="18" charset="0"/>
              </a:rPr>
              <a:t>eSocial</a:t>
            </a:r>
            <a:endParaRPr lang="pt-BR" sz="2800" dirty="0" smtClean="0">
              <a:solidFill>
                <a:srgbClr val="FF0000"/>
              </a:solidFill>
              <a:latin typeface="Times New Roman" pitchFamily="18" charset="0"/>
              <a:cs typeface="Times New Roman" pitchFamily="18" charset="0"/>
            </a:endParaRPr>
          </a:p>
          <a:p>
            <a:pPr indent="540000" algn="just"/>
            <a:endParaRPr lang="pt-BR" sz="2800" dirty="0">
              <a:solidFill>
                <a:srgbClr val="FF0000"/>
              </a:solidFill>
              <a:latin typeface="Times New Roman" pitchFamily="18" charset="0"/>
              <a:cs typeface="Times New Roman" pitchFamily="18" charset="0"/>
            </a:endParaRPr>
          </a:p>
          <a:p>
            <a:pPr indent="540000" algn="just"/>
            <a:r>
              <a:rPr lang="pt-BR" sz="2800" dirty="0" smtClean="0">
                <a:solidFill>
                  <a:srgbClr val="FF0000"/>
                </a:solidFill>
                <a:latin typeface="Times New Roman" pitchFamily="18" charset="0"/>
                <a:cs typeface="Times New Roman" pitchFamily="18" charset="0"/>
              </a:rPr>
              <a:t>Instruções Normativas 1701, 1767 e 1787.</a:t>
            </a:r>
          </a:p>
          <a:p>
            <a:pPr indent="540000" algn="just"/>
            <a:endParaRPr lang="pt-BR" sz="2800" b="1" dirty="0" smtClean="0">
              <a:solidFill>
                <a:schemeClr val="accent1">
                  <a:lumMod val="75000"/>
                </a:schemeClr>
              </a:solidFill>
              <a:latin typeface="Times New Roman" pitchFamily="18" charset="0"/>
              <a:cs typeface="Times New Roman" pitchFamily="18" charset="0"/>
            </a:endParaRP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438102874"/>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CustomShape 1"/>
          <p:cNvSpPr/>
          <p:nvPr/>
        </p:nvSpPr>
        <p:spPr>
          <a:xfrm>
            <a:off x="457200" y="274680"/>
            <a:ext cx="8228520" cy="1141920"/>
          </a:xfrm>
          <a:prstGeom prst="rect">
            <a:avLst/>
          </a:prstGeom>
          <a:noFill/>
          <a:ln>
            <a:noFill/>
          </a:ln>
        </p:spPr>
        <p:style>
          <a:lnRef idx="0">
            <a:scrgbClr r="0" g="0" b="0"/>
          </a:lnRef>
          <a:fillRef idx="0">
            <a:scrgbClr r="0" g="0" b="0"/>
          </a:fillRef>
          <a:effectRef idx="0">
            <a:scrgbClr r="0" g="0" b="0"/>
          </a:effectRef>
          <a:fontRef idx="minor"/>
        </p:style>
      </p:sp>
      <p:sp>
        <p:nvSpPr>
          <p:cNvPr id="77" name="CustomShape 2"/>
          <p:cNvSpPr/>
          <p:nvPr/>
        </p:nvSpPr>
        <p:spPr>
          <a:xfrm>
            <a:off x="457200" y="1600200"/>
            <a:ext cx="8228520" cy="4524840"/>
          </a:xfrm>
          <a:prstGeom prst="rect">
            <a:avLst/>
          </a:prstGeom>
          <a:noFill/>
          <a:ln>
            <a:noFill/>
          </a:ln>
        </p:spPr>
        <p:style>
          <a:lnRef idx="0">
            <a:scrgbClr r="0" g="0" b="0"/>
          </a:lnRef>
          <a:fillRef idx="0">
            <a:scrgbClr r="0" g="0" b="0"/>
          </a:fillRef>
          <a:effectRef idx="0">
            <a:scrgbClr r="0" g="0" b="0"/>
          </a:effectRef>
          <a:fontRef idx="minor"/>
        </p:style>
      </p:sp>
      <p:pic>
        <p:nvPicPr>
          <p:cNvPr id="78" name="Picture 2"/>
          <p:cNvPicPr/>
          <p:nvPr/>
        </p:nvPicPr>
        <p:blipFill>
          <a:blip r:embed="rId3"/>
          <a:stretch/>
        </p:blipFill>
        <p:spPr>
          <a:xfrm>
            <a:off x="720" y="0"/>
            <a:ext cx="9142920" cy="6856920"/>
          </a:xfrm>
          <a:prstGeom prst="rect">
            <a:avLst/>
          </a:prstGeom>
          <a:ln>
            <a:noFill/>
          </a:ln>
        </p:spPr>
      </p:pic>
      <p:pic>
        <p:nvPicPr>
          <p:cNvPr id="79" name="Imagem 4"/>
          <p:cNvPicPr/>
          <p:nvPr/>
        </p:nvPicPr>
        <p:blipFill>
          <a:blip r:embed="rId4"/>
          <a:stretch/>
        </p:blipFill>
        <p:spPr>
          <a:xfrm>
            <a:off x="7930800" y="6125040"/>
            <a:ext cx="564840" cy="426600"/>
          </a:xfrm>
          <a:prstGeom prst="rect">
            <a:avLst/>
          </a:prstGeom>
          <a:ln>
            <a:noFill/>
          </a:ln>
        </p:spPr>
      </p:pic>
      <p:sp>
        <p:nvSpPr>
          <p:cNvPr id="80" name="CustomShape 3"/>
          <p:cNvSpPr/>
          <p:nvPr/>
        </p:nvSpPr>
        <p:spPr>
          <a:xfrm>
            <a:off x="7488000" y="6495480"/>
            <a:ext cx="1540800" cy="27216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nSpc>
                <a:spcPct val="100000"/>
              </a:lnSpc>
            </a:pPr>
            <a:r>
              <a:rPr lang="pt-BR" sz="1200" b="1" strike="noStrike" spc="-1">
                <a:solidFill>
                  <a:srgbClr val="595959"/>
                </a:solidFill>
                <a:uFill>
                  <a:solidFill>
                    <a:srgbClr val="FFFFFF"/>
                  </a:solidFill>
                </a:uFill>
                <a:latin typeface="Calibri"/>
                <a:ea typeface="DejaVu Sans"/>
              </a:rPr>
              <a:t>www.escolaseac.com</a:t>
            </a:r>
            <a:endParaRPr lang="pt-BR" sz="1800" b="0" strike="noStrike" spc="-1">
              <a:solidFill>
                <a:srgbClr val="000000"/>
              </a:solidFill>
              <a:uFill>
                <a:solidFill>
                  <a:srgbClr val="FFFFFF"/>
                </a:solidFill>
              </a:uFill>
              <a:latin typeface="Arial"/>
            </a:endParaRPr>
          </a:p>
        </p:txBody>
      </p:sp>
      <p:sp>
        <p:nvSpPr>
          <p:cNvPr id="3" name="CaixaDeTexto 2"/>
          <p:cNvSpPr txBox="1"/>
          <p:nvPr/>
        </p:nvSpPr>
        <p:spPr>
          <a:xfrm>
            <a:off x="377190" y="1344942"/>
            <a:ext cx="7801200" cy="5509200"/>
          </a:xfrm>
          <a:prstGeom prst="rect">
            <a:avLst/>
          </a:prstGeom>
          <a:noFill/>
        </p:spPr>
        <p:txBody>
          <a:bodyPr wrap="square" rtlCol="0">
            <a:spAutoFit/>
          </a:bodyPr>
          <a:lstStyle/>
          <a:p>
            <a:pPr indent="540000" algn="just"/>
            <a:r>
              <a:rPr lang="pt-BR" sz="3600" b="1" dirty="0" smtClean="0">
                <a:solidFill>
                  <a:srgbClr val="FF0000"/>
                </a:solidFill>
                <a:latin typeface="Times New Roman" pitchFamily="18" charset="0"/>
                <a:cs typeface="Times New Roman" pitchFamily="18" charset="0"/>
              </a:rPr>
              <a:t>“Se você quer chegar onde a maioria não chega, faça o que a maioria não faz”                   Bill Gates</a:t>
            </a:r>
          </a:p>
          <a:p>
            <a:pPr indent="540000" algn="just"/>
            <a:endParaRPr lang="pt-BR" sz="3600" b="1" dirty="0" smtClean="0">
              <a:solidFill>
                <a:srgbClr val="FF0000"/>
              </a:solidFill>
              <a:latin typeface="Times New Roman" pitchFamily="18" charset="0"/>
              <a:cs typeface="Times New Roman" pitchFamily="18" charset="0"/>
            </a:endParaRPr>
          </a:p>
          <a:p>
            <a:pPr indent="540000" algn="just"/>
            <a:r>
              <a:rPr lang="pt-BR" sz="3600" b="1" dirty="0" smtClean="0">
                <a:solidFill>
                  <a:srgbClr val="FF0000"/>
                </a:solidFill>
                <a:latin typeface="Times New Roman" pitchFamily="18" charset="0"/>
                <a:cs typeface="Times New Roman" pitchFamily="18" charset="0"/>
              </a:rPr>
              <a:t>“Nunca deixe que o medo de cair te impeça de voar”</a:t>
            </a:r>
            <a:endParaRPr lang="pt-BR" sz="3600" b="1" dirty="0">
              <a:solidFill>
                <a:srgbClr val="FF0000"/>
              </a:solidFill>
              <a:latin typeface="Times New Roman" pitchFamily="18" charset="0"/>
              <a:cs typeface="Times New Roman" pitchFamily="18" charset="0"/>
            </a:endParaRPr>
          </a:p>
          <a:p>
            <a:pPr indent="540000" algn="ctr"/>
            <a:endParaRPr lang="pt-BR" sz="4000" b="1" dirty="0">
              <a:solidFill>
                <a:srgbClr val="FF0000"/>
              </a:solidFill>
              <a:latin typeface="Times New Roman" pitchFamily="18" charset="0"/>
              <a:cs typeface="Times New Roman" pitchFamily="18" charset="0"/>
            </a:endParaRPr>
          </a:p>
          <a:p>
            <a:pPr indent="540000" algn="ctr"/>
            <a:r>
              <a:rPr lang="pt-BR" sz="4000" b="1" dirty="0" smtClean="0">
                <a:solidFill>
                  <a:srgbClr val="FFC000"/>
                </a:solidFill>
                <a:latin typeface="Times New Roman" pitchFamily="18" charset="0"/>
                <a:cs typeface="Times New Roman" pitchFamily="18" charset="0"/>
              </a:rPr>
              <a:t>MUITO </a:t>
            </a:r>
            <a:r>
              <a:rPr lang="pt-BR" sz="4000" b="1" dirty="0">
                <a:solidFill>
                  <a:srgbClr val="FFC000"/>
                </a:solidFill>
                <a:latin typeface="Times New Roman" pitchFamily="18" charset="0"/>
                <a:cs typeface="Times New Roman" pitchFamily="18" charset="0"/>
              </a:rPr>
              <a:t>OBRIGADO!!!</a:t>
            </a:r>
          </a:p>
          <a:p>
            <a:pPr indent="540000" algn="just"/>
            <a:endParaRPr lang="pt-BR" sz="2800" b="1" dirty="0" smtClean="0">
              <a:solidFill>
                <a:schemeClr val="accent1">
                  <a:lumMod val="75000"/>
                </a:schemeClr>
              </a:solidFill>
              <a:latin typeface="Times New Roman" pitchFamily="18" charset="0"/>
              <a:cs typeface="Times New Roman" pitchFamily="18" charset="0"/>
            </a:endParaRPr>
          </a:p>
          <a:p>
            <a:pPr indent="540000" algn="just"/>
            <a:endParaRPr lang="pt-BR" sz="2800" dirty="0" smtClean="0">
              <a:solidFill>
                <a:schemeClr val="accent1">
                  <a:lumMod val="75000"/>
                </a:schemeClr>
              </a:solidFill>
              <a:latin typeface="Times New Roman" pitchFamily="18" charset="0"/>
              <a:cs typeface="Times New Roman" pitchFamily="18" charset="0"/>
            </a:endParaRPr>
          </a:p>
        </p:txBody>
      </p:sp>
    </p:spTree>
    <p:extLst>
      <p:ext uri="{BB962C8B-B14F-4D97-AF65-F5344CB8AC3E}">
        <p14:creationId xmlns:p14="http://schemas.microsoft.com/office/powerpoint/2010/main" val="618508926"/>
      </p:ext>
    </p:extLst>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Escritório">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2605</TotalTime>
  <Words>4518</Words>
  <Application>Microsoft Office PowerPoint</Application>
  <PresentationFormat>Apresentação na tela (4:3)</PresentationFormat>
  <Paragraphs>855</Paragraphs>
  <Slides>116</Slides>
  <Notes>114</Notes>
  <HiddenSlides>0</HiddenSlides>
  <MMClips>0</MMClips>
  <ScaleCrop>false</ScaleCrop>
  <HeadingPairs>
    <vt:vector size="4" baseType="variant">
      <vt:variant>
        <vt:lpstr>Tema</vt:lpstr>
      </vt:variant>
      <vt:variant>
        <vt:i4>2</vt:i4>
      </vt:variant>
      <vt:variant>
        <vt:lpstr>Títulos de slides</vt:lpstr>
      </vt:variant>
      <vt:variant>
        <vt:i4>116</vt:i4>
      </vt:variant>
    </vt:vector>
  </HeadingPairs>
  <TitlesOfParts>
    <vt:vector size="118" baseType="lpstr">
      <vt:lpstr>Office Theme</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Cristiane</dc:creator>
  <cp:lastModifiedBy>Débora</cp:lastModifiedBy>
  <cp:revision>1034</cp:revision>
  <dcterms:created xsi:type="dcterms:W3CDTF">2016-10-26T12:25:26Z</dcterms:created>
  <dcterms:modified xsi:type="dcterms:W3CDTF">2018-05-08T03:45:07Z</dcterms:modified>
  <dc:language>pt-BR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false</vt:bool>
  </property>
  <property fmtid="{D5CDD505-2E9C-101B-9397-08002B2CF9AE}" pid="5" name="LinksUpToDate">
    <vt:bool>false</vt:bool>
  </property>
  <property fmtid="{D5CDD505-2E9C-101B-9397-08002B2CF9AE}" pid="6" name="MMClips">
    <vt:i4>0</vt:i4>
  </property>
  <property fmtid="{D5CDD505-2E9C-101B-9397-08002B2CF9AE}" pid="7" name="Notes">
    <vt:i4>0</vt:i4>
  </property>
  <property fmtid="{D5CDD505-2E9C-101B-9397-08002B2CF9AE}" pid="8" name="PresentationFormat">
    <vt:lpwstr>Apresentação na tela (4:3)</vt:lpwstr>
  </property>
  <property fmtid="{D5CDD505-2E9C-101B-9397-08002B2CF9AE}" pid="9" name="ScaleCrop">
    <vt:bool>false</vt:bool>
  </property>
  <property fmtid="{D5CDD505-2E9C-101B-9397-08002B2CF9AE}" pid="10" name="ShareDoc">
    <vt:bool>false</vt:bool>
  </property>
  <property fmtid="{D5CDD505-2E9C-101B-9397-08002B2CF9AE}" pid="11" name="Slides">
    <vt:i4>2</vt:i4>
  </property>
</Properties>
</file>