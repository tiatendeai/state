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  <p:sldMasterId id="2147483660" r:id="rId2"/>
    <p:sldMasterId id="2147483661" r:id="rId3"/>
    <p:sldMasterId id="2147483662" r:id="rId4"/>
    <p:sldMasterId id="2147483663" r:id="rId5"/>
    <p:sldMasterId id="2147483664" r:id="rId6"/>
    <p:sldMasterId id="2147483665" r:id="rId7"/>
    <p:sldMasterId id="2147483666" r:id="rId8"/>
    <p:sldMasterId id="2147483667" r:id="rId9"/>
    <p:sldMasterId id="2147483668" r:id="rId10"/>
  </p:sldMasterIdLst>
  <p:notesMasterIdLst>
    <p:notesMasterId r:id="rId4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</p:sldIdLst>
  <p:sldSz cx="6858000" cy="9144000" type="screen4x3"/>
  <p:notesSz cx="6858000" cy="9144000"/>
  <p:embeddedFontLst>
    <p:embeddedFont>
      <p:font typeface="Cabin"/>
      <p:regular r:id="rId43"/>
      <p:bold r:id="rId44"/>
      <p:italic r:id="rId45"/>
      <p:boldItalic r:id="rId46"/>
    </p:embeddedFon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Century Gothic" panose="020B050202020202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9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font" Target="fonts/font4.fntdata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font" Target="fonts/font2.fntdata"/><Relationship Id="rId5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Shape 190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Shape 208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Shape 22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Shape 230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Shape 237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Shape 244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Shape 251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Shape 258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Shape 265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Shape 272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Shape 279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Shape 286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Shape 29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Shape 300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Shape 307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Shape 314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Shape 321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Shape 328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Shape 335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Shape 342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Shape 349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Shape 356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3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Shape 36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Shape 370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3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Shape 377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Shape 384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Shape 398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ctrTitle"/>
          </p:nvPr>
        </p:nvSpPr>
        <p:spPr>
          <a:xfrm>
            <a:off x="435894" y="1320800"/>
            <a:ext cx="5992314" cy="2006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ubTitle" idx="1"/>
          </p:nvPr>
        </p:nvSpPr>
        <p:spPr>
          <a:xfrm>
            <a:off x="435894" y="3327259"/>
            <a:ext cx="5992314" cy="787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ctr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ctr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None/>
              <a:defRPr sz="10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ctr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ctr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ctr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ctr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ctr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ctr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435894" y="2970671"/>
            <a:ext cx="5992314" cy="4841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435894" y="6257852"/>
            <a:ext cx="5992314" cy="75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pic" idx="2"/>
          </p:nvPr>
        </p:nvSpPr>
        <p:spPr>
          <a:xfrm>
            <a:off x="336070" y="799633"/>
            <a:ext cx="6179030" cy="474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1"/>
          </p:nvPr>
        </p:nvSpPr>
        <p:spPr>
          <a:xfrm>
            <a:off x="435894" y="7013502"/>
            <a:ext cx="5992314" cy="798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l" rtl="0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90"/>
              <a:buFont typeface="Noto Sans Symbols"/>
              <a:buNone/>
              <a:defRPr sz="75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435895" y="4048764"/>
            <a:ext cx="5992313" cy="2006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435895" y="6055223"/>
            <a:ext cx="5992313" cy="80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270"/>
              </a:spcBef>
              <a:spcAft>
                <a:spcPts val="0"/>
              </a:spcAft>
              <a:buClr>
                <a:schemeClr val="accent2"/>
              </a:buClr>
              <a:buSzPts val="1242"/>
              <a:buFont typeface="Noto Sans Symbols"/>
              <a:buNone/>
              <a:defRPr sz="135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242"/>
              <a:buFont typeface="Noto Sans Symbols"/>
              <a:buNone/>
              <a:defRPr sz="135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966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435895" y="2970670"/>
            <a:ext cx="2924645" cy="4844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body" idx="2"/>
          </p:nvPr>
        </p:nvSpPr>
        <p:spPr>
          <a:xfrm>
            <a:off x="3497461" y="2970671"/>
            <a:ext cx="2930747" cy="4844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2" name="Shape 92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65414" y="2970671"/>
            <a:ext cx="2695125" cy="768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330"/>
              </a:spcBef>
              <a:spcAft>
                <a:spcPts val="0"/>
              </a:spcAft>
              <a:buClr>
                <a:schemeClr val="accent2"/>
              </a:buClr>
              <a:buSzPts val="1518"/>
              <a:buFont typeface="Noto Sans Symbols"/>
              <a:buNone/>
              <a:defRPr sz="165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242"/>
              <a:buFont typeface="Noto Sans Symbols"/>
              <a:buNone/>
              <a:defRPr sz="135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7" name="Shape 107"/>
          <p:cNvSpPr txBox="1">
            <a:spLocks noGrp="1"/>
          </p:cNvSpPr>
          <p:nvPr>
            <p:ph type="body" idx="2"/>
          </p:nvPr>
        </p:nvSpPr>
        <p:spPr>
          <a:xfrm>
            <a:off x="435895" y="3901402"/>
            <a:ext cx="2924645" cy="391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8" name="Shape 108"/>
          <p:cNvSpPr txBox="1">
            <a:spLocks noGrp="1"/>
          </p:cNvSpPr>
          <p:nvPr>
            <p:ph type="body" idx="3"/>
          </p:nvPr>
        </p:nvSpPr>
        <p:spPr>
          <a:xfrm>
            <a:off x="3726982" y="2970671"/>
            <a:ext cx="2701226" cy="768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spcBef>
                <a:spcPts val="330"/>
              </a:spcBef>
              <a:spcAft>
                <a:spcPts val="0"/>
              </a:spcAft>
              <a:buClr>
                <a:schemeClr val="accent2"/>
              </a:buClr>
              <a:buSzPts val="1518"/>
              <a:buFont typeface="Noto Sans Symbols"/>
              <a:buNone/>
              <a:defRPr sz="165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242"/>
              <a:buFont typeface="Noto Sans Symbols"/>
              <a:buNone/>
              <a:defRPr sz="135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1104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9" name="Shape 109"/>
          <p:cNvSpPr txBox="1">
            <a:spLocks noGrp="1"/>
          </p:cNvSpPr>
          <p:nvPr>
            <p:ph type="body" idx="4"/>
          </p:nvPr>
        </p:nvSpPr>
        <p:spPr>
          <a:xfrm>
            <a:off x="3497461" y="3901402"/>
            <a:ext cx="2930747" cy="391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10" name="Shape 110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12" name="Shape 112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5" name="Shape 125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26" name="Shape 126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27" name="Shape 127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title"/>
          </p:nvPr>
        </p:nvSpPr>
        <p:spPr>
          <a:xfrm>
            <a:off x="436014" y="7016395"/>
            <a:ext cx="2652469" cy="91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9F276A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334799" y="801600"/>
            <a:ext cx="6180300" cy="56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1623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◼"/>
              <a:defRPr sz="15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7467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242"/>
              <a:buFont typeface="Noto Sans Symbols"/>
              <a:buChar char="◼"/>
              <a:defRPr sz="135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8703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9941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Char char="◼"/>
              <a:defRPr sz="105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9941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Char char="◼"/>
              <a:defRPr sz="105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9941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Char char="◼"/>
              <a:defRPr sz="105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9941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Char char="◼"/>
              <a:defRPr sz="105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994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66"/>
              <a:buFont typeface="Noto Sans Symbols"/>
              <a:buChar char="◼"/>
              <a:defRPr sz="105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9940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966"/>
              <a:buFont typeface="Noto Sans Symbols"/>
              <a:buChar char="◼"/>
              <a:defRPr sz="105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1" name="Shape 141"/>
          <p:cNvSpPr txBox="1">
            <a:spLocks noGrp="1"/>
          </p:cNvSpPr>
          <p:nvPr>
            <p:ph type="body" idx="2"/>
          </p:nvPr>
        </p:nvSpPr>
        <p:spPr>
          <a:xfrm>
            <a:off x="3229213" y="7016394"/>
            <a:ext cx="3198995" cy="919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228600" algn="r" rtl="0">
              <a:spcBef>
                <a:spcPts val="165"/>
              </a:spcBef>
              <a:spcAft>
                <a:spcPts val="0"/>
              </a:spcAft>
              <a:buClr>
                <a:schemeClr val="accent2"/>
              </a:buClr>
              <a:buSzPts val="759"/>
              <a:buFont typeface="Noto Sans Symbols"/>
              <a:buNone/>
              <a:defRPr sz="825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759"/>
              <a:buFont typeface="Noto Sans Symbols"/>
              <a:buNone/>
              <a:defRPr sz="82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90"/>
              <a:buFont typeface="Noto Sans Symbols"/>
              <a:buNone/>
              <a:defRPr sz="75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621"/>
              <a:buFont typeface="Noto Sans Symbols"/>
              <a:buNone/>
              <a:defRPr sz="67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2" name="Shape 142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4" name="Shape 144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 rot="5400000">
            <a:off x="1011237" y="2395537"/>
            <a:ext cx="4841875" cy="599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58" name="Shape 158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59" name="Shape 159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60" name="Shape 160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>
            <a:spLocks noGrp="1"/>
          </p:cNvSpPr>
          <p:nvPr>
            <p:ph type="title"/>
          </p:nvPr>
        </p:nvSpPr>
        <p:spPr>
          <a:xfrm rot="5400000">
            <a:off x="2080340" y="3792678"/>
            <a:ext cx="6910764" cy="112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 rot="5400000">
            <a:off x="-798659" y="2135520"/>
            <a:ext cx="6910764" cy="444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4" name="Shape 174"/>
          <p:cNvSpPr txBox="1">
            <a:spLocks noGrp="1"/>
          </p:cNvSpPr>
          <p:nvPr>
            <p:ph type="dt" idx="10"/>
          </p:nvPr>
        </p:nvSpPr>
        <p:spPr>
          <a:xfrm>
            <a:off x="5059362" y="7942262"/>
            <a:ext cx="70961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5" name="Shape 175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44402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6" name="Shape 176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336550" y="588962"/>
            <a:ext cx="2039937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481512" y="588962"/>
            <a:ext cx="2033587" cy="142875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2413000" y="588962"/>
            <a:ext cx="2032000" cy="142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336550" y="4114800"/>
            <a:ext cx="6180137" cy="4405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/>
        </p:nvSpPr>
        <p:spPr>
          <a:xfrm>
            <a:off x="336550" y="588962"/>
            <a:ext cx="2039937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4481512" y="588962"/>
            <a:ext cx="2033587" cy="142875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2413000" y="588962"/>
            <a:ext cx="2032000" cy="142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336550" y="800100"/>
            <a:ext cx="6178550" cy="16779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Shape 47"/>
          <p:cNvSpPr/>
          <p:nvPr/>
        </p:nvSpPr>
        <p:spPr>
          <a:xfrm>
            <a:off x="336550" y="588962"/>
            <a:ext cx="2039937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" name="Shape 48"/>
          <p:cNvSpPr/>
          <p:nvPr/>
        </p:nvSpPr>
        <p:spPr>
          <a:xfrm>
            <a:off x="4481512" y="588962"/>
            <a:ext cx="2033587" cy="142875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9" name="Shape 49"/>
          <p:cNvSpPr/>
          <p:nvPr/>
        </p:nvSpPr>
        <p:spPr>
          <a:xfrm>
            <a:off x="2413000" y="588962"/>
            <a:ext cx="2032000" cy="142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336550" y="588962"/>
            <a:ext cx="2039937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3" name="Shape 63"/>
          <p:cNvSpPr/>
          <p:nvPr/>
        </p:nvSpPr>
        <p:spPr>
          <a:xfrm>
            <a:off x="4481512" y="588962"/>
            <a:ext cx="2033587" cy="142875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4" name="Shape 64"/>
          <p:cNvSpPr/>
          <p:nvPr/>
        </p:nvSpPr>
        <p:spPr>
          <a:xfrm>
            <a:off x="2413000" y="588962"/>
            <a:ext cx="2032000" cy="142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5" name="Shape 65"/>
          <p:cNvSpPr/>
          <p:nvPr/>
        </p:nvSpPr>
        <p:spPr>
          <a:xfrm>
            <a:off x="339725" y="6856412"/>
            <a:ext cx="6178550" cy="16779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/>
        </p:nvSpPr>
        <p:spPr>
          <a:xfrm>
            <a:off x="336550" y="588962"/>
            <a:ext cx="2039937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9" name="Shape 79"/>
          <p:cNvSpPr/>
          <p:nvPr/>
        </p:nvSpPr>
        <p:spPr>
          <a:xfrm>
            <a:off x="4481512" y="588962"/>
            <a:ext cx="2033587" cy="142875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0" name="Shape 80"/>
          <p:cNvSpPr/>
          <p:nvPr/>
        </p:nvSpPr>
        <p:spPr>
          <a:xfrm>
            <a:off x="2413000" y="588962"/>
            <a:ext cx="2032000" cy="142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1" name="Shape 81"/>
          <p:cNvSpPr/>
          <p:nvPr/>
        </p:nvSpPr>
        <p:spPr>
          <a:xfrm>
            <a:off x="336550" y="800100"/>
            <a:ext cx="6178550" cy="16779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/>
        </p:nvSpPr>
        <p:spPr>
          <a:xfrm>
            <a:off x="336550" y="588962"/>
            <a:ext cx="2039937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4481512" y="588962"/>
            <a:ext cx="2033587" cy="142875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7" name="Shape 97"/>
          <p:cNvSpPr/>
          <p:nvPr/>
        </p:nvSpPr>
        <p:spPr>
          <a:xfrm>
            <a:off x="2413000" y="588962"/>
            <a:ext cx="2032000" cy="142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8" name="Shape 98"/>
          <p:cNvSpPr/>
          <p:nvPr/>
        </p:nvSpPr>
        <p:spPr>
          <a:xfrm>
            <a:off x="336550" y="800100"/>
            <a:ext cx="6178550" cy="16779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2" name="Shape 102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3" name="Shape 103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/>
        </p:nvSpPr>
        <p:spPr>
          <a:xfrm>
            <a:off x="336550" y="588962"/>
            <a:ext cx="2039937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5" name="Shape 115"/>
          <p:cNvSpPr/>
          <p:nvPr/>
        </p:nvSpPr>
        <p:spPr>
          <a:xfrm>
            <a:off x="4481512" y="588962"/>
            <a:ext cx="2033587" cy="142875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2413000" y="588962"/>
            <a:ext cx="2032000" cy="142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336550" y="800100"/>
            <a:ext cx="6178550" cy="16779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20" name="Shape 120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21" name="Shape 121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22" name="Shape 122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/>
        </p:nvSpPr>
        <p:spPr>
          <a:xfrm>
            <a:off x="336550" y="588962"/>
            <a:ext cx="2039937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4481512" y="588962"/>
            <a:ext cx="2033587" cy="142875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2413000" y="588962"/>
            <a:ext cx="2032000" cy="142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2" name="Shape 132"/>
          <p:cNvSpPr/>
          <p:nvPr/>
        </p:nvSpPr>
        <p:spPr>
          <a:xfrm>
            <a:off x="339725" y="6856412"/>
            <a:ext cx="6178550" cy="169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33" name="Shape 133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35" name="Shape 135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36" name="Shape 136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37" name="Shape 137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/>
          <p:nvPr/>
        </p:nvSpPr>
        <p:spPr>
          <a:xfrm>
            <a:off x="336550" y="588962"/>
            <a:ext cx="2039937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7" name="Shape 147"/>
          <p:cNvSpPr/>
          <p:nvPr/>
        </p:nvSpPr>
        <p:spPr>
          <a:xfrm>
            <a:off x="4481512" y="588962"/>
            <a:ext cx="2033587" cy="142875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8" name="Shape 148"/>
          <p:cNvSpPr/>
          <p:nvPr/>
        </p:nvSpPr>
        <p:spPr>
          <a:xfrm>
            <a:off x="2413000" y="588962"/>
            <a:ext cx="2032000" cy="142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9" name="Shape 149"/>
          <p:cNvSpPr/>
          <p:nvPr/>
        </p:nvSpPr>
        <p:spPr>
          <a:xfrm>
            <a:off x="336550" y="800100"/>
            <a:ext cx="6178550" cy="16779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0" name="Shape 150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52" name="Shape 152"/>
          <p:cNvSpPr txBox="1">
            <a:spLocks noGrp="1"/>
          </p:cNvSpPr>
          <p:nvPr>
            <p:ph type="dt" idx="10"/>
          </p:nvPr>
        </p:nvSpPr>
        <p:spPr>
          <a:xfrm>
            <a:off x="4168775" y="7942262"/>
            <a:ext cx="16002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53" name="Shape 153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36528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54" name="Shape 154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  <a:defRPr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/>
        </p:nvSpPr>
        <p:spPr>
          <a:xfrm>
            <a:off x="336550" y="588962"/>
            <a:ext cx="2039937" cy="142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63" name="Shape 163"/>
          <p:cNvSpPr/>
          <p:nvPr/>
        </p:nvSpPr>
        <p:spPr>
          <a:xfrm>
            <a:off x="4481512" y="588962"/>
            <a:ext cx="2033587" cy="142875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64" name="Shape 164"/>
          <p:cNvSpPr/>
          <p:nvPr/>
        </p:nvSpPr>
        <p:spPr>
          <a:xfrm>
            <a:off x="2413000" y="588962"/>
            <a:ext cx="2032000" cy="142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65" name="Shape 165"/>
          <p:cNvSpPr/>
          <p:nvPr/>
        </p:nvSpPr>
        <p:spPr>
          <a:xfrm>
            <a:off x="4972050" y="800100"/>
            <a:ext cx="1543050" cy="77549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66" name="Shape 166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marR="0" lvl="0" indent="-304546" algn="l" rtl="0"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704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87019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920"/>
              <a:buFont typeface="Noto Sans Symbols"/>
              <a:buChar char="◼"/>
              <a:defRPr sz="1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81178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1178" algn="l" rtl="0">
              <a:spcBef>
                <a:spcPts val="450"/>
              </a:spcBef>
              <a:spcAft>
                <a:spcPts val="450"/>
              </a:spcAft>
              <a:buClr>
                <a:schemeClr val="accent2"/>
              </a:buClr>
              <a:buSzPts val="828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68" name="Shape 168"/>
          <p:cNvSpPr txBox="1">
            <a:spLocks noGrp="1"/>
          </p:cNvSpPr>
          <p:nvPr>
            <p:ph type="dt" idx="10"/>
          </p:nvPr>
        </p:nvSpPr>
        <p:spPr>
          <a:xfrm>
            <a:off x="5059362" y="7942262"/>
            <a:ext cx="70961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69" name="Shape 169"/>
          <p:cNvSpPr txBox="1">
            <a:spLocks noGrp="1"/>
          </p:cNvSpPr>
          <p:nvPr>
            <p:ph type="ftr" idx="11"/>
          </p:nvPr>
        </p:nvSpPr>
        <p:spPr>
          <a:xfrm>
            <a:off x="436562" y="7935912"/>
            <a:ext cx="4440237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0" name="Shape 170"/>
          <p:cNvSpPr txBox="1">
            <a:spLocks noGrp="1"/>
          </p:cNvSpPr>
          <p:nvPr>
            <p:ph type="sldNum" idx="12"/>
          </p:nvPr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296B"/>
              </a:buClr>
              <a:buSzPts val="600"/>
              <a:buFont typeface="Cabin"/>
              <a:buNone/>
              <a:defRPr sz="600" b="0" i="0" u="none">
                <a:solidFill>
                  <a:srgbClr val="9F296B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zenaide.com.b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formacaoanalistaesocia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formacaoanalistaesocia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social.gov.b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social.gov.br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formacaoanalistaesocia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61999">
              <a:srgbClr val="92BE3F"/>
            </a:gs>
            <a:gs pos="100000">
              <a:srgbClr val="80A33D"/>
            </a:gs>
          </a:gsLst>
          <a:lin ang="5400000" scaled="0"/>
        </a:gra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ctrTitle"/>
          </p:nvPr>
        </p:nvSpPr>
        <p:spPr>
          <a:xfrm>
            <a:off x="3357562" y="5364162"/>
            <a:ext cx="2735262" cy="2436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bin"/>
              <a:buNone/>
            </a:pPr>
            <a:r>
              <a:rPr lang="pt-BR"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rPr>
              <a:t>CARTILHA ESOCIAL</a:t>
            </a:r>
            <a:endParaRPr/>
          </a:p>
        </p:txBody>
      </p:sp>
      <p:sp>
        <p:nvSpPr>
          <p:cNvPr id="182" name="Shape 182"/>
          <p:cNvSpPr txBox="1">
            <a:spLocks noGrp="1"/>
          </p:cNvSpPr>
          <p:nvPr>
            <p:ph type="subTitle" idx="1"/>
          </p:nvPr>
        </p:nvSpPr>
        <p:spPr>
          <a:xfrm>
            <a:off x="512762" y="4481512"/>
            <a:ext cx="5832475" cy="331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r>
              <a:rPr lang="pt-BR" sz="2000" b="1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 QUE VAI MUDAR NA NOSSA RELAÇÃO TRABALHISTA E PREVIDENCIÁRIA?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Noto Sans Symbols"/>
              <a:buNone/>
            </a:pPr>
            <a:endParaRPr sz="3300" b="1" i="0" u="none" strike="noStrike" cap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Noto Sans Symbols"/>
              <a:buNone/>
            </a:pPr>
            <a:r>
              <a:rPr lang="pt-BR" sz="3300" b="1" i="0" u="none" strike="noStrike" cap="none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CARTILHA DE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Noto Sans Symbols"/>
              <a:buNone/>
            </a:pPr>
            <a:r>
              <a:rPr lang="pt-BR" sz="3300" b="1" i="0" u="none" strike="noStrike" cap="none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NOVOS PROCEDIMENTOS</a:t>
            </a:r>
            <a:endParaRPr/>
          </a:p>
        </p:txBody>
      </p:sp>
      <p:pic>
        <p:nvPicPr>
          <p:cNvPr id="183" name="Shape 183" descr="http://images.alterdata.com.br/imagens/img-esocial/logo_Esoci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925" y="2386012"/>
            <a:ext cx="4221162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Shape 184"/>
          <p:cNvSpPr txBox="1"/>
          <p:nvPr/>
        </p:nvSpPr>
        <p:spPr>
          <a:xfrm>
            <a:off x="1838325" y="7983537"/>
            <a:ext cx="3455987" cy="936625"/>
          </a:xfrm>
          <a:prstGeom prst="rect">
            <a:avLst/>
          </a:prstGeom>
          <a:solidFill>
            <a:srgbClr val="FFFF00"/>
          </a:solidFill>
          <a:ln w="22225" cap="rnd" cmpd="sng">
            <a:solidFill>
              <a:srgbClr val="360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</a:pPr>
            <a:r>
              <a:rPr lang="pt-BR" sz="1800" b="1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Coloque aqui o nome da empresa ou órgão OU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</a:pPr>
            <a:r>
              <a:rPr lang="pt-BR" sz="1800" b="1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FORMAS DE CONTATO</a:t>
            </a:r>
            <a:endParaRPr/>
          </a:p>
        </p:txBody>
      </p:sp>
      <p:sp>
        <p:nvSpPr>
          <p:cNvPr id="185" name="Shape 185"/>
          <p:cNvSpPr/>
          <p:nvPr/>
        </p:nvSpPr>
        <p:spPr>
          <a:xfrm>
            <a:off x="1316037" y="931862"/>
            <a:ext cx="2520950" cy="1295400"/>
          </a:xfrm>
          <a:prstGeom prst="rightArrow">
            <a:avLst>
              <a:gd name="adj1" fmla="val 16050"/>
              <a:gd name="adj2" fmla="val 50000"/>
            </a:avLst>
          </a:prstGeom>
          <a:solidFill>
            <a:srgbClr val="FFFF00"/>
          </a:solidFill>
          <a:ln w="22225" cap="rnd" cmpd="sng">
            <a:solidFill>
              <a:srgbClr val="360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bin"/>
              <a:buNone/>
            </a:pPr>
            <a:r>
              <a:rPr lang="pt-BR" sz="2000" b="1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Coloque aqui a sua logo</a:t>
            </a:r>
            <a:endParaRPr/>
          </a:p>
        </p:txBody>
      </p:sp>
      <p:sp>
        <p:nvSpPr>
          <p:cNvPr id="187" name="Shape 187"/>
          <p:cNvSpPr txBox="1"/>
          <p:nvPr/>
        </p:nvSpPr>
        <p:spPr>
          <a:xfrm>
            <a:off x="3681412" y="3614737"/>
            <a:ext cx="284162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bin"/>
              <a:buNone/>
            </a:pPr>
            <a:r>
              <a:rPr lang="pt-BR" sz="2400" b="1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* VERSÃO 2018 *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263207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SOBRE A DESENVOLVEDORA DESTA CARTILHA</a:t>
            </a:r>
            <a:endParaRPr/>
          </a:p>
        </p:txBody>
      </p:sp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288925" y="3492500"/>
            <a:ext cx="5992812" cy="374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Zenaide Carvalho</a:t>
            </a:r>
            <a:endParaRPr sz="20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None/>
            </a:pPr>
            <a:endParaRPr sz="13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</a:pPr>
            <a:r>
              <a:rPr lang="pt-BR" sz="13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Professora e autora de livros, dentre eles “eSocial nas Empresas e Escritórios Contábeis – Guia Prático para Implantação” (2ª ed. 2017, Lura Editorial) e ‘eSocial nos Órgãos Públicos – Guia Prático para Implantação (1ª ed. 2015, Nova Letra), pós-graduada em Auditoria e Controladoria pela Universidade Cândido Mendes (RJ), pós-graduada em Psicologia do Marketing, Administradora e Contadora, obteve o 1º lugar no VI Exame de Suficiência (CRC-RJ). Ministra treinamentos e palestras em todo o Brasil, em locais como STJ, MPT, MPU, STF, TRE, TRT, SESCON, SINDICONT e CRC. É CEO da Nith Assessoria e Treinamentos, fundada em 2005. Conteudista de treinamentos presenciais e online, mantém o “Blog da Zê” – </a:t>
            </a:r>
            <a:r>
              <a:rPr lang="pt-BR" sz="1300" b="0" i="0" u="sng" strike="noStrike" cap="non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www.zenaide.com.br</a:t>
            </a:r>
            <a:r>
              <a:rPr lang="pt-BR" sz="13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- desde 2007 com informações da área trabalhista e previdenciária, com mais de um milhão de acessos por ano. Coordenadora Nacional do MBA Trabalhista e Previdenciário pelo Centro Educacional BSSP, em todo o Brasil. </a:t>
            </a:r>
            <a:endParaRPr/>
          </a:p>
          <a:p>
            <a:pPr marL="228600" marR="0" lvl="0" indent="-152654" algn="l" rtl="0">
              <a:spcBef>
                <a:spcPts val="6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None/>
            </a:pPr>
            <a:endParaRPr sz="1300" b="0" i="0" u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94" name="Shape 194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</a:pPr>
            <a:fld id="{00000000-1234-1234-1234-123412341234}" type="slidenum">
              <a:rPr lang="pt-BR"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rPr>
              <a:t>2</a:t>
            </a:fld>
            <a:endParaRPr/>
          </a:p>
        </p:txBody>
      </p:sp>
      <p:pic>
        <p:nvPicPr>
          <p:cNvPr id="195" name="Shape 195" descr="C:\Users\Zenaide Carvalho\AppData\Local\Microsoft\Windows\INetCache\Content.Word\Zenaide_01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4900" y="985837"/>
            <a:ext cx="1916112" cy="291941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96" name="Shape 196"/>
          <p:cNvSpPr txBox="1"/>
          <p:nvPr/>
        </p:nvSpPr>
        <p:spPr>
          <a:xfrm>
            <a:off x="619125" y="7235825"/>
            <a:ext cx="5662612" cy="1584325"/>
          </a:xfrm>
          <a:prstGeom prst="rect">
            <a:avLst/>
          </a:prstGeom>
          <a:solidFill>
            <a:srgbClr val="FFFF00"/>
          </a:solidFill>
          <a:ln w="22225" cap="rnd" cmpd="sng">
            <a:solidFill>
              <a:srgbClr val="360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None/>
            </a:pPr>
            <a:r>
              <a:rPr lang="pt-BR" sz="1800" b="1" i="0" u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Como você vai usar a cartilha como MODELO, faça uma cópia (salve COM OUTRO NOME) em seu computador para mudar o que for preciso e exclua ou inclua o que desejar, inclusive esta página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61999">
              <a:srgbClr val="92BE3F"/>
            </a:gs>
            <a:gs pos="100000">
              <a:srgbClr val="80A33D"/>
            </a:gs>
          </a:gsLst>
          <a:lin ang="5400000" scaled="0"/>
        </a:gra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852487" y="2339975"/>
            <a:ext cx="5268912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PARA QUEM SERVE ESTA CARTILHA?</a:t>
            </a:r>
            <a:endParaRPr/>
          </a:p>
        </p:txBody>
      </p:sp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371475" y="4065587"/>
            <a:ext cx="5999162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*** Exclua essa página caso use este modelo ***</a:t>
            </a:r>
            <a:endParaRPr/>
          </a:p>
          <a:p>
            <a:pPr marL="229500" marR="0" lvl="0" indent="-11265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Recomendamos alterar esta cartilha personalizada </a:t>
            </a:r>
            <a:r>
              <a:rPr lang="pt-BR" sz="20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somente após estudar o eSocial </a:t>
            </a: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 </a:t>
            </a:r>
            <a:r>
              <a:rPr lang="pt-BR" sz="2000" b="1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definir os NOVOS PROCEDIMENTOS </a:t>
            </a: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para atender às exigências do eSocial e da legislação vigente na área trabalhista, fiscal e previdenciária.</a:t>
            </a:r>
            <a:endParaRPr/>
          </a:p>
          <a:p>
            <a:pPr marL="229500" marR="0" lvl="0" indent="-11265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Após definir os novos procedimentos, </a:t>
            </a:r>
            <a:r>
              <a:rPr lang="pt-BR" sz="2000" b="1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marque um encontro com os gestores </a:t>
            </a: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 apresente a Cartilha, explicando cada item. </a:t>
            </a:r>
            <a:endParaRPr/>
          </a:p>
          <a:p>
            <a:pPr marL="229500" marR="0" lvl="0" indent="-112659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03" name="Shape 203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/>
          </a:p>
        </p:txBody>
      </p:sp>
      <p:sp>
        <p:nvSpPr>
          <p:cNvPr id="204" name="Shape 204"/>
          <p:cNvSpPr txBox="1"/>
          <p:nvPr/>
        </p:nvSpPr>
        <p:spPr>
          <a:xfrm>
            <a:off x="195262" y="925512"/>
            <a:ext cx="3857754" cy="1727200"/>
          </a:xfrm>
          <a:prstGeom prst="rect">
            <a:avLst/>
          </a:prstGeom>
          <a:solidFill>
            <a:srgbClr val="FFC000"/>
          </a:solidFill>
          <a:ln w="22225" cap="rnd" cmpd="sng">
            <a:solidFill>
              <a:srgbClr val="360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1800"/>
            </a:pPr>
            <a:r>
              <a:rPr lang="pt-BR" sz="1800" b="1" i="0" u="none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Conheça nosso novo curso “Formação Analista </a:t>
            </a:r>
            <a:r>
              <a:rPr lang="pt-BR" sz="1800" b="1" i="0" u="none" dirty="0" err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Esocial</a:t>
            </a:r>
            <a:r>
              <a:rPr lang="pt-BR" sz="1800" b="1" i="0" u="none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” no </a:t>
            </a:r>
            <a:r>
              <a:rPr lang="pt-BR" sz="1800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link </a:t>
            </a:r>
            <a:r>
              <a:rPr lang="pt-BR" sz="1800" dirty="0">
                <a:solidFill>
                  <a:srgbClr val="0070C0"/>
                </a:solid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http://bit.ly/formacaoanalistaesocial</a:t>
            </a:r>
            <a:endParaRPr lang="pt-BR" sz="1800" dirty="0">
              <a:solidFill>
                <a:srgbClr val="0070C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 algn="ctr">
              <a:buClr>
                <a:schemeClr val="dk1"/>
              </a:buClr>
              <a:buSzPts val="18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title"/>
          </p:nvPr>
        </p:nvSpPr>
        <p:spPr>
          <a:xfrm>
            <a:off x="815975" y="2339975"/>
            <a:ext cx="5268912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PARA QUE SERVE ESSA CARTILHA?</a:t>
            </a:r>
            <a:endParaRPr dirty="0"/>
          </a:p>
        </p:txBody>
      </p:sp>
      <p:sp>
        <p:nvSpPr>
          <p:cNvPr id="211" name="Shape 211"/>
          <p:cNvSpPr txBox="1">
            <a:spLocks noGrp="1"/>
          </p:cNvSpPr>
          <p:nvPr>
            <p:ph type="body" idx="1"/>
          </p:nvPr>
        </p:nvSpPr>
        <p:spPr>
          <a:xfrm>
            <a:off x="500062" y="3260725"/>
            <a:ext cx="5924550" cy="468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***Exclua essa página se for usar este modelo ***</a:t>
            </a:r>
            <a:endParaRPr/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Modelo de cartilha para que os gestores do eSocial façam a comunicação com o público-alvo sobre novos procedimentos a serem seguidos em função do eSocial:</a:t>
            </a:r>
            <a:endParaRPr/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Escritório contábil </a:t>
            </a: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comunica-se com seus clientes</a:t>
            </a:r>
            <a:endParaRPr/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Nas empresas</a:t>
            </a: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o RH comunica-se com os chefes de departamento e diretores</a:t>
            </a:r>
            <a:endParaRPr/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Nos órgãos públicos</a:t>
            </a: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a equipe eSocial comunica-se com os gestores, diretores e outros interessados. </a:t>
            </a:r>
            <a:endParaRPr/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Ao final da Cartilha veja </a:t>
            </a:r>
            <a:r>
              <a:rPr lang="pt-BR" sz="1400" b="1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o TERMO DE RESPONSABILIDADE</a:t>
            </a: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para que seja assinado pelas gestores, que deverão se comprometer a seguir as novas orientações. </a:t>
            </a:r>
            <a:endParaRPr/>
          </a:p>
        </p:txBody>
      </p:sp>
      <p:sp>
        <p:nvSpPr>
          <p:cNvPr id="212" name="Shape 212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fld>
            <a:endParaRPr/>
          </a:p>
        </p:txBody>
      </p:sp>
      <p:sp>
        <p:nvSpPr>
          <p:cNvPr id="213" name="Shape 213"/>
          <p:cNvSpPr txBox="1"/>
          <p:nvPr/>
        </p:nvSpPr>
        <p:spPr>
          <a:xfrm>
            <a:off x="612775" y="1200150"/>
            <a:ext cx="5632450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bin"/>
              <a:buNone/>
            </a:pPr>
            <a:r>
              <a:rPr lang="pt-BR" sz="2800" b="0" i="0" u="none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Conheça o mais novo Curso Online </a:t>
            </a:r>
            <a:endParaRPr dirty="0"/>
          </a:p>
          <a:p>
            <a:pPr lvl="0" algn="ctr">
              <a:buClr>
                <a:schemeClr val="lt1"/>
              </a:buClr>
              <a:buSzPts val="2800"/>
            </a:pPr>
            <a:r>
              <a:rPr lang="pt-BR" sz="2800" dirty="0">
                <a:solidFill>
                  <a:schemeClr val="bg1"/>
                </a:solidFill>
                <a:latin typeface="Cabin"/>
                <a:ea typeface="Cabin"/>
                <a:cs typeface="Cabin"/>
                <a:sym typeface="Cabin"/>
              </a:rPr>
              <a:t>“Formação Analista </a:t>
            </a:r>
            <a:r>
              <a:rPr lang="pt-BR" sz="2800" dirty="0" err="1">
                <a:solidFill>
                  <a:schemeClr val="bg1"/>
                </a:solidFill>
                <a:latin typeface="Cabin"/>
                <a:ea typeface="Cabin"/>
                <a:cs typeface="Cabin"/>
                <a:sym typeface="Cabin"/>
              </a:rPr>
              <a:t>Esocial</a:t>
            </a:r>
            <a:r>
              <a:rPr lang="pt-BR" sz="2800" dirty="0">
                <a:solidFill>
                  <a:schemeClr val="bg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  <a:p>
            <a:pPr lvl="0" algn="ctr">
              <a:buClr>
                <a:schemeClr val="lt1"/>
              </a:buClr>
              <a:buSzPts val="2800"/>
            </a:pPr>
            <a:r>
              <a:rPr lang="pt-BR" sz="2800" dirty="0">
                <a:solidFill>
                  <a:srgbClr val="0070C0"/>
                </a:solid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http://bit.ly/formacaoanalistaesocial</a:t>
            </a:r>
            <a:endParaRPr lang="pt-BR" sz="2800" dirty="0">
              <a:solidFill>
                <a:srgbClr val="0070C0"/>
              </a:solidFill>
              <a:latin typeface="Cabin"/>
              <a:ea typeface="Cabin"/>
              <a:cs typeface="Cabin"/>
              <a:sym typeface="Cabin"/>
            </a:endParaRPr>
          </a:p>
          <a:p>
            <a:pPr lvl="0" algn="ctr">
              <a:buClr>
                <a:schemeClr val="lt1"/>
              </a:buClr>
              <a:buSzPts val="2800"/>
            </a:pPr>
            <a:endParaRPr sz="2800" b="0" i="0" u="none" dirty="0">
              <a:solidFill>
                <a:srgbClr val="FF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>
            <a:spLocks noGrp="1"/>
          </p:cNvSpPr>
          <p:nvPr>
            <p:ph type="title"/>
          </p:nvPr>
        </p:nvSpPr>
        <p:spPr>
          <a:xfrm>
            <a:off x="782637" y="1116012"/>
            <a:ext cx="5268912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 QUE É O ESOCIAL?</a:t>
            </a:r>
            <a:endParaRPr/>
          </a:p>
        </p:txBody>
      </p:sp>
      <p:sp>
        <p:nvSpPr>
          <p:cNvPr id="219" name="Shape 219"/>
          <p:cNvSpPr txBox="1">
            <a:spLocks noGrp="1"/>
          </p:cNvSpPr>
          <p:nvPr>
            <p:ph type="body" idx="1"/>
          </p:nvPr>
        </p:nvSpPr>
        <p:spPr>
          <a:xfrm>
            <a:off x="401637" y="2341562"/>
            <a:ext cx="5919787" cy="633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Nova forma de enviar ao Governo (Ministério do Trabalho, Receita Federal,, Previdência Social e Caixa Econômica Federal (gestora do FGTS), as informações trabalhistas, fiscais e previdenciárias para um ÚNICO BANCO DE DADOS na internet.</a:t>
            </a:r>
            <a:endParaRPr/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 eSocial foi instituído pelo Decreto 8.373/14 e mais detalhes estão no portal </a:t>
            </a:r>
            <a:r>
              <a:rPr lang="pt-BR" sz="1400" b="0" i="0" u="sng" strike="noStrike" cap="non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www.esocial.gov.br</a:t>
            </a: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.</a:t>
            </a:r>
            <a:endParaRPr/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Serão mais de </a:t>
            </a:r>
            <a:r>
              <a:rPr lang="pt-BR"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40 (quarenta) tipos de arquivos diferentes</a:t>
            </a: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com informações muito detalhadas sobre as relações trabalhistas.</a:t>
            </a:r>
            <a:endParaRPr/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Todos os sistemas de gestão de pessoas do Brasil serão alterados em função do eSocial.</a:t>
            </a:r>
            <a:endParaRPr/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 eSocial está previsto para começar em ______/____ (</a:t>
            </a:r>
            <a:r>
              <a:rPr lang="pt-BR" sz="1400" b="0" i="0" u="none" strike="noStrike" cap="none">
                <a:solidFill>
                  <a:schemeClr val="dk2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coloque aqui o início do eSocial para a sua empresa/órgão ou use janeiro/2018 para quem já começou)</a:t>
            </a:r>
            <a:r>
              <a:rPr lang="pt-BR" sz="1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 </a:t>
            </a:r>
            <a:endParaRPr sz="1400" b="0" i="0" u="none" strike="noStrike" cap="none">
              <a:solidFill>
                <a:schemeClr val="dk1"/>
              </a:solidFill>
              <a:highlight>
                <a:srgbClr val="FFFF00"/>
              </a:highlight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Vários procedimentos internos precisam ser mudados, pois haverá um </a:t>
            </a:r>
            <a:r>
              <a:rPr lang="pt-BR" sz="1400" b="1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detalhamento muito grande </a:t>
            </a: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no envio das informações.</a:t>
            </a:r>
            <a:endParaRPr/>
          </a:p>
          <a:p>
            <a:pPr marL="229500" marR="0" lvl="0" indent="-147711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Fique atento às </a:t>
            </a:r>
            <a:r>
              <a:rPr lang="pt-BR" sz="1400" b="1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NOVAS ORIENTAÇÕES </a:t>
            </a: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sobre os procedimentos que precisarão ser seguidos para evitar </a:t>
            </a:r>
            <a:r>
              <a:rPr lang="pt-BR" sz="1400" b="1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AUTUAÇÕES e MULTAS</a:t>
            </a:r>
            <a:r>
              <a:rPr lang="pt-BR"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a empresa!</a:t>
            </a:r>
            <a:endParaRPr/>
          </a:p>
        </p:txBody>
      </p:sp>
      <p:sp>
        <p:nvSpPr>
          <p:cNvPr id="220" name="Shape 220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 txBox="1">
            <a:spLocks noGrp="1"/>
          </p:cNvSpPr>
          <p:nvPr>
            <p:ph type="title"/>
          </p:nvPr>
        </p:nvSpPr>
        <p:spPr>
          <a:xfrm>
            <a:off x="423862" y="715962"/>
            <a:ext cx="5992812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QUAIS OS OBJETIVOS DO ESOCIAL?</a:t>
            </a:r>
            <a:endParaRPr/>
          </a:p>
        </p:txBody>
      </p:sp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773112" y="2794000"/>
            <a:ext cx="5310187" cy="543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</a:pPr>
            <a:r>
              <a:rPr lang="pt-BR" sz="1300" b="1" i="0" u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Para os trabalhadores</a:t>
            </a:r>
            <a:r>
              <a:rPr lang="pt-BR" sz="13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Garantia de Direitos. Os trabalhadores terão acesso a todos os dados da sua relação laboral com o empregador através da internet. </a:t>
            </a:r>
            <a:endParaRPr/>
          </a:p>
          <a:p>
            <a:pPr marL="228600" marR="0" lvl="0" indent="-152654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None/>
            </a:pPr>
            <a:endParaRPr sz="13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</a:pPr>
            <a:r>
              <a:rPr lang="pt-BR" sz="1300" b="1" i="0" u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Para o Governo</a:t>
            </a:r>
            <a:r>
              <a:rPr lang="pt-BR" sz="13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Maior poder de </a:t>
            </a:r>
            <a:r>
              <a:rPr lang="pt-BR" sz="13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fiscalização</a:t>
            </a:r>
            <a:r>
              <a:rPr lang="pt-BR" sz="13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na garantia de direitos dos trabalhadores e exigência do </a:t>
            </a:r>
            <a:r>
              <a:rPr lang="pt-BR" sz="13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cumprimento das obrigações</a:t>
            </a:r>
            <a:r>
              <a:rPr lang="pt-BR" sz="13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fiscais, trabalhistas e previdenciárias pelo empregador.</a:t>
            </a:r>
            <a:endParaRPr/>
          </a:p>
          <a:p>
            <a:pPr marL="228600" marR="0" lvl="0" indent="-152654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None/>
            </a:pPr>
            <a:endParaRPr sz="13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</a:pPr>
            <a:r>
              <a:rPr lang="pt-BR" sz="1300" b="1" i="0" u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Para os empregadores</a:t>
            </a:r>
            <a:r>
              <a:rPr lang="pt-BR" sz="13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simplificação de processos, porém esta simplificação só virá quando todos os </a:t>
            </a:r>
            <a:r>
              <a:rPr lang="pt-BR" sz="13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procedimentos estiverem adequados ao eSocial</a:t>
            </a:r>
            <a:r>
              <a:rPr lang="pt-BR" sz="13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  <a:endParaRPr/>
          </a:p>
          <a:p>
            <a:pPr marL="228600" marR="0" lvl="0" indent="-152654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None/>
            </a:pPr>
            <a:endParaRPr sz="13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</a:pPr>
            <a:r>
              <a:rPr lang="pt-BR" sz="13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 é para apresentar o que precisa ser mudado, Elaboramos esta </a:t>
            </a:r>
            <a:r>
              <a:rPr lang="pt-BR" sz="13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CARTILHA DE  NOVOS PROCEDIMENTOS</a:t>
            </a:r>
            <a:r>
              <a:rPr lang="pt-BR" sz="13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que deverá ser seguida à risca.</a:t>
            </a:r>
            <a:endParaRPr/>
          </a:p>
        </p:txBody>
      </p:sp>
      <p:sp>
        <p:nvSpPr>
          <p:cNvPr id="227" name="Shape 227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bin"/>
              <a:buNone/>
            </a:pPr>
            <a:r>
              <a:rPr lang="pt-BR" sz="5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ESOCIAL</a:t>
            </a:r>
            <a:endParaRPr/>
          </a:p>
        </p:txBody>
      </p:sp>
      <p:sp>
        <p:nvSpPr>
          <p:cNvPr id="233" name="Shape 233"/>
          <p:cNvSpPr txBox="1">
            <a:spLocks noGrp="1"/>
          </p:cNvSpPr>
          <p:nvPr>
            <p:ph type="body" idx="1"/>
          </p:nvPr>
        </p:nvSpPr>
        <p:spPr>
          <a:xfrm>
            <a:off x="396875" y="2895600"/>
            <a:ext cx="6107112" cy="504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985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3"/>
              <a:buFont typeface="Noto Sans Symbols"/>
              <a:buNone/>
            </a:pPr>
            <a:r>
              <a:rPr lang="pt-BR" sz="259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CARTILHA DE </a:t>
            </a:r>
            <a:endParaRPr/>
          </a:p>
          <a:p>
            <a:pPr marL="69850" marR="0" lvl="0" indent="0" algn="l" rtl="0">
              <a:lnSpc>
                <a:spcPct val="90000"/>
              </a:lnSpc>
              <a:spcBef>
                <a:spcPts val="968"/>
              </a:spcBef>
              <a:spcAft>
                <a:spcPts val="0"/>
              </a:spcAft>
              <a:buClr>
                <a:schemeClr val="accent2"/>
              </a:buClr>
              <a:buSzPts val="2383"/>
              <a:buFont typeface="Noto Sans Symbols"/>
              <a:buNone/>
            </a:pPr>
            <a:r>
              <a:rPr lang="pt-BR" sz="259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NOVOS PROCEDIMENTOS</a:t>
            </a:r>
            <a:endParaRPr/>
          </a:p>
          <a:p>
            <a:pPr marL="69850" marR="0" lvl="0" indent="0" algn="l" rtl="0">
              <a:lnSpc>
                <a:spcPct val="90000"/>
              </a:lnSpc>
              <a:spcBef>
                <a:spcPts val="968"/>
              </a:spcBef>
              <a:spcAft>
                <a:spcPts val="0"/>
              </a:spcAft>
              <a:buClr>
                <a:schemeClr val="accent2"/>
              </a:buClr>
              <a:buSzPts val="2383"/>
              <a:buFont typeface="Noto Sans Symbols"/>
              <a:buNone/>
            </a:pPr>
            <a:endParaRPr sz="2590" b="1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69850" marR="0" lvl="0" indent="0" algn="l" rtl="0">
              <a:lnSpc>
                <a:spcPct val="90000"/>
              </a:lnSpc>
              <a:spcBef>
                <a:spcPts val="968"/>
              </a:spcBef>
              <a:spcAft>
                <a:spcPts val="0"/>
              </a:spcAft>
              <a:buClr>
                <a:schemeClr val="accent2"/>
              </a:buClr>
              <a:buSzPts val="2383"/>
              <a:buFont typeface="Noto Sans Symbols"/>
              <a:buNone/>
            </a:pPr>
            <a:r>
              <a:rPr lang="pt-BR" sz="259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 PARTIR DE: _____________</a:t>
            </a:r>
            <a:endParaRPr/>
          </a:p>
          <a:p>
            <a:pPr marL="69850" marR="0" lvl="0" indent="0" algn="l" rtl="0">
              <a:lnSpc>
                <a:spcPct val="90000"/>
              </a:lnSpc>
              <a:spcBef>
                <a:spcPts val="968"/>
              </a:spcBef>
              <a:spcAft>
                <a:spcPts val="0"/>
              </a:spcAft>
              <a:buClr>
                <a:schemeClr val="accent2"/>
              </a:buClr>
              <a:buSzPts val="2383"/>
              <a:buFont typeface="Noto Sans Symbols"/>
              <a:buNone/>
            </a:pPr>
            <a:endParaRPr sz="2590" b="1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69850" marR="0" lvl="0" indent="0" algn="l" rtl="0">
              <a:lnSpc>
                <a:spcPct val="90000"/>
              </a:lnSpc>
              <a:spcBef>
                <a:spcPts val="968"/>
              </a:spcBef>
              <a:spcAft>
                <a:spcPts val="0"/>
              </a:spcAft>
              <a:buClr>
                <a:schemeClr val="accent2"/>
              </a:buClr>
              <a:buSzPts val="2383"/>
              <a:buFont typeface="Noto Sans Symbols"/>
              <a:buNone/>
            </a:pPr>
            <a:endParaRPr sz="2590" b="1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69850" marR="0" lvl="0" indent="0" algn="l" rtl="0">
              <a:lnSpc>
                <a:spcPct val="90000"/>
              </a:lnSpc>
              <a:spcBef>
                <a:spcPts val="968"/>
              </a:spcBef>
              <a:spcAft>
                <a:spcPts val="0"/>
              </a:spcAft>
              <a:buClr>
                <a:schemeClr val="accent2"/>
              </a:buClr>
              <a:buSzPts val="2383"/>
              <a:buFont typeface="Noto Sans Symbols"/>
              <a:buNone/>
            </a:pPr>
            <a:r>
              <a:rPr lang="pt-BR" sz="259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Em caso de Dúvidas, entre em conosco: </a:t>
            </a:r>
            <a:r>
              <a:rPr lang="pt-BR" sz="2590" b="1" i="0" u="none" strike="noStrike" cap="none">
                <a:solidFill>
                  <a:schemeClr val="dk2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(colocar formas de contato)</a:t>
            </a:r>
            <a:endParaRPr/>
          </a:p>
          <a:p>
            <a:pPr marL="69850" marR="0" lvl="0" indent="0" algn="l" rtl="0">
              <a:lnSpc>
                <a:spcPct val="90000"/>
              </a:lnSpc>
              <a:spcBef>
                <a:spcPts val="968"/>
              </a:spcBef>
              <a:spcAft>
                <a:spcPts val="0"/>
              </a:spcAft>
              <a:buClr>
                <a:schemeClr val="accent2"/>
              </a:buClr>
              <a:buSzPts val="2383"/>
              <a:buFont typeface="Noto Sans Symbols"/>
              <a:buNone/>
            </a:pPr>
            <a:r>
              <a:rPr lang="pt-BR" sz="259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____________</a:t>
            </a:r>
            <a:endParaRPr/>
          </a:p>
          <a:p>
            <a:pPr marL="69850" marR="0" lvl="0" indent="0" algn="l" rtl="0">
              <a:lnSpc>
                <a:spcPct val="90000"/>
              </a:lnSpc>
              <a:spcBef>
                <a:spcPts val="968"/>
              </a:spcBef>
              <a:spcAft>
                <a:spcPts val="0"/>
              </a:spcAft>
              <a:buClr>
                <a:schemeClr val="accent2"/>
              </a:buClr>
              <a:buSzPts val="2383"/>
              <a:buFont typeface="Noto Sans Symbols"/>
              <a:buNone/>
            </a:pPr>
            <a:r>
              <a:rPr lang="pt-BR" sz="259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____________</a:t>
            </a:r>
            <a:endParaRPr/>
          </a:p>
        </p:txBody>
      </p:sp>
      <p:sp>
        <p:nvSpPr>
          <p:cNvPr id="234" name="Shape 234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"/>
              <a:buFont typeface="Cabin"/>
              <a:buNone/>
            </a:pPr>
            <a:fld id="{00000000-1234-1234-1234-123412341234}" type="slidenum">
              <a:rPr lang="pt-BR" sz="600" b="0" i="0" u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rPr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 txBox="1">
            <a:spLocks noGrp="1"/>
          </p:cNvSpPr>
          <p:nvPr>
            <p:ph type="title"/>
          </p:nvPr>
        </p:nvSpPr>
        <p:spPr>
          <a:xfrm>
            <a:off x="782637" y="1370012"/>
            <a:ext cx="526891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ADMISSÕES</a:t>
            </a:r>
            <a:endParaRPr/>
          </a:p>
        </p:txBody>
      </p:sp>
      <p:sp>
        <p:nvSpPr>
          <p:cNvPr id="240" name="Shape 240"/>
          <p:cNvSpPr txBox="1">
            <a:spLocks noGrp="1"/>
          </p:cNvSpPr>
          <p:nvPr>
            <p:ph type="body" idx="1"/>
          </p:nvPr>
        </p:nvSpPr>
        <p:spPr>
          <a:xfrm>
            <a:off x="652462" y="2481262"/>
            <a:ext cx="5462587" cy="612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As contratações nas empresas privadas serão informadas no eSocial ANTES da Admissão!</a:t>
            </a:r>
            <a:endParaRPr/>
          </a:p>
          <a:p>
            <a:pPr marL="229500" marR="0" lvl="0" indent="-13602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Os documentos completos dos novos empregados precisam chegar ao escritório DOIS DIAS ANTES </a:t>
            </a:r>
            <a:r>
              <a:rPr lang="pt-BR" sz="1600" b="0" i="0" u="none" strike="noStrike" cap="none">
                <a:solidFill>
                  <a:schemeClr val="dk2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(ALTERE COMO DESEJAR) </a:t>
            </a: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da admissão.</a:t>
            </a:r>
            <a:endParaRPr/>
          </a:p>
          <a:p>
            <a:pPr marL="229500" marR="0" lvl="0" indent="-13602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Ao empregado que será contratado, antes também deverá ser feita a QUALIFICAÇÃO CADASTRAL (batimento de PIS/CPF/NOME/DATA DE NASCIMENTO) no link </a:t>
            </a:r>
            <a:r>
              <a:rPr lang="pt-BR" sz="1600" b="0" i="0" u="sng" strike="noStrike" cap="non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www.esocial.gov.br</a:t>
            </a: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. Orientaremos para que o próprio candidato ou o empregador faça. Caso dê algum erro, o candidato deverá corrigir os dados antes da contratação.</a:t>
            </a:r>
            <a:endParaRPr/>
          </a:p>
          <a:p>
            <a:pPr marL="229500" marR="0" lvl="0" indent="-13602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 empregado já deverá ter feito o Exame Médico Admissional.</a:t>
            </a:r>
            <a:endParaRPr/>
          </a:p>
          <a:p>
            <a:pPr marL="229500" marR="0" lvl="0" indent="-2295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Os documentos deverão ser assinados pelo empregado ATÉ um dia antes da admissão. </a:t>
            </a:r>
            <a:endParaRPr/>
          </a:p>
          <a:p>
            <a:pPr marL="229500" marR="0" lvl="0" indent="-229500" algn="l" rtl="0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 Carteira de Trabalho poderá ser entregue em até 48 horas após a admissão. </a:t>
            </a:r>
            <a:endParaRPr/>
          </a:p>
        </p:txBody>
      </p:sp>
      <p:sp>
        <p:nvSpPr>
          <p:cNvPr id="241" name="Shape 241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 txBox="1">
            <a:spLocks noGrp="1"/>
          </p:cNvSpPr>
          <p:nvPr>
            <p:ph type="title"/>
          </p:nvPr>
        </p:nvSpPr>
        <p:spPr>
          <a:xfrm>
            <a:off x="782637" y="1370012"/>
            <a:ext cx="5268912" cy="75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DESLIGAMENTOS</a:t>
            </a:r>
            <a:endParaRPr/>
          </a:p>
        </p:txBody>
      </p:sp>
      <p:sp>
        <p:nvSpPr>
          <p:cNvPr id="247" name="Shape 247"/>
          <p:cNvSpPr txBox="1">
            <a:spLocks noGrp="1"/>
          </p:cNvSpPr>
          <p:nvPr>
            <p:ph type="body" idx="1"/>
          </p:nvPr>
        </p:nvSpPr>
        <p:spPr>
          <a:xfrm>
            <a:off x="854075" y="2749550"/>
            <a:ext cx="5211762" cy="543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Os Pedidos de Demissão devem ser informados ao escritório contábil no mesmo dia. (</a:t>
            </a:r>
            <a:r>
              <a:rPr lang="pt-BR" sz="1800" b="0" i="0" u="none" strike="noStrike" cap="none">
                <a:solidFill>
                  <a:schemeClr val="dk2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no caso das  empresas, defina a regra)</a:t>
            </a:r>
            <a:endParaRPr/>
          </a:p>
          <a:p>
            <a:pPr marL="229500" marR="0" lvl="0" indent="-1243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Caso seja um Término de Contrato de Experiência, informe-nos 3 (três) dias antes, para elaborar a rescisão contratual.</a:t>
            </a:r>
            <a:endParaRPr/>
          </a:p>
          <a:p>
            <a:pPr marL="229500" marR="0" lvl="0" indent="-1243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Nas dispensas (Aviso Prévio dado pelo Empregador), avise-nos também com 03 dias de antecedência para elaborar o Aviso. </a:t>
            </a:r>
            <a:endParaRPr/>
          </a:p>
          <a:p>
            <a:pPr marL="229500" marR="0" lvl="0" indent="-1243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Em todos os casos, o empregado deve fazer o Exame Demissional.</a:t>
            </a:r>
            <a:endParaRPr/>
          </a:p>
        </p:txBody>
      </p:sp>
      <p:sp>
        <p:nvSpPr>
          <p:cNvPr id="248" name="Shape 248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title"/>
          </p:nvPr>
        </p:nvSpPr>
        <p:spPr>
          <a:xfrm>
            <a:off x="782637" y="1370012"/>
            <a:ext cx="5268912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FOLHA DE PAGAMENTO</a:t>
            </a:r>
            <a:endParaRPr/>
          </a:p>
        </p:txBody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749300" y="2554287"/>
            <a:ext cx="5224462" cy="522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As informações para a folha de pagamento devem chegar até o dia ___.</a:t>
            </a:r>
            <a:endParaRPr/>
          </a:p>
          <a:p>
            <a:pPr marL="229500" marR="0" lvl="0" indent="-112659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Caso as informações sejam enviadas depois e haja retrabalho para gerar recálculo da folha, haverá a cobrança do retrabalho.</a:t>
            </a:r>
            <a:endParaRPr/>
          </a:p>
          <a:p>
            <a:pPr marL="229500" marR="0" lvl="0" indent="-112659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Etc etc </a:t>
            </a:r>
            <a:r>
              <a:rPr lang="pt-BR" sz="2000" b="0" i="0" u="none" strike="noStrike" cap="none">
                <a:solidFill>
                  <a:schemeClr val="dk2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inclua as informações que desejar</a:t>
            </a:r>
            <a:endParaRPr/>
          </a:p>
          <a:p>
            <a:pPr marL="229500" marR="0" lvl="0" indent="-112659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55" name="Shape 255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title"/>
          </p:nvPr>
        </p:nvSpPr>
        <p:spPr>
          <a:xfrm>
            <a:off x="574675" y="684212"/>
            <a:ext cx="5268912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DECLARAÇÃO DE ENCARGOS DE FAMÍLIA PARA FINS DE IMPOSTO DE RENDA</a:t>
            </a:r>
            <a:endParaRPr/>
          </a:p>
        </p:txBody>
      </p:sp>
      <p:sp>
        <p:nvSpPr>
          <p:cNvPr id="261" name="Shape 261"/>
          <p:cNvSpPr txBox="1">
            <a:spLocks noGrp="1"/>
          </p:cNvSpPr>
          <p:nvPr>
            <p:ph type="body" idx="1"/>
          </p:nvPr>
        </p:nvSpPr>
        <p:spPr>
          <a:xfrm>
            <a:off x="760412" y="3144837"/>
            <a:ext cx="5083175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Todos os dependentes a partir de 8 anos em 2018 deverão ter CPF</a:t>
            </a:r>
            <a:endParaRPr/>
          </a:p>
          <a:p>
            <a:pPr marL="228600" marR="0" lvl="0" indent="-135128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Em caso de dependentes em comum, a Declaração deverá ter a assinatura do cônjuge (IN RFB 1.500/14, artigo 90). </a:t>
            </a:r>
            <a:endParaRPr/>
          </a:p>
          <a:p>
            <a:pPr marL="228600" marR="0" lvl="0" indent="-135128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Uma pessoa só pode ser dependente de uma outra. Exemplo: um filho só pode ser dependente do pai ou da mãe. </a:t>
            </a:r>
            <a:endParaRPr/>
          </a:p>
          <a:p>
            <a:pPr marL="228600" marR="0" lvl="0" indent="-135128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1" i="0" u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Enviaremos modelo de Declaração para ser atualizado para todos os empregados.</a:t>
            </a:r>
            <a:endParaRPr/>
          </a:p>
          <a:p>
            <a:pPr marL="228600" marR="0" lvl="0" indent="-135128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Quem paga pensão alimentícia não pode deduzir como dependente o próprio beneficiado com a pensão.</a:t>
            </a:r>
            <a:endParaRPr/>
          </a:p>
          <a:p>
            <a:pPr marL="228600" marR="0" lvl="0" indent="-135128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Será obrigatório informar todos os dependentes no eSocial. </a:t>
            </a:r>
            <a:endParaRPr/>
          </a:p>
        </p:txBody>
      </p:sp>
      <p:sp>
        <p:nvSpPr>
          <p:cNvPr id="262" name="Shape 262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>
            <a:spLocks noGrp="1"/>
          </p:cNvSpPr>
          <p:nvPr>
            <p:ph type="title"/>
          </p:nvPr>
        </p:nvSpPr>
        <p:spPr>
          <a:xfrm>
            <a:off x="436562" y="684212"/>
            <a:ext cx="5991225" cy="1443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ALTERAÇÕES CADASTRAIS</a:t>
            </a:r>
            <a:endParaRPr/>
          </a:p>
        </p:txBody>
      </p:sp>
      <p:sp>
        <p:nvSpPr>
          <p:cNvPr id="268" name="Shape 268"/>
          <p:cNvSpPr txBox="1">
            <a:spLocks noGrp="1"/>
          </p:cNvSpPr>
          <p:nvPr>
            <p:ph type="body" idx="1"/>
          </p:nvPr>
        </p:nvSpPr>
        <p:spPr>
          <a:xfrm>
            <a:off x="436562" y="2730500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lang="pt-BR" sz="32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Faremos </a:t>
            </a:r>
            <a:r>
              <a:rPr lang="pt-BR" sz="32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uma atualização no cadastro de todos os trabalhadores.</a:t>
            </a:r>
            <a:endParaRPr/>
          </a:p>
          <a:p>
            <a:pPr marL="228600" marR="0" lvl="0" indent="-41655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None/>
            </a:pPr>
            <a:endParaRPr sz="32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accent2"/>
              </a:buClr>
              <a:buSzPts val="2944"/>
              <a:buFont typeface="Noto Sans Symbols"/>
              <a:buChar char="◼"/>
            </a:pPr>
            <a:r>
              <a:rPr lang="pt-BR" sz="32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Sempre que houver alteração de endereço, estado civil, grau de instrução e outros, devemos ser informados no mesmo mês, para envio ao eSocial. </a:t>
            </a:r>
            <a:endParaRPr/>
          </a:p>
        </p:txBody>
      </p:sp>
      <p:sp>
        <p:nvSpPr>
          <p:cNvPr id="269" name="Shape 269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CONTRATAÇÃO DE ESTRANGEIROS</a:t>
            </a:r>
            <a:endParaRPr/>
          </a:p>
        </p:txBody>
      </p:sp>
      <p:sp>
        <p:nvSpPr>
          <p:cNvPr id="275" name="Shape 275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lang="pt-BR" sz="2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Devemos informar a contratação de Estrangeiros com detalhes ao eSocial.</a:t>
            </a:r>
            <a:endParaRPr/>
          </a:p>
          <a:p>
            <a:pPr marL="228600" marR="0" lvl="0" indent="-88392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None/>
            </a:pPr>
            <a:endParaRPr sz="24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lang="pt-BR" sz="2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Antes da contratação de estrangeiros, avise-nos para solicitar as informações corretas.</a:t>
            </a:r>
            <a:endParaRPr/>
          </a:p>
        </p:txBody>
      </p:sp>
      <p:sp>
        <p:nvSpPr>
          <p:cNvPr id="276" name="Shape 276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title"/>
          </p:nvPr>
        </p:nvSpPr>
        <p:spPr>
          <a:xfrm>
            <a:off x="782637" y="1370012"/>
            <a:ext cx="526891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FÉRIAS</a:t>
            </a:r>
            <a:endParaRPr/>
          </a:p>
        </p:txBody>
      </p:sp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782637" y="2555875"/>
            <a:ext cx="5526087" cy="6408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As férias devem ser avisadas com 30 dias de antecedência ao trabalhador, conforme consta na CLT.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As férias devem ser pagas com dois dias antes do início do gozo. 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Os pagamentos serão informados no eSocial, no mês do pagamento. O afastamento e o retorno das férias também serão informados no eSocial.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Enviaremos as escalas no mês de dezembro e devem ser informados os períodos de fruição para o ano seguinte.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Enviaremos os avisos com 40 dias de antecedência para o empregado ficar ciente das férias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Caso haja alteração na escala, avise-nos.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Caso não sejamos avisados com antecedência, o empregador pode ser autuado pela não informação, além do retrabalho de informar, que será cobrado.</a:t>
            </a:r>
            <a:endParaRPr/>
          </a:p>
        </p:txBody>
      </p:sp>
      <p:sp>
        <p:nvSpPr>
          <p:cNvPr id="283" name="Shape 283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 txBox="1">
            <a:spLocks noGrp="1"/>
          </p:cNvSpPr>
          <p:nvPr>
            <p:ph type="title"/>
          </p:nvPr>
        </p:nvSpPr>
        <p:spPr>
          <a:xfrm>
            <a:off x="782637" y="1370012"/>
            <a:ext cx="5268912" cy="75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AFASTAMENTOS</a:t>
            </a:r>
            <a:endParaRPr/>
          </a:p>
        </p:txBody>
      </p:sp>
      <p:sp>
        <p:nvSpPr>
          <p:cNvPr id="289" name="Shape 289"/>
          <p:cNvSpPr txBox="1">
            <a:spLocks noGrp="1"/>
          </p:cNvSpPr>
          <p:nvPr>
            <p:ph type="body" idx="1"/>
          </p:nvPr>
        </p:nvSpPr>
        <p:spPr>
          <a:xfrm>
            <a:off x="874712" y="2422525"/>
            <a:ext cx="5083175" cy="61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Afastamentos com atestado médico a partir de 03 (três) dias deverão ser informados no eSocial.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Outros afastamentos como licença-maternidade, acidente de trabalho, etc também precisarão ser informados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Envie-nos as informações tão logo ocorra, para gerar os dados ao eSocial.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Os empregados afastados por mais de 30 dias por doença, acidente de trabalho ou PARTO deverão fazer OBRIGATORIAMENTE o exame médico de retorno no primeiro dia de retorno ao trabalho.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 empregado deve entregar o atestado preferencialmente em até 48 horas após o retorno do afastamento. </a:t>
            </a:r>
            <a:endParaRPr/>
          </a:p>
        </p:txBody>
      </p:sp>
      <p:sp>
        <p:nvSpPr>
          <p:cNvPr id="290" name="Shape 290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EMENDAR FÉRIAS COM AFASTAMENTOS A PARTIR DE 30 DIAS</a:t>
            </a:r>
            <a:endParaRPr/>
          </a:p>
        </p:txBody>
      </p:sp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Os empregados afastados por parto ou doença a partir de 30 dias deverão fazer o exame médico de retorno obrigatoriamente no primeiro dia de retorno (NR 7, item 7.4.3.3). </a:t>
            </a:r>
            <a:endParaRPr/>
          </a:p>
          <a:p>
            <a:pPr marL="228600" marR="0" lvl="0" indent="-11176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Assim, como as férias devem ser pagas com dois dias de antecedência, as férias só poderão iniciar no 3º dia após o afastamento. </a:t>
            </a:r>
            <a:endParaRPr/>
          </a:p>
          <a:p>
            <a:pPr marL="228600" marR="0" lvl="0" indent="-11176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Reforçamos que tanto o exame médico de retorno, quanto o pagamento e o afastamento de férias precisarão ser informados no eSocial.</a:t>
            </a:r>
            <a:endParaRPr/>
          </a:p>
        </p:txBody>
      </p:sp>
      <p:sp>
        <p:nvSpPr>
          <p:cNvPr id="297" name="Shape 297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302"/>
          <p:cNvSpPr txBox="1">
            <a:spLocks noGrp="1"/>
          </p:cNvSpPr>
          <p:nvPr>
            <p:ph type="title"/>
          </p:nvPr>
        </p:nvSpPr>
        <p:spPr>
          <a:xfrm>
            <a:off x="581025" y="715962"/>
            <a:ext cx="5268912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CONTRATAÇÃO DE AUTÔNOMOS</a:t>
            </a:r>
            <a:endParaRPr/>
          </a:p>
        </p:txBody>
      </p:sp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874712" y="3098800"/>
            <a:ext cx="5176837" cy="557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Será necessário solicitar ao contribuinte individual autônomo, antes da contratação:</a:t>
            </a:r>
            <a:endParaRPr/>
          </a:p>
          <a:p>
            <a:pPr marL="822325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Cabin"/>
              <a:buAutoNum type="arabicPeriod"/>
            </a:pP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Fazer a Qualificação Cadastral – se houver erro não conseguiremos informar no eSocial</a:t>
            </a:r>
            <a:endParaRPr/>
          </a:p>
          <a:p>
            <a:pPr marL="822325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Cabin"/>
              <a:buAutoNum type="arabicPeriod"/>
            </a:pP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CPF</a:t>
            </a:r>
            <a:endParaRPr/>
          </a:p>
          <a:p>
            <a:pPr marL="822325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Cabin"/>
              <a:buAutoNum type="arabicPeriod"/>
            </a:pPr>
            <a:r>
              <a:rPr lang="pt-BR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PIS/PASEP/NIT</a:t>
            </a:r>
            <a:endParaRPr/>
          </a:p>
          <a:p>
            <a:pPr marL="822325" marR="0" lvl="1" indent="-457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Cabin"/>
              <a:buAutoNum type="arabicPeriod"/>
            </a:pPr>
            <a:r>
              <a:rPr lang="pt-BR" sz="16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DATA DE NASCIMENTO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Se declarar Dependentes, será necessário preencher a Declaração de Encargos para Fins de Imposto de Renda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Identificar a atividade para a CBO.</a:t>
            </a:r>
            <a:endParaRPr/>
          </a:p>
          <a:p>
            <a:pPr marL="228600" marR="0" lvl="0" indent="-135128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</a:pPr>
            <a:endParaRPr sz="16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</a:pPr>
            <a:r>
              <a:rPr lang="pt-BR" sz="16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Se trouxer comprovante que já contribuiu para outras fontes, será necessário que esse comprovante identifique o CNPJ da empresa, o valor recebido e o valor descontado de INSS.</a:t>
            </a:r>
            <a:endParaRPr/>
          </a:p>
        </p:txBody>
      </p:sp>
      <p:sp>
        <p:nvSpPr>
          <p:cNvPr id="304" name="Shape 304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CONTRATAÇÃO DE MEI – MICROEMPREENDEDOR INDIVIDUAL</a:t>
            </a:r>
            <a:endParaRPr/>
          </a:p>
        </p:txBody>
      </p:sp>
      <p:sp>
        <p:nvSpPr>
          <p:cNvPr id="310" name="Shape 310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Contratando o MEI para os serviços de Hidráulica, Elétrica, Pintura, Carpintaria, Alvenaria, Manutenção ou Reparo de Veículos, o contratante deverá informá-lo no eSocial </a:t>
            </a:r>
            <a:endParaRPr/>
          </a:p>
          <a:p>
            <a:pPr marL="228600" marR="0" lvl="0" indent="-1234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Nos serviços citados, haverá o pagamento de contribuição patronal previdenciária no valor de 20% da remuneração paga ao MEI.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Solicitar o número do PIS/PASEP ou NIT.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Deve ser feita previamente a Qualificação Cadastral.</a:t>
            </a:r>
            <a:endParaRPr/>
          </a:p>
        </p:txBody>
      </p:sp>
      <p:sp>
        <p:nvSpPr>
          <p:cNvPr id="311" name="Shape 311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>
            <a:spLocks noGrp="1"/>
          </p:cNvSpPr>
          <p:nvPr>
            <p:ph type="title"/>
          </p:nvPr>
        </p:nvSpPr>
        <p:spPr>
          <a:xfrm>
            <a:off x="782637" y="1370012"/>
            <a:ext cx="526891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EXAMES MÉDICOS</a:t>
            </a:r>
            <a:endParaRPr/>
          </a:p>
        </p:txBody>
      </p:sp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836612" y="2339975"/>
            <a:ext cx="5268912" cy="626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Todos os empregados deverão fazer os exames médicos, que serão informados no eSocial.</a:t>
            </a:r>
            <a:endParaRPr/>
          </a:p>
          <a:p>
            <a:pPr marL="228600" marR="0" lvl="0" indent="-146812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Exame Admissional</a:t>
            </a:r>
            <a:r>
              <a:rPr lang="pt-BR" sz="1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antes da admissão</a:t>
            </a:r>
            <a:endParaRPr/>
          </a:p>
          <a:p>
            <a:pPr marL="228600" marR="0" lvl="0" indent="-146812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Exame Periódicos:</a:t>
            </a:r>
            <a:r>
              <a:rPr lang="pt-BR" sz="1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nos prazos previstos</a:t>
            </a:r>
            <a:endParaRPr/>
          </a:p>
          <a:p>
            <a:pPr marL="228600" marR="0" lvl="0" indent="-146812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Exame Demissional</a:t>
            </a:r>
            <a:r>
              <a:rPr lang="pt-BR" sz="1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logo após o comunicado do desligamento. Caso este exame dê o laudo de INAPTO, o empregado não poderá ser dispensado, devendo ser encaminhado para perícia médica do INSS.</a:t>
            </a:r>
            <a:endParaRPr/>
          </a:p>
          <a:p>
            <a:pPr marL="228600" marR="0" lvl="0" indent="-146812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Exame de Mudança de Cargo</a:t>
            </a:r>
            <a:r>
              <a:rPr lang="pt-BR" sz="1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deve ser feito antes da mudança.</a:t>
            </a:r>
            <a:endParaRPr/>
          </a:p>
          <a:p>
            <a:pPr marL="228600" marR="0" lvl="0" indent="-146812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Exame de Retorno de Afastamento</a:t>
            </a:r>
            <a:r>
              <a:rPr lang="pt-BR" sz="1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deve ser feito o Exame no primeiro dia imediato de retorno, em caso de afastamentos por 30 dias ou mais em doença, acidente ou parto.</a:t>
            </a:r>
            <a:endParaRPr/>
          </a:p>
          <a:p>
            <a:pPr marL="228600" marR="0" lvl="0" indent="-146812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None/>
            </a:pPr>
            <a:endParaRPr sz="14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</a:pPr>
            <a:r>
              <a:rPr lang="pt-BR" sz="14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Exames complementares</a:t>
            </a:r>
            <a:r>
              <a:rPr lang="pt-BR" sz="1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conforme previsto nos laudos, se houver necessidade, o empregado deverá fazer os exames  complementares dentro dos prazos previstos.</a:t>
            </a:r>
            <a:endParaRPr/>
          </a:p>
        </p:txBody>
      </p:sp>
      <p:sp>
        <p:nvSpPr>
          <p:cNvPr id="318" name="Shape 318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title"/>
          </p:nvPr>
        </p:nvSpPr>
        <p:spPr>
          <a:xfrm>
            <a:off x="638175" y="715962"/>
            <a:ext cx="5268912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LTCAT – LAUDO TÉCNICO DAS CONDIÇÕES AMBIENTAIS DE TRABALHO</a:t>
            </a:r>
            <a:endParaRPr/>
          </a:p>
        </p:txBody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846137" y="3635375"/>
            <a:ext cx="5083175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 LTCAT precisa ser atualizado, já que suas informações serão transmitidas ao eSocial (descrição de todos os ambientes de trabalho, todos os riscos e uso de EPI).</a:t>
            </a:r>
            <a:endParaRPr/>
          </a:p>
          <a:p>
            <a:pPr marL="228600" marR="0" lvl="0" indent="-1234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Na contratação de empresas terceirizadas com cessão de mão de obra os laudos deverão de entregues (cópia), para que a empresa informe o seu ambiente com riscos (IN RFB 971/09, art 291). </a:t>
            </a:r>
            <a:endParaRPr/>
          </a:p>
          <a:p>
            <a:pPr marL="228600" marR="0" lvl="0" indent="-1234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Os EPI (Equipamentos de Proteção Individual) serão informações com seus respectivos CA (Certificados de Aprovação).</a:t>
            </a:r>
            <a:endParaRPr/>
          </a:p>
        </p:txBody>
      </p:sp>
      <p:sp>
        <p:nvSpPr>
          <p:cNvPr id="325" name="Shape 325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 txBox="1">
            <a:spLocks noGrp="1"/>
          </p:cNvSpPr>
          <p:nvPr>
            <p:ph type="title"/>
          </p:nvPr>
        </p:nvSpPr>
        <p:spPr>
          <a:xfrm>
            <a:off x="581025" y="738187"/>
            <a:ext cx="5268912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CAT – COMUNICAÇÃO DE ACIDENTE DE TRABALHO E PPP – PERFIL PROFISSIOGRÁFICO PREVIDENCIÁRIO</a:t>
            </a:r>
            <a:endParaRPr/>
          </a:p>
        </p:txBody>
      </p:sp>
      <p:sp>
        <p:nvSpPr>
          <p:cNvPr id="331" name="Shape 331"/>
          <p:cNvSpPr txBox="1">
            <a:spLocks noGrp="1"/>
          </p:cNvSpPr>
          <p:nvPr>
            <p:ph type="body" idx="1"/>
          </p:nvPr>
        </p:nvSpPr>
        <p:spPr>
          <a:xfrm>
            <a:off x="549275" y="3924300"/>
            <a:ext cx="5759450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64"/>
              <a:buFont typeface="Noto Sans Symbols"/>
              <a:buChar char="◼"/>
            </a:pPr>
            <a:r>
              <a:rPr lang="pt-BR" sz="17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 CAT passará a ser elaborada dentro do eSocial. Para isso, precisamos informar todos os acidentes de trabalho no mesmo dia (em caso de morte) ou no primeiro dia útil após o acidente. </a:t>
            </a:r>
            <a:endParaRPr/>
          </a:p>
          <a:p>
            <a:pPr marL="228600" marR="0" lvl="0" indent="-129286" algn="l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564"/>
              <a:buFont typeface="Noto Sans Symbols"/>
              <a:buNone/>
            </a:pPr>
            <a:endParaRPr sz="17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564"/>
              <a:buFont typeface="Noto Sans Symbols"/>
              <a:buChar char="◼"/>
            </a:pPr>
            <a:r>
              <a:rPr lang="pt-BR" sz="17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Informe-nos imediatamente para que possamos enviar as informações ao eSocial.</a:t>
            </a:r>
            <a:endParaRPr/>
          </a:p>
          <a:p>
            <a:pPr marL="228600" marR="0" lvl="0" indent="-129286" algn="l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564"/>
              <a:buFont typeface="Noto Sans Symbols"/>
              <a:buNone/>
            </a:pPr>
            <a:endParaRPr sz="17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564"/>
              <a:buFont typeface="Noto Sans Symbols"/>
              <a:buChar char="◼"/>
            </a:pPr>
            <a:r>
              <a:rPr lang="pt-BR" sz="17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 PPP passará a ser eletrônico a partir do eSocial e ele contém todas as atividades que o empregado desempenha. </a:t>
            </a:r>
            <a:endParaRPr/>
          </a:p>
          <a:p>
            <a:pPr marL="228600" marR="0" lvl="0" indent="-129286" algn="l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564"/>
              <a:buFont typeface="Noto Sans Symbols"/>
              <a:buNone/>
            </a:pPr>
            <a:endParaRPr sz="17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564"/>
              <a:buFont typeface="Noto Sans Symbols"/>
              <a:buChar char="◼"/>
            </a:pPr>
            <a:r>
              <a:rPr lang="pt-BR" sz="17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Caso haja alguma alteração de atividades ou risco do empregado, precisamos ser informados ainda dentro do mesmo mês, para envio ao eSocial.</a:t>
            </a:r>
            <a:endParaRPr/>
          </a:p>
          <a:p>
            <a:pPr marL="228600" marR="0" lvl="0" indent="-129286" algn="l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564"/>
              <a:buFont typeface="Noto Sans Symbols"/>
              <a:buNone/>
            </a:pPr>
            <a:endParaRPr sz="17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564"/>
              <a:buFont typeface="Noto Sans Symbols"/>
              <a:buChar char="◼"/>
            </a:pPr>
            <a:r>
              <a:rPr lang="pt-BR" sz="17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 trabalhador terá acesso aos dados do seu PPP.</a:t>
            </a:r>
            <a:endParaRPr/>
          </a:p>
        </p:txBody>
      </p:sp>
      <p:sp>
        <p:nvSpPr>
          <p:cNvPr id="332" name="Shape 332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 txBox="1">
            <a:spLocks noGrp="1"/>
          </p:cNvSpPr>
          <p:nvPr>
            <p:ph type="title"/>
          </p:nvPr>
        </p:nvSpPr>
        <p:spPr>
          <a:xfrm>
            <a:off x="690562" y="827087"/>
            <a:ext cx="52673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CONTRATAÇÃO DE ESTAGIÁRIOS</a:t>
            </a:r>
            <a:endParaRPr/>
          </a:p>
        </p:txBody>
      </p:sp>
      <p:sp>
        <p:nvSpPr>
          <p:cNvPr id="338" name="Shape 338"/>
          <p:cNvSpPr txBox="1">
            <a:spLocks noGrp="1"/>
          </p:cNvSpPr>
          <p:nvPr>
            <p:ph type="body" idx="1"/>
          </p:nvPr>
        </p:nvSpPr>
        <p:spPr>
          <a:xfrm>
            <a:off x="782637" y="3098800"/>
            <a:ext cx="5083175" cy="521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 contratação de estagiários deve obedecer à lei 11.788/08, que será exigida no eSocial.</a:t>
            </a:r>
            <a:endParaRPr/>
          </a:p>
          <a:p>
            <a:pPr marL="228600" marR="0" lvl="0" indent="-1234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Os estagiários devem fazer Exame Médico Admissional, Periódico e Demissional.</a:t>
            </a:r>
            <a:endParaRPr/>
          </a:p>
          <a:p>
            <a:pPr marL="228600" marR="0" lvl="0" indent="-1234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 supervisor do estágio deve ter formação na área do curso do estagiário (se de nível superior) ou experiência profissional na área. </a:t>
            </a:r>
            <a:endParaRPr/>
          </a:p>
          <a:p>
            <a:pPr marL="228600" marR="0" lvl="0" indent="-1234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 supervisor só pode supervisionar até 10 (dez) estagiários.</a:t>
            </a:r>
            <a:endParaRPr/>
          </a:p>
          <a:p>
            <a:pPr marL="228600" marR="0" lvl="0" indent="-1234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Os contratos assinados no mês devem ser enviados ao setor no mesmo mês, antes de fechar a folha. </a:t>
            </a:r>
            <a:endParaRPr/>
          </a:p>
        </p:txBody>
      </p:sp>
      <p:sp>
        <p:nvSpPr>
          <p:cNvPr id="339" name="Shape 339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COTAS DE APRENDIZES E PESSOAS COM DEFICIÊNCIA (PCD)</a:t>
            </a:r>
            <a:endParaRPr/>
          </a:p>
        </p:txBody>
      </p:sp>
      <p:sp>
        <p:nvSpPr>
          <p:cNvPr id="345" name="Shape 345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lang="pt-BR" sz="2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Levantaremos todos os empregadores que devem cumprir as cotas de Aprendizes e Pessoas com Deficiência (PCD).</a:t>
            </a:r>
            <a:endParaRPr/>
          </a:p>
          <a:p>
            <a:pPr marL="228600" marR="0" lvl="0" indent="-88392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None/>
            </a:pPr>
            <a:endParaRPr sz="24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lang="pt-BR" sz="24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Caso haja desligamento de algum aprendiz ou PCD, deve haver imediata contratação de outro, a fim de evitar autuações por parte do Ministério do Trabalho.</a:t>
            </a:r>
            <a:endParaRPr/>
          </a:p>
        </p:txBody>
      </p:sp>
      <p:sp>
        <p:nvSpPr>
          <p:cNvPr id="346" name="Shape 346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CONSELHEIROS TUTELARES</a:t>
            </a:r>
            <a:endParaRPr/>
          </a:p>
        </p:txBody>
      </p:sp>
      <p:sp>
        <p:nvSpPr>
          <p:cNvPr id="352" name="Shape 352"/>
          <p:cNvSpPr txBox="1">
            <a:spLocks noGrp="1"/>
          </p:cNvSpPr>
          <p:nvPr>
            <p:ph type="body" idx="1"/>
          </p:nvPr>
        </p:nvSpPr>
        <p:spPr>
          <a:xfrm>
            <a:off x="414337" y="2968625"/>
            <a:ext cx="6010275" cy="484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1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*** esta página é só para Prefeituras. Exclua se não é o seu caso ***</a:t>
            </a:r>
            <a:endParaRPr/>
          </a:p>
          <a:p>
            <a:pPr marL="229500" marR="0" lvl="0" indent="-1243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Os Conselheiros Tutelares deverão ter seus cadastros informados no eSocial.</a:t>
            </a:r>
            <a:endParaRPr/>
          </a:p>
          <a:p>
            <a:pPr marL="229500" marR="0" lvl="0" indent="-1243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Fazer a Qualificação Cadastral antes da contratação. Caso haja erro, o próprio deverá ser orientado a resolver antes da contratação.</a:t>
            </a:r>
            <a:endParaRPr/>
          </a:p>
          <a:p>
            <a:pPr marL="229500" marR="0" lvl="0" indent="-1243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 tratamento e enquadramento é como Contribuinte Individual.</a:t>
            </a:r>
            <a:endParaRPr/>
          </a:p>
        </p:txBody>
      </p:sp>
      <p:sp>
        <p:nvSpPr>
          <p:cNvPr id="353" name="Shape 353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PROCESSOS ADMINISTRATIVOS E JUDICIAIS</a:t>
            </a:r>
            <a:endParaRPr/>
          </a:p>
        </p:txBody>
      </p:sp>
      <p:sp>
        <p:nvSpPr>
          <p:cNvPr id="359" name="Shape 359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Caso haja algum processo para </a:t>
            </a:r>
            <a:r>
              <a:rPr lang="pt-BR" sz="20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não tributação ou não retenção de tributos</a:t>
            </a:r>
            <a:r>
              <a:rPr lang="pt-BR" sz="20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devemos informar no eSocial.</a:t>
            </a:r>
            <a:endParaRPr/>
          </a:p>
          <a:p>
            <a:pPr marL="228600" marR="0" lvl="0" indent="-11176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Este processo deverá ser analisado pelo setor jurídico para avaliar a veracidade de informações e acompanhamento.</a:t>
            </a:r>
            <a:endParaRPr/>
          </a:p>
          <a:p>
            <a:pPr marL="228600" marR="0" lvl="0" indent="-11176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111760" algn="l" rtl="0"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60" name="Shape 360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TRIBUTAÇÕES E CLÁUSULAS DE CONVENÇÃO COLETIVA</a:t>
            </a:r>
            <a:endParaRPr/>
          </a:p>
        </p:txBody>
      </p:sp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436562" y="2970212"/>
            <a:ext cx="5991225" cy="484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Todas as empresas terão que informar ao eSocial as tributações e reflexos.</a:t>
            </a:r>
            <a:endParaRPr/>
          </a:p>
          <a:p>
            <a:pPr marL="228600" marR="0" lvl="0" indent="-11176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Não será permitido evitar tributação de INSS, FGTS ou Imposto de Renda que não esteja prevista na legislação (salvo se houver processo).</a:t>
            </a:r>
            <a:endParaRPr/>
          </a:p>
          <a:p>
            <a:pPr marL="228600" marR="0" lvl="0" indent="-11176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Todas as cláusulas de Convenção Coletiva de Trabalho precisarão ser cumpridas.</a:t>
            </a:r>
            <a:endParaRPr/>
          </a:p>
          <a:p>
            <a:pPr marL="228600" marR="0" lvl="0" indent="-11176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67" name="Shape 367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MULTAS E AUTUAÇÕES DO MINISTÉRIO DO TRABALHO E PREVIDÊNCIA SOCIAL</a:t>
            </a:r>
            <a:endParaRPr/>
          </a:p>
        </p:txBody>
      </p:sp>
      <p:sp>
        <p:nvSpPr>
          <p:cNvPr id="373" name="Shape 373"/>
          <p:cNvSpPr txBox="1">
            <a:spLocks noGrp="1"/>
          </p:cNvSpPr>
          <p:nvPr>
            <p:ph type="body" idx="1"/>
          </p:nvPr>
        </p:nvSpPr>
        <p:spPr>
          <a:xfrm>
            <a:off x="433387" y="2932112"/>
            <a:ext cx="607695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Char char="◼"/>
            </a:pPr>
            <a:r>
              <a:rPr lang="pt-BR" sz="148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Admissão fora do prazo </a:t>
            </a:r>
            <a:r>
              <a:rPr lang="pt-BR" sz="148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= R$ 3.000,00 (empresas normais) ou R$ 800,00 (ME e EPP)</a:t>
            </a:r>
            <a:endParaRPr/>
          </a:p>
          <a:p>
            <a:pPr marL="229500" marR="0" lvl="0" indent="-143038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None/>
            </a:pPr>
            <a:endParaRPr sz="148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Char char="◼"/>
            </a:pPr>
            <a:r>
              <a:rPr lang="pt-BR" sz="148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Pagamento de Rescisão Fora do Prazo de 10 dias </a:t>
            </a:r>
            <a:r>
              <a:rPr lang="pt-BR" sz="148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= 1 salário para o empregado + R$ 170,26</a:t>
            </a:r>
            <a:endParaRPr/>
          </a:p>
          <a:p>
            <a:pPr marL="229500" marR="0" lvl="0" indent="-143038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None/>
            </a:pPr>
            <a:endParaRPr sz="148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Char char="◼"/>
            </a:pPr>
            <a:r>
              <a:rPr lang="pt-BR" sz="148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Pagamento de Férias fora do prazo</a:t>
            </a:r>
            <a:r>
              <a:rPr lang="pt-BR" sz="148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1 valor de férias para o empregado</a:t>
            </a:r>
            <a:endParaRPr/>
          </a:p>
          <a:p>
            <a:pPr marL="229500" marR="0" lvl="0" indent="-143038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None/>
            </a:pPr>
            <a:endParaRPr sz="148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Char char="◼"/>
            </a:pPr>
            <a:r>
              <a:rPr lang="pt-BR" sz="148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Infrações previdenciárias </a:t>
            </a:r>
            <a:r>
              <a:rPr lang="pt-BR" sz="148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= R$ 300,49 a R$ 228.402,57 (2017)</a:t>
            </a:r>
            <a:endParaRPr/>
          </a:p>
          <a:p>
            <a:pPr marL="229500" marR="0" lvl="0" indent="-143038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None/>
            </a:pPr>
            <a:endParaRPr sz="148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Char char="◼"/>
            </a:pPr>
            <a:r>
              <a:rPr lang="pt-BR" sz="148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Duração do Trabalho </a:t>
            </a:r>
            <a:r>
              <a:rPr lang="pt-BR" sz="148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= R$ 40,25 a R$ 4.025,33</a:t>
            </a:r>
            <a:endParaRPr/>
          </a:p>
          <a:p>
            <a:pPr marL="229500" marR="0" lvl="0" indent="-143038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None/>
            </a:pPr>
            <a:endParaRPr sz="148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Char char="◼"/>
            </a:pPr>
            <a:r>
              <a:rPr lang="pt-BR" sz="148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Medicina do Trabalho </a:t>
            </a:r>
            <a:r>
              <a:rPr lang="pt-BR" sz="148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(não fazer exames médicos) = R$ 402,53 a R$ 4.025,33</a:t>
            </a:r>
            <a:endParaRPr/>
          </a:p>
          <a:p>
            <a:pPr marL="229500" marR="0" lvl="0" indent="-143038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None/>
            </a:pPr>
            <a:endParaRPr sz="148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Char char="◼"/>
            </a:pPr>
            <a:r>
              <a:rPr lang="pt-BR" sz="148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Segurança do Trabalho</a:t>
            </a:r>
            <a:r>
              <a:rPr lang="pt-BR" sz="148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(não fazer laudos) = R$ 670,89 a 6.708,59</a:t>
            </a:r>
            <a:endParaRPr/>
          </a:p>
          <a:p>
            <a:pPr marL="229500" marR="0" lvl="0" indent="-143038" algn="l" rtl="0">
              <a:lnSpc>
                <a:spcPct val="80000"/>
              </a:lnSpc>
              <a:spcBef>
                <a:spcPts val="746"/>
              </a:spcBef>
              <a:spcAft>
                <a:spcPts val="0"/>
              </a:spcAft>
              <a:buClr>
                <a:schemeClr val="accent2"/>
              </a:buClr>
              <a:buSzPts val="1362"/>
              <a:buFont typeface="Noto Sans Symbols"/>
              <a:buNone/>
            </a:pPr>
            <a:endParaRPr sz="1480" b="0" i="0" u="none" strike="noStrike" cap="none">
              <a:solidFill>
                <a:schemeClr val="dk2"/>
              </a:solidFill>
              <a:highlight>
                <a:srgbClr val="FFFF00"/>
              </a:highlight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74" name="Shape 374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354012" y="2968625"/>
            <a:ext cx="6070600" cy="484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76"/>
              <a:buFont typeface="Noto Sans Symbols"/>
              <a:buChar char="◼"/>
            </a:pPr>
            <a:r>
              <a:rPr lang="pt-BR" sz="2800" b="0" i="0" u="none" strike="noStrike" cap="none">
                <a:solidFill>
                  <a:schemeClr val="dk2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Inclua aqui outros valores de multas que achar conveniente</a:t>
            </a:r>
            <a:endParaRPr sz="28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80" name="Shape 380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28</a:t>
            </a:fld>
            <a:endParaRPr/>
          </a:p>
        </p:txBody>
      </p:sp>
      <p:sp>
        <p:nvSpPr>
          <p:cNvPr id="381" name="Shape 381"/>
          <p:cNvSpPr txBox="1"/>
          <p:nvPr/>
        </p:nvSpPr>
        <p:spPr>
          <a:xfrm>
            <a:off x="795337" y="1042987"/>
            <a:ext cx="52673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bin"/>
              <a:buNone/>
            </a:pPr>
            <a:r>
              <a:rPr lang="pt-BR" sz="3600" b="0" i="0" u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Multas e Autuações do Min. Do Trabalho e Previdência Social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 txBox="1">
            <a:spLocks noGrp="1"/>
          </p:cNvSpPr>
          <p:nvPr>
            <p:ph type="body" idx="1"/>
          </p:nvPr>
        </p:nvSpPr>
        <p:spPr>
          <a:xfrm>
            <a:off x="401637" y="2968625"/>
            <a:ext cx="6022975" cy="484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chemeClr val="dk2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Nos escritórios contábeis, pode incluir valores para reprocessamento de declarações e documentos</a:t>
            </a:r>
            <a:endParaRPr/>
          </a:p>
          <a:p>
            <a:pPr marL="229500" marR="0" lvl="0" indent="-112659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highlight>
                <a:srgbClr val="FFFF00"/>
              </a:highlight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Guia de FGTS/GFIP = R$ 50,00</a:t>
            </a:r>
            <a:endParaRPr/>
          </a:p>
          <a:p>
            <a:pPr marL="229500" marR="0" lvl="0" indent="-2295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Folha de Pagamento = R$ 100,00</a:t>
            </a:r>
            <a:endParaRPr/>
          </a:p>
          <a:p>
            <a:pPr marL="229500" marR="0" lvl="0" indent="-2295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Declarações Acessórias (RAIS, DIRF, CAGED) = R$ 100,00 por declaração</a:t>
            </a:r>
            <a:endParaRPr/>
          </a:p>
          <a:p>
            <a:pPr marL="229500" marR="0" lvl="0" indent="-22950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chemeClr val="accent2"/>
              </a:buClr>
              <a:buSzPts val="1840"/>
              <a:buFont typeface="Noto Sans Symbols"/>
              <a:buChar char="◼"/>
            </a:pPr>
            <a:r>
              <a:rPr lang="pt-BR" sz="2000" b="0" i="0" u="none" strike="noStrike" cap="none">
                <a:solidFill>
                  <a:schemeClr val="dk2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Inclua o que desejar... </a:t>
            </a:r>
            <a:endParaRPr/>
          </a:p>
        </p:txBody>
      </p:sp>
      <p:sp>
        <p:nvSpPr>
          <p:cNvPr id="387" name="Shape 387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29</a:t>
            </a:fld>
            <a:endParaRPr/>
          </a:p>
        </p:txBody>
      </p:sp>
      <p:sp>
        <p:nvSpPr>
          <p:cNvPr id="388" name="Shape 388"/>
          <p:cNvSpPr txBox="1"/>
          <p:nvPr/>
        </p:nvSpPr>
        <p:spPr>
          <a:xfrm>
            <a:off x="581025" y="971550"/>
            <a:ext cx="5846762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bin"/>
              <a:buNone/>
            </a:pPr>
            <a:r>
              <a:rPr lang="pt-BR" sz="3600" b="0" i="0" u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Reprocessamento de Declarações e Documentos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INCLUA NOVAS PÁGINAS NESTA CARTILHA E PERSONALIZE!</a:t>
            </a:r>
            <a:endParaRPr/>
          </a:p>
        </p:txBody>
      </p:sp>
      <p:sp>
        <p:nvSpPr>
          <p:cNvPr id="394" name="Shape 394"/>
          <p:cNvSpPr txBox="1">
            <a:spLocks noGrp="1"/>
          </p:cNvSpPr>
          <p:nvPr>
            <p:ph type="body" idx="1"/>
          </p:nvPr>
        </p:nvSpPr>
        <p:spPr>
          <a:xfrm>
            <a:off x="719137" y="3097212"/>
            <a:ext cx="5145087" cy="536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9500" marR="0" lvl="0" indent="-229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8"/>
              <a:buFont typeface="Noto Sans Symbols"/>
              <a:buChar char="◼"/>
            </a:pPr>
            <a:r>
              <a:rPr lang="pt-BR" sz="2400" b="0" i="0" u="none" strike="noStrike" cap="none" dirty="0">
                <a:solidFill>
                  <a:srgbClr val="FF0000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*** Exclua esta página caso utilize este modelo ***</a:t>
            </a:r>
            <a:endParaRPr dirty="0"/>
          </a:p>
          <a:p>
            <a:pPr marL="229500" marR="0" lvl="0" indent="-1243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 strike="noStrike" cap="none" dirty="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 dirty="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Aqui você coloca os textos para os </a:t>
            </a:r>
            <a:r>
              <a:rPr lang="pt-BR" sz="1800" b="1" i="0" u="none" strike="noStrike" cap="none" dirty="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novos procedimentos </a:t>
            </a:r>
            <a:r>
              <a:rPr lang="pt-BR" sz="1800" b="0" i="0" u="none" strike="noStrike" cap="none" dirty="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 </a:t>
            </a:r>
            <a:r>
              <a:rPr lang="pt-BR" sz="1800" b="0" i="0" u="none" strike="noStrike" cap="none" dirty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vá abrindo quantas páginas forem necessárias para incluir as informações</a:t>
            </a:r>
            <a:r>
              <a:rPr lang="pt-BR" sz="1800" b="0" i="0" u="none" strike="noStrike" cap="none" dirty="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. </a:t>
            </a:r>
            <a:endParaRPr dirty="0"/>
          </a:p>
          <a:p>
            <a:pPr marL="229500" marR="0" lvl="0" indent="-1243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 strike="noStrike" cap="none" dirty="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 dirty="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Seja breve em cada item, use linguagem clara e direta, sem citar muitos detalhes de legislação, para que o empregador/gestor entenda o que precisa ser feito.</a:t>
            </a:r>
            <a:endParaRPr dirty="0"/>
          </a:p>
          <a:p>
            <a:pPr marL="229500" marR="0" lvl="0" indent="-1243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 strike="noStrike" cap="none" dirty="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marR="0" lvl="0" indent="-229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</a:pPr>
            <a:r>
              <a:rPr lang="pt-BR" sz="1800" b="0" i="0" u="none" strike="noStrike" cap="none" dirty="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Espero que tenha sido útil.</a:t>
            </a:r>
            <a:endParaRPr dirty="0"/>
          </a:p>
          <a:p>
            <a:pPr marL="229500" marR="0" lvl="0" indent="-12434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None/>
            </a:pPr>
            <a:endParaRPr sz="1800" b="0" i="0" u="none" strike="noStrike" cap="none" dirty="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9500" lvl="0" indent="-229500">
              <a:spcBef>
                <a:spcPts val="360"/>
              </a:spcBef>
              <a:buSzPts val="1656"/>
            </a:pPr>
            <a:r>
              <a:rPr lang="pt-BR" sz="1800" b="1" dirty="0"/>
              <a:t>Inscreva-se no nosso novo Curso Online, Formação Analista em </a:t>
            </a:r>
            <a:r>
              <a:rPr lang="pt-BR" sz="1800" b="1" dirty="0" err="1"/>
              <a:t>Esocial</a:t>
            </a:r>
            <a:r>
              <a:rPr lang="pt-BR" sz="1800" b="1" dirty="0"/>
              <a:t>, acesse: </a:t>
            </a:r>
            <a:r>
              <a:rPr lang="pt-BR" sz="1800" dirty="0">
                <a:hlinkClick r:id="rId3"/>
              </a:rPr>
              <a:t>http://bit.ly/formacaoanalistaesocial</a:t>
            </a:r>
            <a:endParaRPr lang="pt-BR" sz="1800" dirty="0"/>
          </a:p>
          <a:p>
            <a:pPr marL="229500" lvl="0" indent="-229500">
              <a:spcBef>
                <a:spcPts val="360"/>
              </a:spcBef>
              <a:buSzPts val="1656"/>
            </a:pPr>
            <a:endParaRPr dirty="0"/>
          </a:p>
        </p:txBody>
      </p:sp>
      <p:sp>
        <p:nvSpPr>
          <p:cNvPr id="395" name="Shape 395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 txBox="1">
            <a:spLocks noGrp="1"/>
          </p:cNvSpPr>
          <p:nvPr>
            <p:ph type="title"/>
          </p:nvPr>
        </p:nvSpPr>
        <p:spPr>
          <a:xfrm>
            <a:off x="436562" y="915987"/>
            <a:ext cx="5991225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bin"/>
              <a:buNone/>
            </a:pPr>
            <a:r>
              <a:rPr lang="pt-BR"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TERMO DE RESPONSABILIDADE</a:t>
            </a:r>
            <a:endParaRPr/>
          </a:p>
        </p:txBody>
      </p:sp>
      <p:sp>
        <p:nvSpPr>
          <p:cNvPr id="401" name="Shape 401"/>
          <p:cNvSpPr txBox="1">
            <a:spLocks noGrp="1"/>
          </p:cNvSpPr>
          <p:nvPr>
            <p:ph type="body" idx="1"/>
          </p:nvPr>
        </p:nvSpPr>
        <p:spPr>
          <a:xfrm>
            <a:off x="790575" y="3276600"/>
            <a:ext cx="5311775" cy="521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</a:pPr>
            <a:r>
              <a:rPr lang="pt-BR" sz="13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Eu ____________________, declaro que recebi a cartilha com os novos procedimentos a serem seguidos em função do eSocial.</a:t>
            </a:r>
            <a:endParaRPr/>
          </a:p>
          <a:p>
            <a:pPr marL="228600" marR="0" lvl="0" indent="-152654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None/>
            </a:pPr>
            <a:endParaRPr sz="1300" b="1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</a:pPr>
            <a:r>
              <a:rPr lang="pt-BR" sz="13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comprometo-me a enviar as informações conforme as novas normas previstas nesta Cartilha – em função da implantação do eSocial.</a:t>
            </a:r>
            <a:endParaRPr/>
          </a:p>
          <a:p>
            <a:pPr marL="228600" marR="0" lvl="0" indent="-152654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None/>
            </a:pPr>
            <a:endParaRPr sz="1300" b="1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</a:pPr>
            <a:r>
              <a:rPr lang="pt-BR" sz="13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Declaro estar ciente do risco de autuação, isentando a empresa de qualquer responsabilidade jurídica e civil, caso não envie as informações conforme previsto e também ciente do pagamento adicional em caso de retrabalho.</a:t>
            </a:r>
            <a:endParaRPr/>
          </a:p>
          <a:p>
            <a:pPr marL="228600" marR="0" lvl="0" indent="-152654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None/>
            </a:pPr>
            <a:endParaRPr sz="1300" b="1" i="0" u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</a:pPr>
            <a:r>
              <a:rPr lang="pt-BR" sz="13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Local, data: ______. ___/___/____.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accent2"/>
              </a:buClr>
              <a:buSzPts val="1196"/>
              <a:buFont typeface="Noto Sans Symbols"/>
              <a:buChar char="◼"/>
            </a:pPr>
            <a:r>
              <a:rPr lang="pt-BR" sz="1300" b="1" i="0" u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Assinatura: ____________________</a:t>
            </a:r>
            <a:endParaRPr/>
          </a:p>
        </p:txBody>
      </p:sp>
      <p:sp>
        <p:nvSpPr>
          <p:cNvPr id="402" name="Shape 402"/>
          <p:cNvSpPr txBox="1"/>
          <p:nvPr/>
        </p:nvSpPr>
        <p:spPr>
          <a:xfrm>
            <a:off x="5849937" y="7942262"/>
            <a:ext cx="5778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200"/>
              <a:buFont typeface="Century Gothic"/>
              <a:buNone/>
            </a:pPr>
            <a:fld id="{00000000-1234-1234-1234-123412341234}" type="slidenum">
              <a:rPr lang="pt-BR" sz="1200" b="0" i="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31</a:t>
            </a:fld>
            <a:endParaRPr/>
          </a:p>
        </p:txBody>
      </p:sp>
      <p:sp>
        <p:nvSpPr>
          <p:cNvPr id="403" name="Shape 403"/>
          <p:cNvSpPr/>
          <p:nvPr/>
        </p:nvSpPr>
        <p:spPr>
          <a:xfrm>
            <a:off x="590550" y="2724150"/>
            <a:ext cx="2835275" cy="1165225"/>
          </a:xfrm>
          <a:prstGeom prst="rect">
            <a:avLst/>
          </a:prstGeom>
          <a:solidFill>
            <a:schemeClr val="lt1"/>
          </a:solidFill>
          <a:ln w="22225" cap="rnd" cmpd="sng">
            <a:solidFill>
              <a:srgbClr val="380E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abin"/>
              <a:buNone/>
            </a:pPr>
            <a:r>
              <a:rPr lang="pt-BR" sz="1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Cabin"/>
                <a:ea typeface="Cabin"/>
                <a:cs typeface="Cabin"/>
                <a:sym typeface="Cabin"/>
              </a:rPr>
              <a:t>Este  termo é para ser  assinado e deixado com o gestor do eSocial. ALTERE COMO DESEJAR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9_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2779</Words>
  <Application>Microsoft Office PowerPoint</Application>
  <PresentationFormat>Apresentação na tela (4:3)</PresentationFormat>
  <Paragraphs>295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31</vt:i4>
      </vt:variant>
    </vt:vector>
  </HeadingPairs>
  <TitlesOfParts>
    <vt:vector size="46" baseType="lpstr">
      <vt:lpstr>Arial</vt:lpstr>
      <vt:lpstr>Cabin</vt:lpstr>
      <vt:lpstr>Calibri</vt:lpstr>
      <vt:lpstr>Noto Sans Symbols</vt:lpstr>
      <vt:lpstr>Century Gothic</vt:lpstr>
      <vt:lpstr>1_Dividendo</vt:lpstr>
      <vt:lpstr>2_Dividendo</vt:lpstr>
      <vt:lpstr>Dividendo</vt:lpstr>
      <vt:lpstr>3_Dividendo</vt:lpstr>
      <vt:lpstr>4_Dividendo</vt:lpstr>
      <vt:lpstr>5_Dividendo</vt:lpstr>
      <vt:lpstr>6_Dividendo</vt:lpstr>
      <vt:lpstr>7_Dividendo</vt:lpstr>
      <vt:lpstr>8_Dividendo</vt:lpstr>
      <vt:lpstr>9_Dividendo</vt:lpstr>
      <vt:lpstr>CARTILHA ESOCIAL</vt:lpstr>
      <vt:lpstr>SOBRE A DESENVOLVEDORA DESTA CARTILHA</vt:lpstr>
      <vt:lpstr>PARA QUEM SERVE ESTA CARTILHA?</vt:lpstr>
      <vt:lpstr>PARA QUE SERVE ESSA CARTILHA?</vt:lpstr>
      <vt:lpstr>O QUE É O ESOCIAL?</vt:lpstr>
      <vt:lpstr>QUAIS OS OBJETIVOS DO ESOCIAL?</vt:lpstr>
      <vt:lpstr>ESOCIAL</vt:lpstr>
      <vt:lpstr>ADMISSÕES</vt:lpstr>
      <vt:lpstr>DESLIGAMENTOS</vt:lpstr>
      <vt:lpstr>FOLHA DE PAGAMENTO</vt:lpstr>
      <vt:lpstr>DECLARAÇÃO DE ENCARGOS DE FAMÍLIA PARA FINS DE IMPOSTO DE RENDA</vt:lpstr>
      <vt:lpstr>ALTERAÇÕES CADASTRAIS</vt:lpstr>
      <vt:lpstr>CONTRATAÇÃO DE ESTRANGEIROS</vt:lpstr>
      <vt:lpstr>FÉRIAS</vt:lpstr>
      <vt:lpstr>AFASTAMENTOS</vt:lpstr>
      <vt:lpstr>EMENDAR FÉRIAS COM AFASTAMENTOS A PARTIR DE 30 DIAS</vt:lpstr>
      <vt:lpstr>CONTRATAÇÃO DE AUTÔNOMOS</vt:lpstr>
      <vt:lpstr>CONTRATAÇÃO DE MEI – MICROEMPREENDEDOR INDIVIDUAL</vt:lpstr>
      <vt:lpstr>EXAMES MÉDICOS</vt:lpstr>
      <vt:lpstr>LTCAT – LAUDO TÉCNICO DAS CONDIÇÕES AMBIENTAIS DE TRABALHO</vt:lpstr>
      <vt:lpstr>CAT – COMUNICAÇÃO DE ACIDENTE DE TRABALHO E PPP – PERFIL PROFISSIOGRÁFICO PREVIDENCIÁRIO</vt:lpstr>
      <vt:lpstr>CONTRATAÇÃO DE ESTAGIÁRIOS</vt:lpstr>
      <vt:lpstr>COTAS DE APRENDIZES E PESSOAS COM DEFICIÊNCIA (PCD)</vt:lpstr>
      <vt:lpstr>CONSELHEIROS TUTELARES</vt:lpstr>
      <vt:lpstr>PROCESSOS ADMINISTRATIVOS E JUDICIAIS</vt:lpstr>
      <vt:lpstr>TRIBUTAÇÕES E CLÁUSULAS DE CONVENÇÃO COLETIVA</vt:lpstr>
      <vt:lpstr>MULTAS E AUTUAÇÕES DO MINISTÉRIO DO TRABALHO E PREVIDÊNCIA SOCIAL</vt:lpstr>
      <vt:lpstr>Apresentação do PowerPoint</vt:lpstr>
      <vt:lpstr>Apresentação do PowerPoint</vt:lpstr>
      <vt:lpstr>INCLUA NOVAS PÁGINAS NESTA CARTILHA E PERSONALIZE!</vt:lpstr>
      <vt:lpstr>TERMO DE RESPONSABILIDADE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CARTILHA ESOCIAL</dc:title>
  <dc:creator>Thaís Colman</dc:creator>
  <cp:lastModifiedBy>Thaís Colman</cp:lastModifiedBy>
  <cp:revision>4</cp:revision>
  <dcterms:modified xsi:type="dcterms:W3CDTF">2019-01-22T21:57:40Z</dcterms:modified>
</cp:coreProperties>
</file>