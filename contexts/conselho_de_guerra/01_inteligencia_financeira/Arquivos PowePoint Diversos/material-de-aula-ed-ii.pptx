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0"/>
  </p:notesMasterIdLst>
  <p:sldIdLst>
    <p:sldId id="256" r:id="rId2"/>
    <p:sldId id="266" r:id="rId3"/>
    <p:sldId id="286" r:id="rId4"/>
    <p:sldId id="362" r:id="rId5"/>
    <p:sldId id="282" r:id="rId6"/>
    <p:sldId id="283" r:id="rId7"/>
    <p:sldId id="284" r:id="rId8"/>
    <p:sldId id="285" r:id="rId9"/>
    <p:sldId id="300" r:id="rId10"/>
    <p:sldId id="297" r:id="rId11"/>
    <p:sldId id="298" r:id="rId12"/>
    <p:sldId id="301" r:id="rId13"/>
    <p:sldId id="287" r:id="rId14"/>
    <p:sldId id="289" r:id="rId15"/>
    <p:sldId id="290" r:id="rId16"/>
    <p:sldId id="291" r:id="rId17"/>
    <p:sldId id="288" r:id="rId18"/>
    <p:sldId id="292" r:id="rId19"/>
    <p:sldId id="313" r:id="rId20"/>
    <p:sldId id="316" r:id="rId21"/>
    <p:sldId id="314" r:id="rId22"/>
    <p:sldId id="315" r:id="rId23"/>
    <p:sldId id="317" r:id="rId24"/>
    <p:sldId id="293" r:id="rId25"/>
    <p:sldId id="294" r:id="rId26"/>
    <p:sldId id="295" r:id="rId27"/>
    <p:sldId id="296" r:id="rId28"/>
    <p:sldId id="302" r:id="rId29"/>
    <p:sldId id="303" r:id="rId30"/>
    <p:sldId id="304" r:id="rId31"/>
    <p:sldId id="305" r:id="rId32"/>
    <p:sldId id="306" r:id="rId33"/>
    <p:sldId id="307" r:id="rId34"/>
    <p:sldId id="308" r:id="rId35"/>
    <p:sldId id="310" r:id="rId36"/>
    <p:sldId id="311" r:id="rId37"/>
    <p:sldId id="312" r:id="rId38"/>
    <p:sldId id="324" r:id="rId39"/>
    <p:sldId id="364" r:id="rId40"/>
    <p:sldId id="318" r:id="rId41"/>
    <p:sldId id="319" r:id="rId42"/>
    <p:sldId id="365" r:id="rId43"/>
    <p:sldId id="366" r:id="rId44"/>
    <p:sldId id="320" r:id="rId45"/>
    <p:sldId id="321" r:id="rId46"/>
    <p:sldId id="326" r:id="rId47"/>
    <p:sldId id="325" r:id="rId48"/>
    <p:sldId id="341" r:id="rId49"/>
    <p:sldId id="327" r:id="rId50"/>
    <p:sldId id="328" r:id="rId51"/>
    <p:sldId id="342" r:id="rId52"/>
    <p:sldId id="329" r:id="rId53"/>
    <p:sldId id="343" r:id="rId54"/>
    <p:sldId id="363" r:id="rId55"/>
    <p:sldId id="330" r:id="rId56"/>
    <p:sldId id="344" r:id="rId57"/>
    <p:sldId id="345" r:id="rId58"/>
    <p:sldId id="346" r:id="rId59"/>
    <p:sldId id="348" r:id="rId60"/>
    <p:sldId id="349" r:id="rId61"/>
    <p:sldId id="350" r:id="rId62"/>
    <p:sldId id="331" r:id="rId63"/>
    <p:sldId id="332" r:id="rId64"/>
    <p:sldId id="333" r:id="rId65"/>
    <p:sldId id="334" r:id="rId66"/>
    <p:sldId id="335" r:id="rId67"/>
    <p:sldId id="361" r:id="rId68"/>
    <p:sldId id="336" r:id="rId69"/>
    <p:sldId id="337" r:id="rId70"/>
    <p:sldId id="351" r:id="rId71"/>
    <p:sldId id="357" r:id="rId72"/>
    <p:sldId id="358" r:id="rId73"/>
    <p:sldId id="352" r:id="rId74"/>
    <p:sldId id="353" r:id="rId75"/>
    <p:sldId id="354" r:id="rId76"/>
    <p:sldId id="355" r:id="rId77"/>
    <p:sldId id="359" r:id="rId78"/>
    <p:sldId id="360"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87EA36-71F3-4F5D-A9C7-9BE7DF9F2F21}" type="datetimeFigureOut">
              <a:rPr lang="pt-BR" smtClean="0"/>
              <a:t>23/10/2017</a:t>
            </a:fld>
            <a:endParaRPr lang="pt-BR" dirty="0"/>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2C0769-54C7-4CE6-8642-9F1AAF09A636}" type="slidenum">
              <a:rPr lang="pt-BR" smtClean="0"/>
              <a:t>‹nº›</a:t>
            </a:fld>
            <a:endParaRPr lang="pt-BR" dirty="0"/>
          </a:p>
        </p:txBody>
      </p:sp>
    </p:spTree>
    <p:extLst>
      <p:ext uri="{BB962C8B-B14F-4D97-AF65-F5344CB8AC3E}">
        <p14:creationId xmlns:p14="http://schemas.microsoft.com/office/powerpoint/2010/main" val="3067927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3A2C0769-54C7-4CE6-8642-9F1AAF09A636}" type="slidenum">
              <a:rPr lang="pt-BR" smtClean="0"/>
              <a:t>2</a:t>
            </a:fld>
            <a:endParaRPr lang="pt-BR" dirty="0"/>
          </a:p>
        </p:txBody>
      </p:sp>
    </p:spTree>
    <p:extLst>
      <p:ext uri="{BB962C8B-B14F-4D97-AF65-F5344CB8AC3E}">
        <p14:creationId xmlns:p14="http://schemas.microsoft.com/office/powerpoint/2010/main" val="29547060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8" name="Imagem 7" descr="fundo_full.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589213" y="2514600"/>
            <a:ext cx="8915399" cy="2262781"/>
          </a:xfrm>
        </p:spPr>
        <p:txBody>
          <a:bodyPr anchor="b">
            <a:normAutofit/>
          </a:bodyPr>
          <a:lstStyle>
            <a:lvl1pPr>
              <a:defRPr sz="4800">
                <a:latin typeface="Arial" panose="020B0604020202020204" pitchFamily="34" charset="0"/>
                <a:cs typeface="Arial" panose="020B0604020202020204" pitchFamily="34" charset="0"/>
              </a:defRPr>
            </a:lvl1pPr>
          </a:lstStyle>
          <a:p>
            <a:r>
              <a:rPr lang="pt-BR" dirty="0" smtClean="0"/>
              <a:t>Clique para editar o título mestre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rgbClr val="002060"/>
          </a:solidFill>
          <a:ln>
            <a:noFill/>
          </a:ln>
        </p:spPr>
      </p:sp>
      <p:sp>
        <p:nvSpPr>
          <p:cNvPr id="6" name="Slide Number Placeholder 5"/>
          <p:cNvSpPr>
            <a:spLocks noGrp="1"/>
          </p:cNvSpPr>
          <p:nvPr>
            <p:ph type="sldNum" sz="quarter" idx="12"/>
          </p:nvPr>
        </p:nvSpPr>
        <p:spPr>
          <a:xfrm>
            <a:off x="531812" y="4529540"/>
            <a:ext cx="779767" cy="365125"/>
          </a:xfrm>
        </p:spPr>
        <p:txBody>
          <a:bodyPr/>
          <a:lstStyle>
            <a:lvl1pPr>
              <a:defRPr>
                <a:solidFill>
                  <a:schemeClr val="bg1"/>
                </a:solidFill>
              </a:defRPr>
            </a:lvl1pPr>
          </a:lstStyle>
          <a:p>
            <a:fld id="{D57F1E4F-1CFF-5643-939E-217C01CDF565}" type="slidenum">
              <a:rPr lang="en-US" smtClean="0"/>
              <a:pPr/>
              <a:t>‹nº›</a:t>
            </a:fld>
            <a:endParaRPr lang="en-US" dirty="0"/>
          </a:p>
        </p:txBody>
      </p:sp>
      <p:pic>
        <p:nvPicPr>
          <p:cNvPr id="9" name="Imagem 8"/>
          <p:cNvPicPr>
            <a:picLocks noChangeAspect="1"/>
          </p:cNvPicPr>
          <p:nvPr userDrawn="1"/>
        </p:nvPicPr>
        <p:blipFill>
          <a:blip r:embed="rId3"/>
          <a:stretch>
            <a:fillRect/>
          </a:stretch>
        </p:blipFill>
        <p:spPr>
          <a:xfrm>
            <a:off x="10800781" y="265566"/>
            <a:ext cx="1258437" cy="125843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4" name="Retângulo 3"/>
          <p:cNvSpPr/>
          <p:nvPr userDrawn="1"/>
        </p:nvSpPr>
        <p:spPr>
          <a:xfrm>
            <a:off x="0" y="0"/>
            <a:ext cx="392112" cy="6858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itle 1"/>
          <p:cNvSpPr>
            <a:spLocks noGrp="1"/>
          </p:cNvSpPr>
          <p:nvPr>
            <p:ph type="title"/>
          </p:nvPr>
        </p:nvSpPr>
        <p:spPr>
          <a:xfrm>
            <a:off x="1676400" y="624110"/>
            <a:ext cx="10363199" cy="760190"/>
          </a:xfrm>
        </p:spPr>
        <p:txBody>
          <a:bodyPr>
            <a:normAutofit/>
          </a:bodyPr>
          <a:lstStyle>
            <a:lvl1pPr algn="just">
              <a:defRPr sz="2400" b="1">
                <a:latin typeface="Arial" panose="020B0604020202020204" pitchFamily="34" charset="0"/>
                <a:cs typeface="Arial" panose="020B0604020202020204" pitchFamily="34" charset="0"/>
              </a:defRPr>
            </a:lvl1pPr>
          </a:lstStyle>
          <a:p>
            <a:r>
              <a:rPr lang="pt-BR" smtClean="0"/>
              <a:t>Clique para editar o título mestre</a:t>
            </a:r>
            <a:endParaRPr lang="en-US" dirty="0"/>
          </a:p>
        </p:txBody>
      </p:sp>
      <p:sp>
        <p:nvSpPr>
          <p:cNvPr id="3" name="Content Placeholder 2"/>
          <p:cNvSpPr>
            <a:spLocks noGrp="1"/>
          </p:cNvSpPr>
          <p:nvPr>
            <p:ph idx="1"/>
          </p:nvPr>
        </p:nvSpPr>
        <p:spPr>
          <a:xfrm>
            <a:off x="1676399" y="1498600"/>
            <a:ext cx="10363199" cy="5143500"/>
          </a:xfrm>
        </p:spPr>
        <p:txBody>
          <a:bodyPr/>
          <a:lstStyle>
            <a:lvl1pPr algn="just">
              <a:defRPr>
                <a:latin typeface="Arial" panose="020B0604020202020204" pitchFamily="34" charset="0"/>
                <a:cs typeface="Arial" panose="020B0604020202020204" pitchFamily="34" charset="0"/>
              </a:defRPr>
            </a:lvl1pPr>
            <a:lvl2pPr algn="just">
              <a:defRPr>
                <a:latin typeface="Arial" panose="020B0604020202020204" pitchFamily="34" charset="0"/>
                <a:cs typeface="Arial" panose="020B0604020202020204" pitchFamily="34" charset="0"/>
              </a:defRPr>
            </a:lvl2pPr>
            <a:lvl3pPr algn="just">
              <a:defRPr>
                <a:latin typeface="Arial" panose="020B0604020202020204" pitchFamily="34" charset="0"/>
                <a:cs typeface="Arial" panose="020B0604020202020204" pitchFamily="34" charset="0"/>
              </a:defRPr>
            </a:lvl3pPr>
            <a:lvl4pPr algn="just">
              <a:defRPr>
                <a:latin typeface="Arial" panose="020B0604020202020204" pitchFamily="34" charset="0"/>
                <a:cs typeface="Arial" panose="020B0604020202020204" pitchFamily="34" charset="0"/>
              </a:defRPr>
            </a:lvl4pPr>
            <a:lvl5pPr algn="just">
              <a:defRPr>
                <a:latin typeface="Arial" panose="020B0604020202020204" pitchFamily="34" charset="0"/>
                <a:cs typeface="Arial" panose="020B0604020202020204" pitchFamily="34" charset="0"/>
              </a:defRPr>
            </a:lvl5pPr>
          </a:lstStyle>
          <a:p>
            <a:pPr lvl="0"/>
            <a:r>
              <a:rPr lang="pt-BR" dirty="0" smtClean="0"/>
              <a:t>Clique para editar o texto mestre</a:t>
            </a:r>
          </a:p>
          <a:p>
            <a:pPr lvl="1"/>
            <a:r>
              <a:rPr lang="pt-BR" dirty="0" smtClean="0"/>
              <a:t>Segundo nível</a:t>
            </a:r>
          </a:p>
          <a:p>
            <a:pPr lvl="2"/>
            <a:r>
              <a:rPr lang="pt-BR" dirty="0" smtClean="0"/>
              <a:t>Terceiro nível</a:t>
            </a:r>
          </a:p>
          <a:p>
            <a:pPr lvl="3"/>
            <a:r>
              <a:rPr lang="pt-BR" dirty="0" smtClean="0"/>
              <a:t>Quarto nível</a:t>
            </a:r>
          </a:p>
          <a:p>
            <a:pPr lvl="4"/>
            <a:r>
              <a:rPr lang="pt-BR" dirty="0" smtClean="0"/>
              <a:t>Quinto nível</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002060"/>
          </a:solidFill>
          <a:ln>
            <a:solidFill>
              <a:srgbClr val="002060"/>
            </a:solidFill>
          </a:ln>
        </p:spPr>
      </p:sp>
      <p:sp>
        <p:nvSpPr>
          <p:cNvPr id="6" name="Slide Number Placeholder 5"/>
          <p:cNvSpPr>
            <a:spLocks noGrp="1"/>
          </p:cNvSpPr>
          <p:nvPr>
            <p:ph type="sldNum" sz="quarter" idx="12"/>
          </p:nvPr>
        </p:nvSpPr>
        <p:spPr>
          <a:solidFill>
            <a:srgbClr val="002060"/>
          </a:solidFill>
          <a:ln>
            <a:solidFill>
              <a:srgbClr val="002060"/>
            </a:solidFill>
          </a:ln>
        </p:spPr>
        <p:txBody>
          <a:bodyPr/>
          <a:lstStyle>
            <a:lvl1pPr>
              <a:defRPr b="1">
                <a:solidFill>
                  <a:schemeClr val="bg1"/>
                </a:solidFill>
              </a:defRPr>
            </a:lvl1pPr>
          </a:lstStyle>
          <a:p>
            <a:fld id="{D57F1E4F-1CFF-5643-939E-217C01CDF565}" type="slidenum">
              <a:rPr lang="en-US" smtClean="0"/>
              <a:pPr/>
              <a:t>‹nº›</a:t>
            </a:fld>
            <a:endParaRPr lang="en-US" dirty="0"/>
          </a:p>
        </p:txBody>
      </p:sp>
      <p:pic>
        <p:nvPicPr>
          <p:cNvPr id="7" name="Imagem 6"/>
          <p:cNvPicPr>
            <a:picLocks noChangeAspect="1"/>
          </p:cNvPicPr>
          <p:nvPr userDrawn="1"/>
        </p:nvPicPr>
        <p:blipFill>
          <a:blip r:embed="rId2"/>
          <a:stretch>
            <a:fillRect/>
          </a:stretch>
        </p:blipFill>
        <p:spPr>
          <a:xfrm>
            <a:off x="531812" y="25210"/>
            <a:ext cx="652464" cy="65246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pt-BR" smtClean="0"/>
              <a:t>Clique para editar o título mestre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smtClean="0"/>
              <a:t>Clique para editar o título mestre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pt-BR" smtClean="0"/>
              <a:t>Clique para editar o título mestre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dirty="0" smtClean="0"/>
              <a:t>Clique no ícone para adicionar uma imagem</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smtClean="0"/>
              <a:t>Clique para editar o título mestre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pt-BR" smtClean="0"/>
              <a:t>Clique para editar o título mestre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Clique para editar o texto mestre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smtClean="0"/>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Clique para editar o texto mestre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pt-BR" smtClean="0"/>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Clique para editar o texto mestre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pt-BR" smtClean="0"/>
              <a:t>Clique para editar o título mestre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pPr algn="ctr"/>
            <a:r>
              <a:rPr lang="pt-BR" sz="4400" dirty="0" smtClean="0"/>
              <a:t>ESTRUTURA DAS DEMONSTRAÇÕES CONTÁBEIS II</a:t>
            </a:r>
            <a:r>
              <a:rPr lang="pt-BR" dirty="0" smtClean="0"/>
              <a:t/>
            </a:r>
            <a:br>
              <a:rPr lang="pt-BR" dirty="0" smtClean="0"/>
            </a:br>
            <a:r>
              <a:rPr lang="pt-BR" dirty="0"/>
              <a:t/>
            </a:r>
            <a:br>
              <a:rPr lang="pt-BR" dirty="0"/>
            </a:br>
            <a:r>
              <a:rPr lang="pt-BR" sz="2000" dirty="0" smtClean="0"/>
              <a:t>Parte 1 – Demonstração do Fluxo de Caixa</a:t>
            </a:r>
            <a:endParaRPr lang="pt-BR" dirty="0"/>
          </a:p>
        </p:txBody>
      </p:sp>
      <p:sp>
        <p:nvSpPr>
          <p:cNvPr id="3" name="Subtítulo 2"/>
          <p:cNvSpPr>
            <a:spLocks noGrp="1"/>
          </p:cNvSpPr>
          <p:nvPr>
            <p:ph type="subTitle" idx="1"/>
          </p:nvPr>
        </p:nvSpPr>
        <p:spPr>
          <a:xfrm>
            <a:off x="8796270" y="6118081"/>
            <a:ext cx="3339406" cy="669083"/>
          </a:xfrm>
        </p:spPr>
        <p:txBody>
          <a:bodyPr>
            <a:normAutofit/>
          </a:bodyPr>
          <a:lstStyle/>
          <a:p>
            <a:pPr algn="r"/>
            <a:r>
              <a:rPr lang="pt-BR" sz="1100" dirty="0" smtClean="0"/>
              <a:t>Professor: Emerson Braz de Azevedo</a:t>
            </a:r>
          </a:p>
          <a:p>
            <a:pPr algn="r"/>
            <a:r>
              <a:rPr lang="pt-BR" sz="1100" dirty="0" smtClean="0"/>
              <a:t>E-mail: emerson_braz_Azevedo@Hotmail.com</a:t>
            </a:r>
            <a:endParaRPr lang="pt-BR" sz="1100"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1866837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DEMONSTRAÇÃO DO FLUXO DE CAIXA</a:t>
            </a:r>
            <a:endParaRPr lang="pt-BR" dirty="0"/>
          </a:p>
        </p:txBody>
      </p:sp>
      <p:sp>
        <p:nvSpPr>
          <p:cNvPr id="3" name="Espaço Reservado para Conteúdo 2"/>
          <p:cNvSpPr>
            <a:spLocks noGrp="1"/>
          </p:cNvSpPr>
          <p:nvPr>
            <p:ph idx="1"/>
          </p:nvPr>
        </p:nvSpPr>
        <p:spPr/>
        <p:txBody>
          <a:bodyPr>
            <a:normAutofit/>
          </a:bodyPr>
          <a:lstStyle/>
          <a:p>
            <a:r>
              <a:rPr lang="pt-BR" altLang="pt-BR" dirty="0" smtClean="0"/>
              <a:t>Conceito</a:t>
            </a:r>
          </a:p>
          <a:p>
            <a:pPr lvl="1"/>
            <a:r>
              <a:rPr lang="pt-BR" altLang="pt-BR" b="1" dirty="0" smtClean="0">
                <a:solidFill>
                  <a:srgbClr val="333333"/>
                </a:solidFill>
              </a:rPr>
              <a:t>Fluxo </a:t>
            </a:r>
            <a:r>
              <a:rPr lang="pt-BR" altLang="pt-BR" b="1" dirty="0">
                <a:solidFill>
                  <a:srgbClr val="333333"/>
                </a:solidFill>
              </a:rPr>
              <a:t>de caixa</a:t>
            </a:r>
            <a:r>
              <a:rPr lang="pt-BR" altLang="pt-BR" dirty="0">
                <a:solidFill>
                  <a:srgbClr val="333333"/>
                </a:solidFill>
              </a:rPr>
              <a:t> é uma </a:t>
            </a:r>
            <a:r>
              <a:rPr lang="pt-BR" altLang="pt-BR" b="1" dirty="0">
                <a:solidFill>
                  <a:srgbClr val="333333"/>
                </a:solidFill>
              </a:rPr>
              <a:t>ferramenta </a:t>
            </a:r>
            <a:r>
              <a:rPr lang="pt-BR" altLang="pt-BR" dirty="0">
                <a:solidFill>
                  <a:srgbClr val="333333"/>
                </a:solidFill>
              </a:rPr>
              <a:t>que </a:t>
            </a:r>
            <a:r>
              <a:rPr lang="pt-BR" altLang="pt-BR" b="1" dirty="0">
                <a:solidFill>
                  <a:srgbClr val="333333"/>
                </a:solidFill>
              </a:rPr>
              <a:t>controla a movimentação financeira</a:t>
            </a:r>
            <a:r>
              <a:rPr lang="pt-BR" altLang="pt-BR" dirty="0">
                <a:solidFill>
                  <a:srgbClr val="333333"/>
                </a:solidFill>
              </a:rPr>
              <a:t> (as</a:t>
            </a:r>
            <a:r>
              <a:rPr lang="pt-BR" altLang="pt-BR" b="1" dirty="0">
                <a:solidFill>
                  <a:srgbClr val="333333"/>
                </a:solidFill>
              </a:rPr>
              <a:t> entradas e saídas</a:t>
            </a:r>
            <a:r>
              <a:rPr lang="pt-BR" altLang="pt-BR" dirty="0">
                <a:solidFill>
                  <a:srgbClr val="333333"/>
                </a:solidFill>
              </a:rPr>
              <a:t> de recursos financeiros), em um período determinado, de uma </a:t>
            </a:r>
            <a:r>
              <a:rPr lang="pt-BR" altLang="pt-BR" dirty="0" smtClean="0">
                <a:solidFill>
                  <a:srgbClr val="333333"/>
                </a:solidFill>
              </a:rPr>
              <a:t>empresa.</a:t>
            </a:r>
          </a:p>
          <a:p>
            <a:pPr lvl="1"/>
            <a:r>
              <a:rPr lang="pt-BR" altLang="pt-BR" dirty="0" smtClean="0">
                <a:solidFill>
                  <a:srgbClr val="333333"/>
                </a:solidFill>
              </a:rPr>
              <a:t>O </a:t>
            </a:r>
            <a:r>
              <a:rPr lang="pt-BR" altLang="pt-BR" dirty="0">
                <a:solidFill>
                  <a:srgbClr val="333333"/>
                </a:solidFill>
              </a:rPr>
              <a:t>fluxo de caixa facilita a gestão de uma empresa no sentido de saber exatamente qual o valor a pagar com as obrigações assumidas, quais os valores a receber e qual será o saldo disponível naquele momento. Denomina-se saldo a diferença entre os recebimentos e os pagamentos</a:t>
            </a:r>
            <a:r>
              <a:rPr lang="pt-BR" altLang="pt-BR" dirty="0" smtClean="0">
                <a:solidFill>
                  <a:srgbClr val="333333"/>
                </a:solidFill>
              </a:rPr>
              <a:t>.</a:t>
            </a:r>
          </a:p>
          <a:p>
            <a:pPr lvl="1"/>
            <a:r>
              <a:rPr lang="pt-BR" altLang="pt-BR" dirty="0"/>
              <a:t>Muitas empresas vão a falência por não saberem administrar seu fluxo de caixa</a:t>
            </a:r>
          </a:p>
          <a:p>
            <a:pPr lvl="1"/>
            <a:r>
              <a:rPr lang="pt-BR" altLang="pt-BR" dirty="0" smtClean="0"/>
              <a:t>Fluxo </a:t>
            </a:r>
            <a:r>
              <a:rPr lang="pt-BR" altLang="pt-BR" dirty="0"/>
              <a:t>significa movimento. Assim, fluxo de caixa pode ser definido como movimento de caixa</a:t>
            </a:r>
          </a:p>
          <a:p>
            <a:pPr lvl="1"/>
            <a:r>
              <a:rPr lang="pt-BR" altLang="pt-BR" dirty="0" smtClean="0"/>
              <a:t>Principais </a:t>
            </a:r>
            <a:r>
              <a:rPr lang="pt-BR" altLang="pt-BR" dirty="0"/>
              <a:t>objetivos desta demonstração:</a:t>
            </a:r>
          </a:p>
          <a:p>
            <a:pPr lvl="2"/>
            <a:r>
              <a:rPr lang="pt-BR" altLang="pt-BR" dirty="0"/>
              <a:t>Avaliar alternativas de investimentos</a:t>
            </a:r>
          </a:p>
          <a:p>
            <a:pPr lvl="2"/>
            <a:r>
              <a:rPr lang="pt-BR" altLang="pt-BR" dirty="0"/>
              <a:t>Avaliar e controlar ao longo do tempo as decisões importantes que são tomadas na empresa, com reflexos monetários.</a:t>
            </a:r>
          </a:p>
          <a:p>
            <a:pPr lvl="2"/>
            <a:r>
              <a:rPr lang="pt-BR" altLang="pt-BR" dirty="0"/>
              <a:t>Avaliar as situações presente e futura do caixa na empresa, posicionando – a para que não chegue a situações de iliquidez.</a:t>
            </a:r>
          </a:p>
          <a:p>
            <a:pPr lvl="2"/>
            <a:r>
              <a:rPr lang="pt-BR" altLang="pt-BR" dirty="0"/>
              <a:t>Certificar que os excessos momentâneos de caixa estão sendo devidamente aplicados.</a:t>
            </a:r>
          </a:p>
          <a:p>
            <a:pPr lvl="1"/>
            <a:endParaRPr lang="pt-BR" altLang="pt-BR" dirty="0">
              <a:solidFill>
                <a:srgbClr val="333333"/>
              </a:solidFill>
            </a:endParaRPr>
          </a:p>
          <a:p>
            <a:pPr lvl="1"/>
            <a:endParaRPr lang="pt-BR" altLang="pt-BR" dirty="0"/>
          </a:p>
          <a:p>
            <a:endParaRPr lang="pt-BR" sz="1600"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1499922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normAutofit/>
          </a:bodyPr>
          <a:lstStyle/>
          <a:p>
            <a:r>
              <a:rPr lang="pt-BR" dirty="0" smtClean="0"/>
              <a:t>Objetivo da DFC</a:t>
            </a:r>
          </a:p>
          <a:p>
            <a:pPr lvl="1"/>
            <a:r>
              <a:rPr lang="pt-BR" altLang="pt-BR" dirty="0"/>
              <a:t>Propiciar explicações das origens e aplicações das Disponibilidades  examinando a mudança no saldo desse </a:t>
            </a:r>
            <a:r>
              <a:rPr lang="pt-BR" altLang="pt-BR" dirty="0" err="1"/>
              <a:t>ítem</a:t>
            </a:r>
            <a:r>
              <a:rPr lang="pt-BR" altLang="pt-BR" dirty="0"/>
              <a:t> do ativo durante o período.</a:t>
            </a:r>
          </a:p>
          <a:p>
            <a:pPr lvl="1"/>
            <a:endParaRPr lang="pt-BR" dirty="0" smtClean="0"/>
          </a:p>
          <a:p>
            <a:pPr lvl="1"/>
            <a:endParaRPr lang="pt-BR" dirty="0"/>
          </a:p>
          <a:p>
            <a:pPr lvl="1"/>
            <a:endParaRPr lang="pt-BR" dirty="0" smtClean="0"/>
          </a:p>
          <a:p>
            <a:pPr lvl="1"/>
            <a:endParaRPr lang="pt-BR" dirty="0"/>
          </a:p>
          <a:p>
            <a:pPr lvl="1"/>
            <a:endParaRPr lang="pt-BR" dirty="0" smtClean="0"/>
          </a:p>
          <a:p>
            <a:r>
              <a:rPr lang="pt-BR" dirty="0" smtClean="0"/>
              <a:t>Informações relevantes da DFC</a:t>
            </a:r>
          </a:p>
          <a:p>
            <a:pPr lvl="1"/>
            <a:r>
              <a:rPr lang="pt-BR" altLang="pt-BR" dirty="0" smtClean="0"/>
              <a:t>Capacidade </a:t>
            </a:r>
            <a:r>
              <a:rPr lang="pt-BR" altLang="pt-BR" dirty="0"/>
              <a:t>da empresa de gerar futuros fluxos positivos de </a:t>
            </a:r>
            <a:r>
              <a:rPr lang="pt-BR" altLang="pt-BR" dirty="0" smtClean="0"/>
              <a:t>caixa;</a:t>
            </a:r>
          </a:p>
          <a:p>
            <a:pPr lvl="1"/>
            <a:r>
              <a:rPr lang="pt-BR" altLang="pt-BR" dirty="0" smtClean="0"/>
              <a:t>Capacidade </a:t>
            </a:r>
            <a:r>
              <a:rPr lang="pt-BR" altLang="pt-BR" dirty="0"/>
              <a:t>de honrar compromissos, pagar dividendos, pagar empréstimos </a:t>
            </a:r>
            <a:r>
              <a:rPr lang="pt-BR" altLang="pt-BR" dirty="0" smtClean="0"/>
              <a:t>obtidos;</a:t>
            </a:r>
          </a:p>
          <a:p>
            <a:pPr lvl="1"/>
            <a:r>
              <a:rPr lang="pt-BR" altLang="pt-BR" dirty="0" smtClean="0"/>
              <a:t>Taxa </a:t>
            </a:r>
            <a:r>
              <a:rPr lang="pt-BR" altLang="pt-BR" dirty="0"/>
              <a:t>de conversão de lucro em </a:t>
            </a:r>
            <a:r>
              <a:rPr lang="pt-BR" altLang="pt-BR" dirty="0" smtClean="0"/>
              <a:t>caixa;</a:t>
            </a:r>
          </a:p>
          <a:p>
            <a:pPr lvl="1"/>
            <a:r>
              <a:rPr lang="pt-BR" altLang="pt-BR" dirty="0" smtClean="0"/>
              <a:t>Efeitos </a:t>
            </a:r>
            <a:r>
              <a:rPr lang="pt-BR" altLang="pt-BR" dirty="0"/>
              <a:t>das transações de investimentos e de financiamento sobre a posição financeira da </a:t>
            </a:r>
            <a:r>
              <a:rPr lang="pt-BR" altLang="pt-BR" dirty="0" smtClean="0"/>
              <a:t>empresa</a:t>
            </a:r>
            <a:endParaRPr lang="pt-BR" alt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6" name="Imagem 5"/>
          <p:cNvPicPr>
            <a:picLocks noChangeAspect="1"/>
          </p:cNvPicPr>
          <p:nvPr/>
        </p:nvPicPr>
        <p:blipFill>
          <a:blip r:embed="rId2"/>
          <a:stretch>
            <a:fillRect/>
          </a:stretch>
        </p:blipFill>
        <p:spPr>
          <a:xfrm>
            <a:off x="2876269" y="2711208"/>
            <a:ext cx="7212193" cy="1152244"/>
          </a:xfrm>
          <a:prstGeom prst="rect">
            <a:avLst/>
          </a:prstGeom>
        </p:spPr>
      </p:pic>
      <p:sp>
        <p:nvSpPr>
          <p:cNvPr id="7" name="CaixaDeTexto 6"/>
          <p:cNvSpPr txBox="1"/>
          <p:nvPr/>
        </p:nvSpPr>
        <p:spPr>
          <a:xfrm>
            <a:off x="2876269" y="3644721"/>
            <a:ext cx="1412396" cy="369332"/>
          </a:xfrm>
          <a:prstGeom prst="rect">
            <a:avLst/>
          </a:prstGeom>
          <a:noFill/>
        </p:spPr>
        <p:txBody>
          <a:bodyPr wrap="square" rtlCol="0">
            <a:spAutoFit/>
          </a:bodyPr>
          <a:lstStyle/>
          <a:p>
            <a:r>
              <a:rPr lang="pt-BR" dirty="0" smtClean="0"/>
              <a:t>31/12/X1</a:t>
            </a:r>
            <a:endParaRPr lang="pt-BR" dirty="0"/>
          </a:p>
        </p:txBody>
      </p:sp>
      <p:sp>
        <p:nvSpPr>
          <p:cNvPr id="8" name="CaixaDeTexto 7"/>
          <p:cNvSpPr txBox="1"/>
          <p:nvPr/>
        </p:nvSpPr>
        <p:spPr>
          <a:xfrm>
            <a:off x="8296128" y="3644721"/>
            <a:ext cx="1412396" cy="369332"/>
          </a:xfrm>
          <a:prstGeom prst="rect">
            <a:avLst/>
          </a:prstGeom>
          <a:noFill/>
        </p:spPr>
        <p:txBody>
          <a:bodyPr wrap="square" rtlCol="0">
            <a:spAutoFit/>
          </a:bodyPr>
          <a:lstStyle/>
          <a:p>
            <a:r>
              <a:rPr lang="pt-BR" dirty="0" smtClean="0"/>
              <a:t>31/12/X2</a:t>
            </a:r>
            <a:endParaRPr lang="pt-BR" dirty="0"/>
          </a:p>
        </p:txBody>
      </p:sp>
    </p:spTree>
    <p:extLst>
      <p:ext uri="{BB962C8B-B14F-4D97-AF65-F5344CB8AC3E}">
        <p14:creationId xmlns:p14="http://schemas.microsoft.com/office/powerpoint/2010/main" val="950997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dirty="0" smtClean="0"/>
              <a:t>Performance financeira refletida pelo fluxos de caixas passados</a:t>
            </a:r>
          </a:p>
          <a:p>
            <a:endParaRPr lang="pt-BR" dirty="0"/>
          </a:p>
          <a:p>
            <a:pPr lvl="1"/>
            <a:r>
              <a:rPr lang="pt-BR" dirty="0" smtClean="0"/>
              <a:t>As Informações </a:t>
            </a:r>
            <a:r>
              <a:rPr lang="pt-BR" dirty="0"/>
              <a:t>sobre os fluxos de caixa passados também </a:t>
            </a:r>
            <a:r>
              <a:rPr lang="pt-BR" dirty="0" smtClean="0"/>
              <a:t>ajudam os </a:t>
            </a:r>
            <a:r>
              <a:rPr lang="pt-BR" dirty="0"/>
              <a:t>usuários a avaliar a capacidade da entidade gerar fluxos </a:t>
            </a:r>
            <a:r>
              <a:rPr lang="pt-BR" dirty="0" smtClean="0"/>
              <a:t>de caixa </a:t>
            </a:r>
            <a:r>
              <a:rPr lang="pt-BR" dirty="0"/>
              <a:t>líquidos</a:t>
            </a:r>
            <a:r>
              <a:rPr lang="pt-BR" dirty="0" smtClean="0"/>
              <a:t>.</a:t>
            </a:r>
            <a:r>
              <a:rPr lang="pt-BR" dirty="0"/>
              <a:t> Elas indicam como a entidade obtém e despende caixa, </a:t>
            </a:r>
            <a:r>
              <a:rPr lang="pt-BR" dirty="0" smtClean="0"/>
              <a:t>incluindo informações </a:t>
            </a:r>
            <a:r>
              <a:rPr lang="pt-BR" dirty="0"/>
              <a:t>sobre seus empréstimos e resgate de títulos </a:t>
            </a:r>
            <a:r>
              <a:rPr lang="pt-BR" dirty="0" smtClean="0"/>
              <a:t>de dívida</a:t>
            </a:r>
            <a:r>
              <a:rPr lang="pt-BR" dirty="0"/>
              <a:t>, dividendos em caixa e outras distribuições para </a:t>
            </a:r>
            <a:r>
              <a:rPr lang="pt-BR" dirty="0" smtClean="0"/>
              <a:t>seus investidores</a:t>
            </a:r>
            <a:r>
              <a:rPr lang="pt-BR" dirty="0"/>
              <a:t>. Ou seja, elas auxiliam na compreensão e </a:t>
            </a:r>
            <a:r>
              <a:rPr lang="pt-BR" dirty="0" smtClean="0"/>
              <a:t>avaliação das </a:t>
            </a:r>
            <a:r>
              <a:rPr lang="pt-BR" dirty="0"/>
              <a:t>atividades de financiamento e investimento, sua liquidez </a:t>
            </a:r>
            <a:r>
              <a:rPr lang="pt-BR" dirty="0" smtClean="0"/>
              <a:t>e solvência </a:t>
            </a:r>
            <a:r>
              <a:rPr lang="pt-BR" dirty="0"/>
              <a:t>e na interpretação de outras informações acerca de </a:t>
            </a:r>
            <a:r>
              <a:rPr lang="pt-BR" smtClean="0"/>
              <a:t>sua performance </a:t>
            </a:r>
            <a:r>
              <a:rPr lang="pt-BR" dirty="0"/>
              <a:t>financeira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070636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altLang="pt-BR" dirty="0"/>
              <a:t>Dentro desta Demonstração podemos obter duas demonstração de fluxo de caixa.</a:t>
            </a:r>
          </a:p>
          <a:p>
            <a:pPr lvl="1"/>
            <a:r>
              <a:rPr lang="pt-BR" altLang="pt-BR" dirty="0"/>
              <a:t>Demonstração das “Entradas e Saídas” de Caixa – </a:t>
            </a:r>
            <a:r>
              <a:rPr lang="pt-BR" altLang="pt-BR" dirty="0" smtClean="0"/>
              <a:t>DESC</a:t>
            </a:r>
          </a:p>
          <a:p>
            <a:pPr lvl="2"/>
            <a:r>
              <a:rPr lang="pt-BR" altLang="pt-BR" dirty="0"/>
              <a:t>DESC – esta demonstração visa mostrar o confronto entre as entradas e saídas de caixa, e consequentemente, se haverá sobras ou falta de caixa, permitindo a administração decidir com antecedência se a empresa deve tomar recursos ou aplica – </a:t>
            </a:r>
            <a:r>
              <a:rPr lang="pt-BR" altLang="pt-BR" dirty="0" err="1"/>
              <a:t>los</a:t>
            </a:r>
            <a:r>
              <a:rPr lang="pt-BR" altLang="pt-BR" dirty="0"/>
              <a:t>. A DESC é portanto, um instrumento imprescindível. Não se concebe uma empresa que possa operar sem ter uma DESC atualizada </a:t>
            </a:r>
            <a:r>
              <a:rPr lang="pt-BR" altLang="pt-BR" dirty="0" smtClean="0"/>
              <a:t>mensalmente.</a:t>
            </a:r>
          </a:p>
          <a:p>
            <a:pPr lvl="2"/>
            <a:r>
              <a:rPr lang="pt-BR" altLang="pt-BR" dirty="0" smtClean="0"/>
              <a:t>A </a:t>
            </a:r>
            <a:r>
              <a:rPr lang="pt-BR" altLang="pt-BR" dirty="0"/>
              <a:t>DESC é normalmente voltada para o futuro, abrangendo períodos curtos, como os próximos 30 dias (dia a dia), os próximos três meses (mês a mês) e os próximos anos (ano a </a:t>
            </a:r>
            <a:r>
              <a:rPr lang="pt-BR" altLang="pt-BR" dirty="0" smtClean="0"/>
              <a:t>ano)</a:t>
            </a:r>
          </a:p>
          <a:p>
            <a:pPr lvl="2"/>
            <a:r>
              <a:rPr lang="pt-BR" altLang="pt-BR" dirty="0" smtClean="0"/>
              <a:t>Devido </a:t>
            </a:r>
            <a:r>
              <a:rPr lang="pt-BR" altLang="pt-BR" dirty="0"/>
              <a:t>a instabilidade econômica que pode ocorrer durante o longo prazo, a mesma as vezes perde o sentido e mesmo o período de um ano as vezes parece uma </a:t>
            </a:r>
            <a:r>
              <a:rPr lang="pt-BR" altLang="pt-BR" dirty="0" smtClean="0"/>
              <a:t>aventura.</a:t>
            </a:r>
          </a:p>
          <a:p>
            <a:pPr lvl="2"/>
            <a:r>
              <a:rPr lang="pt-BR" altLang="pt-BR" dirty="0" smtClean="0"/>
              <a:t>A </a:t>
            </a:r>
            <a:r>
              <a:rPr lang="pt-BR" altLang="pt-BR" dirty="0"/>
              <a:t>DESC passada só interessa para fins de comparação com a anteriormente prevista e assim possibilitar o aprimoramento da técnica da elaboração da mesma e melhorar as provisões</a:t>
            </a:r>
            <a:r>
              <a:rPr lang="pt-BR" altLang="pt-BR" dirty="0" smtClean="0"/>
              <a:t>.</a:t>
            </a:r>
            <a:endParaRPr lang="pt-BR" alt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2198954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altLang="pt-BR" dirty="0"/>
              <a:t>Demonstração do “Fluxo Líquido de Caixa” – DFLC</a:t>
            </a:r>
          </a:p>
          <a:p>
            <a:pPr lvl="2"/>
            <a:r>
              <a:rPr lang="pt-BR" altLang="pt-BR" dirty="0"/>
              <a:t>DLFC – esta demonstração mês pontos mostra o efeito de cada variável no caixa, tal como a Necessidade de Capital de Giro, que decorre dos seguintes pontos:</a:t>
            </a:r>
          </a:p>
          <a:p>
            <a:pPr lvl="3"/>
            <a:r>
              <a:rPr lang="pt-BR" altLang="pt-BR" dirty="0"/>
              <a:t>Nível de estocagem</a:t>
            </a:r>
          </a:p>
          <a:p>
            <a:pPr lvl="3"/>
            <a:r>
              <a:rPr lang="pt-BR" altLang="pt-BR" dirty="0"/>
              <a:t>Prazos concedidos a clientes;</a:t>
            </a:r>
          </a:p>
          <a:p>
            <a:pPr lvl="3"/>
            <a:r>
              <a:rPr lang="pt-BR" altLang="pt-BR" dirty="0"/>
              <a:t>Prazos recebidos de fornecedores</a:t>
            </a:r>
          </a:p>
          <a:p>
            <a:pPr lvl="2"/>
            <a:r>
              <a:rPr lang="pt-BR" altLang="pt-BR" dirty="0"/>
              <a:t>Também temos as questões de expansão ou redução de atividades, realização de investimentos ou </a:t>
            </a:r>
            <a:r>
              <a:rPr lang="pt-BR" altLang="pt-BR" dirty="0" smtClean="0"/>
              <a:t>desmobilização (fechamento de alguma área), </a:t>
            </a:r>
            <a:r>
              <a:rPr lang="pt-BR" altLang="pt-BR" dirty="0"/>
              <a:t>tomada ou amortização de financiamentos, aportes de capital ou distribuição de </a:t>
            </a:r>
            <a:r>
              <a:rPr lang="pt-BR" altLang="pt-BR" dirty="0" smtClean="0"/>
              <a:t>dividendos.</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2649898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altLang="pt-BR" dirty="0"/>
              <a:t>Demonstração do Fluxo Liquido de Caixa</a:t>
            </a:r>
          </a:p>
          <a:p>
            <a:pPr lvl="1"/>
            <a:r>
              <a:rPr lang="pt-BR" altLang="pt-BR" dirty="0"/>
              <a:t>Esta demonstração ela pode ser preparada muito facilmente utilizando – se a apenas das demonstrações financeiras publicadas pelas empresas Sociedades Anônimas. Além disso, é construída sob a forma que permite uma série de relações e avaliações referentes a capacidade de pagamento da empresa e a administração financeira, portanto, extremamente útil tanto interna quanto externamente a empresa.</a:t>
            </a:r>
          </a:p>
          <a:p>
            <a:pPr lvl="1"/>
            <a:r>
              <a:rPr lang="pt-BR" altLang="pt-BR" dirty="0"/>
              <a:t>As principais informações dessa demonstração referem – se a capacidade financeira da empresa de:</a:t>
            </a:r>
          </a:p>
          <a:p>
            <a:pPr lvl="2"/>
            <a:r>
              <a:rPr lang="pt-BR" altLang="pt-BR" dirty="0"/>
              <a:t>Autofinanciamento das operações (compra, produção e vendas)</a:t>
            </a:r>
          </a:p>
          <a:p>
            <a:pPr lvl="2"/>
            <a:r>
              <a:rPr lang="pt-BR" altLang="pt-BR" dirty="0"/>
              <a:t>Independência do sistema bancário no curto prazo</a:t>
            </a:r>
          </a:p>
          <a:p>
            <a:pPr lvl="2"/>
            <a:r>
              <a:rPr lang="pt-BR" altLang="pt-BR" dirty="0"/>
              <a:t>Gerar recursos para manter e expandir o nível de investimentos</a:t>
            </a:r>
          </a:p>
          <a:p>
            <a:pPr lvl="2"/>
            <a:r>
              <a:rPr lang="pt-BR" altLang="pt-BR" dirty="0"/>
              <a:t>Amortiza dividas bancarias de curto e de longo prazo.</a:t>
            </a:r>
          </a:p>
          <a:p>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4174359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altLang="pt-BR" dirty="0"/>
              <a:t>Outras informações que podem ser extraída da Demonstração do Fluxo Liquido de Caixa são:</a:t>
            </a:r>
          </a:p>
          <a:p>
            <a:pPr lvl="1"/>
            <a:r>
              <a:rPr lang="pt-BR" altLang="pt-BR" dirty="0"/>
              <a:t>Quais as causas das mudanças na situação financeira da empresa?</a:t>
            </a:r>
          </a:p>
          <a:p>
            <a:pPr lvl="1"/>
            <a:r>
              <a:rPr lang="pt-BR" altLang="pt-BR" dirty="0"/>
              <a:t>O que foi feito com o lucro gerado pelas operações?</a:t>
            </a:r>
          </a:p>
          <a:p>
            <a:pPr lvl="1"/>
            <a:r>
              <a:rPr lang="pt-BR" altLang="pt-BR" dirty="0"/>
              <a:t>Qual aplicação feita com os novos empréstimos?</a:t>
            </a:r>
          </a:p>
          <a:p>
            <a:pPr lvl="1"/>
            <a:r>
              <a:rPr lang="pt-BR" altLang="pt-BR" dirty="0"/>
              <a:t>Como foi possível a companhia distribuir dividendos após o prejuízo sofrido no exercício?</a:t>
            </a:r>
          </a:p>
          <a:p>
            <a:pPr lvl="1"/>
            <a:r>
              <a:rPr lang="pt-BR" altLang="pt-BR" dirty="0"/>
              <a:t>De que forma a empresa consegue manter seus pagamentos em dia se os resultados vem sendo negativos?</a:t>
            </a:r>
          </a:p>
          <a:p>
            <a:pPr lvl="1"/>
            <a:r>
              <a:rPr lang="pt-BR" altLang="pt-BR" dirty="0"/>
              <a:t>Como esta sendo financiada a expansão da empresa?</a:t>
            </a:r>
          </a:p>
          <a:p>
            <a:pPr lvl="1"/>
            <a:r>
              <a:rPr lang="pt-BR" altLang="pt-BR" dirty="0"/>
              <a:t>Com que recursos a empresa amortizou antecipadamente dividas de longo prazo?</a:t>
            </a:r>
          </a:p>
          <a:p>
            <a:pPr lvl="1"/>
            <a:r>
              <a:rPr lang="pt-BR" altLang="pt-BR" dirty="0"/>
              <a:t>O que foi feito com as receitas de venda de imobilizado?</a:t>
            </a:r>
          </a:p>
          <a:p>
            <a:pPr lvl="1"/>
            <a:r>
              <a:rPr lang="pt-BR" altLang="pt-BR" dirty="0"/>
              <a:t>Os recursos gerados pelas operações foram suficientes?</a:t>
            </a:r>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3875178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altLang="pt-BR" dirty="0"/>
              <a:t>Depreciação</a:t>
            </a:r>
          </a:p>
          <a:p>
            <a:pPr lvl="1"/>
            <a:r>
              <a:rPr lang="pt-BR" altLang="pt-BR" dirty="0"/>
              <a:t>A Depreciação é prevista na legislação societária, com exceção do grupo de terrenos e de alguns outro itens, os demais elementos que integram o ativo imobilizado tem um período limitado de vida útil econômica. Dessa forma o custo de tais ativos deve ser alocado aos exercícios beneficiados pelo seu uso no decorrer de sua vida útil econômica. O artigo 183, paragrafo 2º, da Lei 6.404/76, estabelece que:</a:t>
            </a:r>
          </a:p>
          <a:p>
            <a:pPr lvl="2"/>
            <a:r>
              <a:rPr lang="pt-BR" altLang="pt-BR" dirty="0"/>
              <a:t>“A diminuição de valor dos elementos do ativo imobilizado será registrada periodicamente nas contas de:</a:t>
            </a:r>
          </a:p>
          <a:p>
            <a:pPr lvl="2"/>
            <a:r>
              <a:rPr lang="pt-BR" altLang="pt-BR" dirty="0"/>
              <a:t>Depreciação, quando corresponder à perda do valor dos direitos que tem por objeto bens físicos sujeitos a desgastes ou perdas de utilidades por uso, ação da natureza ou obsolescência</a:t>
            </a:r>
          </a:p>
          <a:p>
            <a:pPr lvl="2"/>
            <a:r>
              <a:rPr lang="pt-BR" altLang="pt-BR" dirty="0"/>
              <a:t>Amortização, quando corresponder a perda do valor do capital aplicado na aquisição de direitos da propriedade industrial ou comercial e quaisquer outros com existência ou exercício de duração limitada, ou cujo, objeto sejam bens de utilização por prazo legal ou contratualmente limitado</a:t>
            </a:r>
          </a:p>
          <a:p>
            <a:pPr lvl="2"/>
            <a:r>
              <a:rPr lang="pt-BR" altLang="pt-BR" dirty="0"/>
              <a:t>Exaustão, quando corresponder a perda do valor, decorrente da sua exploração, de direitos cujo objeto sejam recursos minerais ou florestais, ou bens aplicados nessa exploração</a:t>
            </a:r>
          </a:p>
          <a:p>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3634710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altLang="pt-BR" dirty="0"/>
              <a:t>Também encontramos a questão da depreciação que é adotado pelas empresas na legislação fiscal, que estão consolidadas no Regulamento do Imposto de Renda através de seus artigos 248 a 256. As taxas anuais de depreciação normalmente admitidas pelo fisco para uso normal dos bens em um turno de oito horas diárias constam, de publicações a parte da Secretaria da Receita Federal, sendo sumariamente como segue:</a:t>
            </a:r>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5" name="Imagem 4"/>
          <p:cNvPicPr>
            <a:picLocks noChangeAspect="1"/>
          </p:cNvPicPr>
          <p:nvPr/>
        </p:nvPicPr>
        <p:blipFill>
          <a:blip r:embed="rId2"/>
          <a:stretch>
            <a:fillRect/>
          </a:stretch>
        </p:blipFill>
        <p:spPr>
          <a:xfrm>
            <a:off x="3116725" y="3374568"/>
            <a:ext cx="7482545" cy="244827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04012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Reavaliação de ativos</a:t>
            </a:r>
          </a:p>
          <a:p>
            <a:pPr lvl="2"/>
            <a:r>
              <a:rPr lang="pt-BR" dirty="0" smtClean="0"/>
              <a:t>Está presente na Norma Brasileira de Contabilidade – NBC T 19.6 – Reavaliação de Ativos</a:t>
            </a:r>
          </a:p>
          <a:p>
            <a:pPr lvl="2"/>
            <a:r>
              <a:rPr lang="pt-BR" dirty="0" smtClean="0"/>
              <a:t>Objetivos: </a:t>
            </a:r>
            <a:r>
              <a:rPr lang="pt-BR" dirty="0"/>
              <a:t>Esta norma estabelece critérios e procedimentos para registro contábil e divulgação da reavaliação do ativo imobilizado</a:t>
            </a:r>
            <a:r>
              <a:rPr lang="pt-BR" dirty="0" smtClean="0"/>
              <a:t>.</a:t>
            </a:r>
            <a:r>
              <a:rPr lang="pt-BR" dirty="0"/>
              <a:t> O valor da reavaliação do ativo imobilizado é a diferença entre o valor líquido contábil do bem e o valor de mercado, com base em laudo técnico elaborado por três peritos ou entidade especializada</a:t>
            </a:r>
            <a:r>
              <a:rPr lang="pt-BR" dirty="0" smtClean="0"/>
              <a:t>. </a:t>
            </a:r>
            <a:r>
              <a:rPr lang="pt-BR" dirty="0"/>
              <a:t>A reavaliação é a adoção do valor de mercado para os bens reavaliados, em substituição ao princípio do registro pelo valor original</a:t>
            </a:r>
            <a:r>
              <a:rPr lang="pt-BR" dirty="0" smtClean="0"/>
              <a:t>.</a:t>
            </a:r>
          </a:p>
          <a:p>
            <a:pPr lvl="2"/>
            <a:r>
              <a:rPr lang="pt-BR" dirty="0"/>
              <a:t>Para </a:t>
            </a:r>
            <a:r>
              <a:rPr lang="pt-BR" dirty="0" smtClean="0"/>
              <a:t>efeito </a:t>
            </a:r>
            <a:r>
              <a:rPr lang="pt-BR" dirty="0"/>
              <a:t>desta norma, entende-se por</a:t>
            </a:r>
            <a:r>
              <a:rPr lang="pt-BR" dirty="0" smtClean="0"/>
              <a:t>:</a:t>
            </a:r>
            <a:endParaRPr lang="pt-BR" dirty="0"/>
          </a:p>
          <a:p>
            <a:pPr lvl="3"/>
            <a:r>
              <a:rPr lang="pt-BR" dirty="0" smtClean="0"/>
              <a:t>Custo </a:t>
            </a:r>
            <a:r>
              <a:rPr lang="pt-BR" dirty="0"/>
              <a:t>– valor de aquisição de construção do ativo imobilizado registrado ou o valor atribuído ou de mercado, no caso de doações</a:t>
            </a:r>
            <a:r>
              <a:rPr lang="pt-BR" dirty="0" smtClean="0"/>
              <a:t>;</a:t>
            </a:r>
          </a:p>
          <a:p>
            <a:pPr lvl="3"/>
            <a:r>
              <a:rPr lang="pt-BR" dirty="0" smtClean="0"/>
              <a:t>Valor </a:t>
            </a:r>
            <a:r>
              <a:rPr lang="pt-BR" dirty="0"/>
              <a:t>de mercado – valor que a entidade despenderia para repor o ativo, considerando-se uma negociação normal entre partes independentes, sem favorecimentos, e isentas de outros interesses. Esse valor deve considerar o preço à vista de reposição do ativo, contemplando as condições de uso em que o bem se encontra</a:t>
            </a:r>
            <a:r>
              <a:rPr lang="pt-BR" dirty="0" smtClean="0"/>
              <a:t>;</a:t>
            </a:r>
          </a:p>
          <a:p>
            <a:pPr lvl="3"/>
            <a:r>
              <a:rPr lang="pt-BR" dirty="0" smtClean="0"/>
              <a:t>Valor </a:t>
            </a:r>
            <a:r>
              <a:rPr lang="pt-BR" dirty="0"/>
              <a:t>líquido contábil – montante pelo qual um bem está registrado na contabilidade, numa determinada data-base, líquido da correspondente depreciação, amortização ou exaustão acumuladas, ou provisão para ajuste do ativo ao seu valor recuperável</a:t>
            </a:r>
            <a:r>
              <a:rPr lang="pt-BR" dirty="0" smtClean="0"/>
              <a:t>;</a:t>
            </a:r>
          </a:p>
          <a:p>
            <a:pPr lvl="3"/>
            <a:r>
              <a:rPr lang="pt-BR" dirty="0" smtClean="0"/>
              <a:t>Valor </a:t>
            </a:r>
            <a:r>
              <a:rPr lang="pt-BR" dirty="0"/>
              <a:t>recuperável – valor de mercado menos o custo para a sua venda, ou o valor que a entidade espera recuperar pelo uso futuro de um ativo nas suas operações, o que for maior.</a:t>
            </a:r>
            <a:endParaRPr lang="pt-BR" dirty="0" smtClean="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1434524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Critérios de Avaliação</a:t>
            </a:r>
          </a:p>
          <a:p>
            <a:pPr lvl="2"/>
            <a:r>
              <a:rPr lang="pt-BR" dirty="0" smtClean="0"/>
              <a:t>A </a:t>
            </a:r>
            <a:r>
              <a:rPr lang="pt-BR" dirty="0"/>
              <a:t>contabilização da reavaliação deve ser efetuada com base em laudo fundamentado que indique os critérios de avaliação e os elementos de comparação </a:t>
            </a:r>
            <a:r>
              <a:rPr lang="pt-BR" dirty="0" smtClean="0"/>
              <a:t>adotados.</a:t>
            </a:r>
          </a:p>
          <a:p>
            <a:pPr lvl="2"/>
            <a:r>
              <a:rPr lang="pt-BR" dirty="0" smtClean="0"/>
              <a:t>A </a:t>
            </a:r>
            <a:r>
              <a:rPr lang="pt-BR" dirty="0"/>
              <a:t>reavaliação deve observar o princípio da continuidade, ou seja, levar em conta o pressuposto da entidade em marcha e considerar a efetiva possibilidade de recuperação dos ativos em avaliação mediante seu </a:t>
            </a:r>
            <a:r>
              <a:rPr lang="pt-BR" dirty="0" smtClean="0"/>
              <a:t>uso.</a:t>
            </a:r>
          </a:p>
          <a:p>
            <a:pPr lvl="2"/>
            <a:r>
              <a:rPr lang="pt-BR" dirty="0" smtClean="0"/>
              <a:t>A reavaliação </a:t>
            </a:r>
            <a:r>
              <a:rPr lang="pt-BR" dirty="0"/>
              <a:t>deve ser baseada em valor de mercado.</a:t>
            </a:r>
            <a:br>
              <a:rPr lang="pt-BR" dirty="0"/>
            </a:br>
            <a:r>
              <a:rPr lang="pt-BR" dirty="0" smtClean="0"/>
              <a:t>19.6.7.4</a:t>
            </a:r>
            <a:r>
              <a:rPr lang="pt-BR" dirty="0"/>
              <a:t>. A reavaliação não se destina ao cálculo do valor futuro potencial dos ativos nem ao seu valor de saída (valor de venda ou liquidação</a:t>
            </a:r>
            <a:r>
              <a:rPr lang="pt-BR" dirty="0" smtClean="0"/>
              <a:t>).</a:t>
            </a:r>
          </a:p>
          <a:p>
            <a:pPr lvl="2"/>
            <a:r>
              <a:rPr lang="pt-BR" dirty="0" smtClean="0"/>
              <a:t>Para </a:t>
            </a:r>
            <a:r>
              <a:rPr lang="pt-BR" dirty="0"/>
              <a:t>os bens sujeitos à depreciação, exaustão ou amortização, é indispensável que no laudo de avaliação haja a indicação da vida útil econômica remanescente, visando a definição das futuras taxas de depreciação, exaustão ou amortização.</a:t>
            </a:r>
          </a:p>
          <a:p>
            <a:pPr lvl="1"/>
            <a:endParaRPr lang="pt-BR" dirty="0" smtClean="0"/>
          </a:p>
          <a:p>
            <a:pPr lvl="1"/>
            <a:r>
              <a:rPr lang="pt-BR" dirty="0" smtClean="0"/>
              <a:t>Contabilização da Reavaliação</a:t>
            </a:r>
          </a:p>
          <a:p>
            <a:pPr lvl="2"/>
            <a:r>
              <a:rPr lang="pt-BR" dirty="0"/>
              <a:t>A diferença positiva entre o valor da reavaliação e o valor líquido contábil do bem deve ser incorporada ao ativo reavaliado correspondente, e deve ter como contrapartida conta de reserva da reavaliação, líquida dos tributos incidentes sobre a reavaliação, no patrimônio líquido.</a:t>
            </a:r>
            <a:endParaRPr lang="pt-BR" dirty="0" smtClean="0"/>
          </a:p>
          <a:p>
            <a:pPr lvl="1"/>
            <a:endParaRPr lang="pt-BR" dirty="0"/>
          </a:p>
          <a:p>
            <a:pPr lvl="1"/>
            <a:endParaRPr lang="pt-BR" dirty="0" smtClean="0"/>
          </a:p>
          <a:p>
            <a:pPr lvl="1"/>
            <a:endParaRPr lang="pt-BR" dirty="0"/>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117382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dirty="0" smtClean="0"/>
              <a:t>Conceito de Disponibilidades</a:t>
            </a:r>
          </a:p>
          <a:p>
            <a:endParaRPr lang="pt-BR" dirty="0"/>
          </a:p>
          <a:p>
            <a:pPr lvl="1"/>
            <a:r>
              <a:rPr lang="pt-BR" altLang="pt-BR" dirty="0" smtClean="0"/>
              <a:t>Representa </a:t>
            </a:r>
            <a:r>
              <a:rPr lang="pt-BR" altLang="pt-BR" dirty="0"/>
              <a:t>o dinheiro em mãos da empresa, os depósitos bancários a vista e as aplicações de imediata conversibilidade em </a:t>
            </a:r>
            <a:r>
              <a:rPr lang="pt-BR" altLang="pt-BR" dirty="0" smtClean="0"/>
              <a:t>dinheiro, e também o dinheiro que ela possui fisicamente.</a:t>
            </a:r>
            <a:endParaRPr lang="pt-BR" altLang="pt-BR" dirty="0"/>
          </a:p>
          <a:p>
            <a:pPr lvl="1"/>
            <a:r>
              <a:rPr lang="pt-BR" altLang="pt-BR" dirty="0"/>
              <a:t>Aplicações de liquidez imediata que são investimentos feitos pela empresa a curtíssimo prazo, também pode enquadrar no grupo de disponibilidades</a:t>
            </a:r>
            <a:r>
              <a:rPr lang="pt-BR" altLang="pt-BR" dirty="0" smtClean="0"/>
              <a:t>.</a:t>
            </a:r>
          </a:p>
          <a:p>
            <a:pPr lvl="1"/>
            <a:endParaRPr lang="pt-BR" altLang="pt-BR" dirty="0"/>
          </a:p>
          <a:p>
            <a:endParaRPr lang="pt-BR" dirty="0" smtClean="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2298497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normAutofit/>
          </a:bodyPr>
          <a:lstStyle/>
          <a:p>
            <a:pPr lvl="1"/>
            <a:r>
              <a:rPr lang="pt-BR" dirty="0" smtClean="0"/>
              <a:t>A movimentação das Disponibilidades (grupo) deve aparecer estruturada em 3 grupos de atividades:</a:t>
            </a:r>
          </a:p>
          <a:p>
            <a:pPr lvl="1"/>
            <a:endParaRPr lang="pt-BR" dirty="0"/>
          </a:p>
          <a:p>
            <a:pPr lvl="2"/>
            <a:r>
              <a:rPr lang="pt-BR" b="1" dirty="0" smtClean="0"/>
              <a:t>Operacionais: </a:t>
            </a:r>
            <a:r>
              <a:rPr lang="pt-BR" dirty="0" smtClean="0"/>
              <a:t>cujo conceito é que são as transações que aparecem na Demonstração de Resultado e impactam no Balanço Patrimonial.</a:t>
            </a:r>
          </a:p>
          <a:p>
            <a:pPr lvl="2"/>
            <a:endParaRPr lang="pt-BR" dirty="0" smtClean="0"/>
          </a:p>
          <a:p>
            <a:pPr lvl="2"/>
            <a:r>
              <a:rPr lang="pt-BR" dirty="0" smtClean="0"/>
              <a:t>Entradas</a:t>
            </a:r>
          </a:p>
          <a:p>
            <a:pPr lvl="3"/>
            <a:r>
              <a:rPr lang="pt-BR" dirty="0" smtClean="0"/>
              <a:t>Recebimento pelas vendas a vista ou a prazo, desconto de duplicatas.</a:t>
            </a:r>
          </a:p>
          <a:p>
            <a:pPr lvl="3"/>
            <a:r>
              <a:rPr lang="pt-BR" dirty="0" smtClean="0"/>
              <a:t>Juros sobre empréstimos concedidos a outras empresas</a:t>
            </a:r>
          </a:p>
          <a:p>
            <a:pPr lvl="3"/>
            <a:r>
              <a:rPr lang="pt-BR" dirty="0" smtClean="0"/>
              <a:t>Recebimento de dividendos pela participação em outras empresas</a:t>
            </a:r>
          </a:p>
          <a:p>
            <a:pPr lvl="3"/>
            <a:endParaRPr lang="pt-BR" dirty="0" smtClean="0"/>
          </a:p>
          <a:p>
            <a:pPr lvl="2"/>
            <a:r>
              <a:rPr lang="pt-BR" dirty="0" smtClean="0"/>
              <a:t>Saídas</a:t>
            </a:r>
          </a:p>
          <a:p>
            <a:pPr lvl="3"/>
            <a:r>
              <a:rPr lang="pt-BR" dirty="0"/>
              <a:t> </a:t>
            </a:r>
            <a:r>
              <a:rPr lang="pt-BR" dirty="0" smtClean="0"/>
              <a:t>Pagamento de obrigações (fornecedores, impostos e taxas, juros e outros)</a:t>
            </a:r>
          </a:p>
          <a:p>
            <a:pPr marL="1371600" lvl="3" indent="0">
              <a:buNone/>
            </a:pP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1001029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15</a:t>
            </a:fld>
            <a:endParaRPr lang="en-US" dirty="0"/>
          </a:p>
        </p:txBody>
      </p:sp>
      <p:sp>
        <p:nvSpPr>
          <p:cNvPr id="5" name="Espaço Reservado para Conteúdo 2"/>
          <p:cNvSpPr>
            <a:spLocks noGrp="1"/>
          </p:cNvSpPr>
          <p:nvPr>
            <p:ph idx="1"/>
          </p:nvPr>
        </p:nvSpPr>
        <p:spPr>
          <a:xfrm>
            <a:off x="1676399" y="1498600"/>
            <a:ext cx="10363199" cy="5143500"/>
          </a:xfrm>
        </p:spPr>
        <p:txBody>
          <a:bodyPr>
            <a:normAutofit/>
          </a:bodyPr>
          <a:lstStyle/>
          <a:p>
            <a:pPr lvl="1"/>
            <a:r>
              <a:rPr lang="pt-BR" dirty="0" smtClean="0"/>
              <a:t>A movimentação das Disponibilidades (grupo) deve aparecer estruturada em 3 grupos de atividades:</a:t>
            </a:r>
          </a:p>
          <a:p>
            <a:pPr lvl="1"/>
            <a:endParaRPr lang="pt-BR" dirty="0"/>
          </a:p>
          <a:p>
            <a:pPr lvl="2"/>
            <a:r>
              <a:rPr lang="pt-BR" b="1" dirty="0" smtClean="0"/>
              <a:t>Investimentos</a:t>
            </a:r>
            <a:r>
              <a:rPr lang="pt-BR" dirty="0" smtClean="0"/>
              <a:t>: cujo conceito é o aumento e/ou diminuição dos ativos de longo prazo que a empresa usa para produzir bens e serviços (ativo permanente)</a:t>
            </a:r>
          </a:p>
          <a:p>
            <a:pPr lvl="2"/>
            <a:endParaRPr lang="pt-BR" dirty="0" smtClean="0"/>
          </a:p>
          <a:p>
            <a:pPr lvl="2"/>
            <a:r>
              <a:rPr lang="pt-BR" dirty="0" smtClean="0"/>
              <a:t>Entradas</a:t>
            </a:r>
          </a:p>
          <a:p>
            <a:pPr lvl="3"/>
            <a:r>
              <a:rPr lang="pt-BR" dirty="0" smtClean="0"/>
              <a:t>Recebimento pela venda de participação em outras empresas</a:t>
            </a:r>
          </a:p>
          <a:p>
            <a:pPr lvl="3"/>
            <a:r>
              <a:rPr lang="pt-BR" dirty="0" smtClean="0"/>
              <a:t>Recebimento pela venda de ativo imobilizado</a:t>
            </a:r>
          </a:p>
          <a:p>
            <a:pPr lvl="3"/>
            <a:endParaRPr lang="pt-BR" dirty="0"/>
          </a:p>
          <a:p>
            <a:pPr lvl="2"/>
            <a:r>
              <a:rPr lang="pt-BR" dirty="0" smtClean="0"/>
              <a:t>Saídas</a:t>
            </a:r>
          </a:p>
          <a:p>
            <a:pPr lvl="3"/>
            <a:r>
              <a:rPr lang="pt-BR" dirty="0" smtClean="0"/>
              <a:t>Pagamento pela compra de participação em outras empresas</a:t>
            </a:r>
          </a:p>
          <a:p>
            <a:pPr lvl="3"/>
            <a:r>
              <a:rPr lang="pt-BR" dirty="0" smtClean="0"/>
              <a:t>Pagamento pela compra de ativo imobilizado.</a:t>
            </a:r>
            <a:endParaRPr lang="pt-BR" dirty="0"/>
          </a:p>
          <a:p>
            <a:pPr lvl="2"/>
            <a:endParaRPr lang="pt-BR" dirty="0" smtClean="0"/>
          </a:p>
          <a:p>
            <a:pPr lvl="2"/>
            <a:r>
              <a:rPr lang="pt-BR" dirty="0" smtClean="0"/>
              <a:t>Financiamento: empréstimos de credores e investidores a empresa (Passivo Exigível + Patrimônio Líquido)</a:t>
            </a:r>
          </a:p>
          <a:p>
            <a:pPr lvl="2"/>
            <a:endParaRPr lang="pt-BR" dirty="0"/>
          </a:p>
        </p:txBody>
      </p:sp>
    </p:spTree>
    <p:extLst>
      <p:ext uri="{BB962C8B-B14F-4D97-AF65-F5344CB8AC3E}">
        <p14:creationId xmlns:p14="http://schemas.microsoft.com/office/powerpoint/2010/main" val="4103098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16</a:t>
            </a:fld>
            <a:endParaRPr lang="en-US" dirty="0"/>
          </a:p>
        </p:txBody>
      </p:sp>
      <p:sp>
        <p:nvSpPr>
          <p:cNvPr id="5" name="Espaço Reservado para Conteúdo 2"/>
          <p:cNvSpPr>
            <a:spLocks noGrp="1"/>
          </p:cNvSpPr>
          <p:nvPr>
            <p:ph idx="1"/>
          </p:nvPr>
        </p:nvSpPr>
        <p:spPr>
          <a:xfrm>
            <a:off x="1676399" y="1384300"/>
            <a:ext cx="10363199" cy="5473700"/>
          </a:xfrm>
        </p:spPr>
        <p:txBody>
          <a:bodyPr>
            <a:normAutofit/>
          </a:bodyPr>
          <a:lstStyle/>
          <a:p>
            <a:pPr lvl="1"/>
            <a:r>
              <a:rPr lang="pt-BR" dirty="0" smtClean="0"/>
              <a:t>A movimentação das Disponibilidades (grupo) deve aparecer estruturada em 3 grupos de atividades:</a:t>
            </a:r>
          </a:p>
          <a:p>
            <a:pPr lvl="1"/>
            <a:endParaRPr lang="pt-BR" dirty="0"/>
          </a:p>
          <a:p>
            <a:pPr lvl="2"/>
            <a:r>
              <a:rPr lang="pt-BR" b="1" dirty="0" smtClean="0"/>
              <a:t>Financiamento</a:t>
            </a:r>
            <a:r>
              <a:rPr lang="pt-BR" dirty="0" smtClean="0"/>
              <a:t>: cujo conceito são os empréstimos de credores e investidores a empresa (Passivo Exigível + Patrimônio Líquido)</a:t>
            </a:r>
          </a:p>
          <a:p>
            <a:pPr lvl="2"/>
            <a:endParaRPr lang="pt-BR" dirty="0" smtClean="0"/>
          </a:p>
          <a:p>
            <a:pPr lvl="2"/>
            <a:r>
              <a:rPr lang="pt-BR" dirty="0" smtClean="0"/>
              <a:t>Entrada</a:t>
            </a:r>
          </a:p>
          <a:p>
            <a:pPr lvl="3"/>
            <a:r>
              <a:rPr lang="pt-BR" dirty="0" smtClean="0"/>
              <a:t>Venda de ações emitidas</a:t>
            </a:r>
          </a:p>
          <a:p>
            <a:pPr lvl="3"/>
            <a:r>
              <a:rPr lang="pt-BR" dirty="0" smtClean="0"/>
              <a:t>Empréstimos obtidos</a:t>
            </a:r>
          </a:p>
          <a:p>
            <a:pPr lvl="3"/>
            <a:endParaRPr lang="pt-BR" dirty="0"/>
          </a:p>
          <a:p>
            <a:pPr lvl="2"/>
            <a:r>
              <a:rPr lang="pt-BR" dirty="0" smtClean="0"/>
              <a:t>Saída</a:t>
            </a:r>
          </a:p>
          <a:p>
            <a:pPr lvl="3"/>
            <a:r>
              <a:rPr lang="pt-BR" dirty="0"/>
              <a:t>Pagamento de dividendos.</a:t>
            </a:r>
          </a:p>
          <a:p>
            <a:pPr lvl="3"/>
            <a:r>
              <a:rPr lang="pt-BR" dirty="0"/>
              <a:t>Pagamento do principal dos empréstimos.</a:t>
            </a:r>
          </a:p>
          <a:p>
            <a:pPr lvl="3"/>
            <a:endParaRPr lang="pt-BR" dirty="0"/>
          </a:p>
          <a:p>
            <a:pPr lvl="2"/>
            <a:r>
              <a:rPr lang="pt-BR" dirty="0" smtClean="0"/>
              <a:t>Temos algumas transações de investimentos e financiamentos que não geram efeito sobre o caixa, são elas:</a:t>
            </a:r>
          </a:p>
          <a:p>
            <a:pPr lvl="3"/>
            <a:r>
              <a:rPr lang="pt-BR" dirty="0" smtClean="0"/>
              <a:t>Dividas convertidas em aumento de capital</a:t>
            </a:r>
          </a:p>
          <a:p>
            <a:pPr lvl="3"/>
            <a:r>
              <a:rPr lang="pt-BR" dirty="0" smtClean="0"/>
              <a:t>Aquisição de imobilizado via assunção de passivo especifico;</a:t>
            </a:r>
          </a:p>
          <a:p>
            <a:pPr lvl="3"/>
            <a:r>
              <a:rPr lang="pt-BR" dirty="0" smtClean="0"/>
              <a:t>Bem obtido por doação.</a:t>
            </a:r>
          </a:p>
          <a:p>
            <a:pPr lvl="2"/>
            <a:endParaRPr lang="pt-BR" dirty="0" smtClean="0"/>
          </a:p>
        </p:txBody>
      </p:sp>
    </p:spTree>
    <p:extLst>
      <p:ext uri="{BB962C8B-B14F-4D97-AF65-F5344CB8AC3E}">
        <p14:creationId xmlns:p14="http://schemas.microsoft.com/office/powerpoint/2010/main" val="3844095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normAutofit/>
          </a:bodyPr>
          <a:lstStyle/>
          <a:p>
            <a:r>
              <a:rPr lang="pt-BR" dirty="0" smtClean="0"/>
              <a:t>Formato da Demonstração do Fluxo de Caixa</a:t>
            </a:r>
          </a:p>
          <a:p>
            <a:endParaRPr lang="pt-BR" dirty="0" smtClean="0"/>
          </a:p>
          <a:p>
            <a:pPr lvl="1"/>
            <a:r>
              <a:rPr lang="pt-BR" dirty="0" smtClean="0"/>
              <a:t>Abaixo veremos um modelo simples desta Demonstração</a:t>
            </a:r>
          </a:p>
          <a:p>
            <a:pPr lvl="1"/>
            <a:endParaRPr lang="pt-BR" dirty="0"/>
          </a:p>
          <a:p>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5" name="Imagem 4"/>
          <p:cNvPicPr>
            <a:picLocks noChangeAspect="1"/>
          </p:cNvPicPr>
          <p:nvPr/>
        </p:nvPicPr>
        <p:blipFill rotWithShape="1">
          <a:blip r:embed="rId2"/>
          <a:srcRect l="9902" t="3924" r="9656" b="5434"/>
          <a:stretch/>
        </p:blipFill>
        <p:spPr>
          <a:xfrm>
            <a:off x="2562896" y="2820471"/>
            <a:ext cx="6420643" cy="3994411"/>
          </a:xfrm>
          <a:prstGeom prst="rect">
            <a:avLst/>
          </a:prstGeom>
        </p:spPr>
      </p:pic>
    </p:spTree>
    <p:extLst>
      <p:ext uri="{BB962C8B-B14F-4D97-AF65-F5344CB8AC3E}">
        <p14:creationId xmlns:p14="http://schemas.microsoft.com/office/powerpoint/2010/main" val="3731161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normAutofit/>
          </a:bodyPr>
          <a:lstStyle/>
          <a:p>
            <a:r>
              <a:rPr lang="pt-BR" dirty="0" smtClean="0"/>
              <a:t>Métodos de apuração da Demonstração do Fluxo de Caixa</a:t>
            </a:r>
          </a:p>
          <a:p>
            <a:endParaRPr lang="pt-BR" dirty="0"/>
          </a:p>
          <a:p>
            <a:pPr lvl="1"/>
            <a:r>
              <a:rPr lang="pt-BR" b="1" dirty="0" smtClean="0"/>
              <a:t>Método Direto: </a:t>
            </a:r>
            <a:r>
              <a:rPr lang="pt-BR" dirty="0" smtClean="0"/>
              <a:t>Método </a:t>
            </a:r>
            <a:r>
              <a:rPr lang="pt-BR" dirty="0"/>
              <a:t>em que são demonstrados os recebimentos e pagamentos derivados das seguintes atividades incorridas pela </a:t>
            </a:r>
            <a:r>
              <a:rPr lang="pt-BR" dirty="0" smtClean="0"/>
              <a:t>empresa:</a:t>
            </a:r>
          </a:p>
          <a:p>
            <a:pPr lvl="2"/>
            <a:r>
              <a:rPr lang="pt-BR" dirty="0" smtClean="0"/>
              <a:t>Atividades Operacionais;</a:t>
            </a:r>
          </a:p>
          <a:p>
            <a:pPr lvl="2"/>
            <a:r>
              <a:rPr lang="pt-BR" dirty="0" smtClean="0"/>
              <a:t>Atividades </a:t>
            </a:r>
            <a:r>
              <a:rPr lang="pt-BR" dirty="0"/>
              <a:t>de </a:t>
            </a:r>
            <a:r>
              <a:rPr lang="pt-BR" dirty="0" smtClean="0"/>
              <a:t>Investimentos;</a:t>
            </a:r>
          </a:p>
          <a:p>
            <a:pPr lvl="2"/>
            <a:r>
              <a:rPr lang="pt-BR" dirty="0" smtClean="0"/>
              <a:t>Atividades </a:t>
            </a:r>
            <a:r>
              <a:rPr lang="pt-BR" dirty="0"/>
              <a:t>de Financiamentos (Terceiros / </a:t>
            </a:r>
            <a:r>
              <a:rPr lang="pt-BR" dirty="0" smtClean="0"/>
              <a:t>Próprio)</a:t>
            </a:r>
          </a:p>
          <a:p>
            <a:pPr lvl="1"/>
            <a:endParaRPr lang="pt-BR" b="1" dirty="0" smtClean="0"/>
          </a:p>
          <a:p>
            <a:pPr lvl="1"/>
            <a:r>
              <a:rPr lang="pt-BR" b="1" dirty="0" smtClean="0"/>
              <a:t>Método Indireto: </a:t>
            </a:r>
            <a:r>
              <a:rPr lang="pt-BR" dirty="0" smtClean="0"/>
              <a:t>Método </a:t>
            </a:r>
            <a:r>
              <a:rPr lang="pt-BR" dirty="0"/>
              <a:t>em que são demonstrados os recursos gerados ou consumidos nas seguintes atividades da </a:t>
            </a:r>
            <a:r>
              <a:rPr lang="pt-BR" dirty="0" smtClean="0"/>
              <a:t>empresa:</a:t>
            </a:r>
          </a:p>
          <a:p>
            <a:pPr lvl="2"/>
            <a:r>
              <a:rPr lang="pt-BR" dirty="0" smtClean="0"/>
              <a:t>Atividades </a:t>
            </a:r>
            <a:r>
              <a:rPr lang="pt-BR" dirty="0"/>
              <a:t>Operacionais: apurado com base no lucro líquido, ajustado pelos valores que não afetam o caixa da empresa e, também pelas variações das contas operacionais registradas no Balanço </a:t>
            </a:r>
            <a:r>
              <a:rPr lang="pt-BR" dirty="0" smtClean="0"/>
              <a:t>Patrimonial;</a:t>
            </a:r>
          </a:p>
          <a:p>
            <a:pPr lvl="2"/>
            <a:r>
              <a:rPr lang="pt-BR" dirty="0" smtClean="0"/>
              <a:t>Atividades </a:t>
            </a:r>
            <a:r>
              <a:rPr lang="pt-BR" dirty="0"/>
              <a:t>de Investimentos – variações das contas de investimentos – </a:t>
            </a:r>
            <a:r>
              <a:rPr lang="pt-BR" dirty="0" smtClean="0"/>
              <a:t>BP;</a:t>
            </a:r>
          </a:p>
          <a:p>
            <a:pPr lvl="2"/>
            <a:r>
              <a:rPr lang="pt-BR" dirty="0" smtClean="0"/>
              <a:t>Atividades </a:t>
            </a:r>
            <a:r>
              <a:rPr lang="pt-BR" dirty="0"/>
              <a:t>de Financiamentos (Terceiros / Próprios) – variações das contas de financiamentos – </a:t>
            </a:r>
            <a:r>
              <a:rPr lang="pt-BR" dirty="0" smtClean="0"/>
              <a:t>Balanço Patrimonial</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1357971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b="1" dirty="0" smtClean="0"/>
              <a:t>Método Direto do Fluxo de Caixa</a:t>
            </a:r>
            <a:endParaRPr lang="pt-BR" b="1"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19</a:t>
            </a:fld>
            <a:endParaRPr lang="en-US" dirty="0"/>
          </a:p>
        </p:txBody>
      </p:sp>
      <p:pic>
        <p:nvPicPr>
          <p:cNvPr id="5" name="Imagem 4"/>
          <p:cNvPicPr>
            <a:picLocks noChangeAspect="1"/>
          </p:cNvPicPr>
          <p:nvPr/>
        </p:nvPicPr>
        <p:blipFill>
          <a:blip r:embed="rId2"/>
          <a:stretch>
            <a:fillRect/>
          </a:stretch>
        </p:blipFill>
        <p:spPr>
          <a:xfrm>
            <a:off x="1609859" y="1931831"/>
            <a:ext cx="10264462" cy="4835682"/>
          </a:xfrm>
          <a:prstGeom prst="rect">
            <a:avLst/>
          </a:prstGeom>
        </p:spPr>
      </p:pic>
    </p:spTree>
    <p:extLst>
      <p:ext uri="{BB962C8B-B14F-4D97-AF65-F5344CB8AC3E}">
        <p14:creationId xmlns:p14="http://schemas.microsoft.com/office/powerpoint/2010/main" val="1321430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Entrada de Recursos – Raciocínio Técnico do Modelo Direto</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5" name="Imagem 4"/>
          <p:cNvPicPr>
            <a:picLocks noChangeAspect="1"/>
          </p:cNvPicPr>
          <p:nvPr/>
        </p:nvPicPr>
        <p:blipFill>
          <a:blip r:embed="rId2"/>
          <a:stretch>
            <a:fillRect/>
          </a:stretch>
        </p:blipFill>
        <p:spPr>
          <a:xfrm>
            <a:off x="1077519" y="1966944"/>
            <a:ext cx="9908171" cy="4865298"/>
          </a:xfrm>
          <a:prstGeom prst="rect">
            <a:avLst/>
          </a:prstGeom>
        </p:spPr>
      </p:pic>
    </p:spTree>
    <p:extLst>
      <p:ext uri="{BB962C8B-B14F-4D97-AF65-F5344CB8AC3E}">
        <p14:creationId xmlns:p14="http://schemas.microsoft.com/office/powerpoint/2010/main" val="1855188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Saída de </a:t>
            </a:r>
            <a:r>
              <a:rPr lang="pt-BR" dirty="0"/>
              <a:t>Recursos – Raciocínio Técnico do Modelo Direto</a:t>
            </a:r>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7" name="Imagem 6"/>
          <p:cNvPicPr>
            <a:picLocks noChangeAspect="1"/>
          </p:cNvPicPr>
          <p:nvPr/>
        </p:nvPicPr>
        <p:blipFill rotWithShape="1">
          <a:blip r:embed="rId2"/>
          <a:srcRect l="19678" t="41857" r="37561" b="25396"/>
          <a:stretch/>
        </p:blipFill>
        <p:spPr>
          <a:xfrm>
            <a:off x="1884091" y="2408349"/>
            <a:ext cx="9668256" cy="4162723"/>
          </a:xfrm>
          <a:prstGeom prst="rect">
            <a:avLst/>
          </a:prstGeom>
        </p:spPr>
      </p:pic>
    </p:spTree>
    <p:extLst>
      <p:ext uri="{BB962C8B-B14F-4D97-AF65-F5344CB8AC3E}">
        <p14:creationId xmlns:p14="http://schemas.microsoft.com/office/powerpoint/2010/main" val="265280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b="1" dirty="0"/>
              <a:t>Método Direto do Fluxo de </a:t>
            </a:r>
            <a:r>
              <a:rPr lang="pt-BR" b="1" dirty="0" smtClean="0"/>
              <a:t>Caixa</a:t>
            </a:r>
            <a:endParaRPr lang="pt-BR" b="1"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22</a:t>
            </a:fld>
            <a:endParaRPr lang="en-US" dirty="0"/>
          </a:p>
        </p:txBody>
      </p:sp>
      <p:pic>
        <p:nvPicPr>
          <p:cNvPr id="5" name="Imagem 4"/>
          <p:cNvPicPr>
            <a:picLocks noChangeAspect="1"/>
          </p:cNvPicPr>
          <p:nvPr/>
        </p:nvPicPr>
        <p:blipFill rotWithShape="1">
          <a:blip r:embed="rId2"/>
          <a:srcRect l="11166" t="39392" r="31127" b="9023"/>
          <a:stretch/>
        </p:blipFill>
        <p:spPr>
          <a:xfrm>
            <a:off x="1483214" y="2369712"/>
            <a:ext cx="8716852" cy="4380854"/>
          </a:xfrm>
          <a:prstGeom prst="rect">
            <a:avLst/>
          </a:prstGeom>
        </p:spPr>
      </p:pic>
    </p:spTree>
    <p:extLst>
      <p:ext uri="{BB962C8B-B14F-4D97-AF65-F5344CB8AC3E}">
        <p14:creationId xmlns:p14="http://schemas.microsoft.com/office/powerpoint/2010/main" val="28116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Consumo de Recursos – Método Indireto</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23</a:t>
            </a:fld>
            <a:endParaRPr lang="en-US" dirty="0"/>
          </a:p>
        </p:txBody>
      </p:sp>
      <p:pic>
        <p:nvPicPr>
          <p:cNvPr id="5" name="Imagem 4"/>
          <p:cNvPicPr>
            <a:picLocks noChangeAspect="1"/>
          </p:cNvPicPr>
          <p:nvPr/>
        </p:nvPicPr>
        <p:blipFill rotWithShape="1">
          <a:blip r:embed="rId2"/>
          <a:srcRect l="12353" t="27553" r="31622" b="20687"/>
          <a:stretch/>
        </p:blipFill>
        <p:spPr>
          <a:xfrm>
            <a:off x="921695" y="2086378"/>
            <a:ext cx="10913990" cy="4555722"/>
          </a:xfrm>
          <a:prstGeom prst="rect">
            <a:avLst/>
          </a:prstGeom>
        </p:spPr>
      </p:pic>
    </p:spTree>
    <p:extLst>
      <p:ext uri="{BB962C8B-B14F-4D97-AF65-F5344CB8AC3E}">
        <p14:creationId xmlns:p14="http://schemas.microsoft.com/office/powerpoint/2010/main" val="954868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24</a:t>
            </a:fld>
            <a:endParaRPr lang="en-US" dirty="0"/>
          </a:p>
        </p:txBody>
      </p:sp>
      <p:pic>
        <p:nvPicPr>
          <p:cNvPr id="5" name="Imagem 1"/>
          <p:cNvPicPr>
            <a:picLocks noChangeAspect="1"/>
          </p:cNvPicPr>
          <p:nvPr/>
        </p:nvPicPr>
        <p:blipFill>
          <a:blip r:embed="rId2">
            <a:extLst>
              <a:ext uri="{28A0092B-C50C-407E-A947-70E740481C1C}">
                <a14:useLocalDpi xmlns:a14="http://schemas.microsoft.com/office/drawing/2010/main" val="0"/>
              </a:ext>
            </a:extLst>
          </a:blip>
          <a:srcRect l="5727" t="19420" r="32845" b="21454"/>
          <a:stretch>
            <a:fillRect/>
          </a:stretch>
        </p:blipFill>
        <p:spPr bwMode="auto">
          <a:xfrm>
            <a:off x="531812" y="1384300"/>
            <a:ext cx="8071275" cy="532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m 4"/>
          <p:cNvPicPr>
            <a:picLocks noChangeAspect="1"/>
          </p:cNvPicPr>
          <p:nvPr/>
        </p:nvPicPr>
        <p:blipFill>
          <a:blip r:embed="rId3">
            <a:extLst>
              <a:ext uri="{28A0092B-C50C-407E-A947-70E740481C1C}">
                <a14:useLocalDpi xmlns:a14="http://schemas.microsoft.com/office/drawing/2010/main" val="0"/>
              </a:ext>
            </a:extLst>
          </a:blip>
          <a:srcRect l="32845" t="29329" r="37823" b="11609"/>
          <a:stretch>
            <a:fillRect/>
          </a:stretch>
        </p:blipFill>
        <p:spPr bwMode="auto">
          <a:xfrm>
            <a:off x="8667861" y="1384300"/>
            <a:ext cx="3459744" cy="532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1105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Utilizando as demonstrações contábeis acima, podemos montar o quadro abaixo mostrando o que ocorreu o patrimônio líquido da empresa. Observação: mesmo gerando prejuízo a empresa pagou dividendos relativos ao ano anterior de R$ 200,00</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25</a:t>
            </a:fld>
            <a:endParaRPr lang="en-US" dirty="0"/>
          </a:p>
        </p:txBody>
      </p:sp>
      <p:pic>
        <p:nvPicPr>
          <p:cNvPr id="5" name="Imagem 2"/>
          <p:cNvPicPr>
            <a:picLocks noChangeAspect="1"/>
          </p:cNvPicPr>
          <p:nvPr/>
        </p:nvPicPr>
        <p:blipFill>
          <a:blip r:embed="rId2">
            <a:extLst>
              <a:ext uri="{28A0092B-C50C-407E-A947-70E740481C1C}">
                <a14:useLocalDpi xmlns:a14="http://schemas.microsoft.com/office/drawing/2010/main" val="0"/>
              </a:ext>
            </a:extLst>
          </a:blip>
          <a:srcRect l="36717" t="18500" r="31737" b="45078"/>
          <a:stretch>
            <a:fillRect/>
          </a:stretch>
        </p:blipFill>
        <p:spPr bwMode="auto">
          <a:xfrm>
            <a:off x="3463589" y="2705882"/>
            <a:ext cx="5929068" cy="384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9932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a:xfrm>
            <a:off x="1676400" y="1292538"/>
            <a:ext cx="10363199" cy="5143500"/>
          </a:xfrm>
        </p:spPr>
        <p:txBody>
          <a:bodyPr/>
          <a:lstStyle/>
          <a:p>
            <a:pPr lvl="1"/>
            <a:r>
              <a:rPr lang="pt-BR" dirty="0" smtClean="0"/>
              <a:t>Com o quadro de alteração do patrimônio líquido pronto, podemos montar a Demonstração das Origens e Aplicações de Recursos</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26</a:t>
            </a:fld>
            <a:endParaRPr lang="en-US" dirty="0"/>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rcRect l="33397" t="18500" r="37823" b="20470"/>
          <a:stretch>
            <a:fillRect/>
          </a:stretch>
        </p:blipFill>
        <p:spPr bwMode="auto">
          <a:xfrm>
            <a:off x="3414556" y="2008076"/>
            <a:ext cx="6402388" cy="4849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360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normAutofit/>
          </a:bodyPr>
          <a:lstStyle/>
          <a:p>
            <a:pPr lvl="1"/>
            <a:r>
              <a:rPr lang="pt-BR" dirty="0" smtClean="0"/>
              <a:t>Com a Demonstração das Origens e Aplicação de Recursos realizadas, verificamos que houve uma redução do capital circulante liquido da empresa, no valor de R$ 135,00. Podemos comprovar tal redução através deste encontro de contas (modelo abaixo), chamado de Movimento do Capital Circulante Liquido. </a:t>
            </a:r>
          </a:p>
          <a:p>
            <a:pPr lvl="1"/>
            <a:endParaRPr lang="pt-BR" dirty="0"/>
          </a:p>
          <a:p>
            <a:pPr lvl="1"/>
            <a:endParaRPr lang="pt-BR" dirty="0" smtClean="0"/>
          </a:p>
          <a:p>
            <a:pPr lvl="1"/>
            <a:endParaRPr lang="pt-BR" dirty="0"/>
          </a:p>
          <a:p>
            <a:pPr lvl="1"/>
            <a:endParaRPr lang="pt-BR" dirty="0" smtClean="0"/>
          </a:p>
          <a:p>
            <a:pPr lvl="1"/>
            <a:endParaRPr lang="pt-BR" dirty="0"/>
          </a:p>
          <a:p>
            <a:pPr lvl="1"/>
            <a:endParaRPr lang="pt-BR" dirty="0" smtClean="0"/>
          </a:p>
          <a:p>
            <a:pPr lvl="1"/>
            <a:r>
              <a:rPr lang="pt-BR" dirty="0" smtClean="0"/>
              <a:t>Podemos fazer as seguintes perguntas:</a:t>
            </a:r>
          </a:p>
          <a:p>
            <a:pPr lvl="2"/>
            <a:r>
              <a:rPr lang="pt-BR" altLang="pt-BR" dirty="0"/>
              <a:t>Verificamos que a empresa sofreu um prejuízo, tendo mesmo assim declarado dividendos com base nos Lucros Acumulados anteriores. Outro ponto a empresa efetuou investimentos no Ativo Imobilizado e pagou dividas de curto prazo.</a:t>
            </a:r>
          </a:p>
          <a:p>
            <a:pPr lvl="2"/>
            <a:r>
              <a:rPr lang="pt-BR" altLang="pt-BR" dirty="0"/>
              <a:t>Se a empresa gerou um resultado negativo, se verificarmos como ela aumentou o seu caixa?</a:t>
            </a:r>
          </a:p>
          <a:p>
            <a:pPr lvl="2"/>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27</a:t>
            </a:fld>
            <a:endParaRPr lang="en-US" dirty="0"/>
          </a:p>
        </p:txBody>
      </p:sp>
      <p:pic>
        <p:nvPicPr>
          <p:cNvPr id="5" name="Imagem 5"/>
          <p:cNvPicPr>
            <a:picLocks noChangeAspect="1"/>
          </p:cNvPicPr>
          <p:nvPr/>
        </p:nvPicPr>
        <p:blipFill>
          <a:blip r:embed="rId2">
            <a:extLst>
              <a:ext uri="{28A0092B-C50C-407E-A947-70E740481C1C}">
                <a14:useLocalDpi xmlns:a14="http://schemas.microsoft.com/office/drawing/2010/main" val="0"/>
              </a:ext>
            </a:extLst>
          </a:blip>
          <a:srcRect l="31183" t="17516" r="35611" b="61812"/>
          <a:stretch>
            <a:fillRect/>
          </a:stretch>
        </p:blipFill>
        <p:spPr bwMode="auto">
          <a:xfrm>
            <a:off x="2652533" y="2704562"/>
            <a:ext cx="7958137" cy="1943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4299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defRPr/>
            </a:pPr>
            <a:r>
              <a:rPr lang="pt-BR" altLang="pt-BR" dirty="0"/>
              <a:t>Primeiramente veremos a Demonstração das Entradas e Saídas de Caixa, que estaremos construindo com base nas informações das demonstrações financeiras publicadas.</a:t>
            </a:r>
          </a:p>
          <a:p>
            <a:pPr lvl="2">
              <a:defRPr/>
            </a:pPr>
            <a:r>
              <a:rPr lang="pt-BR" altLang="pt-BR" dirty="0"/>
              <a:t>R$ 9.000,00 (</a:t>
            </a:r>
            <a:r>
              <a:rPr lang="pt-BR" altLang="pt-BR" dirty="0" smtClean="0"/>
              <a:t>Vendas liquidas)</a:t>
            </a:r>
            <a:endParaRPr lang="pt-BR" altLang="pt-BR" dirty="0"/>
          </a:p>
          <a:p>
            <a:pPr lvl="2">
              <a:defRPr/>
            </a:pPr>
            <a:r>
              <a:rPr lang="pt-BR" altLang="pt-BR" dirty="0"/>
              <a:t>R$ 1.800.00 (Duplicatas a Receber 2013)</a:t>
            </a:r>
          </a:p>
          <a:p>
            <a:pPr lvl="2">
              <a:defRPr/>
            </a:pPr>
            <a:r>
              <a:rPr lang="pt-BR" altLang="pt-BR" dirty="0"/>
              <a:t>(R$ 2.030,00) (Duplicatas a Receber 2014)</a:t>
            </a:r>
          </a:p>
          <a:p>
            <a:pPr lvl="2">
              <a:defRPr/>
            </a:pPr>
            <a:r>
              <a:rPr lang="pt-BR" altLang="pt-BR" dirty="0" smtClean="0"/>
              <a:t>Total de R</a:t>
            </a:r>
            <a:r>
              <a:rPr lang="pt-BR" altLang="pt-BR" dirty="0"/>
              <a:t>$ 8.770,00</a:t>
            </a:r>
          </a:p>
          <a:p>
            <a:pPr lvl="1">
              <a:defRPr/>
            </a:pPr>
            <a:endParaRPr lang="pt-BR" altLang="pt-BR" dirty="0"/>
          </a:p>
          <a:p>
            <a:pPr lvl="2">
              <a:defRPr/>
            </a:pPr>
            <a:r>
              <a:rPr lang="pt-BR" altLang="pt-BR" dirty="0"/>
              <a:t>CMV = EI + C – EF</a:t>
            </a:r>
          </a:p>
          <a:p>
            <a:pPr lvl="2">
              <a:defRPr/>
            </a:pPr>
            <a:r>
              <a:rPr lang="pt-BR" altLang="pt-BR" dirty="0" smtClean="0"/>
              <a:t>R$ </a:t>
            </a:r>
            <a:r>
              <a:rPr lang="pt-BR" altLang="pt-BR" dirty="0"/>
              <a:t>6.700,00 = R$ 1.400,00 + C – R$ 1.185,00</a:t>
            </a:r>
          </a:p>
          <a:p>
            <a:pPr lvl="2">
              <a:defRPr/>
            </a:pPr>
            <a:r>
              <a:rPr lang="pt-BR" altLang="pt-BR" dirty="0"/>
              <a:t>R$ 6.700,00 – R$ 1.400,00 + R$ 1.185,00 = C</a:t>
            </a:r>
          </a:p>
          <a:p>
            <a:pPr lvl="2">
              <a:defRPr/>
            </a:pPr>
            <a:r>
              <a:rPr lang="pt-BR" altLang="pt-BR" dirty="0" smtClean="0"/>
              <a:t>C = R$ </a:t>
            </a:r>
            <a:r>
              <a:rPr lang="pt-BR" altLang="pt-BR" dirty="0"/>
              <a:t>6.485,00</a:t>
            </a:r>
          </a:p>
          <a:p>
            <a:pPr lvl="1">
              <a:defRPr/>
            </a:pPr>
            <a:endParaRPr lang="pt-BR" altLang="pt-BR" dirty="0"/>
          </a:p>
          <a:p>
            <a:pPr lvl="2">
              <a:defRPr/>
            </a:pPr>
            <a:r>
              <a:rPr lang="pt-BR" altLang="pt-BR" dirty="0"/>
              <a:t>C + Fornecedores - EI</a:t>
            </a:r>
          </a:p>
          <a:p>
            <a:pPr lvl="2">
              <a:defRPr/>
            </a:pPr>
            <a:r>
              <a:rPr lang="pt-BR" altLang="pt-BR" dirty="0" smtClean="0"/>
              <a:t>R$ </a:t>
            </a:r>
            <a:r>
              <a:rPr lang="pt-BR" altLang="pt-BR" dirty="0"/>
              <a:t>6.585,00 + R$ 1.100,00 – R$ </a:t>
            </a:r>
            <a:r>
              <a:rPr lang="pt-BR" altLang="pt-BR" dirty="0" smtClean="0"/>
              <a:t>1.400,00</a:t>
            </a:r>
          </a:p>
          <a:p>
            <a:pPr lvl="2">
              <a:defRPr/>
            </a:pPr>
            <a:r>
              <a:rPr lang="pt-BR" altLang="pt-BR" dirty="0" smtClean="0"/>
              <a:t>Total de R</a:t>
            </a:r>
            <a:r>
              <a:rPr lang="pt-BR" altLang="pt-BR" dirty="0"/>
              <a:t>$ 6.185,00</a:t>
            </a:r>
          </a:p>
          <a:p>
            <a:pPr marL="0" indent="0">
              <a:buNone/>
            </a:pP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2916568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Com os dados colocados na demonstração verificamos o saldo final do caixa. </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29</a:t>
            </a:fld>
            <a:endParaRPr lang="en-US" dirty="0"/>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rcRect l="34505" t="18501" r="33951" b="23422"/>
          <a:stretch>
            <a:fillRect/>
          </a:stretch>
        </p:blipFill>
        <p:spPr bwMode="auto">
          <a:xfrm>
            <a:off x="3122322" y="2031820"/>
            <a:ext cx="6769100" cy="469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0262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dirty="0" smtClean="0"/>
              <a:t>Os cálculos realizados anteriormente detalha as fontes de caixa da empresa, e onde que fora utilizado pela mesma. Com estes resultados prontos, podemos transformar o resultado econômico em resultado financeiro de caixa da seguinte forma.</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30</a:t>
            </a:fld>
            <a:endParaRPr lang="en-US" dirty="0"/>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rcRect l="47234" t="18500" r="20668" b="28345"/>
          <a:stretch>
            <a:fillRect/>
          </a:stretch>
        </p:blipFill>
        <p:spPr bwMode="auto">
          <a:xfrm>
            <a:off x="3113446" y="2584629"/>
            <a:ext cx="7058025" cy="407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679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altLang="pt-BR" dirty="0"/>
              <a:t>Para a construção da Demonstração do Fluxo Liquido de Caixa, temos que observar os seguintes pontos primeiramente, começando pelo seguinte.</a:t>
            </a:r>
          </a:p>
          <a:p>
            <a:pPr lvl="1"/>
            <a:endParaRPr lang="pt-BR" altLang="pt-BR" dirty="0" smtClean="0"/>
          </a:p>
          <a:p>
            <a:pPr lvl="1"/>
            <a:r>
              <a:rPr lang="pt-BR" altLang="pt-BR" b="1" dirty="0" smtClean="0"/>
              <a:t>Geração </a:t>
            </a:r>
            <a:r>
              <a:rPr lang="pt-BR" altLang="pt-BR" b="1" dirty="0"/>
              <a:t>Bruta de </a:t>
            </a:r>
            <a:r>
              <a:rPr lang="pt-BR" altLang="pt-BR" b="1" dirty="0" smtClean="0"/>
              <a:t>Caixa</a:t>
            </a:r>
          </a:p>
          <a:p>
            <a:pPr lvl="2"/>
            <a:r>
              <a:rPr lang="pt-BR" altLang="pt-BR" dirty="0"/>
              <a:t>O ajuste do lucro por despesas não desembolsáveis mostra o montante de caixa gerado pelas atividades econômicas, ou seja, pelas atividades comerciais. Com isto podemos realizar o seguinte cálculo abaixo:</a:t>
            </a:r>
          </a:p>
          <a:p>
            <a:pPr lvl="1"/>
            <a:endParaRPr lang="pt-BR" altLang="pt-BR" b="1" dirty="0" smtClean="0"/>
          </a:p>
          <a:p>
            <a:pPr lvl="1"/>
            <a:endParaRPr lang="pt-BR" altLang="pt-BR" dirty="0" smtClean="0"/>
          </a:p>
          <a:p>
            <a:pPr lvl="1"/>
            <a:endParaRPr lang="pt-BR" altLang="pt-BR" dirty="0"/>
          </a:p>
          <a:p>
            <a:pPr lvl="1"/>
            <a:endParaRPr lang="pt-BR" altLang="pt-BR" dirty="0" smtClean="0"/>
          </a:p>
          <a:p>
            <a:pPr lvl="1"/>
            <a:r>
              <a:rPr lang="pt-BR" altLang="pt-BR" b="1" dirty="0"/>
              <a:t>Geração Operacional de Caixa</a:t>
            </a:r>
          </a:p>
          <a:p>
            <a:pPr lvl="2"/>
            <a:r>
              <a:rPr lang="pt-BR" altLang="pt-BR" dirty="0"/>
              <a:t>O confronto das variações dos itens do Ativo Circulante Operacional e do Passivo Circulante Operacional resultam na variação da NCG – Necessidade de Capital de Giro.</a:t>
            </a:r>
          </a:p>
          <a:p>
            <a:pPr lvl="2"/>
            <a:r>
              <a:rPr lang="pt-BR" altLang="pt-BR" dirty="0"/>
              <a:t>Somando – se a Necessidade de Capital de Giro a Geração Bruta de Caixa teremos a Geração Operacional de Caixa</a:t>
            </a:r>
            <a:r>
              <a:rPr lang="pt-BR" altLang="pt-BR" dirty="0" smtClean="0"/>
              <a:t>.</a:t>
            </a:r>
          </a:p>
          <a:p>
            <a:pPr lvl="1"/>
            <a:endParaRPr lang="pt-BR" altLang="pt-BR" dirty="0"/>
          </a:p>
          <a:p>
            <a:pPr lvl="1"/>
            <a:endParaRPr lang="pt-BR" altLang="pt-BR" dirty="0"/>
          </a:p>
          <a:p>
            <a:pPr lvl="1"/>
            <a:endParaRPr lang="pt-BR" altLang="pt-BR" dirty="0" smtClean="0"/>
          </a:p>
          <a:p>
            <a:pPr lvl="1"/>
            <a:endParaRPr lang="pt-BR" alt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31</a:t>
            </a:fld>
            <a:endParaRPr lang="en-US" dirty="0"/>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76330" y="3625694"/>
            <a:ext cx="4974487" cy="889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795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endParaRPr lang="pt-BR" dirty="0" smtClean="0"/>
          </a:p>
          <a:p>
            <a:endParaRPr lang="pt-BR" dirty="0"/>
          </a:p>
          <a:p>
            <a:endParaRPr lang="pt-BR" dirty="0" smtClean="0"/>
          </a:p>
          <a:p>
            <a:endParaRPr lang="pt-BR" dirty="0"/>
          </a:p>
          <a:p>
            <a:endParaRPr lang="pt-BR" dirty="0" smtClean="0"/>
          </a:p>
          <a:p>
            <a:endParaRPr lang="pt-BR" dirty="0"/>
          </a:p>
          <a:p>
            <a:pPr lvl="1"/>
            <a:r>
              <a:rPr lang="pt-BR" b="1" dirty="0" smtClean="0"/>
              <a:t>Geração Corrente de Caixa</a:t>
            </a:r>
          </a:p>
          <a:p>
            <a:pPr lvl="2"/>
            <a:r>
              <a:rPr lang="pt-BR" altLang="pt-BR" dirty="0"/>
              <a:t>Com o valor da Geração Operacional de Caixa encontrado devemos somar a mesma a variação dos empréstimos bancários de curto prazo, com isto teremos a Geração Corrente de Caixa.</a:t>
            </a:r>
          </a:p>
          <a:p>
            <a:pPr lvl="1"/>
            <a:endParaRPr lang="pt-BR" altLang="pt-BR" dirty="0"/>
          </a:p>
          <a:p>
            <a:pPr lvl="2"/>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32</a:t>
            </a:fld>
            <a:endParaRPr lang="en-US" dirty="0"/>
          </a:p>
        </p:txBody>
      </p:sp>
      <p:pic>
        <p:nvPicPr>
          <p:cNvPr id="5" name="Imagem 5"/>
          <p:cNvPicPr>
            <a:picLocks noChangeAspect="1"/>
          </p:cNvPicPr>
          <p:nvPr/>
        </p:nvPicPr>
        <p:blipFill>
          <a:blip r:embed="rId2">
            <a:extLst>
              <a:ext uri="{28A0092B-C50C-407E-A947-70E740481C1C}">
                <a14:useLocalDpi xmlns:a14="http://schemas.microsoft.com/office/drawing/2010/main" val="0"/>
              </a:ext>
            </a:extLst>
          </a:blip>
          <a:srcRect l="44275" t="22578" r="24179" b="51828"/>
          <a:stretch>
            <a:fillRect/>
          </a:stretch>
        </p:blipFill>
        <p:spPr bwMode="auto">
          <a:xfrm>
            <a:off x="2681085" y="1384300"/>
            <a:ext cx="8096250" cy="228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m 6"/>
          <p:cNvPicPr>
            <a:picLocks noChangeAspect="1"/>
          </p:cNvPicPr>
          <p:nvPr/>
        </p:nvPicPr>
        <p:blipFill rotWithShape="1">
          <a:blip r:embed="rId3"/>
          <a:srcRect l="9987" t="8479" r="10043" b="5963"/>
          <a:stretch/>
        </p:blipFill>
        <p:spPr>
          <a:xfrm>
            <a:off x="2681085" y="4971247"/>
            <a:ext cx="8096250" cy="1429555"/>
          </a:xfrm>
          <a:prstGeom prst="rect">
            <a:avLst/>
          </a:prstGeom>
        </p:spPr>
      </p:pic>
    </p:spTree>
    <p:extLst>
      <p:ext uri="{BB962C8B-B14F-4D97-AF65-F5344CB8AC3E}">
        <p14:creationId xmlns:p14="http://schemas.microsoft.com/office/powerpoint/2010/main" val="3818404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pPr lvl="1"/>
            <a:r>
              <a:rPr lang="pt-BR" altLang="pt-BR" dirty="0"/>
              <a:t>Com todos os dados resolvidos anteriormente podemos montar a Demonstração do Fluxo Liquido de Caixa.</a:t>
            </a:r>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33</a:t>
            </a:fld>
            <a:endParaRPr lang="en-US" dirty="0"/>
          </a:p>
        </p:txBody>
      </p:sp>
      <p:pic>
        <p:nvPicPr>
          <p:cNvPr id="5" name="Imagem 4"/>
          <p:cNvPicPr>
            <a:picLocks noChangeAspect="1"/>
          </p:cNvPicPr>
          <p:nvPr/>
        </p:nvPicPr>
        <p:blipFill>
          <a:blip r:embed="rId2"/>
          <a:stretch>
            <a:fillRect/>
          </a:stretch>
        </p:blipFill>
        <p:spPr>
          <a:xfrm>
            <a:off x="3032426" y="2201547"/>
            <a:ext cx="7651143" cy="4566300"/>
          </a:xfrm>
          <a:prstGeom prst="rect">
            <a:avLst/>
          </a:prstGeom>
        </p:spPr>
      </p:pic>
    </p:spTree>
    <p:extLst>
      <p:ext uri="{BB962C8B-B14F-4D97-AF65-F5344CB8AC3E}">
        <p14:creationId xmlns:p14="http://schemas.microsoft.com/office/powerpoint/2010/main" val="3460889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34</a:t>
            </a:fld>
            <a:endParaRPr lang="en-US" dirty="0"/>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rcRect l="43721" t="16734" r="24733" b="35033"/>
          <a:stretch>
            <a:fillRect/>
          </a:stretch>
        </p:blipFill>
        <p:spPr bwMode="auto">
          <a:xfrm>
            <a:off x="3144547" y="1335087"/>
            <a:ext cx="6335713" cy="552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5790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FLUXO DE CAIXA</a:t>
            </a:r>
          </a:p>
        </p:txBody>
      </p:sp>
      <p:sp>
        <p:nvSpPr>
          <p:cNvPr id="3" name="Espaço Reservado para Conteúdo 2"/>
          <p:cNvSpPr>
            <a:spLocks noGrp="1"/>
          </p:cNvSpPr>
          <p:nvPr>
            <p:ph idx="1"/>
          </p:nvPr>
        </p:nvSpPr>
        <p:spPr/>
        <p:txBody>
          <a:bodyPr/>
          <a:lstStyle/>
          <a:p>
            <a:r>
              <a:rPr lang="pt-BR" dirty="0" smtClean="0"/>
              <a:t>Observações Gerais</a:t>
            </a:r>
          </a:p>
          <a:p>
            <a:pPr lvl="1"/>
            <a:r>
              <a:rPr lang="pt-BR" dirty="0" smtClean="0"/>
              <a:t>Papel dos Agentes</a:t>
            </a:r>
          </a:p>
          <a:p>
            <a:pPr lvl="2"/>
            <a:r>
              <a:rPr lang="pt-BR" dirty="0"/>
              <a:t>O equilíbrio financeiro de uma empresa é fator essencial no processo de continuidade;</a:t>
            </a:r>
          </a:p>
          <a:p>
            <a:pPr lvl="2"/>
            <a:r>
              <a:rPr lang="pt-BR" dirty="0"/>
              <a:t>Cabe aos gestores a administração e otimização dos recursos financeiros;</a:t>
            </a:r>
          </a:p>
          <a:p>
            <a:pPr lvl="2"/>
            <a:r>
              <a:rPr lang="pt-BR" dirty="0"/>
              <a:t>Cabe ao Contabilista exercer as melhores práticas, municiando os gestores com informações qualitativas e tempestivas, auxiliando-os no complexo processo de gestão financeira.</a:t>
            </a:r>
          </a:p>
          <a:p>
            <a:pPr lvl="2"/>
            <a:endParaRPr lang="pt-BR" dirty="0"/>
          </a:p>
          <a:p>
            <a:pPr lvl="1"/>
            <a:r>
              <a:rPr lang="pt-BR" dirty="0" smtClean="0"/>
              <a:t>Plano de Contas:</a:t>
            </a:r>
          </a:p>
          <a:p>
            <a:pPr lvl="2"/>
            <a:r>
              <a:rPr lang="pt-BR" dirty="0" smtClean="0"/>
              <a:t>Inteligente e focado no negócio</a:t>
            </a:r>
          </a:p>
          <a:p>
            <a:pPr lvl="2"/>
            <a:endParaRPr lang="pt-BR" dirty="0"/>
          </a:p>
          <a:p>
            <a:pPr lvl="1"/>
            <a:r>
              <a:rPr lang="pt-BR" dirty="0" smtClean="0"/>
              <a:t>Relatórios Gerenciais</a:t>
            </a:r>
          </a:p>
          <a:p>
            <a:pPr lvl="2"/>
            <a:r>
              <a:rPr lang="pt-BR" dirty="0"/>
              <a:t>Desenvolver um sistema de apuração e comunicação de </a:t>
            </a:r>
            <a:r>
              <a:rPr lang="pt-BR" dirty="0" smtClean="0"/>
              <a:t>informações financeiras</a:t>
            </a:r>
            <a:r>
              <a:rPr lang="pt-BR" dirty="0"/>
              <a:t>, geradas no ambiente da Contabilidade, com enfoque no </a:t>
            </a:r>
            <a:r>
              <a:rPr lang="pt-BR" dirty="0" smtClean="0"/>
              <a:t>Fluxo de </a:t>
            </a:r>
            <a:r>
              <a:rPr lang="pt-BR" dirty="0"/>
              <a:t>Caixa que auxiliem os gestores no processo de tomada de decisão</a:t>
            </a:r>
            <a:endParaRPr lang="pt-BR" dirty="0" smtClean="0"/>
          </a:p>
          <a:p>
            <a:pPr lvl="1"/>
            <a:endParaRPr lang="pt-BR" dirty="0"/>
          </a:p>
          <a:p>
            <a:pPr lvl="1"/>
            <a:endParaRPr lang="pt-BR" dirty="0" smtClean="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3173733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318197" y="2514600"/>
            <a:ext cx="9186415" cy="2262781"/>
          </a:xfrm>
        </p:spPr>
        <p:txBody>
          <a:bodyPr>
            <a:normAutofit fontScale="90000"/>
          </a:bodyPr>
          <a:lstStyle/>
          <a:p>
            <a:pPr algn="ctr"/>
            <a:r>
              <a:rPr lang="pt-BR" dirty="0"/>
              <a:t>ESTRUTURA DAS DEMONSTRAÇÕES CONTÁBEIS II</a:t>
            </a:r>
            <a:br>
              <a:rPr lang="pt-BR" dirty="0"/>
            </a:br>
            <a:r>
              <a:rPr lang="pt-BR" dirty="0"/>
              <a:t/>
            </a:r>
            <a:br>
              <a:rPr lang="pt-BR" dirty="0"/>
            </a:br>
            <a:r>
              <a:rPr lang="pt-BR" sz="2400" dirty="0"/>
              <a:t>Parte </a:t>
            </a:r>
            <a:r>
              <a:rPr lang="pt-BR" sz="2400" dirty="0" smtClean="0"/>
              <a:t>2 </a:t>
            </a:r>
            <a:r>
              <a:rPr lang="pt-BR" sz="2400" dirty="0"/>
              <a:t>– Demonstração do </a:t>
            </a:r>
            <a:r>
              <a:rPr lang="pt-BR" sz="2400" dirty="0" smtClean="0"/>
              <a:t>Resultado Abrangente</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30584342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RESULTADO ABRANGENTE</a:t>
            </a:r>
            <a:endParaRPr lang="pt-BR" dirty="0"/>
          </a:p>
        </p:txBody>
      </p:sp>
      <p:sp>
        <p:nvSpPr>
          <p:cNvPr id="3" name="Espaço Reservado para Conteúdo 2"/>
          <p:cNvSpPr>
            <a:spLocks noGrp="1"/>
          </p:cNvSpPr>
          <p:nvPr>
            <p:ph idx="1"/>
          </p:nvPr>
        </p:nvSpPr>
        <p:spPr/>
        <p:txBody>
          <a:bodyPr/>
          <a:lstStyle/>
          <a:p>
            <a:r>
              <a:rPr lang="pt-BR" dirty="0" smtClean="0"/>
              <a:t>Conceito:</a:t>
            </a:r>
          </a:p>
          <a:p>
            <a:pPr lvl="1"/>
            <a:r>
              <a:rPr lang="pt-BR" dirty="0"/>
              <a:t>Resultado abrangente é a mutação que ocorre no patrimônio líquido durante um período que resulta de transações e outros eventos que não derivados de transações com os sócios na sua qualidade de proprietários (o que exclui do conceito de resultado abrangente, por exemplo, aumentos e reduções do capital social), ou seja, é o resultado do exercício acrescido de ganhos ou perdas que eram reconhecidos direta e temporariamente na Demonstração das Mutações do Patrimônio Líquido</a:t>
            </a:r>
            <a:r>
              <a:rPr lang="pt-BR" dirty="0" smtClean="0"/>
              <a:t>.</a:t>
            </a:r>
          </a:p>
          <a:p>
            <a:pPr lvl="1"/>
            <a:r>
              <a:rPr lang="pt-BR" dirty="0"/>
              <a:t>O pronunciamento técnico CPC 26 – apresentação das demonstrações contábeis –, aprovado pela deliberação CVM nº 595/09 e Resolução CFC nº 1.185/09, determina a adoção de duas demonstrações: a do resultado do exercício e a do resultado abrangente</a:t>
            </a:r>
            <a:r>
              <a:rPr lang="pt-BR" dirty="0" smtClean="0"/>
              <a:t>.</a:t>
            </a:r>
          </a:p>
          <a:p>
            <a:pPr lvl="1"/>
            <a:r>
              <a:rPr lang="pt-BR" dirty="0"/>
              <a:t>A entidade deve apresentar todos os itens de receita e despesa realizados no período dentro da Demonstração do Resultado do Exercício (DRE</a:t>
            </a:r>
            <a:r>
              <a:rPr lang="pt-BR" dirty="0" smtClean="0"/>
              <a:t>).</a:t>
            </a:r>
          </a:p>
          <a:p>
            <a:pPr lvl="1"/>
            <a:r>
              <a:rPr lang="pt-BR" dirty="0"/>
              <a:t>As demais variações do patrimônio líquido (realização de reserva de reavaliação, enquanto houver saldo; certos ajustes de instrumentos financeiros; variações cambiais de investimento no interior e outros), que poderão transitar no futuro pelo resultado do período ou irem direto para lucros ou prejuízos acumulados, são apresentadas como Outros Resultados Abrangentes, dentro da Demonstração do Resultado Abrangente do Período</a:t>
            </a:r>
            <a:r>
              <a:rPr lang="pt-BR" dirty="0" smtClean="0"/>
              <a:t>.</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37</a:t>
            </a:fld>
            <a:endParaRPr lang="en-US" dirty="0"/>
          </a:p>
        </p:txBody>
      </p:sp>
    </p:spTree>
    <p:extLst>
      <p:ext uri="{BB962C8B-B14F-4D97-AF65-F5344CB8AC3E}">
        <p14:creationId xmlns:p14="http://schemas.microsoft.com/office/powerpoint/2010/main" val="2569031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RESULTADO ABRANGENTE</a:t>
            </a:r>
          </a:p>
        </p:txBody>
      </p:sp>
      <p:sp>
        <p:nvSpPr>
          <p:cNvPr id="3" name="Espaço Reservado para Conteúdo 2"/>
          <p:cNvSpPr>
            <a:spLocks noGrp="1"/>
          </p:cNvSpPr>
          <p:nvPr>
            <p:ph idx="1"/>
          </p:nvPr>
        </p:nvSpPr>
        <p:spPr/>
        <p:txBody>
          <a:bodyPr/>
          <a:lstStyle/>
          <a:p>
            <a:pPr lvl="1"/>
            <a:r>
              <a:rPr lang="pt-BR" dirty="0" smtClean="0"/>
              <a:t>Este conceito de resultado abrangente foi introduzido pela publicação </a:t>
            </a:r>
            <a:r>
              <a:rPr lang="pt-BR" dirty="0" err="1" smtClean="0"/>
              <a:t>Fasb</a:t>
            </a:r>
            <a:r>
              <a:rPr lang="pt-BR" dirty="0" smtClean="0"/>
              <a:t> </a:t>
            </a:r>
            <a:r>
              <a:rPr lang="pt-BR" dirty="0" err="1" smtClean="0"/>
              <a:t>Concepts</a:t>
            </a:r>
            <a:r>
              <a:rPr lang="pt-BR" dirty="0" smtClean="0"/>
              <a:t> Nº 3 e posteriormente pelo Nº 6 que define como “uma alteração no patrimônio líquido de uma sociedade durante o período decorrente de transações e outros eventos e circunstâncias não originadas dos sócios. Isso inclui todas as mudanças no patrimônio durante o período, exceto aquelas resultantes de investimentos dos sócios e distribuições aos sócios.</a:t>
            </a:r>
          </a:p>
          <a:p>
            <a:pPr lvl="1"/>
            <a:r>
              <a:rPr lang="pt-BR" dirty="0" smtClean="0"/>
              <a:t>Esta demonstração é uma importante ferramenta de analise gerencial, pois, respeitando o princípio de competência de exercícios, atualiza o capital próprio dos sócios, através do registro no patrimônio líquido (e não no resultado) das receitas e despesas incorridas porém de realização financeira “incerta”, uma vez que decorrem de investimentos de longo prazo, sem data prevista de resgate ou outra forma de alienação.</a:t>
            </a:r>
          </a:p>
          <a:p>
            <a:pPr lvl="1"/>
            <a:r>
              <a:rPr lang="pt-BR" dirty="0" smtClean="0"/>
              <a:t>O lucro abrangente representa a mudança no patrimônio líquido dos acionistas de uma companhia através da exclusão dos efeitos de novas injeções de capital e pagamento de dividendos. Os investidores devem prestar especial atenção a esse item, principalmente em função dos ajustes que são realizadas no lucro líquido para obtenção do lucro abrangente. Isso o torna uma medida mais confiável para a avaliação da realidade econômica de uma companhia, embora ainda apresente alguns problemas semelhantes ao lucro líquido, como, por exemplo, a definição de estimativas subjetivas como as taxas de depreciação de ativos, e consequentemente, da despesa </a:t>
            </a:r>
            <a:r>
              <a:rPr lang="pt-BR" smtClean="0"/>
              <a:t>com depreciação.</a:t>
            </a:r>
            <a:endParaRPr lang="pt-BR" dirty="0" smtClean="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38</a:t>
            </a:fld>
            <a:endParaRPr lang="en-US" dirty="0"/>
          </a:p>
        </p:txBody>
      </p:sp>
    </p:spTree>
    <p:extLst>
      <p:ext uri="{BB962C8B-B14F-4D97-AF65-F5344CB8AC3E}">
        <p14:creationId xmlns:p14="http://schemas.microsoft.com/office/powerpoint/2010/main" val="76835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RESULTADO ABRANGENTE</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39</a:t>
            </a:fld>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335" y="1569814"/>
            <a:ext cx="10966561" cy="505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473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RESULTADO ABRANGENTE</a:t>
            </a:r>
            <a:endParaRPr lang="pt-BR" dirty="0"/>
          </a:p>
        </p:txBody>
      </p:sp>
      <p:sp>
        <p:nvSpPr>
          <p:cNvPr id="3" name="Espaço Reservado para Conteúdo 2"/>
          <p:cNvSpPr>
            <a:spLocks noGrp="1"/>
          </p:cNvSpPr>
          <p:nvPr>
            <p:ph idx="1"/>
          </p:nvPr>
        </p:nvSpPr>
        <p:spPr/>
        <p:txBody>
          <a:bodyPr/>
          <a:lstStyle/>
          <a:p>
            <a:pPr lvl="1"/>
            <a:r>
              <a:rPr lang="pt-BR" dirty="0"/>
              <a:t>Exemplos de outros resultados abrangentes: </a:t>
            </a:r>
            <a:endParaRPr lang="pt-BR" dirty="0" smtClean="0"/>
          </a:p>
          <a:p>
            <a:pPr lvl="1"/>
            <a:r>
              <a:rPr lang="pt-BR" dirty="0" smtClean="0"/>
              <a:t>Reservas </a:t>
            </a:r>
            <a:r>
              <a:rPr lang="pt-BR" dirty="0"/>
              <a:t>de </a:t>
            </a:r>
            <a:r>
              <a:rPr lang="pt-BR" dirty="0" smtClean="0"/>
              <a:t>Reavaliação.</a:t>
            </a:r>
          </a:p>
          <a:p>
            <a:pPr lvl="2"/>
            <a:r>
              <a:rPr lang="pt-BR" dirty="0" smtClean="0"/>
              <a:t>Realização </a:t>
            </a:r>
            <a:r>
              <a:rPr lang="pt-BR" dirty="0"/>
              <a:t>de reserva de reavaliação; </a:t>
            </a:r>
            <a:endParaRPr lang="pt-BR" dirty="0" smtClean="0"/>
          </a:p>
          <a:p>
            <a:pPr lvl="2"/>
            <a:r>
              <a:rPr lang="pt-BR" dirty="0" smtClean="0"/>
              <a:t>Tributos </a:t>
            </a:r>
            <a:r>
              <a:rPr lang="pt-BR" dirty="0"/>
              <a:t>sobre a realização de reserva de </a:t>
            </a:r>
            <a:r>
              <a:rPr lang="pt-BR" dirty="0" smtClean="0"/>
              <a:t>reavaliação</a:t>
            </a:r>
          </a:p>
          <a:p>
            <a:pPr lvl="1"/>
            <a:endParaRPr lang="pt-BR" dirty="0"/>
          </a:p>
          <a:p>
            <a:pPr lvl="1"/>
            <a:r>
              <a:rPr lang="pt-BR" dirty="0" smtClean="0"/>
              <a:t>Ajustes </a:t>
            </a:r>
            <a:r>
              <a:rPr lang="pt-BR" dirty="0"/>
              <a:t>de avaliação patrimonial. </a:t>
            </a:r>
            <a:endParaRPr lang="pt-BR" dirty="0" smtClean="0"/>
          </a:p>
          <a:p>
            <a:pPr lvl="2"/>
            <a:r>
              <a:rPr lang="pt-BR" dirty="0" smtClean="0"/>
              <a:t>Ajustes </a:t>
            </a:r>
            <a:r>
              <a:rPr lang="pt-BR" dirty="0"/>
              <a:t>de instrumentos financeiros; </a:t>
            </a:r>
            <a:endParaRPr lang="pt-BR" dirty="0" smtClean="0"/>
          </a:p>
          <a:p>
            <a:pPr lvl="2"/>
            <a:r>
              <a:rPr lang="pt-BR" dirty="0" smtClean="0"/>
              <a:t>Tributos </a:t>
            </a:r>
            <a:r>
              <a:rPr lang="pt-BR" dirty="0"/>
              <a:t>sobre ajustes de instrumentos </a:t>
            </a:r>
            <a:r>
              <a:rPr lang="pt-BR" dirty="0" smtClean="0"/>
              <a:t>financeiros;</a:t>
            </a:r>
          </a:p>
          <a:p>
            <a:pPr lvl="2"/>
            <a:r>
              <a:rPr lang="pt-BR" dirty="0" smtClean="0"/>
              <a:t>Equivalência </a:t>
            </a:r>
            <a:r>
              <a:rPr lang="pt-BR" dirty="0"/>
              <a:t>patrimonial sobre ganhos abrangentes de </a:t>
            </a:r>
            <a:r>
              <a:rPr lang="pt-BR" dirty="0" smtClean="0"/>
              <a:t>coligadas;</a:t>
            </a:r>
          </a:p>
          <a:p>
            <a:pPr lvl="2"/>
            <a:r>
              <a:rPr lang="pt-BR" dirty="0" smtClean="0"/>
              <a:t>Reclassificação </a:t>
            </a:r>
            <a:r>
              <a:rPr lang="pt-BR" dirty="0"/>
              <a:t>para o resultado – ajustes de instrumentos financeiros;</a:t>
            </a:r>
            <a:endParaRPr lang="pt-BR" dirty="0" smtClean="0"/>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40</a:t>
            </a:fld>
            <a:endParaRPr lang="en-US" dirty="0"/>
          </a:p>
        </p:txBody>
      </p:sp>
    </p:spTree>
    <p:extLst>
      <p:ext uri="{BB962C8B-B14F-4D97-AF65-F5344CB8AC3E}">
        <p14:creationId xmlns:p14="http://schemas.microsoft.com/office/powerpoint/2010/main" val="1008648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RESULTADO ABRANGENTE</a:t>
            </a:r>
            <a:endParaRPr lang="pt-BR" dirty="0"/>
          </a:p>
        </p:txBody>
      </p:sp>
      <p:sp>
        <p:nvSpPr>
          <p:cNvPr id="3" name="Espaço Reservado para Conteúdo 2"/>
          <p:cNvSpPr>
            <a:spLocks noGrp="1"/>
          </p:cNvSpPr>
          <p:nvPr>
            <p:ph idx="1"/>
          </p:nvPr>
        </p:nvSpPr>
        <p:spPr/>
        <p:txBody>
          <a:bodyPr/>
          <a:lstStyle/>
          <a:p>
            <a:pPr lvl="1"/>
            <a:r>
              <a:rPr lang="pt-BR" dirty="0"/>
              <a:t>Em suma, a Demonstração do Resultado Abrangente compreende: </a:t>
            </a:r>
            <a:endParaRPr lang="pt-BR" dirty="0" smtClean="0"/>
          </a:p>
          <a:p>
            <a:pPr lvl="2"/>
            <a:r>
              <a:rPr lang="pt-BR" dirty="0" smtClean="0"/>
              <a:t>Resultado </a:t>
            </a:r>
            <a:r>
              <a:rPr lang="pt-BR" dirty="0"/>
              <a:t>do </a:t>
            </a:r>
            <a:r>
              <a:rPr lang="pt-BR" dirty="0" smtClean="0"/>
              <a:t>período,</a:t>
            </a:r>
          </a:p>
          <a:p>
            <a:pPr lvl="2"/>
            <a:r>
              <a:rPr lang="pt-BR" dirty="0" smtClean="0"/>
              <a:t>Outros </a:t>
            </a:r>
            <a:r>
              <a:rPr lang="pt-BR" dirty="0"/>
              <a:t>Resultados Abrangentes</a:t>
            </a:r>
            <a:r>
              <a:rPr lang="pt-BR" dirty="0" smtClean="0"/>
              <a:t>.</a:t>
            </a:r>
          </a:p>
          <a:p>
            <a:pPr lvl="1"/>
            <a:endParaRPr lang="pt-BR" dirty="0" smtClean="0"/>
          </a:p>
          <a:p>
            <a:pPr lvl="1"/>
            <a:endParaRPr lang="pt-BR" dirty="0"/>
          </a:p>
          <a:p>
            <a:pPr lvl="1"/>
            <a:endParaRPr lang="pt-BR" dirty="0" smtClean="0"/>
          </a:p>
          <a:p>
            <a:pPr lvl="1"/>
            <a:r>
              <a:rPr lang="pt-BR" dirty="0"/>
              <a:t>A DRA não é exigida pela lei societária (lei 6.404/76), mas foi incluída pelo CPC em decorrência das mudanças advindas das convergências às normas internacionais</a:t>
            </a:r>
            <a:r>
              <a:rPr lang="pt-BR" dirty="0" smtClean="0"/>
              <a:t>.</a:t>
            </a:r>
          </a:p>
          <a:p>
            <a:pPr lvl="1"/>
            <a:r>
              <a:rPr lang="pt-BR" dirty="0"/>
              <a:t>Essa demonstração pode ser apresentada separadamente ou dentro das mutações do patrimônio líquido.</a:t>
            </a:r>
          </a:p>
          <a:p>
            <a:pPr lvl="1"/>
            <a:endParaRPr lang="pt-BR" dirty="0"/>
          </a:p>
          <a:p>
            <a:pPr lvl="1"/>
            <a:endParaRPr lang="pt-BR" dirty="0" smtClean="0"/>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41</a:t>
            </a:fld>
            <a:endParaRPr lang="en-US" dirty="0"/>
          </a:p>
        </p:txBody>
      </p:sp>
      <p:pic>
        <p:nvPicPr>
          <p:cNvPr id="5" name="Imagem 4"/>
          <p:cNvPicPr>
            <a:picLocks noChangeAspect="1"/>
          </p:cNvPicPr>
          <p:nvPr/>
        </p:nvPicPr>
        <p:blipFill rotWithShape="1">
          <a:blip r:embed="rId2"/>
          <a:srcRect l="27498" t="65977" r="28851" b="25572"/>
          <a:stretch/>
        </p:blipFill>
        <p:spPr>
          <a:xfrm>
            <a:off x="2253801" y="2691684"/>
            <a:ext cx="8282736" cy="901521"/>
          </a:xfrm>
          <a:prstGeom prst="rect">
            <a:avLst/>
          </a:prstGeom>
        </p:spPr>
      </p:pic>
    </p:spTree>
    <p:extLst>
      <p:ext uri="{BB962C8B-B14F-4D97-AF65-F5344CB8AC3E}">
        <p14:creationId xmlns:p14="http://schemas.microsoft.com/office/powerpoint/2010/main" val="4038338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RESULTADO ABRANGENTE</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42</a:t>
            </a:fld>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306" y="1394271"/>
            <a:ext cx="10417467" cy="5314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7350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RESULTADO ABRANGENTE</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43</a:t>
            </a:fld>
            <a:endParaRPr lang="en-US"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160" y="1674254"/>
            <a:ext cx="11104999" cy="4250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9311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Autofit/>
          </a:bodyPr>
          <a:lstStyle/>
          <a:p>
            <a:pPr algn="ctr"/>
            <a:r>
              <a:rPr lang="pt-BR" sz="4000" dirty="0"/>
              <a:t>ESTRUTURA DAS DEMONSTRAÇÕES CONTÁBEIS II</a:t>
            </a:r>
            <a:br>
              <a:rPr lang="pt-BR" sz="4000" dirty="0"/>
            </a:br>
            <a:r>
              <a:rPr lang="pt-BR" sz="4000" dirty="0"/>
              <a:t/>
            </a:r>
            <a:br>
              <a:rPr lang="pt-BR" sz="4000" dirty="0"/>
            </a:br>
            <a:r>
              <a:rPr lang="pt-BR" sz="2000" dirty="0"/>
              <a:t>Parte </a:t>
            </a:r>
            <a:r>
              <a:rPr lang="pt-BR" sz="2000" dirty="0" smtClean="0"/>
              <a:t>3 </a:t>
            </a:r>
            <a:r>
              <a:rPr lang="pt-BR" sz="2000" dirty="0"/>
              <a:t>– Demonstração do </a:t>
            </a:r>
            <a:r>
              <a:rPr lang="pt-BR" sz="2000" dirty="0" smtClean="0"/>
              <a:t>Valor Adicionado</a:t>
            </a:r>
            <a:endParaRPr lang="pt-BR" sz="2000"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44</a:t>
            </a:fld>
            <a:endParaRPr lang="en-US" dirty="0"/>
          </a:p>
        </p:txBody>
      </p:sp>
    </p:spTree>
    <p:extLst>
      <p:ext uri="{BB962C8B-B14F-4D97-AF65-F5344CB8AC3E}">
        <p14:creationId xmlns:p14="http://schemas.microsoft.com/office/powerpoint/2010/main" val="1459644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VALOR ADICIONADO – DVA</a:t>
            </a:r>
            <a:endParaRPr lang="pt-BR" dirty="0"/>
          </a:p>
        </p:txBody>
      </p:sp>
      <p:sp>
        <p:nvSpPr>
          <p:cNvPr id="3" name="Espaço Reservado para Conteúdo 2"/>
          <p:cNvSpPr>
            <a:spLocks noGrp="1"/>
          </p:cNvSpPr>
          <p:nvPr>
            <p:ph idx="1"/>
          </p:nvPr>
        </p:nvSpPr>
        <p:spPr/>
        <p:txBody>
          <a:bodyPr/>
          <a:lstStyle/>
          <a:p>
            <a:r>
              <a:rPr lang="pt-BR" dirty="0" smtClean="0"/>
              <a:t>INTRODUÇÃO</a:t>
            </a:r>
          </a:p>
          <a:p>
            <a:pPr lvl="1"/>
            <a:r>
              <a:rPr lang="pt-BR" b="1" dirty="0" smtClean="0"/>
              <a:t>Contabilidade </a:t>
            </a:r>
            <a:r>
              <a:rPr lang="pt-BR" b="1" dirty="0"/>
              <a:t>Social: </a:t>
            </a:r>
            <a:endParaRPr lang="pt-BR" b="1" dirty="0" smtClean="0"/>
          </a:p>
          <a:p>
            <a:pPr lvl="1"/>
            <a:r>
              <a:rPr lang="pt-BR" dirty="0" smtClean="0"/>
              <a:t>Vinculada </a:t>
            </a:r>
            <a:r>
              <a:rPr lang="pt-BR" dirty="0"/>
              <a:t>a responsabilidade social da empresa; </a:t>
            </a:r>
            <a:endParaRPr lang="pt-BR" dirty="0" smtClean="0"/>
          </a:p>
          <a:p>
            <a:pPr lvl="1"/>
            <a:r>
              <a:rPr lang="pt-BR" dirty="0" smtClean="0"/>
              <a:t>Fornecer </a:t>
            </a:r>
            <a:r>
              <a:rPr lang="pt-BR" dirty="0"/>
              <a:t>informações para permitir aos usuários uma avaliação dos efeitos das atividades da empresa sobre a sociedade onde ela está </a:t>
            </a:r>
            <a:r>
              <a:rPr lang="pt-BR" dirty="0" smtClean="0"/>
              <a:t>inserida.</a:t>
            </a:r>
          </a:p>
          <a:p>
            <a:pPr lvl="1"/>
            <a:endParaRPr lang="pt-BR" dirty="0" smtClean="0"/>
          </a:p>
          <a:p>
            <a:pPr lvl="1"/>
            <a:r>
              <a:rPr lang="pt-BR" dirty="0" smtClean="0"/>
              <a:t>Surgiu </a:t>
            </a:r>
            <a:r>
              <a:rPr lang="pt-BR" dirty="0"/>
              <a:t>da necessidade da Contabilidade </a:t>
            </a:r>
            <a:r>
              <a:rPr lang="pt-BR" dirty="0" smtClean="0"/>
              <a:t>Social;</a:t>
            </a:r>
          </a:p>
          <a:p>
            <a:pPr lvl="1"/>
            <a:r>
              <a:rPr lang="pt-BR" dirty="0" smtClean="0"/>
              <a:t>França </a:t>
            </a:r>
            <a:r>
              <a:rPr lang="pt-BR" dirty="0"/>
              <a:t>precursora do Balanço </a:t>
            </a:r>
            <a:r>
              <a:rPr lang="pt-BR" dirty="0" smtClean="0"/>
              <a:t>Social;</a:t>
            </a:r>
          </a:p>
          <a:p>
            <a:pPr lvl="1"/>
            <a:r>
              <a:rPr lang="pt-BR" dirty="0" smtClean="0"/>
              <a:t>No </a:t>
            </a:r>
            <a:r>
              <a:rPr lang="pt-BR" dirty="0"/>
              <a:t>Brasil: </a:t>
            </a:r>
          </a:p>
          <a:p>
            <a:pPr lvl="2"/>
            <a:r>
              <a:rPr lang="pt-BR" dirty="0"/>
              <a:t>Betinho </a:t>
            </a:r>
          </a:p>
          <a:p>
            <a:pPr lvl="2"/>
            <a:r>
              <a:rPr lang="pt-BR" dirty="0"/>
              <a:t>Marta Suplicy, Maria da Conceição Tavares, Sandra </a:t>
            </a:r>
            <a:r>
              <a:rPr lang="pt-BR" dirty="0" err="1"/>
              <a:t>Starling</a:t>
            </a:r>
            <a:r>
              <a:rPr lang="pt-BR" dirty="0"/>
              <a:t>,</a:t>
            </a:r>
          </a:p>
          <a:p>
            <a:pPr lvl="2"/>
            <a:r>
              <a:rPr lang="pt-BR" dirty="0"/>
              <a:t>IBASE</a:t>
            </a:r>
          </a:p>
          <a:p>
            <a:pPr lvl="2"/>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45</a:t>
            </a:fld>
            <a:endParaRPr lang="en-US" dirty="0"/>
          </a:p>
        </p:txBody>
      </p:sp>
    </p:spTree>
    <p:extLst>
      <p:ext uri="{BB962C8B-B14F-4D97-AF65-F5344CB8AC3E}">
        <p14:creationId xmlns:p14="http://schemas.microsoft.com/office/powerpoint/2010/main" val="12973059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VALOR ADICIONADO – DVA</a:t>
            </a:r>
            <a:endParaRPr lang="pt-BR" dirty="0"/>
          </a:p>
        </p:txBody>
      </p:sp>
      <p:sp>
        <p:nvSpPr>
          <p:cNvPr id="3" name="Espaço Reservado para Conteúdo 2"/>
          <p:cNvSpPr>
            <a:spLocks noGrp="1"/>
          </p:cNvSpPr>
          <p:nvPr>
            <p:ph idx="1"/>
          </p:nvPr>
        </p:nvSpPr>
        <p:spPr/>
        <p:txBody>
          <a:bodyPr/>
          <a:lstStyle/>
          <a:p>
            <a:pPr lvl="1"/>
            <a:r>
              <a:rPr lang="pt-BR" dirty="0" smtClean="0"/>
              <a:t>Perspectiva do Balanço Social</a:t>
            </a:r>
          </a:p>
          <a:p>
            <a:pPr lvl="2"/>
            <a:endParaRPr lang="pt-BR" dirty="0" smtClean="0"/>
          </a:p>
          <a:p>
            <a:pPr lvl="2"/>
            <a:r>
              <a:rPr lang="pt-BR" dirty="0" smtClean="0"/>
              <a:t>Balanço </a:t>
            </a:r>
            <a:r>
              <a:rPr lang="pt-BR" dirty="0"/>
              <a:t>Social em sentido restrito: enfoque das pessoas;</a:t>
            </a:r>
          </a:p>
          <a:p>
            <a:pPr>
              <a:buFont typeface="Wingdings" pitchFamily="2" charset="2"/>
              <a:buNone/>
            </a:pPr>
            <a:endParaRPr lang="pt-BR" dirty="0"/>
          </a:p>
          <a:p>
            <a:pPr lvl="2"/>
            <a:r>
              <a:rPr lang="pt-BR" dirty="0"/>
              <a:t>Balanço Social Ecológico;</a:t>
            </a:r>
          </a:p>
          <a:p>
            <a:pPr>
              <a:buFont typeface="Wingdings" pitchFamily="2" charset="2"/>
              <a:buNone/>
            </a:pPr>
            <a:endParaRPr lang="pt-BR" dirty="0"/>
          </a:p>
          <a:p>
            <a:pPr lvl="2"/>
            <a:r>
              <a:rPr lang="pt-BR" dirty="0"/>
              <a:t>Responsabilidade Social da empresa;</a:t>
            </a:r>
          </a:p>
          <a:p>
            <a:pPr>
              <a:buFont typeface="Wingdings" pitchFamily="2" charset="2"/>
              <a:buNone/>
            </a:pPr>
            <a:endParaRPr lang="pt-BR" dirty="0"/>
          </a:p>
          <a:p>
            <a:pPr lvl="2"/>
            <a:r>
              <a:rPr lang="pt-BR" dirty="0"/>
              <a:t>Demonstração do Valor Adicionado.</a:t>
            </a:r>
          </a:p>
          <a:p>
            <a:pPr lvl="2"/>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4288094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VALOR ADICIONADO – DVA</a:t>
            </a:r>
            <a:endParaRPr lang="pt-BR" dirty="0"/>
          </a:p>
        </p:txBody>
      </p:sp>
      <p:sp>
        <p:nvSpPr>
          <p:cNvPr id="3" name="Espaço Reservado para Conteúdo 2"/>
          <p:cNvSpPr>
            <a:spLocks noGrp="1"/>
          </p:cNvSpPr>
          <p:nvPr>
            <p:ph idx="1"/>
          </p:nvPr>
        </p:nvSpPr>
        <p:spPr/>
        <p:txBody>
          <a:bodyPr/>
          <a:lstStyle/>
          <a:p>
            <a:pPr lvl="1"/>
            <a:r>
              <a:rPr lang="pt-BR" dirty="0" smtClean="0"/>
              <a:t>Responsabilidade social da contabilidade:</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47</a:t>
            </a:fld>
            <a:endParaRPr lang="en-US" dirty="0"/>
          </a:p>
        </p:txBody>
      </p:sp>
      <p:grpSp>
        <p:nvGrpSpPr>
          <p:cNvPr id="5" name="Grupo 4"/>
          <p:cNvGrpSpPr/>
          <p:nvPr/>
        </p:nvGrpSpPr>
        <p:grpSpPr>
          <a:xfrm>
            <a:off x="2266233" y="2334420"/>
            <a:ext cx="8500505" cy="3815189"/>
            <a:chOff x="-68244" y="1857364"/>
            <a:chExt cx="9212244" cy="4338049"/>
          </a:xfrm>
        </p:grpSpPr>
        <p:grpSp>
          <p:nvGrpSpPr>
            <p:cNvPr id="6" name="Group 26"/>
            <p:cNvGrpSpPr>
              <a:grpSpLocks/>
            </p:cNvGrpSpPr>
            <p:nvPr/>
          </p:nvGrpSpPr>
          <p:grpSpPr bwMode="auto">
            <a:xfrm>
              <a:off x="2857488" y="3071810"/>
              <a:ext cx="3314712" cy="1843090"/>
              <a:chOff x="1536" y="1440"/>
              <a:chExt cx="2352" cy="1296"/>
            </a:xfrm>
          </p:grpSpPr>
          <p:sp>
            <p:nvSpPr>
              <p:cNvPr id="26" name="Oval 2"/>
              <p:cNvSpPr>
                <a:spLocks noChangeArrowheads="1"/>
              </p:cNvSpPr>
              <p:nvPr/>
            </p:nvSpPr>
            <p:spPr bwMode="auto">
              <a:xfrm>
                <a:off x="1536" y="1440"/>
                <a:ext cx="2352" cy="1296"/>
              </a:xfrm>
              <a:prstGeom prst="ellipse">
                <a:avLst/>
              </a:prstGeom>
              <a:solidFill>
                <a:srgbClr val="FFFFCC"/>
              </a:solidFill>
              <a:ln>
                <a:solidFill>
                  <a:schemeClr val="accent2">
                    <a:lumMod val="60000"/>
                    <a:lumOff val="40000"/>
                  </a:schemeClr>
                </a:solidFill>
                <a:headEnd/>
                <a:tailEnd/>
              </a:ln>
              <a:effectLst>
                <a:glow rad="228600">
                  <a:schemeClr val="accent2">
                    <a:satMod val="175000"/>
                    <a:alpha val="40000"/>
                  </a:schemeClr>
                </a:glow>
              </a:effectLst>
            </p:spPr>
            <p:style>
              <a:lnRef idx="2">
                <a:schemeClr val="dk1"/>
              </a:lnRef>
              <a:fillRef idx="1">
                <a:schemeClr val="lt1"/>
              </a:fillRef>
              <a:effectRef idx="0">
                <a:schemeClr val="dk1"/>
              </a:effectRef>
              <a:fontRef idx="minor">
                <a:schemeClr val="dk1"/>
              </a:fontRef>
            </p:style>
            <p:txBody>
              <a:bodyPr wrap="none" anchor="ctr"/>
              <a:lstStyle/>
              <a:p>
                <a:pPr>
                  <a:defRPr/>
                </a:pPr>
                <a:endParaRPr lang="pt-BR" sz="1050"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27" name="Text Box 3"/>
              <p:cNvSpPr txBox="1">
                <a:spLocks noChangeArrowheads="1"/>
              </p:cNvSpPr>
              <p:nvPr/>
            </p:nvSpPr>
            <p:spPr bwMode="auto">
              <a:xfrm>
                <a:off x="1968" y="1776"/>
                <a:ext cx="1584" cy="418"/>
              </a:xfrm>
              <a:prstGeom prst="rect">
                <a:avLst/>
              </a:prstGeom>
              <a:noFill/>
              <a:ln w="9525">
                <a:noFill/>
                <a:miter lim="800000"/>
                <a:headEnd/>
                <a:tailEnd/>
              </a:ln>
            </p:spPr>
            <p:txBody>
              <a:bodyPr>
                <a:spAutoFit/>
              </a:bodyPr>
              <a:lstStyle/>
              <a:p>
                <a:pPr>
                  <a:spcBef>
                    <a:spcPct val="50000"/>
                  </a:spcBef>
                </a:pPr>
                <a:r>
                  <a:rPr lang="pt-BR" sz="2800" dirty="0"/>
                  <a:t>Empresa </a:t>
                </a:r>
              </a:p>
            </p:txBody>
          </p:sp>
        </p:grpSp>
        <p:grpSp>
          <p:nvGrpSpPr>
            <p:cNvPr id="7" name="Group 28"/>
            <p:cNvGrpSpPr>
              <a:grpSpLocks/>
            </p:cNvGrpSpPr>
            <p:nvPr/>
          </p:nvGrpSpPr>
          <p:grpSpPr bwMode="auto">
            <a:xfrm>
              <a:off x="571472" y="1857364"/>
              <a:ext cx="8572528" cy="4338049"/>
              <a:chOff x="192" y="672"/>
              <a:chExt cx="5568" cy="2870"/>
            </a:xfrm>
          </p:grpSpPr>
          <p:sp>
            <p:nvSpPr>
              <p:cNvPr id="19" name="Text Box 4"/>
              <p:cNvSpPr txBox="1">
                <a:spLocks noChangeArrowheads="1"/>
              </p:cNvSpPr>
              <p:nvPr/>
            </p:nvSpPr>
            <p:spPr bwMode="auto">
              <a:xfrm>
                <a:off x="288" y="672"/>
                <a:ext cx="1824" cy="278"/>
              </a:xfrm>
              <a:prstGeom prst="rect">
                <a:avLst/>
              </a:prstGeom>
              <a:noFill/>
              <a:ln w="9525">
                <a:noFill/>
                <a:miter lim="800000"/>
                <a:headEnd/>
                <a:tailEnd/>
              </a:ln>
            </p:spPr>
            <p:txBody>
              <a:bodyPr>
                <a:spAutoFit/>
              </a:bodyPr>
              <a:lstStyle/>
              <a:p>
                <a:pPr>
                  <a:spcBef>
                    <a:spcPct val="50000"/>
                  </a:spcBef>
                </a:pPr>
                <a:r>
                  <a:rPr lang="pt-BR" dirty="0"/>
                  <a:t>Fornecedores </a:t>
                </a:r>
              </a:p>
            </p:txBody>
          </p:sp>
          <p:sp>
            <p:nvSpPr>
              <p:cNvPr id="20" name="Text Box 5"/>
              <p:cNvSpPr txBox="1">
                <a:spLocks noChangeArrowheads="1"/>
              </p:cNvSpPr>
              <p:nvPr/>
            </p:nvSpPr>
            <p:spPr bwMode="auto">
              <a:xfrm>
                <a:off x="2256" y="720"/>
                <a:ext cx="1632" cy="278"/>
              </a:xfrm>
              <a:prstGeom prst="rect">
                <a:avLst/>
              </a:prstGeom>
              <a:noFill/>
              <a:ln w="9525">
                <a:noFill/>
                <a:miter lim="800000"/>
                <a:headEnd/>
                <a:tailEnd/>
              </a:ln>
            </p:spPr>
            <p:txBody>
              <a:bodyPr>
                <a:spAutoFit/>
              </a:bodyPr>
              <a:lstStyle/>
              <a:p>
                <a:pPr>
                  <a:spcBef>
                    <a:spcPct val="50000"/>
                  </a:spcBef>
                </a:pPr>
                <a:r>
                  <a:rPr lang="pt-BR"/>
                  <a:t>Empregados</a:t>
                </a:r>
              </a:p>
            </p:txBody>
          </p:sp>
          <p:sp>
            <p:nvSpPr>
              <p:cNvPr id="21" name="Text Box 6"/>
              <p:cNvSpPr txBox="1">
                <a:spLocks noChangeArrowheads="1"/>
              </p:cNvSpPr>
              <p:nvPr/>
            </p:nvSpPr>
            <p:spPr bwMode="auto">
              <a:xfrm>
                <a:off x="4176" y="864"/>
                <a:ext cx="1344" cy="278"/>
              </a:xfrm>
              <a:prstGeom prst="rect">
                <a:avLst/>
              </a:prstGeom>
              <a:noFill/>
              <a:ln w="9525">
                <a:noFill/>
                <a:miter lim="800000"/>
                <a:headEnd/>
                <a:tailEnd/>
              </a:ln>
            </p:spPr>
            <p:txBody>
              <a:bodyPr>
                <a:spAutoFit/>
              </a:bodyPr>
              <a:lstStyle/>
              <a:p>
                <a:pPr>
                  <a:spcBef>
                    <a:spcPct val="50000"/>
                  </a:spcBef>
                </a:pPr>
                <a:r>
                  <a:rPr lang="pt-BR"/>
                  <a:t>Governo</a:t>
                </a:r>
              </a:p>
            </p:txBody>
          </p:sp>
          <p:sp>
            <p:nvSpPr>
              <p:cNvPr id="22" name="Text Box 7"/>
              <p:cNvSpPr txBox="1">
                <a:spLocks noChangeArrowheads="1"/>
              </p:cNvSpPr>
              <p:nvPr/>
            </p:nvSpPr>
            <p:spPr bwMode="auto">
              <a:xfrm>
                <a:off x="4464" y="1872"/>
                <a:ext cx="1296" cy="278"/>
              </a:xfrm>
              <a:prstGeom prst="rect">
                <a:avLst/>
              </a:prstGeom>
              <a:noFill/>
              <a:ln w="9525">
                <a:noFill/>
                <a:miter lim="800000"/>
                <a:headEnd/>
                <a:tailEnd/>
              </a:ln>
            </p:spPr>
            <p:txBody>
              <a:bodyPr>
                <a:spAutoFit/>
              </a:bodyPr>
              <a:lstStyle/>
              <a:p>
                <a:pPr>
                  <a:spcBef>
                    <a:spcPct val="50000"/>
                  </a:spcBef>
                </a:pPr>
                <a:r>
                  <a:rPr lang="pt-BR"/>
                  <a:t>Clientes</a:t>
                </a:r>
              </a:p>
            </p:txBody>
          </p:sp>
          <p:sp>
            <p:nvSpPr>
              <p:cNvPr id="23" name="Text Box 8"/>
              <p:cNvSpPr txBox="1">
                <a:spLocks noChangeArrowheads="1"/>
              </p:cNvSpPr>
              <p:nvPr/>
            </p:nvSpPr>
            <p:spPr bwMode="auto">
              <a:xfrm>
                <a:off x="192" y="3120"/>
                <a:ext cx="1728" cy="278"/>
              </a:xfrm>
              <a:prstGeom prst="rect">
                <a:avLst/>
              </a:prstGeom>
              <a:noFill/>
              <a:ln w="9525">
                <a:noFill/>
                <a:miter lim="800000"/>
                <a:headEnd/>
                <a:tailEnd/>
              </a:ln>
            </p:spPr>
            <p:txBody>
              <a:bodyPr>
                <a:spAutoFit/>
              </a:bodyPr>
              <a:lstStyle/>
              <a:p>
                <a:pPr>
                  <a:spcBef>
                    <a:spcPct val="50000"/>
                  </a:spcBef>
                </a:pPr>
                <a:r>
                  <a:rPr lang="pt-BR"/>
                  <a:t>Financiadores </a:t>
                </a:r>
              </a:p>
            </p:txBody>
          </p:sp>
          <p:sp>
            <p:nvSpPr>
              <p:cNvPr id="24" name="Text Box 10"/>
              <p:cNvSpPr txBox="1">
                <a:spLocks noChangeArrowheads="1"/>
              </p:cNvSpPr>
              <p:nvPr/>
            </p:nvSpPr>
            <p:spPr bwMode="auto">
              <a:xfrm>
                <a:off x="2016" y="3264"/>
                <a:ext cx="1680" cy="278"/>
              </a:xfrm>
              <a:prstGeom prst="rect">
                <a:avLst/>
              </a:prstGeom>
              <a:noFill/>
              <a:ln w="9525">
                <a:noFill/>
                <a:miter lim="800000"/>
                <a:headEnd/>
                <a:tailEnd/>
              </a:ln>
            </p:spPr>
            <p:txBody>
              <a:bodyPr>
                <a:spAutoFit/>
              </a:bodyPr>
              <a:lstStyle/>
              <a:p>
                <a:pPr>
                  <a:spcBef>
                    <a:spcPct val="50000"/>
                  </a:spcBef>
                </a:pPr>
                <a:r>
                  <a:rPr lang="pt-BR"/>
                  <a:t>Sociedade </a:t>
                </a:r>
              </a:p>
            </p:txBody>
          </p:sp>
          <p:sp>
            <p:nvSpPr>
              <p:cNvPr id="25" name="Text Box 12"/>
              <p:cNvSpPr txBox="1">
                <a:spLocks noChangeArrowheads="1"/>
              </p:cNvSpPr>
              <p:nvPr/>
            </p:nvSpPr>
            <p:spPr bwMode="auto">
              <a:xfrm>
                <a:off x="3840" y="3024"/>
                <a:ext cx="1584" cy="278"/>
              </a:xfrm>
              <a:prstGeom prst="rect">
                <a:avLst/>
              </a:prstGeom>
              <a:noFill/>
              <a:ln w="9525">
                <a:noFill/>
                <a:miter lim="800000"/>
                <a:headEnd/>
                <a:tailEnd/>
              </a:ln>
            </p:spPr>
            <p:txBody>
              <a:bodyPr>
                <a:spAutoFit/>
              </a:bodyPr>
              <a:lstStyle/>
              <a:p>
                <a:pPr>
                  <a:spcBef>
                    <a:spcPct val="50000"/>
                  </a:spcBef>
                </a:pPr>
                <a:r>
                  <a:rPr lang="pt-BR"/>
                  <a:t>Sindicatos</a:t>
                </a:r>
              </a:p>
            </p:txBody>
          </p:sp>
        </p:grpSp>
        <p:grpSp>
          <p:nvGrpSpPr>
            <p:cNvPr id="8" name="Group 29"/>
            <p:cNvGrpSpPr>
              <a:grpSpLocks/>
            </p:cNvGrpSpPr>
            <p:nvPr/>
          </p:nvGrpSpPr>
          <p:grpSpPr bwMode="auto">
            <a:xfrm>
              <a:off x="-68244" y="2286016"/>
              <a:ext cx="7283450" cy="3429000"/>
              <a:chOff x="-172" y="1008"/>
              <a:chExt cx="4588" cy="2160"/>
            </a:xfrm>
          </p:grpSpPr>
          <p:sp>
            <p:nvSpPr>
              <p:cNvPr id="9" name="Text Box 9"/>
              <p:cNvSpPr txBox="1">
                <a:spLocks noChangeArrowheads="1"/>
              </p:cNvSpPr>
              <p:nvPr/>
            </p:nvSpPr>
            <p:spPr bwMode="auto">
              <a:xfrm>
                <a:off x="-172" y="1824"/>
                <a:ext cx="1324" cy="287"/>
              </a:xfrm>
              <a:prstGeom prst="rect">
                <a:avLst/>
              </a:prstGeom>
              <a:noFill/>
              <a:ln w="9525">
                <a:noFill/>
                <a:miter lim="800000"/>
                <a:headEnd/>
                <a:tailEnd/>
              </a:ln>
            </p:spPr>
            <p:txBody>
              <a:bodyPr wrap="square">
                <a:spAutoFit/>
              </a:bodyPr>
              <a:lstStyle/>
              <a:p>
                <a:pPr>
                  <a:spcBef>
                    <a:spcPct val="50000"/>
                  </a:spcBef>
                </a:pPr>
                <a:r>
                  <a:rPr lang="pt-BR" sz="2000" dirty="0"/>
                  <a:t>Acionistas</a:t>
                </a:r>
              </a:p>
            </p:txBody>
          </p:sp>
          <p:grpSp>
            <p:nvGrpSpPr>
              <p:cNvPr id="10" name="Group 27"/>
              <p:cNvGrpSpPr>
                <a:grpSpLocks/>
              </p:cNvGrpSpPr>
              <p:nvPr/>
            </p:nvGrpSpPr>
            <p:grpSpPr bwMode="auto">
              <a:xfrm>
                <a:off x="1008" y="1008"/>
                <a:ext cx="3408" cy="2160"/>
                <a:chOff x="1008" y="1008"/>
                <a:chExt cx="3408" cy="2160"/>
              </a:xfrm>
            </p:grpSpPr>
            <p:sp>
              <p:nvSpPr>
                <p:cNvPr id="12" name="Line 15"/>
                <p:cNvSpPr>
                  <a:spLocks noChangeShapeType="1"/>
                </p:cNvSpPr>
                <p:nvPr/>
              </p:nvSpPr>
              <p:spPr bwMode="auto">
                <a:xfrm flipH="1" flipV="1">
                  <a:off x="1008" y="1008"/>
                  <a:ext cx="672" cy="672"/>
                </a:xfrm>
                <a:prstGeom prst="line">
                  <a:avLst/>
                </a:prstGeom>
                <a:noFill/>
                <a:ln w="38100">
                  <a:solidFill>
                    <a:schemeClr val="tx1"/>
                  </a:solidFill>
                  <a:round/>
                  <a:headEnd/>
                  <a:tailEnd type="triangle" w="med" len="med"/>
                </a:ln>
              </p:spPr>
              <p:txBody>
                <a:bodyPr/>
                <a:lstStyle/>
                <a:p>
                  <a:endParaRPr lang="pt-BR" sz="1400"/>
                </a:p>
              </p:txBody>
            </p:sp>
            <p:sp>
              <p:nvSpPr>
                <p:cNvPr id="13" name="Line 16"/>
                <p:cNvSpPr>
                  <a:spLocks noChangeShapeType="1"/>
                </p:cNvSpPr>
                <p:nvPr/>
              </p:nvSpPr>
              <p:spPr bwMode="auto">
                <a:xfrm flipV="1">
                  <a:off x="2736" y="1008"/>
                  <a:ext cx="0" cy="384"/>
                </a:xfrm>
                <a:prstGeom prst="line">
                  <a:avLst/>
                </a:prstGeom>
                <a:noFill/>
                <a:ln w="38100">
                  <a:solidFill>
                    <a:schemeClr val="tx1"/>
                  </a:solidFill>
                  <a:round/>
                  <a:headEnd/>
                  <a:tailEnd type="triangle" w="med" len="med"/>
                </a:ln>
              </p:spPr>
              <p:txBody>
                <a:bodyPr/>
                <a:lstStyle/>
                <a:p>
                  <a:endParaRPr lang="pt-BR" sz="1400"/>
                </a:p>
              </p:txBody>
            </p:sp>
            <p:sp>
              <p:nvSpPr>
                <p:cNvPr id="14" name="Line 17"/>
                <p:cNvSpPr>
                  <a:spLocks noChangeShapeType="1"/>
                </p:cNvSpPr>
                <p:nvPr/>
              </p:nvSpPr>
              <p:spPr bwMode="auto">
                <a:xfrm flipV="1">
                  <a:off x="3552" y="1248"/>
                  <a:ext cx="816" cy="384"/>
                </a:xfrm>
                <a:prstGeom prst="line">
                  <a:avLst/>
                </a:prstGeom>
                <a:noFill/>
                <a:ln w="38100">
                  <a:solidFill>
                    <a:schemeClr val="tx1"/>
                  </a:solidFill>
                  <a:round/>
                  <a:headEnd/>
                  <a:tailEnd type="triangle" w="med" len="med"/>
                </a:ln>
              </p:spPr>
              <p:txBody>
                <a:bodyPr/>
                <a:lstStyle/>
                <a:p>
                  <a:endParaRPr lang="pt-BR" sz="1400"/>
                </a:p>
              </p:txBody>
            </p:sp>
            <p:sp>
              <p:nvSpPr>
                <p:cNvPr id="15" name="Line 18"/>
                <p:cNvSpPr>
                  <a:spLocks noChangeShapeType="1"/>
                </p:cNvSpPr>
                <p:nvPr/>
              </p:nvSpPr>
              <p:spPr bwMode="auto">
                <a:xfrm>
                  <a:off x="3888" y="2064"/>
                  <a:ext cx="528" cy="0"/>
                </a:xfrm>
                <a:prstGeom prst="line">
                  <a:avLst/>
                </a:prstGeom>
                <a:noFill/>
                <a:ln w="38100">
                  <a:solidFill>
                    <a:schemeClr val="tx1"/>
                  </a:solidFill>
                  <a:round/>
                  <a:headEnd/>
                  <a:tailEnd type="triangle" w="med" len="med"/>
                </a:ln>
              </p:spPr>
              <p:txBody>
                <a:bodyPr/>
                <a:lstStyle/>
                <a:p>
                  <a:endParaRPr lang="pt-BR" sz="1400"/>
                </a:p>
              </p:txBody>
            </p:sp>
            <p:sp>
              <p:nvSpPr>
                <p:cNvPr id="16" name="Line 19"/>
                <p:cNvSpPr>
                  <a:spLocks noChangeShapeType="1"/>
                </p:cNvSpPr>
                <p:nvPr/>
              </p:nvSpPr>
              <p:spPr bwMode="auto">
                <a:xfrm>
                  <a:off x="3552" y="2592"/>
                  <a:ext cx="432" cy="336"/>
                </a:xfrm>
                <a:prstGeom prst="line">
                  <a:avLst/>
                </a:prstGeom>
                <a:noFill/>
                <a:ln w="38100">
                  <a:solidFill>
                    <a:schemeClr val="tx1"/>
                  </a:solidFill>
                  <a:round/>
                  <a:headEnd/>
                  <a:tailEnd type="triangle" w="med" len="med"/>
                </a:ln>
              </p:spPr>
              <p:txBody>
                <a:bodyPr/>
                <a:lstStyle/>
                <a:p>
                  <a:endParaRPr lang="pt-BR" sz="1400"/>
                </a:p>
              </p:txBody>
            </p:sp>
            <p:sp>
              <p:nvSpPr>
                <p:cNvPr id="17" name="Line 20"/>
                <p:cNvSpPr>
                  <a:spLocks noChangeShapeType="1"/>
                </p:cNvSpPr>
                <p:nvPr/>
              </p:nvSpPr>
              <p:spPr bwMode="auto">
                <a:xfrm>
                  <a:off x="2736" y="2736"/>
                  <a:ext cx="0" cy="432"/>
                </a:xfrm>
                <a:prstGeom prst="line">
                  <a:avLst/>
                </a:prstGeom>
                <a:noFill/>
                <a:ln w="38100">
                  <a:solidFill>
                    <a:schemeClr val="tx1"/>
                  </a:solidFill>
                  <a:round/>
                  <a:headEnd/>
                  <a:tailEnd type="triangle" w="med" len="med"/>
                </a:ln>
              </p:spPr>
              <p:txBody>
                <a:bodyPr/>
                <a:lstStyle/>
                <a:p>
                  <a:endParaRPr lang="pt-BR" sz="1400"/>
                </a:p>
              </p:txBody>
            </p:sp>
            <p:sp>
              <p:nvSpPr>
                <p:cNvPr id="18" name="Line 21"/>
                <p:cNvSpPr>
                  <a:spLocks noChangeShapeType="1"/>
                </p:cNvSpPr>
                <p:nvPr/>
              </p:nvSpPr>
              <p:spPr bwMode="auto">
                <a:xfrm flipH="1">
                  <a:off x="1200" y="2592"/>
                  <a:ext cx="576" cy="528"/>
                </a:xfrm>
                <a:prstGeom prst="line">
                  <a:avLst/>
                </a:prstGeom>
                <a:noFill/>
                <a:ln w="38100">
                  <a:solidFill>
                    <a:schemeClr val="tx1"/>
                  </a:solidFill>
                  <a:round/>
                  <a:headEnd/>
                  <a:tailEnd type="triangle" w="med" len="med"/>
                </a:ln>
              </p:spPr>
              <p:txBody>
                <a:bodyPr/>
                <a:lstStyle/>
                <a:p>
                  <a:endParaRPr lang="pt-BR" sz="1400"/>
                </a:p>
              </p:txBody>
            </p:sp>
          </p:grpSp>
          <p:sp>
            <p:nvSpPr>
              <p:cNvPr id="11" name="Line 22"/>
              <p:cNvSpPr>
                <a:spLocks noChangeShapeType="1"/>
              </p:cNvSpPr>
              <p:nvPr/>
            </p:nvSpPr>
            <p:spPr bwMode="auto">
              <a:xfrm flipH="1">
                <a:off x="1152" y="2112"/>
                <a:ext cx="384" cy="0"/>
              </a:xfrm>
              <a:prstGeom prst="line">
                <a:avLst/>
              </a:prstGeom>
              <a:noFill/>
              <a:ln w="38100">
                <a:solidFill>
                  <a:schemeClr val="tx1"/>
                </a:solidFill>
                <a:round/>
                <a:headEnd/>
                <a:tailEnd type="triangle" w="med" len="med"/>
              </a:ln>
            </p:spPr>
            <p:txBody>
              <a:bodyPr/>
              <a:lstStyle/>
              <a:p>
                <a:endParaRPr lang="pt-BR" sz="1400"/>
              </a:p>
            </p:txBody>
          </p:sp>
        </p:grpSp>
      </p:grpSp>
    </p:spTree>
    <p:extLst>
      <p:ext uri="{BB962C8B-B14F-4D97-AF65-F5344CB8AC3E}">
        <p14:creationId xmlns:p14="http://schemas.microsoft.com/office/powerpoint/2010/main" val="11548985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lstStyle/>
          <a:p>
            <a:r>
              <a:rPr lang="pt-BR" b="1" dirty="0" smtClean="0"/>
              <a:t>CONCEITO</a:t>
            </a:r>
          </a:p>
          <a:p>
            <a:pPr lvl="1"/>
            <a:r>
              <a:rPr lang="pt-BR" altLang="pt-BR" sz="1400" dirty="0" smtClean="0"/>
              <a:t>Tem </a:t>
            </a:r>
            <a:r>
              <a:rPr lang="pt-BR" altLang="pt-BR" sz="1400" dirty="0"/>
              <a:t>por fim demonstrar a origem da riqueza gerada pela entidade, e como essa riqueza </a:t>
            </a:r>
            <a:r>
              <a:rPr lang="pt-BR" altLang="pt-BR" sz="1400" dirty="0" smtClean="0"/>
              <a:t>foi distribuída </a:t>
            </a:r>
            <a:r>
              <a:rPr lang="pt-BR" altLang="pt-BR" sz="1400" dirty="0"/>
              <a:t>entre os diversos setores que contribuíram direta e indiretamente, para sua  </a:t>
            </a:r>
            <a:r>
              <a:rPr lang="pt-BR" altLang="pt-BR" sz="1400" dirty="0" smtClean="0"/>
              <a:t>geração.</a:t>
            </a:r>
          </a:p>
          <a:p>
            <a:pPr lvl="1"/>
            <a:r>
              <a:rPr lang="pt-BR" altLang="pt-BR" sz="1600" dirty="0" smtClean="0"/>
              <a:t>Corresponde </a:t>
            </a:r>
            <a:r>
              <a:rPr lang="pt-BR" altLang="pt-BR" sz="1600" dirty="0"/>
              <a:t>a diferença entre o valor das receitas de vendas e os custos de recursos adquiridos por </a:t>
            </a:r>
            <a:r>
              <a:rPr lang="pt-BR" altLang="pt-BR" sz="1600" dirty="0" smtClean="0"/>
              <a:t>terceiros.</a:t>
            </a:r>
          </a:p>
          <a:p>
            <a:pPr lvl="1"/>
            <a:r>
              <a:rPr lang="pt-BR" altLang="pt-BR" sz="1600" dirty="0" smtClean="0"/>
              <a:t>O </a:t>
            </a:r>
            <a:r>
              <a:rPr lang="pt-BR" altLang="pt-BR" sz="1600" dirty="0"/>
              <a:t>Valor Adicionado, portanto, corresponde a remuneração dos esforços que a empresa despendeu no desenvolvimento de suas </a:t>
            </a:r>
            <a:r>
              <a:rPr lang="pt-BR" altLang="pt-BR" sz="1600" dirty="0" smtClean="0"/>
              <a:t>atividades.</a:t>
            </a:r>
          </a:p>
          <a:p>
            <a:pPr lvl="1"/>
            <a:r>
              <a:rPr lang="pt-BR" altLang="pt-BR" sz="1600" dirty="0" smtClean="0"/>
              <a:t>Assim</a:t>
            </a:r>
            <a:r>
              <a:rPr lang="pt-BR" altLang="pt-BR" sz="1600" dirty="0"/>
              <a:t>, pode –se conhecer o quanto a empresa gerou de riqueza e como essa riqueza foi distribuída em benefício da coletividade, bem como qual foi a parcela de contribuição de cada setor da coletividade na formação dessa mesma </a:t>
            </a:r>
            <a:r>
              <a:rPr lang="pt-BR" altLang="pt-BR" sz="1600" dirty="0" smtClean="0"/>
              <a:t>riqueza.</a:t>
            </a:r>
          </a:p>
          <a:p>
            <a:pPr lvl="1"/>
            <a:r>
              <a:rPr lang="pt-BR" altLang="pt-BR" sz="1600" dirty="0" smtClean="0"/>
              <a:t>Demonstração </a:t>
            </a:r>
            <a:r>
              <a:rPr lang="pt-BR" altLang="pt-BR" sz="1600" dirty="0"/>
              <a:t>contábil com informações de  social, que evidencia o quanto de riqueza uma empresa produziu, isto é, o quanto ela produziu de valor aos seus fatores de produção, e o quanto e de que forma essa riqueza foi distribuída(entre empregados, governo, acionistas, financiadores de capital) bem como a parcela não distribuída.</a:t>
            </a:r>
          </a:p>
          <a:p>
            <a:endParaRPr lang="pt-BR" b="1"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48</a:t>
            </a:fld>
            <a:endParaRPr lang="en-US" dirty="0"/>
          </a:p>
        </p:txBody>
      </p:sp>
    </p:spTree>
    <p:extLst>
      <p:ext uri="{BB962C8B-B14F-4D97-AF65-F5344CB8AC3E}">
        <p14:creationId xmlns:p14="http://schemas.microsoft.com/office/powerpoint/2010/main" val="3917586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VALOR ADICIONADO – DVA</a:t>
            </a:r>
            <a:endParaRPr lang="pt-BR" dirty="0"/>
          </a:p>
        </p:txBody>
      </p:sp>
      <p:sp>
        <p:nvSpPr>
          <p:cNvPr id="3" name="Espaço Reservado para Conteúdo 2"/>
          <p:cNvSpPr>
            <a:spLocks noGrp="1"/>
          </p:cNvSpPr>
          <p:nvPr>
            <p:ph idx="1"/>
          </p:nvPr>
        </p:nvSpPr>
        <p:spPr/>
        <p:txBody>
          <a:bodyPr/>
          <a:lstStyle/>
          <a:p>
            <a:pPr lvl="1"/>
            <a:r>
              <a:rPr lang="pt-BR" dirty="0" smtClean="0"/>
              <a:t>Valor adicionado</a:t>
            </a:r>
            <a:endParaRPr lang="pt-BR" dirty="0"/>
          </a:p>
          <a:p>
            <a:pPr lvl="2"/>
            <a:r>
              <a:rPr lang="pt-BR" dirty="0" smtClean="0"/>
              <a:t>Conceito econômico: produção e consumo intermediário</a:t>
            </a:r>
          </a:p>
          <a:p>
            <a:pPr lvl="2"/>
            <a:endParaRPr lang="pt-BR" dirty="0"/>
          </a:p>
          <a:p>
            <a:pPr lvl="1"/>
            <a:r>
              <a:rPr lang="pt-BR" dirty="0" smtClean="0"/>
              <a:t>Valor adicionado</a:t>
            </a:r>
            <a:endParaRPr lang="pt-BR" dirty="0"/>
          </a:p>
          <a:p>
            <a:pPr lvl="2"/>
            <a:r>
              <a:rPr lang="pt-BR" dirty="0" smtClean="0"/>
              <a:t>Conceito contábil: vendas – insumos e serviços de terceiros consumidos</a:t>
            </a:r>
          </a:p>
          <a:p>
            <a:pPr lvl="1"/>
            <a:endParaRPr lang="pt-BR" dirty="0" smtClean="0"/>
          </a:p>
          <a:p>
            <a:pPr lvl="1"/>
            <a:r>
              <a:rPr lang="pt-BR" dirty="0" smtClean="0"/>
              <a:t>Demonstração que apresenta a riqueza criada pela empresa e a maneira ou a forma como foi distribuída aos agentes que contribuíram para sua formação.</a:t>
            </a:r>
          </a:p>
          <a:p>
            <a:pPr lvl="1"/>
            <a:endParaRPr lang="pt-BR" dirty="0"/>
          </a:p>
          <a:p>
            <a:pPr lvl="1"/>
            <a:r>
              <a:rPr lang="pt-BR" dirty="0" smtClean="0"/>
              <a:t>Enfoque econômico do balanço social.</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49</a:t>
            </a:fld>
            <a:endParaRPr lang="en-US" dirty="0"/>
          </a:p>
        </p:txBody>
      </p:sp>
    </p:spTree>
    <p:extLst>
      <p:ext uri="{BB962C8B-B14F-4D97-AF65-F5344CB8AC3E}">
        <p14:creationId xmlns:p14="http://schemas.microsoft.com/office/powerpoint/2010/main" val="1233435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VALOR ADICIONADO – DVA</a:t>
            </a:r>
            <a:endParaRPr lang="pt-BR" dirty="0"/>
          </a:p>
        </p:txBody>
      </p:sp>
      <p:sp>
        <p:nvSpPr>
          <p:cNvPr id="3" name="Espaço Reservado para Conteúdo 2"/>
          <p:cNvSpPr>
            <a:spLocks noGrp="1"/>
          </p:cNvSpPr>
          <p:nvPr>
            <p:ph idx="1"/>
          </p:nvPr>
        </p:nvSpPr>
        <p:spPr/>
        <p:txBody>
          <a:bodyPr/>
          <a:lstStyle/>
          <a:p>
            <a:pPr lvl="1"/>
            <a:r>
              <a:rPr lang="pt-BR" dirty="0" smtClean="0"/>
              <a:t>Visão sistêmica da demonstração.</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50</a:t>
            </a:fld>
            <a:endParaRPr lang="en-US" dirty="0"/>
          </a:p>
        </p:txBody>
      </p:sp>
      <p:grpSp>
        <p:nvGrpSpPr>
          <p:cNvPr id="5" name="Group 36"/>
          <p:cNvGrpSpPr>
            <a:grpSpLocks/>
          </p:cNvGrpSpPr>
          <p:nvPr/>
        </p:nvGrpSpPr>
        <p:grpSpPr bwMode="auto">
          <a:xfrm>
            <a:off x="2336957" y="2103437"/>
            <a:ext cx="8388350" cy="4538663"/>
            <a:chOff x="240" y="1008"/>
            <a:chExt cx="5520" cy="2832"/>
          </a:xfrm>
        </p:grpSpPr>
        <p:sp>
          <p:nvSpPr>
            <p:cNvPr id="6" name="Rectangle 12"/>
            <p:cNvSpPr>
              <a:spLocks noChangeArrowheads="1"/>
            </p:cNvSpPr>
            <p:nvPr/>
          </p:nvSpPr>
          <p:spPr bwMode="auto">
            <a:xfrm>
              <a:off x="2544" y="1536"/>
              <a:ext cx="1152" cy="1824"/>
            </a:xfrm>
            <a:prstGeom prst="rect">
              <a:avLst/>
            </a:prstGeom>
            <a:solidFill>
              <a:srgbClr val="CCECFF"/>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FFCC99"/>
              </a:extrusionClr>
            </a:sp3d>
          </p:spPr>
          <p:txBody>
            <a:bodyPr>
              <a:flatTx/>
            </a:bodyPr>
            <a:lstStyle/>
            <a:p>
              <a:pPr algn="ctr"/>
              <a:r>
                <a:rPr lang="pt-BR" sz="1200" b="1"/>
                <a:t>FORNECEDORES:</a:t>
              </a:r>
            </a:p>
            <a:p>
              <a:pPr algn="ctr"/>
              <a:r>
                <a:rPr lang="pt-BR" sz="1200" b="1"/>
                <a:t>Serviços</a:t>
              </a:r>
            </a:p>
            <a:p>
              <a:pPr algn="ctr"/>
              <a:r>
                <a:rPr lang="pt-BR" sz="1200" b="1"/>
                <a:t>Materiais</a:t>
              </a:r>
            </a:p>
            <a:p>
              <a:pPr algn="ctr"/>
              <a:endParaRPr lang="pt-BR" sz="1200" b="1"/>
            </a:p>
            <a:p>
              <a:pPr algn="ctr"/>
              <a:r>
                <a:rPr lang="pt-BR" sz="1200" b="1"/>
                <a:t>FINANCIADORES:</a:t>
              </a:r>
            </a:p>
            <a:p>
              <a:pPr algn="ctr"/>
              <a:r>
                <a:rPr lang="pt-BR" sz="1200" b="1"/>
                <a:t>Bancos</a:t>
              </a:r>
            </a:p>
            <a:p>
              <a:pPr algn="ctr"/>
              <a:r>
                <a:rPr lang="pt-BR" sz="1200" b="1"/>
                <a:t>Instituições Financeiras</a:t>
              </a:r>
            </a:p>
          </p:txBody>
        </p:sp>
        <p:sp>
          <p:nvSpPr>
            <p:cNvPr id="7" name="Line 26"/>
            <p:cNvSpPr>
              <a:spLocks noChangeShapeType="1"/>
            </p:cNvSpPr>
            <p:nvPr/>
          </p:nvSpPr>
          <p:spPr bwMode="auto">
            <a:xfrm>
              <a:off x="519" y="3456"/>
              <a:ext cx="0" cy="384"/>
            </a:xfrm>
            <a:prstGeom prst="line">
              <a:avLst/>
            </a:prstGeom>
            <a:noFill/>
            <a:ln w="28575">
              <a:solidFill>
                <a:srgbClr val="000000"/>
              </a:solidFill>
              <a:round/>
              <a:headEnd/>
              <a:tailEnd/>
            </a:ln>
          </p:spPr>
          <p:txBody>
            <a:bodyPr/>
            <a:lstStyle/>
            <a:p>
              <a:endParaRPr lang="pt-BR"/>
            </a:p>
          </p:txBody>
        </p:sp>
        <p:sp>
          <p:nvSpPr>
            <p:cNvPr id="8" name="Line 27"/>
            <p:cNvSpPr>
              <a:spLocks noChangeShapeType="1"/>
            </p:cNvSpPr>
            <p:nvPr/>
          </p:nvSpPr>
          <p:spPr bwMode="auto">
            <a:xfrm>
              <a:off x="519" y="3840"/>
              <a:ext cx="2586" cy="0"/>
            </a:xfrm>
            <a:prstGeom prst="line">
              <a:avLst/>
            </a:prstGeom>
            <a:noFill/>
            <a:ln w="28575">
              <a:solidFill>
                <a:srgbClr val="000000"/>
              </a:solidFill>
              <a:round/>
              <a:headEnd/>
              <a:tailEnd/>
            </a:ln>
          </p:spPr>
          <p:txBody>
            <a:bodyPr/>
            <a:lstStyle/>
            <a:p>
              <a:endParaRPr lang="pt-BR"/>
            </a:p>
          </p:txBody>
        </p:sp>
        <p:sp>
          <p:nvSpPr>
            <p:cNvPr id="9" name="Line 28"/>
            <p:cNvSpPr>
              <a:spLocks noChangeShapeType="1"/>
            </p:cNvSpPr>
            <p:nvPr/>
          </p:nvSpPr>
          <p:spPr bwMode="auto">
            <a:xfrm flipV="1">
              <a:off x="3105" y="3456"/>
              <a:ext cx="0" cy="384"/>
            </a:xfrm>
            <a:prstGeom prst="line">
              <a:avLst/>
            </a:prstGeom>
            <a:noFill/>
            <a:ln w="28575">
              <a:solidFill>
                <a:srgbClr val="000000"/>
              </a:solidFill>
              <a:round/>
              <a:headEnd/>
              <a:tailEnd/>
            </a:ln>
          </p:spPr>
          <p:txBody>
            <a:bodyPr/>
            <a:lstStyle/>
            <a:p>
              <a:endParaRPr lang="pt-BR"/>
            </a:p>
          </p:txBody>
        </p:sp>
        <p:sp>
          <p:nvSpPr>
            <p:cNvPr id="10" name="Rectangle 8"/>
            <p:cNvSpPr>
              <a:spLocks noChangeArrowheads="1"/>
            </p:cNvSpPr>
            <p:nvPr/>
          </p:nvSpPr>
          <p:spPr bwMode="auto">
            <a:xfrm>
              <a:off x="240" y="1584"/>
              <a:ext cx="769" cy="1824"/>
            </a:xfrm>
            <a:prstGeom prst="rect">
              <a:avLst/>
            </a:prstGeom>
            <a:solidFill>
              <a:srgbClr val="FFCCFF"/>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FFCC99"/>
              </a:extrusionClr>
            </a:sp3d>
          </p:spPr>
          <p:txBody>
            <a:bodyPr>
              <a:flatTx/>
            </a:bodyPr>
            <a:lstStyle/>
            <a:p>
              <a:pPr algn="ctr"/>
              <a:r>
                <a:rPr lang="pt-BR" sz="1200" b="1"/>
                <a:t>Recursos:</a:t>
              </a:r>
            </a:p>
            <a:p>
              <a:pPr algn="ctr"/>
              <a:endParaRPr lang="pt-BR" sz="1200" b="1"/>
            </a:p>
            <a:p>
              <a:pPr algn="ctr"/>
              <a:r>
                <a:rPr lang="pt-BR" sz="1200" b="1"/>
                <a:t>Materiais</a:t>
              </a:r>
            </a:p>
            <a:p>
              <a:pPr algn="ctr"/>
              <a:endParaRPr lang="pt-BR" sz="1200" b="1"/>
            </a:p>
            <a:p>
              <a:pPr algn="ctr"/>
              <a:r>
                <a:rPr lang="pt-BR" sz="1200" b="1"/>
                <a:t>Serviços</a:t>
              </a:r>
            </a:p>
            <a:p>
              <a:pPr algn="ctr"/>
              <a:endParaRPr lang="pt-BR" sz="1200" b="1"/>
            </a:p>
            <a:p>
              <a:pPr algn="ctr"/>
              <a:r>
                <a:rPr lang="pt-BR" sz="1200" b="1"/>
                <a:t>Tecnológicos</a:t>
              </a:r>
            </a:p>
            <a:p>
              <a:pPr algn="ctr"/>
              <a:endParaRPr lang="pt-BR" sz="1200" b="1"/>
            </a:p>
            <a:p>
              <a:pPr algn="ctr"/>
              <a:r>
                <a:rPr lang="pt-BR" sz="1200" b="1"/>
                <a:t>Financeiros</a:t>
              </a:r>
            </a:p>
            <a:p>
              <a:pPr algn="ctr"/>
              <a:endParaRPr lang="pt-BR" sz="1200" b="1"/>
            </a:p>
            <a:p>
              <a:pPr algn="ctr"/>
              <a:r>
                <a:rPr lang="pt-BR" sz="1200" b="1"/>
                <a:t>de informações</a:t>
              </a:r>
            </a:p>
          </p:txBody>
        </p:sp>
        <p:sp>
          <p:nvSpPr>
            <p:cNvPr id="11" name="Text Box 9"/>
            <p:cNvSpPr txBox="1">
              <a:spLocks noChangeArrowheads="1"/>
            </p:cNvSpPr>
            <p:nvPr/>
          </p:nvSpPr>
          <p:spPr bwMode="auto">
            <a:xfrm>
              <a:off x="240" y="1104"/>
              <a:ext cx="699" cy="384"/>
            </a:xfrm>
            <a:prstGeom prst="rect">
              <a:avLst/>
            </a:prstGeom>
            <a:noFill/>
            <a:ln w="9525">
              <a:noFill/>
              <a:miter lim="800000"/>
              <a:headEnd/>
              <a:tailEnd/>
            </a:ln>
          </p:spPr>
          <p:txBody>
            <a:bodyPr/>
            <a:lstStyle/>
            <a:p>
              <a:pPr algn="ctr"/>
              <a:r>
                <a:rPr lang="pt-BR" sz="1200" b="1"/>
                <a:t>Ambiente Externo</a:t>
              </a:r>
            </a:p>
          </p:txBody>
        </p:sp>
        <p:sp>
          <p:nvSpPr>
            <p:cNvPr id="12" name="Rectangle 10"/>
            <p:cNvSpPr>
              <a:spLocks noChangeArrowheads="1"/>
            </p:cNvSpPr>
            <p:nvPr/>
          </p:nvSpPr>
          <p:spPr bwMode="auto">
            <a:xfrm>
              <a:off x="1428" y="1584"/>
              <a:ext cx="768" cy="1824"/>
            </a:xfrm>
            <a:prstGeom prst="rect">
              <a:avLst/>
            </a:prstGeom>
            <a:solidFill>
              <a:srgbClr val="CCFF99"/>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FFCC99"/>
              </a:extrusionClr>
            </a:sp3d>
          </p:spPr>
          <p:txBody>
            <a:bodyPr>
              <a:flatTx/>
            </a:bodyPr>
            <a:lstStyle/>
            <a:p>
              <a:pPr algn="ctr"/>
              <a:endParaRPr lang="pt-BR" sz="1100" b="1"/>
            </a:p>
            <a:p>
              <a:pPr algn="ctr"/>
              <a:r>
                <a:rPr lang="pt-BR" sz="1200" b="1"/>
                <a:t>Compra</a:t>
              </a:r>
            </a:p>
            <a:p>
              <a:endParaRPr lang="pt-BR" sz="1200" b="1"/>
            </a:p>
            <a:p>
              <a:pPr algn="ctr"/>
              <a:endParaRPr lang="pt-BR" sz="1200" b="1"/>
            </a:p>
            <a:p>
              <a:pPr algn="ctr"/>
              <a:endParaRPr lang="pt-BR" sz="1200" b="1"/>
            </a:p>
            <a:p>
              <a:pPr algn="ctr"/>
              <a:r>
                <a:rPr lang="pt-BR" sz="1200" b="1"/>
                <a:t>Produção</a:t>
              </a:r>
            </a:p>
            <a:p>
              <a:pPr algn="ctr"/>
              <a:endParaRPr lang="pt-BR" sz="1200" b="1"/>
            </a:p>
            <a:p>
              <a:pPr algn="ctr"/>
              <a:endParaRPr lang="pt-BR" sz="1200" b="1"/>
            </a:p>
            <a:p>
              <a:pPr algn="ctr"/>
              <a:endParaRPr lang="pt-BR" sz="1200" b="1"/>
            </a:p>
            <a:p>
              <a:pPr algn="ctr"/>
              <a:r>
                <a:rPr lang="pt-BR" sz="1200" b="1"/>
                <a:t>Venda</a:t>
              </a:r>
            </a:p>
          </p:txBody>
        </p:sp>
        <p:sp>
          <p:nvSpPr>
            <p:cNvPr id="13" name="Text Box 11"/>
            <p:cNvSpPr txBox="1">
              <a:spLocks noChangeArrowheads="1"/>
            </p:cNvSpPr>
            <p:nvPr/>
          </p:nvSpPr>
          <p:spPr bwMode="auto">
            <a:xfrm>
              <a:off x="1428" y="1008"/>
              <a:ext cx="838" cy="576"/>
            </a:xfrm>
            <a:prstGeom prst="rect">
              <a:avLst/>
            </a:prstGeom>
            <a:noFill/>
            <a:ln w="9525">
              <a:noFill/>
              <a:miter lim="800000"/>
              <a:headEnd/>
              <a:tailEnd/>
            </a:ln>
          </p:spPr>
          <p:txBody>
            <a:bodyPr/>
            <a:lstStyle/>
            <a:p>
              <a:pPr algn="ctr"/>
              <a:r>
                <a:rPr lang="pt-BR" sz="1200" b="1"/>
                <a:t>Fluxo Operacional da empresa</a:t>
              </a:r>
            </a:p>
          </p:txBody>
        </p:sp>
        <p:sp>
          <p:nvSpPr>
            <p:cNvPr id="14" name="Text Box 13"/>
            <p:cNvSpPr txBox="1">
              <a:spLocks noChangeArrowheads="1"/>
            </p:cNvSpPr>
            <p:nvPr/>
          </p:nvSpPr>
          <p:spPr bwMode="auto">
            <a:xfrm>
              <a:off x="2616" y="1104"/>
              <a:ext cx="768" cy="384"/>
            </a:xfrm>
            <a:prstGeom prst="rect">
              <a:avLst/>
            </a:prstGeom>
            <a:noFill/>
            <a:ln w="9525">
              <a:noFill/>
              <a:miter lim="800000"/>
              <a:headEnd/>
              <a:tailEnd/>
            </a:ln>
          </p:spPr>
          <p:txBody>
            <a:bodyPr/>
            <a:lstStyle/>
            <a:p>
              <a:pPr algn="ctr"/>
              <a:r>
                <a:rPr lang="pt-BR" sz="1200" b="1"/>
                <a:t>Devolução de Recursos</a:t>
              </a:r>
            </a:p>
          </p:txBody>
        </p:sp>
        <p:sp>
          <p:nvSpPr>
            <p:cNvPr id="15" name="Text Box 14"/>
            <p:cNvSpPr txBox="1">
              <a:spLocks noChangeArrowheads="1"/>
            </p:cNvSpPr>
            <p:nvPr/>
          </p:nvSpPr>
          <p:spPr bwMode="auto">
            <a:xfrm>
              <a:off x="3734" y="1104"/>
              <a:ext cx="838" cy="384"/>
            </a:xfrm>
            <a:prstGeom prst="rect">
              <a:avLst/>
            </a:prstGeom>
            <a:noFill/>
            <a:ln w="9525">
              <a:noFill/>
              <a:miter lim="800000"/>
              <a:headEnd/>
              <a:tailEnd/>
            </a:ln>
          </p:spPr>
          <p:txBody>
            <a:bodyPr/>
            <a:lstStyle/>
            <a:p>
              <a:pPr algn="ctr"/>
              <a:r>
                <a:rPr lang="pt-BR" sz="1200" b="1"/>
                <a:t>Valor Adicionado</a:t>
              </a:r>
            </a:p>
          </p:txBody>
        </p:sp>
        <p:sp>
          <p:nvSpPr>
            <p:cNvPr id="16" name="Oval 16"/>
            <p:cNvSpPr>
              <a:spLocks noChangeArrowheads="1"/>
            </p:cNvSpPr>
            <p:nvPr/>
          </p:nvSpPr>
          <p:spPr bwMode="auto">
            <a:xfrm>
              <a:off x="4083" y="2160"/>
              <a:ext cx="629" cy="672"/>
            </a:xfrm>
            <a:prstGeom prst="ellipse">
              <a:avLst/>
            </a:prstGeom>
            <a:solidFill>
              <a:srgbClr val="FFFFCC"/>
            </a:solidFill>
            <a:ln w="9525">
              <a:solidFill>
                <a:srgbClr val="FFFFCC"/>
              </a:solidFill>
              <a:round/>
              <a:headEnd/>
              <a:tailEnd/>
            </a:ln>
            <a:effectLst/>
            <a:scene3d>
              <a:camera prst="legacyObliqueBottomLeft"/>
              <a:lightRig rig="legacyFlat3" dir="t"/>
            </a:scene3d>
            <a:sp3d extrusionH="430200" prstMaterial="legacyMatte">
              <a:bevelT w="13500" h="13500" prst="angle"/>
              <a:bevelB w="13500" h="13500" prst="angle"/>
              <a:extrusionClr>
                <a:srgbClr val="FFCC99"/>
              </a:extrusionClr>
            </a:sp3d>
          </p:spPr>
          <p:txBody>
            <a:bodyPr>
              <a:flatTx/>
            </a:bodyPr>
            <a:lstStyle/>
            <a:p>
              <a:pPr algn="ctr">
                <a:defRPr/>
              </a:pPr>
              <a:r>
                <a:rPr lang="pt-BR" b="1">
                  <a:effectLst>
                    <a:outerShdw blurRad="38100" dist="38100" dir="2700000" algn="tl">
                      <a:srgbClr val="FFFFFF"/>
                    </a:outerShdw>
                  </a:effectLst>
                </a:rPr>
                <a:t>V. A</a:t>
              </a:r>
              <a:r>
                <a:rPr lang="pt-BR" sz="1100" b="1"/>
                <a:t>.</a:t>
              </a:r>
            </a:p>
          </p:txBody>
        </p:sp>
        <p:sp>
          <p:nvSpPr>
            <p:cNvPr id="17" name="Line 17"/>
            <p:cNvSpPr>
              <a:spLocks noChangeShapeType="1"/>
            </p:cNvSpPr>
            <p:nvPr/>
          </p:nvSpPr>
          <p:spPr bwMode="auto">
            <a:xfrm flipV="1">
              <a:off x="4642" y="1968"/>
              <a:ext cx="254" cy="288"/>
            </a:xfrm>
            <a:prstGeom prst="line">
              <a:avLst/>
            </a:prstGeom>
            <a:noFill/>
            <a:ln w="9525">
              <a:solidFill>
                <a:srgbClr val="000000"/>
              </a:solidFill>
              <a:round/>
              <a:headEnd/>
              <a:tailEnd type="triangle" w="med" len="med"/>
            </a:ln>
          </p:spPr>
          <p:txBody>
            <a:bodyPr/>
            <a:lstStyle/>
            <a:p>
              <a:endParaRPr lang="pt-BR"/>
            </a:p>
          </p:txBody>
        </p:sp>
        <p:sp>
          <p:nvSpPr>
            <p:cNvPr id="18" name="Line 18"/>
            <p:cNvSpPr>
              <a:spLocks noChangeShapeType="1"/>
            </p:cNvSpPr>
            <p:nvPr/>
          </p:nvSpPr>
          <p:spPr bwMode="auto">
            <a:xfrm>
              <a:off x="4712" y="2448"/>
              <a:ext cx="184" cy="0"/>
            </a:xfrm>
            <a:prstGeom prst="line">
              <a:avLst/>
            </a:prstGeom>
            <a:noFill/>
            <a:ln w="9525">
              <a:solidFill>
                <a:srgbClr val="000000"/>
              </a:solidFill>
              <a:round/>
              <a:headEnd/>
              <a:tailEnd type="triangle" w="med" len="med"/>
            </a:ln>
          </p:spPr>
          <p:txBody>
            <a:bodyPr/>
            <a:lstStyle/>
            <a:p>
              <a:endParaRPr lang="pt-BR"/>
            </a:p>
          </p:txBody>
        </p:sp>
        <p:sp>
          <p:nvSpPr>
            <p:cNvPr id="19" name="Line 19"/>
            <p:cNvSpPr>
              <a:spLocks noChangeShapeType="1"/>
            </p:cNvSpPr>
            <p:nvPr/>
          </p:nvSpPr>
          <p:spPr bwMode="auto">
            <a:xfrm>
              <a:off x="4642" y="2736"/>
              <a:ext cx="254" cy="192"/>
            </a:xfrm>
            <a:prstGeom prst="line">
              <a:avLst/>
            </a:prstGeom>
            <a:noFill/>
            <a:ln w="9525">
              <a:solidFill>
                <a:srgbClr val="000000"/>
              </a:solidFill>
              <a:round/>
              <a:headEnd/>
              <a:tailEnd type="triangle" w="med" len="med"/>
            </a:ln>
          </p:spPr>
          <p:txBody>
            <a:bodyPr/>
            <a:lstStyle/>
            <a:p>
              <a:endParaRPr lang="pt-BR"/>
            </a:p>
          </p:txBody>
        </p:sp>
        <p:sp>
          <p:nvSpPr>
            <p:cNvPr id="20" name="Rectangle 20"/>
            <p:cNvSpPr>
              <a:spLocks noChangeArrowheads="1"/>
            </p:cNvSpPr>
            <p:nvPr/>
          </p:nvSpPr>
          <p:spPr bwMode="auto">
            <a:xfrm>
              <a:off x="4992" y="1680"/>
              <a:ext cx="559" cy="288"/>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ObliqueBottomLeft"/>
              <a:lightRig rig="legacyFlat3" dir="t"/>
            </a:scene3d>
            <a:sp3d extrusionH="430200" prstMaterial="legacyMatte">
              <a:bevelT w="13500" h="13500" prst="angle"/>
              <a:bevelB w="13500" h="13500" prst="angle"/>
              <a:extrusionClr>
                <a:srgbClr val="FFCC99"/>
              </a:extrusionClr>
            </a:sp3d>
          </p:spPr>
          <p:txBody>
            <a:bodyPr>
              <a:flatTx/>
            </a:bodyPr>
            <a:lstStyle/>
            <a:p>
              <a:r>
                <a:rPr lang="pt-BR" sz="1100" b="1"/>
                <a:t>Agente 1</a:t>
              </a:r>
            </a:p>
          </p:txBody>
        </p:sp>
        <p:sp>
          <p:nvSpPr>
            <p:cNvPr id="21" name="Rectangle 21"/>
            <p:cNvSpPr>
              <a:spLocks noChangeArrowheads="1"/>
            </p:cNvSpPr>
            <p:nvPr/>
          </p:nvSpPr>
          <p:spPr bwMode="auto">
            <a:xfrm>
              <a:off x="4992" y="2256"/>
              <a:ext cx="559" cy="288"/>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ObliqueBottomLeft"/>
              <a:lightRig rig="legacyFlat3" dir="t"/>
            </a:scene3d>
            <a:sp3d extrusionH="430200" prstMaterial="legacyMatte">
              <a:bevelT w="13500" h="13500" prst="angle"/>
              <a:bevelB w="13500" h="13500" prst="angle"/>
              <a:extrusionClr>
                <a:srgbClr val="FFCC99"/>
              </a:extrusionClr>
            </a:sp3d>
          </p:spPr>
          <p:txBody>
            <a:bodyPr>
              <a:flatTx/>
            </a:bodyPr>
            <a:lstStyle/>
            <a:p>
              <a:r>
                <a:rPr lang="pt-BR" sz="1100" b="1"/>
                <a:t>Agente 2</a:t>
              </a:r>
            </a:p>
          </p:txBody>
        </p:sp>
        <p:sp>
          <p:nvSpPr>
            <p:cNvPr id="22" name="Rectangle 22"/>
            <p:cNvSpPr>
              <a:spLocks noChangeArrowheads="1"/>
            </p:cNvSpPr>
            <p:nvPr/>
          </p:nvSpPr>
          <p:spPr bwMode="auto">
            <a:xfrm>
              <a:off x="4944" y="2880"/>
              <a:ext cx="559" cy="288"/>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ObliqueBottomLeft"/>
              <a:lightRig rig="legacyFlat3" dir="t"/>
            </a:scene3d>
            <a:sp3d extrusionH="430200" prstMaterial="legacyMatte">
              <a:bevelT w="13500" h="13500" prst="angle"/>
              <a:bevelB w="13500" h="13500" prst="angle"/>
              <a:extrusionClr>
                <a:srgbClr val="FFCC99"/>
              </a:extrusionClr>
            </a:sp3d>
          </p:spPr>
          <p:txBody>
            <a:bodyPr>
              <a:flatTx/>
            </a:bodyPr>
            <a:lstStyle/>
            <a:p>
              <a:r>
                <a:rPr lang="pt-BR" sz="1100" b="1"/>
                <a:t>Agente n</a:t>
              </a:r>
            </a:p>
          </p:txBody>
        </p:sp>
        <p:sp>
          <p:nvSpPr>
            <p:cNvPr id="23" name="AutoShape 23"/>
            <p:cNvSpPr>
              <a:spLocks noChangeArrowheads="1"/>
            </p:cNvSpPr>
            <p:nvPr/>
          </p:nvSpPr>
          <p:spPr bwMode="auto">
            <a:xfrm>
              <a:off x="1009" y="2448"/>
              <a:ext cx="279" cy="384"/>
            </a:xfrm>
            <a:custGeom>
              <a:avLst/>
              <a:gdLst>
                <a:gd name="T0" fmla="*/ 209 w 21600"/>
                <a:gd name="T1" fmla="*/ 0 h 21600"/>
                <a:gd name="T2" fmla="*/ 0 w 21600"/>
                <a:gd name="T3" fmla="*/ 192 h 21600"/>
                <a:gd name="T4" fmla="*/ 209 w 21600"/>
                <a:gd name="T5" fmla="*/ 384 h 21600"/>
                <a:gd name="T6" fmla="*/ 279 w 21600"/>
                <a:gd name="T7" fmla="*/ 192 h 21600"/>
                <a:gd name="T8" fmla="*/ 17694720 60000 65536"/>
                <a:gd name="T9" fmla="*/ 11796480 60000 65536"/>
                <a:gd name="T10" fmla="*/ 5898240 60000 65536"/>
                <a:gd name="T11" fmla="*/ 0 60000 65536"/>
                <a:gd name="T12" fmla="*/ 3406 w 21600"/>
                <a:gd name="T13" fmla="*/ 5400 h 21600"/>
                <a:gd name="T14" fmla="*/ 1889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000000"/>
                </a:gs>
                <a:gs pos="50000">
                  <a:srgbClr val="FFFFFF"/>
                </a:gs>
                <a:gs pos="100000">
                  <a:srgbClr val="000000"/>
                </a:gs>
              </a:gsLst>
              <a:lin ang="5400000" scaled="1"/>
            </a:gradFill>
            <a:ln w="9525">
              <a:solidFill>
                <a:srgbClr val="000000"/>
              </a:solidFill>
              <a:miter lim="800000"/>
              <a:headEnd/>
              <a:tailEnd/>
            </a:ln>
          </p:spPr>
          <p:txBody>
            <a:bodyPr/>
            <a:lstStyle/>
            <a:p>
              <a:endParaRPr lang="pt-BR" sz="1600" b="1"/>
            </a:p>
          </p:txBody>
        </p:sp>
        <p:sp>
          <p:nvSpPr>
            <p:cNvPr id="24" name="AutoShape 24"/>
            <p:cNvSpPr>
              <a:spLocks noChangeArrowheads="1"/>
            </p:cNvSpPr>
            <p:nvPr/>
          </p:nvSpPr>
          <p:spPr bwMode="auto">
            <a:xfrm>
              <a:off x="2196" y="2448"/>
              <a:ext cx="280" cy="384"/>
            </a:xfrm>
            <a:custGeom>
              <a:avLst/>
              <a:gdLst>
                <a:gd name="T0" fmla="*/ 210 w 21600"/>
                <a:gd name="T1" fmla="*/ 0 h 21600"/>
                <a:gd name="T2" fmla="*/ 0 w 21600"/>
                <a:gd name="T3" fmla="*/ 192 h 21600"/>
                <a:gd name="T4" fmla="*/ 210 w 21600"/>
                <a:gd name="T5" fmla="*/ 384 h 21600"/>
                <a:gd name="T6" fmla="*/ 280 w 21600"/>
                <a:gd name="T7" fmla="*/ 192 h 21600"/>
                <a:gd name="T8" fmla="*/ 17694720 60000 65536"/>
                <a:gd name="T9" fmla="*/ 11796480 60000 65536"/>
                <a:gd name="T10" fmla="*/ 5898240 60000 65536"/>
                <a:gd name="T11" fmla="*/ 0 60000 65536"/>
                <a:gd name="T12" fmla="*/ 3394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000000"/>
                </a:gs>
                <a:gs pos="50000">
                  <a:srgbClr val="FFFFFF"/>
                </a:gs>
                <a:gs pos="100000">
                  <a:srgbClr val="000000"/>
                </a:gs>
              </a:gsLst>
              <a:lin ang="5400000" scaled="1"/>
            </a:gradFill>
            <a:ln w="9525">
              <a:solidFill>
                <a:srgbClr val="000000"/>
              </a:solidFill>
              <a:miter lim="800000"/>
              <a:headEnd/>
              <a:tailEnd/>
            </a:ln>
          </p:spPr>
          <p:txBody>
            <a:bodyPr/>
            <a:lstStyle/>
            <a:p>
              <a:endParaRPr lang="pt-BR" sz="1600" b="1"/>
            </a:p>
          </p:txBody>
        </p:sp>
        <p:sp>
          <p:nvSpPr>
            <p:cNvPr id="25" name="AutoShape 25"/>
            <p:cNvSpPr>
              <a:spLocks noChangeArrowheads="1"/>
            </p:cNvSpPr>
            <p:nvPr/>
          </p:nvSpPr>
          <p:spPr bwMode="auto">
            <a:xfrm>
              <a:off x="3696" y="2448"/>
              <a:ext cx="280" cy="384"/>
            </a:xfrm>
            <a:custGeom>
              <a:avLst/>
              <a:gdLst>
                <a:gd name="T0" fmla="*/ 210 w 21600"/>
                <a:gd name="T1" fmla="*/ 0 h 21600"/>
                <a:gd name="T2" fmla="*/ 0 w 21600"/>
                <a:gd name="T3" fmla="*/ 192 h 21600"/>
                <a:gd name="T4" fmla="*/ 210 w 21600"/>
                <a:gd name="T5" fmla="*/ 384 h 21600"/>
                <a:gd name="T6" fmla="*/ 280 w 21600"/>
                <a:gd name="T7" fmla="*/ 192 h 21600"/>
                <a:gd name="T8" fmla="*/ 17694720 60000 65536"/>
                <a:gd name="T9" fmla="*/ 11796480 60000 65536"/>
                <a:gd name="T10" fmla="*/ 5898240 60000 65536"/>
                <a:gd name="T11" fmla="*/ 0 60000 65536"/>
                <a:gd name="T12" fmla="*/ 3394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000000"/>
                </a:gs>
                <a:gs pos="50000">
                  <a:srgbClr val="FFFFFF"/>
                </a:gs>
                <a:gs pos="100000">
                  <a:srgbClr val="000000"/>
                </a:gs>
              </a:gsLst>
              <a:lin ang="5400000" scaled="1"/>
            </a:gradFill>
            <a:ln w="9525">
              <a:solidFill>
                <a:srgbClr val="000000"/>
              </a:solidFill>
              <a:miter lim="800000"/>
              <a:headEnd/>
              <a:tailEnd/>
            </a:ln>
          </p:spPr>
          <p:txBody>
            <a:bodyPr/>
            <a:lstStyle/>
            <a:p>
              <a:endParaRPr lang="pt-BR" sz="1600" b="1"/>
            </a:p>
          </p:txBody>
        </p:sp>
        <p:sp>
          <p:nvSpPr>
            <p:cNvPr id="26" name="Text Box 29"/>
            <p:cNvSpPr txBox="1">
              <a:spLocks noChangeArrowheads="1"/>
            </p:cNvSpPr>
            <p:nvPr/>
          </p:nvSpPr>
          <p:spPr bwMode="auto">
            <a:xfrm>
              <a:off x="4922" y="1104"/>
              <a:ext cx="838" cy="384"/>
            </a:xfrm>
            <a:prstGeom prst="rect">
              <a:avLst/>
            </a:prstGeom>
            <a:noFill/>
            <a:ln w="9525">
              <a:noFill/>
              <a:miter lim="800000"/>
              <a:headEnd/>
              <a:tailEnd/>
            </a:ln>
          </p:spPr>
          <p:txBody>
            <a:bodyPr/>
            <a:lstStyle/>
            <a:p>
              <a:pPr algn="ctr"/>
              <a:r>
                <a:rPr lang="pt-BR" sz="1200" b="1"/>
                <a:t>Distribuição</a:t>
              </a:r>
            </a:p>
          </p:txBody>
        </p:sp>
        <p:sp>
          <p:nvSpPr>
            <p:cNvPr id="27" name="Line 31"/>
            <p:cNvSpPr>
              <a:spLocks noChangeShapeType="1"/>
            </p:cNvSpPr>
            <p:nvPr/>
          </p:nvSpPr>
          <p:spPr bwMode="auto">
            <a:xfrm>
              <a:off x="1776" y="1968"/>
              <a:ext cx="0" cy="192"/>
            </a:xfrm>
            <a:prstGeom prst="line">
              <a:avLst/>
            </a:prstGeom>
            <a:noFill/>
            <a:ln w="19050" cap="sq">
              <a:solidFill>
                <a:schemeClr val="tx1"/>
              </a:solidFill>
              <a:round/>
              <a:headEnd type="none" w="sm" len="sm"/>
              <a:tailEnd type="triangle" w="sm" len="sm"/>
            </a:ln>
          </p:spPr>
          <p:txBody>
            <a:bodyPr wrap="none"/>
            <a:lstStyle/>
            <a:p>
              <a:endParaRPr lang="pt-BR"/>
            </a:p>
          </p:txBody>
        </p:sp>
        <p:sp>
          <p:nvSpPr>
            <p:cNvPr id="28" name="Line 32"/>
            <p:cNvSpPr>
              <a:spLocks noChangeShapeType="1"/>
            </p:cNvSpPr>
            <p:nvPr/>
          </p:nvSpPr>
          <p:spPr bwMode="auto">
            <a:xfrm>
              <a:off x="1776" y="2448"/>
              <a:ext cx="0" cy="192"/>
            </a:xfrm>
            <a:prstGeom prst="line">
              <a:avLst/>
            </a:prstGeom>
            <a:noFill/>
            <a:ln w="19050" cap="sq">
              <a:solidFill>
                <a:schemeClr val="tx1"/>
              </a:solidFill>
              <a:round/>
              <a:headEnd type="none" w="sm" len="sm"/>
              <a:tailEnd type="triangle" w="sm" len="sm"/>
            </a:ln>
          </p:spPr>
          <p:txBody>
            <a:bodyPr wrap="none"/>
            <a:lstStyle/>
            <a:p>
              <a:endParaRPr lang="pt-BR"/>
            </a:p>
          </p:txBody>
        </p:sp>
      </p:grpSp>
    </p:spTree>
    <p:extLst>
      <p:ext uri="{BB962C8B-B14F-4D97-AF65-F5344CB8AC3E}">
        <p14:creationId xmlns:p14="http://schemas.microsoft.com/office/powerpoint/2010/main" val="35296479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lstStyle/>
          <a:p>
            <a:pPr lvl="1"/>
            <a:r>
              <a:rPr lang="pt-BR" b="1" dirty="0" smtClean="0"/>
              <a:t>FONTES</a:t>
            </a:r>
          </a:p>
          <a:p>
            <a:pPr lvl="1"/>
            <a:endParaRPr lang="pt-BR" altLang="pt-BR" b="1" dirty="0" smtClean="0"/>
          </a:p>
          <a:p>
            <a:pPr lvl="1"/>
            <a:r>
              <a:rPr lang="pt-BR" altLang="pt-BR" b="1" dirty="0" smtClean="0"/>
              <a:t>Empregados </a:t>
            </a:r>
            <a:r>
              <a:rPr lang="pt-BR" altLang="pt-BR" dirty="0" smtClean="0"/>
              <a:t>(fonte </a:t>
            </a:r>
            <a:r>
              <a:rPr lang="pt-BR" altLang="pt-BR" dirty="0"/>
              <a:t>de mão-de-obra</a:t>
            </a:r>
            <a:r>
              <a:rPr lang="pt-BR" altLang="pt-BR" dirty="0" smtClean="0"/>
              <a:t>);</a:t>
            </a:r>
          </a:p>
          <a:p>
            <a:pPr lvl="1"/>
            <a:r>
              <a:rPr lang="pt-BR" altLang="pt-BR" b="1" dirty="0" smtClean="0"/>
              <a:t>Investidores </a:t>
            </a:r>
            <a:r>
              <a:rPr lang="pt-BR" altLang="pt-BR" dirty="0" smtClean="0"/>
              <a:t>(fonte </a:t>
            </a:r>
            <a:r>
              <a:rPr lang="pt-BR" altLang="pt-BR" dirty="0"/>
              <a:t>de capital próprio</a:t>
            </a:r>
            <a:r>
              <a:rPr lang="pt-BR" altLang="pt-BR" dirty="0" smtClean="0"/>
              <a:t>);</a:t>
            </a:r>
          </a:p>
          <a:p>
            <a:pPr lvl="1"/>
            <a:r>
              <a:rPr lang="pt-BR" altLang="pt-BR" b="1" dirty="0" smtClean="0"/>
              <a:t>Financiadores </a:t>
            </a:r>
            <a:r>
              <a:rPr lang="pt-BR" altLang="pt-BR" dirty="0" smtClean="0"/>
              <a:t>(fontes </a:t>
            </a:r>
            <a:r>
              <a:rPr lang="pt-BR" altLang="pt-BR" dirty="0"/>
              <a:t>de capital de terceiros</a:t>
            </a:r>
            <a:r>
              <a:rPr lang="pt-BR" altLang="pt-BR" dirty="0" smtClean="0"/>
              <a:t>). Exemplos: despesa com aluguel de equipamentos e prédios, a energia e água consumida, serviços de terceiros (manutenção, consultorias e advogados), compra de insumos e materiais para a produção e resultados de equivalência patrimonial.</a:t>
            </a:r>
          </a:p>
          <a:p>
            <a:pPr lvl="1"/>
            <a:r>
              <a:rPr lang="pt-BR" altLang="pt-BR" b="1" dirty="0" smtClean="0"/>
              <a:t>Governo</a:t>
            </a:r>
            <a:r>
              <a:rPr lang="pt-BR" altLang="pt-BR" dirty="0"/>
              <a:t>, que será remunerado por meio dos impostos como contrapartida  dos benefícios sociais que oferece a toda a sociedade, inclusive às empresas.</a:t>
            </a:r>
          </a:p>
          <a:p>
            <a:pPr lvl="1"/>
            <a:endParaRPr lang="pt-BR" b="1" dirty="0" smtClean="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51</a:t>
            </a:fld>
            <a:endParaRPr lang="en-US" dirty="0"/>
          </a:p>
        </p:txBody>
      </p:sp>
    </p:spTree>
    <p:extLst>
      <p:ext uri="{BB962C8B-B14F-4D97-AF65-F5344CB8AC3E}">
        <p14:creationId xmlns:p14="http://schemas.microsoft.com/office/powerpoint/2010/main" val="11468070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VALOR ADICIONADO – DVA</a:t>
            </a:r>
            <a:endParaRPr lang="pt-BR" dirty="0"/>
          </a:p>
        </p:txBody>
      </p:sp>
      <p:sp>
        <p:nvSpPr>
          <p:cNvPr id="3" name="Espaço Reservado para Conteúdo 2"/>
          <p:cNvSpPr>
            <a:spLocks noGrp="1"/>
          </p:cNvSpPr>
          <p:nvPr>
            <p:ph idx="1"/>
          </p:nvPr>
        </p:nvSpPr>
        <p:spPr/>
        <p:txBody>
          <a:bodyPr/>
          <a:lstStyle/>
          <a:p>
            <a:pPr lvl="1"/>
            <a:r>
              <a:rPr lang="pt-BR" dirty="0" smtClean="0"/>
              <a:t>Demonstração versus Lei</a:t>
            </a:r>
          </a:p>
          <a:p>
            <a:pPr lvl="1"/>
            <a:endParaRPr lang="pt-BR" dirty="0"/>
          </a:p>
          <a:p>
            <a:pPr lvl="2"/>
            <a:r>
              <a:rPr lang="pt-BR" dirty="0" smtClean="0"/>
              <a:t>Projeto de Lei nº 3.741/2000</a:t>
            </a:r>
          </a:p>
          <a:p>
            <a:pPr lvl="2"/>
            <a:endParaRPr lang="pt-BR" dirty="0" smtClean="0"/>
          </a:p>
          <a:p>
            <a:pPr lvl="2"/>
            <a:r>
              <a:rPr lang="pt-BR" dirty="0" smtClean="0"/>
              <a:t>Comitê de Pronunciamento Contábil – numero 09.</a:t>
            </a:r>
          </a:p>
          <a:p>
            <a:pPr lvl="2"/>
            <a:endParaRPr lang="pt-BR" dirty="0"/>
          </a:p>
          <a:p>
            <a:pPr lvl="2"/>
            <a:r>
              <a:rPr lang="pt-BR" dirty="0" smtClean="0"/>
              <a:t>Demonstração obrigatória nº 11.638/2007</a:t>
            </a:r>
          </a:p>
          <a:p>
            <a:pPr lvl="2"/>
            <a:endParaRPr lang="pt-BR" dirty="0"/>
          </a:p>
          <a:p>
            <a:pPr lvl="2"/>
            <a:r>
              <a:rPr lang="pt-BR" dirty="0" smtClean="0"/>
              <a:t>Porém ela não possui um modelo estrutural especifico, ficando a cargo da empresa</a:t>
            </a:r>
          </a:p>
          <a:p>
            <a:pPr lvl="2"/>
            <a:endParaRPr lang="pt-BR" dirty="0"/>
          </a:p>
          <a:p>
            <a:pPr lvl="3"/>
            <a:r>
              <a:rPr lang="en-US" dirty="0"/>
              <a:t>“</a:t>
            </a:r>
            <a:r>
              <a:rPr lang="en-US" dirty="0" err="1"/>
              <a:t>Deve</a:t>
            </a:r>
            <a:r>
              <a:rPr lang="en-US" dirty="0"/>
              <a:t> </a:t>
            </a:r>
            <a:r>
              <a:rPr lang="en-US" dirty="0" err="1"/>
              <a:t>ser</a:t>
            </a:r>
            <a:r>
              <a:rPr lang="en-US" dirty="0"/>
              <a:t> </a:t>
            </a:r>
            <a:r>
              <a:rPr lang="en-US" dirty="0" err="1"/>
              <a:t>entendido</a:t>
            </a:r>
            <a:r>
              <a:rPr lang="en-US" dirty="0"/>
              <a:t> que, no </a:t>
            </a:r>
            <a:r>
              <a:rPr lang="en-US" dirty="0" err="1"/>
              <a:t>fundo</a:t>
            </a:r>
            <a:r>
              <a:rPr lang="en-US" dirty="0"/>
              <a:t> a DVA nada </a:t>
            </a:r>
            <a:r>
              <a:rPr lang="en-US" dirty="0" err="1"/>
              <a:t>mais</a:t>
            </a:r>
            <a:r>
              <a:rPr lang="en-US" dirty="0"/>
              <a:t> é do que </a:t>
            </a:r>
            <a:r>
              <a:rPr lang="en-US" dirty="0" err="1"/>
              <a:t>uma</a:t>
            </a:r>
            <a:r>
              <a:rPr lang="en-US" dirty="0"/>
              <a:t> </a:t>
            </a:r>
            <a:r>
              <a:rPr lang="en-US" dirty="0" err="1"/>
              <a:t>readaptação</a:t>
            </a:r>
            <a:r>
              <a:rPr lang="en-US" dirty="0"/>
              <a:t> dos </a:t>
            </a:r>
            <a:r>
              <a:rPr lang="en-US" dirty="0" err="1"/>
              <a:t>próprios</a:t>
            </a:r>
            <a:r>
              <a:rPr lang="en-US" dirty="0"/>
              <a:t> </a:t>
            </a:r>
            <a:r>
              <a:rPr lang="en-US" dirty="0" err="1"/>
              <a:t>ítens</a:t>
            </a:r>
            <a:r>
              <a:rPr lang="en-US" dirty="0"/>
              <a:t> da DRE.” </a:t>
            </a:r>
            <a:r>
              <a:rPr lang="en-US" sz="900" dirty="0"/>
              <a:t>(</a:t>
            </a:r>
            <a:r>
              <a:rPr lang="en-US" sz="900" dirty="0" err="1"/>
              <a:t>Boletim</a:t>
            </a:r>
            <a:r>
              <a:rPr lang="en-US" sz="900" dirty="0"/>
              <a:t> IOB </a:t>
            </a:r>
            <a:r>
              <a:rPr lang="en-US" sz="900" dirty="0" err="1"/>
              <a:t>Temática</a:t>
            </a:r>
            <a:r>
              <a:rPr lang="en-US" sz="900" dirty="0"/>
              <a:t> </a:t>
            </a:r>
            <a:r>
              <a:rPr lang="en-US" sz="900" dirty="0" err="1"/>
              <a:t>Contábil</a:t>
            </a:r>
            <a:r>
              <a:rPr lang="en-US" sz="900" dirty="0"/>
              <a:t> 29/97</a:t>
            </a:r>
            <a:r>
              <a:rPr lang="en-US" sz="900" dirty="0" smtClean="0"/>
              <a:t>).</a:t>
            </a:r>
            <a:endParaRPr lang="en-US" dirty="0"/>
          </a:p>
          <a:p>
            <a:pPr lvl="2"/>
            <a:endParaRPr lang="pt-BR" dirty="0" smtClean="0"/>
          </a:p>
          <a:p>
            <a:pPr lvl="3"/>
            <a:r>
              <a:rPr lang="pt-BR" dirty="0" smtClean="0"/>
              <a:t>.</a:t>
            </a:r>
            <a:r>
              <a:rPr lang="en-US" dirty="0"/>
              <a:t> “A DVA </a:t>
            </a:r>
            <a:r>
              <a:rPr lang="en-US" dirty="0" err="1"/>
              <a:t>não</a:t>
            </a:r>
            <a:r>
              <a:rPr lang="en-US" dirty="0"/>
              <a:t> </a:t>
            </a:r>
            <a:r>
              <a:rPr lang="en-US" dirty="0" err="1"/>
              <a:t>deve</a:t>
            </a:r>
            <a:r>
              <a:rPr lang="en-US" dirty="0"/>
              <a:t> </a:t>
            </a:r>
            <a:r>
              <a:rPr lang="en-US" dirty="0" err="1"/>
              <a:t>ser</a:t>
            </a:r>
            <a:r>
              <a:rPr lang="en-US" dirty="0"/>
              <a:t> </a:t>
            </a:r>
            <a:r>
              <a:rPr lang="en-US" dirty="0" err="1"/>
              <a:t>confundida</a:t>
            </a:r>
            <a:r>
              <a:rPr lang="en-US" dirty="0"/>
              <a:t> com a DRE e </a:t>
            </a:r>
            <a:r>
              <a:rPr lang="en-US" dirty="0" err="1"/>
              <a:t>tampouco</a:t>
            </a:r>
            <a:r>
              <a:rPr lang="en-US" dirty="0"/>
              <a:t> com a </a:t>
            </a:r>
            <a:r>
              <a:rPr lang="en-US" dirty="0" err="1"/>
              <a:t>demonstração</a:t>
            </a:r>
            <a:r>
              <a:rPr lang="en-US" dirty="0"/>
              <a:t> do EVA</a:t>
            </a:r>
            <a:r>
              <a:rPr lang="en-US" baseline="30000" dirty="0"/>
              <a:t>®</a:t>
            </a:r>
            <a:r>
              <a:rPr lang="en-US" dirty="0"/>
              <a:t>, </a:t>
            </a:r>
            <a:r>
              <a:rPr lang="en-US" dirty="0" err="1"/>
              <a:t>pois</a:t>
            </a:r>
            <a:r>
              <a:rPr lang="en-US" dirty="0"/>
              <a:t> </a:t>
            </a:r>
            <a:r>
              <a:rPr lang="en-US" dirty="0" err="1"/>
              <a:t>essas</a:t>
            </a:r>
            <a:r>
              <a:rPr lang="en-US" dirty="0"/>
              <a:t> </a:t>
            </a:r>
            <a:r>
              <a:rPr lang="en-US" dirty="0" err="1"/>
              <a:t>duas</a:t>
            </a:r>
            <a:r>
              <a:rPr lang="en-US" dirty="0"/>
              <a:t> tem </a:t>
            </a:r>
            <a:r>
              <a:rPr lang="en-US" dirty="0" err="1"/>
              <a:t>informações</a:t>
            </a:r>
            <a:r>
              <a:rPr lang="en-US" dirty="0"/>
              <a:t> </a:t>
            </a:r>
            <a:r>
              <a:rPr lang="en-US" dirty="0" err="1"/>
              <a:t>voltadas</a:t>
            </a:r>
            <a:r>
              <a:rPr lang="en-US" dirty="0"/>
              <a:t> para </a:t>
            </a:r>
            <a:r>
              <a:rPr lang="en-US" dirty="0" err="1"/>
              <a:t>sócios</a:t>
            </a:r>
            <a:r>
              <a:rPr lang="en-US" dirty="0"/>
              <a:t>”. </a:t>
            </a:r>
            <a:r>
              <a:rPr lang="en-US" sz="1050" dirty="0"/>
              <a:t>(</a:t>
            </a:r>
            <a:r>
              <a:rPr lang="en-US" sz="1050" dirty="0" err="1"/>
              <a:t>Boletim</a:t>
            </a:r>
            <a:r>
              <a:rPr lang="en-US" sz="1050" dirty="0"/>
              <a:t> IOB </a:t>
            </a:r>
            <a:r>
              <a:rPr lang="en-US" sz="1050" dirty="0" err="1"/>
              <a:t>Temática</a:t>
            </a:r>
            <a:r>
              <a:rPr lang="en-US" sz="1050" dirty="0"/>
              <a:t> </a:t>
            </a:r>
            <a:r>
              <a:rPr lang="en-US" sz="1050" dirty="0" err="1"/>
              <a:t>Contábil</a:t>
            </a:r>
            <a:r>
              <a:rPr lang="en-US" sz="1050" dirty="0"/>
              <a:t> 48/97)</a:t>
            </a:r>
            <a:endParaRPr lang="en-US" dirty="0"/>
          </a:p>
          <a:p>
            <a:pPr lvl="3"/>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52</a:t>
            </a:fld>
            <a:endParaRPr lang="en-US" dirty="0"/>
          </a:p>
        </p:txBody>
      </p:sp>
    </p:spTree>
    <p:extLst>
      <p:ext uri="{BB962C8B-B14F-4D97-AF65-F5344CB8AC3E}">
        <p14:creationId xmlns:p14="http://schemas.microsoft.com/office/powerpoint/2010/main" val="18447216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76400" y="653138"/>
            <a:ext cx="10363199" cy="760190"/>
          </a:xfrm>
        </p:spPr>
        <p:txBody>
          <a:bodyPr/>
          <a:lstStyle/>
          <a:p>
            <a:r>
              <a:rPr lang="pt-BR" dirty="0"/>
              <a:t>DEMONSTRAÇÃO DO VALOR ADICIONADO – DVA</a:t>
            </a:r>
          </a:p>
        </p:txBody>
      </p:sp>
      <p:sp>
        <p:nvSpPr>
          <p:cNvPr id="3" name="Espaço Reservado para Conteúdo 2"/>
          <p:cNvSpPr>
            <a:spLocks noGrp="1"/>
          </p:cNvSpPr>
          <p:nvPr>
            <p:ph idx="1"/>
          </p:nvPr>
        </p:nvSpPr>
        <p:spPr/>
        <p:txBody>
          <a:bodyPr>
            <a:normAutofit/>
          </a:bodyPr>
          <a:lstStyle/>
          <a:p>
            <a:r>
              <a:rPr lang="pt-BR" b="1" dirty="0"/>
              <a:t>Obrigatoriedade da Demonstração do Valor Adicionado - DVA</a:t>
            </a:r>
            <a:endParaRPr lang="pt-BR" dirty="0"/>
          </a:p>
          <a:p>
            <a:pPr lvl="1"/>
            <a:r>
              <a:rPr lang="pt-BR" b="1" dirty="0"/>
              <a:t>Base Legal: </a:t>
            </a:r>
            <a:r>
              <a:rPr lang="pt-BR" dirty="0"/>
              <a:t>A Lei 6.404/76 após a publicação da Lei 11.638/07 passou a ter nova redação no Art. 176 o qual trata sobre as demonstrações financeiras a serem elaboradas com base na escrituração </a:t>
            </a:r>
            <a:r>
              <a:rPr lang="pt-BR" dirty="0" smtClean="0"/>
              <a:t>contábil.</a:t>
            </a:r>
          </a:p>
          <a:p>
            <a:pPr lvl="1"/>
            <a:r>
              <a:rPr lang="pt-BR" dirty="0" smtClean="0"/>
              <a:t>Entre </a:t>
            </a:r>
            <a:r>
              <a:rPr lang="pt-BR" dirty="0"/>
              <a:t>as demais alterações, houve a inclusão da Demonstração do Valor Adicionado – DVA na relação de demonstrações financeiras de companhias abertas.</a:t>
            </a:r>
          </a:p>
          <a:p>
            <a:pPr marL="0" indent="0">
              <a:buNone/>
            </a:pPr>
            <a:endParaRPr lang="pt-BR" dirty="0"/>
          </a:p>
          <a:p>
            <a:pPr lvl="1"/>
            <a:r>
              <a:rPr lang="pt-BR" b="1" dirty="0"/>
              <a:t>Obrigação da Elaboração: </a:t>
            </a:r>
            <a:r>
              <a:rPr lang="pt-BR" dirty="0"/>
              <a:t>A legislação apresenta como obrigada a elaborar a DVA apenas as Companhias Abertas (S/A</a:t>
            </a:r>
            <a:r>
              <a:rPr lang="pt-BR" dirty="0" smtClean="0"/>
              <a:t>).</a:t>
            </a:r>
          </a:p>
          <a:p>
            <a:pPr lvl="1"/>
            <a:r>
              <a:rPr lang="pt-BR" dirty="0" smtClean="0"/>
              <a:t>Contudo </a:t>
            </a:r>
            <a:r>
              <a:rPr lang="pt-BR" dirty="0"/>
              <a:t>para as demais sociedades, seja sociedade de Capital Fechado (S/A) e a sociedade LTDA (sociedade enquadrada como de grande porte ou não) orienta-se que elaborem esta demonstração mesmo que apenas para fins </a:t>
            </a:r>
            <a:r>
              <a:rPr lang="pt-BR" dirty="0" smtClean="0"/>
              <a:t>gerenciais.</a:t>
            </a:r>
          </a:p>
          <a:p>
            <a:pPr lvl="1"/>
            <a:endParaRPr lang="pt-BR" b="1" dirty="0"/>
          </a:p>
          <a:p>
            <a:pPr lvl="1"/>
            <a:r>
              <a:rPr lang="pt-BR" b="1" dirty="0" smtClean="0"/>
              <a:t>Períodos </a:t>
            </a:r>
            <a:r>
              <a:rPr lang="pt-BR" b="1" dirty="0"/>
              <a:t>de Elaboração: </a:t>
            </a:r>
            <a:r>
              <a:rPr lang="pt-BR" dirty="0"/>
              <a:t>A DVA deverá ser elaborada de forma anual ao final de cada período, </a:t>
            </a:r>
            <a:r>
              <a:rPr lang="pt-BR" dirty="0" smtClean="0"/>
              <a:t>junto com </a:t>
            </a:r>
            <a:r>
              <a:rPr lang="pt-BR" dirty="0"/>
              <a:t>as demais demonstrações </a:t>
            </a:r>
            <a:r>
              <a:rPr lang="pt-BR" dirty="0" smtClean="0"/>
              <a:t>contábeis.</a:t>
            </a:r>
          </a:p>
          <a:p>
            <a:pPr lvl="1"/>
            <a:r>
              <a:rPr lang="pt-BR" b="1" dirty="0" smtClean="0"/>
              <a:t>Publicação</a:t>
            </a:r>
            <a:r>
              <a:rPr lang="pt-BR" b="1" dirty="0"/>
              <a:t>: </a:t>
            </a:r>
            <a:r>
              <a:rPr lang="pt-BR" dirty="0"/>
              <a:t>As Companhias Abertas ou Fechadas S/A são obrigadas a elaborar e publicar suas demonstrações, inclusive a DVA.</a:t>
            </a:r>
          </a:p>
          <a:p>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53</a:t>
            </a:fld>
            <a:endParaRPr lang="en-US" dirty="0"/>
          </a:p>
        </p:txBody>
      </p:sp>
    </p:spTree>
    <p:extLst>
      <p:ext uri="{BB962C8B-B14F-4D97-AF65-F5344CB8AC3E}">
        <p14:creationId xmlns:p14="http://schemas.microsoft.com/office/powerpoint/2010/main" val="14792930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lstStyle/>
          <a:p>
            <a:r>
              <a:rPr lang="pt-BR" smtClean="0"/>
              <a:t>Características principais</a:t>
            </a:r>
            <a:endParaRPr lang="pt-BR" dirty="0" smtClean="0"/>
          </a:p>
          <a:p>
            <a:pPr lvl="1"/>
            <a:r>
              <a:rPr lang="pt-BR" dirty="0" smtClean="0"/>
              <a:t>A </a:t>
            </a:r>
            <a:r>
              <a:rPr lang="pt-BR" dirty="0"/>
              <a:t>DVA está fundamentada em conceitos macroeconômicos, buscando </a:t>
            </a:r>
            <a:r>
              <a:rPr lang="pt-BR" dirty="0" smtClean="0"/>
              <a:t>apresentar, eliminados </a:t>
            </a:r>
            <a:r>
              <a:rPr lang="pt-BR" dirty="0"/>
              <a:t>os valores que representam dupla-contagem, a parcela de </a:t>
            </a:r>
            <a:r>
              <a:rPr lang="pt-BR" dirty="0" smtClean="0"/>
              <a:t>contribuição que </a:t>
            </a:r>
            <a:r>
              <a:rPr lang="pt-BR" dirty="0"/>
              <a:t>a entidade tem na formação do Produto Interno Bruto (PIB). Essa </a:t>
            </a:r>
            <a:r>
              <a:rPr lang="pt-BR" dirty="0" smtClean="0"/>
              <a:t>demonstração apresenta </a:t>
            </a:r>
            <a:r>
              <a:rPr lang="pt-BR" dirty="0"/>
              <a:t>o quanto a entidade agrega de valor aos insumos adquiridos de terceiros </a:t>
            </a:r>
            <a:r>
              <a:rPr lang="pt-BR" dirty="0" smtClean="0"/>
              <a:t>e que </a:t>
            </a:r>
            <a:r>
              <a:rPr lang="pt-BR" dirty="0"/>
              <a:t>são vendidos ou consumidos durante determinado período</a:t>
            </a:r>
            <a:r>
              <a:rPr lang="pt-BR" dirty="0" smtClean="0"/>
              <a:t>.</a:t>
            </a:r>
          </a:p>
          <a:p>
            <a:pPr lvl="1"/>
            <a:r>
              <a:rPr lang="pt-BR" dirty="0" smtClean="0"/>
              <a:t>Para </a:t>
            </a:r>
            <a:r>
              <a:rPr lang="pt-BR" dirty="0"/>
              <a:t>os investidores e outros usuários, essa demonstração proporciona </a:t>
            </a:r>
            <a:r>
              <a:rPr lang="pt-BR" dirty="0" smtClean="0"/>
              <a:t>o conhecimento </a:t>
            </a:r>
            <a:r>
              <a:rPr lang="pt-BR" dirty="0"/>
              <a:t>de informações de natureza econômica e social e oferece </a:t>
            </a:r>
            <a:r>
              <a:rPr lang="pt-BR" dirty="0" smtClean="0"/>
              <a:t>a possibilidade </a:t>
            </a:r>
            <a:r>
              <a:rPr lang="pt-BR" dirty="0"/>
              <a:t>de melhor avaliação das atividades da entidade dentro da sociedade </a:t>
            </a:r>
            <a:r>
              <a:rPr lang="pt-BR" dirty="0" smtClean="0"/>
              <a:t>na qual </a:t>
            </a:r>
            <a:r>
              <a:rPr lang="pt-BR" dirty="0"/>
              <a:t>está </a:t>
            </a:r>
            <a:r>
              <a:rPr lang="pt-BR" dirty="0" smtClean="0"/>
              <a:t>inserida.</a:t>
            </a:r>
          </a:p>
          <a:p>
            <a:pPr lvl="1"/>
            <a:r>
              <a:rPr lang="pt-BR" dirty="0"/>
              <a:t>A DVA elaborada por segmento (tipo de clientes, atividades, produtos, </a:t>
            </a:r>
            <a:r>
              <a:rPr lang="pt-BR" dirty="0" smtClean="0"/>
              <a:t>área geográfica </a:t>
            </a:r>
            <a:r>
              <a:rPr lang="pt-BR" dirty="0"/>
              <a:t>e outros) pode representar informações ainda mais valiosas no auxílio </a:t>
            </a:r>
            <a:r>
              <a:rPr lang="pt-BR" dirty="0" smtClean="0"/>
              <a:t>da formulação </a:t>
            </a:r>
            <a:r>
              <a:rPr lang="pt-BR" dirty="0"/>
              <a:t>de predições e, enquanto não houver um pronunciamento específico </a:t>
            </a:r>
            <a:r>
              <a:rPr lang="pt-BR" dirty="0" smtClean="0"/>
              <a:t>do CPC </a:t>
            </a:r>
            <a:r>
              <a:rPr lang="pt-BR" dirty="0"/>
              <a:t>sobre segmentos, sua divulgação é incentivada.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54</a:t>
            </a:fld>
            <a:endParaRPr lang="en-US" dirty="0"/>
          </a:p>
        </p:txBody>
      </p:sp>
    </p:spTree>
    <p:extLst>
      <p:ext uri="{BB962C8B-B14F-4D97-AF65-F5344CB8AC3E}">
        <p14:creationId xmlns:p14="http://schemas.microsoft.com/office/powerpoint/2010/main" val="38732503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a:t>
            </a:r>
            <a:r>
              <a:rPr lang="pt-BR" dirty="0" smtClean="0"/>
              <a:t>DO VALOR ADICIONADO – DVA</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55</a:t>
            </a:fld>
            <a:endParaRPr lang="en-US" dirty="0"/>
          </a:p>
        </p:txBody>
      </p:sp>
      <p:pic>
        <p:nvPicPr>
          <p:cNvPr id="5" name="Imagem 4"/>
          <p:cNvPicPr>
            <a:picLocks noChangeAspect="1"/>
          </p:cNvPicPr>
          <p:nvPr/>
        </p:nvPicPr>
        <p:blipFill>
          <a:blip r:embed="rId2"/>
          <a:stretch>
            <a:fillRect/>
          </a:stretch>
        </p:blipFill>
        <p:spPr>
          <a:xfrm>
            <a:off x="2307617" y="1199050"/>
            <a:ext cx="7370703" cy="5633192"/>
          </a:xfrm>
          <a:prstGeom prst="rect">
            <a:avLst/>
          </a:prstGeom>
        </p:spPr>
      </p:pic>
    </p:spTree>
    <p:extLst>
      <p:ext uri="{BB962C8B-B14F-4D97-AF65-F5344CB8AC3E}">
        <p14:creationId xmlns:p14="http://schemas.microsoft.com/office/powerpoint/2010/main" val="1423042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normAutofit lnSpcReduction="10000"/>
          </a:bodyPr>
          <a:lstStyle/>
          <a:p>
            <a:pPr lvl="1"/>
            <a:r>
              <a:rPr lang="pt-BR" b="1" dirty="0" smtClean="0"/>
              <a:t>ITENS DA DEMONSTRAÇÃO.</a:t>
            </a:r>
          </a:p>
          <a:p>
            <a:pPr lvl="1"/>
            <a:r>
              <a:rPr lang="pt-BR" b="1" dirty="0" smtClean="0"/>
              <a:t>Receitas</a:t>
            </a:r>
            <a:endParaRPr lang="pt-BR" dirty="0"/>
          </a:p>
          <a:p>
            <a:pPr lvl="2"/>
            <a:r>
              <a:rPr lang="pt-BR" dirty="0"/>
              <a:t>1.1- Venda de mercadorias, produtos e serviços - inclui os valores dos tributos incidentes sobre essas receitas (por exemplo, ICMS, IPI, PIS e COFINS), ou seja, corresponde ao ingresso bruto ou faturamento bruto, mesmo quando na demonstração do resultado tais tributos estejam fora do cômputo dessas receitas.</a:t>
            </a:r>
          </a:p>
          <a:p>
            <a:pPr lvl="2"/>
            <a:r>
              <a:rPr lang="pt-BR" dirty="0"/>
              <a:t>1.2 - Outras receitas - da mesma forma que o item anterior, inclui os tributos incidentes sobre essas </a:t>
            </a:r>
            <a:r>
              <a:rPr lang="pt-BR" dirty="0" smtClean="0"/>
              <a:t>receitas.</a:t>
            </a:r>
          </a:p>
          <a:p>
            <a:pPr lvl="2"/>
            <a:r>
              <a:rPr lang="pt-BR" dirty="0" smtClean="0"/>
              <a:t>1.3 </a:t>
            </a:r>
            <a:r>
              <a:rPr lang="pt-BR" dirty="0"/>
              <a:t>- Resultados não operacionais (ganho de capital) – inclui receita de juros sobre </a:t>
            </a:r>
            <a:r>
              <a:rPr lang="pt-BR" dirty="0" smtClean="0"/>
              <a:t>investimentos.</a:t>
            </a:r>
          </a:p>
          <a:p>
            <a:pPr lvl="2"/>
            <a:r>
              <a:rPr lang="pt-BR" dirty="0" smtClean="0"/>
              <a:t>1.4 </a:t>
            </a:r>
            <a:r>
              <a:rPr lang="pt-BR" dirty="0"/>
              <a:t>- Provisão para créditos de liquidação duvidosa – Constituição/Reversão - inclui os valores relativos à constituição e reversão dessa provisão</a:t>
            </a:r>
            <a:r>
              <a:rPr lang="pt-BR" dirty="0" smtClean="0"/>
              <a:t>.</a:t>
            </a:r>
          </a:p>
          <a:p>
            <a:pPr lvl="2"/>
            <a:endParaRPr lang="pt-BR" dirty="0" smtClean="0"/>
          </a:p>
          <a:p>
            <a:pPr lvl="1"/>
            <a:r>
              <a:rPr lang="pt-BR" b="1" dirty="0"/>
              <a:t>Insumos adquiridos de terceiros</a:t>
            </a:r>
            <a:endParaRPr lang="pt-BR" dirty="0"/>
          </a:p>
          <a:p>
            <a:pPr lvl="2"/>
            <a:r>
              <a:rPr lang="pt-BR" dirty="0"/>
              <a:t>2.1 - Custo dos produtos, das mercadorias e dos serviços vendidos - inclui os valores das matérias-primas adquiridas junto a terceiros e contidas no custo do produto vendido, das mercadorias e dos serviços vendidos adquiridos de terceiros; não inclui gastos com pessoal próprio.</a:t>
            </a:r>
          </a:p>
          <a:p>
            <a:pPr lvl="2"/>
            <a:r>
              <a:rPr lang="pt-BR" dirty="0" smtClean="0"/>
              <a:t>2.2</a:t>
            </a:r>
            <a:r>
              <a:rPr lang="pt-BR" dirty="0"/>
              <a:t> </a:t>
            </a:r>
            <a:r>
              <a:rPr lang="pt-BR" dirty="0" smtClean="0"/>
              <a:t>- </a:t>
            </a:r>
            <a:r>
              <a:rPr lang="pt-BR" dirty="0"/>
              <a:t>Materiais, energia, serviços de terceiros e outros - inclui valores relativos às despesas originadas da utilização desses bens, utilidades e serviços adquiridos junto a terceiros</a:t>
            </a:r>
            <a:r>
              <a:rPr lang="pt-BR" dirty="0" smtClean="0"/>
              <a:t>.</a:t>
            </a:r>
            <a:r>
              <a:rPr lang="pt-BR" dirty="0"/>
              <a:t> Nos valores dos custos dos produtos e mercadorias vendidos, materiais, serviços, energia etc. consumidos, devem ser considerados os tributos incluídos no momento das compras (por exemplo, ICMS, IPI, PIS e COFINS), recuperáveis ou não. Esse procedimento é diferente das práticas utilizadas na demonstração do resultado.</a:t>
            </a:r>
          </a:p>
          <a:p>
            <a:pPr lvl="2"/>
            <a:endParaRPr lang="pt-BR" dirty="0"/>
          </a:p>
          <a:p>
            <a:endParaRPr lang="pt-BR" dirty="0"/>
          </a:p>
          <a:p>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22888407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noAutofit/>
          </a:bodyPr>
          <a:lstStyle/>
          <a:p>
            <a:pPr marL="742950" lvl="2" indent="-342900"/>
            <a:r>
              <a:rPr lang="pt-BR" sz="1600" b="1" dirty="0"/>
              <a:t>Insumos adquiridos de terceiros</a:t>
            </a:r>
            <a:endParaRPr lang="pt-BR" sz="1600" dirty="0"/>
          </a:p>
          <a:p>
            <a:pPr lvl="2"/>
            <a:r>
              <a:rPr lang="pt-BR" dirty="0" smtClean="0"/>
              <a:t>2.3 </a:t>
            </a:r>
            <a:r>
              <a:rPr lang="pt-BR" dirty="0"/>
              <a:t>- Perda e recuperação de valores ativos - inclui valores relativos a ajustes por avaliação a valor de mercado de estoques, imobilizados, investimentos, etc. Também devem ser incluídos os valores reconhecidos no resultado do período, tanto na constituição quanto na reversão de provisão para perdas por desvalorização de </a:t>
            </a:r>
            <a:r>
              <a:rPr lang="pt-BR" dirty="0" smtClean="0"/>
              <a:t>ativos.</a:t>
            </a:r>
          </a:p>
          <a:p>
            <a:pPr lvl="2"/>
            <a:r>
              <a:rPr lang="pt-BR" dirty="0" smtClean="0"/>
              <a:t>2.4</a:t>
            </a:r>
            <a:r>
              <a:rPr lang="pt-BR" dirty="0"/>
              <a:t> - Outras (especificar</a:t>
            </a:r>
            <a:r>
              <a:rPr lang="pt-BR" dirty="0" smtClean="0"/>
              <a:t>)</a:t>
            </a:r>
          </a:p>
          <a:p>
            <a:pPr lvl="2"/>
            <a:endParaRPr lang="pt-BR" dirty="0"/>
          </a:p>
          <a:p>
            <a:pPr lvl="1"/>
            <a:r>
              <a:rPr lang="pt-BR" b="1" dirty="0" smtClean="0"/>
              <a:t>3 – Valor adicionado bruto (é o resultado do 1 – 2)</a:t>
            </a:r>
          </a:p>
          <a:p>
            <a:pPr lvl="1"/>
            <a:r>
              <a:rPr lang="pt-BR" b="1" dirty="0" smtClean="0"/>
              <a:t>4 – Retenções (depreciação da empresa conforme norma contábil)</a:t>
            </a:r>
          </a:p>
          <a:p>
            <a:pPr lvl="1"/>
            <a:r>
              <a:rPr lang="pt-BR" b="1" dirty="0" smtClean="0"/>
              <a:t>5 – Valor adicionado liquido produzido (é o resultado 3 – 4)</a:t>
            </a:r>
          </a:p>
          <a:p>
            <a:pPr lvl="1"/>
            <a:endParaRPr lang="pt-BR" b="1" dirty="0" smtClean="0"/>
          </a:p>
          <a:p>
            <a:pPr lvl="1"/>
            <a:r>
              <a:rPr lang="pt-BR" b="1" dirty="0" smtClean="0"/>
              <a:t>6 – Valor adicionado </a:t>
            </a:r>
            <a:r>
              <a:rPr lang="pt-BR" b="1" dirty="0"/>
              <a:t>recebido em transferência</a:t>
            </a:r>
            <a:endParaRPr lang="pt-BR" dirty="0"/>
          </a:p>
          <a:p>
            <a:pPr lvl="2"/>
            <a:r>
              <a:rPr lang="pt-BR" dirty="0"/>
              <a:t>6.1 - Resultado de equivalência patrimonial - o resultado da equivalência pode representar receita ou despesa; se despesa, deve ser considerado como redução ou valor negativo.</a:t>
            </a:r>
          </a:p>
          <a:p>
            <a:pPr lvl="2"/>
            <a:r>
              <a:rPr lang="pt-BR" dirty="0"/>
              <a:t>6.2 - Receitas financeiras - inclui todas as receitas financeiras, inclusive as variações cambiais ativas, independentemente de sua origem.</a:t>
            </a:r>
          </a:p>
          <a:p>
            <a:pPr lvl="2"/>
            <a:r>
              <a:rPr lang="pt-BR" dirty="0"/>
              <a:t>6.3 - Outras receitas: incluem os dividendos relativos a investimentos avaliados ao custo,</a:t>
            </a:r>
            <a:br>
              <a:rPr lang="pt-BR" dirty="0"/>
            </a:br>
            <a:r>
              <a:rPr lang="pt-BR" dirty="0"/>
              <a:t>aluguéis e arrendamentos, direitos de franquia, etc.</a:t>
            </a:r>
          </a:p>
          <a:p>
            <a:endParaRPr lang="pt-BR" dirty="0"/>
          </a:p>
          <a:p>
            <a:pPr lvl="1"/>
            <a:endParaRPr lang="pt-BR" b="1" dirty="0" smtClean="0"/>
          </a:p>
          <a:p>
            <a:endParaRPr lang="pt-BR" sz="1600" b="1" dirty="0"/>
          </a:p>
          <a:p>
            <a:pPr lvl="2"/>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57</a:t>
            </a:fld>
            <a:endParaRPr lang="en-US" dirty="0"/>
          </a:p>
        </p:txBody>
      </p:sp>
    </p:spTree>
    <p:extLst>
      <p:ext uri="{BB962C8B-B14F-4D97-AF65-F5344CB8AC3E}">
        <p14:creationId xmlns:p14="http://schemas.microsoft.com/office/powerpoint/2010/main" val="894418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normAutofit/>
          </a:bodyPr>
          <a:lstStyle/>
          <a:p>
            <a:pPr lvl="1"/>
            <a:r>
              <a:rPr lang="pt-BR" b="1" dirty="0" smtClean="0"/>
              <a:t>7 – Valor adicionado total a distribuir (é o resultado de 5 + 6)</a:t>
            </a:r>
          </a:p>
          <a:p>
            <a:pPr lvl="1"/>
            <a:endParaRPr lang="pt-BR" b="1" dirty="0"/>
          </a:p>
          <a:p>
            <a:pPr lvl="1"/>
            <a:r>
              <a:rPr lang="pt-BR" b="1" dirty="0" smtClean="0"/>
              <a:t>8 </a:t>
            </a:r>
            <a:r>
              <a:rPr lang="pt-BR" b="1" dirty="0"/>
              <a:t>- Distribuições do Valor </a:t>
            </a:r>
            <a:r>
              <a:rPr lang="pt-BR" b="1" dirty="0" smtClean="0"/>
              <a:t>Adicionado</a:t>
            </a:r>
            <a:endParaRPr lang="pt-BR" b="1" dirty="0"/>
          </a:p>
          <a:p>
            <a:pPr lvl="2"/>
            <a:r>
              <a:rPr lang="pt-BR" dirty="0" smtClean="0"/>
              <a:t>A </a:t>
            </a:r>
            <a:r>
              <a:rPr lang="pt-BR" dirty="0"/>
              <a:t>segunda parte da DVA deve apresentar de forma detalhada como a riqueza obtida pela entidade foi distribuída. Os principais componentes dessa distribuição estão apresentados a </a:t>
            </a:r>
            <a:r>
              <a:rPr lang="pt-BR" dirty="0" smtClean="0"/>
              <a:t>seguir:</a:t>
            </a:r>
          </a:p>
          <a:p>
            <a:pPr lvl="2"/>
            <a:r>
              <a:rPr lang="pt-BR" b="1" dirty="0" smtClean="0"/>
              <a:t>8.1 </a:t>
            </a:r>
            <a:r>
              <a:rPr lang="pt-BR" b="1" dirty="0"/>
              <a:t>- Pessoal</a:t>
            </a:r>
            <a:r>
              <a:rPr lang="pt-BR" dirty="0"/>
              <a:t> – valores apropriados ao custo e ao resultado do exercício na forma de:</a:t>
            </a:r>
          </a:p>
          <a:p>
            <a:pPr lvl="2"/>
            <a:r>
              <a:rPr lang="pt-BR" dirty="0"/>
              <a:t>8.1.1 - Remuneração direta - representada pelos valores relativos a salários, 13º salário, honorários da administração (inclusive os pagamentos baseados em ações), férias, comissões, horas extras, participação de empregados nos resultados, etc. </a:t>
            </a:r>
          </a:p>
          <a:p>
            <a:pPr lvl="2"/>
            <a:r>
              <a:rPr lang="pt-BR" dirty="0" smtClean="0"/>
              <a:t>8.1.2 </a:t>
            </a:r>
            <a:r>
              <a:rPr lang="pt-BR" dirty="0"/>
              <a:t>- Benefícios - representados pelos valores relativos a assistência médica, alimentação, transporte, planos de aposentadoria </a:t>
            </a:r>
            <a:r>
              <a:rPr lang="pt-BR" dirty="0" smtClean="0"/>
              <a:t>etc.</a:t>
            </a:r>
            <a:endParaRPr lang="pt-BR" dirty="0"/>
          </a:p>
          <a:p>
            <a:pPr lvl="2"/>
            <a:r>
              <a:rPr lang="pt-BR" dirty="0" smtClean="0"/>
              <a:t>8.1.3 </a:t>
            </a:r>
            <a:r>
              <a:rPr lang="pt-BR" dirty="0"/>
              <a:t>- FGTS – representado pelos valores depositados em conta vinculada dos empregados. Impostos, taxas e contribuições - valores relativos ao imposto de renda, contribuição social sobre o lucro, contribuições aos INSS (incluídos aqui os valores do Seguro de Acidentes do Trabalho) que sejam ônus do empregador, bem como os demais impostos e contribuições a que a empresa esteja sujeita. Para os impostos compensáveis, tais como ICMS, IPI, PIS e COFINS, devem ser considerados apenas os valores devidos ou já recolhidos, e representam a diferença entre os impostos e contribuições incidentes sobre as receitas e os respectivos valores incidentes sobre os itens considerados como "insumos adquiridos de terceiros</a:t>
            </a:r>
            <a:r>
              <a:rPr lang="pt-BR" dirty="0" smtClean="0"/>
              <a:t>".</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58</a:t>
            </a:fld>
            <a:endParaRPr lang="en-US" dirty="0"/>
          </a:p>
        </p:txBody>
      </p:sp>
    </p:spTree>
    <p:extLst>
      <p:ext uri="{BB962C8B-B14F-4D97-AF65-F5344CB8AC3E}">
        <p14:creationId xmlns:p14="http://schemas.microsoft.com/office/powerpoint/2010/main" val="23177171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normAutofit lnSpcReduction="10000"/>
          </a:bodyPr>
          <a:lstStyle/>
          <a:p>
            <a:pPr marL="742950" lvl="2" indent="-342900"/>
            <a:r>
              <a:rPr lang="pt-BR" sz="1600" b="1" dirty="0"/>
              <a:t>8 - Distribuições do Valor </a:t>
            </a:r>
            <a:r>
              <a:rPr lang="pt-BR" sz="1600" b="1" dirty="0" smtClean="0"/>
              <a:t>Adicionado (continuação)</a:t>
            </a:r>
            <a:endParaRPr lang="pt-BR" sz="1600" b="1" dirty="0"/>
          </a:p>
          <a:p>
            <a:pPr marL="1257300" lvl="4" indent="-342900"/>
            <a:r>
              <a:rPr lang="pt-BR" sz="1400" dirty="0"/>
              <a:t>8.1.4 - Impostos, taxas e contribuições - valores relativos ao imposto de renda, contribuição social sobre o lucro, contribuições aos INSS (incluídos aqui os valores do Seguro de Acidentes do Trabalho) que sejam ônus do empregador, bem como os demais impostos e contribuições a que a empresa esteja sujeita. Para os impostos compensáveis, tais como ICMS, IPI, PIS e COFINS, devem ser considerados apenas os valores devidos ou já recolhidos, e representam a diferença entre os impostos e contribuições incidentes sobre as receitas e os respectivos valores incidentes sobre os itens considerados como "insumos adquiridos de terceiros". </a:t>
            </a:r>
          </a:p>
          <a:p>
            <a:pPr marL="1257300" lvl="4" indent="-342900"/>
            <a:r>
              <a:rPr lang="pt-BR" sz="1400" b="1" dirty="0" smtClean="0"/>
              <a:t>8.2 - Impostos e Taxas</a:t>
            </a:r>
            <a:endParaRPr lang="pt-BR" sz="1400" b="1" dirty="0" smtClean="0"/>
          </a:p>
          <a:p>
            <a:pPr marL="1257300" lvl="4" indent="-342900"/>
            <a:r>
              <a:rPr lang="pt-BR" sz="1400" dirty="0" smtClean="0"/>
              <a:t>8.2.1 </a:t>
            </a:r>
            <a:r>
              <a:rPr lang="pt-BR" sz="1400" dirty="0"/>
              <a:t>- Federais – inclui os tributos devidos à União, inclusive aqueles que são repassados no todo ou em parte aos Estados, Municípios, Autarquias etc., tais como: IRPJ, CSSL, IPI, CIDE, PIS, COFINS. Inclui também a contribuição sindical patronal. </a:t>
            </a:r>
          </a:p>
          <a:p>
            <a:pPr marL="1257300" lvl="4" indent="-342900"/>
            <a:r>
              <a:rPr lang="pt-BR" sz="1400" dirty="0"/>
              <a:t>8.2.2 - Estaduais – inclui os tributos devidos aos Estados, inclusive aqueles que são repassados no todo ou em parte aos Municípios, Autarquias etc., tais como o ICMS e o IPVA. </a:t>
            </a:r>
          </a:p>
          <a:p>
            <a:pPr marL="1257300" lvl="4" indent="-342900"/>
            <a:r>
              <a:rPr lang="pt-BR" sz="1400" dirty="0"/>
              <a:t>8.2.3 - Municipais – inclui os tributos devidos aos Municípios, inclusive aqueles que são repassados no todo ou em parte às Autarquias, ou quaisquer outras entidades, tais como o ISS e o IPTU</a:t>
            </a:r>
            <a:r>
              <a:rPr lang="pt-BR" sz="1400" dirty="0" smtClean="0"/>
              <a:t>.</a:t>
            </a:r>
          </a:p>
          <a:p>
            <a:pPr marL="1257300" lvl="4" indent="-342900"/>
            <a:r>
              <a:rPr lang="pt-BR" sz="1400" b="1" dirty="0" smtClean="0"/>
              <a:t>8.3 - Aluguéis</a:t>
            </a:r>
            <a:endParaRPr lang="pt-BR" sz="1400" b="1" dirty="0"/>
          </a:p>
          <a:p>
            <a:pPr marL="1257300" lvl="4" indent="-342900"/>
            <a:r>
              <a:rPr lang="pt-BR" sz="1400" dirty="0"/>
              <a:t>8.3 - Remunerações de capitais de terceiros - valores pagos ou creditados aos </a:t>
            </a:r>
            <a:r>
              <a:rPr lang="pt-BR" sz="1400" dirty="0" smtClean="0"/>
              <a:t>financiadores </a:t>
            </a:r>
            <a:r>
              <a:rPr lang="pt-BR" sz="1400" dirty="0"/>
              <a:t>externos de capital.</a:t>
            </a:r>
          </a:p>
          <a:p>
            <a:pPr marL="1257300" lvl="4" indent="-342900"/>
            <a:r>
              <a:rPr lang="pt-BR" sz="1400" dirty="0"/>
              <a:t>8.3.1 - Juros - inclui as despesas financeiras, inclusive as variações cambiais passivas, relativas a quaisquer tipos de empréstimos e financiamentos junto a instituições financeiras, empresas do grupo ou outras formas de obtenção de recursos. Inclui os valores que tenham sido capitalizados no período. </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59</a:t>
            </a:fld>
            <a:endParaRPr lang="en-US" dirty="0"/>
          </a:p>
        </p:txBody>
      </p:sp>
    </p:spTree>
    <p:extLst>
      <p:ext uri="{BB962C8B-B14F-4D97-AF65-F5344CB8AC3E}">
        <p14:creationId xmlns:p14="http://schemas.microsoft.com/office/powerpoint/2010/main" val="35790867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normAutofit lnSpcReduction="10000"/>
          </a:bodyPr>
          <a:lstStyle/>
          <a:p>
            <a:pPr marL="742950" lvl="2" indent="-342900"/>
            <a:r>
              <a:rPr lang="pt-BR" sz="1600" b="1" dirty="0"/>
              <a:t>8 - Distribuições do Valor </a:t>
            </a:r>
            <a:r>
              <a:rPr lang="pt-BR" sz="1600" b="1" dirty="0" smtClean="0"/>
              <a:t>Adicionado (continuação)</a:t>
            </a:r>
            <a:endParaRPr lang="pt-BR" sz="1600" b="1" dirty="0"/>
          </a:p>
          <a:p>
            <a:pPr marL="1257300" lvl="4" indent="-342900"/>
            <a:r>
              <a:rPr lang="pt-BR" sz="1400" dirty="0"/>
              <a:t>8.3.2 - Aluguéis - incluem os aluguéis (inclusive as despesas com arrendamento operacional) pagos ou creditados a terceiros, inclusive os acrescidos aos </a:t>
            </a:r>
            <a:r>
              <a:rPr lang="pt-BR" sz="1400" dirty="0" smtClean="0"/>
              <a:t>ativos.</a:t>
            </a:r>
            <a:endParaRPr lang="pt-BR" sz="1400" dirty="0"/>
          </a:p>
          <a:p>
            <a:pPr marL="1257300" lvl="4" indent="-342900"/>
            <a:r>
              <a:rPr lang="pt-BR" sz="1400" dirty="0" smtClean="0"/>
              <a:t>8.3.3 </a:t>
            </a:r>
            <a:r>
              <a:rPr lang="pt-BR" sz="1400" dirty="0"/>
              <a:t>- Outras - incluem outras remunerações que configurem transferência de riqueza a terceiros, mesmo que originadas em capital intelectual, tais como royalties, franquia, direitos autorais, </a:t>
            </a:r>
            <a:r>
              <a:rPr lang="pt-BR" sz="1400" dirty="0" smtClean="0"/>
              <a:t>etc.</a:t>
            </a:r>
          </a:p>
          <a:p>
            <a:pPr marL="1257300" lvl="4" indent="-342900"/>
            <a:r>
              <a:rPr lang="pt-BR" sz="1400" b="1" dirty="0" smtClean="0"/>
              <a:t>8.4 – Juros sobre capital próprio</a:t>
            </a:r>
          </a:p>
          <a:p>
            <a:pPr marL="1257300" lvl="4" indent="-342900"/>
            <a:r>
              <a:rPr lang="pt-BR" sz="1400" dirty="0" smtClean="0"/>
              <a:t>8.4 </a:t>
            </a:r>
            <a:r>
              <a:rPr lang="pt-BR" sz="1400" dirty="0"/>
              <a:t>- Remuneração de capitais próprios - valores relativos à remuneração atribuída aos sócios e acionistas. </a:t>
            </a:r>
            <a:endParaRPr lang="pt-BR" sz="1400" dirty="0" smtClean="0"/>
          </a:p>
          <a:p>
            <a:pPr marL="1257300" lvl="4" indent="-342900"/>
            <a:r>
              <a:rPr lang="pt-BR" sz="1400" dirty="0" smtClean="0"/>
              <a:t>8.4.1 </a:t>
            </a:r>
            <a:r>
              <a:rPr lang="pt-BR" sz="1400" dirty="0"/>
              <a:t>- Juros sobre o capital próprio (JCP) - inclui os valores pagos ou creditados aos sócios e acionistas por conta do resultado do período, ressalvando-se os valores dos JCP transferidos para conta de reserva de lucros. Devem ser incluídos apenas os valores distribuídos com base no resultado do próprio exercício, desconsiderando-se os dividendos distribuídos com base em lucros acumulados de exercícios anteriores, uma vez que já foram tratados como "lucros retidos" no exercício em que foram </a:t>
            </a:r>
            <a:r>
              <a:rPr lang="pt-BR" sz="1400" dirty="0" smtClean="0"/>
              <a:t>gerados.</a:t>
            </a:r>
            <a:endParaRPr lang="pt-BR" sz="1400" dirty="0"/>
          </a:p>
          <a:p>
            <a:pPr marL="1257300" lvl="4" indent="-342900"/>
            <a:r>
              <a:rPr lang="pt-BR" sz="1400" dirty="0" smtClean="0"/>
              <a:t>8.4.2 </a:t>
            </a:r>
            <a:r>
              <a:rPr lang="pt-BR" sz="1400" dirty="0"/>
              <a:t>– Dividendos – Dividendos pagos ou creditados aos acionistas </a:t>
            </a:r>
            <a:endParaRPr lang="pt-BR" sz="1400" dirty="0" smtClean="0"/>
          </a:p>
          <a:p>
            <a:pPr marL="1257300" lvl="4" indent="-342900"/>
            <a:r>
              <a:rPr lang="pt-BR" sz="1400" b="1" dirty="0" smtClean="0"/>
              <a:t>8.5 – Lucros / Prejuízos Acumulados</a:t>
            </a:r>
          </a:p>
          <a:p>
            <a:pPr marL="1257300" lvl="4" indent="-342900"/>
            <a:r>
              <a:rPr lang="pt-BR" sz="1400" dirty="0" smtClean="0"/>
              <a:t>8.5 </a:t>
            </a:r>
            <a:r>
              <a:rPr lang="pt-BR" sz="1400" dirty="0"/>
              <a:t>- Lucros retidos e prejuízos do exercício - incluem os valores relativos ao lucro do exercício destinados às reservas, inclusive os JCP quando tiverem esse tratamento; nos casos de prejuízo, esse valor deve ser incluído com sinal negativo. </a:t>
            </a:r>
            <a:endParaRPr lang="pt-BR" sz="1400" dirty="0" smtClean="0"/>
          </a:p>
          <a:p>
            <a:pPr marL="1257300" lvl="4" indent="-342900"/>
            <a:r>
              <a:rPr lang="pt-BR" sz="1400" dirty="0" smtClean="0"/>
              <a:t>8.5.1 </a:t>
            </a:r>
            <a:r>
              <a:rPr lang="pt-BR" sz="1400" dirty="0"/>
              <a:t>- As quantias destinadas aos sócios e acionistas na forma de Juros sobre o Capital Próprio – JCP, independentemente de serem registrados como passivo (JCP a pagar) ou como reserva de lucros, devem ter o mesmo tratamento dado aos dividendos no que diz respeito ao exercício a que devem ser imputado.</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60</a:t>
            </a:fld>
            <a:endParaRPr lang="en-US" dirty="0"/>
          </a:p>
        </p:txBody>
      </p:sp>
    </p:spTree>
    <p:extLst>
      <p:ext uri="{BB962C8B-B14F-4D97-AF65-F5344CB8AC3E}">
        <p14:creationId xmlns:p14="http://schemas.microsoft.com/office/powerpoint/2010/main" val="33848942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a:xfrm>
            <a:off x="553583" y="1433702"/>
            <a:ext cx="3850970" cy="5143500"/>
          </a:xfrm>
        </p:spPr>
        <p:txBody>
          <a:bodyPr/>
          <a:lstStyle/>
          <a:p>
            <a:pPr lvl="1"/>
            <a:r>
              <a:rPr lang="pt-BR" b="1" dirty="0" smtClean="0"/>
              <a:t>ESTRUTURA DE ANÁLISE</a:t>
            </a:r>
          </a:p>
          <a:p>
            <a:pPr lvl="2"/>
            <a:r>
              <a:rPr lang="pt-BR" dirty="0" smtClean="0"/>
              <a:t>Após </a:t>
            </a:r>
            <a:r>
              <a:rPr lang="pt-BR" dirty="0"/>
              <a:t>se elaborar a DVA, algumas análises poderão ser feitas pelos agentes internos e externos, ou seja, todos os que pretendam entender melhor a relação da empresa, por meio das informações fornecidas.</a:t>
            </a:r>
          </a:p>
          <a:p>
            <a:pPr lvl="2"/>
            <a:r>
              <a:rPr lang="pt-BR" dirty="0"/>
              <a:t>De acordo com </a:t>
            </a:r>
            <a:r>
              <a:rPr lang="pt-BR" dirty="0" err="1"/>
              <a:t>Ricarte</a:t>
            </a:r>
            <a:r>
              <a:rPr lang="pt-BR" dirty="0"/>
              <a:t> (2005, p. 63), “cada uma das informações atende às necessidades específicas de distintos grupos de usuários.” Isto pode ser observado por meio do Quadro abaixo:</a:t>
            </a:r>
          </a:p>
          <a:p>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61</a:t>
            </a:fld>
            <a:endParaRPr lang="en-US" dirty="0"/>
          </a:p>
        </p:txBody>
      </p:sp>
      <p:pic>
        <p:nvPicPr>
          <p:cNvPr id="5" name="Imagem 4"/>
          <p:cNvPicPr>
            <a:picLocks noChangeAspect="1"/>
          </p:cNvPicPr>
          <p:nvPr/>
        </p:nvPicPr>
        <p:blipFill>
          <a:blip r:embed="rId2"/>
          <a:stretch>
            <a:fillRect/>
          </a:stretch>
        </p:blipFill>
        <p:spPr>
          <a:xfrm>
            <a:off x="4404553" y="1152906"/>
            <a:ext cx="7787447" cy="5705093"/>
          </a:xfrm>
          <a:prstGeom prst="rect">
            <a:avLst/>
          </a:prstGeom>
        </p:spPr>
      </p:pic>
    </p:spTree>
    <p:extLst>
      <p:ext uri="{BB962C8B-B14F-4D97-AF65-F5344CB8AC3E}">
        <p14:creationId xmlns:p14="http://schemas.microsoft.com/office/powerpoint/2010/main" val="24010969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62</a:t>
            </a:fld>
            <a:endParaRPr lang="en-US" dirty="0"/>
          </a:p>
        </p:txBody>
      </p:sp>
      <p:grpSp>
        <p:nvGrpSpPr>
          <p:cNvPr id="5" name="Group 26"/>
          <p:cNvGrpSpPr>
            <a:grpSpLocks/>
          </p:cNvGrpSpPr>
          <p:nvPr/>
        </p:nvGrpSpPr>
        <p:grpSpPr bwMode="auto">
          <a:xfrm>
            <a:off x="2861257" y="1725769"/>
            <a:ext cx="6553200" cy="4935426"/>
            <a:chOff x="576" y="709"/>
            <a:chExt cx="4608" cy="3356"/>
          </a:xfrm>
        </p:grpSpPr>
        <p:sp>
          <p:nvSpPr>
            <p:cNvPr id="6" name="AutoShape 5"/>
            <p:cNvSpPr>
              <a:spLocks noChangeArrowheads="1"/>
            </p:cNvSpPr>
            <p:nvPr/>
          </p:nvSpPr>
          <p:spPr bwMode="auto">
            <a:xfrm>
              <a:off x="3408" y="709"/>
              <a:ext cx="1776" cy="3356"/>
            </a:xfrm>
            <a:prstGeom prst="flowChartDocument">
              <a:avLst/>
            </a:prstGeom>
            <a:solidFill>
              <a:srgbClr val="FFFFCC"/>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C0C0C0"/>
              </a:extrusionClr>
            </a:sp3d>
          </p:spPr>
          <p:txBody>
            <a:bodyPr>
              <a:flatTx/>
            </a:bodyPr>
            <a:lstStyle/>
            <a:p>
              <a:endParaRPr lang="pt-BR"/>
            </a:p>
          </p:txBody>
        </p:sp>
        <p:sp>
          <p:nvSpPr>
            <p:cNvPr id="7" name="Rectangle 6"/>
            <p:cNvSpPr>
              <a:spLocks noChangeArrowheads="1"/>
            </p:cNvSpPr>
            <p:nvPr/>
          </p:nvSpPr>
          <p:spPr bwMode="auto">
            <a:xfrm>
              <a:off x="3707" y="768"/>
              <a:ext cx="1329" cy="213"/>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PerspectiveBottom"/>
              <a:lightRig rig="legacyFlat3" dir="t"/>
            </a:scene3d>
            <a:sp3d extrusionH="887400" prstMaterial="legacyMatte">
              <a:bevelT w="13500" h="13500" prst="angle"/>
              <a:bevelB w="13500" h="13500" prst="angle"/>
              <a:extrusionClr>
                <a:srgbClr val="FFCC99"/>
              </a:extrusionClr>
            </a:sp3d>
          </p:spPr>
          <p:txBody>
            <a:bodyPr>
              <a:flatTx/>
            </a:bodyPr>
            <a:lstStyle/>
            <a:p>
              <a:pPr algn="ctr"/>
              <a:r>
                <a:rPr lang="pt-BR" sz="1400" b="1"/>
                <a:t>RECEITAS</a:t>
              </a:r>
            </a:p>
          </p:txBody>
        </p:sp>
        <p:sp>
          <p:nvSpPr>
            <p:cNvPr id="8" name="Rectangle 7"/>
            <p:cNvSpPr>
              <a:spLocks noChangeArrowheads="1"/>
            </p:cNvSpPr>
            <p:nvPr/>
          </p:nvSpPr>
          <p:spPr bwMode="auto">
            <a:xfrm>
              <a:off x="3707" y="1248"/>
              <a:ext cx="1329" cy="380"/>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PerspectiveBottom"/>
              <a:lightRig rig="legacyFlat3" dir="t"/>
            </a:scene3d>
            <a:sp3d extrusionH="887400" prstMaterial="legacyMatte">
              <a:bevelT w="13500" h="13500" prst="angle"/>
              <a:bevelB w="13500" h="13500" prst="angle"/>
              <a:extrusionClr>
                <a:srgbClr val="FFCC99"/>
              </a:extrusionClr>
            </a:sp3d>
          </p:spPr>
          <p:txBody>
            <a:bodyPr>
              <a:flatTx/>
            </a:bodyPr>
            <a:lstStyle/>
            <a:p>
              <a:pPr algn="ctr"/>
              <a:r>
                <a:rPr lang="pt-BR" sz="1200" b="1"/>
                <a:t>MATERIAIS E SERVIÇOS ADUIRIDOS DE TERCEIROS</a:t>
              </a:r>
            </a:p>
          </p:txBody>
        </p:sp>
        <p:sp>
          <p:nvSpPr>
            <p:cNvPr id="9" name="Rectangle 8"/>
            <p:cNvSpPr>
              <a:spLocks noChangeArrowheads="1"/>
            </p:cNvSpPr>
            <p:nvPr/>
          </p:nvSpPr>
          <p:spPr bwMode="auto">
            <a:xfrm>
              <a:off x="3624" y="1921"/>
              <a:ext cx="1329" cy="239"/>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PerspectiveBottom"/>
              <a:lightRig rig="legacyFlat3" dir="t"/>
            </a:scene3d>
            <a:sp3d extrusionH="887400" prstMaterial="legacyMatte">
              <a:bevelT w="13500" h="13500" prst="angle"/>
              <a:bevelB w="13500" h="13500" prst="angle"/>
              <a:extrusionClr>
                <a:srgbClr val="FFCC99"/>
              </a:extrusionClr>
            </a:sp3d>
          </p:spPr>
          <p:txBody>
            <a:bodyPr>
              <a:flatTx/>
            </a:bodyPr>
            <a:lstStyle/>
            <a:p>
              <a:pPr algn="ctr"/>
              <a:r>
                <a:rPr lang="pt-BR" sz="1400" b="1"/>
                <a:t>VALOR ADICIONADO</a:t>
              </a:r>
            </a:p>
          </p:txBody>
        </p:sp>
        <p:sp>
          <p:nvSpPr>
            <p:cNvPr id="10" name="AutoShape 9"/>
            <p:cNvSpPr>
              <a:spLocks noChangeArrowheads="1"/>
            </p:cNvSpPr>
            <p:nvPr/>
          </p:nvSpPr>
          <p:spPr bwMode="auto">
            <a:xfrm>
              <a:off x="576" y="709"/>
              <a:ext cx="1776" cy="3311"/>
            </a:xfrm>
            <a:prstGeom prst="flowChartDocument">
              <a:avLst/>
            </a:prstGeom>
            <a:solidFill>
              <a:srgbClr val="CCFFFF"/>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CCFFFF"/>
              </a:extrusionClr>
            </a:sp3d>
          </p:spPr>
          <p:txBody>
            <a:bodyPr>
              <a:flatTx/>
            </a:bodyPr>
            <a:lstStyle/>
            <a:p>
              <a:endParaRPr lang="pt-BR"/>
            </a:p>
          </p:txBody>
        </p:sp>
        <p:sp>
          <p:nvSpPr>
            <p:cNvPr id="11" name="Rectangle 10"/>
            <p:cNvSpPr>
              <a:spLocks noChangeArrowheads="1"/>
            </p:cNvSpPr>
            <p:nvPr/>
          </p:nvSpPr>
          <p:spPr bwMode="auto">
            <a:xfrm>
              <a:off x="882" y="816"/>
              <a:ext cx="1329" cy="165"/>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PerspectiveBottom"/>
              <a:lightRig rig="legacyFlat3" dir="t"/>
            </a:scene3d>
            <a:sp3d extrusionH="887400" prstMaterial="legacyMatte">
              <a:bevelT w="13500" h="13500" prst="angle"/>
              <a:bevelB w="13500" h="13500" prst="angle"/>
              <a:extrusionClr>
                <a:srgbClr val="FFCC99"/>
              </a:extrusionClr>
            </a:sp3d>
          </p:spPr>
          <p:txBody>
            <a:bodyPr>
              <a:flatTx/>
            </a:bodyPr>
            <a:lstStyle/>
            <a:p>
              <a:pPr algn="ctr"/>
              <a:r>
                <a:rPr lang="pt-BR" sz="1400" b="1"/>
                <a:t>RECEITAS</a:t>
              </a:r>
            </a:p>
          </p:txBody>
        </p:sp>
        <p:sp>
          <p:nvSpPr>
            <p:cNvPr id="12" name="Rectangle 11"/>
            <p:cNvSpPr>
              <a:spLocks noChangeArrowheads="1"/>
            </p:cNvSpPr>
            <p:nvPr/>
          </p:nvSpPr>
          <p:spPr bwMode="auto">
            <a:xfrm>
              <a:off x="882" y="1488"/>
              <a:ext cx="1329" cy="240"/>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PerspectiveBottom"/>
              <a:lightRig rig="legacyFlat3" dir="t"/>
            </a:scene3d>
            <a:sp3d extrusionH="887400" prstMaterial="legacyMatte">
              <a:bevelT w="13500" h="13500" prst="angle"/>
              <a:bevelB w="13500" h="13500" prst="angle"/>
              <a:extrusionClr>
                <a:srgbClr val="FFCC99"/>
              </a:extrusionClr>
            </a:sp3d>
          </p:spPr>
          <p:txBody>
            <a:bodyPr>
              <a:flatTx/>
            </a:bodyPr>
            <a:lstStyle/>
            <a:p>
              <a:pPr algn="ctr"/>
              <a:r>
                <a:rPr lang="pt-BR" sz="1400" b="1"/>
                <a:t>CUSTOS E DESPESAS</a:t>
              </a:r>
            </a:p>
          </p:txBody>
        </p:sp>
        <p:sp>
          <p:nvSpPr>
            <p:cNvPr id="13" name="Text Box 12"/>
            <p:cNvSpPr txBox="1">
              <a:spLocks noChangeArrowheads="1"/>
            </p:cNvSpPr>
            <p:nvPr/>
          </p:nvSpPr>
          <p:spPr bwMode="auto">
            <a:xfrm>
              <a:off x="1049" y="1877"/>
              <a:ext cx="913" cy="261"/>
            </a:xfrm>
            <a:prstGeom prst="rect">
              <a:avLst/>
            </a:prstGeom>
            <a:noFill/>
            <a:ln w="9525">
              <a:noFill/>
              <a:miter lim="800000"/>
              <a:headEnd/>
              <a:tailEnd/>
            </a:ln>
          </p:spPr>
          <p:txBody>
            <a:bodyPr/>
            <a:lstStyle/>
            <a:p>
              <a:pPr algn="ctr"/>
              <a:r>
                <a:rPr lang="pt-BR" sz="4800" dirty="0">
                  <a:sym typeface="Symbol" pitchFamily="18" charset="2"/>
                </a:rPr>
                <a:t></a:t>
              </a:r>
              <a:endParaRPr lang="pt-BR" sz="4800" b="1" dirty="0"/>
            </a:p>
          </p:txBody>
        </p:sp>
        <p:sp>
          <p:nvSpPr>
            <p:cNvPr id="14" name="Rectangle 13"/>
            <p:cNvSpPr>
              <a:spLocks noChangeArrowheads="1"/>
            </p:cNvSpPr>
            <p:nvPr/>
          </p:nvSpPr>
          <p:spPr bwMode="auto">
            <a:xfrm>
              <a:off x="799" y="2409"/>
              <a:ext cx="1329" cy="279"/>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PerspectiveBottom"/>
              <a:lightRig rig="legacyFlat3" dir="t"/>
            </a:scene3d>
            <a:sp3d extrusionH="887400" prstMaterial="legacyMatte">
              <a:bevelT w="13500" h="13500" prst="angle"/>
              <a:bevelB w="13500" h="13500" prst="angle"/>
              <a:extrusionClr>
                <a:srgbClr val="FFCC99"/>
              </a:extrusionClr>
            </a:sp3d>
          </p:spPr>
          <p:txBody>
            <a:bodyPr>
              <a:flatTx/>
            </a:bodyPr>
            <a:lstStyle/>
            <a:p>
              <a:pPr algn="ctr"/>
              <a:r>
                <a:rPr lang="pt-BR" sz="1400" b="1"/>
                <a:t>RESULTADO</a:t>
              </a:r>
            </a:p>
          </p:txBody>
        </p:sp>
        <p:sp>
          <p:nvSpPr>
            <p:cNvPr id="15" name="Line 14"/>
            <p:cNvSpPr>
              <a:spLocks noChangeShapeType="1"/>
            </p:cNvSpPr>
            <p:nvPr/>
          </p:nvSpPr>
          <p:spPr bwMode="auto">
            <a:xfrm>
              <a:off x="1298" y="1300"/>
              <a:ext cx="332" cy="1"/>
            </a:xfrm>
            <a:prstGeom prst="line">
              <a:avLst/>
            </a:prstGeom>
            <a:noFill/>
            <a:ln w="38100">
              <a:solidFill>
                <a:srgbClr val="CCFF99"/>
              </a:solidFill>
              <a:round/>
              <a:headEnd/>
              <a:tailEnd/>
            </a:ln>
          </p:spPr>
          <p:txBody>
            <a:bodyPr/>
            <a:lstStyle/>
            <a:p>
              <a:endParaRPr lang="pt-BR">
                <a:ln w="0"/>
                <a:effectLst>
                  <a:outerShdw blurRad="38100" dist="19050" dir="2700000" algn="tl" rotWithShape="0">
                    <a:schemeClr val="dk1">
                      <a:alpha val="40000"/>
                    </a:schemeClr>
                  </a:outerShdw>
                </a:effectLst>
              </a:endParaRPr>
            </a:p>
          </p:txBody>
        </p:sp>
        <p:sp>
          <p:nvSpPr>
            <p:cNvPr id="16" name="Line 15"/>
            <p:cNvSpPr>
              <a:spLocks noChangeShapeType="1"/>
            </p:cNvSpPr>
            <p:nvPr/>
          </p:nvSpPr>
          <p:spPr bwMode="auto">
            <a:xfrm>
              <a:off x="4122" y="1152"/>
              <a:ext cx="332" cy="1"/>
            </a:xfrm>
            <a:prstGeom prst="line">
              <a:avLst/>
            </a:prstGeom>
            <a:noFill/>
            <a:ln w="38100">
              <a:solidFill>
                <a:srgbClr val="CCFF99"/>
              </a:solidFill>
              <a:round/>
              <a:headEnd/>
              <a:tailEnd/>
            </a:ln>
          </p:spPr>
          <p:txBody>
            <a:bodyPr/>
            <a:lstStyle/>
            <a:p>
              <a:endParaRPr lang="pt-BR">
                <a:ln w="0"/>
                <a:effectLst>
                  <a:outerShdw blurRad="38100" dist="19050" dir="2700000" algn="tl" rotWithShape="0">
                    <a:schemeClr val="dk1">
                      <a:alpha val="40000"/>
                    </a:schemeClr>
                  </a:outerShdw>
                </a:effectLst>
              </a:endParaRPr>
            </a:p>
          </p:txBody>
        </p:sp>
        <p:sp>
          <p:nvSpPr>
            <p:cNvPr id="17" name="Line 16"/>
            <p:cNvSpPr>
              <a:spLocks noChangeShapeType="1"/>
            </p:cNvSpPr>
            <p:nvPr/>
          </p:nvSpPr>
          <p:spPr bwMode="auto">
            <a:xfrm>
              <a:off x="4122" y="1788"/>
              <a:ext cx="332" cy="1"/>
            </a:xfrm>
            <a:prstGeom prst="line">
              <a:avLst/>
            </a:prstGeom>
            <a:noFill/>
            <a:ln w="38100">
              <a:solidFill>
                <a:srgbClr val="CCFF99"/>
              </a:solidFill>
              <a:round/>
              <a:headEnd/>
              <a:tailEnd/>
            </a:ln>
          </p:spPr>
          <p:txBody>
            <a:bodyPr/>
            <a:lstStyle/>
            <a:p>
              <a:endParaRPr lang="pt-BR"/>
            </a:p>
          </p:txBody>
        </p:sp>
        <p:sp>
          <p:nvSpPr>
            <p:cNvPr id="18" name="Line 17"/>
            <p:cNvSpPr>
              <a:spLocks noChangeShapeType="1"/>
            </p:cNvSpPr>
            <p:nvPr/>
          </p:nvSpPr>
          <p:spPr bwMode="auto">
            <a:xfrm>
              <a:off x="4122" y="1833"/>
              <a:ext cx="332" cy="1"/>
            </a:xfrm>
            <a:prstGeom prst="line">
              <a:avLst/>
            </a:prstGeom>
            <a:noFill/>
            <a:ln w="38100">
              <a:solidFill>
                <a:srgbClr val="CCFF99"/>
              </a:solidFill>
              <a:round/>
              <a:headEnd/>
              <a:tailEnd/>
            </a:ln>
          </p:spPr>
          <p:txBody>
            <a:bodyPr/>
            <a:lstStyle/>
            <a:p>
              <a:endParaRPr lang="pt-BR"/>
            </a:p>
          </p:txBody>
        </p:sp>
        <p:sp>
          <p:nvSpPr>
            <p:cNvPr id="19" name="AutoShape 18"/>
            <p:cNvSpPr>
              <a:spLocks noChangeArrowheads="1"/>
            </p:cNvSpPr>
            <p:nvPr/>
          </p:nvSpPr>
          <p:spPr bwMode="auto">
            <a:xfrm>
              <a:off x="4032" y="2278"/>
              <a:ext cx="415" cy="218"/>
            </a:xfrm>
            <a:prstGeom prst="downArrow">
              <a:avLst>
                <a:gd name="adj1" fmla="val 50000"/>
                <a:gd name="adj2" fmla="val 25000"/>
              </a:avLst>
            </a:prstGeom>
            <a:solidFill>
              <a:srgbClr val="000000"/>
            </a:solidFill>
            <a:ln w="9525">
              <a:solidFill>
                <a:srgbClr val="CCFF99"/>
              </a:solidFill>
              <a:miter lim="800000"/>
              <a:headEnd/>
              <a:tailEnd/>
            </a:ln>
          </p:spPr>
          <p:txBody>
            <a:bodyPr/>
            <a:lstStyle/>
            <a:p>
              <a:endParaRPr lang="pt-BR"/>
            </a:p>
          </p:txBody>
        </p:sp>
        <p:sp>
          <p:nvSpPr>
            <p:cNvPr id="20" name="Rectangle 19"/>
            <p:cNvSpPr>
              <a:spLocks noChangeArrowheads="1"/>
            </p:cNvSpPr>
            <p:nvPr/>
          </p:nvSpPr>
          <p:spPr bwMode="auto">
            <a:xfrm>
              <a:off x="3600" y="2544"/>
              <a:ext cx="1329" cy="855"/>
            </a:xfrm>
            <a:prstGeom prst="rect">
              <a:avLst/>
            </a:prstGeom>
            <a:gradFill rotWithShape="0">
              <a:gsLst>
                <a:gs pos="0">
                  <a:srgbClr val="FFCC99"/>
                </a:gs>
                <a:gs pos="50000">
                  <a:srgbClr val="FFFFFF"/>
                </a:gs>
                <a:gs pos="100000">
                  <a:srgbClr val="FFCC99"/>
                </a:gs>
              </a:gsLst>
              <a:lin ang="5400000" scaled="1"/>
            </a:gradFill>
            <a:ln w="9525">
              <a:miter lim="800000"/>
              <a:headEnd/>
              <a:tailEnd/>
            </a:ln>
            <a:scene3d>
              <a:camera prst="legacyPerspectiveBottom"/>
              <a:lightRig rig="legacyFlat3" dir="t"/>
            </a:scene3d>
            <a:sp3d extrusionH="887400" prstMaterial="legacyMatte">
              <a:bevelT w="13500" h="13500" prst="angle"/>
              <a:bevelB w="13500" h="13500" prst="angle"/>
              <a:extrusionClr>
                <a:srgbClr val="FFCC99"/>
              </a:extrusionClr>
            </a:sp3d>
          </p:spPr>
          <p:txBody>
            <a:bodyPr>
              <a:flatTx/>
            </a:bodyPr>
            <a:lstStyle/>
            <a:p>
              <a:pPr algn="ctr"/>
              <a:r>
                <a:rPr lang="pt-BR" sz="1200" b="1"/>
                <a:t>DISTRIBUIÇÃO DO VALOR ADICIONADO:</a:t>
              </a:r>
            </a:p>
            <a:p>
              <a:pPr algn="ctr"/>
              <a:r>
                <a:rPr lang="pt-BR" sz="1200"/>
                <a:t>Empregados</a:t>
              </a:r>
            </a:p>
            <a:p>
              <a:pPr algn="ctr"/>
              <a:r>
                <a:rPr lang="pt-BR" sz="1200"/>
                <a:t>Governo</a:t>
              </a:r>
            </a:p>
            <a:p>
              <a:pPr algn="ctr"/>
              <a:r>
                <a:rPr lang="pt-BR" sz="1200"/>
                <a:t>Financiadores</a:t>
              </a:r>
            </a:p>
            <a:p>
              <a:pPr algn="ctr"/>
              <a:r>
                <a:rPr lang="pt-BR" sz="1200"/>
                <a:t>Acionistas</a:t>
              </a:r>
            </a:p>
            <a:p>
              <a:pPr algn="ctr"/>
              <a:r>
                <a:rPr lang="pt-BR" sz="1200"/>
                <a:t>Retenção</a:t>
              </a:r>
            </a:p>
          </p:txBody>
        </p:sp>
        <p:sp>
          <p:nvSpPr>
            <p:cNvPr id="21" name="Text Box 20"/>
            <p:cNvSpPr txBox="1">
              <a:spLocks noChangeArrowheads="1"/>
            </p:cNvSpPr>
            <p:nvPr/>
          </p:nvSpPr>
          <p:spPr bwMode="auto">
            <a:xfrm>
              <a:off x="2544" y="1921"/>
              <a:ext cx="498" cy="262"/>
            </a:xfrm>
            <a:prstGeom prst="rect">
              <a:avLst/>
            </a:prstGeom>
            <a:noFill/>
            <a:ln w="9525">
              <a:solidFill>
                <a:srgbClr val="CCFF99"/>
              </a:solidFill>
              <a:miter lim="800000"/>
              <a:headEnd/>
              <a:tailEnd/>
            </a:ln>
          </p:spPr>
          <p:txBody>
            <a:bodyPr/>
            <a:lstStyle/>
            <a:p>
              <a:r>
                <a:rPr lang="pt-BR" sz="4800" b="1">
                  <a:sym typeface="Symbol" pitchFamily="18" charset="2"/>
                </a:rPr>
                <a:t></a:t>
              </a:r>
              <a:endParaRPr lang="pt-BR" sz="4800" b="1"/>
            </a:p>
          </p:txBody>
        </p:sp>
      </p:grpSp>
      <p:sp>
        <p:nvSpPr>
          <p:cNvPr id="22" name="Rectangle 2"/>
          <p:cNvSpPr txBox="1">
            <a:spLocks noChangeArrowheads="1"/>
          </p:cNvSpPr>
          <p:nvPr/>
        </p:nvSpPr>
        <p:spPr>
          <a:xfrm>
            <a:off x="2861256" y="1171508"/>
            <a:ext cx="6553201" cy="4572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lvl1pPr algn="just" defTabSz="457200" rtl="0" eaLnBrk="1" latinLnBrk="0" hangingPunct="1">
              <a:spcBef>
                <a:spcPct val="0"/>
              </a:spcBef>
              <a:buNone/>
              <a:defRPr sz="2400" b="1" kern="1200">
                <a:solidFill>
                  <a:schemeClr val="tx1">
                    <a:lumMod val="85000"/>
                    <a:lumOff val="15000"/>
                  </a:schemeClr>
                </a:solidFill>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pt-BR" dirty="0" smtClean="0"/>
              <a:t>DRE                   X                      DVA</a:t>
            </a:r>
          </a:p>
        </p:txBody>
      </p:sp>
    </p:spTree>
    <p:extLst>
      <p:ext uri="{BB962C8B-B14F-4D97-AF65-F5344CB8AC3E}">
        <p14:creationId xmlns:p14="http://schemas.microsoft.com/office/powerpoint/2010/main" val="1645673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p:txBody>
          <a:bodyPr/>
          <a:lstStyle/>
          <a:p>
            <a:pPr lvl="1"/>
            <a:r>
              <a:rPr lang="pt-BR" b="1" dirty="0" smtClean="0"/>
              <a:t>Exemplo</a:t>
            </a:r>
          </a:p>
          <a:p>
            <a:pPr lvl="1" fontAlgn="b">
              <a:lnSpc>
                <a:spcPct val="90000"/>
              </a:lnSpc>
            </a:pPr>
            <a:endParaRPr lang="pt-BR" sz="1400" dirty="0" smtClean="0"/>
          </a:p>
          <a:p>
            <a:pPr lvl="1" fontAlgn="b">
              <a:lnSpc>
                <a:spcPct val="90000"/>
              </a:lnSpc>
            </a:pPr>
            <a:endParaRPr lang="pt-BR" sz="1400" dirty="0" smtClean="0"/>
          </a:p>
          <a:p>
            <a:pPr lvl="1" fontAlgn="b">
              <a:lnSpc>
                <a:spcPct val="90000"/>
              </a:lnSpc>
            </a:pPr>
            <a:endParaRPr lang="pt-BR" sz="1400" dirty="0"/>
          </a:p>
          <a:p>
            <a:pPr lvl="1" fontAlgn="b">
              <a:lnSpc>
                <a:spcPct val="90000"/>
              </a:lnSpc>
            </a:pPr>
            <a:endParaRPr lang="pt-BR" sz="1400" dirty="0" smtClean="0"/>
          </a:p>
          <a:p>
            <a:pPr lvl="1" fontAlgn="b">
              <a:lnSpc>
                <a:spcPct val="90000"/>
              </a:lnSpc>
            </a:pPr>
            <a:endParaRPr lang="pt-BR" sz="1400" dirty="0"/>
          </a:p>
          <a:p>
            <a:pPr lvl="1" fontAlgn="b">
              <a:lnSpc>
                <a:spcPct val="90000"/>
              </a:lnSpc>
            </a:pPr>
            <a:endParaRPr lang="pt-BR" sz="1400" dirty="0" smtClean="0"/>
          </a:p>
          <a:p>
            <a:pPr lvl="1" fontAlgn="b">
              <a:lnSpc>
                <a:spcPct val="90000"/>
              </a:lnSpc>
            </a:pPr>
            <a:endParaRPr lang="pt-BR" sz="1400" dirty="0" smtClean="0"/>
          </a:p>
          <a:p>
            <a:pPr lvl="1" fontAlgn="b">
              <a:lnSpc>
                <a:spcPct val="90000"/>
              </a:lnSpc>
            </a:pPr>
            <a:endParaRPr lang="pt-BR" sz="1400" dirty="0" smtClean="0"/>
          </a:p>
          <a:p>
            <a:pPr lvl="1" fontAlgn="b">
              <a:lnSpc>
                <a:spcPct val="90000"/>
              </a:lnSpc>
            </a:pPr>
            <a:r>
              <a:rPr lang="pt-BR" sz="1400" dirty="0" smtClean="0"/>
              <a:t>Compra </a:t>
            </a:r>
            <a:r>
              <a:rPr lang="pt-BR" sz="1400" dirty="0"/>
              <a:t>de Mercadorias à vista no valor de R$ </a:t>
            </a:r>
            <a:r>
              <a:rPr lang="pt-BR" sz="1400" dirty="0" smtClean="0"/>
              <a:t>30.000 </a:t>
            </a:r>
            <a:r>
              <a:rPr lang="pt-BR" sz="1400" dirty="0"/>
              <a:t>com incidência de ICMS de 18</a:t>
            </a:r>
            <a:r>
              <a:rPr lang="pt-BR" sz="1400" dirty="0" smtClean="0"/>
              <a:t>% (Valor </a:t>
            </a:r>
            <a:r>
              <a:rPr lang="pt-BR" sz="1400" dirty="0"/>
              <a:t>liquido da mercadoria R$ 24.600, valor do ICMS R$ </a:t>
            </a:r>
            <a:r>
              <a:rPr lang="pt-BR" sz="1400" dirty="0" smtClean="0"/>
              <a:t>5.400)</a:t>
            </a:r>
            <a:endParaRPr lang="pt-BR" sz="1400" dirty="0"/>
          </a:p>
          <a:p>
            <a:pPr lvl="1" fontAlgn="b">
              <a:lnSpc>
                <a:spcPct val="90000"/>
              </a:lnSpc>
            </a:pPr>
            <a:r>
              <a:rPr lang="pt-BR" sz="1400" dirty="0"/>
              <a:t>Pagamento de Mão de Obra R$ 3.000,00 (sendo que desse total,  R$ 800,00 refere-se ao INSS)</a:t>
            </a:r>
          </a:p>
          <a:p>
            <a:pPr lvl="1" fontAlgn="b">
              <a:lnSpc>
                <a:spcPct val="90000"/>
              </a:lnSpc>
            </a:pPr>
            <a:r>
              <a:rPr lang="pt-BR" sz="1400" dirty="0"/>
              <a:t>Depreciação incorrida no período: Instalações 10% a.a. (R$ 167) e Móveis e Utensílios 10% (R$ 84) </a:t>
            </a:r>
          </a:p>
          <a:p>
            <a:pPr lvl="1" fontAlgn="b">
              <a:lnSpc>
                <a:spcPct val="90000"/>
              </a:lnSpc>
            </a:pPr>
            <a:r>
              <a:rPr lang="pt-BR" sz="1400" dirty="0"/>
              <a:t>Venda de todo estoque de mercadorias no valor de R$ 50.000 com incidência de ICMS de 18</a:t>
            </a:r>
            <a:r>
              <a:rPr lang="pt-BR" sz="1400" dirty="0" smtClean="0"/>
              <a:t>%. (</a:t>
            </a:r>
            <a:r>
              <a:rPr lang="pt-BR" sz="1400" dirty="0"/>
              <a:t>Valor líquido da venda R$ 41.000 e ICMS a Recolher de R$ 9.000) </a:t>
            </a:r>
          </a:p>
          <a:p>
            <a:pPr lvl="1" fontAlgn="b">
              <a:lnSpc>
                <a:spcPct val="90000"/>
              </a:lnSpc>
            </a:pPr>
            <a:r>
              <a:rPr lang="pt-BR" sz="1400" dirty="0"/>
              <a:t>A empresa está tributada à alíquota de IR de 25%.</a:t>
            </a:r>
            <a:r>
              <a:rPr lang="pt-BR" sz="2200" dirty="0"/>
              <a:t> </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63</a:t>
            </a:fld>
            <a:endParaRPr lang="en-US" dirty="0"/>
          </a:p>
        </p:txBody>
      </p:sp>
      <p:pic>
        <p:nvPicPr>
          <p:cNvPr id="5" name="Picture 3"/>
          <p:cNvPicPr>
            <a:picLocks noChangeAspect="1" noChangeArrowheads="1"/>
          </p:cNvPicPr>
          <p:nvPr/>
        </p:nvPicPr>
        <p:blipFill>
          <a:blip r:embed="rId2"/>
          <a:srcRect/>
          <a:stretch>
            <a:fillRect/>
          </a:stretch>
        </p:blipFill>
        <p:spPr bwMode="auto">
          <a:xfrm>
            <a:off x="4095684" y="1498600"/>
            <a:ext cx="7564437" cy="2702149"/>
          </a:xfrm>
          <a:prstGeom prst="rect">
            <a:avLst/>
          </a:prstGeom>
          <a:solidFill>
            <a:srgbClr val="FFFFCC"/>
          </a:solidFill>
          <a:ln w="9525">
            <a:noFill/>
            <a:miter lim="800000"/>
            <a:headEnd/>
            <a:tailEnd/>
          </a:ln>
        </p:spPr>
      </p:pic>
    </p:spTree>
    <p:extLst>
      <p:ext uri="{BB962C8B-B14F-4D97-AF65-F5344CB8AC3E}">
        <p14:creationId xmlns:p14="http://schemas.microsoft.com/office/powerpoint/2010/main" val="8144258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64</a:t>
            </a:fld>
            <a:endParaRPr lang="en-US" dirty="0"/>
          </a:p>
        </p:txBody>
      </p:sp>
      <p:pic>
        <p:nvPicPr>
          <p:cNvPr id="5" name="Picture 5"/>
          <p:cNvPicPr>
            <a:picLocks noChangeAspect="1" noChangeArrowheads="1"/>
          </p:cNvPicPr>
          <p:nvPr/>
        </p:nvPicPr>
        <p:blipFill>
          <a:blip r:embed="rId2"/>
          <a:srcRect/>
          <a:stretch>
            <a:fillRect/>
          </a:stretch>
        </p:blipFill>
        <p:spPr bwMode="auto">
          <a:xfrm>
            <a:off x="743958" y="2067865"/>
            <a:ext cx="7408411" cy="3933689"/>
          </a:xfrm>
          <a:prstGeom prst="rect">
            <a:avLst/>
          </a:prstGeom>
          <a:noFill/>
          <a:ln w="9525">
            <a:noFill/>
            <a:miter lim="800000"/>
            <a:headEnd/>
            <a:tailEnd/>
          </a:ln>
        </p:spPr>
      </p:pic>
      <p:pic>
        <p:nvPicPr>
          <p:cNvPr id="6" name="Picture 6"/>
          <p:cNvPicPr>
            <a:picLocks noChangeAspect="1" noChangeArrowheads="1"/>
          </p:cNvPicPr>
          <p:nvPr/>
        </p:nvPicPr>
        <p:blipFill>
          <a:blip r:embed="rId3"/>
          <a:srcRect/>
          <a:stretch>
            <a:fillRect/>
          </a:stretch>
        </p:blipFill>
        <p:spPr bwMode="auto">
          <a:xfrm>
            <a:off x="8353360" y="2067865"/>
            <a:ext cx="3571875" cy="3933689"/>
          </a:xfrm>
          <a:prstGeom prst="rect">
            <a:avLst/>
          </a:prstGeom>
          <a:noFill/>
          <a:ln w="9525">
            <a:noFill/>
            <a:miter lim="800000"/>
            <a:headEnd/>
            <a:tailEnd/>
          </a:ln>
        </p:spPr>
      </p:pic>
    </p:spTree>
    <p:extLst>
      <p:ext uri="{BB962C8B-B14F-4D97-AF65-F5344CB8AC3E}">
        <p14:creationId xmlns:p14="http://schemas.microsoft.com/office/powerpoint/2010/main" val="7653229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65</a:t>
            </a:fld>
            <a:endParaRPr lang="en-US" dirty="0"/>
          </a:p>
        </p:txBody>
      </p:sp>
      <p:pic>
        <p:nvPicPr>
          <p:cNvPr id="5" name="Picture 6"/>
          <p:cNvPicPr>
            <a:picLocks noChangeAspect="1" noChangeArrowheads="1"/>
          </p:cNvPicPr>
          <p:nvPr/>
        </p:nvPicPr>
        <p:blipFill>
          <a:blip r:embed="rId2"/>
          <a:srcRect/>
          <a:stretch>
            <a:fillRect/>
          </a:stretch>
        </p:blipFill>
        <p:spPr bwMode="auto">
          <a:xfrm>
            <a:off x="2125014" y="1152907"/>
            <a:ext cx="5741386" cy="5664520"/>
          </a:xfrm>
          <a:prstGeom prst="rect">
            <a:avLst/>
          </a:prstGeom>
          <a:noFill/>
          <a:ln w="9525">
            <a:noFill/>
            <a:miter lim="800000"/>
            <a:headEnd/>
            <a:tailEnd/>
          </a:ln>
          <a:effectLst/>
        </p:spPr>
      </p:pic>
      <p:sp>
        <p:nvSpPr>
          <p:cNvPr id="7" name="CaixaDeTexto 6"/>
          <p:cNvSpPr txBox="1"/>
          <p:nvPr/>
        </p:nvSpPr>
        <p:spPr>
          <a:xfrm>
            <a:off x="9255392" y="1330995"/>
            <a:ext cx="2833352" cy="307777"/>
          </a:xfrm>
          <a:prstGeom prst="rect">
            <a:avLst/>
          </a:prstGeom>
          <a:noFill/>
        </p:spPr>
        <p:txBody>
          <a:bodyPr wrap="square" rtlCol="0">
            <a:spAutoFit/>
          </a:bodyPr>
          <a:lstStyle/>
          <a:p>
            <a:r>
              <a:rPr lang="pt-BR" sz="1400" dirty="0" smtClean="0">
                <a:latin typeface="Arial" panose="020B0604020202020204" pitchFamily="34" charset="0"/>
                <a:cs typeface="Arial" panose="020B0604020202020204" pitchFamily="34" charset="0"/>
              </a:rPr>
              <a:t>Valor da venda com impostos</a:t>
            </a:r>
            <a:endParaRPr lang="pt-BR" sz="1400" dirty="0">
              <a:latin typeface="Arial" panose="020B0604020202020204" pitchFamily="34" charset="0"/>
              <a:cs typeface="Arial" panose="020B0604020202020204" pitchFamily="34" charset="0"/>
            </a:endParaRPr>
          </a:p>
        </p:txBody>
      </p:sp>
      <p:cxnSp>
        <p:nvCxnSpPr>
          <p:cNvPr id="9" name="Conector de seta reta 8"/>
          <p:cNvCxnSpPr/>
          <p:nvPr/>
        </p:nvCxnSpPr>
        <p:spPr>
          <a:xfrm flipV="1">
            <a:off x="7915768" y="1485899"/>
            <a:ext cx="1187448" cy="167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CaixaDeTexto 9"/>
          <p:cNvSpPr txBox="1"/>
          <p:nvPr/>
        </p:nvSpPr>
        <p:spPr>
          <a:xfrm>
            <a:off x="9255392" y="2714933"/>
            <a:ext cx="2833352" cy="307777"/>
          </a:xfrm>
          <a:prstGeom prst="rect">
            <a:avLst/>
          </a:prstGeom>
          <a:noFill/>
        </p:spPr>
        <p:txBody>
          <a:bodyPr wrap="square" rtlCol="0">
            <a:spAutoFit/>
          </a:bodyPr>
          <a:lstStyle/>
          <a:p>
            <a:r>
              <a:rPr lang="pt-BR" sz="1400" dirty="0" smtClean="0">
                <a:latin typeface="Arial" panose="020B0604020202020204" pitchFamily="34" charset="0"/>
                <a:cs typeface="Arial" panose="020B0604020202020204" pitchFamily="34" charset="0"/>
              </a:rPr>
              <a:t>Valor da compra com impostos</a:t>
            </a:r>
            <a:endParaRPr lang="pt-BR" sz="1400" dirty="0">
              <a:latin typeface="Arial" panose="020B0604020202020204" pitchFamily="34" charset="0"/>
              <a:cs typeface="Arial" panose="020B0604020202020204" pitchFamily="34" charset="0"/>
            </a:endParaRPr>
          </a:p>
        </p:txBody>
      </p:sp>
      <p:cxnSp>
        <p:nvCxnSpPr>
          <p:cNvPr id="11" name="Conector de seta reta 10"/>
          <p:cNvCxnSpPr/>
          <p:nvPr/>
        </p:nvCxnSpPr>
        <p:spPr>
          <a:xfrm flipV="1">
            <a:off x="7915768" y="2869837"/>
            <a:ext cx="1187448" cy="167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9255392" y="3883086"/>
            <a:ext cx="2833352" cy="307777"/>
          </a:xfrm>
          <a:prstGeom prst="rect">
            <a:avLst/>
          </a:prstGeom>
          <a:noFill/>
        </p:spPr>
        <p:txBody>
          <a:bodyPr wrap="square" rtlCol="0">
            <a:spAutoFit/>
          </a:bodyPr>
          <a:lstStyle/>
          <a:p>
            <a:r>
              <a:rPr lang="pt-BR" sz="1400" dirty="0" smtClean="0">
                <a:latin typeface="Arial" panose="020B0604020202020204" pitchFamily="34" charset="0"/>
                <a:cs typeface="Arial" panose="020B0604020202020204" pitchFamily="34" charset="0"/>
              </a:rPr>
              <a:t>Valor da depreciação</a:t>
            </a:r>
            <a:endParaRPr lang="pt-BR" sz="1400" dirty="0">
              <a:latin typeface="Arial" panose="020B0604020202020204" pitchFamily="34" charset="0"/>
              <a:cs typeface="Arial" panose="020B0604020202020204" pitchFamily="34" charset="0"/>
            </a:endParaRPr>
          </a:p>
        </p:txBody>
      </p:sp>
      <p:cxnSp>
        <p:nvCxnSpPr>
          <p:cNvPr id="13" name="Conector de seta reta 12"/>
          <p:cNvCxnSpPr/>
          <p:nvPr/>
        </p:nvCxnSpPr>
        <p:spPr>
          <a:xfrm flipV="1">
            <a:off x="7915768" y="4037990"/>
            <a:ext cx="1187448" cy="167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CaixaDeTexto 13"/>
          <p:cNvSpPr txBox="1"/>
          <p:nvPr/>
        </p:nvSpPr>
        <p:spPr>
          <a:xfrm>
            <a:off x="9255392" y="5426403"/>
            <a:ext cx="2833352" cy="307777"/>
          </a:xfrm>
          <a:prstGeom prst="rect">
            <a:avLst/>
          </a:prstGeom>
          <a:noFill/>
        </p:spPr>
        <p:txBody>
          <a:bodyPr wrap="square" rtlCol="0">
            <a:spAutoFit/>
          </a:bodyPr>
          <a:lstStyle/>
          <a:p>
            <a:r>
              <a:rPr lang="pt-BR" sz="1400" dirty="0" smtClean="0">
                <a:latin typeface="Arial" panose="020B0604020202020204" pitchFamily="34" charset="0"/>
                <a:cs typeface="Arial" panose="020B0604020202020204" pitchFamily="34" charset="0"/>
              </a:rPr>
              <a:t>Valor da MOD sem o INSS</a:t>
            </a:r>
            <a:endParaRPr lang="pt-BR" sz="1400" dirty="0">
              <a:latin typeface="Arial" panose="020B0604020202020204" pitchFamily="34" charset="0"/>
              <a:cs typeface="Arial" panose="020B0604020202020204" pitchFamily="34" charset="0"/>
            </a:endParaRPr>
          </a:p>
        </p:txBody>
      </p:sp>
      <p:cxnSp>
        <p:nvCxnSpPr>
          <p:cNvPr id="15" name="Conector de seta reta 14"/>
          <p:cNvCxnSpPr/>
          <p:nvPr/>
        </p:nvCxnSpPr>
        <p:spPr>
          <a:xfrm flipV="1">
            <a:off x="7915768" y="5581307"/>
            <a:ext cx="1187448" cy="167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CaixaDeTexto 15"/>
          <p:cNvSpPr txBox="1"/>
          <p:nvPr/>
        </p:nvSpPr>
        <p:spPr>
          <a:xfrm>
            <a:off x="9255392" y="5748732"/>
            <a:ext cx="2833352" cy="738664"/>
          </a:xfrm>
          <a:prstGeom prst="rect">
            <a:avLst/>
          </a:prstGeom>
          <a:noFill/>
        </p:spPr>
        <p:txBody>
          <a:bodyPr wrap="square" rtlCol="0">
            <a:spAutoFit/>
          </a:bodyPr>
          <a:lstStyle/>
          <a:p>
            <a:r>
              <a:rPr lang="pt-BR" sz="1400" dirty="0" smtClean="0">
                <a:latin typeface="Arial" panose="020B0604020202020204" pitchFamily="34" charset="0"/>
                <a:cs typeface="Arial" panose="020B0604020202020204" pitchFamily="34" charset="0"/>
              </a:rPr>
              <a:t>Somatória de R$ ICMS sobre venda + R$ INSS + R$ IRPJ – R$ ICMS sobre entrada</a:t>
            </a:r>
            <a:endParaRPr lang="pt-BR" sz="1400" dirty="0">
              <a:latin typeface="Arial" panose="020B0604020202020204" pitchFamily="34" charset="0"/>
              <a:cs typeface="Arial" panose="020B0604020202020204" pitchFamily="34" charset="0"/>
            </a:endParaRPr>
          </a:p>
        </p:txBody>
      </p:sp>
      <p:cxnSp>
        <p:nvCxnSpPr>
          <p:cNvPr id="17" name="Conector de seta reta 16"/>
          <p:cNvCxnSpPr/>
          <p:nvPr/>
        </p:nvCxnSpPr>
        <p:spPr>
          <a:xfrm flipV="1">
            <a:off x="7915768" y="5889084"/>
            <a:ext cx="1187448" cy="167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5155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a:xfrm>
            <a:off x="531812" y="1393190"/>
            <a:ext cx="5007736" cy="5143500"/>
          </a:xfrm>
        </p:spPr>
        <p:txBody>
          <a:bodyPr/>
          <a:lstStyle/>
          <a:p>
            <a:pPr lvl="1"/>
            <a:r>
              <a:rPr lang="pt-BR" b="1" dirty="0" smtClean="0"/>
              <a:t>EXERCÍCIOS</a:t>
            </a:r>
          </a:p>
          <a:p>
            <a:pPr lvl="1"/>
            <a:r>
              <a:rPr lang="pt-BR" dirty="0"/>
              <a:t>Uma sociedade empresária adquiriu mercadorias para revenda por R$ </a:t>
            </a:r>
            <a:r>
              <a:rPr lang="pt-BR" dirty="0" smtClean="0"/>
              <a:t>5.000,00</a:t>
            </a:r>
            <a:r>
              <a:rPr lang="pt-BR" dirty="0"/>
              <a:t> </a:t>
            </a:r>
            <a:r>
              <a:rPr lang="pt-BR" dirty="0" smtClean="0"/>
              <a:t>incluso 18% de </a:t>
            </a:r>
            <a:r>
              <a:rPr lang="pt-BR" dirty="0" err="1" smtClean="0"/>
              <a:t>icms</a:t>
            </a:r>
            <a:r>
              <a:rPr lang="pt-BR" dirty="0" smtClean="0"/>
              <a:t> </a:t>
            </a:r>
          </a:p>
          <a:p>
            <a:pPr lvl="1"/>
            <a:r>
              <a:rPr lang="pt-BR" dirty="0" smtClean="0"/>
              <a:t>No </a:t>
            </a:r>
            <a:r>
              <a:rPr lang="pt-BR" dirty="0"/>
              <a:t>mesmo período, revendeu toda a mercadoria adquirida por R</a:t>
            </a:r>
            <a:r>
              <a:rPr lang="pt-BR" dirty="0" smtClean="0"/>
              <a:t>$ 9.000,00</a:t>
            </a:r>
            <a:r>
              <a:rPr lang="pt-BR" dirty="0"/>
              <a:t>, neste valor incluído </a:t>
            </a:r>
            <a:r>
              <a:rPr lang="pt-BR" dirty="0" smtClean="0"/>
              <a:t>ICMS </a:t>
            </a:r>
            <a:r>
              <a:rPr lang="pt-BR" dirty="0"/>
              <a:t>de R</a:t>
            </a:r>
            <a:r>
              <a:rPr lang="pt-BR" dirty="0" smtClean="0"/>
              <a:t>$ 1.620,00</a:t>
            </a:r>
            <a:r>
              <a:rPr lang="pt-BR" dirty="0"/>
              <a:t>. </a:t>
            </a:r>
            <a:endParaRPr lang="pt-BR" dirty="0" smtClean="0"/>
          </a:p>
          <a:p>
            <a:pPr lvl="1"/>
            <a:r>
              <a:rPr lang="pt-BR" dirty="0" smtClean="0"/>
              <a:t>A </a:t>
            </a:r>
            <a:r>
              <a:rPr lang="pt-BR" dirty="0"/>
              <a:t>sociedade empresária registrou no período, despesas com representação comercial no montante de R</a:t>
            </a:r>
            <a:r>
              <a:rPr lang="pt-BR" dirty="0" smtClean="0"/>
              <a:t>$ 1.200,00 </a:t>
            </a:r>
            <a:r>
              <a:rPr lang="pt-BR" dirty="0"/>
              <a:t>e depreciação de veículos de R</a:t>
            </a:r>
            <a:r>
              <a:rPr lang="pt-BR" dirty="0" smtClean="0"/>
              <a:t>$ 200.00 e juros de R$ 1.980,00</a:t>
            </a:r>
          </a:p>
          <a:p>
            <a:pPr lvl="2"/>
            <a:r>
              <a:rPr lang="pt-BR" dirty="0" smtClean="0"/>
              <a:t>Pede – se realizar a demonstração.</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66</a:t>
            </a:fld>
            <a:endParaRPr lang="en-US" dirty="0"/>
          </a:p>
        </p:txBody>
      </p:sp>
      <p:graphicFrame>
        <p:nvGraphicFramePr>
          <p:cNvPr id="5" name="Objeto 4"/>
          <p:cNvGraphicFramePr>
            <a:graphicFrameLocks noChangeAspect="1"/>
          </p:cNvGraphicFramePr>
          <p:nvPr>
            <p:extLst>
              <p:ext uri="{D42A27DB-BD31-4B8C-83A1-F6EECF244321}">
                <p14:modId xmlns:p14="http://schemas.microsoft.com/office/powerpoint/2010/main" val="3325101411"/>
              </p:ext>
            </p:extLst>
          </p:nvPr>
        </p:nvGraphicFramePr>
        <p:xfrm>
          <a:off x="5904370" y="1165787"/>
          <a:ext cx="6135230" cy="5598306"/>
        </p:xfrm>
        <a:graphic>
          <a:graphicData uri="http://schemas.openxmlformats.org/presentationml/2006/ole">
            <mc:AlternateContent xmlns:mc="http://schemas.openxmlformats.org/markup-compatibility/2006">
              <mc:Choice xmlns:v="urn:schemas-microsoft-com:vml" Requires="v">
                <p:oleObj spid="_x0000_s2082" name="Imagem de Bitmap" r:id="rId3" imgW="4086795" imgH="4715533" progId="Paint.Picture">
                  <p:embed/>
                </p:oleObj>
              </mc:Choice>
              <mc:Fallback>
                <p:oleObj name="Imagem de Bitmap" r:id="rId3" imgW="4086795" imgH="471553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4370" y="1165787"/>
                        <a:ext cx="6135230" cy="5598306"/>
                      </a:xfrm>
                      <a:prstGeom prst="rect">
                        <a:avLst/>
                      </a:prstGeom>
                      <a:noFill/>
                    </p:spPr>
                  </p:pic>
                </p:oleObj>
              </mc:Fallback>
            </mc:AlternateContent>
          </a:graphicData>
        </a:graphic>
      </p:graphicFrame>
    </p:spTree>
    <p:extLst>
      <p:ext uri="{BB962C8B-B14F-4D97-AF65-F5344CB8AC3E}">
        <p14:creationId xmlns:p14="http://schemas.microsoft.com/office/powerpoint/2010/main" val="33140913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3" name="Espaço Reservado para Conteúdo 2"/>
          <p:cNvSpPr>
            <a:spLocks noGrp="1"/>
          </p:cNvSpPr>
          <p:nvPr>
            <p:ph idx="1"/>
          </p:nvPr>
        </p:nvSpPr>
        <p:spPr>
          <a:xfrm>
            <a:off x="1311579" y="1498600"/>
            <a:ext cx="5205131" cy="5143500"/>
          </a:xfrm>
        </p:spPr>
        <p:txBody>
          <a:bodyPr/>
          <a:lstStyle/>
          <a:p>
            <a:pPr marL="342900" lvl="1" indent="-342900"/>
            <a:r>
              <a:rPr lang="pt-BR" dirty="0"/>
              <a:t>Exercício</a:t>
            </a:r>
          </a:p>
          <a:p>
            <a:pPr lvl="1"/>
            <a:r>
              <a:rPr lang="pt-BR" dirty="0" smtClean="0"/>
              <a:t>Calcular os valores das deduções de impostos sobre as vendas.</a:t>
            </a:r>
          </a:p>
          <a:p>
            <a:pPr lvl="1"/>
            <a:r>
              <a:rPr lang="pt-BR" dirty="0" smtClean="0"/>
              <a:t>O CMV foi através de compra da mercadoria por R$ 40.000,00 tendo os seguintes impostos que a empresa tomou crédito (ICMS 18%, IPI 10%, PIS 1,65% e COFINS 7,60%)</a:t>
            </a:r>
          </a:p>
          <a:p>
            <a:pPr lvl="1"/>
            <a:r>
              <a:rPr lang="pt-BR" dirty="0" smtClean="0"/>
              <a:t>Mão de obra está incluso o valor de R$ 1.800,00 que são de INSS</a:t>
            </a:r>
          </a:p>
          <a:p>
            <a:pPr lvl="1"/>
            <a:r>
              <a:rPr lang="pt-BR" dirty="0" smtClean="0"/>
              <a:t>Calcular o IRPJ (15%) e CSLL (9%) sobre o lucro antes dos mesmos.</a:t>
            </a:r>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67</a:t>
            </a:fld>
            <a:endParaRPr lang="en-US" dirty="0"/>
          </a:p>
        </p:txBody>
      </p:sp>
      <p:pic>
        <p:nvPicPr>
          <p:cNvPr id="5" name="Imagem 4"/>
          <p:cNvPicPr>
            <a:picLocks noChangeAspect="1"/>
          </p:cNvPicPr>
          <p:nvPr/>
        </p:nvPicPr>
        <p:blipFill>
          <a:blip r:embed="rId2"/>
          <a:stretch>
            <a:fillRect/>
          </a:stretch>
        </p:blipFill>
        <p:spPr>
          <a:xfrm>
            <a:off x="6806052" y="1514965"/>
            <a:ext cx="5233547" cy="5110770"/>
          </a:xfrm>
          <a:prstGeom prst="rect">
            <a:avLst/>
          </a:prstGeom>
        </p:spPr>
      </p:pic>
    </p:spTree>
    <p:extLst>
      <p:ext uri="{BB962C8B-B14F-4D97-AF65-F5344CB8AC3E}">
        <p14:creationId xmlns:p14="http://schemas.microsoft.com/office/powerpoint/2010/main" val="4233432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68</a:t>
            </a:fld>
            <a:endParaRPr lang="en-US" dirty="0"/>
          </a:p>
        </p:txBody>
      </p:sp>
      <p:sp>
        <p:nvSpPr>
          <p:cNvPr id="5" name="Rectangle 2"/>
          <p:cNvSpPr>
            <a:spLocks noChangeArrowheads="1"/>
          </p:cNvSpPr>
          <p:nvPr/>
        </p:nvSpPr>
        <p:spPr bwMode="auto">
          <a:xfrm>
            <a:off x="6531641" y="1384300"/>
            <a:ext cx="134876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pt-BR"/>
          </a:p>
        </p:txBody>
      </p:sp>
      <p:sp>
        <p:nvSpPr>
          <p:cNvPr id="7" name="Espaço Reservado para Conteúdo 2"/>
          <p:cNvSpPr>
            <a:spLocks noGrp="1"/>
          </p:cNvSpPr>
          <p:nvPr>
            <p:ph idx="1"/>
          </p:nvPr>
        </p:nvSpPr>
        <p:spPr>
          <a:xfrm>
            <a:off x="1676399" y="1498600"/>
            <a:ext cx="10363199" cy="5143500"/>
          </a:xfrm>
        </p:spPr>
        <p:txBody>
          <a:bodyPr>
            <a:noAutofit/>
          </a:bodyPr>
          <a:lstStyle/>
          <a:p>
            <a:pPr lvl="1"/>
            <a:r>
              <a:rPr lang="pt-BR" dirty="0" smtClean="0"/>
              <a:t>Exercício</a:t>
            </a:r>
          </a:p>
          <a:p>
            <a:pPr lvl="1"/>
            <a:endParaRPr lang="pt-BR" sz="1400" dirty="0"/>
          </a:p>
          <a:p>
            <a:pPr lvl="1"/>
            <a:endParaRPr lang="pt-BR" sz="1400" dirty="0" smtClean="0"/>
          </a:p>
          <a:p>
            <a:pPr lvl="1"/>
            <a:endParaRPr lang="pt-BR" sz="1400" dirty="0"/>
          </a:p>
          <a:p>
            <a:pPr lvl="1"/>
            <a:endParaRPr lang="pt-BR" sz="1400" dirty="0" smtClean="0"/>
          </a:p>
          <a:p>
            <a:pPr lvl="1"/>
            <a:endParaRPr lang="pt-BR" sz="1400" dirty="0" smtClean="0"/>
          </a:p>
          <a:p>
            <a:pPr lvl="1"/>
            <a:r>
              <a:rPr lang="pt-BR" sz="1400" dirty="0" smtClean="0"/>
              <a:t>Compra </a:t>
            </a:r>
            <a:r>
              <a:rPr lang="pt-BR" sz="1400" dirty="0"/>
              <a:t>de Matéria-prima à vista no </a:t>
            </a:r>
            <a:r>
              <a:rPr lang="pt-BR" sz="1400" dirty="0" smtClean="0"/>
              <a:t>valor R$ 20.000 </a:t>
            </a:r>
            <a:r>
              <a:rPr lang="pt-BR" sz="1400" dirty="0"/>
              <a:t>com incidência de ICMS de </a:t>
            </a:r>
            <a:r>
              <a:rPr lang="pt-BR" sz="1400" dirty="0" smtClean="0"/>
              <a:t>18% (Valor </a:t>
            </a:r>
            <a:r>
              <a:rPr lang="pt-BR" sz="1400" dirty="0"/>
              <a:t>líquido da mercadoria R$16.400, valor do ICMS </a:t>
            </a:r>
            <a:r>
              <a:rPr lang="pt-BR" sz="1400" dirty="0" smtClean="0"/>
              <a:t>R$ 3.600)</a:t>
            </a:r>
          </a:p>
          <a:p>
            <a:pPr lvl="1"/>
            <a:r>
              <a:rPr lang="pt-BR" sz="1400" dirty="0" smtClean="0"/>
              <a:t>Compra </a:t>
            </a:r>
            <a:r>
              <a:rPr lang="pt-BR" sz="1400" dirty="0"/>
              <a:t>de </a:t>
            </a:r>
            <a:r>
              <a:rPr lang="pt-BR" sz="1400" dirty="0" smtClean="0"/>
              <a:t>material secundário no valor de R$ 1.000 </a:t>
            </a:r>
            <a:r>
              <a:rPr lang="pt-BR" sz="1400" dirty="0"/>
              <a:t>(desse valor, R$180 referem-se ao ICMS</a:t>
            </a:r>
            <a:r>
              <a:rPr lang="pt-BR" sz="1400" dirty="0" smtClean="0"/>
              <a:t>);</a:t>
            </a:r>
          </a:p>
          <a:p>
            <a:pPr lvl="1"/>
            <a:r>
              <a:rPr lang="pt-BR" sz="1400" dirty="0" smtClean="0"/>
              <a:t>Pagamento </a:t>
            </a:r>
            <a:r>
              <a:rPr lang="pt-BR" sz="1400" dirty="0"/>
              <a:t>de mão-de-obra R</a:t>
            </a:r>
            <a:r>
              <a:rPr lang="pt-BR" sz="1400" dirty="0" smtClean="0"/>
              <a:t>$ 3.000 </a:t>
            </a:r>
            <a:r>
              <a:rPr lang="pt-BR" sz="1400" dirty="0"/>
              <a:t>(desse total, R</a:t>
            </a:r>
            <a:r>
              <a:rPr lang="pt-BR" sz="1400" dirty="0" smtClean="0"/>
              <a:t>$ 800 </a:t>
            </a:r>
            <a:r>
              <a:rPr lang="pt-BR" sz="1400" dirty="0"/>
              <a:t>referem-se ao INSS</a:t>
            </a:r>
            <a:r>
              <a:rPr lang="pt-BR" sz="1400" dirty="0" smtClean="0"/>
              <a:t>);</a:t>
            </a:r>
          </a:p>
          <a:p>
            <a:pPr lvl="1"/>
            <a:r>
              <a:rPr lang="pt-BR" sz="1400" dirty="0" smtClean="0"/>
              <a:t>Depreciação </a:t>
            </a:r>
            <a:r>
              <a:rPr lang="pt-BR" sz="1400" dirty="0"/>
              <a:t>no período (10%aa</a:t>
            </a:r>
            <a:r>
              <a:rPr lang="pt-BR" sz="1400" dirty="0" smtClean="0"/>
              <a:t>):</a:t>
            </a:r>
          </a:p>
          <a:p>
            <a:pPr lvl="1"/>
            <a:r>
              <a:rPr lang="pt-BR" sz="1400" dirty="0" smtClean="0"/>
              <a:t>Não </a:t>
            </a:r>
            <a:r>
              <a:rPr lang="pt-BR" sz="1400" dirty="0"/>
              <a:t>existem estoques iniciais ou finais de produtos em </a:t>
            </a:r>
            <a:r>
              <a:rPr lang="pt-BR" sz="1400" dirty="0" smtClean="0"/>
              <a:t>processo;</a:t>
            </a:r>
          </a:p>
          <a:p>
            <a:pPr lvl="1"/>
            <a:r>
              <a:rPr lang="pt-BR" sz="1400" dirty="0" smtClean="0"/>
              <a:t>Venda </a:t>
            </a:r>
            <a:r>
              <a:rPr lang="pt-BR" sz="1400" dirty="0"/>
              <a:t>de 80% do estoque de </a:t>
            </a:r>
            <a:r>
              <a:rPr lang="pt-BR" sz="1400" dirty="0" smtClean="0"/>
              <a:t>produto acabados </a:t>
            </a:r>
            <a:r>
              <a:rPr lang="pt-BR" sz="1400" dirty="0"/>
              <a:t>por R</a:t>
            </a:r>
            <a:r>
              <a:rPr lang="pt-BR" sz="1400" dirty="0" smtClean="0"/>
              <a:t>$ 27.500 com ICMS </a:t>
            </a:r>
            <a:r>
              <a:rPr lang="pt-BR" sz="1400" dirty="0"/>
              <a:t>de 18% e IPI 10</a:t>
            </a:r>
            <a:r>
              <a:rPr lang="pt-BR" sz="1400" dirty="0" smtClean="0"/>
              <a:t>% (Valor </a:t>
            </a:r>
            <a:r>
              <a:rPr lang="pt-BR" sz="1400" dirty="0"/>
              <a:t>líquido da venda R</a:t>
            </a:r>
            <a:r>
              <a:rPr lang="pt-BR" sz="1400" dirty="0" smtClean="0"/>
              <a:t>$ 20.500 </a:t>
            </a:r>
            <a:r>
              <a:rPr lang="pt-BR" sz="1400" dirty="0"/>
              <a:t>e ICMS s/vendas R</a:t>
            </a:r>
            <a:r>
              <a:rPr lang="pt-BR" sz="1400" dirty="0" smtClean="0"/>
              <a:t>$ 4.500 </a:t>
            </a:r>
            <a:r>
              <a:rPr lang="pt-BR" sz="1400" dirty="0"/>
              <a:t>e IPI </a:t>
            </a:r>
            <a:r>
              <a:rPr lang="pt-BR" sz="1400" dirty="0" smtClean="0"/>
              <a:t>R$ 2.500);</a:t>
            </a:r>
          </a:p>
          <a:p>
            <a:pPr lvl="1"/>
            <a:r>
              <a:rPr lang="pt-BR" sz="1400" dirty="0" smtClean="0"/>
              <a:t>Despesas </a:t>
            </a:r>
            <a:r>
              <a:rPr lang="pt-BR" sz="1400" dirty="0"/>
              <a:t>Operacionais: Vendas R</a:t>
            </a:r>
            <a:r>
              <a:rPr lang="pt-BR" sz="1400" dirty="0" smtClean="0"/>
              <a:t>$ 100 </a:t>
            </a:r>
            <a:r>
              <a:rPr lang="pt-BR" sz="1400" dirty="0"/>
              <a:t>(comissões) e </a:t>
            </a:r>
            <a:r>
              <a:rPr lang="pt-BR" sz="1400" dirty="0" smtClean="0"/>
              <a:t>Administrativo R$ 150 </a:t>
            </a:r>
            <a:r>
              <a:rPr lang="pt-BR" sz="1400" dirty="0"/>
              <a:t>(</a:t>
            </a:r>
            <a:r>
              <a:rPr lang="pt-BR" sz="1400" dirty="0" smtClean="0"/>
              <a:t>Serviços de terceiros)</a:t>
            </a:r>
          </a:p>
          <a:p>
            <a:pPr lvl="1"/>
            <a:r>
              <a:rPr lang="pt-BR" sz="1400" dirty="0" smtClean="0"/>
              <a:t>IR </a:t>
            </a:r>
            <a:r>
              <a:rPr lang="pt-BR" sz="1400" dirty="0"/>
              <a:t>da empresa 25%.</a:t>
            </a:r>
          </a:p>
          <a:p>
            <a:pPr lvl="1"/>
            <a:endParaRPr lang="pt-BR" dirty="0" smtClean="0"/>
          </a:p>
          <a:p>
            <a:pPr lvl="1"/>
            <a:endParaRPr lang="pt-BR" dirty="0"/>
          </a:p>
          <a:p>
            <a:pPr lvl="1"/>
            <a:endParaRPr lang="pt-BR" dirty="0"/>
          </a:p>
        </p:txBody>
      </p:sp>
      <p:pic>
        <p:nvPicPr>
          <p:cNvPr id="8" name="Picture 3"/>
          <p:cNvPicPr>
            <a:picLocks noChangeAspect="1" noChangeArrowheads="1"/>
          </p:cNvPicPr>
          <p:nvPr/>
        </p:nvPicPr>
        <p:blipFill>
          <a:blip r:embed="rId2"/>
          <a:srcRect/>
          <a:stretch>
            <a:fillRect/>
          </a:stretch>
        </p:blipFill>
        <p:spPr bwMode="auto">
          <a:xfrm>
            <a:off x="4310892" y="1152907"/>
            <a:ext cx="7564437" cy="2385423"/>
          </a:xfrm>
          <a:prstGeom prst="rect">
            <a:avLst/>
          </a:prstGeom>
          <a:solidFill>
            <a:srgbClr val="FFFFCC"/>
          </a:solidFill>
          <a:ln w="9525">
            <a:noFill/>
            <a:miter lim="800000"/>
            <a:headEnd/>
            <a:tailEnd/>
          </a:ln>
        </p:spPr>
      </p:pic>
    </p:spTree>
    <p:extLst>
      <p:ext uri="{BB962C8B-B14F-4D97-AF65-F5344CB8AC3E}">
        <p14:creationId xmlns:p14="http://schemas.microsoft.com/office/powerpoint/2010/main" val="3432215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DEMONSTRAÇÃO DO VALOR ADICIONADO – DVA</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69</a:t>
            </a:fld>
            <a:endParaRPr lang="en-US" dirty="0"/>
          </a:p>
        </p:txBody>
      </p:sp>
      <p:graphicFrame>
        <p:nvGraphicFramePr>
          <p:cNvPr id="5" name="Objeto 4"/>
          <p:cNvGraphicFramePr>
            <a:graphicFrameLocks noChangeAspect="1"/>
          </p:cNvGraphicFramePr>
          <p:nvPr>
            <p:extLst>
              <p:ext uri="{D42A27DB-BD31-4B8C-83A1-F6EECF244321}">
                <p14:modId xmlns:p14="http://schemas.microsoft.com/office/powerpoint/2010/main" val="2655868588"/>
              </p:ext>
            </p:extLst>
          </p:nvPr>
        </p:nvGraphicFramePr>
        <p:xfrm>
          <a:off x="7368769" y="1384300"/>
          <a:ext cx="4520484" cy="5376460"/>
        </p:xfrm>
        <a:graphic>
          <a:graphicData uri="http://schemas.openxmlformats.org/presentationml/2006/ole">
            <mc:AlternateContent xmlns:mc="http://schemas.openxmlformats.org/markup-compatibility/2006">
              <mc:Choice xmlns:v="urn:schemas-microsoft-com:vml" Requires="v">
                <p:oleObj spid="_x0000_s3104" name="Imagem de Bitmap" r:id="rId3" imgW="4086795" imgH="4715533" progId="Paint.Picture">
                  <p:embed/>
                </p:oleObj>
              </mc:Choice>
              <mc:Fallback>
                <p:oleObj name="Imagem de Bitmap" r:id="rId3" imgW="4086795" imgH="471553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8769" y="1384300"/>
                        <a:ext cx="4520484" cy="5376460"/>
                      </a:xfrm>
                      <a:prstGeom prst="rect">
                        <a:avLst/>
                      </a:prstGeom>
                      <a:noFill/>
                    </p:spPr>
                  </p:pic>
                </p:oleObj>
              </mc:Fallback>
            </mc:AlternateContent>
          </a:graphicData>
        </a:graphic>
      </p:graphicFrame>
      <p:pic>
        <p:nvPicPr>
          <p:cNvPr id="8" name="Picture 8"/>
          <p:cNvPicPr>
            <a:picLocks noChangeAspect="1" noChangeArrowheads="1"/>
          </p:cNvPicPr>
          <p:nvPr/>
        </p:nvPicPr>
        <p:blipFill>
          <a:blip r:embed="rId5"/>
          <a:srcRect/>
          <a:stretch>
            <a:fillRect/>
          </a:stretch>
        </p:blipFill>
        <p:spPr bwMode="auto">
          <a:xfrm>
            <a:off x="649033" y="1384300"/>
            <a:ext cx="6569390" cy="2254583"/>
          </a:xfrm>
          <a:prstGeom prst="rect">
            <a:avLst/>
          </a:prstGeom>
          <a:noFill/>
          <a:ln w="9525">
            <a:noFill/>
            <a:miter lim="800000"/>
            <a:headEnd/>
            <a:tailEnd/>
          </a:ln>
          <a:effectLst/>
        </p:spPr>
      </p:pic>
      <p:grpSp>
        <p:nvGrpSpPr>
          <p:cNvPr id="28" name="Grupo 27"/>
          <p:cNvGrpSpPr/>
          <p:nvPr/>
        </p:nvGrpSpPr>
        <p:grpSpPr>
          <a:xfrm>
            <a:off x="649033" y="3721994"/>
            <a:ext cx="2584864" cy="3084490"/>
            <a:chOff x="649033" y="3721994"/>
            <a:chExt cx="2584864" cy="3084490"/>
          </a:xfrm>
        </p:grpSpPr>
        <p:pic>
          <p:nvPicPr>
            <p:cNvPr id="9" name="Picture 9"/>
            <p:cNvPicPr>
              <a:picLocks noChangeAspect="1" noChangeArrowheads="1"/>
            </p:cNvPicPr>
            <p:nvPr/>
          </p:nvPicPr>
          <p:blipFill rotWithShape="1">
            <a:blip r:embed="rId6"/>
            <a:srcRect r="51948"/>
            <a:stretch/>
          </p:blipFill>
          <p:spPr bwMode="auto">
            <a:xfrm>
              <a:off x="649033" y="3721994"/>
              <a:ext cx="1682043" cy="3084490"/>
            </a:xfrm>
            <a:prstGeom prst="rect">
              <a:avLst/>
            </a:prstGeom>
            <a:noFill/>
            <a:ln w="9525">
              <a:noFill/>
              <a:miter lim="800000"/>
              <a:headEnd/>
              <a:tailEnd/>
            </a:ln>
            <a:effectLst/>
          </p:spPr>
        </p:pic>
        <p:cxnSp>
          <p:nvCxnSpPr>
            <p:cNvPr id="11" name="Conector reto 10"/>
            <p:cNvCxnSpPr/>
            <p:nvPr/>
          </p:nvCxnSpPr>
          <p:spPr>
            <a:xfrm>
              <a:off x="1728947" y="4067767"/>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to 11"/>
            <p:cNvCxnSpPr/>
            <p:nvPr/>
          </p:nvCxnSpPr>
          <p:spPr>
            <a:xfrm>
              <a:off x="1728947" y="4239217"/>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12"/>
            <p:cNvCxnSpPr/>
            <p:nvPr/>
          </p:nvCxnSpPr>
          <p:spPr>
            <a:xfrm>
              <a:off x="1728947" y="4423065"/>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to 13"/>
            <p:cNvCxnSpPr/>
            <p:nvPr/>
          </p:nvCxnSpPr>
          <p:spPr>
            <a:xfrm>
              <a:off x="1728947" y="4613251"/>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p:nvPr/>
          </p:nvCxnSpPr>
          <p:spPr>
            <a:xfrm>
              <a:off x="1728947" y="4803437"/>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p:nvPr/>
          </p:nvCxnSpPr>
          <p:spPr>
            <a:xfrm>
              <a:off x="1728947" y="4996589"/>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p:nvPr/>
          </p:nvCxnSpPr>
          <p:spPr>
            <a:xfrm>
              <a:off x="1728947" y="5189741"/>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to 17"/>
            <p:cNvCxnSpPr/>
            <p:nvPr/>
          </p:nvCxnSpPr>
          <p:spPr>
            <a:xfrm>
              <a:off x="1728947" y="5382893"/>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p:nvPr/>
          </p:nvCxnSpPr>
          <p:spPr>
            <a:xfrm>
              <a:off x="1728947" y="5571282"/>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p:nvPr/>
          </p:nvCxnSpPr>
          <p:spPr>
            <a:xfrm>
              <a:off x="1728947" y="5739300"/>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p:nvPr/>
          </p:nvCxnSpPr>
          <p:spPr>
            <a:xfrm>
              <a:off x="1728947" y="5925049"/>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to 21"/>
            <p:cNvCxnSpPr/>
            <p:nvPr/>
          </p:nvCxnSpPr>
          <p:spPr>
            <a:xfrm>
              <a:off x="1728947" y="6093067"/>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to 22"/>
            <p:cNvCxnSpPr/>
            <p:nvPr/>
          </p:nvCxnSpPr>
          <p:spPr>
            <a:xfrm>
              <a:off x="1728947" y="6277202"/>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to 23"/>
            <p:cNvCxnSpPr/>
            <p:nvPr/>
          </p:nvCxnSpPr>
          <p:spPr>
            <a:xfrm>
              <a:off x="1728947" y="6461337"/>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reto 24"/>
            <p:cNvCxnSpPr/>
            <p:nvPr/>
          </p:nvCxnSpPr>
          <p:spPr>
            <a:xfrm>
              <a:off x="1728947" y="6624385"/>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to 25"/>
            <p:cNvCxnSpPr/>
            <p:nvPr/>
          </p:nvCxnSpPr>
          <p:spPr>
            <a:xfrm>
              <a:off x="1728947" y="6794968"/>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to 26"/>
            <p:cNvCxnSpPr/>
            <p:nvPr/>
          </p:nvCxnSpPr>
          <p:spPr>
            <a:xfrm>
              <a:off x="1728947" y="3909485"/>
              <a:ext cx="1504950" cy="9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9428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p:cNvSpPr>
            <a:spLocks noGrp="1"/>
          </p:cNvSpPr>
          <p:nvPr>
            <p:ph type="sldNum" sz="quarter" idx="12"/>
          </p:nvPr>
        </p:nvSpPr>
        <p:spPr/>
        <p:txBody>
          <a:bodyPr/>
          <a:lstStyle/>
          <a:p>
            <a:fld id="{D57F1E4F-1CFF-5643-939E-217C01CDF565}" type="slidenum">
              <a:rPr lang="en-US" smtClean="0"/>
              <a:pPr/>
              <a:t>70</a:t>
            </a:fld>
            <a:endParaRPr lang="en-US" dirty="0"/>
          </a:p>
        </p:txBody>
      </p:sp>
      <p:sp>
        <p:nvSpPr>
          <p:cNvPr id="5" name="Título 1"/>
          <p:cNvSpPr>
            <a:spLocks noGrp="1"/>
          </p:cNvSpPr>
          <p:nvPr>
            <p:ph type="ctrTitle"/>
          </p:nvPr>
        </p:nvSpPr>
        <p:spPr>
          <a:xfrm>
            <a:off x="2589213" y="2514600"/>
            <a:ext cx="8915399" cy="2262781"/>
          </a:xfrm>
        </p:spPr>
        <p:txBody>
          <a:bodyPr>
            <a:normAutofit fontScale="90000"/>
          </a:bodyPr>
          <a:lstStyle/>
          <a:p>
            <a:pPr algn="ctr"/>
            <a:r>
              <a:rPr lang="pt-BR" dirty="0" smtClean="0"/>
              <a:t>ESTRUTURA DAS DEMONSTRAÇÕES </a:t>
            </a:r>
            <a:r>
              <a:rPr lang="pt-BR" dirty="0"/>
              <a:t>CONTÁBEIS II</a:t>
            </a:r>
          </a:p>
        </p:txBody>
      </p:sp>
      <p:sp>
        <p:nvSpPr>
          <p:cNvPr id="6" name="Subtítulo 4"/>
          <p:cNvSpPr>
            <a:spLocks noGrp="1"/>
          </p:cNvSpPr>
          <p:nvPr>
            <p:ph type="subTitle" idx="1"/>
          </p:nvPr>
        </p:nvSpPr>
        <p:spPr>
          <a:xfrm>
            <a:off x="2589213" y="4777379"/>
            <a:ext cx="8915399" cy="1126283"/>
          </a:xfrm>
        </p:spPr>
        <p:txBody>
          <a:bodyPr/>
          <a:lstStyle/>
          <a:p>
            <a:pPr algn="ctr"/>
            <a:r>
              <a:rPr lang="pt-BR" dirty="0" smtClean="0"/>
              <a:t>Parte 4 – Notas explicativas</a:t>
            </a:r>
            <a:endParaRPr lang="pt-BR" dirty="0"/>
          </a:p>
        </p:txBody>
      </p:sp>
    </p:spTree>
    <p:extLst>
      <p:ext uri="{BB962C8B-B14F-4D97-AF65-F5344CB8AC3E}">
        <p14:creationId xmlns:p14="http://schemas.microsoft.com/office/powerpoint/2010/main" val="11860216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NOTAS EXPLICATIVAS</a:t>
            </a:r>
          </a:p>
        </p:txBody>
      </p:sp>
      <p:sp>
        <p:nvSpPr>
          <p:cNvPr id="3" name="Espaço Reservado para Conteúdo 2"/>
          <p:cNvSpPr>
            <a:spLocks noGrp="1"/>
          </p:cNvSpPr>
          <p:nvPr>
            <p:ph idx="1"/>
          </p:nvPr>
        </p:nvSpPr>
        <p:spPr>
          <a:xfrm>
            <a:off x="1676399" y="1498600"/>
            <a:ext cx="10363199" cy="5359400"/>
          </a:xfrm>
        </p:spPr>
        <p:txBody>
          <a:bodyPr>
            <a:normAutofit/>
          </a:bodyPr>
          <a:lstStyle/>
          <a:p>
            <a:r>
              <a:rPr lang="pt-BR" dirty="0" smtClean="0">
                <a:solidFill>
                  <a:schemeClr val="tx1"/>
                </a:solidFill>
              </a:rPr>
              <a:t>AUDITORIA</a:t>
            </a:r>
          </a:p>
          <a:p>
            <a:pPr lvl="1"/>
            <a:r>
              <a:rPr lang="pt-BR" dirty="0" smtClean="0">
                <a:solidFill>
                  <a:schemeClr val="tx1"/>
                </a:solidFill>
              </a:rPr>
              <a:t>O que é uma auditoria?</a:t>
            </a:r>
          </a:p>
          <a:p>
            <a:pPr lvl="2"/>
            <a:r>
              <a:rPr lang="en-GB" altLang="pt-BR" dirty="0">
                <a:solidFill>
                  <a:schemeClr val="tx1"/>
                </a:solidFill>
              </a:rPr>
              <a:t>ISO 19011:2002: </a:t>
            </a:r>
            <a:r>
              <a:rPr lang="en-GB" altLang="pt-BR" dirty="0" err="1">
                <a:solidFill>
                  <a:schemeClr val="tx1"/>
                </a:solidFill>
              </a:rPr>
              <a:t>Processo</a:t>
            </a:r>
            <a:r>
              <a:rPr lang="en-GB" altLang="pt-BR" dirty="0">
                <a:solidFill>
                  <a:schemeClr val="tx1"/>
                </a:solidFill>
              </a:rPr>
              <a:t> </a:t>
            </a:r>
            <a:r>
              <a:rPr lang="en-GB" altLang="pt-BR" dirty="0" err="1">
                <a:solidFill>
                  <a:schemeClr val="tx1"/>
                </a:solidFill>
              </a:rPr>
              <a:t>sistemático</a:t>
            </a:r>
            <a:r>
              <a:rPr lang="en-GB" altLang="pt-BR" dirty="0">
                <a:solidFill>
                  <a:schemeClr val="tx1"/>
                </a:solidFill>
              </a:rPr>
              <a:t>, </a:t>
            </a:r>
            <a:r>
              <a:rPr lang="en-GB" altLang="pt-BR" dirty="0" err="1">
                <a:solidFill>
                  <a:schemeClr val="tx1"/>
                </a:solidFill>
              </a:rPr>
              <a:t>independente</a:t>
            </a:r>
            <a:r>
              <a:rPr lang="en-GB" altLang="pt-BR" dirty="0">
                <a:solidFill>
                  <a:schemeClr val="tx1"/>
                </a:solidFill>
              </a:rPr>
              <a:t> e </a:t>
            </a:r>
            <a:r>
              <a:rPr lang="en-GB" altLang="pt-BR" dirty="0" err="1">
                <a:solidFill>
                  <a:schemeClr val="tx1"/>
                </a:solidFill>
              </a:rPr>
              <a:t>documentado</a:t>
            </a:r>
            <a:r>
              <a:rPr lang="en-GB" altLang="pt-BR" dirty="0">
                <a:solidFill>
                  <a:schemeClr val="tx1"/>
                </a:solidFill>
              </a:rPr>
              <a:t> para </a:t>
            </a:r>
            <a:r>
              <a:rPr lang="en-GB" altLang="pt-BR" dirty="0" err="1">
                <a:solidFill>
                  <a:schemeClr val="tx1"/>
                </a:solidFill>
              </a:rPr>
              <a:t>obter</a:t>
            </a:r>
            <a:r>
              <a:rPr lang="en-GB" altLang="pt-BR" dirty="0">
                <a:solidFill>
                  <a:schemeClr val="tx1"/>
                </a:solidFill>
              </a:rPr>
              <a:t> </a:t>
            </a:r>
            <a:r>
              <a:rPr lang="en-GB" altLang="pt-BR" dirty="0" err="1">
                <a:solidFill>
                  <a:schemeClr val="tx1"/>
                </a:solidFill>
              </a:rPr>
              <a:t>evidências</a:t>
            </a:r>
            <a:r>
              <a:rPr lang="en-GB" altLang="pt-BR" dirty="0">
                <a:solidFill>
                  <a:schemeClr val="tx1"/>
                </a:solidFill>
              </a:rPr>
              <a:t> da auditoria e </a:t>
            </a:r>
            <a:r>
              <a:rPr lang="en-GB" altLang="pt-BR" dirty="0" err="1">
                <a:solidFill>
                  <a:schemeClr val="tx1"/>
                </a:solidFill>
              </a:rPr>
              <a:t>avaliá</a:t>
            </a:r>
            <a:r>
              <a:rPr lang="en-GB" altLang="pt-BR" dirty="0">
                <a:solidFill>
                  <a:schemeClr val="tx1"/>
                </a:solidFill>
              </a:rPr>
              <a:t>-las de </a:t>
            </a:r>
            <a:r>
              <a:rPr lang="en-GB" altLang="pt-BR" dirty="0" err="1">
                <a:solidFill>
                  <a:schemeClr val="tx1"/>
                </a:solidFill>
              </a:rPr>
              <a:t>maneira</a:t>
            </a:r>
            <a:r>
              <a:rPr lang="en-GB" altLang="pt-BR" dirty="0">
                <a:solidFill>
                  <a:schemeClr val="tx1"/>
                </a:solidFill>
              </a:rPr>
              <a:t> </a:t>
            </a:r>
            <a:r>
              <a:rPr lang="en-GB" altLang="pt-BR" dirty="0" err="1">
                <a:solidFill>
                  <a:schemeClr val="tx1"/>
                </a:solidFill>
              </a:rPr>
              <a:t>objetiva</a:t>
            </a:r>
            <a:r>
              <a:rPr lang="en-GB" altLang="pt-BR" dirty="0">
                <a:solidFill>
                  <a:schemeClr val="tx1"/>
                </a:solidFill>
              </a:rPr>
              <a:t>, com o </a:t>
            </a:r>
            <a:r>
              <a:rPr lang="en-GB" altLang="pt-BR" dirty="0" err="1">
                <a:solidFill>
                  <a:schemeClr val="tx1"/>
                </a:solidFill>
              </a:rPr>
              <a:t>fim</a:t>
            </a:r>
            <a:r>
              <a:rPr lang="en-GB" altLang="pt-BR" dirty="0">
                <a:solidFill>
                  <a:schemeClr val="tx1"/>
                </a:solidFill>
              </a:rPr>
              <a:t> de </a:t>
            </a:r>
            <a:r>
              <a:rPr lang="en-GB" altLang="pt-BR" dirty="0" err="1">
                <a:solidFill>
                  <a:schemeClr val="tx1"/>
                </a:solidFill>
              </a:rPr>
              <a:t>determinar</a:t>
            </a:r>
            <a:r>
              <a:rPr lang="en-GB" altLang="pt-BR" dirty="0">
                <a:solidFill>
                  <a:schemeClr val="tx1"/>
                </a:solidFill>
              </a:rPr>
              <a:t> o </a:t>
            </a:r>
            <a:r>
              <a:rPr lang="en-GB" altLang="pt-BR" dirty="0" err="1">
                <a:solidFill>
                  <a:schemeClr val="tx1"/>
                </a:solidFill>
              </a:rPr>
              <a:t>grau</a:t>
            </a:r>
            <a:r>
              <a:rPr lang="en-GB" altLang="pt-BR" dirty="0">
                <a:solidFill>
                  <a:schemeClr val="tx1"/>
                </a:solidFill>
              </a:rPr>
              <a:t> de </a:t>
            </a:r>
            <a:r>
              <a:rPr lang="en-GB" altLang="pt-BR" dirty="0" err="1">
                <a:solidFill>
                  <a:schemeClr val="tx1"/>
                </a:solidFill>
              </a:rPr>
              <a:t>cumprimento</a:t>
            </a:r>
            <a:r>
              <a:rPr lang="en-GB" altLang="pt-BR" dirty="0">
                <a:solidFill>
                  <a:schemeClr val="tx1"/>
                </a:solidFill>
              </a:rPr>
              <a:t> dos </a:t>
            </a:r>
            <a:r>
              <a:rPr lang="en-GB" altLang="pt-BR" dirty="0" err="1">
                <a:solidFill>
                  <a:schemeClr val="tx1"/>
                </a:solidFill>
              </a:rPr>
              <a:t>critérios</a:t>
            </a:r>
            <a:r>
              <a:rPr lang="en-GB" altLang="pt-BR" dirty="0">
                <a:solidFill>
                  <a:schemeClr val="tx1"/>
                </a:solidFill>
              </a:rPr>
              <a:t> de auditoria.</a:t>
            </a:r>
          </a:p>
          <a:p>
            <a:pPr lvl="1"/>
            <a:endParaRPr lang="pt-BR" dirty="0" smtClean="0">
              <a:solidFill>
                <a:schemeClr val="tx1"/>
              </a:solidFill>
            </a:endParaRPr>
          </a:p>
          <a:p>
            <a:pPr lvl="1"/>
            <a:r>
              <a:rPr lang="pt-BR" dirty="0" smtClean="0">
                <a:solidFill>
                  <a:schemeClr val="tx1"/>
                </a:solidFill>
              </a:rPr>
              <a:t>Definição</a:t>
            </a:r>
          </a:p>
          <a:p>
            <a:pPr lvl="2"/>
            <a:r>
              <a:rPr lang="pt-BR" altLang="pt-BR" dirty="0">
                <a:solidFill>
                  <a:schemeClr val="tx1"/>
                </a:solidFill>
              </a:rPr>
              <a:t>Auditoria é uma exame sistemático e independente para determinar que as atividades e seus resultados estão de acordo com os objetivos </a:t>
            </a:r>
            <a:r>
              <a:rPr lang="pt-BR" altLang="pt-BR" dirty="0" smtClean="0">
                <a:solidFill>
                  <a:schemeClr val="tx1"/>
                </a:solidFill>
              </a:rPr>
              <a:t>planejados</a:t>
            </a:r>
          </a:p>
          <a:p>
            <a:pPr lvl="2"/>
            <a:endParaRPr lang="pt-BR" dirty="0">
              <a:solidFill>
                <a:schemeClr val="tx1"/>
              </a:solidFill>
            </a:endParaRPr>
          </a:p>
          <a:p>
            <a:pPr lvl="1"/>
            <a:r>
              <a:rPr lang="pt-BR" dirty="0" smtClean="0">
                <a:solidFill>
                  <a:schemeClr val="tx1"/>
                </a:solidFill>
              </a:rPr>
              <a:t>Verificação:</a:t>
            </a:r>
          </a:p>
          <a:p>
            <a:pPr lvl="2"/>
            <a:r>
              <a:rPr lang="pt-BR" altLang="pt-BR" dirty="0">
                <a:solidFill>
                  <a:schemeClr val="tx1"/>
                </a:solidFill>
              </a:rPr>
              <a:t>Estabelecer procedimentos de comprovação para confirmar que um sistema ou programa funciona eficazmente.</a:t>
            </a:r>
          </a:p>
          <a:p>
            <a:pPr lvl="2"/>
            <a:endParaRPr lang="pt-BR" dirty="0">
              <a:solidFill>
                <a:schemeClr val="tx1"/>
              </a:solidFill>
            </a:endParaRPr>
          </a:p>
          <a:p>
            <a:pPr lvl="1"/>
            <a:r>
              <a:rPr lang="pt-BR" dirty="0" smtClean="0">
                <a:solidFill>
                  <a:schemeClr val="tx1"/>
                </a:solidFill>
              </a:rPr>
              <a:t>Validação</a:t>
            </a:r>
          </a:p>
          <a:p>
            <a:pPr lvl="2"/>
            <a:r>
              <a:rPr lang="pt-BR" altLang="pt-BR" dirty="0">
                <a:solidFill>
                  <a:schemeClr val="tx1"/>
                </a:solidFill>
              </a:rPr>
              <a:t>Conjunto de procedimentos cujo objetivo é assegurar que todos os requerimentos legais, estruturais e de processo sejam corretamente identificados pela equipe de auditores e que possam ser controlados de maneira eficaz pelo programa ou sistema proposto.</a:t>
            </a:r>
            <a:endParaRPr lang="pt-BR" dirty="0">
              <a:solidFill>
                <a:schemeClr val="tx1"/>
              </a:solidFill>
            </a:endParaRPr>
          </a:p>
          <a:p>
            <a:pPr lvl="1"/>
            <a:endParaRPr lang="pt-BR" dirty="0">
              <a:solidFill>
                <a:schemeClr val="tx1"/>
              </a:solidFill>
            </a:endParaRP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71</a:t>
            </a:fld>
            <a:endParaRPr lang="en-US" dirty="0"/>
          </a:p>
        </p:txBody>
      </p:sp>
    </p:spTree>
    <p:extLst>
      <p:ext uri="{BB962C8B-B14F-4D97-AF65-F5344CB8AC3E}">
        <p14:creationId xmlns:p14="http://schemas.microsoft.com/office/powerpoint/2010/main" val="25096417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NOTAS EXPLICATIVAS</a:t>
            </a:r>
          </a:p>
        </p:txBody>
      </p:sp>
      <p:sp>
        <p:nvSpPr>
          <p:cNvPr id="3" name="Espaço Reservado para Conteúdo 2"/>
          <p:cNvSpPr>
            <a:spLocks noGrp="1"/>
          </p:cNvSpPr>
          <p:nvPr>
            <p:ph idx="1"/>
          </p:nvPr>
        </p:nvSpPr>
        <p:spPr/>
        <p:txBody>
          <a:bodyPr/>
          <a:lstStyle/>
          <a:p>
            <a:r>
              <a:rPr lang="pt-BR" dirty="0" smtClean="0">
                <a:solidFill>
                  <a:schemeClr val="tx1"/>
                </a:solidFill>
              </a:rPr>
              <a:t>AUDITORIA</a:t>
            </a:r>
          </a:p>
          <a:p>
            <a:pPr lvl="1"/>
            <a:r>
              <a:rPr lang="pt-BR" dirty="0" smtClean="0">
                <a:solidFill>
                  <a:schemeClr val="tx1"/>
                </a:solidFill>
              </a:rPr>
              <a:t>Evidências de auditoria:</a:t>
            </a:r>
          </a:p>
          <a:p>
            <a:pPr lvl="2"/>
            <a:r>
              <a:rPr lang="es-ES" altLang="pt-BR" dirty="0" smtClean="0">
                <a:solidFill>
                  <a:schemeClr val="tx1"/>
                </a:solidFill>
              </a:rPr>
              <a:t>São os registros</a:t>
            </a:r>
            <a:r>
              <a:rPr lang="es-ES" altLang="pt-BR" dirty="0">
                <a:solidFill>
                  <a:schemeClr val="tx1"/>
                </a:solidFill>
              </a:rPr>
              <a:t>, </a:t>
            </a:r>
            <a:r>
              <a:rPr lang="es-ES" altLang="pt-BR" dirty="0" err="1">
                <a:solidFill>
                  <a:schemeClr val="tx1"/>
                </a:solidFill>
              </a:rPr>
              <a:t>declarações</a:t>
            </a:r>
            <a:r>
              <a:rPr lang="es-ES" altLang="pt-BR" dirty="0">
                <a:solidFill>
                  <a:schemeClr val="tx1"/>
                </a:solidFill>
              </a:rPr>
              <a:t> de fatos </a:t>
            </a:r>
            <a:r>
              <a:rPr lang="es-ES" altLang="pt-BR" dirty="0" err="1">
                <a:solidFill>
                  <a:schemeClr val="tx1"/>
                </a:solidFill>
              </a:rPr>
              <a:t>ou</a:t>
            </a:r>
            <a:r>
              <a:rPr lang="es-ES" altLang="pt-BR" dirty="0">
                <a:solidFill>
                  <a:schemeClr val="tx1"/>
                </a:solidFill>
              </a:rPr>
              <a:t> </a:t>
            </a:r>
            <a:r>
              <a:rPr lang="es-ES" altLang="pt-BR" dirty="0" err="1">
                <a:solidFill>
                  <a:schemeClr val="tx1"/>
                </a:solidFill>
              </a:rPr>
              <a:t>outras</a:t>
            </a:r>
            <a:r>
              <a:rPr lang="es-ES" altLang="pt-BR" dirty="0">
                <a:solidFill>
                  <a:schemeClr val="tx1"/>
                </a:solidFill>
              </a:rPr>
              <a:t> </a:t>
            </a:r>
            <a:r>
              <a:rPr lang="es-ES" altLang="pt-BR" dirty="0" err="1">
                <a:solidFill>
                  <a:schemeClr val="tx1"/>
                </a:solidFill>
              </a:rPr>
              <a:t>informações</a:t>
            </a:r>
            <a:r>
              <a:rPr lang="es-ES" altLang="pt-BR" dirty="0">
                <a:solidFill>
                  <a:schemeClr val="tx1"/>
                </a:solidFill>
              </a:rPr>
              <a:t> as </a:t>
            </a:r>
            <a:r>
              <a:rPr lang="es-ES" altLang="pt-BR" dirty="0" err="1">
                <a:solidFill>
                  <a:schemeClr val="tx1"/>
                </a:solidFill>
              </a:rPr>
              <a:t>quais</a:t>
            </a:r>
            <a:r>
              <a:rPr lang="es-ES" altLang="pt-BR" dirty="0">
                <a:solidFill>
                  <a:schemeClr val="tx1"/>
                </a:solidFill>
              </a:rPr>
              <a:t> </a:t>
            </a:r>
            <a:r>
              <a:rPr lang="es-ES" altLang="pt-BR" dirty="0" err="1">
                <a:solidFill>
                  <a:schemeClr val="tx1"/>
                </a:solidFill>
              </a:rPr>
              <a:t>são</a:t>
            </a:r>
            <a:r>
              <a:rPr lang="es-ES" altLang="pt-BR" dirty="0">
                <a:solidFill>
                  <a:schemeClr val="tx1"/>
                </a:solidFill>
              </a:rPr>
              <a:t> relevantes para os criterios de auditoria; </a:t>
            </a:r>
            <a:r>
              <a:rPr lang="es-ES" altLang="pt-BR" dirty="0" err="1" smtClean="0">
                <a:solidFill>
                  <a:schemeClr val="tx1"/>
                </a:solidFill>
              </a:rPr>
              <a:t>são</a:t>
            </a:r>
            <a:r>
              <a:rPr lang="es-ES" altLang="pt-BR" dirty="0" smtClean="0">
                <a:solidFill>
                  <a:schemeClr val="tx1"/>
                </a:solidFill>
              </a:rPr>
              <a:t> </a:t>
            </a:r>
            <a:r>
              <a:rPr lang="es-ES" altLang="pt-BR" dirty="0" err="1">
                <a:solidFill>
                  <a:schemeClr val="tx1"/>
                </a:solidFill>
              </a:rPr>
              <a:t>verificáveis</a:t>
            </a:r>
            <a:r>
              <a:rPr lang="es-ES" altLang="pt-BR" dirty="0">
                <a:solidFill>
                  <a:schemeClr val="tx1"/>
                </a:solidFill>
              </a:rPr>
              <a:t>. </a:t>
            </a:r>
          </a:p>
          <a:p>
            <a:pPr lvl="2"/>
            <a:r>
              <a:rPr lang="es-ES" altLang="pt-BR" dirty="0">
                <a:solidFill>
                  <a:schemeClr val="tx1"/>
                </a:solidFill>
              </a:rPr>
              <a:t>A </a:t>
            </a:r>
            <a:r>
              <a:rPr lang="es-ES" altLang="pt-BR" dirty="0" err="1">
                <a:solidFill>
                  <a:schemeClr val="tx1"/>
                </a:solidFill>
              </a:rPr>
              <a:t>evidência</a:t>
            </a:r>
            <a:r>
              <a:rPr lang="es-ES" altLang="pt-BR" dirty="0">
                <a:solidFill>
                  <a:schemeClr val="tx1"/>
                </a:solidFill>
              </a:rPr>
              <a:t> de auditoria pode ser </a:t>
            </a:r>
            <a:r>
              <a:rPr lang="es-ES" altLang="pt-BR" dirty="0" err="1">
                <a:solidFill>
                  <a:schemeClr val="tx1"/>
                </a:solidFill>
              </a:rPr>
              <a:t>qualitativa</a:t>
            </a:r>
            <a:r>
              <a:rPr lang="es-ES" altLang="pt-BR" dirty="0">
                <a:solidFill>
                  <a:schemeClr val="tx1"/>
                </a:solidFill>
              </a:rPr>
              <a:t> </a:t>
            </a:r>
            <a:r>
              <a:rPr lang="es-ES" altLang="pt-BR" dirty="0" err="1">
                <a:solidFill>
                  <a:schemeClr val="tx1"/>
                </a:solidFill>
              </a:rPr>
              <a:t>ou</a:t>
            </a:r>
            <a:r>
              <a:rPr lang="es-ES" altLang="pt-BR" dirty="0">
                <a:solidFill>
                  <a:schemeClr val="tx1"/>
                </a:solidFill>
              </a:rPr>
              <a:t> </a:t>
            </a:r>
            <a:r>
              <a:rPr lang="es-ES" altLang="pt-BR" dirty="0" err="1">
                <a:solidFill>
                  <a:schemeClr val="tx1"/>
                </a:solidFill>
              </a:rPr>
              <a:t>quantitativa</a:t>
            </a:r>
            <a:r>
              <a:rPr lang="es-ES" altLang="pt-BR" dirty="0">
                <a:solidFill>
                  <a:schemeClr val="tx1"/>
                </a:solidFill>
              </a:rPr>
              <a:t>.</a:t>
            </a:r>
            <a:endParaRPr lang="pt-BR" altLang="pt-BR" dirty="0">
              <a:solidFill>
                <a:schemeClr val="tx1"/>
              </a:solidFill>
            </a:endParaRPr>
          </a:p>
          <a:p>
            <a:pPr lvl="1"/>
            <a:endParaRPr lang="pt-BR" dirty="0" smtClean="0">
              <a:solidFill>
                <a:schemeClr val="tx1"/>
              </a:solidFill>
            </a:endParaRPr>
          </a:p>
          <a:p>
            <a:pPr lvl="1"/>
            <a:r>
              <a:rPr lang="pt-BR" dirty="0" smtClean="0">
                <a:solidFill>
                  <a:schemeClr val="tx1"/>
                </a:solidFill>
              </a:rPr>
              <a:t>Confidencialidade</a:t>
            </a:r>
          </a:p>
          <a:p>
            <a:pPr lvl="2"/>
            <a:r>
              <a:rPr lang="es-ES" altLang="pt-BR" dirty="0" err="1" smtClean="0">
                <a:solidFill>
                  <a:schemeClr val="tx1"/>
                </a:solidFill>
              </a:rPr>
              <a:t>Obrigação</a:t>
            </a:r>
            <a:r>
              <a:rPr lang="es-ES" altLang="pt-BR" dirty="0" smtClean="0">
                <a:solidFill>
                  <a:schemeClr val="tx1"/>
                </a:solidFill>
              </a:rPr>
              <a:t> </a:t>
            </a:r>
            <a:r>
              <a:rPr lang="es-ES" altLang="pt-BR" dirty="0">
                <a:solidFill>
                  <a:schemeClr val="tx1"/>
                </a:solidFill>
              </a:rPr>
              <a:t>dos </a:t>
            </a:r>
            <a:r>
              <a:rPr lang="es-ES" altLang="pt-BR" dirty="0" err="1">
                <a:solidFill>
                  <a:schemeClr val="tx1"/>
                </a:solidFill>
              </a:rPr>
              <a:t>membros</a:t>
            </a:r>
            <a:r>
              <a:rPr lang="es-ES" altLang="pt-BR" dirty="0">
                <a:solidFill>
                  <a:schemeClr val="tx1"/>
                </a:solidFill>
              </a:rPr>
              <a:t> da Equipe Auditora de </a:t>
            </a:r>
            <a:r>
              <a:rPr lang="es-ES" altLang="pt-BR" dirty="0" err="1">
                <a:solidFill>
                  <a:schemeClr val="tx1"/>
                </a:solidFill>
              </a:rPr>
              <a:t>abster</a:t>
            </a:r>
            <a:r>
              <a:rPr lang="es-ES" altLang="pt-BR" dirty="0">
                <a:solidFill>
                  <a:schemeClr val="tx1"/>
                </a:solidFill>
              </a:rPr>
              <a:t>-se de divulgar verbal, escrita </a:t>
            </a:r>
            <a:r>
              <a:rPr lang="es-ES" altLang="pt-BR" dirty="0" err="1">
                <a:solidFill>
                  <a:schemeClr val="tx1"/>
                </a:solidFill>
              </a:rPr>
              <a:t>ou</a:t>
            </a:r>
            <a:r>
              <a:rPr lang="es-ES" altLang="pt-BR" dirty="0">
                <a:solidFill>
                  <a:schemeClr val="tx1"/>
                </a:solidFill>
              </a:rPr>
              <a:t> de </a:t>
            </a:r>
            <a:r>
              <a:rPr lang="es-ES" altLang="pt-BR" dirty="0" err="1">
                <a:solidFill>
                  <a:schemeClr val="tx1"/>
                </a:solidFill>
              </a:rPr>
              <a:t>qualquer</a:t>
            </a:r>
            <a:r>
              <a:rPr lang="es-ES" altLang="pt-BR" dirty="0">
                <a:solidFill>
                  <a:schemeClr val="tx1"/>
                </a:solidFill>
              </a:rPr>
              <a:t> </a:t>
            </a:r>
            <a:r>
              <a:rPr lang="es-ES" altLang="pt-BR" dirty="0" err="1">
                <a:solidFill>
                  <a:schemeClr val="tx1"/>
                </a:solidFill>
              </a:rPr>
              <a:t>outra</a:t>
            </a:r>
            <a:r>
              <a:rPr lang="es-ES" altLang="pt-BR" dirty="0">
                <a:solidFill>
                  <a:schemeClr val="tx1"/>
                </a:solidFill>
              </a:rPr>
              <a:t> forma, as </a:t>
            </a:r>
            <a:r>
              <a:rPr lang="es-ES" altLang="pt-BR" dirty="0" err="1">
                <a:solidFill>
                  <a:schemeClr val="tx1"/>
                </a:solidFill>
              </a:rPr>
              <a:t>informações</a:t>
            </a:r>
            <a:r>
              <a:rPr lang="es-ES" altLang="pt-BR" dirty="0">
                <a:solidFill>
                  <a:schemeClr val="tx1"/>
                </a:solidFill>
              </a:rPr>
              <a:t>, </a:t>
            </a:r>
            <a:r>
              <a:rPr lang="es-ES" altLang="pt-BR" dirty="0" err="1">
                <a:solidFill>
                  <a:schemeClr val="tx1"/>
                </a:solidFill>
              </a:rPr>
              <a:t>evidências</a:t>
            </a:r>
            <a:r>
              <a:rPr lang="es-ES" altLang="pt-BR" dirty="0">
                <a:solidFill>
                  <a:schemeClr val="tx1"/>
                </a:solidFill>
              </a:rPr>
              <a:t> e </a:t>
            </a:r>
            <a:r>
              <a:rPr lang="es-ES" altLang="pt-BR" dirty="0" err="1">
                <a:solidFill>
                  <a:schemeClr val="tx1"/>
                </a:solidFill>
              </a:rPr>
              <a:t>achados</a:t>
            </a:r>
            <a:r>
              <a:rPr lang="es-ES" altLang="pt-BR" dirty="0">
                <a:solidFill>
                  <a:schemeClr val="tx1"/>
                </a:solidFill>
              </a:rPr>
              <a:t> de auditoria </a:t>
            </a:r>
            <a:r>
              <a:rPr lang="es-ES" altLang="pt-BR" dirty="0" err="1">
                <a:solidFill>
                  <a:schemeClr val="tx1"/>
                </a:solidFill>
              </a:rPr>
              <a:t>obtidos</a:t>
            </a:r>
            <a:r>
              <a:rPr lang="es-ES" altLang="pt-BR" dirty="0">
                <a:solidFill>
                  <a:schemeClr val="tx1"/>
                </a:solidFill>
              </a:rPr>
              <a:t> antes, durante e </a:t>
            </a:r>
            <a:r>
              <a:rPr lang="es-ES" altLang="pt-BR" dirty="0" err="1">
                <a:solidFill>
                  <a:schemeClr val="tx1"/>
                </a:solidFill>
              </a:rPr>
              <a:t>depois</a:t>
            </a:r>
            <a:r>
              <a:rPr lang="es-ES" altLang="pt-BR" dirty="0">
                <a:solidFill>
                  <a:schemeClr val="tx1"/>
                </a:solidFill>
              </a:rPr>
              <a:t> da auditoria.</a:t>
            </a:r>
            <a:endParaRPr lang="pt-BR" altLang="pt-BR" dirty="0">
              <a:solidFill>
                <a:schemeClr val="tx1"/>
              </a:solidFill>
            </a:endParaRPr>
          </a:p>
          <a:p>
            <a:pPr lvl="1"/>
            <a:endParaRPr lang="pt-BR" dirty="0" smtClean="0">
              <a:solidFill>
                <a:schemeClr val="tx1"/>
              </a:solidFill>
            </a:endParaRPr>
          </a:p>
          <a:p>
            <a:pPr lvl="1"/>
            <a:r>
              <a:rPr lang="pt-BR" dirty="0" smtClean="0">
                <a:solidFill>
                  <a:schemeClr val="tx1"/>
                </a:solidFill>
              </a:rPr>
              <a:t>Objetivo da auditoria</a:t>
            </a:r>
          </a:p>
          <a:p>
            <a:pPr lvl="2"/>
            <a:r>
              <a:rPr lang="es-ES" altLang="pt-BR" dirty="0" smtClean="0">
                <a:solidFill>
                  <a:schemeClr val="tx1"/>
                </a:solidFill>
              </a:rPr>
              <a:t>É </a:t>
            </a:r>
            <a:r>
              <a:rPr lang="es-ES" altLang="pt-BR" dirty="0" err="1">
                <a:solidFill>
                  <a:schemeClr val="tx1"/>
                </a:solidFill>
              </a:rPr>
              <a:t>avaliar</a:t>
            </a:r>
            <a:r>
              <a:rPr lang="es-ES" altLang="pt-BR" dirty="0">
                <a:solidFill>
                  <a:schemeClr val="tx1"/>
                </a:solidFill>
              </a:rPr>
              <a:t> se a  </a:t>
            </a:r>
            <a:r>
              <a:rPr lang="es-ES" altLang="pt-BR" dirty="0" err="1">
                <a:solidFill>
                  <a:schemeClr val="tx1"/>
                </a:solidFill>
              </a:rPr>
              <a:t>estrutura</a:t>
            </a:r>
            <a:r>
              <a:rPr lang="es-ES" altLang="pt-BR" dirty="0">
                <a:solidFill>
                  <a:schemeClr val="tx1"/>
                </a:solidFill>
              </a:rPr>
              <a:t>, </a:t>
            </a:r>
            <a:r>
              <a:rPr lang="es-ES" altLang="pt-BR" dirty="0" err="1">
                <a:solidFill>
                  <a:schemeClr val="tx1"/>
                </a:solidFill>
              </a:rPr>
              <a:t>funcionamento</a:t>
            </a:r>
            <a:r>
              <a:rPr lang="es-ES" altLang="pt-BR" dirty="0">
                <a:solidFill>
                  <a:schemeClr val="tx1"/>
                </a:solidFill>
              </a:rPr>
              <a:t> e </a:t>
            </a:r>
            <a:r>
              <a:rPr lang="es-ES" altLang="pt-BR" dirty="0" smtClean="0">
                <a:solidFill>
                  <a:schemeClr val="tx1"/>
                </a:solidFill>
              </a:rPr>
              <a:t>procesos se </a:t>
            </a:r>
            <a:r>
              <a:rPr lang="es-ES" altLang="pt-BR" dirty="0" err="1" smtClean="0">
                <a:solidFill>
                  <a:schemeClr val="tx1"/>
                </a:solidFill>
              </a:rPr>
              <a:t>estão</a:t>
            </a:r>
            <a:r>
              <a:rPr lang="es-ES" altLang="pt-BR" dirty="0" smtClean="0">
                <a:solidFill>
                  <a:schemeClr val="tx1"/>
                </a:solidFill>
              </a:rPr>
              <a:t> </a:t>
            </a:r>
            <a:r>
              <a:rPr lang="es-ES" altLang="pt-BR" dirty="0" err="1" smtClean="0">
                <a:solidFill>
                  <a:schemeClr val="tx1"/>
                </a:solidFill>
              </a:rPr>
              <a:t>condizentes</a:t>
            </a:r>
            <a:r>
              <a:rPr lang="es-ES" altLang="pt-BR" dirty="0" smtClean="0">
                <a:solidFill>
                  <a:schemeClr val="tx1"/>
                </a:solidFill>
              </a:rPr>
              <a:t> </a:t>
            </a:r>
            <a:r>
              <a:rPr lang="es-ES" altLang="pt-BR" dirty="0" err="1" smtClean="0">
                <a:solidFill>
                  <a:schemeClr val="tx1"/>
                </a:solidFill>
              </a:rPr>
              <a:t>com</a:t>
            </a:r>
            <a:r>
              <a:rPr lang="es-ES" altLang="pt-BR" dirty="0" smtClean="0">
                <a:solidFill>
                  <a:schemeClr val="tx1"/>
                </a:solidFill>
              </a:rPr>
              <a:t> o </a:t>
            </a:r>
            <a:r>
              <a:rPr lang="es-ES" altLang="pt-BR" dirty="0" err="1" smtClean="0">
                <a:solidFill>
                  <a:schemeClr val="tx1"/>
                </a:solidFill>
              </a:rPr>
              <a:t>dia</a:t>
            </a:r>
            <a:r>
              <a:rPr lang="es-ES" altLang="pt-BR" dirty="0" smtClean="0">
                <a:solidFill>
                  <a:schemeClr val="tx1"/>
                </a:solidFill>
              </a:rPr>
              <a:t> a </a:t>
            </a:r>
            <a:r>
              <a:rPr lang="es-ES" altLang="pt-BR" dirty="0" err="1" smtClean="0">
                <a:solidFill>
                  <a:schemeClr val="tx1"/>
                </a:solidFill>
              </a:rPr>
              <a:t>dia</a:t>
            </a:r>
            <a:r>
              <a:rPr lang="es-ES" altLang="pt-BR" dirty="0" smtClean="0">
                <a:solidFill>
                  <a:schemeClr val="tx1"/>
                </a:solidFill>
              </a:rPr>
              <a:t>.</a:t>
            </a:r>
            <a:endParaRPr lang="pt-BR" dirty="0">
              <a:solidFill>
                <a:schemeClr val="tx1"/>
              </a:solidFill>
            </a:endParaRPr>
          </a:p>
          <a:p>
            <a:pPr lvl="1"/>
            <a:endParaRPr lang="pt-BR" dirty="0" smtClean="0">
              <a:solidFill>
                <a:schemeClr val="tx1"/>
              </a:solidFill>
            </a:endParaRPr>
          </a:p>
          <a:p>
            <a:pPr lvl="1"/>
            <a:r>
              <a:rPr lang="pt-BR" dirty="0" smtClean="0">
                <a:solidFill>
                  <a:schemeClr val="tx1"/>
                </a:solidFill>
              </a:rPr>
              <a:t>Ciclo da auditoria</a:t>
            </a:r>
          </a:p>
          <a:p>
            <a:pPr lvl="2"/>
            <a:r>
              <a:rPr lang="pt-BR" dirty="0" smtClean="0">
                <a:solidFill>
                  <a:schemeClr val="tx1"/>
                </a:solidFill>
              </a:rPr>
              <a:t>Planejamento ----</a:t>
            </a:r>
            <a:r>
              <a:rPr lang="pt-BR" dirty="0" smtClean="0">
                <a:solidFill>
                  <a:schemeClr val="tx1"/>
                </a:solidFill>
                <a:sym typeface="Wingdings" panose="05000000000000000000" pitchFamily="2" charset="2"/>
              </a:rPr>
              <a:t> Execução --- Relatório</a:t>
            </a:r>
            <a:endParaRPr lang="pt-BR" dirty="0" smtClean="0">
              <a:solidFill>
                <a:schemeClr val="tx1"/>
              </a:solidFill>
            </a:endParaRP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72</a:t>
            </a:fld>
            <a:endParaRPr lang="en-US" dirty="0"/>
          </a:p>
        </p:txBody>
      </p:sp>
    </p:spTree>
    <p:extLst>
      <p:ext uri="{BB962C8B-B14F-4D97-AF65-F5344CB8AC3E}">
        <p14:creationId xmlns:p14="http://schemas.microsoft.com/office/powerpoint/2010/main" val="23773064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NOTAS EXPLICATIVAS</a:t>
            </a:r>
            <a:endParaRPr lang="pt-BR" dirty="0"/>
          </a:p>
        </p:txBody>
      </p:sp>
      <p:sp>
        <p:nvSpPr>
          <p:cNvPr id="3" name="Espaço Reservado para Conteúdo 2"/>
          <p:cNvSpPr>
            <a:spLocks noGrp="1"/>
          </p:cNvSpPr>
          <p:nvPr>
            <p:ph idx="1"/>
          </p:nvPr>
        </p:nvSpPr>
        <p:spPr/>
        <p:txBody>
          <a:bodyPr>
            <a:normAutofit/>
          </a:bodyPr>
          <a:lstStyle/>
          <a:p>
            <a:r>
              <a:rPr lang="pt-BR" dirty="0" smtClean="0"/>
              <a:t>CONCEITO</a:t>
            </a:r>
          </a:p>
          <a:p>
            <a:pPr lvl="1"/>
            <a:r>
              <a:rPr lang="pt-BR" sz="1700" dirty="0"/>
              <a:t>As notas explicativas visam fornecer as informações necessárias para esclarecimento da situação patrimonial, ou seja, de determinada conta, saldo ou transação, ou de valores relativos aos resultados do exercício, ou para menção de fatos que podem alterar futuramente tal situação patrimonial.</a:t>
            </a:r>
          </a:p>
          <a:p>
            <a:pPr lvl="1"/>
            <a:endParaRPr lang="pt-BR" dirty="0" smtClean="0"/>
          </a:p>
          <a:p>
            <a:r>
              <a:rPr lang="pt-BR" dirty="0" smtClean="0"/>
              <a:t>EXEMPLO</a:t>
            </a:r>
          </a:p>
          <a:p>
            <a:pPr lvl="1"/>
            <a:r>
              <a:rPr lang="pt-BR" sz="1700" dirty="0" smtClean="0"/>
              <a:t>Nota 01 – Contexto operacional</a:t>
            </a:r>
          </a:p>
          <a:p>
            <a:pPr lvl="2">
              <a:spcBef>
                <a:spcPct val="20000"/>
              </a:spcBef>
              <a:defRPr/>
            </a:pPr>
            <a:r>
              <a:rPr lang="pt-BR" sz="1500" dirty="0" smtClean="0"/>
              <a:t>A </a:t>
            </a:r>
            <a:r>
              <a:rPr lang="pt-BR" sz="1500" dirty="0"/>
              <a:t>empresa X é uma sociedade empresária limitada, com sede na cidade de Porto Alegre, Estado do Rio Grande do Sul, Brasil, e tem como principais operações a fabricação </a:t>
            </a:r>
            <a:r>
              <a:rPr lang="pt-BR" sz="1500" dirty="0" smtClean="0"/>
              <a:t>e comercialização </a:t>
            </a:r>
            <a:r>
              <a:rPr lang="pt-BR" sz="1500" dirty="0"/>
              <a:t>de alimentos e bebidas em </a:t>
            </a:r>
            <a:r>
              <a:rPr lang="pt-BR" sz="1500" dirty="0" smtClean="0"/>
              <a:t>geral.</a:t>
            </a:r>
          </a:p>
          <a:p>
            <a:pPr lvl="1">
              <a:spcBef>
                <a:spcPct val="20000"/>
              </a:spcBef>
              <a:defRPr/>
            </a:pPr>
            <a:endParaRPr lang="pt-BR" sz="1700" dirty="0" smtClean="0"/>
          </a:p>
          <a:p>
            <a:pPr lvl="1">
              <a:spcBef>
                <a:spcPct val="20000"/>
              </a:spcBef>
              <a:defRPr/>
            </a:pPr>
            <a:r>
              <a:rPr lang="pt-BR" sz="1700" dirty="0" smtClean="0"/>
              <a:t>Nota </a:t>
            </a:r>
            <a:r>
              <a:rPr lang="pt-BR" sz="1700" dirty="0"/>
              <a:t>02 – Apresentação das demonstrações </a:t>
            </a:r>
            <a:r>
              <a:rPr lang="pt-BR" sz="1700" dirty="0" smtClean="0"/>
              <a:t>contábeis.</a:t>
            </a:r>
          </a:p>
          <a:p>
            <a:pPr lvl="2">
              <a:spcBef>
                <a:spcPct val="20000"/>
              </a:spcBef>
              <a:defRPr/>
            </a:pPr>
            <a:r>
              <a:rPr lang="pt-BR" sz="1500" dirty="0" smtClean="0"/>
              <a:t>As </a:t>
            </a:r>
            <a:r>
              <a:rPr lang="pt-BR" sz="1500" dirty="0"/>
              <a:t>demonstrações contábeis inerentes aos exercícios findos em 31 de dezembro de 2011 e 2010 estão sendo apresentadas em Reais (R$) e foram aprovadas pela administração no dia 10 de fevereiro de 2012.</a:t>
            </a:r>
          </a:p>
          <a:p>
            <a:pPr lvl="1">
              <a:spcBef>
                <a:spcPct val="20000"/>
              </a:spcBef>
              <a:defRPr/>
            </a:pPr>
            <a:endParaRPr lang="pt-BR" dirty="0"/>
          </a:p>
          <a:p>
            <a:pPr lvl="1"/>
            <a:endParaRPr lang="pt-BR" dirty="0" smtClean="0"/>
          </a:p>
          <a:p>
            <a:endParaRPr lang="pt-BR" dirty="0" smtClean="0"/>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73</a:t>
            </a:fld>
            <a:endParaRPr lang="en-US" dirty="0"/>
          </a:p>
        </p:txBody>
      </p:sp>
    </p:spTree>
    <p:extLst>
      <p:ext uri="{BB962C8B-B14F-4D97-AF65-F5344CB8AC3E}">
        <p14:creationId xmlns:p14="http://schemas.microsoft.com/office/powerpoint/2010/main" val="1983118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NOTAS EXPLICATIVAS</a:t>
            </a:r>
            <a:endParaRPr lang="pt-BR" dirty="0"/>
          </a:p>
        </p:txBody>
      </p:sp>
      <p:sp>
        <p:nvSpPr>
          <p:cNvPr id="3" name="Espaço Reservado para Conteúdo 2"/>
          <p:cNvSpPr>
            <a:spLocks noGrp="1"/>
          </p:cNvSpPr>
          <p:nvPr>
            <p:ph idx="1"/>
          </p:nvPr>
        </p:nvSpPr>
        <p:spPr/>
        <p:txBody>
          <a:bodyPr/>
          <a:lstStyle/>
          <a:p>
            <a:pPr lvl="1"/>
            <a:r>
              <a:rPr lang="pt-BR" dirty="0" smtClean="0"/>
              <a:t>As demonstrações contábeis foram elaboradas de acordo com as praticas contábeis adotadas no Brasil</a:t>
            </a:r>
            <a:r>
              <a:rPr lang="pt-BR" dirty="0"/>
              <a:t>, tomando-se como base a lei n°11.638/2007 e o pronunciamento técnico PME – Contabilidade para pequenas e médias Empresas, emitido pelo comitê de pronunciamentos contábeis - CPC e pelo Conselho Federal de Contabilidade – CFC, Resoluções CFC n° 750/1993, 1.255/2009 e 1.282/2010</a:t>
            </a:r>
            <a:r>
              <a:rPr lang="pt-BR" dirty="0" smtClean="0"/>
              <a:t>.</a:t>
            </a:r>
          </a:p>
          <a:p>
            <a:pPr lvl="1"/>
            <a:r>
              <a:rPr lang="pt-BR" dirty="0"/>
              <a:t>Para fins de atendimento dos usuários da informação contábil, a entidade deverá apresentar suas demonstrações contábeis (também usualmente denominada "demonstrações financeiras") de acordo com as normas regulamentares dos órgãos normativos.</a:t>
            </a:r>
          </a:p>
          <a:p>
            <a:pPr lvl="1"/>
            <a:r>
              <a:rPr lang="pt-BR" dirty="0"/>
              <a:t>Segundo o IBRACON (NPC 27), "as demonstrações contábeis são uma representação monetária estruturada da posição patrimonial e financeira em determinada data e das transações realizadas por uma entidade no período findo nessa data.</a:t>
            </a:r>
            <a:endParaRPr lang="pt-BR" sz="1200" dirty="0"/>
          </a:p>
          <a:p>
            <a:pPr lvl="1"/>
            <a:endParaRPr lang="pt-BR" dirty="0"/>
          </a:p>
          <a:p>
            <a:pPr lvl="1"/>
            <a:endParaRPr lang="pt-BR" dirty="0"/>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74</a:t>
            </a:fld>
            <a:endParaRPr lang="en-US" dirty="0"/>
          </a:p>
        </p:txBody>
      </p:sp>
    </p:spTree>
    <p:extLst>
      <p:ext uri="{BB962C8B-B14F-4D97-AF65-F5344CB8AC3E}">
        <p14:creationId xmlns:p14="http://schemas.microsoft.com/office/powerpoint/2010/main" val="31882004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NOTAS EXPLICATIVAS</a:t>
            </a:r>
            <a:endParaRPr lang="pt-BR" dirty="0"/>
          </a:p>
        </p:txBody>
      </p:sp>
      <p:sp>
        <p:nvSpPr>
          <p:cNvPr id="3" name="Espaço Reservado para Conteúdo 2"/>
          <p:cNvSpPr>
            <a:spLocks noGrp="1"/>
          </p:cNvSpPr>
          <p:nvPr>
            <p:ph idx="1"/>
          </p:nvPr>
        </p:nvSpPr>
        <p:spPr/>
        <p:txBody>
          <a:bodyPr/>
          <a:lstStyle/>
          <a:p>
            <a:r>
              <a:rPr lang="pt-BR" dirty="0" smtClean="0"/>
              <a:t>OBJETIVO</a:t>
            </a:r>
          </a:p>
          <a:p>
            <a:pPr lvl="1"/>
            <a:r>
              <a:rPr lang="pt-BR" dirty="0"/>
              <a:t>A publicação é um dos objetivos básicos da Nota Explicativa no Mercado de Capitais, para que se possa garantir a todos os tipos de usuários as informações completas e confiáveis sobre a situação financeira e os resultados da companhia. As notas explicativas que integram as demonstrações contábeis devem apresentar informações quantitativas e qualitativas de maneira ordenada e clara para que seja exaurida a capacidade de comunicar aspectos relevantes do conteúdo apresentado nas demonstrações </a:t>
            </a:r>
            <a:r>
              <a:rPr lang="pt-BR" dirty="0" smtClean="0"/>
              <a:t>contábeis</a:t>
            </a:r>
          </a:p>
          <a:p>
            <a:pPr lvl="1"/>
            <a:r>
              <a:rPr lang="pt-BR" dirty="0"/>
              <a:t>A norma internacional (parágrafo 91 do IAS 1. revisada em 1997) estabeleceu os seguintes objetivos para as notas explicativas: </a:t>
            </a:r>
            <a:endParaRPr lang="pt-BR" dirty="0" smtClean="0"/>
          </a:p>
          <a:p>
            <a:pPr lvl="2"/>
            <a:r>
              <a:rPr lang="pt-BR" dirty="0" smtClean="0"/>
              <a:t>Apresentar </a:t>
            </a:r>
            <a:r>
              <a:rPr lang="pt-BR" dirty="0"/>
              <a:t>informações sobre os critérios que suportam a preparação das demonstrações contábeis e das políticas contábeis específicas, selecionadas e aplicadas para transações e eventos significativos; </a:t>
            </a:r>
          </a:p>
          <a:p>
            <a:pPr lvl="2"/>
            <a:r>
              <a:rPr lang="pt-BR" dirty="0" smtClean="0"/>
              <a:t>Divulgar </a:t>
            </a:r>
            <a:r>
              <a:rPr lang="pt-BR" dirty="0"/>
              <a:t>as informações adicionais que não são apresentadas em nenhum outro lugar das demonstrações contábeis; </a:t>
            </a:r>
            <a:endParaRPr lang="pt-BR" dirty="0" smtClean="0"/>
          </a:p>
          <a:p>
            <a:pPr lvl="2"/>
            <a:r>
              <a:rPr lang="pt-BR" dirty="0"/>
              <a:t>Fornecer informações adicionais que não são apresentadas nas próprias demonstrações contábeis, mas que são consideradas necessárias para uma apresentação adequada. </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75</a:t>
            </a:fld>
            <a:endParaRPr lang="en-US" dirty="0"/>
          </a:p>
        </p:txBody>
      </p:sp>
    </p:spTree>
    <p:extLst>
      <p:ext uri="{BB962C8B-B14F-4D97-AF65-F5344CB8AC3E}">
        <p14:creationId xmlns:p14="http://schemas.microsoft.com/office/powerpoint/2010/main" val="1262092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NOTAS EXPLICATIVAS</a:t>
            </a:r>
            <a:endParaRPr lang="pt-BR" dirty="0"/>
          </a:p>
        </p:txBody>
      </p:sp>
      <p:sp>
        <p:nvSpPr>
          <p:cNvPr id="3" name="Espaço Reservado para Conteúdo 2"/>
          <p:cNvSpPr>
            <a:spLocks noGrp="1"/>
          </p:cNvSpPr>
          <p:nvPr>
            <p:ph idx="1"/>
          </p:nvPr>
        </p:nvSpPr>
        <p:spPr/>
        <p:txBody>
          <a:bodyPr/>
          <a:lstStyle/>
          <a:p>
            <a:r>
              <a:rPr lang="pt-BR" dirty="0"/>
              <a:t>FINALIDADE DAS NOTAS</a:t>
            </a:r>
          </a:p>
          <a:p>
            <a:pPr lvl="1"/>
            <a:r>
              <a:rPr lang="pt-BR" dirty="0"/>
              <a:t>A finalidade maior da Nota Explicativa é prover seus usuários das informações necessárias à gestão empresarial interna e externa. Desta forma, a informação contábil deveria ser o vértice da tomada de decisões numa organização, ensejando alto grau de especialização para os fins a que atende. </a:t>
            </a:r>
          </a:p>
          <a:p>
            <a:pPr lvl="1"/>
            <a:r>
              <a:rPr lang="pt-BR" dirty="0"/>
              <a:t>Se a contabilidade, todavia, fosse atender a modelos de decisão diferenciados por usuário, o custo da informação seria bastante onerado, o que não sugere, porém, que não criemos modelos decisórios. </a:t>
            </a:r>
          </a:p>
          <a:p>
            <a:endParaRPr lang="pt-BR" dirty="0" smtClean="0"/>
          </a:p>
          <a:p>
            <a:r>
              <a:rPr lang="pt-BR" dirty="0" smtClean="0"/>
              <a:t>ITEM IMPORTANTE</a:t>
            </a:r>
          </a:p>
          <a:p>
            <a:pPr lvl="1"/>
            <a:r>
              <a:rPr lang="pt-BR" dirty="0" smtClean="0"/>
              <a:t>As demonstrações financeiras das companhias abertas serão obrigatoriamente auditadas por auditores independentes, registrados na CVM.</a:t>
            </a:r>
          </a:p>
          <a:p>
            <a:pPr lvl="1"/>
            <a:r>
              <a:rPr lang="pt-BR" dirty="0" smtClean="0"/>
              <a:t>Temos dois tipos de auditores.</a:t>
            </a:r>
          </a:p>
          <a:p>
            <a:pPr lvl="2"/>
            <a:r>
              <a:rPr lang="pt-BR" dirty="0" smtClean="0"/>
              <a:t>Auditores externos: são auditores independentes da empresa que estão auditando.</a:t>
            </a:r>
          </a:p>
          <a:p>
            <a:pPr lvl="2"/>
            <a:r>
              <a:rPr lang="pt-BR" dirty="0" smtClean="0"/>
              <a:t>Auditores internos: são auditores que são empregados das empresa, e tem a função de auditar os eventos contábeis conforme procedimentos da companhia. Eles não podem emitir uma nota explicativa para a publicação de demonstrações.</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76</a:t>
            </a:fld>
            <a:endParaRPr lang="en-US" dirty="0"/>
          </a:p>
        </p:txBody>
      </p:sp>
    </p:spTree>
    <p:extLst>
      <p:ext uri="{BB962C8B-B14F-4D97-AF65-F5344CB8AC3E}">
        <p14:creationId xmlns:p14="http://schemas.microsoft.com/office/powerpoint/2010/main" val="38684797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NOTAS EXPLICATIVAS</a:t>
            </a:r>
            <a:endParaRPr lang="pt-BR" dirty="0"/>
          </a:p>
        </p:txBody>
      </p:sp>
      <p:sp>
        <p:nvSpPr>
          <p:cNvPr id="3" name="Espaço Reservado para Conteúdo 2"/>
          <p:cNvSpPr>
            <a:spLocks noGrp="1"/>
          </p:cNvSpPr>
          <p:nvPr>
            <p:ph idx="1"/>
          </p:nvPr>
        </p:nvSpPr>
        <p:spPr/>
        <p:txBody>
          <a:bodyPr>
            <a:normAutofit/>
          </a:bodyPr>
          <a:lstStyle/>
          <a:p>
            <a:r>
              <a:rPr lang="pt-BR" dirty="0"/>
              <a:t>A função deste complemento é dar informações que venham a suprir dúvidas quanto às operações que a empresa tenha feito durante o ano. Mas com o advento das Leis 11.638/07 e 11.941/09, as </a:t>
            </a:r>
            <a:r>
              <a:rPr lang="pt-BR" dirty="0" smtClean="0"/>
              <a:t>notas explicativas passaram </a:t>
            </a:r>
            <a:r>
              <a:rPr lang="pt-BR" dirty="0"/>
              <a:t>a ter maior importância para o conjunto de demonstrações contábeis, devido à convergência das normas brasileiras </a:t>
            </a:r>
            <a:r>
              <a:rPr lang="pt-BR" dirty="0" smtClean="0"/>
              <a:t>de contabilidade para </a:t>
            </a:r>
            <a:r>
              <a:rPr lang="pt-BR" dirty="0"/>
              <a:t>os padrões internacionais </a:t>
            </a:r>
            <a:r>
              <a:rPr lang="pt-BR" dirty="0" smtClean="0"/>
              <a:t>do IFRS, onde </a:t>
            </a:r>
            <a:r>
              <a:rPr lang="pt-BR" dirty="0"/>
              <a:t>se contempla </a:t>
            </a:r>
            <a:r>
              <a:rPr lang="pt-BR" dirty="0" smtClean="0"/>
              <a:t>a contabilidade societária. </a:t>
            </a:r>
            <a:r>
              <a:rPr lang="pt-BR" dirty="0"/>
              <a:t>Conforme redação dada pela Lei 11.941/09 ao artigo 176 § 5º da Lei das S/A, as informações que devem constar </a:t>
            </a:r>
            <a:r>
              <a:rPr lang="pt-BR" dirty="0" smtClean="0"/>
              <a:t>nas notas explicativas são:</a:t>
            </a:r>
          </a:p>
          <a:p>
            <a:pPr lvl="1"/>
            <a:r>
              <a:rPr lang="pt-BR" dirty="0" smtClean="0"/>
              <a:t>I </a:t>
            </a:r>
            <a:r>
              <a:rPr lang="pt-BR" dirty="0"/>
              <a:t>– apresentar informações sobre a base de preparação das demonstrações financeiras e das práticas contábeis específicas selecionadas e aplicadas para negócios e eventos significativos; (Incluído pela Lei nº 11.941, de </a:t>
            </a:r>
            <a:r>
              <a:rPr lang="pt-BR" dirty="0" smtClean="0"/>
              <a:t>2009)</a:t>
            </a:r>
          </a:p>
          <a:p>
            <a:pPr lvl="1"/>
            <a:r>
              <a:rPr lang="pt-BR" dirty="0" smtClean="0"/>
              <a:t>II </a:t>
            </a:r>
            <a:r>
              <a:rPr lang="pt-BR" dirty="0"/>
              <a:t>– divulgar as informações exigidas pelas práticas contábeis adotadas no Brasil que não estejam apresentadas em nenhuma outra parte das demonstrações financeiras; (Incluído pela Lei nº 11.941, de </a:t>
            </a:r>
            <a:r>
              <a:rPr lang="pt-BR" dirty="0" smtClean="0"/>
              <a:t>2009)</a:t>
            </a:r>
          </a:p>
          <a:p>
            <a:pPr lvl="1"/>
            <a:r>
              <a:rPr lang="pt-BR" dirty="0" smtClean="0"/>
              <a:t>III </a:t>
            </a:r>
            <a:r>
              <a:rPr lang="pt-BR" dirty="0"/>
              <a:t>– fornecer informações adicionais não indicadas nas próprias demonstrações financeiras e consideradas necessárias para uma apresentação adequada; e (Incluído pela Lei nº 11.941, de 2009)</a:t>
            </a:r>
            <a:br>
              <a:rPr lang="pt-BR" dirty="0"/>
            </a:br>
            <a:r>
              <a:rPr lang="pt-BR" dirty="0"/>
              <a:t>IV – indicar: (Incluído pela Lei nº 11.941, de 2009)</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77</a:t>
            </a:fld>
            <a:endParaRPr lang="en-US" dirty="0"/>
          </a:p>
        </p:txBody>
      </p:sp>
    </p:spTree>
    <p:extLst>
      <p:ext uri="{BB962C8B-B14F-4D97-AF65-F5344CB8AC3E}">
        <p14:creationId xmlns:p14="http://schemas.microsoft.com/office/powerpoint/2010/main" val="17477774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NOTAS EXPLICATIVAS</a:t>
            </a:r>
          </a:p>
        </p:txBody>
      </p:sp>
      <p:sp>
        <p:nvSpPr>
          <p:cNvPr id="3" name="Espaço Reservado para Conteúdo 2"/>
          <p:cNvSpPr>
            <a:spLocks noGrp="1"/>
          </p:cNvSpPr>
          <p:nvPr>
            <p:ph idx="1"/>
          </p:nvPr>
        </p:nvSpPr>
        <p:spPr/>
        <p:txBody>
          <a:bodyPr>
            <a:normAutofit fontScale="92500" lnSpcReduction="20000"/>
          </a:bodyPr>
          <a:lstStyle/>
          <a:p>
            <a:r>
              <a:rPr lang="pt-BR" dirty="0"/>
              <a:t>a) os principais critérios de avaliação dos elementos patrimoniais, especialmente estoques, dos cálculos de </a:t>
            </a:r>
            <a:r>
              <a:rPr lang="pt-BR" dirty="0" smtClean="0"/>
              <a:t>depreciação,</a:t>
            </a:r>
            <a:r>
              <a:rPr lang="pt-BR" dirty="0"/>
              <a:t> amortização e exaustão, de constituição de provisões para encargos ou riscos, e dos ajustes para atender a perdas prováveis na realização de elementos do ativo; (Incluído pela Lei nº 11.941, de </a:t>
            </a:r>
            <a:r>
              <a:rPr lang="pt-BR" dirty="0" smtClean="0"/>
              <a:t>2009)</a:t>
            </a:r>
          </a:p>
          <a:p>
            <a:r>
              <a:rPr lang="pt-BR" dirty="0" smtClean="0"/>
              <a:t>b</a:t>
            </a:r>
            <a:r>
              <a:rPr lang="pt-BR" dirty="0"/>
              <a:t>) os investimentos em outras sociedades, quando relevantes (art. 247, parágrafo único); (Incluído pela Lei nº 11.941, de </a:t>
            </a:r>
            <a:r>
              <a:rPr lang="pt-BR" dirty="0" smtClean="0"/>
              <a:t>2009)</a:t>
            </a:r>
          </a:p>
          <a:p>
            <a:r>
              <a:rPr lang="pt-BR" dirty="0" smtClean="0"/>
              <a:t>c</a:t>
            </a:r>
            <a:r>
              <a:rPr lang="pt-BR" dirty="0"/>
              <a:t>) o aumento de valor de elementos do ativo resultante de novas avaliações (art. 182, § 3o ); (Incluído pela Lei nº 11.941, de </a:t>
            </a:r>
            <a:r>
              <a:rPr lang="pt-BR" dirty="0" smtClean="0"/>
              <a:t>2009)</a:t>
            </a:r>
          </a:p>
          <a:p>
            <a:r>
              <a:rPr lang="pt-BR" dirty="0" smtClean="0"/>
              <a:t>d</a:t>
            </a:r>
            <a:r>
              <a:rPr lang="pt-BR" dirty="0"/>
              <a:t>) os ônus reais constituídos sobre elementos do ativo, as garantias prestadas a terceiros e outras responsabilidades eventuais ou contingentes; (Incluído pela Lei nº 11.941, de </a:t>
            </a:r>
            <a:r>
              <a:rPr lang="pt-BR" dirty="0" smtClean="0"/>
              <a:t>2009)</a:t>
            </a:r>
          </a:p>
          <a:p>
            <a:r>
              <a:rPr lang="pt-BR" dirty="0" smtClean="0"/>
              <a:t>e</a:t>
            </a:r>
            <a:r>
              <a:rPr lang="pt-BR" dirty="0"/>
              <a:t>) a taxa </a:t>
            </a:r>
            <a:r>
              <a:rPr lang="pt-BR" dirty="0" smtClean="0"/>
              <a:t>de juros, as </a:t>
            </a:r>
            <a:r>
              <a:rPr lang="pt-BR" dirty="0"/>
              <a:t>datas de vencimento e as garantias das obrigações a longo prazo; (Incluído pela Lei nº 11.941, de </a:t>
            </a:r>
            <a:r>
              <a:rPr lang="pt-BR" dirty="0" smtClean="0"/>
              <a:t>2009)</a:t>
            </a:r>
          </a:p>
          <a:p>
            <a:r>
              <a:rPr lang="pt-BR" dirty="0" smtClean="0"/>
              <a:t>f</a:t>
            </a:r>
            <a:r>
              <a:rPr lang="pt-BR" dirty="0"/>
              <a:t>) o número, espécies e classes das ações do capital social; (Incluído pela Lei nº 11.941, de </a:t>
            </a:r>
            <a:r>
              <a:rPr lang="pt-BR" dirty="0" smtClean="0"/>
              <a:t>2009)</a:t>
            </a:r>
          </a:p>
          <a:p>
            <a:r>
              <a:rPr lang="pt-BR" dirty="0" smtClean="0"/>
              <a:t>g</a:t>
            </a:r>
            <a:r>
              <a:rPr lang="pt-BR" dirty="0"/>
              <a:t>) as opções de compra de ações outorgadas e exercidas no exercício; (Incluído pela Lei nº 11.941, de </a:t>
            </a:r>
            <a:r>
              <a:rPr lang="pt-BR" dirty="0" smtClean="0"/>
              <a:t>2009)</a:t>
            </a:r>
          </a:p>
          <a:p>
            <a:r>
              <a:rPr lang="pt-BR" dirty="0" smtClean="0"/>
              <a:t>h</a:t>
            </a:r>
            <a:r>
              <a:rPr lang="pt-BR" dirty="0"/>
              <a:t>) os ajustes de exercícios anteriores (art. 186, § 1o); e (Incluído pela Lei nº 11.941, de </a:t>
            </a:r>
            <a:r>
              <a:rPr lang="pt-BR" dirty="0" smtClean="0"/>
              <a:t>2009)</a:t>
            </a:r>
          </a:p>
          <a:p>
            <a:r>
              <a:rPr lang="pt-BR" dirty="0" smtClean="0"/>
              <a:t>i</a:t>
            </a:r>
            <a:r>
              <a:rPr lang="pt-BR" dirty="0"/>
              <a:t>) os eventos subsequentes à data de encerramento do exercício que tenham, ou possam vir a ter, efeito relevante sobre a situação financeira e os resultados futuros da companhia. (Incluído pela Lei nº 11.941, de </a:t>
            </a:r>
            <a:r>
              <a:rPr lang="pt-BR" dirty="0" smtClean="0"/>
              <a:t>2009)1</a:t>
            </a:r>
          </a:p>
        </p:txBody>
      </p:sp>
      <p:sp>
        <p:nvSpPr>
          <p:cNvPr id="4" name="Espaço Reservado para Número de Slide 3"/>
          <p:cNvSpPr>
            <a:spLocks noGrp="1"/>
          </p:cNvSpPr>
          <p:nvPr>
            <p:ph type="sldNum" sz="quarter" idx="12"/>
          </p:nvPr>
        </p:nvSpPr>
        <p:spPr/>
        <p:txBody>
          <a:bodyPr/>
          <a:lstStyle/>
          <a:p>
            <a:fld id="{D57F1E4F-1CFF-5643-939E-217C01CDF565}" type="slidenum">
              <a:rPr lang="en-US" smtClean="0"/>
              <a:pPr/>
              <a:t>78</a:t>
            </a:fld>
            <a:endParaRPr lang="en-US" dirty="0"/>
          </a:p>
        </p:txBody>
      </p:sp>
    </p:spTree>
    <p:extLst>
      <p:ext uri="{BB962C8B-B14F-4D97-AF65-F5344CB8AC3E}">
        <p14:creationId xmlns:p14="http://schemas.microsoft.com/office/powerpoint/2010/main" val="3772540105"/>
      </p:ext>
    </p:extLst>
  </p:cSld>
  <p:clrMapOvr>
    <a:masterClrMapping/>
  </p:clrMapOvr>
</p:sld>
</file>

<file path=ppt/theme/theme1.xml><?xml version="1.0" encoding="utf-8"?>
<a:theme xmlns:a="http://schemas.openxmlformats.org/drawingml/2006/main" name="Cacho">
  <a:themeElements>
    <a:clrScheme name="Personalizada 6">
      <a:dk1>
        <a:sysClr val="windowText" lastClr="000000"/>
      </a:dk1>
      <a:lt1>
        <a:sysClr val="window" lastClr="FFFFFF"/>
      </a:lt1>
      <a:dk2>
        <a:srgbClr val="FFFFFF"/>
      </a:dk2>
      <a:lt2>
        <a:srgbClr val="FFFFF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1940</TotalTime>
  <Words>6223</Words>
  <Application>Microsoft Office PowerPoint</Application>
  <PresentationFormat>Personalizar</PresentationFormat>
  <Paragraphs>689</Paragraphs>
  <Slides>78</Slides>
  <Notes>1</Notes>
  <HiddenSlides>0</HiddenSlides>
  <MMClips>0</MMClips>
  <ScaleCrop>false</ScaleCrop>
  <HeadingPairs>
    <vt:vector size="6" baseType="variant">
      <vt:variant>
        <vt:lpstr>Tema</vt:lpstr>
      </vt:variant>
      <vt:variant>
        <vt:i4>1</vt:i4>
      </vt:variant>
      <vt:variant>
        <vt:lpstr>Servidores OLE incorporados</vt:lpstr>
      </vt:variant>
      <vt:variant>
        <vt:i4>1</vt:i4>
      </vt:variant>
      <vt:variant>
        <vt:lpstr>Títulos de slides</vt:lpstr>
      </vt:variant>
      <vt:variant>
        <vt:i4>78</vt:i4>
      </vt:variant>
    </vt:vector>
  </HeadingPairs>
  <TitlesOfParts>
    <vt:vector size="80" baseType="lpstr">
      <vt:lpstr>Cacho</vt:lpstr>
      <vt:lpstr>Imagem de Bitmap</vt:lpstr>
      <vt:lpstr>ESTRUTURA DAS DEMONSTRAÇÕES CONTÁBEIS II  Parte 1 – 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DEMONSTRAÇÃO DO FLUXO DE CAIXA</vt:lpstr>
      <vt:lpstr>ESTRUTURA DAS DEMONSTRAÇÕES CONTÁBEIS II  Parte 2 – Demonstração do Resultado Abrangente</vt:lpstr>
      <vt:lpstr>DEMONSTRAÇÃO DO RESULTADO ABRANGENTE</vt:lpstr>
      <vt:lpstr>DEMONSTRAÇÃO DO RESULTADO ABRANGENTE</vt:lpstr>
      <vt:lpstr>DEMONSTRAÇÃO DO RESULTADO ABRANGENTE</vt:lpstr>
      <vt:lpstr>DEMONSTRAÇÃO DO RESULTADO ABRANGENTE</vt:lpstr>
      <vt:lpstr>DEMONSTRAÇÃO DO RESULTADO ABRANGENTE</vt:lpstr>
      <vt:lpstr>DEMONSTRAÇÃO DO RESULTADO ABRANGENTE</vt:lpstr>
      <vt:lpstr>DEMONSTRAÇÃO DO RESULTADO ABRANGENTE</vt:lpstr>
      <vt:lpstr>ESTRUTURA DAS DEMONSTRAÇÕES CONTÁBEIS II  Parte 3 – Demonstração do Valor Adicionado</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DEMONSTRAÇÃO DO VALOR ADICIONADO – DVA</vt:lpstr>
      <vt:lpstr>ESTRUTURA DAS DEMONSTRAÇÕES CONTÁBEIS II</vt:lpstr>
      <vt:lpstr>NOTAS EXPLICATIVAS</vt:lpstr>
      <vt:lpstr>NOTAS EXPLICATIVAS</vt:lpstr>
      <vt:lpstr>NOTAS EXPLICATIVAS</vt:lpstr>
      <vt:lpstr>NOTAS EXPLICATIVAS</vt:lpstr>
      <vt:lpstr>NOTAS EXPLICATIVAS</vt:lpstr>
      <vt:lpstr>NOTAS EXPLICATIVAS</vt:lpstr>
      <vt:lpstr>NOTAS EXPLICATIVAS</vt:lpstr>
      <vt:lpstr>NOTAS EXPLICATIVAS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DEMONSTRAÇÕES CONTÁBEIS II</dc:title>
  <dc:creator>Emerson</dc:creator>
  <cp:lastModifiedBy>User</cp:lastModifiedBy>
  <cp:revision>96</cp:revision>
  <dcterms:created xsi:type="dcterms:W3CDTF">2015-08-03T19:53:53Z</dcterms:created>
  <dcterms:modified xsi:type="dcterms:W3CDTF">2017-10-23T23:10:13Z</dcterms:modified>
</cp:coreProperties>
</file>