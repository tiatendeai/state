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8" r:id="rId2"/>
    <p:sldId id="264" r:id="rId3"/>
    <p:sldId id="374" r:id="rId4"/>
    <p:sldId id="375" r:id="rId5"/>
    <p:sldId id="376" r:id="rId6"/>
    <p:sldId id="377" r:id="rId7"/>
    <p:sldId id="378" r:id="rId8"/>
    <p:sldId id="379" r:id="rId9"/>
    <p:sldId id="380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09" autoAdjust="0"/>
    <p:restoredTop sz="94629" autoAdjust="0"/>
  </p:normalViewPr>
  <p:slideViewPr>
    <p:cSldViewPr>
      <p:cViewPr varScale="1">
        <p:scale>
          <a:sx n="39" d="100"/>
          <a:sy n="39" d="100"/>
        </p:scale>
        <p:origin x="-102" y="-7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D8247DB-14D6-402D-A9A1-2A8682663704}" type="datetimeFigureOut">
              <a:rPr lang="pt-BR" smtClean="0"/>
              <a:t>17/07/2018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Intensivo de ICMS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endParaRPr lang="pt-BR" sz="4600" b="1" dirty="0" smtClean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ctr">
              <a:buNone/>
            </a:pPr>
            <a:r>
              <a:rPr lang="pt-BR" sz="46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PARTE 4</a:t>
            </a:r>
            <a:endParaRPr lang="pt-BR" sz="46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ctr">
              <a:buNone/>
            </a:pPr>
            <a:r>
              <a:rPr lang="pt-BR" sz="30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Crédito de ICMS e</a:t>
            </a:r>
          </a:p>
          <a:p>
            <a:pPr marL="45720" indent="0" algn="ctr">
              <a:buNone/>
            </a:pPr>
            <a:r>
              <a:rPr lang="pt-BR" sz="30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DIFAL</a:t>
            </a:r>
            <a:endParaRPr lang="pt-BR" sz="30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sz="1600" dirty="0"/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21480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48. </a:t>
            </a:r>
            <a:r>
              <a:rPr lang="pt-BR" b="1" dirty="0">
                <a:solidFill>
                  <a:srgbClr val="0000FF"/>
                </a:solidFill>
              </a:rPr>
              <a:t>É</a:t>
            </a:r>
            <a:r>
              <a:rPr lang="pt-BR" b="1" dirty="0" smtClean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devido ao Distrito Federal o imposto correspondente </a:t>
            </a:r>
            <a:r>
              <a:rPr lang="pt-BR" b="1" dirty="0" smtClean="0">
                <a:solidFill>
                  <a:srgbClr val="0000FF"/>
                </a:solidFill>
              </a:rPr>
              <a:t>à diferença </a:t>
            </a:r>
            <a:r>
              <a:rPr lang="pt-BR" b="1" dirty="0">
                <a:solidFill>
                  <a:srgbClr val="0000FF"/>
                </a:solidFill>
              </a:rPr>
              <a:t>entre a </a:t>
            </a:r>
            <a:r>
              <a:rPr lang="pt-BR" b="1" dirty="0" smtClean="0">
                <a:solidFill>
                  <a:srgbClr val="0000FF"/>
                </a:solidFill>
              </a:rPr>
              <a:t>alíquota </a:t>
            </a:r>
            <a:r>
              <a:rPr lang="pt-BR" b="1" dirty="0">
                <a:solidFill>
                  <a:srgbClr val="0000FF"/>
                </a:solidFill>
              </a:rPr>
              <a:t>interna desta Unidade Federada e a interestadual</a:t>
            </a:r>
            <a:r>
              <a:rPr lang="pt-BR" dirty="0"/>
              <a:t>, nas </a:t>
            </a:r>
            <a:r>
              <a:rPr lang="pt-BR" dirty="0" smtClean="0"/>
              <a:t>operações </a:t>
            </a:r>
            <a:r>
              <a:rPr lang="pt-BR" dirty="0"/>
              <a:t>e </a:t>
            </a:r>
            <a:r>
              <a:rPr lang="pt-BR" dirty="0" smtClean="0"/>
              <a:t>prestações </a:t>
            </a:r>
            <a:r>
              <a:rPr lang="pt-BR" dirty="0"/>
              <a:t>interestaduais que destinem: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</a:t>
            </a:r>
            <a:r>
              <a:rPr lang="pt-BR" b="1" dirty="0">
                <a:solidFill>
                  <a:srgbClr val="0000FF"/>
                </a:solidFill>
              </a:rPr>
              <a:t>bens ou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>
                <a:solidFill>
                  <a:srgbClr val="0000FF"/>
                </a:solidFill>
              </a:rPr>
              <a:t>a contribuinte do imposto </a:t>
            </a:r>
            <a:r>
              <a:rPr lang="pt-BR" dirty="0"/>
              <a:t>definido neste Regulamento, estabelecido no Distrito Federal, </a:t>
            </a:r>
            <a:r>
              <a:rPr lang="pt-BR" b="1" dirty="0">
                <a:solidFill>
                  <a:srgbClr val="0000FF"/>
                </a:solidFill>
              </a:rPr>
              <a:t>na </a:t>
            </a:r>
            <a:r>
              <a:rPr lang="pt-BR" b="1" dirty="0" smtClean="0">
                <a:solidFill>
                  <a:srgbClr val="0000FF"/>
                </a:solidFill>
              </a:rPr>
              <a:t>condição </a:t>
            </a:r>
            <a:r>
              <a:rPr lang="pt-BR" b="1" dirty="0">
                <a:solidFill>
                  <a:srgbClr val="0000FF"/>
                </a:solidFill>
              </a:rPr>
              <a:t>de consumidor ou </a:t>
            </a:r>
            <a:r>
              <a:rPr lang="pt-BR" b="1" dirty="0" smtClean="0">
                <a:solidFill>
                  <a:srgbClr val="0000FF"/>
                </a:solidFill>
              </a:rPr>
              <a:t>usuário </a:t>
            </a:r>
            <a:r>
              <a:rPr lang="pt-BR" b="1" dirty="0">
                <a:solidFill>
                  <a:srgbClr val="0000FF"/>
                </a:solidFill>
              </a:rPr>
              <a:t>final</a:t>
            </a:r>
            <a:r>
              <a:rPr lang="pt-BR" dirty="0"/>
              <a:t>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</a:t>
            </a:r>
            <a:r>
              <a:rPr lang="pt-BR" b="1" dirty="0">
                <a:solidFill>
                  <a:srgbClr val="0000FF"/>
                </a:solidFill>
              </a:rPr>
              <a:t>bens ou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>
                <a:solidFill>
                  <a:srgbClr val="0000FF"/>
                </a:solidFill>
              </a:rPr>
              <a:t>a consumidor final</a:t>
            </a:r>
            <a:r>
              <a:rPr lang="pt-BR" dirty="0"/>
              <a:t>, </a:t>
            </a:r>
            <a:r>
              <a:rPr lang="pt-BR" b="1" dirty="0" smtClean="0">
                <a:solidFill>
                  <a:srgbClr val="FF0000"/>
                </a:solidFill>
              </a:rPr>
              <a:t>não</a:t>
            </a:r>
            <a:r>
              <a:rPr lang="pt-BR" dirty="0" smtClean="0"/>
              <a:t> </a:t>
            </a:r>
            <a:r>
              <a:rPr lang="pt-BR" b="1" dirty="0">
                <a:solidFill>
                  <a:srgbClr val="FF0000"/>
                </a:solidFill>
              </a:rPr>
              <a:t>contribuinte do imposto</a:t>
            </a:r>
            <a:r>
              <a:rPr lang="pt-BR" dirty="0"/>
              <a:t>, localizado no Distrito Federal. </a:t>
            </a:r>
            <a:endParaRPr lang="pt-BR" dirty="0" smtClean="0"/>
          </a:p>
          <a:p>
            <a:pPr marL="4572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02249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§4º O </a:t>
            </a:r>
            <a:r>
              <a:rPr lang="pt-BR" dirty="0"/>
              <a:t>recolhimento do imposto </a:t>
            </a:r>
            <a:r>
              <a:rPr lang="pt-BR" b="1" dirty="0">
                <a:solidFill>
                  <a:srgbClr val="0000FF"/>
                </a:solidFill>
              </a:rPr>
              <a:t>correspondente </a:t>
            </a:r>
            <a:r>
              <a:rPr lang="pt-BR" b="1" dirty="0" smtClean="0">
                <a:solidFill>
                  <a:srgbClr val="0000FF"/>
                </a:solidFill>
              </a:rPr>
              <a:t>à diferença</a:t>
            </a:r>
            <a:r>
              <a:rPr lang="pt-BR" dirty="0" smtClean="0"/>
              <a:t> </a:t>
            </a:r>
            <a:r>
              <a:rPr lang="pt-BR" b="1" dirty="0">
                <a:solidFill>
                  <a:srgbClr val="FF0000"/>
                </a:solidFill>
              </a:rPr>
              <a:t>entre a </a:t>
            </a:r>
            <a:r>
              <a:rPr lang="pt-BR" b="1" dirty="0" smtClean="0">
                <a:solidFill>
                  <a:srgbClr val="FF0000"/>
                </a:solidFill>
              </a:rPr>
              <a:t>alíquota </a:t>
            </a:r>
            <a:r>
              <a:rPr lang="pt-BR" b="1" dirty="0">
                <a:solidFill>
                  <a:srgbClr val="FF0000"/>
                </a:solidFill>
              </a:rPr>
              <a:t>interna e a interestadual</a:t>
            </a:r>
            <a:r>
              <a:rPr lang="pt-BR" dirty="0"/>
              <a:t>, de que trata o inciso II, </a:t>
            </a:r>
            <a:r>
              <a:rPr lang="pt-BR" dirty="0" smtClean="0"/>
              <a:t>deverá </a:t>
            </a:r>
            <a:r>
              <a:rPr lang="pt-BR" dirty="0"/>
              <a:t>ser feito pelo remetente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r>
              <a:rPr lang="pt-BR" dirty="0" smtClean="0"/>
              <a:t>§10º </a:t>
            </a:r>
            <a:r>
              <a:rPr lang="pt-BR" dirty="0"/>
              <a:t>Nas </a:t>
            </a:r>
            <a:r>
              <a:rPr lang="pt-BR" dirty="0" smtClean="0"/>
              <a:t>prestações </a:t>
            </a:r>
            <a:r>
              <a:rPr lang="pt-BR" dirty="0"/>
              <a:t>de </a:t>
            </a:r>
            <a:r>
              <a:rPr lang="pt-BR" dirty="0" smtClean="0"/>
              <a:t>serviço </a:t>
            </a:r>
            <a:r>
              <a:rPr lang="pt-BR" dirty="0"/>
              <a:t>de transporte, o recolhimento de que trata o </a:t>
            </a:r>
            <a:r>
              <a:rPr lang="pt-BR" dirty="0" smtClean="0"/>
              <a:t>§4º não </a:t>
            </a:r>
            <a:r>
              <a:rPr lang="pt-BR" dirty="0"/>
              <a:t>se aplica quando o transporte for efetuado pelo </a:t>
            </a:r>
            <a:r>
              <a:rPr lang="pt-BR" dirty="0" smtClean="0"/>
              <a:t>próprio </a:t>
            </a:r>
            <a:r>
              <a:rPr lang="pt-BR" dirty="0"/>
              <a:t>remetente ou por sua conta e ordem (</a:t>
            </a:r>
            <a:r>
              <a:rPr lang="pt-BR" dirty="0" smtClean="0"/>
              <a:t>cláusula </a:t>
            </a:r>
            <a:r>
              <a:rPr lang="pt-BR" dirty="0"/>
              <a:t>CIF - </a:t>
            </a:r>
            <a:r>
              <a:rPr lang="pt-BR" dirty="0" err="1"/>
              <a:t>Cost</a:t>
            </a:r>
            <a:r>
              <a:rPr lang="pt-BR" dirty="0"/>
              <a:t>, </a:t>
            </a:r>
            <a:r>
              <a:rPr lang="pt-BR" dirty="0" err="1"/>
              <a:t>Insurance</a:t>
            </a:r>
            <a:r>
              <a:rPr lang="pt-BR" dirty="0"/>
              <a:t> e </a:t>
            </a:r>
            <a:r>
              <a:rPr lang="pt-BR" dirty="0" err="1"/>
              <a:t>Freight</a:t>
            </a:r>
            <a:r>
              <a:rPr lang="pt-BR" dirty="0"/>
              <a:t>).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08498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 fontScale="92500" lnSpcReduction="20000"/>
          </a:bodyPr>
          <a:lstStyle/>
          <a:p>
            <a:pPr marL="45720" indent="0" algn="just">
              <a:buNone/>
            </a:pPr>
            <a:r>
              <a:rPr lang="pt-BR" dirty="0"/>
              <a:t>395-A. Para efeito do disposto no art. 48, II, o imposto correspondente à diferença entre a alíquota interna e a interestadual será, em relação às operações realizadas no período de 1º de janeiro de 2016 a 31 de dezembro de 2018, </a:t>
            </a:r>
            <a:r>
              <a:rPr lang="pt-BR" b="1" dirty="0">
                <a:solidFill>
                  <a:srgbClr val="0000FF"/>
                </a:solidFill>
              </a:rPr>
              <a:t>partilhado entre o </a:t>
            </a:r>
            <a:r>
              <a:rPr lang="pt-BR" b="1" u="sng" dirty="0">
                <a:solidFill>
                  <a:srgbClr val="0000FF"/>
                </a:solidFill>
              </a:rPr>
              <a:t>Estado de origem </a:t>
            </a:r>
            <a:r>
              <a:rPr lang="pt-BR" b="1" dirty="0">
                <a:solidFill>
                  <a:srgbClr val="0000FF"/>
                </a:solidFill>
              </a:rPr>
              <a:t>e o Distrito Federal</a:t>
            </a:r>
            <a:r>
              <a:rPr lang="pt-BR" dirty="0"/>
              <a:t>, na seguinte proporção:</a:t>
            </a:r>
          </a:p>
          <a:p>
            <a:pPr marL="45720" indent="0" algn="just">
              <a:buNone/>
            </a:pPr>
            <a:r>
              <a:rPr lang="pt-BR" dirty="0"/>
              <a:t>I - para o ano de 2016: </a:t>
            </a:r>
            <a:r>
              <a:rPr lang="pt-BR" b="1" dirty="0"/>
              <a:t>40% para o Distrito Federal </a:t>
            </a:r>
            <a:r>
              <a:rPr lang="pt-BR" dirty="0"/>
              <a:t>e 60% para o Estado de origem</a:t>
            </a:r>
          </a:p>
          <a:p>
            <a:pPr marL="45720" indent="0" algn="just">
              <a:buNone/>
            </a:pPr>
            <a:r>
              <a:rPr lang="pt-BR" dirty="0"/>
              <a:t>II - para o ano de 2017: 60% para o Distrito Federal e 40% para o Estado de origem</a:t>
            </a:r>
          </a:p>
          <a:p>
            <a:pPr marL="45720" indent="0" algn="just">
              <a:buNone/>
            </a:pPr>
            <a:r>
              <a:rPr lang="pt-BR" dirty="0"/>
              <a:t>III - </a:t>
            </a:r>
            <a:r>
              <a:rPr lang="pt-BR" dirty="0">
                <a:solidFill>
                  <a:srgbClr val="0000FF"/>
                </a:solidFill>
              </a:rPr>
              <a:t>para o ano de 2018</a:t>
            </a:r>
            <a:r>
              <a:rPr lang="pt-BR" dirty="0"/>
              <a:t>: </a:t>
            </a:r>
            <a:r>
              <a:rPr lang="pt-BR" u="sng" dirty="0"/>
              <a:t>80% para o Distrito Federal </a:t>
            </a:r>
            <a:r>
              <a:rPr lang="pt-BR" dirty="0"/>
              <a:t>e </a:t>
            </a:r>
            <a:r>
              <a:rPr lang="pt-BR" u="sng" dirty="0"/>
              <a:t>20% para o Estado de origem</a:t>
            </a:r>
            <a:r>
              <a:rPr lang="pt-BR" dirty="0"/>
              <a:t>.</a:t>
            </a:r>
          </a:p>
          <a:p>
            <a:pPr marL="45720" indent="0" algn="just">
              <a:buNone/>
            </a:pPr>
            <a:r>
              <a:rPr lang="pt-BR" dirty="0"/>
              <a:t>Parágrafo único. O adicional de que trata o art. 46-A deverá ser recolhido integralmente ao Distrito Federal, não se aplicando a partilha de que trata o caput.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78152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 fontScale="92500" lnSpcReduction="20000"/>
          </a:bodyPr>
          <a:lstStyle/>
          <a:p>
            <a:pPr marL="45720" indent="0" algn="just">
              <a:buNone/>
            </a:pPr>
            <a:r>
              <a:rPr lang="pt-BR" dirty="0"/>
              <a:t>395-B. </a:t>
            </a:r>
            <a:r>
              <a:rPr lang="pt-BR" b="1" dirty="0">
                <a:solidFill>
                  <a:srgbClr val="0000FF"/>
                </a:solidFill>
              </a:rPr>
              <a:t>Nas operações e prestações interestaduais </a:t>
            </a:r>
            <a:r>
              <a:rPr lang="pt-BR" b="1" u="sng" dirty="0">
                <a:solidFill>
                  <a:srgbClr val="FF0000"/>
                </a:solidFill>
              </a:rPr>
              <a:t>que destinem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bens e serviços a consumidor final não contribuinte do imposto </a:t>
            </a:r>
            <a:r>
              <a:rPr lang="pt-BR" b="1" u="sng" dirty="0">
                <a:solidFill>
                  <a:srgbClr val="FF0000"/>
                </a:solidFill>
              </a:rPr>
              <a:t>localizado em outra unidade federada</a:t>
            </a:r>
            <a:r>
              <a:rPr lang="pt-BR" dirty="0"/>
              <a:t>, o imposto correspondente à diferença entre a alíquota interna dessa e a interestadual será devido à unidade federada de destino, observado que, em relação às operações realizadas no período de 1º de janeiro de 2016 a 31 de dezembro de 2018, o citado imposto será partilhado entre o Distrito Federal e o Estado de destino, na seguinte proporção:</a:t>
            </a:r>
          </a:p>
          <a:p>
            <a:pPr marL="45720" indent="0" algn="just">
              <a:buNone/>
            </a:pPr>
            <a:r>
              <a:rPr lang="pt-BR" dirty="0"/>
              <a:t>I - para o ano de 2016: 60% para o Distrito Federal e 40% para o Estado de destino</a:t>
            </a:r>
          </a:p>
          <a:p>
            <a:pPr marL="45720" indent="0" algn="just">
              <a:buNone/>
            </a:pPr>
            <a:r>
              <a:rPr lang="pt-BR" dirty="0"/>
              <a:t>II - para o ano de 2017: 40% para o Distrito Federal e 60% para o Estado de destino</a:t>
            </a:r>
          </a:p>
          <a:p>
            <a:pPr marL="45720" indent="0" algn="just">
              <a:buNone/>
            </a:pPr>
            <a:r>
              <a:rPr lang="pt-BR" dirty="0"/>
              <a:t>III - </a:t>
            </a:r>
            <a:r>
              <a:rPr lang="pt-BR" b="1" dirty="0">
                <a:solidFill>
                  <a:srgbClr val="0000FF"/>
                </a:solidFill>
              </a:rPr>
              <a:t>para o ano de 2018: </a:t>
            </a:r>
            <a:r>
              <a:rPr lang="pt-BR" u="sng" dirty="0"/>
              <a:t>20% para o Distrito Federal </a:t>
            </a:r>
            <a:r>
              <a:rPr lang="pt-BR" dirty="0"/>
              <a:t>e </a:t>
            </a:r>
            <a:r>
              <a:rPr lang="pt-BR" u="sng" dirty="0"/>
              <a:t>80% para o Estado de destino.</a:t>
            </a:r>
          </a:p>
        </p:txBody>
      </p:sp>
    </p:spTree>
    <p:extLst>
      <p:ext uri="{BB962C8B-B14F-4D97-AF65-F5344CB8AC3E}">
        <p14:creationId xmlns:p14="http://schemas.microsoft.com/office/powerpoint/2010/main" val="303473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20-A. </a:t>
            </a:r>
            <a:r>
              <a:rPr lang="pt-BR" b="1" dirty="0">
                <a:solidFill>
                  <a:srgbClr val="0000FF"/>
                </a:solidFill>
              </a:rPr>
              <a:t>É devido ao Distrito Federal </a:t>
            </a:r>
            <a:r>
              <a:rPr lang="pt-BR" dirty="0"/>
              <a:t>o imposto correspondente </a:t>
            </a:r>
            <a:r>
              <a:rPr lang="pt-BR" b="1" dirty="0">
                <a:solidFill>
                  <a:srgbClr val="0000FF"/>
                </a:solidFill>
              </a:rPr>
              <a:t>à diferença entre a alíquota interna e a interestadual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nas operações com mercadoria proveniente de outra unidade federada destinadas a contribuinte</a:t>
            </a:r>
            <a:r>
              <a:rPr lang="pt-BR" b="1" dirty="0"/>
              <a:t> </a:t>
            </a:r>
            <a:r>
              <a:rPr lang="pt-BR" b="1" dirty="0">
                <a:solidFill>
                  <a:srgbClr val="0000FF"/>
                </a:solidFill>
              </a:rPr>
              <a:t>do</a:t>
            </a:r>
            <a:r>
              <a:rPr lang="pt-BR" b="1" dirty="0"/>
              <a:t> </a:t>
            </a:r>
            <a:r>
              <a:rPr lang="pt-BR" dirty="0"/>
              <a:t>imposto estabelecido no Distrito Federal optante pelo </a:t>
            </a:r>
            <a:r>
              <a:rPr lang="pt-BR" b="1" dirty="0">
                <a:solidFill>
                  <a:srgbClr val="0000FF"/>
                </a:solidFill>
              </a:rPr>
              <a:t>Simples Nacional</a:t>
            </a:r>
            <a:r>
              <a:rPr lang="pt-BR" dirty="0"/>
              <a:t>, instituído pela Lei Complementar federal nº 123, de 2006.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37358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 1º A diferença entre a alíquota interna e a interestadual de que trata o caput é calculada tomando-se por base as alíquotas aplicáveis às operações realizadas por contribuintes submetidos ao regime de apuração normal do imposto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endParaRPr lang="pt-BR" u="sng" dirty="0"/>
          </a:p>
          <a:p>
            <a:pPr marL="45720" indent="0" algn="just">
              <a:buNone/>
            </a:pPr>
            <a:r>
              <a:rPr lang="pt-BR" dirty="0"/>
              <a:t>§ 2º </a:t>
            </a:r>
            <a:r>
              <a:rPr lang="pt-BR" b="1" dirty="0">
                <a:solidFill>
                  <a:srgbClr val="0000FF"/>
                </a:solidFill>
              </a:rPr>
              <a:t>O imposto correspondente à diferença </a:t>
            </a:r>
            <a:r>
              <a:rPr lang="pt-BR" dirty="0"/>
              <a:t>de que trata o caput </a:t>
            </a:r>
            <a:r>
              <a:rPr lang="pt-BR" b="1" dirty="0">
                <a:solidFill>
                  <a:srgbClr val="0000FF"/>
                </a:solidFill>
              </a:rPr>
              <a:t>fica limitado a 5% </a:t>
            </a:r>
            <a:r>
              <a:rPr lang="pt-BR" dirty="0"/>
              <a:t>sobre o valor da operação, de maneira que, </a:t>
            </a:r>
            <a:r>
              <a:rPr lang="pt-BR" b="1" dirty="0">
                <a:solidFill>
                  <a:srgbClr val="0000FF"/>
                </a:solidFill>
              </a:rPr>
              <a:t>se for o caso, a sua base de cálculo é reduzida</a:t>
            </a:r>
            <a:r>
              <a:rPr lang="pt-BR" dirty="0"/>
              <a:t> para que seja observado o citado limitador.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269471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 3º O imposto correspondente à diferença de que trata o caput deve ser recolhido pelo adquirente ou responsável.</a:t>
            </a:r>
            <a:endParaRPr lang="pt-BR" u="sng" dirty="0"/>
          </a:p>
          <a:p>
            <a:pPr marL="45720" indent="0" algn="just">
              <a:buNone/>
            </a:pPr>
            <a:r>
              <a:rPr lang="pt-BR" dirty="0"/>
              <a:t>§ 4º O disposto no caput </a:t>
            </a:r>
            <a:r>
              <a:rPr lang="pt-BR" b="1" dirty="0">
                <a:solidFill>
                  <a:srgbClr val="0000FF"/>
                </a:solidFill>
              </a:rPr>
              <a:t>não desobriga o contribuinte dos demais recolhimentos previstos no Simples Nacional</a:t>
            </a:r>
            <a:r>
              <a:rPr lang="pt-BR" b="1" dirty="0" smtClean="0">
                <a:solidFill>
                  <a:srgbClr val="0000FF"/>
                </a:solidFill>
              </a:rPr>
              <a:t>.</a:t>
            </a:r>
          </a:p>
          <a:p>
            <a:pPr marL="45720" indent="0" algn="just">
              <a:buNone/>
            </a:pPr>
            <a:r>
              <a:rPr lang="pt-BR" dirty="0"/>
              <a:t>§ 5º A redução de base de cálculo de que trata o § 2º tem sua vigência limitada a 31 de dezembro de 2019</a:t>
            </a:r>
            <a:r>
              <a:rPr lang="pt-BR" dirty="0" smtClean="0"/>
              <a:t>.</a:t>
            </a:r>
          </a:p>
          <a:p>
            <a:pPr marL="4572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344199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 6º Não se aplica o disposto no caput à entrada de matéria-prima no processo de produção.</a:t>
            </a:r>
            <a:br>
              <a:rPr lang="pt-BR" dirty="0"/>
            </a:b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§ 7º Considera-se matéria-prima todo material agregado ao produto que é empregado na sua fabricação, tornando-se parte dele.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302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gração">
  <a:themeElements>
    <a:clrScheme name="Integração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Integração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ação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1675</TotalTime>
  <Words>552</Words>
  <Application>Microsoft Office PowerPoint</Application>
  <PresentationFormat>Apresentação na tela (4:3)</PresentationFormat>
  <Paragraphs>41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Integração</vt:lpstr>
      <vt:lpstr>Intensivo de ICMS </vt:lpstr>
      <vt:lpstr>DIFAL </vt:lpstr>
      <vt:lpstr>DIFAL </vt:lpstr>
      <vt:lpstr>DIFAL </vt:lpstr>
      <vt:lpstr>DIFAL </vt:lpstr>
      <vt:lpstr>DIFAL </vt:lpstr>
      <vt:lpstr>DIFAL </vt:lpstr>
      <vt:lpstr>DIFAL </vt:lpstr>
      <vt:lpstr>DIFAL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Definição de ICMS</dc:title>
  <dc:creator>ASUS</dc:creator>
  <cp:lastModifiedBy>ASUS</cp:lastModifiedBy>
  <cp:revision>110</cp:revision>
  <cp:lastPrinted>2018-06-18T13:14:56Z</cp:lastPrinted>
  <dcterms:created xsi:type="dcterms:W3CDTF">2018-03-21T16:06:44Z</dcterms:created>
  <dcterms:modified xsi:type="dcterms:W3CDTF">2018-07-17T14:00:24Z</dcterms:modified>
</cp:coreProperties>
</file>