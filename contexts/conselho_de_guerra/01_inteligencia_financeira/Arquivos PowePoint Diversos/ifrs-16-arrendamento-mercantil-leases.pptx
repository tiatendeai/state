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4" r:id="rId9"/>
    <p:sldId id="267" r:id="rId10"/>
    <p:sldId id="263" r:id="rId11"/>
    <p:sldId id="265" r:id="rId12"/>
    <p:sldId id="266" r:id="rId13"/>
    <p:sldId id="268" r:id="rId14"/>
    <p:sldId id="269" r:id="rId15"/>
    <p:sldId id="270" r:id="rId16"/>
    <p:sldId id="271" r:id="rId17"/>
    <p:sldId id="277" r:id="rId18"/>
    <p:sldId id="278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29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4C40B6-EBFE-4DFB-9BB7-C89971D0053A}" type="doc">
      <dgm:prSet loTypeId="urn:microsoft.com/office/officeart/2005/8/layout/process1" loCatId="Inbo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D9A2D35-E700-4A3C-95F2-2A036875E390}">
      <dgm:prSet/>
      <dgm:spPr/>
      <dgm:t>
        <a:bodyPr/>
        <a:lstStyle/>
        <a:p>
          <a:r>
            <a:rPr lang="pt-BR" dirty="0"/>
            <a:t>O </a:t>
          </a:r>
          <a:r>
            <a:rPr lang="pt-BR" b="1" dirty="0"/>
            <a:t>ativo de direito de uso</a:t>
          </a:r>
          <a:r>
            <a:rPr lang="pt-BR" dirty="0"/>
            <a:t> é o ativo que representa o direito do arrendatário de usar o ativo subjacente durante o prazo do arrendamento</a:t>
          </a:r>
          <a:endParaRPr lang="en-US" dirty="0"/>
        </a:p>
      </dgm:t>
    </dgm:pt>
    <dgm:pt modelId="{37B0DEED-B295-4E0C-A4AD-24FF5F8C765C}" type="parTrans" cxnId="{19C2FAA9-F247-4396-975C-3F7A8C5046AB}">
      <dgm:prSet/>
      <dgm:spPr/>
      <dgm:t>
        <a:bodyPr/>
        <a:lstStyle/>
        <a:p>
          <a:endParaRPr lang="en-US"/>
        </a:p>
      </dgm:t>
    </dgm:pt>
    <dgm:pt modelId="{B333FAB8-BE68-479A-BC06-6234A73FA04C}" type="sibTrans" cxnId="{19C2FAA9-F247-4396-975C-3F7A8C5046AB}">
      <dgm:prSet/>
      <dgm:spPr/>
      <dgm:t>
        <a:bodyPr/>
        <a:lstStyle/>
        <a:p>
          <a:endParaRPr lang="en-US"/>
        </a:p>
      </dgm:t>
    </dgm:pt>
    <dgm:pt modelId="{55573E4D-D088-40C7-A108-4AAFEF5D3563}">
      <dgm:prSet/>
      <dgm:spPr/>
      <dgm:t>
        <a:bodyPr/>
        <a:lstStyle/>
        <a:p>
          <a:r>
            <a:rPr lang="pt-BR"/>
            <a:t>O </a:t>
          </a:r>
          <a:r>
            <a:rPr lang="pt-BR" b="1"/>
            <a:t>ativo de direito de uso</a:t>
          </a:r>
          <a:r>
            <a:rPr lang="pt-BR"/>
            <a:t> deve ser mensurado inicialmente ao custo, sendo que, de acordo com o item 24 do CPC 06 (R2), o custo desse ativo deve compreender:</a:t>
          </a:r>
          <a:endParaRPr lang="en-US"/>
        </a:p>
      </dgm:t>
    </dgm:pt>
    <dgm:pt modelId="{8CE7A3D2-9E3A-4F0E-A21C-6966D86D7E90}" type="parTrans" cxnId="{EF7C218D-B537-4EB5-891A-7E939C65832F}">
      <dgm:prSet/>
      <dgm:spPr/>
      <dgm:t>
        <a:bodyPr/>
        <a:lstStyle/>
        <a:p>
          <a:endParaRPr lang="en-US"/>
        </a:p>
      </dgm:t>
    </dgm:pt>
    <dgm:pt modelId="{C228F53D-A341-4A2A-9532-47DD2E576734}" type="sibTrans" cxnId="{EF7C218D-B537-4EB5-891A-7E939C65832F}">
      <dgm:prSet/>
      <dgm:spPr/>
      <dgm:t>
        <a:bodyPr/>
        <a:lstStyle/>
        <a:p>
          <a:endParaRPr lang="en-US"/>
        </a:p>
      </dgm:t>
    </dgm:pt>
    <dgm:pt modelId="{EFB97CCD-6E30-4806-B04D-E85DB10E26D0}">
      <dgm:prSet/>
      <dgm:spPr/>
      <dgm:t>
        <a:bodyPr/>
        <a:lstStyle/>
        <a:p>
          <a:r>
            <a:rPr lang="pt-BR" dirty="0">
              <a:solidFill>
                <a:srgbClr val="FF0000"/>
              </a:solidFill>
              <a:highlight>
                <a:srgbClr val="FFFF00"/>
              </a:highlight>
            </a:rPr>
            <a:t>o valor da mensuração inicial do passivo;</a:t>
          </a:r>
          <a:endParaRPr lang="en-US" dirty="0">
            <a:solidFill>
              <a:srgbClr val="FF0000"/>
            </a:solidFill>
            <a:highlight>
              <a:srgbClr val="FFFF00"/>
            </a:highlight>
          </a:endParaRPr>
        </a:p>
      </dgm:t>
    </dgm:pt>
    <dgm:pt modelId="{DDDE3408-47AF-4C75-8BA6-65D8338C278D}" type="parTrans" cxnId="{3E7FA7AD-6636-4277-BF0B-0CC101F84EA5}">
      <dgm:prSet/>
      <dgm:spPr/>
      <dgm:t>
        <a:bodyPr/>
        <a:lstStyle/>
        <a:p>
          <a:endParaRPr lang="en-US"/>
        </a:p>
      </dgm:t>
    </dgm:pt>
    <dgm:pt modelId="{65635CBB-F065-4D8D-BDDE-F57A8F1AD722}" type="sibTrans" cxnId="{3E7FA7AD-6636-4277-BF0B-0CC101F84EA5}">
      <dgm:prSet/>
      <dgm:spPr/>
      <dgm:t>
        <a:bodyPr/>
        <a:lstStyle/>
        <a:p>
          <a:endParaRPr lang="en-US"/>
        </a:p>
      </dgm:t>
    </dgm:pt>
    <dgm:pt modelId="{5876DA61-69D2-49DA-B817-FF5BBA938868}">
      <dgm:prSet/>
      <dgm:spPr/>
      <dgm:t>
        <a:bodyPr/>
        <a:lstStyle/>
        <a:p>
          <a:r>
            <a:rPr lang="pt-BR" dirty="0"/>
            <a:t>pagamentos de arrendamento efetuados até a data de início, menos quaisquer incentivos de arrendamento recebidos;</a:t>
          </a:r>
          <a:endParaRPr lang="en-US" dirty="0"/>
        </a:p>
      </dgm:t>
    </dgm:pt>
    <dgm:pt modelId="{60F2BB03-618D-47B1-AD25-C355F7CDFBF7}" type="parTrans" cxnId="{A080D932-9083-48BD-9BA7-D898CA7F7DDF}">
      <dgm:prSet/>
      <dgm:spPr/>
      <dgm:t>
        <a:bodyPr/>
        <a:lstStyle/>
        <a:p>
          <a:endParaRPr lang="en-US"/>
        </a:p>
      </dgm:t>
    </dgm:pt>
    <dgm:pt modelId="{F7A6C35A-40B2-49EB-9D9E-FF3BF4859643}" type="sibTrans" cxnId="{A080D932-9083-48BD-9BA7-D898CA7F7DDF}">
      <dgm:prSet/>
      <dgm:spPr/>
      <dgm:t>
        <a:bodyPr/>
        <a:lstStyle/>
        <a:p>
          <a:endParaRPr lang="en-US"/>
        </a:p>
      </dgm:t>
    </dgm:pt>
    <dgm:pt modelId="{A780E28F-8844-4198-A445-A414982315CD}">
      <dgm:prSet/>
      <dgm:spPr/>
      <dgm:t>
        <a:bodyPr/>
        <a:lstStyle/>
        <a:p>
          <a:r>
            <a:rPr lang="pt-BR"/>
            <a:t>quaisquer custos diretos iniciais incorridos pelo arrendatário; e</a:t>
          </a:r>
          <a:endParaRPr lang="en-US"/>
        </a:p>
      </dgm:t>
    </dgm:pt>
    <dgm:pt modelId="{B2F35D3A-B9E7-4FBB-975F-99B2460466F9}" type="parTrans" cxnId="{17F161DE-0F95-4BAE-9BB1-2733664483D0}">
      <dgm:prSet/>
      <dgm:spPr/>
      <dgm:t>
        <a:bodyPr/>
        <a:lstStyle/>
        <a:p>
          <a:endParaRPr lang="en-US"/>
        </a:p>
      </dgm:t>
    </dgm:pt>
    <dgm:pt modelId="{DC963BD1-30B7-44EC-BB40-B35E3DF47CA5}" type="sibTrans" cxnId="{17F161DE-0F95-4BAE-9BB1-2733664483D0}">
      <dgm:prSet/>
      <dgm:spPr/>
      <dgm:t>
        <a:bodyPr/>
        <a:lstStyle/>
        <a:p>
          <a:endParaRPr lang="en-US"/>
        </a:p>
      </dgm:t>
    </dgm:pt>
    <dgm:pt modelId="{086230DC-2ED9-4486-A21A-7771609EEB57}">
      <dgm:prSet/>
      <dgm:spPr/>
      <dgm:t>
        <a:bodyPr/>
        <a:lstStyle/>
        <a:p>
          <a:r>
            <a:rPr lang="pt-BR" dirty="0"/>
            <a:t>a estimativa de custos  na desmontagem e remoção do ativo subjacente</a:t>
          </a:r>
          <a:endParaRPr lang="en-US" dirty="0"/>
        </a:p>
      </dgm:t>
    </dgm:pt>
    <dgm:pt modelId="{004F8791-5337-4453-BBEA-789C180632D9}" type="parTrans" cxnId="{FE2929E4-D635-4FC3-B1A5-DD41FF59EF54}">
      <dgm:prSet/>
      <dgm:spPr/>
      <dgm:t>
        <a:bodyPr/>
        <a:lstStyle/>
        <a:p>
          <a:endParaRPr lang="en-US"/>
        </a:p>
      </dgm:t>
    </dgm:pt>
    <dgm:pt modelId="{63D75B5F-EF07-418B-8114-79B61E45D6A9}" type="sibTrans" cxnId="{FE2929E4-D635-4FC3-B1A5-DD41FF59EF54}">
      <dgm:prSet/>
      <dgm:spPr/>
      <dgm:t>
        <a:bodyPr/>
        <a:lstStyle/>
        <a:p>
          <a:endParaRPr lang="en-US"/>
        </a:p>
      </dgm:t>
    </dgm:pt>
    <dgm:pt modelId="{28E01514-CB78-429E-94E6-BC5FD2F88E27}" type="pres">
      <dgm:prSet presAssocID="{414C40B6-EBFE-4DFB-9BB7-C89971D0053A}" presName="Name0" presStyleCnt="0">
        <dgm:presLayoutVars>
          <dgm:dir/>
          <dgm:resizeHandles val="exact"/>
        </dgm:presLayoutVars>
      </dgm:prSet>
      <dgm:spPr/>
    </dgm:pt>
    <dgm:pt modelId="{C44340C2-453F-4B52-98D4-5DDCDFBEC355}" type="pres">
      <dgm:prSet presAssocID="{3D9A2D35-E700-4A3C-95F2-2A036875E390}" presName="node" presStyleLbl="node1" presStyleIdx="0" presStyleCnt="2">
        <dgm:presLayoutVars>
          <dgm:bulletEnabled val="1"/>
        </dgm:presLayoutVars>
      </dgm:prSet>
      <dgm:spPr/>
    </dgm:pt>
    <dgm:pt modelId="{85FAEF69-3DA6-48D5-9B2D-6939272995D2}" type="pres">
      <dgm:prSet presAssocID="{B333FAB8-BE68-479A-BC06-6234A73FA04C}" presName="sibTrans" presStyleLbl="sibTrans2D1" presStyleIdx="0" presStyleCnt="1"/>
      <dgm:spPr/>
    </dgm:pt>
    <dgm:pt modelId="{A4947381-5193-4E7A-A14F-3FC6C17C74CB}" type="pres">
      <dgm:prSet presAssocID="{B333FAB8-BE68-479A-BC06-6234A73FA04C}" presName="connectorText" presStyleLbl="sibTrans2D1" presStyleIdx="0" presStyleCnt="1"/>
      <dgm:spPr/>
    </dgm:pt>
    <dgm:pt modelId="{59B98766-7C72-4612-8900-2CF3487528DC}" type="pres">
      <dgm:prSet presAssocID="{55573E4D-D088-40C7-A108-4AAFEF5D3563}" presName="node" presStyleLbl="node1" presStyleIdx="1" presStyleCnt="2">
        <dgm:presLayoutVars>
          <dgm:bulletEnabled val="1"/>
        </dgm:presLayoutVars>
      </dgm:prSet>
      <dgm:spPr/>
    </dgm:pt>
  </dgm:ptLst>
  <dgm:cxnLst>
    <dgm:cxn modelId="{C8A03D0D-F0D4-40AD-8946-C4FDAF00AFB1}" type="presOf" srcId="{086230DC-2ED9-4486-A21A-7771609EEB57}" destId="{59B98766-7C72-4612-8900-2CF3487528DC}" srcOrd="0" destOrd="4" presId="urn:microsoft.com/office/officeart/2005/8/layout/process1"/>
    <dgm:cxn modelId="{61301519-F21A-45B8-BA6B-3E8708EDCF06}" type="presOf" srcId="{A780E28F-8844-4198-A445-A414982315CD}" destId="{59B98766-7C72-4612-8900-2CF3487528DC}" srcOrd="0" destOrd="3" presId="urn:microsoft.com/office/officeart/2005/8/layout/process1"/>
    <dgm:cxn modelId="{B8B1E11A-4542-4D05-B77A-30CF08480EF4}" type="presOf" srcId="{414C40B6-EBFE-4DFB-9BB7-C89971D0053A}" destId="{28E01514-CB78-429E-94E6-BC5FD2F88E27}" srcOrd="0" destOrd="0" presId="urn:microsoft.com/office/officeart/2005/8/layout/process1"/>
    <dgm:cxn modelId="{B3A5291E-3A65-4CF5-9EE5-63C8DD3A8EF4}" type="presOf" srcId="{3D9A2D35-E700-4A3C-95F2-2A036875E390}" destId="{C44340C2-453F-4B52-98D4-5DDCDFBEC355}" srcOrd="0" destOrd="0" presId="urn:microsoft.com/office/officeart/2005/8/layout/process1"/>
    <dgm:cxn modelId="{A080D932-9083-48BD-9BA7-D898CA7F7DDF}" srcId="{55573E4D-D088-40C7-A108-4AAFEF5D3563}" destId="{5876DA61-69D2-49DA-B817-FF5BBA938868}" srcOrd="1" destOrd="0" parTransId="{60F2BB03-618D-47B1-AD25-C355F7CDFBF7}" sibTransId="{F7A6C35A-40B2-49EB-9D9E-FF3BF4859643}"/>
    <dgm:cxn modelId="{29471664-D470-479F-9913-BD6A2F499FCF}" type="presOf" srcId="{EFB97CCD-6E30-4806-B04D-E85DB10E26D0}" destId="{59B98766-7C72-4612-8900-2CF3487528DC}" srcOrd="0" destOrd="1" presId="urn:microsoft.com/office/officeart/2005/8/layout/process1"/>
    <dgm:cxn modelId="{0ACD024B-3CE5-48BD-AEE4-6AEFA7FE9958}" type="presOf" srcId="{B333FAB8-BE68-479A-BC06-6234A73FA04C}" destId="{A4947381-5193-4E7A-A14F-3FC6C17C74CB}" srcOrd="1" destOrd="0" presId="urn:microsoft.com/office/officeart/2005/8/layout/process1"/>
    <dgm:cxn modelId="{7E65F17E-B4B8-4413-A587-25D85E73F135}" type="presOf" srcId="{55573E4D-D088-40C7-A108-4AAFEF5D3563}" destId="{59B98766-7C72-4612-8900-2CF3487528DC}" srcOrd="0" destOrd="0" presId="urn:microsoft.com/office/officeart/2005/8/layout/process1"/>
    <dgm:cxn modelId="{EF7C218D-B537-4EB5-891A-7E939C65832F}" srcId="{414C40B6-EBFE-4DFB-9BB7-C89971D0053A}" destId="{55573E4D-D088-40C7-A108-4AAFEF5D3563}" srcOrd="1" destOrd="0" parTransId="{8CE7A3D2-9E3A-4F0E-A21C-6966D86D7E90}" sibTransId="{C228F53D-A341-4A2A-9532-47DD2E576734}"/>
    <dgm:cxn modelId="{581918A2-32E9-4AA8-9826-BD9EBB3A9D9E}" type="presOf" srcId="{B333FAB8-BE68-479A-BC06-6234A73FA04C}" destId="{85FAEF69-3DA6-48D5-9B2D-6939272995D2}" srcOrd="0" destOrd="0" presId="urn:microsoft.com/office/officeart/2005/8/layout/process1"/>
    <dgm:cxn modelId="{19C2FAA9-F247-4396-975C-3F7A8C5046AB}" srcId="{414C40B6-EBFE-4DFB-9BB7-C89971D0053A}" destId="{3D9A2D35-E700-4A3C-95F2-2A036875E390}" srcOrd="0" destOrd="0" parTransId="{37B0DEED-B295-4E0C-A4AD-24FF5F8C765C}" sibTransId="{B333FAB8-BE68-479A-BC06-6234A73FA04C}"/>
    <dgm:cxn modelId="{3E7FA7AD-6636-4277-BF0B-0CC101F84EA5}" srcId="{55573E4D-D088-40C7-A108-4AAFEF5D3563}" destId="{EFB97CCD-6E30-4806-B04D-E85DB10E26D0}" srcOrd="0" destOrd="0" parTransId="{DDDE3408-47AF-4C75-8BA6-65D8338C278D}" sibTransId="{65635CBB-F065-4D8D-BDDE-F57A8F1AD722}"/>
    <dgm:cxn modelId="{17F161DE-0F95-4BAE-9BB1-2733664483D0}" srcId="{55573E4D-D088-40C7-A108-4AAFEF5D3563}" destId="{A780E28F-8844-4198-A445-A414982315CD}" srcOrd="2" destOrd="0" parTransId="{B2F35D3A-B9E7-4FBB-975F-99B2460466F9}" sibTransId="{DC963BD1-30B7-44EC-BB40-B35E3DF47CA5}"/>
    <dgm:cxn modelId="{FE2929E4-D635-4FC3-B1A5-DD41FF59EF54}" srcId="{55573E4D-D088-40C7-A108-4AAFEF5D3563}" destId="{086230DC-2ED9-4486-A21A-7771609EEB57}" srcOrd="3" destOrd="0" parTransId="{004F8791-5337-4453-BBEA-789C180632D9}" sibTransId="{63D75B5F-EF07-418B-8114-79B61E45D6A9}"/>
    <dgm:cxn modelId="{6D5C3CF5-0DFB-4E79-AB84-124BFC2B8F91}" type="presOf" srcId="{5876DA61-69D2-49DA-B817-FF5BBA938868}" destId="{59B98766-7C72-4612-8900-2CF3487528DC}" srcOrd="0" destOrd="2" presId="urn:microsoft.com/office/officeart/2005/8/layout/process1"/>
    <dgm:cxn modelId="{ABEE9D18-C07E-448C-92D6-8D10131296C4}" type="presParOf" srcId="{28E01514-CB78-429E-94E6-BC5FD2F88E27}" destId="{C44340C2-453F-4B52-98D4-5DDCDFBEC355}" srcOrd="0" destOrd="0" presId="urn:microsoft.com/office/officeart/2005/8/layout/process1"/>
    <dgm:cxn modelId="{B625693A-49D4-4FD4-A578-CA776E4E9E72}" type="presParOf" srcId="{28E01514-CB78-429E-94E6-BC5FD2F88E27}" destId="{85FAEF69-3DA6-48D5-9B2D-6939272995D2}" srcOrd="1" destOrd="0" presId="urn:microsoft.com/office/officeart/2005/8/layout/process1"/>
    <dgm:cxn modelId="{62F8001D-C049-4D8E-A123-D67760B3A767}" type="presParOf" srcId="{85FAEF69-3DA6-48D5-9B2D-6939272995D2}" destId="{A4947381-5193-4E7A-A14F-3FC6C17C74CB}" srcOrd="0" destOrd="0" presId="urn:microsoft.com/office/officeart/2005/8/layout/process1"/>
    <dgm:cxn modelId="{85D66CAC-FCFF-4B66-9875-36A80191E967}" type="presParOf" srcId="{28E01514-CB78-429E-94E6-BC5FD2F88E27}" destId="{59B98766-7C72-4612-8900-2CF3487528DC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340C2-453F-4B52-98D4-5DDCDFBEC355}">
      <dsp:nvSpPr>
        <dsp:cNvPr id="0" name=""/>
        <dsp:cNvSpPr/>
      </dsp:nvSpPr>
      <dsp:spPr>
        <a:xfrm>
          <a:off x="1540" y="503340"/>
          <a:ext cx="3284841" cy="41881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O </a:t>
          </a:r>
          <a:r>
            <a:rPr lang="pt-BR" sz="1800" b="1" kern="1200" dirty="0"/>
            <a:t>ativo de direito de uso</a:t>
          </a:r>
          <a:r>
            <a:rPr lang="pt-BR" sz="1800" kern="1200" dirty="0"/>
            <a:t> é o ativo que representa o direito do arrendatário de usar o ativo subjacente durante o prazo do arrendamento</a:t>
          </a:r>
          <a:endParaRPr lang="en-US" sz="1800" kern="1200" dirty="0"/>
        </a:p>
      </dsp:txBody>
      <dsp:txXfrm>
        <a:off x="97750" y="599550"/>
        <a:ext cx="3092421" cy="3995752"/>
      </dsp:txXfrm>
    </dsp:sp>
    <dsp:sp modelId="{85FAEF69-3DA6-48D5-9B2D-6939272995D2}">
      <dsp:nvSpPr>
        <dsp:cNvPr id="0" name=""/>
        <dsp:cNvSpPr/>
      </dsp:nvSpPr>
      <dsp:spPr>
        <a:xfrm>
          <a:off x="3614865" y="2190106"/>
          <a:ext cx="696386" cy="8146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14865" y="2353034"/>
        <a:ext cx="487470" cy="488784"/>
      </dsp:txXfrm>
    </dsp:sp>
    <dsp:sp modelId="{59B98766-7C72-4612-8900-2CF3487528DC}">
      <dsp:nvSpPr>
        <dsp:cNvPr id="0" name=""/>
        <dsp:cNvSpPr/>
      </dsp:nvSpPr>
      <dsp:spPr>
        <a:xfrm>
          <a:off x="4600318" y="503340"/>
          <a:ext cx="3284841" cy="4188172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O </a:t>
          </a:r>
          <a:r>
            <a:rPr lang="pt-BR" sz="1800" b="1" kern="1200"/>
            <a:t>ativo de direito de uso</a:t>
          </a:r>
          <a:r>
            <a:rPr lang="pt-BR" sz="1800" kern="1200"/>
            <a:t> deve ser mensurado inicialmente ao custo, sendo que, de acordo com o item 24 do CPC 06 (R2), o custo desse ativo deve compreender: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>
              <a:solidFill>
                <a:srgbClr val="FF0000"/>
              </a:solidFill>
              <a:highlight>
                <a:srgbClr val="FFFF00"/>
              </a:highlight>
            </a:rPr>
            <a:t>o valor da mensuração inicial do passivo;</a:t>
          </a:r>
          <a:endParaRPr lang="en-US" sz="1400" kern="1200" dirty="0">
            <a:solidFill>
              <a:srgbClr val="FF0000"/>
            </a:solidFill>
            <a:highlight>
              <a:srgbClr val="FFFF00"/>
            </a:highligh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pagamentos de arrendamento efetuados até a data de início, menos quaisquer incentivos de arrendamento recebidos;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quaisquer custos diretos iniciais incorridos pelo arrendatário; e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a estimativa de custos  na desmontagem e remoção do ativo subjacente</a:t>
          </a:r>
          <a:endParaRPr lang="en-US" sz="1400" kern="1200" dirty="0"/>
        </a:p>
      </dsp:txBody>
      <dsp:txXfrm>
        <a:off x="4696528" y="599550"/>
        <a:ext cx="3092421" cy="39957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41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211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478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643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59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68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000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51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69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5093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314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3F921-E610-4F86-BF1B-A393E431A8C4}" type="datetimeFigureOut">
              <a:rPr lang="pt-BR" smtClean="0"/>
              <a:t>14/02/2019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9D0CB-028D-4278-9983-FE09C1CF35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25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6610" y="498348"/>
            <a:ext cx="7426997" cy="5861304"/>
            <a:chOff x="1155481" y="498348"/>
            <a:chExt cx="9902663" cy="5861304"/>
          </a:xfrm>
        </p:grpSpPr>
        <p:sp>
          <p:nvSpPr>
            <p:cNvPr id="16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8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20" name="Rectangle 19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9144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05A6AE-8080-4789-84A3-B7BE0A1E3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776538"/>
            <a:ext cx="6858000" cy="1381188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chemeClr val="bg2"/>
                </a:solidFill>
              </a:rPr>
              <a:t>IFRS 16 – Arrendamento Mercantil (Leases)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5BC29C-C06F-4A59-AD74-CC5295A0E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495800"/>
            <a:ext cx="6858000" cy="762000"/>
          </a:xfrm>
        </p:spPr>
        <p:txBody>
          <a:bodyPr>
            <a:normAutofit/>
          </a:bodyPr>
          <a:lstStyle/>
          <a:p>
            <a:r>
              <a:rPr lang="pt-BR" sz="1600"/>
              <a:t>Prof. Guillermo Braunbeck</a:t>
            </a:r>
          </a:p>
        </p:txBody>
      </p:sp>
    </p:spTree>
    <p:extLst>
      <p:ext uri="{BB962C8B-B14F-4D97-AF65-F5344CB8AC3E}">
        <p14:creationId xmlns:p14="http://schemas.microsoft.com/office/powerpoint/2010/main" val="326027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1E4A9-A0FA-4520-9C4C-CC85F5CA6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é o mundo dos contratos de leasing até agora (IAS 17)?	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535E56-088B-469D-8EFA-4C710767E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3326295"/>
            <a:ext cx="3886200" cy="2850667"/>
          </a:xfrm>
        </p:spPr>
        <p:txBody>
          <a:bodyPr>
            <a:normAutofit fontScale="92500"/>
          </a:bodyPr>
          <a:lstStyle/>
          <a:p>
            <a:r>
              <a:rPr lang="pt-BR" dirty="0"/>
              <a:t>Contrato que transfere substancialmente todos os riscos e recompensas decorrentes da propriedade de uma ativo. Indicadores?</a:t>
            </a:r>
          </a:p>
          <a:p>
            <a:r>
              <a:rPr lang="pt-BR" dirty="0"/>
              <a:t>Efeitos no balanço e DRE?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FB962E78-CA26-4C27-8D23-F3C1FD185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3326295"/>
            <a:ext cx="3886200" cy="2850667"/>
          </a:xfrm>
        </p:spPr>
        <p:txBody>
          <a:bodyPr>
            <a:normAutofit fontScale="92500"/>
          </a:bodyPr>
          <a:lstStyle/>
          <a:p>
            <a:r>
              <a:rPr lang="pt-BR" dirty="0"/>
              <a:t>Todos os contratos que não são financeiros, são operacionais.</a:t>
            </a:r>
          </a:p>
          <a:p>
            <a:r>
              <a:rPr lang="pt-BR" dirty="0"/>
              <a:t>Efeitos no balanço e DRE?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2DD9F78-A6BB-4B25-AA5A-7D1B8951BC01}"/>
              </a:ext>
            </a:extLst>
          </p:cNvPr>
          <p:cNvSpPr/>
          <p:nvPr/>
        </p:nvSpPr>
        <p:spPr>
          <a:xfrm>
            <a:off x="522388" y="2158953"/>
            <a:ext cx="3494995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FINANCEIRO</a:t>
            </a:r>
            <a:endParaRPr lang="pt-BR" sz="5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4E28600-DB18-484B-9028-308F2C08A5AA}"/>
              </a:ext>
            </a:extLst>
          </p:cNvPr>
          <p:cNvSpPr/>
          <p:nvPr/>
        </p:nvSpPr>
        <p:spPr>
          <a:xfrm>
            <a:off x="4514850" y="2158953"/>
            <a:ext cx="4040401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OPERACIONAL</a:t>
            </a:r>
            <a:endParaRPr lang="pt-BR" sz="5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0417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93D51-B61F-4F4F-B34C-95E75075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mudança: IFRS 16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49F08D-8C3C-4376-B9FB-3FE63D644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Hans </a:t>
            </a:r>
            <a:r>
              <a:rPr lang="pt-BR" dirty="0" err="1"/>
              <a:t>Hoogervorst</a:t>
            </a:r>
            <a:r>
              <a:rPr lang="pt-BR" dirty="0"/>
              <a:t> – presidente do IASB</a:t>
            </a:r>
          </a:p>
          <a:p>
            <a:r>
              <a:rPr lang="pt-BR" dirty="0"/>
              <a:t>Existe diferença econômica entre leasing, aluguel, arrendamento mercantil </a:t>
            </a:r>
            <a:r>
              <a:rPr lang="pt-BR" dirty="0" err="1"/>
              <a:t>etc</a:t>
            </a:r>
            <a:r>
              <a:rPr lang="pt-BR" dirty="0"/>
              <a:t>?</a:t>
            </a:r>
          </a:p>
          <a:p>
            <a:r>
              <a:rPr lang="pt-BR" dirty="0"/>
              <a:t>Genericamente, contrato que:</a:t>
            </a:r>
          </a:p>
          <a:p>
            <a:pPr lvl="1"/>
            <a:r>
              <a:rPr lang="pt-BR" dirty="0"/>
              <a:t>Dá o direito de usar um bem especificado </a:t>
            </a:r>
            <a:r>
              <a:rPr lang="pt-BR" dirty="0">
                <a:sym typeface="Wingdings" panose="05000000000000000000" pitchFamily="2" charset="2"/>
              </a:rPr>
              <a:t> ATIVO</a:t>
            </a:r>
            <a:endParaRPr lang="pt-BR" dirty="0"/>
          </a:p>
          <a:p>
            <a:pPr lvl="1"/>
            <a:r>
              <a:rPr lang="pt-BR" dirty="0"/>
              <a:t>Requer pagamentos </a:t>
            </a:r>
            <a:r>
              <a:rPr lang="pt-BR" dirty="0">
                <a:sym typeface="Wingdings" panose="05000000000000000000" pitchFamily="2" charset="2"/>
              </a:rPr>
              <a:t> PASSIVO</a:t>
            </a:r>
          </a:p>
          <a:p>
            <a:r>
              <a:rPr lang="pt-BR" dirty="0">
                <a:sym typeface="Wingdings" panose="05000000000000000000" pitchFamily="2" charset="2"/>
              </a:rPr>
              <a:t>Exceções para balancear o custo benefício da nova abordagem: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Contratos de curto prazo (&lt;12M)</a:t>
            </a:r>
          </a:p>
          <a:p>
            <a:pPr lvl="1"/>
            <a:r>
              <a:rPr lang="pt-BR" dirty="0" err="1">
                <a:sym typeface="Wingdings" panose="05000000000000000000" pitchFamily="2" charset="2"/>
              </a:rPr>
              <a:t>Small</a:t>
            </a:r>
            <a:r>
              <a:rPr lang="pt-BR" dirty="0">
                <a:sym typeface="Wingdings" panose="05000000000000000000" pitchFamily="2" charset="2"/>
              </a:rPr>
              <a:t> ticket </a:t>
            </a:r>
            <a:r>
              <a:rPr lang="pt-BR" dirty="0" err="1">
                <a:sym typeface="Wingdings" panose="05000000000000000000" pitchFamily="2" charset="2"/>
              </a:rPr>
              <a:t>items</a:t>
            </a:r>
            <a:r>
              <a:rPr lang="pt-BR" dirty="0">
                <a:sym typeface="Wingdings" panose="05000000000000000000" pitchFamily="2" charset="2"/>
              </a:rPr>
              <a:t> (itens de valor baixo)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438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A8F0CC4-7830-48D2-869C-6136E2C9B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729" y="1675227"/>
            <a:ext cx="6720540" cy="43941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0DC8490-1EFC-44DA-9D77-06B7E248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Uma </a:t>
            </a: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visão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comparativa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balanço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patrimonial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5EA827-24D9-4AC5-B0E4-8E6D0D9DF9BE}"/>
              </a:ext>
            </a:extLst>
          </p:cNvPr>
          <p:cNvSpPr txBox="1"/>
          <p:nvPr/>
        </p:nvSpPr>
        <p:spPr>
          <a:xfrm>
            <a:off x="3697356" y="6356350"/>
            <a:ext cx="354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7x/8x a despesa anual com aluguéis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DA362275-B614-4E28-AE73-9F264B8941DE}"/>
              </a:ext>
            </a:extLst>
          </p:cNvPr>
          <p:cNvSpPr/>
          <p:nvPr/>
        </p:nvSpPr>
        <p:spPr>
          <a:xfrm>
            <a:off x="5181600" y="6069426"/>
            <a:ext cx="530087" cy="286924"/>
          </a:xfrm>
          <a:prstGeom prst="downArrow">
            <a:avLst/>
          </a:prstGeom>
          <a:solidFill>
            <a:srgbClr val="C929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05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3">
            <a:extLst>
              <a:ext uri="{FF2B5EF4-FFF2-40B4-BE49-F238E27FC236}">
                <a16:creationId xmlns:a16="http://schemas.microsoft.com/office/drawing/2014/main" id="{191BAA50-958A-4772-A2C1-F29B346EA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6010" y="1675227"/>
            <a:ext cx="4311979" cy="43941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31F5DC7-E664-4B05-ACCF-7B63FFFE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Uma visão comparativa - DRE</a:t>
            </a:r>
          </a:p>
        </p:txBody>
      </p:sp>
    </p:spTree>
    <p:extLst>
      <p:ext uri="{BB962C8B-B14F-4D97-AF65-F5344CB8AC3E}">
        <p14:creationId xmlns:p14="http://schemas.microsoft.com/office/powerpoint/2010/main" val="577500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FA6E6-6109-4B5D-A461-A871A0C2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IFRS 16: Definição de contrato de leasing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ABF902-C837-4549-A6A4-AAC5132B8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Um contrato é, ou contém, um arrendamento se ele transmite o direito de controlar o uso de um ativo identificado por um período de tempo em troca de contraprestação. </a:t>
            </a:r>
          </a:p>
          <a:p>
            <a:pPr lvl="1"/>
            <a:r>
              <a:rPr lang="pt-BR" dirty="0"/>
              <a:t>No período de uso a entidade deve ter o direito de obter substancialmente todos os benefícios do uso do ativo identificado</a:t>
            </a:r>
          </a:p>
          <a:p>
            <a:pPr lvl="1"/>
            <a:r>
              <a:rPr lang="pt-BR" dirty="0"/>
              <a:t>Deve ter o direito de direcionar o uso do ativo identificado</a:t>
            </a:r>
          </a:p>
          <a:p>
            <a:r>
              <a:rPr lang="pt-BR" dirty="0"/>
              <a:t>Um ativo normalmente é identificado ao ser expressamente especificado em um contrato. Contudo, um ativo também pode ser identificado ao ser implicitamente especificado na ocasião em que o ativo é disponibilizado para uso pelo cliente.</a:t>
            </a:r>
          </a:p>
        </p:txBody>
      </p:sp>
    </p:spTree>
    <p:extLst>
      <p:ext uri="{BB962C8B-B14F-4D97-AF65-F5344CB8AC3E}">
        <p14:creationId xmlns:p14="http://schemas.microsoft.com/office/powerpoint/2010/main" val="3604336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4A653-4C2E-46CC-9BEE-733DEECC8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Direitos substantivos de substituição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6701F8-7101-4AE3-93CD-416E345D0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Mesmo se um ativo for especificado, um cliente não tem o direito de usar um ativo identificado se o fornecedor tiver o direito substantivo de substituir o ativo durante todo o período de uso. Por exemplo:</a:t>
            </a:r>
          </a:p>
          <a:p>
            <a:pPr lvl="1"/>
            <a:r>
              <a:rPr lang="pt-BR" dirty="0"/>
              <a:t>o cliente não consegue impedir o fornecedor de substituir o ativo e os ativos alternativos estiverem imediatamente disponíveis ao fornecedor ou puderem ser fornecidos por este dentro de um período de tempo razoável</a:t>
            </a:r>
          </a:p>
          <a:p>
            <a:pPr lvl="1"/>
            <a:r>
              <a:rPr lang="pt-BR" dirty="0"/>
              <a:t>os benefícios econômicos associados à substituição do ativo superem os custos associados à sua substituição 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548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F374B-8F40-4F24-9A40-DA2F69EF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Direito de obter benefícios econômicos do uso 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601D9A-F9E7-4400-9FC6-F8177C402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Para controlar o uso de um ativo identificado, um cliente é obrigado a possuir o direito de obter substancialmente todos os benefícios econômicos do uso do ativo durante todo o período de uso (por exemplo, ao ter o uso exclusivo do ativo durante todo esse período). </a:t>
            </a:r>
          </a:p>
          <a:p>
            <a:r>
              <a:rPr lang="pt-BR" dirty="0"/>
              <a:t>Os benefícios econômicos do uso de um ativo incluem sua produção (</a:t>
            </a:r>
            <a:r>
              <a:rPr lang="pt-BR" i="1" dirty="0"/>
              <a:t>“output”</a:t>
            </a:r>
            <a:r>
              <a:rPr lang="pt-BR" dirty="0"/>
              <a:t>) principal e subprodutos (incluindo potenciais fluxos de caixa resultantes desses itens) e outros benefícios econômicos do uso do ativo que poderiam ser realizados a partir de uma transação comercial com um terceiro. </a:t>
            </a:r>
          </a:p>
        </p:txBody>
      </p:sp>
    </p:spTree>
    <p:extLst>
      <p:ext uri="{BB962C8B-B14F-4D97-AF65-F5344CB8AC3E}">
        <p14:creationId xmlns:p14="http://schemas.microsoft.com/office/powerpoint/2010/main" val="34376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56CD9-C1BA-4A68-8508-8DEED2B95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Direito de direcionar o uso 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7029E-1328-41E7-9EBD-CBC401D89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Um cliente tem o direito de direcionar o uso de um ativo identificado durante todo o período de uso somente se: </a:t>
            </a:r>
          </a:p>
          <a:p>
            <a:r>
              <a:rPr lang="pt-BR" dirty="0"/>
              <a:t>o cliente tiver o direito de direcionar como e para que finalidade o ativo é usado durante todo  o período de uso; ou </a:t>
            </a:r>
          </a:p>
          <a:p>
            <a:r>
              <a:rPr lang="pt-BR" dirty="0"/>
              <a:t>as decisões relevantes sobre como e para que finalidade o ativo é usado são predeterminadas e: </a:t>
            </a:r>
          </a:p>
          <a:p>
            <a:pPr lvl="1"/>
            <a:r>
              <a:rPr lang="pt-BR" dirty="0"/>
              <a:t>o cliente tem o direito de operar o ativo (ou de orientar outros para operar o ativo da forma como determina) durante todo o período de uso, sem o fornecedor ter o direito de alterar essas instruções operacionais; ou </a:t>
            </a:r>
          </a:p>
          <a:p>
            <a:pPr lvl="1"/>
            <a:r>
              <a:rPr lang="pt-BR" dirty="0"/>
              <a:t>o cliente projetou o ativo (ou aspectos específicos do ativo) de modo que predetermina como e para qual finalidade o ativo será usado durante todo o período de uso. </a:t>
            </a:r>
          </a:p>
        </p:txBody>
      </p:sp>
    </p:spTree>
    <p:extLst>
      <p:ext uri="{BB962C8B-B14F-4D97-AF65-F5344CB8AC3E}">
        <p14:creationId xmlns:p14="http://schemas.microsoft.com/office/powerpoint/2010/main" val="1051503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FF219-A9F0-48FE-AF55-6B976D83F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3094"/>
            <a:ext cx="7886700" cy="1325563"/>
          </a:xfrm>
        </p:spPr>
        <p:txBody>
          <a:bodyPr/>
          <a:lstStyle/>
          <a:p>
            <a:r>
              <a:rPr lang="pt-BR" dirty="0"/>
              <a:t>Exemplo 1B: o ativo é especificado?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76F0D-86FB-48DA-AE1A-F4846AD38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04730"/>
            <a:ext cx="7886700" cy="5453270"/>
          </a:xfrm>
        </p:spPr>
        <p:txBody>
          <a:bodyPr>
            <a:normAutofit fontScale="70000" lnSpcReduction="20000"/>
          </a:bodyPr>
          <a:lstStyle/>
          <a:p>
            <a:r>
              <a:rPr lang="pt-BR" i="1" dirty="0"/>
              <a:t>O contrato entre o Cliente e o Fornecedor exige que este transporte uma quantidade especificada de mercadorias usando um determinado tipo de vagão de acordo com um cronograma estabelecido por um período de cinco anos. </a:t>
            </a:r>
          </a:p>
          <a:p>
            <a:r>
              <a:rPr lang="pt-BR" i="1" dirty="0"/>
              <a:t>O cronograma e a quantidade de mercadorias especificadas são equivalentes ao Cliente ter o uso de 10 vagões por cinco anos. O Fornecedor providencia os vagões, o maquinista e a locomotiva como parte do contrato. </a:t>
            </a:r>
            <a:endParaRPr lang="pt-BR" dirty="0"/>
          </a:p>
          <a:p>
            <a:r>
              <a:rPr lang="pt-BR" i="1" dirty="0"/>
              <a:t>O contrato estabelece a natureza e a quantidade de mercadorias a serem transportadas (e o tipo de vagão a ser usado para transportar as mercadorias). </a:t>
            </a:r>
          </a:p>
          <a:p>
            <a:r>
              <a:rPr lang="pt-BR" i="1" dirty="0"/>
              <a:t>O Fornecedor tem um grande conjunto de vagões similares que podem ser usados para cumprir as exigências do contrato. </a:t>
            </a:r>
            <a:endParaRPr lang="pt-BR" dirty="0"/>
          </a:p>
          <a:p>
            <a:r>
              <a:rPr lang="pt-BR" i="1" dirty="0"/>
              <a:t>Similarmente, o Fornecedor pode escolher usar qualquer uma das diversas locomotivas para atender às solicitações de cada Cliente e uma locomotiva poderia ser utilizada para transportar não apenas as mercadorias de um Cliente, mas também as mercadorias de outros clientes. </a:t>
            </a:r>
            <a:endParaRPr lang="pt-BR" dirty="0"/>
          </a:p>
          <a:p>
            <a:r>
              <a:rPr lang="pt-BR" i="1" dirty="0"/>
              <a:t>Os vagões e locomotivas são armazenados nas dependências do Fornecedor quando não estão sendo utilizados para transportar mercadorias.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2500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E5C9F-C86E-487A-A8CC-23359A06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8 – o cliente controla o ativo especificado (fábrica)?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0EE3E-F8E7-4526-B7B8-C0B5BFE28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932984"/>
          </a:xfrm>
        </p:spPr>
        <p:txBody>
          <a:bodyPr>
            <a:normAutofit fontScale="85000" lnSpcReduction="20000"/>
          </a:bodyPr>
          <a:lstStyle/>
          <a:p>
            <a:r>
              <a:rPr lang="pt-BR" i="1" dirty="0"/>
              <a:t>O Cliente celebra um contrato com um fabricante (Fornecedor) para comprar um determinado tipo, qualidade e quantidade de camisas por um período de três anos. O tipo, qualidade e quantidade de camisas são especificados no contrato. </a:t>
            </a:r>
            <a:endParaRPr lang="pt-BR" dirty="0"/>
          </a:p>
          <a:p>
            <a:r>
              <a:rPr lang="pt-BR" i="1" dirty="0"/>
              <a:t>O Fornecedor tem apenas uma fábrica que pode atender às necessidades do Cliente. O Fornecedor é incapaz de fornecer as camisas a partir de outra fábrica ou obter as camisas a partir de um terceiro fornecedor. </a:t>
            </a:r>
          </a:p>
          <a:p>
            <a:r>
              <a:rPr lang="pt-BR" i="1" dirty="0"/>
              <a:t>A capacidade da fábrica excede a produção contratada pelo Cliente (ou seja, o Cliente não contratou substancialmente a capacidade total da fábrica). </a:t>
            </a:r>
            <a:endParaRPr lang="pt-BR" dirty="0"/>
          </a:p>
          <a:p>
            <a:r>
              <a:rPr lang="pt-BR" i="1" dirty="0"/>
              <a:t>O Fornecedor toma todas as decisões sobre as operações da fábrica, incluindo o nível de produção em que a fábrica opera e quais contratos de clientes deve atender com a produção da fábrica que não é utilizada para cumprir o contrato do Cliente.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3569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88D45-CCC5-4190-B876-BF42868D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9A – o cliente controla o ativo especificado?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9349C-1BDF-4183-B0D1-B768FAF5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 fontScale="77500" lnSpcReduction="20000"/>
          </a:bodyPr>
          <a:lstStyle/>
          <a:p>
            <a:r>
              <a:rPr lang="pt-BR" i="1" dirty="0"/>
              <a:t>Uma empresa (Cliente) celebra um contrato com uma empresa de energia (Fornecedor) para comprar toda a eletricidade gerada por uma nova planta solar por 20 anos. </a:t>
            </a:r>
          </a:p>
          <a:p>
            <a:r>
              <a:rPr lang="pt-BR" i="1" dirty="0"/>
              <a:t>A planta solar é propriedade do Fornecedor e está expressamente especificada no contrato e o Fornecedor não tem direitos de substituição. </a:t>
            </a:r>
          </a:p>
          <a:p>
            <a:r>
              <a:rPr lang="pt-BR" i="1" dirty="0"/>
              <a:t>A energia não pode ser fornecida ao Cliente a partir de outro ativo. O Cliente projetou a planta solar antes que fosse construída – o Cliente contratou especialistas em energia solar para auxiliar na determinação do local da planta e a engenharia dos equipamentos a serem utilizados. </a:t>
            </a:r>
            <a:endParaRPr lang="pt-BR" dirty="0"/>
          </a:p>
          <a:p>
            <a:r>
              <a:rPr lang="pt-BR" i="1" dirty="0"/>
              <a:t>O Fornecedor é responsável por construir a planta solar com as especificações do Cliente, e em seguida operá-la e mantê-la. Não existem decisões a serem tomadas sobre se, quando ou quanta eletricidade será gerada porque o projeto do ativo determinou previamente essas decisões. O Fornecedor receberá créditos fiscais referentes à construção e propriedade da planta solar, enquanto o Cliente recebe créditos de energia renovável que se acumulam a partir do uso da planta.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5007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29A5F1F-1C59-4438-8D55-04DE99A2C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095" y="114097"/>
            <a:ext cx="6453809" cy="6693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61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0DF90E-6BAD-4E82-8FDF-717C9A35737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13DCC859-0434-4BB8-B6C5-09C88AE698F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40065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08E7ACFB-B791-4C23-8B17-013FEDC09A8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68605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D1468B-ED9B-4272-AE0D-1613BA01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751" y="365125"/>
            <a:ext cx="7890527" cy="1325563"/>
          </a:xfrm>
        </p:spPr>
        <p:txBody>
          <a:bodyPr>
            <a:normAutofit/>
          </a:bodyPr>
          <a:lstStyle/>
          <a:p>
            <a:r>
              <a:rPr lang="pt-BR" dirty="0"/>
              <a:t>Reconhecimento e mensuração inicial – o ‘lado’ do ativo</a:t>
            </a:r>
          </a:p>
        </p:txBody>
      </p:sp>
      <p:graphicFrame>
        <p:nvGraphicFramePr>
          <p:cNvPr id="5" name="Espaço Reservado para Conteúdo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391582"/>
              </p:ext>
            </p:extLst>
          </p:nvPr>
        </p:nvGraphicFramePr>
        <p:xfrm>
          <a:off x="628650" y="1550504"/>
          <a:ext cx="7886700" cy="5194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8162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0EC9C-BE2C-422B-8F1C-390BFC0E2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Reconhecimento e mensuração inicial – o ‘lado’ do passivo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22DD2B-2E5F-4CAA-AB74-9CBDA91A5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Passivo de arrendamento </a:t>
            </a:r>
            <a:r>
              <a:rPr lang="pt-BR" b="1" dirty="0"/>
              <a:t> = valor presente dos pagamentos do arrendamento</a:t>
            </a:r>
            <a:endParaRPr lang="pt-BR" dirty="0"/>
          </a:p>
          <a:p>
            <a:r>
              <a:rPr lang="pt-BR" dirty="0"/>
              <a:t>Os pagamentos do arrendamento serão descontados usando a </a:t>
            </a:r>
            <a:r>
              <a:rPr lang="pt-BR" i="1" dirty="0"/>
              <a:t>taxa de juros implícita no arrendamento</a:t>
            </a:r>
            <a:r>
              <a:rPr lang="pt-BR" dirty="0"/>
              <a:t>, se essa taxa puder ser determinada imediatamente. </a:t>
            </a:r>
          </a:p>
          <a:p>
            <a:r>
              <a:rPr lang="pt-BR" dirty="0"/>
              <a:t>Se essa taxa não puder ser determinada imediatamente, o arrendatário utilizará a </a:t>
            </a:r>
            <a:r>
              <a:rPr lang="pt-BR" i="1" dirty="0"/>
              <a:t>taxa incremental sobre empréstimo do arrendatário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49475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4EBDE-4DBE-45F2-995A-A03A79CC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Quais pagamentos futuros tem que ser incluídos no valor do passivo por arrendamento?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FECD4D-B1C3-4869-A12B-94DF28376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 fontScale="85000" lnSpcReduction="10000"/>
          </a:bodyPr>
          <a:lstStyle/>
          <a:p>
            <a:endParaRPr lang="pt-BR" dirty="0"/>
          </a:p>
          <a:p>
            <a:r>
              <a:rPr lang="pt-BR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pagamentos fixos</a:t>
            </a:r>
            <a:r>
              <a:rPr lang="pt-BR" dirty="0"/>
              <a:t>, menos quaisquer incentivos de arrendamento a receber; </a:t>
            </a:r>
          </a:p>
          <a:p>
            <a:r>
              <a:rPr lang="pt-BR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pagamentos variáveis</a:t>
            </a:r>
            <a:r>
              <a:rPr lang="pt-BR" i="1" dirty="0"/>
              <a:t> de arrendamento </a:t>
            </a:r>
            <a:r>
              <a:rPr lang="pt-BR" dirty="0"/>
              <a:t>que dependem de um índice ou de uma taxa, inicialmente mensurados utilizando o índice ou a taxa da data de início; </a:t>
            </a:r>
          </a:p>
          <a:p>
            <a:r>
              <a:rPr lang="pt-BR" dirty="0"/>
              <a:t>valores que se espera que sejam pagos pelo arrendatário de acordo com as </a:t>
            </a:r>
            <a:r>
              <a:rPr lang="pt-BR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garantias de valor residual</a:t>
            </a:r>
            <a:r>
              <a:rPr lang="pt-BR" dirty="0"/>
              <a:t>; </a:t>
            </a:r>
          </a:p>
          <a:p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preço de exercício de uma opção de compra </a:t>
            </a:r>
            <a:r>
              <a:rPr lang="pt-BR" dirty="0"/>
              <a:t>se o arrendatário estiver razoavelmente certo de exercer essa opção; e </a:t>
            </a:r>
          </a:p>
          <a:p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pagamentos de multas por rescisão </a:t>
            </a:r>
            <a:r>
              <a:rPr lang="pt-BR" dirty="0"/>
              <a:t>do arrendamento, se o prazo do arrendamento refletir o arrendatário exercendo uma opção de rescindir o arrendamento. </a:t>
            </a:r>
          </a:p>
        </p:txBody>
      </p:sp>
    </p:spTree>
    <p:extLst>
      <p:ext uri="{BB962C8B-B14F-4D97-AF65-F5344CB8AC3E}">
        <p14:creationId xmlns:p14="http://schemas.microsoft.com/office/powerpoint/2010/main" val="380070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CADBD-A6AE-4B32-9A34-C4B26990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exemplo simples...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5B6401-BBC2-4960-B7EC-974F97E36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Vamos admitir que a empresa A tenha contratado um </a:t>
            </a:r>
            <a:r>
              <a:rPr lang="pt-BR" i="1" dirty="0"/>
              <a:t>leasing </a:t>
            </a:r>
            <a:r>
              <a:rPr lang="pt-BR" dirty="0"/>
              <a:t>de uma máquina. As características do contrato são as seguintes:</a:t>
            </a:r>
          </a:p>
          <a:p>
            <a:pPr lvl="1"/>
            <a:r>
              <a:rPr lang="pt-BR" dirty="0"/>
              <a:t>valor da contraprestação anual, vencível ao final de cada ano = $ 10.000</a:t>
            </a:r>
          </a:p>
          <a:p>
            <a:pPr lvl="1"/>
            <a:r>
              <a:rPr lang="pt-BR" dirty="0"/>
              <a:t>prazo do arrendamento = 5 anos</a:t>
            </a:r>
          </a:p>
          <a:p>
            <a:pPr lvl="1"/>
            <a:r>
              <a:rPr lang="pt-BR" dirty="0"/>
              <a:t>valor residual a ser pago no final do 5</a:t>
            </a:r>
            <a:r>
              <a:rPr lang="pt-BR" baseline="30000" dirty="0"/>
              <a:t>o</a:t>
            </a:r>
            <a:r>
              <a:rPr lang="pt-BR" dirty="0"/>
              <a:t> ano para adquirir o ativo = $ 2.000</a:t>
            </a:r>
          </a:p>
          <a:p>
            <a:pPr lvl="1"/>
            <a:r>
              <a:rPr lang="pt-BR" dirty="0"/>
              <a:t>taxa de juros implícita no contrato = 12% ao ano</a:t>
            </a:r>
          </a:p>
          <a:p>
            <a:r>
              <a:rPr lang="pt-BR" dirty="0"/>
              <a:t>Quais os lançamentos iniciais? Ignore a segregação entre curto e longo prazo do passivo.</a:t>
            </a:r>
          </a:p>
          <a:p>
            <a:r>
              <a:rPr lang="pt-BR" dirty="0"/>
              <a:t>E depois de um ano?</a:t>
            </a:r>
          </a:p>
        </p:txBody>
      </p:sp>
    </p:spTree>
    <p:extLst>
      <p:ext uri="{BB962C8B-B14F-4D97-AF65-F5344CB8AC3E}">
        <p14:creationId xmlns:p14="http://schemas.microsoft.com/office/powerpoint/2010/main" val="1197986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3F7656C-32BE-4596-B0FE-FF626C546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851" y="264969"/>
            <a:ext cx="3743470" cy="259742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928E438-38F6-4572-8408-CC8AA65D2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46" y="3259849"/>
            <a:ext cx="4384879" cy="80205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7F7FC46-BF2E-4104-972A-933367FDB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3" y="4459357"/>
            <a:ext cx="8958928" cy="239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58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67D60-F228-4760-8EE3-E6AB90AD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14 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7F046-5780-4A86-8B0A-D63006ED4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40218"/>
          </a:xfrm>
        </p:spPr>
        <p:txBody>
          <a:bodyPr>
            <a:normAutofit fontScale="85000" lnSpcReduction="20000"/>
          </a:bodyPr>
          <a:lstStyle/>
          <a:p>
            <a:r>
              <a:rPr lang="pt-BR" i="1" dirty="0"/>
              <a:t>O Arrendatário celebra um arrendamento de propriedade por 10 anos com pagamentos de arrendamento anuais de UM50.000, pagáveis no início de cada ano. O contrato especifica que os pagamentos de arrendamento aumentarão a cada dois anos com base no aumento do Índice de Preços ao Consumidor dos 24 meses anteriores. O Índice de Preços ao Consumidor na data de início é 125. </a:t>
            </a:r>
            <a:endParaRPr lang="pt-BR" dirty="0"/>
          </a:p>
          <a:p>
            <a:r>
              <a:rPr lang="pt-BR" i="1" dirty="0"/>
              <a:t>A taxa implícita no arrendamento não é facilmente determinável. A taxa de empréstimo incremental do Arrendatário é de 5% ao ano, que reflete a taxa fixa pela qual o Arrendatário poderia tomar em empréstimo um valor similar ao valor do ativo de direito de uso, na mesma moeda, por um prazo de 10 anos, e com garantia similar. </a:t>
            </a:r>
          </a:p>
          <a:p>
            <a:r>
              <a:rPr lang="pt-BR" i="1" dirty="0"/>
              <a:t>Assuma depreciação linear do direito de uso durante o prazo contratual.</a:t>
            </a:r>
          </a:p>
          <a:p>
            <a:r>
              <a:rPr lang="pt-BR" i="1" dirty="0"/>
              <a:t>No início do terceiro ano do arrendamento o Índice de Preços ao Consumidor é 135.</a:t>
            </a:r>
          </a:p>
        </p:txBody>
      </p:sp>
    </p:spTree>
    <p:extLst>
      <p:ext uri="{BB962C8B-B14F-4D97-AF65-F5344CB8AC3E}">
        <p14:creationId xmlns:p14="http://schemas.microsoft.com/office/powerpoint/2010/main" val="3791524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D57EC08-B67D-4629-BF08-A0A0ECE3D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646" y="1675227"/>
            <a:ext cx="6584706" cy="43941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469EBC-361F-4928-83EB-B6FD4FEB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Reconhecimento inicial</a:t>
            </a:r>
          </a:p>
        </p:txBody>
      </p:sp>
    </p:spTree>
    <p:extLst>
      <p:ext uri="{BB962C8B-B14F-4D97-AF65-F5344CB8AC3E}">
        <p14:creationId xmlns:p14="http://schemas.microsoft.com/office/powerpoint/2010/main" val="2844244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9144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789860-53D7-4A2F-A2FA-BDBE5A74B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6" y="2609376"/>
            <a:ext cx="8176104" cy="13100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D50EDD9-A512-4548-9A09-B82055A9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36802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Ao final do primeiro ano...</a:t>
            </a:r>
          </a:p>
        </p:txBody>
      </p:sp>
    </p:spTree>
    <p:extLst>
      <p:ext uri="{BB962C8B-B14F-4D97-AF65-F5344CB8AC3E}">
        <p14:creationId xmlns:p14="http://schemas.microsoft.com/office/powerpoint/2010/main" val="3102215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9144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3">
            <a:extLst>
              <a:ext uri="{FF2B5EF4-FFF2-40B4-BE49-F238E27FC236}">
                <a16:creationId xmlns:a16="http://schemas.microsoft.com/office/drawing/2014/main" id="{D3B30AB5-31D4-4F80-9700-DC2F6450C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56" y="450568"/>
            <a:ext cx="9050481" cy="334718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97C3734-ED06-429D-B29C-78DD6A49A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36802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Durante e no final do 2o ano…</a:t>
            </a:r>
          </a:p>
        </p:txBody>
      </p:sp>
    </p:spTree>
    <p:extLst>
      <p:ext uri="{BB962C8B-B14F-4D97-AF65-F5344CB8AC3E}">
        <p14:creationId xmlns:p14="http://schemas.microsoft.com/office/powerpoint/2010/main" val="3060036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9144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3">
            <a:extLst>
              <a:ext uri="{FF2B5EF4-FFF2-40B4-BE49-F238E27FC236}">
                <a16:creationId xmlns:a16="http://schemas.microsoft.com/office/drawing/2014/main" id="{2CEDD43C-6DC9-46CC-AECB-D89E0F82B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95635"/>
            <a:ext cx="9175565" cy="2438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956A919-121A-4DB2-BFE7-3F00A92F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36802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Durante e ao final do 3º ano</a:t>
            </a:r>
          </a:p>
        </p:txBody>
      </p:sp>
    </p:spTree>
    <p:extLst>
      <p:ext uri="{BB962C8B-B14F-4D97-AF65-F5344CB8AC3E}">
        <p14:creationId xmlns:p14="http://schemas.microsoft.com/office/powerpoint/2010/main" val="810519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1726</Words>
  <Application>Microsoft Office PowerPoint</Application>
  <PresentationFormat>Apresentação na tela (4:3)</PresentationFormat>
  <Paragraphs>91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do Office</vt:lpstr>
      <vt:lpstr>IFRS 16 – Arrendamento Mercantil (Leases)</vt:lpstr>
      <vt:lpstr>Como é o mundo dos contratos de leasing até agora (IAS 17)? </vt:lpstr>
      <vt:lpstr>A mudança: IFRS 16</vt:lpstr>
      <vt:lpstr>Uma visão comparativa – balanço patrimonial</vt:lpstr>
      <vt:lpstr>Uma visão comparativa - DRE</vt:lpstr>
      <vt:lpstr>IFRS 16: Definição de contrato de leasing</vt:lpstr>
      <vt:lpstr>Direitos substantivos de substituição</vt:lpstr>
      <vt:lpstr>Direito de obter benefícios econômicos do uso </vt:lpstr>
      <vt:lpstr>Direito de direcionar o uso </vt:lpstr>
      <vt:lpstr>Exemplo 1B: o ativo é especificado?</vt:lpstr>
      <vt:lpstr>Exemplo 8 – o cliente controla o ativo especificado (fábrica)?</vt:lpstr>
      <vt:lpstr>Exemplo 9A – o cliente controla o ativo especificado?</vt:lpstr>
      <vt:lpstr>Apresentação do PowerPoint</vt:lpstr>
      <vt:lpstr>Reconhecimento e mensuração inicial – o ‘lado’ do ativo</vt:lpstr>
      <vt:lpstr>Reconhecimento e mensuração inicial – o ‘lado’ do passivo</vt:lpstr>
      <vt:lpstr>Quais pagamentos futuros tem que ser incluídos no valor do passivo por arrendamento?</vt:lpstr>
      <vt:lpstr>Um exemplo simples...</vt:lpstr>
      <vt:lpstr>Apresentação do PowerPoint</vt:lpstr>
      <vt:lpstr>Exemplo 14 A</vt:lpstr>
      <vt:lpstr>Reconhecimento inicial</vt:lpstr>
      <vt:lpstr>Ao final do primeiro ano...</vt:lpstr>
      <vt:lpstr>Durante e no final do 2o ano…</vt:lpstr>
      <vt:lpstr>Durante e ao final do 3º ano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IFRS 16 – Arrendamento Mercantil (Leases)</dc:title>
  <dc:creator>Guillermo Braunbeck</dc:creator>
  <cp:lastModifiedBy>Fábio Luiz de Carvalho</cp:lastModifiedBy>
  <cp:revision>16</cp:revision>
  <dcterms:created xsi:type="dcterms:W3CDTF">2017-11-07T17:04:15Z</dcterms:created>
  <dcterms:modified xsi:type="dcterms:W3CDTF">2019-02-14T13:40:57Z</dcterms:modified>
</cp:coreProperties>
</file>