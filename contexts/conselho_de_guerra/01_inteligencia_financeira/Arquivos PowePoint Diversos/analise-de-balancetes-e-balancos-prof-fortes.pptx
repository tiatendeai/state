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97" r:id="rId24"/>
    <p:sldId id="299" r:id="rId25"/>
    <p:sldId id="280" r:id="rId26"/>
    <p:sldId id="286" r:id="rId27"/>
    <p:sldId id="287" r:id="rId28"/>
    <p:sldId id="300" r:id="rId29"/>
    <p:sldId id="284" r:id="rId30"/>
    <p:sldId id="285" r:id="rId31"/>
    <p:sldId id="295" r:id="rId32"/>
    <p:sldId id="289" r:id="rId33"/>
    <p:sldId id="290" r:id="rId34"/>
    <p:sldId id="296" r:id="rId35"/>
    <p:sldId id="291" r:id="rId36"/>
    <p:sldId id="292" r:id="rId37"/>
    <p:sldId id="301" r:id="rId38"/>
    <p:sldId id="303" r:id="rId39"/>
    <p:sldId id="304" r:id="rId40"/>
    <p:sldId id="293" r:id="rId41"/>
    <p:sldId id="294" r:id="rId42"/>
    <p:sldId id="302" r:id="rId4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7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63B90-0F87-41AD-AB86-9FB4CBD79DD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6E1F1-B73C-4389-ABA4-DB5FB7487034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9FC81510-B4BE-4172-88A4-F19BBAC48904}" type="slidenum">
              <a:rPr lang="en-US">
                <a:latin typeface="Century Gothic" pitchFamily="34" charset="0"/>
              </a:rPr>
              <a:pPr>
                <a:defRPr/>
              </a:pPr>
              <a:t>1</a:t>
            </a:fld>
            <a:endParaRPr lang="en-US">
              <a:latin typeface="Century Gothic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60325"/>
            <a:ext cx="9144000" cy="523220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PLANO DE CONTAS </a:t>
            </a: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APLICADO AO SETOR PÚBLICO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5822791"/>
              </p:ext>
            </p:extLst>
          </p:nvPr>
        </p:nvGraphicFramePr>
        <p:xfrm>
          <a:off x="35496" y="620688"/>
          <a:ext cx="9145016" cy="5510350"/>
        </p:xfrm>
        <a:graphic>
          <a:graphicData uri="http://schemas.openxmlformats.org/drawingml/2006/table">
            <a:tbl>
              <a:tblPr/>
              <a:tblGrid>
                <a:gridCol w="464506"/>
                <a:gridCol w="3927982"/>
                <a:gridCol w="616361"/>
                <a:gridCol w="4136167"/>
              </a:tblGrid>
              <a:tr h="140345"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 smtClean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1</a:t>
                      </a:r>
                      <a:endParaRPr lang="pt-BR" sz="2400" b="1" i="0" u="none" strike="noStrike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ATIVO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2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PASSIVO E </a:t>
                      </a:r>
                      <a:r>
                        <a:rPr lang="pt-BR" sz="2400" b="1" i="0" u="none" strike="noStrike" dirty="0" smtClean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PATRIMÔNIO </a:t>
                      </a:r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LÍQUIDO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74833"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92186"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0345"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VARIAÇÃO PATRIMONIAL DIMINUTIVA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VARIAÇÃO PATRIMONIAL AUMENTATIVA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endParaRPr lang="pt-BR" sz="240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400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8296"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5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CONTROLES DE APROVAÇÃO DO PLANEJAMENTO E ORÇAMENTO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6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CONTROLES DA EXECUÇÃO DO ORÇAMENTO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0345">
                <a:tc>
                  <a:txBody>
                    <a:bodyPr/>
                    <a:lstStyle/>
                    <a:p>
                      <a:pPr algn="l" fontAlgn="t"/>
                      <a:endParaRPr lang="pt-BR" sz="2400" b="1" i="0" u="none" strike="noStrike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pt-BR" sz="2400" b="1" i="0" u="none" strike="noStrike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pt-BR" sz="2400" b="1" i="0" u="none" strike="noStrike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pt-BR" sz="2400" b="1" i="0" u="none" strike="noStrike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0345"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7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CONTROLES DEVEDORES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8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400" b="1" i="0" u="none" strike="noStrike" dirty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CONTROLES </a:t>
                      </a:r>
                      <a:r>
                        <a:rPr lang="pt-BR" sz="2400" b="1" i="0" u="none" strike="noStrike" dirty="0" smtClean="0">
                          <a:solidFill>
                            <a:schemeClr val="tx1"/>
                          </a:solidFill>
                          <a:latin typeface="Century Gothic" pitchFamily="34" charset="0"/>
                        </a:rPr>
                        <a:t>CREDORES</a:t>
                      </a:r>
                      <a:endParaRPr lang="pt-BR" sz="2400" b="1" i="0" u="none" strike="noStrike" dirty="0">
                        <a:solidFill>
                          <a:schemeClr val="tx1"/>
                        </a:solidFill>
                        <a:latin typeface="Century Gothic" pitchFamily="34" charset="0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9FC81510-B4BE-4172-88A4-F19BBAC48904}" type="slidenum">
              <a:rPr lang="en-US">
                <a:latin typeface="Century Gothic" pitchFamily="34" charset="0"/>
              </a:rPr>
              <a:pPr>
                <a:defRPr/>
              </a:pPr>
              <a:t>2</a:t>
            </a:fld>
            <a:endParaRPr lang="en-US">
              <a:latin typeface="Century Gothic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60325"/>
            <a:ext cx="9144000" cy="523220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PLANO DE CONTAS </a:t>
            </a: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APLICADO AO SETOR PÚBLICO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81522245"/>
              </p:ext>
            </p:extLst>
          </p:nvPr>
        </p:nvGraphicFramePr>
        <p:xfrm>
          <a:off x="71470" y="857232"/>
          <a:ext cx="9144000" cy="6001080"/>
        </p:xfrm>
        <a:graphic>
          <a:graphicData uri="http://schemas.openxmlformats.org/drawingml/2006/table">
            <a:tbl>
              <a:tblPr/>
              <a:tblGrid>
                <a:gridCol w="500002"/>
                <a:gridCol w="4194723"/>
                <a:gridCol w="349620"/>
                <a:gridCol w="4099655"/>
              </a:tblGrid>
              <a:tr h="140345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ATIVO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FF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PASSIVO E PATRIMÔNIO LÍQUIDO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CIRCULANTE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latin typeface="Century Gothic"/>
                        </a:rPr>
                        <a:t>2.1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latin typeface="Century Gothic"/>
                        </a:rPr>
                        <a:t>CIRCULANTE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NÃO CIRCULANTE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latin typeface="Century Gothic"/>
                        </a:rPr>
                        <a:t>2.2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latin typeface="Century Gothic"/>
                        </a:rPr>
                        <a:t>NÃO CIRCULANTE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7483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1.2.1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Realizável a Longo Prazo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latin typeface="Century Gothic"/>
                        </a:rPr>
                        <a:t>2.3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>
                          <a:latin typeface="Century Gothic"/>
                        </a:rPr>
                        <a:t>PATRIMÔNIO LÍQUIDO</a:t>
                      </a: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292186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1.2.2</a:t>
                      </a:r>
                    </a:p>
                    <a:p>
                      <a:pPr algn="l" fontAlgn="t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1.2.3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b="1" i="0" u="none" strike="noStrike" dirty="0" err="1" smtClean="0">
                          <a:solidFill>
                            <a:srgbClr val="000000"/>
                          </a:solidFill>
                          <a:latin typeface="Century Gothic"/>
                        </a:rPr>
                        <a:t>Investimentos</a:t>
                      </a:r>
                      <a:r>
                        <a:rPr lang="en-US" sz="1500" b="1" i="0" u="none" strike="noStrike" baseline="0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</a:t>
                      </a:r>
                      <a:endParaRPr lang="pt-BR" sz="1500" b="1" i="0" u="none" strike="noStrike" baseline="0" dirty="0" smtClean="0">
                        <a:solidFill>
                          <a:srgbClr val="000000"/>
                        </a:solidFill>
                        <a:latin typeface="Century Gothic"/>
                      </a:endParaRPr>
                    </a:p>
                    <a:p>
                      <a:pPr algn="l" fontAlgn="t"/>
                      <a:r>
                        <a:rPr lang="en-US" sz="1500" b="1" i="0" u="none" strike="noStrike" baseline="0" dirty="0" err="1" smtClean="0">
                          <a:solidFill>
                            <a:srgbClr val="000000"/>
                          </a:solidFill>
                          <a:latin typeface="Century Gothic"/>
                        </a:rPr>
                        <a:t>Imobilizado</a:t>
                      </a:r>
                      <a:r>
                        <a:rPr lang="en-US" sz="1500" b="1" i="0" u="none" strike="noStrike" baseline="0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1.2.4 - </a:t>
                      </a:r>
                      <a:r>
                        <a:rPr lang="en-US" sz="1500" b="1" i="0" u="none" strike="noStrike" baseline="0" dirty="0" err="1" smtClean="0">
                          <a:solidFill>
                            <a:srgbClr val="000000"/>
                          </a:solidFill>
                          <a:latin typeface="Century Gothic"/>
                        </a:rPr>
                        <a:t>Intangível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500" b="0" i="0" u="none" strike="noStrike" dirty="0">
                        <a:latin typeface="Century Gothic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500" b="0" i="0" u="none" strike="noStrike" dirty="0">
                        <a:latin typeface="Century Gothic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0345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VARIAÇÃO PATRIMONIAL DIMINUTIVA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VARIAÇÃO PATRIMONIAL AUMENTATIVA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3.1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Pessoal e Encargos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4.1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Impostos,</a:t>
                      </a:r>
                      <a:r>
                        <a:rPr lang="pt-BR" sz="1500" b="1" i="0" u="none" strike="noStrike" baseline="0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Taxas e Cont. de Melhorias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3.2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Benefícios </a:t>
                      </a:r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Previdenciários</a:t>
                      </a:r>
                      <a:r>
                        <a:rPr lang="pt-BR" sz="1500" b="1" i="0" u="none" strike="noStrike" baseline="0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e</a:t>
                      </a:r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Assistenciais 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4.2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Contribuições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Uso de </a:t>
                      </a:r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Bens, Serviços e Cons. de Cap. Fixo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4.3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Exploração de Bens e Serviços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VPD - Financeiras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4.4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VPA - Financeiras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Transferências Concedidas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4.5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Transferências  Recebidas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3.6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Desvalorização</a:t>
                      </a:r>
                      <a:r>
                        <a:rPr lang="pt-BR" sz="1500" b="1" i="0" u="none" strike="noStrike" baseline="0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 e Perdas de Ativos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 smtClean="0">
                          <a:latin typeface="Century Gothic"/>
                        </a:rPr>
                        <a:t>4.6 </a:t>
                      </a:r>
                      <a:endParaRPr lang="pt-BR" sz="1500" b="1" i="0" u="none" strike="noStrike" dirty="0">
                        <a:latin typeface="Century Gothic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 dirty="0" smtClean="0">
                          <a:latin typeface="Century Gothic"/>
                        </a:rPr>
                        <a:t>Valorização e Ganhos de Ativos</a:t>
                      </a:r>
                      <a:endParaRPr lang="pt-BR" sz="1500" b="1" i="0" u="none" strike="noStrike" dirty="0">
                        <a:latin typeface="Century Gothic"/>
                      </a:endParaRPr>
                    </a:p>
                  </a:txBody>
                  <a:tcPr marL="2395" marR="2395" marT="239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3.7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Tributárias 3.9 – Outras VPD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4.9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Outras Variações Patrimoniais Aumentativas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8296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CONTROLES DE APROVAÇÃO DO PLANEJAMENTO E ORÇAMENTO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CONTROLES DA EXECUÇÃO DO ORÇAMENTO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5.1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Planejamento Aprovado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6.1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do Planejamento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5.2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Orçamento Aprovado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6.2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do Orçamento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5.3 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Inscrição de Restos a Pagar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6.3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de Restos a Pagar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</a:tr>
              <a:tr h="140345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CONTROLES DEVEDORES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FF0000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FF0000"/>
                          </a:solidFill>
                          <a:latin typeface="Century Gothic"/>
                        </a:rPr>
                        <a:t>CONTROLES </a:t>
                      </a:r>
                      <a:r>
                        <a:rPr lang="pt-BR" sz="1500" b="1" i="0" u="none" strike="noStrike" dirty="0" smtClean="0">
                          <a:solidFill>
                            <a:srgbClr val="FF0000"/>
                          </a:solidFill>
                          <a:latin typeface="Century Gothic"/>
                        </a:rPr>
                        <a:t>CREDORES</a:t>
                      </a:r>
                      <a:endParaRPr lang="pt-BR" sz="1500" b="1" i="0" u="none" strike="noStrike" dirty="0">
                        <a:solidFill>
                          <a:srgbClr val="FF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Atos Potenciais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8.1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dos Atos Potenciais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Programação Financeira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8.2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da Programação Financeira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Dívida Ativa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8.3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da Dívida Ativa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Riscos Fiscais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entury Gothic"/>
                        </a:rPr>
                        <a:t>8.4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Execução dos Riscos Fiscais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Custos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8.8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Apuração de Custos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46093"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7.9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Outros Controles Devedores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8.9</a:t>
                      </a: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entury Gothic"/>
                        </a:rPr>
                        <a:t> Outros Controles </a:t>
                      </a:r>
                      <a:r>
                        <a:rPr lang="pt-BR" sz="1500" b="1" i="0" u="none" strike="noStrike" dirty="0" smtClean="0">
                          <a:solidFill>
                            <a:srgbClr val="000000"/>
                          </a:solidFill>
                          <a:latin typeface="Century Gothic"/>
                        </a:rPr>
                        <a:t>Credores</a:t>
                      </a:r>
                      <a:endParaRPr lang="pt-BR" sz="1500" b="1" i="0" u="none" strike="noStrike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2395" marR="2395" marT="239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523220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PLANO DE CONTAS </a:t>
            </a: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APLICADO AO SETOR PÚBLICO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sp>
        <p:nvSpPr>
          <p:cNvPr id="3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F1E13F33-037E-4D4A-BC86-547390741CE4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85842" y="500042"/>
            <a:ext cx="8001000" cy="36933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b="1" dirty="0">
                <a:solidFill>
                  <a:schemeClr val="bg1"/>
                </a:solidFill>
                <a:latin typeface="Century Gothic" pitchFamily="34" charset="0"/>
              </a:rPr>
              <a:t>O PLANO DE CONTAS DIVIDE-SE EM </a:t>
            </a:r>
            <a:r>
              <a:rPr lang="pt-BR" b="1" dirty="0" smtClean="0">
                <a:solidFill>
                  <a:schemeClr val="bg1"/>
                </a:solidFill>
                <a:latin typeface="Century Gothic" pitchFamily="34" charset="0"/>
              </a:rPr>
              <a:t>QUATRO </a:t>
            </a:r>
            <a:r>
              <a:rPr lang="pt-BR" b="1" dirty="0">
                <a:solidFill>
                  <a:schemeClr val="bg1"/>
                </a:solidFill>
                <a:latin typeface="Century Gothic" pitchFamily="34" charset="0"/>
              </a:rPr>
              <a:t>PARTES: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0" y="785794"/>
            <a:ext cx="9144000" cy="1152524"/>
          </a:xfrm>
          <a:prstGeom prst="upArrowCallout">
            <a:avLst>
              <a:gd name="adj1" fmla="val 169118"/>
              <a:gd name="adj2" fmla="val 169118"/>
              <a:gd name="adj3" fmla="val 26102"/>
              <a:gd name="adj4" fmla="val 6973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>
              <a:latin typeface="Century Gothic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42844" y="1374946"/>
            <a:ext cx="3581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>
                <a:latin typeface="Century Gothic" pitchFamily="34" charset="0"/>
              </a:rPr>
              <a:t>I - CONTAS PATRIMONIAIS</a:t>
            </a:r>
            <a:r>
              <a:rPr lang="pt-BR" sz="1600" dirty="0">
                <a:latin typeface="Century Gothic" pitchFamily="34" charset="0"/>
              </a:rPr>
              <a:t>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286116" y="1220916"/>
            <a:ext cx="444344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>
                <a:latin typeface="Century Gothic" pitchFamily="34" charset="0"/>
              </a:rPr>
              <a:t>1. ATIVO</a:t>
            </a:r>
          </a:p>
          <a:p>
            <a:pPr algn="just" eaLnBrk="0" hangingPunct="0">
              <a:spcBef>
                <a:spcPct val="50000"/>
              </a:spcBef>
            </a:pPr>
            <a:r>
              <a:rPr lang="pt-BR" sz="1600" b="1" dirty="0">
                <a:latin typeface="Century Gothic" pitchFamily="34" charset="0"/>
              </a:rPr>
              <a:t>2. </a:t>
            </a:r>
            <a:r>
              <a:rPr lang="pt-BR" sz="1600" b="1" dirty="0" smtClean="0">
                <a:latin typeface="Century Gothic" pitchFamily="34" charset="0"/>
              </a:rPr>
              <a:t>PASSIVO E PATRIMÔNIO LIQUIDO</a:t>
            </a:r>
            <a:endParaRPr lang="pt-BR" sz="1600" b="1" dirty="0">
              <a:latin typeface="Century Gothic" pitchFamily="34" charset="0"/>
            </a:endParaRP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3071802" y="1214422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0" y="1857364"/>
            <a:ext cx="9144000" cy="1476366"/>
          </a:xfrm>
          <a:prstGeom prst="upArrowCallout">
            <a:avLst>
              <a:gd name="adj1" fmla="val 51812"/>
              <a:gd name="adj2" fmla="val 70904"/>
              <a:gd name="adj3" fmla="val 27884"/>
              <a:gd name="adj4" fmla="val 6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>
              <a:latin typeface="Century Gothic" pitchFamily="34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42844" y="2733256"/>
            <a:ext cx="342902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>
                <a:latin typeface="Century Gothic" pitchFamily="34" charset="0"/>
              </a:rPr>
              <a:t>II </a:t>
            </a:r>
            <a:r>
              <a:rPr lang="pt-BR" sz="1600" b="1" dirty="0" smtClean="0">
                <a:latin typeface="Century Gothic" pitchFamily="34" charset="0"/>
              </a:rPr>
              <a:t>– </a:t>
            </a:r>
            <a:r>
              <a:rPr lang="pt-BR" sz="1600" b="1" dirty="0">
                <a:latin typeface="Century Gothic" pitchFamily="34" charset="0"/>
              </a:rPr>
              <a:t>CONTAS </a:t>
            </a:r>
            <a:r>
              <a:rPr lang="pt-BR" sz="1600" b="1" dirty="0" smtClean="0">
                <a:latin typeface="Century Gothic" pitchFamily="34" charset="0"/>
              </a:rPr>
              <a:t>DE RESULTADO</a:t>
            </a:r>
            <a:endParaRPr lang="pt-BR" sz="1600" dirty="0">
              <a:latin typeface="Century Gothic" pitchFamily="34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733808" y="2453152"/>
            <a:ext cx="491015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3 – VAR. PATRIMONIAL DIMINUTIVA (VPD)                      </a:t>
            </a:r>
            <a:endParaRPr lang="pt-BR" sz="1600" b="1" dirty="0">
              <a:latin typeface="Century Gothic" pitchFamily="34" charset="0"/>
            </a:endParaRPr>
          </a:p>
        </p:txBody>
      </p:sp>
      <p:sp>
        <p:nvSpPr>
          <p:cNvPr id="12" name="AutoShape 13"/>
          <p:cNvSpPr>
            <a:spLocks/>
          </p:cNvSpPr>
          <p:nvPr/>
        </p:nvSpPr>
        <p:spPr bwMode="auto">
          <a:xfrm>
            <a:off x="3571868" y="2500306"/>
            <a:ext cx="123812" cy="857256"/>
          </a:xfrm>
          <a:prstGeom prst="leftBrace">
            <a:avLst>
              <a:gd name="adj1" fmla="val 1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738570" y="2953218"/>
            <a:ext cx="59055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4 – VAR. PATRIMONIAL AUMENTATIVA (VPA</a:t>
            </a:r>
            <a:r>
              <a:rPr lang="pt-BR" sz="1600" b="1" dirty="0">
                <a:latin typeface="Century Gothic" pitchFamily="34" charset="0"/>
              </a:rPr>
              <a:t>)</a:t>
            </a:r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0" y="4714884"/>
            <a:ext cx="8991600" cy="2143116"/>
          </a:xfrm>
          <a:prstGeom prst="upArrowCallout">
            <a:avLst>
              <a:gd name="adj1" fmla="val 35715"/>
              <a:gd name="adj2" fmla="val 136905"/>
              <a:gd name="adj3" fmla="val 16667"/>
              <a:gd name="adj4" fmla="val 8081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142844" y="5603884"/>
            <a:ext cx="3962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IV </a:t>
            </a:r>
            <a:r>
              <a:rPr lang="pt-BR" sz="1600" b="1" dirty="0">
                <a:latin typeface="Century Gothic" pitchFamily="34" charset="0"/>
              </a:rPr>
              <a:t>- CONTAS DE COTROLE</a:t>
            </a:r>
            <a:endParaRPr lang="pt-BR" sz="1600" dirty="0">
              <a:latin typeface="Century Gothic" pitchFamily="34" charset="0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3143240" y="5072074"/>
            <a:ext cx="4343400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en-US" sz="1600" b="1" dirty="0" smtClean="0">
                <a:latin typeface="Century Gothic" pitchFamily="34" charset="0"/>
              </a:rPr>
              <a:t>7.1/8.1 – ATOS POTENCIAIS</a:t>
            </a:r>
            <a:endParaRPr lang="pt-BR" sz="1600" b="1" dirty="0" smtClean="0">
              <a:latin typeface="Century Gothic" pitchFamily="34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7.2/8.2 –PROGRAMAÇÃO FINANCEIRA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sz="1600" b="1" dirty="0" smtClean="0">
                <a:latin typeface="Century Gothic" pitchFamily="34" charset="0"/>
              </a:rPr>
              <a:t>7.3/8.3 – DÍVIDA ATIVA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sz="1600" b="1" dirty="0" smtClean="0">
                <a:latin typeface="Century Gothic" pitchFamily="34" charset="0"/>
              </a:rPr>
              <a:t>7.4/8.4 – RISCOS FISCAIS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sz="1600" b="1" smtClean="0">
                <a:latin typeface="Century Gothic" pitchFamily="34" charset="0"/>
              </a:rPr>
              <a:t>7.8/8.8 </a:t>
            </a:r>
            <a:r>
              <a:rPr lang="en-US" sz="1600" b="1" dirty="0" smtClean="0">
                <a:latin typeface="Century Gothic" pitchFamily="34" charset="0"/>
              </a:rPr>
              <a:t>- CUSTOS</a:t>
            </a:r>
          </a:p>
          <a:p>
            <a:pPr algn="just" eaLnBrk="0" hangingPunct="0">
              <a:spcBef>
                <a:spcPct val="50000"/>
              </a:spcBef>
            </a:pPr>
            <a:endParaRPr lang="pt-BR" sz="1600" dirty="0">
              <a:latin typeface="Century Gothic" pitchFamily="34" charset="0"/>
            </a:endParaRPr>
          </a:p>
        </p:txBody>
      </p:sp>
      <p:sp>
        <p:nvSpPr>
          <p:cNvPr id="17" name="AutoShape 25"/>
          <p:cNvSpPr>
            <a:spLocks/>
          </p:cNvSpPr>
          <p:nvPr/>
        </p:nvSpPr>
        <p:spPr bwMode="auto">
          <a:xfrm>
            <a:off x="2928926" y="5143512"/>
            <a:ext cx="142876" cy="1714488"/>
          </a:xfrm>
          <a:prstGeom prst="leftBrace">
            <a:avLst>
              <a:gd name="adj1" fmla="val 1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0" y="3286124"/>
            <a:ext cx="9144000" cy="1500198"/>
          </a:xfrm>
          <a:prstGeom prst="upArrowCallout">
            <a:avLst>
              <a:gd name="adj1" fmla="val 40505"/>
              <a:gd name="adj2" fmla="val 70904"/>
              <a:gd name="adj3" fmla="val 25979"/>
              <a:gd name="adj4" fmla="val 69317"/>
            </a:avLst>
          </a:prstGeom>
          <a:blipFill>
            <a:blip r:embed="rId2" cstate="print"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>
              <a:latin typeface="Century Gothic" pitchFamily="34" charset="0"/>
            </a:endParaRP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42844" y="4071942"/>
            <a:ext cx="4632410" cy="338554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III </a:t>
            </a:r>
            <a:r>
              <a:rPr lang="pt-BR" sz="1600" b="1" dirty="0">
                <a:latin typeface="Century Gothic" pitchFamily="34" charset="0"/>
              </a:rPr>
              <a:t>- CONTAS </a:t>
            </a:r>
            <a:r>
              <a:rPr lang="pt-BR" sz="1600" b="1" dirty="0" smtClean="0">
                <a:latin typeface="Century Gothic" pitchFamily="34" charset="0"/>
              </a:rPr>
              <a:t>DE CONTROLE DO ORÇAMENTO</a:t>
            </a:r>
            <a:r>
              <a:rPr lang="pt-BR" sz="1600" dirty="0" smtClean="0">
                <a:latin typeface="Century Gothic" pitchFamily="34" charset="0"/>
              </a:rPr>
              <a:t> </a:t>
            </a:r>
            <a:endParaRPr lang="pt-BR" sz="1600" dirty="0">
              <a:latin typeface="Century Gothic" pitchFamily="34" charset="0"/>
            </a:endParaRPr>
          </a:p>
        </p:txBody>
      </p:sp>
      <p:sp>
        <p:nvSpPr>
          <p:cNvPr id="20" name="AutoShape 13"/>
          <p:cNvSpPr>
            <a:spLocks/>
          </p:cNvSpPr>
          <p:nvPr/>
        </p:nvSpPr>
        <p:spPr bwMode="auto">
          <a:xfrm>
            <a:off x="4662502" y="3786190"/>
            <a:ext cx="123812" cy="1000132"/>
          </a:xfrm>
          <a:prstGeom prst="leftBrace">
            <a:avLst>
              <a:gd name="adj1" fmla="val 1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843466" y="3714752"/>
            <a:ext cx="4300534" cy="1077218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5.1/6.1. CONTROLE DO PLANEJAMENTO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sz="1600" b="1" dirty="0" smtClean="0">
                <a:latin typeface="Century Gothic" pitchFamily="34" charset="0"/>
              </a:rPr>
              <a:t>5.2/6.2 . CONTROLE DO ORÇAMWNTO</a:t>
            </a:r>
            <a:endParaRPr lang="pt-BR" sz="1600" b="1" dirty="0">
              <a:latin typeface="Century Gothic" pitchFamily="34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pt-BR" sz="1600" b="1" dirty="0" smtClean="0">
                <a:latin typeface="Century Gothic" pitchFamily="34" charset="0"/>
              </a:rPr>
              <a:t>5.3/6.3. CONTROLE DOS RESTOS A PAGAR</a:t>
            </a:r>
            <a:endParaRPr lang="pt-BR" sz="1600" b="1" dirty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4" grpId="0" animBg="1" autoUpdateAnimBg="0"/>
      <p:bldP spid="5" grpId="0" animBg="1"/>
      <p:bldP spid="6" grpId="0" autoUpdateAnimBg="0"/>
      <p:bldP spid="7" grpId="0" autoUpdateAnimBg="0"/>
      <p:bldP spid="8" grpId="0" animBg="1"/>
      <p:bldP spid="9" grpId="0" animBg="1"/>
      <p:bldP spid="10" grpId="0" autoUpdateAnimBg="0"/>
      <p:bldP spid="11" grpId="0" autoUpdateAnimBg="0"/>
      <p:bldP spid="12" grpId="0" animBg="1"/>
      <p:bldP spid="13" grpId="0" autoUpdateAnimBg="0"/>
      <p:bldP spid="14" grpId="0" animBg="1"/>
      <p:bldP spid="15" grpId="0" autoUpdateAnimBg="0"/>
      <p:bldP spid="16" grpId="0" autoUpdateAnimBg="0"/>
      <p:bldP spid="17" grpId="0" animBg="1"/>
      <p:bldP spid="18" grpId="0" animBg="1"/>
      <p:bldP spid="19" grpId="0" animBg="1" autoUpdateAnimBg="0"/>
      <p:bldP spid="20" grpId="0" animBg="1"/>
      <p:bldP spid="21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14ACAD93-4102-411E-97C5-5D59058E02F2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0" y="60325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SISTEMAS </a:t>
            </a: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DE CONTAS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533400" y="4176806"/>
            <a:ext cx="7696200" cy="12618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1900" b="1" dirty="0">
                <a:latin typeface="Century Gothic" pitchFamily="34" charset="0"/>
              </a:rPr>
              <a:t>CONTAS PATRIMONIAIS E DE RESULTADO - </a:t>
            </a:r>
            <a:r>
              <a:rPr lang="pt-BR" sz="1900" b="1" i="1" dirty="0">
                <a:latin typeface="Century Gothic" pitchFamily="34" charset="0"/>
              </a:rPr>
              <a:t>Relacionadas com o fluxo de caixa (entradas e saídas de recursos) - Fatos de </a:t>
            </a:r>
            <a:r>
              <a:rPr lang="pt-BR" sz="1900" b="1" i="1" dirty="0" smtClean="0">
                <a:latin typeface="Century Gothic" pitchFamily="34" charset="0"/>
              </a:rPr>
              <a:t>Caixa e os Fatos Extra caixa. Envolve todas as contas patrimoniais (1 e 2) e as contas de resultado (3 e 4)</a:t>
            </a:r>
            <a:endParaRPr lang="pt-BR" sz="1900" b="1" dirty="0">
              <a:latin typeface="Century Gothic" pitchFamily="34" charset="0"/>
            </a:endParaRPr>
          </a:p>
        </p:txBody>
      </p:sp>
      <p:sp>
        <p:nvSpPr>
          <p:cNvPr id="25" name="AutoShape 7"/>
          <p:cNvSpPr>
            <a:spLocks noChangeArrowheads="1"/>
          </p:cNvSpPr>
          <p:nvPr/>
        </p:nvSpPr>
        <p:spPr bwMode="auto">
          <a:xfrm>
            <a:off x="762000" y="2204864"/>
            <a:ext cx="7086600" cy="1447800"/>
          </a:xfrm>
          <a:prstGeom prst="downArrowCallout">
            <a:avLst>
              <a:gd name="adj1" fmla="val 122368"/>
              <a:gd name="adj2" fmla="val 122368"/>
              <a:gd name="adj3" fmla="val 16667"/>
              <a:gd name="adj4" fmla="val 66667"/>
            </a:avLst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990600" y="2420888"/>
            <a:ext cx="6705600" cy="519113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SUBSISTEMA PATRIMONIAL</a:t>
            </a:r>
            <a:endParaRPr lang="pt-BR" sz="24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 autoUpdateAnimBg="0"/>
      <p:bldP spid="24" grpId="0" animBg="1"/>
      <p:bldP spid="25" grpId="0" animBg="1"/>
      <p:bldP spid="25" grpId="1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9F16CB83-D1E5-49CF-9E36-93AFEAF1325E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AutoShape 25"/>
          <p:cNvSpPr>
            <a:spLocks noChangeArrowheads="1"/>
          </p:cNvSpPr>
          <p:nvPr/>
        </p:nvSpPr>
        <p:spPr bwMode="auto">
          <a:xfrm>
            <a:off x="304800" y="4724400"/>
            <a:ext cx="8305800" cy="21336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381000" y="762000"/>
            <a:ext cx="8077200" cy="1981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>
              <a:latin typeface="Century Gothic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0802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4000" b="1">
                <a:solidFill>
                  <a:srgbClr val="FFFFFF"/>
                </a:solidFill>
                <a:latin typeface="Century Gothic" pitchFamily="34" charset="0"/>
              </a:rPr>
              <a:t>SISTEMAS DE CONTAS</a:t>
            </a: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762000" y="2667000"/>
            <a:ext cx="7086600" cy="990600"/>
          </a:xfrm>
          <a:prstGeom prst="upArrowCallout">
            <a:avLst>
              <a:gd name="adj1" fmla="val 178846"/>
              <a:gd name="adj2" fmla="val 176892"/>
              <a:gd name="adj3" fmla="val 27852"/>
              <a:gd name="adj4" fmla="val 6875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143000" y="3048000"/>
            <a:ext cx="6019800" cy="519113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>
                <a:solidFill>
                  <a:schemeClr val="bg1"/>
                </a:solidFill>
                <a:latin typeface="Century Gothic" pitchFamily="34" charset="0"/>
              </a:rPr>
              <a:t>SUBSISTEMA ORÇAMENTÁRIO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3400" y="809625"/>
            <a:ext cx="182880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50000"/>
              </a:spcBef>
            </a:pP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 dirty="0">
                <a:solidFill>
                  <a:schemeClr val="bg1"/>
                </a:solidFill>
                <a:latin typeface="Century Gothic" pitchFamily="34" charset="0"/>
              </a:rPr>
              <a:t>CONTAS</a:t>
            </a: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 dirty="0">
                <a:solidFill>
                  <a:schemeClr val="bg1"/>
                </a:solidFill>
                <a:latin typeface="Century Gothic" pitchFamily="34" charset="0"/>
              </a:rPr>
              <a:t>DE </a:t>
            </a: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 dirty="0">
                <a:solidFill>
                  <a:schemeClr val="bg1"/>
                </a:solidFill>
                <a:latin typeface="Century Gothic" pitchFamily="34" charset="0"/>
              </a:rPr>
              <a:t>CONTROLE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62000" y="3733800"/>
            <a:ext cx="7086600" cy="1143000"/>
          </a:xfrm>
          <a:prstGeom prst="downArrowCallout">
            <a:avLst>
              <a:gd name="adj1" fmla="val 155000"/>
              <a:gd name="adj2" fmla="val 155000"/>
              <a:gd name="adj3" fmla="val 16667"/>
              <a:gd name="adj4" fmla="val 66667"/>
            </a:avLst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90600" y="3824288"/>
            <a:ext cx="6705600" cy="519112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>
                <a:solidFill>
                  <a:srgbClr val="FFFFFF"/>
                </a:solidFill>
                <a:latin typeface="Century Gothic" pitchFamily="34" charset="0"/>
              </a:rPr>
              <a:t>SUBSISTEMA DE COMPENSAÇÃO</a:t>
            </a:r>
            <a:endParaRPr lang="pt-BR" sz="2400" b="1">
              <a:solidFill>
                <a:srgbClr val="FFFFFF"/>
              </a:solidFill>
              <a:latin typeface="Century Gothic" pitchFamily="34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33400" y="5029200"/>
            <a:ext cx="167640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50000"/>
              </a:spcBef>
            </a:pPr>
            <a:endParaRPr lang="pt-BR" sz="2000" b="1">
              <a:solidFill>
                <a:schemeClr val="bg1"/>
              </a:solidFill>
              <a:latin typeface="Century Gothic" pitchFamily="34" charset="0"/>
            </a:endParaRP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>
                <a:solidFill>
                  <a:schemeClr val="bg1"/>
                </a:solidFill>
                <a:latin typeface="Century Gothic" pitchFamily="34" charset="0"/>
              </a:rPr>
              <a:t>CONTAS </a:t>
            </a: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>
                <a:solidFill>
                  <a:schemeClr val="bg1"/>
                </a:solidFill>
                <a:latin typeface="Century Gothic" pitchFamily="34" charset="0"/>
              </a:rPr>
              <a:t> DE </a:t>
            </a:r>
          </a:p>
          <a:p>
            <a:pPr algn="ctr">
              <a:lnSpc>
                <a:spcPct val="70000"/>
              </a:lnSpc>
              <a:spcBef>
                <a:spcPct val="50000"/>
              </a:spcBef>
            </a:pPr>
            <a:r>
              <a:rPr lang="pt-BR" sz="2000" b="1">
                <a:solidFill>
                  <a:schemeClr val="bg1"/>
                </a:solidFill>
                <a:latin typeface="Century Gothic" pitchFamily="34" charset="0"/>
              </a:rPr>
              <a:t>CONTROLE </a:t>
            </a:r>
            <a:endParaRPr lang="pt-BR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362200" y="5105400"/>
            <a:ext cx="5666184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000" b="1" dirty="0">
                <a:solidFill>
                  <a:schemeClr val="bg1"/>
                </a:solidFill>
                <a:latin typeface="Century Gothic" pitchFamily="34" charset="0"/>
              </a:rPr>
              <a:t>ATOS </a:t>
            </a: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POTENCIAIS (7.1/8.1)</a:t>
            </a: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PROGRAMAÇÃO FINANCEIRA (7.2/82)</a:t>
            </a: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  <a:p>
            <a:pPr algn="just"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DÍVIDA ATIVA (7.3/8.3)</a:t>
            </a:r>
          </a:p>
          <a:p>
            <a:pPr algn="just"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RISCOS FISCAIS (7.4/.84)</a:t>
            </a: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3" name="AutoShape 15"/>
          <p:cNvSpPr>
            <a:spLocks/>
          </p:cNvSpPr>
          <p:nvPr/>
        </p:nvSpPr>
        <p:spPr bwMode="auto">
          <a:xfrm>
            <a:off x="2057400" y="5105400"/>
            <a:ext cx="304800" cy="17526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4" name="AutoShape 16"/>
          <p:cNvSpPr>
            <a:spLocks/>
          </p:cNvSpPr>
          <p:nvPr/>
        </p:nvSpPr>
        <p:spPr bwMode="auto">
          <a:xfrm>
            <a:off x="2438400" y="838200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2743200" y="898525"/>
            <a:ext cx="55012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PLANEJAMENT0 (5.1/6.1)</a:t>
            </a: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2811016" y="1965325"/>
            <a:ext cx="47133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RESTOS A PAGAR </a:t>
            </a:r>
            <a:r>
              <a:rPr lang="pt-BR" sz="2000" b="1" smtClean="0">
                <a:solidFill>
                  <a:schemeClr val="bg1"/>
                </a:solidFill>
                <a:latin typeface="Century Gothic" pitchFamily="34" charset="0"/>
              </a:rPr>
              <a:t>(5.3/6.3</a:t>
            </a: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)</a:t>
            </a:r>
            <a:endParaRPr lang="pt-BR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743200" y="1372706"/>
            <a:ext cx="34129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000" b="1" dirty="0" smtClean="0">
                <a:solidFill>
                  <a:schemeClr val="bg1"/>
                </a:solidFill>
                <a:latin typeface="Century Gothic" pitchFamily="34" charset="0"/>
              </a:rPr>
              <a:t>ORÇAMENTO (5.2/6.2)</a:t>
            </a:r>
            <a:endParaRPr lang="pt-BR" sz="20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 autoUpdateAnimBg="0"/>
      <p:bldP spid="6" grpId="0" animBg="1"/>
      <p:bldP spid="7" grpId="0" animBg="1" autoUpdateAnimBg="0"/>
      <p:bldP spid="8" grpId="0" autoUpdateAnimBg="0"/>
      <p:bldP spid="9" grpId="0" animBg="1"/>
      <p:bldP spid="10" grpId="0" animBg="1" autoUpdateAnimBg="0"/>
      <p:bldP spid="11" grpId="0" autoUpdateAnimBg="0"/>
      <p:bldP spid="12" grpId="0" autoUpdateAnimBg="0"/>
      <p:bldP spid="13" grpId="0" animBg="1"/>
      <p:bldP spid="14" grpId="0" animBg="1"/>
      <p:bldP spid="15" grpId="0" autoUpdateAnimBg="0"/>
      <p:bldP spid="16" grpId="0" autoUpdateAnimBg="0"/>
      <p:bldP spid="1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304800" y="4149080"/>
            <a:ext cx="8659688" cy="151216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3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14ACAD93-4102-411E-97C5-5D59058E02F2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0" y="60325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SISTEMAS </a:t>
            </a: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DE CONTAS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762000" y="2204864"/>
            <a:ext cx="7086600" cy="1447800"/>
          </a:xfrm>
          <a:prstGeom prst="downArrowCallout">
            <a:avLst>
              <a:gd name="adj1" fmla="val 122368"/>
              <a:gd name="adj2" fmla="val 122368"/>
              <a:gd name="adj3" fmla="val 16667"/>
              <a:gd name="adj4" fmla="val 66667"/>
            </a:avLst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990600" y="2420888"/>
            <a:ext cx="6705600" cy="519113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SUBSISTEMA </a:t>
            </a: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 CUSTOS</a:t>
            </a:r>
            <a:endParaRPr lang="pt-BR" sz="24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04800" y="4422055"/>
            <a:ext cx="8659688" cy="1477328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3000" b="1" dirty="0" smtClean="0">
                <a:solidFill>
                  <a:srgbClr val="FFFFFF"/>
                </a:solidFill>
                <a:latin typeface="Century Gothic" pitchFamily="34" charset="0"/>
              </a:rPr>
              <a:t>Registra, processa e evidencia os custos dos bens e serviços, produzidos e ofertados à sociedade pela entidade pública</a:t>
            </a:r>
            <a:r>
              <a:rPr lang="pt-BR" sz="2000" b="1" dirty="0" smtClean="0">
                <a:solidFill>
                  <a:srgbClr val="FFFFFF"/>
                </a:solidFill>
                <a:latin typeface="Century Gothic" pitchFamily="34" charset="0"/>
              </a:rPr>
              <a:t>.</a:t>
            </a:r>
            <a:endParaRPr lang="pt-BR" sz="20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/>
      <p:bldP spid="5" grpId="1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784943"/>
            <a:ext cx="91440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ANÁLISE DO BALANCETE MENSAL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balancete mensal deverá ser analisado pelo responsável pela contabilidade após o final de cada mês, inclusive, com a confecção das conciliações bancárias, com a eliminação das pendências existentes no LISCONTIR, observando os seguintes procedimentos: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Identificação de contas com saldos invertidos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transação &gt;BALANCETE poderá ser acessada utilizando o MENU marcando a primeira linha com o “X” ou escrevendo  na linha de comando  o nome da transação, &gt;BALANCETE, conforme abaixo:</a:t>
            </a:r>
            <a:endParaRPr kumimoji="0" lang="pt-B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ChangeArrowheads="1"/>
          </p:cNvSpPr>
          <p:nvPr/>
        </p:nvSpPr>
        <p:spPr bwMode="auto">
          <a:xfrm>
            <a:off x="0" y="819109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 ( CONSULTAS ) _________________________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                         USUARIO: JOAO FORTES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GOVERNO DO ESTADO DO MARANHAO - AMBIENTE DE PRODUCAO 2016 - BANCO 46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MARQUE COM 'X' A OPCAO DESEJADA E TECLE 'ENTER'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X ) -&gt; BALANCETE   </a:t>
            </a:r>
            <a:r>
              <a:rPr kumimoji="0" lang="pt-B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BALANCETE</a:t>
            </a: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CONTABIL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BALANSINTN  NOVO BALANCO SINTETICO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CONDETAUG   BALANCETE DETALHADO POR UG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CONINCONS   CONSULTA CONTAS INCONSISTENTES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CONSALDO    CONSULTA SALDO INVET./DIF. 0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DETABALAN   DETALHA BALANCETE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DETACONTA   DETALHA CONTA CONTABIL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DETACONTA1  DETALHA CONTA CONTABIL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( _ ) -&gt; DIARIO      CONSULTA DIARIO CONTABIL                 CONTINUA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Ou escrevendo na linha de comando: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COMANDO ==&gt;&gt;BALANCETE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Após a escolha de uma das opções o Sistema irá apresentada a tela inicial para ser preenchida pelo operador, conforme a seguir:</a:t>
            </a:r>
            <a:endParaRPr kumimoji="0" lang="pt-B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0" y="599147"/>
            <a:ext cx="9144000" cy="6401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SIAFEM2016-CONTAB,CONSULTAS,BALANCETE ( BALANCETE CONTABIL ) ________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30/05/2016 AS 13:44                       USUARIO: JOAO FORTES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 OU SUBORGAO         : _____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     : ______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     : _____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MÊS/ANO DE REFERENCIA     : ___ 2016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CONTA INICIAL P/CONSULTA  : _________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VALORES DO BALANCETE      : _   A = ACUMULADO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                            M = NO MÊS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DEMONSTRACAO PRETENDIDA   : _   1 = CONTA CONTABIL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                                     2 = CONTA CORRENTE</a:t>
            </a:r>
            <a:endParaRPr kumimoji="0" lang="pt-B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DESEJA CONSULTAR CONTA COM SALDO ZERO ? (S/N) N</a:t>
            </a:r>
            <a:endParaRPr kumimoji="0" lang="pt-B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DESEJA CONSULTAR SOMENTE CONTAS COM SALDO INVERTIDO ? (S/N) N</a:t>
            </a:r>
            <a:endParaRPr kumimoji="0" lang="pt-B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balancete mensal poderá ser apresentado sinteticamente, quando solicitado o tipo “1” ou poderá ser apresentado analiticamente, quando solicitado o tipo “2”. Para a identificação das contas com saldo invertidos o operador deverá solicitar, primeiramente, o balancete tipo “1” (sintético), respondendo a pergunta – DESEJA CONSULTAR SOMENTE CONTAS COM SALDO INVERTIDO ? (S/N) N que já vem preenchido com “N”. Para a identificação de contas com saldos invertidos o “N” deverá ser substituído por “S”. Em resposta o sistema irá relacionar somente as contas sintéticas que estão apresentado saldos invertidos. Neste caso o responsável pela análise deverá entrar na transação &gt;DETACONTA, solicitar o razão de cada conta relacionada no balancete, no período solicitado e identificar o(s) lançamento(s) que provocaram a inversão de saldo, procedendo à devida regularização dentro do mês de competência, ou seja, antes do fechamento do mês. </a:t>
            </a:r>
            <a:endParaRPr kumimoji="0" lang="pt-B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0" y="713505"/>
            <a:ext cx="91440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Vejamos um exemplo prático com destaque em negrito dos campos que foram preenchidos pelo operador: 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SIAFEM2016-CONTAB,CONSULTAS,BALANCETE ( BALANCETE CONTABIL 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CONSULTA EM 30/05/2016 AS 13:55                    USUARIO: JOAO FORTES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ORGAO OU SUBORGAO         : _____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UNIDADE GESTORA         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560101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GESTAO                  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00001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MÊS/ANO DE REFERENCIA   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MAI 2016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CONTA INICIAL P/CONSULTA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1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________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VALORES DO BALANCETE    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= ACUMULADO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                          M = NO MÊS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DEMONSTRACAO PRETENDIDA   :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1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1 = CONTA CONTABIL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                                     2 = CONTA CORRENTE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DESEJA CONSULTAR CONTA COM SALDO ZERO ? (S/N) N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DESEJA CONSULTAR SOMENTE CONTAS COM SALDO INVERTIDO? (S/N) </a:t>
            </a: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S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671715"/>
            <a:ext cx="91440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Vejamos o resultado: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SIAFEM2016-CONTAB,CONSULTAS,BALANCETE ( BALANCETE CONTABIL ) __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CONSULTA EM 30/05/2016 AS 13:58                       USUARIO: JOAO FORTES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UNIDADE GESTORA  : 560101 - SEC.DE ESTADO DE ADMINISTRACAO PENITEN  TELA:    1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GESTAO           : 00001  - TESOURO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ATE O MÊS  : MAIO      - ABERTO              POSICAO EM 29MAI2016 AS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20:48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DEMONSTRATIVO DA CONTA CONTABIL A PARTIR DA CONTA: 1    .  .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SALDO EXERCICIO ANTERIOR   MOVIMENTO DEVEDOR   MOVIMENTO CREDOR    SALDO ATUAL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21881.01.05 INDENIZACOES E </a:t>
            </a:r>
            <a:r>
              <a:rPr kumimoji="0" lang="pt-BR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RESTITUIçõES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0,00           216380,35          215437,15             943,20*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52142.00.00 PREV.ADICIONAL - TRANSF. INTRAGOVERNAMENTAIS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0,00          5611000,00         9010000,00         3399000,00*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82111.00.00 DISPONIB P/ DEST DE RECURSOS LIVRES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17244645,05*       115519007,75        71780871,42        60982781,38*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1237855"/>
            <a:ext cx="9144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Vamos analisar a primeira conta (21881.01.05) para identificarmos os lançamentos que ocasionaram a virada de saldo. Para isso seria interessante que analisarmos antes quais os eventos que alimentam a conta a ser analisada. Essa conta é creditada pelos eventos da classe 52 e debitada pelos eventos da classe 70 (pagamentos). Se você entrar na transação &gt;LISEVENCON, o sistema evidenciará os eventos que alimentam a conta a ser analisada.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Pela análise do razão da conta podemos verificar que a origem da inconsistência, refere-se a emissão da 2016NL02952, de 29abr2016, utilizando o evento 53.0.373 que é o evento que faz a transferência das consignações para serem pagas pela UG 240109/00001 (Tesouro) sem a devida apropriação da mesma na unidade gestora, com a utilização do evento 52.0.210, conforme você poderá observar pela tela abaixo: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650820"/>
            <a:ext cx="9144000" cy="6278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SIAFEM2016-CONTAB,CONSULTAS,DETACONTA1 ( DETALHA CONTA CONTABIL ) 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30/05/2016  14:03                                     USUARIO: JOAO FORTES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PAGINA : 1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UG EMITENTE     : 560101    - SEC.DE ESTADO DE ADMINISTRACAO PENITENCIARIA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EMITENTE : 00001     - GESTAO TESOURO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CONTA CONTABIL  : 218810105 - INDENIZACOES E Restituições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CONTA CORRENTE  :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SALDO ANTERIOR A 01ABR                      0,00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DATA   UG  GESTAO NUMERO  EVENTO            MOVIMENTO                 SALDO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29ABR 560101 00001 NL02946 520210            7.279,78C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29ABR 560101 00001 NL02947 530373            7.279,78D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29ABR 560101 00001 NL02952 530373              943,20D               943,20D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16MAI 560101 00001 NL03571 520210           55.526,91C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16MAI 560101 00001 NL03574 530373           55.526,91D               943,20D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25MAI 560101 00001 NL03876 520210            7.482,46C</a:t>
            </a:r>
            <a:endParaRPr kumimoji="0" lang="pt-BR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25MAI 560101 00001 NL03889 530373            7.482,46D               943,20D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que fazer para eliminar a pendência? Fazer o registro da consignação com o evento 52.0.210.</a:t>
            </a:r>
            <a:endParaRPr kumimoji="0" lang="pt-BR" sz="2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0" y="928670"/>
            <a:ext cx="91440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Identificação de equações com Inconsistências (&gt;LISCONTIR)</a:t>
            </a:r>
          </a:p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responsável pela análise das contas da Unidade Gestora deverá entrar periodicamente (preferencialmente - semanal) na transação &gt;LISCONTIR, colocar o código da Unidade Gestora/Gestão para a identificação de equações com inconsistência. Caso haja alguma equação com inconsistência, o responsável pela a análise deverá entrar no &gt;DETACONTA das contas existentes na equação que apresentam valores no mês da análise e comparar os lançamentos existentes nas contas envolvidas. Para evitar acúmulos de problemas nesta transação seria recomendável que o responsável pela análise das contas entrasse diariamente nesta transação para verificar se existem equações apresentando inconsistências. Em caso afirmativo a inconsistência teve origem no dia imediatamente anterior o que facilitaria a eliminação deste tipo de pendência por parte de quem está sob sua responsabilidade a análise do balancete mensal.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0" y="2025086"/>
            <a:ext cx="91440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130101/00001 '-'  SEC. ESTADO DA AGRICULTURA, PECUARIA E PESCA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' ' ' ' ' ' ' ' ' ' ' ' ' ' ' ' EQUACAO : 062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6.2.1.4.2.00.00         19.221.869,53- 3.5.1.1.2.00.00                            0,00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                                       3.5.1.2.2.01.00                 28.201,29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                                       4.5.1.1.2.00.00         15.219.682,56-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                                         4.5.1.2.2.01.00            4.023.776,95-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SOMATORIO             19.221.869,53-  SOMATORIO              19.215.258,22-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DIFERENCA                          6.611,31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0" y="538722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Vejamos a diferença apontada entre a 6.2.1.4.2.00.00 e o somatório das transferências recebidas/concedidas. Vamos entrar no razão da conta que tem o maior saldo que neste caso é a 62142.00.00.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UG EMITENTE     : 130101    - SEC. ESTADO DA AGRICULTURA, PECUARIA E PESCA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GESTAO EMITENTE : 00001     - GESTAO TESOURO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CONTA CONTABIL  : 621420000 - TRANSFERENCIAS REALIZADAS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CONTA CORRENTE  :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 TRANSPORTE                         10.915.096,38C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DATA   UG  GESTAO NUMERO  EVENTO            MOVIMENTO                 SALDO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30MAI 130101 00001 NL01085 800811            1.045,10C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30MAI 130101 00001 NL01086 800811               66,71C        10.916.208,19C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NL01023 540559        5.650.675,27C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NL01039 545559        5.678.876,56D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NL01053 800808           14.456,00C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NL01056 800808            4.967,17C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31MAI 130101 00001 NS00024 881884            6.611,31C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NL01087 800808          486.965,65C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NL01209 800811              952,61C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NL01209 800811               21,68C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31MAI 130101 00001 NL01209 800811            1.555,82C        11.403.537,14C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0" y="1237855"/>
            <a:ext cx="9144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diferença é decorrente da 2016ns00024 que foi lançada indevidamente nesta conta.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400" dirty="0">
                <a:latin typeface="Calibri" pitchFamily="34" charset="0"/>
                <a:ea typeface="Calibri" pitchFamily="34" charset="0"/>
                <a:cs typeface="Courier New" pitchFamily="49" charset="0"/>
              </a:rPr>
              <a:t>V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eja o  &gt;ESPCONTAB da NS: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: 130101        - SEC. ESTADO DA AGRICULTURA, PECUARIA E PESCA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GESTAO          : 00001         - GESTAO TESOURO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DOCUMENTO       : 2016NS00024 DATA LANCAM.: 31Mai2016  DATA EMISSAO: 31Mai2016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EVENTO  </a:t>
            </a:r>
            <a:r>
              <a:rPr kumimoji="0" 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U.G.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GESTAO   CONTA            C / C                    V A L O R  R$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-------------------------------------------------------------------------------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881883 130101 00001 35122.01.02                                     6.611,31 D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881884 130101 00001 35122.01.03                                     6.611,31 C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881883 130101 00001 62141.00.00                                     6.611,31 D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881884 130101 00001 62142.00.00                                     6.611,31 C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0" y="1071546"/>
            <a:ext cx="9144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regularização foi realizada pela 2016ns00038.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400" dirty="0">
              <a:latin typeface="Calibri" pitchFamily="34" charset="0"/>
              <a:ea typeface="Calibri" pitchFamily="34" charset="0"/>
              <a:cs typeface="Courier New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400" dirty="0">
                <a:latin typeface="Calibri" pitchFamily="34" charset="0"/>
                <a:ea typeface="Calibri" pitchFamily="34" charset="0"/>
                <a:cs typeface="Courier New" pitchFamily="49" charset="0"/>
              </a:rPr>
              <a:t>V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eja: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GESTORA: 130101 - SEC. ESTADO DA AGRICULTURA, PECUARIA E PESCA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: 00001  - GESTAO TESOURO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DOCUMENTO      : 2016NS00038  DATA LANCAM.: 24AGO2016  DATA EMISSAO: 24AGO2016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EVENTO  </a:t>
            </a:r>
            <a:r>
              <a:rPr kumimoji="0" 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U.G.</a:t>
            </a: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GESTAO    CONTA            C / C                  V A L O R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-------------------------------------------------------------------------------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881883 130101 00001  62142.00.00                                    6.611,31  D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881884 130101 00001  62141.00.00                                    6.611,31  C</a:t>
            </a:r>
            <a:endParaRPr kumimoji="0" 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0" y="537592"/>
            <a:ext cx="9144000" cy="646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Conciliações bancárias das contas dos tipos “C” e “D”</a:t>
            </a:r>
            <a:endParaRPr kumimoji="0" lang="pt-BR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As contas bancárias de cada unidade gestora devem ser conciliadas mensalmente pelo responsável da conciliação. Para facilitar esse trabalho o responsável pelo serviço poderá conciliar as contas bancárias da sua unidade gestora semanalmente, procurando eliminar todas as pendências encontradas. </a:t>
            </a:r>
            <a:endParaRPr kumimoji="0" lang="pt-BR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Os valores debitados ou creditados pela instituição financeira e não correspondidos no SIAFEM não podem ser apresentados como pendências e sim eliminados, no momento em que as contas são conciliadas, por este motivo que as contas devem ser conciliadas durante o mês e não após o fechamento do mês.</a:t>
            </a:r>
            <a:endParaRPr kumimoji="0" lang="pt-BR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Os débitos e créditos realizados pelas instituições financeiras devem ser identificados e contabilizados dentro mês. Aqueles valores que não forem identificados, antes do fechamento de cada mês, devem ser contabilizados pelas unidades gestoras como pendente de regularização no ativo (os débitos) e no passivo (os créditos) para regularização no mês seguinte a essa contabilização</a:t>
            </a:r>
            <a:r>
              <a:rPr kumimoji="0" lang="pt-BR" sz="2300" b="0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. </a:t>
            </a:r>
            <a:r>
              <a:rPr lang="pt-BR" sz="2300" dirty="0">
                <a:latin typeface="Calibri" pitchFamily="34" charset="0"/>
                <a:ea typeface="Calibri" pitchFamily="34" charset="0"/>
                <a:cs typeface="Courier New" pitchFamily="49" charset="0"/>
              </a:rPr>
              <a:t>É</a:t>
            </a:r>
            <a:r>
              <a:rPr kumimoji="0" lang="pt-BR" sz="2300" b="0" i="0" u="none" strike="noStrike" cap="none" normalizeH="0" baseline="0" dirty="0" smtClean="0">
                <a:ln>
                  <a:noFill/>
                </a:ln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</a:t>
            </a:r>
            <a:r>
              <a:rPr kumimoji="0" lang="pt-BR" sz="2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bom lembrar que a regularização deverá ser realizada dentro do exercício financeiro.</a:t>
            </a:r>
            <a:endParaRPr kumimoji="0" lang="pt-BR" sz="2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0" y="610160"/>
            <a:ext cx="9144000" cy="5863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Composição dos direitos a receber e de contas a pagar</a:t>
            </a:r>
            <a:endParaRPr kumimoji="0" lang="pt-BR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Ao final de cada mês o responsável pela a análise das contas deverá compor os saldos das representativas de devedores da unidade gestora para identificar se existem valores que não foram recebidos para que a autoridade competente possa tomar decisões administrativas para reaver os valores que lhe são devidos, inclusive, com o encaminhamento para a dívida ativa. Da mesma forma o responsável pela análise das contas deverá compor os saldos das contas de OBRIGAÇÕES para observar a existências de valores vencidos e ainda não pagos com o objetivo de evitar o pagamento de encargos financeiros.</a:t>
            </a:r>
            <a:endParaRPr kumimoji="0" lang="pt-BR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Para realizar esse trabalho o responsável pela análise poderá criar no Excel uma ficha para evidenciar o trabalho realizado em cada conta mês a mês, inclusive com as observações indicando as providências tomadas em cada caso. Essa ficha poderá ter a seguinte estrutura:</a:t>
            </a:r>
            <a:endParaRPr kumimoji="0" lang="pt-BR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214282" y="1396998"/>
          <a:ext cx="8858281" cy="4732020"/>
        </p:xfrm>
        <a:graphic>
          <a:graphicData uri="http://schemas.openxmlformats.org/drawingml/2006/table">
            <a:tbl>
              <a:tblPr/>
              <a:tblGrid>
                <a:gridCol w="991535"/>
                <a:gridCol w="1531524"/>
                <a:gridCol w="2655196"/>
                <a:gridCol w="1916485"/>
                <a:gridCol w="1763541"/>
              </a:tblGrid>
              <a:tr h="193524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FICHA DE COMPOSIÇÃO DE CONTA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93524">
                <a:tc grid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CÓDIGO DA CONTA:                       NOME:                                                          MÊS/ANO: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93524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DOCUMENTO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latin typeface="Calibri"/>
                          <a:ea typeface="Times New Roman"/>
                          <a:cs typeface="Times New Roman"/>
                        </a:rPr>
                        <a:t>HISTÓRICO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VALOR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OBSERVAÇÕES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TIPO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NÚMERO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902" marR="40902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ANÁLISE DO BALANCETE MENSAL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49844"/>
            <a:ext cx="9144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Conferência dos Demonstrativos e Balanços da Unidade Gestora</a:t>
            </a:r>
            <a:endParaRPr kumimoji="0" lang="pt-B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Ao final de cada mês todos os demonstrativos e balanços da unidade gestora deverão estar compatíveis com o balancete de verificação da unidade. Caso haja alguma divergência em qualquer um dos demonstrativos e balanços, o fato deve ser analisado e comunicado à Contadoria Geral do Estado para ver se existe falta de lançamentos ou lançamentos incorretos, ou até mesmo, erros nas fórmulas dos demonstrativos e balanços que ocasionaram as respectivas divergências.</a:t>
            </a:r>
            <a:endParaRPr kumimoji="0" lang="pt-B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acesso aos demonstrativos deverá ser feito por meio da transação “&gt;BALANSINTN” que verá ser preenchido conforme tela a seguir:</a:t>
            </a:r>
            <a:endParaRPr kumimoji="0" lang="pt-B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DEMONSTRATIVOS E BALANÇOS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8943CDE8-6BD0-40AE-8BE9-FF7D328E68C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981200" y="2362200"/>
            <a:ext cx="5105400" cy="609600"/>
          </a:xfrm>
          <a:prstGeom prst="wedgeRectCallout">
            <a:avLst>
              <a:gd name="adj1" fmla="val -12810"/>
              <a:gd name="adj2" fmla="val 159898"/>
            </a:avLst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28600" y="76200"/>
            <a:ext cx="8610600" cy="1447800"/>
          </a:xfrm>
          <a:prstGeom prst="wedgeRoundRectCallout">
            <a:avLst>
              <a:gd name="adj1" fmla="val -4130"/>
              <a:gd name="adj2" fmla="val 103620"/>
              <a:gd name="adj3" fmla="val 166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7200" y="304800"/>
            <a:ext cx="8153400" cy="762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4400" b="1">
                <a:solidFill>
                  <a:srgbClr val="FFFFFF"/>
                </a:solidFill>
                <a:latin typeface="Century Gothic" pitchFamily="34" charset="0"/>
              </a:rPr>
              <a:t>BALANÇO FINANCEIRO</a:t>
            </a:r>
            <a:endParaRPr lang="pt-BR" sz="2900">
              <a:solidFill>
                <a:srgbClr val="FFFFFF"/>
              </a:solidFill>
              <a:latin typeface="Century Gothic" pitchFamily="34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57400" y="2438400"/>
            <a:ext cx="4876800" cy="57943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1">
                <a:latin typeface="Century Gothic" pitchFamily="34" charset="0"/>
              </a:rPr>
              <a:t>CONCEITO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6200" y="3657600"/>
            <a:ext cx="8991600" cy="28194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04800" y="3810000"/>
            <a:ext cx="8610600" cy="23082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400" b="1" i="1">
                <a:solidFill>
                  <a:srgbClr val="FFFFFF"/>
                </a:solidFill>
                <a:latin typeface="Century Gothic" pitchFamily="34" charset="0"/>
              </a:rPr>
              <a:t>O BALANÇO FINANCEIRO DEMONSTRARÁ AS ENTRADAS E SAÍDAS DE RECURSOS ORÇAMENTÁRIAS, BEM COMO OS RECEBIMENTOS E PAGAMENTOS EXTRAORÇAMENTÁRIOS, CONJUNGANDO-SE COM O SALDO DISPONÍVEL QUE VEM DO EXERCÍCIO ANTERIOR E O QUE VAI PARA O EXERCÍCIO SEGUINTE.</a:t>
            </a:r>
            <a:endParaRPr lang="pt-BR" sz="2400">
              <a:latin typeface="Century Gothic" pitchFamily="34" charset="0"/>
            </a:endParaRPr>
          </a:p>
        </p:txBody>
      </p:sp>
      <p:sp>
        <p:nvSpPr>
          <p:cNvPr id="9" name="Espaço Reservado para Número de Slide 3"/>
          <p:cNvSpPr txBox="1">
            <a:spLocks/>
          </p:cNvSpPr>
          <p:nvPr/>
        </p:nvSpPr>
        <p:spPr>
          <a:xfrm>
            <a:off x="6477000" y="62801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43CDE8-6BD0-40AE-8BE9-FF7D328E68C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2"/>
          <p:cNvSpPr>
            <a:spLocks noChangeArrowheads="1"/>
          </p:cNvSpPr>
          <p:nvPr/>
        </p:nvSpPr>
        <p:spPr bwMode="auto">
          <a:xfrm>
            <a:off x="1905000" y="2286000"/>
            <a:ext cx="5105400" cy="609600"/>
          </a:xfrm>
          <a:prstGeom prst="wedgeRectCallout">
            <a:avLst>
              <a:gd name="adj1" fmla="val -12810"/>
              <a:gd name="adj2" fmla="val 159898"/>
            </a:avLst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11" name="AutoShape 3"/>
          <p:cNvSpPr>
            <a:spLocks noChangeArrowheads="1"/>
          </p:cNvSpPr>
          <p:nvPr/>
        </p:nvSpPr>
        <p:spPr bwMode="auto">
          <a:xfrm>
            <a:off x="152400" y="0"/>
            <a:ext cx="8610600" cy="1447800"/>
          </a:xfrm>
          <a:prstGeom prst="wedgeRoundRectCallout">
            <a:avLst>
              <a:gd name="adj1" fmla="val -4130"/>
              <a:gd name="adj2" fmla="val 103620"/>
              <a:gd name="adj3" fmla="val 166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1000" y="228600"/>
            <a:ext cx="8153400" cy="762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4400" b="1">
                <a:solidFill>
                  <a:srgbClr val="FFFFFF"/>
                </a:solidFill>
                <a:latin typeface="Century Gothic" pitchFamily="34" charset="0"/>
              </a:rPr>
              <a:t>BALANÇO FINANCEIRO</a:t>
            </a:r>
            <a:endParaRPr lang="pt-BR" sz="2900">
              <a:solidFill>
                <a:srgbClr val="FFFFFF"/>
              </a:solidFill>
              <a:latin typeface="Century Gothic" pitchFamily="34" charset="0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981200" y="2362200"/>
            <a:ext cx="4876800" cy="57943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1">
                <a:latin typeface="Century Gothic" pitchFamily="34" charset="0"/>
              </a:rPr>
              <a:t>CONCEITO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0" y="3581400"/>
            <a:ext cx="8991600" cy="28194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28600" y="3733800"/>
            <a:ext cx="8610600" cy="23082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400" b="1" i="1">
                <a:solidFill>
                  <a:srgbClr val="FFFFFF"/>
                </a:solidFill>
                <a:latin typeface="Century Gothic" pitchFamily="34" charset="0"/>
              </a:rPr>
              <a:t>O BALANÇO FINANCEIRO DEMONSTRARÁ AS ENTRADAS E SAÍDAS DE RECURSOS ORÇAMENTÁRIAS, BEM COMO OS RECEBIMENTOS E PAGAMENTOS EXTRAORÇAMENTÁRIOS, CONJUNGANDO-SE COM O SALDO DISPONÍVEL QUE VEM DO EXERCÍCIO ANTERIOR E O QUE VAI PARA O EXERCÍCIO SEGUINTE.</a:t>
            </a:r>
            <a:endParaRPr lang="pt-BR" sz="240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 autoUpdateAnimBg="0"/>
      <p:bldP spid="5" grpId="0" animBg="1" autoUpdateAnimBg="0"/>
      <p:bldP spid="6" grpId="0" animBg="1" autoUpdateAnimBg="0"/>
      <p:bldP spid="7" grpId="0" animBg="1"/>
      <p:bldP spid="8" grpId="0" animBg="1" autoUpdateAnimBg="0"/>
      <p:bldP spid="10" grpId="0" animBg="1" autoUpdateAnimBg="0"/>
      <p:bldP spid="11" grpId="0" animBg="1" autoUpdateAnimBg="0"/>
      <p:bldP spid="12" grpId="0" animBg="1" autoUpdateAnimBg="0"/>
      <p:bldP spid="13" grpId="0" animBg="1" autoUpdateAnimBg="0"/>
      <p:bldP spid="14" grpId="0" animBg="1"/>
      <p:bldP spid="1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A62B9CC9-BC06-413D-9BE4-8ADCAF69AFA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64633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BALANÇO FINANCEIRO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69720013"/>
              </p:ext>
            </p:extLst>
          </p:nvPr>
        </p:nvGraphicFramePr>
        <p:xfrm>
          <a:off x="34925" y="857238"/>
          <a:ext cx="9074151" cy="6037936"/>
        </p:xfrm>
        <a:graphic>
          <a:graphicData uri="http://schemas.openxmlformats.org/drawingml/2006/table">
            <a:tbl>
              <a:tblPr/>
              <a:tblGrid>
                <a:gridCol w="2808219"/>
                <a:gridCol w="792188"/>
                <a:gridCol w="792188"/>
                <a:gridCol w="3097180"/>
                <a:gridCol w="792188"/>
                <a:gridCol w="792188"/>
              </a:tblGrid>
              <a:tr h="23103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latin typeface="+mn-lt"/>
                        </a:rPr>
                        <a:t>&lt;ENTE DA FEDERAÇÃO&gt;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3103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>
                          <a:latin typeface="+mn-lt"/>
                        </a:rPr>
                        <a:t>BALANÇO FINANCEIRO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31031">
                <a:tc gridSpan="6"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>
                          <a:latin typeface="+mn-lt"/>
                        </a:rPr>
                        <a:t>EXERCÍCIO:                       PERÍODO (MÊS) :                             DATA DE EMISSÃO:                                        PÁGINA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4778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latin typeface="+mn-lt"/>
                        </a:rPr>
                        <a:t>INGRESSOS</a:t>
                      </a:r>
                    </a:p>
                  </a:txBody>
                  <a:tcPr marL="7134" marR="7134" marT="71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pt-BR" sz="1400" b="1" i="0" u="none" strike="noStrike">
                          <a:latin typeface="+mn-lt"/>
                        </a:rPr>
                        <a:t>Exercício Atual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pt-BR" sz="1400" b="1" i="0" u="none" strike="noStrike">
                          <a:latin typeface="+mn-lt"/>
                        </a:rPr>
                        <a:t>Exercício Anterior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latin typeface="+mn-lt"/>
                        </a:rPr>
                        <a:t>DISPÊNDIOS</a:t>
                      </a:r>
                    </a:p>
                  </a:txBody>
                  <a:tcPr marL="7134" marR="7134" marT="71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pt-BR" sz="1400" b="1" i="0" u="none" strike="noStrike">
                          <a:latin typeface="+mn-lt"/>
                        </a:rPr>
                        <a:t>Exercício Atual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pt-BR" sz="1400" b="1" i="0" u="none" strike="noStrike">
                          <a:latin typeface="+mn-lt"/>
                        </a:rPr>
                        <a:t>Exercício Anterior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589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>
                          <a:latin typeface="+mn-lt"/>
                        </a:rPr>
                        <a:t>Receita Orçamentária (I</a:t>
                      </a:r>
                      <a:r>
                        <a:rPr lang="pt-BR" sz="1400" b="1" i="0" u="none" strike="noStrike" dirty="0" smtClean="0">
                          <a:latin typeface="+mn-lt"/>
                        </a:rPr>
                        <a:t>)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62120000</a:t>
                      </a:r>
                      <a:endParaRPr lang="pt-BR" sz="1400" b="1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>
                          <a:latin typeface="+mn-lt"/>
                        </a:rPr>
                        <a:t>Despesa Orçamentária (</a:t>
                      </a:r>
                      <a:r>
                        <a:rPr lang="pt-BR" sz="1400" b="1" i="0" u="none" strike="noStrike" dirty="0" smtClean="0">
                          <a:latin typeface="+mn-lt"/>
                        </a:rPr>
                        <a:t>VI) 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62213000</a:t>
                      </a:r>
                      <a:endParaRPr lang="pt-BR" sz="1400" b="1" i="0" u="none" strike="noStrike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Ordinária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Ordinária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>
                          <a:latin typeface="+mn-lt"/>
                        </a:rPr>
                        <a:t>Vinculada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1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>
                          <a:latin typeface="+mn-lt"/>
                        </a:rPr>
                        <a:t>Vinculada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Alienação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de Ativos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Alienação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de Ativos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 smtClean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Operações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de crédito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Operações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de crédito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Previdência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Previdência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 smtClean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Convênios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Convênios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Deduções da Receita Orçamentária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Transferências </a:t>
                      </a:r>
                      <a:r>
                        <a:rPr lang="pt-BR" sz="1400" b="0" i="0" u="none" strike="noStrike" dirty="0" err="1" smtClean="0">
                          <a:latin typeface="+mn-lt"/>
                        </a:rPr>
                        <a:t>Financ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. </a:t>
                      </a:r>
                      <a:r>
                        <a:rPr lang="pt-BR" sz="1400" b="0" i="0" u="none" strike="noStrike" dirty="0">
                          <a:latin typeface="+mn-lt"/>
                        </a:rPr>
                        <a:t>Concedidas (VII)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2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351120000</a:t>
                      </a:r>
                    </a:p>
                    <a:p>
                      <a:pPr algn="r" fontAlgn="b"/>
                      <a:r>
                        <a:rPr lang="pt-BR" sz="12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351220100</a:t>
                      </a:r>
                      <a:endParaRPr lang="pt-BR" sz="12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8789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Transferências </a:t>
                      </a:r>
                      <a:r>
                        <a:rPr lang="pt-BR" sz="1400" b="0" i="0" u="none" strike="noStrike" dirty="0" err="1" smtClean="0">
                          <a:latin typeface="+mn-lt"/>
                        </a:rPr>
                        <a:t>Financ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. </a:t>
                      </a:r>
                      <a:r>
                        <a:rPr lang="pt-BR" sz="1400" b="0" i="0" u="none" strike="noStrike" dirty="0">
                          <a:latin typeface="+mn-lt"/>
                        </a:rPr>
                        <a:t>Recebidas (II)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2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45112000+</a:t>
                      </a:r>
                    </a:p>
                    <a:p>
                      <a:pPr algn="r" fontAlgn="b"/>
                      <a:r>
                        <a:rPr lang="pt-BR" sz="12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451220100</a:t>
                      </a:r>
                      <a:endParaRPr lang="pt-BR" sz="12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>
                          <a:latin typeface="+mn-lt"/>
                        </a:rPr>
                        <a:t>Pagamentos </a:t>
                      </a:r>
                      <a:r>
                        <a:rPr lang="pt-BR" sz="1400" b="1" i="0" u="none" strike="noStrike" dirty="0" smtClean="0">
                          <a:latin typeface="+mn-lt"/>
                        </a:rPr>
                        <a:t>Extraorçamentários </a:t>
                      </a:r>
                      <a:r>
                        <a:rPr lang="pt-BR" sz="1400" b="1" i="0" u="none" strike="noStrike" dirty="0">
                          <a:latin typeface="+mn-lt"/>
                        </a:rPr>
                        <a:t>(VIII)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200" b="1" i="0" u="none" strike="noStrike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8147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 err="1" smtClean="0">
                          <a:latin typeface="+mn-lt"/>
                        </a:rPr>
                        <a:t>Receb</a:t>
                      </a:r>
                      <a:r>
                        <a:rPr lang="pt-BR" sz="1400" b="1" i="0" u="none" strike="noStrike" dirty="0" smtClean="0">
                          <a:latin typeface="+mn-lt"/>
                        </a:rPr>
                        <a:t>. Extraorçamentários </a:t>
                      </a:r>
                      <a:r>
                        <a:rPr lang="pt-BR" sz="1400" b="1" i="0" u="none" strike="noStrike" dirty="0">
                          <a:latin typeface="+mn-lt"/>
                        </a:rPr>
                        <a:t>(III)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200" b="1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 Pagamentos de Consignações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Mov. Devedor</a:t>
                      </a:r>
                    </a:p>
                    <a:p>
                      <a:pPr algn="r" fontAlgn="b"/>
                      <a:endParaRPr lang="pt-BR" sz="1400" b="0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4589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dirty="0">
                          <a:latin typeface="+mn-lt"/>
                        </a:rPr>
                        <a:t>  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Recebimentos Direitos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Financeiros</a:t>
                      </a:r>
                      <a:endParaRPr lang="pt-BR" sz="1400" b="0" i="0" u="none" strike="noStrike" dirty="0" smtClean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Mov. Credor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baseline="0">
                          <a:latin typeface="+mn-lt"/>
                        </a:rPr>
                        <a:t> </a:t>
                      </a:r>
                      <a:r>
                        <a:rPr lang="pt-BR" sz="1400" b="0" i="0" u="none" strike="noStrike" baseline="0" smtClean="0">
                          <a:latin typeface="+mn-lt"/>
                        </a:rPr>
                        <a:t>  </a:t>
                      </a:r>
                      <a:r>
                        <a:rPr lang="pt-BR" sz="1400" b="0" i="0" u="none" strike="noStrike" smtClean="0">
                          <a:latin typeface="+mn-lt"/>
                        </a:rPr>
                        <a:t>Pagamento </a:t>
                      </a:r>
                      <a:r>
                        <a:rPr lang="pt-BR" sz="1400" b="0" i="0" u="none" strike="noStrike" dirty="0">
                          <a:latin typeface="+mn-lt"/>
                        </a:rPr>
                        <a:t>de Restos a Pagar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dirty="0">
                          <a:latin typeface="+mn-lt"/>
                        </a:rPr>
                        <a:t>   </a:t>
                      </a:r>
                      <a:r>
                        <a:rPr lang="pt-BR" sz="1400" b="0" i="0" u="none" strike="noStrike" dirty="0" err="1" smtClean="0">
                          <a:latin typeface="+mn-lt"/>
                        </a:rPr>
                        <a:t>Receb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.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de Depósitos de terceiros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   Pagamentos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Ativos</a:t>
                      </a:r>
                      <a:r>
                        <a:rPr lang="pt-BR" sz="1400" b="0" i="0" u="none" strike="noStrike" baseline="0" dirty="0" smtClean="0">
                          <a:latin typeface="+mn-lt"/>
                        </a:rPr>
                        <a:t> Financeiros</a:t>
                      </a:r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   Inscrição de Restos a Pagar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4589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Saldo em Espécie do </a:t>
                      </a:r>
                      <a:r>
                        <a:rPr lang="pt-BR" sz="1400" b="0" i="0" u="none" strike="noStrike" dirty="0" err="1" smtClean="0">
                          <a:latin typeface="+mn-lt"/>
                        </a:rPr>
                        <a:t>Exerc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. </a:t>
                      </a:r>
                      <a:r>
                        <a:rPr lang="pt-BR" sz="1400" b="0" i="0" u="none" strike="noStrike" dirty="0">
                          <a:latin typeface="+mn-lt"/>
                        </a:rPr>
                        <a:t>Anterior (IV)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Saldo Anterior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Saldo em Espécie 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p/o </a:t>
                      </a:r>
                      <a:r>
                        <a:rPr lang="pt-BR" sz="1400" b="0" i="0" u="none" strike="noStrike" dirty="0" err="1" smtClean="0">
                          <a:latin typeface="+mn-lt"/>
                        </a:rPr>
                        <a:t>Exerc</a:t>
                      </a:r>
                      <a:r>
                        <a:rPr lang="pt-BR" sz="1400" b="0" i="0" u="none" strike="noStrike" dirty="0" smtClean="0">
                          <a:latin typeface="+mn-lt"/>
                        </a:rPr>
                        <a:t>. </a:t>
                      </a:r>
                      <a:r>
                        <a:rPr lang="pt-BR" sz="1400" b="0" i="0" u="none" strike="noStrike" dirty="0">
                          <a:latin typeface="+mn-lt"/>
                        </a:rPr>
                        <a:t>Seguinte (IX)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400" b="0" i="0" u="none" strike="noStrike" dirty="0" smtClean="0">
                          <a:latin typeface="+mn-lt"/>
                        </a:rPr>
                        <a:t>S</a:t>
                      </a:r>
                      <a:r>
                        <a:rPr lang="pt-BR" sz="1400" b="1" i="0" u="none" strike="noStrike" dirty="0" smtClean="0">
                          <a:solidFill>
                            <a:srgbClr val="FF0000"/>
                          </a:solidFill>
                          <a:latin typeface="+mn-lt"/>
                        </a:rPr>
                        <a:t>aldo Atual</a:t>
                      </a:r>
                      <a:endParaRPr lang="pt-BR" sz="1400" b="1" i="0" u="none" strike="noStrike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031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TOTAL (V) = (I+II+III+IV)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latin typeface="+mn-lt"/>
                        </a:rPr>
                        <a:t>TOTAL (X) = (VI+VII+VIII+IX)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BR" sz="1400" b="0" i="0" u="none" strike="noStrike" dirty="0">
                        <a:latin typeface="+mn-lt"/>
                      </a:endParaRP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latin typeface="+mn-lt"/>
                        </a:rPr>
                        <a:t> </a:t>
                      </a:r>
                    </a:p>
                  </a:txBody>
                  <a:tcPr marL="7134" marR="7134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562864"/>
            <a:ext cx="9144000" cy="650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Balanço Financeiro</a:t>
            </a:r>
            <a:endParaRPr kumimoji="0" lang="pt-BR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Balanço Financeiro deverá ser consultado por meio da transação &gt;BALANSINTN com o preenchimento do tipo de balanço com o numeral “1”, conforme especificado a seguir:</a:t>
            </a:r>
            <a:endParaRPr kumimoji="0" lang="pt-BR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SIAFEM2016-CONTAB,CONSULTAS,BALANSINTN ( NOVO BALANCO SINTETICO ) ___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31/05/2016 AS 15:13                      USUARIO : JOAO FORTES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ORGAO/SUBORGAO       : _____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ORGAOS SUBORDINADOS  : 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: 120206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: 12206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 DE REFERENCIA    :JUN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BALANCO      : 1     	1 - BALANCO FINANCEIRO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2 - BALANCO PATRIMONIAL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3 - VARIACAO PATRIMONIAL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4 - BALANCO ORCAMENTARIO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5 - DEMONSTRACAO DOS FLUXOS DE CAIXA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6 - DEMONST. MUTACOES ATIVO E PATRIM. LIQUIDO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7 - BALANCO ORCAMENTARIO SINTETICO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ADMINISTRACAO: _     1 - DIRETA           2 - DIRETA + FUNDOS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3 - AUTARQUIA        4 - FUNDACAO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5 - EMPRESA PUBLICA  6 - ECONOMIA MISTA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7 - FUNDOS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8 - GERAL COM INCLUSAO DE EMPRESAS NAO DEPENDENTE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9 - PODER EXECUTIVO (SEM MINISTERIO PUBLICO).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-24"/>
            <a:ext cx="91440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DEMONSTRATIVOS E BALANÇOS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214282" y="913674"/>
          <a:ext cx="8715436" cy="5730036"/>
        </p:xfrm>
        <a:graphic>
          <a:graphicData uri="http://schemas.openxmlformats.org/drawingml/2006/table">
            <a:tbl>
              <a:tblPr/>
              <a:tblGrid>
                <a:gridCol w="7143800"/>
                <a:gridCol w="1571636"/>
              </a:tblGrid>
              <a:tr h="16933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INGRESSOS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RECEITA ORCAMENTARIA(I)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158.349.445,63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ORDINARIA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121.462.142,72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RECURSOS DIRETAMENTE ARRECADADOS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121.462.142,72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VINCULADA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36.887.302,91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CONVENIOS COM ORGAOS FEDERAIS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36.887.302,91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RECEITA ORCAMENTARIA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158.349.445,63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RECEITAS ORCAMENTARIAS ARRECADADA LIQUIDA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158.349.445,63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TRANSFERENCIA FINANCEIRAS RECEBIDAS (II)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113.086.672,79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TRANSF. RECEBIDA P/ EXECUCAO ORCAMENTARIA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69.877.472,79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REPASSES RECEBIDOS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4.310.261,81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SUB-REPASSES RECEBIDOS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65.567.210,98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TRANSF RECEBIDAS INDEP. EXEC ORCAMENTARIA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43.209.200,00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RECEBIMENTOS EXTRAORCAMENTARIOS (III)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104.645.067,78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INSCRIÇÃO DE OBRIGAÇÕES DO EXERCICIO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77.297.757,20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EMPENHOS A LIQUIDAR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54.026.712,73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DEPESAS LIQUIDADAS A PAGAR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23.271.044,47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DEPOSITOS RESTITUIVEIS E VALORES VINCULADOS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24.722.251,26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CONSIGNACOES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24.668.789,74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DEPOSITOS NAO JUDICIAIS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53.461,52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OUTROS RECEBIMENTOS EXTRAORCAMENTARIOS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2.625.059,32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SALDO DE PERIODO ANTERIOR (IV)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38.600.725,84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333"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CAIXA E EQUIVALENTE DE CAIXA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38.600.725,84</a:t>
                      </a:r>
                    </a:p>
                  </a:txBody>
                  <a:tcPr marL="5292" marR="5292" marT="52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64633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BALANÇO FINANCEIRO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64633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BALANÇO FINANCEIRO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71438" y="857232"/>
          <a:ext cx="8858280" cy="5887728"/>
        </p:xfrm>
        <a:graphic>
          <a:graphicData uri="http://schemas.openxmlformats.org/drawingml/2006/table">
            <a:tbl>
              <a:tblPr/>
              <a:tblGrid>
                <a:gridCol w="7286644"/>
                <a:gridCol w="1571636"/>
              </a:tblGrid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DISPÊNDIOS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DESPESA ORCAMENTARIA(VI)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177.085.808,46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ORDINARIA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131.658.651,63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RECURSOS ORDINARIOS – TESOURO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39.175.975,16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RECURSOS DIRETAMENTE ARRECADADOS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92.482.676,47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VINCULADA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45.427.156,83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CONVENIOS COM ORGAOS FEDERAIS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21.518.826,88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OPERACOES DE CREDITO INTERNA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19.538.400,09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ADICIONAL ICMS – FUMACOP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4.369.929,86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TRANSFERENCIAS FINANCEIRAS CONCEDIDAS (VII)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43.209.200,00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TRANSF. CONCED. INDEP. EXECUCAO ORCAMENTARIA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43.209.200,00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PAGAMENTOS EXTRAORCAMENTARIOS (VIII)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66.851.349,03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PAG DE RESTOS A PAGAR NAO PROCESSADOS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46.008.349,44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PAGAMENTO DE RESTOS A PAGAR PROCESSADOS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3.361.093,91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DEPOSITOS RESTITUIVEIS E VALORES VINCULADOS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15.993.205,68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CONSIGNACOES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15.943.199,70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DEPOSITOS NAO JUDICIAIS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50.005,98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ORDENS BANCARIAS A COMPENSAR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1.488.700,00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SALDO PARA O EXERCICIO SEGUINTE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127.535.554,55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CAIXA E EQUIVALENTE DE CAIXA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127.535.554,55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24">
                <a:tc>
                  <a:txBody>
                    <a:bodyPr/>
                    <a:lstStyle/>
                    <a:p>
                      <a:pPr algn="l" fontAlgn="b"/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DISPENDIOS (X) = (VI+VII+VIII+IX)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414.681.912,04</a:t>
                      </a:r>
                    </a:p>
                  </a:txBody>
                  <a:tcPr marL="6048" marR="6048" marT="604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E0572433-1F50-4430-876C-EAC101F9E55A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33400" y="1124744"/>
            <a:ext cx="7620000" cy="1714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</a:pPr>
            <a:endParaRPr lang="pt-BR" sz="2800" b="1" dirty="0">
              <a:solidFill>
                <a:srgbClr val="000066"/>
              </a:solidFill>
              <a:latin typeface="Century Gothic" pitchFamily="34" charset="0"/>
            </a:endParaRPr>
          </a:p>
          <a:p>
            <a:pPr algn="just">
              <a:lnSpc>
                <a:spcPct val="60000"/>
              </a:lnSpc>
              <a:spcBef>
                <a:spcPct val="50000"/>
              </a:spcBef>
            </a:pPr>
            <a:r>
              <a:rPr lang="pt-BR" sz="2800" b="1" dirty="0">
                <a:solidFill>
                  <a:srgbClr val="333300"/>
                </a:solidFill>
                <a:latin typeface="Century Gothic" pitchFamily="34" charset="0"/>
              </a:rPr>
              <a:t>    Objetivos: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ü"/>
            </a:pPr>
            <a:r>
              <a:rPr lang="pt-BR" sz="2800" b="1" i="1" dirty="0">
                <a:solidFill>
                  <a:srgbClr val="333300"/>
                </a:solidFill>
                <a:latin typeface="Century Gothic" pitchFamily="34" charset="0"/>
              </a:rPr>
              <a:t>Mostrar a posição estática do patrimônio a qualquer momento.</a:t>
            </a:r>
            <a:endParaRPr lang="pt-BR" sz="2800" b="1" i="1" dirty="0">
              <a:solidFill>
                <a:srgbClr val="000066"/>
              </a:solidFill>
              <a:latin typeface="Century Gothic" pitchFamily="34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0" y="0"/>
            <a:ext cx="9144000" cy="1676400"/>
          </a:xfrm>
          <a:prstGeom prst="downArrowCallout">
            <a:avLst>
              <a:gd name="adj1" fmla="val 83535"/>
              <a:gd name="adj2" fmla="val 136364"/>
              <a:gd name="adj3" fmla="val 16667"/>
              <a:gd name="adj4" fmla="val 666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228600"/>
            <a:ext cx="9144000" cy="85407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5000" b="1" dirty="0">
                <a:solidFill>
                  <a:srgbClr val="FFFFFF"/>
                </a:solidFill>
                <a:latin typeface="Century Gothic" pitchFamily="34" charset="0"/>
              </a:rPr>
              <a:t>BALANÇO PATRIMONIAL</a:t>
            </a:r>
            <a:endParaRPr lang="pt-BR" dirty="0">
              <a:latin typeface="Century Gothic" pitchFamily="34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0" y="3113882"/>
            <a:ext cx="8915400" cy="1313436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    </a:t>
            </a: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Subsistema </a:t>
            </a:r>
            <a:r>
              <a:rPr lang="pt-BR" sz="2800" b="1" dirty="0">
                <a:solidFill>
                  <a:srgbClr val="FFFFFF"/>
                </a:solidFill>
                <a:latin typeface="Century Gothic" pitchFamily="34" charset="0"/>
              </a:rPr>
              <a:t>de Contas alimentador:</a:t>
            </a:r>
          </a:p>
          <a:p>
            <a:pPr lvl="1">
              <a:lnSpc>
                <a:spcPct val="6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ü"/>
            </a:pPr>
            <a:r>
              <a:rPr lang="pt-BR" sz="2800" b="1" i="1" dirty="0" smtClean="0">
                <a:solidFill>
                  <a:srgbClr val="FFFFFF"/>
                </a:solidFill>
                <a:latin typeface="Century Gothic" pitchFamily="34" charset="0"/>
              </a:rPr>
              <a:t>Subsistema Patrimonial </a:t>
            </a:r>
            <a:r>
              <a:rPr lang="pt-BR" sz="2800" b="1" i="1" dirty="0">
                <a:solidFill>
                  <a:srgbClr val="FFFFFF"/>
                </a:solidFill>
                <a:latin typeface="Century Gothic" pitchFamily="34" charset="0"/>
              </a:rPr>
              <a:t>e de Compensação</a:t>
            </a:r>
            <a:endParaRPr lang="pt-BR" dirty="0">
              <a:latin typeface="Century Gothic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512" y="4509120"/>
            <a:ext cx="8964488" cy="2505301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576263" indent="-476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3" algn="just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  <a:buFont typeface="Wingdings" pitchFamily="2" charset="2"/>
              <a:buNone/>
            </a:pPr>
            <a:endParaRPr lang="pt-BR" sz="2800" b="1" i="1" dirty="0">
              <a:solidFill>
                <a:srgbClr val="800000"/>
              </a:solidFill>
              <a:latin typeface="Century Gothic" pitchFamily="34" charset="0"/>
            </a:endParaRPr>
          </a:p>
          <a:p>
            <a:pPr lvl="3" algn="just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  <a:buFont typeface="Wingdings" pitchFamily="2" charset="2"/>
              <a:buNone/>
            </a:pPr>
            <a:r>
              <a:rPr lang="pt-BR" sz="2800" b="1" i="1" dirty="0">
                <a:solidFill>
                  <a:srgbClr val="FFFFFF"/>
                </a:solidFill>
                <a:latin typeface="Century Gothic" pitchFamily="34" charset="0"/>
              </a:rPr>
              <a:t>Forma de Apresentação:</a:t>
            </a:r>
          </a:p>
          <a:p>
            <a:pPr marL="571500" lvl="3" indent="0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</a:pPr>
            <a:r>
              <a:rPr lang="pt-BR" sz="2800" b="1" i="1" dirty="0" smtClean="0">
                <a:solidFill>
                  <a:srgbClr val="FFFFFF"/>
                </a:solidFill>
                <a:latin typeface="Century Gothic" pitchFamily="34" charset="0"/>
              </a:rPr>
              <a:t>Estrutura do Plano de Contas</a:t>
            </a:r>
          </a:p>
          <a:p>
            <a:pPr marL="571500" lvl="3" indent="0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</a:pPr>
            <a:r>
              <a:rPr lang="pt-BR" sz="2800" b="1" i="1" dirty="0" smtClean="0">
                <a:solidFill>
                  <a:srgbClr val="FFFFFF"/>
                </a:solidFill>
                <a:latin typeface="Century Gothic" pitchFamily="34" charset="0"/>
              </a:rPr>
              <a:t>Anexo na forma da 4.320/64</a:t>
            </a:r>
          </a:p>
          <a:p>
            <a:pPr marL="571500" lvl="3" indent="0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</a:pPr>
            <a:r>
              <a:rPr lang="pt-BR" sz="2800" b="1" i="1" dirty="0" smtClean="0">
                <a:solidFill>
                  <a:srgbClr val="FFFFFF"/>
                </a:solidFill>
                <a:latin typeface="Century Gothic" pitchFamily="34" charset="0"/>
              </a:rPr>
              <a:t>Financeiro e Permanente para o Ativo e Passivo</a:t>
            </a:r>
            <a:endParaRPr lang="pt-BR" sz="2800" b="1" i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/>
      <p:bldP spid="5" grpId="0" animBg="1" autoUpdateAnimBg="0"/>
      <p:bldP spid="6" grpId="0" animBg="1" autoUpdateAnimBg="0"/>
      <p:bldP spid="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0" y="571504"/>
            <a:ext cx="9144000" cy="650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Balanço Patrimonial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Balanço Patrimonial deverá ser consultado por meio da transação &gt;BALANSINTN com o preenchimento do tipo de balanço com o numeral “2”, conforme especificado a seguir: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SIAFEM2016-CONTAB,CONSULTAS,BALANSINTN ( NOVO BALANCO SINTETICO ) ___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31/05/2016 AS 15:13                      USUARIO : JOAO FORTES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ORGAO/SUBORGAO       : _____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ORGAOS SUBORDINADOS  : _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: 120206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: 12206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 DE REFERENCIA    :JUN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BALANCO      : 2     	1 - BALANCO FINANCEIRO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2 - BALANCO PATRIMONIAL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3 - VARIACAO PATRIMONIAL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4 - BALANCO ORCAMENTARIO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5 - DEMONSTRACAO DOS FLUXOS DE CAIXA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6 - DEMONST. MUTACOES ATIVO E PATRIM. LIQUIDO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7 - BALANCO ORCAMENTARIO SINTETICO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ADMINISTRACAO: _     1 - DIRETA           2 - DIRETA + FUNDOS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		   3 - AUTARQUIA        4 - FUNDACAO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		    5 - EMPRESA PUBLICA  6 - ECONOMIA MISTA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		</a:t>
            </a:r>
            <a:r>
              <a:rPr kumimoji="0" lang="pt-B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7 - FUNDOS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		    8 - GERAL COM INCLUSAO DE EMPRESAS NAO DEPENDENTE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                         		</a:t>
            </a:r>
            <a:r>
              <a:rPr kumimoji="0" lang="pt-BR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    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9 - PODER EXECUTIVO (SEM MINISTERIO PUBLICO).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64633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BALANÇO </a:t>
            </a: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PATRIMONIAL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142844" y="785794"/>
          <a:ext cx="8858280" cy="6083740"/>
        </p:xfrm>
        <a:graphic>
          <a:graphicData uri="http://schemas.openxmlformats.org/drawingml/2006/table">
            <a:tbl>
              <a:tblPr/>
              <a:tblGrid>
                <a:gridCol w="7286676"/>
                <a:gridCol w="1571604"/>
              </a:tblGrid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ATIVO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ATIVO CIRCULANTE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139.145.959,06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CAIXA E EQUIVALENTE DE CAIXA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127.535.554,55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CREDITOS A CURTO PRAZO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4.437.554,33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ESTOQUES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7.172.850,18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ATIVO NAO CIRCULANTE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427.422.795,40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IMOBILIZADO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427.422.795,40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TOTAL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566.568.754,46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PASSIVO E PATRIMONIO LIQUIDO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PASSIVO CIRCULANTE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61.977.433,57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OBRIGACOES TRAB, PREV E ASSIST A PAGAR A CP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20.703.181,30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FORNECEDORES E CONTAS A PAGAR A CP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31.323.566,18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DEMAIS OBRIGACOES A CURTO PRAZO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9.950.686,09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TOTAL DO PASSIVO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61.977.433,57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PATRIMONIO LIQUIDO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PATRIMONIO SOCIAL E CAPITAL SOCIAL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390.082.283,33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RESULTADOS ACUMULADOS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114.509.037,56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SUPERAVITS OU DEFICITS ACUMULADOS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114.509.037,56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TOTAL DO PATRIMONIO LIQUIDO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504.591.320,89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TOTAL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5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566.568.754,46</a:t>
                      </a:r>
                    </a:p>
                  </a:txBody>
                  <a:tcPr marL="5390" marR="5390" marT="539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646331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600" b="1" dirty="0">
                <a:solidFill>
                  <a:srgbClr val="FFFFFF"/>
                </a:solidFill>
                <a:latin typeface="Century Gothic" pitchFamily="34" charset="0"/>
              </a:rPr>
              <a:t>BALANÇO </a:t>
            </a:r>
            <a:r>
              <a:rPr lang="pt-BR" sz="3600" b="1" dirty="0" smtClean="0">
                <a:solidFill>
                  <a:srgbClr val="FFFFFF"/>
                </a:solidFill>
                <a:latin typeface="Century Gothic" pitchFamily="34" charset="0"/>
              </a:rPr>
              <a:t>PATRIMONIAL</a:t>
            </a:r>
            <a:endParaRPr lang="pt-BR" sz="36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527C7330-BC38-4D8A-9516-0F1E30F0893B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1981200" y="2362200"/>
            <a:ext cx="5105400" cy="609600"/>
          </a:xfrm>
          <a:prstGeom prst="wedgeRectCallout">
            <a:avLst>
              <a:gd name="adj1" fmla="val -12810"/>
              <a:gd name="adj2" fmla="val 159898"/>
            </a:avLst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15" name="AutoShape 2"/>
          <p:cNvSpPr>
            <a:spLocks noChangeArrowheads="1"/>
          </p:cNvSpPr>
          <p:nvPr/>
        </p:nvSpPr>
        <p:spPr bwMode="auto">
          <a:xfrm>
            <a:off x="228600" y="0"/>
            <a:ext cx="8610600" cy="1447800"/>
          </a:xfrm>
          <a:prstGeom prst="wedgeRoundRectCallout">
            <a:avLst>
              <a:gd name="adj1" fmla="val -3889"/>
              <a:gd name="adj2" fmla="val 11337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0" y="76200"/>
            <a:ext cx="91440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4400" b="1" dirty="0">
                <a:latin typeface="Century Gothic" pitchFamily="34" charset="0"/>
              </a:rPr>
              <a:t>DEMONSTRAÇÃO DAS VARIAÇÕES PATRIMONIAIS</a:t>
            </a:r>
            <a:endParaRPr lang="pt-BR" sz="2900" dirty="0">
              <a:latin typeface="Century Gothic" pitchFamily="34" charset="0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057400" y="2438400"/>
            <a:ext cx="4876800" cy="57943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1">
                <a:latin typeface="Century Gothic" pitchFamily="34" charset="0"/>
              </a:rPr>
              <a:t>CONCEITO</a:t>
            </a: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>
            <a:off x="179388" y="3657600"/>
            <a:ext cx="8763000" cy="28194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609600" y="4038600"/>
            <a:ext cx="8077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800" b="1" i="1">
                <a:solidFill>
                  <a:srgbClr val="FFFFFF"/>
                </a:solidFill>
                <a:latin typeface="Century Gothic" pitchFamily="34" charset="0"/>
              </a:rPr>
              <a:t>EVIDENCIARÁ AS VARIAÇÕES ATIVAS E PASSIVAS OCORRIDAS NO PATRIMÔNIO, RESULTANTES E INDEPENDENTES DA EXECUÇÃO ORÇAMENTÁRIA E INDICARÁ O RESULTADO PATRIMONIAL DO EXERCÍCIO.</a:t>
            </a:r>
            <a:endParaRPr lang="pt-BR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 autoUpdateAnimBg="0"/>
      <p:bldP spid="16" grpId="0" autoUpdateAnimBg="0"/>
      <p:bldP spid="17" grpId="0" animBg="1" autoUpdateAnimBg="0"/>
      <p:bldP spid="18" grpId="0" animBg="1"/>
      <p:bldP spid="1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0" y="476037"/>
            <a:ext cx="91440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Demonstração das Variações Patrimoniais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Demonstração das Variações Patrimoniais deverá ser consultada por meio da transação &gt;BALANSINTN com o preenchimento do tipo de balanço com o numeral “3”, conforme especificado a seguir: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SIAFEM2016-CONTAB,CONSULTAS,BALANSINTN ( NOVO BALANCO SINTETICO ) ___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31/05/2016 AS 15:13                      USUARIO : JOAO FORTES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ORGAO/SUBORGAO       : _____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ORGAOS SUBORDINADOS  : _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: 120206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: 12206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 DE REFERENCIA    :JUN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BALANCO      : 3     	1 - BALANCO FINANCEIRO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2 - BALANCO PATRIMONIAL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3 - VARIACAO PATRIMONIAL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4 - BALANCO ORCAMENTARIO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5 - DEMONSTRACAO DOS FLUXOS DE CAIXA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6 - DEMONST. MUTACOES ATIVO E PATRIM. LIQUIDO</a:t>
            </a:r>
            <a:endParaRPr kumimoji="0" lang="pt-BR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Courier New" pitchFamily="49" charset="0"/>
              </a:rPr>
              <a:t>			</a:t>
            </a:r>
            <a:r>
              <a:rPr kumimoji="0" lang="pt-BR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ourier New" pitchFamily="49" charset="0"/>
              </a:rPr>
              <a:t>7 - BALANCO ORCAMENTARIO SINTETICO</a:t>
            </a:r>
            <a:r>
              <a:rPr kumimoji="0" lang="pt-BR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DEMONSTRAÇÃO DAS VARIAÇÕES PATRIMONIAIS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214282" y="500042"/>
          <a:ext cx="8715436" cy="6433960"/>
        </p:xfrm>
        <a:graphic>
          <a:graphicData uri="http://schemas.openxmlformats.org/drawingml/2006/table">
            <a:tbl>
              <a:tblPr/>
              <a:tblGrid>
                <a:gridCol w="6441844"/>
                <a:gridCol w="2273592"/>
              </a:tblGrid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VARIACOES PATRIMONIAIS AUMENTATIVAS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285.392.572,15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EXPLORACAO E VENDAS DE BENS,SERVICOS E DIREIT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121.462.142,72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EXPLORACAO DE BENS, DIREITOS E PREST SERVICOS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121.462.142,72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VARIAC PATRIMONIAIS AUMENTATIVAS FINANCEIRAS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2.384.388,45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REMUNERACAO DE DEP BANC E APLIC FINANCEIRAS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2.384.388,45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TRANSFERENCIAS E DELEGACOES RECEBIDAS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147.589.587,25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TRANSFERENCIAS INTRAGOVERNAMENTAIS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113.086.672,79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TRANSFERENCIAS INTERGOVERNAMENTAIS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OUTRAS VARIACOES PATRIMONIAIS AUMENTATIVAS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13.956.453,73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VARIAÇAO PATRIMONIAL AUMENTATIVA A CLASSIFICA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2.625.059,32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DIVERSAS VARIACOES PATRIMONIAIS AUMENTATIVAS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11.331.394,41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VARIACOES PATRIMONIAIS DIMINUTIVAS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170.883.534,59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PESSOAL E ENCARGOS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47.239.150,31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 REMUNERACAO A PESSOAL CIVIL ATIVO RPPS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40.423.390,33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REMUNERACAO A PESSOAL ATIVO CIVIL RGPS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6.583.704,78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BENEFICIOS A PESSOAL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232.055,20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BENEFICIOS PREVIDENCIARIOS E ASSISTENCIAIS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537.595,88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OUTROS BENEFICIOS PREVIDENCIARIOS E ASSISTENC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537.595,88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USO DE BENS, SERV E CONSUMO DE CAPITAL FIXO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73.222.280,73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SERVICOS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73.222.280,73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TRANSFERENCIAS E DELEGACOES CONCEDIDAS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43.209.200,00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TRANSFERENCIAS INTRAGOVERNAMENTAIS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43.209.200,00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OUTRAS VARIACOES PATRIMONIAIS DIMINUTIVAS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6.675.307,67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 DIVERSAS VARIACOES PATRIMONIAIS DIMINUTIVAS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6.675.307,67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RESULTADO PATRIMONIAL DO EXERCICIO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114.509.037,56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RESULTADO PATRIMONIAL DO PERIODO</a:t>
                      </a:r>
                      <a:endParaRPr lang="pt-BR" sz="15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5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114.509.037,56</a:t>
                      </a:r>
                      <a:endParaRPr lang="pt-BR" sz="15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3036" marR="33036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DEMONSTRAÇÃO DAS VARIAÇÕES PATRIMONIAIS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702867B2-77E4-4AC1-8168-202361834188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0" y="1285875"/>
            <a:ext cx="9144000" cy="22891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</a:pPr>
            <a:endParaRPr lang="pt-BR" sz="2800" b="1">
              <a:solidFill>
                <a:srgbClr val="000066"/>
              </a:solidFill>
              <a:latin typeface="Century Gothic" pitchFamily="34" charset="0"/>
            </a:endParaRPr>
          </a:p>
          <a:p>
            <a:pPr algn="just">
              <a:lnSpc>
                <a:spcPct val="60000"/>
              </a:lnSpc>
              <a:spcBef>
                <a:spcPct val="50000"/>
              </a:spcBef>
            </a:pPr>
            <a:r>
              <a:rPr lang="pt-BR" sz="2800" b="1">
                <a:solidFill>
                  <a:srgbClr val="333300"/>
                </a:solidFill>
                <a:latin typeface="Century Gothic" pitchFamily="34" charset="0"/>
              </a:rPr>
              <a:t>    </a:t>
            </a:r>
            <a:r>
              <a:rPr lang="pt-BR" sz="2800" b="1">
                <a:solidFill>
                  <a:srgbClr val="FFFFFF"/>
                </a:solidFill>
                <a:latin typeface="Century Gothic" pitchFamily="34" charset="0"/>
              </a:rPr>
              <a:t>Objetivos: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ü"/>
            </a:pPr>
            <a:r>
              <a:rPr lang="pt-BR" sz="2800" b="1" i="1">
                <a:solidFill>
                  <a:srgbClr val="FFFFFF"/>
                </a:solidFill>
                <a:latin typeface="Century Gothic" pitchFamily="34" charset="0"/>
              </a:rPr>
              <a:t>Mostrar o comportamento das receitas e das despesas;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ü"/>
            </a:pPr>
            <a:r>
              <a:rPr lang="pt-BR" sz="2800" b="1" i="1">
                <a:solidFill>
                  <a:srgbClr val="FFFFFF"/>
                </a:solidFill>
                <a:latin typeface="Century Gothic" pitchFamily="34" charset="0"/>
              </a:rPr>
              <a:t>bem como do Resultado orçamentário.</a:t>
            </a: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0" y="0"/>
            <a:ext cx="9144000" cy="1676400"/>
          </a:xfrm>
          <a:prstGeom prst="downArrowCallout">
            <a:avLst>
              <a:gd name="adj1" fmla="val 83535"/>
              <a:gd name="adj2" fmla="val 136364"/>
              <a:gd name="adj3" fmla="val 16667"/>
              <a:gd name="adj4" fmla="val 66667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eaLnBrk="0" hangingPunct="0"/>
            <a:endParaRPr lang="pt-BR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6038" y="0"/>
            <a:ext cx="9097962" cy="8540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5000" b="1" dirty="0">
                <a:solidFill>
                  <a:srgbClr val="FFFFFF"/>
                </a:solidFill>
                <a:latin typeface="Century Gothic" pitchFamily="34" charset="0"/>
              </a:rPr>
              <a:t>BALANÇO ORÇAMENTÁRIO</a:t>
            </a:r>
            <a:endParaRPr lang="pt-BR" dirty="0">
              <a:latin typeface="Century Gothic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0" y="4183063"/>
            <a:ext cx="9144000" cy="8175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pt-BR" sz="2800" b="1">
                <a:solidFill>
                  <a:srgbClr val="000066"/>
                </a:solidFill>
                <a:latin typeface="Century Gothic" pitchFamily="34" charset="0"/>
              </a:rPr>
              <a:t>    Sistema de Contas alimentador:</a:t>
            </a:r>
          </a:p>
          <a:p>
            <a:pPr lvl="1">
              <a:lnSpc>
                <a:spcPct val="6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ü"/>
            </a:pPr>
            <a:r>
              <a:rPr lang="pt-BR" sz="2800" b="1" i="1">
                <a:solidFill>
                  <a:srgbClr val="000066"/>
                </a:solidFill>
                <a:latin typeface="Century Gothic" pitchFamily="34" charset="0"/>
              </a:rPr>
              <a:t>Sistema Orçamentário</a:t>
            </a:r>
            <a:endParaRPr lang="pt-BR">
              <a:latin typeface="Century Gothic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36513" y="5487988"/>
            <a:ext cx="9288463" cy="129857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576263" indent="-476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3" algn="just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  <a:buFont typeface="Wingdings" pitchFamily="2" charset="2"/>
              <a:buNone/>
            </a:pPr>
            <a:r>
              <a:rPr lang="pt-BR" sz="2800" b="1" i="1">
                <a:solidFill>
                  <a:srgbClr val="800000"/>
                </a:solidFill>
                <a:latin typeface="Century Gothic" pitchFamily="34" charset="0"/>
              </a:rPr>
              <a:t>Forma de Apresentação:</a:t>
            </a:r>
          </a:p>
          <a:p>
            <a:pPr lvl="3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  <a:buFont typeface="Wingdings" pitchFamily="2" charset="2"/>
              <a:buChar char="ü"/>
            </a:pPr>
            <a:r>
              <a:rPr lang="pt-BR" sz="2800" b="1" i="1">
                <a:solidFill>
                  <a:srgbClr val="800000"/>
                </a:solidFill>
                <a:latin typeface="Century Gothic" pitchFamily="34" charset="0"/>
              </a:rPr>
              <a:t>Receitas - Por categoria econômica e espécie.</a:t>
            </a:r>
          </a:p>
          <a:p>
            <a:pPr lvl="3">
              <a:lnSpc>
                <a:spcPct val="60000"/>
              </a:lnSpc>
              <a:spcBef>
                <a:spcPct val="50000"/>
              </a:spcBef>
              <a:buClr>
                <a:srgbClr val="000066"/>
              </a:buClr>
              <a:buFont typeface="Wingdings" pitchFamily="2" charset="2"/>
              <a:buChar char="ü"/>
            </a:pPr>
            <a:r>
              <a:rPr lang="pt-BR" sz="2800" b="1" i="1">
                <a:solidFill>
                  <a:srgbClr val="800000"/>
                </a:solidFill>
                <a:latin typeface="Century Gothic" pitchFamily="34" charset="0"/>
              </a:rPr>
              <a:t>Despesas – Grupo de despesa.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nimBg="1"/>
      <p:bldP spid="5" grpId="0" animBg="1" autoUpdateAnimBg="0"/>
      <p:bldP spid="6" grpId="0" animBg="1" autoUpdateAnimBg="0"/>
      <p:bldP spid="7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0" y="703622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Balanço Orçamentário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 Balanço Orçamentário deverá ser consultado por meio da transação &gt;BALANSINTN com o preenchimento do tipo de balanço com o numeral “4”, conforme especificado a seguir: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SIAFEM2016-CONTAB,CONSULTAS,BALANSINTN ( NOVO BALANCO SINTETICO ) ___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31/05/2016 AS 15:13                      USUARIO : JOAO FORTES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ORGAO/SUBORGAO       : _____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ORGAOS SUBORDINADOS  : 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: 120206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: 12206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 DE REFERENCIA    :JUN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BALANCO      : 4     	1 - BALANCO FINANCEIRO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2- BALANCO PATRIMONIAL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3- VARIACAO PATRIMONIAL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4- BALANCO ORCAMENTARIO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	5- DEMONSTRACAO DOS FLUXOS DE CAIXA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6- DEMONST. MUTACOES ATIVO E PATRIM. LIQUIDO                             	</a:t>
            </a: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7 - BALANCO ORCAMENTARIO SINTETICO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BALANÇO ORÇAMENTÁRIO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BALANÇO ORÇAMENTÁRIO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214282" y="677596"/>
          <a:ext cx="8715435" cy="6037552"/>
        </p:xfrm>
        <a:graphic>
          <a:graphicData uri="http://schemas.openxmlformats.org/drawingml/2006/table">
            <a:tbl>
              <a:tblPr/>
              <a:tblGrid>
                <a:gridCol w="4357718"/>
                <a:gridCol w="2357454"/>
                <a:gridCol w="2000263"/>
              </a:tblGrid>
              <a:tr h="1313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RECEITAS ORCAMENTARIAS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PREVISAO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EXECUCAO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RECEITAS CORRENTES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349.818.978,00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123.846.531,17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 PATRIMONIAL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2.384.388,45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RECEITAS DE VALORES MOBILIA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2.384.388,45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 DE SERVICOS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349.818.978,00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121.462.142,72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RECEITAS DE CAPITAL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166.615.205,00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TRANSFERENCIAS DE CAPITAL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78.994.264,00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TRANSFERENCIAS INTERGOVERNA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78.994.264,00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OUTRAS RECEITAS DE CAPITAL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87.620.941,00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INTEGRALIZACAO DO CAPITAL 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87.620.941,00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SUBTOTAL DAS RECEITAS (I)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516.434.183,00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158.349.445,63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TRANSF. INTRAGOVERNAMENTAIS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147.461.886,03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69.877.472,79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REFINANCIAMENTO (II)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SUBTOT C/ REFINAN (III)=(I+II)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663.896.069,03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228.226.918,42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DEFICIT (IV)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TOTAL (V)=(III+IV)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663.896.069,03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228.226.918,42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SALDOS EXERCICIOS ANTERIORES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23.855.575,83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(UTILIZADOS P/ CRED ADICIONAL)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Superavit Financeiro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23.855.575,83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6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DESPESAS ORCAMENTARIAS</a:t>
                      </a:r>
                      <a:endParaRPr lang="pt-BR" sz="125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DOTAÇÃO ATUALIZADA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DESPESA EMPENHADA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PESSOAL E ENCARGOS SOCIAIS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156.837.568,00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46.194.316,68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OUTRAS DESPESAS CORRENTES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237.041.410,00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83.159.935,06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INVESTIMENTOS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278.812.699,83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47.731.556,72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  AMORTIZACAO DE DIVIDA EXTERN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4.420.000,00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SUBTOTAL DAS DESPESAS (VI)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677.111.677,83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177.085.808,46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AMORTIZ DIVIDA/REFINANC (VII)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SUBT C/ REFINAN(VIII)=(VI+VII)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677.111.677,83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177.085.808,46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SUPERAVIT (IX)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51.141.109,96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TOTAL (X)=(VII+IX)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677.111.677,83</a:t>
                      </a:r>
                      <a:endParaRPr lang="pt-BR" sz="125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5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228.226.918,42</a:t>
                      </a:r>
                      <a:endParaRPr lang="pt-BR" sz="125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7751" marR="27751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5C8821FC-D1FF-4C18-B524-744E3ACC949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14288" y="76200"/>
            <a:ext cx="9129712" cy="1447800"/>
          </a:xfrm>
          <a:prstGeom prst="wedgeRoundRectCallout">
            <a:avLst>
              <a:gd name="adj1" fmla="val -4130"/>
              <a:gd name="adj2" fmla="val 103620"/>
              <a:gd name="adj3" fmla="val 166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57400" y="2438400"/>
            <a:ext cx="4876800" cy="57943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1">
                <a:latin typeface="Century Gothic" pitchFamily="34" charset="0"/>
              </a:rPr>
              <a:t>CONCEITO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3810000"/>
            <a:ext cx="9144000" cy="30464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3200">
                <a:solidFill>
                  <a:schemeClr val="bg1"/>
                </a:solidFill>
                <a:latin typeface="Century Gothic" pitchFamily="34" charset="0"/>
              </a:rPr>
              <a:t>A Demonstração dos Fluxos de Caixa permite aos usuários projetar cenários de fluxos futuros de caixa e elaborar análise sobre eventuais mudanças em torno da capacidade de manutenção do regular financiamento dos serviços públicos.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0" y="428625"/>
            <a:ext cx="9144000" cy="63023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500" b="1" i="1">
                <a:latin typeface="Century Gothic" pitchFamily="34" charset="0"/>
              </a:rPr>
              <a:t>DEMONSTRAÇÃO DOS FLUXOS DE CAIXA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EC1918EE-6E5A-4ED5-8F9F-B6EC548886E3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303338"/>
            <a:ext cx="91440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en-US" sz="240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A Demonstração dos Fluxos de Caixa poderá ser elaborada com a utilização de dois métodos:</a:t>
            </a:r>
          </a:p>
          <a:p>
            <a:pPr algn="just" eaLnBrk="0" hangingPunct="0"/>
            <a:endParaRPr lang="en-US" sz="2400" b="1">
              <a:solidFill>
                <a:srgbClr val="000000"/>
              </a:solidFill>
              <a:latin typeface="Century Gothic" pitchFamily="34" charset="0"/>
              <a:cs typeface="Times New Roman" pitchFamily="18" charset="0"/>
            </a:endParaRPr>
          </a:p>
          <a:p>
            <a:pPr algn="just" eaLnBrk="0" hangingPunct="0"/>
            <a:r>
              <a:rPr lang="en-US" sz="2400" b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 </a:t>
            </a:r>
            <a:endParaRPr lang="pt-BR" sz="2400" b="1">
              <a:solidFill>
                <a:srgbClr val="000000"/>
              </a:solidFill>
              <a:latin typeface="Century Gothic" pitchFamily="34" charset="0"/>
              <a:cs typeface="Times New Roman" pitchFamily="18" charset="0"/>
            </a:endParaRPr>
          </a:p>
          <a:p>
            <a:pPr algn="just" eaLnBrk="0" hangingPunct="0"/>
            <a:r>
              <a:rPr lang="pt-BR" sz="6000" b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M</a:t>
            </a:r>
            <a:r>
              <a:rPr lang="pt-BR" sz="6000" b="1">
                <a:solidFill>
                  <a:srgbClr val="000000"/>
                </a:solidFill>
                <a:cs typeface="Times New Roman" pitchFamily="18" charset="0"/>
              </a:rPr>
              <a:t>é</a:t>
            </a:r>
            <a:r>
              <a:rPr lang="pt-BR" sz="6000" b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todo Direto</a:t>
            </a:r>
          </a:p>
          <a:p>
            <a:pPr algn="just" eaLnBrk="0" hangingPunct="0"/>
            <a:endParaRPr lang="pt-BR" sz="6000"/>
          </a:p>
          <a:p>
            <a:pPr algn="just" eaLnBrk="0" hangingPunct="0"/>
            <a:r>
              <a:rPr lang="pt-BR" sz="6000" b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M</a:t>
            </a:r>
            <a:r>
              <a:rPr lang="pt-BR" sz="6000" b="1">
                <a:solidFill>
                  <a:srgbClr val="000000"/>
                </a:solidFill>
                <a:cs typeface="Times New Roman" pitchFamily="18" charset="0"/>
              </a:rPr>
              <a:t>é</a:t>
            </a:r>
            <a:r>
              <a:rPr lang="pt-BR" sz="6000" b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todo Indireto</a:t>
            </a:r>
            <a:endParaRPr lang="pt-BR" sz="600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0" y="-71438"/>
            <a:ext cx="9144000" cy="6302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500" b="1" i="1">
                <a:solidFill>
                  <a:schemeClr val="bg1"/>
                </a:solidFill>
                <a:latin typeface="Century Gothic" pitchFamily="34" charset="0"/>
              </a:rPr>
              <a:t>DEMONSTRAÇÃO DOS FLUXOS DE CAIXA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FD29D3DC-0311-4B2D-854C-25FD252E290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2938" y="1000125"/>
            <a:ext cx="85010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pt-BR" sz="3200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 É o procedimento cont</a:t>
            </a:r>
            <a:r>
              <a:rPr lang="pt-BR" sz="3200" dirty="0">
                <a:solidFill>
                  <a:srgbClr val="000000"/>
                </a:solidFill>
                <a:cs typeface="Times New Roman" pitchFamily="18" charset="0"/>
              </a:rPr>
              <a:t>á</a:t>
            </a:r>
            <a:r>
              <a:rPr lang="pt-BR" sz="3200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bil para elabora</a:t>
            </a:r>
            <a:r>
              <a:rPr lang="pt-BR" sz="3200" dirty="0">
                <a:solidFill>
                  <a:srgbClr val="000000"/>
                </a:solidFill>
                <a:cs typeface="Times New Roman" pitchFamily="18" charset="0"/>
              </a:rPr>
              <a:t>ç</a:t>
            </a:r>
            <a:r>
              <a:rPr lang="pt-BR" sz="3200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ão da Demonstra</a:t>
            </a:r>
            <a:r>
              <a:rPr lang="pt-BR" sz="3200" dirty="0">
                <a:solidFill>
                  <a:srgbClr val="000000"/>
                </a:solidFill>
                <a:cs typeface="Times New Roman" pitchFamily="18" charset="0"/>
              </a:rPr>
              <a:t>ç</a:t>
            </a:r>
            <a:r>
              <a:rPr lang="pt-BR" sz="3200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ão dos Fluxos de Caixa, que evidencia as movimenta</a:t>
            </a:r>
            <a:r>
              <a:rPr lang="pt-BR" sz="3200" dirty="0">
                <a:solidFill>
                  <a:srgbClr val="000000"/>
                </a:solidFill>
                <a:cs typeface="Times New Roman" pitchFamily="18" charset="0"/>
              </a:rPr>
              <a:t>ç</a:t>
            </a:r>
            <a:r>
              <a:rPr lang="pt-BR" sz="3200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ões de itens de caixa e seus equivalentes, a partir das principais classes de recebimentos e pagamentos brutos.</a:t>
            </a:r>
          </a:p>
          <a:p>
            <a:pPr algn="just" eaLnBrk="0" hangingPunct="0"/>
            <a:endParaRPr lang="en-US" sz="3200" dirty="0">
              <a:solidFill>
                <a:srgbClr val="000000"/>
              </a:solidFill>
              <a:latin typeface="Century Gothic" pitchFamily="34" charset="0"/>
              <a:cs typeface="Times New Roman" pitchFamily="18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0" y="-71438"/>
            <a:ext cx="9144000" cy="6302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500" b="1" i="1" dirty="0">
                <a:solidFill>
                  <a:schemeClr val="bg1"/>
                </a:solidFill>
                <a:latin typeface="Century Gothic" pitchFamily="34" charset="0"/>
              </a:rPr>
              <a:t>DEMONSTRAÇÃO DOS FLUXOS DE CAIXA</a:t>
            </a:r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 rot="16200000">
            <a:off x="-2787649" y="3427412"/>
            <a:ext cx="6215062" cy="646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M</a:t>
            </a:r>
            <a:r>
              <a:rPr lang="pt-BR" sz="3600" b="1" dirty="0">
                <a:solidFill>
                  <a:srgbClr val="000000"/>
                </a:solidFill>
                <a:cs typeface="Times New Roman" pitchFamily="18" charset="0"/>
              </a:rPr>
              <a:t>é</a:t>
            </a:r>
            <a:r>
              <a:rPr lang="pt-BR" sz="3600" b="1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todo Direto</a:t>
            </a:r>
            <a:endParaRPr lang="pt-BR" sz="3600" dirty="0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2286000" y="5291138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err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Operações</a:t>
            </a:r>
            <a:r>
              <a:rPr lang="en-US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;</a:t>
            </a:r>
          </a:p>
          <a:p>
            <a:pPr algn="just" eaLnBrk="0" hangingPunct="0"/>
            <a:r>
              <a:rPr lang="en-US" dirty="0" err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Investimentos</a:t>
            </a:r>
            <a:r>
              <a:rPr lang="en-US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;</a:t>
            </a:r>
          </a:p>
          <a:p>
            <a:pPr algn="just" eaLnBrk="0" hangingPunct="0"/>
            <a:r>
              <a:rPr lang="en-US" dirty="0" err="1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Financiamentos</a:t>
            </a:r>
            <a:r>
              <a:rPr lang="en-US" dirty="0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.</a:t>
            </a:r>
            <a:endParaRPr lang="pt-BR" dirty="0"/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auto">
          <a:xfrm rot="16200000">
            <a:off x="1394619" y="5672932"/>
            <a:ext cx="1285875" cy="369887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pt-BR">
                <a:solidFill>
                  <a:srgbClr val="000000"/>
                </a:solidFill>
                <a:latin typeface="Century Gothic" pitchFamily="34" charset="0"/>
                <a:cs typeface="Times New Roman" pitchFamily="18" charset="0"/>
              </a:rPr>
              <a:t>Classes</a:t>
            </a: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 autoUpdateAnimBg="0"/>
      <p:bldP spid="5" grpId="0" animBg="1"/>
      <p:bldP spid="6" grpId="0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0" y="939961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Demonstração dos Fluxos de Caixa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A Demonstração dos Fluxos de Caixa deverá ser consultada por meio da transação &gt;BALANSINTN com o preenchimento do tipo de balanço com o numeral “5”, conforme especificado a seguir: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__ SIAFEM2016-CONTAB,CONSULTAS,BALANSINTN ( NOVO BALANCO SINTETICO ) ___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CONSULTA EM 31/05/2016 AS 15:13                      USUARIO : JOAO FORTES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ORGAO/SUBORGAO       : _____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ORGAOS SUBORDINADOS  : _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UNIDADE GESTORA      : 120206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GESTAO               : 12206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MÊS DE REFERENCIA    :JUN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TIPO DE BALANCO      : 5     1 - BALANCO FINANCEIRO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2 - BALANCO PATRIMONIAL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3 - VARIACAO PATRIMONIAL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4 - BALANCO ORCAMENTARIO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5 - DEMONSTRACAO DOS FLUXOS DE CAIXA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6 - DEMONST. MUTACOES ATIVO E PATRIM. LIQUIDO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ourier New" pitchFamily="49" charset="0"/>
              </a:rPr>
              <a:t>			7 - BALANCO ORCAMENTARIO SINTETICO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DEMONSTRAÇÃO DOS FLUXOS DE CAIXA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223887" y="714356"/>
          <a:ext cx="8705831" cy="5888736"/>
        </p:xfrm>
        <a:graphic>
          <a:graphicData uri="http://schemas.openxmlformats.org/drawingml/2006/table">
            <a:tbl>
              <a:tblPr/>
              <a:tblGrid>
                <a:gridCol w="6771340"/>
                <a:gridCol w="1934491"/>
              </a:tblGrid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DE CAIXA DAS ATIVIDADES OPERACIONAIS</a:t>
                      </a:r>
                      <a:endParaRPr lang="pt-BR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INGRESSOS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221.071.314,54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RECEITAS DERIVADAS E ORIGINARIAS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123.846.531,17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 PATRIMONIAL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2.384.388,45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RECEITA DE SERVICOS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121.462.142,72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INGRESSOS EXTRAORCAMENTARIOS</a:t>
                      </a:r>
                      <a:endParaRPr lang="pt-BR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97.224.783,37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CONSIGNACOES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24.668.789,74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DEPOSITOS DE DIVERSAS ORIGENS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53.461,52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OUTROS RECEBIMENTOS EXTRAORCAMENTARIOS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2.625.059,32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TRANSFERENCIAS FINNCEIRAS RECEBIDAS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69.877.472,79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DESEMBOLSOS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157.568.127,44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PESSOAL E DEMAIS DESPESAS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81.710.741,59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SANEAMENTO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78.736.301,51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ENCARGOS ESPECIAIS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2.974.440,08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DESEMBOLSOS EXTRAORCAMENTARIOS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75.857.385,85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CONSIGNACOES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15.943.199,70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DEPOSITOS DE DIVERSAS ORIGENS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50.005,98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OUTROS VALORES PAGOS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9.006.036,82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PAGAMENTOS DE RESTOS A PAGAR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49.369.443,35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ORDENS BANCARIAS A COMPENSAR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1.488.700,00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CAIXA LIQUIDO DAS ATIV DE OPERACOES</a:t>
                      </a:r>
                      <a:endParaRPr lang="pt-BR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63.503.187,10</a:t>
                      </a:r>
                      <a:endParaRPr lang="pt-BR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2734" marR="227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DEMONSTRAÇÃO DOS FLUXOS DE CAIXA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-19050" y="0"/>
            <a:ext cx="9144000" cy="52322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2800" b="1" dirty="0" smtClean="0">
                <a:solidFill>
                  <a:srgbClr val="FFFFFF"/>
                </a:solidFill>
                <a:latin typeface="Century Gothic" pitchFamily="34" charset="0"/>
              </a:rPr>
              <a:t>DEMONSTRAÇÃO DOS FLUXOS DE CAIXA</a:t>
            </a:r>
            <a:endParaRPr lang="pt-BR" sz="2800" b="1" dirty="0">
              <a:solidFill>
                <a:srgbClr val="FFFFFF"/>
              </a:solidFill>
              <a:latin typeface="Century Gothic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214282" y="1285860"/>
          <a:ext cx="8643998" cy="4949190"/>
        </p:xfrm>
        <a:graphic>
          <a:graphicData uri="http://schemas.openxmlformats.org/drawingml/2006/table">
            <a:tbl>
              <a:tblPr/>
              <a:tblGrid>
                <a:gridCol w="6723247"/>
                <a:gridCol w="1920751"/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DE CAIXA DAS ATIVIDADES DE INVESTIMENTO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DESEMBOLSOS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9.071.272,85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AQUISICAO DE ATIVO NAO CIRCULANTE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7.099.754,19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OUTROS DESEMBOLSOS DE INVESTIMENTOS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1.971.518,66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CAIXA LIQ DAS ATIV DE INVESTIMENTO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-9.071.272,85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DE CAIXA DAS ATIVIDADES DE FINANCIAMENTO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INGRESSOS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OPERACOES DE CREDITO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FLUXO CAIXA LIQ DAS ATIV DE FINANCIAMENTO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34.502.914,46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APURACAO DO FLUXO DE CAIXA DO PERIODO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GERACAO LIQ. DE CAIXA E EQUIV. DE CAIXA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88.934.828,71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CAIXA E EQUIVALENTE DE CAIXA INICIAL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38.600.725,84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CAIXA E EQUIVALENTE DE CAIXA FINAL</a:t>
                      </a:r>
                      <a:endParaRPr lang="pt-BR" sz="20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127.535.554,55</a:t>
                      </a:r>
                      <a:endParaRPr lang="pt-BR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4320</Words>
  <Application>Microsoft Office PowerPoint</Application>
  <PresentationFormat>Apresentação na tela (4:3)</PresentationFormat>
  <Paragraphs>963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34</cp:revision>
  <dcterms:created xsi:type="dcterms:W3CDTF">2016-08-30T21:13:31Z</dcterms:created>
  <dcterms:modified xsi:type="dcterms:W3CDTF">2016-08-31T09:06:48Z</dcterms:modified>
</cp:coreProperties>
</file>