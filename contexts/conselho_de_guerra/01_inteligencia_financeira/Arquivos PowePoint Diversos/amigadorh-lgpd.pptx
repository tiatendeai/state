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56" r:id="rId3"/>
    <p:sldId id="262" r:id="rId4"/>
    <p:sldId id="257" r:id="rId5"/>
    <p:sldId id="288" r:id="rId6"/>
    <p:sldId id="263" r:id="rId7"/>
    <p:sldId id="259" r:id="rId8"/>
    <p:sldId id="265" r:id="rId9"/>
    <p:sldId id="266" r:id="rId10"/>
    <p:sldId id="267" r:id="rId11"/>
    <p:sldId id="268" r:id="rId12"/>
    <p:sldId id="260" r:id="rId13"/>
    <p:sldId id="261" r:id="rId14"/>
    <p:sldId id="275" r:id="rId15"/>
    <p:sldId id="289" r:id="rId16"/>
    <p:sldId id="280" r:id="rId17"/>
    <p:sldId id="281" r:id="rId18"/>
    <p:sldId id="282" r:id="rId19"/>
    <p:sldId id="283" r:id="rId20"/>
    <p:sldId id="284" r:id="rId21"/>
    <p:sldId id="286" r:id="rId22"/>
    <p:sldId id="279" r:id="rId23"/>
    <p:sldId id="274" r:id="rId2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 varScale="1">
        <p:scale>
          <a:sx n="69" d="100"/>
          <a:sy n="69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D08F2FB1-2EFE-4C6B-BEA0-F419136DC90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706E99-375A-4B04-81EB-0168D2962E2D}" type="datetimeFigureOut">
              <a:rPr lang="pt-BR" smtClean="0"/>
              <a:pPr/>
              <a:t>23/05/2020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www.lgpdbrasil.com.br/confira-guia-oferece-orientacoes-sobre-adequacao-a-lgpd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lgpdbrasil.com.br/lgpd-8-duvidas-sobre-a-nova-lei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lgpdbrasil.com.br/data-protection-officer-dpo-sua-empresa-vai-precisar-contratar-u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ecommercebrasil.com.br/noticias/empresas-declaram-nao-prontas-para-lgpd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mxm.com.br/blog/entenda-aspectos-da-lgpd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mxm.com.br/blog/como-realizar-tomadas-de-decisao-baseadas-em-dado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mxm.com.br/mxm-webmanag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jur.com.br/2020-abr-03/senado-aprova-pl-preve-mudanca-temporaria-direito-privado" TargetMode="External"/><Relationship Id="rId2" Type="http://schemas.openxmlformats.org/officeDocument/2006/relationships/hyperlink" Target="http://www.in.gov.br/en/web/dou/-/medida-provisoria-n-959-de-29-de-abril-de-2020-25449963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hyperlink" Target="https://www.conjur.com.br/2020-abr-14/mpf-divulga-nota-tecnica-adiamento-vigencia-lgpd" TargetMode="External"/><Relationship Id="rId4" Type="http://schemas.openxmlformats.org/officeDocument/2006/relationships/hyperlink" Target="https://www25.senado.leg.br/web/atividade/materias/-/materia/141306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theintercept.com/2020/04/13/vivo-venda-localizacao-anonima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gpdbrasil.com.br/a-lei-geral-de-protecao-de-dados-frente-as-relacoes-trabalhistas/Conjur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lbca.com.b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cnoblog.net/340215/senado-volta-atras-e-aprova-lgpd-para-agosto-de-2020/" TargetMode="External"/><Relationship Id="rId5" Type="http://schemas.openxmlformats.org/officeDocument/2006/relationships/hyperlink" Target="https://www.mxm.com.br/blog/lgpd-entenda-impacto-empresas/" TargetMode="External"/><Relationship Id="rId4" Type="http://schemas.openxmlformats.org/officeDocument/2006/relationships/hyperlink" Target="https://www.lgpdbrasil.com.br/a-lei-geral-de-protecao-de-dados-frente-as-relacoes-trabalhistas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39752" y="260648"/>
            <a:ext cx="3744416" cy="706090"/>
          </a:xfrm>
        </p:spPr>
        <p:txBody>
          <a:bodyPr/>
          <a:lstStyle/>
          <a:p>
            <a:pPr algn="just"/>
            <a:r>
              <a:rPr lang="pt-BR" dirty="0" smtClean="0"/>
              <a:t>Apresentação: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72816"/>
            <a:ext cx="2592288" cy="3888432"/>
          </a:xfrm>
        </p:spPr>
      </p:pic>
      <p:sp>
        <p:nvSpPr>
          <p:cNvPr id="5" name="CaixaDeTexto 4"/>
          <p:cNvSpPr txBox="1"/>
          <p:nvPr/>
        </p:nvSpPr>
        <p:spPr>
          <a:xfrm>
            <a:off x="3491879" y="1196752"/>
            <a:ext cx="460851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Maria Luiza Procópio de Medeiros</a:t>
            </a:r>
          </a:p>
          <a:p>
            <a:endParaRPr lang="pt-BR" dirty="0" smtClean="0">
              <a:cs typeface="Andalus" panose="02020603050405020304" pitchFamily="18" charset="-78"/>
            </a:endParaRP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Advogada</a:t>
            </a: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Pós-graduanda em Direito Empresarial e Societário na UCAM</a:t>
            </a: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Membro da </a:t>
            </a: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ABMCJ/RJ</a:t>
            </a:r>
          </a:p>
          <a:p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Colaboradora do Projeto Justiceiras </a:t>
            </a: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Consultora</a:t>
            </a: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Palestrante</a:t>
            </a: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Empreendedora</a:t>
            </a:r>
          </a:p>
          <a:p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5540447"/>
            <a:ext cx="2376264" cy="112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8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35696" y="2492896"/>
            <a:ext cx="4750296" cy="1213991"/>
          </a:xfrm>
        </p:spPr>
        <p:txBody>
          <a:bodyPr/>
          <a:lstStyle/>
          <a:p>
            <a:pPr algn="ctr"/>
            <a:r>
              <a:rPr lang="pt-BR" dirty="0" smtClean="0"/>
              <a:t>LGPD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276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9552" y="2060848"/>
            <a:ext cx="7620000" cy="1872208"/>
          </a:xfrm>
        </p:spPr>
        <p:txBody>
          <a:bodyPr>
            <a:normAutofit fontScale="77500" lnSpcReduction="20000"/>
          </a:bodyPr>
          <a:lstStyle/>
          <a:p>
            <a:pPr marL="114300" indent="0" algn="just">
              <a:buNone/>
            </a:pPr>
            <a:r>
              <a:rPr lang="pt-BR" sz="33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“É recomendado que empresas revisem processos seletivos e informações requisitadas em currículos ou em sites para evitar tratamento indevido de dados </a:t>
            </a:r>
            <a:r>
              <a:rPr lang="pt-BR" sz="33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pessoais.” </a:t>
            </a:r>
            <a:endParaRPr lang="pt-BR" sz="33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114300" indent="0" algn="ctr">
              <a:buNone/>
            </a:pPr>
            <a:endParaRPr lang="pt-BR" sz="2000" i="1" dirty="0" smtClean="0"/>
          </a:p>
          <a:p>
            <a:pPr marL="114300" indent="0" algn="ctr">
              <a:buNone/>
            </a:pP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                                                            Paulo Vinícios de Carvalho Soares</a:t>
            </a:r>
          </a:p>
          <a:p>
            <a:pPr marL="114300" indent="0" algn="ctr">
              <a:buNone/>
            </a:pPr>
            <a:endParaRPr lang="pt-BR" sz="2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5806943"/>
            <a:ext cx="1512168" cy="718401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6516216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500180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408" y="1637928"/>
            <a:ext cx="6876256" cy="1143000"/>
          </a:xfrm>
        </p:spPr>
        <p:txBody>
          <a:bodyPr/>
          <a:lstStyle/>
          <a:p>
            <a:pPr algn="just"/>
            <a:r>
              <a:rPr lang="pt-BR" sz="2000" dirty="0"/>
              <a:t>Lei Geral de Proteção de Dados Pessoais (LGPD), Lei 13.709/2018, tem como objetivo regulamentar o tratamento de dados pessoais pelas empresas, vez que os dados pessoais ganharam grande importância na economia moderna, pois permitem fazer predições, analisar perfis de consumo, opinião, entre outras atividades.</a:t>
            </a:r>
            <a:r>
              <a:rPr lang="pt-BR" sz="2200" dirty="0"/>
              <a:t/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395536" y="3641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400" dirty="0" smtClean="0"/>
              <a:t>LGPD </a:t>
            </a:r>
            <a:r>
              <a:rPr lang="pt-BR" sz="4400" dirty="0"/>
              <a:t>- conceito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243" y="3068960"/>
            <a:ext cx="5280586" cy="2880320"/>
          </a:xfr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37158222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7620000" cy="1143000"/>
          </a:xfrm>
        </p:spPr>
        <p:txBody>
          <a:bodyPr/>
          <a:lstStyle/>
          <a:p>
            <a:pPr algn="just"/>
            <a:r>
              <a:rPr lang="pt-BR" sz="3200" dirty="0" smtClean="0"/>
              <a:t>Origem - </a:t>
            </a:r>
            <a:r>
              <a:rPr lang="pt-BR" sz="3200" dirty="0"/>
              <a:t>Lei de Proteção de Dados Europeia (GDPR)</a:t>
            </a:r>
            <a:r>
              <a:rPr lang="pt-BR" sz="4800" dirty="0"/>
              <a:t/>
            </a:r>
            <a:br>
              <a:rPr lang="pt-BR" sz="4800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700808"/>
            <a:ext cx="7931224" cy="4824536"/>
          </a:xfrm>
        </p:spPr>
        <p:txBody>
          <a:bodyPr>
            <a:normAutofit fontScale="77500" lnSpcReduction="20000"/>
          </a:bodyPr>
          <a:lstStyle/>
          <a:p>
            <a:pPr algn="just" fontAlgn="base"/>
            <a:r>
              <a:rPr lang="pt-BR" sz="26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General Data </a:t>
            </a:r>
            <a:r>
              <a:rPr lang="pt-BR" sz="2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Protection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pt-BR" sz="2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Regulation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(GDPR ou Regulamento Geral de Proteção de Dados da Europa), proposto em 2012 e aprovada pela União Europeia (UE) em abril de 2016, passou a valer em maio de 2018</a:t>
            </a:r>
            <a:r>
              <a:rPr lang="pt-BR" sz="26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algn="just" fontAlgn="base"/>
            <a:endParaRPr lang="pt-BR" sz="2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/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Esta nova regra influenciou o Brasil a criar sua própria Lei Geral de Proteção de Dados Pessoais (LGPD).</a:t>
            </a:r>
          </a:p>
          <a:p>
            <a:pPr marL="114300" indent="0" algn="just" fontAlgn="base">
              <a:buNone/>
            </a:pPr>
            <a:endParaRPr lang="pt-BR" sz="2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/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Isso foi necessário pois, sem uma lei regulando o uso dos dados, nosso país teria um descompasso muito grande quanto às boas práticas de tratamento de dados, principalmente se fizéssemos uma comparação entre as empresas internacionais (já submetidas a este tipo de regulação) com as nacionais</a:t>
            </a:r>
            <a:r>
              <a:rPr lang="pt-BR" sz="26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algn="just" fontAlgn="base"/>
            <a:endParaRPr lang="pt-BR" sz="2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/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Inclusive, a LGPD é uma cópia de boa parte do que foi estabelecido pela GDPR </a:t>
            </a:r>
            <a:r>
              <a:rPr lang="pt-BR" sz="2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européia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demonstrando mais uma vez a influência da legislação do Velho Continente aqui no Brasil.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463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88640"/>
            <a:ext cx="7620000" cy="4032448"/>
          </a:xfrm>
        </p:spPr>
        <p:txBody>
          <a:bodyPr>
            <a:normAutofit/>
          </a:bodyPr>
          <a:lstStyle/>
          <a:p>
            <a:endParaRPr lang="pt-BR" sz="2400" spc="-1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Hoje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mais de 126 países possuem leis semelhantes à LGPD visando à regulamentação do tratamento de dados pessoais, evitando-se o mau uso destes, bem como a responsabilização das empresas por incidentes e acidentes com dados</a:t>
            </a:r>
            <a:r>
              <a:rPr lang="pt-BR" sz="2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458" y="2852936"/>
            <a:ext cx="6509886" cy="298665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30792321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88640"/>
            <a:ext cx="5976664" cy="1594048"/>
          </a:xfrm>
        </p:spPr>
        <p:txBody>
          <a:bodyPr/>
          <a:lstStyle/>
          <a:p>
            <a:pPr algn="just"/>
            <a:r>
              <a:rPr lang="pt-BR" sz="2400" spc="-100" dirty="0">
                <a:latin typeface="+mj-lt"/>
                <a:ea typeface="+mj-ea"/>
                <a:cs typeface="+mj-cs"/>
                <a:hlinkClick r:id="rId2"/>
              </a:rPr>
              <a:t>A LGPD tem como objetivos a proteção à privacidade</a:t>
            </a:r>
            <a:r>
              <a:rPr lang="pt-BR" sz="2400" spc="-100" dirty="0">
                <a:latin typeface="+mj-lt"/>
                <a:ea typeface="+mj-ea"/>
                <a:cs typeface="+mj-cs"/>
              </a:rPr>
              <a:t>, 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intimidade, honra e imagem bem como também protege o desenvolvimento econômico e a livre iniciativa das empresas.</a:t>
            </a:r>
          </a:p>
          <a:p>
            <a:pPr algn="just"/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916832"/>
            <a:ext cx="4320480" cy="2304256"/>
          </a:xfrm>
          <a:prstGeom prst="rect">
            <a:avLst/>
          </a:prstGeom>
        </p:spPr>
      </p:pic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2195736" y="4365104"/>
            <a:ext cx="5976664" cy="43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Os dados pessoais são aqueles que permitem identificar uma pessoa ou torná-la identificável. São exemplos de dados pessoais para a LGPD: nome, endereço, números únicos identificáveis (RG, CPF, CNH), geolocalização e hábitos de consumo.</a:t>
            </a:r>
          </a:p>
          <a:p>
            <a:pPr algn="just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988494"/>
            <a:ext cx="1112851" cy="528694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2223" y="6457404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511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484784"/>
            <a:ext cx="7620000" cy="4800600"/>
          </a:xfrm>
        </p:spPr>
        <p:txBody>
          <a:bodyPr>
            <a:normAutofit/>
          </a:bodyPr>
          <a:lstStyle/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Os dados pessoais sensíveis (art. 5º, II) são uma subcategoria que, por sua relevância e importância, demandam mais proteção do um dado pessoal comum. São estes dados: sobre origem racial ou étnica, convicção religiosa, opinião política, filiação a sindicato ou a organização de caráter religioso, filosófico ou político, dado referente à saúde ou à vida sexual, dado genético ou biométrico, quando vinculado a uma pessoa natural.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87208" cy="1143000"/>
          </a:xfrm>
        </p:spPr>
        <p:txBody>
          <a:bodyPr/>
          <a:lstStyle/>
          <a:p>
            <a:pPr algn="ctr"/>
            <a:r>
              <a:rPr lang="pt-BR" sz="4000" dirty="0" smtClean="0"/>
              <a:t>Dados Pessoais</a:t>
            </a:r>
            <a:endParaRPr lang="pt-BR" sz="4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159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548680"/>
            <a:ext cx="7560840" cy="3024336"/>
          </a:xfrm>
        </p:spPr>
        <p:txBody>
          <a:bodyPr>
            <a:noAutofit/>
          </a:bodyPr>
          <a:lstStyle/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Diante destes dados pessoais, 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fica claro que há tratamento dos dados pessoais nas relações de trabalho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 Desde o anúncio de emprego, as empresas devem adotar medidas acautelatórias para não discriminar o candidato. De acordo com a LGPD, os dados pessoais requisitados devem ser apenas os necessários ao processo seletivo, sendo descartados aqueles que não se referem à informação precisa do candidato com relação a vaga, salvo justificada finalidade, tais como: sexo, estado civil, prole, religião, opção sexual ou critérios físicos de beleza (“boa aparência”)..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429273"/>
            <a:ext cx="3651250" cy="202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619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052736"/>
            <a:ext cx="7620000" cy="1324744"/>
          </a:xfrm>
        </p:spPr>
        <p:txBody>
          <a:bodyPr>
            <a:noAutofit/>
          </a:bodyPr>
          <a:lstStyle/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Concluída a seleção, dados pessoais e dados sensíveis poderão ser requisitados para finalidades específicas, como, por exemplo, envio do cadastro do empregado e seus familiares para o plano de saúde</a:t>
            </a: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114300" indent="0" algn="just">
              <a:buNone/>
            </a:pP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eta para a direita 1"/>
          <p:cNvSpPr/>
          <p:nvPr/>
        </p:nvSpPr>
        <p:spPr>
          <a:xfrm rot="16200000">
            <a:off x="3623154" y="5360474"/>
            <a:ext cx="1266213" cy="6314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699792" y="6271853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IMPORTANTE</a:t>
            </a: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611560" y="2780928"/>
            <a:ext cx="7344816" cy="2190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228600" algn="just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endParaRPr lang="pt-BR" sz="2400" spc="-1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114300" algn="just">
              <a:spcBef>
                <a:spcPct val="20000"/>
              </a:spcBef>
              <a:buClr>
                <a:schemeClr val="accent1"/>
              </a:buClr>
            </a:pP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Portanto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é recomendável, desde antes da vigência da LGPD, que as empresas revisem seus processos seletivos e os dados pessoais requisitados em currículos ou em sites para se evitar o tratamento indevido dos dados pessoais dos candidatos.</a:t>
            </a:r>
          </a:p>
          <a:p>
            <a:pPr algn="ctr"/>
            <a:endParaRPr lang="pt-B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0616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01960" y="1340768"/>
            <a:ext cx="7620000" cy="1152128"/>
          </a:xfrm>
        </p:spPr>
        <p:txBody>
          <a:bodyPr>
            <a:noAutofit/>
          </a:bodyPr>
          <a:lstStyle/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RH deve ter atenção quanto ao armazenamento dos currículos para futuros processos seletivos. Caso esta seja a decisão da empresa, o tratamento destes para eventos futuros requer consentimento expresso para esta finalidade e prazo. A manutenção de currículos por tempo indeterminado, sem consentimento será considerada uma infração à lei.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4129180"/>
            <a:ext cx="3384376" cy="2252148"/>
          </a:xfrm>
          <a:prstGeom prst="rect">
            <a:avLst/>
          </a:prstGeom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51520" y="418654"/>
            <a:ext cx="8064896" cy="706090"/>
          </a:xfrm>
        </p:spPr>
        <p:txBody>
          <a:bodyPr/>
          <a:lstStyle/>
          <a:p>
            <a:pPr algn="ctr"/>
            <a:r>
              <a:rPr lang="pt-BR" sz="4000" dirty="0" smtClean="0"/>
              <a:t>ARMAZENAMENTO DE CURRÍCULOS </a:t>
            </a:r>
            <a:endParaRPr lang="pt-BR" sz="4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2242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2924944"/>
            <a:ext cx="7620000" cy="2880320"/>
          </a:xfrm>
        </p:spPr>
        <p:txBody>
          <a:bodyPr>
            <a:noAutofit/>
          </a:bodyPr>
          <a:lstStyle/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treinamento de funcionários, colaboradores e terceirizados sobre a LGPD é fundamental para garantir a governança e a segurança da informação.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 Com a conscientização de todos os funcionários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as más práticas de segurança da informação e de proteção de dados podem ser evitadas ou minimizadas. A documentação da aplicação dos treinamentos é recomendável assim como a realização de auditorias periódicas para uniformizar o nível de informação e treinamento.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88640"/>
            <a:ext cx="4680520" cy="256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0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692696"/>
            <a:ext cx="7620000" cy="4800600"/>
          </a:xfrm>
        </p:spPr>
        <p:txBody>
          <a:bodyPr>
            <a:noAutofit/>
          </a:bodyPr>
          <a:lstStyle/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Ressalta-se a necessidade da revisão dos documentos internos das empresas, segundo LGPD: Códigos de Conduta, Políticas de Segurança da Informação e Privacidade; Políticas de Privacidade Externa, Termos de Consentimento etc. para garantir a informação e conscientização dos colaboradores das empresas sobre dados pessoais.</a:t>
            </a:r>
          </a:p>
          <a:p>
            <a:pPr algn="just"/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Estes documentos devem definir de forma clara os setores que poderão ter acesso a dados de candidatos, empregados e terceiros, bem como o modo de utilização de tais informações, estabelecendo penalidades em caso de uso indevido de dados, mediante citações da LGPD e exemplos para fins didáticos.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760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-24720"/>
            <a:ext cx="7620000" cy="1149464"/>
          </a:xfrm>
        </p:spPr>
        <p:txBody>
          <a:bodyPr/>
          <a:lstStyle/>
          <a:p>
            <a:pPr algn="ctr"/>
            <a:r>
              <a:rPr lang="pt-BR" dirty="0"/>
              <a:t>Penalidades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7896" y="4149080"/>
            <a:ext cx="7984504" cy="1872208"/>
          </a:xfrm>
        </p:spPr>
        <p:txBody>
          <a:bodyPr>
            <a:normAutofit fontScale="85000" lnSpcReduction="20000"/>
          </a:bodyPr>
          <a:lstStyle/>
          <a:p>
            <a:pPr algn="just" fontAlgn="base"/>
            <a:endParaRPr lang="pt-BR" sz="31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/>
            <a:r>
              <a:rPr lang="pt-BR" sz="31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 forem pegos pela fiscalização, os empreendedores que descumprirem o que está estabelecido na LGPD podem sofrer diversas penalidades estabelecidas na lei. Entre elas</a:t>
            </a:r>
            <a:r>
              <a:rPr lang="pt-BR" sz="31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  <a:endParaRPr lang="pt-BR" sz="31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167026"/>
            <a:ext cx="5904656" cy="291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7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620688"/>
            <a:ext cx="7848872" cy="5112568"/>
          </a:xfrm>
        </p:spPr>
        <p:txBody>
          <a:bodyPr>
            <a:normAutofit fontScale="92500" lnSpcReduction="10000"/>
          </a:bodyPr>
          <a:lstStyle/>
          <a:p>
            <a:pPr algn="just" fontAlgn="base">
              <a:lnSpc>
                <a:spcPct val="80000"/>
              </a:lnSpc>
            </a:pP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>
              <a:lnSpc>
                <a:spcPct val="80000"/>
              </a:lnSpc>
            </a:pPr>
            <a:r>
              <a:rPr lang="pt-BR" sz="3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Advertência;</a:t>
            </a:r>
          </a:p>
          <a:p>
            <a:pPr algn="just" fontAlgn="base">
              <a:lnSpc>
                <a:spcPct val="80000"/>
              </a:lnSpc>
            </a:pPr>
            <a:endParaRPr lang="pt-BR" sz="3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>
              <a:lnSpc>
                <a:spcPct val="80000"/>
              </a:lnSpc>
            </a:pPr>
            <a:r>
              <a:rPr lang="pt-BR" sz="3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Multa de 2% do faturamento anual (ou até R$50 milhões) por infração;</a:t>
            </a:r>
          </a:p>
          <a:p>
            <a:pPr algn="just" fontAlgn="base">
              <a:lnSpc>
                <a:spcPct val="80000"/>
              </a:lnSpc>
            </a:pPr>
            <a:endParaRPr lang="pt-BR" sz="3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>
              <a:lnSpc>
                <a:spcPct val="80000"/>
              </a:lnSpc>
            </a:pPr>
            <a:r>
              <a:rPr lang="pt-BR" sz="3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Obrigação de informar aos usuários e ao mercado sobre as infrações;</a:t>
            </a:r>
          </a:p>
          <a:p>
            <a:pPr algn="just" fontAlgn="base">
              <a:lnSpc>
                <a:spcPct val="80000"/>
              </a:lnSpc>
            </a:pPr>
            <a:endParaRPr lang="pt-BR" sz="3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>
              <a:lnSpc>
                <a:spcPct val="80000"/>
              </a:lnSpc>
            </a:pPr>
            <a:r>
              <a:rPr lang="pt-BR" sz="3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Bloqueio e/ou eliminação dos dados pessoais envolvidos e suspensão;</a:t>
            </a:r>
          </a:p>
          <a:p>
            <a:pPr algn="just" fontAlgn="base">
              <a:lnSpc>
                <a:spcPct val="80000"/>
              </a:lnSpc>
            </a:pPr>
            <a:endParaRPr lang="pt-BR" sz="3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 fontAlgn="base">
              <a:lnSpc>
                <a:spcPct val="80000"/>
              </a:lnSpc>
            </a:pPr>
            <a:r>
              <a:rPr lang="pt-BR" sz="30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Proibição parcial/total de atividades relacionadas a uso de dados pessoais.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956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 cenário nacional de preparação para LGPD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endParaRPr lang="pt-BR" dirty="0" smtClean="0"/>
          </a:p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cenário nacional de preparação para a nova lei não está de acordo com o esperado. Isso </a:t>
            </a: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porque,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 média, </a:t>
            </a: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85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% das empresas brasileiras não estão preparadas para essa mudança.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Existem diversos motivos para isso, entre eles está a falta de um DPO ― profissional responsável pela supervisão e proteção dos dados ― e a falta de informação sobre o assunto.</a:t>
            </a:r>
          </a:p>
          <a:p>
            <a:pPr algn="just"/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Sendo assim, é importante que o gestor busque saber mais sobre a LGPD, pois, além de obrigatória, pode servir como um diferencial para seu negócio, já que o consumidor vai se sentir mais seguro ao confiar seus dados a uma empresa que atua com transparência e que respeita seus direitos.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7399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4750" y="620688"/>
            <a:ext cx="7620000" cy="994122"/>
          </a:xfrm>
        </p:spPr>
        <p:txBody>
          <a:bodyPr/>
          <a:lstStyle/>
          <a:p>
            <a:pPr algn="ctr"/>
            <a:r>
              <a:rPr lang="pt-BR" dirty="0"/>
              <a:t>Os impactos da LGPD nas empresas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0372" y="1830571"/>
            <a:ext cx="7620000" cy="4800600"/>
          </a:xfrm>
        </p:spPr>
        <p:txBody>
          <a:bodyPr/>
          <a:lstStyle/>
          <a:p>
            <a:pPr algn="just"/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Hoje em dia, é muito difícil encontrar uma empresa que não utiliza algum dado do cliente. Devido a essa realidade, a LGPD surgiu com o propósito de promover algumas mudanças na forma como são recolhidas e processadas essas informações</a:t>
            </a:r>
            <a:r>
              <a:rPr lang="pt-BR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algn="just"/>
            <a:endParaRPr lang="pt-BR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Isso dá mais autonomia ao consumidor, que decidirá como serão utilizados os seus dados. 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As mudanças provocadas pela LGPD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vão afetar todas as empresas que trabalham com esse recurso. Por isso, os impactos causados pela nova lei serão diversos. Entre eles, podemos citar: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264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2654" y="476672"/>
            <a:ext cx="7620000" cy="480060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Dados 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externos: a LGPD estabelece que a empresa informe para o consumidor o motivo pelo qual seus dados são solicitados e dê a ele o direito de excluir as informações fornecidas no momento que ele quiser</a:t>
            </a:r>
            <a:r>
              <a:rPr lang="pt-BR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algn="just"/>
            <a:endParaRPr lang="pt-BR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Dados 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internos: com os 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dados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necessários em mãos, é preciso desenvolver meios de garantir o seu armazenamento seguro. As empresas deverão investir em segurança cibernética aprimorada a fim de evitar vazamentos de informações</a:t>
            </a:r>
            <a:r>
              <a:rPr lang="pt-BR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algn="just"/>
            <a:endParaRPr lang="pt-BR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Relação com clientes: com um atendimento mais transparente, no qual o consumidor sabe para que fins seus dados serão utilizados, a relação entre marca e consumidor será cada vez mais próxima, proporcionando maior credibilidade para a empresa.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577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4750" y="620688"/>
            <a:ext cx="7620000" cy="4800600"/>
          </a:xfrm>
        </p:spPr>
        <p:txBody>
          <a:bodyPr/>
          <a:lstStyle/>
          <a:p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Além dessas mudanças, existem outras que a LGPD pretende promover. Por esse motivo, é essencial que o gestor conte com a ajuda da tecnologia, como um 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sistema de gestão integrado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para auxiliá-lo nesse processo de adequação à nova lei.</a:t>
            </a:r>
          </a:p>
          <a:p>
            <a:endParaRPr lang="pt-BR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Fica claro que a LGPD nas empresas trará diversas mudanças para a administração de dados. Por isso, é fundamental que o gestor se adapte a ela o quanto antes. 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99" y="3900451"/>
            <a:ext cx="4659629" cy="254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5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4750" y="1455635"/>
            <a:ext cx="7620000" cy="4800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just"/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governo federal adiou a vigência da Lei Geral de Proteção de Dados (LGPD) para maio de 2021 — a lei entraria em vigor em agosto. A alteração consta da 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Medida Provisória 959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publicada em edição extra do Diário Oficial da União </a:t>
            </a:r>
            <a:r>
              <a:rPr lang="pt-BR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dia 29/04/2010.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</a:p>
          <a:p>
            <a:pPr marL="114300" indent="0" algn="just">
              <a:buNone/>
            </a:pP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</a:p>
          <a:p>
            <a:pPr algn="just"/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Tramitam no Congresso diversos projetos que tratam da lei. 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Um deles, o PL 1.179, recentemente 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3"/>
              </a:rPr>
              <a:t>aprovado pelo Senado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a decisão de iniciar a vigência da LGPD ainda este ano 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(agosto de 2020 </a:t>
            </a:r>
            <a:r>
              <a:rPr lang="pt-BR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 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foi 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tomada por meio de um destaque do senador </a:t>
            </a:r>
            <a:r>
              <a:rPr lang="pt-BR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Weverton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Rocha (PDT-MA). O parlamentar argumentou que a mudança ajudará no combate às notícias falsas e teve sua proposta aprovada com 62 votos a favor e 15, contra. Ela passa a integrar a versão final do 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4"/>
              </a:rPr>
              <a:t>PL 1179/2020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que foi encaminhado à sanção do presidente Jair Bolsonaro.</a:t>
            </a:r>
          </a:p>
          <a:p>
            <a:pPr marL="114300" indent="0" algn="just">
              <a:buNone/>
            </a:pPr>
            <a:endParaRPr lang="pt-BR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 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5"/>
              </a:rPr>
              <a:t>nota técnica</a:t>
            </a:r>
            <a:r>
              <a:rPr lang="pt-BR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ao Congresso, o Ministério Público Federal defendeu que fosse adiado para 2021 apenas a aplicação das sanções. Para os procuradores, a lei pode ajudar o país no desenvolvimento de ações e colaboração com atores estrangeiros durante a pandemia.</a:t>
            </a:r>
          </a:p>
          <a:p>
            <a:pPr algn="just"/>
            <a:endParaRPr lang="pt-BR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000" dirty="0" smtClean="0"/>
              <a:t>Medida Provisória </a:t>
            </a:r>
            <a:r>
              <a:rPr lang="pt-BR" sz="4000" dirty="0" smtClean="0"/>
              <a:t>959 e </a:t>
            </a:r>
            <a:br>
              <a:rPr lang="pt-BR" sz="4000" dirty="0" smtClean="0"/>
            </a:br>
            <a:r>
              <a:rPr lang="pt-BR" sz="4000" dirty="0" smtClean="0"/>
              <a:t>PL 1.179/2020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6940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332656"/>
            <a:ext cx="7704856" cy="592412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adiamento é especialmente sensível porque, com a pandemia do novo </a:t>
            </a:r>
            <a:r>
              <a:rPr lang="pt-BR" sz="2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coronavírus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 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governos e prefeituras estão fazendo parcerias com empresas de telefonia e tecnologia para monitorar a localização das pessoas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 A justificativa é controlar o isolamento social, principal medida para reduzir a incidência da doença. Uma lei de proteção de dados aprovada garantiria que essas informações só fossem coletadas com autorização, e só pudessem ser usadas para o combate ao </a:t>
            </a:r>
            <a:r>
              <a:rPr lang="pt-BR" sz="2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coronavírus</a:t>
            </a:r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 Sem isso, não há garantia legal de que os dados, extremamente sensíveis, não possam ser usados para outros fins, ou mesmo repassados a outras instâncias do governo, ou empresas</a:t>
            </a:r>
            <a:r>
              <a:rPr lang="pt-BR" sz="26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algn="just"/>
            <a:endParaRPr lang="pt-BR" sz="2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pt-BR" sz="2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adiamento da vigência da lei já vinha sendo discutido no Congresso. Há um projeto no Senado para 2021 e 2022, argumentam que o adiamento é necessário para dar mais tempo para as empresas se adaptarem.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899" y="5970215"/>
            <a:ext cx="1112851" cy="5286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60232" y="647482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</a:t>
            </a:r>
            <a:r>
              <a:rPr lang="pt-BR" sz="16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maluprocopioadv</a:t>
            </a:r>
            <a:endParaRPr lang="pt-BR" sz="16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597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772816"/>
            <a:ext cx="6984776" cy="2952328"/>
          </a:xfrm>
        </p:spPr>
        <p:txBody>
          <a:bodyPr>
            <a:normAutofit fontScale="62500" lnSpcReduction="20000"/>
          </a:bodyPr>
          <a:lstStyle/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Paulo Vinicius de Carvalho Soares é advogado do escritório 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Lee, </a:t>
            </a:r>
            <a:r>
              <a:rPr lang="pt-BR" sz="2400" spc="-100" dirty="0" err="1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Brock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, Camargo Advogados (LBCA</a:t>
            </a: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)</a:t>
            </a:r>
            <a:endParaRPr lang="pt-BR" sz="2400" spc="-1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114300" indent="0">
              <a:buNone/>
            </a:pP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Por Paulo Vinicius de Carvalho Soares | Fonte: 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3"/>
              </a:rPr>
              <a:t>https://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3"/>
              </a:rPr>
              <a:t>www.conjur.com.br/2019-set-03/paulo-vinicius-soares-lgpd-frente-relacoes-trabalhistas</a:t>
            </a: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4"/>
              </a:rPr>
              <a:t>https://www.lgpdbrasil.com.br/a-lei-geral-de-protecao-de-dados-frente-as-relacoes-trabalhistas</a:t>
            </a:r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4"/>
              </a:rPr>
              <a:t>/</a:t>
            </a: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5"/>
              </a:rPr>
              <a:t>https://www.mxm.com.br/blog/lgpd-entenda-impacto-empresas</a:t>
            </a:r>
            <a:r>
              <a:rPr lang="pt-BR" sz="24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  <a:hlinkClick r:id="rId5"/>
              </a:rPr>
              <a:t>/</a:t>
            </a:r>
            <a:endParaRPr lang="pt-BR" sz="2400" spc="-1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pt-BR" sz="2400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6"/>
              </a:rPr>
              <a:t>https://tecnoblog.net/340215/senado-volta-atras-e-aprova-lgpd-para-agosto-de-2020/</a:t>
            </a:r>
            <a:endParaRPr lang="pt-BR" sz="24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pt-BR" i="1" dirty="0"/>
          </a:p>
          <a:p>
            <a:endParaRPr lang="pt-BR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</a:t>
            </a:r>
            <a:r>
              <a:rPr lang="pt-BR" dirty="0" smtClean="0"/>
              <a:t>ontes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168" y="5805264"/>
            <a:ext cx="255428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422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5776" y="490662"/>
            <a:ext cx="3744416" cy="706090"/>
          </a:xfrm>
        </p:spPr>
        <p:txBody>
          <a:bodyPr/>
          <a:lstStyle/>
          <a:p>
            <a:pPr algn="just"/>
            <a:r>
              <a:rPr lang="pt-BR" sz="6000" dirty="0" smtClean="0"/>
              <a:t>Contatos:</a:t>
            </a:r>
            <a:endParaRPr lang="pt-BR" sz="60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98845"/>
            <a:ext cx="2592288" cy="3913847"/>
          </a:xfrm>
        </p:spPr>
      </p:pic>
      <p:sp>
        <p:nvSpPr>
          <p:cNvPr id="5" name="CaixaDeTexto 4"/>
          <p:cNvSpPr txBox="1"/>
          <p:nvPr/>
        </p:nvSpPr>
        <p:spPr>
          <a:xfrm>
            <a:off x="3313615" y="1916832"/>
            <a:ext cx="50405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Maria Luiza Procópio de Medeiros</a:t>
            </a:r>
          </a:p>
          <a:p>
            <a:endParaRPr lang="pt-BR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pt-BR" sz="2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            (21) 98624-3286</a:t>
            </a:r>
          </a:p>
          <a:p>
            <a:endParaRPr lang="pt-BR" sz="2400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pt-BR" sz="2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            @</a:t>
            </a:r>
            <a:r>
              <a:rPr lang="pt-BR" sz="2400" dirty="0" err="1" smtClean="0">
                <a:latin typeface="Andalus" panose="02020603050405020304" pitchFamily="18" charset="-78"/>
                <a:cs typeface="Andalus" panose="02020603050405020304" pitchFamily="18" charset="-78"/>
              </a:rPr>
              <a:t>maluprocopioadv</a:t>
            </a:r>
            <a:endParaRPr lang="pt-BR" sz="2400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endParaRPr lang="pt-BR" sz="2400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pt-BR" sz="24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pt-BR" sz="24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           mluizaprocopio@gmail.com</a:t>
            </a:r>
          </a:p>
          <a:p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5455019"/>
            <a:ext cx="2952328" cy="121434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861048"/>
            <a:ext cx="822354" cy="52865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3212976"/>
            <a:ext cx="360040" cy="36004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416" y="4500562"/>
            <a:ext cx="567506" cy="56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1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Adjacência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2000</TotalTime>
  <Words>934</Words>
  <Application>Microsoft Office PowerPoint</Application>
  <PresentationFormat>Apresentação na tela (4:3)</PresentationFormat>
  <Paragraphs>116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Adjacência</vt:lpstr>
      <vt:lpstr>Apresentação:</vt:lpstr>
      <vt:lpstr>LGPD </vt:lpstr>
      <vt:lpstr>Apresentação do PowerPoint</vt:lpstr>
      <vt:lpstr>Lei Geral de Proteção de Dados Pessoais (LGPD), Lei 13.709/2018, tem como objetivo regulamentar o tratamento de dados pessoais pelas empresas, vez que os dados pessoais ganharam grande importância na economia moderna, pois permitem fazer predições, analisar perfis de consumo, opinião, entre outras atividades. </vt:lpstr>
      <vt:lpstr>Origem - Lei de Proteção de Dados Europeia (GDPR) </vt:lpstr>
      <vt:lpstr>Apresentação do PowerPoint</vt:lpstr>
      <vt:lpstr>Apresentação do PowerPoint</vt:lpstr>
      <vt:lpstr>Dados Pessoais</vt:lpstr>
      <vt:lpstr>Apresentação do PowerPoint</vt:lpstr>
      <vt:lpstr>Apresentação do PowerPoint</vt:lpstr>
      <vt:lpstr>ARMAZENAMENTO DE CURRÍCULOS </vt:lpstr>
      <vt:lpstr>Apresentação do PowerPoint</vt:lpstr>
      <vt:lpstr>Apresentação do PowerPoint</vt:lpstr>
      <vt:lpstr>Penalidades</vt:lpstr>
      <vt:lpstr>Apresentação do PowerPoint</vt:lpstr>
      <vt:lpstr>O cenário nacional de preparação para LGPD</vt:lpstr>
      <vt:lpstr>Os impactos da LGPD nas empresas </vt:lpstr>
      <vt:lpstr>Apresentação do PowerPoint</vt:lpstr>
      <vt:lpstr>Apresentação do PowerPoint</vt:lpstr>
      <vt:lpstr>Medida Provisória 959 e  PL 1.179/2020</vt:lpstr>
      <vt:lpstr>Apresentação do PowerPoint</vt:lpstr>
      <vt:lpstr>Fontes</vt:lpstr>
      <vt:lpstr>Contatos: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</dc:creator>
  <cp:lastModifiedBy>Maria</cp:lastModifiedBy>
  <cp:revision>72</cp:revision>
  <dcterms:created xsi:type="dcterms:W3CDTF">2019-10-27T18:12:26Z</dcterms:created>
  <dcterms:modified xsi:type="dcterms:W3CDTF">2020-05-23T15:12:07Z</dcterms:modified>
</cp:coreProperties>
</file>