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1" r:id="rId2"/>
  </p:sldMasterIdLst>
  <p:notesMasterIdLst>
    <p:notesMasterId r:id="rId42"/>
  </p:notesMasterIdLst>
  <p:sldIdLst>
    <p:sldId id="417" r:id="rId3"/>
    <p:sldId id="399" r:id="rId4"/>
    <p:sldId id="404" r:id="rId5"/>
    <p:sldId id="418" r:id="rId6"/>
    <p:sldId id="419" r:id="rId7"/>
    <p:sldId id="420" r:id="rId8"/>
    <p:sldId id="421" r:id="rId9"/>
    <p:sldId id="423" r:id="rId10"/>
    <p:sldId id="424" r:id="rId11"/>
    <p:sldId id="425" r:id="rId12"/>
    <p:sldId id="426" r:id="rId13"/>
    <p:sldId id="427" r:id="rId14"/>
    <p:sldId id="428" r:id="rId15"/>
    <p:sldId id="429" r:id="rId16"/>
    <p:sldId id="430" r:id="rId17"/>
    <p:sldId id="433" r:id="rId18"/>
    <p:sldId id="434" r:id="rId19"/>
    <p:sldId id="435" r:id="rId20"/>
    <p:sldId id="436" r:id="rId21"/>
    <p:sldId id="437" r:id="rId22"/>
    <p:sldId id="439" r:id="rId23"/>
    <p:sldId id="438" r:id="rId24"/>
    <p:sldId id="441" r:id="rId25"/>
    <p:sldId id="442" r:id="rId26"/>
    <p:sldId id="443" r:id="rId27"/>
    <p:sldId id="444" r:id="rId28"/>
    <p:sldId id="445" r:id="rId29"/>
    <p:sldId id="447" r:id="rId30"/>
    <p:sldId id="461" r:id="rId31"/>
    <p:sldId id="448" r:id="rId32"/>
    <p:sldId id="449" r:id="rId33"/>
    <p:sldId id="450" r:id="rId34"/>
    <p:sldId id="452" r:id="rId35"/>
    <p:sldId id="460" r:id="rId36"/>
    <p:sldId id="459" r:id="rId37"/>
    <p:sldId id="456" r:id="rId38"/>
    <p:sldId id="457" r:id="rId39"/>
    <p:sldId id="458" r:id="rId40"/>
    <p:sldId id="396" r:id="rId41"/>
  </p:sldIdLst>
  <p:sldSz cx="9144000" cy="6858000" type="screen4x3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MS PGothic" charset="-128"/>
        <a:cs typeface="+mn-cs"/>
      </a:defRPr>
    </a:lvl1pPr>
    <a:lvl2pPr marL="592138" indent="-1158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MS PGothic" charset="-128"/>
        <a:cs typeface="+mn-cs"/>
      </a:defRPr>
    </a:lvl2pPr>
    <a:lvl3pPr marL="1187450" indent="-23495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MS PGothic" charset="-128"/>
        <a:cs typeface="+mn-cs"/>
      </a:defRPr>
    </a:lvl3pPr>
    <a:lvl4pPr marL="1782763" indent="-354013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MS PGothic" charset="-128"/>
        <a:cs typeface="+mn-cs"/>
      </a:defRPr>
    </a:lvl4pPr>
    <a:lvl5pPr marL="2378075" indent="-473075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MS PGothic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MS PGothic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MS PGothic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MS PGothic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MS PGothic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6" userDrawn="1">
          <p15:clr>
            <a:srgbClr val="A4A3A4"/>
          </p15:clr>
        </p15:guide>
        <p15:guide id="2" pos="602" userDrawn="1">
          <p15:clr>
            <a:srgbClr val="A4A3A4"/>
          </p15:clr>
        </p15:guide>
        <p15:guide id="4" orient="horz" pos="18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DC3A8"/>
    <a:srgbClr val="5FB7A1"/>
    <a:srgbClr val="E4AF69"/>
    <a:srgbClr val="D98E2B"/>
    <a:srgbClr val="9A7926"/>
    <a:srgbClr val="57A4D4"/>
    <a:srgbClr val="CE7468"/>
    <a:srgbClr val="60B0E2"/>
    <a:srgbClr val="8B5A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Destaqu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65" autoAdjust="0"/>
    <p:restoredTop sz="91398" autoAdjust="0"/>
  </p:normalViewPr>
  <p:slideViewPr>
    <p:cSldViewPr snapToGrid="0">
      <p:cViewPr varScale="1">
        <p:scale>
          <a:sx n="104" d="100"/>
          <a:sy n="104" d="100"/>
        </p:scale>
        <p:origin x="2046" y="108"/>
      </p:cViewPr>
      <p:guideLst>
        <p:guide orient="horz" pos="2186"/>
        <p:guide pos="602"/>
        <p:guide orient="horz" pos="18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slide" Target="slides/slide3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MS PGothic" pitchFamily="34" charset="-128"/>
              </a:defRPr>
            </a:lvl1pPr>
          </a:lstStyle>
          <a:p>
            <a:pPr>
              <a:defRPr/>
            </a:pPr>
            <a:endParaRPr lang="pt-PT" alt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MS PGothic" pitchFamily="34" charset="-128"/>
              </a:defRPr>
            </a:lvl1pPr>
          </a:lstStyle>
          <a:p>
            <a:pPr>
              <a:defRPr/>
            </a:pPr>
            <a:fld id="{B92BD59F-DD8D-1C4B-9D00-F1655DEB404F}" type="datetimeFigureOut">
              <a:rPr lang="pt-PT" altLang="pt-PT"/>
              <a:pPr>
                <a:defRPr/>
              </a:pPr>
              <a:t>25/09/2019</a:t>
            </a:fld>
            <a:endParaRPr lang="pt-PT" alt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pt-PT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altLang="pt-PT" noProof="0"/>
              <a:t>Click to edit Master text styles</a:t>
            </a:r>
          </a:p>
          <a:p>
            <a:pPr lvl="1"/>
            <a:r>
              <a:rPr lang="en-US" altLang="pt-PT" noProof="0"/>
              <a:t>Second level</a:t>
            </a:r>
          </a:p>
          <a:p>
            <a:pPr lvl="2"/>
            <a:r>
              <a:rPr lang="en-US" altLang="pt-PT" noProof="0"/>
              <a:t>Third level</a:t>
            </a:r>
          </a:p>
          <a:p>
            <a:pPr lvl="3"/>
            <a:r>
              <a:rPr lang="en-US" altLang="pt-PT" noProof="0"/>
              <a:t>Fourth level</a:t>
            </a:r>
          </a:p>
          <a:p>
            <a:pPr lvl="4"/>
            <a:r>
              <a:rPr lang="en-US" altLang="pt-PT" noProof="0"/>
              <a:t>Fifth level</a:t>
            </a:r>
            <a:endParaRPr lang="pt-PT" altLang="pt-PT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MS PGothic" pitchFamily="34" charset="-128"/>
              </a:defRPr>
            </a:lvl1pPr>
          </a:lstStyle>
          <a:p>
            <a:pPr>
              <a:defRPr/>
            </a:pPr>
            <a:endParaRPr lang="pt-PT" alt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AE3B4C25-1730-9A45-8674-095D42B7FD29}" type="slidenum">
              <a:rPr lang="pt-PT" altLang="pt-PT"/>
              <a:pPr>
                <a:defRPr/>
              </a:pPr>
              <a:t>‹nº›</a:t>
            </a:fld>
            <a:endParaRPr lang="pt-PT" altLang="pt-PT"/>
          </a:p>
        </p:txBody>
      </p:sp>
    </p:spTree>
    <p:extLst>
      <p:ext uri="{BB962C8B-B14F-4D97-AF65-F5344CB8AC3E}">
        <p14:creationId xmlns:p14="http://schemas.microsoft.com/office/powerpoint/2010/main" val="123380552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5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1pPr>
    <a:lvl2pPr marL="592138" algn="l" rtl="0" eaLnBrk="0" fontAlgn="base" hangingPunct="0">
      <a:spcBef>
        <a:spcPct val="30000"/>
      </a:spcBef>
      <a:spcAft>
        <a:spcPct val="0"/>
      </a:spcAft>
      <a:defRPr sz="15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2pPr>
    <a:lvl3pPr marL="1187450" algn="l" rtl="0" eaLnBrk="0" fontAlgn="base" hangingPunct="0">
      <a:spcBef>
        <a:spcPct val="30000"/>
      </a:spcBef>
      <a:spcAft>
        <a:spcPct val="0"/>
      </a:spcAft>
      <a:defRPr sz="15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3pPr>
    <a:lvl4pPr marL="1782763" algn="l" rtl="0" eaLnBrk="0" fontAlgn="base" hangingPunct="0">
      <a:spcBef>
        <a:spcPct val="30000"/>
      </a:spcBef>
      <a:spcAft>
        <a:spcPct val="0"/>
      </a:spcAft>
      <a:defRPr sz="15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4pPr>
    <a:lvl5pPr marL="2378075" algn="l" rtl="0" eaLnBrk="0" fontAlgn="base" hangingPunct="0">
      <a:spcBef>
        <a:spcPct val="30000"/>
      </a:spcBef>
      <a:spcAft>
        <a:spcPct val="0"/>
      </a:spcAft>
      <a:defRPr sz="15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5pPr>
    <a:lvl6pPr marL="2974874" algn="l" defTabSz="1189949" rtl="0" eaLnBrk="1" latinLnBrk="0" hangingPunct="1">
      <a:defRPr sz="1562" kern="1200">
        <a:solidFill>
          <a:schemeClr val="tx1"/>
        </a:solidFill>
        <a:latin typeface="+mn-lt"/>
        <a:ea typeface="+mn-ea"/>
        <a:cs typeface="+mn-cs"/>
      </a:defRPr>
    </a:lvl6pPr>
    <a:lvl7pPr marL="3569846" algn="l" defTabSz="1189949" rtl="0" eaLnBrk="1" latinLnBrk="0" hangingPunct="1">
      <a:defRPr sz="1562" kern="1200">
        <a:solidFill>
          <a:schemeClr val="tx1"/>
        </a:solidFill>
        <a:latin typeface="+mn-lt"/>
        <a:ea typeface="+mn-ea"/>
        <a:cs typeface="+mn-cs"/>
      </a:defRPr>
    </a:lvl7pPr>
    <a:lvl8pPr marL="4164821" algn="l" defTabSz="1189949" rtl="0" eaLnBrk="1" latinLnBrk="0" hangingPunct="1">
      <a:defRPr sz="1562" kern="1200">
        <a:solidFill>
          <a:schemeClr val="tx1"/>
        </a:solidFill>
        <a:latin typeface="+mn-lt"/>
        <a:ea typeface="+mn-ea"/>
        <a:cs typeface="+mn-cs"/>
      </a:defRPr>
    </a:lvl8pPr>
    <a:lvl9pPr marL="4759795" algn="l" defTabSz="1189949" rtl="0" eaLnBrk="1" latinLnBrk="0" hangingPunct="1">
      <a:defRPr sz="156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E3B4C25-1730-9A45-8674-095D42B7FD29}" type="slidenum">
              <a:rPr lang="pt-PT" altLang="pt-PT" smtClean="0"/>
              <a:pPr>
                <a:defRPr/>
              </a:pPr>
              <a:t>2</a:t>
            </a:fld>
            <a:endParaRPr lang="pt-PT" altLang="pt-PT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951777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9890961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7843752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6720374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8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889" indent="0" algn="ctr">
              <a:buNone/>
              <a:defRPr/>
            </a:lvl2pPr>
            <a:lvl3pPr marL="685777" indent="0" algn="ctr">
              <a:buNone/>
              <a:defRPr/>
            </a:lvl3pPr>
            <a:lvl4pPr marL="1028666" indent="0" algn="ctr">
              <a:buNone/>
              <a:defRPr/>
            </a:lvl4pPr>
            <a:lvl5pPr marL="1371554" indent="0" algn="ctr">
              <a:buNone/>
              <a:defRPr/>
            </a:lvl5pPr>
            <a:lvl6pPr marL="1714443" indent="0" algn="ctr">
              <a:buNone/>
              <a:defRPr/>
            </a:lvl6pPr>
            <a:lvl7pPr marL="2057331" indent="0" algn="ctr">
              <a:buNone/>
              <a:defRPr/>
            </a:lvl7pPr>
            <a:lvl8pPr marL="2400220" indent="0" algn="ctr">
              <a:buNone/>
              <a:defRPr/>
            </a:lvl8pPr>
            <a:lvl9pPr marL="2743109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2680796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transition>
    <p:fade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201" kern="1200">
          <a:solidFill>
            <a:schemeClr val="tx1"/>
          </a:solidFill>
          <a:latin typeface="+mj-lt"/>
          <a:ea typeface="MS PGothic" panose="020B0600070205080204" pitchFamily="34" charset="-128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201">
          <a:solidFill>
            <a:schemeClr val="tx1"/>
          </a:solidFill>
          <a:latin typeface="Calibri" pitchFamily="34" charset="0"/>
          <a:ea typeface="MS PGothic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201">
          <a:solidFill>
            <a:schemeClr val="tx1"/>
          </a:solidFill>
          <a:latin typeface="Calibri" pitchFamily="34" charset="0"/>
          <a:ea typeface="MS PGothic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201">
          <a:solidFill>
            <a:schemeClr val="tx1"/>
          </a:solidFill>
          <a:latin typeface="Calibri" pitchFamily="34" charset="0"/>
          <a:ea typeface="MS PGothic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201">
          <a:solidFill>
            <a:schemeClr val="tx1"/>
          </a:solidFill>
          <a:latin typeface="Calibri" pitchFamily="34" charset="0"/>
          <a:ea typeface="MS PGothic" panose="020B0600070205080204" pitchFamily="34" charset="-128"/>
        </a:defRPr>
      </a:lvl5pPr>
      <a:lvl6pPr marL="446425" algn="ctr" rtl="0" fontAlgn="base">
        <a:spcBef>
          <a:spcPct val="0"/>
        </a:spcBef>
        <a:spcAft>
          <a:spcPct val="0"/>
        </a:spcAft>
        <a:defRPr sz="4296">
          <a:solidFill>
            <a:schemeClr val="tx1"/>
          </a:solidFill>
          <a:latin typeface="Calibri" pitchFamily="34" charset="0"/>
        </a:defRPr>
      </a:lvl6pPr>
      <a:lvl7pPr marL="892850" algn="ctr" rtl="0" fontAlgn="base">
        <a:spcBef>
          <a:spcPct val="0"/>
        </a:spcBef>
        <a:spcAft>
          <a:spcPct val="0"/>
        </a:spcAft>
        <a:defRPr sz="4296">
          <a:solidFill>
            <a:schemeClr val="tx1"/>
          </a:solidFill>
          <a:latin typeface="Calibri" pitchFamily="34" charset="0"/>
        </a:defRPr>
      </a:lvl7pPr>
      <a:lvl8pPr marL="1339275" algn="ctr" rtl="0" fontAlgn="base">
        <a:spcBef>
          <a:spcPct val="0"/>
        </a:spcBef>
        <a:spcAft>
          <a:spcPct val="0"/>
        </a:spcAft>
        <a:defRPr sz="4296">
          <a:solidFill>
            <a:schemeClr val="tx1"/>
          </a:solidFill>
          <a:latin typeface="Calibri" pitchFamily="34" charset="0"/>
        </a:defRPr>
      </a:lvl8pPr>
      <a:lvl9pPr marL="1785699" algn="ctr" rtl="0" fontAlgn="base">
        <a:spcBef>
          <a:spcPct val="0"/>
        </a:spcBef>
        <a:spcAft>
          <a:spcPct val="0"/>
        </a:spcAft>
        <a:defRPr sz="4296">
          <a:solidFill>
            <a:schemeClr val="tx1"/>
          </a:solidFill>
          <a:latin typeface="Calibri" pitchFamily="34" charset="0"/>
        </a:defRPr>
      </a:lvl9pPr>
    </p:titleStyle>
    <p:bodyStyle>
      <a:lvl1pPr marL="333464" indent="-33346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001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1pPr>
      <a:lvl2pPr marL="724093" indent="-27749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626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1114722" indent="-221515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251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1561326" indent="-221515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876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2007929" indent="-221515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876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2455337" indent="-223212" algn="l" defTabSz="892850" rtl="0" eaLnBrk="1" latinLnBrk="0" hangingPunct="1">
        <a:spcBef>
          <a:spcPct val="20000"/>
        </a:spcBef>
        <a:buFont typeface="Arial" pitchFamily="34" charset="0"/>
        <a:buChar char="•"/>
        <a:defRPr sz="1953" kern="1200">
          <a:solidFill>
            <a:schemeClr val="tx1"/>
          </a:solidFill>
          <a:latin typeface="+mn-lt"/>
          <a:ea typeface="+mn-ea"/>
          <a:cs typeface="+mn-cs"/>
        </a:defRPr>
      </a:lvl6pPr>
      <a:lvl7pPr marL="2901761" indent="-223212" algn="l" defTabSz="892850" rtl="0" eaLnBrk="1" latinLnBrk="0" hangingPunct="1">
        <a:spcBef>
          <a:spcPct val="20000"/>
        </a:spcBef>
        <a:buFont typeface="Arial" pitchFamily="34" charset="0"/>
        <a:buChar char="•"/>
        <a:defRPr sz="1953" kern="1200">
          <a:solidFill>
            <a:schemeClr val="tx1"/>
          </a:solidFill>
          <a:latin typeface="+mn-lt"/>
          <a:ea typeface="+mn-ea"/>
          <a:cs typeface="+mn-cs"/>
        </a:defRPr>
      </a:lvl7pPr>
      <a:lvl8pPr marL="3348186" indent="-223212" algn="l" defTabSz="892850" rtl="0" eaLnBrk="1" latinLnBrk="0" hangingPunct="1">
        <a:spcBef>
          <a:spcPct val="20000"/>
        </a:spcBef>
        <a:buFont typeface="Arial" pitchFamily="34" charset="0"/>
        <a:buChar char="•"/>
        <a:defRPr sz="1953" kern="1200">
          <a:solidFill>
            <a:schemeClr val="tx1"/>
          </a:solidFill>
          <a:latin typeface="+mn-lt"/>
          <a:ea typeface="+mn-ea"/>
          <a:cs typeface="+mn-cs"/>
        </a:defRPr>
      </a:lvl8pPr>
      <a:lvl9pPr marL="3794611" indent="-223212" algn="l" defTabSz="892850" rtl="0" eaLnBrk="1" latinLnBrk="0" hangingPunct="1">
        <a:spcBef>
          <a:spcPct val="20000"/>
        </a:spcBef>
        <a:buFont typeface="Arial" pitchFamily="34" charset="0"/>
        <a:buChar char="•"/>
        <a:defRPr sz="195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892850" rtl="0" eaLnBrk="1" latinLnBrk="0" hangingPunct="1">
        <a:defRPr sz="1757" kern="1200">
          <a:solidFill>
            <a:schemeClr val="tx1"/>
          </a:solidFill>
          <a:latin typeface="+mn-lt"/>
          <a:ea typeface="+mn-ea"/>
          <a:cs typeface="+mn-cs"/>
        </a:defRPr>
      </a:lvl1pPr>
      <a:lvl2pPr marL="446425" algn="l" defTabSz="892850" rtl="0" eaLnBrk="1" latinLnBrk="0" hangingPunct="1">
        <a:defRPr sz="1757" kern="1200">
          <a:solidFill>
            <a:schemeClr val="tx1"/>
          </a:solidFill>
          <a:latin typeface="+mn-lt"/>
          <a:ea typeface="+mn-ea"/>
          <a:cs typeface="+mn-cs"/>
        </a:defRPr>
      </a:lvl2pPr>
      <a:lvl3pPr marL="892850" algn="l" defTabSz="892850" rtl="0" eaLnBrk="1" latinLnBrk="0" hangingPunct="1">
        <a:defRPr sz="1757" kern="1200">
          <a:solidFill>
            <a:schemeClr val="tx1"/>
          </a:solidFill>
          <a:latin typeface="+mn-lt"/>
          <a:ea typeface="+mn-ea"/>
          <a:cs typeface="+mn-cs"/>
        </a:defRPr>
      </a:lvl3pPr>
      <a:lvl4pPr marL="1339275" algn="l" defTabSz="892850" rtl="0" eaLnBrk="1" latinLnBrk="0" hangingPunct="1">
        <a:defRPr sz="1757" kern="1200">
          <a:solidFill>
            <a:schemeClr val="tx1"/>
          </a:solidFill>
          <a:latin typeface="+mn-lt"/>
          <a:ea typeface="+mn-ea"/>
          <a:cs typeface="+mn-cs"/>
        </a:defRPr>
      </a:lvl4pPr>
      <a:lvl5pPr marL="1785699" algn="l" defTabSz="892850" rtl="0" eaLnBrk="1" latinLnBrk="0" hangingPunct="1">
        <a:defRPr sz="1757" kern="1200">
          <a:solidFill>
            <a:schemeClr val="tx1"/>
          </a:solidFill>
          <a:latin typeface="+mn-lt"/>
          <a:ea typeface="+mn-ea"/>
          <a:cs typeface="+mn-cs"/>
        </a:defRPr>
      </a:lvl5pPr>
      <a:lvl6pPr marL="2232124" algn="l" defTabSz="892850" rtl="0" eaLnBrk="1" latinLnBrk="0" hangingPunct="1">
        <a:defRPr sz="1757" kern="1200">
          <a:solidFill>
            <a:schemeClr val="tx1"/>
          </a:solidFill>
          <a:latin typeface="+mn-lt"/>
          <a:ea typeface="+mn-ea"/>
          <a:cs typeface="+mn-cs"/>
        </a:defRPr>
      </a:lvl6pPr>
      <a:lvl7pPr marL="2678549" algn="l" defTabSz="892850" rtl="0" eaLnBrk="1" latinLnBrk="0" hangingPunct="1">
        <a:defRPr sz="1757" kern="1200">
          <a:solidFill>
            <a:schemeClr val="tx1"/>
          </a:solidFill>
          <a:latin typeface="+mn-lt"/>
          <a:ea typeface="+mn-ea"/>
          <a:cs typeface="+mn-cs"/>
        </a:defRPr>
      </a:lvl7pPr>
      <a:lvl8pPr marL="3124974" algn="l" defTabSz="892850" rtl="0" eaLnBrk="1" latinLnBrk="0" hangingPunct="1">
        <a:defRPr sz="1757" kern="1200">
          <a:solidFill>
            <a:schemeClr val="tx1"/>
          </a:solidFill>
          <a:latin typeface="+mn-lt"/>
          <a:ea typeface="+mn-ea"/>
          <a:cs typeface="+mn-cs"/>
        </a:defRPr>
      </a:lvl8pPr>
      <a:lvl9pPr marL="3571398" algn="l" defTabSz="892850" rtl="0" eaLnBrk="1" latinLnBrk="0" hangingPunct="1">
        <a:defRPr sz="175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</p:sldLayoutIdLst>
  <p:transition>
    <p:fade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26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26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26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26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26">
          <a:solidFill>
            <a:schemeClr val="tx1"/>
          </a:solidFill>
          <a:latin typeface="Calibri" pitchFamily="34" charset="0"/>
        </a:defRPr>
      </a:lvl5pPr>
      <a:lvl6pPr marL="342889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6pPr>
      <a:lvl7pPr marL="685777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7pPr>
      <a:lvl8pPr marL="1028666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8pPr>
      <a:lvl9pPr marL="1371554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9pPr>
    </p:titleStyle>
    <p:bodyStyle>
      <a:lvl1pPr marL="256053" indent="-25605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326" kern="1200">
          <a:solidFill>
            <a:schemeClr val="tx1"/>
          </a:solidFill>
          <a:latin typeface="+mn-lt"/>
          <a:ea typeface="+mn-ea"/>
          <a:cs typeface="+mn-cs"/>
        </a:defRPr>
      </a:lvl1pPr>
      <a:lvl2pPr marL="556171" indent="-213179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26" kern="1200">
          <a:solidFill>
            <a:schemeClr val="tx1"/>
          </a:solidFill>
          <a:latin typeface="+mn-lt"/>
          <a:ea typeface="+mn-ea"/>
          <a:cs typeface="+mn-cs"/>
        </a:defRPr>
      </a:lvl2pPr>
      <a:lvl3pPr marL="856288" indent="-170305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1725" kern="1200">
          <a:solidFill>
            <a:schemeClr val="tx1"/>
          </a:solidFill>
          <a:latin typeface="+mn-lt"/>
          <a:ea typeface="+mn-ea"/>
          <a:cs typeface="+mn-cs"/>
        </a:defRPr>
      </a:lvl3pPr>
      <a:lvl4pPr marL="1199279" indent="-170305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425" kern="1200">
          <a:solidFill>
            <a:schemeClr val="tx1"/>
          </a:solidFill>
          <a:latin typeface="+mn-lt"/>
          <a:ea typeface="+mn-ea"/>
          <a:cs typeface="+mn-cs"/>
        </a:defRPr>
      </a:lvl4pPr>
      <a:lvl5pPr marL="1542271" indent="-170305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425" kern="1200">
          <a:solidFill>
            <a:schemeClr val="tx1"/>
          </a:solidFill>
          <a:latin typeface="+mn-lt"/>
          <a:ea typeface="+mn-ea"/>
          <a:cs typeface="+mn-cs"/>
        </a:defRPr>
      </a:lvl5pPr>
      <a:lvl6pPr marL="1885887" indent="-171444" algn="l" defTabSz="685777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75" indent="-171444" algn="l" defTabSz="685777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64" indent="-171444" algn="l" defTabSz="685777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53" indent="-171444" algn="l" defTabSz="685777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77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9" algn="l" defTabSz="68577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77" algn="l" defTabSz="68577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66" algn="l" defTabSz="68577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54" algn="l" defTabSz="68577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43" algn="l" defTabSz="68577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31" algn="l" defTabSz="68577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20" algn="l" defTabSz="68577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09" algn="l" defTabSz="68577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C:\Users\Charlene\Documents\Consultoria\LEI da REDESIM\REDESIM - 2018\REDESIM Avançada\Imagens licenciadas\shutterstock_1341936323.jpg"/>
          <p:cNvPicPr/>
          <p:nvPr/>
        </p:nvPicPr>
        <p:blipFill>
          <a:blip r:embed="rId2" cstate="print">
            <a:lum contrast="-10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tângulo 2"/>
          <p:cNvSpPr/>
          <p:nvPr/>
        </p:nvSpPr>
        <p:spPr>
          <a:xfrm>
            <a:off x="914400" y="618835"/>
            <a:ext cx="7440936" cy="2198255"/>
          </a:xfrm>
          <a:prstGeom prst="rect">
            <a:avLst/>
          </a:prstGeom>
          <a:solidFill>
            <a:schemeClr val="bg2">
              <a:alpha val="9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PT"/>
          </a:p>
        </p:txBody>
      </p:sp>
      <p:sp>
        <p:nvSpPr>
          <p:cNvPr id="4" name="Título 4"/>
          <p:cNvSpPr>
            <a:spLocks/>
          </p:cNvSpPr>
          <p:nvPr/>
        </p:nvSpPr>
        <p:spPr bwMode="auto">
          <a:xfrm>
            <a:off x="788664" y="551539"/>
            <a:ext cx="7615107" cy="2040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80000"/>
              </a:lnSpc>
              <a:spcBef>
                <a:spcPts val="600"/>
              </a:spcBef>
              <a:defRPr/>
            </a:pPr>
            <a:r>
              <a:rPr lang="pt-BR" altLang="pt-PT" sz="4501" dirty="0">
                <a:solidFill>
                  <a:schemeClr val="tx1">
                    <a:lumMod val="85000"/>
                    <a:lumOff val="15000"/>
                  </a:schemeClr>
                </a:solidFill>
                <a:latin typeface="Aldhabi" pitchFamily="2" charset="-78"/>
                <a:ea typeface="+mn-ea"/>
                <a:cs typeface="Aldhabi" pitchFamily="2" charset="-78"/>
              </a:rPr>
              <a:t>Regras e impactos:</a:t>
            </a:r>
          </a:p>
          <a:p>
            <a:pPr algn="ctr" eaLnBrk="1" hangingPunct="1">
              <a:lnSpc>
                <a:spcPct val="80000"/>
              </a:lnSpc>
              <a:spcBef>
                <a:spcPts val="600"/>
              </a:spcBef>
              <a:defRPr/>
            </a:pPr>
            <a:endParaRPr lang="pt-BR" altLang="pt-PT" sz="1200" dirty="0">
              <a:solidFill>
                <a:schemeClr val="tx1">
                  <a:lumMod val="85000"/>
                  <a:lumOff val="15000"/>
                </a:schemeClr>
              </a:solidFill>
              <a:latin typeface="Aldhabi" pitchFamily="2" charset="-78"/>
              <a:ea typeface="+mn-ea"/>
              <a:cs typeface="Aldhabi" pitchFamily="2" charset="-78"/>
            </a:endParaRPr>
          </a:p>
          <a:p>
            <a:pPr algn="ctr" eaLnBrk="1" hangingPunct="1">
              <a:lnSpc>
                <a:spcPct val="80000"/>
              </a:lnSpc>
              <a:spcBef>
                <a:spcPts val="600"/>
              </a:spcBef>
              <a:defRPr/>
            </a:pPr>
            <a:r>
              <a:rPr lang="pt-BR" altLang="pt-PT" sz="4501" b="1" dirty="0">
                <a:solidFill>
                  <a:schemeClr val="tx2"/>
                </a:solidFill>
                <a:latin typeface="Century Gothic" panose="020B0502020202020204" pitchFamily="34" charset="0"/>
                <a:ea typeface="+mn-ea"/>
                <a:cs typeface="Tahoma" panose="020B0604030504040204" pitchFamily="34" charset="0"/>
              </a:rPr>
              <a:t>Lei nº 13.874/19  </a:t>
            </a:r>
          </a:p>
          <a:p>
            <a:pPr algn="ctr" eaLnBrk="1" hangingPunct="1">
              <a:lnSpc>
                <a:spcPct val="80000"/>
              </a:lnSpc>
              <a:spcBef>
                <a:spcPts val="600"/>
              </a:spcBef>
              <a:defRPr/>
            </a:pPr>
            <a:r>
              <a:rPr lang="pt-BR" altLang="pt-PT" sz="3751" dirty="0">
                <a:solidFill>
                  <a:schemeClr val="tx2"/>
                </a:solidFill>
                <a:latin typeface="Century Gothic" panose="020B0502020202020204" pitchFamily="34" charset="0"/>
                <a:ea typeface="+mn-ea"/>
                <a:cs typeface="Tahoma" panose="020B0604030504040204" pitchFamily="34" charset="0"/>
              </a:rPr>
              <a:t>LEI DA LIBERDADE ECONÔMICA</a:t>
            </a:r>
          </a:p>
        </p:txBody>
      </p:sp>
      <p:cxnSp>
        <p:nvCxnSpPr>
          <p:cNvPr id="5" name="Conexão reta 32"/>
          <p:cNvCxnSpPr/>
          <p:nvPr/>
        </p:nvCxnSpPr>
        <p:spPr>
          <a:xfrm>
            <a:off x="1749473" y="1275708"/>
            <a:ext cx="252614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xão reta 36"/>
          <p:cNvCxnSpPr/>
          <p:nvPr/>
        </p:nvCxnSpPr>
        <p:spPr>
          <a:xfrm>
            <a:off x="4275611" y="1275706"/>
            <a:ext cx="304879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Imagem 7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321656" y="5878286"/>
            <a:ext cx="1372401" cy="66765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tângulo 30"/>
          <p:cNvSpPr/>
          <p:nvPr/>
        </p:nvSpPr>
        <p:spPr>
          <a:xfrm>
            <a:off x="667657" y="5387207"/>
            <a:ext cx="8244114" cy="824896"/>
          </a:xfrm>
          <a:prstGeom prst="rect">
            <a:avLst/>
          </a:prstGeom>
          <a:solidFill>
            <a:srgbClr val="5DC3A8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PT"/>
          </a:p>
        </p:txBody>
      </p:sp>
      <p:sp>
        <p:nvSpPr>
          <p:cNvPr id="17" name="Título 4"/>
          <p:cNvSpPr>
            <a:spLocks/>
          </p:cNvSpPr>
          <p:nvPr/>
        </p:nvSpPr>
        <p:spPr bwMode="auto">
          <a:xfrm>
            <a:off x="327587" y="613450"/>
            <a:ext cx="8555157" cy="48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  <a:defRPr/>
            </a:pPr>
            <a:r>
              <a:rPr lang="pt-BR" altLang="pt-PT" sz="3200" b="1" dirty="0">
                <a:solidFill>
                  <a:schemeClr val="tx2"/>
                </a:solidFill>
                <a:latin typeface="Century Gothic" panose="020B0502020202020204" pitchFamily="34" charset="0"/>
                <a:ea typeface="+mn-ea"/>
                <a:cs typeface="Tahoma" panose="020B0604030504040204" pitchFamily="34" charset="0"/>
              </a:rPr>
              <a:t>Objetivo da Lei:</a:t>
            </a:r>
          </a:p>
        </p:txBody>
      </p:sp>
      <p:sp>
        <p:nvSpPr>
          <p:cNvPr id="36" name="Retângulo 35"/>
          <p:cNvSpPr/>
          <p:nvPr/>
        </p:nvSpPr>
        <p:spPr>
          <a:xfrm>
            <a:off x="507998" y="1741714"/>
            <a:ext cx="8258631" cy="4296229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PT"/>
          </a:p>
        </p:txBody>
      </p:sp>
      <p:sp>
        <p:nvSpPr>
          <p:cNvPr id="12" name="Retângulo 11"/>
          <p:cNvSpPr/>
          <p:nvPr/>
        </p:nvSpPr>
        <p:spPr>
          <a:xfrm>
            <a:off x="155346" y="304583"/>
            <a:ext cx="119094" cy="1002767"/>
          </a:xfrm>
          <a:prstGeom prst="rect">
            <a:avLst/>
          </a:prstGeom>
          <a:solidFill>
            <a:srgbClr val="60B0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PT"/>
          </a:p>
        </p:txBody>
      </p:sp>
      <p:cxnSp>
        <p:nvCxnSpPr>
          <p:cNvPr id="8" name="Conexão reta 7"/>
          <p:cNvCxnSpPr/>
          <p:nvPr/>
        </p:nvCxnSpPr>
        <p:spPr>
          <a:xfrm>
            <a:off x="95799" y="304582"/>
            <a:ext cx="0" cy="4225438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58" name="CaixaDeTexto 1"/>
          <p:cNvSpPr txBox="1">
            <a:spLocks noChangeArrowheads="1"/>
          </p:cNvSpPr>
          <p:nvPr/>
        </p:nvSpPr>
        <p:spPr bwMode="auto">
          <a:xfrm>
            <a:off x="2342571" y="599665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endParaRPr lang="pt-BR" altLang="pt-BR"/>
          </a:p>
        </p:txBody>
      </p:sp>
      <p:sp>
        <p:nvSpPr>
          <p:cNvPr id="6159" name="CaixaDeTexto 2"/>
          <p:cNvSpPr txBox="1">
            <a:spLocks noChangeArrowheads="1"/>
          </p:cNvSpPr>
          <p:nvPr/>
        </p:nvSpPr>
        <p:spPr bwMode="auto">
          <a:xfrm>
            <a:off x="2902310" y="-421591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endParaRPr lang="pt-BR" altLang="pt-BR"/>
          </a:p>
        </p:txBody>
      </p:sp>
      <p:sp>
        <p:nvSpPr>
          <p:cNvPr id="6160" name="CaixaDeTexto 3"/>
          <p:cNvSpPr txBox="1">
            <a:spLocks noChangeArrowheads="1"/>
          </p:cNvSpPr>
          <p:nvPr/>
        </p:nvSpPr>
        <p:spPr bwMode="auto">
          <a:xfrm>
            <a:off x="2142493" y="4412713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endParaRPr lang="pt-BR" altLang="pt-BR"/>
          </a:p>
        </p:txBody>
      </p:sp>
      <p:sp>
        <p:nvSpPr>
          <p:cNvPr id="3" name="CaixaDeTexto 2"/>
          <p:cNvSpPr txBox="1"/>
          <p:nvPr/>
        </p:nvSpPr>
        <p:spPr>
          <a:xfrm>
            <a:off x="4149090" y="70866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26" name="Subtítulo 5"/>
          <p:cNvSpPr txBox="1">
            <a:spLocks/>
          </p:cNvSpPr>
          <p:nvPr/>
        </p:nvSpPr>
        <p:spPr bwMode="auto">
          <a:xfrm>
            <a:off x="815100" y="1508030"/>
            <a:ext cx="7603185" cy="43919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indent="0" eaLnBrk="1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defRPr/>
            </a:pPr>
            <a:endParaRPr lang="en-US" sz="2800" dirty="0">
              <a:ea typeface="+mn-ea"/>
            </a:endParaRPr>
          </a:p>
          <a:p>
            <a:pPr marL="133346" indent="-133346" algn="just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defRPr/>
            </a:pPr>
            <a:r>
              <a:rPr lang="en-US" sz="2800" dirty="0">
                <a:ea typeface="+mn-ea"/>
              </a:rPr>
              <a:t>	</a:t>
            </a:r>
            <a:r>
              <a:rPr lang="pt-BR" sz="2800" dirty="0">
                <a:ea typeface="+mn-ea"/>
              </a:rPr>
              <a:t>Estabelecer normas de redução da burocracia para empresários e pessoas jurídicas visando garantir o livre exercício da atividade econômica e o fomento da economia brasileira, com redefinição da forma de atuação do Estado</a:t>
            </a:r>
            <a:endParaRPr lang="en-US" sz="2800" dirty="0">
              <a:ea typeface="+mn-ea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17" grpId="0"/>
      <p:bldP spid="36" grpId="0" animBg="1"/>
      <p:bldP spid="12" grpId="0" animBg="1"/>
      <p:bldP spid="2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tângulo 26"/>
          <p:cNvSpPr/>
          <p:nvPr/>
        </p:nvSpPr>
        <p:spPr>
          <a:xfrm>
            <a:off x="566053" y="2336795"/>
            <a:ext cx="7968344" cy="2656120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PT"/>
          </a:p>
        </p:txBody>
      </p:sp>
      <p:sp>
        <p:nvSpPr>
          <p:cNvPr id="6159" name="CaixaDeTexto 2"/>
          <p:cNvSpPr txBox="1">
            <a:spLocks noChangeArrowheads="1"/>
          </p:cNvSpPr>
          <p:nvPr/>
        </p:nvSpPr>
        <p:spPr bwMode="auto">
          <a:xfrm>
            <a:off x="2902310" y="-421591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endParaRPr lang="pt-BR" altLang="pt-BR"/>
          </a:p>
        </p:txBody>
      </p:sp>
      <p:sp>
        <p:nvSpPr>
          <p:cNvPr id="6160" name="CaixaDeTexto 3"/>
          <p:cNvSpPr txBox="1">
            <a:spLocks noChangeArrowheads="1"/>
          </p:cNvSpPr>
          <p:nvPr/>
        </p:nvSpPr>
        <p:spPr bwMode="auto">
          <a:xfrm>
            <a:off x="2331175" y="4427227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endParaRPr lang="pt-BR" altLang="pt-BR"/>
          </a:p>
        </p:txBody>
      </p:sp>
      <p:sp>
        <p:nvSpPr>
          <p:cNvPr id="3" name="CaixaDeTexto 2"/>
          <p:cNvSpPr txBox="1"/>
          <p:nvPr/>
        </p:nvSpPr>
        <p:spPr>
          <a:xfrm>
            <a:off x="4149090" y="70866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26" name="Subtítulo 5"/>
          <p:cNvSpPr txBox="1">
            <a:spLocks/>
          </p:cNvSpPr>
          <p:nvPr/>
        </p:nvSpPr>
        <p:spPr bwMode="auto">
          <a:xfrm>
            <a:off x="653139" y="2458726"/>
            <a:ext cx="7605486" cy="23433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just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buFont typeface="Wingdings" panose="05000000000000000000" pitchFamily="2" charset="2"/>
              <a:buChar char="§"/>
              <a:defRPr/>
            </a:pPr>
            <a:r>
              <a:rPr lang="pt-BR" sz="2000" dirty="0">
                <a:latin typeface="Century Gothic" panose="020B0502020202020204" pitchFamily="34" charset="0"/>
                <a:ea typeface="+mn-ea"/>
                <a:cs typeface="Tahoma" panose="020B0604030504040204" pitchFamily="34" charset="0"/>
              </a:rPr>
              <a:t> </a:t>
            </a:r>
            <a:r>
              <a:rPr lang="pt-BR" sz="2000" dirty="0"/>
              <a:t>A atividade econômica de baixo grau de risco isenta do ato público de liberação será definida pelo Município ou Estado e na situação de ausência normativa sobre a matéria, pelo CGSIM - Comitê Gestor da Rede Nacional de Simplificação e Legalização de Empresas e Negócios - ou por ato do Executivo Federal</a:t>
            </a:r>
            <a:endParaRPr lang="en-US" sz="2000" dirty="0">
              <a:latin typeface="Century Gothic" panose="020B0502020202020204" pitchFamily="34" charset="0"/>
              <a:ea typeface="+mn-ea"/>
              <a:cs typeface="Tahoma" panose="020B0604030504040204" pitchFamily="34" charset="0"/>
            </a:endParaRPr>
          </a:p>
        </p:txBody>
      </p:sp>
      <p:sp>
        <p:nvSpPr>
          <p:cNvPr id="14" name="Título 4"/>
          <p:cNvSpPr>
            <a:spLocks/>
          </p:cNvSpPr>
          <p:nvPr/>
        </p:nvSpPr>
        <p:spPr bwMode="auto">
          <a:xfrm>
            <a:off x="298558" y="323166"/>
            <a:ext cx="8642242" cy="892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3600"/>
              </a:spcBef>
              <a:defRPr/>
            </a:pPr>
            <a:r>
              <a:rPr lang="pt-BR" altLang="pt-PT" sz="2600" b="1" dirty="0">
                <a:solidFill>
                  <a:schemeClr val="tx2"/>
                </a:solidFill>
                <a:latin typeface="Century Gothic" panose="020B0502020202020204" pitchFamily="34" charset="0"/>
                <a:ea typeface="+mn-ea"/>
                <a:cs typeface="Tahoma" panose="020B0604030504040204" pitchFamily="34" charset="0"/>
              </a:rPr>
              <a:t>Dispensou o ato público de liberação para atividades de baixo risco </a:t>
            </a:r>
            <a:r>
              <a:rPr lang="pt-BR" altLang="pt-PT" sz="1200" b="1" dirty="0">
                <a:solidFill>
                  <a:schemeClr val="bg1">
                    <a:lumMod val="75000"/>
                  </a:schemeClr>
                </a:solidFill>
                <a:latin typeface="Century Gothic" panose="020B0502020202020204" pitchFamily="34" charset="0"/>
                <a:cs typeface="Tahoma" panose="020B0604030504040204" pitchFamily="34" charset="0"/>
              </a:rPr>
              <a:t>(Alvará, licença, inscrição, registro, autorização e outros)</a:t>
            </a:r>
            <a:endParaRPr lang="pt-BR" altLang="pt-PT" sz="1200" b="1" dirty="0">
              <a:solidFill>
                <a:schemeClr val="bg1">
                  <a:lumMod val="75000"/>
                </a:schemeClr>
              </a:solidFill>
              <a:latin typeface="Century Gothic" panose="020B0502020202020204" pitchFamily="34" charset="0"/>
              <a:ea typeface="+mn-ea"/>
              <a:cs typeface="Tahoma" panose="020B0604030504040204" pitchFamily="34" charset="0"/>
            </a:endParaRPr>
          </a:p>
        </p:txBody>
      </p:sp>
      <p:sp>
        <p:nvSpPr>
          <p:cNvPr id="18" name="Retângulo 17"/>
          <p:cNvSpPr/>
          <p:nvPr/>
        </p:nvSpPr>
        <p:spPr>
          <a:xfrm>
            <a:off x="347185" y="1267291"/>
            <a:ext cx="657613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pt-B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ea typeface="+mn-ea"/>
                <a:cs typeface="Tahoma" panose="020B0604030504040204" pitchFamily="34" charset="0"/>
              </a:rPr>
              <a:t>Art. 3º, inciso I</a:t>
            </a:r>
          </a:p>
        </p:txBody>
      </p:sp>
      <p:sp>
        <p:nvSpPr>
          <p:cNvPr id="23" name="Retângulo 22"/>
          <p:cNvSpPr/>
          <p:nvPr/>
        </p:nvSpPr>
        <p:spPr>
          <a:xfrm>
            <a:off x="481385" y="1917253"/>
            <a:ext cx="13516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spcAft>
                <a:spcPts val="1951"/>
              </a:spcAft>
              <a:buClr>
                <a:schemeClr val="tx2"/>
              </a:buClr>
              <a:defRPr/>
            </a:pPr>
            <a:r>
              <a:rPr lang="pt-BR" b="1" u="sng" dirty="0">
                <a:solidFill>
                  <a:schemeClr val="tx2"/>
                </a:solidFill>
                <a:latin typeface="Century Gothic" charset="0"/>
                <a:ea typeface="Century Gothic" charset="0"/>
                <a:cs typeface="Century Gothic" charset="0"/>
              </a:rPr>
              <a:t>Requisitos:</a:t>
            </a:r>
          </a:p>
        </p:txBody>
      </p:sp>
      <p:sp>
        <p:nvSpPr>
          <p:cNvPr id="25" name="Retângulo 24"/>
          <p:cNvSpPr/>
          <p:nvPr/>
        </p:nvSpPr>
        <p:spPr>
          <a:xfrm>
            <a:off x="155345" y="304583"/>
            <a:ext cx="120425" cy="1321017"/>
          </a:xfrm>
          <a:prstGeom prst="rect">
            <a:avLst/>
          </a:prstGeom>
          <a:solidFill>
            <a:srgbClr val="60B0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PT"/>
          </a:p>
        </p:txBody>
      </p:sp>
      <p:sp>
        <p:nvSpPr>
          <p:cNvPr id="13" name="Retângulo 12"/>
          <p:cNvSpPr/>
          <p:nvPr/>
        </p:nvSpPr>
        <p:spPr>
          <a:xfrm>
            <a:off x="551544" y="5130809"/>
            <a:ext cx="7968344" cy="1182906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PT"/>
          </a:p>
        </p:txBody>
      </p:sp>
      <p:sp>
        <p:nvSpPr>
          <p:cNvPr id="15" name="Subtítulo 5"/>
          <p:cNvSpPr txBox="1">
            <a:spLocks/>
          </p:cNvSpPr>
          <p:nvPr/>
        </p:nvSpPr>
        <p:spPr bwMode="auto">
          <a:xfrm>
            <a:off x="667659" y="5172887"/>
            <a:ext cx="7830458" cy="958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just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buFont typeface="Wingdings" panose="05000000000000000000" pitchFamily="2" charset="2"/>
              <a:buChar char="§"/>
              <a:defRPr/>
            </a:pPr>
            <a:r>
              <a:rPr lang="pt-BR" sz="2000" dirty="0"/>
              <a:t> O ente federativo que editar ou tiver editado norma específica de baixo risco encaminhará notificação ao Ministério da Economia</a:t>
            </a:r>
            <a:endParaRPr lang="en-US" sz="20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6" grpId="0"/>
      <p:bldP spid="14" grpId="0"/>
      <p:bldP spid="18" grpId="0"/>
      <p:bldP spid="25" grpId="0" animBg="1"/>
      <p:bldP spid="13" grpId="0" animBg="1"/>
      <p:bldP spid="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tângulo 26"/>
          <p:cNvSpPr/>
          <p:nvPr/>
        </p:nvSpPr>
        <p:spPr>
          <a:xfrm>
            <a:off x="566053" y="1291757"/>
            <a:ext cx="7968344" cy="1074072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PT"/>
          </a:p>
        </p:txBody>
      </p:sp>
      <p:sp>
        <p:nvSpPr>
          <p:cNvPr id="6160" name="CaixaDeTexto 3"/>
          <p:cNvSpPr txBox="1">
            <a:spLocks noChangeArrowheads="1"/>
          </p:cNvSpPr>
          <p:nvPr/>
        </p:nvSpPr>
        <p:spPr bwMode="auto">
          <a:xfrm>
            <a:off x="2345689" y="2975827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endParaRPr lang="pt-BR" altLang="pt-BR"/>
          </a:p>
        </p:txBody>
      </p:sp>
      <p:sp>
        <p:nvSpPr>
          <p:cNvPr id="3" name="CaixaDeTexto 2"/>
          <p:cNvSpPr txBox="1"/>
          <p:nvPr/>
        </p:nvSpPr>
        <p:spPr>
          <a:xfrm>
            <a:off x="4149090" y="660763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26" name="Subtítulo 5"/>
          <p:cNvSpPr txBox="1">
            <a:spLocks/>
          </p:cNvSpPr>
          <p:nvPr/>
        </p:nvSpPr>
        <p:spPr bwMode="auto">
          <a:xfrm>
            <a:off x="653139" y="1283092"/>
            <a:ext cx="7605486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just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buFont typeface="Wingdings" panose="05000000000000000000" pitchFamily="2" charset="2"/>
              <a:buChar char="§"/>
              <a:defRPr/>
            </a:pPr>
            <a:r>
              <a:rPr lang="pt-BR" sz="2000" dirty="0">
                <a:latin typeface="Century Gothic" panose="020B0502020202020204" pitchFamily="34" charset="0"/>
                <a:ea typeface="+mn-ea"/>
                <a:cs typeface="Tahoma" panose="020B0604030504040204" pitchFamily="34" charset="0"/>
              </a:rPr>
              <a:t> </a:t>
            </a:r>
            <a:r>
              <a:rPr lang="pt-BR" sz="2000" dirty="0"/>
              <a:t>Não dispensa a necessidade da realização de consulta de viabilidade e de cadastros tributários</a:t>
            </a:r>
            <a:endParaRPr lang="en-US" sz="2000" dirty="0">
              <a:latin typeface="Century Gothic" panose="020B0502020202020204" pitchFamily="34" charset="0"/>
              <a:ea typeface="+mn-ea"/>
              <a:cs typeface="Tahoma" panose="020B0604030504040204" pitchFamily="34" charset="0"/>
            </a:endParaRPr>
          </a:p>
        </p:txBody>
      </p:sp>
      <p:sp>
        <p:nvSpPr>
          <p:cNvPr id="19" name="Retângulo 18"/>
          <p:cNvSpPr/>
          <p:nvPr/>
        </p:nvSpPr>
        <p:spPr>
          <a:xfrm>
            <a:off x="558798" y="2467487"/>
            <a:ext cx="7968344" cy="1059490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PT"/>
          </a:p>
        </p:txBody>
      </p:sp>
      <p:sp>
        <p:nvSpPr>
          <p:cNvPr id="22" name="Subtítulo 5"/>
          <p:cNvSpPr txBox="1">
            <a:spLocks/>
          </p:cNvSpPr>
          <p:nvPr/>
        </p:nvSpPr>
        <p:spPr bwMode="auto">
          <a:xfrm>
            <a:off x="674913" y="2436995"/>
            <a:ext cx="783045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just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buFont typeface="Wingdings" panose="05000000000000000000" pitchFamily="2" charset="2"/>
              <a:buChar char="§"/>
              <a:defRPr/>
            </a:pPr>
            <a:r>
              <a:rPr lang="pt-BR" sz="2000" dirty="0"/>
              <a:t> As fiscalizações devem ocorrer posteriormente a abertura do negócio, seja mediante denúncia ou por ofício</a:t>
            </a:r>
            <a:endParaRPr lang="en-US" sz="2000" dirty="0"/>
          </a:p>
        </p:txBody>
      </p:sp>
      <p:sp>
        <p:nvSpPr>
          <p:cNvPr id="23" name="CaixaDeTexto 3"/>
          <p:cNvSpPr txBox="1">
            <a:spLocks noChangeArrowheads="1"/>
          </p:cNvSpPr>
          <p:nvPr/>
        </p:nvSpPr>
        <p:spPr bwMode="auto">
          <a:xfrm>
            <a:off x="2498089" y="3128227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endParaRPr lang="pt-BR" altLang="pt-BR"/>
          </a:p>
        </p:txBody>
      </p:sp>
      <p:sp>
        <p:nvSpPr>
          <p:cNvPr id="38" name="Retângulo 37"/>
          <p:cNvSpPr/>
          <p:nvPr/>
        </p:nvSpPr>
        <p:spPr>
          <a:xfrm>
            <a:off x="587827" y="139693"/>
            <a:ext cx="7968344" cy="1059540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PT"/>
          </a:p>
        </p:txBody>
      </p:sp>
      <p:sp>
        <p:nvSpPr>
          <p:cNvPr id="39" name="Subtítulo 5"/>
          <p:cNvSpPr txBox="1">
            <a:spLocks/>
          </p:cNvSpPr>
          <p:nvPr/>
        </p:nvSpPr>
        <p:spPr bwMode="auto">
          <a:xfrm>
            <a:off x="703942" y="138229"/>
            <a:ext cx="7656287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buFont typeface="Wingdings" panose="05000000000000000000" pitchFamily="2" charset="2"/>
              <a:buChar char="§"/>
              <a:defRPr/>
            </a:pPr>
            <a:r>
              <a:rPr lang="pt-BR" sz="2000" dirty="0"/>
              <a:t> A atividade precisa ser instalada em propriedade privada particular ou de terceiros consensuais </a:t>
            </a:r>
            <a:endParaRPr lang="en-US" sz="2000" dirty="0"/>
          </a:p>
        </p:txBody>
      </p:sp>
      <p:sp>
        <p:nvSpPr>
          <p:cNvPr id="40" name="CaixaDeTexto 1"/>
          <p:cNvSpPr txBox="1">
            <a:spLocks noChangeArrowheads="1"/>
          </p:cNvSpPr>
          <p:nvPr/>
        </p:nvSpPr>
        <p:spPr bwMode="auto">
          <a:xfrm>
            <a:off x="2531253" y="370344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endParaRPr lang="pt-BR" altLang="pt-BR"/>
          </a:p>
        </p:txBody>
      </p:sp>
      <p:sp>
        <p:nvSpPr>
          <p:cNvPr id="41" name="CaixaDeTexto 1"/>
          <p:cNvSpPr txBox="1">
            <a:spLocks noChangeArrowheads="1"/>
          </p:cNvSpPr>
          <p:nvPr/>
        </p:nvSpPr>
        <p:spPr bwMode="auto">
          <a:xfrm>
            <a:off x="2596569" y="443640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endParaRPr lang="pt-BR" altLang="pt-BR"/>
          </a:p>
        </p:txBody>
      </p:sp>
      <p:sp>
        <p:nvSpPr>
          <p:cNvPr id="42" name="CaixaDeTexto 3"/>
          <p:cNvSpPr txBox="1">
            <a:spLocks noChangeArrowheads="1"/>
          </p:cNvSpPr>
          <p:nvPr/>
        </p:nvSpPr>
        <p:spPr bwMode="auto">
          <a:xfrm>
            <a:off x="2396491" y="4071637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endParaRPr lang="pt-BR" altLang="pt-BR"/>
          </a:p>
        </p:txBody>
      </p:sp>
      <p:sp>
        <p:nvSpPr>
          <p:cNvPr id="43" name="Retângulo 42"/>
          <p:cNvSpPr/>
          <p:nvPr/>
        </p:nvSpPr>
        <p:spPr>
          <a:xfrm>
            <a:off x="290287" y="3664893"/>
            <a:ext cx="4122056" cy="2924586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just">
              <a:defRPr/>
            </a:pPr>
            <a:endParaRPr lang="pt-PT" dirty="0"/>
          </a:p>
        </p:txBody>
      </p:sp>
      <p:sp>
        <p:nvSpPr>
          <p:cNvPr id="44" name="Subtítulo 5"/>
          <p:cNvSpPr txBox="1">
            <a:spLocks/>
          </p:cNvSpPr>
          <p:nvPr/>
        </p:nvSpPr>
        <p:spPr bwMode="auto">
          <a:xfrm>
            <a:off x="725716" y="3590861"/>
            <a:ext cx="3468914" cy="617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ctr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defRPr/>
            </a:pPr>
            <a:r>
              <a:rPr lang="en-US" altLang="pt-PT" sz="2600" b="1" dirty="0">
                <a:solidFill>
                  <a:schemeClr val="tx2"/>
                </a:solidFill>
                <a:latin typeface="Century Gothic" panose="020B0502020202020204" pitchFamily="34" charset="0"/>
                <a:ea typeface="+mn-ea"/>
                <a:cs typeface="Tahoma" panose="020B0604030504040204" pitchFamily="34" charset="0"/>
              </a:rPr>
              <a:t>Como era:</a:t>
            </a:r>
          </a:p>
        </p:txBody>
      </p:sp>
      <p:sp>
        <p:nvSpPr>
          <p:cNvPr id="45" name="Retângulo 44"/>
          <p:cNvSpPr/>
          <p:nvPr/>
        </p:nvSpPr>
        <p:spPr>
          <a:xfrm>
            <a:off x="4731659" y="3672154"/>
            <a:ext cx="4136570" cy="2946354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solidFill>
              <a:srgbClr val="5DC3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PT"/>
          </a:p>
        </p:txBody>
      </p:sp>
      <p:sp>
        <p:nvSpPr>
          <p:cNvPr id="46" name="Subtítulo 5"/>
          <p:cNvSpPr txBox="1">
            <a:spLocks/>
          </p:cNvSpPr>
          <p:nvPr/>
        </p:nvSpPr>
        <p:spPr bwMode="auto">
          <a:xfrm>
            <a:off x="4811410" y="3569093"/>
            <a:ext cx="3468914" cy="617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ctr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defRPr/>
            </a:pPr>
            <a:r>
              <a:rPr lang="en-US" altLang="pt-PT" sz="2600" b="1" dirty="0">
                <a:solidFill>
                  <a:schemeClr val="tx2"/>
                </a:solidFill>
                <a:latin typeface="Century Gothic" panose="020B0502020202020204" pitchFamily="34" charset="0"/>
                <a:ea typeface="+mn-ea"/>
                <a:cs typeface="Tahoma" panose="020B0604030504040204" pitchFamily="34" charset="0"/>
              </a:rPr>
              <a:t>Como ficou:</a:t>
            </a:r>
          </a:p>
        </p:txBody>
      </p:sp>
      <p:sp>
        <p:nvSpPr>
          <p:cNvPr id="47" name="Subtítulo 5"/>
          <p:cNvSpPr txBox="1">
            <a:spLocks/>
          </p:cNvSpPr>
          <p:nvPr/>
        </p:nvSpPr>
        <p:spPr bwMode="auto">
          <a:xfrm>
            <a:off x="420914" y="4136565"/>
            <a:ext cx="3795490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just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defRPr/>
            </a:pPr>
            <a:r>
              <a:rPr lang="en-US" sz="2000" dirty="0"/>
              <a:t>  </a:t>
            </a:r>
            <a:r>
              <a:rPr lang="en-US" sz="2000" dirty="0" err="1"/>
              <a:t>Todas</a:t>
            </a:r>
            <a:r>
              <a:rPr lang="en-US" sz="2000" dirty="0"/>
              <a:t> as atividades </a:t>
            </a:r>
            <a:r>
              <a:rPr lang="en-US" sz="2000" dirty="0" err="1"/>
              <a:t>econômicas</a:t>
            </a:r>
            <a:r>
              <a:rPr lang="en-US" sz="2000" dirty="0"/>
              <a:t> </a:t>
            </a:r>
            <a:r>
              <a:rPr lang="en-US" sz="2000" dirty="0" err="1"/>
              <a:t>dependiam</a:t>
            </a:r>
            <a:r>
              <a:rPr lang="en-US" sz="2000" dirty="0"/>
              <a:t> de </a:t>
            </a:r>
            <a:r>
              <a:rPr lang="en-US" sz="2000" dirty="0" err="1"/>
              <a:t>autorizações</a:t>
            </a:r>
            <a:r>
              <a:rPr lang="en-US" sz="2000" dirty="0"/>
              <a:t> </a:t>
            </a:r>
            <a:r>
              <a:rPr lang="en-US" sz="2000" dirty="0" err="1"/>
              <a:t>públicas</a:t>
            </a:r>
            <a:r>
              <a:rPr lang="en-US" sz="2000" dirty="0"/>
              <a:t> </a:t>
            </a:r>
            <a:r>
              <a:rPr lang="en-US" sz="2000" dirty="0" err="1"/>
              <a:t>para</a:t>
            </a:r>
            <a:r>
              <a:rPr lang="en-US" sz="2000" dirty="0"/>
              <a:t> </a:t>
            </a:r>
            <a:r>
              <a:rPr lang="en-US" sz="2000" dirty="0" err="1"/>
              <a:t>funcionar</a:t>
            </a:r>
            <a:endParaRPr lang="en-US" sz="2000" dirty="0"/>
          </a:p>
        </p:txBody>
      </p:sp>
      <p:sp>
        <p:nvSpPr>
          <p:cNvPr id="48" name="Subtítulo 5"/>
          <p:cNvSpPr txBox="1">
            <a:spLocks/>
          </p:cNvSpPr>
          <p:nvPr/>
        </p:nvSpPr>
        <p:spPr bwMode="auto">
          <a:xfrm>
            <a:off x="4811402" y="4158339"/>
            <a:ext cx="3795490" cy="2400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just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defRPr/>
            </a:pPr>
            <a:r>
              <a:rPr lang="en-US" sz="2000" dirty="0"/>
              <a:t>  Atividades de </a:t>
            </a:r>
            <a:r>
              <a:rPr lang="en-US" sz="2000" dirty="0" err="1"/>
              <a:t>baixo</a:t>
            </a:r>
            <a:r>
              <a:rPr lang="en-US" sz="2000" dirty="0"/>
              <a:t> </a:t>
            </a:r>
            <a:r>
              <a:rPr lang="en-US" sz="2000" dirty="0" err="1"/>
              <a:t>risco</a:t>
            </a:r>
            <a:r>
              <a:rPr lang="en-US" sz="2000" dirty="0"/>
              <a:t> </a:t>
            </a:r>
            <a:r>
              <a:rPr lang="en-US" sz="2000" dirty="0" err="1"/>
              <a:t>não</a:t>
            </a:r>
            <a:r>
              <a:rPr lang="en-US" sz="2000" dirty="0"/>
              <a:t> </a:t>
            </a:r>
            <a:r>
              <a:rPr lang="en-US" sz="2000" dirty="0" err="1"/>
              <a:t>precisam</a:t>
            </a:r>
            <a:r>
              <a:rPr lang="en-US" sz="2000" dirty="0"/>
              <a:t> de </a:t>
            </a:r>
            <a:r>
              <a:rPr lang="en-US" sz="2000" dirty="0" err="1"/>
              <a:t>autorizações</a:t>
            </a:r>
            <a:r>
              <a:rPr lang="en-US" sz="2000" dirty="0"/>
              <a:t> dos </a:t>
            </a:r>
            <a:r>
              <a:rPr lang="en-US" sz="2000" dirty="0" err="1"/>
              <a:t>órgãos</a:t>
            </a:r>
            <a:r>
              <a:rPr lang="en-US" sz="2000" dirty="0"/>
              <a:t> </a:t>
            </a:r>
            <a:r>
              <a:rPr lang="en-US" sz="2000" dirty="0" err="1"/>
              <a:t>públicos</a:t>
            </a:r>
            <a:r>
              <a:rPr lang="en-US" sz="2000" dirty="0"/>
              <a:t> </a:t>
            </a:r>
            <a:r>
              <a:rPr lang="en-US" sz="2000" dirty="0" err="1"/>
              <a:t>para</a:t>
            </a:r>
            <a:r>
              <a:rPr lang="en-US" sz="2000" dirty="0"/>
              <a:t> </a:t>
            </a:r>
            <a:r>
              <a:rPr lang="en-US" sz="2000" dirty="0" err="1"/>
              <a:t>gerar</a:t>
            </a:r>
            <a:r>
              <a:rPr lang="en-US" sz="2000" dirty="0"/>
              <a:t> </a:t>
            </a:r>
            <a:r>
              <a:rPr lang="en-US" sz="2000" dirty="0" err="1"/>
              <a:t>desenvolvimento</a:t>
            </a:r>
            <a:r>
              <a:rPr lang="en-US" sz="2000" dirty="0"/>
              <a:t> </a:t>
            </a:r>
            <a:r>
              <a:rPr lang="en-US" sz="2000" dirty="0" err="1"/>
              <a:t>econômico</a:t>
            </a:r>
            <a:r>
              <a:rPr lang="en-US" sz="2000" dirty="0"/>
              <a:t>, </a:t>
            </a:r>
            <a:r>
              <a:rPr lang="en-US" sz="2000" dirty="0" err="1"/>
              <a:t>emprego</a:t>
            </a:r>
            <a:r>
              <a:rPr lang="en-US" sz="2000" dirty="0"/>
              <a:t> e </a:t>
            </a:r>
            <a:r>
              <a:rPr lang="en-US" sz="2000" dirty="0" err="1"/>
              <a:t>renda</a:t>
            </a:r>
            <a:endParaRPr lang="en-US" sz="20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6" grpId="0"/>
      <p:bldP spid="19" grpId="0" animBg="1"/>
      <p:bldP spid="22" grpId="0"/>
      <p:bldP spid="38" grpId="0" animBg="1"/>
      <p:bldP spid="39" grpId="0"/>
      <p:bldP spid="43" grpId="0" animBg="1"/>
      <p:bldP spid="44" grpId="0"/>
      <p:bldP spid="45" grpId="0" animBg="1"/>
      <p:bldP spid="46" grpId="0"/>
      <p:bldP spid="47" grpId="0"/>
      <p:bldP spid="4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4149090" y="70866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18" name="Retângulo 17"/>
          <p:cNvSpPr/>
          <p:nvPr/>
        </p:nvSpPr>
        <p:spPr>
          <a:xfrm>
            <a:off x="566053" y="2467420"/>
            <a:ext cx="7968344" cy="3164107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PT"/>
          </a:p>
        </p:txBody>
      </p:sp>
      <p:sp>
        <p:nvSpPr>
          <p:cNvPr id="23" name="CaixaDeTexto 3"/>
          <p:cNvSpPr txBox="1">
            <a:spLocks noChangeArrowheads="1"/>
          </p:cNvSpPr>
          <p:nvPr/>
        </p:nvSpPr>
        <p:spPr bwMode="auto">
          <a:xfrm>
            <a:off x="2331175" y="4412713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endParaRPr lang="pt-BR" altLang="pt-BR"/>
          </a:p>
        </p:txBody>
      </p:sp>
      <p:sp>
        <p:nvSpPr>
          <p:cNvPr id="25" name="Subtítulo 5"/>
          <p:cNvSpPr txBox="1">
            <a:spLocks/>
          </p:cNvSpPr>
          <p:nvPr/>
        </p:nvSpPr>
        <p:spPr bwMode="auto">
          <a:xfrm>
            <a:off x="667653" y="2618388"/>
            <a:ext cx="7605486" cy="2862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just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defRPr/>
            </a:pPr>
            <a:r>
              <a:rPr lang="pt-BR" sz="2000" dirty="0">
                <a:latin typeface="Century Gothic" panose="020B0502020202020204" pitchFamily="34" charset="0"/>
                <a:ea typeface="+mn-ea"/>
                <a:cs typeface="Tahoma" panose="020B0604030504040204" pitchFamily="34" charset="0"/>
              </a:rPr>
              <a:t>  </a:t>
            </a:r>
            <a:r>
              <a:rPr lang="pt-BR" sz="2000" dirty="0"/>
              <a:t>Atividades econômicas de contabilidade, fisioterapia, </a:t>
            </a:r>
            <a:r>
              <a:rPr lang="pt-BR" sz="2000" dirty="0" err="1"/>
              <a:t>fonoaudiologia</a:t>
            </a:r>
            <a:r>
              <a:rPr lang="pt-BR" sz="2000" dirty="0"/>
              <a:t>, veterinária, cabeleireiro, chaveiro, comércio de bebidas, fabricação de calçados de couro, lanchonetes, restaurantes, padarias, manutenção e reparação de motos, borracharia, serviços de manutenção e reparação mecânica de veículos automotores e web design</a:t>
            </a:r>
            <a:endParaRPr lang="en-US" sz="2000" dirty="0">
              <a:latin typeface="Century Gothic" panose="020B0502020202020204" pitchFamily="34" charset="0"/>
              <a:ea typeface="+mn-ea"/>
              <a:cs typeface="Tahoma" panose="020B0604030504040204" pitchFamily="34" charset="0"/>
            </a:endParaRPr>
          </a:p>
        </p:txBody>
      </p:sp>
      <p:sp>
        <p:nvSpPr>
          <p:cNvPr id="30" name="Retângulo 29"/>
          <p:cNvSpPr/>
          <p:nvPr/>
        </p:nvSpPr>
        <p:spPr>
          <a:xfrm>
            <a:off x="568470" y="886771"/>
            <a:ext cx="798044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eaLnBrk="1" hangingPunct="1">
              <a:spcAft>
                <a:spcPts val="600"/>
              </a:spcAft>
              <a:buClr>
                <a:schemeClr val="tx2"/>
              </a:buClr>
              <a:defRPr/>
            </a:pPr>
            <a:r>
              <a:rPr lang="pt-BR" b="1" dirty="0">
                <a:solidFill>
                  <a:schemeClr val="tx2"/>
                </a:solidFill>
                <a:latin typeface="Century Gothic" charset="0"/>
                <a:ea typeface="Century Gothic" charset="0"/>
                <a:cs typeface="Century Gothic" charset="0"/>
              </a:rPr>
              <a:t>Exemplo de </a:t>
            </a:r>
            <a:r>
              <a:rPr lang="pt-BR" b="1" u="sng" dirty="0">
                <a:solidFill>
                  <a:schemeClr val="tx2"/>
                </a:solidFill>
                <a:latin typeface="Century Gothic" charset="0"/>
                <a:ea typeface="Century Gothic" charset="0"/>
                <a:cs typeface="Century Gothic" charset="0"/>
              </a:rPr>
              <a:t>atividades de baixo grau de risco dispensadas do ato público de liberação</a:t>
            </a:r>
            <a:r>
              <a:rPr lang="pt-BR" b="1" dirty="0">
                <a:solidFill>
                  <a:schemeClr val="tx2"/>
                </a:solidFill>
                <a:latin typeface="Century Gothic" charset="0"/>
                <a:ea typeface="Century Gothic" charset="0"/>
                <a:cs typeface="Century Gothic" charset="0"/>
              </a:rPr>
              <a:t> </a:t>
            </a:r>
            <a:r>
              <a:rPr lang="pt-BR" dirty="0">
                <a:solidFill>
                  <a:schemeClr val="tx2"/>
                </a:solidFill>
                <a:latin typeface="Century Gothic" charset="0"/>
                <a:ea typeface="Century Gothic" charset="0"/>
                <a:cs typeface="Century Gothic" charset="0"/>
              </a:rPr>
              <a:t>(que foram definidas pelo CGSIM através da </a:t>
            </a:r>
            <a:r>
              <a:rPr lang="pt-BR" u="sng" dirty="0">
                <a:solidFill>
                  <a:schemeClr val="tx2"/>
                </a:solidFill>
                <a:latin typeface="Century Gothic" charset="0"/>
                <a:ea typeface="Century Gothic" charset="0"/>
                <a:cs typeface="Century Gothic" charset="0"/>
              </a:rPr>
              <a:t>Resolução n.º 51/2019</a:t>
            </a:r>
            <a:r>
              <a:rPr lang="pt-BR" dirty="0">
                <a:solidFill>
                  <a:schemeClr val="tx2"/>
                </a:solidFill>
                <a:latin typeface="Century Gothic" charset="0"/>
                <a:ea typeface="Century Gothic" charset="0"/>
                <a:cs typeface="Century Gothic" charset="0"/>
              </a:rPr>
              <a:t> como </a:t>
            </a:r>
            <a:r>
              <a:rPr lang="pt-BR" b="1" u="sng" dirty="0">
                <a:solidFill>
                  <a:schemeClr val="tx2"/>
                </a:solidFill>
                <a:latin typeface="Century Gothic" charset="0"/>
                <a:ea typeface="Century Gothic" charset="0"/>
                <a:cs typeface="Century Gothic" charset="0"/>
              </a:rPr>
              <a:t>baixo risco A</a:t>
            </a:r>
            <a:r>
              <a:rPr lang="pt-BR" b="1" dirty="0">
                <a:solidFill>
                  <a:schemeClr val="tx2"/>
                </a:solidFill>
                <a:latin typeface="Century Gothic" charset="0"/>
                <a:ea typeface="Century Gothic" charset="0"/>
                <a:cs typeface="Century Gothic" charset="0"/>
              </a:rPr>
              <a:t> </a:t>
            </a:r>
            <a:r>
              <a:rPr lang="pt-BR" dirty="0">
                <a:solidFill>
                  <a:schemeClr val="tx2"/>
                </a:solidFill>
                <a:latin typeface="Century Gothic" charset="0"/>
                <a:ea typeface="Century Gothic" charset="0"/>
                <a:cs typeface="Century Gothic" charset="0"/>
              </a:rPr>
              <a:t>e se aplicam no território que não possua norma própria sobre o tema):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tângulo 26"/>
          <p:cNvSpPr/>
          <p:nvPr/>
        </p:nvSpPr>
        <p:spPr>
          <a:xfrm>
            <a:off x="566053" y="2380338"/>
            <a:ext cx="7968344" cy="1204692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PT"/>
          </a:p>
        </p:txBody>
      </p:sp>
      <p:sp>
        <p:nvSpPr>
          <p:cNvPr id="6159" name="CaixaDeTexto 2"/>
          <p:cNvSpPr txBox="1">
            <a:spLocks noChangeArrowheads="1"/>
          </p:cNvSpPr>
          <p:nvPr/>
        </p:nvSpPr>
        <p:spPr bwMode="auto">
          <a:xfrm>
            <a:off x="2902310" y="-421591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endParaRPr lang="pt-BR" altLang="pt-BR"/>
          </a:p>
        </p:txBody>
      </p:sp>
      <p:sp>
        <p:nvSpPr>
          <p:cNvPr id="3" name="CaixaDeTexto 2"/>
          <p:cNvSpPr txBox="1"/>
          <p:nvPr/>
        </p:nvSpPr>
        <p:spPr>
          <a:xfrm>
            <a:off x="4149090" y="70866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26" name="Subtítulo 5"/>
          <p:cNvSpPr txBox="1">
            <a:spLocks/>
          </p:cNvSpPr>
          <p:nvPr/>
        </p:nvSpPr>
        <p:spPr bwMode="auto">
          <a:xfrm>
            <a:off x="653139" y="2415184"/>
            <a:ext cx="7605486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just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buFont typeface="Wingdings" panose="05000000000000000000" pitchFamily="2" charset="2"/>
              <a:buChar char="§"/>
              <a:defRPr/>
            </a:pPr>
            <a:r>
              <a:rPr lang="pt-BR" sz="2000" dirty="0"/>
              <a:t> Não prejudicar o meio ambiente, gerar poluição sonora ou  perturbar o sossego público;</a:t>
            </a:r>
            <a:endParaRPr lang="en-US" sz="2000" dirty="0"/>
          </a:p>
        </p:txBody>
      </p:sp>
      <p:sp>
        <p:nvSpPr>
          <p:cNvPr id="14" name="Título 4"/>
          <p:cNvSpPr>
            <a:spLocks/>
          </p:cNvSpPr>
          <p:nvPr/>
        </p:nvSpPr>
        <p:spPr bwMode="auto">
          <a:xfrm>
            <a:off x="298558" y="323166"/>
            <a:ext cx="8642242" cy="892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3600"/>
              </a:spcBef>
              <a:defRPr/>
            </a:pPr>
            <a:r>
              <a:rPr lang="pt-BR" altLang="pt-PT" sz="2600" b="1" dirty="0">
                <a:solidFill>
                  <a:schemeClr val="tx2"/>
                </a:solidFill>
                <a:latin typeface="Century Gothic" panose="020B0502020202020204" pitchFamily="34" charset="0"/>
                <a:ea typeface="+mn-ea"/>
                <a:cs typeface="Tahoma" panose="020B0604030504040204" pitchFamily="34" charset="0"/>
              </a:rPr>
              <a:t>Permite o funcionamento de atividade econômica em qualquer horário ou dia da semana</a:t>
            </a:r>
          </a:p>
        </p:txBody>
      </p:sp>
      <p:sp>
        <p:nvSpPr>
          <p:cNvPr id="19" name="Retângulo 18"/>
          <p:cNvSpPr/>
          <p:nvPr/>
        </p:nvSpPr>
        <p:spPr>
          <a:xfrm>
            <a:off x="558798" y="3788261"/>
            <a:ext cx="7968344" cy="1059540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PT"/>
          </a:p>
        </p:txBody>
      </p:sp>
      <p:sp>
        <p:nvSpPr>
          <p:cNvPr id="22" name="Subtítulo 5"/>
          <p:cNvSpPr txBox="1">
            <a:spLocks/>
          </p:cNvSpPr>
          <p:nvPr/>
        </p:nvSpPr>
        <p:spPr bwMode="auto">
          <a:xfrm>
            <a:off x="674913" y="3786797"/>
            <a:ext cx="7656287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buFont typeface="Wingdings" panose="05000000000000000000" pitchFamily="2" charset="2"/>
              <a:buChar char="§"/>
              <a:defRPr/>
            </a:pPr>
            <a:r>
              <a:rPr lang="pt-BR" sz="2000" dirty="0"/>
              <a:t> Respeitar normas contratuais, de direito de vizinha e  condominiais</a:t>
            </a:r>
            <a:endParaRPr lang="en-US" sz="2000" dirty="0"/>
          </a:p>
        </p:txBody>
      </p:sp>
      <p:sp>
        <p:nvSpPr>
          <p:cNvPr id="18" name="Retângulo 17"/>
          <p:cNvSpPr/>
          <p:nvPr/>
        </p:nvSpPr>
        <p:spPr>
          <a:xfrm>
            <a:off x="347185" y="1267291"/>
            <a:ext cx="657613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pt-B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ea typeface="+mn-ea"/>
                <a:cs typeface="Tahoma" panose="020B0604030504040204" pitchFamily="34" charset="0"/>
              </a:rPr>
              <a:t>Art. 3º, inciso II</a:t>
            </a:r>
          </a:p>
        </p:txBody>
      </p:sp>
      <p:sp>
        <p:nvSpPr>
          <p:cNvPr id="23" name="Retângulo 22"/>
          <p:cNvSpPr/>
          <p:nvPr/>
        </p:nvSpPr>
        <p:spPr>
          <a:xfrm>
            <a:off x="481385" y="1960795"/>
            <a:ext cx="13516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spcAft>
                <a:spcPts val="1951"/>
              </a:spcAft>
              <a:buClr>
                <a:schemeClr val="tx2"/>
              </a:buClr>
              <a:defRPr/>
            </a:pPr>
            <a:r>
              <a:rPr lang="pt-BR" b="1" u="sng" dirty="0">
                <a:solidFill>
                  <a:schemeClr val="tx2"/>
                </a:solidFill>
                <a:latin typeface="Century Gothic" charset="0"/>
                <a:ea typeface="Century Gothic" charset="0"/>
                <a:cs typeface="Century Gothic" charset="0"/>
              </a:rPr>
              <a:t>Requisitos:</a:t>
            </a:r>
          </a:p>
        </p:txBody>
      </p:sp>
      <p:sp>
        <p:nvSpPr>
          <p:cNvPr id="25" name="Retângulo 24"/>
          <p:cNvSpPr/>
          <p:nvPr/>
        </p:nvSpPr>
        <p:spPr>
          <a:xfrm>
            <a:off x="155345" y="304583"/>
            <a:ext cx="120425" cy="1321017"/>
          </a:xfrm>
          <a:prstGeom prst="rect">
            <a:avLst/>
          </a:prstGeom>
          <a:solidFill>
            <a:srgbClr val="60B0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PT"/>
          </a:p>
        </p:txBody>
      </p:sp>
      <p:sp>
        <p:nvSpPr>
          <p:cNvPr id="13" name="Retângulo 12"/>
          <p:cNvSpPr/>
          <p:nvPr/>
        </p:nvSpPr>
        <p:spPr>
          <a:xfrm>
            <a:off x="537030" y="5058240"/>
            <a:ext cx="7968344" cy="602329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PT"/>
          </a:p>
        </p:txBody>
      </p:sp>
      <p:sp>
        <p:nvSpPr>
          <p:cNvPr id="15" name="Subtítulo 5"/>
          <p:cNvSpPr txBox="1">
            <a:spLocks/>
          </p:cNvSpPr>
          <p:nvPr/>
        </p:nvSpPr>
        <p:spPr bwMode="auto">
          <a:xfrm>
            <a:off x="653145" y="5056775"/>
            <a:ext cx="7656287" cy="496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buFont typeface="Wingdings" panose="05000000000000000000" pitchFamily="2" charset="2"/>
              <a:buChar char="§"/>
              <a:defRPr/>
            </a:pPr>
            <a:r>
              <a:rPr lang="pt-BR" sz="2000" dirty="0"/>
              <a:t> Observar a legislação trabalhista</a:t>
            </a:r>
            <a:endParaRPr lang="en-US" sz="20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0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6" grpId="0"/>
      <p:bldP spid="14" grpId="0"/>
      <p:bldP spid="19" grpId="0" animBg="1"/>
      <p:bldP spid="22" grpId="0"/>
      <p:bldP spid="18" grpId="0"/>
      <p:bldP spid="25" grpId="0" animBg="1"/>
      <p:bldP spid="13" grpId="0" animBg="1"/>
      <p:bldP spid="1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aixaDeTexto 1"/>
          <p:cNvSpPr txBox="1">
            <a:spLocks noChangeArrowheads="1"/>
          </p:cNvSpPr>
          <p:nvPr/>
        </p:nvSpPr>
        <p:spPr bwMode="auto">
          <a:xfrm>
            <a:off x="2596569" y="1040128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endParaRPr lang="pt-BR" altLang="pt-BR"/>
          </a:p>
        </p:txBody>
      </p:sp>
      <p:sp>
        <p:nvSpPr>
          <p:cNvPr id="16" name="CaixaDeTexto 3"/>
          <p:cNvSpPr txBox="1">
            <a:spLocks noChangeArrowheads="1"/>
          </p:cNvSpPr>
          <p:nvPr/>
        </p:nvSpPr>
        <p:spPr bwMode="auto">
          <a:xfrm>
            <a:off x="2396491" y="675361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endParaRPr lang="pt-BR" altLang="pt-BR"/>
          </a:p>
        </p:txBody>
      </p:sp>
      <p:sp>
        <p:nvSpPr>
          <p:cNvPr id="17" name="Retângulo 16"/>
          <p:cNvSpPr/>
          <p:nvPr/>
        </p:nvSpPr>
        <p:spPr>
          <a:xfrm>
            <a:off x="290287" y="268617"/>
            <a:ext cx="4122056" cy="4448534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just">
              <a:defRPr/>
            </a:pPr>
            <a:endParaRPr lang="pt-PT" dirty="0"/>
          </a:p>
        </p:txBody>
      </p:sp>
      <p:sp>
        <p:nvSpPr>
          <p:cNvPr id="20" name="Subtítulo 5"/>
          <p:cNvSpPr txBox="1">
            <a:spLocks/>
          </p:cNvSpPr>
          <p:nvPr/>
        </p:nvSpPr>
        <p:spPr bwMode="auto">
          <a:xfrm>
            <a:off x="725716" y="194585"/>
            <a:ext cx="3468914" cy="617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ctr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defRPr/>
            </a:pPr>
            <a:r>
              <a:rPr lang="en-US" altLang="pt-PT" sz="2600" b="1" dirty="0">
                <a:solidFill>
                  <a:schemeClr val="tx2"/>
                </a:solidFill>
                <a:latin typeface="Century Gothic" panose="020B0502020202020204" pitchFamily="34" charset="0"/>
                <a:ea typeface="+mn-ea"/>
                <a:cs typeface="Tahoma" panose="020B0604030504040204" pitchFamily="34" charset="0"/>
              </a:rPr>
              <a:t>Como era:</a:t>
            </a:r>
          </a:p>
        </p:txBody>
      </p:sp>
      <p:sp>
        <p:nvSpPr>
          <p:cNvPr id="21" name="Retângulo 20"/>
          <p:cNvSpPr/>
          <p:nvPr/>
        </p:nvSpPr>
        <p:spPr>
          <a:xfrm>
            <a:off x="4731659" y="275877"/>
            <a:ext cx="4136570" cy="4441274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solidFill>
              <a:srgbClr val="5DC3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PT"/>
          </a:p>
        </p:txBody>
      </p:sp>
      <p:sp>
        <p:nvSpPr>
          <p:cNvPr id="24" name="Subtítulo 5"/>
          <p:cNvSpPr txBox="1">
            <a:spLocks/>
          </p:cNvSpPr>
          <p:nvPr/>
        </p:nvSpPr>
        <p:spPr bwMode="auto">
          <a:xfrm>
            <a:off x="4811410" y="172817"/>
            <a:ext cx="3468914" cy="617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ctr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defRPr/>
            </a:pPr>
            <a:r>
              <a:rPr lang="en-US" altLang="pt-PT" sz="2600" b="1" dirty="0">
                <a:solidFill>
                  <a:schemeClr val="tx2"/>
                </a:solidFill>
                <a:latin typeface="Century Gothic" panose="020B0502020202020204" pitchFamily="34" charset="0"/>
                <a:ea typeface="+mn-ea"/>
                <a:cs typeface="Tahoma" panose="020B0604030504040204" pitchFamily="34" charset="0"/>
              </a:rPr>
              <a:t>Como ficou:</a:t>
            </a:r>
          </a:p>
        </p:txBody>
      </p:sp>
      <p:sp>
        <p:nvSpPr>
          <p:cNvPr id="28" name="Subtítulo 5"/>
          <p:cNvSpPr txBox="1">
            <a:spLocks/>
          </p:cNvSpPr>
          <p:nvPr/>
        </p:nvSpPr>
        <p:spPr bwMode="auto">
          <a:xfrm>
            <a:off x="420914" y="740289"/>
            <a:ext cx="3795490" cy="2862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just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defRPr/>
            </a:pPr>
            <a:r>
              <a:rPr lang="en-US" sz="2000" dirty="0"/>
              <a:t>  </a:t>
            </a:r>
            <a:r>
              <a:rPr lang="en-US" sz="2000" dirty="0" err="1"/>
              <a:t>Existia</a:t>
            </a:r>
            <a:r>
              <a:rPr lang="en-US" sz="2000" dirty="0"/>
              <a:t> </a:t>
            </a:r>
            <a:r>
              <a:rPr lang="en-US" sz="2000" dirty="0" err="1"/>
              <a:t>uma</a:t>
            </a:r>
            <a:r>
              <a:rPr lang="en-US" sz="2000" dirty="0"/>
              <a:t> </a:t>
            </a:r>
            <a:r>
              <a:rPr lang="en-US" sz="2000" dirty="0" err="1"/>
              <a:t>série</a:t>
            </a:r>
            <a:r>
              <a:rPr lang="en-US" sz="2000" dirty="0"/>
              <a:t> de </a:t>
            </a:r>
            <a:r>
              <a:rPr lang="en-US" sz="2000" dirty="0" err="1"/>
              <a:t>impedimentos</a:t>
            </a:r>
            <a:r>
              <a:rPr lang="en-US" sz="2000" dirty="0"/>
              <a:t> </a:t>
            </a:r>
            <a:r>
              <a:rPr lang="en-US" sz="2000" dirty="0" err="1"/>
              <a:t>desarrazoados</a:t>
            </a:r>
            <a:r>
              <a:rPr lang="en-US" sz="2000" dirty="0"/>
              <a:t> </a:t>
            </a:r>
            <a:r>
              <a:rPr lang="en-US" sz="2000" dirty="0" err="1"/>
              <a:t>que</a:t>
            </a:r>
            <a:r>
              <a:rPr lang="en-US" sz="2000" dirty="0"/>
              <a:t> </a:t>
            </a:r>
            <a:r>
              <a:rPr lang="en-US" sz="2000" dirty="0" err="1"/>
              <a:t>não</a:t>
            </a:r>
            <a:r>
              <a:rPr lang="en-US" sz="2000" dirty="0"/>
              <a:t> </a:t>
            </a:r>
            <a:r>
              <a:rPr lang="en-US" sz="2000" dirty="0" err="1"/>
              <a:t>permitiam</a:t>
            </a:r>
            <a:r>
              <a:rPr lang="en-US" sz="2000" dirty="0"/>
              <a:t> o </a:t>
            </a:r>
            <a:r>
              <a:rPr lang="en-US" sz="2000" dirty="0" err="1"/>
              <a:t>exercício</a:t>
            </a:r>
            <a:r>
              <a:rPr lang="en-US" sz="2000" dirty="0"/>
              <a:t> de </a:t>
            </a:r>
            <a:r>
              <a:rPr lang="en-US" sz="2000" dirty="0" err="1"/>
              <a:t>determinadas</a:t>
            </a:r>
            <a:r>
              <a:rPr lang="en-US" sz="2000" dirty="0"/>
              <a:t> atividades em </a:t>
            </a:r>
            <a:r>
              <a:rPr lang="en-US" sz="2000" dirty="0" err="1"/>
              <a:t>qualquer</a:t>
            </a:r>
            <a:r>
              <a:rPr lang="en-US" sz="2000" dirty="0"/>
              <a:t> </a:t>
            </a:r>
            <a:r>
              <a:rPr lang="en-US" sz="2000" dirty="0" err="1"/>
              <a:t>dia</a:t>
            </a:r>
            <a:r>
              <a:rPr lang="en-US" sz="2000" dirty="0"/>
              <a:t> e </a:t>
            </a:r>
            <a:r>
              <a:rPr lang="en-US" sz="2000" dirty="0" err="1"/>
              <a:t>horário</a:t>
            </a:r>
            <a:r>
              <a:rPr lang="en-US" sz="2000" dirty="0"/>
              <a:t> da </a:t>
            </a:r>
            <a:r>
              <a:rPr lang="en-US" sz="2000" dirty="0" err="1"/>
              <a:t>semana</a:t>
            </a:r>
            <a:endParaRPr lang="en-US" sz="2000" dirty="0"/>
          </a:p>
        </p:txBody>
      </p:sp>
      <p:sp>
        <p:nvSpPr>
          <p:cNvPr id="29" name="Subtítulo 5"/>
          <p:cNvSpPr txBox="1">
            <a:spLocks/>
          </p:cNvSpPr>
          <p:nvPr/>
        </p:nvSpPr>
        <p:spPr bwMode="auto">
          <a:xfrm>
            <a:off x="4811402" y="762063"/>
            <a:ext cx="3795490" cy="3785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just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defRPr/>
            </a:pPr>
            <a:r>
              <a:rPr lang="en-US" sz="2000" dirty="0"/>
              <a:t>  </a:t>
            </a:r>
            <a:r>
              <a:rPr lang="en-US" sz="2000" dirty="0" err="1"/>
              <a:t>Eventuais</a:t>
            </a:r>
            <a:r>
              <a:rPr lang="en-US" sz="2000" dirty="0"/>
              <a:t> </a:t>
            </a:r>
            <a:r>
              <a:rPr lang="en-US" sz="2000" dirty="0" err="1"/>
              <a:t>restrições</a:t>
            </a:r>
            <a:r>
              <a:rPr lang="en-US" sz="2000" dirty="0"/>
              <a:t> de </a:t>
            </a:r>
            <a:r>
              <a:rPr lang="en-US" sz="2000" dirty="0" err="1"/>
              <a:t>funcionamento</a:t>
            </a:r>
            <a:r>
              <a:rPr lang="en-US" sz="2000" dirty="0"/>
              <a:t> de atividades </a:t>
            </a:r>
            <a:r>
              <a:rPr lang="en-US" sz="2000" dirty="0" err="1"/>
              <a:t>econômicas</a:t>
            </a:r>
            <a:r>
              <a:rPr lang="en-US" sz="2000" dirty="0"/>
              <a:t> </a:t>
            </a:r>
            <a:r>
              <a:rPr lang="en-US" sz="2000" dirty="0" err="1"/>
              <a:t>deverão</a:t>
            </a:r>
            <a:r>
              <a:rPr lang="en-US" sz="2000" dirty="0"/>
              <a:t> </a:t>
            </a:r>
            <a:r>
              <a:rPr lang="en-US" sz="2000" dirty="0" err="1"/>
              <a:t>observar</a:t>
            </a:r>
            <a:r>
              <a:rPr lang="en-US" sz="2000" dirty="0"/>
              <a:t> as </a:t>
            </a:r>
            <a:r>
              <a:rPr lang="en-US" sz="2000" dirty="0" err="1"/>
              <a:t>normas</a:t>
            </a:r>
            <a:r>
              <a:rPr lang="en-US" sz="2000" dirty="0"/>
              <a:t> da MP, </a:t>
            </a:r>
            <a:r>
              <a:rPr lang="en-US" sz="2000" dirty="0" err="1"/>
              <a:t>gerando</a:t>
            </a:r>
            <a:r>
              <a:rPr lang="en-US" sz="2000" dirty="0"/>
              <a:t> </a:t>
            </a:r>
            <a:r>
              <a:rPr lang="en-US" sz="2000" dirty="0" err="1"/>
              <a:t>maior</a:t>
            </a:r>
            <a:r>
              <a:rPr lang="en-US" sz="2000" dirty="0"/>
              <a:t> </a:t>
            </a:r>
            <a:r>
              <a:rPr lang="en-US" sz="2000" dirty="0" err="1"/>
              <a:t>flexibilidade</a:t>
            </a:r>
            <a:r>
              <a:rPr lang="en-US" sz="2000" dirty="0"/>
              <a:t> de </a:t>
            </a:r>
            <a:r>
              <a:rPr lang="en-US" sz="2000" dirty="0" err="1"/>
              <a:t>funcionamento</a:t>
            </a:r>
            <a:r>
              <a:rPr lang="en-US" sz="2000" dirty="0"/>
              <a:t> </a:t>
            </a:r>
            <a:r>
              <a:rPr lang="en-US" sz="2000" dirty="0" err="1"/>
              <a:t>ao</a:t>
            </a:r>
            <a:r>
              <a:rPr lang="en-US" sz="2000" dirty="0"/>
              <a:t> </a:t>
            </a:r>
            <a:r>
              <a:rPr lang="en-US" sz="2000" dirty="0" err="1"/>
              <a:t>ramo</a:t>
            </a:r>
            <a:r>
              <a:rPr lang="en-US" sz="2000" dirty="0"/>
              <a:t> </a:t>
            </a:r>
            <a:r>
              <a:rPr lang="en-US" sz="2000" dirty="0" err="1"/>
              <a:t>empresarial</a:t>
            </a:r>
            <a:r>
              <a:rPr lang="en-US" sz="2000" dirty="0"/>
              <a:t> </a:t>
            </a:r>
            <a:r>
              <a:rPr lang="en-US" sz="2000" dirty="0" err="1"/>
              <a:t>para</a:t>
            </a:r>
            <a:r>
              <a:rPr lang="en-US" sz="2000" dirty="0"/>
              <a:t> </a:t>
            </a:r>
            <a:r>
              <a:rPr lang="en-US" sz="2000" dirty="0" err="1"/>
              <a:t>produzir</a:t>
            </a:r>
            <a:r>
              <a:rPr lang="en-US" sz="2000" dirty="0"/>
              <a:t> </a:t>
            </a:r>
            <a:r>
              <a:rPr lang="en-US" sz="2000" dirty="0" err="1"/>
              <a:t>emprego</a:t>
            </a:r>
            <a:r>
              <a:rPr lang="en-US" sz="2000" dirty="0"/>
              <a:t> e </a:t>
            </a:r>
            <a:r>
              <a:rPr lang="en-US" sz="2000" dirty="0" err="1"/>
              <a:t>renda</a:t>
            </a:r>
            <a:endParaRPr lang="en-US" sz="2000" dirty="0"/>
          </a:p>
        </p:txBody>
      </p:sp>
      <p:sp>
        <p:nvSpPr>
          <p:cNvPr id="18" name="Retângulo 17"/>
          <p:cNvSpPr/>
          <p:nvPr/>
        </p:nvSpPr>
        <p:spPr>
          <a:xfrm>
            <a:off x="522510" y="5283212"/>
            <a:ext cx="7968344" cy="1291763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PT"/>
          </a:p>
        </p:txBody>
      </p:sp>
      <p:sp>
        <p:nvSpPr>
          <p:cNvPr id="23" name="CaixaDeTexto 3"/>
          <p:cNvSpPr txBox="1">
            <a:spLocks noChangeArrowheads="1"/>
          </p:cNvSpPr>
          <p:nvPr/>
        </p:nvSpPr>
        <p:spPr bwMode="auto">
          <a:xfrm>
            <a:off x="2287632" y="7402673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endParaRPr lang="pt-BR" altLang="pt-BR"/>
          </a:p>
        </p:txBody>
      </p:sp>
      <p:sp>
        <p:nvSpPr>
          <p:cNvPr id="25" name="Subtítulo 5"/>
          <p:cNvSpPr txBox="1">
            <a:spLocks/>
          </p:cNvSpPr>
          <p:nvPr/>
        </p:nvSpPr>
        <p:spPr bwMode="auto">
          <a:xfrm>
            <a:off x="624110" y="5477722"/>
            <a:ext cx="7605486" cy="4966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just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defRPr/>
            </a:pPr>
            <a:r>
              <a:rPr lang="pt-BR" sz="2000" dirty="0">
                <a:latin typeface="Century Gothic" panose="020B0502020202020204" pitchFamily="34" charset="0"/>
                <a:ea typeface="+mn-ea"/>
                <a:cs typeface="Tahoma" panose="020B0604030504040204" pitchFamily="34" charset="0"/>
              </a:rPr>
              <a:t>  </a:t>
            </a:r>
            <a:endParaRPr lang="en-US" sz="2000" dirty="0">
              <a:latin typeface="Century Gothic" panose="020B0502020202020204" pitchFamily="34" charset="0"/>
              <a:ea typeface="+mn-ea"/>
              <a:cs typeface="Tahoma" panose="020B0604030504040204" pitchFamily="34" charset="0"/>
            </a:endParaRPr>
          </a:p>
        </p:txBody>
      </p:sp>
      <p:sp>
        <p:nvSpPr>
          <p:cNvPr id="30" name="Retângulo 29"/>
          <p:cNvSpPr/>
          <p:nvPr/>
        </p:nvSpPr>
        <p:spPr>
          <a:xfrm>
            <a:off x="524926" y="4950765"/>
            <a:ext cx="79804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eaLnBrk="1" hangingPunct="1">
              <a:spcAft>
                <a:spcPts val="600"/>
              </a:spcAft>
              <a:buClr>
                <a:schemeClr val="tx2"/>
              </a:buClr>
              <a:defRPr/>
            </a:pPr>
            <a:r>
              <a:rPr lang="pt-BR" b="1" u="sng" dirty="0">
                <a:solidFill>
                  <a:schemeClr val="tx2"/>
                </a:solidFill>
                <a:latin typeface="Century Gothic" charset="0"/>
                <a:ea typeface="Century Gothic" charset="0"/>
                <a:cs typeface="Century Gothic" charset="0"/>
              </a:rPr>
              <a:t>Exemplo </a:t>
            </a:r>
            <a:r>
              <a:rPr lang="pt-BR" dirty="0">
                <a:solidFill>
                  <a:schemeClr val="tx2"/>
                </a:solidFill>
                <a:latin typeface="Century Gothic" charset="0"/>
                <a:ea typeface="Century Gothic" charset="0"/>
                <a:cs typeface="Century Gothic" charset="0"/>
              </a:rPr>
              <a:t>:</a:t>
            </a:r>
          </a:p>
        </p:txBody>
      </p:sp>
      <p:sp>
        <p:nvSpPr>
          <p:cNvPr id="31" name="Subtítulo 5"/>
          <p:cNvSpPr txBox="1">
            <a:spLocks/>
          </p:cNvSpPr>
          <p:nvPr/>
        </p:nvSpPr>
        <p:spPr bwMode="auto">
          <a:xfrm>
            <a:off x="624110" y="5361610"/>
            <a:ext cx="7605486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just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defRPr/>
            </a:pPr>
            <a:r>
              <a:rPr lang="pt-BR" sz="2000" dirty="0">
                <a:latin typeface="Century Gothic" panose="020B0502020202020204" pitchFamily="34" charset="0"/>
                <a:ea typeface="+mn-ea"/>
                <a:cs typeface="Tahoma" panose="020B0604030504040204" pitchFamily="34" charset="0"/>
              </a:rPr>
              <a:t>  </a:t>
            </a:r>
            <a:r>
              <a:rPr lang="pt-BR" sz="2000" dirty="0"/>
              <a:t>Bares, shoppings e hipermercados poderão funcionar aos domingos, feriados ou durante a madrugada</a:t>
            </a:r>
            <a:endParaRPr lang="en-US" sz="2000" dirty="0">
              <a:latin typeface="Century Gothic" panose="020B0502020202020204" pitchFamily="34" charset="0"/>
              <a:ea typeface="+mn-ea"/>
              <a:cs typeface="Tahoma" panose="020B0604030504040204" pitchFamily="34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0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0" grpId="0"/>
      <p:bldP spid="21" grpId="0" animBg="1"/>
      <p:bldP spid="24" grpId="0"/>
      <p:bldP spid="28" grpId="0"/>
      <p:bldP spid="29" grpId="0"/>
      <p:bldP spid="18" grpId="0" animBg="1"/>
      <p:bldP spid="25" grpId="0"/>
      <p:bldP spid="3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tângulo 26"/>
          <p:cNvSpPr/>
          <p:nvPr/>
        </p:nvSpPr>
        <p:spPr>
          <a:xfrm>
            <a:off x="566053" y="2380339"/>
            <a:ext cx="7968344" cy="754748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PT"/>
          </a:p>
        </p:txBody>
      </p:sp>
      <p:sp>
        <p:nvSpPr>
          <p:cNvPr id="6159" name="CaixaDeTexto 2"/>
          <p:cNvSpPr txBox="1">
            <a:spLocks noChangeArrowheads="1"/>
          </p:cNvSpPr>
          <p:nvPr/>
        </p:nvSpPr>
        <p:spPr bwMode="auto">
          <a:xfrm>
            <a:off x="2902310" y="-421591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endParaRPr lang="pt-BR" altLang="pt-BR"/>
          </a:p>
        </p:txBody>
      </p:sp>
      <p:sp>
        <p:nvSpPr>
          <p:cNvPr id="3" name="CaixaDeTexto 2"/>
          <p:cNvSpPr txBox="1"/>
          <p:nvPr/>
        </p:nvSpPr>
        <p:spPr>
          <a:xfrm>
            <a:off x="4149090" y="70866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26" name="Subtítulo 5"/>
          <p:cNvSpPr txBox="1">
            <a:spLocks/>
          </p:cNvSpPr>
          <p:nvPr/>
        </p:nvSpPr>
        <p:spPr bwMode="auto">
          <a:xfrm>
            <a:off x="653139" y="2415184"/>
            <a:ext cx="7605486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just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buFont typeface="Wingdings" panose="05000000000000000000" pitchFamily="2" charset="2"/>
              <a:buChar char="§"/>
              <a:defRPr/>
            </a:pPr>
            <a:r>
              <a:rPr lang="pt-BR" sz="2000" dirty="0"/>
              <a:t> Não afetar mercados regulados</a:t>
            </a:r>
            <a:endParaRPr lang="en-US" sz="2000" dirty="0"/>
          </a:p>
        </p:txBody>
      </p:sp>
      <p:sp>
        <p:nvSpPr>
          <p:cNvPr id="14" name="Título 4"/>
          <p:cNvSpPr>
            <a:spLocks/>
          </p:cNvSpPr>
          <p:nvPr/>
        </p:nvSpPr>
        <p:spPr bwMode="auto">
          <a:xfrm>
            <a:off x="298558" y="323166"/>
            <a:ext cx="8642242" cy="892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3600"/>
              </a:spcBef>
              <a:defRPr/>
            </a:pPr>
            <a:r>
              <a:rPr lang="pt-BR" altLang="pt-PT" sz="2600" b="1" dirty="0">
                <a:solidFill>
                  <a:schemeClr val="tx2"/>
                </a:solidFill>
                <a:latin typeface="Century Gothic" panose="020B0502020202020204" pitchFamily="34" charset="0"/>
                <a:ea typeface="+mn-ea"/>
                <a:cs typeface="Tahoma" panose="020B0604030504040204" pitchFamily="34" charset="0"/>
              </a:rPr>
              <a:t>Definir livremente o preço de produtos e serviços no mercado por alteração da oferta e da demanda</a:t>
            </a:r>
          </a:p>
        </p:txBody>
      </p:sp>
      <p:sp>
        <p:nvSpPr>
          <p:cNvPr id="19" name="Retângulo 18"/>
          <p:cNvSpPr/>
          <p:nvPr/>
        </p:nvSpPr>
        <p:spPr>
          <a:xfrm>
            <a:off x="558798" y="3251243"/>
            <a:ext cx="7968344" cy="653102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PT"/>
          </a:p>
        </p:txBody>
      </p:sp>
      <p:sp>
        <p:nvSpPr>
          <p:cNvPr id="22" name="Subtítulo 5"/>
          <p:cNvSpPr txBox="1">
            <a:spLocks/>
          </p:cNvSpPr>
          <p:nvPr/>
        </p:nvSpPr>
        <p:spPr bwMode="auto">
          <a:xfrm>
            <a:off x="674913" y="3249779"/>
            <a:ext cx="7656287" cy="496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buFont typeface="Wingdings" panose="05000000000000000000" pitchFamily="2" charset="2"/>
              <a:buChar char="§"/>
              <a:defRPr/>
            </a:pPr>
            <a:r>
              <a:rPr lang="pt-BR" sz="2000" dirty="0"/>
              <a:t> Respeitar as regras de direito do consumidor</a:t>
            </a:r>
            <a:endParaRPr lang="en-US" sz="2000" dirty="0"/>
          </a:p>
        </p:txBody>
      </p:sp>
      <p:sp>
        <p:nvSpPr>
          <p:cNvPr id="18" name="Retângulo 17"/>
          <p:cNvSpPr/>
          <p:nvPr/>
        </p:nvSpPr>
        <p:spPr>
          <a:xfrm>
            <a:off x="347185" y="1267291"/>
            <a:ext cx="657613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pt-B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ea typeface="+mn-ea"/>
                <a:cs typeface="Tahoma" panose="020B0604030504040204" pitchFamily="34" charset="0"/>
              </a:rPr>
              <a:t>Art. 3º, inciso III</a:t>
            </a:r>
          </a:p>
        </p:txBody>
      </p:sp>
      <p:sp>
        <p:nvSpPr>
          <p:cNvPr id="23" name="Retângulo 22"/>
          <p:cNvSpPr/>
          <p:nvPr/>
        </p:nvSpPr>
        <p:spPr>
          <a:xfrm>
            <a:off x="481385" y="1960795"/>
            <a:ext cx="13516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spcAft>
                <a:spcPts val="1951"/>
              </a:spcAft>
              <a:buClr>
                <a:schemeClr val="tx2"/>
              </a:buClr>
              <a:defRPr/>
            </a:pPr>
            <a:r>
              <a:rPr lang="pt-BR" b="1" u="sng" dirty="0">
                <a:solidFill>
                  <a:schemeClr val="tx2"/>
                </a:solidFill>
                <a:latin typeface="Century Gothic" charset="0"/>
                <a:ea typeface="Century Gothic" charset="0"/>
                <a:cs typeface="Century Gothic" charset="0"/>
              </a:rPr>
              <a:t>Requisitos:</a:t>
            </a:r>
          </a:p>
        </p:txBody>
      </p:sp>
      <p:sp>
        <p:nvSpPr>
          <p:cNvPr id="25" name="Retângulo 24"/>
          <p:cNvSpPr/>
          <p:nvPr/>
        </p:nvSpPr>
        <p:spPr>
          <a:xfrm>
            <a:off x="155345" y="304583"/>
            <a:ext cx="120425" cy="1321017"/>
          </a:xfrm>
          <a:prstGeom prst="rect">
            <a:avLst/>
          </a:prstGeom>
          <a:solidFill>
            <a:srgbClr val="60B0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PT"/>
          </a:p>
        </p:txBody>
      </p:sp>
      <p:sp>
        <p:nvSpPr>
          <p:cNvPr id="13" name="Retângulo 12"/>
          <p:cNvSpPr/>
          <p:nvPr/>
        </p:nvSpPr>
        <p:spPr>
          <a:xfrm>
            <a:off x="537030" y="4027746"/>
            <a:ext cx="7968344" cy="602329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PT"/>
          </a:p>
        </p:txBody>
      </p:sp>
      <p:sp>
        <p:nvSpPr>
          <p:cNvPr id="15" name="Subtítulo 5"/>
          <p:cNvSpPr txBox="1">
            <a:spLocks/>
          </p:cNvSpPr>
          <p:nvPr/>
        </p:nvSpPr>
        <p:spPr bwMode="auto">
          <a:xfrm>
            <a:off x="653145" y="4026281"/>
            <a:ext cx="7656287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buFont typeface="Wingdings" panose="05000000000000000000" pitchFamily="2" charset="2"/>
              <a:buChar char="§"/>
              <a:defRPr/>
            </a:pPr>
            <a:r>
              <a:rPr lang="pt-BR" sz="2000" dirty="0"/>
              <a:t> Observar a legislação da defesa de concorrência</a:t>
            </a:r>
            <a:endParaRPr lang="en-US" sz="2000" dirty="0"/>
          </a:p>
        </p:txBody>
      </p:sp>
      <p:sp>
        <p:nvSpPr>
          <p:cNvPr id="16" name="Retângulo 15"/>
          <p:cNvSpPr/>
          <p:nvPr/>
        </p:nvSpPr>
        <p:spPr>
          <a:xfrm>
            <a:off x="515262" y="4775219"/>
            <a:ext cx="7968344" cy="1480441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PT"/>
          </a:p>
        </p:txBody>
      </p:sp>
      <p:sp>
        <p:nvSpPr>
          <p:cNvPr id="17" name="Subtítulo 5"/>
          <p:cNvSpPr txBox="1">
            <a:spLocks/>
          </p:cNvSpPr>
          <p:nvPr/>
        </p:nvSpPr>
        <p:spPr bwMode="auto">
          <a:xfrm>
            <a:off x="631377" y="4773755"/>
            <a:ext cx="7656287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buFont typeface="Wingdings" panose="05000000000000000000" pitchFamily="2" charset="2"/>
              <a:buChar char="§"/>
              <a:defRPr/>
            </a:pPr>
            <a:r>
              <a:rPr lang="pt-BR" sz="2000" dirty="0"/>
              <a:t> Não incorrer em situações em que o preço de produtos e serviços seja utilizado com a finalidade de reduzir valor de tributo ou postergar seu recebimento</a:t>
            </a:r>
            <a:endParaRPr lang="en-US" sz="20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0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0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500"/>
                            </p:stCondLst>
                            <p:childTnLst>
                              <p:par>
                                <p:cTn id="4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6" grpId="0"/>
      <p:bldP spid="14" grpId="0"/>
      <p:bldP spid="19" grpId="0" animBg="1"/>
      <p:bldP spid="22" grpId="0"/>
      <p:bldP spid="18" grpId="0"/>
      <p:bldP spid="25" grpId="0" animBg="1"/>
      <p:bldP spid="13" grpId="0" animBg="1"/>
      <p:bldP spid="15" grpId="0"/>
      <p:bldP spid="16" grpId="0" animBg="1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aixaDeTexto 1"/>
          <p:cNvSpPr txBox="1">
            <a:spLocks noChangeArrowheads="1"/>
          </p:cNvSpPr>
          <p:nvPr/>
        </p:nvSpPr>
        <p:spPr bwMode="auto">
          <a:xfrm>
            <a:off x="2596569" y="1040128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endParaRPr lang="pt-BR" altLang="pt-BR"/>
          </a:p>
        </p:txBody>
      </p:sp>
      <p:sp>
        <p:nvSpPr>
          <p:cNvPr id="16" name="CaixaDeTexto 3"/>
          <p:cNvSpPr txBox="1">
            <a:spLocks noChangeArrowheads="1"/>
          </p:cNvSpPr>
          <p:nvPr/>
        </p:nvSpPr>
        <p:spPr bwMode="auto">
          <a:xfrm>
            <a:off x="2396491" y="675361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endParaRPr lang="pt-BR" altLang="pt-BR"/>
          </a:p>
        </p:txBody>
      </p:sp>
      <p:sp>
        <p:nvSpPr>
          <p:cNvPr id="17" name="Retângulo 16"/>
          <p:cNvSpPr/>
          <p:nvPr/>
        </p:nvSpPr>
        <p:spPr>
          <a:xfrm>
            <a:off x="290287" y="268617"/>
            <a:ext cx="4122056" cy="3011612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just">
              <a:defRPr/>
            </a:pPr>
            <a:endParaRPr lang="pt-PT" dirty="0"/>
          </a:p>
        </p:txBody>
      </p:sp>
      <p:sp>
        <p:nvSpPr>
          <p:cNvPr id="20" name="Subtítulo 5"/>
          <p:cNvSpPr txBox="1">
            <a:spLocks/>
          </p:cNvSpPr>
          <p:nvPr/>
        </p:nvSpPr>
        <p:spPr bwMode="auto">
          <a:xfrm>
            <a:off x="725716" y="194585"/>
            <a:ext cx="3468914" cy="617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ctr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defRPr/>
            </a:pPr>
            <a:r>
              <a:rPr lang="en-US" altLang="pt-PT" sz="2600" b="1" dirty="0">
                <a:solidFill>
                  <a:schemeClr val="tx2"/>
                </a:solidFill>
                <a:latin typeface="Century Gothic" panose="020B0502020202020204" pitchFamily="34" charset="0"/>
                <a:ea typeface="+mn-ea"/>
                <a:cs typeface="Tahoma" panose="020B0604030504040204" pitchFamily="34" charset="0"/>
              </a:rPr>
              <a:t>Como era:</a:t>
            </a:r>
          </a:p>
        </p:txBody>
      </p:sp>
      <p:sp>
        <p:nvSpPr>
          <p:cNvPr id="21" name="Retângulo 20"/>
          <p:cNvSpPr/>
          <p:nvPr/>
        </p:nvSpPr>
        <p:spPr>
          <a:xfrm>
            <a:off x="4731659" y="275877"/>
            <a:ext cx="4136570" cy="2989837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solidFill>
              <a:srgbClr val="5DC3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PT"/>
          </a:p>
        </p:txBody>
      </p:sp>
      <p:sp>
        <p:nvSpPr>
          <p:cNvPr id="24" name="Subtítulo 5"/>
          <p:cNvSpPr txBox="1">
            <a:spLocks/>
          </p:cNvSpPr>
          <p:nvPr/>
        </p:nvSpPr>
        <p:spPr bwMode="auto">
          <a:xfrm>
            <a:off x="4811410" y="172817"/>
            <a:ext cx="3468914" cy="617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ctr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defRPr/>
            </a:pPr>
            <a:r>
              <a:rPr lang="en-US" altLang="pt-PT" sz="2600" b="1" dirty="0">
                <a:solidFill>
                  <a:schemeClr val="tx2"/>
                </a:solidFill>
                <a:latin typeface="Century Gothic" panose="020B0502020202020204" pitchFamily="34" charset="0"/>
                <a:ea typeface="+mn-ea"/>
                <a:cs typeface="Tahoma" panose="020B0604030504040204" pitchFamily="34" charset="0"/>
              </a:rPr>
              <a:t>Como ficou:</a:t>
            </a:r>
          </a:p>
        </p:txBody>
      </p:sp>
      <p:sp>
        <p:nvSpPr>
          <p:cNvPr id="28" name="Subtítulo 5"/>
          <p:cNvSpPr txBox="1">
            <a:spLocks/>
          </p:cNvSpPr>
          <p:nvPr/>
        </p:nvSpPr>
        <p:spPr bwMode="auto">
          <a:xfrm>
            <a:off x="420914" y="740289"/>
            <a:ext cx="3795490" cy="2400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just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defRPr/>
            </a:pPr>
            <a:r>
              <a:rPr lang="en-US" sz="2000" dirty="0"/>
              <a:t>  </a:t>
            </a:r>
            <a:r>
              <a:rPr lang="en-US" sz="2000" dirty="0" err="1"/>
              <a:t>Atos</a:t>
            </a:r>
            <a:r>
              <a:rPr lang="en-US" sz="2000" dirty="0"/>
              <a:t> de </a:t>
            </a:r>
            <a:r>
              <a:rPr lang="en-US" sz="2000" dirty="0" err="1"/>
              <a:t>agentes</a:t>
            </a:r>
            <a:r>
              <a:rPr lang="en-US" sz="2000" dirty="0"/>
              <a:t> </a:t>
            </a:r>
            <a:r>
              <a:rPr lang="en-US" sz="2000" dirty="0" err="1"/>
              <a:t>públicos</a:t>
            </a:r>
            <a:r>
              <a:rPr lang="en-US" sz="2000" dirty="0"/>
              <a:t> </a:t>
            </a:r>
            <a:r>
              <a:rPr lang="en-US" sz="2000" dirty="0" err="1"/>
              <a:t>impediam</a:t>
            </a:r>
            <a:r>
              <a:rPr lang="en-US" sz="2000" dirty="0"/>
              <a:t> a </a:t>
            </a:r>
            <a:r>
              <a:rPr lang="en-US" sz="2000" dirty="0" err="1"/>
              <a:t>entrada</a:t>
            </a:r>
            <a:r>
              <a:rPr lang="en-US" sz="2000" dirty="0"/>
              <a:t> de </a:t>
            </a:r>
            <a:r>
              <a:rPr lang="en-US" sz="2000" dirty="0" err="1"/>
              <a:t>novos</a:t>
            </a:r>
            <a:r>
              <a:rPr lang="en-US" sz="2000" dirty="0"/>
              <a:t> </a:t>
            </a:r>
            <a:r>
              <a:rPr lang="en-US" sz="2000" dirty="0" err="1"/>
              <a:t>modelos</a:t>
            </a:r>
            <a:r>
              <a:rPr lang="en-US" sz="2000" dirty="0"/>
              <a:t> de </a:t>
            </a:r>
            <a:r>
              <a:rPr lang="en-US" sz="2000" dirty="0" err="1"/>
              <a:t>negócios</a:t>
            </a:r>
            <a:r>
              <a:rPr lang="en-US" sz="2000" dirty="0"/>
              <a:t> em </a:t>
            </a:r>
            <a:r>
              <a:rPr lang="en-US" sz="2000" dirty="0" err="1"/>
              <a:t>detrimento</a:t>
            </a:r>
            <a:r>
              <a:rPr lang="en-US" sz="2000" dirty="0"/>
              <a:t> de </a:t>
            </a:r>
            <a:r>
              <a:rPr lang="en-US" sz="2000" dirty="0" err="1"/>
              <a:t>benefícios</a:t>
            </a:r>
            <a:r>
              <a:rPr lang="en-US" sz="2000" dirty="0"/>
              <a:t> </a:t>
            </a:r>
            <a:r>
              <a:rPr lang="en-US" sz="2000" dirty="0" err="1"/>
              <a:t>aos</a:t>
            </a:r>
            <a:r>
              <a:rPr lang="en-US" sz="2000" dirty="0"/>
              <a:t> </a:t>
            </a:r>
            <a:r>
              <a:rPr lang="en-US" sz="2000" dirty="0" err="1"/>
              <a:t>consumidores</a:t>
            </a:r>
            <a:endParaRPr lang="en-US" sz="2000" dirty="0"/>
          </a:p>
        </p:txBody>
      </p:sp>
      <p:sp>
        <p:nvSpPr>
          <p:cNvPr id="29" name="Subtítulo 5"/>
          <p:cNvSpPr txBox="1">
            <a:spLocks/>
          </p:cNvSpPr>
          <p:nvPr/>
        </p:nvSpPr>
        <p:spPr bwMode="auto">
          <a:xfrm>
            <a:off x="4811402" y="762063"/>
            <a:ext cx="3795490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just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defRPr/>
            </a:pPr>
            <a:r>
              <a:rPr lang="pt-BR" sz="2000" dirty="0"/>
              <a:t>  Foi garantida liberdade de fixar e flutuar preços, como consequência da oferta e demanda do mercado</a:t>
            </a:r>
            <a:endParaRPr lang="en-US" sz="2000" dirty="0"/>
          </a:p>
        </p:txBody>
      </p:sp>
      <p:sp>
        <p:nvSpPr>
          <p:cNvPr id="18" name="Retângulo 17"/>
          <p:cNvSpPr/>
          <p:nvPr/>
        </p:nvSpPr>
        <p:spPr>
          <a:xfrm>
            <a:off x="522510" y="3947886"/>
            <a:ext cx="7968344" cy="2627085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PT"/>
          </a:p>
        </p:txBody>
      </p:sp>
      <p:sp>
        <p:nvSpPr>
          <p:cNvPr id="23" name="CaixaDeTexto 3"/>
          <p:cNvSpPr txBox="1">
            <a:spLocks noChangeArrowheads="1"/>
          </p:cNvSpPr>
          <p:nvPr/>
        </p:nvSpPr>
        <p:spPr bwMode="auto">
          <a:xfrm>
            <a:off x="2287632" y="7402673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endParaRPr lang="pt-BR" altLang="pt-BR"/>
          </a:p>
        </p:txBody>
      </p:sp>
      <p:sp>
        <p:nvSpPr>
          <p:cNvPr id="25" name="Subtítulo 5"/>
          <p:cNvSpPr txBox="1">
            <a:spLocks/>
          </p:cNvSpPr>
          <p:nvPr/>
        </p:nvSpPr>
        <p:spPr bwMode="auto">
          <a:xfrm>
            <a:off x="624110" y="3895696"/>
            <a:ext cx="7605486" cy="4966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just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defRPr/>
            </a:pPr>
            <a:r>
              <a:rPr lang="pt-BR" sz="2000" dirty="0">
                <a:latin typeface="Century Gothic" panose="020B0502020202020204" pitchFamily="34" charset="0"/>
                <a:ea typeface="+mn-ea"/>
                <a:cs typeface="Tahoma" panose="020B0604030504040204" pitchFamily="34" charset="0"/>
              </a:rPr>
              <a:t>  </a:t>
            </a:r>
            <a:endParaRPr lang="en-US" sz="2000" dirty="0">
              <a:latin typeface="Century Gothic" panose="020B0502020202020204" pitchFamily="34" charset="0"/>
              <a:ea typeface="+mn-ea"/>
              <a:cs typeface="Tahoma" panose="020B0604030504040204" pitchFamily="34" charset="0"/>
            </a:endParaRPr>
          </a:p>
        </p:txBody>
      </p:sp>
      <p:sp>
        <p:nvSpPr>
          <p:cNvPr id="30" name="Retângulo 29"/>
          <p:cNvSpPr/>
          <p:nvPr/>
        </p:nvSpPr>
        <p:spPr>
          <a:xfrm>
            <a:off x="524926" y="3513879"/>
            <a:ext cx="79804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eaLnBrk="1" hangingPunct="1">
              <a:spcAft>
                <a:spcPts val="600"/>
              </a:spcAft>
              <a:buClr>
                <a:schemeClr val="tx2"/>
              </a:buClr>
              <a:defRPr/>
            </a:pPr>
            <a:r>
              <a:rPr lang="pt-BR" b="1" u="sng" dirty="0">
                <a:solidFill>
                  <a:schemeClr val="tx2"/>
                </a:solidFill>
                <a:latin typeface="Century Gothic" charset="0"/>
                <a:ea typeface="Century Gothic" charset="0"/>
                <a:cs typeface="Century Gothic" charset="0"/>
              </a:rPr>
              <a:t>Exemplo </a:t>
            </a:r>
            <a:r>
              <a:rPr lang="pt-BR" dirty="0">
                <a:solidFill>
                  <a:schemeClr val="tx2"/>
                </a:solidFill>
                <a:latin typeface="Century Gothic" charset="0"/>
                <a:ea typeface="Century Gothic" charset="0"/>
                <a:cs typeface="Century Gothic" charset="0"/>
              </a:rPr>
              <a:t>:</a:t>
            </a:r>
          </a:p>
        </p:txBody>
      </p:sp>
      <p:sp>
        <p:nvSpPr>
          <p:cNvPr id="31" name="Subtítulo 5"/>
          <p:cNvSpPr txBox="1">
            <a:spLocks/>
          </p:cNvSpPr>
          <p:nvPr/>
        </p:nvSpPr>
        <p:spPr bwMode="auto">
          <a:xfrm>
            <a:off x="624110" y="4011808"/>
            <a:ext cx="7605486" cy="2400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just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defRPr/>
            </a:pPr>
            <a:r>
              <a:rPr lang="pt-BR" sz="2000" dirty="0">
                <a:latin typeface="Century Gothic" panose="020B0502020202020204" pitchFamily="34" charset="0"/>
                <a:ea typeface="+mn-ea"/>
                <a:cs typeface="Tahoma" panose="020B0604030504040204" pitchFamily="34" charset="0"/>
              </a:rPr>
              <a:t>  </a:t>
            </a:r>
            <a:r>
              <a:rPr lang="pt-BR" sz="2000" dirty="0"/>
              <a:t>Práticas que não sejam declaradas predatórias pelo CADE - Conselho Administrativo de Defesa Econômica, devem ser observadas por decisões da Justiça. Assim, a configuração de cartel, venda casada ou preço predatório somente será definido  em observância de estudo técnico apropriado.</a:t>
            </a:r>
            <a:endParaRPr lang="en-US" sz="2000" dirty="0">
              <a:latin typeface="Century Gothic" panose="020B0502020202020204" pitchFamily="34" charset="0"/>
              <a:ea typeface="+mn-ea"/>
              <a:cs typeface="Tahoma" panose="020B0604030504040204" pitchFamily="34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0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0" grpId="0"/>
      <p:bldP spid="21" grpId="0" animBg="1"/>
      <p:bldP spid="24" grpId="0"/>
      <p:bldP spid="28" grpId="0"/>
      <p:bldP spid="29" grpId="0"/>
      <p:bldP spid="18" grpId="0" animBg="1"/>
      <p:bldP spid="25" grpId="0"/>
      <p:bldP spid="3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tângulo 26"/>
          <p:cNvSpPr/>
          <p:nvPr/>
        </p:nvSpPr>
        <p:spPr>
          <a:xfrm>
            <a:off x="566053" y="2656105"/>
            <a:ext cx="7968344" cy="1625604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PT"/>
          </a:p>
        </p:txBody>
      </p:sp>
      <p:sp>
        <p:nvSpPr>
          <p:cNvPr id="6159" name="CaixaDeTexto 2"/>
          <p:cNvSpPr txBox="1">
            <a:spLocks noChangeArrowheads="1"/>
          </p:cNvSpPr>
          <p:nvPr/>
        </p:nvSpPr>
        <p:spPr bwMode="auto">
          <a:xfrm>
            <a:off x="2902310" y="-421591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endParaRPr lang="pt-BR" altLang="pt-BR"/>
          </a:p>
        </p:txBody>
      </p:sp>
      <p:sp>
        <p:nvSpPr>
          <p:cNvPr id="3" name="CaixaDeTexto 2"/>
          <p:cNvSpPr txBox="1"/>
          <p:nvPr/>
        </p:nvSpPr>
        <p:spPr>
          <a:xfrm>
            <a:off x="4149090" y="70866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26" name="Subtítulo 5"/>
          <p:cNvSpPr txBox="1">
            <a:spLocks/>
          </p:cNvSpPr>
          <p:nvPr/>
        </p:nvSpPr>
        <p:spPr bwMode="auto">
          <a:xfrm>
            <a:off x="653139" y="2690950"/>
            <a:ext cx="7605486" cy="142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just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buFont typeface="Wingdings" panose="05000000000000000000" pitchFamily="2" charset="2"/>
              <a:buChar char="§"/>
              <a:defRPr/>
            </a:pPr>
            <a:r>
              <a:rPr lang="pt-BR" sz="2000" dirty="0"/>
              <a:t> Uma decisão adotada em um processo de ato público de liberação para atividade econômica deverá ser aplicada para todos os casos na mesma situação</a:t>
            </a:r>
            <a:endParaRPr lang="en-US" sz="2000" dirty="0"/>
          </a:p>
        </p:txBody>
      </p:sp>
      <p:sp>
        <p:nvSpPr>
          <p:cNvPr id="14" name="Título 4"/>
          <p:cNvSpPr>
            <a:spLocks/>
          </p:cNvSpPr>
          <p:nvPr/>
        </p:nvSpPr>
        <p:spPr bwMode="auto">
          <a:xfrm>
            <a:off x="298558" y="323166"/>
            <a:ext cx="8642242" cy="892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3600"/>
              </a:spcBef>
              <a:defRPr/>
            </a:pPr>
            <a:r>
              <a:rPr lang="pt-BR" altLang="pt-PT" sz="2600" b="1" dirty="0">
                <a:solidFill>
                  <a:schemeClr val="tx2"/>
                </a:solidFill>
                <a:latin typeface="Century Gothic" panose="020B0502020202020204" pitchFamily="34" charset="0"/>
                <a:ea typeface="+mn-ea"/>
                <a:cs typeface="Tahoma" panose="020B0604030504040204" pitchFamily="34" charset="0"/>
              </a:rPr>
              <a:t>Efeito isonômico e vinculante para decisões administrativas sobre atividades econômicas</a:t>
            </a:r>
          </a:p>
        </p:txBody>
      </p:sp>
      <p:sp>
        <p:nvSpPr>
          <p:cNvPr id="18" name="Retângulo 17"/>
          <p:cNvSpPr/>
          <p:nvPr/>
        </p:nvSpPr>
        <p:spPr>
          <a:xfrm>
            <a:off x="347185" y="1267291"/>
            <a:ext cx="657613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pt-B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ea typeface="+mn-ea"/>
                <a:cs typeface="Tahoma" panose="020B0604030504040204" pitchFamily="34" charset="0"/>
              </a:rPr>
              <a:t>Art. 3º, inciso IV</a:t>
            </a:r>
          </a:p>
        </p:txBody>
      </p:sp>
      <p:sp>
        <p:nvSpPr>
          <p:cNvPr id="23" name="Retângulo 22"/>
          <p:cNvSpPr/>
          <p:nvPr/>
        </p:nvSpPr>
        <p:spPr>
          <a:xfrm>
            <a:off x="481385" y="2236561"/>
            <a:ext cx="13516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spcAft>
                <a:spcPts val="1951"/>
              </a:spcAft>
              <a:buClr>
                <a:schemeClr val="tx2"/>
              </a:buClr>
              <a:defRPr/>
            </a:pPr>
            <a:r>
              <a:rPr lang="pt-BR" b="1" u="sng" dirty="0">
                <a:solidFill>
                  <a:schemeClr val="tx2"/>
                </a:solidFill>
                <a:latin typeface="Century Gothic" charset="0"/>
                <a:ea typeface="Century Gothic" charset="0"/>
                <a:cs typeface="Century Gothic" charset="0"/>
              </a:rPr>
              <a:t>Requisitos:</a:t>
            </a:r>
          </a:p>
        </p:txBody>
      </p:sp>
      <p:sp>
        <p:nvSpPr>
          <p:cNvPr id="25" name="Retângulo 24"/>
          <p:cNvSpPr/>
          <p:nvPr/>
        </p:nvSpPr>
        <p:spPr>
          <a:xfrm>
            <a:off x="155345" y="304583"/>
            <a:ext cx="120425" cy="1321017"/>
          </a:xfrm>
          <a:prstGeom prst="rect">
            <a:avLst/>
          </a:prstGeom>
          <a:solidFill>
            <a:srgbClr val="60B0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PT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6" grpId="0"/>
      <p:bldP spid="14" grpId="0"/>
      <p:bldP spid="18" grpId="0"/>
      <p:bldP spid="2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aixaDeTexto 1"/>
          <p:cNvSpPr txBox="1">
            <a:spLocks noChangeArrowheads="1"/>
          </p:cNvSpPr>
          <p:nvPr/>
        </p:nvSpPr>
        <p:spPr bwMode="auto">
          <a:xfrm>
            <a:off x="2596569" y="1040128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endParaRPr lang="pt-BR" altLang="pt-BR"/>
          </a:p>
        </p:txBody>
      </p:sp>
      <p:sp>
        <p:nvSpPr>
          <p:cNvPr id="16" name="CaixaDeTexto 3"/>
          <p:cNvSpPr txBox="1">
            <a:spLocks noChangeArrowheads="1"/>
          </p:cNvSpPr>
          <p:nvPr/>
        </p:nvSpPr>
        <p:spPr bwMode="auto">
          <a:xfrm>
            <a:off x="2396491" y="675361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endParaRPr lang="pt-BR" altLang="pt-BR"/>
          </a:p>
        </p:txBody>
      </p:sp>
      <p:sp>
        <p:nvSpPr>
          <p:cNvPr id="17" name="Retângulo 16"/>
          <p:cNvSpPr/>
          <p:nvPr/>
        </p:nvSpPr>
        <p:spPr>
          <a:xfrm>
            <a:off x="290287" y="268617"/>
            <a:ext cx="4122056" cy="3011612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just">
              <a:defRPr/>
            </a:pPr>
            <a:endParaRPr lang="pt-PT" dirty="0"/>
          </a:p>
        </p:txBody>
      </p:sp>
      <p:sp>
        <p:nvSpPr>
          <p:cNvPr id="20" name="Subtítulo 5"/>
          <p:cNvSpPr txBox="1">
            <a:spLocks/>
          </p:cNvSpPr>
          <p:nvPr/>
        </p:nvSpPr>
        <p:spPr bwMode="auto">
          <a:xfrm>
            <a:off x="725716" y="194585"/>
            <a:ext cx="3468914" cy="617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ctr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defRPr/>
            </a:pPr>
            <a:r>
              <a:rPr lang="en-US" altLang="pt-PT" sz="2600" b="1" dirty="0">
                <a:solidFill>
                  <a:schemeClr val="tx2"/>
                </a:solidFill>
                <a:latin typeface="Century Gothic" panose="020B0502020202020204" pitchFamily="34" charset="0"/>
                <a:ea typeface="+mn-ea"/>
                <a:cs typeface="Tahoma" panose="020B0604030504040204" pitchFamily="34" charset="0"/>
              </a:rPr>
              <a:t>Como era:</a:t>
            </a:r>
          </a:p>
        </p:txBody>
      </p:sp>
      <p:sp>
        <p:nvSpPr>
          <p:cNvPr id="21" name="Retângulo 20"/>
          <p:cNvSpPr/>
          <p:nvPr/>
        </p:nvSpPr>
        <p:spPr>
          <a:xfrm>
            <a:off x="4731659" y="275877"/>
            <a:ext cx="4136570" cy="2989837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solidFill>
              <a:srgbClr val="5DC3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PT"/>
          </a:p>
        </p:txBody>
      </p:sp>
      <p:sp>
        <p:nvSpPr>
          <p:cNvPr id="24" name="Subtítulo 5"/>
          <p:cNvSpPr txBox="1">
            <a:spLocks/>
          </p:cNvSpPr>
          <p:nvPr/>
        </p:nvSpPr>
        <p:spPr bwMode="auto">
          <a:xfrm>
            <a:off x="4811410" y="172817"/>
            <a:ext cx="3468914" cy="617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ctr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defRPr/>
            </a:pPr>
            <a:r>
              <a:rPr lang="en-US" altLang="pt-PT" sz="2600" b="1" dirty="0">
                <a:solidFill>
                  <a:schemeClr val="tx2"/>
                </a:solidFill>
                <a:latin typeface="Century Gothic" panose="020B0502020202020204" pitchFamily="34" charset="0"/>
                <a:ea typeface="+mn-ea"/>
                <a:cs typeface="Tahoma" panose="020B0604030504040204" pitchFamily="34" charset="0"/>
              </a:rPr>
              <a:t>Como ficou:</a:t>
            </a:r>
          </a:p>
        </p:txBody>
      </p:sp>
      <p:sp>
        <p:nvSpPr>
          <p:cNvPr id="28" name="Subtítulo 5"/>
          <p:cNvSpPr txBox="1">
            <a:spLocks/>
          </p:cNvSpPr>
          <p:nvPr/>
        </p:nvSpPr>
        <p:spPr bwMode="auto">
          <a:xfrm>
            <a:off x="420914" y="740289"/>
            <a:ext cx="3795490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just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defRPr/>
            </a:pPr>
            <a:r>
              <a:rPr lang="en-US" sz="2000" dirty="0"/>
              <a:t>  </a:t>
            </a:r>
            <a:r>
              <a:rPr lang="en-US" sz="2000" dirty="0" err="1"/>
              <a:t>Agente</a:t>
            </a:r>
            <a:r>
              <a:rPr lang="en-US" sz="2000" dirty="0"/>
              <a:t> </a:t>
            </a:r>
            <a:r>
              <a:rPr lang="en-US" sz="2000" dirty="0" err="1"/>
              <a:t>público</a:t>
            </a:r>
            <a:r>
              <a:rPr lang="en-US" sz="2000" dirty="0"/>
              <a:t> </a:t>
            </a:r>
            <a:r>
              <a:rPr lang="en-US" sz="2000" dirty="0" err="1"/>
              <a:t>poderia</a:t>
            </a:r>
            <a:r>
              <a:rPr lang="en-US" sz="2000" dirty="0"/>
              <a:t> </a:t>
            </a:r>
            <a:r>
              <a:rPr lang="en-US" sz="2000" dirty="0" err="1"/>
              <a:t>adotar</a:t>
            </a:r>
            <a:r>
              <a:rPr lang="en-US" sz="2000" dirty="0"/>
              <a:t> </a:t>
            </a:r>
            <a:r>
              <a:rPr lang="en-US" sz="2000" dirty="0" err="1"/>
              <a:t>conduta</a:t>
            </a:r>
            <a:r>
              <a:rPr lang="en-US" sz="2000" dirty="0"/>
              <a:t> e </a:t>
            </a:r>
            <a:r>
              <a:rPr lang="en-US" sz="2000" dirty="0" err="1"/>
              <a:t>aplicar</a:t>
            </a:r>
            <a:r>
              <a:rPr lang="en-US" sz="2000" dirty="0"/>
              <a:t> </a:t>
            </a:r>
            <a:r>
              <a:rPr lang="en-US" sz="2000" dirty="0" err="1"/>
              <a:t>resultados</a:t>
            </a:r>
            <a:r>
              <a:rPr lang="en-US" sz="2000" dirty="0"/>
              <a:t> </a:t>
            </a:r>
            <a:r>
              <a:rPr lang="en-US" sz="2000" dirty="0" err="1"/>
              <a:t>diferentes</a:t>
            </a:r>
            <a:r>
              <a:rPr lang="en-US" sz="2000" dirty="0"/>
              <a:t> </a:t>
            </a:r>
            <a:r>
              <a:rPr lang="en-US" sz="2000" dirty="0" err="1"/>
              <a:t>para</a:t>
            </a:r>
            <a:r>
              <a:rPr lang="en-US" sz="2000" dirty="0"/>
              <a:t>  </a:t>
            </a:r>
            <a:r>
              <a:rPr lang="en-US" sz="2000" dirty="0" err="1"/>
              <a:t>casos</a:t>
            </a:r>
            <a:r>
              <a:rPr lang="en-US" sz="2000" dirty="0"/>
              <a:t> </a:t>
            </a:r>
            <a:r>
              <a:rPr lang="en-US" sz="2000" dirty="0" err="1"/>
              <a:t>idênticos</a:t>
            </a:r>
            <a:endParaRPr lang="en-US" sz="2000" dirty="0"/>
          </a:p>
        </p:txBody>
      </p:sp>
      <p:sp>
        <p:nvSpPr>
          <p:cNvPr id="29" name="Subtítulo 5"/>
          <p:cNvSpPr txBox="1">
            <a:spLocks/>
          </p:cNvSpPr>
          <p:nvPr/>
        </p:nvSpPr>
        <p:spPr bwMode="auto">
          <a:xfrm>
            <a:off x="4811402" y="762063"/>
            <a:ext cx="3795490" cy="2343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just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defRPr/>
            </a:pPr>
            <a:r>
              <a:rPr lang="pt-BR" sz="2000" dirty="0"/>
              <a:t>  Garante-se que as decisões adotadas por órgão público mercantil sejam aplicadas para todos os casos semelhantes</a:t>
            </a:r>
            <a:endParaRPr lang="en-US" sz="2000" dirty="0"/>
          </a:p>
        </p:txBody>
      </p:sp>
      <p:sp>
        <p:nvSpPr>
          <p:cNvPr id="18" name="Retângulo 17"/>
          <p:cNvSpPr/>
          <p:nvPr/>
        </p:nvSpPr>
        <p:spPr>
          <a:xfrm>
            <a:off x="522510" y="3947886"/>
            <a:ext cx="7968344" cy="2699657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PT"/>
          </a:p>
        </p:txBody>
      </p:sp>
      <p:sp>
        <p:nvSpPr>
          <p:cNvPr id="23" name="CaixaDeTexto 3"/>
          <p:cNvSpPr txBox="1">
            <a:spLocks noChangeArrowheads="1"/>
          </p:cNvSpPr>
          <p:nvPr/>
        </p:nvSpPr>
        <p:spPr bwMode="auto">
          <a:xfrm>
            <a:off x="2287632" y="7402673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endParaRPr lang="pt-BR" altLang="pt-BR"/>
          </a:p>
        </p:txBody>
      </p:sp>
      <p:sp>
        <p:nvSpPr>
          <p:cNvPr id="25" name="Subtítulo 5"/>
          <p:cNvSpPr txBox="1">
            <a:spLocks/>
          </p:cNvSpPr>
          <p:nvPr/>
        </p:nvSpPr>
        <p:spPr bwMode="auto">
          <a:xfrm>
            <a:off x="624110" y="3895696"/>
            <a:ext cx="7605486" cy="4966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just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defRPr/>
            </a:pPr>
            <a:r>
              <a:rPr lang="pt-BR" sz="2000" dirty="0">
                <a:latin typeface="Century Gothic" panose="020B0502020202020204" pitchFamily="34" charset="0"/>
                <a:ea typeface="+mn-ea"/>
                <a:cs typeface="Tahoma" panose="020B0604030504040204" pitchFamily="34" charset="0"/>
              </a:rPr>
              <a:t>  </a:t>
            </a:r>
            <a:endParaRPr lang="en-US" sz="2000" dirty="0">
              <a:latin typeface="Century Gothic" panose="020B0502020202020204" pitchFamily="34" charset="0"/>
              <a:ea typeface="+mn-ea"/>
              <a:cs typeface="Tahoma" panose="020B0604030504040204" pitchFamily="34" charset="0"/>
            </a:endParaRPr>
          </a:p>
        </p:txBody>
      </p:sp>
      <p:sp>
        <p:nvSpPr>
          <p:cNvPr id="30" name="Retângulo 29"/>
          <p:cNvSpPr/>
          <p:nvPr/>
        </p:nvSpPr>
        <p:spPr>
          <a:xfrm>
            <a:off x="524926" y="3513879"/>
            <a:ext cx="79804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eaLnBrk="1" hangingPunct="1">
              <a:spcAft>
                <a:spcPts val="600"/>
              </a:spcAft>
              <a:buClr>
                <a:schemeClr val="tx2"/>
              </a:buClr>
              <a:defRPr/>
            </a:pPr>
            <a:r>
              <a:rPr lang="pt-BR" b="1" u="sng" dirty="0">
                <a:solidFill>
                  <a:schemeClr val="tx2"/>
                </a:solidFill>
                <a:latin typeface="Century Gothic" charset="0"/>
                <a:ea typeface="Century Gothic" charset="0"/>
                <a:cs typeface="Century Gothic" charset="0"/>
              </a:rPr>
              <a:t>Exemplo </a:t>
            </a:r>
            <a:r>
              <a:rPr lang="pt-BR" dirty="0">
                <a:solidFill>
                  <a:schemeClr val="tx2"/>
                </a:solidFill>
                <a:latin typeface="Century Gothic" charset="0"/>
                <a:ea typeface="Century Gothic" charset="0"/>
                <a:cs typeface="Century Gothic" charset="0"/>
              </a:rPr>
              <a:t>:</a:t>
            </a:r>
          </a:p>
        </p:txBody>
      </p:sp>
      <p:sp>
        <p:nvSpPr>
          <p:cNvPr id="31" name="Subtítulo 5"/>
          <p:cNvSpPr txBox="1">
            <a:spLocks/>
          </p:cNvSpPr>
          <p:nvPr/>
        </p:nvSpPr>
        <p:spPr bwMode="auto">
          <a:xfrm>
            <a:off x="624110" y="3837640"/>
            <a:ext cx="7605486" cy="2862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just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defRPr/>
            </a:pPr>
            <a:r>
              <a:rPr lang="pt-BR" sz="2000" dirty="0"/>
              <a:t>  Se um fiscal decidir que empreendimento de lavador de veículos será dispensado da exigência de poço artesiano, desde que possua sistema de captação, armazenamento, conservação e uso racional de água de chuvas, essa mesma interpretação, necessariamente, deverá ser aproveitada e utilizada para outros estabelecimentos nas mesmas condições.</a:t>
            </a:r>
            <a:endParaRPr lang="en-US" sz="2000" dirty="0">
              <a:latin typeface="Century Gothic" panose="020B0502020202020204" pitchFamily="34" charset="0"/>
              <a:ea typeface="+mn-ea"/>
              <a:cs typeface="Tahoma" panose="020B0604030504040204" pitchFamily="34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0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0" grpId="0"/>
      <p:bldP spid="21" grpId="0" animBg="1"/>
      <p:bldP spid="24" grpId="0"/>
      <p:bldP spid="28" grpId="0"/>
      <p:bldP spid="29" grpId="0"/>
      <p:bldP spid="18" grpId="0" animBg="1"/>
      <p:bldP spid="25" grpId="0"/>
      <p:bldP spid="3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tângulo 26"/>
          <p:cNvSpPr/>
          <p:nvPr/>
        </p:nvSpPr>
        <p:spPr>
          <a:xfrm>
            <a:off x="566053" y="2743188"/>
            <a:ext cx="7968344" cy="2090061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PT"/>
          </a:p>
        </p:txBody>
      </p:sp>
      <p:sp>
        <p:nvSpPr>
          <p:cNvPr id="6159" name="CaixaDeTexto 2"/>
          <p:cNvSpPr txBox="1">
            <a:spLocks noChangeArrowheads="1"/>
          </p:cNvSpPr>
          <p:nvPr/>
        </p:nvSpPr>
        <p:spPr bwMode="auto">
          <a:xfrm>
            <a:off x="2902310" y="-421591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endParaRPr lang="pt-BR" altLang="pt-BR"/>
          </a:p>
        </p:txBody>
      </p:sp>
      <p:sp>
        <p:nvSpPr>
          <p:cNvPr id="3" name="CaixaDeTexto 2"/>
          <p:cNvSpPr txBox="1"/>
          <p:nvPr/>
        </p:nvSpPr>
        <p:spPr>
          <a:xfrm>
            <a:off x="4149090" y="70866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26" name="Subtítulo 5"/>
          <p:cNvSpPr txBox="1">
            <a:spLocks/>
          </p:cNvSpPr>
          <p:nvPr/>
        </p:nvSpPr>
        <p:spPr bwMode="auto">
          <a:xfrm>
            <a:off x="653139" y="2778034"/>
            <a:ext cx="7605486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just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buFont typeface="Wingdings" panose="05000000000000000000" pitchFamily="2" charset="2"/>
              <a:buChar char="§"/>
              <a:defRPr/>
            </a:pPr>
            <a:r>
              <a:rPr lang="pt-BR" sz="2000" dirty="0"/>
              <a:t> As dúvidas de interpretação do direito civil, empresarial, econômico e urbanístico serão resolvidas de forma a preservar a autonomia de sua vontade, exceto se houver expressa disposição legal em contrário</a:t>
            </a:r>
            <a:endParaRPr lang="en-US" sz="2000" dirty="0"/>
          </a:p>
        </p:txBody>
      </p:sp>
      <p:sp>
        <p:nvSpPr>
          <p:cNvPr id="14" name="Título 4"/>
          <p:cNvSpPr>
            <a:spLocks/>
          </p:cNvSpPr>
          <p:nvPr/>
        </p:nvSpPr>
        <p:spPr bwMode="auto">
          <a:xfrm>
            <a:off x="298558" y="323166"/>
            <a:ext cx="8642242" cy="892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3600"/>
              </a:spcBef>
              <a:defRPr/>
            </a:pPr>
            <a:r>
              <a:rPr lang="pt-BR" altLang="pt-PT" sz="2600" b="1" dirty="0">
                <a:solidFill>
                  <a:schemeClr val="tx2"/>
                </a:solidFill>
                <a:latin typeface="Century Gothic" panose="020B0502020202020204" pitchFamily="34" charset="0"/>
                <a:ea typeface="+mn-ea"/>
                <a:cs typeface="Tahoma" panose="020B0604030504040204" pitchFamily="34" charset="0"/>
              </a:rPr>
              <a:t>Gozar de presunção de boa-fé nos atos praticados no exercício de atividade econômica</a:t>
            </a:r>
          </a:p>
        </p:txBody>
      </p:sp>
      <p:sp>
        <p:nvSpPr>
          <p:cNvPr id="18" name="Retângulo 17"/>
          <p:cNvSpPr/>
          <p:nvPr/>
        </p:nvSpPr>
        <p:spPr>
          <a:xfrm>
            <a:off x="347185" y="1267291"/>
            <a:ext cx="657613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pt-B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ea typeface="+mn-ea"/>
                <a:cs typeface="Tahoma" panose="020B0604030504040204" pitchFamily="34" charset="0"/>
              </a:rPr>
              <a:t>Art. 3º, inciso V</a:t>
            </a:r>
          </a:p>
        </p:txBody>
      </p:sp>
      <p:sp>
        <p:nvSpPr>
          <p:cNvPr id="23" name="Retângulo 22"/>
          <p:cNvSpPr/>
          <p:nvPr/>
        </p:nvSpPr>
        <p:spPr>
          <a:xfrm>
            <a:off x="481385" y="2323645"/>
            <a:ext cx="13516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spcAft>
                <a:spcPts val="1951"/>
              </a:spcAft>
              <a:buClr>
                <a:schemeClr val="tx2"/>
              </a:buClr>
              <a:defRPr/>
            </a:pPr>
            <a:r>
              <a:rPr lang="pt-BR" b="1" u="sng" dirty="0">
                <a:solidFill>
                  <a:schemeClr val="tx2"/>
                </a:solidFill>
                <a:latin typeface="Century Gothic" charset="0"/>
                <a:ea typeface="Century Gothic" charset="0"/>
                <a:cs typeface="Century Gothic" charset="0"/>
              </a:rPr>
              <a:t>Requisitos:</a:t>
            </a:r>
          </a:p>
        </p:txBody>
      </p:sp>
      <p:sp>
        <p:nvSpPr>
          <p:cNvPr id="25" name="Retângulo 24"/>
          <p:cNvSpPr/>
          <p:nvPr/>
        </p:nvSpPr>
        <p:spPr>
          <a:xfrm>
            <a:off x="155345" y="304583"/>
            <a:ext cx="120425" cy="1321017"/>
          </a:xfrm>
          <a:prstGeom prst="rect">
            <a:avLst/>
          </a:prstGeom>
          <a:solidFill>
            <a:srgbClr val="60B0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PT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6" grpId="0"/>
      <p:bldP spid="14" grpId="0"/>
      <p:bldP spid="18" grpId="0"/>
      <p:bldP spid="2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aixaDeTexto 1"/>
          <p:cNvSpPr txBox="1">
            <a:spLocks noChangeArrowheads="1"/>
          </p:cNvSpPr>
          <p:nvPr/>
        </p:nvSpPr>
        <p:spPr bwMode="auto">
          <a:xfrm>
            <a:off x="2596569" y="1040128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endParaRPr lang="pt-BR" altLang="pt-BR"/>
          </a:p>
        </p:txBody>
      </p:sp>
      <p:sp>
        <p:nvSpPr>
          <p:cNvPr id="16" name="CaixaDeTexto 3"/>
          <p:cNvSpPr txBox="1">
            <a:spLocks noChangeArrowheads="1"/>
          </p:cNvSpPr>
          <p:nvPr/>
        </p:nvSpPr>
        <p:spPr bwMode="auto">
          <a:xfrm>
            <a:off x="2396491" y="675361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endParaRPr lang="pt-BR" altLang="pt-BR"/>
          </a:p>
        </p:txBody>
      </p:sp>
      <p:sp>
        <p:nvSpPr>
          <p:cNvPr id="17" name="Retângulo 16"/>
          <p:cNvSpPr/>
          <p:nvPr/>
        </p:nvSpPr>
        <p:spPr>
          <a:xfrm>
            <a:off x="290287" y="268616"/>
            <a:ext cx="4122056" cy="3301897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just">
              <a:defRPr/>
            </a:pPr>
            <a:endParaRPr lang="pt-PT" dirty="0"/>
          </a:p>
        </p:txBody>
      </p:sp>
      <p:sp>
        <p:nvSpPr>
          <p:cNvPr id="20" name="Subtítulo 5"/>
          <p:cNvSpPr txBox="1">
            <a:spLocks/>
          </p:cNvSpPr>
          <p:nvPr/>
        </p:nvSpPr>
        <p:spPr bwMode="auto">
          <a:xfrm>
            <a:off x="725716" y="194585"/>
            <a:ext cx="3468914" cy="617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ctr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defRPr/>
            </a:pPr>
            <a:r>
              <a:rPr lang="en-US" altLang="pt-PT" sz="2600" b="1" dirty="0">
                <a:solidFill>
                  <a:schemeClr val="tx2"/>
                </a:solidFill>
                <a:latin typeface="Century Gothic" panose="020B0502020202020204" pitchFamily="34" charset="0"/>
                <a:ea typeface="+mn-ea"/>
                <a:cs typeface="Tahoma" panose="020B0604030504040204" pitchFamily="34" charset="0"/>
              </a:rPr>
              <a:t>Como era:</a:t>
            </a:r>
          </a:p>
        </p:txBody>
      </p:sp>
      <p:sp>
        <p:nvSpPr>
          <p:cNvPr id="21" name="Retângulo 20"/>
          <p:cNvSpPr/>
          <p:nvPr/>
        </p:nvSpPr>
        <p:spPr>
          <a:xfrm>
            <a:off x="4731659" y="275877"/>
            <a:ext cx="4136570" cy="3294637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solidFill>
              <a:srgbClr val="5DC3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PT"/>
          </a:p>
        </p:txBody>
      </p:sp>
      <p:sp>
        <p:nvSpPr>
          <p:cNvPr id="24" name="Subtítulo 5"/>
          <p:cNvSpPr txBox="1">
            <a:spLocks/>
          </p:cNvSpPr>
          <p:nvPr/>
        </p:nvSpPr>
        <p:spPr bwMode="auto">
          <a:xfrm>
            <a:off x="4811410" y="172817"/>
            <a:ext cx="3468914" cy="617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ctr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defRPr/>
            </a:pPr>
            <a:r>
              <a:rPr lang="en-US" altLang="pt-PT" sz="2600" b="1" dirty="0">
                <a:solidFill>
                  <a:schemeClr val="tx2"/>
                </a:solidFill>
                <a:latin typeface="Century Gothic" panose="020B0502020202020204" pitchFamily="34" charset="0"/>
                <a:ea typeface="+mn-ea"/>
                <a:cs typeface="Tahoma" panose="020B0604030504040204" pitchFamily="34" charset="0"/>
              </a:rPr>
              <a:t>Como ficou:</a:t>
            </a:r>
          </a:p>
        </p:txBody>
      </p:sp>
      <p:sp>
        <p:nvSpPr>
          <p:cNvPr id="28" name="Subtítulo 5"/>
          <p:cNvSpPr txBox="1">
            <a:spLocks/>
          </p:cNvSpPr>
          <p:nvPr/>
        </p:nvSpPr>
        <p:spPr bwMode="auto">
          <a:xfrm>
            <a:off x="420914" y="740289"/>
            <a:ext cx="3795490" cy="2400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just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defRPr/>
            </a:pPr>
            <a:r>
              <a:rPr lang="en-US" sz="2000" dirty="0"/>
              <a:t>  </a:t>
            </a:r>
            <a:r>
              <a:rPr lang="en-US" sz="2000" dirty="0" err="1"/>
              <a:t>Dúvidas</a:t>
            </a:r>
            <a:r>
              <a:rPr lang="en-US" sz="2000" dirty="0"/>
              <a:t> </a:t>
            </a:r>
            <a:r>
              <a:rPr lang="en-US" sz="2000" dirty="0" err="1"/>
              <a:t>na</a:t>
            </a:r>
            <a:r>
              <a:rPr lang="en-US" sz="2000" dirty="0"/>
              <a:t> </a:t>
            </a:r>
            <a:r>
              <a:rPr lang="en-US" sz="2000" dirty="0" err="1"/>
              <a:t>interpretação</a:t>
            </a:r>
            <a:r>
              <a:rPr lang="en-US" sz="2000" dirty="0"/>
              <a:t> de </a:t>
            </a:r>
            <a:r>
              <a:rPr lang="en-US" sz="2000" dirty="0" err="1"/>
              <a:t>legislações</a:t>
            </a:r>
            <a:r>
              <a:rPr lang="en-US" sz="2000" dirty="0"/>
              <a:t> </a:t>
            </a:r>
            <a:r>
              <a:rPr lang="en-US" sz="2000" dirty="0" err="1"/>
              <a:t>restringiam</a:t>
            </a:r>
            <a:r>
              <a:rPr lang="en-US" sz="2000" dirty="0"/>
              <a:t> a </a:t>
            </a:r>
            <a:r>
              <a:rPr lang="en-US" sz="2000" dirty="0" err="1"/>
              <a:t>liberdade</a:t>
            </a:r>
            <a:r>
              <a:rPr lang="en-US" sz="2000" dirty="0"/>
              <a:t> do </a:t>
            </a:r>
            <a:r>
              <a:rPr lang="en-US" sz="2000" dirty="0" err="1"/>
              <a:t>empreendedor</a:t>
            </a:r>
            <a:r>
              <a:rPr lang="en-US" sz="2000" dirty="0"/>
              <a:t>, </a:t>
            </a:r>
            <a:r>
              <a:rPr lang="en-US" sz="2000" dirty="0" err="1"/>
              <a:t>especialmente</a:t>
            </a:r>
            <a:r>
              <a:rPr lang="en-US" sz="2000" dirty="0"/>
              <a:t> </a:t>
            </a:r>
            <a:r>
              <a:rPr lang="en-US" sz="2000" dirty="0" err="1"/>
              <a:t>daqueles</a:t>
            </a:r>
            <a:r>
              <a:rPr lang="en-US" sz="2000" dirty="0"/>
              <a:t> com </a:t>
            </a:r>
            <a:r>
              <a:rPr lang="en-US" sz="2000" dirty="0" err="1"/>
              <a:t>menor</a:t>
            </a:r>
            <a:r>
              <a:rPr lang="en-US" sz="2000" dirty="0"/>
              <a:t> </a:t>
            </a:r>
            <a:r>
              <a:rPr lang="en-US" sz="2000" dirty="0" err="1"/>
              <a:t>potencial</a:t>
            </a:r>
            <a:r>
              <a:rPr lang="en-US" sz="2000" dirty="0"/>
              <a:t> </a:t>
            </a:r>
            <a:r>
              <a:rPr lang="en-US" sz="2000" dirty="0" err="1"/>
              <a:t>financeiro</a:t>
            </a:r>
            <a:endParaRPr lang="en-US" sz="2000" dirty="0"/>
          </a:p>
        </p:txBody>
      </p:sp>
      <p:sp>
        <p:nvSpPr>
          <p:cNvPr id="29" name="Subtítulo 5"/>
          <p:cNvSpPr txBox="1">
            <a:spLocks/>
          </p:cNvSpPr>
          <p:nvPr/>
        </p:nvSpPr>
        <p:spPr bwMode="auto">
          <a:xfrm>
            <a:off x="4811402" y="718521"/>
            <a:ext cx="3795490" cy="2862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just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defRPr/>
            </a:pPr>
            <a:r>
              <a:rPr lang="pt-BR" sz="2000" dirty="0"/>
              <a:t>  Permite que o princípio da presunção da boa-fé seja utilizado para interpretação em favor do particular em situações de duplo sentido ou lacuna legal</a:t>
            </a:r>
            <a:endParaRPr lang="en-US" sz="2000" dirty="0"/>
          </a:p>
        </p:txBody>
      </p:sp>
      <p:sp>
        <p:nvSpPr>
          <p:cNvPr id="18" name="Retângulo 17"/>
          <p:cNvSpPr/>
          <p:nvPr/>
        </p:nvSpPr>
        <p:spPr>
          <a:xfrm>
            <a:off x="522510" y="4252686"/>
            <a:ext cx="7968344" cy="2394857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PT"/>
          </a:p>
        </p:txBody>
      </p:sp>
      <p:sp>
        <p:nvSpPr>
          <p:cNvPr id="23" name="CaixaDeTexto 3"/>
          <p:cNvSpPr txBox="1">
            <a:spLocks noChangeArrowheads="1"/>
          </p:cNvSpPr>
          <p:nvPr/>
        </p:nvSpPr>
        <p:spPr bwMode="auto">
          <a:xfrm>
            <a:off x="2287632" y="7402673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endParaRPr lang="pt-BR" altLang="pt-BR"/>
          </a:p>
        </p:txBody>
      </p:sp>
      <p:sp>
        <p:nvSpPr>
          <p:cNvPr id="25" name="Subtítulo 5"/>
          <p:cNvSpPr txBox="1">
            <a:spLocks/>
          </p:cNvSpPr>
          <p:nvPr/>
        </p:nvSpPr>
        <p:spPr bwMode="auto">
          <a:xfrm>
            <a:off x="624110" y="3895696"/>
            <a:ext cx="7605486" cy="4966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just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defRPr/>
            </a:pPr>
            <a:r>
              <a:rPr lang="pt-BR" sz="2000" dirty="0">
                <a:latin typeface="Century Gothic" panose="020B0502020202020204" pitchFamily="34" charset="0"/>
                <a:ea typeface="+mn-ea"/>
                <a:cs typeface="Tahoma" panose="020B0604030504040204" pitchFamily="34" charset="0"/>
              </a:rPr>
              <a:t>  </a:t>
            </a:r>
            <a:endParaRPr lang="en-US" sz="2000" dirty="0">
              <a:latin typeface="Century Gothic" panose="020B0502020202020204" pitchFamily="34" charset="0"/>
              <a:ea typeface="+mn-ea"/>
              <a:cs typeface="Tahoma" panose="020B0604030504040204" pitchFamily="34" charset="0"/>
            </a:endParaRPr>
          </a:p>
        </p:txBody>
      </p:sp>
      <p:sp>
        <p:nvSpPr>
          <p:cNvPr id="30" name="Retângulo 29"/>
          <p:cNvSpPr/>
          <p:nvPr/>
        </p:nvSpPr>
        <p:spPr>
          <a:xfrm>
            <a:off x="524926" y="3833187"/>
            <a:ext cx="79804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eaLnBrk="1" hangingPunct="1">
              <a:spcAft>
                <a:spcPts val="600"/>
              </a:spcAft>
              <a:buClr>
                <a:schemeClr val="tx2"/>
              </a:buClr>
              <a:defRPr/>
            </a:pPr>
            <a:r>
              <a:rPr lang="pt-BR" b="1" u="sng" dirty="0">
                <a:solidFill>
                  <a:schemeClr val="tx2"/>
                </a:solidFill>
                <a:latin typeface="Century Gothic" charset="0"/>
                <a:ea typeface="Century Gothic" charset="0"/>
                <a:cs typeface="Century Gothic" charset="0"/>
              </a:rPr>
              <a:t>Exemplo </a:t>
            </a:r>
            <a:r>
              <a:rPr lang="pt-BR" dirty="0">
                <a:solidFill>
                  <a:schemeClr val="tx2"/>
                </a:solidFill>
                <a:latin typeface="Century Gothic" charset="0"/>
                <a:ea typeface="Century Gothic" charset="0"/>
                <a:cs typeface="Century Gothic" charset="0"/>
              </a:rPr>
              <a:t>:</a:t>
            </a:r>
          </a:p>
        </p:txBody>
      </p:sp>
      <p:sp>
        <p:nvSpPr>
          <p:cNvPr id="31" name="Subtítulo 5"/>
          <p:cNvSpPr txBox="1">
            <a:spLocks/>
          </p:cNvSpPr>
          <p:nvPr/>
        </p:nvSpPr>
        <p:spPr bwMode="auto">
          <a:xfrm>
            <a:off x="653141" y="4229524"/>
            <a:ext cx="7605486" cy="2400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just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defRPr/>
            </a:pPr>
            <a:r>
              <a:rPr lang="pt-BR" sz="2000" dirty="0"/>
              <a:t>  Em contratos franquia, a liberdade das partes de escolherem o foro aplicável era afastada por decisões em que se fazia analogia ao contrato de representação, a fim de restringir a autonomia das partes, mas essa interpretação estará vedada sem a existência de previsão legal clara e objetiva.</a:t>
            </a:r>
            <a:endParaRPr lang="en-US" sz="2000" dirty="0">
              <a:latin typeface="Century Gothic" panose="020B0502020202020204" pitchFamily="34" charset="0"/>
              <a:ea typeface="+mn-ea"/>
              <a:cs typeface="Tahoma" panose="020B0604030504040204" pitchFamily="34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0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0" grpId="0"/>
      <p:bldP spid="21" grpId="0" animBg="1"/>
      <p:bldP spid="24" grpId="0"/>
      <p:bldP spid="28" grpId="0"/>
      <p:bldP spid="29" grpId="0"/>
      <p:bldP spid="18" grpId="0" animBg="1"/>
      <p:bldP spid="25" grpId="0"/>
      <p:bldP spid="3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tângulo 26"/>
          <p:cNvSpPr/>
          <p:nvPr/>
        </p:nvSpPr>
        <p:spPr>
          <a:xfrm>
            <a:off x="566053" y="2380338"/>
            <a:ext cx="7968344" cy="2148119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PT"/>
          </a:p>
        </p:txBody>
      </p:sp>
      <p:sp>
        <p:nvSpPr>
          <p:cNvPr id="6159" name="CaixaDeTexto 2"/>
          <p:cNvSpPr txBox="1">
            <a:spLocks noChangeArrowheads="1"/>
          </p:cNvSpPr>
          <p:nvPr/>
        </p:nvSpPr>
        <p:spPr bwMode="auto">
          <a:xfrm>
            <a:off x="2902310" y="-421591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endParaRPr lang="pt-BR" altLang="pt-BR"/>
          </a:p>
        </p:txBody>
      </p:sp>
      <p:sp>
        <p:nvSpPr>
          <p:cNvPr id="3" name="CaixaDeTexto 2"/>
          <p:cNvSpPr txBox="1"/>
          <p:nvPr/>
        </p:nvSpPr>
        <p:spPr>
          <a:xfrm>
            <a:off x="4149090" y="672375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26" name="Subtítulo 5"/>
          <p:cNvSpPr txBox="1">
            <a:spLocks/>
          </p:cNvSpPr>
          <p:nvPr/>
        </p:nvSpPr>
        <p:spPr bwMode="auto">
          <a:xfrm>
            <a:off x="653139" y="2415184"/>
            <a:ext cx="7605486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just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buFont typeface="Wingdings" panose="05000000000000000000" pitchFamily="2" charset="2"/>
              <a:buChar char="§"/>
              <a:defRPr/>
            </a:pPr>
            <a:r>
              <a:rPr lang="pt-BR" sz="2000" dirty="0"/>
              <a:t> Para desenvolver, executar, operar ou comercializar novas modalidades de produtos e de serviços as normas </a:t>
            </a:r>
            <a:r>
              <a:rPr lang="pt-BR" sz="2000" dirty="0" err="1"/>
              <a:t>infralegais</a:t>
            </a:r>
            <a:r>
              <a:rPr lang="pt-BR" sz="2000" dirty="0"/>
              <a:t> brasileiras devem estar ultrapassadas tecnologicamente relativamente ao padrão internacional</a:t>
            </a:r>
            <a:endParaRPr lang="en-US" sz="2000" dirty="0"/>
          </a:p>
        </p:txBody>
      </p:sp>
      <p:sp>
        <p:nvSpPr>
          <p:cNvPr id="14" name="Título 4"/>
          <p:cNvSpPr>
            <a:spLocks/>
          </p:cNvSpPr>
          <p:nvPr/>
        </p:nvSpPr>
        <p:spPr bwMode="auto">
          <a:xfrm>
            <a:off x="298558" y="323166"/>
            <a:ext cx="8642242" cy="892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3600"/>
              </a:spcBef>
              <a:defRPr/>
            </a:pPr>
            <a:r>
              <a:rPr lang="pt-BR" altLang="pt-PT" sz="2600" b="1" dirty="0">
                <a:solidFill>
                  <a:schemeClr val="tx2"/>
                </a:solidFill>
                <a:latin typeface="Century Gothic" panose="020B0502020202020204" pitchFamily="34" charset="0"/>
                <a:ea typeface="+mn-ea"/>
                <a:cs typeface="Tahoma" panose="020B0604030504040204" pitchFamily="34" charset="0"/>
              </a:rPr>
              <a:t>Afastar normas </a:t>
            </a:r>
            <a:r>
              <a:rPr lang="pt-BR" altLang="pt-PT" sz="2600" b="1" dirty="0" err="1">
                <a:solidFill>
                  <a:schemeClr val="tx2"/>
                </a:solidFill>
                <a:latin typeface="Century Gothic" panose="020B0502020202020204" pitchFamily="34" charset="0"/>
                <a:ea typeface="+mn-ea"/>
                <a:cs typeface="Tahoma" panose="020B0604030504040204" pitchFamily="34" charset="0"/>
              </a:rPr>
              <a:t>infralegais</a:t>
            </a:r>
            <a:r>
              <a:rPr lang="pt-BR" altLang="pt-PT" sz="2600" b="1" dirty="0">
                <a:solidFill>
                  <a:schemeClr val="tx2"/>
                </a:solidFill>
                <a:latin typeface="Century Gothic" panose="020B0502020202020204" pitchFamily="34" charset="0"/>
                <a:ea typeface="+mn-ea"/>
                <a:cs typeface="Tahoma" panose="020B0604030504040204" pitchFamily="34" charset="0"/>
              </a:rPr>
              <a:t> quando se tornarem desatualizadas frente à prática internacional</a:t>
            </a:r>
          </a:p>
        </p:txBody>
      </p:sp>
      <p:sp>
        <p:nvSpPr>
          <p:cNvPr id="18" name="Retângulo 17"/>
          <p:cNvSpPr/>
          <p:nvPr/>
        </p:nvSpPr>
        <p:spPr>
          <a:xfrm>
            <a:off x="347185" y="1267291"/>
            <a:ext cx="657613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pt-B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ea typeface="+mn-ea"/>
                <a:cs typeface="Tahoma" panose="020B0604030504040204" pitchFamily="34" charset="0"/>
              </a:rPr>
              <a:t>Art. 3º, inciso VI</a:t>
            </a:r>
          </a:p>
        </p:txBody>
      </p:sp>
      <p:sp>
        <p:nvSpPr>
          <p:cNvPr id="23" name="Retângulo 22"/>
          <p:cNvSpPr/>
          <p:nvPr/>
        </p:nvSpPr>
        <p:spPr>
          <a:xfrm>
            <a:off x="481385" y="1960795"/>
            <a:ext cx="13516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spcAft>
                <a:spcPts val="1951"/>
              </a:spcAft>
              <a:buClr>
                <a:schemeClr val="tx2"/>
              </a:buClr>
              <a:defRPr/>
            </a:pPr>
            <a:r>
              <a:rPr lang="pt-BR" b="1" u="sng" dirty="0">
                <a:solidFill>
                  <a:schemeClr val="tx2"/>
                </a:solidFill>
                <a:latin typeface="Century Gothic" charset="0"/>
                <a:ea typeface="Century Gothic" charset="0"/>
                <a:cs typeface="Century Gothic" charset="0"/>
              </a:rPr>
              <a:t>Requisitos:</a:t>
            </a:r>
          </a:p>
        </p:txBody>
      </p:sp>
      <p:sp>
        <p:nvSpPr>
          <p:cNvPr id="25" name="Retângulo 24"/>
          <p:cNvSpPr/>
          <p:nvPr/>
        </p:nvSpPr>
        <p:spPr>
          <a:xfrm>
            <a:off x="155345" y="304583"/>
            <a:ext cx="120425" cy="1321017"/>
          </a:xfrm>
          <a:prstGeom prst="rect">
            <a:avLst/>
          </a:prstGeom>
          <a:solidFill>
            <a:srgbClr val="60B0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PT"/>
          </a:p>
        </p:txBody>
      </p:sp>
      <p:sp>
        <p:nvSpPr>
          <p:cNvPr id="10" name="Retângulo 9"/>
          <p:cNvSpPr/>
          <p:nvPr/>
        </p:nvSpPr>
        <p:spPr>
          <a:xfrm>
            <a:off x="566053" y="4702635"/>
            <a:ext cx="7968344" cy="1567543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PT"/>
          </a:p>
        </p:txBody>
      </p:sp>
      <p:sp>
        <p:nvSpPr>
          <p:cNvPr id="11" name="Subtítulo 5"/>
          <p:cNvSpPr txBox="1">
            <a:spLocks/>
          </p:cNvSpPr>
          <p:nvPr/>
        </p:nvSpPr>
        <p:spPr bwMode="auto">
          <a:xfrm>
            <a:off x="624111" y="4635875"/>
            <a:ext cx="7605486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just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buFont typeface="Wingdings" panose="05000000000000000000" pitchFamily="2" charset="2"/>
              <a:buChar char="§"/>
              <a:defRPr/>
            </a:pPr>
            <a:r>
              <a:rPr lang="pt-BR" sz="2000" dirty="0"/>
              <a:t> Regulamento disciplinará os requisitos para aferição da situação concreta, os procedimentos, o momento e as condições dos efeitos</a:t>
            </a:r>
            <a:endParaRPr lang="en-US" sz="20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6" grpId="0"/>
      <p:bldP spid="14" grpId="0"/>
      <p:bldP spid="18" grpId="0"/>
      <p:bldP spid="25" grpId="0" animBg="1"/>
      <p:bldP spid="10" grpId="0" animBg="1"/>
      <p:bldP spid="1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aixaDeTexto 1"/>
          <p:cNvSpPr txBox="1">
            <a:spLocks noChangeArrowheads="1"/>
          </p:cNvSpPr>
          <p:nvPr/>
        </p:nvSpPr>
        <p:spPr bwMode="auto">
          <a:xfrm>
            <a:off x="2596569" y="1040128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endParaRPr lang="pt-BR" altLang="pt-BR"/>
          </a:p>
        </p:txBody>
      </p:sp>
      <p:sp>
        <p:nvSpPr>
          <p:cNvPr id="16" name="CaixaDeTexto 3"/>
          <p:cNvSpPr txBox="1">
            <a:spLocks noChangeArrowheads="1"/>
          </p:cNvSpPr>
          <p:nvPr/>
        </p:nvSpPr>
        <p:spPr bwMode="auto">
          <a:xfrm>
            <a:off x="2396491" y="675361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endParaRPr lang="pt-BR" altLang="pt-BR"/>
          </a:p>
        </p:txBody>
      </p:sp>
      <p:sp>
        <p:nvSpPr>
          <p:cNvPr id="17" name="Retângulo 16"/>
          <p:cNvSpPr/>
          <p:nvPr/>
        </p:nvSpPr>
        <p:spPr>
          <a:xfrm>
            <a:off x="290287" y="268616"/>
            <a:ext cx="4122056" cy="3722813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just">
              <a:defRPr/>
            </a:pPr>
            <a:endParaRPr lang="pt-PT" dirty="0"/>
          </a:p>
        </p:txBody>
      </p:sp>
      <p:sp>
        <p:nvSpPr>
          <p:cNvPr id="20" name="Subtítulo 5"/>
          <p:cNvSpPr txBox="1">
            <a:spLocks/>
          </p:cNvSpPr>
          <p:nvPr/>
        </p:nvSpPr>
        <p:spPr bwMode="auto">
          <a:xfrm>
            <a:off x="725716" y="194585"/>
            <a:ext cx="3468914" cy="617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ctr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defRPr/>
            </a:pPr>
            <a:r>
              <a:rPr lang="en-US" altLang="pt-PT" sz="2600" b="1" dirty="0">
                <a:solidFill>
                  <a:schemeClr val="tx2"/>
                </a:solidFill>
                <a:latin typeface="Century Gothic" panose="020B0502020202020204" pitchFamily="34" charset="0"/>
                <a:ea typeface="+mn-ea"/>
                <a:cs typeface="Tahoma" panose="020B0604030504040204" pitchFamily="34" charset="0"/>
              </a:rPr>
              <a:t>Como era:</a:t>
            </a:r>
          </a:p>
        </p:txBody>
      </p:sp>
      <p:sp>
        <p:nvSpPr>
          <p:cNvPr id="21" name="Retângulo 20"/>
          <p:cNvSpPr/>
          <p:nvPr/>
        </p:nvSpPr>
        <p:spPr>
          <a:xfrm>
            <a:off x="4731659" y="275877"/>
            <a:ext cx="4136570" cy="3701037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solidFill>
              <a:srgbClr val="5DC3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PT"/>
          </a:p>
        </p:txBody>
      </p:sp>
      <p:sp>
        <p:nvSpPr>
          <p:cNvPr id="24" name="Subtítulo 5"/>
          <p:cNvSpPr txBox="1">
            <a:spLocks/>
          </p:cNvSpPr>
          <p:nvPr/>
        </p:nvSpPr>
        <p:spPr bwMode="auto">
          <a:xfrm>
            <a:off x="4811410" y="172817"/>
            <a:ext cx="3468914" cy="617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ctr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defRPr/>
            </a:pPr>
            <a:r>
              <a:rPr lang="en-US" altLang="pt-PT" sz="2600" b="1" dirty="0">
                <a:solidFill>
                  <a:schemeClr val="tx2"/>
                </a:solidFill>
                <a:latin typeface="Century Gothic" panose="020B0502020202020204" pitchFamily="34" charset="0"/>
                <a:ea typeface="+mn-ea"/>
                <a:cs typeface="Tahoma" panose="020B0604030504040204" pitchFamily="34" charset="0"/>
              </a:rPr>
              <a:t>Como ficou:</a:t>
            </a:r>
          </a:p>
        </p:txBody>
      </p:sp>
      <p:sp>
        <p:nvSpPr>
          <p:cNvPr id="28" name="Subtítulo 5"/>
          <p:cNvSpPr txBox="1">
            <a:spLocks/>
          </p:cNvSpPr>
          <p:nvPr/>
        </p:nvSpPr>
        <p:spPr bwMode="auto">
          <a:xfrm>
            <a:off x="420914" y="740289"/>
            <a:ext cx="3795490" cy="2862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just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defRPr/>
            </a:pPr>
            <a:r>
              <a:rPr lang="en-US" sz="2000" dirty="0"/>
              <a:t>  </a:t>
            </a:r>
            <a:r>
              <a:rPr lang="pt-BR" sz="2000" dirty="0"/>
              <a:t>Antigas regulações acabavam atrapalhando o novos produtos e serviços brasileiros, mesmo quando já havia sido eliminado o risco da restrição em outros países</a:t>
            </a:r>
            <a:endParaRPr lang="en-US" sz="2000" dirty="0"/>
          </a:p>
        </p:txBody>
      </p:sp>
      <p:sp>
        <p:nvSpPr>
          <p:cNvPr id="29" name="Subtítulo 5"/>
          <p:cNvSpPr txBox="1">
            <a:spLocks/>
          </p:cNvSpPr>
          <p:nvPr/>
        </p:nvSpPr>
        <p:spPr bwMode="auto">
          <a:xfrm>
            <a:off x="4811402" y="573381"/>
            <a:ext cx="3795490" cy="332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just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defRPr/>
            </a:pPr>
            <a:r>
              <a:rPr lang="pt-BR" sz="2000" dirty="0"/>
              <a:t>  Haverá um procedimento administrativo que poderá ser usado para afastar o efeito de restrição na hipótese das regras do pais estarem defasadas comparativamente à pratica internacional.</a:t>
            </a:r>
            <a:endParaRPr lang="en-US" sz="2000" dirty="0"/>
          </a:p>
        </p:txBody>
      </p:sp>
      <p:sp>
        <p:nvSpPr>
          <p:cNvPr id="18" name="Retângulo 17"/>
          <p:cNvSpPr/>
          <p:nvPr/>
        </p:nvSpPr>
        <p:spPr>
          <a:xfrm>
            <a:off x="522510" y="4484910"/>
            <a:ext cx="7968344" cy="2046514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PT"/>
          </a:p>
        </p:txBody>
      </p:sp>
      <p:sp>
        <p:nvSpPr>
          <p:cNvPr id="23" name="CaixaDeTexto 3"/>
          <p:cNvSpPr txBox="1">
            <a:spLocks noChangeArrowheads="1"/>
          </p:cNvSpPr>
          <p:nvPr/>
        </p:nvSpPr>
        <p:spPr bwMode="auto">
          <a:xfrm>
            <a:off x="2287632" y="7402673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endParaRPr lang="pt-BR" altLang="pt-BR"/>
          </a:p>
        </p:txBody>
      </p:sp>
      <p:sp>
        <p:nvSpPr>
          <p:cNvPr id="25" name="Subtítulo 5"/>
          <p:cNvSpPr txBox="1">
            <a:spLocks/>
          </p:cNvSpPr>
          <p:nvPr/>
        </p:nvSpPr>
        <p:spPr bwMode="auto">
          <a:xfrm>
            <a:off x="624110" y="3895696"/>
            <a:ext cx="7605486" cy="4966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just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defRPr/>
            </a:pPr>
            <a:r>
              <a:rPr lang="pt-BR" sz="2000" dirty="0">
                <a:latin typeface="Century Gothic" panose="020B0502020202020204" pitchFamily="34" charset="0"/>
                <a:ea typeface="+mn-ea"/>
                <a:cs typeface="Tahoma" panose="020B0604030504040204" pitchFamily="34" charset="0"/>
              </a:rPr>
              <a:t>  </a:t>
            </a:r>
            <a:endParaRPr lang="en-US" sz="2000" dirty="0">
              <a:latin typeface="Century Gothic" panose="020B0502020202020204" pitchFamily="34" charset="0"/>
              <a:ea typeface="+mn-ea"/>
              <a:cs typeface="Tahoma" panose="020B0604030504040204" pitchFamily="34" charset="0"/>
            </a:endParaRPr>
          </a:p>
        </p:txBody>
      </p:sp>
      <p:sp>
        <p:nvSpPr>
          <p:cNvPr id="30" name="Retângulo 29"/>
          <p:cNvSpPr/>
          <p:nvPr/>
        </p:nvSpPr>
        <p:spPr>
          <a:xfrm>
            <a:off x="524926" y="4108953"/>
            <a:ext cx="79804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eaLnBrk="1" hangingPunct="1">
              <a:spcAft>
                <a:spcPts val="600"/>
              </a:spcAft>
              <a:buClr>
                <a:schemeClr val="tx2"/>
              </a:buClr>
              <a:defRPr/>
            </a:pPr>
            <a:r>
              <a:rPr lang="pt-BR" b="1" u="sng" dirty="0">
                <a:solidFill>
                  <a:schemeClr val="tx2"/>
                </a:solidFill>
                <a:latin typeface="Century Gothic" charset="0"/>
                <a:ea typeface="Century Gothic" charset="0"/>
                <a:cs typeface="Century Gothic" charset="0"/>
              </a:rPr>
              <a:t>Exemplo </a:t>
            </a:r>
            <a:r>
              <a:rPr lang="pt-BR" dirty="0">
                <a:solidFill>
                  <a:schemeClr val="tx2"/>
                </a:solidFill>
                <a:latin typeface="Century Gothic" charset="0"/>
                <a:ea typeface="Century Gothic" charset="0"/>
                <a:cs typeface="Century Gothic" charset="0"/>
              </a:rPr>
              <a:t>:</a:t>
            </a:r>
          </a:p>
        </p:txBody>
      </p:sp>
      <p:sp>
        <p:nvSpPr>
          <p:cNvPr id="31" name="Subtítulo 5"/>
          <p:cNvSpPr txBox="1">
            <a:spLocks/>
          </p:cNvSpPr>
          <p:nvPr/>
        </p:nvSpPr>
        <p:spPr bwMode="auto">
          <a:xfrm>
            <a:off x="653141" y="4461748"/>
            <a:ext cx="7605486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just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defRPr/>
            </a:pPr>
            <a:r>
              <a:rPr lang="pt-BR" sz="2000" dirty="0"/>
              <a:t> Uma empresa proibida de utilizar equipamentos de bronzeamento artificial pela Resolução da ANVISA, poderá utilizar o equipamento se em outros países a causa da proibição brasileira tiver sido superada devido à evolução da tecnologia.</a:t>
            </a:r>
            <a:endParaRPr lang="en-US" sz="2000" dirty="0">
              <a:latin typeface="Century Gothic" panose="020B0502020202020204" pitchFamily="34" charset="0"/>
              <a:ea typeface="+mn-ea"/>
              <a:cs typeface="Tahoma" panose="020B0604030504040204" pitchFamily="34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0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0" grpId="0"/>
      <p:bldP spid="21" grpId="0" animBg="1"/>
      <p:bldP spid="24" grpId="0"/>
      <p:bldP spid="28" grpId="0"/>
      <p:bldP spid="29" grpId="0"/>
      <p:bldP spid="18" grpId="0" animBg="1"/>
      <p:bldP spid="25" grpId="0"/>
      <p:bldP spid="3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tângulo 26"/>
          <p:cNvSpPr/>
          <p:nvPr/>
        </p:nvSpPr>
        <p:spPr>
          <a:xfrm>
            <a:off x="566053" y="2380338"/>
            <a:ext cx="7968344" cy="2162633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PT"/>
          </a:p>
        </p:txBody>
      </p:sp>
      <p:sp>
        <p:nvSpPr>
          <p:cNvPr id="6159" name="CaixaDeTexto 2"/>
          <p:cNvSpPr txBox="1">
            <a:spLocks noChangeArrowheads="1"/>
          </p:cNvSpPr>
          <p:nvPr/>
        </p:nvSpPr>
        <p:spPr bwMode="auto">
          <a:xfrm>
            <a:off x="2902310" y="-421591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endParaRPr lang="pt-BR" altLang="pt-BR"/>
          </a:p>
        </p:txBody>
      </p:sp>
      <p:sp>
        <p:nvSpPr>
          <p:cNvPr id="3" name="CaixaDeTexto 2"/>
          <p:cNvSpPr txBox="1"/>
          <p:nvPr/>
        </p:nvSpPr>
        <p:spPr>
          <a:xfrm>
            <a:off x="4149090" y="63899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26" name="Subtítulo 5"/>
          <p:cNvSpPr txBox="1">
            <a:spLocks/>
          </p:cNvSpPr>
          <p:nvPr/>
        </p:nvSpPr>
        <p:spPr bwMode="auto">
          <a:xfrm>
            <a:off x="653139" y="2415184"/>
            <a:ext cx="7605486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just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buFont typeface="Wingdings" panose="05000000000000000000" pitchFamily="2" charset="2"/>
              <a:buChar char="§"/>
              <a:defRPr/>
            </a:pPr>
            <a:r>
              <a:rPr lang="pt-BR" sz="2000" dirty="0"/>
              <a:t> Os negócios jurídicos empresariais paritários serão objeto de livre estipulação das partes pactuantes, de forma a aplicar todas as regras de direito empresarial apenas de maneira subsidiária ao avençado, exceto normas de ordem pública</a:t>
            </a:r>
            <a:endParaRPr lang="en-US" sz="2000" dirty="0"/>
          </a:p>
        </p:txBody>
      </p:sp>
      <p:sp>
        <p:nvSpPr>
          <p:cNvPr id="14" name="Título 4"/>
          <p:cNvSpPr>
            <a:spLocks/>
          </p:cNvSpPr>
          <p:nvPr/>
        </p:nvSpPr>
        <p:spPr bwMode="auto">
          <a:xfrm>
            <a:off x="313072" y="569913"/>
            <a:ext cx="8642242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3600"/>
              </a:spcBef>
              <a:defRPr/>
            </a:pPr>
            <a:r>
              <a:rPr lang="pt-BR" altLang="pt-PT" sz="2600" b="1" dirty="0">
                <a:solidFill>
                  <a:schemeClr val="tx2"/>
                </a:solidFill>
                <a:latin typeface="Century Gothic" panose="020B0502020202020204" pitchFamily="34" charset="0"/>
                <a:ea typeface="+mn-ea"/>
                <a:cs typeface="Tahoma" panose="020B0604030504040204" pitchFamily="34" charset="0"/>
              </a:rPr>
              <a:t>Os contratos empresariais devem ser respeitados</a:t>
            </a:r>
          </a:p>
        </p:txBody>
      </p:sp>
      <p:sp>
        <p:nvSpPr>
          <p:cNvPr id="18" name="Retângulo 17"/>
          <p:cNvSpPr/>
          <p:nvPr/>
        </p:nvSpPr>
        <p:spPr>
          <a:xfrm>
            <a:off x="347185" y="1238263"/>
            <a:ext cx="657613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pt-B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ea typeface="+mn-ea"/>
                <a:cs typeface="Tahoma" panose="020B0604030504040204" pitchFamily="34" charset="0"/>
              </a:rPr>
              <a:t>Art. 3º, inciso VIII</a:t>
            </a:r>
          </a:p>
        </p:txBody>
      </p:sp>
      <p:sp>
        <p:nvSpPr>
          <p:cNvPr id="23" name="Retângulo 22"/>
          <p:cNvSpPr/>
          <p:nvPr/>
        </p:nvSpPr>
        <p:spPr>
          <a:xfrm>
            <a:off x="481385" y="1960795"/>
            <a:ext cx="13516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spcAft>
                <a:spcPts val="1951"/>
              </a:spcAft>
              <a:buClr>
                <a:schemeClr val="tx2"/>
              </a:buClr>
              <a:defRPr/>
            </a:pPr>
            <a:r>
              <a:rPr lang="pt-BR" b="1" u="sng" dirty="0">
                <a:solidFill>
                  <a:schemeClr val="tx2"/>
                </a:solidFill>
                <a:latin typeface="Century Gothic" charset="0"/>
                <a:ea typeface="Century Gothic" charset="0"/>
                <a:cs typeface="Century Gothic" charset="0"/>
              </a:rPr>
              <a:t>Requisitos:</a:t>
            </a:r>
          </a:p>
        </p:txBody>
      </p:sp>
      <p:sp>
        <p:nvSpPr>
          <p:cNvPr id="25" name="Retângulo 24"/>
          <p:cNvSpPr/>
          <p:nvPr/>
        </p:nvSpPr>
        <p:spPr>
          <a:xfrm>
            <a:off x="155345" y="304583"/>
            <a:ext cx="120425" cy="1321017"/>
          </a:xfrm>
          <a:prstGeom prst="rect">
            <a:avLst/>
          </a:prstGeom>
          <a:solidFill>
            <a:srgbClr val="60B0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PT"/>
          </a:p>
        </p:txBody>
      </p:sp>
      <p:sp>
        <p:nvSpPr>
          <p:cNvPr id="10" name="Retângulo 9"/>
          <p:cNvSpPr/>
          <p:nvPr/>
        </p:nvSpPr>
        <p:spPr>
          <a:xfrm>
            <a:off x="566053" y="4688121"/>
            <a:ext cx="7968344" cy="1988449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PT"/>
          </a:p>
        </p:txBody>
      </p:sp>
      <p:sp>
        <p:nvSpPr>
          <p:cNvPr id="11" name="Subtítulo 5"/>
          <p:cNvSpPr txBox="1">
            <a:spLocks/>
          </p:cNvSpPr>
          <p:nvPr/>
        </p:nvSpPr>
        <p:spPr bwMode="auto">
          <a:xfrm>
            <a:off x="638625" y="4708450"/>
            <a:ext cx="7605486" cy="1881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just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buFont typeface="Wingdings" panose="05000000000000000000" pitchFamily="2" charset="2"/>
              <a:buChar char="§"/>
              <a:defRPr/>
            </a:pPr>
            <a:r>
              <a:rPr lang="pt-BR" sz="2000" dirty="0"/>
              <a:t> O Estado deve atuar de forma mínima e excepcional quando instado a se manifestar para anular, rever ou redimensionar cláusulas contratuais, devendo respeitar o princípio da autonomia da vontade e da liberdade contratual</a:t>
            </a:r>
            <a:endParaRPr lang="en-US" sz="20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6" grpId="0"/>
      <p:bldP spid="14" grpId="0"/>
      <p:bldP spid="18" grpId="0"/>
      <p:bldP spid="25" grpId="0" animBg="1"/>
      <p:bldP spid="10" grpId="0" animBg="1"/>
      <p:bldP spid="1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aixaDeTexto 1"/>
          <p:cNvSpPr txBox="1">
            <a:spLocks noChangeArrowheads="1"/>
          </p:cNvSpPr>
          <p:nvPr/>
        </p:nvSpPr>
        <p:spPr bwMode="auto">
          <a:xfrm>
            <a:off x="2596569" y="1185268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endParaRPr lang="pt-BR" altLang="pt-BR"/>
          </a:p>
        </p:txBody>
      </p:sp>
      <p:sp>
        <p:nvSpPr>
          <p:cNvPr id="16" name="CaixaDeTexto 3"/>
          <p:cNvSpPr txBox="1">
            <a:spLocks noChangeArrowheads="1"/>
          </p:cNvSpPr>
          <p:nvPr/>
        </p:nvSpPr>
        <p:spPr bwMode="auto">
          <a:xfrm>
            <a:off x="2396491" y="820501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endParaRPr lang="pt-BR" altLang="pt-BR"/>
          </a:p>
        </p:txBody>
      </p:sp>
      <p:sp>
        <p:nvSpPr>
          <p:cNvPr id="17" name="Retângulo 16"/>
          <p:cNvSpPr/>
          <p:nvPr/>
        </p:nvSpPr>
        <p:spPr>
          <a:xfrm>
            <a:off x="290287" y="413756"/>
            <a:ext cx="4122056" cy="3301897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just">
              <a:defRPr/>
            </a:pPr>
            <a:endParaRPr lang="pt-PT" dirty="0"/>
          </a:p>
        </p:txBody>
      </p:sp>
      <p:sp>
        <p:nvSpPr>
          <p:cNvPr id="20" name="Subtítulo 5"/>
          <p:cNvSpPr txBox="1">
            <a:spLocks/>
          </p:cNvSpPr>
          <p:nvPr/>
        </p:nvSpPr>
        <p:spPr bwMode="auto">
          <a:xfrm>
            <a:off x="725716" y="339725"/>
            <a:ext cx="3468914" cy="617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ctr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defRPr/>
            </a:pPr>
            <a:r>
              <a:rPr lang="en-US" altLang="pt-PT" sz="2600" b="1" dirty="0">
                <a:solidFill>
                  <a:schemeClr val="tx2"/>
                </a:solidFill>
                <a:latin typeface="Century Gothic" panose="020B0502020202020204" pitchFamily="34" charset="0"/>
                <a:ea typeface="+mn-ea"/>
                <a:cs typeface="Tahoma" panose="020B0604030504040204" pitchFamily="34" charset="0"/>
              </a:rPr>
              <a:t>Como era:</a:t>
            </a:r>
          </a:p>
        </p:txBody>
      </p:sp>
      <p:sp>
        <p:nvSpPr>
          <p:cNvPr id="21" name="Retângulo 20"/>
          <p:cNvSpPr/>
          <p:nvPr/>
        </p:nvSpPr>
        <p:spPr>
          <a:xfrm>
            <a:off x="4731659" y="421017"/>
            <a:ext cx="4136570" cy="3294637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solidFill>
              <a:srgbClr val="5DC3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PT"/>
          </a:p>
        </p:txBody>
      </p:sp>
      <p:sp>
        <p:nvSpPr>
          <p:cNvPr id="24" name="Subtítulo 5"/>
          <p:cNvSpPr txBox="1">
            <a:spLocks/>
          </p:cNvSpPr>
          <p:nvPr/>
        </p:nvSpPr>
        <p:spPr bwMode="auto">
          <a:xfrm>
            <a:off x="4811410" y="317957"/>
            <a:ext cx="3468914" cy="617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ctr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defRPr/>
            </a:pPr>
            <a:r>
              <a:rPr lang="en-US" altLang="pt-PT" sz="2600" b="1" dirty="0">
                <a:solidFill>
                  <a:schemeClr val="tx2"/>
                </a:solidFill>
                <a:latin typeface="Century Gothic" panose="020B0502020202020204" pitchFamily="34" charset="0"/>
                <a:ea typeface="+mn-ea"/>
                <a:cs typeface="Tahoma" panose="020B0604030504040204" pitchFamily="34" charset="0"/>
              </a:rPr>
              <a:t>Como ficou:</a:t>
            </a:r>
          </a:p>
        </p:txBody>
      </p:sp>
      <p:sp>
        <p:nvSpPr>
          <p:cNvPr id="28" name="Subtítulo 5"/>
          <p:cNvSpPr txBox="1">
            <a:spLocks/>
          </p:cNvSpPr>
          <p:nvPr/>
        </p:nvSpPr>
        <p:spPr bwMode="auto">
          <a:xfrm>
            <a:off x="420914" y="885429"/>
            <a:ext cx="3795490" cy="2862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just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defRPr/>
            </a:pPr>
            <a:r>
              <a:rPr lang="en-US" sz="2000" dirty="0"/>
              <a:t>  </a:t>
            </a:r>
            <a:r>
              <a:rPr lang="en-US" sz="2000" dirty="0" err="1"/>
              <a:t>Uma</a:t>
            </a:r>
            <a:r>
              <a:rPr lang="pt-BR" sz="2000" dirty="0"/>
              <a:t> parte de contrato empresarial poderia se valer da interpretação de norma geral para se beneficiar, contrariamente ao que foi acordado</a:t>
            </a:r>
            <a:endParaRPr lang="en-US" sz="2000" dirty="0"/>
          </a:p>
        </p:txBody>
      </p:sp>
      <p:sp>
        <p:nvSpPr>
          <p:cNvPr id="29" name="Subtítulo 5"/>
          <p:cNvSpPr txBox="1">
            <a:spLocks/>
          </p:cNvSpPr>
          <p:nvPr/>
        </p:nvSpPr>
        <p:spPr bwMode="auto">
          <a:xfrm>
            <a:off x="4811402" y="921717"/>
            <a:ext cx="3795490" cy="2400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just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defRPr/>
            </a:pPr>
            <a:r>
              <a:rPr lang="pt-BR" sz="2000" dirty="0"/>
              <a:t>  Prestigia a autonomia da vontade na celebração de contratos, concedendo segurança jurídica ao instrumento</a:t>
            </a:r>
            <a:endParaRPr lang="en-US" sz="2000" dirty="0"/>
          </a:p>
        </p:txBody>
      </p:sp>
      <p:sp>
        <p:nvSpPr>
          <p:cNvPr id="18" name="Retângulo 17"/>
          <p:cNvSpPr/>
          <p:nvPr/>
        </p:nvSpPr>
        <p:spPr>
          <a:xfrm>
            <a:off x="522510" y="4586506"/>
            <a:ext cx="7968344" cy="2002979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PT"/>
          </a:p>
        </p:txBody>
      </p:sp>
      <p:sp>
        <p:nvSpPr>
          <p:cNvPr id="23" name="CaixaDeTexto 3"/>
          <p:cNvSpPr txBox="1">
            <a:spLocks noChangeArrowheads="1"/>
          </p:cNvSpPr>
          <p:nvPr/>
        </p:nvSpPr>
        <p:spPr bwMode="auto">
          <a:xfrm>
            <a:off x="2287632" y="7402673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endParaRPr lang="pt-BR" altLang="pt-BR"/>
          </a:p>
        </p:txBody>
      </p:sp>
      <p:sp>
        <p:nvSpPr>
          <p:cNvPr id="30" name="Retângulo 29"/>
          <p:cNvSpPr/>
          <p:nvPr/>
        </p:nvSpPr>
        <p:spPr>
          <a:xfrm>
            <a:off x="524926" y="4152495"/>
            <a:ext cx="79804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eaLnBrk="1" hangingPunct="1">
              <a:spcAft>
                <a:spcPts val="600"/>
              </a:spcAft>
              <a:buClr>
                <a:schemeClr val="tx2"/>
              </a:buClr>
              <a:defRPr/>
            </a:pPr>
            <a:r>
              <a:rPr lang="pt-BR" b="1" u="sng" dirty="0">
                <a:solidFill>
                  <a:schemeClr val="tx2"/>
                </a:solidFill>
                <a:latin typeface="Century Gothic" charset="0"/>
                <a:ea typeface="Century Gothic" charset="0"/>
                <a:cs typeface="Century Gothic" charset="0"/>
              </a:rPr>
              <a:t>Exemplo </a:t>
            </a:r>
            <a:r>
              <a:rPr lang="pt-BR" dirty="0">
                <a:solidFill>
                  <a:schemeClr val="tx2"/>
                </a:solidFill>
                <a:latin typeface="Century Gothic" charset="0"/>
                <a:ea typeface="Century Gothic" charset="0"/>
                <a:cs typeface="Century Gothic" charset="0"/>
              </a:rPr>
              <a:t>:</a:t>
            </a:r>
          </a:p>
        </p:txBody>
      </p:sp>
      <p:sp>
        <p:nvSpPr>
          <p:cNvPr id="31" name="Subtítulo 5"/>
          <p:cNvSpPr txBox="1">
            <a:spLocks/>
          </p:cNvSpPr>
          <p:nvPr/>
        </p:nvSpPr>
        <p:spPr bwMode="auto">
          <a:xfrm>
            <a:off x="653141" y="4563346"/>
            <a:ext cx="7605486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just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defRPr/>
            </a:pPr>
            <a:r>
              <a:rPr lang="pt-BR" sz="2000" dirty="0"/>
              <a:t>  Um sócio não poderá desconstituir judicialmente a decisão de outro sobre o percentual de faturamento definido como pró labore ao sócio-administrador, caso ambos assim tenham firmado no Contrato</a:t>
            </a:r>
            <a:endParaRPr lang="en-US" sz="20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5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0" grpId="0"/>
      <p:bldP spid="21" grpId="0" animBg="1"/>
      <p:bldP spid="24" grpId="0"/>
      <p:bldP spid="28" grpId="0"/>
      <p:bldP spid="29" grpId="0"/>
      <p:bldP spid="18" grpId="0" animBg="1"/>
      <p:bldP spid="3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tângulo 26"/>
          <p:cNvSpPr/>
          <p:nvPr/>
        </p:nvSpPr>
        <p:spPr>
          <a:xfrm>
            <a:off x="566053" y="2380338"/>
            <a:ext cx="7968344" cy="3875319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PT"/>
          </a:p>
        </p:txBody>
      </p:sp>
      <p:sp>
        <p:nvSpPr>
          <p:cNvPr id="6159" name="CaixaDeTexto 2"/>
          <p:cNvSpPr txBox="1">
            <a:spLocks noChangeArrowheads="1"/>
          </p:cNvSpPr>
          <p:nvPr/>
        </p:nvSpPr>
        <p:spPr bwMode="auto">
          <a:xfrm>
            <a:off x="2902310" y="-421591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endParaRPr lang="pt-BR" altLang="pt-BR"/>
          </a:p>
        </p:txBody>
      </p:sp>
      <p:sp>
        <p:nvSpPr>
          <p:cNvPr id="3" name="CaixaDeTexto 2"/>
          <p:cNvSpPr txBox="1"/>
          <p:nvPr/>
        </p:nvSpPr>
        <p:spPr>
          <a:xfrm>
            <a:off x="4149090" y="63899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26" name="Subtítulo 5"/>
          <p:cNvSpPr txBox="1">
            <a:spLocks/>
          </p:cNvSpPr>
          <p:nvPr/>
        </p:nvSpPr>
        <p:spPr bwMode="auto">
          <a:xfrm>
            <a:off x="653139" y="2415184"/>
            <a:ext cx="7605486" cy="3728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just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buFont typeface="Wingdings" panose="05000000000000000000" pitchFamily="2" charset="2"/>
              <a:buChar char="§"/>
              <a:defRPr/>
            </a:pPr>
            <a:r>
              <a:rPr lang="pt-BR" sz="2000" dirty="0"/>
              <a:t> Nas solicitações de atos públicos de liberação da atividade econômica, sendo apresentados todos os elementos necessários à instrução do processo, o particular receberá imediatamente um prazo expresso que estipulará o tempo máximo para a devida análise de seu pedido e que, transcorrido o prazo fixado, na hipótese de silêncio da autoridade competente, importará em aprovação tácita para todos os efeitos</a:t>
            </a:r>
            <a:endParaRPr lang="en-US" sz="2000" dirty="0"/>
          </a:p>
        </p:txBody>
      </p:sp>
      <p:sp>
        <p:nvSpPr>
          <p:cNvPr id="14" name="Título 4"/>
          <p:cNvSpPr>
            <a:spLocks/>
          </p:cNvSpPr>
          <p:nvPr/>
        </p:nvSpPr>
        <p:spPr bwMode="auto">
          <a:xfrm>
            <a:off x="313072" y="497343"/>
            <a:ext cx="8642242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3600"/>
              </a:spcBef>
              <a:defRPr/>
            </a:pPr>
            <a:r>
              <a:rPr lang="pt-BR" altLang="pt-PT" sz="2600" b="1" dirty="0">
                <a:solidFill>
                  <a:schemeClr val="tx2"/>
                </a:solidFill>
                <a:latin typeface="Century Gothic" panose="020B0502020202020204" pitchFamily="34" charset="0"/>
                <a:ea typeface="+mn-ea"/>
                <a:cs typeface="Tahoma" panose="020B0604030504040204" pitchFamily="34" charset="0"/>
              </a:rPr>
              <a:t>Aprovação tácita</a:t>
            </a:r>
          </a:p>
        </p:txBody>
      </p:sp>
      <p:sp>
        <p:nvSpPr>
          <p:cNvPr id="18" name="Retângulo 17"/>
          <p:cNvSpPr/>
          <p:nvPr/>
        </p:nvSpPr>
        <p:spPr>
          <a:xfrm>
            <a:off x="347185" y="1151179"/>
            <a:ext cx="657613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pt-B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ea typeface="+mn-ea"/>
                <a:cs typeface="Tahoma" panose="020B0604030504040204" pitchFamily="34" charset="0"/>
              </a:rPr>
              <a:t>Art. 3º, inciso IX</a:t>
            </a:r>
          </a:p>
        </p:txBody>
      </p:sp>
      <p:sp>
        <p:nvSpPr>
          <p:cNvPr id="23" name="Retângulo 22"/>
          <p:cNvSpPr/>
          <p:nvPr/>
        </p:nvSpPr>
        <p:spPr>
          <a:xfrm>
            <a:off x="481385" y="1960795"/>
            <a:ext cx="13516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spcAft>
                <a:spcPts val="1951"/>
              </a:spcAft>
              <a:buClr>
                <a:schemeClr val="tx2"/>
              </a:buClr>
              <a:defRPr/>
            </a:pPr>
            <a:r>
              <a:rPr lang="pt-BR" b="1" u="sng" dirty="0">
                <a:solidFill>
                  <a:schemeClr val="tx2"/>
                </a:solidFill>
                <a:latin typeface="Century Gothic" charset="0"/>
                <a:ea typeface="Century Gothic" charset="0"/>
                <a:cs typeface="Century Gothic" charset="0"/>
              </a:rPr>
              <a:t>Requisitos:</a:t>
            </a:r>
          </a:p>
        </p:txBody>
      </p:sp>
      <p:sp>
        <p:nvSpPr>
          <p:cNvPr id="25" name="Retângulo 24"/>
          <p:cNvSpPr/>
          <p:nvPr/>
        </p:nvSpPr>
        <p:spPr>
          <a:xfrm>
            <a:off x="155345" y="304583"/>
            <a:ext cx="120425" cy="1321017"/>
          </a:xfrm>
          <a:prstGeom prst="rect">
            <a:avLst/>
          </a:prstGeom>
          <a:solidFill>
            <a:srgbClr val="60B0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PT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6" grpId="0"/>
      <p:bldP spid="14" grpId="0"/>
      <p:bldP spid="18" grpId="0"/>
      <p:bldP spid="2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tângulo 26"/>
          <p:cNvSpPr/>
          <p:nvPr/>
        </p:nvSpPr>
        <p:spPr>
          <a:xfrm>
            <a:off x="566053" y="595085"/>
            <a:ext cx="7968344" cy="2728686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PT"/>
          </a:p>
        </p:txBody>
      </p:sp>
      <p:sp>
        <p:nvSpPr>
          <p:cNvPr id="3" name="CaixaDeTexto 2"/>
          <p:cNvSpPr txBox="1"/>
          <p:nvPr/>
        </p:nvSpPr>
        <p:spPr>
          <a:xfrm>
            <a:off x="4149090" y="70866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26" name="Subtítulo 5"/>
          <p:cNvSpPr txBox="1">
            <a:spLocks/>
          </p:cNvSpPr>
          <p:nvPr/>
        </p:nvSpPr>
        <p:spPr bwMode="auto">
          <a:xfrm>
            <a:off x="653139" y="702532"/>
            <a:ext cx="7605486" cy="23433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just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buFont typeface="Wingdings" panose="05000000000000000000" pitchFamily="2" charset="2"/>
              <a:buChar char="§"/>
              <a:defRPr/>
            </a:pPr>
            <a:r>
              <a:rPr lang="pt-BR" sz="2000" dirty="0">
                <a:latin typeface="Century Gothic" panose="020B0502020202020204" pitchFamily="34" charset="0"/>
                <a:ea typeface="+mn-ea"/>
                <a:cs typeface="Tahoma" panose="020B0604030504040204" pitchFamily="34" charset="0"/>
              </a:rPr>
              <a:t> </a:t>
            </a:r>
            <a:r>
              <a:rPr lang="pt-BR" sz="2000" dirty="0"/>
              <a:t>A regra de aprovação tácita atingirá apenas os Alvarás e Licenças da União e não será aplicada nos Estados, no Distrito Federal e nos Municípios; exceto nos casos de concessão por legislação federal ou de adesão pelo ente Estadual, Distrital ou Municipal com essa finalidade</a:t>
            </a:r>
            <a:endParaRPr lang="en-US" sz="2000" dirty="0">
              <a:latin typeface="Century Gothic" panose="020B0502020202020204" pitchFamily="34" charset="0"/>
              <a:ea typeface="+mn-ea"/>
              <a:cs typeface="Tahoma" panose="020B0604030504040204" pitchFamily="34" charset="0"/>
            </a:endParaRPr>
          </a:p>
        </p:txBody>
      </p:sp>
      <p:sp>
        <p:nvSpPr>
          <p:cNvPr id="23" name="Retângulo 22"/>
          <p:cNvSpPr/>
          <p:nvPr/>
        </p:nvSpPr>
        <p:spPr>
          <a:xfrm>
            <a:off x="551544" y="3490727"/>
            <a:ext cx="7968344" cy="1995696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PT"/>
          </a:p>
        </p:txBody>
      </p:sp>
      <p:sp>
        <p:nvSpPr>
          <p:cNvPr id="25" name="Subtítulo 5"/>
          <p:cNvSpPr txBox="1">
            <a:spLocks/>
          </p:cNvSpPr>
          <p:nvPr/>
        </p:nvSpPr>
        <p:spPr bwMode="auto">
          <a:xfrm>
            <a:off x="667659" y="3489263"/>
            <a:ext cx="7830458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buFont typeface="Wingdings" panose="05000000000000000000" pitchFamily="2" charset="2"/>
              <a:buChar char="§"/>
              <a:defRPr/>
            </a:pPr>
            <a:r>
              <a:rPr lang="pt-BR" sz="2000" dirty="0"/>
              <a:t> Não se aplica quando versar sobre questões tributárias de qualquer espécie ou quando importar em compromisso financeiro da Administração pública ou houver objeção expressa em tratado em vigor no país</a:t>
            </a:r>
            <a:endParaRPr lang="en-US" sz="20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6" grpId="0"/>
      <p:bldP spid="23" grpId="0" animBg="1"/>
      <p:bldP spid="2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tângulo 26"/>
          <p:cNvSpPr/>
          <p:nvPr/>
        </p:nvSpPr>
        <p:spPr>
          <a:xfrm>
            <a:off x="566053" y="595086"/>
            <a:ext cx="7968344" cy="1393371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PT"/>
          </a:p>
        </p:txBody>
      </p:sp>
      <p:sp>
        <p:nvSpPr>
          <p:cNvPr id="3" name="CaixaDeTexto 2"/>
          <p:cNvSpPr txBox="1"/>
          <p:nvPr/>
        </p:nvSpPr>
        <p:spPr>
          <a:xfrm>
            <a:off x="4149090" y="70866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26" name="Subtítulo 5"/>
          <p:cNvSpPr txBox="1">
            <a:spLocks/>
          </p:cNvSpPr>
          <p:nvPr/>
        </p:nvSpPr>
        <p:spPr bwMode="auto">
          <a:xfrm>
            <a:off x="653139" y="644476"/>
            <a:ext cx="7605486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just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buFont typeface="Wingdings" panose="05000000000000000000" pitchFamily="2" charset="2"/>
              <a:buChar char="§"/>
              <a:defRPr/>
            </a:pPr>
            <a:r>
              <a:rPr lang="pt-BR" sz="2000" dirty="0">
                <a:latin typeface="Century Gothic" panose="020B0502020202020204" pitchFamily="34" charset="0"/>
                <a:ea typeface="+mn-ea"/>
                <a:cs typeface="Tahoma" panose="020B0604030504040204" pitchFamily="34" charset="0"/>
              </a:rPr>
              <a:t> </a:t>
            </a:r>
            <a:r>
              <a:rPr lang="pt-BR" sz="2000" dirty="0"/>
              <a:t>Não se aplica quando 	for dirigida ao órgão ou entidade que o requerente ou parente desenvolva suas funções de trabalho</a:t>
            </a:r>
            <a:endParaRPr lang="en-US" sz="2000" dirty="0"/>
          </a:p>
        </p:txBody>
      </p:sp>
      <p:sp>
        <p:nvSpPr>
          <p:cNvPr id="18" name="CaixaDeTexto 1"/>
          <p:cNvSpPr txBox="1">
            <a:spLocks noChangeArrowheads="1"/>
          </p:cNvSpPr>
          <p:nvPr/>
        </p:nvSpPr>
        <p:spPr bwMode="auto">
          <a:xfrm>
            <a:off x="2596569" y="1185268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endParaRPr lang="pt-BR" altLang="pt-BR"/>
          </a:p>
        </p:txBody>
      </p:sp>
      <p:sp>
        <p:nvSpPr>
          <p:cNvPr id="19" name="CaixaDeTexto 3"/>
          <p:cNvSpPr txBox="1">
            <a:spLocks noChangeArrowheads="1"/>
          </p:cNvSpPr>
          <p:nvPr/>
        </p:nvSpPr>
        <p:spPr bwMode="auto">
          <a:xfrm>
            <a:off x="2396491" y="820501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endParaRPr lang="pt-BR" altLang="pt-BR"/>
          </a:p>
        </p:txBody>
      </p:sp>
      <p:sp>
        <p:nvSpPr>
          <p:cNvPr id="20" name="Retângulo 19"/>
          <p:cNvSpPr/>
          <p:nvPr/>
        </p:nvSpPr>
        <p:spPr>
          <a:xfrm>
            <a:off x="290287" y="2394860"/>
            <a:ext cx="4122056" cy="3976914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just">
              <a:defRPr/>
            </a:pPr>
            <a:endParaRPr lang="pt-PT" dirty="0"/>
          </a:p>
        </p:txBody>
      </p:sp>
      <p:sp>
        <p:nvSpPr>
          <p:cNvPr id="21" name="Subtítulo 5"/>
          <p:cNvSpPr txBox="1">
            <a:spLocks/>
          </p:cNvSpPr>
          <p:nvPr/>
        </p:nvSpPr>
        <p:spPr bwMode="auto">
          <a:xfrm>
            <a:off x="725716" y="2328143"/>
            <a:ext cx="3468914" cy="617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ctr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defRPr/>
            </a:pPr>
            <a:r>
              <a:rPr lang="en-US" altLang="pt-PT" sz="2600" b="1" dirty="0">
                <a:solidFill>
                  <a:schemeClr val="tx2"/>
                </a:solidFill>
                <a:latin typeface="Century Gothic" panose="020B0502020202020204" pitchFamily="34" charset="0"/>
                <a:ea typeface="+mn-ea"/>
                <a:cs typeface="Tahoma" panose="020B0604030504040204" pitchFamily="34" charset="0"/>
              </a:rPr>
              <a:t>Como era:</a:t>
            </a:r>
          </a:p>
        </p:txBody>
      </p:sp>
      <p:sp>
        <p:nvSpPr>
          <p:cNvPr id="22" name="Retângulo 21"/>
          <p:cNvSpPr/>
          <p:nvPr/>
        </p:nvSpPr>
        <p:spPr>
          <a:xfrm>
            <a:off x="4731659" y="2409435"/>
            <a:ext cx="4136570" cy="3962339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solidFill>
              <a:srgbClr val="5DC3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PT"/>
          </a:p>
        </p:txBody>
      </p:sp>
      <p:sp>
        <p:nvSpPr>
          <p:cNvPr id="24" name="Subtítulo 5"/>
          <p:cNvSpPr txBox="1">
            <a:spLocks/>
          </p:cNvSpPr>
          <p:nvPr/>
        </p:nvSpPr>
        <p:spPr bwMode="auto">
          <a:xfrm>
            <a:off x="4811410" y="2349917"/>
            <a:ext cx="3468914" cy="617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ctr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defRPr/>
            </a:pPr>
            <a:r>
              <a:rPr lang="en-US" altLang="pt-PT" sz="2600" b="1" dirty="0">
                <a:solidFill>
                  <a:schemeClr val="tx2"/>
                </a:solidFill>
                <a:latin typeface="Century Gothic" panose="020B0502020202020204" pitchFamily="34" charset="0"/>
                <a:ea typeface="+mn-ea"/>
                <a:cs typeface="Tahoma" panose="020B0604030504040204" pitchFamily="34" charset="0"/>
              </a:rPr>
              <a:t>Como ficou:</a:t>
            </a:r>
          </a:p>
        </p:txBody>
      </p:sp>
      <p:sp>
        <p:nvSpPr>
          <p:cNvPr id="28" name="Subtítulo 5"/>
          <p:cNvSpPr txBox="1">
            <a:spLocks/>
          </p:cNvSpPr>
          <p:nvPr/>
        </p:nvSpPr>
        <p:spPr bwMode="auto">
          <a:xfrm>
            <a:off x="420914" y="2917389"/>
            <a:ext cx="3795490" cy="2862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just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defRPr/>
            </a:pPr>
            <a:r>
              <a:rPr lang="en-US" sz="2000" dirty="0"/>
              <a:t> </a:t>
            </a:r>
            <a:r>
              <a:rPr lang="pt-BR" sz="2000" dirty="0"/>
              <a:t>Não existia prazo para análise do ato público de liberação, ficando o particular aguardando, em alguns casos, por período extremamente longo de tempo</a:t>
            </a:r>
            <a:endParaRPr lang="en-US" sz="2000" dirty="0"/>
          </a:p>
        </p:txBody>
      </p:sp>
      <p:sp>
        <p:nvSpPr>
          <p:cNvPr id="29" name="Subtítulo 5"/>
          <p:cNvSpPr txBox="1">
            <a:spLocks/>
          </p:cNvSpPr>
          <p:nvPr/>
        </p:nvSpPr>
        <p:spPr bwMode="auto">
          <a:xfrm>
            <a:off x="4811402" y="2953677"/>
            <a:ext cx="3795490" cy="332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just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defRPr/>
            </a:pPr>
            <a:r>
              <a:rPr lang="pt-BR" sz="2000" dirty="0"/>
              <a:t> O particular receberá um prazo no momento da solicitação e se decorrido esse prazo sem manifestação da Administração, ficará assegurada a aprovação tácita do seu pedido</a:t>
            </a:r>
            <a:endParaRPr lang="en-US" sz="20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6" grpId="0"/>
      <p:bldP spid="20" grpId="0" animBg="1"/>
      <p:bldP spid="21" grpId="0"/>
      <p:bldP spid="22" grpId="0" animBg="1"/>
      <p:bldP spid="24" grpId="0"/>
      <p:bldP spid="28" grpId="0"/>
      <p:bldP spid="2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tângulo 26"/>
          <p:cNvSpPr/>
          <p:nvPr/>
        </p:nvSpPr>
        <p:spPr>
          <a:xfrm>
            <a:off x="566053" y="2293254"/>
            <a:ext cx="7968344" cy="2627091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PT"/>
          </a:p>
        </p:txBody>
      </p:sp>
      <p:sp>
        <p:nvSpPr>
          <p:cNvPr id="6159" name="CaixaDeTexto 2"/>
          <p:cNvSpPr txBox="1">
            <a:spLocks noChangeArrowheads="1"/>
          </p:cNvSpPr>
          <p:nvPr/>
        </p:nvSpPr>
        <p:spPr bwMode="auto">
          <a:xfrm>
            <a:off x="2902310" y="-421591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endParaRPr lang="pt-BR" altLang="pt-BR"/>
          </a:p>
        </p:txBody>
      </p:sp>
      <p:sp>
        <p:nvSpPr>
          <p:cNvPr id="3" name="CaixaDeTexto 2"/>
          <p:cNvSpPr txBox="1"/>
          <p:nvPr/>
        </p:nvSpPr>
        <p:spPr>
          <a:xfrm>
            <a:off x="4149090" y="630284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26" name="Subtítulo 5"/>
          <p:cNvSpPr txBox="1">
            <a:spLocks/>
          </p:cNvSpPr>
          <p:nvPr/>
        </p:nvSpPr>
        <p:spPr bwMode="auto">
          <a:xfrm>
            <a:off x="653139" y="2328100"/>
            <a:ext cx="7605486" cy="2400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just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buFont typeface="Wingdings" panose="05000000000000000000" pitchFamily="2" charset="2"/>
              <a:buChar char="§"/>
              <a:defRPr/>
            </a:pPr>
            <a:r>
              <a:rPr lang="pt-BR" sz="2000" dirty="0"/>
              <a:t> Após a edição de regulamento de certificação digital, poderão ser arquivados documentos por meio eletrônico com a mesma força probatória dos documentos físicos, privilegiando a adoção de tecnologias mais seguras, modernas, econômicas e ambientalmente sustentáveis</a:t>
            </a:r>
            <a:endParaRPr lang="en-US" sz="2000" dirty="0"/>
          </a:p>
        </p:txBody>
      </p:sp>
      <p:sp>
        <p:nvSpPr>
          <p:cNvPr id="14" name="Título 4"/>
          <p:cNvSpPr>
            <a:spLocks/>
          </p:cNvSpPr>
          <p:nvPr/>
        </p:nvSpPr>
        <p:spPr bwMode="auto">
          <a:xfrm>
            <a:off x="313072" y="497343"/>
            <a:ext cx="8642242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3600"/>
              </a:spcBef>
              <a:defRPr/>
            </a:pPr>
            <a:r>
              <a:rPr lang="pt-BR" altLang="pt-PT" sz="2600" b="1" dirty="0">
                <a:solidFill>
                  <a:schemeClr val="tx2"/>
                </a:solidFill>
                <a:latin typeface="Century Gothic" panose="020B0502020202020204" pitchFamily="34" charset="0"/>
                <a:ea typeface="+mn-ea"/>
                <a:cs typeface="Tahoma" panose="020B0604030504040204" pitchFamily="34" charset="0"/>
              </a:rPr>
              <a:t>Documentação digital</a:t>
            </a:r>
          </a:p>
        </p:txBody>
      </p:sp>
      <p:sp>
        <p:nvSpPr>
          <p:cNvPr id="18" name="Retângulo 17"/>
          <p:cNvSpPr/>
          <p:nvPr/>
        </p:nvSpPr>
        <p:spPr>
          <a:xfrm>
            <a:off x="347185" y="1151179"/>
            <a:ext cx="657613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pt-B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ea typeface="+mn-ea"/>
                <a:cs typeface="Tahoma" panose="020B0604030504040204" pitchFamily="34" charset="0"/>
              </a:rPr>
              <a:t>Art. 3º, inciso X</a:t>
            </a:r>
          </a:p>
        </p:txBody>
      </p:sp>
      <p:sp>
        <p:nvSpPr>
          <p:cNvPr id="23" name="Retângulo 22"/>
          <p:cNvSpPr/>
          <p:nvPr/>
        </p:nvSpPr>
        <p:spPr>
          <a:xfrm>
            <a:off x="481385" y="1873711"/>
            <a:ext cx="13516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spcAft>
                <a:spcPts val="1951"/>
              </a:spcAft>
              <a:buClr>
                <a:schemeClr val="tx2"/>
              </a:buClr>
              <a:defRPr/>
            </a:pPr>
            <a:r>
              <a:rPr lang="pt-BR" b="1" u="sng" dirty="0">
                <a:solidFill>
                  <a:schemeClr val="tx2"/>
                </a:solidFill>
                <a:latin typeface="Century Gothic" charset="0"/>
                <a:ea typeface="Century Gothic" charset="0"/>
                <a:cs typeface="Century Gothic" charset="0"/>
              </a:rPr>
              <a:t>Requisitos:</a:t>
            </a:r>
          </a:p>
        </p:txBody>
      </p:sp>
      <p:sp>
        <p:nvSpPr>
          <p:cNvPr id="25" name="Retângulo 24"/>
          <p:cNvSpPr/>
          <p:nvPr/>
        </p:nvSpPr>
        <p:spPr>
          <a:xfrm>
            <a:off x="155345" y="304583"/>
            <a:ext cx="120425" cy="1321017"/>
          </a:xfrm>
          <a:prstGeom prst="rect">
            <a:avLst/>
          </a:prstGeom>
          <a:solidFill>
            <a:srgbClr val="60B0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PT"/>
          </a:p>
        </p:txBody>
      </p:sp>
      <p:sp>
        <p:nvSpPr>
          <p:cNvPr id="12" name="Retângulo 11"/>
          <p:cNvSpPr/>
          <p:nvPr/>
        </p:nvSpPr>
        <p:spPr>
          <a:xfrm>
            <a:off x="573313" y="5116230"/>
            <a:ext cx="7968344" cy="1545827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PT"/>
          </a:p>
        </p:txBody>
      </p:sp>
      <p:sp>
        <p:nvSpPr>
          <p:cNvPr id="13" name="Subtítulo 5"/>
          <p:cNvSpPr txBox="1">
            <a:spLocks/>
          </p:cNvSpPr>
          <p:nvPr/>
        </p:nvSpPr>
        <p:spPr bwMode="auto">
          <a:xfrm>
            <a:off x="660399" y="5151076"/>
            <a:ext cx="7605486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just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buFont typeface="Wingdings" panose="05000000000000000000" pitchFamily="2" charset="2"/>
              <a:buChar char="§"/>
              <a:defRPr/>
            </a:pPr>
            <a:r>
              <a:rPr lang="pt-BR" sz="2000" dirty="0"/>
              <a:t> Aplica-se ao ramo do direito tributário, financeiro, civil, empresarial, econômico, urbanístico, do trabalho e de proteção ao meio ambiente</a:t>
            </a:r>
            <a:endParaRPr lang="en-US" sz="20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6" grpId="0"/>
      <p:bldP spid="14" grpId="0"/>
      <p:bldP spid="18" grpId="0"/>
      <p:bldP spid="25" grpId="0" animBg="1"/>
      <p:bldP spid="12" grpId="0" animBg="1"/>
      <p:bldP spid="1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290287" y="362900"/>
            <a:ext cx="4122056" cy="3657557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just">
              <a:defRPr/>
            </a:pPr>
            <a:endParaRPr lang="pt-PT" dirty="0"/>
          </a:p>
        </p:txBody>
      </p:sp>
      <p:sp>
        <p:nvSpPr>
          <p:cNvPr id="4" name="Subtítulo 5"/>
          <p:cNvSpPr txBox="1">
            <a:spLocks/>
          </p:cNvSpPr>
          <p:nvPr/>
        </p:nvSpPr>
        <p:spPr bwMode="auto">
          <a:xfrm>
            <a:off x="725716" y="296183"/>
            <a:ext cx="3468914" cy="617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ctr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defRPr/>
            </a:pPr>
            <a:r>
              <a:rPr lang="en-US" altLang="pt-PT" sz="2600" b="1" dirty="0">
                <a:solidFill>
                  <a:schemeClr val="tx2"/>
                </a:solidFill>
                <a:latin typeface="Century Gothic" panose="020B0502020202020204" pitchFamily="34" charset="0"/>
                <a:ea typeface="+mn-ea"/>
                <a:cs typeface="Tahoma" panose="020B0604030504040204" pitchFamily="34" charset="0"/>
              </a:rPr>
              <a:t>Como era:</a:t>
            </a:r>
          </a:p>
        </p:txBody>
      </p:sp>
      <p:sp>
        <p:nvSpPr>
          <p:cNvPr id="5" name="Retângulo 4"/>
          <p:cNvSpPr/>
          <p:nvPr/>
        </p:nvSpPr>
        <p:spPr>
          <a:xfrm>
            <a:off x="4731659" y="377476"/>
            <a:ext cx="4136570" cy="3642981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solidFill>
              <a:srgbClr val="5DC3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PT"/>
          </a:p>
        </p:txBody>
      </p:sp>
      <p:sp>
        <p:nvSpPr>
          <p:cNvPr id="6" name="Subtítulo 5"/>
          <p:cNvSpPr txBox="1">
            <a:spLocks/>
          </p:cNvSpPr>
          <p:nvPr/>
        </p:nvSpPr>
        <p:spPr bwMode="auto">
          <a:xfrm>
            <a:off x="4811410" y="317957"/>
            <a:ext cx="3468914" cy="617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ctr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defRPr/>
            </a:pPr>
            <a:r>
              <a:rPr lang="en-US" altLang="pt-PT" sz="2600" b="1" dirty="0">
                <a:solidFill>
                  <a:schemeClr val="tx2"/>
                </a:solidFill>
                <a:latin typeface="Century Gothic" panose="020B0502020202020204" pitchFamily="34" charset="0"/>
                <a:ea typeface="+mn-ea"/>
                <a:cs typeface="Tahoma" panose="020B0604030504040204" pitchFamily="34" charset="0"/>
              </a:rPr>
              <a:t>Como ficou:</a:t>
            </a:r>
          </a:p>
        </p:txBody>
      </p:sp>
      <p:sp>
        <p:nvSpPr>
          <p:cNvPr id="7" name="Subtítulo 5"/>
          <p:cNvSpPr txBox="1">
            <a:spLocks/>
          </p:cNvSpPr>
          <p:nvPr/>
        </p:nvSpPr>
        <p:spPr bwMode="auto">
          <a:xfrm>
            <a:off x="420914" y="885429"/>
            <a:ext cx="3795490" cy="2343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just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defRPr/>
            </a:pPr>
            <a:r>
              <a:rPr lang="pt-BR" sz="2000" dirty="0"/>
              <a:t>  Deviam ser preservados em papel comprovantes por décadas, acarretando altos custos de manutenção e armazenagem</a:t>
            </a:r>
            <a:endParaRPr lang="en-US" sz="2000" dirty="0"/>
          </a:p>
        </p:txBody>
      </p:sp>
      <p:sp>
        <p:nvSpPr>
          <p:cNvPr id="8" name="Subtítulo 5"/>
          <p:cNvSpPr txBox="1">
            <a:spLocks/>
          </p:cNvSpPr>
          <p:nvPr/>
        </p:nvSpPr>
        <p:spPr bwMode="auto">
          <a:xfrm>
            <a:off x="4811402" y="921717"/>
            <a:ext cx="3795490" cy="2862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just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defRPr/>
            </a:pPr>
            <a:r>
              <a:rPr lang="pt-BR" sz="2000" dirty="0"/>
              <a:t>  O particular pode, após regulamentação, digitalizar documentos e descartar o original, adotando uma prática mais segura, econômica e sustentável</a:t>
            </a:r>
            <a:endParaRPr lang="en-US" sz="2000" dirty="0"/>
          </a:p>
        </p:txBody>
      </p:sp>
      <p:sp>
        <p:nvSpPr>
          <p:cNvPr id="9" name="Retângulo 8"/>
          <p:cNvSpPr/>
          <p:nvPr/>
        </p:nvSpPr>
        <p:spPr>
          <a:xfrm>
            <a:off x="522510" y="4775189"/>
            <a:ext cx="7968344" cy="1654640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PT"/>
          </a:p>
        </p:txBody>
      </p:sp>
      <p:sp>
        <p:nvSpPr>
          <p:cNvPr id="10" name="Retângulo 9"/>
          <p:cNvSpPr/>
          <p:nvPr/>
        </p:nvSpPr>
        <p:spPr>
          <a:xfrm>
            <a:off x="524926" y="4341177"/>
            <a:ext cx="79804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eaLnBrk="1" hangingPunct="1">
              <a:spcAft>
                <a:spcPts val="600"/>
              </a:spcAft>
              <a:buClr>
                <a:schemeClr val="tx2"/>
              </a:buClr>
              <a:defRPr/>
            </a:pPr>
            <a:r>
              <a:rPr lang="pt-BR" b="1" u="sng" dirty="0">
                <a:solidFill>
                  <a:schemeClr val="tx2"/>
                </a:solidFill>
                <a:latin typeface="Century Gothic" charset="0"/>
                <a:ea typeface="Century Gothic" charset="0"/>
                <a:cs typeface="Century Gothic" charset="0"/>
              </a:rPr>
              <a:t>Exemplo </a:t>
            </a:r>
            <a:r>
              <a:rPr lang="pt-BR" dirty="0">
                <a:solidFill>
                  <a:schemeClr val="tx2"/>
                </a:solidFill>
                <a:latin typeface="Century Gothic" charset="0"/>
                <a:ea typeface="Century Gothic" charset="0"/>
                <a:cs typeface="Century Gothic" charset="0"/>
              </a:rPr>
              <a:t>:</a:t>
            </a:r>
          </a:p>
        </p:txBody>
      </p:sp>
      <p:sp>
        <p:nvSpPr>
          <p:cNvPr id="11" name="Subtítulo 5"/>
          <p:cNvSpPr txBox="1">
            <a:spLocks/>
          </p:cNvSpPr>
          <p:nvPr/>
        </p:nvSpPr>
        <p:spPr bwMode="auto">
          <a:xfrm>
            <a:off x="653141" y="4853626"/>
            <a:ext cx="7605486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just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defRPr/>
            </a:pPr>
            <a:r>
              <a:rPr lang="pt-BR" sz="2000" dirty="0"/>
              <a:t>  Comprovantes de pagamentos tributários como de recolhimento de IPTU, em papel, não precisam ser guardados, após o processo adequado de digitalização</a:t>
            </a:r>
            <a:endParaRPr lang="en-US" sz="20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5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5" grpId="0" animBg="1"/>
      <p:bldP spid="6" grpId="0"/>
      <p:bldP spid="7" grpId="0"/>
      <p:bldP spid="8" grpId="0"/>
      <p:bldP spid="9" grpId="0" animBg="1"/>
      <p:bldP spid="1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9" name="CaixaDeTexto 2"/>
          <p:cNvSpPr txBox="1">
            <a:spLocks noChangeArrowheads="1"/>
          </p:cNvSpPr>
          <p:nvPr/>
        </p:nvSpPr>
        <p:spPr bwMode="auto">
          <a:xfrm>
            <a:off x="2902310" y="-421591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endParaRPr lang="pt-BR" altLang="pt-BR"/>
          </a:p>
        </p:txBody>
      </p:sp>
      <p:sp>
        <p:nvSpPr>
          <p:cNvPr id="14" name="Título 4"/>
          <p:cNvSpPr>
            <a:spLocks/>
          </p:cNvSpPr>
          <p:nvPr/>
        </p:nvSpPr>
        <p:spPr bwMode="auto">
          <a:xfrm>
            <a:off x="313072" y="511857"/>
            <a:ext cx="8642242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3600"/>
              </a:spcBef>
              <a:defRPr/>
            </a:pPr>
            <a:r>
              <a:rPr lang="pt-BR" altLang="pt-PT" sz="2600" b="1" dirty="0">
                <a:solidFill>
                  <a:schemeClr val="tx2"/>
                </a:solidFill>
                <a:latin typeface="Century Gothic" panose="020B0502020202020204" pitchFamily="34" charset="0"/>
                <a:ea typeface="+mn-ea"/>
                <a:cs typeface="Tahoma" panose="020B0604030504040204" pitchFamily="34" charset="0"/>
              </a:rPr>
              <a:t>Exigência de Certidão somente com previsão legal</a:t>
            </a:r>
          </a:p>
        </p:txBody>
      </p:sp>
      <p:sp>
        <p:nvSpPr>
          <p:cNvPr id="18" name="Retângulo 17"/>
          <p:cNvSpPr/>
          <p:nvPr/>
        </p:nvSpPr>
        <p:spPr>
          <a:xfrm>
            <a:off x="361699" y="1107636"/>
            <a:ext cx="657613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pt-B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ea typeface="+mn-ea"/>
                <a:cs typeface="Tahoma" panose="020B0604030504040204" pitchFamily="34" charset="0"/>
              </a:rPr>
              <a:t>Art. 3º, inciso XII</a:t>
            </a:r>
          </a:p>
        </p:txBody>
      </p:sp>
      <p:sp>
        <p:nvSpPr>
          <p:cNvPr id="25" name="Retângulo 24"/>
          <p:cNvSpPr/>
          <p:nvPr/>
        </p:nvSpPr>
        <p:spPr>
          <a:xfrm>
            <a:off x="155346" y="304583"/>
            <a:ext cx="120426" cy="1219417"/>
          </a:xfrm>
          <a:prstGeom prst="rect">
            <a:avLst/>
          </a:prstGeom>
          <a:solidFill>
            <a:srgbClr val="60B0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PT"/>
          </a:p>
        </p:txBody>
      </p:sp>
      <p:sp>
        <p:nvSpPr>
          <p:cNvPr id="15" name="Retângulo 14"/>
          <p:cNvSpPr/>
          <p:nvPr/>
        </p:nvSpPr>
        <p:spPr>
          <a:xfrm>
            <a:off x="304801" y="1698188"/>
            <a:ext cx="4122056" cy="2786729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just">
              <a:defRPr/>
            </a:pPr>
            <a:endParaRPr lang="pt-PT" dirty="0"/>
          </a:p>
        </p:txBody>
      </p:sp>
      <p:sp>
        <p:nvSpPr>
          <p:cNvPr id="16" name="Subtítulo 5"/>
          <p:cNvSpPr txBox="1">
            <a:spLocks/>
          </p:cNvSpPr>
          <p:nvPr/>
        </p:nvSpPr>
        <p:spPr bwMode="auto">
          <a:xfrm>
            <a:off x="740230" y="1631471"/>
            <a:ext cx="3468914" cy="617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ctr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defRPr/>
            </a:pPr>
            <a:r>
              <a:rPr lang="en-US" altLang="pt-PT" sz="2600" b="1" dirty="0">
                <a:solidFill>
                  <a:schemeClr val="tx2"/>
                </a:solidFill>
                <a:latin typeface="Century Gothic" panose="020B0502020202020204" pitchFamily="34" charset="0"/>
                <a:ea typeface="+mn-ea"/>
                <a:cs typeface="Tahoma" panose="020B0604030504040204" pitchFamily="34" charset="0"/>
              </a:rPr>
              <a:t>Como era: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4746173" y="1698250"/>
            <a:ext cx="4136570" cy="2801181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solidFill>
              <a:srgbClr val="5DC3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PT"/>
          </a:p>
        </p:txBody>
      </p:sp>
      <p:sp>
        <p:nvSpPr>
          <p:cNvPr id="19" name="Subtítulo 5"/>
          <p:cNvSpPr txBox="1">
            <a:spLocks/>
          </p:cNvSpPr>
          <p:nvPr/>
        </p:nvSpPr>
        <p:spPr bwMode="auto">
          <a:xfrm>
            <a:off x="4825924" y="1653245"/>
            <a:ext cx="3468914" cy="617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ctr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defRPr/>
            </a:pPr>
            <a:r>
              <a:rPr lang="en-US" altLang="pt-PT" sz="2600" b="1" dirty="0">
                <a:solidFill>
                  <a:schemeClr val="tx2"/>
                </a:solidFill>
                <a:latin typeface="Century Gothic" panose="020B0502020202020204" pitchFamily="34" charset="0"/>
                <a:ea typeface="+mn-ea"/>
                <a:cs typeface="Tahoma" panose="020B0604030504040204" pitchFamily="34" charset="0"/>
              </a:rPr>
              <a:t>Como ficou:</a:t>
            </a:r>
          </a:p>
        </p:txBody>
      </p:sp>
      <p:sp>
        <p:nvSpPr>
          <p:cNvPr id="20" name="Subtítulo 5"/>
          <p:cNvSpPr txBox="1">
            <a:spLocks/>
          </p:cNvSpPr>
          <p:nvPr/>
        </p:nvSpPr>
        <p:spPr bwMode="auto">
          <a:xfrm>
            <a:off x="435428" y="2075577"/>
            <a:ext cx="3795490" cy="2400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just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defRPr/>
            </a:pPr>
            <a:r>
              <a:rPr lang="pt-BR" sz="2000" dirty="0"/>
              <a:t>  Exigia-se diversos tipos de certidões para empresários e pessoas jurídicas desempenharem suas atividades</a:t>
            </a:r>
            <a:endParaRPr lang="en-US" sz="2000" dirty="0"/>
          </a:p>
        </p:txBody>
      </p:sp>
      <p:sp>
        <p:nvSpPr>
          <p:cNvPr id="21" name="Subtítulo 5"/>
          <p:cNvSpPr txBox="1">
            <a:spLocks/>
          </p:cNvSpPr>
          <p:nvPr/>
        </p:nvSpPr>
        <p:spPr bwMode="auto">
          <a:xfrm>
            <a:off x="4825916" y="2300547"/>
            <a:ext cx="3795490" cy="958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just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defRPr/>
            </a:pPr>
            <a:r>
              <a:rPr lang="pt-BR" sz="2000" dirty="0"/>
              <a:t>  Só serão exigidas certidões que a Lei declarar necessárias</a:t>
            </a:r>
            <a:endParaRPr lang="en-US" sz="2000" dirty="0"/>
          </a:p>
        </p:txBody>
      </p:sp>
      <p:sp>
        <p:nvSpPr>
          <p:cNvPr id="22" name="Retângulo 21"/>
          <p:cNvSpPr/>
          <p:nvPr/>
        </p:nvSpPr>
        <p:spPr>
          <a:xfrm>
            <a:off x="566052" y="5050955"/>
            <a:ext cx="7968344" cy="1654640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PT"/>
          </a:p>
        </p:txBody>
      </p:sp>
      <p:sp>
        <p:nvSpPr>
          <p:cNvPr id="24" name="Retângulo 23"/>
          <p:cNvSpPr/>
          <p:nvPr/>
        </p:nvSpPr>
        <p:spPr>
          <a:xfrm>
            <a:off x="568468" y="4674999"/>
            <a:ext cx="79804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eaLnBrk="1" hangingPunct="1">
              <a:spcAft>
                <a:spcPts val="600"/>
              </a:spcAft>
              <a:buClr>
                <a:schemeClr val="tx2"/>
              </a:buClr>
              <a:defRPr/>
            </a:pPr>
            <a:r>
              <a:rPr lang="pt-BR" b="1" u="sng" dirty="0">
                <a:solidFill>
                  <a:schemeClr val="tx2"/>
                </a:solidFill>
                <a:latin typeface="Century Gothic" charset="0"/>
                <a:ea typeface="Century Gothic" charset="0"/>
                <a:cs typeface="Century Gothic" charset="0"/>
              </a:rPr>
              <a:t>Exemplo </a:t>
            </a:r>
            <a:r>
              <a:rPr lang="pt-BR" dirty="0">
                <a:solidFill>
                  <a:schemeClr val="tx2"/>
                </a:solidFill>
                <a:latin typeface="Century Gothic" charset="0"/>
                <a:ea typeface="Century Gothic" charset="0"/>
                <a:cs typeface="Century Gothic" charset="0"/>
              </a:rPr>
              <a:t>:</a:t>
            </a:r>
          </a:p>
        </p:txBody>
      </p:sp>
      <p:sp>
        <p:nvSpPr>
          <p:cNvPr id="28" name="Subtítulo 5"/>
          <p:cNvSpPr txBox="1">
            <a:spLocks/>
          </p:cNvSpPr>
          <p:nvPr/>
        </p:nvSpPr>
        <p:spPr bwMode="auto">
          <a:xfrm>
            <a:off x="696683" y="5100364"/>
            <a:ext cx="7605486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just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defRPr/>
            </a:pPr>
            <a:r>
              <a:rPr lang="pt-BR" sz="2000" dirty="0"/>
              <a:t> Certidão de comprovação de quitação de obrigação financeira, como de pagamento de conselho de classe, não podem ser solicitadas sem expressa previsão em Lei</a:t>
            </a:r>
            <a:endParaRPr lang="en-US" sz="20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8" grpId="0"/>
      <p:bldP spid="25" grpId="0" animBg="1"/>
      <p:bldP spid="15" grpId="0" animBg="1"/>
      <p:bldP spid="16" grpId="0"/>
      <p:bldP spid="17" grpId="0" animBg="1"/>
      <p:bldP spid="19" grpId="0"/>
      <p:bldP spid="20" grpId="0"/>
      <p:bldP spid="21" grpId="0"/>
      <p:bldP spid="22" grpId="0" animBg="1"/>
      <p:bldP spid="2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tângulo 26"/>
          <p:cNvSpPr/>
          <p:nvPr/>
        </p:nvSpPr>
        <p:spPr>
          <a:xfrm>
            <a:off x="566053" y="2293254"/>
            <a:ext cx="7968344" cy="1596575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PT"/>
          </a:p>
        </p:txBody>
      </p:sp>
      <p:sp>
        <p:nvSpPr>
          <p:cNvPr id="6159" name="CaixaDeTexto 2"/>
          <p:cNvSpPr txBox="1">
            <a:spLocks noChangeArrowheads="1"/>
          </p:cNvSpPr>
          <p:nvPr/>
        </p:nvSpPr>
        <p:spPr bwMode="auto">
          <a:xfrm>
            <a:off x="2902310" y="-421591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endParaRPr lang="pt-BR" altLang="pt-BR"/>
          </a:p>
        </p:txBody>
      </p:sp>
      <p:sp>
        <p:nvSpPr>
          <p:cNvPr id="26" name="Subtítulo 5"/>
          <p:cNvSpPr txBox="1">
            <a:spLocks/>
          </p:cNvSpPr>
          <p:nvPr/>
        </p:nvSpPr>
        <p:spPr bwMode="auto">
          <a:xfrm>
            <a:off x="653139" y="2328100"/>
            <a:ext cx="7605486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just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buFont typeface="Wingdings" panose="05000000000000000000" pitchFamily="2" charset="2"/>
              <a:buChar char="§"/>
              <a:defRPr/>
            </a:pPr>
            <a:r>
              <a:rPr lang="pt-BR" sz="2000" dirty="0"/>
              <a:t> Criar reserva de mercado ao favorecer, na regulação, grupo econômico ou profissional, em prejuízo dos demais concorrentes</a:t>
            </a:r>
            <a:endParaRPr lang="en-US" sz="2000" dirty="0"/>
          </a:p>
        </p:txBody>
      </p:sp>
      <p:sp>
        <p:nvSpPr>
          <p:cNvPr id="14" name="Título 4"/>
          <p:cNvSpPr>
            <a:spLocks/>
          </p:cNvSpPr>
          <p:nvPr/>
        </p:nvSpPr>
        <p:spPr bwMode="auto">
          <a:xfrm>
            <a:off x="313072" y="497343"/>
            <a:ext cx="8642242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3600"/>
              </a:spcBef>
              <a:defRPr/>
            </a:pPr>
            <a:r>
              <a:rPr lang="pt-BR" altLang="pt-PT" sz="2600" b="1" dirty="0">
                <a:solidFill>
                  <a:schemeClr val="tx2"/>
                </a:solidFill>
                <a:latin typeface="Century Gothic" panose="020B0502020202020204" pitchFamily="34" charset="0"/>
                <a:ea typeface="+mn-ea"/>
                <a:cs typeface="Tahoma" panose="020B0604030504040204" pitchFamily="34" charset="0"/>
              </a:rPr>
              <a:t>Evitar abuso de poder regulatório</a:t>
            </a:r>
          </a:p>
        </p:txBody>
      </p:sp>
      <p:sp>
        <p:nvSpPr>
          <p:cNvPr id="18" name="Retângulo 17"/>
          <p:cNvSpPr/>
          <p:nvPr/>
        </p:nvSpPr>
        <p:spPr>
          <a:xfrm>
            <a:off x="347185" y="1151179"/>
            <a:ext cx="657613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pt-B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ea typeface="+mn-ea"/>
                <a:cs typeface="Tahoma" panose="020B0604030504040204" pitchFamily="34" charset="0"/>
              </a:rPr>
              <a:t>Art. 4º</a:t>
            </a:r>
          </a:p>
        </p:txBody>
      </p:sp>
      <p:sp>
        <p:nvSpPr>
          <p:cNvPr id="23" name="Retângulo 22"/>
          <p:cNvSpPr/>
          <p:nvPr/>
        </p:nvSpPr>
        <p:spPr>
          <a:xfrm>
            <a:off x="481385" y="1873711"/>
            <a:ext cx="13516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spcAft>
                <a:spcPts val="1951"/>
              </a:spcAft>
              <a:buClr>
                <a:schemeClr val="tx2"/>
              </a:buClr>
              <a:defRPr/>
            </a:pPr>
            <a:r>
              <a:rPr lang="pt-BR" b="1" u="sng" dirty="0">
                <a:solidFill>
                  <a:schemeClr val="tx2"/>
                </a:solidFill>
                <a:latin typeface="Century Gothic" charset="0"/>
                <a:ea typeface="Century Gothic" charset="0"/>
                <a:cs typeface="Century Gothic" charset="0"/>
              </a:rPr>
              <a:t>Requisitos:</a:t>
            </a:r>
          </a:p>
        </p:txBody>
      </p:sp>
      <p:sp>
        <p:nvSpPr>
          <p:cNvPr id="25" name="Retângulo 24"/>
          <p:cNvSpPr/>
          <p:nvPr/>
        </p:nvSpPr>
        <p:spPr>
          <a:xfrm>
            <a:off x="155345" y="304583"/>
            <a:ext cx="120425" cy="1321017"/>
          </a:xfrm>
          <a:prstGeom prst="rect">
            <a:avLst/>
          </a:prstGeom>
          <a:solidFill>
            <a:srgbClr val="60B0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PT"/>
          </a:p>
        </p:txBody>
      </p:sp>
      <p:sp>
        <p:nvSpPr>
          <p:cNvPr id="12" name="Retângulo 11"/>
          <p:cNvSpPr/>
          <p:nvPr/>
        </p:nvSpPr>
        <p:spPr>
          <a:xfrm>
            <a:off x="573313" y="4013167"/>
            <a:ext cx="7968344" cy="1182948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PT"/>
          </a:p>
        </p:txBody>
      </p:sp>
      <p:sp>
        <p:nvSpPr>
          <p:cNvPr id="13" name="Subtítulo 5"/>
          <p:cNvSpPr txBox="1">
            <a:spLocks/>
          </p:cNvSpPr>
          <p:nvPr/>
        </p:nvSpPr>
        <p:spPr bwMode="auto">
          <a:xfrm>
            <a:off x="660399" y="4048012"/>
            <a:ext cx="7605486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just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buFont typeface="Wingdings" panose="05000000000000000000" pitchFamily="2" charset="2"/>
              <a:buChar char="§"/>
              <a:defRPr/>
            </a:pPr>
            <a:r>
              <a:rPr lang="pt-BR" sz="2000" dirty="0"/>
              <a:t> Redigir enunciados que impeçam a entrada de novos competidores nacionais ou estrangeiros no mercado</a:t>
            </a:r>
            <a:endParaRPr lang="en-US" sz="2000" dirty="0"/>
          </a:p>
        </p:txBody>
      </p:sp>
      <p:sp>
        <p:nvSpPr>
          <p:cNvPr id="15" name="CaixaDeTexto 14"/>
          <p:cNvSpPr txBox="1"/>
          <p:nvPr/>
        </p:nvSpPr>
        <p:spPr>
          <a:xfrm>
            <a:off x="4127322" y="65133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16" name="Retângulo 15"/>
          <p:cNvSpPr/>
          <p:nvPr/>
        </p:nvSpPr>
        <p:spPr>
          <a:xfrm>
            <a:off x="551545" y="5326687"/>
            <a:ext cx="7968344" cy="1182948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PT"/>
          </a:p>
        </p:txBody>
      </p:sp>
      <p:sp>
        <p:nvSpPr>
          <p:cNvPr id="17" name="Subtítulo 5"/>
          <p:cNvSpPr txBox="1">
            <a:spLocks/>
          </p:cNvSpPr>
          <p:nvPr/>
        </p:nvSpPr>
        <p:spPr bwMode="auto">
          <a:xfrm>
            <a:off x="638631" y="5361532"/>
            <a:ext cx="7605486" cy="958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just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buFont typeface="Wingdings" panose="05000000000000000000" pitchFamily="2" charset="2"/>
              <a:buChar char="§"/>
              <a:defRPr/>
            </a:pPr>
            <a:r>
              <a:rPr lang="pt-BR" sz="2000" dirty="0"/>
              <a:t> Exigir especificação técnica que não seja necessária para atingir o fim desejado</a:t>
            </a:r>
            <a:endParaRPr lang="en-US" sz="20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0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6" grpId="0"/>
      <p:bldP spid="14" grpId="0"/>
      <p:bldP spid="18" grpId="0"/>
      <p:bldP spid="25" grpId="0" animBg="1"/>
      <p:bldP spid="12" grpId="0" animBg="1"/>
      <p:bldP spid="13" grpId="0"/>
      <p:bldP spid="16" grpId="0" animBg="1"/>
      <p:bldP spid="1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tângulo 26"/>
          <p:cNvSpPr/>
          <p:nvPr/>
        </p:nvSpPr>
        <p:spPr>
          <a:xfrm>
            <a:off x="566053" y="2162629"/>
            <a:ext cx="7968344" cy="1175660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PT"/>
          </a:p>
        </p:txBody>
      </p:sp>
      <p:sp>
        <p:nvSpPr>
          <p:cNvPr id="6159" name="CaixaDeTexto 2"/>
          <p:cNvSpPr txBox="1">
            <a:spLocks noChangeArrowheads="1"/>
          </p:cNvSpPr>
          <p:nvPr/>
        </p:nvSpPr>
        <p:spPr bwMode="auto">
          <a:xfrm>
            <a:off x="2902310" y="-421591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endParaRPr lang="pt-BR" altLang="pt-BR"/>
          </a:p>
        </p:txBody>
      </p:sp>
      <p:sp>
        <p:nvSpPr>
          <p:cNvPr id="26" name="Subtítulo 5"/>
          <p:cNvSpPr txBox="1">
            <a:spLocks/>
          </p:cNvSpPr>
          <p:nvPr/>
        </p:nvSpPr>
        <p:spPr bwMode="auto">
          <a:xfrm>
            <a:off x="653139" y="2197474"/>
            <a:ext cx="7605486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just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buFont typeface="Wingdings" panose="05000000000000000000" pitchFamily="2" charset="2"/>
              <a:buChar char="§"/>
              <a:defRPr/>
            </a:pPr>
            <a:r>
              <a:rPr lang="pt-BR" sz="2000" dirty="0"/>
              <a:t> Aumentar os custos de transação sem demonstração de benefícios</a:t>
            </a:r>
            <a:endParaRPr lang="en-US" sz="2000" dirty="0"/>
          </a:p>
        </p:txBody>
      </p:sp>
      <p:sp>
        <p:nvSpPr>
          <p:cNvPr id="12" name="Retângulo 11"/>
          <p:cNvSpPr/>
          <p:nvPr/>
        </p:nvSpPr>
        <p:spPr>
          <a:xfrm>
            <a:off x="573313" y="3447120"/>
            <a:ext cx="7968344" cy="1618367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PT"/>
          </a:p>
        </p:txBody>
      </p:sp>
      <p:sp>
        <p:nvSpPr>
          <p:cNvPr id="13" name="Subtítulo 5"/>
          <p:cNvSpPr txBox="1">
            <a:spLocks/>
          </p:cNvSpPr>
          <p:nvPr/>
        </p:nvSpPr>
        <p:spPr bwMode="auto">
          <a:xfrm>
            <a:off x="660399" y="3481966"/>
            <a:ext cx="7605486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just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buFont typeface="Wingdings" panose="05000000000000000000" pitchFamily="2" charset="2"/>
              <a:buChar char="§"/>
              <a:defRPr/>
            </a:pPr>
            <a:r>
              <a:rPr lang="pt-BR" sz="2000" dirty="0"/>
              <a:t> Criar demanda artificial ou compulsória de produto, serviço, ou atividade profissional, inclusive de uso de cartórios, registros ou cadastros</a:t>
            </a:r>
            <a:endParaRPr lang="en-US" sz="2000" dirty="0"/>
          </a:p>
        </p:txBody>
      </p:sp>
      <p:sp>
        <p:nvSpPr>
          <p:cNvPr id="15" name="CaixaDeTexto 14"/>
          <p:cNvSpPr txBox="1"/>
          <p:nvPr/>
        </p:nvSpPr>
        <p:spPr>
          <a:xfrm>
            <a:off x="4127322" y="633913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16" name="Retângulo 15"/>
          <p:cNvSpPr/>
          <p:nvPr/>
        </p:nvSpPr>
        <p:spPr>
          <a:xfrm>
            <a:off x="551545" y="5152518"/>
            <a:ext cx="7968344" cy="1531313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PT"/>
          </a:p>
        </p:txBody>
      </p:sp>
      <p:sp>
        <p:nvSpPr>
          <p:cNvPr id="17" name="Subtítulo 5"/>
          <p:cNvSpPr txBox="1">
            <a:spLocks/>
          </p:cNvSpPr>
          <p:nvPr/>
        </p:nvSpPr>
        <p:spPr bwMode="auto">
          <a:xfrm>
            <a:off x="638631" y="5187364"/>
            <a:ext cx="7605486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just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buFont typeface="Wingdings" panose="05000000000000000000" pitchFamily="2" charset="2"/>
              <a:buChar char="§"/>
              <a:defRPr/>
            </a:pPr>
            <a:r>
              <a:rPr lang="pt-BR" sz="2000" dirty="0"/>
              <a:t> Restringir o uso e o exercício da publicidade e propaganda sobre um setor econômico, ressalvadas as hipóteses expressamente vedadas em lei</a:t>
            </a:r>
            <a:endParaRPr lang="en-US" sz="2000" dirty="0"/>
          </a:p>
        </p:txBody>
      </p:sp>
      <p:sp>
        <p:nvSpPr>
          <p:cNvPr id="24" name="Retângulo 23"/>
          <p:cNvSpPr/>
          <p:nvPr/>
        </p:nvSpPr>
        <p:spPr>
          <a:xfrm>
            <a:off x="529776" y="522516"/>
            <a:ext cx="7968344" cy="1553027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PT"/>
          </a:p>
        </p:txBody>
      </p:sp>
      <p:sp>
        <p:nvSpPr>
          <p:cNvPr id="28" name="Subtítulo 5"/>
          <p:cNvSpPr txBox="1">
            <a:spLocks/>
          </p:cNvSpPr>
          <p:nvPr/>
        </p:nvSpPr>
        <p:spPr bwMode="auto">
          <a:xfrm>
            <a:off x="660405" y="477486"/>
            <a:ext cx="7605486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just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buFont typeface="Wingdings" panose="05000000000000000000" pitchFamily="2" charset="2"/>
              <a:buChar char="§"/>
              <a:defRPr/>
            </a:pPr>
            <a:r>
              <a:rPr lang="pt-BR" sz="2000" dirty="0"/>
              <a:t> Redigir enunciados que impeçam ou retardem a inovação e a adoção de novas tecnologias, processos ou modelos de negócios</a:t>
            </a:r>
            <a:endParaRPr lang="en-US" sz="20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6" grpId="0"/>
      <p:bldP spid="12" grpId="0" animBg="1"/>
      <p:bldP spid="13" grpId="0"/>
      <p:bldP spid="16" grpId="0" animBg="1"/>
      <p:bldP spid="17" grpId="0"/>
      <p:bldP spid="24" grpId="0" animBg="1"/>
      <p:bldP spid="2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9" name="CaixaDeTexto 2"/>
          <p:cNvSpPr txBox="1">
            <a:spLocks noChangeArrowheads="1"/>
          </p:cNvSpPr>
          <p:nvPr/>
        </p:nvSpPr>
        <p:spPr bwMode="auto">
          <a:xfrm>
            <a:off x="2902310" y="-421591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endParaRPr lang="pt-BR" altLang="pt-BR"/>
          </a:p>
        </p:txBody>
      </p:sp>
      <p:sp>
        <p:nvSpPr>
          <p:cNvPr id="24" name="Retângulo 23"/>
          <p:cNvSpPr/>
          <p:nvPr/>
        </p:nvSpPr>
        <p:spPr>
          <a:xfrm>
            <a:off x="529776" y="290292"/>
            <a:ext cx="7968344" cy="1465941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PT"/>
          </a:p>
        </p:txBody>
      </p:sp>
      <p:sp>
        <p:nvSpPr>
          <p:cNvPr id="28" name="Subtítulo 5"/>
          <p:cNvSpPr txBox="1">
            <a:spLocks/>
          </p:cNvSpPr>
          <p:nvPr/>
        </p:nvSpPr>
        <p:spPr bwMode="auto">
          <a:xfrm>
            <a:off x="660405" y="245262"/>
            <a:ext cx="7605486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just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buFont typeface="Wingdings" panose="05000000000000000000" pitchFamily="2" charset="2"/>
              <a:buChar char="§"/>
              <a:defRPr/>
            </a:pPr>
            <a:r>
              <a:rPr lang="pt-BR" sz="2000" dirty="0"/>
              <a:t> Exigir, sob pretexto de inscrição tributária, requerimentos de outra natureza de maneira a mitigar os efeitos de liberação de ato público</a:t>
            </a:r>
            <a:endParaRPr lang="en-US" sz="2000" dirty="0"/>
          </a:p>
        </p:txBody>
      </p:sp>
      <p:sp>
        <p:nvSpPr>
          <p:cNvPr id="14" name="Retângulo 13"/>
          <p:cNvSpPr/>
          <p:nvPr/>
        </p:nvSpPr>
        <p:spPr>
          <a:xfrm>
            <a:off x="362857" y="3396326"/>
            <a:ext cx="4122056" cy="2815787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just">
              <a:defRPr/>
            </a:pPr>
            <a:endParaRPr lang="pt-PT" dirty="0"/>
          </a:p>
        </p:txBody>
      </p:sp>
      <p:sp>
        <p:nvSpPr>
          <p:cNvPr id="18" name="Subtítulo 5"/>
          <p:cNvSpPr txBox="1">
            <a:spLocks/>
          </p:cNvSpPr>
          <p:nvPr/>
        </p:nvSpPr>
        <p:spPr bwMode="auto">
          <a:xfrm>
            <a:off x="798286" y="3329609"/>
            <a:ext cx="3468914" cy="617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ctr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defRPr/>
            </a:pPr>
            <a:r>
              <a:rPr lang="en-US" altLang="pt-PT" sz="2600" b="1" dirty="0">
                <a:solidFill>
                  <a:schemeClr val="tx2"/>
                </a:solidFill>
                <a:latin typeface="Century Gothic" panose="020B0502020202020204" pitchFamily="34" charset="0"/>
                <a:ea typeface="+mn-ea"/>
                <a:cs typeface="Tahoma" panose="020B0604030504040204" pitchFamily="34" charset="0"/>
              </a:rPr>
              <a:t>Como era:</a:t>
            </a:r>
          </a:p>
        </p:txBody>
      </p:sp>
      <p:sp>
        <p:nvSpPr>
          <p:cNvPr id="19" name="Retângulo 18"/>
          <p:cNvSpPr/>
          <p:nvPr/>
        </p:nvSpPr>
        <p:spPr>
          <a:xfrm>
            <a:off x="4731659" y="3410902"/>
            <a:ext cx="4136570" cy="2801181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solidFill>
              <a:srgbClr val="5DC3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PT"/>
          </a:p>
        </p:txBody>
      </p:sp>
      <p:sp>
        <p:nvSpPr>
          <p:cNvPr id="20" name="Subtítulo 5"/>
          <p:cNvSpPr txBox="1">
            <a:spLocks/>
          </p:cNvSpPr>
          <p:nvPr/>
        </p:nvSpPr>
        <p:spPr bwMode="auto">
          <a:xfrm>
            <a:off x="4811410" y="3336869"/>
            <a:ext cx="3468914" cy="617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ctr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defRPr/>
            </a:pPr>
            <a:r>
              <a:rPr lang="en-US" altLang="pt-PT" sz="2600" b="1" dirty="0">
                <a:solidFill>
                  <a:schemeClr val="tx2"/>
                </a:solidFill>
                <a:latin typeface="Century Gothic" panose="020B0502020202020204" pitchFamily="34" charset="0"/>
                <a:ea typeface="+mn-ea"/>
                <a:cs typeface="Tahoma" panose="020B0604030504040204" pitchFamily="34" charset="0"/>
              </a:rPr>
              <a:t>Como ficou:</a:t>
            </a:r>
          </a:p>
        </p:txBody>
      </p:sp>
      <p:sp>
        <p:nvSpPr>
          <p:cNvPr id="21" name="Subtítulo 5"/>
          <p:cNvSpPr txBox="1">
            <a:spLocks/>
          </p:cNvSpPr>
          <p:nvPr/>
        </p:nvSpPr>
        <p:spPr bwMode="auto">
          <a:xfrm>
            <a:off x="493484" y="3918855"/>
            <a:ext cx="3795490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just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defRPr/>
            </a:pPr>
            <a:r>
              <a:rPr lang="pt-BR" sz="2000" dirty="0"/>
              <a:t> Não existia previsão legal para questionar o uso de exigências regulatórias excessivas</a:t>
            </a:r>
            <a:endParaRPr lang="en-US" sz="2000" dirty="0"/>
          </a:p>
        </p:txBody>
      </p:sp>
      <p:sp>
        <p:nvSpPr>
          <p:cNvPr id="22" name="Subtítulo 5"/>
          <p:cNvSpPr txBox="1">
            <a:spLocks/>
          </p:cNvSpPr>
          <p:nvPr/>
        </p:nvSpPr>
        <p:spPr bwMode="auto">
          <a:xfrm>
            <a:off x="4811402" y="3998685"/>
            <a:ext cx="3795490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just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defRPr/>
            </a:pPr>
            <a:r>
              <a:rPr lang="pt-BR" sz="2000" dirty="0"/>
              <a:t>  Poderão ser questionadas, caso a caso, exigências regulatórias que prejudiquem o livre mercado</a:t>
            </a:r>
            <a:endParaRPr lang="en-US" sz="2000" dirty="0"/>
          </a:p>
        </p:txBody>
      </p:sp>
      <p:sp>
        <p:nvSpPr>
          <p:cNvPr id="30" name="Retângulo 29"/>
          <p:cNvSpPr/>
          <p:nvPr/>
        </p:nvSpPr>
        <p:spPr>
          <a:xfrm>
            <a:off x="522517" y="1923150"/>
            <a:ext cx="7968344" cy="1182905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PT"/>
          </a:p>
        </p:txBody>
      </p:sp>
      <p:sp>
        <p:nvSpPr>
          <p:cNvPr id="31" name="Subtítulo 5"/>
          <p:cNvSpPr txBox="1">
            <a:spLocks/>
          </p:cNvSpPr>
          <p:nvPr/>
        </p:nvSpPr>
        <p:spPr bwMode="auto">
          <a:xfrm>
            <a:off x="653146" y="1878120"/>
            <a:ext cx="7605486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just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buFont typeface="Wingdings" panose="05000000000000000000" pitchFamily="2" charset="2"/>
              <a:buChar char="§"/>
              <a:defRPr/>
            </a:pPr>
            <a:r>
              <a:rPr lang="pt-BR" sz="2000" dirty="0"/>
              <a:t> Deve ser aplicado, após regulamento, antes da edição de normas de interesse geral dos agentes econômicos federais</a:t>
            </a:r>
            <a:endParaRPr lang="en-US" sz="20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8" grpId="0"/>
      <p:bldP spid="14" grpId="0" animBg="1"/>
      <p:bldP spid="18" grpId="0"/>
      <p:bldP spid="19" grpId="0" animBg="1"/>
      <p:bldP spid="20" grpId="0"/>
      <p:bldP spid="21" grpId="0"/>
      <p:bldP spid="22" grpId="0"/>
      <p:bldP spid="30" grpId="0" animBg="1"/>
      <p:bldP spid="3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609594" y="1523966"/>
            <a:ext cx="7968344" cy="2786768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PT"/>
          </a:p>
        </p:txBody>
      </p:sp>
      <p:sp>
        <p:nvSpPr>
          <p:cNvPr id="3" name="Retângulo 2"/>
          <p:cNvSpPr/>
          <p:nvPr/>
        </p:nvSpPr>
        <p:spPr>
          <a:xfrm>
            <a:off x="612010" y="1148010"/>
            <a:ext cx="79804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eaLnBrk="1" hangingPunct="1">
              <a:spcAft>
                <a:spcPts val="600"/>
              </a:spcAft>
              <a:buClr>
                <a:schemeClr val="tx2"/>
              </a:buClr>
              <a:defRPr/>
            </a:pPr>
            <a:r>
              <a:rPr lang="pt-BR" b="1" u="sng" dirty="0">
                <a:solidFill>
                  <a:schemeClr val="tx2"/>
                </a:solidFill>
                <a:latin typeface="Century Gothic" charset="0"/>
                <a:ea typeface="Century Gothic" charset="0"/>
                <a:cs typeface="Century Gothic" charset="0"/>
              </a:rPr>
              <a:t>Exemplo </a:t>
            </a:r>
            <a:r>
              <a:rPr lang="pt-BR" dirty="0">
                <a:solidFill>
                  <a:schemeClr val="tx2"/>
                </a:solidFill>
                <a:latin typeface="Century Gothic" charset="0"/>
                <a:ea typeface="Century Gothic" charset="0"/>
                <a:cs typeface="Century Gothic" charset="0"/>
              </a:rPr>
              <a:t>:</a:t>
            </a:r>
          </a:p>
        </p:txBody>
      </p:sp>
      <p:sp>
        <p:nvSpPr>
          <p:cNvPr id="4" name="Subtítulo 5"/>
          <p:cNvSpPr txBox="1">
            <a:spLocks/>
          </p:cNvSpPr>
          <p:nvPr/>
        </p:nvSpPr>
        <p:spPr bwMode="auto">
          <a:xfrm>
            <a:off x="740225" y="1602403"/>
            <a:ext cx="7605486" cy="29392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just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defRPr/>
            </a:pPr>
            <a:r>
              <a:rPr lang="pt-BR" sz="2000" dirty="0"/>
              <a:t>  Um conselho regional não poderá fazer uma regulamentação para restringir publicidade e propaganda de seus associados em redes sociais, exceto se houver previsão em lei, tal como ocorre com os advogados que tem restrição de publicidade e propaganda definida pela OAB- Ordem dos Advogados do Brasil</a:t>
            </a:r>
          </a:p>
          <a:p>
            <a:pPr marL="133346" indent="-133346" algn="just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defRPr/>
            </a:pPr>
            <a:endParaRPr lang="en-US" sz="20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9" name="CaixaDeTexto 2"/>
          <p:cNvSpPr txBox="1">
            <a:spLocks noChangeArrowheads="1"/>
          </p:cNvSpPr>
          <p:nvPr/>
        </p:nvSpPr>
        <p:spPr bwMode="auto">
          <a:xfrm>
            <a:off x="2902310" y="-421591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endParaRPr lang="pt-BR" altLang="pt-BR"/>
          </a:p>
        </p:txBody>
      </p:sp>
      <p:sp>
        <p:nvSpPr>
          <p:cNvPr id="14" name="Título 4"/>
          <p:cNvSpPr>
            <a:spLocks/>
          </p:cNvSpPr>
          <p:nvPr/>
        </p:nvSpPr>
        <p:spPr bwMode="auto">
          <a:xfrm>
            <a:off x="313072" y="511857"/>
            <a:ext cx="8642242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3600"/>
              </a:spcBef>
              <a:defRPr/>
            </a:pPr>
            <a:r>
              <a:rPr lang="pt-BR" altLang="pt-PT" sz="2600" b="1" dirty="0">
                <a:solidFill>
                  <a:schemeClr val="tx2"/>
                </a:solidFill>
                <a:latin typeface="Century Gothic" panose="020B0502020202020204" pitchFamily="34" charset="0"/>
                <a:ea typeface="+mn-ea"/>
                <a:cs typeface="Tahoma" panose="020B0604030504040204" pitchFamily="34" charset="0"/>
              </a:rPr>
              <a:t>Análise de Impacto Regulatório</a:t>
            </a:r>
          </a:p>
        </p:txBody>
      </p:sp>
      <p:sp>
        <p:nvSpPr>
          <p:cNvPr id="18" name="Retângulo 17"/>
          <p:cNvSpPr/>
          <p:nvPr/>
        </p:nvSpPr>
        <p:spPr>
          <a:xfrm>
            <a:off x="361699" y="1107636"/>
            <a:ext cx="657613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pt-B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ea typeface="+mn-ea"/>
                <a:cs typeface="Tahoma" panose="020B0604030504040204" pitchFamily="34" charset="0"/>
              </a:rPr>
              <a:t>Art. 5º</a:t>
            </a:r>
          </a:p>
        </p:txBody>
      </p:sp>
      <p:sp>
        <p:nvSpPr>
          <p:cNvPr id="25" name="Retângulo 24"/>
          <p:cNvSpPr/>
          <p:nvPr/>
        </p:nvSpPr>
        <p:spPr>
          <a:xfrm>
            <a:off x="155346" y="304583"/>
            <a:ext cx="120426" cy="1219417"/>
          </a:xfrm>
          <a:prstGeom prst="rect">
            <a:avLst/>
          </a:prstGeom>
          <a:solidFill>
            <a:srgbClr val="60B0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PT"/>
          </a:p>
        </p:txBody>
      </p:sp>
      <p:sp>
        <p:nvSpPr>
          <p:cNvPr id="15" name="Retângulo 14"/>
          <p:cNvSpPr/>
          <p:nvPr/>
        </p:nvSpPr>
        <p:spPr>
          <a:xfrm>
            <a:off x="290287" y="2032010"/>
            <a:ext cx="4122056" cy="4238161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just">
              <a:defRPr/>
            </a:pPr>
            <a:endParaRPr lang="pt-PT" dirty="0"/>
          </a:p>
        </p:txBody>
      </p:sp>
      <p:sp>
        <p:nvSpPr>
          <p:cNvPr id="16" name="Subtítulo 5"/>
          <p:cNvSpPr txBox="1">
            <a:spLocks/>
          </p:cNvSpPr>
          <p:nvPr/>
        </p:nvSpPr>
        <p:spPr bwMode="auto">
          <a:xfrm>
            <a:off x="725716" y="1965293"/>
            <a:ext cx="3468914" cy="617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ctr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defRPr/>
            </a:pPr>
            <a:r>
              <a:rPr lang="en-US" altLang="pt-PT" sz="2600" b="1" dirty="0">
                <a:solidFill>
                  <a:schemeClr val="tx2"/>
                </a:solidFill>
                <a:latin typeface="Century Gothic" panose="020B0502020202020204" pitchFamily="34" charset="0"/>
                <a:ea typeface="+mn-ea"/>
                <a:cs typeface="Tahoma" panose="020B0604030504040204" pitchFamily="34" charset="0"/>
              </a:rPr>
              <a:t>Como era: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4702631" y="2046587"/>
            <a:ext cx="4136570" cy="4223584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solidFill>
              <a:srgbClr val="5DC3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PT"/>
          </a:p>
        </p:txBody>
      </p:sp>
      <p:sp>
        <p:nvSpPr>
          <p:cNvPr id="19" name="Subtítulo 5"/>
          <p:cNvSpPr txBox="1">
            <a:spLocks/>
          </p:cNvSpPr>
          <p:nvPr/>
        </p:nvSpPr>
        <p:spPr bwMode="auto">
          <a:xfrm>
            <a:off x="4782382" y="1987067"/>
            <a:ext cx="3468914" cy="617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ctr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defRPr/>
            </a:pPr>
            <a:r>
              <a:rPr lang="en-US" altLang="pt-PT" sz="2600" b="1" dirty="0">
                <a:solidFill>
                  <a:schemeClr val="tx2"/>
                </a:solidFill>
                <a:latin typeface="Century Gothic" panose="020B0502020202020204" pitchFamily="34" charset="0"/>
                <a:ea typeface="+mn-ea"/>
                <a:cs typeface="Tahoma" panose="020B0604030504040204" pitchFamily="34" charset="0"/>
              </a:rPr>
              <a:t>Como ficou:</a:t>
            </a:r>
          </a:p>
        </p:txBody>
      </p:sp>
      <p:sp>
        <p:nvSpPr>
          <p:cNvPr id="20" name="Subtítulo 5"/>
          <p:cNvSpPr txBox="1">
            <a:spLocks/>
          </p:cNvSpPr>
          <p:nvPr/>
        </p:nvSpPr>
        <p:spPr bwMode="auto">
          <a:xfrm>
            <a:off x="420914" y="3236012"/>
            <a:ext cx="3795490" cy="1789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just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defRPr/>
            </a:pPr>
            <a:r>
              <a:rPr lang="pt-BR" sz="2000" dirty="0"/>
              <a:t>  </a:t>
            </a:r>
            <a:r>
              <a:rPr lang="pt-BR" dirty="0"/>
              <a:t>Não existia previsão legal para obrigatoriedade para a análise prévia de impacto regulatório de atos normativos</a:t>
            </a:r>
            <a:endParaRPr lang="en-US" sz="2000" dirty="0"/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7F758D11-6FB6-49C0-9E9C-099574F9D0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2382" y="2664320"/>
            <a:ext cx="3749964" cy="3293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 propostas de edição e de alteração de atos normativos de interesse geral de agentes econômicos ou de usuários dos serviços prestados, editadas por órgão ou entidade da administração pública federal, incluídas as autarquias e as fundações públicas, serão precedidas da realização de análise de impacto regulatório, que conterá informações e dados sobre os possíveis efeitos do ato normativo para verificar a razoabilidade do seu impacto econômico.</a:t>
            </a:r>
            <a:endParaRPr kumimoji="0" lang="pt-BR" altLang="pt-B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8" grpId="0"/>
      <p:bldP spid="25" grpId="0" animBg="1"/>
      <p:bldP spid="15" grpId="0" animBg="1"/>
      <p:bldP spid="16" grpId="0"/>
      <p:bldP spid="17" grpId="0" animBg="1"/>
      <p:bldP spid="19" grpId="0"/>
      <p:bldP spid="2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9" name="CaixaDeTexto 2"/>
          <p:cNvSpPr txBox="1">
            <a:spLocks noChangeArrowheads="1"/>
          </p:cNvSpPr>
          <p:nvPr/>
        </p:nvSpPr>
        <p:spPr bwMode="auto">
          <a:xfrm>
            <a:off x="2902310" y="-421591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endParaRPr lang="pt-BR" altLang="pt-BR"/>
          </a:p>
        </p:txBody>
      </p:sp>
      <p:sp>
        <p:nvSpPr>
          <p:cNvPr id="14" name="Título 4"/>
          <p:cNvSpPr>
            <a:spLocks/>
          </p:cNvSpPr>
          <p:nvPr/>
        </p:nvSpPr>
        <p:spPr bwMode="auto">
          <a:xfrm>
            <a:off x="313072" y="511857"/>
            <a:ext cx="8642242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3600"/>
              </a:spcBef>
              <a:defRPr/>
            </a:pPr>
            <a:r>
              <a:rPr lang="pt-BR" altLang="pt-PT" sz="2600" b="1" dirty="0">
                <a:solidFill>
                  <a:schemeClr val="tx2"/>
                </a:solidFill>
                <a:latin typeface="Century Gothic" panose="020B0502020202020204" pitchFamily="34" charset="0"/>
                <a:ea typeface="+mn-ea"/>
                <a:cs typeface="Tahoma" panose="020B0604030504040204" pitchFamily="34" charset="0"/>
              </a:rPr>
              <a:t>Extingue o fundo soberano do Brasil</a:t>
            </a:r>
          </a:p>
        </p:txBody>
      </p:sp>
      <p:sp>
        <p:nvSpPr>
          <p:cNvPr id="18" name="Retângulo 17"/>
          <p:cNvSpPr/>
          <p:nvPr/>
        </p:nvSpPr>
        <p:spPr>
          <a:xfrm>
            <a:off x="361699" y="1107636"/>
            <a:ext cx="657613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pt-B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ea typeface="+mn-ea"/>
                <a:cs typeface="Tahoma" panose="020B0604030504040204" pitchFamily="34" charset="0"/>
              </a:rPr>
              <a:t>Art. 6º</a:t>
            </a:r>
          </a:p>
        </p:txBody>
      </p:sp>
      <p:sp>
        <p:nvSpPr>
          <p:cNvPr id="25" name="Retângulo 24"/>
          <p:cNvSpPr/>
          <p:nvPr/>
        </p:nvSpPr>
        <p:spPr>
          <a:xfrm>
            <a:off x="155346" y="304583"/>
            <a:ext cx="120426" cy="1219417"/>
          </a:xfrm>
          <a:prstGeom prst="rect">
            <a:avLst/>
          </a:prstGeom>
          <a:solidFill>
            <a:srgbClr val="60B0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PT"/>
          </a:p>
        </p:txBody>
      </p:sp>
      <p:sp>
        <p:nvSpPr>
          <p:cNvPr id="15" name="Retângulo 14"/>
          <p:cNvSpPr/>
          <p:nvPr/>
        </p:nvSpPr>
        <p:spPr>
          <a:xfrm>
            <a:off x="290287" y="2032010"/>
            <a:ext cx="4122056" cy="4238161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just">
              <a:defRPr/>
            </a:pPr>
            <a:endParaRPr lang="pt-PT" dirty="0"/>
          </a:p>
        </p:txBody>
      </p:sp>
      <p:sp>
        <p:nvSpPr>
          <p:cNvPr id="16" name="Subtítulo 5"/>
          <p:cNvSpPr txBox="1">
            <a:spLocks/>
          </p:cNvSpPr>
          <p:nvPr/>
        </p:nvSpPr>
        <p:spPr bwMode="auto">
          <a:xfrm>
            <a:off x="725716" y="1965293"/>
            <a:ext cx="3468914" cy="617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ctr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defRPr/>
            </a:pPr>
            <a:r>
              <a:rPr lang="en-US" altLang="pt-PT" sz="2600" b="1" dirty="0">
                <a:solidFill>
                  <a:schemeClr val="tx2"/>
                </a:solidFill>
                <a:latin typeface="Century Gothic" panose="020B0502020202020204" pitchFamily="34" charset="0"/>
                <a:ea typeface="+mn-ea"/>
                <a:cs typeface="Tahoma" panose="020B0604030504040204" pitchFamily="34" charset="0"/>
              </a:rPr>
              <a:t>Como era: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4702631" y="2046587"/>
            <a:ext cx="4136570" cy="4223584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solidFill>
              <a:srgbClr val="5DC3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PT"/>
          </a:p>
        </p:txBody>
      </p:sp>
      <p:sp>
        <p:nvSpPr>
          <p:cNvPr id="19" name="Subtítulo 5"/>
          <p:cNvSpPr txBox="1">
            <a:spLocks/>
          </p:cNvSpPr>
          <p:nvPr/>
        </p:nvSpPr>
        <p:spPr bwMode="auto">
          <a:xfrm>
            <a:off x="4782382" y="1987067"/>
            <a:ext cx="3468914" cy="617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ctr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defRPr/>
            </a:pPr>
            <a:r>
              <a:rPr lang="en-US" altLang="pt-PT" sz="2600" b="1" dirty="0">
                <a:solidFill>
                  <a:schemeClr val="tx2"/>
                </a:solidFill>
                <a:latin typeface="Century Gothic" panose="020B0502020202020204" pitchFamily="34" charset="0"/>
                <a:ea typeface="+mn-ea"/>
                <a:cs typeface="Tahoma" panose="020B0604030504040204" pitchFamily="34" charset="0"/>
              </a:rPr>
              <a:t>Como ficou:</a:t>
            </a:r>
          </a:p>
        </p:txBody>
      </p:sp>
      <p:sp>
        <p:nvSpPr>
          <p:cNvPr id="20" name="Subtítulo 5"/>
          <p:cNvSpPr txBox="1">
            <a:spLocks/>
          </p:cNvSpPr>
          <p:nvPr/>
        </p:nvSpPr>
        <p:spPr bwMode="auto">
          <a:xfrm>
            <a:off x="420914" y="2699679"/>
            <a:ext cx="3795490" cy="2862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just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defRPr/>
            </a:pPr>
            <a:r>
              <a:rPr lang="pt-BR" sz="2000" dirty="0"/>
              <a:t>  Existia o fundo soberano do Brasil como uma espécie de poupança pública criada com o objetivo de atenuar o efeito de crises econômicas sobre o País</a:t>
            </a:r>
            <a:endParaRPr lang="en-US" sz="2000" dirty="0"/>
          </a:p>
        </p:txBody>
      </p:sp>
      <p:sp>
        <p:nvSpPr>
          <p:cNvPr id="21" name="Subtítulo 5"/>
          <p:cNvSpPr txBox="1">
            <a:spLocks/>
          </p:cNvSpPr>
          <p:nvPr/>
        </p:nvSpPr>
        <p:spPr bwMode="auto">
          <a:xfrm>
            <a:off x="4782374" y="2634369"/>
            <a:ext cx="3795490" cy="332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just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defRPr/>
            </a:pPr>
            <a:r>
              <a:rPr lang="pt-BR" sz="2000" dirty="0"/>
              <a:t>  Elimina o fundo soberano do Brasil, haja vista sua ausência de finalidade como instrumento eficaz de gestão de riqueza soberana e de mitigação dos efeitos cíclicos econômicos do Brasil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92524935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8" grpId="0"/>
      <p:bldP spid="25" grpId="0" animBg="1"/>
      <p:bldP spid="15" grpId="0" animBg="1"/>
      <p:bldP spid="16" grpId="0"/>
      <p:bldP spid="17" grpId="0" animBg="1"/>
      <p:bldP spid="19" grpId="0"/>
      <p:bldP spid="20" grpId="0"/>
      <p:bldP spid="2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9" name="CaixaDeTexto 2"/>
          <p:cNvSpPr txBox="1">
            <a:spLocks noChangeArrowheads="1"/>
          </p:cNvSpPr>
          <p:nvPr/>
        </p:nvSpPr>
        <p:spPr bwMode="auto">
          <a:xfrm>
            <a:off x="2902310" y="-421591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endParaRPr lang="pt-BR" altLang="pt-BR"/>
          </a:p>
        </p:txBody>
      </p:sp>
      <p:sp>
        <p:nvSpPr>
          <p:cNvPr id="14" name="Título 4"/>
          <p:cNvSpPr>
            <a:spLocks/>
          </p:cNvSpPr>
          <p:nvPr/>
        </p:nvSpPr>
        <p:spPr bwMode="auto">
          <a:xfrm>
            <a:off x="313072" y="511857"/>
            <a:ext cx="8642242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3600"/>
              </a:spcBef>
              <a:defRPr/>
            </a:pPr>
            <a:r>
              <a:rPr lang="pt-BR" altLang="pt-PT" sz="2600" b="1" dirty="0">
                <a:solidFill>
                  <a:schemeClr val="tx2"/>
                </a:solidFill>
                <a:latin typeface="Century Gothic" panose="020B0502020202020204" pitchFamily="34" charset="0"/>
                <a:ea typeface="+mn-ea"/>
                <a:cs typeface="Tahoma" panose="020B0604030504040204" pitchFamily="34" charset="0"/>
              </a:rPr>
              <a:t>Restringe o acesso a bens pessoais de empresários</a:t>
            </a:r>
          </a:p>
        </p:txBody>
      </p:sp>
      <p:sp>
        <p:nvSpPr>
          <p:cNvPr id="18" name="Retângulo 17"/>
          <p:cNvSpPr/>
          <p:nvPr/>
        </p:nvSpPr>
        <p:spPr>
          <a:xfrm>
            <a:off x="361699" y="1107636"/>
            <a:ext cx="657613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pt-B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ea typeface="+mn-ea"/>
                <a:cs typeface="Tahoma" panose="020B0604030504040204" pitchFamily="34" charset="0"/>
              </a:rPr>
              <a:t>Art. 7º</a:t>
            </a:r>
          </a:p>
        </p:txBody>
      </p:sp>
      <p:sp>
        <p:nvSpPr>
          <p:cNvPr id="25" name="Retângulo 24"/>
          <p:cNvSpPr/>
          <p:nvPr/>
        </p:nvSpPr>
        <p:spPr>
          <a:xfrm>
            <a:off x="155346" y="304583"/>
            <a:ext cx="120426" cy="1219417"/>
          </a:xfrm>
          <a:prstGeom prst="rect">
            <a:avLst/>
          </a:prstGeom>
          <a:solidFill>
            <a:srgbClr val="60B0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PT"/>
          </a:p>
        </p:txBody>
      </p:sp>
      <p:sp>
        <p:nvSpPr>
          <p:cNvPr id="15" name="Retângulo 14"/>
          <p:cNvSpPr/>
          <p:nvPr/>
        </p:nvSpPr>
        <p:spPr>
          <a:xfrm>
            <a:off x="304801" y="1727215"/>
            <a:ext cx="4122056" cy="4818728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just">
              <a:defRPr/>
            </a:pPr>
            <a:endParaRPr lang="pt-PT" dirty="0"/>
          </a:p>
        </p:txBody>
      </p:sp>
      <p:sp>
        <p:nvSpPr>
          <p:cNvPr id="16" name="Subtítulo 5"/>
          <p:cNvSpPr txBox="1">
            <a:spLocks/>
          </p:cNvSpPr>
          <p:nvPr/>
        </p:nvSpPr>
        <p:spPr bwMode="auto">
          <a:xfrm>
            <a:off x="740230" y="1660499"/>
            <a:ext cx="3468914" cy="617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ctr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defRPr/>
            </a:pPr>
            <a:r>
              <a:rPr lang="en-US" altLang="pt-PT" sz="2600" b="1" dirty="0">
                <a:solidFill>
                  <a:schemeClr val="tx2"/>
                </a:solidFill>
                <a:latin typeface="Century Gothic" panose="020B0502020202020204" pitchFamily="34" charset="0"/>
                <a:ea typeface="+mn-ea"/>
                <a:cs typeface="Tahoma" panose="020B0604030504040204" pitchFamily="34" charset="0"/>
              </a:rPr>
              <a:t>Como era: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4688117" y="1727276"/>
            <a:ext cx="4136570" cy="4833181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solidFill>
              <a:srgbClr val="5DC3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PT"/>
          </a:p>
        </p:txBody>
      </p:sp>
      <p:sp>
        <p:nvSpPr>
          <p:cNvPr id="19" name="Subtítulo 5"/>
          <p:cNvSpPr txBox="1">
            <a:spLocks/>
          </p:cNvSpPr>
          <p:nvPr/>
        </p:nvSpPr>
        <p:spPr bwMode="auto">
          <a:xfrm>
            <a:off x="4767868" y="1682273"/>
            <a:ext cx="3468914" cy="617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ctr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defRPr/>
            </a:pPr>
            <a:r>
              <a:rPr lang="en-US" altLang="pt-PT" sz="2600" b="1" dirty="0">
                <a:solidFill>
                  <a:schemeClr val="tx2"/>
                </a:solidFill>
                <a:latin typeface="Century Gothic" panose="020B0502020202020204" pitchFamily="34" charset="0"/>
                <a:ea typeface="+mn-ea"/>
                <a:cs typeface="Tahoma" panose="020B0604030504040204" pitchFamily="34" charset="0"/>
              </a:rPr>
              <a:t>Como ficou:</a:t>
            </a:r>
          </a:p>
        </p:txBody>
      </p:sp>
      <p:sp>
        <p:nvSpPr>
          <p:cNvPr id="20" name="Subtítulo 5"/>
          <p:cNvSpPr txBox="1">
            <a:spLocks/>
          </p:cNvSpPr>
          <p:nvPr/>
        </p:nvSpPr>
        <p:spPr bwMode="auto">
          <a:xfrm>
            <a:off x="435428" y="2336829"/>
            <a:ext cx="3795490" cy="2862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just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defRPr/>
            </a:pPr>
            <a:r>
              <a:rPr lang="pt-BR" sz="2000" dirty="0"/>
              <a:t>  Não existiam critérios detalhados para que sócios respondessem pelas dívidas da empresa, sendo comum a desconsideração da pessoa jurídica por meio da Justiça</a:t>
            </a:r>
            <a:endParaRPr lang="en-US" sz="2000" dirty="0"/>
          </a:p>
        </p:txBody>
      </p:sp>
      <p:sp>
        <p:nvSpPr>
          <p:cNvPr id="21" name="Subtítulo 5"/>
          <p:cNvSpPr txBox="1">
            <a:spLocks/>
          </p:cNvSpPr>
          <p:nvPr/>
        </p:nvSpPr>
        <p:spPr bwMode="auto">
          <a:xfrm>
            <a:off x="4767860" y="2271519"/>
            <a:ext cx="3795490" cy="4247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just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defRPr/>
            </a:pPr>
            <a:r>
              <a:rPr lang="pt-BR" sz="2000" dirty="0"/>
              <a:t>  Restringe a desconsideração da personalidade jurídica, a fim de preservar o bens e capitais dos sócios, exceto em relação aqueles que se beneficiaram por eventual desvio de finalidade, praticando atos ilícitos, ou por confusão patrimonial</a:t>
            </a:r>
            <a:endParaRPr lang="en-US" sz="20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8" grpId="0"/>
      <p:bldP spid="25" grpId="0" animBg="1"/>
      <p:bldP spid="15" grpId="0" animBg="1"/>
      <p:bldP spid="16" grpId="0"/>
      <p:bldP spid="17" grpId="0" animBg="1"/>
      <p:bldP spid="19" grpId="0"/>
      <p:bldP spid="20" grpId="0"/>
      <p:bldP spid="2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9" name="CaixaDeTexto 2"/>
          <p:cNvSpPr txBox="1">
            <a:spLocks noChangeArrowheads="1"/>
          </p:cNvSpPr>
          <p:nvPr/>
        </p:nvSpPr>
        <p:spPr bwMode="auto">
          <a:xfrm>
            <a:off x="2902310" y="-421591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endParaRPr lang="pt-BR" altLang="pt-BR"/>
          </a:p>
        </p:txBody>
      </p:sp>
      <p:sp>
        <p:nvSpPr>
          <p:cNvPr id="14" name="Título 4"/>
          <p:cNvSpPr>
            <a:spLocks/>
          </p:cNvSpPr>
          <p:nvPr/>
        </p:nvSpPr>
        <p:spPr bwMode="auto">
          <a:xfrm>
            <a:off x="313072" y="511857"/>
            <a:ext cx="8642242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3600"/>
              </a:spcBef>
              <a:defRPr/>
            </a:pPr>
            <a:r>
              <a:rPr lang="pt-BR" altLang="pt-PT" sz="2600" b="1" dirty="0">
                <a:solidFill>
                  <a:schemeClr val="tx2"/>
                </a:solidFill>
                <a:latin typeface="Century Gothic" panose="020B0502020202020204" pitchFamily="34" charset="0"/>
                <a:ea typeface="+mn-ea"/>
                <a:cs typeface="Tahoma" panose="020B0604030504040204" pitchFamily="34" charset="0"/>
              </a:rPr>
              <a:t>Cria a sociedade limitada unipessoal</a:t>
            </a:r>
          </a:p>
        </p:txBody>
      </p:sp>
      <p:sp>
        <p:nvSpPr>
          <p:cNvPr id="18" name="Retângulo 17"/>
          <p:cNvSpPr/>
          <p:nvPr/>
        </p:nvSpPr>
        <p:spPr>
          <a:xfrm>
            <a:off x="361699" y="1107636"/>
            <a:ext cx="657613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pt-B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ea typeface="+mn-ea"/>
                <a:cs typeface="Tahoma" panose="020B0604030504040204" pitchFamily="34" charset="0"/>
              </a:rPr>
              <a:t>Art. 7º</a:t>
            </a:r>
          </a:p>
        </p:txBody>
      </p:sp>
      <p:sp>
        <p:nvSpPr>
          <p:cNvPr id="25" name="Retângulo 24"/>
          <p:cNvSpPr/>
          <p:nvPr/>
        </p:nvSpPr>
        <p:spPr>
          <a:xfrm>
            <a:off x="155346" y="304583"/>
            <a:ext cx="120426" cy="1219417"/>
          </a:xfrm>
          <a:prstGeom prst="rect">
            <a:avLst/>
          </a:prstGeom>
          <a:solidFill>
            <a:srgbClr val="60B0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PT"/>
          </a:p>
        </p:txBody>
      </p:sp>
      <p:sp>
        <p:nvSpPr>
          <p:cNvPr id="15" name="Retângulo 14"/>
          <p:cNvSpPr/>
          <p:nvPr/>
        </p:nvSpPr>
        <p:spPr>
          <a:xfrm>
            <a:off x="304801" y="1814300"/>
            <a:ext cx="4122056" cy="4746157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just">
              <a:defRPr/>
            </a:pPr>
            <a:endParaRPr lang="pt-PT" dirty="0"/>
          </a:p>
        </p:txBody>
      </p:sp>
      <p:sp>
        <p:nvSpPr>
          <p:cNvPr id="16" name="Subtítulo 5"/>
          <p:cNvSpPr txBox="1">
            <a:spLocks/>
          </p:cNvSpPr>
          <p:nvPr/>
        </p:nvSpPr>
        <p:spPr bwMode="auto">
          <a:xfrm>
            <a:off x="740230" y="1747583"/>
            <a:ext cx="3468914" cy="617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ctr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defRPr/>
            </a:pPr>
            <a:r>
              <a:rPr lang="en-US" altLang="pt-PT" sz="2600" b="1" dirty="0">
                <a:solidFill>
                  <a:schemeClr val="tx2"/>
                </a:solidFill>
                <a:latin typeface="Century Gothic" panose="020B0502020202020204" pitchFamily="34" charset="0"/>
                <a:ea typeface="+mn-ea"/>
                <a:cs typeface="Tahoma" panose="020B0604030504040204" pitchFamily="34" charset="0"/>
              </a:rPr>
              <a:t>Como era: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4673603" y="1828876"/>
            <a:ext cx="4136570" cy="4731581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solidFill>
              <a:srgbClr val="5DC3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PT"/>
          </a:p>
        </p:txBody>
      </p:sp>
      <p:sp>
        <p:nvSpPr>
          <p:cNvPr id="19" name="Subtítulo 5"/>
          <p:cNvSpPr txBox="1">
            <a:spLocks/>
          </p:cNvSpPr>
          <p:nvPr/>
        </p:nvSpPr>
        <p:spPr bwMode="auto">
          <a:xfrm>
            <a:off x="4753354" y="1769357"/>
            <a:ext cx="3468914" cy="617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ctr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defRPr/>
            </a:pPr>
            <a:r>
              <a:rPr lang="en-US" altLang="pt-PT" sz="2600" b="1" dirty="0">
                <a:solidFill>
                  <a:schemeClr val="tx2"/>
                </a:solidFill>
                <a:latin typeface="Century Gothic" panose="020B0502020202020204" pitchFamily="34" charset="0"/>
                <a:ea typeface="+mn-ea"/>
                <a:cs typeface="Tahoma" panose="020B0604030504040204" pitchFamily="34" charset="0"/>
              </a:rPr>
              <a:t>Como ficou:</a:t>
            </a:r>
          </a:p>
        </p:txBody>
      </p:sp>
      <p:sp>
        <p:nvSpPr>
          <p:cNvPr id="20" name="Subtítulo 5"/>
          <p:cNvSpPr txBox="1">
            <a:spLocks/>
          </p:cNvSpPr>
          <p:nvPr/>
        </p:nvSpPr>
        <p:spPr bwMode="auto">
          <a:xfrm>
            <a:off x="435428" y="2278773"/>
            <a:ext cx="3795490" cy="4247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just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defRPr/>
            </a:pPr>
            <a:r>
              <a:rPr lang="pt-BR" sz="2000" dirty="0"/>
              <a:t>  Para se abrir um empresa de responsabilidade limitada de um sócio, fazia-se necessário optar pela modalidade EIRELI – Empresa Individual de Responsabilidade Limitada, cujo capital social não pode ser inferior a 100 vezes o salário mínimo</a:t>
            </a:r>
            <a:endParaRPr lang="en-US" sz="2000" dirty="0"/>
          </a:p>
        </p:txBody>
      </p:sp>
      <p:sp>
        <p:nvSpPr>
          <p:cNvPr id="21" name="Subtítulo 5"/>
          <p:cNvSpPr txBox="1">
            <a:spLocks/>
          </p:cNvSpPr>
          <p:nvPr/>
        </p:nvSpPr>
        <p:spPr bwMode="auto">
          <a:xfrm>
            <a:off x="4753346" y="2416659"/>
            <a:ext cx="3795490" cy="2400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just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defRPr/>
            </a:pPr>
            <a:r>
              <a:rPr lang="pt-BR" sz="2000" dirty="0"/>
              <a:t>  Passa a ser admitida empresa individual de responsabilidade limitada unipessoal, sem exigência de capital mínimo ou máximo</a:t>
            </a:r>
            <a:endParaRPr lang="en-US" sz="20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8" grpId="0"/>
      <p:bldP spid="25" grpId="0" animBg="1"/>
      <p:bldP spid="15" grpId="0" animBg="1"/>
      <p:bldP spid="16" grpId="0"/>
      <p:bldP spid="17" grpId="0" animBg="1"/>
      <p:bldP spid="19" grpId="0"/>
      <p:bldP spid="20" grpId="0"/>
      <p:bldP spid="2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9" name="CaixaDeTexto 2"/>
          <p:cNvSpPr txBox="1">
            <a:spLocks noChangeArrowheads="1"/>
          </p:cNvSpPr>
          <p:nvPr/>
        </p:nvSpPr>
        <p:spPr bwMode="auto">
          <a:xfrm>
            <a:off x="2902310" y="-421591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endParaRPr lang="pt-BR" altLang="pt-BR"/>
          </a:p>
        </p:txBody>
      </p:sp>
      <p:sp>
        <p:nvSpPr>
          <p:cNvPr id="14" name="Título 4"/>
          <p:cNvSpPr>
            <a:spLocks/>
          </p:cNvSpPr>
          <p:nvPr/>
        </p:nvSpPr>
        <p:spPr bwMode="auto">
          <a:xfrm>
            <a:off x="313072" y="352203"/>
            <a:ext cx="8642242" cy="892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3600"/>
              </a:spcBef>
              <a:defRPr/>
            </a:pPr>
            <a:r>
              <a:rPr lang="pt-BR" altLang="pt-PT" sz="2600" b="1" dirty="0">
                <a:solidFill>
                  <a:schemeClr val="tx2"/>
                </a:solidFill>
                <a:latin typeface="Century Gothic" panose="020B0502020202020204" pitchFamily="34" charset="0"/>
                <a:ea typeface="+mn-ea"/>
                <a:cs typeface="Tahoma" panose="020B0604030504040204" pitchFamily="34" charset="0"/>
              </a:rPr>
              <a:t>Desistência de ações pela Procuradoria da Fazenda Nacional</a:t>
            </a:r>
          </a:p>
        </p:txBody>
      </p:sp>
      <p:sp>
        <p:nvSpPr>
          <p:cNvPr id="18" name="Retângulo 17"/>
          <p:cNvSpPr/>
          <p:nvPr/>
        </p:nvSpPr>
        <p:spPr>
          <a:xfrm>
            <a:off x="361699" y="1165692"/>
            <a:ext cx="657613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pt-B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ea typeface="+mn-ea"/>
                <a:cs typeface="Tahoma" panose="020B0604030504040204" pitchFamily="34" charset="0"/>
              </a:rPr>
              <a:t>Art. 13</a:t>
            </a:r>
          </a:p>
        </p:txBody>
      </p:sp>
      <p:sp>
        <p:nvSpPr>
          <p:cNvPr id="25" name="Retângulo 24"/>
          <p:cNvSpPr/>
          <p:nvPr/>
        </p:nvSpPr>
        <p:spPr>
          <a:xfrm>
            <a:off x="155346" y="304583"/>
            <a:ext cx="120426" cy="1219417"/>
          </a:xfrm>
          <a:prstGeom prst="rect">
            <a:avLst/>
          </a:prstGeom>
          <a:solidFill>
            <a:srgbClr val="60B0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PT"/>
          </a:p>
        </p:txBody>
      </p:sp>
      <p:sp>
        <p:nvSpPr>
          <p:cNvPr id="15" name="Retângulo 14"/>
          <p:cNvSpPr/>
          <p:nvPr/>
        </p:nvSpPr>
        <p:spPr>
          <a:xfrm>
            <a:off x="304801" y="1669160"/>
            <a:ext cx="4122056" cy="4963869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just">
              <a:defRPr/>
            </a:pPr>
            <a:endParaRPr lang="pt-PT" dirty="0"/>
          </a:p>
        </p:txBody>
      </p:sp>
      <p:sp>
        <p:nvSpPr>
          <p:cNvPr id="16" name="Subtítulo 5"/>
          <p:cNvSpPr txBox="1">
            <a:spLocks/>
          </p:cNvSpPr>
          <p:nvPr/>
        </p:nvSpPr>
        <p:spPr bwMode="auto">
          <a:xfrm>
            <a:off x="740230" y="1602443"/>
            <a:ext cx="3468914" cy="617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ctr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defRPr/>
            </a:pPr>
            <a:r>
              <a:rPr lang="en-US" altLang="pt-PT" sz="2600" b="1" dirty="0">
                <a:solidFill>
                  <a:schemeClr val="tx2"/>
                </a:solidFill>
                <a:latin typeface="Century Gothic" panose="020B0502020202020204" pitchFamily="34" charset="0"/>
                <a:ea typeface="+mn-ea"/>
                <a:cs typeface="Tahoma" panose="020B0604030504040204" pitchFamily="34" charset="0"/>
              </a:rPr>
              <a:t>Como era: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4746173" y="1683736"/>
            <a:ext cx="4136570" cy="4963807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solidFill>
              <a:srgbClr val="5DC3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PT"/>
          </a:p>
        </p:txBody>
      </p:sp>
      <p:sp>
        <p:nvSpPr>
          <p:cNvPr id="19" name="Subtítulo 5"/>
          <p:cNvSpPr txBox="1">
            <a:spLocks/>
          </p:cNvSpPr>
          <p:nvPr/>
        </p:nvSpPr>
        <p:spPr bwMode="auto">
          <a:xfrm>
            <a:off x="4825924" y="1624217"/>
            <a:ext cx="3468914" cy="617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ctr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defRPr/>
            </a:pPr>
            <a:r>
              <a:rPr lang="en-US" altLang="pt-PT" sz="2600" b="1" dirty="0">
                <a:solidFill>
                  <a:schemeClr val="tx2"/>
                </a:solidFill>
                <a:latin typeface="Century Gothic" panose="020B0502020202020204" pitchFamily="34" charset="0"/>
                <a:ea typeface="+mn-ea"/>
                <a:cs typeface="Tahoma" panose="020B0604030504040204" pitchFamily="34" charset="0"/>
              </a:rPr>
              <a:t>Como ficou:</a:t>
            </a:r>
          </a:p>
        </p:txBody>
      </p:sp>
      <p:sp>
        <p:nvSpPr>
          <p:cNvPr id="20" name="Subtítulo 5"/>
          <p:cNvSpPr txBox="1">
            <a:spLocks/>
          </p:cNvSpPr>
          <p:nvPr/>
        </p:nvSpPr>
        <p:spPr bwMode="auto">
          <a:xfrm>
            <a:off x="435428" y="2249745"/>
            <a:ext cx="3795490" cy="2400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just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defRPr/>
            </a:pPr>
            <a:r>
              <a:rPr lang="pt-BR" sz="2000" dirty="0"/>
              <a:t>  A Procuradoria da Fazenda teria que contestar, oferecer contrarrazões e interpor recursos em processos até a última instância</a:t>
            </a:r>
            <a:endParaRPr lang="en-US" sz="2000" dirty="0"/>
          </a:p>
        </p:txBody>
      </p:sp>
      <p:sp>
        <p:nvSpPr>
          <p:cNvPr id="21" name="Subtítulo 5"/>
          <p:cNvSpPr txBox="1">
            <a:spLocks/>
          </p:cNvSpPr>
          <p:nvPr/>
        </p:nvSpPr>
        <p:spPr bwMode="auto">
          <a:xfrm>
            <a:off x="4825916" y="2010267"/>
            <a:ext cx="3795490" cy="47089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just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defRPr/>
            </a:pPr>
            <a:r>
              <a:rPr lang="pt-BR" sz="2000" dirty="0"/>
              <a:t>  Nos casos em que houver decisões, pareceres ou súmulas administrativas ou judiciais em favor do contribuinte, não será necessário que Procuradoria da Fazenda conteste ou recorra; favorecendo a obtenção de resultados mais rápidos e menos custosos</a:t>
            </a:r>
            <a:endParaRPr lang="en-US" sz="20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8" grpId="0"/>
      <p:bldP spid="25" grpId="0" animBg="1"/>
      <p:bldP spid="15" grpId="0" animBg="1"/>
      <p:bldP spid="16" grpId="0"/>
      <p:bldP spid="17" grpId="0" animBg="1"/>
      <p:bldP spid="19" grpId="0"/>
      <p:bldP spid="20" grpId="0"/>
      <p:bldP spid="2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9" name="CaixaDeTexto 2"/>
          <p:cNvSpPr txBox="1">
            <a:spLocks noChangeArrowheads="1"/>
          </p:cNvSpPr>
          <p:nvPr/>
        </p:nvSpPr>
        <p:spPr bwMode="auto">
          <a:xfrm>
            <a:off x="2902310" y="-421591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endParaRPr lang="pt-BR" altLang="pt-BR"/>
          </a:p>
        </p:txBody>
      </p:sp>
      <p:sp>
        <p:nvSpPr>
          <p:cNvPr id="18" name="Retângulo 17"/>
          <p:cNvSpPr/>
          <p:nvPr/>
        </p:nvSpPr>
        <p:spPr>
          <a:xfrm>
            <a:off x="361699" y="1107636"/>
            <a:ext cx="657613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pt-B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ea typeface="+mn-ea"/>
                <a:cs typeface="Tahoma" panose="020B0604030504040204" pitchFamily="34" charset="0"/>
              </a:rPr>
              <a:t>Art. 14</a:t>
            </a:r>
          </a:p>
        </p:txBody>
      </p:sp>
      <p:sp>
        <p:nvSpPr>
          <p:cNvPr id="25" name="Retângulo 24"/>
          <p:cNvSpPr/>
          <p:nvPr/>
        </p:nvSpPr>
        <p:spPr>
          <a:xfrm>
            <a:off x="155346" y="304583"/>
            <a:ext cx="120426" cy="1219417"/>
          </a:xfrm>
          <a:prstGeom prst="rect">
            <a:avLst/>
          </a:prstGeom>
          <a:solidFill>
            <a:srgbClr val="60B0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PT"/>
          </a:p>
        </p:txBody>
      </p:sp>
      <p:sp>
        <p:nvSpPr>
          <p:cNvPr id="11" name="Retângulo 10"/>
          <p:cNvSpPr/>
          <p:nvPr/>
        </p:nvSpPr>
        <p:spPr>
          <a:xfrm>
            <a:off x="304801" y="2177150"/>
            <a:ext cx="4122056" cy="3962392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just">
              <a:defRPr/>
            </a:pPr>
            <a:endParaRPr lang="pt-PT" dirty="0"/>
          </a:p>
        </p:txBody>
      </p:sp>
      <p:sp>
        <p:nvSpPr>
          <p:cNvPr id="15" name="Subtítulo 5"/>
          <p:cNvSpPr txBox="1">
            <a:spLocks/>
          </p:cNvSpPr>
          <p:nvPr/>
        </p:nvSpPr>
        <p:spPr bwMode="auto">
          <a:xfrm>
            <a:off x="740230" y="2081405"/>
            <a:ext cx="3468914" cy="617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ctr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defRPr/>
            </a:pPr>
            <a:r>
              <a:rPr lang="en-US" altLang="pt-PT" sz="2600" b="1" dirty="0">
                <a:solidFill>
                  <a:schemeClr val="tx2"/>
                </a:solidFill>
                <a:latin typeface="Century Gothic" panose="020B0502020202020204" pitchFamily="34" charset="0"/>
                <a:ea typeface="+mn-ea"/>
                <a:cs typeface="Tahoma" panose="020B0604030504040204" pitchFamily="34" charset="0"/>
              </a:rPr>
              <a:t>Como era: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4746173" y="2162698"/>
            <a:ext cx="4136570" cy="3962331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solidFill>
              <a:srgbClr val="5DC3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PT"/>
          </a:p>
        </p:txBody>
      </p:sp>
      <p:sp>
        <p:nvSpPr>
          <p:cNvPr id="17" name="Subtítulo 5"/>
          <p:cNvSpPr txBox="1">
            <a:spLocks/>
          </p:cNvSpPr>
          <p:nvPr/>
        </p:nvSpPr>
        <p:spPr bwMode="auto">
          <a:xfrm>
            <a:off x="4825924" y="2103179"/>
            <a:ext cx="3468914" cy="617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ctr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defRPr/>
            </a:pPr>
            <a:r>
              <a:rPr lang="en-US" altLang="pt-PT" sz="2600" b="1" dirty="0">
                <a:solidFill>
                  <a:schemeClr val="tx2"/>
                </a:solidFill>
                <a:latin typeface="Century Gothic" panose="020B0502020202020204" pitchFamily="34" charset="0"/>
                <a:ea typeface="+mn-ea"/>
                <a:cs typeface="Tahoma" panose="020B0604030504040204" pitchFamily="34" charset="0"/>
              </a:rPr>
              <a:t>Como ficou:</a:t>
            </a:r>
          </a:p>
        </p:txBody>
      </p:sp>
      <p:sp>
        <p:nvSpPr>
          <p:cNvPr id="19" name="Subtítulo 5"/>
          <p:cNvSpPr txBox="1">
            <a:spLocks/>
          </p:cNvSpPr>
          <p:nvPr/>
        </p:nvSpPr>
        <p:spPr bwMode="auto">
          <a:xfrm>
            <a:off x="413654" y="2699138"/>
            <a:ext cx="3795490" cy="2343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just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defRPr/>
            </a:pPr>
            <a:r>
              <a:rPr lang="pt-BR" sz="2000" dirty="0"/>
              <a:t>  O Empresário buscava a junta comercial para registro dos atos e aguardava a análise da documentação e julgamento pelos vogais da Junta.</a:t>
            </a:r>
          </a:p>
        </p:txBody>
      </p:sp>
      <p:sp>
        <p:nvSpPr>
          <p:cNvPr id="20" name="Subtítulo 5"/>
          <p:cNvSpPr txBox="1">
            <a:spLocks/>
          </p:cNvSpPr>
          <p:nvPr/>
        </p:nvSpPr>
        <p:spPr bwMode="auto">
          <a:xfrm>
            <a:off x="4825924" y="2537432"/>
            <a:ext cx="3795490" cy="3518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just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defRPr/>
            </a:pPr>
            <a:r>
              <a:rPr lang="pt-BR" dirty="0"/>
              <a:t>  O Registro será automático se o empresário ser houver:</a:t>
            </a:r>
          </a:p>
          <a:p>
            <a:pPr marL="285750" indent="-285750" algn="just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buFont typeface="Arial" panose="020B0604020202020204" pitchFamily="34" charset="0"/>
              <a:buChar char="•"/>
              <a:defRPr/>
            </a:pPr>
            <a:r>
              <a:rPr lang="pt-BR" dirty="0"/>
              <a:t>Aprovação da consulta prévia da viabilidade do nome empresarial e da viabilidade de localização, quando o ato exigir;</a:t>
            </a:r>
          </a:p>
          <a:p>
            <a:pPr marL="285750" indent="-285750" algn="just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buFont typeface="Arial" panose="020B0604020202020204" pitchFamily="34" charset="0"/>
              <a:buChar char="•"/>
              <a:defRPr/>
            </a:pPr>
            <a:r>
              <a:rPr lang="pt-BR" dirty="0"/>
              <a:t>Utilização de instrumento padrão estabelecido pelo DREI</a:t>
            </a:r>
            <a:endParaRPr lang="en-US" dirty="0"/>
          </a:p>
        </p:txBody>
      </p:sp>
      <p:sp>
        <p:nvSpPr>
          <p:cNvPr id="26" name="Título 4"/>
          <p:cNvSpPr>
            <a:spLocks/>
          </p:cNvSpPr>
          <p:nvPr/>
        </p:nvSpPr>
        <p:spPr bwMode="auto">
          <a:xfrm>
            <a:off x="313072" y="311803"/>
            <a:ext cx="8642242" cy="892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3600"/>
              </a:spcBef>
              <a:defRPr/>
            </a:pPr>
            <a:r>
              <a:rPr lang="pt-BR" altLang="pt-PT" sz="2600" b="1" dirty="0">
                <a:solidFill>
                  <a:schemeClr val="tx2"/>
                </a:solidFill>
                <a:latin typeface="Century Gothic" panose="020B0502020202020204" pitchFamily="34" charset="0"/>
                <a:ea typeface="+mn-ea"/>
                <a:cs typeface="Tahoma" panose="020B0604030504040204" pitchFamily="34" charset="0"/>
              </a:rPr>
              <a:t>Registro Automático de Atos Constitutivos, Alterações ou Extinções de Empresas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5" grpId="0" animBg="1"/>
      <p:bldP spid="11" grpId="0" animBg="1"/>
      <p:bldP spid="15" grpId="0"/>
      <p:bldP spid="16" grpId="0" animBg="1"/>
      <p:bldP spid="17" grpId="0"/>
      <p:bldP spid="19" grpId="0"/>
      <p:bldP spid="20" grpId="0"/>
      <p:bldP spid="2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9" name="CaixaDeTexto 2"/>
          <p:cNvSpPr txBox="1">
            <a:spLocks noChangeArrowheads="1"/>
          </p:cNvSpPr>
          <p:nvPr/>
        </p:nvSpPr>
        <p:spPr bwMode="auto">
          <a:xfrm>
            <a:off x="2902310" y="-421591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endParaRPr lang="pt-BR" altLang="pt-BR"/>
          </a:p>
        </p:txBody>
      </p:sp>
      <p:sp>
        <p:nvSpPr>
          <p:cNvPr id="18" name="Retângulo 17"/>
          <p:cNvSpPr/>
          <p:nvPr/>
        </p:nvSpPr>
        <p:spPr>
          <a:xfrm>
            <a:off x="361699" y="1107636"/>
            <a:ext cx="657613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pt-B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ea typeface="+mn-ea"/>
                <a:cs typeface="Tahoma" panose="020B0604030504040204" pitchFamily="34" charset="0"/>
              </a:rPr>
              <a:t>Art. 15</a:t>
            </a:r>
          </a:p>
        </p:txBody>
      </p:sp>
      <p:sp>
        <p:nvSpPr>
          <p:cNvPr id="25" name="Retângulo 24"/>
          <p:cNvSpPr/>
          <p:nvPr/>
        </p:nvSpPr>
        <p:spPr>
          <a:xfrm>
            <a:off x="155346" y="304583"/>
            <a:ext cx="120426" cy="1219417"/>
          </a:xfrm>
          <a:prstGeom prst="rect">
            <a:avLst/>
          </a:prstGeom>
          <a:solidFill>
            <a:srgbClr val="60B0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PT"/>
          </a:p>
        </p:txBody>
      </p:sp>
      <p:sp>
        <p:nvSpPr>
          <p:cNvPr id="11" name="Retângulo 10"/>
          <p:cNvSpPr/>
          <p:nvPr/>
        </p:nvSpPr>
        <p:spPr>
          <a:xfrm>
            <a:off x="304801" y="2177150"/>
            <a:ext cx="4122056" cy="3962392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just">
              <a:defRPr/>
            </a:pPr>
            <a:endParaRPr lang="pt-PT" dirty="0"/>
          </a:p>
        </p:txBody>
      </p:sp>
      <p:sp>
        <p:nvSpPr>
          <p:cNvPr id="15" name="Subtítulo 5"/>
          <p:cNvSpPr txBox="1">
            <a:spLocks/>
          </p:cNvSpPr>
          <p:nvPr/>
        </p:nvSpPr>
        <p:spPr bwMode="auto">
          <a:xfrm>
            <a:off x="740230" y="2081405"/>
            <a:ext cx="3468914" cy="617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ctr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defRPr/>
            </a:pPr>
            <a:r>
              <a:rPr lang="en-US" altLang="pt-PT" sz="2600" b="1" dirty="0">
                <a:solidFill>
                  <a:schemeClr val="tx2"/>
                </a:solidFill>
                <a:latin typeface="Century Gothic" panose="020B0502020202020204" pitchFamily="34" charset="0"/>
                <a:ea typeface="+mn-ea"/>
                <a:cs typeface="Tahoma" panose="020B0604030504040204" pitchFamily="34" charset="0"/>
              </a:rPr>
              <a:t>Como era: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4746173" y="2162698"/>
            <a:ext cx="4136570" cy="3962331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solidFill>
              <a:srgbClr val="5DC3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PT"/>
          </a:p>
        </p:txBody>
      </p:sp>
      <p:sp>
        <p:nvSpPr>
          <p:cNvPr id="17" name="Subtítulo 5"/>
          <p:cNvSpPr txBox="1">
            <a:spLocks/>
          </p:cNvSpPr>
          <p:nvPr/>
        </p:nvSpPr>
        <p:spPr bwMode="auto">
          <a:xfrm>
            <a:off x="4825924" y="2103179"/>
            <a:ext cx="3468914" cy="617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ctr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defRPr/>
            </a:pPr>
            <a:r>
              <a:rPr lang="en-US" altLang="pt-PT" sz="2600" b="1" dirty="0">
                <a:solidFill>
                  <a:schemeClr val="tx2"/>
                </a:solidFill>
                <a:latin typeface="Century Gothic" panose="020B0502020202020204" pitchFamily="34" charset="0"/>
                <a:ea typeface="+mn-ea"/>
                <a:cs typeface="Tahoma" panose="020B0604030504040204" pitchFamily="34" charset="0"/>
              </a:rPr>
              <a:t>Como ficou:</a:t>
            </a:r>
          </a:p>
        </p:txBody>
      </p:sp>
      <p:sp>
        <p:nvSpPr>
          <p:cNvPr id="19" name="Subtítulo 5"/>
          <p:cNvSpPr txBox="1">
            <a:spLocks/>
          </p:cNvSpPr>
          <p:nvPr/>
        </p:nvSpPr>
        <p:spPr bwMode="auto">
          <a:xfrm>
            <a:off x="435428" y="2728707"/>
            <a:ext cx="3795490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just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defRPr/>
            </a:pPr>
            <a:r>
              <a:rPr lang="pt-BR" sz="2000" dirty="0"/>
              <a:t>  A Carteira de Trabalho e Previdência Social </a:t>
            </a:r>
            <a:r>
              <a:rPr lang="en-US" sz="2000" dirty="0" err="1"/>
              <a:t>devia</a:t>
            </a:r>
            <a:r>
              <a:rPr lang="en-US" sz="2000" dirty="0"/>
              <a:t> ser </a:t>
            </a:r>
            <a:r>
              <a:rPr lang="en-US" sz="2000" dirty="0" err="1"/>
              <a:t>emitida</a:t>
            </a:r>
            <a:r>
              <a:rPr lang="en-US" sz="2000" dirty="0"/>
              <a:t> em </a:t>
            </a:r>
            <a:r>
              <a:rPr lang="en-US" sz="2000" dirty="0" err="1"/>
              <a:t>meio</a:t>
            </a:r>
            <a:r>
              <a:rPr lang="en-US" sz="2000" dirty="0"/>
              <a:t> </a:t>
            </a:r>
            <a:r>
              <a:rPr lang="en-US" sz="2000" dirty="0" err="1"/>
              <a:t>físico</a:t>
            </a:r>
            <a:endParaRPr lang="pt-BR" sz="2000" dirty="0"/>
          </a:p>
        </p:txBody>
      </p:sp>
      <p:sp>
        <p:nvSpPr>
          <p:cNvPr id="20" name="Subtítulo 5"/>
          <p:cNvSpPr txBox="1">
            <a:spLocks/>
          </p:cNvSpPr>
          <p:nvPr/>
        </p:nvSpPr>
        <p:spPr bwMode="auto">
          <a:xfrm>
            <a:off x="4825916" y="2852079"/>
            <a:ext cx="3795490" cy="2862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just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defRPr/>
            </a:pPr>
            <a:r>
              <a:rPr lang="pt-BR" sz="2000" dirty="0"/>
              <a:t>  A Carteira de Trabalho e Previdência Social deve ser emitida preferencialmente em meio eletrônico, após regulamentação do Ministério da Economia</a:t>
            </a:r>
            <a:endParaRPr lang="en-US" sz="2000" dirty="0"/>
          </a:p>
        </p:txBody>
      </p:sp>
      <p:sp>
        <p:nvSpPr>
          <p:cNvPr id="26" name="Título 4"/>
          <p:cNvSpPr>
            <a:spLocks/>
          </p:cNvSpPr>
          <p:nvPr/>
        </p:nvSpPr>
        <p:spPr bwMode="auto">
          <a:xfrm>
            <a:off x="313072" y="511857"/>
            <a:ext cx="8642242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3600"/>
              </a:spcBef>
              <a:defRPr/>
            </a:pPr>
            <a:r>
              <a:rPr lang="pt-BR" altLang="pt-PT" sz="2600" b="1" dirty="0">
                <a:solidFill>
                  <a:schemeClr val="tx2"/>
                </a:solidFill>
                <a:latin typeface="Century Gothic" panose="020B0502020202020204" pitchFamily="34" charset="0"/>
                <a:ea typeface="+mn-ea"/>
                <a:cs typeface="Tahoma" panose="020B0604030504040204" pitchFamily="34" charset="0"/>
              </a:rPr>
              <a:t>Carteira de Trabalho e Previdência Social digital</a:t>
            </a:r>
          </a:p>
        </p:txBody>
      </p:sp>
    </p:spTree>
    <p:extLst>
      <p:ext uri="{BB962C8B-B14F-4D97-AF65-F5344CB8AC3E}">
        <p14:creationId xmlns:p14="http://schemas.microsoft.com/office/powerpoint/2010/main" val="337436278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5" grpId="0" animBg="1"/>
      <p:bldP spid="11" grpId="0" animBg="1"/>
      <p:bldP spid="15" grpId="0"/>
      <p:bldP spid="16" grpId="0" animBg="1"/>
      <p:bldP spid="17" grpId="0"/>
      <p:bldP spid="19" grpId="0"/>
      <p:bldP spid="20" grpId="0"/>
      <p:bldP spid="2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9" name="CaixaDeTexto 2"/>
          <p:cNvSpPr txBox="1">
            <a:spLocks noChangeArrowheads="1"/>
          </p:cNvSpPr>
          <p:nvPr/>
        </p:nvSpPr>
        <p:spPr bwMode="auto">
          <a:xfrm>
            <a:off x="2902310" y="-421591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endParaRPr lang="pt-BR" altLang="pt-BR"/>
          </a:p>
        </p:txBody>
      </p:sp>
      <p:sp>
        <p:nvSpPr>
          <p:cNvPr id="18" name="Retângulo 17"/>
          <p:cNvSpPr/>
          <p:nvPr/>
        </p:nvSpPr>
        <p:spPr>
          <a:xfrm>
            <a:off x="361699" y="1180206"/>
            <a:ext cx="657613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pt-B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ea typeface="+mn-ea"/>
                <a:cs typeface="Tahoma" panose="020B0604030504040204" pitchFamily="34" charset="0"/>
              </a:rPr>
              <a:t>Art. 15</a:t>
            </a:r>
          </a:p>
        </p:txBody>
      </p:sp>
      <p:sp>
        <p:nvSpPr>
          <p:cNvPr id="25" name="Retângulo 24"/>
          <p:cNvSpPr/>
          <p:nvPr/>
        </p:nvSpPr>
        <p:spPr>
          <a:xfrm>
            <a:off x="155346" y="304583"/>
            <a:ext cx="120426" cy="1219417"/>
          </a:xfrm>
          <a:prstGeom prst="rect">
            <a:avLst/>
          </a:prstGeom>
          <a:solidFill>
            <a:srgbClr val="60B0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PT"/>
          </a:p>
        </p:txBody>
      </p:sp>
      <p:sp>
        <p:nvSpPr>
          <p:cNvPr id="11" name="Retângulo 10"/>
          <p:cNvSpPr/>
          <p:nvPr/>
        </p:nvSpPr>
        <p:spPr>
          <a:xfrm>
            <a:off x="304801" y="2177150"/>
            <a:ext cx="4122056" cy="3962392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just">
              <a:defRPr/>
            </a:pPr>
            <a:endParaRPr lang="pt-PT" dirty="0"/>
          </a:p>
        </p:txBody>
      </p:sp>
      <p:sp>
        <p:nvSpPr>
          <p:cNvPr id="15" name="Subtítulo 5"/>
          <p:cNvSpPr txBox="1">
            <a:spLocks/>
          </p:cNvSpPr>
          <p:nvPr/>
        </p:nvSpPr>
        <p:spPr bwMode="auto">
          <a:xfrm>
            <a:off x="740230" y="2081405"/>
            <a:ext cx="3468914" cy="617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ctr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defRPr/>
            </a:pPr>
            <a:r>
              <a:rPr lang="en-US" altLang="pt-PT" sz="2600" b="1" dirty="0">
                <a:solidFill>
                  <a:schemeClr val="tx2"/>
                </a:solidFill>
                <a:latin typeface="Century Gothic" panose="020B0502020202020204" pitchFamily="34" charset="0"/>
                <a:ea typeface="+mn-ea"/>
                <a:cs typeface="Tahoma" panose="020B0604030504040204" pitchFamily="34" charset="0"/>
              </a:rPr>
              <a:t>Como era: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4746173" y="2162698"/>
            <a:ext cx="4136570" cy="3962331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solidFill>
              <a:srgbClr val="5DC3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PT"/>
          </a:p>
        </p:txBody>
      </p:sp>
      <p:sp>
        <p:nvSpPr>
          <p:cNvPr id="17" name="Subtítulo 5"/>
          <p:cNvSpPr txBox="1">
            <a:spLocks/>
          </p:cNvSpPr>
          <p:nvPr/>
        </p:nvSpPr>
        <p:spPr bwMode="auto">
          <a:xfrm>
            <a:off x="4825924" y="2103179"/>
            <a:ext cx="3468914" cy="617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ctr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defRPr/>
            </a:pPr>
            <a:r>
              <a:rPr lang="en-US" altLang="pt-PT" sz="2600" b="1" dirty="0">
                <a:solidFill>
                  <a:schemeClr val="tx2"/>
                </a:solidFill>
                <a:latin typeface="Century Gothic" panose="020B0502020202020204" pitchFamily="34" charset="0"/>
                <a:ea typeface="+mn-ea"/>
                <a:cs typeface="Tahoma" panose="020B0604030504040204" pitchFamily="34" charset="0"/>
              </a:rPr>
              <a:t>Como ficou:</a:t>
            </a:r>
          </a:p>
        </p:txBody>
      </p:sp>
      <p:sp>
        <p:nvSpPr>
          <p:cNvPr id="19" name="Subtítulo 5"/>
          <p:cNvSpPr txBox="1">
            <a:spLocks/>
          </p:cNvSpPr>
          <p:nvPr/>
        </p:nvSpPr>
        <p:spPr bwMode="auto">
          <a:xfrm>
            <a:off x="435428" y="2728707"/>
            <a:ext cx="3795490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just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defRPr/>
            </a:pPr>
            <a:r>
              <a:rPr lang="pt-BR" sz="2000" dirty="0"/>
              <a:t>  O empregador possuía prazo de 48 horas para anotar a CTPS, em relação aos trabalhadores que admitia</a:t>
            </a:r>
          </a:p>
        </p:txBody>
      </p:sp>
      <p:sp>
        <p:nvSpPr>
          <p:cNvPr id="26" name="Título 4"/>
          <p:cNvSpPr>
            <a:spLocks/>
          </p:cNvSpPr>
          <p:nvPr/>
        </p:nvSpPr>
        <p:spPr bwMode="auto">
          <a:xfrm>
            <a:off x="313072" y="323175"/>
            <a:ext cx="8642242" cy="892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3600"/>
              </a:spcBef>
              <a:defRPr/>
            </a:pPr>
            <a:r>
              <a:rPr lang="pt-BR" altLang="pt-PT" sz="2600" b="1" dirty="0">
                <a:solidFill>
                  <a:schemeClr val="tx2"/>
                </a:solidFill>
                <a:latin typeface="Century Gothic" panose="020B0502020202020204" pitchFamily="34" charset="0"/>
                <a:ea typeface="+mn-ea"/>
                <a:cs typeface="Tahoma" panose="020B0604030504040204" pitchFamily="34" charset="0"/>
              </a:rPr>
              <a:t>Maior prazo ao empregador para assinar a Carteira de Trabalho</a:t>
            </a:r>
          </a:p>
        </p:txBody>
      </p:sp>
      <p:sp>
        <p:nvSpPr>
          <p:cNvPr id="12" name="Subtítulo 5"/>
          <p:cNvSpPr txBox="1">
            <a:spLocks/>
          </p:cNvSpPr>
          <p:nvPr/>
        </p:nvSpPr>
        <p:spPr bwMode="auto">
          <a:xfrm>
            <a:off x="4825916" y="2852079"/>
            <a:ext cx="3795490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just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defRPr/>
            </a:pPr>
            <a:r>
              <a:rPr lang="pt-BR" sz="2000" dirty="0"/>
              <a:t>  O empregador terá prazo de 05 dias úteis para anotar a CTPS, em relação aos trabalhadores que admitir</a:t>
            </a:r>
            <a:endParaRPr lang="en-US" sz="20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5" grpId="0" animBg="1"/>
      <p:bldP spid="11" grpId="0" animBg="1"/>
      <p:bldP spid="15" grpId="0"/>
      <p:bldP spid="16" grpId="0" animBg="1"/>
      <p:bldP spid="17" grpId="0"/>
      <p:bldP spid="19" grpId="0"/>
      <p:bldP spid="26" grpId="0"/>
      <p:bldP spid="1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9" name="CaixaDeTexto 2"/>
          <p:cNvSpPr txBox="1">
            <a:spLocks noChangeArrowheads="1"/>
          </p:cNvSpPr>
          <p:nvPr/>
        </p:nvSpPr>
        <p:spPr bwMode="auto">
          <a:xfrm>
            <a:off x="2902310" y="-421591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endParaRPr lang="pt-BR" altLang="pt-BR"/>
          </a:p>
        </p:txBody>
      </p:sp>
      <p:sp>
        <p:nvSpPr>
          <p:cNvPr id="14" name="Título 4"/>
          <p:cNvSpPr>
            <a:spLocks/>
          </p:cNvSpPr>
          <p:nvPr/>
        </p:nvSpPr>
        <p:spPr bwMode="auto">
          <a:xfrm>
            <a:off x="313072" y="381231"/>
            <a:ext cx="8642242" cy="892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3600"/>
              </a:spcBef>
              <a:defRPr/>
            </a:pPr>
            <a:r>
              <a:rPr lang="pt-BR" altLang="pt-PT" sz="2600" b="1" dirty="0">
                <a:solidFill>
                  <a:schemeClr val="tx2"/>
                </a:solidFill>
                <a:latin typeface="Century Gothic" panose="020B0502020202020204" pitchFamily="34" charset="0"/>
                <a:ea typeface="+mn-ea"/>
                <a:cs typeface="Tahoma" panose="020B0604030504040204" pitchFamily="34" charset="0"/>
              </a:rPr>
              <a:t>Flexibiliza a obrigatoriedade de registro ponto para estabelecimentos</a:t>
            </a:r>
          </a:p>
        </p:txBody>
      </p:sp>
      <p:sp>
        <p:nvSpPr>
          <p:cNvPr id="18" name="Retângulo 17"/>
          <p:cNvSpPr/>
          <p:nvPr/>
        </p:nvSpPr>
        <p:spPr>
          <a:xfrm>
            <a:off x="361699" y="1252776"/>
            <a:ext cx="657613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pt-B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ea typeface="+mn-ea"/>
                <a:cs typeface="Tahoma" panose="020B0604030504040204" pitchFamily="34" charset="0"/>
              </a:rPr>
              <a:t>Art. 15</a:t>
            </a:r>
          </a:p>
        </p:txBody>
      </p:sp>
      <p:sp>
        <p:nvSpPr>
          <p:cNvPr id="25" name="Retângulo 24"/>
          <p:cNvSpPr/>
          <p:nvPr/>
        </p:nvSpPr>
        <p:spPr>
          <a:xfrm>
            <a:off x="155346" y="304583"/>
            <a:ext cx="120426" cy="1219417"/>
          </a:xfrm>
          <a:prstGeom prst="rect">
            <a:avLst/>
          </a:prstGeom>
          <a:solidFill>
            <a:srgbClr val="60B0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PT"/>
          </a:p>
        </p:txBody>
      </p:sp>
      <p:sp>
        <p:nvSpPr>
          <p:cNvPr id="11" name="Retângulo 10"/>
          <p:cNvSpPr/>
          <p:nvPr/>
        </p:nvSpPr>
        <p:spPr>
          <a:xfrm>
            <a:off x="304801" y="2177150"/>
            <a:ext cx="4122056" cy="3962392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just">
              <a:defRPr/>
            </a:pPr>
            <a:endParaRPr lang="pt-PT" dirty="0"/>
          </a:p>
        </p:txBody>
      </p:sp>
      <p:sp>
        <p:nvSpPr>
          <p:cNvPr id="15" name="Subtítulo 5"/>
          <p:cNvSpPr txBox="1">
            <a:spLocks/>
          </p:cNvSpPr>
          <p:nvPr/>
        </p:nvSpPr>
        <p:spPr bwMode="auto">
          <a:xfrm>
            <a:off x="740230" y="2081405"/>
            <a:ext cx="3468914" cy="617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ctr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defRPr/>
            </a:pPr>
            <a:r>
              <a:rPr lang="en-US" altLang="pt-PT" sz="2600" b="1" dirty="0">
                <a:solidFill>
                  <a:schemeClr val="tx2"/>
                </a:solidFill>
                <a:latin typeface="Century Gothic" panose="020B0502020202020204" pitchFamily="34" charset="0"/>
                <a:ea typeface="+mn-ea"/>
                <a:cs typeface="Tahoma" panose="020B0604030504040204" pitchFamily="34" charset="0"/>
              </a:rPr>
              <a:t>Como era: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4659089" y="2162698"/>
            <a:ext cx="4136570" cy="3962331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solidFill>
              <a:srgbClr val="5DC3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PT"/>
          </a:p>
        </p:txBody>
      </p:sp>
      <p:sp>
        <p:nvSpPr>
          <p:cNvPr id="17" name="Subtítulo 5"/>
          <p:cNvSpPr txBox="1">
            <a:spLocks/>
          </p:cNvSpPr>
          <p:nvPr/>
        </p:nvSpPr>
        <p:spPr bwMode="auto">
          <a:xfrm>
            <a:off x="4738840" y="2103179"/>
            <a:ext cx="3468914" cy="617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ctr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defRPr/>
            </a:pPr>
            <a:r>
              <a:rPr lang="en-US" altLang="pt-PT" sz="2600" b="1" dirty="0">
                <a:solidFill>
                  <a:schemeClr val="tx2"/>
                </a:solidFill>
                <a:latin typeface="Century Gothic" panose="020B0502020202020204" pitchFamily="34" charset="0"/>
                <a:ea typeface="+mn-ea"/>
                <a:cs typeface="Tahoma" panose="020B0604030504040204" pitchFamily="34" charset="0"/>
              </a:rPr>
              <a:t>Como ficou:</a:t>
            </a:r>
          </a:p>
        </p:txBody>
      </p:sp>
      <p:sp>
        <p:nvSpPr>
          <p:cNvPr id="19" name="Subtítulo 5"/>
          <p:cNvSpPr txBox="1">
            <a:spLocks/>
          </p:cNvSpPr>
          <p:nvPr/>
        </p:nvSpPr>
        <p:spPr bwMode="auto">
          <a:xfrm>
            <a:off x="435428" y="2786763"/>
            <a:ext cx="3795490" cy="2400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just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defRPr/>
            </a:pPr>
            <a:r>
              <a:rPr lang="pt-BR" sz="2000" dirty="0"/>
              <a:t> O registro de ponto devia ser obrigatório para estabelecimentos que possuíssem mais de 10 empregados</a:t>
            </a:r>
          </a:p>
        </p:txBody>
      </p:sp>
      <p:sp>
        <p:nvSpPr>
          <p:cNvPr id="20" name="Subtítulo 5"/>
          <p:cNvSpPr txBox="1">
            <a:spLocks/>
          </p:cNvSpPr>
          <p:nvPr/>
        </p:nvSpPr>
        <p:spPr bwMode="auto">
          <a:xfrm>
            <a:off x="4738832" y="2852079"/>
            <a:ext cx="3795490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just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defRPr/>
            </a:pPr>
            <a:r>
              <a:rPr lang="pt-BR" sz="2000" dirty="0"/>
              <a:t>  Determina que o registro de ponto só será obrigatório para estabelecimentos com mais de 20 empregados</a:t>
            </a:r>
            <a:endParaRPr lang="en-US" sz="20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8" grpId="0"/>
      <p:bldP spid="25" grpId="0" animBg="1"/>
      <p:bldP spid="11" grpId="0" animBg="1"/>
      <p:bldP spid="15" grpId="0"/>
      <p:bldP spid="16" grpId="0" animBg="1"/>
      <p:bldP spid="17" grpId="0"/>
      <p:bldP spid="19" grpId="0"/>
      <p:bldP spid="20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9" name="CaixaDeTexto 2"/>
          <p:cNvSpPr txBox="1">
            <a:spLocks noChangeArrowheads="1"/>
          </p:cNvSpPr>
          <p:nvPr/>
        </p:nvSpPr>
        <p:spPr bwMode="auto">
          <a:xfrm>
            <a:off x="2902310" y="-421591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endParaRPr lang="pt-BR" altLang="pt-BR"/>
          </a:p>
        </p:txBody>
      </p:sp>
      <p:sp>
        <p:nvSpPr>
          <p:cNvPr id="14" name="Título 4"/>
          <p:cNvSpPr>
            <a:spLocks/>
          </p:cNvSpPr>
          <p:nvPr/>
        </p:nvSpPr>
        <p:spPr bwMode="auto">
          <a:xfrm>
            <a:off x="313072" y="511857"/>
            <a:ext cx="8642242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3600"/>
              </a:spcBef>
              <a:defRPr/>
            </a:pPr>
            <a:r>
              <a:rPr lang="pt-BR" altLang="pt-PT" sz="2600" b="1" dirty="0">
                <a:solidFill>
                  <a:schemeClr val="tx2"/>
                </a:solidFill>
                <a:latin typeface="Century Gothic" panose="020B0502020202020204" pitchFamily="34" charset="0"/>
                <a:ea typeface="+mn-ea"/>
                <a:cs typeface="Tahoma" panose="020B0604030504040204" pitchFamily="34" charset="0"/>
              </a:rPr>
              <a:t>Cria o ponto por exceção</a:t>
            </a:r>
          </a:p>
        </p:txBody>
      </p:sp>
      <p:sp>
        <p:nvSpPr>
          <p:cNvPr id="18" name="Retângulo 17"/>
          <p:cNvSpPr/>
          <p:nvPr/>
        </p:nvSpPr>
        <p:spPr>
          <a:xfrm>
            <a:off x="361699" y="1107636"/>
            <a:ext cx="657613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pt-B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ea typeface="+mn-ea"/>
                <a:cs typeface="Tahoma" panose="020B0604030504040204" pitchFamily="34" charset="0"/>
              </a:rPr>
              <a:t>Art. 15</a:t>
            </a:r>
          </a:p>
        </p:txBody>
      </p:sp>
      <p:sp>
        <p:nvSpPr>
          <p:cNvPr id="25" name="Retângulo 24"/>
          <p:cNvSpPr/>
          <p:nvPr/>
        </p:nvSpPr>
        <p:spPr>
          <a:xfrm>
            <a:off x="155346" y="304583"/>
            <a:ext cx="120426" cy="1219417"/>
          </a:xfrm>
          <a:prstGeom prst="rect">
            <a:avLst/>
          </a:prstGeom>
          <a:solidFill>
            <a:srgbClr val="60B0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PT"/>
          </a:p>
        </p:txBody>
      </p:sp>
      <p:sp>
        <p:nvSpPr>
          <p:cNvPr id="11" name="Retângulo 10"/>
          <p:cNvSpPr/>
          <p:nvPr/>
        </p:nvSpPr>
        <p:spPr>
          <a:xfrm>
            <a:off x="304801" y="1727215"/>
            <a:ext cx="4122056" cy="4760671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just">
              <a:defRPr/>
            </a:pPr>
            <a:endParaRPr lang="pt-PT" dirty="0"/>
          </a:p>
        </p:txBody>
      </p:sp>
      <p:sp>
        <p:nvSpPr>
          <p:cNvPr id="15" name="Subtítulo 5"/>
          <p:cNvSpPr txBox="1">
            <a:spLocks/>
          </p:cNvSpPr>
          <p:nvPr/>
        </p:nvSpPr>
        <p:spPr bwMode="auto">
          <a:xfrm>
            <a:off x="740230" y="1631471"/>
            <a:ext cx="3468914" cy="617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ctr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defRPr/>
            </a:pPr>
            <a:r>
              <a:rPr lang="en-US" altLang="pt-PT" sz="2600" b="1" dirty="0">
                <a:solidFill>
                  <a:schemeClr val="tx2"/>
                </a:solidFill>
                <a:latin typeface="Century Gothic" panose="020B0502020202020204" pitchFamily="34" charset="0"/>
                <a:ea typeface="+mn-ea"/>
                <a:cs typeface="Tahoma" panose="020B0604030504040204" pitchFamily="34" charset="0"/>
              </a:rPr>
              <a:t>Como era: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4688117" y="1712764"/>
            <a:ext cx="4136570" cy="4775122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solidFill>
              <a:srgbClr val="5DC3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PT"/>
          </a:p>
        </p:txBody>
      </p:sp>
      <p:sp>
        <p:nvSpPr>
          <p:cNvPr id="17" name="Subtítulo 5"/>
          <p:cNvSpPr txBox="1">
            <a:spLocks/>
          </p:cNvSpPr>
          <p:nvPr/>
        </p:nvSpPr>
        <p:spPr bwMode="auto">
          <a:xfrm>
            <a:off x="4767868" y="1653245"/>
            <a:ext cx="3468914" cy="617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ctr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defRPr/>
            </a:pPr>
            <a:r>
              <a:rPr lang="en-US" altLang="pt-PT" sz="2600" b="1" dirty="0">
                <a:solidFill>
                  <a:schemeClr val="tx2"/>
                </a:solidFill>
                <a:latin typeface="Century Gothic" panose="020B0502020202020204" pitchFamily="34" charset="0"/>
                <a:ea typeface="+mn-ea"/>
                <a:cs typeface="Tahoma" panose="020B0604030504040204" pitchFamily="34" charset="0"/>
              </a:rPr>
              <a:t>Como ficou:</a:t>
            </a:r>
          </a:p>
        </p:txBody>
      </p:sp>
      <p:sp>
        <p:nvSpPr>
          <p:cNvPr id="19" name="Subtítulo 5"/>
          <p:cNvSpPr txBox="1">
            <a:spLocks/>
          </p:cNvSpPr>
          <p:nvPr/>
        </p:nvSpPr>
        <p:spPr bwMode="auto">
          <a:xfrm>
            <a:off x="435428" y="2336829"/>
            <a:ext cx="3795490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just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defRPr/>
            </a:pPr>
            <a:r>
              <a:rPr lang="pt-BR" sz="2000" dirty="0"/>
              <a:t>  O registro de ponto se aplicava na jornada regular de trabalho</a:t>
            </a:r>
          </a:p>
        </p:txBody>
      </p:sp>
      <p:sp>
        <p:nvSpPr>
          <p:cNvPr id="20" name="Subtítulo 5"/>
          <p:cNvSpPr txBox="1">
            <a:spLocks/>
          </p:cNvSpPr>
          <p:nvPr/>
        </p:nvSpPr>
        <p:spPr bwMode="auto">
          <a:xfrm>
            <a:off x="4767860" y="2227977"/>
            <a:ext cx="3795490" cy="41903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just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defRPr/>
            </a:pPr>
            <a:r>
              <a:rPr lang="pt-BR" sz="2000" dirty="0"/>
              <a:t>  Permite o registro de ponto por exceção, aonde o funcionário da empresa, mediante acordo ou convenção coletiva, não necessita bater o ponto regularmente, mas apenas fazê-lo nas folgas, faltas, férias e outros</a:t>
            </a:r>
            <a:endParaRPr lang="en-US" sz="20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8" grpId="0"/>
      <p:bldP spid="25" grpId="0" animBg="1"/>
      <p:bldP spid="11" grpId="0" animBg="1"/>
      <p:bldP spid="15" grpId="0"/>
      <p:bldP spid="16" grpId="0" animBg="1"/>
      <p:bldP spid="17" grpId="0"/>
      <p:bldP spid="19" grpId="0"/>
      <p:bldP spid="20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9" name="CaixaDeTexto 2"/>
          <p:cNvSpPr txBox="1">
            <a:spLocks noChangeArrowheads="1"/>
          </p:cNvSpPr>
          <p:nvPr/>
        </p:nvSpPr>
        <p:spPr bwMode="auto">
          <a:xfrm>
            <a:off x="2902310" y="-421591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endParaRPr lang="pt-BR" altLang="pt-BR"/>
          </a:p>
        </p:txBody>
      </p:sp>
      <p:sp>
        <p:nvSpPr>
          <p:cNvPr id="14" name="Título 4"/>
          <p:cNvSpPr>
            <a:spLocks/>
          </p:cNvSpPr>
          <p:nvPr/>
        </p:nvSpPr>
        <p:spPr bwMode="auto">
          <a:xfrm>
            <a:off x="313072" y="511857"/>
            <a:ext cx="8642242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3600"/>
              </a:spcBef>
              <a:defRPr/>
            </a:pPr>
            <a:r>
              <a:rPr lang="pt-BR" altLang="pt-PT" sz="2600" b="1" dirty="0" err="1">
                <a:solidFill>
                  <a:schemeClr val="tx2"/>
                </a:solidFill>
                <a:latin typeface="Century Gothic" panose="020B0502020202020204" pitchFamily="34" charset="0"/>
                <a:ea typeface="+mn-ea"/>
                <a:cs typeface="Tahoma" panose="020B0604030504040204" pitchFamily="34" charset="0"/>
              </a:rPr>
              <a:t>eSocial</a:t>
            </a:r>
            <a:r>
              <a:rPr lang="pt-BR" altLang="pt-PT" sz="2600" b="1" dirty="0">
                <a:solidFill>
                  <a:schemeClr val="tx2"/>
                </a:solidFill>
                <a:latin typeface="Century Gothic" panose="020B0502020202020204" pitchFamily="34" charset="0"/>
                <a:ea typeface="+mn-ea"/>
                <a:cs typeface="Tahoma" panose="020B0604030504040204" pitchFamily="34" charset="0"/>
              </a:rPr>
              <a:t> e Bloco K</a:t>
            </a:r>
          </a:p>
        </p:txBody>
      </p:sp>
      <p:sp>
        <p:nvSpPr>
          <p:cNvPr id="18" name="Retângulo 17"/>
          <p:cNvSpPr/>
          <p:nvPr/>
        </p:nvSpPr>
        <p:spPr>
          <a:xfrm>
            <a:off x="361699" y="1107636"/>
            <a:ext cx="657613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pt-B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ea typeface="+mn-ea"/>
                <a:cs typeface="Tahoma" panose="020B0604030504040204" pitchFamily="34" charset="0"/>
              </a:rPr>
              <a:t>Art. 16</a:t>
            </a:r>
          </a:p>
        </p:txBody>
      </p:sp>
      <p:sp>
        <p:nvSpPr>
          <p:cNvPr id="25" name="Retângulo 24"/>
          <p:cNvSpPr/>
          <p:nvPr/>
        </p:nvSpPr>
        <p:spPr>
          <a:xfrm>
            <a:off x="155346" y="304583"/>
            <a:ext cx="120426" cy="1219417"/>
          </a:xfrm>
          <a:prstGeom prst="rect">
            <a:avLst/>
          </a:prstGeom>
          <a:solidFill>
            <a:srgbClr val="60B0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PT"/>
          </a:p>
        </p:txBody>
      </p:sp>
      <p:sp>
        <p:nvSpPr>
          <p:cNvPr id="15" name="Retângulo 14"/>
          <p:cNvSpPr/>
          <p:nvPr/>
        </p:nvSpPr>
        <p:spPr>
          <a:xfrm>
            <a:off x="304801" y="1959439"/>
            <a:ext cx="4122056" cy="4325249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just">
              <a:defRPr/>
            </a:pPr>
            <a:endParaRPr lang="pt-PT" dirty="0"/>
          </a:p>
        </p:txBody>
      </p:sp>
      <p:sp>
        <p:nvSpPr>
          <p:cNvPr id="16" name="Subtítulo 5"/>
          <p:cNvSpPr txBox="1">
            <a:spLocks/>
          </p:cNvSpPr>
          <p:nvPr/>
        </p:nvSpPr>
        <p:spPr bwMode="auto">
          <a:xfrm>
            <a:off x="740230" y="1892723"/>
            <a:ext cx="3468914" cy="617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ctr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defRPr/>
            </a:pPr>
            <a:r>
              <a:rPr lang="en-US" altLang="pt-PT" sz="2600" b="1" dirty="0">
                <a:solidFill>
                  <a:schemeClr val="tx2"/>
                </a:solidFill>
                <a:latin typeface="Century Gothic" panose="020B0502020202020204" pitchFamily="34" charset="0"/>
                <a:ea typeface="+mn-ea"/>
                <a:cs typeface="Tahoma" panose="020B0604030504040204" pitchFamily="34" charset="0"/>
              </a:rPr>
              <a:t>Como era: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4702631" y="1974016"/>
            <a:ext cx="4136570" cy="4296159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solidFill>
              <a:srgbClr val="5DC3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PT"/>
          </a:p>
        </p:txBody>
      </p:sp>
      <p:sp>
        <p:nvSpPr>
          <p:cNvPr id="19" name="Subtítulo 5"/>
          <p:cNvSpPr txBox="1">
            <a:spLocks/>
          </p:cNvSpPr>
          <p:nvPr/>
        </p:nvSpPr>
        <p:spPr bwMode="auto">
          <a:xfrm>
            <a:off x="4782382" y="1914497"/>
            <a:ext cx="3468914" cy="617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ctr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defRPr/>
            </a:pPr>
            <a:r>
              <a:rPr lang="en-US" altLang="pt-PT" sz="2600" b="1" dirty="0">
                <a:solidFill>
                  <a:schemeClr val="tx2"/>
                </a:solidFill>
                <a:latin typeface="Century Gothic" panose="020B0502020202020204" pitchFamily="34" charset="0"/>
                <a:ea typeface="+mn-ea"/>
                <a:cs typeface="Tahoma" panose="020B0604030504040204" pitchFamily="34" charset="0"/>
              </a:rPr>
              <a:t>Como ficou:</a:t>
            </a:r>
          </a:p>
        </p:txBody>
      </p:sp>
      <p:sp>
        <p:nvSpPr>
          <p:cNvPr id="21" name="Subtítulo 5"/>
          <p:cNvSpPr txBox="1">
            <a:spLocks/>
          </p:cNvSpPr>
          <p:nvPr/>
        </p:nvSpPr>
        <p:spPr bwMode="auto">
          <a:xfrm>
            <a:off x="4782374" y="4148071"/>
            <a:ext cx="3795490" cy="496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33346" indent="-133346" algn="just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0B0E2"/>
              </a:buClr>
              <a:defRPr/>
            </a:pPr>
            <a:r>
              <a:rPr lang="pt-BR" sz="2000" dirty="0"/>
              <a:t>  </a:t>
            </a:r>
            <a:endParaRPr lang="en-US" sz="2000" dirty="0"/>
          </a:p>
        </p:txBody>
      </p:sp>
      <p:sp>
        <p:nvSpPr>
          <p:cNvPr id="22" name="Rectangle 1">
            <a:extLst>
              <a:ext uri="{FF2B5EF4-FFF2-40B4-BE49-F238E27FC236}">
                <a16:creationId xmlns:a16="http://schemas.microsoft.com/office/drawing/2014/main" id="{4CFF6133-A87C-4F81-9A3D-8EEA1C970E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105" y="2456230"/>
            <a:ext cx="3554679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 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eSocial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unificava informações trabalhistas, previdenciárias e fiscais do Governo Federal de até 15 obrigações, como: GFIP, CAGED, RAIS, CTPS e outros; porém sofria muitas críticas por parte dos usuários.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Também sofria muitas críticas obrigações acessórias à versão digital gerenciadas pela Receita Federal do Brasil do Livro de Controle de Produção e Estoque da Secretaria Especial da Receita Federal do Brasil (Bloco K)</a:t>
            </a:r>
            <a:r>
              <a:rPr kumimoji="0" lang="pt-BR" altLang="pt-BR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pt-BR" altLang="pt-B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" name="Rectangle 3">
            <a:extLst>
              <a:ext uri="{FF2B5EF4-FFF2-40B4-BE49-F238E27FC236}">
                <a16:creationId xmlns:a16="http://schemas.microsoft.com/office/drawing/2014/main" id="{CA3C40D5-1DB4-404B-A132-E23E68CDFA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7496" y="2557009"/>
            <a:ext cx="3455716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plataforma do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eSocial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 o sistema do Bloco K serão substituídas por sistemas mais simplificados que atendam às necessidades dos usuários de forma mais eficiente e produtiva.</a:t>
            </a:r>
            <a:r>
              <a:rPr kumimoji="0" lang="pt-BR" altLang="pt-B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pt-BR" altLang="pt-BR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8" grpId="0"/>
      <p:bldP spid="25" grpId="0" animBg="1"/>
      <p:bldP spid="15" grpId="0" animBg="1"/>
      <p:bldP spid="16" grpId="0"/>
      <p:bldP spid="17" grpId="0" animBg="1"/>
      <p:bldP spid="19" grpId="0"/>
      <p:bldP spid="21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5"/>
          <p:cNvPicPr>
            <a:picLocks noChangeAspect="1"/>
          </p:cNvPicPr>
          <p:nvPr/>
        </p:nvPicPr>
        <p:blipFill rotWithShape="1">
          <a:blip r:embed="rId2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2" t="830" r="22933" b="-830"/>
          <a:stretch/>
        </p:blipFill>
        <p:spPr bwMode="auto">
          <a:xfrm>
            <a:off x="-622751" y="0"/>
            <a:ext cx="9812602" cy="72105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ítulo 4"/>
          <p:cNvSpPr>
            <a:spLocks/>
          </p:cNvSpPr>
          <p:nvPr/>
        </p:nvSpPr>
        <p:spPr bwMode="auto">
          <a:xfrm>
            <a:off x="5479833" y="3400446"/>
            <a:ext cx="3664167" cy="5541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80000"/>
              </a:lnSpc>
              <a:defRPr/>
            </a:pPr>
            <a:r>
              <a:rPr lang="pt-BR" altLang="pt-PT" sz="3751" b="1" dirty="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Tahoma" panose="020B0604030504040204" pitchFamily="34" charset="0"/>
              </a:rPr>
              <a:t>OBRIGADO</a:t>
            </a:r>
            <a:r>
              <a:rPr lang="pt-BR" altLang="pt-PT" sz="3751" dirty="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Tahoma" panose="020B0604030504040204" pitchFamily="34" charset="0"/>
              </a:rPr>
              <a:t>!</a:t>
            </a:r>
            <a:endParaRPr lang="pt-BR" altLang="pt-PT" sz="3751" b="1" dirty="0">
              <a:solidFill>
                <a:schemeClr val="bg1"/>
              </a:solidFill>
              <a:latin typeface="Century Gothic" panose="020B0502020202020204" pitchFamily="34" charset="0"/>
              <a:ea typeface="+mn-ea"/>
              <a:cs typeface="Tahoma" panose="020B0604030504040204" pitchFamily="34" charset="0"/>
            </a:endParaRPr>
          </a:p>
        </p:txBody>
      </p:sp>
      <p:sp>
        <p:nvSpPr>
          <p:cNvPr id="10" name="Retângulo 9"/>
          <p:cNvSpPr/>
          <p:nvPr/>
        </p:nvSpPr>
        <p:spPr>
          <a:xfrm>
            <a:off x="2380343" y="1354190"/>
            <a:ext cx="6807217" cy="1680409"/>
          </a:xfrm>
          <a:prstGeom prst="rect">
            <a:avLst/>
          </a:prstGeom>
          <a:solidFill>
            <a:srgbClr val="E8E8E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PT"/>
          </a:p>
        </p:txBody>
      </p:sp>
      <p:sp>
        <p:nvSpPr>
          <p:cNvPr id="11" name="Título 4"/>
          <p:cNvSpPr>
            <a:spLocks/>
          </p:cNvSpPr>
          <p:nvPr/>
        </p:nvSpPr>
        <p:spPr bwMode="auto">
          <a:xfrm>
            <a:off x="2351333" y="1559285"/>
            <a:ext cx="6923297" cy="1200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80000"/>
              </a:lnSpc>
              <a:defRPr/>
            </a:pPr>
            <a:r>
              <a:rPr lang="pt-BR" altLang="pt-PT" sz="4501" dirty="0">
                <a:solidFill>
                  <a:schemeClr val="tx2"/>
                </a:solidFill>
                <a:latin typeface="Century Gothic" panose="020B0502020202020204" pitchFamily="34" charset="0"/>
                <a:ea typeface="+mn-ea"/>
                <a:cs typeface="Tahoma" panose="020B0604030504040204" pitchFamily="34" charset="0"/>
              </a:rPr>
              <a:t>LEI DA </a:t>
            </a:r>
            <a:r>
              <a:rPr lang="pt-BR" altLang="pt-PT" sz="4501" b="1" dirty="0">
                <a:solidFill>
                  <a:schemeClr val="tx2"/>
                </a:solidFill>
                <a:latin typeface="Century Gothic" panose="020B0502020202020204" pitchFamily="34" charset="0"/>
                <a:ea typeface="+mn-ea"/>
                <a:cs typeface="Tahoma" panose="020B0604030504040204" pitchFamily="34" charset="0"/>
              </a:rPr>
              <a:t> </a:t>
            </a:r>
          </a:p>
          <a:p>
            <a:pPr algn="ctr" eaLnBrk="1" hangingPunct="1">
              <a:lnSpc>
                <a:spcPct val="80000"/>
              </a:lnSpc>
              <a:defRPr/>
            </a:pPr>
            <a:r>
              <a:rPr lang="pt-BR" altLang="pt-PT" sz="4501" b="1" dirty="0">
                <a:solidFill>
                  <a:schemeClr val="tx2"/>
                </a:solidFill>
                <a:latin typeface="Century Gothic" panose="020B0502020202020204" pitchFamily="34" charset="0"/>
                <a:ea typeface="+mn-ea"/>
                <a:cs typeface="Tahoma" panose="020B0604030504040204" pitchFamily="34" charset="0"/>
              </a:rPr>
              <a:t>LIBERDADE ECONÔMICA</a:t>
            </a:r>
            <a:endParaRPr lang="pt-BR" altLang="pt-PT" sz="3751" b="1" dirty="0">
              <a:solidFill>
                <a:schemeClr val="tx2"/>
              </a:solidFill>
              <a:latin typeface="Century Gothic" panose="020B0502020202020204" pitchFamily="34" charset="0"/>
              <a:ea typeface="+mn-ea"/>
              <a:cs typeface="Tahoma" panose="020B0604030504040204" pitchFamily="34" charset="0"/>
            </a:endParaRPr>
          </a:p>
        </p:txBody>
      </p:sp>
      <p:pic>
        <p:nvPicPr>
          <p:cNvPr id="17" name="Imagem 16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141029" y="5854076"/>
            <a:ext cx="1682679" cy="818601"/>
          </a:xfrm>
          <a:prstGeom prst="rect">
            <a:avLst/>
          </a:prstGeom>
        </p:spPr>
      </p:pic>
      <p:cxnSp>
        <p:nvCxnSpPr>
          <p:cNvPr id="13" name="Conexão reta 36"/>
          <p:cNvCxnSpPr/>
          <p:nvPr/>
        </p:nvCxnSpPr>
        <p:spPr>
          <a:xfrm flipV="1">
            <a:off x="5311436" y="2685143"/>
            <a:ext cx="3789022" cy="1296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xão reta 36"/>
          <p:cNvCxnSpPr/>
          <p:nvPr/>
        </p:nvCxnSpPr>
        <p:spPr>
          <a:xfrm flipV="1">
            <a:off x="2452914" y="2699658"/>
            <a:ext cx="2960915" cy="29028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29442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animBg="1"/>
      <p:bldP spid="11" grpId="0"/>
    </p:bld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19421</TotalTime>
  <Words>2768</Words>
  <Application>Microsoft Office PowerPoint</Application>
  <PresentationFormat>Apresentação na tela (4:3)</PresentationFormat>
  <Paragraphs>216</Paragraphs>
  <Slides>39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39</vt:i4>
      </vt:variant>
    </vt:vector>
  </HeadingPairs>
  <TitlesOfParts>
    <vt:vector size="46" baseType="lpstr">
      <vt:lpstr>Aldhabi</vt:lpstr>
      <vt:lpstr>Arial</vt:lpstr>
      <vt:lpstr>Calibri</vt:lpstr>
      <vt:lpstr>Century Gothic</vt:lpstr>
      <vt:lpstr>Wingdings</vt:lpstr>
      <vt:lpstr>Tema do Office</vt:lpstr>
      <vt:lpstr>1_Tema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SOAP</dc:creator>
  <cp:lastModifiedBy>Edgard Vicente Fernandes Junior</cp:lastModifiedBy>
  <cp:revision>743</cp:revision>
  <dcterms:modified xsi:type="dcterms:W3CDTF">2019-09-25T18:55:41Z</dcterms:modified>
</cp:coreProperties>
</file>