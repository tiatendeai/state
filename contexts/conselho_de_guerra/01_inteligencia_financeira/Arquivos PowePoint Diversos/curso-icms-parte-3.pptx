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08" r:id="rId2"/>
    <p:sldId id="263" r:id="rId3"/>
    <p:sldId id="264" r:id="rId4"/>
    <p:sldId id="265" r:id="rId5"/>
    <p:sldId id="266" r:id="rId6"/>
    <p:sldId id="258" r:id="rId7"/>
    <p:sldId id="309" r:id="rId8"/>
    <p:sldId id="310" r:id="rId9"/>
    <p:sldId id="311" r:id="rId10"/>
    <p:sldId id="312" r:id="rId11"/>
    <p:sldId id="321" r:id="rId12"/>
    <p:sldId id="322" r:id="rId13"/>
    <p:sldId id="313" r:id="rId14"/>
    <p:sldId id="325" r:id="rId15"/>
    <p:sldId id="323" r:id="rId16"/>
    <p:sldId id="314" r:id="rId17"/>
    <p:sldId id="326" r:id="rId18"/>
    <p:sldId id="315" r:id="rId19"/>
    <p:sldId id="316" r:id="rId20"/>
    <p:sldId id="331" r:id="rId21"/>
    <p:sldId id="332" r:id="rId22"/>
    <p:sldId id="333" r:id="rId23"/>
    <p:sldId id="317" r:id="rId24"/>
    <p:sldId id="339" r:id="rId25"/>
    <p:sldId id="318" r:id="rId26"/>
    <p:sldId id="327" r:id="rId27"/>
    <p:sldId id="328" r:id="rId28"/>
    <p:sldId id="319" r:id="rId29"/>
    <p:sldId id="320" r:id="rId30"/>
    <p:sldId id="329" r:id="rId31"/>
    <p:sldId id="330" r:id="rId32"/>
    <p:sldId id="334" r:id="rId33"/>
    <p:sldId id="337" r:id="rId34"/>
    <p:sldId id="335" r:id="rId35"/>
    <p:sldId id="336" r:id="rId36"/>
    <p:sldId id="338" r:id="rId37"/>
    <p:sldId id="340" r:id="rId38"/>
    <p:sldId id="341" r:id="rId39"/>
    <p:sldId id="342" r:id="rId40"/>
    <p:sldId id="343" r:id="rId41"/>
    <p:sldId id="344" r:id="rId42"/>
    <p:sldId id="345" r:id="rId43"/>
    <p:sldId id="355" r:id="rId44"/>
    <p:sldId id="356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57" r:id="rId53"/>
    <p:sldId id="358" r:id="rId54"/>
    <p:sldId id="359" r:id="rId55"/>
    <p:sldId id="360" r:id="rId56"/>
    <p:sldId id="361" r:id="rId57"/>
    <p:sldId id="362" r:id="rId58"/>
    <p:sldId id="363" r:id="rId59"/>
    <p:sldId id="364" r:id="rId60"/>
    <p:sldId id="365" r:id="rId61"/>
    <p:sldId id="366" r:id="rId62"/>
    <p:sldId id="367" r:id="rId63"/>
    <p:sldId id="368" r:id="rId64"/>
    <p:sldId id="369" r:id="rId65"/>
    <p:sldId id="370" r:id="rId66"/>
    <p:sldId id="371" r:id="rId67"/>
    <p:sldId id="372" r:id="rId68"/>
    <p:sldId id="373" r:id="rId69"/>
    <p:sldId id="374" r:id="rId7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734" autoAdjust="0"/>
    <p:restoredTop sz="94629" autoAdjust="0"/>
  </p:normalViewPr>
  <p:slideViewPr>
    <p:cSldViewPr>
      <p:cViewPr varScale="1">
        <p:scale>
          <a:sx n="70" d="100"/>
          <a:sy n="70" d="100"/>
        </p:scale>
        <p:origin x="-115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Serviço está na LC 116/03</a:t>
          </a:r>
          <a:endParaRPr lang="pt-BR" dirty="0"/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951FB6D7-CE89-4212-9646-83C11BFDA7B8}">
      <dgm:prSet phldrT="[Texto]"/>
      <dgm:spPr/>
      <dgm:t>
        <a:bodyPr/>
        <a:lstStyle/>
        <a:p>
          <a:r>
            <a:rPr lang="pt-BR" dirty="0" smtClean="0"/>
            <a:t>SIM</a:t>
          </a:r>
          <a:endParaRPr lang="pt-BR" dirty="0"/>
        </a:p>
      </dgm:t>
    </dgm:pt>
    <dgm:pt modelId="{781270D7-77AE-4351-9889-97B0A207FBA5}" type="parTrans" cxnId="{6F955B5B-4B75-4E61-8D8B-A98B6BB36190}">
      <dgm:prSet/>
      <dgm:spPr/>
      <dgm:t>
        <a:bodyPr/>
        <a:lstStyle/>
        <a:p>
          <a:endParaRPr lang="pt-BR"/>
        </a:p>
      </dgm:t>
    </dgm:pt>
    <dgm:pt modelId="{8FBC0A73-C475-4D1B-AA81-E7B35E47438B}" type="sibTrans" cxnId="{6F955B5B-4B75-4E61-8D8B-A98B6BB36190}">
      <dgm:prSet/>
      <dgm:spPr/>
      <dgm:t>
        <a:bodyPr/>
        <a:lstStyle/>
        <a:p>
          <a:endParaRPr lang="pt-BR"/>
        </a:p>
      </dgm:t>
    </dgm:pt>
    <dgm:pt modelId="{40EDE1F0-9DB7-4FFA-A031-8A1B8ED26076}">
      <dgm:prSet phldrT="[Texto]"/>
      <dgm:spPr/>
      <dgm:t>
        <a:bodyPr/>
        <a:lstStyle/>
        <a:p>
          <a:r>
            <a:rPr lang="pt-BR" dirty="0" smtClean="0"/>
            <a:t>NÂO</a:t>
          </a:r>
          <a:endParaRPr lang="pt-BR" dirty="0"/>
        </a:p>
      </dgm:t>
    </dgm:pt>
    <dgm:pt modelId="{411FF429-E600-4C27-BBDC-4614D7009189}" type="parTrans" cxnId="{A2A2E319-6993-4D7C-A3B9-E813CA92F736}">
      <dgm:prSet/>
      <dgm:spPr/>
      <dgm:t>
        <a:bodyPr/>
        <a:lstStyle/>
        <a:p>
          <a:endParaRPr lang="pt-BR"/>
        </a:p>
      </dgm:t>
    </dgm:pt>
    <dgm:pt modelId="{4E3C64CC-E919-4047-B888-5E213EB04676}" type="sibTrans" cxnId="{A2A2E319-6993-4D7C-A3B9-E813CA92F736}">
      <dgm:prSet/>
      <dgm:spPr/>
      <dgm:t>
        <a:bodyPr/>
        <a:lstStyle/>
        <a:p>
          <a:endParaRPr lang="pt-BR"/>
        </a:p>
      </dgm:t>
    </dgm:pt>
    <dgm:pt modelId="{2FE909BD-BCDA-47C2-9659-B13002F31FBB}">
      <dgm:prSet/>
      <dgm:spPr/>
      <dgm:t>
        <a:bodyPr/>
        <a:lstStyle/>
        <a:p>
          <a:r>
            <a:rPr lang="pt-BR" dirty="0" smtClean="0"/>
            <a:t>ISS Sobre Serviço e Material</a:t>
          </a:r>
          <a:endParaRPr lang="pt-BR" dirty="0"/>
        </a:p>
      </dgm:t>
    </dgm:pt>
    <dgm:pt modelId="{009D7102-81F2-4458-9C70-80EA312A89B1}" type="parTrans" cxnId="{2BE3F6BC-0E74-4EAE-80F0-23A35700F837}">
      <dgm:prSet/>
      <dgm:spPr/>
      <dgm:t>
        <a:bodyPr/>
        <a:lstStyle/>
        <a:p>
          <a:endParaRPr lang="pt-BR"/>
        </a:p>
      </dgm:t>
    </dgm:pt>
    <dgm:pt modelId="{DEC6004F-D6DA-41B3-A49D-6C8A67C39EF9}" type="sibTrans" cxnId="{2BE3F6BC-0E74-4EAE-80F0-23A35700F837}">
      <dgm:prSet/>
      <dgm:spPr/>
      <dgm:t>
        <a:bodyPr/>
        <a:lstStyle/>
        <a:p>
          <a:endParaRPr lang="pt-BR"/>
        </a:p>
      </dgm:t>
    </dgm:pt>
    <dgm:pt modelId="{7E2C2C5F-97E2-4A49-AAB3-B9E0AE557756}">
      <dgm:prSet/>
      <dgm:spPr/>
      <dgm:t>
        <a:bodyPr/>
        <a:lstStyle/>
        <a:p>
          <a:r>
            <a:rPr lang="pt-BR" dirty="0" smtClean="0"/>
            <a:t>Possui Ressalva?</a:t>
          </a:r>
          <a:endParaRPr lang="pt-BR" dirty="0"/>
        </a:p>
      </dgm:t>
    </dgm:pt>
    <dgm:pt modelId="{4A1C48C7-B0AE-4903-ABA9-1C220470D669}" type="parTrans" cxnId="{DEBF545A-D19D-438A-AE75-3FE901F22985}">
      <dgm:prSet/>
      <dgm:spPr/>
      <dgm:t>
        <a:bodyPr/>
        <a:lstStyle/>
        <a:p>
          <a:endParaRPr lang="pt-BR"/>
        </a:p>
      </dgm:t>
    </dgm:pt>
    <dgm:pt modelId="{FE263668-81E1-4370-BB7A-2AFDEF844F71}" type="sibTrans" cxnId="{DEBF545A-D19D-438A-AE75-3FE901F22985}">
      <dgm:prSet/>
      <dgm:spPr/>
      <dgm:t>
        <a:bodyPr/>
        <a:lstStyle/>
        <a:p>
          <a:endParaRPr lang="pt-BR"/>
        </a:p>
      </dgm:t>
    </dgm:pt>
    <dgm:pt modelId="{13B13BD8-2046-47AA-B07E-47980E088BB0}">
      <dgm:prSet/>
      <dgm:spPr/>
      <dgm:t>
        <a:bodyPr/>
        <a:lstStyle/>
        <a:p>
          <a:r>
            <a:rPr lang="pt-BR" dirty="0" smtClean="0"/>
            <a:t>ISS Sobre Serviço e </a:t>
          </a:r>
        </a:p>
        <a:p>
          <a:r>
            <a:rPr lang="pt-BR" dirty="0" smtClean="0"/>
            <a:t>ICMS sobre material</a:t>
          </a:r>
          <a:endParaRPr lang="pt-BR" dirty="0"/>
        </a:p>
      </dgm:t>
    </dgm:pt>
    <dgm:pt modelId="{D7A6C50D-EBF9-4B98-9731-E3097BECB42C}" type="parTrans" cxnId="{1112B1AB-BF58-4071-BD52-0AC9309F52BF}">
      <dgm:prSet/>
      <dgm:spPr/>
      <dgm:t>
        <a:bodyPr/>
        <a:lstStyle/>
        <a:p>
          <a:endParaRPr lang="pt-BR"/>
        </a:p>
      </dgm:t>
    </dgm:pt>
    <dgm:pt modelId="{CE6F61AE-E1FF-4244-A20C-03EC5751C210}" type="sibTrans" cxnId="{1112B1AB-BF58-4071-BD52-0AC9309F52BF}">
      <dgm:prSet/>
      <dgm:spPr/>
      <dgm:t>
        <a:bodyPr/>
        <a:lstStyle/>
        <a:p>
          <a:endParaRPr lang="pt-BR"/>
        </a:p>
      </dgm:t>
    </dgm:pt>
    <dgm:pt modelId="{14BCDA04-0436-4F81-B344-EE81310BA207}">
      <dgm:prSet/>
      <dgm:spPr/>
      <dgm:t>
        <a:bodyPr/>
        <a:lstStyle/>
        <a:p>
          <a:r>
            <a:rPr lang="pt-BR" dirty="0" smtClean="0"/>
            <a:t>ICMS sobre tudo</a:t>
          </a:r>
          <a:endParaRPr lang="pt-BR" dirty="0"/>
        </a:p>
      </dgm:t>
    </dgm:pt>
    <dgm:pt modelId="{D2EDE311-109A-4EC2-9520-0AB535AE5CC9}" type="parTrans" cxnId="{AF08E953-15A2-42BC-B0B4-B966F2DCF4E5}">
      <dgm:prSet/>
      <dgm:spPr/>
      <dgm:t>
        <a:bodyPr/>
        <a:lstStyle/>
        <a:p>
          <a:endParaRPr lang="pt-BR"/>
        </a:p>
      </dgm:t>
    </dgm:pt>
    <dgm:pt modelId="{29BF1770-E4F4-4BF2-AFC9-001AD12B8D12}" type="sibTrans" cxnId="{AF08E953-15A2-42BC-B0B4-B966F2DCF4E5}">
      <dgm:prSet/>
      <dgm:spPr/>
      <dgm:t>
        <a:bodyPr/>
        <a:lstStyle/>
        <a:p>
          <a:endParaRPr lang="pt-BR"/>
        </a:p>
      </dgm:t>
    </dgm:pt>
    <dgm:pt modelId="{6A290DA8-8045-4CC6-84CD-27E5C7ADBC4D}">
      <dgm:prSet/>
      <dgm:spPr/>
      <dgm:t>
        <a:bodyPr/>
        <a:lstStyle/>
        <a:p>
          <a:r>
            <a:rPr lang="pt-BR" dirty="0" smtClean="0"/>
            <a:t>SIM</a:t>
          </a:r>
          <a:endParaRPr lang="pt-BR" dirty="0"/>
        </a:p>
      </dgm:t>
    </dgm:pt>
    <dgm:pt modelId="{9F5E044A-5D3E-45DB-AA9E-E74230E75D27}" type="parTrans" cxnId="{A1DA1F28-0ECC-448A-B053-BEBB4A5700C7}">
      <dgm:prSet/>
      <dgm:spPr/>
      <dgm:t>
        <a:bodyPr/>
        <a:lstStyle/>
        <a:p>
          <a:endParaRPr lang="pt-BR"/>
        </a:p>
      </dgm:t>
    </dgm:pt>
    <dgm:pt modelId="{6C9C2215-E4F4-40A0-B554-E5CCB57E06B7}" type="sibTrans" cxnId="{A1DA1F28-0ECC-448A-B053-BEBB4A5700C7}">
      <dgm:prSet/>
      <dgm:spPr/>
      <dgm:t>
        <a:bodyPr/>
        <a:lstStyle/>
        <a:p>
          <a:endParaRPr lang="pt-BR"/>
        </a:p>
      </dgm:t>
    </dgm:pt>
    <dgm:pt modelId="{8936F382-5606-4463-A514-D3531951CEA2}">
      <dgm:prSet/>
      <dgm:spPr/>
      <dgm:t>
        <a:bodyPr/>
        <a:lstStyle/>
        <a:p>
          <a:r>
            <a:rPr lang="pt-BR" dirty="0" smtClean="0"/>
            <a:t>NÃO</a:t>
          </a:r>
          <a:endParaRPr lang="pt-BR" dirty="0"/>
        </a:p>
      </dgm:t>
    </dgm:pt>
    <dgm:pt modelId="{3F65FA86-0BBE-4070-AF9E-744B0C8564E2}" type="parTrans" cxnId="{968F7838-4CE1-4B5C-AF82-927CFA27F98F}">
      <dgm:prSet/>
      <dgm:spPr/>
      <dgm:t>
        <a:bodyPr/>
        <a:lstStyle/>
        <a:p>
          <a:endParaRPr lang="pt-BR"/>
        </a:p>
      </dgm:t>
    </dgm:pt>
    <dgm:pt modelId="{5C942014-45AA-4BE6-BDC9-75B25C281663}" type="sibTrans" cxnId="{968F7838-4CE1-4B5C-AF82-927CFA27F98F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697A1029-EB45-459A-9DF0-2C88B8D56135}" type="pres">
      <dgm:prSet presAssocID="{781270D7-77AE-4351-9889-97B0A207FBA5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AF770FD9-5643-488C-9316-072E53247B9F}" type="pres">
      <dgm:prSet presAssocID="{781270D7-77AE-4351-9889-97B0A207FBA5}" presName="connTx" presStyleLbl="parChTrans1D2" presStyleIdx="0" presStyleCnt="2"/>
      <dgm:spPr/>
      <dgm:t>
        <a:bodyPr/>
        <a:lstStyle/>
        <a:p>
          <a:endParaRPr lang="pt-BR"/>
        </a:p>
      </dgm:t>
    </dgm:pt>
    <dgm:pt modelId="{36554031-78E1-43CF-817A-2E928B41EEB6}" type="pres">
      <dgm:prSet presAssocID="{951FB6D7-CE89-4212-9646-83C11BFDA7B8}" presName="root2" presStyleCnt="0"/>
      <dgm:spPr/>
    </dgm:pt>
    <dgm:pt modelId="{AAEE8041-D978-4E04-810D-DD7BF7830B4B}" type="pres">
      <dgm:prSet presAssocID="{951FB6D7-CE89-4212-9646-83C11BFDA7B8}" presName="LevelTwoTextNode" presStyleLbl="node2" presStyleIdx="0" presStyleCnt="2" custLinFactNeighborX="-17573" custLinFactNeighborY="-32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FD2EDD5-0EB3-4A81-9BBA-3AA2F485C067}" type="pres">
      <dgm:prSet presAssocID="{951FB6D7-CE89-4212-9646-83C11BFDA7B8}" presName="level3hierChild" presStyleCnt="0"/>
      <dgm:spPr/>
    </dgm:pt>
    <dgm:pt modelId="{185FD1FF-7049-496A-B44E-0E5CD50B6A91}" type="pres">
      <dgm:prSet presAssocID="{4A1C48C7-B0AE-4903-ABA9-1C220470D669}" presName="conn2-1" presStyleLbl="parChTrans1D3" presStyleIdx="0" presStyleCnt="2"/>
      <dgm:spPr/>
      <dgm:t>
        <a:bodyPr/>
        <a:lstStyle/>
        <a:p>
          <a:endParaRPr lang="pt-BR"/>
        </a:p>
      </dgm:t>
    </dgm:pt>
    <dgm:pt modelId="{6F41047F-42FF-47B7-8D85-BAFCBA39A7CB}" type="pres">
      <dgm:prSet presAssocID="{4A1C48C7-B0AE-4903-ABA9-1C220470D669}" presName="connTx" presStyleLbl="parChTrans1D3" presStyleIdx="0" presStyleCnt="2"/>
      <dgm:spPr/>
      <dgm:t>
        <a:bodyPr/>
        <a:lstStyle/>
        <a:p>
          <a:endParaRPr lang="pt-BR"/>
        </a:p>
      </dgm:t>
    </dgm:pt>
    <dgm:pt modelId="{C043E076-000D-405B-84A0-628A39E4E0CE}" type="pres">
      <dgm:prSet presAssocID="{7E2C2C5F-97E2-4A49-AAB3-B9E0AE557756}" presName="root2" presStyleCnt="0"/>
      <dgm:spPr/>
    </dgm:pt>
    <dgm:pt modelId="{8A3633CC-C101-47DD-B4A3-EF11897A6BEB}" type="pres">
      <dgm:prSet presAssocID="{7E2C2C5F-97E2-4A49-AAB3-B9E0AE557756}" presName="LevelTwoTextNode" presStyleLbl="node3" presStyleIdx="0" presStyleCnt="2" custLinFactNeighborX="-33155" custLinFactNeighborY="-32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CF54FC3-8776-403E-B374-E5002BD095EC}" type="pres">
      <dgm:prSet presAssocID="{7E2C2C5F-97E2-4A49-AAB3-B9E0AE557756}" presName="level3hierChild" presStyleCnt="0"/>
      <dgm:spPr/>
    </dgm:pt>
    <dgm:pt modelId="{F949034A-FDB7-4102-9A04-570AB14229DD}" type="pres">
      <dgm:prSet presAssocID="{9F5E044A-5D3E-45DB-AA9E-E74230E75D27}" presName="conn2-1" presStyleLbl="parChTrans1D4" presStyleIdx="0" presStyleCnt="4"/>
      <dgm:spPr/>
      <dgm:t>
        <a:bodyPr/>
        <a:lstStyle/>
        <a:p>
          <a:endParaRPr lang="pt-BR"/>
        </a:p>
      </dgm:t>
    </dgm:pt>
    <dgm:pt modelId="{D031B169-063B-4B63-B734-0C89EFE9A707}" type="pres">
      <dgm:prSet presAssocID="{9F5E044A-5D3E-45DB-AA9E-E74230E75D27}" presName="connTx" presStyleLbl="parChTrans1D4" presStyleIdx="0" presStyleCnt="4"/>
      <dgm:spPr/>
      <dgm:t>
        <a:bodyPr/>
        <a:lstStyle/>
        <a:p>
          <a:endParaRPr lang="pt-BR"/>
        </a:p>
      </dgm:t>
    </dgm:pt>
    <dgm:pt modelId="{5F58CFB6-FA7E-4718-AB7D-FB8F1E68D7A8}" type="pres">
      <dgm:prSet presAssocID="{6A290DA8-8045-4CC6-84CD-27E5C7ADBC4D}" presName="root2" presStyleCnt="0"/>
      <dgm:spPr/>
    </dgm:pt>
    <dgm:pt modelId="{84FCBF57-2C1E-4D3B-9344-7699B6E0220D}" type="pres">
      <dgm:prSet presAssocID="{6A290DA8-8045-4CC6-84CD-27E5C7ADBC4D}" presName="LevelTwoTextNode" presStyleLbl="node4" presStyleIdx="0" presStyleCnt="4" custLinFactNeighborX="-38231" custLinFactNeighborY="-151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6F3179B-7ED7-412C-9A39-C26A5FB1C2FF}" type="pres">
      <dgm:prSet presAssocID="{6A290DA8-8045-4CC6-84CD-27E5C7ADBC4D}" presName="level3hierChild" presStyleCnt="0"/>
      <dgm:spPr/>
    </dgm:pt>
    <dgm:pt modelId="{403349C7-5F08-477B-A077-A4BB08CD6AB0}" type="pres">
      <dgm:prSet presAssocID="{D7A6C50D-EBF9-4B98-9731-E3097BECB42C}" presName="conn2-1" presStyleLbl="parChTrans1D4" presStyleIdx="1" presStyleCnt="4"/>
      <dgm:spPr/>
      <dgm:t>
        <a:bodyPr/>
        <a:lstStyle/>
        <a:p>
          <a:endParaRPr lang="pt-BR"/>
        </a:p>
      </dgm:t>
    </dgm:pt>
    <dgm:pt modelId="{4D674565-994D-4BF1-A748-2088392F56D3}" type="pres">
      <dgm:prSet presAssocID="{D7A6C50D-EBF9-4B98-9731-E3097BECB42C}" presName="connTx" presStyleLbl="parChTrans1D4" presStyleIdx="1" presStyleCnt="4"/>
      <dgm:spPr/>
      <dgm:t>
        <a:bodyPr/>
        <a:lstStyle/>
        <a:p>
          <a:endParaRPr lang="pt-BR"/>
        </a:p>
      </dgm:t>
    </dgm:pt>
    <dgm:pt modelId="{6E0424B1-EC0F-4297-9220-1930D9DDD11D}" type="pres">
      <dgm:prSet presAssocID="{13B13BD8-2046-47AA-B07E-47980E088BB0}" presName="root2" presStyleCnt="0"/>
      <dgm:spPr/>
    </dgm:pt>
    <dgm:pt modelId="{ECC02141-8A79-4561-838C-2D37202B7930}" type="pres">
      <dgm:prSet presAssocID="{13B13BD8-2046-47AA-B07E-47980E088BB0}" presName="LevelTwoTextNode" presStyleLbl="node4" presStyleIdx="1" presStyleCnt="4" custScaleY="197041" custLinFactNeighborX="-21675" custLinFactNeighborY="-13628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BE1AF5EB-913B-4E1F-A0F2-B47FA28965B8}" type="pres">
      <dgm:prSet presAssocID="{13B13BD8-2046-47AA-B07E-47980E088BB0}" presName="level3hierChild" presStyleCnt="0"/>
      <dgm:spPr/>
    </dgm:pt>
    <dgm:pt modelId="{C3755C29-22AB-471C-9968-735E53DFB565}" type="pres">
      <dgm:prSet presAssocID="{3F65FA86-0BBE-4070-AF9E-744B0C8564E2}" presName="conn2-1" presStyleLbl="parChTrans1D4" presStyleIdx="2" presStyleCnt="4"/>
      <dgm:spPr/>
      <dgm:t>
        <a:bodyPr/>
        <a:lstStyle/>
        <a:p>
          <a:endParaRPr lang="pt-BR"/>
        </a:p>
      </dgm:t>
    </dgm:pt>
    <dgm:pt modelId="{77C3D928-8948-49B7-B8E8-4B39D911820F}" type="pres">
      <dgm:prSet presAssocID="{3F65FA86-0BBE-4070-AF9E-744B0C8564E2}" presName="connTx" presStyleLbl="parChTrans1D4" presStyleIdx="2" presStyleCnt="4"/>
      <dgm:spPr/>
      <dgm:t>
        <a:bodyPr/>
        <a:lstStyle/>
        <a:p>
          <a:endParaRPr lang="pt-BR"/>
        </a:p>
      </dgm:t>
    </dgm:pt>
    <dgm:pt modelId="{75B8FD95-3C43-4172-97F0-66198E9AB1D6}" type="pres">
      <dgm:prSet presAssocID="{8936F382-5606-4463-A514-D3531951CEA2}" presName="root2" presStyleCnt="0"/>
      <dgm:spPr/>
    </dgm:pt>
    <dgm:pt modelId="{183ECB49-0CC0-4132-8F4C-EA31FFFC95FE}" type="pres">
      <dgm:prSet presAssocID="{8936F382-5606-4463-A514-D3531951CEA2}" presName="LevelTwoTextNode" presStyleLbl="node4" presStyleIdx="2" presStyleCnt="4" custLinFactNeighborX="-38231" custLinFactNeighborY="803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4AC0968-0F9C-4FCB-BA11-6423A317D16D}" type="pres">
      <dgm:prSet presAssocID="{8936F382-5606-4463-A514-D3531951CEA2}" presName="level3hierChild" presStyleCnt="0"/>
      <dgm:spPr/>
    </dgm:pt>
    <dgm:pt modelId="{EA46ED5C-7A48-4179-B45A-5EC46056D9A9}" type="pres">
      <dgm:prSet presAssocID="{009D7102-81F2-4458-9C70-80EA312A89B1}" presName="conn2-1" presStyleLbl="parChTrans1D4" presStyleIdx="3" presStyleCnt="4"/>
      <dgm:spPr/>
      <dgm:t>
        <a:bodyPr/>
        <a:lstStyle/>
        <a:p>
          <a:endParaRPr lang="pt-BR"/>
        </a:p>
      </dgm:t>
    </dgm:pt>
    <dgm:pt modelId="{DBF29612-DB4C-4C69-B2F2-2383F5A719E8}" type="pres">
      <dgm:prSet presAssocID="{009D7102-81F2-4458-9C70-80EA312A89B1}" presName="connTx" presStyleLbl="parChTrans1D4" presStyleIdx="3" presStyleCnt="4"/>
      <dgm:spPr/>
      <dgm:t>
        <a:bodyPr/>
        <a:lstStyle/>
        <a:p>
          <a:endParaRPr lang="pt-BR"/>
        </a:p>
      </dgm:t>
    </dgm:pt>
    <dgm:pt modelId="{5E35ECCA-DCB7-46D1-9D82-B3736DBBEEF2}" type="pres">
      <dgm:prSet presAssocID="{2FE909BD-BCDA-47C2-9659-B13002F31FBB}" presName="root2" presStyleCnt="0"/>
      <dgm:spPr/>
    </dgm:pt>
    <dgm:pt modelId="{A302F7F2-FCCE-4375-A975-EED125CA5711}" type="pres">
      <dgm:prSet presAssocID="{2FE909BD-BCDA-47C2-9659-B13002F31FBB}" presName="LevelTwoTextNode" presStyleLbl="node4" presStyleIdx="3" presStyleCnt="4" custScaleX="103343" custScaleY="186535" custLinFactNeighborX="-21675" custLinFactNeighborY="31749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043D8DC3-33AA-49F6-BA6E-FB9FF3CD1706}" type="pres">
      <dgm:prSet presAssocID="{2FE909BD-BCDA-47C2-9659-B13002F31FBB}" presName="level3hierChild" presStyleCnt="0"/>
      <dgm:spPr/>
    </dgm:pt>
    <dgm:pt modelId="{44AC5E3C-E60F-410C-901F-89A90194580B}" type="pres">
      <dgm:prSet presAssocID="{411FF429-E600-4C27-BBDC-4614D7009189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44C58C4D-6CC9-4905-9AB6-8C6E4563D0BD}" type="pres">
      <dgm:prSet presAssocID="{411FF429-E600-4C27-BBDC-4614D7009189}" presName="connTx" presStyleLbl="parChTrans1D2" presStyleIdx="1" presStyleCnt="2"/>
      <dgm:spPr/>
      <dgm:t>
        <a:bodyPr/>
        <a:lstStyle/>
        <a:p>
          <a:endParaRPr lang="pt-BR"/>
        </a:p>
      </dgm:t>
    </dgm:pt>
    <dgm:pt modelId="{D14BF737-0221-486E-98B2-26872715D013}" type="pres">
      <dgm:prSet presAssocID="{40EDE1F0-9DB7-4FFA-A031-8A1B8ED26076}" presName="root2" presStyleCnt="0"/>
      <dgm:spPr/>
    </dgm:pt>
    <dgm:pt modelId="{A3FB66F1-7E70-48F5-BA8E-ABE481685516}" type="pres">
      <dgm:prSet presAssocID="{40EDE1F0-9DB7-4FFA-A031-8A1B8ED26076}" presName="LevelTwoTextNode" presStyleLbl="node2" presStyleIdx="1" presStyleCnt="2" custLinFactNeighborX="-15993" custLinFactNeighborY="2247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477341-7836-4CE4-AF0C-A4A54D45FE0D}" type="pres">
      <dgm:prSet presAssocID="{40EDE1F0-9DB7-4FFA-A031-8A1B8ED26076}" presName="level3hierChild" presStyleCnt="0"/>
      <dgm:spPr/>
    </dgm:pt>
    <dgm:pt modelId="{5A9873F7-1B7B-453C-8C5D-4AECE003DE93}" type="pres">
      <dgm:prSet presAssocID="{D2EDE311-109A-4EC2-9520-0AB535AE5CC9}" presName="conn2-1" presStyleLbl="parChTrans1D3" presStyleIdx="1" presStyleCnt="2"/>
      <dgm:spPr/>
      <dgm:t>
        <a:bodyPr/>
        <a:lstStyle/>
        <a:p>
          <a:endParaRPr lang="pt-BR"/>
        </a:p>
      </dgm:t>
    </dgm:pt>
    <dgm:pt modelId="{987834E6-8169-4662-91BF-08EBBFA02EF9}" type="pres">
      <dgm:prSet presAssocID="{D2EDE311-109A-4EC2-9520-0AB535AE5CC9}" presName="connTx" presStyleLbl="parChTrans1D3" presStyleIdx="1" presStyleCnt="2"/>
      <dgm:spPr/>
      <dgm:t>
        <a:bodyPr/>
        <a:lstStyle/>
        <a:p>
          <a:endParaRPr lang="pt-BR"/>
        </a:p>
      </dgm:t>
    </dgm:pt>
    <dgm:pt modelId="{2E821A60-E08F-45C1-A21A-EFE5BC02C1A0}" type="pres">
      <dgm:prSet presAssocID="{14BCDA04-0436-4F81-B344-EE81310BA207}" presName="root2" presStyleCnt="0"/>
      <dgm:spPr/>
    </dgm:pt>
    <dgm:pt modelId="{0CF13AE2-E376-49DB-B087-A048AE36B563}" type="pres">
      <dgm:prSet presAssocID="{14BCDA04-0436-4F81-B344-EE81310BA207}" presName="LevelTwoTextNode" presStyleLbl="node3" presStyleIdx="1" presStyleCnt="2" custLinFactNeighborX="-33155" custLinFactNeighborY="2247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D3846F2-3561-4F67-A3ED-F6C47644217E}" type="pres">
      <dgm:prSet presAssocID="{14BCDA04-0436-4F81-B344-EE81310BA207}" presName="level3hierChild" presStyleCnt="0"/>
      <dgm:spPr/>
    </dgm:pt>
  </dgm:ptLst>
  <dgm:cxnLst>
    <dgm:cxn modelId="{9E1630A1-81B9-4610-AF11-F561CEED6564}" type="presOf" srcId="{8936F382-5606-4463-A514-D3531951CEA2}" destId="{183ECB49-0CC0-4132-8F4C-EA31FFFC95FE}" srcOrd="0" destOrd="0" presId="urn:microsoft.com/office/officeart/2005/8/layout/hierarchy2"/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52DFCD9C-B9EC-4550-8E4D-2F97C8B2176F}" type="presOf" srcId="{6A290DA8-8045-4CC6-84CD-27E5C7ADBC4D}" destId="{84FCBF57-2C1E-4D3B-9344-7699B6E0220D}" srcOrd="0" destOrd="0" presId="urn:microsoft.com/office/officeart/2005/8/layout/hierarchy2"/>
    <dgm:cxn modelId="{92E952AE-EF66-43AE-BDAA-F48A38FF27F3}" type="presOf" srcId="{2FE909BD-BCDA-47C2-9659-B13002F31FBB}" destId="{A302F7F2-FCCE-4375-A975-EED125CA5711}" srcOrd="0" destOrd="0" presId="urn:microsoft.com/office/officeart/2005/8/layout/hierarchy2"/>
    <dgm:cxn modelId="{AF08E953-15A2-42BC-B0B4-B966F2DCF4E5}" srcId="{40EDE1F0-9DB7-4FFA-A031-8A1B8ED26076}" destId="{14BCDA04-0436-4F81-B344-EE81310BA207}" srcOrd="0" destOrd="0" parTransId="{D2EDE311-109A-4EC2-9520-0AB535AE5CC9}" sibTransId="{29BF1770-E4F4-4BF2-AFC9-001AD12B8D12}"/>
    <dgm:cxn modelId="{E31F3BAB-5DF2-4CCE-BD8F-8C8DDC3CE67A}" type="presOf" srcId="{411FF429-E600-4C27-BBDC-4614D7009189}" destId="{44AC5E3C-E60F-410C-901F-89A90194580B}" srcOrd="0" destOrd="0" presId="urn:microsoft.com/office/officeart/2005/8/layout/hierarchy2"/>
    <dgm:cxn modelId="{9F9E695E-6C9F-440A-8151-422489DF6588}" type="presOf" srcId="{D7A6C50D-EBF9-4B98-9731-E3097BECB42C}" destId="{4D674565-994D-4BF1-A748-2088392F56D3}" srcOrd="1" destOrd="0" presId="urn:microsoft.com/office/officeart/2005/8/layout/hierarchy2"/>
    <dgm:cxn modelId="{530FDF8E-6823-4774-8DFF-7E8FA0C1E73F}" type="presOf" srcId="{13B13BD8-2046-47AA-B07E-47980E088BB0}" destId="{ECC02141-8A79-4561-838C-2D37202B7930}" srcOrd="0" destOrd="0" presId="urn:microsoft.com/office/officeart/2005/8/layout/hierarchy2"/>
    <dgm:cxn modelId="{CB917884-72C1-4448-BCF0-6B116B07F6F2}" type="presOf" srcId="{951FB6D7-CE89-4212-9646-83C11BFDA7B8}" destId="{AAEE8041-D978-4E04-810D-DD7BF7830B4B}" srcOrd="0" destOrd="0" presId="urn:microsoft.com/office/officeart/2005/8/layout/hierarchy2"/>
    <dgm:cxn modelId="{7B28BE4A-D8DB-4228-A916-D63184C504C7}" type="presOf" srcId="{9F5E044A-5D3E-45DB-AA9E-E74230E75D27}" destId="{D031B169-063B-4B63-B734-0C89EFE9A707}" srcOrd="1" destOrd="0" presId="urn:microsoft.com/office/officeart/2005/8/layout/hierarchy2"/>
    <dgm:cxn modelId="{DE1A5356-2DE0-42B5-9067-2A235294C2DF}" type="presOf" srcId="{40EDE1F0-9DB7-4FFA-A031-8A1B8ED26076}" destId="{A3FB66F1-7E70-48F5-BA8E-ABE481685516}" srcOrd="0" destOrd="0" presId="urn:microsoft.com/office/officeart/2005/8/layout/hierarchy2"/>
    <dgm:cxn modelId="{DB86772E-D81A-4F22-B344-DFE01B41B53D}" type="presOf" srcId="{009D7102-81F2-4458-9C70-80EA312A89B1}" destId="{EA46ED5C-7A48-4179-B45A-5EC46056D9A9}" srcOrd="0" destOrd="0" presId="urn:microsoft.com/office/officeart/2005/8/layout/hierarchy2"/>
    <dgm:cxn modelId="{2BE3F6BC-0E74-4EAE-80F0-23A35700F837}" srcId="{8936F382-5606-4463-A514-D3531951CEA2}" destId="{2FE909BD-BCDA-47C2-9659-B13002F31FBB}" srcOrd="0" destOrd="0" parTransId="{009D7102-81F2-4458-9C70-80EA312A89B1}" sibTransId="{DEC6004F-D6DA-41B3-A49D-6C8A67C39EF9}"/>
    <dgm:cxn modelId="{B3E15A78-A5E8-4899-908E-43C4B02FE317}" type="presOf" srcId="{3F65FA86-0BBE-4070-AF9E-744B0C8564E2}" destId="{C3755C29-22AB-471C-9968-735E53DFB565}" srcOrd="0" destOrd="0" presId="urn:microsoft.com/office/officeart/2005/8/layout/hierarchy2"/>
    <dgm:cxn modelId="{7CD1E782-ADCA-47D2-B86D-F6F2087FF3F6}" type="presOf" srcId="{D2EDE311-109A-4EC2-9520-0AB535AE5CC9}" destId="{987834E6-8169-4662-91BF-08EBBFA02EF9}" srcOrd="1" destOrd="0" presId="urn:microsoft.com/office/officeart/2005/8/layout/hierarchy2"/>
    <dgm:cxn modelId="{6DA3C5E0-DCFA-4FF2-B280-2F7E2315EB6F}" type="presOf" srcId="{411FF429-E600-4C27-BBDC-4614D7009189}" destId="{44C58C4D-6CC9-4905-9AB6-8C6E4563D0BD}" srcOrd="1" destOrd="0" presId="urn:microsoft.com/office/officeart/2005/8/layout/hierarchy2"/>
    <dgm:cxn modelId="{7C7DD2F6-B699-4138-B086-C7D9827E0331}" type="presOf" srcId="{D2EDE311-109A-4EC2-9520-0AB535AE5CC9}" destId="{5A9873F7-1B7B-453C-8C5D-4AECE003DE93}" srcOrd="0" destOrd="0" presId="urn:microsoft.com/office/officeart/2005/8/layout/hierarchy2"/>
    <dgm:cxn modelId="{6F955B5B-4B75-4E61-8D8B-A98B6BB36190}" srcId="{3DED9555-CA6D-410A-8302-BA00BB5DCAC1}" destId="{951FB6D7-CE89-4212-9646-83C11BFDA7B8}" srcOrd="0" destOrd="0" parTransId="{781270D7-77AE-4351-9889-97B0A207FBA5}" sibTransId="{8FBC0A73-C475-4D1B-AA81-E7B35E47438B}"/>
    <dgm:cxn modelId="{DA27AE50-ED0C-460A-B3A8-098AB1A74681}" type="presOf" srcId="{009D7102-81F2-4458-9C70-80EA312A89B1}" destId="{DBF29612-DB4C-4C69-B2F2-2383F5A719E8}" srcOrd="1" destOrd="0" presId="urn:microsoft.com/office/officeart/2005/8/layout/hierarchy2"/>
    <dgm:cxn modelId="{C70CF0C1-76EF-41B7-BFBB-F078B070ADAF}" type="presOf" srcId="{4A1C48C7-B0AE-4903-ABA9-1C220470D669}" destId="{185FD1FF-7049-496A-B44E-0E5CD50B6A91}" srcOrd="0" destOrd="0" presId="urn:microsoft.com/office/officeart/2005/8/layout/hierarchy2"/>
    <dgm:cxn modelId="{A2A2E319-6993-4D7C-A3B9-E813CA92F736}" srcId="{3DED9555-CA6D-410A-8302-BA00BB5DCAC1}" destId="{40EDE1F0-9DB7-4FFA-A031-8A1B8ED26076}" srcOrd="1" destOrd="0" parTransId="{411FF429-E600-4C27-BBDC-4614D7009189}" sibTransId="{4E3C64CC-E919-4047-B888-5E213EB04676}"/>
    <dgm:cxn modelId="{08273EE1-E4A3-4A5E-A4A1-29216B583785}" type="presOf" srcId="{7E2C2C5F-97E2-4A49-AAB3-B9E0AE557756}" destId="{8A3633CC-C101-47DD-B4A3-EF11897A6BEB}" srcOrd="0" destOrd="0" presId="urn:microsoft.com/office/officeart/2005/8/layout/hierarchy2"/>
    <dgm:cxn modelId="{A1DA1F28-0ECC-448A-B053-BEBB4A5700C7}" srcId="{7E2C2C5F-97E2-4A49-AAB3-B9E0AE557756}" destId="{6A290DA8-8045-4CC6-84CD-27E5C7ADBC4D}" srcOrd="0" destOrd="0" parTransId="{9F5E044A-5D3E-45DB-AA9E-E74230E75D27}" sibTransId="{6C9C2215-E4F4-40A0-B554-E5CCB57E06B7}"/>
    <dgm:cxn modelId="{B9152F01-478C-4A8B-BDDC-2B3A938A7694}" type="presOf" srcId="{1EEAAEF9-E66E-415D-A4EB-63C7C89A5674}" destId="{DC22CC4F-84FF-4B4F-BE95-2A4A6C888353}" srcOrd="0" destOrd="0" presId="urn:microsoft.com/office/officeart/2005/8/layout/hierarchy2"/>
    <dgm:cxn modelId="{22818132-04E6-4667-8E93-DC7A9CFDFE30}" type="presOf" srcId="{4A1C48C7-B0AE-4903-ABA9-1C220470D669}" destId="{6F41047F-42FF-47B7-8D85-BAFCBA39A7CB}" srcOrd="1" destOrd="0" presId="urn:microsoft.com/office/officeart/2005/8/layout/hierarchy2"/>
    <dgm:cxn modelId="{AD15A1F1-C3EB-4F62-B4B8-50369CD695FC}" type="presOf" srcId="{3DED9555-CA6D-410A-8302-BA00BB5DCAC1}" destId="{C0C4E4E9-A144-4BBC-BF79-A7EB154405DA}" srcOrd="0" destOrd="0" presId="urn:microsoft.com/office/officeart/2005/8/layout/hierarchy2"/>
    <dgm:cxn modelId="{968F7838-4CE1-4B5C-AF82-927CFA27F98F}" srcId="{7E2C2C5F-97E2-4A49-AAB3-B9E0AE557756}" destId="{8936F382-5606-4463-A514-D3531951CEA2}" srcOrd="1" destOrd="0" parTransId="{3F65FA86-0BBE-4070-AF9E-744B0C8564E2}" sibTransId="{5C942014-45AA-4BE6-BDC9-75B25C281663}"/>
    <dgm:cxn modelId="{1112B1AB-BF58-4071-BD52-0AC9309F52BF}" srcId="{6A290DA8-8045-4CC6-84CD-27E5C7ADBC4D}" destId="{13B13BD8-2046-47AA-B07E-47980E088BB0}" srcOrd="0" destOrd="0" parTransId="{D7A6C50D-EBF9-4B98-9731-E3097BECB42C}" sibTransId="{CE6F61AE-E1FF-4244-A20C-03EC5751C210}"/>
    <dgm:cxn modelId="{14A51012-BEA8-47B2-ADCA-895F4122E2B0}" type="presOf" srcId="{D7A6C50D-EBF9-4B98-9731-E3097BECB42C}" destId="{403349C7-5F08-477B-A077-A4BB08CD6AB0}" srcOrd="0" destOrd="0" presId="urn:microsoft.com/office/officeart/2005/8/layout/hierarchy2"/>
    <dgm:cxn modelId="{9BDBC883-02E7-445A-9E4E-49CCE369AA73}" type="presOf" srcId="{781270D7-77AE-4351-9889-97B0A207FBA5}" destId="{AF770FD9-5643-488C-9316-072E53247B9F}" srcOrd="1" destOrd="0" presId="urn:microsoft.com/office/officeart/2005/8/layout/hierarchy2"/>
    <dgm:cxn modelId="{E85587EC-4576-4671-8C06-B7ACDD43B345}" type="presOf" srcId="{3F65FA86-0BBE-4070-AF9E-744B0C8564E2}" destId="{77C3D928-8948-49B7-B8E8-4B39D911820F}" srcOrd="1" destOrd="0" presId="urn:microsoft.com/office/officeart/2005/8/layout/hierarchy2"/>
    <dgm:cxn modelId="{DEBF545A-D19D-438A-AE75-3FE901F22985}" srcId="{951FB6D7-CE89-4212-9646-83C11BFDA7B8}" destId="{7E2C2C5F-97E2-4A49-AAB3-B9E0AE557756}" srcOrd="0" destOrd="0" parTransId="{4A1C48C7-B0AE-4903-ABA9-1C220470D669}" sibTransId="{FE263668-81E1-4370-BB7A-2AFDEF844F71}"/>
    <dgm:cxn modelId="{B907F15E-03CD-4F40-8AD7-ECE1BB2003DA}" type="presOf" srcId="{14BCDA04-0436-4F81-B344-EE81310BA207}" destId="{0CF13AE2-E376-49DB-B087-A048AE36B563}" srcOrd="0" destOrd="0" presId="urn:microsoft.com/office/officeart/2005/8/layout/hierarchy2"/>
    <dgm:cxn modelId="{3815B187-D979-4F7D-82E7-EF736F64A7F3}" type="presOf" srcId="{9F5E044A-5D3E-45DB-AA9E-E74230E75D27}" destId="{F949034A-FDB7-4102-9A04-570AB14229DD}" srcOrd="0" destOrd="0" presId="urn:microsoft.com/office/officeart/2005/8/layout/hierarchy2"/>
    <dgm:cxn modelId="{C754360F-D55E-47F1-8654-06B452FC2037}" type="presOf" srcId="{781270D7-77AE-4351-9889-97B0A207FBA5}" destId="{697A1029-EB45-459A-9DF0-2C88B8D56135}" srcOrd="0" destOrd="0" presId="urn:microsoft.com/office/officeart/2005/8/layout/hierarchy2"/>
    <dgm:cxn modelId="{23168CCA-1591-4FA5-9760-0B2D83C7ABE0}" type="presParOf" srcId="{DC22CC4F-84FF-4B4F-BE95-2A4A6C888353}" destId="{88C2D2CE-BB96-469E-AF77-A30FA5E617E0}" srcOrd="0" destOrd="0" presId="urn:microsoft.com/office/officeart/2005/8/layout/hierarchy2"/>
    <dgm:cxn modelId="{C1C8D626-4EF5-4EEF-9839-11C2EB6F71FE}" type="presParOf" srcId="{88C2D2CE-BB96-469E-AF77-A30FA5E617E0}" destId="{C0C4E4E9-A144-4BBC-BF79-A7EB154405DA}" srcOrd="0" destOrd="0" presId="urn:microsoft.com/office/officeart/2005/8/layout/hierarchy2"/>
    <dgm:cxn modelId="{DC729457-25CD-4450-A229-829F5B28FBD0}" type="presParOf" srcId="{88C2D2CE-BB96-469E-AF77-A30FA5E617E0}" destId="{CC7C0BE5-1DA0-4213-9C64-7FEF7C21DBC9}" srcOrd="1" destOrd="0" presId="urn:microsoft.com/office/officeart/2005/8/layout/hierarchy2"/>
    <dgm:cxn modelId="{DB71AAB0-F359-41BA-AFD8-E75A9F6D6A26}" type="presParOf" srcId="{CC7C0BE5-1DA0-4213-9C64-7FEF7C21DBC9}" destId="{697A1029-EB45-459A-9DF0-2C88B8D56135}" srcOrd="0" destOrd="0" presId="urn:microsoft.com/office/officeart/2005/8/layout/hierarchy2"/>
    <dgm:cxn modelId="{1623EEB8-37BF-432B-BD93-0CEE74E65513}" type="presParOf" srcId="{697A1029-EB45-459A-9DF0-2C88B8D56135}" destId="{AF770FD9-5643-488C-9316-072E53247B9F}" srcOrd="0" destOrd="0" presId="urn:microsoft.com/office/officeart/2005/8/layout/hierarchy2"/>
    <dgm:cxn modelId="{7FB235BB-F736-47FB-8B45-AF790BB82747}" type="presParOf" srcId="{CC7C0BE5-1DA0-4213-9C64-7FEF7C21DBC9}" destId="{36554031-78E1-43CF-817A-2E928B41EEB6}" srcOrd="1" destOrd="0" presId="urn:microsoft.com/office/officeart/2005/8/layout/hierarchy2"/>
    <dgm:cxn modelId="{330AEE0F-0D42-43A7-98CA-8D4B05823C63}" type="presParOf" srcId="{36554031-78E1-43CF-817A-2E928B41EEB6}" destId="{AAEE8041-D978-4E04-810D-DD7BF7830B4B}" srcOrd="0" destOrd="0" presId="urn:microsoft.com/office/officeart/2005/8/layout/hierarchy2"/>
    <dgm:cxn modelId="{FBE653EB-0B42-41EB-983F-84C7D0596DFB}" type="presParOf" srcId="{36554031-78E1-43CF-817A-2E928B41EEB6}" destId="{9FD2EDD5-0EB3-4A81-9BBA-3AA2F485C067}" srcOrd="1" destOrd="0" presId="urn:microsoft.com/office/officeart/2005/8/layout/hierarchy2"/>
    <dgm:cxn modelId="{66D7B78F-882E-4CEB-ADAC-E2E4188BC780}" type="presParOf" srcId="{9FD2EDD5-0EB3-4A81-9BBA-3AA2F485C067}" destId="{185FD1FF-7049-496A-B44E-0E5CD50B6A91}" srcOrd="0" destOrd="0" presId="urn:microsoft.com/office/officeart/2005/8/layout/hierarchy2"/>
    <dgm:cxn modelId="{E6A9C2E8-6397-4342-AE9F-584F62113758}" type="presParOf" srcId="{185FD1FF-7049-496A-B44E-0E5CD50B6A91}" destId="{6F41047F-42FF-47B7-8D85-BAFCBA39A7CB}" srcOrd="0" destOrd="0" presId="urn:microsoft.com/office/officeart/2005/8/layout/hierarchy2"/>
    <dgm:cxn modelId="{549E400F-0214-48C4-9144-8C94D0BBD3F4}" type="presParOf" srcId="{9FD2EDD5-0EB3-4A81-9BBA-3AA2F485C067}" destId="{C043E076-000D-405B-84A0-628A39E4E0CE}" srcOrd="1" destOrd="0" presId="urn:microsoft.com/office/officeart/2005/8/layout/hierarchy2"/>
    <dgm:cxn modelId="{24680D93-FD9D-409E-847F-AF48622B3A1F}" type="presParOf" srcId="{C043E076-000D-405B-84A0-628A39E4E0CE}" destId="{8A3633CC-C101-47DD-B4A3-EF11897A6BEB}" srcOrd="0" destOrd="0" presId="urn:microsoft.com/office/officeart/2005/8/layout/hierarchy2"/>
    <dgm:cxn modelId="{E0FAFA6A-1E0B-40F6-A439-9B2289BAFDE2}" type="presParOf" srcId="{C043E076-000D-405B-84A0-628A39E4E0CE}" destId="{FCF54FC3-8776-403E-B374-E5002BD095EC}" srcOrd="1" destOrd="0" presId="urn:microsoft.com/office/officeart/2005/8/layout/hierarchy2"/>
    <dgm:cxn modelId="{299A0DCB-2BF0-452E-8344-6D909DA61174}" type="presParOf" srcId="{FCF54FC3-8776-403E-B374-E5002BD095EC}" destId="{F949034A-FDB7-4102-9A04-570AB14229DD}" srcOrd="0" destOrd="0" presId="urn:microsoft.com/office/officeart/2005/8/layout/hierarchy2"/>
    <dgm:cxn modelId="{66D6876A-E845-4B97-B1F9-62BC17FC2911}" type="presParOf" srcId="{F949034A-FDB7-4102-9A04-570AB14229DD}" destId="{D031B169-063B-4B63-B734-0C89EFE9A707}" srcOrd="0" destOrd="0" presId="urn:microsoft.com/office/officeart/2005/8/layout/hierarchy2"/>
    <dgm:cxn modelId="{DA7F6A69-6032-4604-AA45-04B8BA8AC0E6}" type="presParOf" srcId="{FCF54FC3-8776-403E-B374-E5002BD095EC}" destId="{5F58CFB6-FA7E-4718-AB7D-FB8F1E68D7A8}" srcOrd="1" destOrd="0" presId="urn:microsoft.com/office/officeart/2005/8/layout/hierarchy2"/>
    <dgm:cxn modelId="{619ABA01-ECDE-4985-BEE9-29907252210B}" type="presParOf" srcId="{5F58CFB6-FA7E-4718-AB7D-FB8F1E68D7A8}" destId="{84FCBF57-2C1E-4D3B-9344-7699B6E0220D}" srcOrd="0" destOrd="0" presId="urn:microsoft.com/office/officeart/2005/8/layout/hierarchy2"/>
    <dgm:cxn modelId="{6ACB4C14-0F73-4EDE-BEF8-D6A655883E0E}" type="presParOf" srcId="{5F58CFB6-FA7E-4718-AB7D-FB8F1E68D7A8}" destId="{56F3179B-7ED7-412C-9A39-C26A5FB1C2FF}" srcOrd="1" destOrd="0" presId="urn:microsoft.com/office/officeart/2005/8/layout/hierarchy2"/>
    <dgm:cxn modelId="{A70F47B4-3837-4D23-B054-95BA41A0CEED}" type="presParOf" srcId="{56F3179B-7ED7-412C-9A39-C26A5FB1C2FF}" destId="{403349C7-5F08-477B-A077-A4BB08CD6AB0}" srcOrd="0" destOrd="0" presId="urn:microsoft.com/office/officeart/2005/8/layout/hierarchy2"/>
    <dgm:cxn modelId="{F59954EA-060B-4C5B-A793-FDD831625F49}" type="presParOf" srcId="{403349C7-5F08-477B-A077-A4BB08CD6AB0}" destId="{4D674565-994D-4BF1-A748-2088392F56D3}" srcOrd="0" destOrd="0" presId="urn:microsoft.com/office/officeart/2005/8/layout/hierarchy2"/>
    <dgm:cxn modelId="{B89A7BFB-96AB-413F-9B68-31757AAAE198}" type="presParOf" srcId="{56F3179B-7ED7-412C-9A39-C26A5FB1C2FF}" destId="{6E0424B1-EC0F-4297-9220-1930D9DDD11D}" srcOrd="1" destOrd="0" presId="urn:microsoft.com/office/officeart/2005/8/layout/hierarchy2"/>
    <dgm:cxn modelId="{5300FA2F-5523-4B04-94B4-083849D2613F}" type="presParOf" srcId="{6E0424B1-EC0F-4297-9220-1930D9DDD11D}" destId="{ECC02141-8A79-4561-838C-2D37202B7930}" srcOrd="0" destOrd="0" presId="urn:microsoft.com/office/officeart/2005/8/layout/hierarchy2"/>
    <dgm:cxn modelId="{761B6098-CB8F-4692-92DE-DC97491D3075}" type="presParOf" srcId="{6E0424B1-EC0F-4297-9220-1930D9DDD11D}" destId="{BE1AF5EB-913B-4E1F-A0F2-B47FA28965B8}" srcOrd="1" destOrd="0" presId="urn:microsoft.com/office/officeart/2005/8/layout/hierarchy2"/>
    <dgm:cxn modelId="{FA9E688E-A133-4934-B12E-D99C7C5B7E79}" type="presParOf" srcId="{FCF54FC3-8776-403E-B374-E5002BD095EC}" destId="{C3755C29-22AB-471C-9968-735E53DFB565}" srcOrd="2" destOrd="0" presId="urn:microsoft.com/office/officeart/2005/8/layout/hierarchy2"/>
    <dgm:cxn modelId="{DA7457E1-1F35-4E67-B02D-C2D1D2C26A14}" type="presParOf" srcId="{C3755C29-22AB-471C-9968-735E53DFB565}" destId="{77C3D928-8948-49B7-B8E8-4B39D911820F}" srcOrd="0" destOrd="0" presId="urn:microsoft.com/office/officeart/2005/8/layout/hierarchy2"/>
    <dgm:cxn modelId="{ADFBA547-2709-4BA9-AFDF-F79F31974604}" type="presParOf" srcId="{FCF54FC3-8776-403E-B374-E5002BD095EC}" destId="{75B8FD95-3C43-4172-97F0-66198E9AB1D6}" srcOrd="3" destOrd="0" presId="urn:microsoft.com/office/officeart/2005/8/layout/hierarchy2"/>
    <dgm:cxn modelId="{5F91793E-5427-4C26-B88D-DFA78C83D147}" type="presParOf" srcId="{75B8FD95-3C43-4172-97F0-66198E9AB1D6}" destId="{183ECB49-0CC0-4132-8F4C-EA31FFFC95FE}" srcOrd="0" destOrd="0" presId="urn:microsoft.com/office/officeart/2005/8/layout/hierarchy2"/>
    <dgm:cxn modelId="{D8C99FA3-C41F-4183-AC95-FC655E4B2952}" type="presParOf" srcId="{75B8FD95-3C43-4172-97F0-66198E9AB1D6}" destId="{54AC0968-0F9C-4FCB-BA11-6423A317D16D}" srcOrd="1" destOrd="0" presId="urn:microsoft.com/office/officeart/2005/8/layout/hierarchy2"/>
    <dgm:cxn modelId="{E8934B81-2046-46BA-A371-9B56FCE0DAF7}" type="presParOf" srcId="{54AC0968-0F9C-4FCB-BA11-6423A317D16D}" destId="{EA46ED5C-7A48-4179-B45A-5EC46056D9A9}" srcOrd="0" destOrd="0" presId="urn:microsoft.com/office/officeart/2005/8/layout/hierarchy2"/>
    <dgm:cxn modelId="{84BDD7D5-88FF-47F2-BFC9-18D5FA8DCDA7}" type="presParOf" srcId="{EA46ED5C-7A48-4179-B45A-5EC46056D9A9}" destId="{DBF29612-DB4C-4C69-B2F2-2383F5A719E8}" srcOrd="0" destOrd="0" presId="urn:microsoft.com/office/officeart/2005/8/layout/hierarchy2"/>
    <dgm:cxn modelId="{2410F2D1-5660-4C82-9884-EAB293D11405}" type="presParOf" srcId="{54AC0968-0F9C-4FCB-BA11-6423A317D16D}" destId="{5E35ECCA-DCB7-46D1-9D82-B3736DBBEEF2}" srcOrd="1" destOrd="0" presId="urn:microsoft.com/office/officeart/2005/8/layout/hierarchy2"/>
    <dgm:cxn modelId="{43A46163-BFAA-4A12-9D81-195CAEC84441}" type="presParOf" srcId="{5E35ECCA-DCB7-46D1-9D82-B3736DBBEEF2}" destId="{A302F7F2-FCCE-4375-A975-EED125CA5711}" srcOrd="0" destOrd="0" presId="urn:microsoft.com/office/officeart/2005/8/layout/hierarchy2"/>
    <dgm:cxn modelId="{8518AFF1-6D67-4C87-86D5-7212C10DD967}" type="presParOf" srcId="{5E35ECCA-DCB7-46D1-9D82-B3736DBBEEF2}" destId="{043D8DC3-33AA-49F6-BA6E-FB9FF3CD1706}" srcOrd="1" destOrd="0" presId="urn:microsoft.com/office/officeart/2005/8/layout/hierarchy2"/>
    <dgm:cxn modelId="{6D029AB5-036E-4B8D-A217-A80A4260C5D9}" type="presParOf" srcId="{CC7C0BE5-1DA0-4213-9C64-7FEF7C21DBC9}" destId="{44AC5E3C-E60F-410C-901F-89A90194580B}" srcOrd="2" destOrd="0" presId="urn:microsoft.com/office/officeart/2005/8/layout/hierarchy2"/>
    <dgm:cxn modelId="{D5F3C706-2588-49CB-8A65-1BC8C5049E1C}" type="presParOf" srcId="{44AC5E3C-E60F-410C-901F-89A90194580B}" destId="{44C58C4D-6CC9-4905-9AB6-8C6E4563D0BD}" srcOrd="0" destOrd="0" presId="urn:microsoft.com/office/officeart/2005/8/layout/hierarchy2"/>
    <dgm:cxn modelId="{4AE6EEE4-0691-40ED-A346-6400CB796BFD}" type="presParOf" srcId="{CC7C0BE5-1DA0-4213-9C64-7FEF7C21DBC9}" destId="{D14BF737-0221-486E-98B2-26872715D013}" srcOrd="3" destOrd="0" presId="urn:microsoft.com/office/officeart/2005/8/layout/hierarchy2"/>
    <dgm:cxn modelId="{98509231-0635-43DE-BCD3-8B663AF128D9}" type="presParOf" srcId="{D14BF737-0221-486E-98B2-26872715D013}" destId="{A3FB66F1-7E70-48F5-BA8E-ABE481685516}" srcOrd="0" destOrd="0" presId="urn:microsoft.com/office/officeart/2005/8/layout/hierarchy2"/>
    <dgm:cxn modelId="{0FC937CB-6264-4983-8B0A-AC38BF638BB7}" type="presParOf" srcId="{D14BF737-0221-486E-98B2-26872715D013}" destId="{F2477341-7836-4CE4-AF0C-A4A54D45FE0D}" srcOrd="1" destOrd="0" presId="urn:microsoft.com/office/officeart/2005/8/layout/hierarchy2"/>
    <dgm:cxn modelId="{C70DAD3B-4C69-47A4-B632-19369B8E7D97}" type="presParOf" srcId="{F2477341-7836-4CE4-AF0C-A4A54D45FE0D}" destId="{5A9873F7-1B7B-453C-8C5D-4AECE003DE93}" srcOrd="0" destOrd="0" presId="urn:microsoft.com/office/officeart/2005/8/layout/hierarchy2"/>
    <dgm:cxn modelId="{DB93C6B0-303E-4745-BD80-8EB5000B1F9B}" type="presParOf" srcId="{5A9873F7-1B7B-453C-8C5D-4AECE003DE93}" destId="{987834E6-8169-4662-91BF-08EBBFA02EF9}" srcOrd="0" destOrd="0" presId="urn:microsoft.com/office/officeart/2005/8/layout/hierarchy2"/>
    <dgm:cxn modelId="{1D85F3A7-B1D2-48C9-9B5B-F00BE55F31E8}" type="presParOf" srcId="{F2477341-7836-4CE4-AF0C-A4A54D45FE0D}" destId="{2E821A60-E08F-45C1-A21A-EFE5BC02C1A0}" srcOrd="1" destOrd="0" presId="urn:microsoft.com/office/officeart/2005/8/layout/hierarchy2"/>
    <dgm:cxn modelId="{DC8CE59B-1485-4E78-921B-FD2D5F01AE98}" type="presParOf" srcId="{2E821A60-E08F-45C1-A21A-EFE5BC02C1A0}" destId="{0CF13AE2-E376-49DB-B087-A048AE36B563}" srcOrd="0" destOrd="0" presId="urn:microsoft.com/office/officeart/2005/8/layout/hierarchy2"/>
    <dgm:cxn modelId="{6530668B-919E-4E47-B107-5DB7D022F617}" type="presParOf" srcId="{2E821A60-E08F-45C1-A21A-EFE5BC02C1A0}" destId="{4D3846F2-3561-4F67-A3ED-F6C47644217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EAAEF9-E66E-415D-A4EB-63C7C89A567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3DED9555-CA6D-410A-8302-BA00BB5DCAC1}">
      <dgm:prSet phldrT="[Texto]"/>
      <dgm:spPr/>
      <dgm:t>
        <a:bodyPr/>
        <a:lstStyle/>
        <a:p>
          <a:r>
            <a:rPr lang="pt-BR" dirty="0" smtClean="0"/>
            <a:t>Combustível derivado de </a:t>
          </a:r>
          <a:r>
            <a:rPr lang="pt-BR" dirty="0" smtClean="0">
              <a:solidFill>
                <a:srgbClr val="FF0000"/>
              </a:solidFill>
            </a:rPr>
            <a:t>Petróleo</a:t>
          </a:r>
          <a:r>
            <a:rPr lang="pt-BR" dirty="0" smtClean="0"/>
            <a:t> e </a:t>
          </a:r>
          <a:r>
            <a:rPr lang="pt-BR" dirty="0" smtClean="0">
              <a:solidFill>
                <a:srgbClr val="FF0000"/>
              </a:solidFill>
            </a:rPr>
            <a:t>Energia Elétrica</a:t>
          </a:r>
          <a:endParaRPr lang="pt-BR" dirty="0">
            <a:solidFill>
              <a:srgbClr val="FF0000"/>
            </a:solidFill>
          </a:endParaRPr>
        </a:p>
      </dgm:t>
    </dgm:pt>
    <dgm:pt modelId="{24C43DE7-CCD6-48D2-BB49-006BEB16C459}" type="parTrans" cxnId="{F8EFBB33-B633-4802-A187-C671B09678C7}">
      <dgm:prSet/>
      <dgm:spPr/>
      <dgm:t>
        <a:bodyPr/>
        <a:lstStyle/>
        <a:p>
          <a:endParaRPr lang="pt-BR"/>
        </a:p>
      </dgm:t>
    </dgm:pt>
    <dgm:pt modelId="{EE7403EE-76A1-4328-BB5F-45A7DFC89F83}" type="sibTrans" cxnId="{F8EFBB33-B633-4802-A187-C671B09678C7}">
      <dgm:prSet/>
      <dgm:spPr/>
      <dgm:t>
        <a:bodyPr/>
        <a:lstStyle/>
        <a:p>
          <a:endParaRPr lang="pt-BR"/>
        </a:p>
      </dgm:t>
    </dgm:pt>
    <dgm:pt modelId="{951FB6D7-CE89-4212-9646-83C11BFDA7B8}">
      <dgm:prSet phldrT="[Texto]"/>
      <dgm:spPr/>
      <dgm:t>
        <a:bodyPr/>
        <a:lstStyle/>
        <a:p>
          <a:r>
            <a:rPr lang="pt-BR" dirty="0" smtClean="0"/>
            <a:t>Na </a:t>
          </a:r>
          <a:r>
            <a:rPr lang="pt-BR" dirty="0" smtClean="0">
              <a:solidFill>
                <a:srgbClr val="FF0000"/>
              </a:solidFill>
            </a:rPr>
            <a:t>entrada</a:t>
          </a:r>
          <a:r>
            <a:rPr lang="pt-BR" dirty="0" smtClean="0"/>
            <a:t> do Estado adquirente</a:t>
          </a:r>
          <a:endParaRPr lang="pt-BR" dirty="0"/>
        </a:p>
      </dgm:t>
    </dgm:pt>
    <dgm:pt modelId="{781270D7-77AE-4351-9889-97B0A207FBA5}" type="parTrans" cxnId="{6F955B5B-4B75-4E61-8D8B-A98B6BB36190}">
      <dgm:prSet/>
      <dgm:spPr/>
      <dgm:t>
        <a:bodyPr/>
        <a:lstStyle/>
        <a:p>
          <a:endParaRPr lang="pt-BR"/>
        </a:p>
      </dgm:t>
    </dgm:pt>
    <dgm:pt modelId="{8FBC0A73-C475-4D1B-AA81-E7B35E47438B}" type="sibTrans" cxnId="{6F955B5B-4B75-4E61-8D8B-A98B6BB36190}">
      <dgm:prSet/>
      <dgm:spPr/>
      <dgm:t>
        <a:bodyPr/>
        <a:lstStyle/>
        <a:p>
          <a:endParaRPr lang="pt-BR"/>
        </a:p>
      </dgm:t>
    </dgm:pt>
    <dgm:pt modelId="{40EDE1F0-9DB7-4FFA-A031-8A1B8ED26076}">
      <dgm:prSet phldrT="[Texto]"/>
      <dgm:spPr/>
      <dgm:t>
        <a:bodyPr/>
        <a:lstStyle/>
        <a:p>
          <a:r>
            <a:rPr lang="pt-BR" dirty="0" smtClean="0"/>
            <a:t>Na </a:t>
          </a:r>
          <a:r>
            <a:rPr lang="pt-BR" dirty="0" smtClean="0">
              <a:solidFill>
                <a:srgbClr val="FF0000"/>
              </a:solidFill>
            </a:rPr>
            <a:t>saída</a:t>
          </a:r>
          <a:r>
            <a:rPr lang="pt-BR" dirty="0" smtClean="0"/>
            <a:t> do Estado remetente</a:t>
          </a:r>
          <a:endParaRPr lang="pt-BR" dirty="0"/>
        </a:p>
      </dgm:t>
    </dgm:pt>
    <dgm:pt modelId="{411FF429-E600-4C27-BBDC-4614D7009189}" type="parTrans" cxnId="{A2A2E319-6993-4D7C-A3B9-E813CA92F736}">
      <dgm:prSet/>
      <dgm:spPr/>
      <dgm:t>
        <a:bodyPr/>
        <a:lstStyle/>
        <a:p>
          <a:endParaRPr lang="pt-BR"/>
        </a:p>
      </dgm:t>
    </dgm:pt>
    <dgm:pt modelId="{4E3C64CC-E919-4047-B888-5E213EB04676}" type="sibTrans" cxnId="{A2A2E319-6993-4D7C-A3B9-E813CA92F736}">
      <dgm:prSet/>
      <dgm:spPr/>
      <dgm:t>
        <a:bodyPr/>
        <a:lstStyle/>
        <a:p>
          <a:endParaRPr lang="pt-BR"/>
        </a:p>
      </dgm:t>
    </dgm:pt>
    <dgm:pt modelId="{7E2C2C5F-97E2-4A49-AAB3-B9E0AE557756}">
      <dgm:prSet/>
      <dgm:spPr/>
      <dgm:t>
        <a:bodyPr/>
        <a:lstStyle/>
        <a:p>
          <a:r>
            <a:rPr lang="pt-BR" dirty="0" smtClean="0"/>
            <a:t>Para consumo</a:t>
          </a:r>
          <a:endParaRPr lang="pt-BR" dirty="0"/>
        </a:p>
      </dgm:t>
    </dgm:pt>
    <dgm:pt modelId="{4A1C48C7-B0AE-4903-ABA9-1C220470D669}" type="parTrans" cxnId="{DEBF545A-D19D-438A-AE75-3FE901F22985}">
      <dgm:prSet/>
      <dgm:spPr/>
      <dgm:t>
        <a:bodyPr/>
        <a:lstStyle/>
        <a:p>
          <a:endParaRPr lang="pt-BR"/>
        </a:p>
      </dgm:t>
    </dgm:pt>
    <dgm:pt modelId="{FE263668-81E1-4370-BB7A-2AFDEF844F71}" type="sibTrans" cxnId="{DEBF545A-D19D-438A-AE75-3FE901F22985}">
      <dgm:prSet/>
      <dgm:spPr/>
      <dgm:t>
        <a:bodyPr/>
        <a:lstStyle/>
        <a:p>
          <a:endParaRPr lang="pt-BR"/>
        </a:p>
      </dgm:t>
    </dgm:pt>
    <dgm:pt modelId="{14BCDA04-0436-4F81-B344-EE81310BA207}">
      <dgm:prSet/>
      <dgm:spPr/>
      <dgm:t>
        <a:bodyPr/>
        <a:lstStyle/>
        <a:p>
          <a:r>
            <a:rPr lang="pt-BR" dirty="0" smtClean="0"/>
            <a:t>Não incide ICMS</a:t>
          </a:r>
          <a:endParaRPr lang="pt-BR" dirty="0"/>
        </a:p>
      </dgm:t>
    </dgm:pt>
    <dgm:pt modelId="{D2EDE311-109A-4EC2-9520-0AB535AE5CC9}" type="parTrans" cxnId="{AF08E953-15A2-42BC-B0B4-B966F2DCF4E5}">
      <dgm:prSet/>
      <dgm:spPr/>
      <dgm:t>
        <a:bodyPr/>
        <a:lstStyle/>
        <a:p>
          <a:endParaRPr lang="pt-BR"/>
        </a:p>
      </dgm:t>
    </dgm:pt>
    <dgm:pt modelId="{29BF1770-E4F4-4BF2-AFC9-001AD12B8D12}" type="sibTrans" cxnId="{AF08E953-15A2-42BC-B0B4-B966F2DCF4E5}">
      <dgm:prSet/>
      <dgm:spPr/>
      <dgm:t>
        <a:bodyPr/>
        <a:lstStyle/>
        <a:p>
          <a:endParaRPr lang="pt-BR"/>
        </a:p>
      </dgm:t>
    </dgm:pt>
    <dgm:pt modelId="{6A290DA8-8045-4CC6-84CD-27E5C7ADBC4D}">
      <dgm:prSet/>
      <dgm:spPr/>
      <dgm:t>
        <a:bodyPr/>
        <a:lstStyle/>
        <a:p>
          <a:r>
            <a:rPr lang="pt-BR" dirty="0" smtClean="0"/>
            <a:t>Incide ICMS</a:t>
          </a:r>
          <a:endParaRPr lang="pt-BR" dirty="0"/>
        </a:p>
      </dgm:t>
    </dgm:pt>
    <dgm:pt modelId="{9F5E044A-5D3E-45DB-AA9E-E74230E75D27}" type="parTrans" cxnId="{A1DA1F28-0ECC-448A-B053-BEBB4A5700C7}">
      <dgm:prSet/>
      <dgm:spPr/>
      <dgm:t>
        <a:bodyPr/>
        <a:lstStyle/>
        <a:p>
          <a:endParaRPr lang="pt-BR"/>
        </a:p>
      </dgm:t>
    </dgm:pt>
    <dgm:pt modelId="{6C9C2215-E4F4-40A0-B554-E5CCB57E06B7}" type="sibTrans" cxnId="{A1DA1F28-0ECC-448A-B053-BEBB4A5700C7}">
      <dgm:prSet/>
      <dgm:spPr/>
      <dgm:t>
        <a:bodyPr/>
        <a:lstStyle/>
        <a:p>
          <a:endParaRPr lang="pt-BR"/>
        </a:p>
      </dgm:t>
    </dgm:pt>
    <dgm:pt modelId="{23C7BCA7-E283-462D-A0C0-E018F7405E15}">
      <dgm:prSet/>
      <dgm:spPr/>
      <dgm:t>
        <a:bodyPr/>
        <a:lstStyle/>
        <a:p>
          <a:r>
            <a:rPr lang="pt-BR" dirty="0" smtClean="0"/>
            <a:t>Não incide ICMS</a:t>
          </a:r>
          <a:endParaRPr lang="pt-BR" dirty="0"/>
        </a:p>
      </dgm:t>
    </dgm:pt>
    <dgm:pt modelId="{A2678D11-7E4C-47E8-848E-110E99310980}" type="parTrans" cxnId="{67C60D60-6550-4C36-BCFA-5834FBA644D2}">
      <dgm:prSet/>
      <dgm:spPr/>
      <dgm:t>
        <a:bodyPr/>
        <a:lstStyle/>
        <a:p>
          <a:endParaRPr lang="pt-BR"/>
        </a:p>
      </dgm:t>
    </dgm:pt>
    <dgm:pt modelId="{50A9D5B1-7B8E-4C03-9667-F7AFC66709E5}" type="sibTrans" cxnId="{67C60D60-6550-4C36-BCFA-5834FBA644D2}">
      <dgm:prSet/>
      <dgm:spPr/>
      <dgm:t>
        <a:bodyPr/>
        <a:lstStyle/>
        <a:p>
          <a:endParaRPr lang="pt-BR"/>
        </a:p>
      </dgm:t>
    </dgm:pt>
    <dgm:pt modelId="{693E90B3-2919-481C-A155-7897C4CFE98A}">
      <dgm:prSet/>
      <dgm:spPr/>
      <dgm:t>
        <a:bodyPr/>
        <a:lstStyle/>
        <a:p>
          <a:r>
            <a:rPr lang="pt-BR" dirty="0" smtClean="0"/>
            <a:t>Para industrialização ou Comercialização</a:t>
          </a:r>
          <a:endParaRPr lang="pt-BR" dirty="0"/>
        </a:p>
      </dgm:t>
    </dgm:pt>
    <dgm:pt modelId="{0D76E36A-CCE8-4D62-B3CC-C8C024EEE1E5}" type="parTrans" cxnId="{2D2FF6EF-52F9-487D-B095-5EF96DAEB7FE}">
      <dgm:prSet/>
      <dgm:spPr/>
      <dgm:t>
        <a:bodyPr/>
        <a:lstStyle/>
        <a:p>
          <a:endParaRPr lang="pt-BR"/>
        </a:p>
      </dgm:t>
    </dgm:pt>
    <dgm:pt modelId="{6A09CCF7-EFC7-4302-B411-B23E5503A86E}" type="sibTrans" cxnId="{2D2FF6EF-52F9-487D-B095-5EF96DAEB7FE}">
      <dgm:prSet/>
      <dgm:spPr/>
      <dgm:t>
        <a:bodyPr/>
        <a:lstStyle/>
        <a:p>
          <a:endParaRPr lang="pt-BR"/>
        </a:p>
      </dgm:t>
    </dgm:pt>
    <dgm:pt modelId="{DC22CC4F-84FF-4B4F-BE95-2A4A6C888353}" type="pres">
      <dgm:prSet presAssocID="{1EEAAEF9-E66E-415D-A4EB-63C7C89A567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8C2D2CE-BB96-469E-AF77-A30FA5E617E0}" type="pres">
      <dgm:prSet presAssocID="{3DED9555-CA6D-410A-8302-BA00BB5DCAC1}" presName="root1" presStyleCnt="0"/>
      <dgm:spPr/>
    </dgm:pt>
    <dgm:pt modelId="{C0C4E4E9-A144-4BBC-BF79-A7EB154405DA}" type="pres">
      <dgm:prSet presAssocID="{3DED9555-CA6D-410A-8302-BA00BB5DCAC1}" presName="LevelOneTextNode" presStyleLbl="node0" presStyleIdx="0" presStyleCnt="1" custScaleX="115023" custScaleY="13320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CC7C0BE5-1DA0-4213-9C64-7FEF7C21DBC9}" type="pres">
      <dgm:prSet presAssocID="{3DED9555-CA6D-410A-8302-BA00BB5DCAC1}" presName="level2hierChild" presStyleCnt="0"/>
      <dgm:spPr/>
    </dgm:pt>
    <dgm:pt modelId="{697A1029-EB45-459A-9DF0-2C88B8D56135}" type="pres">
      <dgm:prSet presAssocID="{781270D7-77AE-4351-9889-97B0A207FBA5}" presName="conn2-1" presStyleLbl="parChTrans1D2" presStyleIdx="0" presStyleCnt="2"/>
      <dgm:spPr/>
      <dgm:t>
        <a:bodyPr/>
        <a:lstStyle/>
        <a:p>
          <a:endParaRPr lang="pt-BR"/>
        </a:p>
      </dgm:t>
    </dgm:pt>
    <dgm:pt modelId="{AF770FD9-5643-488C-9316-072E53247B9F}" type="pres">
      <dgm:prSet presAssocID="{781270D7-77AE-4351-9889-97B0A207FBA5}" presName="connTx" presStyleLbl="parChTrans1D2" presStyleIdx="0" presStyleCnt="2"/>
      <dgm:spPr/>
      <dgm:t>
        <a:bodyPr/>
        <a:lstStyle/>
        <a:p>
          <a:endParaRPr lang="pt-BR"/>
        </a:p>
      </dgm:t>
    </dgm:pt>
    <dgm:pt modelId="{36554031-78E1-43CF-817A-2E928B41EEB6}" type="pres">
      <dgm:prSet presAssocID="{951FB6D7-CE89-4212-9646-83C11BFDA7B8}" presName="root2" presStyleCnt="0"/>
      <dgm:spPr/>
    </dgm:pt>
    <dgm:pt modelId="{AAEE8041-D978-4E04-810D-DD7BF7830B4B}" type="pres">
      <dgm:prSet presAssocID="{951FB6D7-CE89-4212-9646-83C11BFDA7B8}" presName="LevelTwoTextNode" presStyleLbl="node2" presStyleIdx="0" presStyleCnt="2" custScaleX="114676" custScaleY="136879" custLinFactNeighborX="-17573" custLinFactNeighborY="-323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9FD2EDD5-0EB3-4A81-9BBA-3AA2F485C067}" type="pres">
      <dgm:prSet presAssocID="{951FB6D7-CE89-4212-9646-83C11BFDA7B8}" presName="level3hierChild" presStyleCnt="0"/>
      <dgm:spPr/>
    </dgm:pt>
    <dgm:pt modelId="{185FD1FF-7049-496A-B44E-0E5CD50B6A91}" type="pres">
      <dgm:prSet presAssocID="{4A1C48C7-B0AE-4903-ABA9-1C220470D669}" presName="conn2-1" presStyleLbl="parChTrans1D3" presStyleIdx="0" presStyleCnt="3"/>
      <dgm:spPr/>
      <dgm:t>
        <a:bodyPr/>
        <a:lstStyle/>
        <a:p>
          <a:endParaRPr lang="pt-BR"/>
        </a:p>
      </dgm:t>
    </dgm:pt>
    <dgm:pt modelId="{6F41047F-42FF-47B7-8D85-BAFCBA39A7CB}" type="pres">
      <dgm:prSet presAssocID="{4A1C48C7-B0AE-4903-ABA9-1C220470D669}" presName="connTx" presStyleLbl="parChTrans1D3" presStyleIdx="0" presStyleCnt="3"/>
      <dgm:spPr/>
      <dgm:t>
        <a:bodyPr/>
        <a:lstStyle/>
        <a:p>
          <a:endParaRPr lang="pt-BR"/>
        </a:p>
      </dgm:t>
    </dgm:pt>
    <dgm:pt modelId="{C043E076-000D-405B-84A0-628A39E4E0CE}" type="pres">
      <dgm:prSet presAssocID="{7E2C2C5F-97E2-4A49-AAB3-B9E0AE557756}" presName="root2" presStyleCnt="0"/>
      <dgm:spPr/>
    </dgm:pt>
    <dgm:pt modelId="{8A3633CC-C101-47DD-B4A3-EF11897A6BEB}" type="pres">
      <dgm:prSet presAssocID="{7E2C2C5F-97E2-4A49-AAB3-B9E0AE557756}" presName="LevelTwoTextNode" presStyleLbl="node3" presStyleIdx="0" presStyleCnt="3" custScaleX="128842" custScaleY="128842" custLinFactNeighborX="-32563" custLinFactNeighborY="-3705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CF54FC3-8776-403E-B374-E5002BD095EC}" type="pres">
      <dgm:prSet presAssocID="{7E2C2C5F-97E2-4A49-AAB3-B9E0AE557756}" presName="level3hierChild" presStyleCnt="0"/>
      <dgm:spPr/>
    </dgm:pt>
    <dgm:pt modelId="{F949034A-FDB7-4102-9A04-570AB14229DD}" type="pres">
      <dgm:prSet presAssocID="{9F5E044A-5D3E-45DB-AA9E-E74230E75D27}" presName="conn2-1" presStyleLbl="parChTrans1D4" presStyleIdx="0" presStyleCnt="2"/>
      <dgm:spPr/>
      <dgm:t>
        <a:bodyPr/>
        <a:lstStyle/>
        <a:p>
          <a:endParaRPr lang="pt-BR"/>
        </a:p>
      </dgm:t>
    </dgm:pt>
    <dgm:pt modelId="{D031B169-063B-4B63-B734-0C89EFE9A707}" type="pres">
      <dgm:prSet presAssocID="{9F5E044A-5D3E-45DB-AA9E-E74230E75D27}" presName="connTx" presStyleLbl="parChTrans1D4" presStyleIdx="0" presStyleCnt="2"/>
      <dgm:spPr/>
      <dgm:t>
        <a:bodyPr/>
        <a:lstStyle/>
        <a:p>
          <a:endParaRPr lang="pt-BR"/>
        </a:p>
      </dgm:t>
    </dgm:pt>
    <dgm:pt modelId="{5F58CFB6-FA7E-4718-AB7D-FB8F1E68D7A8}" type="pres">
      <dgm:prSet presAssocID="{6A290DA8-8045-4CC6-84CD-27E5C7ADBC4D}" presName="root2" presStyleCnt="0"/>
      <dgm:spPr/>
    </dgm:pt>
    <dgm:pt modelId="{84FCBF57-2C1E-4D3B-9344-7699B6E0220D}" type="pres">
      <dgm:prSet presAssocID="{6A290DA8-8045-4CC6-84CD-27E5C7ADBC4D}" presName="LevelTwoTextNode" presStyleLbl="node4" presStyleIdx="0" presStyleCnt="2" custScaleX="115146" custScaleY="136884" custLinFactNeighborX="-5870" custLinFactNeighborY="-37052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6F3179B-7ED7-412C-9A39-C26A5FB1C2FF}" type="pres">
      <dgm:prSet presAssocID="{6A290DA8-8045-4CC6-84CD-27E5C7ADBC4D}" presName="level3hierChild" presStyleCnt="0"/>
      <dgm:spPr/>
    </dgm:pt>
    <dgm:pt modelId="{053FA25C-8702-4F58-B15A-09C2813883FA}" type="pres">
      <dgm:prSet presAssocID="{0D76E36A-CCE8-4D62-B3CC-C8C024EEE1E5}" presName="conn2-1" presStyleLbl="parChTrans1D3" presStyleIdx="1" presStyleCnt="3"/>
      <dgm:spPr/>
      <dgm:t>
        <a:bodyPr/>
        <a:lstStyle/>
        <a:p>
          <a:endParaRPr lang="pt-BR"/>
        </a:p>
      </dgm:t>
    </dgm:pt>
    <dgm:pt modelId="{C46F5BEB-7B3A-405F-B7C2-89C05738C991}" type="pres">
      <dgm:prSet presAssocID="{0D76E36A-CCE8-4D62-B3CC-C8C024EEE1E5}" presName="connTx" presStyleLbl="parChTrans1D3" presStyleIdx="1" presStyleCnt="3"/>
      <dgm:spPr/>
      <dgm:t>
        <a:bodyPr/>
        <a:lstStyle/>
        <a:p>
          <a:endParaRPr lang="pt-BR"/>
        </a:p>
      </dgm:t>
    </dgm:pt>
    <dgm:pt modelId="{F8E3951B-6E8C-4159-8562-375C5C341BB4}" type="pres">
      <dgm:prSet presAssocID="{693E90B3-2919-481C-A155-7897C4CFE98A}" presName="root2" presStyleCnt="0"/>
      <dgm:spPr/>
    </dgm:pt>
    <dgm:pt modelId="{FEC49178-4350-4831-8541-F6AA2C4140AD}" type="pres">
      <dgm:prSet presAssocID="{693E90B3-2919-481C-A155-7897C4CFE98A}" presName="LevelTwoTextNode" presStyleLbl="node3" presStyleIdx="1" presStyleCnt="3" custScaleX="131159" custScaleY="142600" custLinFactNeighborX="-32563" custLinFactNeighborY="160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5A16A4D9-AFE1-4FCB-B807-13264047EE73}" type="pres">
      <dgm:prSet presAssocID="{693E90B3-2919-481C-A155-7897C4CFE98A}" presName="level3hierChild" presStyleCnt="0"/>
      <dgm:spPr/>
    </dgm:pt>
    <dgm:pt modelId="{D88571E2-903B-492C-B398-C2EA252C1943}" type="pres">
      <dgm:prSet presAssocID="{A2678D11-7E4C-47E8-848E-110E99310980}" presName="conn2-1" presStyleLbl="parChTrans1D4" presStyleIdx="1" presStyleCnt="2"/>
      <dgm:spPr/>
      <dgm:t>
        <a:bodyPr/>
        <a:lstStyle/>
        <a:p>
          <a:endParaRPr lang="pt-BR"/>
        </a:p>
      </dgm:t>
    </dgm:pt>
    <dgm:pt modelId="{5BF9F3F4-EECE-42B8-8434-0F172F0CD3DC}" type="pres">
      <dgm:prSet presAssocID="{A2678D11-7E4C-47E8-848E-110E99310980}" presName="connTx" presStyleLbl="parChTrans1D4" presStyleIdx="1" presStyleCnt="2"/>
      <dgm:spPr/>
      <dgm:t>
        <a:bodyPr/>
        <a:lstStyle/>
        <a:p>
          <a:endParaRPr lang="pt-BR"/>
        </a:p>
      </dgm:t>
    </dgm:pt>
    <dgm:pt modelId="{70E54165-332A-46EF-88C4-793E118CB9BA}" type="pres">
      <dgm:prSet presAssocID="{23C7BCA7-E283-462D-A0C0-E018F7405E15}" presName="root2" presStyleCnt="0"/>
      <dgm:spPr/>
    </dgm:pt>
    <dgm:pt modelId="{D8CAE137-AEFA-47C0-9142-EA85ECEF58CA}" type="pres">
      <dgm:prSet presAssocID="{23C7BCA7-E283-462D-A0C0-E018F7405E15}" presName="LevelTwoTextNode" presStyleLbl="node4" presStyleIdx="1" presStyleCnt="2" custScaleX="115287" custScaleY="138141" custLinFactNeighborX="-5870" custLinFactNeighborY="1959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14A928AD-8668-43C9-A30C-4617263929E0}" type="pres">
      <dgm:prSet presAssocID="{23C7BCA7-E283-462D-A0C0-E018F7405E15}" presName="level3hierChild" presStyleCnt="0"/>
      <dgm:spPr/>
    </dgm:pt>
    <dgm:pt modelId="{44AC5E3C-E60F-410C-901F-89A90194580B}" type="pres">
      <dgm:prSet presAssocID="{411FF429-E600-4C27-BBDC-4614D7009189}" presName="conn2-1" presStyleLbl="parChTrans1D2" presStyleIdx="1" presStyleCnt="2"/>
      <dgm:spPr/>
      <dgm:t>
        <a:bodyPr/>
        <a:lstStyle/>
        <a:p>
          <a:endParaRPr lang="pt-BR"/>
        </a:p>
      </dgm:t>
    </dgm:pt>
    <dgm:pt modelId="{44C58C4D-6CC9-4905-9AB6-8C6E4563D0BD}" type="pres">
      <dgm:prSet presAssocID="{411FF429-E600-4C27-BBDC-4614D7009189}" presName="connTx" presStyleLbl="parChTrans1D2" presStyleIdx="1" presStyleCnt="2"/>
      <dgm:spPr/>
      <dgm:t>
        <a:bodyPr/>
        <a:lstStyle/>
        <a:p>
          <a:endParaRPr lang="pt-BR"/>
        </a:p>
      </dgm:t>
    </dgm:pt>
    <dgm:pt modelId="{D14BF737-0221-486E-98B2-26872715D013}" type="pres">
      <dgm:prSet presAssocID="{40EDE1F0-9DB7-4FFA-A031-8A1B8ED26076}" presName="root2" presStyleCnt="0"/>
      <dgm:spPr/>
    </dgm:pt>
    <dgm:pt modelId="{A3FB66F1-7E70-48F5-BA8E-ABE481685516}" type="pres">
      <dgm:prSet presAssocID="{40EDE1F0-9DB7-4FFA-A031-8A1B8ED26076}" presName="LevelTwoTextNode" presStyleLbl="node2" presStyleIdx="1" presStyleCnt="2" custScaleX="121512" custScaleY="118015" custLinFactNeighborX="-15993" custLinFactNeighborY="22476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F2477341-7836-4CE4-AF0C-A4A54D45FE0D}" type="pres">
      <dgm:prSet presAssocID="{40EDE1F0-9DB7-4FFA-A031-8A1B8ED26076}" presName="level3hierChild" presStyleCnt="0"/>
      <dgm:spPr/>
    </dgm:pt>
    <dgm:pt modelId="{5A9873F7-1B7B-453C-8C5D-4AECE003DE93}" type="pres">
      <dgm:prSet presAssocID="{D2EDE311-109A-4EC2-9520-0AB535AE5CC9}" presName="conn2-1" presStyleLbl="parChTrans1D3" presStyleIdx="2" presStyleCnt="3"/>
      <dgm:spPr/>
      <dgm:t>
        <a:bodyPr/>
        <a:lstStyle/>
        <a:p>
          <a:endParaRPr lang="pt-BR"/>
        </a:p>
      </dgm:t>
    </dgm:pt>
    <dgm:pt modelId="{987834E6-8169-4662-91BF-08EBBFA02EF9}" type="pres">
      <dgm:prSet presAssocID="{D2EDE311-109A-4EC2-9520-0AB535AE5CC9}" presName="connTx" presStyleLbl="parChTrans1D3" presStyleIdx="2" presStyleCnt="3"/>
      <dgm:spPr/>
      <dgm:t>
        <a:bodyPr/>
        <a:lstStyle/>
        <a:p>
          <a:endParaRPr lang="pt-BR"/>
        </a:p>
      </dgm:t>
    </dgm:pt>
    <dgm:pt modelId="{2E821A60-E08F-45C1-A21A-EFE5BC02C1A0}" type="pres">
      <dgm:prSet presAssocID="{14BCDA04-0436-4F81-B344-EE81310BA207}" presName="root2" presStyleCnt="0"/>
      <dgm:spPr/>
    </dgm:pt>
    <dgm:pt modelId="{0CF13AE2-E376-49DB-B087-A048AE36B563}" type="pres">
      <dgm:prSet presAssocID="{14BCDA04-0436-4F81-B344-EE81310BA207}" presName="LevelTwoTextNode" presStyleLbl="node3" presStyleIdx="2" presStyleCnt="3" custScaleX="111090" custScaleY="115126" custLinFactX="60418" custLinFactNeighborX="100000" custLinFactNeighborY="28010">
        <dgm:presLayoutVars>
          <dgm:chPref val="3"/>
        </dgm:presLayoutVars>
      </dgm:prSet>
      <dgm:spPr/>
      <dgm:t>
        <a:bodyPr/>
        <a:lstStyle/>
        <a:p>
          <a:endParaRPr lang="pt-BR"/>
        </a:p>
      </dgm:t>
    </dgm:pt>
    <dgm:pt modelId="{4D3846F2-3561-4F67-A3ED-F6C47644217E}" type="pres">
      <dgm:prSet presAssocID="{14BCDA04-0436-4F81-B344-EE81310BA207}" presName="level3hierChild" presStyleCnt="0"/>
      <dgm:spPr/>
    </dgm:pt>
  </dgm:ptLst>
  <dgm:cxnLst>
    <dgm:cxn modelId="{F8EFBB33-B633-4802-A187-C671B09678C7}" srcId="{1EEAAEF9-E66E-415D-A4EB-63C7C89A5674}" destId="{3DED9555-CA6D-410A-8302-BA00BB5DCAC1}" srcOrd="0" destOrd="0" parTransId="{24C43DE7-CCD6-48D2-BB49-006BEB16C459}" sibTransId="{EE7403EE-76A1-4328-BB5F-45A7DFC89F83}"/>
    <dgm:cxn modelId="{0FBBEDD3-01D5-41C3-8651-D636907AFF79}" type="presOf" srcId="{6A290DA8-8045-4CC6-84CD-27E5C7ADBC4D}" destId="{84FCBF57-2C1E-4D3B-9344-7699B6E0220D}" srcOrd="0" destOrd="0" presId="urn:microsoft.com/office/officeart/2005/8/layout/hierarchy2"/>
    <dgm:cxn modelId="{8837A7C6-9C12-4CAF-B730-8B97A17CB9A3}" type="presOf" srcId="{A2678D11-7E4C-47E8-848E-110E99310980}" destId="{D88571E2-903B-492C-B398-C2EA252C1943}" srcOrd="0" destOrd="0" presId="urn:microsoft.com/office/officeart/2005/8/layout/hierarchy2"/>
    <dgm:cxn modelId="{C03B9278-BF5A-442B-85B5-9645777D4FD8}" type="presOf" srcId="{9F5E044A-5D3E-45DB-AA9E-E74230E75D27}" destId="{D031B169-063B-4B63-B734-0C89EFE9A707}" srcOrd="1" destOrd="0" presId="urn:microsoft.com/office/officeart/2005/8/layout/hierarchy2"/>
    <dgm:cxn modelId="{534B7F44-40AF-49C9-B019-CC425D41E463}" type="presOf" srcId="{1EEAAEF9-E66E-415D-A4EB-63C7C89A5674}" destId="{DC22CC4F-84FF-4B4F-BE95-2A4A6C888353}" srcOrd="0" destOrd="0" presId="urn:microsoft.com/office/officeart/2005/8/layout/hierarchy2"/>
    <dgm:cxn modelId="{AF08E953-15A2-42BC-B0B4-B966F2DCF4E5}" srcId="{40EDE1F0-9DB7-4FFA-A031-8A1B8ED26076}" destId="{14BCDA04-0436-4F81-B344-EE81310BA207}" srcOrd="0" destOrd="0" parTransId="{D2EDE311-109A-4EC2-9520-0AB535AE5CC9}" sibTransId="{29BF1770-E4F4-4BF2-AFC9-001AD12B8D12}"/>
    <dgm:cxn modelId="{338A9CC2-62C6-4954-81BA-574E46BDD111}" type="presOf" srcId="{D2EDE311-109A-4EC2-9520-0AB535AE5CC9}" destId="{987834E6-8169-4662-91BF-08EBBFA02EF9}" srcOrd="1" destOrd="0" presId="urn:microsoft.com/office/officeart/2005/8/layout/hierarchy2"/>
    <dgm:cxn modelId="{2D2FF6EF-52F9-487D-B095-5EF96DAEB7FE}" srcId="{951FB6D7-CE89-4212-9646-83C11BFDA7B8}" destId="{693E90B3-2919-481C-A155-7897C4CFE98A}" srcOrd="1" destOrd="0" parTransId="{0D76E36A-CCE8-4D62-B3CC-C8C024EEE1E5}" sibTransId="{6A09CCF7-EFC7-4302-B411-B23E5503A86E}"/>
    <dgm:cxn modelId="{0B49EA20-2774-441B-B681-185EC696200E}" type="presOf" srcId="{411FF429-E600-4C27-BBDC-4614D7009189}" destId="{44AC5E3C-E60F-410C-901F-89A90194580B}" srcOrd="0" destOrd="0" presId="urn:microsoft.com/office/officeart/2005/8/layout/hierarchy2"/>
    <dgm:cxn modelId="{652F70C5-A3F2-4910-B826-7C9678F6BBDE}" type="presOf" srcId="{781270D7-77AE-4351-9889-97B0A207FBA5}" destId="{AF770FD9-5643-488C-9316-072E53247B9F}" srcOrd="1" destOrd="0" presId="urn:microsoft.com/office/officeart/2005/8/layout/hierarchy2"/>
    <dgm:cxn modelId="{91061674-697D-4EB4-B9BA-8B78F00C5E71}" type="presOf" srcId="{14BCDA04-0436-4F81-B344-EE81310BA207}" destId="{0CF13AE2-E376-49DB-B087-A048AE36B563}" srcOrd="0" destOrd="0" presId="urn:microsoft.com/office/officeart/2005/8/layout/hierarchy2"/>
    <dgm:cxn modelId="{A9656F15-2E65-4FEE-94D5-E73E8302CB9C}" type="presOf" srcId="{781270D7-77AE-4351-9889-97B0A207FBA5}" destId="{697A1029-EB45-459A-9DF0-2C88B8D56135}" srcOrd="0" destOrd="0" presId="urn:microsoft.com/office/officeart/2005/8/layout/hierarchy2"/>
    <dgm:cxn modelId="{02BE70F2-A0E5-4F95-81E6-96632C7EA7A1}" type="presOf" srcId="{4A1C48C7-B0AE-4903-ABA9-1C220470D669}" destId="{6F41047F-42FF-47B7-8D85-BAFCBA39A7CB}" srcOrd="1" destOrd="0" presId="urn:microsoft.com/office/officeart/2005/8/layout/hierarchy2"/>
    <dgm:cxn modelId="{C2F10A42-7CE3-4B30-9364-CA247D51E885}" type="presOf" srcId="{9F5E044A-5D3E-45DB-AA9E-E74230E75D27}" destId="{F949034A-FDB7-4102-9A04-570AB14229DD}" srcOrd="0" destOrd="0" presId="urn:microsoft.com/office/officeart/2005/8/layout/hierarchy2"/>
    <dgm:cxn modelId="{292C31DC-7E57-4B68-AB1E-F42A53CDA29A}" type="presOf" srcId="{3DED9555-CA6D-410A-8302-BA00BB5DCAC1}" destId="{C0C4E4E9-A144-4BBC-BF79-A7EB154405DA}" srcOrd="0" destOrd="0" presId="urn:microsoft.com/office/officeart/2005/8/layout/hierarchy2"/>
    <dgm:cxn modelId="{67C60D60-6550-4C36-BCFA-5834FBA644D2}" srcId="{693E90B3-2919-481C-A155-7897C4CFE98A}" destId="{23C7BCA7-E283-462D-A0C0-E018F7405E15}" srcOrd="0" destOrd="0" parTransId="{A2678D11-7E4C-47E8-848E-110E99310980}" sibTransId="{50A9D5B1-7B8E-4C03-9667-F7AFC66709E5}"/>
    <dgm:cxn modelId="{6F882161-05BE-40B3-9574-9AEBCB255868}" type="presOf" srcId="{D2EDE311-109A-4EC2-9520-0AB535AE5CC9}" destId="{5A9873F7-1B7B-453C-8C5D-4AECE003DE93}" srcOrd="0" destOrd="0" presId="urn:microsoft.com/office/officeart/2005/8/layout/hierarchy2"/>
    <dgm:cxn modelId="{14FA0F02-8487-4BD2-8466-D1E84C256AF0}" type="presOf" srcId="{951FB6D7-CE89-4212-9646-83C11BFDA7B8}" destId="{AAEE8041-D978-4E04-810D-DD7BF7830B4B}" srcOrd="0" destOrd="0" presId="urn:microsoft.com/office/officeart/2005/8/layout/hierarchy2"/>
    <dgm:cxn modelId="{6F955B5B-4B75-4E61-8D8B-A98B6BB36190}" srcId="{3DED9555-CA6D-410A-8302-BA00BB5DCAC1}" destId="{951FB6D7-CE89-4212-9646-83C11BFDA7B8}" srcOrd="0" destOrd="0" parTransId="{781270D7-77AE-4351-9889-97B0A207FBA5}" sibTransId="{8FBC0A73-C475-4D1B-AA81-E7B35E47438B}"/>
    <dgm:cxn modelId="{A2A2E319-6993-4D7C-A3B9-E813CA92F736}" srcId="{3DED9555-CA6D-410A-8302-BA00BB5DCAC1}" destId="{40EDE1F0-9DB7-4FFA-A031-8A1B8ED26076}" srcOrd="1" destOrd="0" parTransId="{411FF429-E600-4C27-BBDC-4614D7009189}" sibTransId="{4E3C64CC-E919-4047-B888-5E213EB04676}"/>
    <dgm:cxn modelId="{A1DA1F28-0ECC-448A-B053-BEBB4A5700C7}" srcId="{7E2C2C5F-97E2-4A49-AAB3-B9E0AE557756}" destId="{6A290DA8-8045-4CC6-84CD-27E5C7ADBC4D}" srcOrd="0" destOrd="0" parTransId="{9F5E044A-5D3E-45DB-AA9E-E74230E75D27}" sibTransId="{6C9C2215-E4F4-40A0-B554-E5CCB57E06B7}"/>
    <dgm:cxn modelId="{86412824-6146-4AB2-9661-E912AE8461DF}" type="presOf" srcId="{40EDE1F0-9DB7-4FFA-A031-8A1B8ED26076}" destId="{A3FB66F1-7E70-48F5-BA8E-ABE481685516}" srcOrd="0" destOrd="0" presId="urn:microsoft.com/office/officeart/2005/8/layout/hierarchy2"/>
    <dgm:cxn modelId="{AB688B8E-8A3F-47C5-8B72-74DBDFA3F206}" type="presOf" srcId="{A2678D11-7E4C-47E8-848E-110E99310980}" destId="{5BF9F3F4-EECE-42B8-8434-0F172F0CD3DC}" srcOrd="1" destOrd="0" presId="urn:microsoft.com/office/officeart/2005/8/layout/hierarchy2"/>
    <dgm:cxn modelId="{8F86447F-C125-4AD4-8077-D66923AFA0E9}" type="presOf" srcId="{23C7BCA7-E283-462D-A0C0-E018F7405E15}" destId="{D8CAE137-AEFA-47C0-9142-EA85ECEF58CA}" srcOrd="0" destOrd="0" presId="urn:microsoft.com/office/officeart/2005/8/layout/hierarchy2"/>
    <dgm:cxn modelId="{8DA0BF0D-A9EE-4A65-86AF-236AFE7C8562}" type="presOf" srcId="{0D76E36A-CCE8-4D62-B3CC-C8C024EEE1E5}" destId="{053FA25C-8702-4F58-B15A-09C2813883FA}" srcOrd="0" destOrd="0" presId="urn:microsoft.com/office/officeart/2005/8/layout/hierarchy2"/>
    <dgm:cxn modelId="{45543638-70C8-4B36-901B-A8F0E45A4470}" type="presOf" srcId="{0D76E36A-CCE8-4D62-B3CC-C8C024EEE1E5}" destId="{C46F5BEB-7B3A-405F-B7C2-89C05738C991}" srcOrd="1" destOrd="0" presId="urn:microsoft.com/office/officeart/2005/8/layout/hierarchy2"/>
    <dgm:cxn modelId="{DEBF545A-D19D-438A-AE75-3FE901F22985}" srcId="{951FB6D7-CE89-4212-9646-83C11BFDA7B8}" destId="{7E2C2C5F-97E2-4A49-AAB3-B9E0AE557756}" srcOrd="0" destOrd="0" parTransId="{4A1C48C7-B0AE-4903-ABA9-1C220470D669}" sibTransId="{FE263668-81E1-4370-BB7A-2AFDEF844F71}"/>
    <dgm:cxn modelId="{91C6A663-2F0B-40FD-896D-2AAB74E56153}" type="presOf" srcId="{411FF429-E600-4C27-BBDC-4614D7009189}" destId="{44C58C4D-6CC9-4905-9AB6-8C6E4563D0BD}" srcOrd="1" destOrd="0" presId="urn:microsoft.com/office/officeart/2005/8/layout/hierarchy2"/>
    <dgm:cxn modelId="{3C44D03F-60C4-4759-9D79-1E02BFF23044}" type="presOf" srcId="{7E2C2C5F-97E2-4A49-AAB3-B9E0AE557756}" destId="{8A3633CC-C101-47DD-B4A3-EF11897A6BEB}" srcOrd="0" destOrd="0" presId="urn:microsoft.com/office/officeart/2005/8/layout/hierarchy2"/>
    <dgm:cxn modelId="{27C9F937-368B-4DD4-9D6A-208D1B7AFD4B}" type="presOf" srcId="{4A1C48C7-B0AE-4903-ABA9-1C220470D669}" destId="{185FD1FF-7049-496A-B44E-0E5CD50B6A91}" srcOrd="0" destOrd="0" presId="urn:microsoft.com/office/officeart/2005/8/layout/hierarchy2"/>
    <dgm:cxn modelId="{3BCF6D8F-BFA7-43AD-A0B5-6426EC66998D}" type="presOf" srcId="{693E90B3-2919-481C-A155-7897C4CFE98A}" destId="{FEC49178-4350-4831-8541-F6AA2C4140AD}" srcOrd="0" destOrd="0" presId="urn:microsoft.com/office/officeart/2005/8/layout/hierarchy2"/>
    <dgm:cxn modelId="{EFF220C6-E981-41CF-B1E1-1F9DB499FA99}" type="presParOf" srcId="{DC22CC4F-84FF-4B4F-BE95-2A4A6C888353}" destId="{88C2D2CE-BB96-469E-AF77-A30FA5E617E0}" srcOrd="0" destOrd="0" presId="urn:microsoft.com/office/officeart/2005/8/layout/hierarchy2"/>
    <dgm:cxn modelId="{06A78277-64D8-44EA-AF46-882DC4DAEED2}" type="presParOf" srcId="{88C2D2CE-BB96-469E-AF77-A30FA5E617E0}" destId="{C0C4E4E9-A144-4BBC-BF79-A7EB154405DA}" srcOrd="0" destOrd="0" presId="urn:microsoft.com/office/officeart/2005/8/layout/hierarchy2"/>
    <dgm:cxn modelId="{085B2FB9-FA71-4898-B05A-3611CD678808}" type="presParOf" srcId="{88C2D2CE-BB96-469E-AF77-A30FA5E617E0}" destId="{CC7C0BE5-1DA0-4213-9C64-7FEF7C21DBC9}" srcOrd="1" destOrd="0" presId="urn:microsoft.com/office/officeart/2005/8/layout/hierarchy2"/>
    <dgm:cxn modelId="{BCACD0AD-F71E-4E70-863D-8278F4BAC107}" type="presParOf" srcId="{CC7C0BE5-1DA0-4213-9C64-7FEF7C21DBC9}" destId="{697A1029-EB45-459A-9DF0-2C88B8D56135}" srcOrd="0" destOrd="0" presId="urn:microsoft.com/office/officeart/2005/8/layout/hierarchy2"/>
    <dgm:cxn modelId="{D7F6864C-F455-49A8-B50C-09D5BB70ED3C}" type="presParOf" srcId="{697A1029-EB45-459A-9DF0-2C88B8D56135}" destId="{AF770FD9-5643-488C-9316-072E53247B9F}" srcOrd="0" destOrd="0" presId="urn:microsoft.com/office/officeart/2005/8/layout/hierarchy2"/>
    <dgm:cxn modelId="{08556072-7690-46D2-9364-CF5210923F0E}" type="presParOf" srcId="{CC7C0BE5-1DA0-4213-9C64-7FEF7C21DBC9}" destId="{36554031-78E1-43CF-817A-2E928B41EEB6}" srcOrd="1" destOrd="0" presId="urn:microsoft.com/office/officeart/2005/8/layout/hierarchy2"/>
    <dgm:cxn modelId="{70A44268-9D45-425D-A2AF-E4AE9A0C6C1D}" type="presParOf" srcId="{36554031-78E1-43CF-817A-2E928B41EEB6}" destId="{AAEE8041-D978-4E04-810D-DD7BF7830B4B}" srcOrd="0" destOrd="0" presId="urn:microsoft.com/office/officeart/2005/8/layout/hierarchy2"/>
    <dgm:cxn modelId="{750D8623-7973-4B46-B315-FA5590A98D6B}" type="presParOf" srcId="{36554031-78E1-43CF-817A-2E928B41EEB6}" destId="{9FD2EDD5-0EB3-4A81-9BBA-3AA2F485C067}" srcOrd="1" destOrd="0" presId="urn:microsoft.com/office/officeart/2005/8/layout/hierarchy2"/>
    <dgm:cxn modelId="{C2FF3FA7-43C1-4E53-977B-29B2E820C279}" type="presParOf" srcId="{9FD2EDD5-0EB3-4A81-9BBA-3AA2F485C067}" destId="{185FD1FF-7049-496A-B44E-0E5CD50B6A91}" srcOrd="0" destOrd="0" presId="urn:microsoft.com/office/officeart/2005/8/layout/hierarchy2"/>
    <dgm:cxn modelId="{468293A1-518C-421D-BA5A-2CDB5AE79FE7}" type="presParOf" srcId="{185FD1FF-7049-496A-B44E-0E5CD50B6A91}" destId="{6F41047F-42FF-47B7-8D85-BAFCBA39A7CB}" srcOrd="0" destOrd="0" presId="urn:microsoft.com/office/officeart/2005/8/layout/hierarchy2"/>
    <dgm:cxn modelId="{FD3BBAE3-5284-4092-B5C3-5DC6FFEA7215}" type="presParOf" srcId="{9FD2EDD5-0EB3-4A81-9BBA-3AA2F485C067}" destId="{C043E076-000D-405B-84A0-628A39E4E0CE}" srcOrd="1" destOrd="0" presId="urn:microsoft.com/office/officeart/2005/8/layout/hierarchy2"/>
    <dgm:cxn modelId="{8215148A-DE31-4326-948F-10A19DF77CBF}" type="presParOf" srcId="{C043E076-000D-405B-84A0-628A39E4E0CE}" destId="{8A3633CC-C101-47DD-B4A3-EF11897A6BEB}" srcOrd="0" destOrd="0" presId="urn:microsoft.com/office/officeart/2005/8/layout/hierarchy2"/>
    <dgm:cxn modelId="{D6A287C8-1597-4354-B2B5-787ADF4AC4D1}" type="presParOf" srcId="{C043E076-000D-405B-84A0-628A39E4E0CE}" destId="{FCF54FC3-8776-403E-B374-E5002BD095EC}" srcOrd="1" destOrd="0" presId="urn:microsoft.com/office/officeart/2005/8/layout/hierarchy2"/>
    <dgm:cxn modelId="{431B5449-1178-440F-B5A5-6FA213BA372C}" type="presParOf" srcId="{FCF54FC3-8776-403E-B374-E5002BD095EC}" destId="{F949034A-FDB7-4102-9A04-570AB14229DD}" srcOrd="0" destOrd="0" presId="urn:microsoft.com/office/officeart/2005/8/layout/hierarchy2"/>
    <dgm:cxn modelId="{46A4E6F8-5118-4CE2-A237-7F1F9880489B}" type="presParOf" srcId="{F949034A-FDB7-4102-9A04-570AB14229DD}" destId="{D031B169-063B-4B63-B734-0C89EFE9A707}" srcOrd="0" destOrd="0" presId="urn:microsoft.com/office/officeart/2005/8/layout/hierarchy2"/>
    <dgm:cxn modelId="{33997A53-1108-48D5-8C6C-428052C85E4B}" type="presParOf" srcId="{FCF54FC3-8776-403E-B374-E5002BD095EC}" destId="{5F58CFB6-FA7E-4718-AB7D-FB8F1E68D7A8}" srcOrd="1" destOrd="0" presId="urn:microsoft.com/office/officeart/2005/8/layout/hierarchy2"/>
    <dgm:cxn modelId="{F20227CA-9F5D-4E39-AB8A-27EA189F08B7}" type="presParOf" srcId="{5F58CFB6-FA7E-4718-AB7D-FB8F1E68D7A8}" destId="{84FCBF57-2C1E-4D3B-9344-7699B6E0220D}" srcOrd="0" destOrd="0" presId="urn:microsoft.com/office/officeart/2005/8/layout/hierarchy2"/>
    <dgm:cxn modelId="{D19B4423-B843-4430-8372-0D1182D57A31}" type="presParOf" srcId="{5F58CFB6-FA7E-4718-AB7D-FB8F1E68D7A8}" destId="{56F3179B-7ED7-412C-9A39-C26A5FB1C2FF}" srcOrd="1" destOrd="0" presId="urn:microsoft.com/office/officeart/2005/8/layout/hierarchy2"/>
    <dgm:cxn modelId="{42270780-C01A-4ED3-B9D6-9F39A9B39CD1}" type="presParOf" srcId="{9FD2EDD5-0EB3-4A81-9BBA-3AA2F485C067}" destId="{053FA25C-8702-4F58-B15A-09C2813883FA}" srcOrd="2" destOrd="0" presId="urn:microsoft.com/office/officeart/2005/8/layout/hierarchy2"/>
    <dgm:cxn modelId="{69DDF60A-4B44-4B87-9301-BEAB3EE36D6D}" type="presParOf" srcId="{053FA25C-8702-4F58-B15A-09C2813883FA}" destId="{C46F5BEB-7B3A-405F-B7C2-89C05738C991}" srcOrd="0" destOrd="0" presId="urn:microsoft.com/office/officeart/2005/8/layout/hierarchy2"/>
    <dgm:cxn modelId="{88A1A366-146F-49ED-8655-728724DA3C44}" type="presParOf" srcId="{9FD2EDD5-0EB3-4A81-9BBA-3AA2F485C067}" destId="{F8E3951B-6E8C-4159-8562-375C5C341BB4}" srcOrd="3" destOrd="0" presId="urn:microsoft.com/office/officeart/2005/8/layout/hierarchy2"/>
    <dgm:cxn modelId="{49E3B7FD-E81C-4E2C-ACE3-65274A41ED74}" type="presParOf" srcId="{F8E3951B-6E8C-4159-8562-375C5C341BB4}" destId="{FEC49178-4350-4831-8541-F6AA2C4140AD}" srcOrd="0" destOrd="0" presId="urn:microsoft.com/office/officeart/2005/8/layout/hierarchy2"/>
    <dgm:cxn modelId="{5558C89D-17FE-4BF5-932F-D1F05FBA3251}" type="presParOf" srcId="{F8E3951B-6E8C-4159-8562-375C5C341BB4}" destId="{5A16A4D9-AFE1-4FCB-B807-13264047EE73}" srcOrd="1" destOrd="0" presId="urn:microsoft.com/office/officeart/2005/8/layout/hierarchy2"/>
    <dgm:cxn modelId="{8AA4DEC8-2C98-4D5D-8462-3D4957205ACC}" type="presParOf" srcId="{5A16A4D9-AFE1-4FCB-B807-13264047EE73}" destId="{D88571E2-903B-492C-B398-C2EA252C1943}" srcOrd="0" destOrd="0" presId="urn:microsoft.com/office/officeart/2005/8/layout/hierarchy2"/>
    <dgm:cxn modelId="{9EDBF42D-FCF4-4A04-8560-633550FDF2A9}" type="presParOf" srcId="{D88571E2-903B-492C-B398-C2EA252C1943}" destId="{5BF9F3F4-EECE-42B8-8434-0F172F0CD3DC}" srcOrd="0" destOrd="0" presId="urn:microsoft.com/office/officeart/2005/8/layout/hierarchy2"/>
    <dgm:cxn modelId="{E057E527-79B4-49AB-88E9-B84A94CEFDB1}" type="presParOf" srcId="{5A16A4D9-AFE1-4FCB-B807-13264047EE73}" destId="{70E54165-332A-46EF-88C4-793E118CB9BA}" srcOrd="1" destOrd="0" presId="urn:microsoft.com/office/officeart/2005/8/layout/hierarchy2"/>
    <dgm:cxn modelId="{143CC243-11F8-45D1-A3F8-D62C7F9FF89B}" type="presParOf" srcId="{70E54165-332A-46EF-88C4-793E118CB9BA}" destId="{D8CAE137-AEFA-47C0-9142-EA85ECEF58CA}" srcOrd="0" destOrd="0" presId="urn:microsoft.com/office/officeart/2005/8/layout/hierarchy2"/>
    <dgm:cxn modelId="{21A6F8FD-339C-4F75-8BEB-CDA1DD818D4C}" type="presParOf" srcId="{70E54165-332A-46EF-88C4-793E118CB9BA}" destId="{14A928AD-8668-43C9-A30C-4617263929E0}" srcOrd="1" destOrd="0" presId="urn:microsoft.com/office/officeart/2005/8/layout/hierarchy2"/>
    <dgm:cxn modelId="{9B1AC3A9-D220-4AAF-9649-1962831E69D1}" type="presParOf" srcId="{CC7C0BE5-1DA0-4213-9C64-7FEF7C21DBC9}" destId="{44AC5E3C-E60F-410C-901F-89A90194580B}" srcOrd="2" destOrd="0" presId="urn:microsoft.com/office/officeart/2005/8/layout/hierarchy2"/>
    <dgm:cxn modelId="{1B9D33D8-4462-4DB5-9656-23F17EF4F6B3}" type="presParOf" srcId="{44AC5E3C-E60F-410C-901F-89A90194580B}" destId="{44C58C4D-6CC9-4905-9AB6-8C6E4563D0BD}" srcOrd="0" destOrd="0" presId="urn:microsoft.com/office/officeart/2005/8/layout/hierarchy2"/>
    <dgm:cxn modelId="{63C66477-8CF5-40AF-98F8-1FB1C2943783}" type="presParOf" srcId="{CC7C0BE5-1DA0-4213-9C64-7FEF7C21DBC9}" destId="{D14BF737-0221-486E-98B2-26872715D013}" srcOrd="3" destOrd="0" presId="urn:microsoft.com/office/officeart/2005/8/layout/hierarchy2"/>
    <dgm:cxn modelId="{FC9BCDEC-3E05-40FA-829A-61C7A398AB45}" type="presParOf" srcId="{D14BF737-0221-486E-98B2-26872715D013}" destId="{A3FB66F1-7E70-48F5-BA8E-ABE481685516}" srcOrd="0" destOrd="0" presId="urn:microsoft.com/office/officeart/2005/8/layout/hierarchy2"/>
    <dgm:cxn modelId="{BA5D81EE-92C9-4456-AE5D-6DAD200D0A25}" type="presParOf" srcId="{D14BF737-0221-486E-98B2-26872715D013}" destId="{F2477341-7836-4CE4-AF0C-A4A54D45FE0D}" srcOrd="1" destOrd="0" presId="urn:microsoft.com/office/officeart/2005/8/layout/hierarchy2"/>
    <dgm:cxn modelId="{12730845-71AC-4D5F-93C3-87F9B946F848}" type="presParOf" srcId="{F2477341-7836-4CE4-AF0C-A4A54D45FE0D}" destId="{5A9873F7-1B7B-453C-8C5D-4AECE003DE93}" srcOrd="0" destOrd="0" presId="urn:microsoft.com/office/officeart/2005/8/layout/hierarchy2"/>
    <dgm:cxn modelId="{329358DF-DE7B-4656-B7F0-ACF73B003437}" type="presParOf" srcId="{5A9873F7-1B7B-453C-8C5D-4AECE003DE93}" destId="{987834E6-8169-4662-91BF-08EBBFA02EF9}" srcOrd="0" destOrd="0" presId="urn:microsoft.com/office/officeart/2005/8/layout/hierarchy2"/>
    <dgm:cxn modelId="{5D699278-1E4A-4CC5-AA89-8694F4BBB705}" type="presParOf" srcId="{F2477341-7836-4CE4-AF0C-A4A54D45FE0D}" destId="{2E821A60-E08F-45C1-A21A-EFE5BC02C1A0}" srcOrd="1" destOrd="0" presId="urn:microsoft.com/office/officeart/2005/8/layout/hierarchy2"/>
    <dgm:cxn modelId="{A646172C-018A-4013-B4A4-321A898242EF}" type="presParOf" srcId="{2E821A60-E08F-45C1-A21A-EFE5BC02C1A0}" destId="{0CF13AE2-E376-49DB-B087-A048AE36B563}" srcOrd="0" destOrd="0" presId="urn:microsoft.com/office/officeart/2005/8/layout/hierarchy2"/>
    <dgm:cxn modelId="{0F01BC24-5C61-4C1B-A0AA-1FB86123FA88}" type="presParOf" srcId="{2E821A60-E08F-45C1-A21A-EFE5BC02C1A0}" destId="{4D3846F2-3561-4F67-A3ED-F6C47644217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2607" y="2074445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Serviço está na LC 116/03</a:t>
          </a:r>
          <a:endParaRPr lang="pt-BR" sz="1300" kern="1200" dirty="0"/>
        </a:p>
      </dsp:txBody>
      <dsp:txXfrm>
        <a:off x="19446" y="2091284"/>
        <a:ext cx="1116199" cy="541260"/>
      </dsp:txXfrm>
    </dsp:sp>
    <dsp:sp modelId="{697A1029-EB45-459A-9DF0-2C88B8D56135}">
      <dsp:nvSpPr>
        <dsp:cNvPr id="0" name=""/>
        <dsp:cNvSpPr/>
      </dsp:nvSpPr>
      <dsp:spPr>
        <a:xfrm rot="18468070">
          <a:off x="1071055" y="2182859"/>
          <a:ext cx="420742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420742" y="128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70907" y="2185172"/>
        <a:ext cx="21037" cy="21037"/>
      </dsp:txXfrm>
    </dsp:sp>
    <dsp:sp modelId="{AAEE8041-D978-4E04-810D-DD7BF7830B4B}">
      <dsp:nvSpPr>
        <dsp:cNvPr id="0" name=""/>
        <dsp:cNvSpPr/>
      </dsp:nvSpPr>
      <dsp:spPr>
        <a:xfrm>
          <a:off x="1410368" y="174199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SIM</a:t>
          </a:r>
          <a:endParaRPr lang="pt-BR" sz="1300" kern="1200" dirty="0"/>
        </a:p>
      </dsp:txBody>
      <dsp:txXfrm>
        <a:off x="1427207" y="1758837"/>
        <a:ext cx="1116199" cy="541260"/>
      </dsp:txXfrm>
    </dsp:sp>
    <dsp:sp modelId="{185FD1FF-7049-496A-B44E-0E5CD50B6A91}">
      <dsp:nvSpPr>
        <dsp:cNvPr id="0" name=""/>
        <dsp:cNvSpPr/>
      </dsp:nvSpPr>
      <dsp:spPr>
        <a:xfrm>
          <a:off x="2560245" y="2016635"/>
          <a:ext cx="280777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280777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693614" y="2022448"/>
        <a:ext cx="14038" cy="14038"/>
      </dsp:txXfrm>
    </dsp:sp>
    <dsp:sp modelId="{8A3633CC-C101-47DD-B4A3-EF11897A6BEB}">
      <dsp:nvSpPr>
        <dsp:cNvPr id="0" name=""/>
        <dsp:cNvSpPr/>
      </dsp:nvSpPr>
      <dsp:spPr>
        <a:xfrm>
          <a:off x="2841022" y="174199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Possui Ressalva?</a:t>
          </a:r>
          <a:endParaRPr lang="pt-BR" sz="1300" kern="1200" dirty="0"/>
        </a:p>
      </dsp:txBody>
      <dsp:txXfrm>
        <a:off x="2857861" y="1758837"/>
        <a:ext cx="1116199" cy="541260"/>
      </dsp:txXfrm>
    </dsp:sp>
    <dsp:sp modelId="{F949034A-FDB7-4102-9A04-570AB14229DD}">
      <dsp:nvSpPr>
        <dsp:cNvPr id="0" name=""/>
        <dsp:cNvSpPr/>
      </dsp:nvSpPr>
      <dsp:spPr>
        <a:xfrm rot="18224164">
          <a:off x="3830145" y="1715971"/>
          <a:ext cx="723094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723094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173614" y="1710726"/>
        <a:ext cx="36154" cy="36154"/>
      </dsp:txXfrm>
    </dsp:sp>
    <dsp:sp modelId="{84FCBF57-2C1E-4D3B-9344-7699B6E0220D}">
      <dsp:nvSpPr>
        <dsp:cNvPr id="0" name=""/>
        <dsp:cNvSpPr/>
      </dsp:nvSpPr>
      <dsp:spPr>
        <a:xfrm>
          <a:off x="4392484" y="1140669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SIM</a:t>
          </a:r>
          <a:endParaRPr lang="pt-BR" sz="1300" kern="1200" dirty="0"/>
        </a:p>
      </dsp:txBody>
      <dsp:txXfrm>
        <a:off x="4409323" y="1157508"/>
        <a:ext cx="1116199" cy="541260"/>
      </dsp:txXfrm>
    </dsp:sp>
    <dsp:sp modelId="{403349C7-5F08-477B-A077-A4BB08CD6AB0}">
      <dsp:nvSpPr>
        <dsp:cNvPr id="0" name=""/>
        <dsp:cNvSpPr/>
      </dsp:nvSpPr>
      <dsp:spPr>
        <a:xfrm rot="21233375">
          <a:off x="5540503" y="1380497"/>
          <a:ext cx="654040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654040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51173" y="1376978"/>
        <a:ext cx="32702" cy="32702"/>
      </dsp:txXfrm>
    </dsp:sp>
    <dsp:sp modelId="{ECC02141-8A79-4561-838C-2D37202B7930}">
      <dsp:nvSpPr>
        <dsp:cNvPr id="0" name=""/>
        <dsp:cNvSpPr/>
      </dsp:nvSpPr>
      <dsp:spPr>
        <a:xfrm>
          <a:off x="6192686" y="792087"/>
          <a:ext cx="1149877" cy="11328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ISS Sobre Serviço e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ICMS sobre material</a:t>
          </a:r>
          <a:endParaRPr lang="pt-BR" sz="1300" kern="1200" dirty="0"/>
        </a:p>
      </dsp:txBody>
      <dsp:txXfrm>
        <a:off x="6225866" y="825267"/>
        <a:ext cx="1083517" cy="1066505"/>
      </dsp:txXfrm>
    </dsp:sp>
    <dsp:sp modelId="{C3755C29-22AB-471C-9968-735E53DFB565}">
      <dsp:nvSpPr>
        <dsp:cNvPr id="0" name=""/>
        <dsp:cNvSpPr/>
      </dsp:nvSpPr>
      <dsp:spPr>
        <a:xfrm rot="3479666">
          <a:off x="3812841" y="2337900"/>
          <a:ext cx="757701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757701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4172749" y="2331789"/>
        <a:ext cx="37885" cy="37885"/>
      </dsp:txXfrm>
    </dsp:sp>
    <dsp:sp modelId="{183ECB49-0CC0-4132-8F4C-EA31FFFC95FE}">
      <dsp:nvSpPr>
        <dsp:cNvPr id="0" name=""/>
        <dsp:cNvSpPr/>
      </dsp:nvSpPr>
      <dsp:spPr>
        <a:xfrm>
          <a:off x="4392484" y="2384526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NÃO</a:t>
          </a:r>
          <a:endParaRPr lang="pt-BR" sz="1300" kern="1200" dirty="0"/>
        </a:p>
      </dsp:txBody>
      <dsp:txXfrm>
        <a:off x="4409323" y="2401365"/>
        <a:ext cx="1116199" cy="541260"/>
      </dsp:txXfrm>
    </dsp:sp>
    <dsp:sp modelId="{EA46ED5C-7A48-4179-B45A-5EC46056D9A9}">
      <dsp:nvSpPr>
        <dsp:cNvPr id="0" name=""/>
        <dsp:cNvSpPr/>
      </dsp:nvSpPr>
      <dsp:spPr>
        <a:xfrm rot="710320">
          <a:off x="5535294" y="2727323"/>
          <a:ext cx="664458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664458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50912" y="2723543"/>
        <a:ext cx="33222" cy="33222"/>
      </dsp:txXfrm>
    </dsp:sp>
    <dsp:sp modelId="{A302F7F2-FCCE-4375-A975-EED125CA5711}">
      <dsp:nvSpPr>
        <dsp:cNvPr id="0" name=""/>
        <dsp:cNvSpPr/>
      </dsp:nvSpPr>
      <dsp:spPr>
        <a:xfrm>
          <a:off x="6192686" y="2272083"/>
          <a:ext cx="1188318" cy="10724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ISS Sobre Serviço e Material</a:t>
          </a:r>
          <a:endParaRPr lang="pt-BR" sz="1300" kern="1200" dirty="0"/>
        </a:p>
      </dsp:txBody>
      <dsp:txXfrm>
        <a:off x="6224097" y="2303494"/>
        <a:ext cx="1125496" cy="1009640"/>
      </dsp:txXfrm>
    </dsp:sp>
    <dsp:sp modelId="{44AC5E3C-E60F-410C-901F-89A90194580B}">
      <dsp:nvSpPr>
        <dsp:cNvPr id="0" name=""/>
        <dsp:cNvSpPr/>
      </dsp:nvSpPr>
      <dsp:spPr>
        <a:xfrm rot="3541277">
          <a:off x="1022353" y="2578989"/>
          <a:ext cx="536313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536313" y="1283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277102" y="2578413"/>
        <a:ext cx="26815" cy="26815"/>
      </dsp:txXfrm>
    </dsp:sp>
    <dsp:sp modelId="{A3FB66F1-7E70-48F5-BA8E-ABE481685516}">
      <dsp:nvSpPr>
        <dsp:cNvPr id="0" name=""/>
        <dsp:cNvSpPr/>
      </dsp:nvSpPr>
      <dsp:spPr>
        <a:xfrm>
          <a:off x="1428536" y="253425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NÂO</a:t>
          </a:r>
          <a:endParaRPr lang="pt-BR" sz="1300" kern="1200" dirty="0"/>
        </a:p>
      </dsp:txBody>
      <dsp:txXfrm>
        <a:off x="1445375" y="2551097"/>
        <a:ext cx="1116199" cy="541260"/>
      </dsp:txXfrm>
    </dsp:sp>
    <dsp:sp modelId="{5A9873F7-1B7B-453C-8C5D-4AECE003DE93}">
      <dsp:nvSpPr>
        <dsp:cNvPr id="0" name=""/>
        <dsp:cNvSpPr/>
      </dsp:nvSpPr>
      <dsp:spPr>
        <a:xfrm>
          <a:off x="2578413" y="2808895"/>
          <a:ext cx="262609" cy="25664"/>
        </a:xfrm>
        <a:custGeom>
          <a:avLst/>
          <a:gdLst/>
          <a:ahLst/>
          <a:cxnLst/>
          <a:rect l="0" t="0" r="0" b="0"/>
          <a:pathLst>
            <a:path>
              <a:moveTo>
                <a:pt x="0" y="12832"/>
              </a:moveTo>
              <a:lnTo>
                <a:pt x="262609" y="1283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2703153" y="2815162"/>
        <a:ext cx="13130" cy="13130"/>
      </dsp:txXfrm>
    </dsp:sp>
    <dsp:sp modelId="{0CF13AE2-E376-49DB-B087-A048AE36B563}">
      <dsp:nvSpPr>
        <dsp:cNvPr id="0" name=""/>
        <dsp:cNvSpPr/>
      </dsp:nvSpPr>
      <dsp:spPr>
        <a:xfrm>
          <a:off x="2841022" y="2534258"/>
          <a:ext cx="1149877" cy="5749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ICMS sobre tudo</a:t>
          </a:r>
          <a:endParaRPr lang="pt-BR" sz="1300" kern="1200" dirty="0"/>
        </a:p>
      </dsp:txBody>
      <dsp:txXfrm>
        <a:off x="2857861" y="2551097"/>
        <a:ext cx="1116199" cy="5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4E4E9-A144-4BBC-BF79-A7EB154405DA}">
      <dsp:nvSpPr>
        <dsp:cNvPr id="0" name=""/>
        <dsp:cNvSpPr/>
      </dsp:nvSpPr>
      <dsp:spPr>
        <a:xfrm>
          <a:off x="5555" y="1837133"/>
          <a:ext cx="1540041" cy="89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Combustível derivado de </a:t>
          </a:r>
          <a:r>
            <a:rPr lang="pt-BR" sz="1300" kern="1200" dirty="0" smtClean="0">
              <a:solidFill>
                <a:srgbClr val="FF0000"/>
              </a:solidFill>
            </a:rPr>
            <a:t>Petróleo</a:t>
          </a:r>
          <a:r>
            <a:rPr lang="pt-BR" sz="1300" kern="1200" dirty="0" smtClean="0"/>
            <a:t> e </a:t>
          </a:r>
          <a:r>
            <a:rPr lang="pt-BR" sz="1300" kern="1200" dirty="0" smtClean="0">
              <a:solidFill>
                <a:srgbClr val="FF0000"/>
              </a:solidFill>
            </a:rPr>
            <a:t>Energia Elétrica</a:t>
          </a:r>
          <a:endParaRPr lang="pt-BR" sz="1300" kern="1200" dirty="0">
            <a:solidFill>
              <a:srgbClr val="FF0000"/>
            </a:solidFill>
          </a:endParaRPr>
        </a:p>
      </dsp:txBody>
      <dsp:txXfrm>
        <a:off x="31673" y="1863251"/>
        <a:ext cx="1487805" cy="839483"/>
      </dsp:txXfrm>
    </dsp:sp>
    <dsp:sp modelId="{697A1029-EB45-459A-9DF0-2C88B8D56135}">
      <dsp:nvSpPr>
        <dsp:cNvPr id="0" name=""/>
        <dsp:cNvSpPr/>
      </dsp:nvSpPr>
      <dsp:spPr>
        <a:xfrm rot="17600438">
          <a:off x="1316787" y="1920116"/>
          <a:ext cx="757893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757893" y="1494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676786" y="1916110"/>
        <a:ext cx="37894" cy="37894"/>
      </dsp:txXfrm>
    </dsp:sp>
    <dsp:sp modelId="{AAEE8041-D978-4E04-810D-DD7BF7830B4B}">
      <dsp:nvSpPr>
        <dsp:cNvPr id="0" name=""/>
        <dsp:cNvSpPr/>
      </dsp:nvSpPr>
      <dsp:spPr>
        <a:xfrm>
          <a:off x="1845871" y="1128954"/>
          <a:ext cx="1535395" cy="9163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Na </a:t>
          </a:r>
          <a:r>
            <a:rPr lang="pt-BR" sz="1300" kern="1200" dirty="0" smtClean="0">
              <a:solidFill>
                <a:srgbClr val="FF0000"/>
              </a:solidFill>
            </a:rPr>
            <a:t>entrada</a:t>
          </a:r>
          <a:r>
            <a:rPr lang="pt-BR" sz="1300" kern="1200" dirty="0" smtClean="0"/>
            <a:t> do Estado adquirente</a:t>
          </a:r>
          <a:endParaRPr lang="pt-BR" sz="1300" kern="1200" dirty="0"/>
        </a:p>
      </dsp:txBody>
      <dsp:txXfrm>
        <a:off x="1872710" y="1155793"/>
        <a:ext cx="1481717" cy="862657"/>
      </dsp:txXfrm>
    </dsp:sp>
    <dsp:sp modelId="{185FD1FF-7049-496A-B44E-0E5CD50B6A91}">
      <dsp:nvSpPr>
        <dsp:cNvPr id="0" name=""/>
        <dsp:cNvSpPr/>
      </dsp:nvSpPr>
      <dsp:spPr>
        <a:xfrm rot="17594999">
          <a:off x="3124549" y="1182478"/>
          <a:ext cx="848293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848293" y="149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527488" y="1176212"/>
        <a:ext cx="42414" cy="42414"/>
      </dsp:txXfrm>
    </dsp:sp>
    <dsp:sp modelId="{8A3633CC-C101-47DD-B4A3-EF11897A6BEB}">
      <dsp:nvSpPr>
        <dsp:cNvPr id="0" name=""/>
        <dsp:cNvSpPr/>
      </dsp:nvSpPr>
      <dsp:spPr>
        <a:xfrm>
          <a:off x="3716125" y="376451"/>
          <a:ext cx="1725063" cy="862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Para consumo</a:t>
          </a:r>
          <a:endParaRPr lang="pt-BR" sz="1300" kern="1200" dirty="0"/>
        </a:p>
      </dsp:txBody>
      <dsp:txXfrm>
        <a:off x="3741388" y="401714"/>
        <a:ext cx="1674537" cy="812005"/>
      </dsp:txXfrm>
    </dsp:sp>
    <dsp:sp modelId="{F949034A-FDB7-4102-9A04-570AB14229DD}">
      <dsp:nvSpPr>
        <dsp:cNvPr id="0" name=""/>
        <dsp:cNvSpPr/>
      </dsp:nvSpPr>
      <dsp:spPr>
        <a:xfrm>
          <a:off x="5441189" y="792775"/>
          <a:ext cx="892951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892951" y="149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65341" y="785393"/>
        <a:ext cx="44647" cy="44647"/>
      </dsp:txXfrm>
    </dsp:sp>
    <dsp:sp modelId="{84FCBF57-2C1E-4D3B-9344-7699B6E0220D}">
      <dsp:nvSpPr>
        <dsp:cNvPr id="0" name=""/>
        <dsp:cNvSpPr/>
      </dsp:nvSpPr>
      <dsp:spPr>
        <a:xfrm>
          <a:off x="6334141" y="349532"/>
          <a:ext cx="1541688" cy="9163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Incide ICMS</a:t>
          </a:r>
          <a:endParaRPr lang="pt-BR" sz="1300" kern="1200" dirty="0"/>
        </a:p>
      </dsp:txBody>
      <dsp:txXfrm>
        <a:off x="6360981" y="376372"/>
        <a:ext cx="1488008" cy="862689"/>
      </dsp:txXfrm>
    </dsp:sp>
    <dsp:sp modelId="{053FA25C-8702-4F58-B15A-09C2813883FA}">
      <dsp:nvSpPr>
        <dsp:cNvPr id="0" name=""/>
        <dsp:cNvSpPr/>
      </dsp:nvSpPr>
      <dsp:spPr>
        <a:xfrm rot="3642249">
          <a:off x="3206528" y="1870586"/>
          <a:ext cx="684335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684335" y="149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3531587" y="1868419"/>
        <a:ext cx="34216" cy="34216"/>
      </dsp:txXfrm>
    </dsp:sp>
    <dsp:sp modelId="{FEC49178-4350-4831-8541-F6AA2C4140AD}">
      <dsp:nvSpPr>
        <dsp:cNvPr id="0" name=""/>
        <dsp:cNvSpPr/>
      </dsp:nvSpPr>
      <dsp:spPr>
        <a:xfrm>
          <a:off x="3716125" y="1706617"/>
          <a:ext cx="1756086" cy="954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Para industrialização ou Comercialização</a:t>
          </a:r>
          <a:endParaRPr lang="pt-BR" sz="1300" kern="1200" dirty="0"/>
        </a:p>
      </dsp:txBody>
      <dsp:txXfrm>
        <a:off x="3744085" y="1734577"/>
        <a:ext cx="1700166" cy="898714"/>
      </dsp:txXfrm>
    </dsp:sp>
    <dsp:sp modelId="{D88571E2-903B-492C-B398-C2EA252C1943}">
      <dsp:nvSpPr>
        <dsp:cNvPr id="0" name=""/>
        <dsp:cNvSpPr/>
      </dsp:nvSpPr>
      <dsp:spPr>
        <a:xfrm rot="92245">
          <a:off x="5472050" y="2180976"/>
          <a:ext cx="893273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893273" y="149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5896355" y="2173585"/>
        <a:ext cx="44663" cy="44663"/>
      </dsp:txXfrm>
    </dsp:sp>
    <dsp:sp modelId="{D8CAE137-AEFA-47C0-9142-EA85ECEF58CA}">
      <dsp:nvSpPr>
        <dsp:cNvPr id="0" name=""/>
        <dsp:cNvSpPr/>
      </dsp:nvSpPr>
      <dsp:spPr>
        <a:xfrm>
          <a:off x="6365163" y="1745508"/>
          <a:ext cx="1543576" cy="9247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Não incide ICMS</a:t>
          </a:r>
          <a:endParaRPr lang="pt-BR" sz="1300" kern="1200" dirty="0"/>
        </a:p>
      </dsp:txBody>
      <dsp:txXfrm>
        <a:off x="6392249" y="1772594"/>
        <a:ext cx="1489404" cy="870612"/>
      </dsp:txXfrm>
    </dsp:sp>
    <dsp:sp modelId="{44AC5E3C-E60F-410C-901F-89A90194580B}">
      <dsp:nvSpPr>
        <dsp:cNvPr id="0" name=""/>
        <dsp:cNvSpPr/>
      </dsp:nvSpPr>
      <dsp:spPr>
        <a:xfrm rot="4229557">
          <a:off x="1225026" y="2721710"/>
          <a:ext cx="962570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962570" y="1494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500" kern="1200"/>
        </a:p>
      </dsp:txBody>
      <dsp:txXfrm>
        <a:off x="1682246" y="2712588"/>
        <a:ext cx="48128" cy="48128"/>
      </dsp:txXfrm>
    </dsp:sp>
    <dsp:sp modelId="{A3FB66F1-7E70-48F5-BA8E-ABE481685516}">
      <dsp:nvSpPr>
        <dsp:cNvPr id="0" name=""/>
        <dsp:cNvSpPr/>
      </dsp:nvSpPr>
      <dsp:spPr>
        <a:xfrm>
          <a:off x="1867025" y="2795285"/>
          <a:ext cx="1626922" cy="7900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Na </a:t>
          </a:r>
          <a:r>
            <a:rPr lang="pt-BR" sz="1300" kern="1200" dirty="0" smtClean="0">
              <a:solidFill>
                <a:srgbClr val="FF0000"/>
              </a:solidFill>
            </a:rPr>
            <a:t>saída</a:t>
          </a:r>
          <a:r>
            <a:rPr lang="pt-BR" sz="1300" kern="1200" dirty="0" smtClean="0"/>
            <a:t> do Estado remetente</a:t>
          </a:r>
          <a:endParaRPr lang="pt-BR" sz="1300" kern="1200" dirty="0"/>
        </a:p>
      </dsp:txBody>
      <dsp:txXfrm>
        <a:off x="1890165" y="2818425"/>
        <a:ext cx="1580642" cy="743770"/>
      </dsp:txXfrm>
    </dsp:sp>
    <dsp:sp modelId="{5A9873F7-1B7B-453C-8C5D-4AECE003DE93}">
      <dsp:nvSpPr>
        <dsp:cNvPr id="0" name=""/>
        <dsp:cNvSpPr/>
      </dsp:nvSpPr>
      <dsp:spPr>
        <a:xfrm rot="43952">
          <a:off x="3493830" y="3193893"/>
          <a:ext cx="2897761" cy="29882"/>
        </a:xfrm>
        <a:custGeom>
          <a:avLst/>
          <a:gdLst/>
          <a:ahLst/>
          <a:cxnLst/>
          <a:rect l="0" t="0" r="0" b="0"/>
          <a:pathLst>
            <a:path>
              <a:moveTo>
                <a:pt x="0" y="14941"/>
              </a:moveTo>
              <a:lnTo>
                <a:pt x="2897761" y="14941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000" kern="1200"/>
        </a:p>
      </dsp:txBody>
      <dsp:txXfrm>
        <a:off x="4870266" y="3136390"/>
        <a:ext cx="144888" cy="144888"/>
      </dsp:txXfrm>
    </dsp:sp>
    <dsp:sp modelId="{0CF13AE2-E376-49DB-B087-A048AE36B563}">
      <dsp:nvSpPr>
        <dsp:cNvPr id="0" name=""/>
        <dsp:cNvSpPr/>
      </dsp:nvSpPr>
      <dsp:spPr>
        <a:xfrm>
          <a:off x="6391472" y="2842003"/>
          <a:ext cx="1487382" cy="7707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Não incide ICMS</a:t>
          </a:r>
          <a:endParaRPr lang="pt-BR" sz="1300" kern="1200" dirty="0"/>
        </a:p>
      </dsp:txBody>
      <dsp:txXfrm>
        <a:off x="6414045" y="2864576"/>
        <a:ext cx="1442236" cy="7255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D8247DB-14D6-402D-A9A1-2A8682663704}" type="datetimeFigureOut">
              <a:rPr lang="pt-BR" smtClean="0"/>
              <a:t>20/07/2018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DBBA7167-0B7A-4297-A8FE-76DEA894325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Intensivo de ICMS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endParaRPr lang="pt-BR" sz="4600" b="1" dirty="0" smtClean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ctr">
              <a:buNone/>
            </a:pPr>
            <a:r>
              <a:rPr lang="pt-BR" sz="46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PARTE 3</a:t>
            </a:r>
            <a:endParaRPr lang="pt-BR" sz="46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ctr">
              <a:buNone/>
            </a:pPr>
            <a:r>
              <a:rPr lang="pt-BR" sz="3000" b="1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rPr>
              <a:t>LC 24/1975</a:t>
            </a:r>
            <a:endParaRPr lang="pt-BR" sz="3000" b="1" dirty="0">
              <a:gradFill>
                <a:gsLst>
                  <a:gs pos="0">
                    <a:schemeClr val="tx1"/>
                  </a:gs>
                  <a:gs pos="40000">
                    <a:schemeClr val="tx1">
                      <a:lumMod val="75000"/>
                      <a:lumOff val="25000"/>
                    </a:schemeClr>
                  </a:gs>
                  <a:gs pos="100000">
                    <a:schemeClr val="tx2">
                      <a:alpha val="65000"/>
                    </a:schemeClr>
                  </a:gs>
                </a:gsLst>
                <a:lin ang="5400000" scaled="0"/>
              </a:gradFill>
              <a:effectLst>
                <a:reflection blurRad="6350" stA="55000" endA="300" endPos="45500" dir="5400000" sy="-100000" algn="bl" rotWithShape="0"/>
              </a:effectLst>
              <a:latin typeface="+mj-lt"/>
              <a:ea typeface="+mj-ea"/>
              <a:cs typeface="+mj-cs"/>
            </a:endParaRP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sz="1600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1480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CF/88 Art. 155, §2º, XII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XII- Cabe à</a:t>
            </a:r>
            <a:r>
              <a:rPr lang="pt-BR" dirty="0" smtClean="0"/>
              <a:t> </a:t>
            </a:r>
            <a:r>
              <a:rPr lang="pt-BR" dirty="0"/>
              <a:t>Lei Complementar:</a:t>
            </a:r>
          </a:p>
          <a:p>
            <a:pPr marL="45720" indent="0" algn="just">
              <a:buNone/>
            </a:pPr>
            <a:r>
              <a:rPr lang="pt-BR" dirty="0"/>
              <a:t>g) </a:t>
            </a:r>
            <a:r>
              <a:rPr lang="pt-BR" b="1" dirty="0">
                <a:solidFill>
                  <a:srgbClr val="0000FF"/>
                </a:solidFill>
              </a:rPr>
              <a:t>regular a forma como</a:t>
            </a:r>
            <a:r>
              <a:rPr lang="pt-BR" dirty="0"/>
              <a:t>, mediante </a:t>
            </a:r>
            <a:r>
              <a:rPr lang="pt-BR" dirty="0" smtClean="0"/>
              <a:t>deliberação </a:t>
            </a:r>
            <a:r>
              <a:rPr lang="pt-BR" dirty="0"/>
              <a:t>dos Estados e </a:t>
            </a:r>
            <a:r>
              <a:rPr lang="pt-BR" dirty="0" smtClean="0"/>
              <a:t>do Distrito </a:t>
            </a:r>
            <a:r>
              <a:rPr lang="pt-BR" dirty="0"/>
              <a:t>Federal, </a:t>
            </a:r>
            <a:r>
              <a:rPr lang="pt-BR" b="1" dirty="0" smtClean="0">
                <a:solidFill>
                  <a:srgbClr val="0000FF"/>
                </a:solidFill>
              </a:rPr>
              <a:t>isenções, </a:t>
            </a:r>
            <a:r>
              <a:rPr lang="pt-BR" b="1" dirty="0">
                <a:solidFill>
                  <a:srgbClr val="0000FF"/>
                </a:solidFill>
              </a:rPr>
              <a:t>incentivos e </a:t>
            </a:r>
            <a:r>
              <a:rPr lang="pt-BR" b="1" dirty="0" smtClean="0">
                <a:solidFill>
                  <a:srgbClr val="0000FF"/>
                </a:solidFill>
              </a:rPr>
              <a:t>benefícios </a:t>
            </a:r>
            <a:r>
              <a:rPr lang="pt-BR" b="1" dirty="0">
                <a:solidFill>
                  <a:srgbClr val="0000FF"/>
                </a:solidFill>
              </a:rPr>
              <a:t>fiscais </a:t>
            </a:r>
            <a:r>
              <a:rPr lang="pt-BR" b="1" dirty="0" smtClean="0">
                <a:solidFill>
                  <a:srgbClr val="0000FF"/>
                </a:solidFill>
              </a:rPr>
              <a:t>serão concedidos </a:t>
            </a:r>
            <a:r>
              <a:rPr lang="pt-BR" b="1" dirty="0">
                <a:solidFill>
                  <a:srgbClr val="0000FF"/>
                </a:solidFill>
              </a:rPr>
              <a:t>e </a:t>
            </a:r>
            <a:r>
              <a:rPr lang="pt-BR" b="1" dirty="0" smtClean="0">
                <a:solidFill>
                  <a:srgbClr val="0000FF"/>
                </a:solidFill>
              </a:rPr>
              <a:t>revogados</a:t>
            </a:r>
            <a:r>
              <a:rPr lang="pt-BR" dirty="0" smtClean="0">
                <a:solidFill>
                  <a:srgbClr val="0000FF"/>
                </a:solidFill>
              </a:rPr>
              <a:t>.</a:t>
            </a:r>
          </a:p>
          <a:p>
            <a:pPr marL="45720" indent="0" algn="just">
              <a:buNone/>
            </a:pPr>
            <a:endParaRPr lang="pt-BR" dirty="0">
              <a:solidFill>
                <a:srgbClr val="0000FF"/>
              </a:solidFill>
            </a:endParaRPr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 </a:t>
            </a:r>
            <a:r>
              <a:rPr lang="pt-BR" dirty="0" smtClean="0"/>
              <a:t>Qualquer beneficio fiscal relativo ao ICMS depende de deliberação dos Estados e do Distrito Federal.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</a:t>
            </a:r>
            <a:r>
              <a:rPr lang="pt-BR" dirty="0" smtClean="0"/>
              <a:t> foi recepcionada a LC 24/75 que dispõe sobre regras dos convênios para concessão de isenções e quaisquer outros benefícios fiscais acerca do ICMS. </a:t>
            </a:r>
          </a:p>
        </p:txBody>
      </p:sp>
    </p:spTree>
    <p:extLst>
      <p:ext uri="{BB962C8B-B14F-4D97-AF65-F5344CB8AC3E}">
        <p14:creationId xmlns:p14="http://schemas.microsoft.com/office/powerpoint/2010/main" val="12824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Classificação doutrinária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88840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ctr">
              <a:buNone/>
            </a:pPr>
            <a:r>
              <a:rPr lang="pt-BR" dirty="0" smtClean="0"/>
              <a:t>Convênios</a:t>
            </a:r>
          </a:p>
          <a:p>
            <a:pPr marL="45720" indent="0" algn="ctr">
              <a:buNone/>
            </a:pPr>
            <a:r>
              <a:rPr lang="pt-BR" b="1" dirty="0" smtClean="0"/>
              <a:t>Autorizativos x Impositivos</a:t>
            </a:r>
          </a:p>
          <a:p>
            <a:pPr marL="45720" indent="0" algn="ctr">
              <a:buNone/>
            </a:pPr>
            <a:endParaRPr lang="pt-BR" b="1" dirty="0"/>
          </a:p>
          <a:p>
            <a:pPr marL="45720" indent="0" algn="just">
              <a:buNone/>
            </a:pPr>
            <a:r>
              <a:rPr lang="pt-BR" b="1" dirty="0" smtClean="0">
                <a:solidFill>
                  <a:srgbClr val="0000FF"/>
                </a:solidFill>
              </a:rPr>
              <a:t>Autorizativos</a:t>
            </a:r>
            <a:r>
              <a:rPr lang="pt-BR" dirty="0" smtClean="0">
                <a:solidFill>
                  <a:srgbClr val="0000FF"/>
                </a:solidFill>
              </a:rPr>
              <a:t> </a:t>
            </a:r>
            <a:r>
              <a:rPr lang="pt-BR" dirty="0" smtClean="0"/>
              <a:t>não obrigam os Estados a conceder benefícios.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i="1" dirty="0" smtClean="0"/>
              <a:t>“Ficam os Estados e o Distrito Federal autorizados a conceder a isenção nas...”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Para o beneficio passar a valer deve ser incorporado à Lei ou ao Regulamento Estadual.</a:t>
            </a:r>
          </a:p>
          <a:p>
            <a:pPr marL="45720" indent="0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022492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Classificação doutrinária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endParaRPr lang="pt-BR" sz="2400" b="1" i="1" u="sng" dirty="0"/>
          </a:p>
          <a:p>
            <a:pPr marL="45720" indent="0" algn="just">
              <a:buNone/>
            </a:pPr>
            <a:r>
              <a:rPr lang="pt-BR" sz="2400" b="1" dirty="0" smtClean="0">
                <a:solidFill>
                  <a:srgbClr val="0000FF"/>
                </a:solidFill>
              </a:rPr>
              <a:t>Impositivos</a:t>
            </a:r>
            <a:r>
              <a:rPr lang="pt-BR" sz="2400" b="1" dirty="0" smtClean="0"/>
              <a:t> </a:t>
            </a:r>
            <a:r>
              <a:rPr lang="pt-BR" sz="2400" dirty="0" smtClean="0"/>
              <a:t>não precisam ser internalizados, incorporados, á legislação tributária estadual.</a:t>
            </a:r>
          </a:p>
          <a:p>
            <a:pPr marL="45720" indent="0" algn="just">
              <a:buNone/>
            </a:pPr>
            <a:endParaRPr lang="pt-BR" sz="2400" dirty="0"/>
          </a:p>
          <a:p>
            <a:pPr marL="45720" indent="0" algn="just">
              <a:buNone/>
            </a:pPr>
            <a:r>
              <a:rPr lang="pt-BR" sz="2400" dirty="0" smtClean="0"/>
              <a:t>“Concede isenção do imposto na saída de...”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071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LC 24/75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/>
              <a:t>Art. </a:t>
            </a:r>
            <a:r>
              <a:rPr lang="pt-BR" dirty="0" smtClean="0"/>
              <a:t>1º </a:t>
            </a:r>
            <a:r>
              <a:rPr lang="pt-BR" dirty="0"/>
              <a:t>- </a:t>
            </a:r>
            <a:r>
              <a:rPr lang="pt-BR" b="1" dirty="0"/>
              <a:t>As </a:t>
            </a:r>
            <a:r>
              <a:rPr lang="pt-BR" b="1" dirty="0" smtClean="0"/>
              <a:t>isenções </a:t>
            </a:r>
            <a:r>
              <a:rPr lang="pt-BR" dirty="0" smtClean="0"/>
              <a:t>do </a:t>
            </a:r>
            <a:r>
              <a:rPr lang="pt-BR" dirty="0"/>
              <a:t>imposto sobre </a:t>
            </a:r>
            <a:r>
              <a:rPr lang="pt-BR" dirty="0" smtClean="0"/>
              <a:t>operações </a:t>
            </a:r>
            <a:r>
              <a:rPr lang="pt-BR" dirty="0"/>
              <a:t>relativas </a:t>
            </a:r>
            <a:r>
              <a:rPr lang="pt-BR" dirty="0" smtClean="0"/>
              <a:t>à </a:t>
            </a:r>
            <a:r>
              <a:rPr lang="pt-BR" dirty="0"/>
              <a:t>c</a:t>
            </a:r>
            <a:r>
              <a:rPr lang="pt-BR" dirty="0" smtClean="0"/>
              <a:t>irculação de </a:t>
            </a:r>
            <a:r>
              <a:rPr lang="pt-BR" dirty="0"/>
              <a:t>mercadorias </a:t>
            </a:r>
            <a:r>
              <a:rPr lang="pt-BR" b="1" dirty="0" smtClean="0"/>
              <a:t>serão </a:t>
            </a:r>
            <a:r>
              <a:rPr lang="pt-BR" b="1" dirty="0"/>
              <a:t>concedidas ou revogadas nos termos </a:t>
            </a:r>
            <a:r>
              <a:rPr lang="pt-BR" b="1" dirty="0" smtClean="0"/>
              <a:t>de convênios </a:t>
            </a:r>
            <a:r>
              <a:rPr lang="pt-BR" b="1" dirty="0"/>
              <a:t>celebrados e ratificados pelos Estados e pelo </a:t>
            </a:r>
            <a:r>
              <a:rPr lang="pt-BR" b="1" dirty="0" smtClean="0"/>
              <a:t>Distrito Federal</a:t>
            </a:r>
            <a:r>
              <a:rPr lang="pt-BR" dirty="0"/>
              <a:t>, segundo esta Lei.</a:t>
            </a:r>
          </a:p>
          <a:p>
            <a:pPr marL="45720" indent="0" algn="just">
              <a:buNone/>
            </a:pPr>
            <a:r>
              <a:rPr lang="pt-BR" dirty="0" smtClean="0"/>
              <a:t>Parágrafo </a:t>
            </a:r>
            <a:r>
              <a:rPr lang="pt-BR" dirty="0"/>
              <a:t>ú</a:t>
            </a:r>
            <a:r>
              <a:rPr lang="pt-BR" dirty="0" smtClean="0"/>
              <a:t>nico </a:t>
            </a:r>
            <a:r>
              <a:rPr lang="pt-BR" dirty="0"/>
              <a:t>- O disposto neste artigo </a:t>
            </a:r>
            <a:r>
              <a:rPr lang="pt-BR" b="1" dirty="0" smtClean="0"/>
              <a:t>também </a:t>
            </a:r>
            <a:r>
              <a:rPr lang="pt-BR" b="1" dirty="0"/>
              <a:t>se aplica</a:t>
            </a:r>
            <a:r>
              <a:rPr lang="pt-BR" dirty="0"/>
              <a:t>:</a:t>
            </a:r>
          </a:p>
          <a:p>
            <a:pPr marL="45720" indent="0" algn="just">
              <a:buNone/>
            </a:pPr>
            <a:r>
              <a:rPr lang="pt-BR" dirty="0"/>
              <a:t>I - </a:t>
            </a:r>
            <a:r>
              <a:rPr lang="pt-BR" b="1" dirty="0"/>
              <a:t>à</a:t>
            </a:r>
            <a:r>
              <a:rPr lang="pt-BR" b="1" dirty="0" smtClean="0"/>
              <a:t> redução </a:t>
            </a:r>
            <a:r>
              <a:rPr lang="pt-BR" b="1" dirty="0"/>
              <a:t>da base de </a:t>
            </a:r>
            <a:r>
              <a:rPr lang="pt-BR" b="1" dirty="0" smtClean="0"/>
              <a:t>cálculo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II - </a:t>
            </a:r>
            <a:r>
              <a:rPr lang="pt-BR" b="1" dirty="0"/>
              <a:t>à</a:t>
            </a:r>
            <a:r>
              <a:rPr lang="pt-BR" b="1" dirty="0" smtClean="0"/>
              <a:t> devolução </a:t>
            </a:r>
            <a:r>
              <a:rPr lang="pt-BR" b="1" dirty="0"/>
              <a:t>total ou parcial</a:t>
            </a:r>
            <a:r>
              <a:rPr lang="pt-BR" dirty="0"/>
              <a:t>, </a:t>
            </a:r>
            <a:r>
              <a:rPr lang="pt-BR" b="1" dirty="0"/>
              <a:t>direta ou indireta, </a:t>
            </a:r>
            <a:r>
              <a:rPr lang="pt-BR" b="1" dirty="0" smtClean="0"/>
              <a:t>condicionada ou não</a:t>
            </a:r>
            <a:r>
              <a:rPr lang="pt-BR" dirty="0"/>
              <a:t>, </a:t>
            </a:r>
            <a:r>
              <a:rPr lang="pt-BR" b="1" dirty="0"/>
              <a:t>do tributo</a:t>
            </a:r>
            <a:r>
              <a:rPr lang="pt-BR" dirty="0"/>
              <a:t>, ao contribuinte, a </a:t>
            </a:r>
            <a:r>
              <a:rPr lang="pt-BR" dirty="0" smtClean="0"/>
              <a:t>responsável </a:t>
            </a:r>
            <a:r>
              <a:rPr lang="pt-BR" dirty="0"/>
              <a:t>ou a terceiros;</a:t>
            </a:r>
          </a:p>
          <a:p>
            <a:pPr marL="45720" indent="0" algn="just">
              <a:buNone/>
            </a:pPr>
            <a:r>
              <a:rPr lang="pt-BR" dirty="0"/>
              <a:t>III - </a:t>
            </a:r>
            <a:r>
              <a:rPr lang="pt-BR" b="1" dirty="0"/>
              <a:t>à</a:t>
            </a:r>
            <a:r>
              <a:rPr lang="pt-BR" b="1" dirty="0" smtClean="0"/>
              <a:t> concessão </a:t>
            </a:r>
            <a:r>
              <a:rPr lang="pt-BR" b="1" dirty="0"/>
              <a:t>de </a:t>
            </a:r>
            <a:r>
              <a:rPr lang="pt-BR" b="1" dirty="0" smtClean="0"/>
              <a:t>créditos </a:t>
            </a:r>
            <a:r>
              <a:rPr lang="pt-BR" b="1" dirty="0"/>
              <a:t>presumidos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 smtClean="0"/>
              <a:t>	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9426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LC 24/75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IV - </a:t>
            </a:r>
            <a:r>
              <a:rPr lang="pt-BR" dirty="0" smtClean="0"/>
              <a:t>à</a:t>
            </a:r>
            <a:r>
              <a:rPr lang="pt-BR" b="1" dirty="0" smtClean="0"/>
              <a:t> </a:t>
            </a:r>
            <a:r>
              <a:rPr lang="pt-BR" b="1" dirty="0"/>
              <a:t>quaisquer outros incentivos ou favores fiscais ou </a:t>
            </a:r>
            <a:r>
              <a:rPr lang="pt-BR" b="1" dirty="0" smtClean="0"/>
              <a:t>financeiro fiscais</a:t>
            </a:r>
            <a:r>
              <a:rPr lang="pt-BR" dirty="0" smtClean="0"/>
              <a:t>, concedidos </a:t>
            </a:r>
            <a:r>
              <a:rPr lang="pt-BR" dirty="0"/>
              <a:t>com base </a:t>
            </a:r>
            <a:r>
              <a:rPr lang="pt-BR" dirty="0" smtClean="0"/>
              <a:t>no Imposto </a:t>
            </a:r>
            <a:r>
              <a:rPr lang="pt-BR" dirty="0"/>
              <a:t>de </a:t>
            </a:r>
            <a:r>
              <a:rPr lang="pt-BR" dirty="0" smtClean="0"/>
              <a:t>Circulação </a:t>
            </a:r>
            <a:r>
              <a:rPr lang="pt-BR" dirty="0"/>
              <a:t>de </a:t>
            </a:r>
            <a:r>
              <a:rPr lang="pt-BR" dirty="0" smtClean="0"/>
              <a:t>Mercadorias, </a:t>
            </a:r>
            <a:r>
              <a:rPr lang="pt-BR" b="1" dirty="0" smtClean="0"/>
              <a:t>dos </a:t>
            </a:r>
            <a:r>
              <a:rPr lang="pt-BR" b="1" dirty="0"/>
              <a:t>quais resulte </a:t>
            </a:r>
            <a:r>
              <a:rPr lang="pt-BR" b="1" dirty="0" smtClean="0"/>
              <a:t>redução </a:t>
            </a:r>
            <a:r>
              <a:rPr lang="pt-BR" b="1" dirty="0"/>
              <a:t>ou </a:t>
            </a:r>
            <a:r>
              <a:rPr lang="pt-BR" b="1" dirty="0" smtClean="0"/>
              <a:t>eliminação, </a:t>
            </a:r>
            <a:r>
              <a:rPr lang="pt-BR" b="1" dirty="0"/>
              <a:t>direta ou indireta, </a:t>
            </a:r>
            <a:r>
              <a:rPr lang="pt-BR" b="1" dirty="0" smtClean="0"/>
              <a:t>do respectivo ônus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V - </a:t>
            </a:r>
            <a:r>
              <a:rPr lang="pt-BR" b="1" dirty="0"/>
              <a:t>à</a:t>
            </a:r>
            <a:r>
              <a:rPr lang="pt-BR" b="1" dirty="0" smtClean="0"/>
              <a:t>s prorrogações </a:t>
            </a:r>
            <a:r>
              <a:rPr lang="pt-BR" b="1" dirty="0"/>
              <a:t>e </a:t>
            </a:r>
            <a:r>
              <a:rPr lang="pt-BR" b="1" dirty="0" smtClean="0"/>
              <a:t>às extensões </a:t>
            </a:r>
            <a:r>
              <a:rPr lang="pt-BR" b="1" dirty="0"/>
              <a:t>das </a:t>
            </a:r>
            <a:r>
              <a:rPr lang="pt-BR" b="1" dirty="0" smtClean="0"/>
              <a:t>isenções </a:t>
            </a:r>
            <a:r>
              <a:rPr lang="pt-BR" b="1" dirty="0"/>
              <a:t>vigentes </a:t>
            </a:r>
            <a:r>
              <a:rPr lang="pt-BR" b="1" dirty="0" smtClean="0"/>
              <a:t>nesta data</a:t>
            </a:r>
            <a:r>
              <a:rPr lang="pt-BR" b="1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594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LC 24/75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b="1" dirty="0" smtClean="0"/>
              <a:t>Convênio</a:t>
            </a:r>
            <a:r>
              <a:rPr lang="pt-BR" dirty="0" smtClean="0"/>
              <a:t> é o ato realizado e ratificado pelos Estados e o Distrito Federal que trata dos assuntos relativos a benefícios fiscais elencados no artigo 1ªda LC 24/75.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err="1" smtClean="0"/>
              <a:t>Obs</a:t>
            </a:r>
            <a:r>
              <a:rPr lang="pt-BR" dirty="0" smtClean="0"/>
              <a:t>: A decisão deve ser unanime!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A ratificação deve ser feita em 15 dias após a publicação do convênio no D.O.U.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713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LC </a:t>
            </a:r>
            <a:r>
              <a:rPr lang="pt-BR" dirty="0" smtClean="0"/>
              <a:t>24/75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b="1" dirty="0" smtClean="0"/>
              <a:t>Convênio</a:t>
            </a:r>
            <a:r>
              <a:rPr lang="pt-BR" dirty="0" smtClean="0"/>
              <a:t> entra em vigor 30 dias após a publicação da ratificação pelo Estado ou Distrito Federal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971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ICMS no Distrito Federal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ctr">
              <a:buNone/>
            </a:pPr>
            <a:r>
              <a:rPr lang="pt-BR" sz="3000" b="1" dirty="0" smtClean="0"/>
              <a:t>Base Legal</a:t>
            </a:r>
          </a:p>
          <a:p>
            <a:pPr marL="45720" indent="0" algn="ctr">
              <a:buNone/>
            </a:pPr>
            <a:endParaRPr lang="pt-BR" sz="3000" b="1" dirty="0"/>
          </a:p>
          <a:p>
            <a:pPr marL="45720" indent="0" algn="ctr">
              <a:buNone/>
            </a:pPr>
            <a:r>
              <a:rPr lang="pt-BR" sz="3000" b="1" dirty="0" smtClean="0"/>
              <a:t>Lei 1254/1996</a:t>
            </a:r>
          </a:p>
          <a:p>
            <a:pPr marL="45720" indent="0" algn="ctr">
              <a:buNone/>
            </a:pPr>
            <a:endParaRPr lang="pt-BR" sz="3000" b="1" dirty="0"/>
          </a:p>
          <a:p>
            <a:pPr marL="45720" indent="0" algn="ctr">
              <a:buNone/>
            </a:pPr>
            <a:r>
              <a:rPr lang="pt-BR" sz="3000" b="1" dirty="0" smtClean="0"/>
              <a:t>Decreto 18.955/97 (RICMS)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50080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 smtClean="0"/>
              <a:t>Art</a:t>
            </a:r>
            <a:r>
              <a:rPr lang="pt-BR" dirty="0"/>
              <a:t>. </a:t>
            </a:r>
            <a:r>
              <a:rPr lang="pt-BR" dirty="0" smtClean="0"/>
              <a:t>2º </a:t>
            </a:r>
            <a:r>
              <a:rPr lang="pt-BR" dirty="0"/>
              <a:t>O Imposto </a:t>
            </a:r>
            <a:r>
              <a:rPr lang="pt-BR" b="1" dirty="0"/>
              <a:t>incide </a:t>
            </a:r>
            <a:r>
              <a:rPr lang="pt-BR" dirty="0"/>
              <a:t>sobre:</a:t>
            </a:r>
          </a:p>
          <a:p>
            <a:pPr marL="45720" indent="0" algn="just">
              <a:buNone/>
            </a:pPr>
            <a:r>
              <a:rPr lang="pt-BR" dirty="0"/>
              <a:t>I - </a:t>
            </a:r>
            <a:r>
              <a:rPr lang="pt-BR" b="1" dirty="0" smtClean="0"/>
              <a:t>operações </a:t>
            </a:r>
            <a:r>
              <a:rPr lang="pt-BR" b="1" dirty="0"/>
              <a:t>relativas </a:t>
            </a:r>
            <a:r>
              <a:rPr lang="pt-BR" b="1" dirty="0" smtClean="0"/>
              <a:t>à circulação </a:t>
            </a:r>
            <a:r>
              <a:rPr lang="pt-BR" b="1" dirty="0"/>
              <a:t>de mercadorias, </a:t>
            </a:r>
            <a:r>
              <a:rPr lang="pt-BR" b="1" dirty="0">
                <a:solidFill>
                  <a:srgbClr val="0000FF"/>
                </a:solidFill>
              </a:rPr>
              <a:t>inclusive </a:t>
            </a:r>
            <a:r>
              <a:rPr lang="pt-BR" b="1" dirty="0" smtClean="0">
                <a:solidFill>
                  <a:srgbClr val="0000FF"/>
                </a:solidFill>
              </a:rPr>
              <a:t>o</a:t>
            </a:r>
            <a:r>
              <a:rPr lang="pt-BR" b="1" dirty="0" smtClean="0"/>
              <a:t> </a:t>
            </a:r>
            <a:r>
              <a:rPr lang="pt-BR" b="1" dirty="0" smtClean="0">
                <a:solidFill>
                  <a:srgbClr val="0000FF"/>
                </a:solidFill>
              </a:rPr>
              <a:t>fornecimento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alimentação </a:t>
            </a:r>
            <a:r>
              <a:rPr lang="pt-BR" b="1" dirty="0">
                <a:solidFill>
                  <a:srgbClr val="0000FF"/>
                </a:solidFill>
              </a:rPr>
              <a:t>e bebidas </a:t>
            </a:r>
            <a:r>
              <a:rPr lang="pt-BR" b="1" dirty="0"/>
              <a:t>em </a:t>
            </a:r>
            <a:r>
              <a:rPr lang="pt-BR" b="1" dirty="0" smtClean="0"/>
              <a:t>qualquer estabelecimento</a:t>
            </a:r>
            <a:r>
              <a:rPr lang="pt-BR" b="1" dirty="0"/>
              <a:t>, </a:t>
            </a:r>
            <a:r>
              <a:rPr lang="pt-BR" b="1" dirty="0" smtClean="0"/>
              <a:t>incluídos </a:t>
            </a:r>
            <a:r>
              <a:rPr lang="pt-BR" b="1" dirty="0"/>
              <a:t>os </a:t>
            </a:r>
            <a:r>
              <a:rPr lang="pt-BR" b="1" dirty="0" smtClean="0"/>
              <a:t>serviços </a:t>
            </a:r>
            <a:r>
              <a:rPr lang="pt-BR" b="1" dirty="0"/>
              <a:t>prestados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Em um julgado proferido em 30.05.2014 pela Primeira Turma verificou-se que aquela Corte tem-se posicionado no sentido de que </a:t>
            </a:r>
            <a:r>
              <a:rPr lang="pt-BR" b="1" dirty="0">
                <a:solidFill>
                  <a:srgbClr val="FF0000"/>
                </a:solidFill>
              </a:rPr>
              <a:t>o mero deslocamento de mercadorias entre estabelecimentos comerciais do mesmo titular </a:t>
            </a:r>
            <a:r>
              <a:rPr lang="pt-BR" b="1" dirty="0" smtClean="0">
                <a:solidFill>
                  <a:srgbClr val="FF0000"/>
                </a:solidFill>
              </a:rPr>
              <a:t>não </a:t>
            </a:r>
            <a:r>
              <a:rPr lang="pt-BR" b="1" dirty="0">
                <a:solidFill>
                  <a:srgbClr val="FF0000"/>
                </a:solidFill>
              </a:rPr>
              <a:t>caracteriza fato gerador do ICMS, ainda que estejam localizados em diferentes unidades </a:t>
            </a:r>
            <a:r>
              <a:rPr lang="pt-BR" b="1" dirty="0" smtClean="0">
                <a:solidFill>
                  <a:srgbClr val="FF0000"/>
                </a:solidFill>
              </a:rPr>
              <a:t>federativas. </a:t>
            </a:r>
            <a:r>
              <a:rPr lang="pt-BR" dirty="0"/>
              <a:t>(ARE 756636 </a:t>
            </a:r>
            <a:r>
              <a:rPr lang="pt-BR" dirty="0" err="1"/>
              <a:t>AgR</a:t>
            </a:r>
            <a:r>
              <a:rPr lang="pt-BR" dirty="0"/>
              <a:t>, Relator:  Min. Dias </a:t>
            </a:r>
            <a:r>
              <a:rPr lang="pt-BR" dirty="0" err="1"/>
              <a:t>Toffoli</a:t>
            </a:r>
            <a:r>
              <a:rPr lang="pt-BR" dirty="0"/>
              <a:t>, Primeira Turma, publicado em 30/05/2014).</a:t>
            </a:r>
          </a:p>
        </p:txBody>
      </p:sp>
    </p:spTree>
    <p:extLst>
      <p:ext uri="{BB962C8B-B14F-4D97-AF65-F5344CB8AC3E}">
        <p14:creationId xmlns:p14="http://schemas.microsoft.com/office/powerpoint/2010/main" val="193295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Art</a:t>
            </a:r>
            <a:r>
              <a:rPr lang="pt-BR" dirty="0"/>
              <a:t>. </a:t>
            </a:r>
            <a:r>
              <a:rPr lang="pt-BR" dirty="0" smtClean="0"/>
              <a:t>2º </a:t>
            </a:r>
            <a:r>
              <a:rPr lang="pt-BR" dirty="0"/>
              <a:t>O Imposto </a:t>
            </a:r>
            <a:r>
              <a:rPr lang="pt-BR" b="1" dirty="0"/>
              <a:t>incide </a:t>
            </a:r>
            <a:r>
              <a:rPr lang="pt-BR" dirty="0"/>
              <a:t>sobre:</a:t>
            </a:r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</a:t>
            </a:r>
            <a:r>
              <a:rPr lang="pt-BR" dirty="0" smtClean="0"/>
              <a:t>prestações </a:t>
            </a:r>
            <a:r>
              <a:rPr lang="pt-BR" dirty="0"/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de transporte </a:t>
            </a:r>
            <a:r>
              <a:rPr lang="pt-BR" b="1" u="sng" dirty="0">
                <a:solidFill>
                  <a:srgbClr val="0000FF"/>
                </a:solidFill>
              </a:rPr>
              <a:t>inter</a:t>
            </a:r>
            <a:r>
              <a:rPr lang="pt-BR" b="1" dirty="0">
                <a:solidFill>
                  <a:srgbClr val="0000FF"/>
                </a:solidFill>
              </a:rPr>
              <a:t>estadual </a:t>
            </a:r>
            <a:r>
              <a:rPr lang="pt-BR" b="1" dirty="0" smtClean="0">
                <a:solidFill>
                  <a:srgbClr val="0000FF"/>
                </a:solidFill>
              </a:rPr>
              <a:t>e </a:t>
            </a:r>
            <a:r>
              <a:rPr lang="pt-BR" b="1" u="sng" dirty="0" smtClean="0">
                <a:solidFill>
                  <a:srgbClr val="0000FF"/>
                </a:solidFill>
              </a:rPr>
              <a:t>inter</a:t>
            </a:r>
            <a:r>
              <a:rPr lang="pt-BR" b="1" dirty="0" smtClean="0">
                <a:solidFill>
                  <a:srgbClr val="0000FF"/>
                </a:solidFill>
              </a:rPr>
              <a:t>municipal</a:t>
            </a:r>
            <a:r>
              <a:rPr lang="pt-BR" b="1" dirty="0">
                <a:solidFill>
                  <a:srgbClr val="0000FF"/>
                </a:solidFill>
              </a:rPr>
              <a:t>, por qualquer via, de pessoas, bens, </a:t>
            </a:r>
            <a:r>
              <a:rPr lang="pt-BR" b="1" dirty="0" smtClean="0">
                <a:solidFill>
                  <a:srgbClr val="0000FF"/>
                </a:solidFill>
              </a:rPr>
              <a:t>mercadorias ou </a:t>
            </a:r>
            <a:r>
              <a:rPr lang="pt-BR" b="1" dirty="0">
                <a:solidFill>
                  <a:srgbClr val="0000FF"/>
                </a:solidFill>
              </a:rPr>
              <a:t>valores</a:t>
            </a:r>
            <a:r>
              <a:rPr lang="pt-BR" b="1" dirty="0" smtClean="0"/>
              <a:t>;</a:t>
            </a:r>
          </a:p>
          <a:p>
            <a:pPr marL="45720" indent="0" algn="just">
              <a:buNone/>
            </a:pPr>
            <a:endParaRPr lang="pt-BR" b="1" dirty="0"/>
          </a:p>
          <a:p>
            <a:pPr marL="45720" indent="0" algn="just">
              <a:buNone/>
            </a:pPr>
            <a:r>
              <a:rPr lang="pt-BR" b="1" dirty="0" err="1" smtClean="0"/>
              <a:t>Obs</a:t>
            </a:r>
            <a:r>
              <a:rPr lang="pt-BR" b="1" dirty="0" smtClean="0"/>
              <a:t>: </a:t>
            </a:r>
            <a:r>
              <a:rPr lang="pt-BR" dirty="0" smtClean="0"/>
              <a:t>Segundo o STF (ADI 1600/DF) adotou o posicionamento  a favor </a:t>
            </a:r>
            <a:r>
              <a:rPr lang="pt-BR" b="1" dirty="0" smtClean="0"/>
              <a:t>da </a:t>
            </a:r>
            <a:r>
              <a:rPr lang="pt-BR" b="1" u="sng" dirty="0" smtClean="0">
                <a:solidFill>
                  <a:srgbClr val="FF0000"/>
                </a:solidFill>
              </a:rPr>
              <a:t>não incidência em transporte aéreo de passageiros</a:t>
            </a:r>
            <a:r>
              <a:rPr lang="pt-BR" b="1" dirty="0" smtClean="0"/>
              <a:t>, </a:t>
            </a:r>
            <a:r>
              <a:rPr lang="pt-BR" b="1" dirty="0" smtClean="0">
                <a:solidFill>
                  <a:srgbClr val="0000FF"/>
                </a:solidFill>
              </a:rPr>
              <a:t>seja internacional, interestadual ou intermunicipal</a:t>
            </a:r>
            <a:r>
              <a:rPr lang="pt-BR" b="1" dirty="0" smtClean="0"/>
              <a:t>.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65509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Art</a:t>
            </a:r>
            <a:r>
              <a:rPr lang="pt-BR" dirty="0"/>
              <a:t>. </a:t>
            </a:r>
            <a:r>
              <a:rPr lang="pt-BR" dirty="0" smtClean="0"/>
              <a:t>2º </a:t>
            </a:r>
            <a:r>
              <a:rPr lang="pt-BR" dirty="0"/>
              <a:t>O Imposto </a:t>
            </a:r>
            <a:r>
              <a:rPr lang="pt-BR" b="1" dirty="0"/>
              <a:t>incide </a:t>
            </a:r>
            <a:r>
              <a:rPr lang="pt-BR" dirty="0"/>
              <a:t>sobre:</a:t>
            </a:r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u="sng" dirty="0">
                <a:solidFill>
                  <a:srgbClr val="0000FF"/>
                </a:solidFill>
              </a:rPr>
              <a:t>onerosas</a:t>
            </a:r>
            <a:r>
              <a:rPr lang="pt-BR" b="1" dirty="0">
                <a:solidFill>
                  <a:srgbClr val="0000FF"/>
                </a:solidFill>
              </a:rPr>
              <a:t> de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comunicação</a:t>
            </a:r>
            <a:r>
              <a:rPr lang="pt-BR" dirty="0"/>
              <a:t>, </a:t>
            </a:r>
            <a:r>
              <a:rPr lang="pt-BR" b="1" dirty="0" smtClean="0"/>
              <a:t>por qualquer </a:t>
            </a:r>
            <a:r>
              <a:rPr lang="pt-BR" b="1" dirty="0"/>
              <a:t>meio</a:t>
            </a:r>
            <a:r>
              <a:rPr lang="pt-BR" dirty="0"/>
              <a:t>, inclusive a </a:t>
            </a:r>
            <a:r>
              <a:rPr lang="pt-BR" dirty="0" smtClean="0"/>
              <a:t>geração</a:t>
            </a:r>
            <a:r>
              <a:rPr lang="pt-BR" dirty="0"/>
              <a:t>, a </a:t>
            </a:r>
            <a:r>
              <a:rPr lang="pt-BR" dirty="0" smtClean="0"/>
              <a:t>emissão</a:t>
            </a:r>
            <a:r>
              <a:rPr lang="pt-BR" dirty="0"/>
              <a:t>, a </a:t>
            </a:r>
            <a:r>
              <a:rPr lang="pt-BR" dirty="0" smtClean="0"/>
              <a:t>recepção</a:t>
            </a:r>
            <a:r>
              <a:rPr lang="pt-BR" dirty="0"/>
              <a:t>, </a:t>
            </a:r>
            <a:r>
              <a:rPr lang="pt-BR" dirty="0" smtClean="0"/>
              <a:t>a transmissão</a:t>
            </a:r>
            <a:r>
              <a:rPr lang="pt-BR" dirty="0"/>
              <a:t>, a </a:t>
            </a:r>
            <a:r>
              <a:rPr lang="pt-BR" dirty="0" smtClean="0"/>
              <a:t>retransmissão</a:t>
            </a:r>
            <a:r>
              <a:rPr lang="pt-BR" dirty="0"/>
              <a:t>, a </a:t>
            </a:r>
            <a:r>
              <a:rPr lang="pt-BR" dirty="0" smtClean="0"/>
              <a:t>repetição </a:t>
            </a:r>
            <a:r>
              <a:rPr lang="pt-BR" dirty="0"/>
              <a:t>e a </a:t>
            </a:r>
            <a:r>
              <a:rPr lang="pt-BR" dirty="0" smtClean="0"/>
              <a:t>ampliação </a:t>
            </a:r>
            <a:r>
              <a:rPr lang="pt-BR" dirty="0"/>
              <a:t>de </a:t>
            </a:r>
            <a:r>
              <a:rPr lang="pt-BR" dirty="0" smtClean="0"/>
              <a:t>comunicação de </a:t>
            </a:r>
            <a:r>
              <a:rPr lang="pt-BR" dirty="0"/>
              <a:t>qualquer natureza;</a:t>
            </a:r>
          </a:p>
        </p:txBody>
      </p:sp>
    </p:spTree>
    <p:extLst>
      <p:ext uri="{BB962C8B-B14F-4D97-AF65-F5344CB8AC3E}">
        <p14:creationId xmlns:p14="http://schemas.microsoft.com/office/powerpoint/2010/main" val="411693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pt-BR" sz="1800" dirty="0"/>
              <a:t>IV - </a:t>
            </a:r>
            <a:r>
              <a:rPr lang="pt-BR" sz="1800" b="1" dirty="0"/>
              <a:t>fornecimento de mercadoria com </a:t>
            </a:r>
            <a:r>
              <a:rPr lang="pt-BR" sz="1800" b="1" dirty="0" smtClean="0"/>
              <a:t>prestação </a:t>
            </a:r>
            <a:r>
              <a:rPr lang="pt-BR" sz="1800" b="1" dirty="0"/>
              <a:t>de </a:t>
            </a:r>
            <a:r>
              <a:rPr lang="pt-BR" sz="1800" b="1" dirty="0" smtClean="0"/>
              <a:t>serviços:</a:t>
            </a:r>
          </a:p>
          <a:p>
            <a:pPr marL="45720" indent="0" algn="just">
              <a:buNone/>
            </a:pPr>
            <a:r>
              <a:rPr lang="pt-BR" sz="1800" dirty="0" smtClean="0"/>
              <a:t>a</a:t>
            </a:r>
            <a:r>
              <a:rPr lang="pt-BR" sz="1800" dirty="0"/>
              <a:t>) </a:t>
            </a:r>
            <a:r>
              <a:rPr lang="pt-BR" sz="1800" b="1" dirty="0" smtClean="0">
                <a:solidFill>
                  <a:srgbClr val="0000FF"/>
                </a:solidFill>
              </a:rPr>
              <a:t>não </a:t>
            </a:r>
            <a:r>
              <a:rPr lang="pt-BR" sz="1800" b="1" dirty="0">
                <a:solidFill>
                  <a:srgbClr val="0000FF"/>
                </a:solidFill>
              </a:rPr>
              <a:t>compreendidos na </a:t>
            </a:r>
            <a:r>
              <a:rPr lang="pt-BR" sz="1800" b="1" dirty="0" smtClean="0">
                <a:solidFill>
                  <a:srgbClr val="0000FF"/>
                </a:solidFill>
              </a:rPr>
              <a:t>competência tributária </a:t>
            </a:r>
            <a:r>
              <a:rPr lang="pt-BR" sz="1800" b="1" dirty="0">
                <a:solidFill>
                  <a:srgbClr val="0000FF"/>
                </a:solidFill>
              </a:rPr>
              <a:t>dos </a:t>
            </a:r>
            <a:r>
              <a:rPr lang="pt-BR" sz="1800" b="1" dirty="0" smtClean="0">
                <a:solidFill>
                  <a:srgbClr val="0000FF"/>
                </a:solidFill>
              </a:rPr>
              <a:t>Municípios</a:t>
            </a:r>
            <a:r>
              <a:rPr lang="pt-BR" sz="1800" b="1" dirty="0"/>
              <a:t>;</a:t>
            </a:r>
          </a:p>
          <a:p>
            <a:pPr marL="45720" indent="0" algn="just">
              <a:buNone/>
            </a:pPr>
            <a:r>
              <a:rPr lang="pt-BR" sz="1800" dirty="0"/>
              <a:t>b) </a:t>
            </a:r>
            <a:r>
              <a:rPr lang="pt-BR" sz="1800" b="1" dirty="0">
                <a:solidFill>
                  <a:srgbClr val="0000FF"/>
                </a:solidFill>
              </a:rPr>
              <a:t>compreendidos na </a:t>
            </a:r>
            <a:r>
              <a:rPr lang="pt-BR" sz="1800" b="1" dirty="0" smtClean="0">
                <a:solidFill>
                  <a:srgbClr val="0000FF"/>
                </a:solidFill>
              </a:rPr>
              <a:t>competência tributária </a:t>
            </a:r>
            <a:r>
              <a:rPr lang="pt-BR" sz="1800" b="1" dirty="0">
                <a:solidFill>
                  <a:srgbClr val="0000FF"/>
                </a:solidFill>
              </a:rPr>
              <a:t>dos </a:t>
            </a:r>
            <a:r>
              <a:rPr lang="pt-BR" sz="1800" b="1" dirty="0" smtClean="0">
                <a:solidFill>
                  <a:srgbClr val="0000FF"/>
                </a:solidFill>
              </a:rPr>
              <a:t>Municípios </a:t>
            </a:r>
            <a:r>
              <a:rPr lang="pt-BR" sz="1800" b="1" dirty="0" smtClean="0">
                <a:solidFill>
                  <a:srgbClr val="FF0000"/>
                </a:solidFill>
              </a:rPr>
              <a:t>e com indicação </a:t>
            </a:r>
            <a:r>
              <a:rPr lang="pt-BR" sz="1800" b="1" dirty="0">
                <a:solidFill>
                  <a:srgbClr val="FF0000"/>
                </a:solidFill>
              </a:rPr>
              <a:t>expressa, em lei complementar </a:t>
            </a:r>
            <a:r>
              <a:rPr lang="pt-BR" sz="1800" b="1" dirty="0" smtClean="0">
                <a:solidFill>
                  <a:srgbClr val="FF0000"/>
                </a:solidFill>
              </a:rPr>
              <a:t>aplicável</a:t>
            </a:r>
            <a:r>
              <a:rPr lang="pt-BR" sz="1800" b="1" dirty="0">
                <a:solidFill>
                  <a:srgbClr val="FF0000"/>
                </a:solidFill>
              </a:rPr>
              <a:t>, </a:t>
            </a:r>
            <a:r>
              <a:rPr lang="pt-BR" sz="1800" b="1" dirty="0" smtClean="0">
                <a:solidFill>
                  <a:srgbClr val="FF0000"/>
                </a:solidFill>
              </a:rPr>
              <a:t>da incidência </a:t>
            </a:r>
            <a:r>
              <a:rPr lang="pt-BR" sz="1800" b="1" dirty="0">
                <a:solidFill>
                  <a:srgbClr val="FF0000"/>
                </a:solidFill>
              </a:rPr>
              <a:t>do ICMS</a:t>
            </a:r>
            <a:r>
              <a:rPr lang="pt-BR" sz="1800" b="1" dirty="0" smtClean="0"/>
              <a:t>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548681"/>
            <a:ext cx="7702624" cy="1008111"/>
          </a:xfrm>
        </p:spPr>
        <p:txBody>
          <a:bodyPr/>
          <a:lstStyle/>
          <a:p>
            <a:pPr marL="182880" indent="0" algn="ctr">
              <a:buNone/>
            </a:pPr>
            <a:r>
              <a:rPr lang="pt-BR" dirty="0" smtClean="0"/>
              <a:t>Incidência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/>
          </p:nvPr>
        </p:nvGraphicFramePr>
        <p:xfrm>
          <a:off x="611560" y="1772816"/>
          <a:ext cx="763284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ítulo 1"/>
          <p:cNvSpPr txBox="1">
            <a:spLocks/>
          </p:cNvSpPr>
          <p:nvPr/>
        </p:nvSpPr>
        <p:spPr>
          <a:xfrm>
            <a:off x="2915816" y="4293096"/>
            <a:ext cx="936104" cy="2880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>
              <a:buNone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29469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Autofit/>
          </a:bodyPr>
          <a:lstStyle/>
          <a:p>
            <a:pPr marL="45720" indent="0" algn="just">
              <a:buNone/>
            </a:pPr>
            <a:r>
              <a:rPr lang="pt-BR" sz="1800" dirty="0" smtClean="0"/>
              <a:t>§1º </a:t>
            </a:r>
            <a:r>
              <a:rPr lang="pt-BR" sz="1800" dirty="0"/>
              <a:t>O </a:t>
            </a:r>
            <a:r>
              <a:rPr lang="pt-BR" sz="1800" b="1" dirty="0"/>
              <a:t>imposto incide </a:t>
            </a:r>
            <a:r>
              <a:rPr lang="pt-BR" sz="1800" dirty="0" smtClean="0"/>
              <a:t>também </a:t>
            </a:r>
            <a:r>
              <a:rPr lang="pt-BR" sz="1800" dirty="0"/>
              <a:t>sobre:</a:t>
            </a:r>
          </a:p>
          <a:p>
            <a:pPr marL="45720" indent="0" algn="just">
              <a:buNone/>
            </a:pPr>
            <a:r>
              <a:rPr lang="pt-BR" sz="1800" dirty="0"/>
              <a:t>I - a </a:t>
            </a:r>
            <a:r>
              <a:rPr lang="pt-BR" sz="1800" b="1" dirty="0">
                <a:solidFill>
                  <a:srgbClr val="0000FF"/>
                </a:solidFill>
              </a:rPr>
              <a:t>entrada de mercadoria ou bem importados do exterior</a:t>
            </a:r>
            <a:r>
              <a:rPr lang="pt-BR" sz="1800" b="1" dirty="0"/>
              <a:t>, </a:t>
            </a:r>
            <a:r>
              <a:rPr lang="pt-BR" sz="1800" b="1" dirty="0" smtClean="0"/>
              <a:t>por pessoa física </a:t>
            </a:r>
            <a:r>
              <a:rPr lang="pt-BR" sz="1800" b="1" dirty="0"/>
              <a:t>ou </a:t>
            </a:r>
            <a:r>
              <a:rPr lang="pt-BR" sz="1800" b="1" dirty="0" smtClean="0"/>
              <a:t>jurídica</a:t>
            </a:r>
            <a:r>
              <a:rPr lang="pt-BR" sz="1800" b="1" dirty="0"/>
              <a:t>, ainda que </a:t>
            </a:r>
            <a:r>
              <a:rPr lang="pt-BR" sz="1800" b="1" dirty="0" smtClean="0"/>
              <a:t>não </a:t>
            </a:r>
            <a:r>
              <a:rPr lang="pt-BR" sz="1800" b="1" dirty="0"/>
              <a:t>seja contribuinte </a:t>
            </a:r>
            <a:r>
              <a:rPr lang="pt-BR" sz="1800" b="1" dirty="0" smtClean="0"/>
              <a:t>habitual do </a:t>
            </a:r>
            <a:r>
              <a:rPr lang="pt-BR" sz="1800" b="1" dirty="0"/>
              <a:t>imposto</a:t>
            </a:r>
            <a:r>
              <a:rPr lang="pt-BR" sz="1800" dirty="0"/>
              <a:t>, </a:t>
            </a:r>
            <a:r>
              <a:rPr lang="pt-BR" sz="1800" b="1" dirty="0"/>
              <a:t>qualquer que seja a sua finalidade</a:t>
            </a:r>
            <a:r>
              <a:rPr lang="pt-BR" sz="1800" dirty="0"/>
              <a:t>;</a:t>
            </a:r>
          </a:p>
          <a:p>
            <a:pPr marL="45720" indent="0" algn="just">
              <a:buNone/>
            </a:pPr>
            <a:r>
              <a:rPr lang="pt-BR" sz="1800" dirty="0"/>
              <a:t>II - </a:t>
            </a:r>
            <a:r>
              <a:rPr lang="pt-BR" sz="1800" b="1" dirty="0"/>
              <a:t>o </a:t>
            </a:r>
            <a:r>
              <a:rPr lang="pt-BR" sz="1800" b="1" dirty="0" smtClean="0">
                <a:solidFill>
                  <a:srgbClr val="0000FF"/>
                </a:solidFill>
              </a:rPr>
              <a:t>serviço </a:t>
            </a:r>
            <a:r>
              <a:rPr lang="pt-BR" sz="1800" b="1" dirty="0">
                <a:solidFill>
                  <a:srgbClr val="0000FF"/>
                </a:solidFill>
              </a:rPr>
              <a:t>prestado no exterior </a:t>
            </a:r>
            <a:r>
              <a:rPr lang="pt-BR" sz="1800" dirty="0"/>
              <a:t>ou cuja </a:t>
            </a:r>
            <a:r>
              <a:rPr lang="pt-BR" sz="1800" dirty="0" smtClean="0"/>
              <a:t>prestação </a:t>
            </a:r>
            <a:r>
              <a:rPr lang="pt-BR" sz="1800" dirty="0"/>
              <a:t>se tenha </a:t>
            </a:r>
            <a:r>
              <a:rPr lang="pt-BR" sz="1800" dirty="0" smtClean="0"/>
              <a:t>iniciado no </a:t>
            </a:r>
            <a:r>
              <a:rPr lang="pt-BR" sz="1800" dirty="0"/>
              <a:t>exterior;</a:t>
            </a:r>
          </a:p>
        </p:txBody>
      </p:sp>
    </p:spTree>
    <p:extLst>
      <p:ext uri="{BB962C8B-B14F-4D97-AF65-F5344CB8AC3E}">
        <p14:creationId xmlns:p14="http://schemas.microsoft.com/office/powerpoint/2010/main" val="179053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sz="2400" dirty="0"/>
              <a:t>§1º O </a:t>
            </a:r>
            <a:r>
              <a:rPr lang="pt-BR" sz="2400" b="1" dirty="0"/>
              <a:t>imposto incide </a:t>
            </a:r>
            <a:r>
              <a:rPr lang="pt-BR" sz="2400" dirty="0"/>
              <a:t>também sobre:</a:t>
            </a:r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a entrada no </a:t>
            </a:r>
            <a:r>
              <a:rPr lang="pt-BR" dirty="0" smtClean="0"/>
              <a:t>território </a:t>
            </a:r>
            <a:r>
              <a:rPr lang="pt-BR" dirty="0"/>
              <a:t>do Distrito Federal, proveniente </a:t>
            </a:r>
            <a:r>
              <a:rPr lang="pt-BR" dirty="0" smtClean="0"/>
              <a:t>de outra </a:t>
            </a:r>
            <a:r>
              <a:rPr lang="pt-BR" dirty="0"/>
              <a:t>unidade federada, de</a:t>
            </a:r>
            <a:r>
              <a:rPr lang="pt-BR" dirty="0" smtClean="0"/>
              <a:t>:</a:t>
            </a:r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dirty="0">
                <a:solidFill>
                  <a:srgbClr val="0000FF"/>
                </a:solidFill>
              </a:rPr>
              <a:t>bens ou </a:t>
            </a:r>
            <a:r>
              <a:rPr lang="pt-BR" dirty="0" smtClean="0">
                <a:solidFill>
                  <a:srgbClr val="0000FF"/>
                </a:solidFill>
              </a:rPr>
              <a:t>serviços </a:t>
            </a:r>
            <a:r>
              <a:rPr lang="pt-BR" dirty="0">
                <a:solidFill>
                  <a:srgbClr val="0000FF"/>
                </a:solidFill>
              </a:rPr>
              <a:t>adquiridos </a:t>
            </a:r>
            <a:r>
              <a:rPr lang="pt-BR" dirty="0">
                <a:solidFill>
                  <a:srgbClr val="FF0000"/>
                </a:solidFill>
              </a:rPr>
              <a:t>por contribuinte do </a:t>
            </a:r>
            <a:r>
              <a:rPr lang="pt-BR" dirty="0" smtClean="0">
                <a:solidFill>
                  <a:srgbClr val="FF0000"/>
                </a:solidFill>
              </a:rPr>
              <a:t>imposto</a:t>
            </a:r>
            <a:r>
              <a:rPr lang="pt-BR" dirty="0" smtClean="0"/>
              <a:t>, </a:t>
            </a:r>
            <a:r>
              <a:rPr lang="pt-BR" dirty="0" smtClean="0">
                <a:solidFill>
                  <a:srgbClr val="0000FF"/>
                </a:solidFill>
              </a:rPr>
              <a:t>destinados </a:t>
            </a:r>
            <a:r>
              <a:rPr lang="pt-BR" dirty="0">
                <a:solidFill>
                  <a:srgbClr val="0000FF"/>
                </a:solidFill>
              </a:rPr>
              <a:t>a uso, consumo ou ativo permanente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c) </a:t>
            </a:r>
            <a:r>
              <a:rPr lang="pt-BR" dirty="0">
                <a:solidFill>
                  <a:srgbClr val="0000FF"/>
                </a:solidFill>
              </a:rPr>
              <a:t>energia </a:t>
            </a:r>
            <a:r>
              <a:rPr lang="pt-BR" dirty="0" smtClean="0">
                <a:solidFill>
                  <a:srgbClr val="0000FF"/>
                </a:solidFill>
              </a:rPr>
              <a:t>elétrica </a:t>
            </a:r>
            <a:r>
              <a:rPr lang="pt-BR" dirty="0">
                <a:solidFill>
                  <a:srgbClr val="0000FF"/>
                </a:solidFill>
              </a:rPr>
              <a:t>e </a:t>
            </a:r>
            <a:r>
              <a:rPr lang="pt-BR" dirty="0" smtClean="0">
                <a:solidFill>
                  <a:srgbClr val="0000FF"/>
                </a:solidFill>
              </a:rPr>
              <a:t>petróleo</a:t>
            </a:r>
            <a:r>
              <a:rPr lang="pt-BR" dirty="0">
                <a:solidFill>
                  <a:srgbClr val="0000FF"/>
                </a:solidFill>
              </a:rPr>
              <a:t>, </a:t>
            </a:r>
            <a:r>
              <a:rPr lang="pt-BR" dirty="0" smtClean="0">
                <a:solidFill>
                  <a:srgbClr val="0000FF"/>
                </a:solidFill>
              </a:rPr>
              <a:t>inclusive lubrificantes e combustíveis líquidos </a:t>
            </a:r>
            <a:r>
              <a:rPr lang="pt-BR" dirty="0">
                <a:solidFill>
                  <a:srgbClr val="0000FF"/>
                </a:solidFill>
              </a:rPr>
              <a:t>e gasosos dele derivados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quando </a:t>
            </a:r>
            <a:r>
              <a:rPr lang="pt-BR" u="sng" dirty="0" smtClean="0">
                <a:solidFill>
                  <a:srgbClr val="FF0000"/>
                </a:solidFill>
              </a:rPr>
              <a:t>não</a:t>
            </a:r>
            <a:r>
              <a:rPr lang="pt-BR" dirty="0" smtClean="0">
                <a:solidFill>
                  <a:srgbClr val="FF0000"/>
                </a:solidFill>
              </a:rPr>
              <a:t> destinados à comercialização </a:t>
            </a:r>
            <a:r>
              <a:rPr lang="pt-BR" dirty="0">
                <a:solidFill>
                  <a:srgbClr val="FF0000"/>
                </a:solidFill>
              </a:rPr>
              <a:t>ou </a:t>
            </a:r>
            <a:r>
              <a:rPr lang="pt-BR" dirty="0" smtClean="0">
                <a:solidFill>
                  <a:srgbClr val="FF0000"/>
                </a:solidFill>
              </a:rPr>
              <a:t>à industrialização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5576" y="548681"/>
            <a:ext cx="7702624" cy="1008111"/>
          </a:xfrm>
        </p:spPr>
        <p:txBody>
          <a:bodyPr/>
          <a:lstStyle/>
          <a:p>
            <a:pPr marL="182880" indent="0" algn="ctr">
              <a:buNone/>
            </a:pPr>
            <a:r>
              <a:rPr lang="pt-BR" dirty="0" smtClean="0"/>
              <a:t>Incidência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277881119"/>
              </p:ext>
            </p:extLst>
          </p:nvPr>
        </p:nvGraphicFramePr>
        <p:xfrm>
          <a:off x="611560" y="1772816"/>
          <a:ext cx="7992888" cy="40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ítulo 1"/>
          <p:cNvSpPr txBox="1">
            <a:spLocks/>
          </p:cNvSpPr>
          <p:nvPr/>
        </p:nvSpPr>
        <p:spPr>
          <a:xfrm>
            <a:off x="2915816" y="4293096"/>
            <a:ext cx="936104" cy="288032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>
            <a:lvl1pPr marL="640080" indent="-457200" algn="l" defTabSz="914400" rtl="0" eaLnBrk="1" latinLnBrk="0" hangingPunct="1">
              <a:spcBef>
                <a:spcPct val="0"/>
              </a:spcBef>
              <a:buClr>
                <a:schemeClr val="accent6">
                  <a:lumMod val="75000"/>
                </a:schemeClr>
              </a:buClr>
              <a:buSzPct val="128000"/>
              <a:buFont typeface="Georgia" pitchFamily="18" charset="0"/>
              <a:buChar char="*"/>
              <a:defRPr sz="5400" b="1" i="0" kern="120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>
                  <a:reflection blurRad="6350" stA="55000" endA="300" endPos="455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82880" indent="0">
              <a:buNone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223578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pt-BR" dirty="0"/>
              <a:t>§</a:t>
            </a:r>
            <a:r>
              <a:rPr lang="pt-BR" dirty="0" smtClean="0"/>
              <a:t>1º O </a:t>
            </a:r>
            <a:r>
              <a:rPr lang="pt-BR" dirty="0"/>
              <a:t>Imposto incide </a:t>
            </a:r>
            <a:r>
              <a:rPr lang="pt-BR" dirty="0" smtClean="0"/>
              <a:t>também </a:t>
            </a:r>
            <a:r>
              <a:rPr lang="pt-BR" dirty="0"/>
              <a:t>sobre: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a entrada no </a:t>
            </a:r>
            <a:r>
              <a:rPr lang="pt-BR" dirty="0" smtClean="0"/>
              <a:t>território </a:t>
            </a:r>
            <a:r>
              <a:rPr lang="pt-BR" dirty="0"/>
              <a:t>do Distrito Federal, proveniente de outra unidade federada, de: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dirty="0" smtClean="0">
                <a:solidFill>
                  <a:srgbClr val="0000FF"/>
                </a:solidFill>
              </a:rPr>
              <a:t>mercadoria </a:t>
            </a:r>
            <a:r>
              <a:rPr lang="pt-BR" dirty="0">
                <a:solidFill>
                  <a:srgbClr val="0000FF"/>
                </a:solidFill>
              </a:rPr>
              <a:t>sujeita ao regime de pagamento antecipado</a:t>
            </a:r>
            <a:r>
              <a:rPr lang="pt-BR" dirty="0"/>
              <a:t> do imposto, inclusive aquela relacionada no Caderno I do Anexo IV a este Regulamento;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e</a:t>
            </a:r>
            <a:r>
              <a:rPr lang="pt-BR" dirty="0"/>
              <a:t>) </a:t>
            </a:r>
            <a:r>
              <a:rPr lang="pt-BR" dirty="0">
                <a:solidFill>
                  <a:srgbClr val="0000FF"/>
                </a:solidFill>
              </a:rPr>
              <a:t>mercadoria no sujeita ao regime de pagamento antecipado</a:t>
            </a:r>
            <a:r>
              <a:rPr lang="pt-BR" dirty="0"/>
              <a:t> do imposto </a:t>
            </a:r>
            <a:r>
              <a:rPr lang="pt-BR" dirty="0">
                <a:solidFill>
                  <a:srgbClr val="0000FF"/>
                </a:solidFill>
              </a:rPr>
              <a:t>adquirida por contribuinte </a:t>
            </a:r>
            <a:r>
              <a:rPr lang="pt-BR" dirty="0"/>
              <a:t>optante pelo Regime Especial Unificado de </a:t>
            </a:r>
            <a:r>
              <a:rPr lang="pt-BR" dirty="0" smtClean="0"/>
              <a:t>Arrecadação </a:t>
            </a:r>
            <a:r>
              <a:rPr lang="pt-BR" dirty="0"/>
              <a:t>de Tributos e </a:t>
            </a:r>
            <a:r>
              <a:rPr lang="pt-BR" dirty="0" smtClean="0"/>
              <a:t>Contribuições </a:t>
            </a:r>
            <a:r>
              <a:rPr lang="pt-BR" dirty="0"/>
              <a:t>devidos pelas Microempresas e Empresas de Pequeno Porte — </a:t>
            </a:r>
            <a:r>
              <a:rPr lang="pt-BR" dirty="0">
                <a:solidFill>
                  <a:srgbClr val="0000FF"/>
                </a:solidFill>
              </a:rPr>
              <a:t>Simples Nacional</a:t>
            </a:r>
            <a:r>
              <a:rPr lang="pt-BR" dirty="0"/>
              <a:t>, </a:t>
            </a:r>
            <a:r>
              <a:rPr lang="pt-BR" dirty="0" smtClean="0"/>
              <a:t>instituído </a:t>
            </a:r>
            <a:r>
              <a:rPr lang="pt-BR" dirty="0"/>
              <a:t>pela Lei Complementar Federal </a:t>
            </a:r>
            <a:r>
              <a:rPr lang="pt-BR" dirty="0" smtClean="0"/>
              <a:t>nº 123</a:t>
            </a:r>
            <a:r>
              <a:rPr lang="pt-BR" dirty="0"/>
              <a:t>, de 14 de dezembro de 2006;</a:t>
            </a:r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1º O </a:t>
            </a:r>
            <a:r>
              <a:rPr lang="pt-BR" dirty="0"/>
              <a:t>Imposto incide </a:t>
            </a:r>
            <a:r>
              <a:rPr lang="pt-BR" dirty="0" smtClean="0"/>
              <a:t>também </a:t>
            </a:r>
            <a:r>
              <a:rPr lang="pt-BR" dirty="0"/>
              <a:t>sobre: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a entrada no </a:t>
            </a:r>
            <a:r>
              <a:rPr lang="pt-BR" dirty="0" smtClean="0"/>
              <a:t>território </a:t>
            </a:r>
            <a:r>
              <a:rPr lang="pt-BR" dirty="0"/>
              <a:t>do Distrito Federal, proveniente de outra unidade federada, de: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d</a:t>
            </a:r>
            <a:r>
              <a:rPr lang="pt-BR" dirty="0"/>
              <a:t>) </a:t>
            </a:r>
            <a:r>
              <a:rPr lang="pt-BR" b="1" dirty="0">
                <a:solidFill>
                  <a:srgbClr val="0000FF"/>
                </a:solidFill>
              </a:rPr>
              <a:t>mercadoria a ser comercializada sem </a:t>
            </a:r>
            <a:r>
              <a:rPr lang="pt-BR" b="1" dirty="0" smtClean="0">
                <a:solidFill>
                  <a:srgbClr val="0000FF"/>
                </a:solidFill>
              </a:rPr>
              <a:t>destinatário </a:t>
            </a:r>
            <a:r>
              <a:rPr lang="pt-BR" b="1" dirty="0">
                <a:solidFill>
                  <a:srgbClr val="0000FF"/>
                </a:solidFill>
              </a:rPr>
              <a:t>certo ou destinada a estabelecimento em </a:t>
            </a:r>
            <a:r>
              <a:rPr lang="pt-BR" b="1" dirty="0" smtClean="0">
                <a:solidFill>
                  <a:srgbClr val="0000FF"/>
                </a:solidFill>
              </a:rPr>
              <a:t>situação </a:t>
            </a:r>
            <a:r>
              <a:rPr lang="pt-BR" b="1" dirty="0">
                <a:solidFill>
                  <a:srgbClr val="0000FF"/>
                </a:solidFill>
              </a:rPr>
              <a:t>cadastral irregular</a:t>
            </a:r>
            <a:r>
              <a:rPr lang="pt-BR" b="1" dirty="0" smtClean="0">
                <a:solidFill>
                  <a:srgbClr val="0000FF"/>
                </a:solidFill>
              </a:rPr>
              <a:t>.</a:t>
            </a:r>
            <a:endParaRPr lang="pt-BR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Base do ICMS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85000" lnSpcReduction="10000"/>
          </a:bodyPr>
          <a:lstStyle/>
          <a:p>
            <a:pPr marL="45720" indent="0" algn="just">
              <a:buNone/>
            </a:pPr>
            <a:r>
              <a:rPr lang="pt-BR" sz="2000" dirty="0">
                <a:solidFill>
                  <a:srgbClr val="0000FF"/>
                </a:solidFill>
              </a:rPr>
              <a:t>Suspensão: </a:t>
            </a:r>
            <a:r>
              <a:rPr lang="pt-BR" sz="2000" dirty="0"/>
              <a:t>é o adiamento do pagamento do imposto, sendo que esse pagamento será feito pelo próprio contribuinte. </a:t>
            </a:r>
            <a:r>
              <a:rPr lang="pt-BR" sz="2000" i="1" dirty="0">
                <a:solidFill>
                  <a:srgbClr val="002060"/>
                </a:solidFill>
              </a:rPr>
              <a:t>				</a:t>
            </a:r>
            <a:r>
              <a:rPr lang="pt-BR" sz="2000" i="1" dirty="0"/>
              <a:t>(ANEXO I, DECRETO Nº 18.955/1997, CADERNO IV)</a:t>
            </a:r>
          </a:p>
          <a:p>
            <a:pPr algn="just"/>
            <a:endParaRPr lang="pt-BR" sz="2000" dirty="0">
              <a:solidFill>
                <a:srgbClr val="002060"/>
              </a:solidFill>
            </a:endParaRPr>
          </a:p>
          <a:p>
            <a:pPr marL="45720" indent="0" algn="just">
              <a:buNone/>
            </a:pPr>
            <a:r>
              <a:rPr lang="pt-BR" sz="2000" dirty="0">
                <a:solidFill>
                  <a:srgbClr val="0000FF"/>
                </a:solidFill>
              </a:rPr>
              <a:t>Diferimento: </a:t>
            </a:r>
            <a:r>
              <a:rPr lang="pt-BR" sz="2000" dirty="0"/>
              <a:t>é o </a:t>
            </a:r>
            <a:r>
              <a:rPr lang="pt-BR" sz="2000" dirty="0" smtClean="0"/>
              <a:t>adiamento </a:t>
            </a:r>
            <a:r>
              <a:rPr lang="pt-BR" sz="2000" dirty="0"/>
              <a:t>do pagamento do imposto, sendo que esse pagamento será por outro </a:t>
            </a:r>
            <a:r>
              <a:rPr lang="pt-BR" sz="2000" dirty="0" smtClean="0"/>
              <a:t>contribuinte</a:t>
            </a:r>
          </a:p>
          <a:p>
            <a:pPr marL="45720" indent="0" algn="just">
              <a:buNone/>
            </a:pPr>
            <a:r>
              <a:rPr lang="pt-BR" sz="2000" i="1" dirty="0">
                <a:solidFill>
                  <a:srgbClr val="C00000"/>
                </a:solidFill>
              </a:rPr>
              <a:t>	 	</a:t>
            </a:r>
            <a:r>
              <a:rPr lang="pt-BR" sz="2000" i="1" dirty="0"/>
              <a:t>(ANEXO I, DECRETO Nº 18.955/1997, CADERNO V)</a:t>
            </a:r>
          </a:p>
          <a:p>
            <a:pPr algn="just"/>
            <a:endParaRPr lang="pt-BR" sz="2000" i="1" dirty="0">
              <a:solidFill>
                <a:srgbClr val="C00000"/>
              </a:solidFill>
            </a:endParaRPr>
          </a:p>
          <a:p>
            <a:pPr marL="45720" indent="0" algn="just">
              <a:buNone/>
            </a:pPr>
            <a:r>
              <a:rPr lang="pt-BR" sz="2000" dirty="0">
                <a:solidFill>
                  <a:srgbClr val="0000FF"/>
                </a:solidFill>
              </a:rPr>
              <a:t>Isenção: </a:t>
            </a:r>
            <a:r>
              <a:rPr lang="pt-BR" sz="2000" dirty="0"/>
              <a:t>é a exclusão, por lei, de parcela da hipótese de incidência, sendo objeto da isenção a parcela que a lei retira dos fatos que realizam a hipótese de incidência da regra de tributação. Diante desse complexo conceito, podemos afirmar que a isenção é exceção feita por lei à regra jurídica tributária.</a:t>
            </a:r>
          </a:p>
          <a:p>
            <a:pPr marL="45720" indent="0" algn="just">
              <a:buNone/>
            </a:pPr>
            <a:r>
              <a:rPr lang="pt-BR" sz="2000" i="1" dirty="0">
                <a:solidFill>
                  <a:srgbClr val="C00000"/>
                </a:solidFill>
              </a:rPr>
              <a:t>		</a:t>
            </a:r>
            <a:r>
              <a:rPr lang="pt-BR" sz="2000" i="1" dirty="0"/>
              <a:t>(ANEXO I, DECRETO Nº 18.955/1997, CADERNO I)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2930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Base do ICMS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sz="2000" b="1" dirty="0">
                <a:solidFill>
                  <a:srgbClr val="0000FF"/>
                </a:solidFill>
              </a:rPr>
              <a:t>Incidência:</a:t>
            </a:r>
            <a:r>
              <a:rPr lang="pt-BR" sz="2000" dirty="0">
                <a:solidFill>
                  <a:srgbClr val="0000FF"/>
                </a:solidFill>
              </a:rPr>
              <a:t> </a:t>
            </a:r>
            <a:r>
              <a:rPr lang="pt-BR" sz="2000" dirty="0"/>
              <a:t>É a ocorrência </a:t>
            </a:r>
            <a:r>
              <a:rPr lang="pt-BR" sz="2000" dirty="0" smtClean="0"/>
              <a:t>de </a:t>
            </a:r>
            <a:r>
              <a:rPr lang="pt-BR" sz="2000" dirty="0"/>
              <a:t>situação previamente prevista, tipificada ou descrita </a:t>
            </a:r>
            <a:r>
              <a:rPr lang="pt-BR" sz="2000" dirty="0" smtClean="0"/>
              <a:t>em </a:t>
            </a:r>
            <a:r>
              <a:rPr lang="pt-BR" sz="2000" dirty="0"/>
              <a:t>lei, ou seja, a verificação do fato gerador do tributo.</a:t>
            </a:r>
          </a:p>
          <a:p>
            <a:pPr algn="just"/>
            <a:endParaRPr lang="pt-BR" sz="2000" dirty="0">
              <a:solidFill>
                <a:srgbClr val="002060"/>
              </a:solidFill>
            </a:endParaRPr>
          </a:p>
          <a:p>
            <a:pPr marL="45720" indent="0" algn="just">
              <a:buNone/>
            </a:pPr>
            <a:r>
              <a:rPr lang="pt-BR" sz="2000" b="1" dirty="0">
                <a:solidFill>
                  <a:srgbClr val="0000FF"/>
                </a:solidFill>
              </a:rPr>
              <a:t>Não-incidência: </a:t>
            </a:r>
            <a:r>
              <a:rPr lang="pt-BR" sz="2000" dirty="0"/>
              <a:t>É justa e exatamente o contrário, ou seja, são todas as hipóteses que não as previstas, tipificadas ou </a:t>
            </a:r>
            <a:r>
              <a:rPr lang="pt-BR" sz="2000" dirty="0" smtClean="0"/>
              <a:t>descritas</a:t>
            </a:r>
            <a:r>
              <a:rPr lang="pt-BR" sz="2000" dirty="0"/>
              <a:t> em lei, e, por isso, ficam fora do campo de incidência tributária, ou seja, é a não-ocorrência de fato gerador, porque, ou não há lei, ou se há, então a lei não prevê a hipótese de incidência específica e precisa (lacuna) para o evento verificado.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45629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Base do ICMS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sz="2000" b="1" dirty="0">
                <a:solidFill>
                  <a:srgbClr val="0000FF"/>
                </a:solidFill>
              </a:rPr>
              <a:t>Imunidade:</a:t>
            </a:r>
            <a:r>
              <a:rPr lang="pt-BR" sz="2000" dirty="0">
                <a:solidFill>
                  <a:srgbClr val="C00000"/>
                </a:solidFill>
              </a:rPr>
              <a:t> </a:t>
            </a:r>
            <a:r>
              <a:rPr lang="pt-BR" sz="2000" dirty="0"/>
              <a:t>A imunidade tributária ocorre quando a Constituição, ao realizar a repartição de competência, coloca fora do campo tributário certos bens, pessoas, patrimônios ou serviços.</a:t>
            </a:r>
          </a:p>
          <a:p>
            <a:pPr algn="just"/>
            <a:endParaRPr lang="pt-BR" sz="2000" dirty="0"/>
          </a:p>
          <a:p>
            <a:pPr marL="45720" indent="0" algn="just">
              <a:buNone/>
            </a:pPr>
            <a:r>
              <a:rPr lang="pt-BR" sz="2000" dirty="0"/>
              <a:t>Na imunidade, como na não-incidência, não há fato gerador, só que não porque a lei não descreva o fato como hipótese legal, mas sim porque a Constituição não permite que se encontre nos acontecimentos características de fato gerador de obrigação principal.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542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pt-BR" dirty="0"/>
              <a:t>Art. </a:t>
            </a:r>
            <a:r>
              <a:rPr lang="pt-BR" dirty="0" smtClean="0"/>
              <a:t>5º O </a:t>
            </a:r>
            <a:r>
              <a:rPr lang="pt-BR" dirty="0"/>
              <a:t>imposto </a:t>
            </a:r>
            <a:r>
              <a:rPr lang="pt-BR" dirty="0" smtClean="0"/>
              <a:t>não </a:t>
            </a:r>
            <a:r>
              <a:rPr lang="pt-BR" dirty="0"/>
              <a:t>incide sobre: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I - operação ou prestação que </a:t>
            </a:r>
            <a:r>
              <a:rPr lang="pt-BR" b="1" dirty="0">
                <a:solidFill>
                  <a:srgbClr val="0000FF"/>
                </a:solidFill>
              </a:rPr>
              <a:t>destine ao exterior </a:t>
            </a:r>
            <a:r>
              <a:rPr lang="pt-BR" dirty="0"/>
              <a:t>mercadorias, inclusive produtos primários e industrializados, bem como os </a:t>
            </a:r>
            <a:r>
              <a:rPr lang="pt-BR" dirty="0" err="1"/>
              <a:t>semi-elaborados</a:t>
            </a:r>
            <a:r>
              <a:rPr lang="pt-BR" dirty="0"/>
              <a:t>, ou serviços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§ 5º. A não-incidência prevista no inciso I do caput deste artigo aplica-se </a:t>
            </a:r>
            <a:r>
              <a:rPr lang="pt-BR" b="1" dirty="0">
                <a:solidFill>
                  <a:srgbClr val="0000FF"/>
                </a:solidFill>
              </a:rPr>
              <a:t>à saída de </a:t>
            </a:r>
            <a:r>
              <a:rPr lang="pt-BR" b="1" dirty="0" smtClean="0">
                <a:solidFill>
                  <a:srgbClr val="0000FF"/>
                </a:solidFill>
              </a:rPr>
              <a:t>produtos industrializados </a:t>
            </a:r>
            <a:r>
              <a:rPr lang="pt-BR" b="1" dirty="0">
                <a:solidFill>
                  <a:srgbClr val="0000FF"/>
                </a:solidFill>
              </a:rPr>
              <a:t>de origem nacional, destinada ao consumo ou uso de embarcações ou aeronaves </a:t>
            </a:r>
            <a:r>
              <a:rPr lang="pt-BR" b="1" dirty="0" smtClean="0">
                <a:solidFill>
                  <a:srgbClr val="0000FF"/>
                </a:solidFill>
              </a:rPr>
              <a:t>de bandeira </a:t>
            </a:r>
            <a:r>
              <a:rPr lang="pt-BR" b="1" dirty="0">
                <a:solidFill>
                  <a:srgbClr val="0000FF"/>
                </a:solidFill>
              </a:rPr>
              <a:t>estrangeira</a:t>
            </a:r>
            <a:r>
              <a:rPr lang="pt-BR" dirty="0"/>
              <a:t>, </a:t>
            </a:r>
            <a:r>
              <a:rPr lang="pt-BR" b="1" dirty="0">
                <a:solidFill>
                  <a:srgbClr val="FF0000"/>
                </a:solidFill>
              </a:rPr>
              <a:t>aportadas no País, qualquer que seja a finalidade do produto a bordo</a:t>
            </a:r>
            <a:r>
              <a:rPr lang="pt-BR" dirty="0"/>
              <a:t>, </a:t>
            </a:r>
            <a:r>
              <a:rPr lang="pt-BR" dirty="0" smtClean="0"/>
              <a:t>podendo este </a:t>
            </a:r>
            <a:r>
              <a:rPr lang="pt-BR" dirty="0"/>
              <a:t>destinar-se ao consumo da tripulação ou passageiros, ao uso ou consumo durável da </a:t>
            </a:r>
            <a:r>
              <a:rPr lang="pt-BR" dirty="0" smtClean="0"/>
              <a:t>própria embarcação </a:t>
            </a:r>
            <a:r>
              <a:rPr lang="pt-BR" dirty="0"/>
              <a:t>ou aeronave, ou à sua conservação ou manutenção, observadas as seguintes </a:t>
            </a:r>
            <a:r>
              <a:rPr lang="pt-BR" dirty="0" smtClean="0"/>
              <a:t>condições (Convênio </a:t>
            </a:r>
            <a:r>
              <a:rPr lang="pt-BR" dirty="0"/>
              <a:t>ICM 12/75):</a:t>
            </a:r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Não Incidência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pt-BR" dirty="0"/>
              <a:t>Art. </a:t>
            </a:r>
            <a:r>
              <a:rPr lang="pt-BR" dirty="0" smtClean="0"/>
              <a:t>5º O </a:t>
            </a:r>
            <a:r>
              <a:rPr lang="pt-BR" dirty="0"/>
              <a:t>imposto </a:t>
            </a:r>
            <a:r>
              <a:rPr lang="pt-BR" dirty="0" smtClean="0"/>
              <a:t>não </a:t>
            </a:r>
            <a:r>
              <a:rPr lang="pt-BR" dirty="0"/>
              <a:t>incide sobre: </a:t>
            </a:r>
            <a:endParaRPr lang="pt-BR" dirty="0" smtClean="0"/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II - operação que destine a outra unidade federada </a:t>
            </a:r>
            <a:r>
              <a:rPr lang="pt-BR" b="1" dirty="0">
                <a:solidFill>
                  <a:srgbClr val="0000FF"/>
                </a:solidFill>
              </a:rPr>
              <a:t>energia elétrica e petróleo</a:t>
            </a:r>
            <a:r>
              <a:rPr lang="pt-BR" dirty="0"/>
              <a:t>, inclusive lubrificantes, combustíveis líquidos e gasosos dele derivados, quando </a:t>
            </a:r>
            <a:r>
              <a:rPr lang="pt-BR" b="1" dirty="0">
                <a:solidFill>
                  <a:srgbClr val="0000FF"/>
                </a:solidFill>
              </a:rPr>
              <a:t>destinados à comercialização ou à industrialização</a:t>
            </a:r>
            <a:r>
              <a:rPr lang="pt-BR" dirty="0"/>
              <a:t>;</a:t>
            </a:r>
          </a:p>
          <a:p>
            <a:pPr marL="4572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684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III - operação com </a:t>
            </a:r>
            <a:r>
              <a:rPr lang="pt-BR" b="1" dirty="0">
                <a:solidFill>
                  <a:srgbClr val="0000FF"/>
                </a:solidFill>
              </a:rPr>
              <a:t>ouro</a:t>
            </a:r>
            <a:r>
              <a:rPr lang="pt-BR" dirty="0"/>
              <a:t>, quando definido em lei como </a:t>
            </a:r>
            <a:r>
              <a:rPr lang="pt-BR" b="1" dirty="0">
                <a:solidFill>
                  <a:srgbClr val="0000FF"/>
                </a:solidFill>
              </a:rPr>
              <a:t>ativo financeiro ou instrumento cambial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V - operação relativa a </a:t>
            </a:r>
            <a:r>
              <a:rPr lang="pt-BR" b="1" dirty="0">
                <a:solidFill>
                  <a:srgbClr val="0000FF"/>
                </a:solidFill>
              </a:rPr>
              <a:t>mercadorias</a:t>
            </a:r>
            <a:r>
              <a:rPr lang="pt-BR" dirty="0"/>
              <a:t> que tenham sido ou </a:t>
            </a:r>
            <a:r>
              <a:rPr lang="pt-BR" b="1" dirty="0">
                <a:solidFill>
                  <a:srgbClr val="0000FF"/>
                </a:solidFill>
              </a:rPr>
              <a:t>que se destinem a ser utilizadas na prestação</a:t>
            </a:r>
            <a:r>
              <a:rPr lang="pt-BR" dirty="0"/>
              <a:t>, pelo próprio autor da saída, </a:t>
            </a:r>
            <a:r>
              <a:rPr lang="pt-BR" b="1" dirty="0">
                <a:solidFill>
                  <a:srgbClr val="0000FF"/>
                </a:solidFill>
              </a:rPr>
              <a:t>de serviço compreendido na competência tributária dos Municípios</a:t>
            </a:r>
            <a:r>
              <a:rPr lang="pt-BR" dirty="0"/>
              <a:t>, ressalvadas as hipóteses previstas em lei complementar aplicável;</a:t>
            </a:r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/>
              <a:t>IV - operação com </a:t>
            </a:r>
            <a:r>
              <a:rPr lang="pt-BR" b="1" dirty="0">
                <a:solidFill>
                  <a:srgbClr val="0000FF"/>
                </a:solidFill>
              </a:rPr>
              <a:t>livros, jornais e periódicos</a:t>
            </a:r>
            <a:r>
              <a:rPr lang="pt-BR" dirty="0"/>
              <a:t>, bem como o </a:t>
            </a:r>
            <a:r>
              <a:rPr lang="pt-BR" b="1" dirty="0">
                <a:solidFill>
                  <a:srgbClr val="0000FF"/>
                </a:solidFill>
              </a:rPr>
              <a:t>papel destinado a sua impressão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§3º </a:t>
            </a:r>
            <a:r>
              <a:rPr lang="pt-BR" b="1" dirty="0" smtClean="0"/>
              <a:t>Considera-se </a:t>
            </a:r>
            <a:r>
              <a:rPr lang="pt-BR" b="1" dirty="0"/>
              <a:t>livro</a:t>
            </a:r>
            <a:r>
              <a:rPr lang="pt-BR" dirty="0"/>
              <a:t>, para efeitos do disposto no inciso IV do </a:t>
            </a:r>
            <a:r>
              <a:rPr lang="pt-BR" dirty="0" smtClean="0"/>
              <a:t>caput deste </a:t>
            </a:r>
            <a:r>
              <a:rPr lang="pt-BR" dirty="0"/>
              <a:t>artigo, </a:t>
            </a:r>
            <a:r>
              <a:rPr lang="pt-BR" b="1" dirty="0"/>
              <a:t>o volume ou tomo de </a:t>
            </a:r>
            <a:r>
              <a:rPr lang="pt-BR" b="1" dirty="0" smtClean="0"/>
              <a:t>publicação </a:t>
            </a:r>
            <a:r>
              <a:rPr lang="pt-BR" b="1" dirty="0"/>
              <a:t>de </a:t>
            </a:r>
            <a:r>
              <a:rPr lang="pt-BR" b="1" dirty="0" smtClean="0"/>
              <a:t>conteúdo</a:t>
            </a:r>
            <a:r>
              <a:rPr lang="pt-BR" b="1" dirty="0"/>
              <a:t> </a:t>
            </a:r>
            <a:r>
              <a:rPr lang="pt-BR" b="1" dirty="0" smtClean="0"/>
              <a:t>literário</a:t>
            </a:r>
            <a:r>
              <a:rPr lang="pt-BR" b="1" dirty="0"/>
              <a:t>, </a:t>
            </a:r>
            <a:r>
              <a:rPr lang="pt-BR" b="1" dirty="0" smtClean="0"/>
              <a:t>didático</a:t>
            </a:r>
            <a:r>
              <a:rPr lang="pt-BR" b="1" dirty="0"/>
              <a:t>, </a:t>
            </a:r>
            <a:r>
              <a:rPr lang="pt-BR" b="1" dirty="0" smtClean="0"/>
              <a:t>científico</a:t>
            </a:r>
            <a:r>
              <a:rPr lang="pt-BR" b="1" dirty="0"/>
              <a:t>, </a:t>
            </a:r>
            <a:r>
              <a:rPr lang="pt-BR" b="1" dirty="0" smtClean="0"/>
              <a:t>técnico </a:t>
            </a:r>
            <a:r>
              <a:rPr lang="pt-BR" b="1" dirty="0"/>
              <a:t>ou de </a:t>
            </a:r>
            <a:r>
              <a:rPr lang="pt-BR" b="1" dirty="0" smtClean="0"/>
              <a:t>entretenimento</a:t>
            </a:r>
            <a:r>
              <a:rPr lang="pt-BR" dirty="0" smtClean="0"/>
              <a:t>, excluídos</a:t>
            </a:r>
            <a:r>
              <a:rPr lang="pt-BR" dirty="0"/>
              <a:t>:</a:t>
            </a:r>
          </a:p>
          <a:p>
            <a:pPr marL="45720" indent="0" algn="just">
              <a:buNone/>
            </a:pPr>
            <a:r>
              <a:rPr lang="pt-BR" dirty="0"/>
              <a:t>I - os livros em branco ou simplesmente pautados, bem como os </a:t>
            </a:r>
            <a:r>
              <a:rPr lang="pt-BR" dirty="0" smtClean="0"/>
              <a:t>riscados para escrituração </a:t>
            </a:r>
            <a:r>
              <a:rPr lang="pt-BR" dirty="0"/>
              <a:t>de qualquer natureza;</a:t>
            </a:r>
          </a:p>
          <a:p>
            <a:pPr marL="45720" indent="0" algn="just">
              <a:buNone/>
            </a:pPr>
            <a:r>
              <a:rPr lang="pt-BR" dirty="0"/>
              <a:t>II - os livros pautados de uso comercial;</a:t>
            </a:r>
          </a:p>
          <a:p>
            <a:pPr marL="45720" indent="0" algn="just">
              <a:buNone/>
            </a:pPr>
            <a:r>
              <a:rPr lang="pt-BR" dirty="0"/>
              <a:t>III - as agendas e todos os livros deste tipo;</a:t>
            </a:r>
          </a:p>
          <a:p>
            <a:pPr marL="45720" indent="0" algn="just">
              <a:buNone/>
            </a:pPr>
            <a:r>
              <a:rPr lang="pt-BR" dirty="0"/>
              <a:t>IV - os </a:t>
            </a:r>
            <a:r>
              <a:rPr lang="pt-BR" dirty="0" smtClean="0"/>
              <a:t>catálogos</a:t>
            </a:r>
            <a:r>
              <a:rPr lang="pt-BR" dirty="0"/>
              <a:t>, listas e outros impressos que contenham </a:t>
            </a:r>
            <a:r>
              <a:rPr lang="pt-BR" dirty="0" smtClean="0"/>
              <a:t>propaganda comercial.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873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 smtClean="0"/>
              <a:t>A lei 1254/96 trouxe a o seguinte: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Lei 1.254/96. </a:t>
            </a:r>
            <a:r>
              <a:rPr lang="pt-BR" dirty="0" smtClean="0"/>
              <a:t>§4º As operações </a:t>
            </a:r>
            <a:r>
              <a:rPr lang="pt-BR" dirty="0"/>
              <a:t>com papel a que se refere o caput, </a:t>
            </a:r>
            <a:r>
              <a:rPr lang="pt-BR" dirty="0" smtClean="0"/>
              <a:t>IV, </a:t>
            </a:r>
            <a:r>
              <a:rPr lang="pt-BR" b="1" dirty="0" smtClean="0">
                <a:solidFill>
                  <a:srgbClr val="0000FF"/>
                </a:solidFill>
              </a:rPr>
              <a:t>abrangem </a:t>
            </a:r>
            <a:r>
              <a:rPr lang="pt-BR" b="1" dirty="0">
                <a:solidFill>
                  <a:srgbClr val="0000FF"/>
                </a:solidFill>
              </a:rPr>
              <a:t>apenas as atividades</a:t>
            </a:r>
            <a:r>
              <a:rPr lang="pt-BR" dirty="0"/>
              <a:t>:</a:t>
            </a:r>
          </a:p>
          <a:p>
            <a:pPr marL="45720" indent="0" algn="just">
              <a:buNone/>
            </a:pPr>
            <a:r>
              <a:rPr lang="pt-BR" dirty="0"/>
              <a:t>I </a:t>
            </a:r>
            <a:r>
              <a:rPr lang="pt-BR" dirty="0" smtClean="0"/>
              <a:t>- do </a:t>
            </a:r>
            <a:r>
              <a:rPr lang="pt-BR" b="1" dirty="0">
                <a:solidFill>
                  <a:srgbClr val="0000FF"/>
                </a:solidFill>
              </a:rPr>
              <a:t>fabricante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II </a:t>
            </a:r>
            <a:r>
              <a:rPr lang="pt-BR" dirty="0" smtClean="0"/>
              <a:t>- </a:t>
            </a:r>
            <a:r>
              <a:rPr lang="pt-BR" dirty="0"/>
              <a:t>do </a:t>
            </a:r>
            <a:r>
              <a:rPr lang="pt-BR" b="1" dirty="0" smtClean="0">
                <a:solidFill>
                  <a:srgbClr val="0000FF"/>
                </a:solidFill>
              </a:rPr>
              <a:t>usuário</a:t>
            </a:r>
            <a:r>
              <a:rPr lang="pt-BR" dirty="0"/>
              <a:t>, entendido como a </a:t>
            </a:r>
            <a:r>
              <a:rPr lang="pt-BR" b="1" dirty="0">
                <a:solidFill>
                  <a:srgbClr val="0000FF"/>
                </a:solidFill>
              </a:rPr>
              <a:t>empresa </a:t>
            </a:r>
            <a:r>
              <a:rPr lang="pt-BR" b="1" dirty="0" smtClean="0">
                <a:solidFill>
                  <a:srgbClr val="0000FF"/>
                </a:solidFill>
              </a:rPr>
              <a:t>jornalística </a:t>
            </a:r>
            <a:r>
              <a:rPr lang="pt-BR" dirty="0"/>
              <a:t>ou a </a:t>
            </a:r>
            <a:r>
              <a:rPr lang="pt-BR" b="1" dirty="0">
                <a:solidFill>
                  <a:srgbClr val="0000FF"/>
                </a:solidFill>
              </a:rPr>
              <a:t>editora </a:t>
            </a:r>
            <a:r>
              <a:rPr lang="pt-BR" b="1" dirty="0" smtClean="0">
                <a:solidFill>
                  <a:srgbClr val="0000FF"/>
                </a:solidFill>
              </a:rPr>
              <a:t>que explore </a:t>
            </a:r>
            <a:r>
              <a:rPr lang="pt-BR" b="1" dirty="0">
                <a:solidFill>
                  <a:srgbClr val="0000FF"/>
                </a:solidFill>
              </a:rPr>
              <a:t>a </a:t>
            </a:r>
            <a:r>
              <a:rPr lang="pt-BR" b="1" dirty="0" smtClean="0">
                <a:solidFill>
                  <a:srgbClr val="0000FF"/>
                </a:solidFill>
              </a:rPr>
              <a:t>indústria </a:t>
            </a:r>
            <a:r>
              <a:rPr lang="pt-BR" b="1" dirty="0">
                <a:solidFill>
                  <a:srgbClr val="0000FF"/>
                </a:solidFill>
              </a:rPr>
              <a:t>de livros, jornais ou </a:t>
            </a:r>
            <a:r>
              <a:rPr lang="pt-BR" b="1" dirty="0" smtClean="0">
                <a:solidFill>
                  <a:srgbClr val="0000FF"/>
                </a:solidFill>
              </a:rPr>
              <a:t>periódicos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III </a:t>
            </a:r>
            <a:r>
              <a:rPr lang="pt-BR" dirty="0" smtClean="0"/>
              <a:t>- </a:t>
            </a:r>
            <a:r>
              <a:rPr lang="pt-BR" dirty="0"/>
              <a:t>do </a:t>
            </a:r>
            <a:r>
              <a:rPr lang="pt-BR" b="1" dirty="0">
                <a:solidFill>
                  <a:srgbClr val="0000FF"/>
                </a:solidFill>
              </a:rPr>
              <a:t>importador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IV </a:t>
            </a:r>
            <a:r>
              <a:rPr lang="pt-BR" dirty="0" smtClean="0"/>
              <a:t>- </a:t>
            </a:r>
            <a:r>
              <a:rPr lang="pt-BR" dirty="0"/>
              <a:t>do </a:t>
            </a:r>
            <a:r>
              <a:rPr lang="pt-BR" b="1" dirty="0">
                <a:solidFill>
                  <a:srgbClr val="0000FF"/>
                </a:solidFill>
              </a:rPr>
              <a:t>distribuidor</a:t>
            </a:r>
            <a:r>
              <a:rPr lang="pt-BR" dirty="0"/>
              <a:t>;</a:t>
            </a:r>
          </a:p>
          <a:p>
            <a:pPr marL="45720" indent="0" algn="just">
              <a:buNone/>
            </a:pPr>
            <a:r>
              <a:rPr lang="pt-BR" dirty="0"/>
              <a:t>V </a:t>
            </a:r>
            <a:r>
              <a:rPr lang="pt-BR" dirty="0" smtClean="0"/>
              <a:t>- </a:t>
            </a:r>
            <a:r>
              <a:rPr lang="pt-BR" dirty="0"/>
              <a:t>da </a:t>
            </a:r>
            <a:r>
              <a:rPr lang="pt-BR" b="1" dirty="0" smtClean="0">
                <a:solidFill>
                  <a:srgbClr val="0000FF"/>
                </a:solidFill>
              </a:rPr>
              <a:t>gráfica</a:t>
            </a:r>
            <a:r>
              <a:rPr lang="pt-BR" dirty="0"/>
              <a:t>, entendida como aquela que </a:t>
            </a:r>
            <a:r>
              <a:rPr lang="pt-BR" b="1" dirty="0">
                <a:solidFill>
                  <a:srgbClr val="0000FF"/>
                </a:solidFill>
              </a:rPr>
              <a:t>realiza </a:t>
            </a:r>
            <a:r>
              <a:rPr lang="pt-BR" b="1" dirty="0" smtClean="0">
                <a:solidFill>
                  <a:srgbClr val="0000FF"/>
                </a:solidFill>
              </a:rPr>
              <a:t>impressão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jornais e periódicos</a:t>
            </a:r>
            <a:r>
              <a:rPr lang="pt-BR" dirty="0" smtClean="0"/>
              <a:t> </a:t>
            </a:r>
            <a:r>
              <a:rPr lang="pt-BR" dirty="0"/>
              <a:t>e recebe o papel de terceiros ou o </a:t>
            </a:r>
            <a:r>
              <a:rPr lang="pt-BR" b="1" dirty="0">
                <a:solidFill>
                  <a:srgbClr val="0000FF"/>
                </a:solidFill>
              </a:rPr>
              <a:t>adquire com </a:t>
            </a:r>
            <a:r>
              <a:rPr lang="pt-BR" b="1" dirty="0" smtClean="0">
                <a:solidFill>
                  <a:srgbClr val="0000FF"/>
                </a:solidFill>
              </a:rPr>
              <a:t>imunidade tributária</a:t>
            </a:r>
            <a:r>
              <a:rPr lang="pt-BR" dirty="0"/>
              <a:t>.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0595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VI - </a:t>
            </a:r>
            <a:r>
              <a:rPr lang="pt-BR" b="1" dirty="0">
                <a:solidFill>
                  <a:srgbClr val="0000FF"/>
                </a:solidFill>
              </a:rPr>
              <a:t>operação de qualquer natureza</a:t>
            </a:r>
            <a:r>
              <a:rPr lang="pt-BR" dirty="0"/>
              <a:t>, dentro do território do Distrito Federal, de que decorra </a:t>
            </a:r>
            <a:r>
              <a:rPr lang="pt-BR" dirty="0" smtClean="0">
                <a:solidFill>
                  <a:srgbClr val="FF0000"/>
                </a:solidFill>
              </a:rPr>
              <a:t>transferência de </a:t>
            </a:r>
            <a:r>
              <a:rPr lang="pt-BR" dirty="0">
                <a:solidFill>
                  <a:srgbClr val="FF0000"/>
                </a:solidFill>
              </a:rPr>
              <a:t>propriedade de estabelecimento industrial, comercial ou de outra espécie</a:t>
            </a:r>
            <a:r>
              <a:rPr lang="pt-BR" dirty="0"/>
              <a:t>, ou </a:t>
            </a:r>
            <a:r>
              <a:rPr lang="pt-BR" b="1" dirty="0">
                <a:solidFill>
                  <a:srgbClr val="0000FF"/>
                </a:solidFill>
              </a:rPr>
              <a:t>mudança </a:t>
            </a:r>
            <a:r>
              <a:rPr lang="pt-BR" b="1" dirty="0" smtClean="0">
                <a:solidFill>
                  <a:srgbClr val="0000FF"/>
                </a:solidFill>
              </a:rPr>
              <a:t>de </a:t>
            </a:r>
            <a:r>
              <a:rPr lang="pt-BR" b="1" dirty="0">
                <a:solidFill>
                  <a:srgbClr val="0000FF"/>
                </a:solidFill>
              </a:rPr>
              <a:t>endereço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Nos casos de:</a:t>
            </a:r>
          </a:p>
          <a:p>
            <a:pPr algn="just">
              <a:buFontTx/>
              <a:buChar char="-"/>
            </a:pPr>
            <a:r>
              <a:rPr lang="pt-BR" dirty="0" smtClean="0"/>
              <a:t>Cisão total</a:t>
            </a:r>
          </a:p>
          <a:p>
            <a:pPr algn="just">
              <a:buFontTx/>
              <a:buChar char="-"/>
            </a:pPr>
            <a:r>
              <a:rPr lang="pt-BR" dirty="0" smtClean="0"/>
              <a:t>Cisão Parcial</a:t>
            </a:r>
          </a:p>
          <a:p>
            <a:pPr algn="just">
              <a:buFontTx/>
              <a:buChar char="-"/>
            </a:pPr>
            <a:r>
              <a:rPr lang="pt-BR" dirty="0" smtClean="0"/>
              <a:t>Fusão</a:t>
            </a:r>
          </a:p>
          <a:p>
            <a:pPr algn="just">
              <a:buFontTx/>
              <a:buChar char="-"/>
            </a:pPr>
            <a:r>
              <a:rPr lang="pt-BR" dirty="0" smtClean="0"/>
              <a:t>Incorporação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VII - operação decorrente de </a:t>
            </a:r>
            <a:r>
              <a:rPr lang="pt-BR" b="1" dirty="0">
                <a:solidFill>
                  <a:srgbClr val="0000FF"/>
                </a:solidFill>
              </a:rPr>
              <a:t>alienação fiduciária </a:t>
            </a:r>
            <a:r>
              <a:rPr lang="pt-BR" dirty="0"/>
              <a:t>em garantia, inclusive aquela efetuada pelo credor </a:t>
            </a:r>
            <a:r>
              <a:rPr lang="pt-BR" dirty="0" smtClean="0"/>
              <a:t>em decorrência </a:t>
            </a:r>
            <a:r>
              <a:rPr lang="pt-BR" dirty="0"/>
              <a:t>do inadimplemento do devedor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Exemplo:</a:t>
            </a:r>
          </a:p>
          <a:p>
            <a:pPr marL="45720" indent="0" algn="just">
              <a:buNone/>
            </a:pPr>
            <a:r>
              <a:rPr lang="pt-BR" dirty="0" smtClean="0"/>
              <a:t>Comprar de um veículo financiado.</a:t>
            </a:r>
          </a:p>
        </p:txBody>
      </p:sp>
    </p:spTree>
    <p:extLst>
      <p:ext uri="{BB962C8B-B14F-4D97-AF65-F5344CB8AC3E}">
        <p14:creationId xmlns:p14="http://schemas.microsoft.com/office/powerpoint/2010/main" val="230534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VIII - operação de contrato de arrendamento mercantil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XI - </a:t>
            </a:r>
            <a:r>
              <a:rPr lang="pt-BR" b="1" dirty="0">
                <a:solidFill>
                  <a:srgbClr val="0000FF"/>
                </a:solidFill>
              </a:rPr>
              <a:t>a alienação de bens desincorporados do Ativo Permanente </a:t>
            </a:r>
            <a:r>
              <a:rPr lang="pt-BR" dirty="0"/>
              <a:t>de estabelecimento de contribuinte </a:t>
            </a:r>
            <a:r>
              <a:rPr lang="pt-BR" dirty="0" smtClean="0"/>
              <a:t>do Imposto</a:t>
            </a:r>
            <a:r>
              <a:rPr lang="pt-BR" dirty="0"/>
              <a:t>, ressalvado o disposto na alínea “b” do inciso I do art. 387 (Lei nº 1.254, de 8 de novembro </a:t>
            </a:r>
            <a:r>
              <a:rPr lang="pt-BR" dirty="0" smtClean="0"/>
              <a:t>de 1996</a:t>
            </a:r>
            <a:r>
              <a:rPr lang="pt-BR" dirty="0"/>
              <a:t>, inciso I do art. 35 c/c o inciso I do § 1º do mesmo artigo).</a:t>
            </a:r>
            <a:endParaRPr lang="pt-BR" dirty="0" smtClean="0"/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3442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Não Incidência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77500" lnSpcReduction="20000"/>
          </a:bodyPr>
          <a:lstStyle/>
          <a:p>
            <a:pPr marL="45720" indent="0" algn="just">
              <a:buNone/>
            </a:pPr>
            <a:r>
              <a:rPr lang="pt-BR" dirty="0"/>
              <a:t>Art. 387. Para os efeitos do disposto neste Regulamento, </a:t>
            </a:r>
            <a:r>
              <a:rPr lang="pt-BR" b="1" dirty="0">
                <a:solidFill>
                  <a:srgbClr val="0000FF"/>
                </a:solidFill>
              </a:rPr>
              <a:t>considera-se</a:t>
            </a:r>
            <a:r>
              <a:rPr lang="pt-BR" dirty="0"/>
              <a:t>:</a:t>
            </a:r>
          </a:p>
          <a:p>
            <a:pPr marL="45720" indent="0" algn="just">
              <a:buNone/>
            </a:pPr>
            <a:r>
              <a:rPr lang="pt-BR" dirty="0"/>
              <a:t>I - </a:t>
            </a:r>
            <a:r>
              <a:rPr lang="pt-BR" b="1" dirty="0">
                <a:solidFill>
                  <a:srgbClr val="0000FF"/>
                </a:solidFill>
              </a:rPr>
              <a:t>mercadoria</a:t>
            </a:r>
            <a:r>
              <a:rPr lang="pt-BR" dirty="0" smtClean="0"/>
              <a:t>:</a:t>
            </a:r>
          </a:p>
          <a:p>
            <a:pPr marL="45720" indent="0" algn="just">
              <a:buNone/>
            </a:pPr>
            <a:r>
              <a:rPr lang="pt-BR" dirty="0"/>
              <a:t>b) </a:t>
            </a:r>
            <a:r>
              <a:rPr lang="pt-BR" b="1" dirty="0">
                <a:solidFill>
                  <a:srgbClr val="0000FF"/>
                </a:solidFill>
              </a:rPr>
              <a:t>bem do ativo permanente alienado ou transferido </a:t>
            </a:r>
            <a:r>
              <a:rPr lang="pt-BR" dirty="0"/>
              <a:t>para outra unidade da Federação </a:t>
            </a:r>
            <a:r>
              <a:rPr lang="pt-BR" b="1" dirty="0">
                <a:solidFill>
                  <a:srgbClr val="FF0000"/>
                </a:solidFill>
              </a:rPr>
              <a:t>antes </a:t>
            </a:r>
            <a:r>
              <a:rPr lang="pt-BR" b="1" dirty="0" smtClean="0">
                <a:solidFill>
                  <a:srgbClr val="FF0000"/>
                </a:solidFill>
              </a:rPr>
              <a:t>de decorridos </a:t>
            </a:r>
            <a:r>
              <a:rPr lang="pt-BR" b="1" dirty="0">
                <a:solidFill>
                  <a:srgbClr val="FF0000"/>
                </a:solidFill>
              </a:rPr>
              <a:t>12 (doze) meses de sua aquisição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b="1" dirty="0" smtClean="0"/>
              <a:t>ESTORNO DO CRÉDITO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>
              <a:buNone/>
            </a:pPr>
            <a:r>
              <a:rPr lang="pt-BR" dirty="0"/>
              <a:t>Art. 35. O sujeito passivo </a:t>
            </a:r>
            <a:r>
              <a:rPr lang="pt-BR" b="1" dirty="0">
                <a:solidFill>
                  <a:srgbClr val="FF0000"/>
                </a:solidFill>
              </a:rPr>
              <a:t>deverá efetuar o estorno do imposto de que se </a:t>
            </a:r>
            <a:r>
              <a:rPr lang="pt-BR" b="1" dirty="0" smtClean="0">
                <a:solidFill>
                  <a:srgbClr val="FF0000"/>
                </a:solidFill>
              </a:rPr>
              <a:t>tiver </a:t>
            </a:r>
            <a:r>
              <a:rPr lang="pt-BR" b="1" dirty="0">
                <a:solidFill>
                  <a:srgbClr val="FF0000"/>
                </a:solidFill>
              </a:rPr>
              <a:t>creditado</a:t>
            </a:r>
            <a:r>
              <a:rPr lang="pt-BR" dirty="0"/>
              <a:t>, sempre que </a:t>
            </a:r>
            <a:r>
              <a:rPr lang="pt-BR" dirty="0" smtClean="0"/>
              <a:t>o serviço </a:t>
            </a:r>
            <a:r>
              <a:rPr lang="pt-BR" dirty="0"/>
              <a:t>recebido ou o bem ou mercadoria entrada no estabelecimento vier a ser:</a:t>
            </a:r>
          </a:p>
          <a:p>
            <a:pPr marL="45720" indent="0">
              <a:buNone/>
            </a:pPr>
            <a:r>
              <a:rPr lang="pt-BR" dirty="0"/>
              <a:t>I - </a:t>
            </a:r>
            <a:r>
              <a:rPr lang="pt-BR" b="1" dirty="0">
                <a:solidFill>
                  <a:srgbClr val="0000FF"/>
                </a:solidFill>
              </a:rPr>
              <a:t>objeto de </a:t>
            </a:r>
            <a:r>
              <a:rPr lang="pt-BR" b="1" dirty="0" smtClean="0">
                <a:solidFill>
                  <a:srgbClr val="0000FF"/>
                </a:solidFill>
              </a:rPr>
              <a:t>subsequente </a:t>
            </a:r>
            <a:r>
              <a:rPr lang="pt-BR" b="1" dirty="0">
                <a:solidFill>
                  <a:srgbClr val="0000FF"/>
                </a:solidFill>
              </a:rPr>
              <a:t>operação ou prestação </a:t>
            </a:r>
            <a:r>
              <a:rPr lang="pt-BR" b="1" dirty="0" smtClean="0">
                <a:solidFill>
                  <a:srgbClr val="0000FF"/>
                </a:solidFill>
              </a:rPr>
              <a:t>não-tributada </a:t>
            </a:r>
            <a:r>
              <a:rPr lang="pt-BR" b="1" dirty="0">
                <a:solidFill>
                  <a:srgbClr val="0000FF"/>
                </a:solidFill>
              </a:rPr>
              <a:t>ou isenta</a:t>
            </a:r>
            <a:r>
              <a:rPr lang="pt-BR" dirty="0"/>
              <a:t>, quando esta circunstância </a:t>
            </a:r>
            <a:r>
              <a:rPr lang="pt-BR" dirty="0" smtClean="0"/>
              <a:t>for imprevisível </a:t>
            </a:r>
            <a:r>
              <a:rPr lang="pt-BR" dirty="0"/>
              <a:t>na data da entrada da mercadoria ou da </a:t>
            </a:r>
            <a:r>
              <a:rPr lang="pt-BR" dirty="0" smtClean="0"/>
              <a:t>utilização </a:t>
            </a:r>
            <a:r>
              <a:rPr lang="pt-BR" dirty="0"/>
              <a:t>do serviço;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87209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Suspensão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</a:t>
            </a:r>
            <a:r>
              <a:rPr lang="pt-BR" dirty="0" smtClean="0"/>
              <a:t>9º As operações </a:t>
            </a:r>
            <a:r>
              <a:rPr lang="pt-BR" dirty="0"/>
              <a:t>relacionadas no </a:t>
            </a:r>
            <a:r>
              <a:rPr lang="pt-BR" u="sng" dirty="0"/>
              <a:t>Caderno IV do Anexo I</a:t>
            </a:r>
            <a:r>
              <a:rPr lang="pt-BR" dirty="0"/>
              <a:t> a este Regulamento </a:t>
            </a:r>
            <a:r>
              <a:rPr lang="pt-BR" dirty="0" smtClean="0"/>
              <a:t>são </a:t>
            </a:r>
            <a:r>
              <a:rPr lang="pt-BR" dirty="0"/>
              <a:t>efetuadas </a:t>
            </a:r>
            <a:r>
              <a:rPr lang="pt-BR" b="1" dirty="0">
                <a:solidFill>
                  <a:srgbClr val="0000FF"/>
                </a:solidFill>
              </a:rPr>
              <a:t>com </a:t>
            </a:r>
            <a:r>
              <a:rPr lang="pt-BR" b="1" dirty="0" smtClean="0">
                <a:solidFill>
                  <a:srgbClr val="0000FF"/>
                </a:solidFill>
              </a:rPr>
              <a:t>suspensão </a:t>
            </a:r>
            <a:r>
              <a:rPr lang="pt-BR" b="1" dirty="0">
                <a:solidFill>
                  <a:srgbClr val="0000FF"/>
                </a:solidFill>
              </a:rPr>
              <a:t>do imposto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r>
              <a:rPr lang="pt-BR" dirty="0" smtClean="0"/>
              <a:t>§1º Não </a:t>
            </a:r>
            <a:r>
              <a:rPr lang="pt-BR" dirty="0"/>
              <a:t>se verificando as </a:t>
            </a:r>
            <a:r>
              <a:rPr lang="pt-BR" dirty="0" smtClean="0"/>
              <a:t>condições </a:t>
            </a:r>
            <a:r>
              <a:rPr lang="pt-BR" dirty="0"/>
              <a:t>ou requisitos que legitimaram a </a:t>
            </a:r>
            <a:r>
              <a:rPr lang="pt-BR" dirty="0" smtClean="0"/>
              <a:t>suspensão</a:t>
            </a:r>
            <a:r>
              <a:rPr lang="pt-BR" dirty="0"/>
              <a:t>, </a:t>
            </a:r>
            <a:r>
              <a:rPr lang="pt-BR" b="1" dirty="0">
                <a:solidFill>
                  <a:srgbClr val="FF0000"/>
                </a:solidFill>
              </a:rPr>
              <a:t>o imposto </a:t>
            </a:r>
            <a:r>
              <a:rPr lang="pt-BR" b="1" dirty="0" smtClean="0">
                <a:solidFill>
                  <a:srgbClr val="FF0000"/>
                </a:solidFill>
              </a:rPr>
              <a:t>será </a:t>
            </a:r>
            <a:r>
              <a:rPr lang="pt-BR" b="1" dirty="0">
                <a:solidFill>
                  <a:srgbClr val="FF0000"/>
                </a:solidFill>
              </a:rPr>
              <a:t>exigido do estabelecimento</a:t>
            </a:r>
            <a:r>
              <a:rPr lang="pt-BR" dirty="0"/>
              <a:t>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</a:t>
            </a:r>
            <a:r>
              <a:rPr lang="pt-BR" b="1" dirty="0">
                <a:solidFill>
                  <a:srgbClr val="0000FF"/>
                </a:solidFill>
              </a:rPr>
              <a:t>adquirente</a:t>
            </a:r>
            <a:r>
              <a:rPr lang="pt-BR" dirty="0"/>
              <a:t>, na </a:t>
            </a:r>
            <a:r>
              <a:rPr lang="pt-BR" dirty="0" smtClean="0"/>
              <a:t>hipótese </a:t>
            </a:r>
            <a:r>
              <a:rPr lang="pt-BR" dirty="0"/>
              <a:t>do item 4 do caderno a que se refere o caput;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</a:t>
            </a:r>
            <a:r>
              <a:rPr lang="pt-BR" b="1" dirty="0" smtClean="0">
                <a:solidFill>
                  <a:srgbClr val="0000FF"/>
                </a:solidFill>
              </a:rPr>
              <a:t>remetente</a:t>
            </a:r>
            <a:r>
              <a:rPr lang="pt-BR" dirty="0"/>
              <a:t>, nos demais itens do referido caderno.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55833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Suspensão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</a:t>
            </a:r>
            <a:r>
              <a:rPr lang="pt-BR" b="1" dirty="0" smtClean="0">
                <a:solidFill>
                  <a:srgbClr val="0000FF"/>
                </a:solidFill>
              </a:rPr>
              <a:t>Por ocasião </a:t>
            </a:r>
            <a:r>
              <a:rPr lang="pt-BR" b="1" dirty="0">
                <a:solidFill>
                  <a:srgbClr val="0000FF"/>
                </a:solidFill>
              </a:rPr>
              <a:t>do retorno da mercadoria</a:t>
            </a:r>
            <a:r>
              <a:rPr lang="pt-BR" dirty="0"/>
              <a:t>, se for o caso, o estabelecimento </a:t>
            </a:r>
            <a:r>
              <a:rPr lang="pt-BR" dirty="0" smtClean="0"/>
              <a:t>destinatário </a:t>
            </a:r>
            <a:r>
              <a:rPr lang="pt-BR" dirty="0"/>
              <a:t>emitir Nota Fiscal, mencionando o </a:t>
            </a:r>
            <a:r>
              <a:rPr lang="pt-BR" dirty="0" smtClean="0"/>
              <a:t>número</a:t>
            </a:r>
            <a:r>
              <a:rPr lang="pt-BR" dirty="0"/>
              <a:t>, a data e o valor da Nota Fiscal correspondente  remessa inicial, com destaque do imposto, nas </a:t>
            </a:r>
            <a:r>
              <a:rPr lang="pt-BR" dirty="0" smtClean="0"/>
              <a:t>hipóteses </a:t>
            </a:r>
            <a:r>
              <a:rPr lang="pt-BR" dirty="0"/>
              <a:t>em que for devido.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562500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Suspensão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3º </a:t>
            </a:r>
            <a:r>
              <a:rPr lang="pt-BR" b="1" dirty="0" smtClean="0">
                <a:solidFill>
                  <a:srgbClr val="0000FF"/>
                </a:solidFill>
              </a:rPr>
              <a:t>Esgotado </a:t>
            </a:r>
            <a:r>
              <a:rPr lang="pt-BR" b="1" dirty="0">
                <a:solidFill>
                  <a:srgbClr val="0000FF"/>
                </a:solidFill>
              </a:rPr>
              <a:t>o prazo previsto para a </a:t>
            </a:r>
            <a:r>
              <a:rPr lang="pt-BR" b="1" dirty="0" smtClean="0">
                <a:solidFill>
                  <a:srgbClr val="0000FF"/>
                </a:solidFill>
              </a:rPr>
              <a:t>suspensão, </a:t>
            </a:r>
            <a:r>
              <a:rPr lang="pt-BR" b="1" dirty="0">
                <a:solidFill>
                  <a:srgbClr val="0000FF"/>
                </a:solidFill>
              </a:rPr>
              <a:t>ou na </a:t>
            </a:r>
            <a:r>
              <a:rPr lang="pt-BR" b="1" dirty="0" smtClean="0">
                <a:solidFill>
                  <a:srgbClr val="0000FF"/>
                </a:solidFill>
              </a:rPr>
              <a:t>hipótese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não </a:t>
            </a:r>
            <a:r>
              <a:rPr lang="pt-BR" b="1" dirty="0">
                <a:solidFill>
                  <a:srgbClr val="0000FF"/>
                </a:solidFill>
              </a:rPr>
              <a:t>se configurar a </a:t>
            </a:r>
            <a:r>
              <a:rPr lang="pt-BR" b="1" dirty="0" smtClean="0">
                <a:solidFill>
                  <a:srgbClr val="0000FF"/>
                </a:solidFill>
              </a:rPr>
              <a:t>condição </a:t>
            </a:r>
            <a:r>
              <a:rPr lang="pt-BR" b="1" dirty="0">
                <a:solidFill>
                  <a:srgbClr val="0000FF"/>
                </a:solidFill>
              </a:rPr>
              <a:t>que a autorize</a:t>
            </a:r>
            <a:r>
              <a:rPr lang="pt-BR" dirty="0"/>
              <a:t>, </a:t>
            </a:r>
            <a:r>
              <a:rPr lang="pt-BR" b="1" dirty="0">
                <a:solidFill>
                  <a:srgbClr val="FF0000"/>
                </a:solidFill>
              </a:rPr>
              <a:t>o contribuinte adquirente ou remetente dever debitar-se do imposto</a:t>
            </a:r>
            <a:r>
              <a:rPr lang="pt-BR" dirty="0"/>
              <a:t>, mediante registro da correspondente Nota Fiscal ou documento equivalente no livro Registro de </a:t>
            </a:r>
            <a:r>
              <a:rPr lang="pt-BR" dirty="0" smtClean="0"/>
              <a:t>Apuração </a:t>
            </a:r>
            <a:r>
              <a:rPr lang="pt-BR" dirty="0"/>
              <a:t>do ICMS, na coluna "Outros </a:t>
            </a:r>
            <a:r>
              <a:rPr lang="pt-BR" dirty="0" smtClean="0"/>
              <a:t>Débitos</a:t>
            </a:r>
            <a:r>
              <a:rPr lang="pt-BR" dirty="0"/>
              <a:t>", no </a:t>
            </a:r>
            <a:r>
              <a:rPr lang="pt-BR" dirty="0" smtClean="0"/>
              <a:t>período </a:t>
            </a:r>
            <a:r>
              <a:rPr lang="pt-BR" dirty="0"/>
              <a:t>de </a:t>
            </a:r>
            <a:r>
              <a:rPr lang="pt-BR" dirty="0" smtClean="0"/>
              <a:t>apuração </a:t>
            </a:r>
            <a:r>
              <a:rPr lang="pt-BR" dirty="0"/>
              <a:t>em que ocorrer a </a:t>
            </a:r>
            <a:r>
              <a:rPr lang="pt-BR" dirty="0" smtClean="0"/>
              <a:t>hipótese </a:t>
            </a:r>
            <a:r>
              <a:rPr lang="pt-BR" dirty="0"/>
              <a:t>de que trata este </a:t>
            </a:r>
            <a:r>
              <a:rPr lang="pt-BR" dirty="0" smtClean="0"/>
              <a:t>parágrafo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8340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/>
              <a:t>Suspensão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4º Na hipótese </a:t>
            </a:r>
            <a:r>
              <a:rPr lang="pt-BR" dirty="0"/>
              <a:t>do </a:t>
            </a:r>
            <a:r>
              <a:rPr lang="pt-BR" dirty="0" smtClean="0"/>
              <a:t>parágrafo </a:t>
            </a:r>
            <a:r>
              <a:rPr lang="pt-BR" dirty="0"/>
              <a:t>anterior, </a:t>
            </a:r>
            <a:r>
              <a:rPr lang="pt-BR" b="1" dirty="0">
                <a:solidFill>
                  <a:srgbClr val="0000FF"/>
                </a:solidFill>
              </a:rPr>
              <a:t>o adquirente ou </a:t>
            </a:r>
            <a:r>
              <a:rPr lang="pt-BR" b="1" dirty="0" smtClean="0">
                <a:solidFill>
                  <a:srgbClr val="0000FF"/>
                </a:solidFill>
              </a:rPr>
              <a:t>destinatário </a:t>
            </a:r>
            <a:r>
              <a:rPr lang="pt-BR" b="1" dirty="0">
                <a:solidFill>
                  <a:srgbClr val="0000FF"/>
                </a:solidFill>
              </a:rPr>
              <a:t>das mercadorias </a:t>
            </a:r>
            <a:r>
              <a:rPr lang="pt-BR" b="1" dirty="0" smtClean="0">
                <a:solidFill>
                  <a:srgbClr val="0000FF"/>
                </a:solidFill>
              </a:rPr>
              <a:t>poderá </a:t>
            </a:r>
            <a:r>
              <a:rPr lang="pt-BR" b="1" dirty="0">
                <a:solidFill>
                  <a:srgbClr val="0000FF"/>
                </a:solidFill>
              </a:rPr>
              <a:t>creditar-se do imposto destacado na Nota Fiscal ou documento equivalente ali referidos, mediante registro no livro Registro de </a:t>
            </a:r>
            <a:r>
              <a:rPr lang="pt-BR" b="1" dirty="0" smtClean="0">
                <a:solidFill>
                  <a:srgbClr val="0000FF"/>
                </a:solidFill>
              </a:rPr>
              <a:t>Apuração </a:t>
            </a:r>
            <a:r>
              <a:rPr lang="pt-BR" b="1" dirty="0">
                <a:solidFill>
                  <a:srgbClr val="0000FF"/>
                </a:solidFill>
              </a:rPr>
              <a:t>do ICMS, na coluna "Outros </a:t>
            </a:r>
            <a:r>
              <a:rPr lang="pt-BR" b="1" dirty="0" smtClean="0">
                <a:solidFill>
                  <a:srgbClr val="0000FF"/>
                </a:solidFill>
              </a:rPr>
              <a:t>Créditos".</a:t>
            </a:r>
          </a:p>
          <a:p>
            <a:pPr marL="45720" indent="0" algn="just">
              <a:buNone/>
            </a:pPr>
            <a:r>
              <a:rPr lang="pt-BR" dirty="0" smtClean="0"/>
              <a:t>§5º O </a:t>
            </a:r>
            <a:r>
              <a:rPr lang="pt-BR" dirty="0"/>
              <a:t>imposto suspenso a que se refere este artigo, </a:t>
            </a:r>
            <a:r>
              <a:rPr lang="pt-BR" dirty="0" smtClean="0"/>
              <a:t>será </a:t>
            </a:r>
            <a:r>
              <a:rPr lang="pt-BR" dirty="0"/>
              <a:t>devidamente destacado pelo estabelecimento adquirente ou remetente, conforme o caso, na Nota Fiscal ou documento equivalente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47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Sujeito Passivo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12</a:t>
            </a:r>
            <a:r>
              <a:rPr lang="pt-BR"/>
              <a:t>. </a:t>
            </a:r>
            <a:r>
              <a:rPr lang="pt-BR" b="1" smtClean="0">
                <a:solidFill>
                  <a:srgbClr val="0000FF"/>
                </a:solidFill>
              </a:rPr>
              <a:t>Contribuinte do imposto é qualquer pessoa, física ou  jurídica, que realize, com habitualidade ou em volume que caracterize intuito comercial, as operação de circulação de mercadoria ou prestação de serviços</a:t>
            </a:r>
            <a:r>
              <a:rPr lang="pt-BR" smtClean="0"/>
              <a:t> de transporte interestadual e intermunicipal e de comunicação, </a:t>
            </a:r>
            <a:r>
              <a:rPr lang="pt-BR" smtClean="0">
                <a:solidFill>
                  <a:srgbClr val="FF0000"/>
                </a:solidFill>
              </a:rPr>
              <a:t>ainda que as operações e as prestações se iniciem no exterior.</a:t>
            </a:r>
            <a:endParaRPr lang="pt-B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82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Sujeito Passivo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1º </a:t>
            </a:r>
            <a:r>
              <a:rPr lang="pt-BR" dirty="0" smtClean="0">
                <a:solidFill>
                  <a:srgbClr val="0000FF"/>
                </a:solidFill>
              </a:rPr>
              <a:t>É também </a:t>
            </a:r>
            <a:r>
              <a:rPr lang="pt-BR" dirty="0">
                <a:solidFill>
                  <a:srgbClr val="0000FF"/>
                </a:solidFill>
              </a:rPr>
              <a:t>contribuinte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a </a:t>
            </a:r>
            <a:r>
              <a:rPr lang="pt-BR" u="sng" dirty="0"/>
              <a:t>pessoa </a:t>
            </a:r>
            <a:r>
              <a:rPr lang="pt-BR" u="sng" dirty="0" smtClean="0"/>
              <a:t>física </a:t>
            </a:r>
            <a:r>
              <a:rPr lang="pt-BR" u="sng" dirty="0"/>
              <a:t>ou </a:t>
            </a:r>
            <a:r>
              <a:rPr lang="pt-BR" u="sng" dirty="0" smtClean="0"/>
              <a:t>jurídica </a:t>
            </a:r>
            <a:r>
              <a:rPr lang="pt-BR" dirty="0"/>
              <a:t>que, </a:t>
            </a:r>
            <a:r>
              <a:rPr lang="pt-BR" b="1" dirty="0">
                <a:solidFill>
                  <a:srgbClr val="FF0000"/>
                </a:solidFill>
              </a:rPr>
              <a:t>mesmo sem habitualidade ou intuito comercial</a:t>
            </a:r>
            <a:r>
              <a:rPr lang="pt-BR" dirty="0"/>
              <a:t>: 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dirty="0" smtClean="0">
                <a:solidFill>
                  <a:srgbClr val="FF0000"/>
                </a:solidFill>
              </a:rPr>
              <a:t>importe </a:t>
            </a:r>
            <a:r>
              <a:rPr lang="pt-BR" b="1" dirty="0">
                <a:solidFill>
                  <a:srgbClr val="FF0000"/>
                </a:solidFill>
              </a:rPr>
              <a:t>mercadorias ou bens do exterior</a:t>
            </a:r>
            <a:r>
              <a:rPr lang="pt-BR" dirty="0"/>
              <a:t>, qualquer que seja sua finalidade;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seja </a:t>
            </a:r>
            <a:r>
              <a:rPr lang="pt-BR" b="1" dirty="0" smtClean="0">
                <a:solidFill>
                  <a:srgbClr val="FF0000"/>
                </a:solidFill>
              </a:rPr>
              <a:t>destinatária </a:t>
            </a:r>
            <a:r>
              <a:rPr lang="pt-BR" b="1" dirty="0">
                <a:solidFill>
                  <a:srgbClr val="FF0000"/>
                </a:solidFill>
              </a:rPr>
              <a:t>de </a:t>
            </a:r>
            <a:r>
              <a:rPr lang="pt-BR" b="1" dirty="0" smtClean="0">
                <a:solidFill>
                  <a:srgbClr val="FF0000"/>
                </a:solidFill>
              </a:rPr>
              <a:t>serviço </a:t>
            </a:r>
            <a:r>
              <a:rPr lang="pt-BR" b="1" dirty="0">
                <a:solidFill>
                  <a:srgbClr val="FF0000"/>
                </a:solidFill>
              </a:rPr>
              <a:t>prestado no exterior </a:t>
            </a:r>
            <a:r>
              <a:rPr lang="pt-BR" dirty="0"/>
              <a:t>ou </a:t>
            </a:r>
            <a:r>
              <a:rPr lang="pt-BR" dirty="0" smtClean="0"/>
              <a:t>cuja prestação </a:t>
            </a:r>
            <a:r>
              <a:rPr lang="pt-BR" dirty="0"/>
              <a:t>se tenha iniciado no exterior;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c) </a:t>
            </a:r>
            <a:r>
              <a:rPr lang="pt-BR" dirty="0">
                <a:solidFill>
                  <a:srgbClr val="FF0000"/>
                </a:solidFill>
              </a:rPr>
              <a:t>adquira, em </a:t>
            </a:r>
            <a:r>
              <a:rPr lang="pt-BR" dirty="0" smtClean="0">
                <a:solidFill>
                  <a:srgbClr val="FF0000"/>
                </a:solidFill>
              </a:rPr>
              <a:t>licitação pública</a:t>
            </a:r>
            <a:r>
              <a:rPr lang="pt-BR" dirty="0">
                <a:solidFill>
                  <a:srgbClr val="FF0000"/>
                </a:solidFill>
              </a:rPr>
              <a:t>, mercadoria ou bem importados do exterior, apreendidos ou abandonados; </a:t>
            </a:r>
            <a:endParaRPr lang="pt-B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71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Sujeito Passivo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§1º  também contribuinte: </a:t>
            </a:r>
          </a:p>
          <a:p>
            <a:pPr marL="45720" indent="0" algn="just">
              <a:buNone/>
            </a:pPr>
            <a:endParaRPr lang="pt-BR" dirty="0" smtClean="0"/>
          </a:p>
          <a:p>
            <a:pPr marL="45720" indent="0" algn="just">
              <a:buNone/>
            </a:pPr>
            <a:r>
              <a:rPr lang="pt-BR" dirty="0"/>
              <a:t>d) adquira energia </a:t>
            </a:r>
            <a:r>
              <a:rPr lang="pt-BR" dirty="0" smtClean="0"/>
              <a:t>elétrica </a:t>
            </a:r>
            <a:r>
              <a:rPr lang="pt-BR" dirty="0"/>
              <a:t>ou </a:t>
            </a:r>
            <a:r>
              <a:rPr lang="pt-BR" dirty="0" smtClean="0"/>
              <a:t>petróleo</a:t>
            </a:r>
            <a:r>
              <a:rPr lang="pt-BR" dirty="0"/>
              <a:t>, inclusive </a:t>
            </a:r>
            <a:r>
              <a:rPr lang="pt-BR" b="1" dirty="0">
                <a:solidFill>
                  <a:srgbClr val="FF0000"/>
                </a:solidFill>
              </a:rPr>
              <a:t>lubrificantes e </a:t>
            </a:r>
            <a:r>
              <a:rPr lang="pt-BR" b="1" dirty="0" smtClean="0">
                <a:solidFill>
                  <a:srgbClr val="FF0000"/>
                </a:solidFill>
              </a:rPr>
              <a:t>combustíveis líquidos </a:t>
            </a:r>
            <a:r>
              <a:rPr lang="pt-BR" b="1" dirty="0">
                <a:solidFill>
                  <a:srgbClr val="FF0000"/>
                </a:solidFill>
              </a:rPr>
              <a:t>e gasosos dele derivados, oriundos de outra unidade federada, quando </a:t>
            </a:r>
            <a:r>
              <a:rPr lang="pt-BR" b="1" dirty="0" smtClean="0">
                <a:solidFill>
                  <a:srgbClr val="FF0000"/>
                </a:solidFill>
              </a:rPr>
              <a:t>não </a:t>
            </a:r>
            <a:r>
              <a:rPr lang="pt-BR" b="1" dirty="0">
                <a:solidFill>
                  <a:srgbClr val="FF0000"/>
                </a:solidFill>
              </a:rPr>
              <a:t>destinados </a:t>
            </a:r>
            <a:r>
              <a:rPr lang="pt-BR" b="1" dirty="0" smtClean="0">
                <a:solidFill>
                  <a:srgbClr val="FF0000"/>
                </a:solidFill>
              </a:rPr>
              <a:t>à comercialização </a:t>
            </a:r>
            <a:r>
              <a:rPr lang="pt-BR" b="1" dirty="0">
                <a:solidFill>
                  <a:srgbClr val="FF0000"/>
                </a:solidFill>
              </a:rPr>
              <a:t>ou  </a:t>
            </a:r>
            <a:r>
              <a:rPr lang="pt-BR" b="1" dirty="0" smtClean="0">
                <a:solidFill>
                  <a:srgbClr val="FF0000"/>
                </a:solidFill>
              </a:rPr>
              <a:t>industrialização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r>
              <a:rPr lang="pt-BR" dirty="0"/>
              <a:t>e) na </a:t>
            </a:r>
            <a:r>
              <a:rPr lang="pt-BR" dirty="0" smtClean="0"/>
              <a:t>condição </a:t>
            </a:r>
            <a:r>
              <a:rPr lang="pt-BR" dirty="0"/>
              <a:t>de </a:t>
            </a:r>
            <a:r>
              <a:rPr lang="pt-BR" b="1" dirty="0">
                <a:solidFill>
                  <a:srgbClr val="FF0000"/>
                </a:solidFill>
              </a:rPr>
              <a:t>arrendadora</a:t>
            </a:r>
            <a:r>
              <a:rPr lang="pt-BR" dirty="0"/>
              <a:t>, realize </a:t>
            </a:r>
            <a:r>
              <a:rPr lang="pt-BR" dirty="0" smtClean="0"/>
              <a:t>operação </a:t>
            </a:r>
            <a:r>
              <a:rPr lang="pt-BR" dirty="0"/>
              <a:t>de arrendamento mercantil.  </a:t>
            </a:r>
            <a:endParaRPr lang="pt-BR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293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Sujeito Passivo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2º A </a:t>
            </a:r>
            <a:r>
              <a:rPr lang="pt-BR" u="sng" dirty="0" smtClean="0"/>
              <a:t>condição </a:t>
            </a:r>
            <a:r>
              <a:rPr lang="pt-BR" u="sng" dirty="0"/>
              <a:t>de contribuinte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independe de encontrar-se a pessoa regularmente </a:t>
            </a:r>
            <a:r>
              <a:rPr lang="pt-BR" b="1" dirty="0" smtClean="0">
                <a:solidFill>
                  <a:srgbClr val="0000FF"/>
                </a:solidFill>
              </a:rPr>
              <a:t>constituída </a:t>
            </a:r>
            <a:r>
              <a:rPr lang="pt-BR" b="1" dirty="0">
                <a:solidFill>
                  <a:srgbClr val="0000FF"/>
                </a:solidFill>
              </a:rPr>
              <a:t>ou estabelecida</a:t>
            </a:r>
            <a:r>
              <a:rPr lang="pt-BR" dirty="0"/>
              <a:t>, inclusive para os efeitos do art. 20, </a:t>
            </a:r>
            <a:r>
              <a:rPr lang="pt-BR" b="1" dirty="0">
                <a:solidFill>
                  <a:srgbClr val="0000FF"/>
                </a:solidFill>
              </a:rPr>
              <a:t>bastando que </a:t>
            </a:r>
            <a:r>
              <a:rPr lang="pt-BR" dirty="0"/>
              <a:t>configure unidade </a:t>
            </a:r>
            <a:r>
              <a:rPr lang="pt-BR" dirty="0" smtClean="0"/>
              <a:t>econômica </a:t>
            </a:r>
            <a:r>
              <a:rPr lang="pt-BR" dirty="0"/>
              <a:t>que </a:t>
            </a:r>
            <a:r>
              <a:rPr lang="pt-BR" b="1" dirty="0">
                <a:solidFill>
                  <a:srgbClr val="0000FF"/>
                </a:solidFill>
              </a:rPr>
              <a:t>pratique</a:t>
            </a:r>
            <a:r>
              <a:rPr lang="pt-BR" dirty="0"/>
              <a:t> as </a:t>
            </a:r>
            <a:r>
              <a:rPr lang="pt-BR" dirty="0" smtClean="0"/>
              <a:t>operações </a:t>
            </a:r>
            <a:r>
              <a:rPr lang="pt-BR" dirty="0"/>
              <a:t>ou </a:t>
            </a:r>
            <a:r>
              <a:rPr lang="pt-BR" dirty="0" smtClean="0"/>
              <a:t>prestações </a:t>
            </a:r>
            <a:r>
              <a:rPr lang="pt-BR" dirty="0"/>
              <a:t>definidas neste Regulamento como </a:t>
            </a:r>
            <a:r>
              <a:rPr lang="pt-BR" b="1" dirty="0">
                <a:solidFill>
                  <a:srgbClr val="0000FF"/>
                </a:solidFill>
              </a:rPr>
              <a:t>fatos geradores do imposto</a:t>
            </a:r>
            <a:r>
              <a:rPr lang="pt-BR" dirty="0"/>
              <a:t>.  </a:t>
            </a:r>
            <a:endParaRPr lang="pt-B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55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Sujeito Passivo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O responsável tributário é aquele que, mesmo não tendo praticado o fato gerador é eleito pelo legislador como o responsável em recolher o tributo aos cofres públicos.</a:t>
            </a:r>
          </a:p>
          <a:p>
            <a:pPr marL="45720" indent="0" algn="just">
              <a:buNone/>
            </a:pPr>
            <a:endParaRPr lang="pt-BR" dirty="0">
              <a:solidFill>
                <a:srgbClr val="FF0000"/>
              </a:solidFill>
            </a:endParaRPr>
          </a:p>
          <a:p>
            <a:pPr marL="45720" indent="0" algn="just">
              <a:buNone/>
            </a:pPr>
            <a:r>
              <a:rPr lang="pt-BR" dirty="0" smtClean="0"/>
              <a:t>Pode ser por </a:t>
            </a:r>
            <a:r>
              <a:rPr lang="pt-BR" dirty="0" smtClean="0">
                <a:solidFill>
                  <a:srgbClr val="FF0000"/>
                </a:solidFill>
              </a:rPr>
              <a:t>substituição</a:t>
            </a:r>
            <a:r>
              <a:rPr lang="pt-BR" dirty="0" smtClean="0"/>
              <a:t> ou </a:t>
            </a:r>
            <a:r>
              <a:rPr lang="pt-BR" dirty="0" smtClean="0">
                <a:solidFill>
                  <a:srgbClr val="FF0000"/>
                </a:solidFill>
              </a:rPr>
              <a:t>transferência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1293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Base de Cálculo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 smtClean="0"/>
              <a:t>No Decreto 18.955/1996 a regulamentação está transcrita no artigo 34.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Vamos estudar a Base de Cálculo do ICMS por partes e observando a letra da Lei Complementar n.º 87/1996.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5444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84887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</a:t>
            </a:r>
            <a:r>
              <a:rPr lang="pt-BR" sz="4000" dirty="0" smtClean="0"/>
              <a:t>Cálculo – Regras Gerais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85000" lnSpcReduction="20000"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na </a:t>
            </a:r>
            <a:r>
              <a:rPr lang="pt-BR" dirty="0" smtClean="0">
                <a:solidFill>
                  <a:srgbClr val="0000FF"/>
                </a:solidFill>
              </a:rPr>
              <a:t>saída </a:t>
            </a:r>
            <a:r>
              <a:rPr lang="pt-BR" dirty="0">
                <a:solidFill>
                  <a:srgbClr val="0000FF"/>
                </a:solidFill>
              </a:rPr>
              <a:t>de mercadoria </a:t>
            </a:r>
            <a:r>
              <a:rPr lang="pt-BR" dirty="0"/>
              <a:t>prevista nos </a:t>
            </a:r>
            <a:r>
              <a:rPr lang="pt-BR" dirty="0">
                <a:solidFill>
                  <a:srgbClr val="FF0000"/>
                </a:solidFill>
              </a:rPr>
              <a:t>incisos I, III e IV do art. 12</a:t>
            </a:r>
            <a:r>
              <a:rPr lang="pt-BR" dirty="0"/>
              <a:t>, </a:t>
            </a:r>
            <a:r>
              <a:rPr lang="pt-BR" b="1" u="sng" dirty="0">
                <a:solidFill>
                  <a:srgbClr val="0000FF"/>
                </a:solidFill>
              </a:rPr>
              <a:t>o valor da </a:t>
            </a:r>
            <a:r>
              <a:rPr lang="pt-BR" b="1" u="sng" dirty="0" smtClean="0">
                <a:solidFill>
                  <a:srgbClr val="0000FF"/>
                </a:solidFill>
              </a:rPr>
              <a:t>operação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  </a:t>
            </a:r>
          </a:p>
          <a:p>
            <a:pPr marL="45720" indent="0" algn="just">
              <a:buNone/>
            </a:pPr>
            <a:r>
              <a:rPr lang="pt-BR" dirty="0"/>
              <a:t>I - da saída de mercadoria de estabelecimento de contribuinte, ainda que para outro estabelecimento do mesmo titular; </a:t>
            </a:r>
          </a:p>
          <a:p>
            <a:pPr marL="45720" indent="0" algn="just">
              <a:buNone/>
            </a:pPr>
            <a:r>
              <a:rPr lang="pt-BR" dirty="0"/>
              <a:t>III - da transmissão a terceiro de mercadoria depositada em armazém geral ou em depósito fechado, no Estado do transmitente;  </a:t>
            </a:r>
          </a:p>
          <a:p>
            <a:pPr marL="45720" indent="0" algn="just">
              <a:buNone/>
            </a:pPr>
            <a:r>
              <a:rPr lang="pt-BR" dirty="0"/>
              <a:t>IV - da transmissão de propriedade de mercadoria, ou de título que a represente, quando a mercadoria </a:t>
            </a:r>
            <a:r>
              <a:rPr lang="pt-BR" dirty="0" smtClean="0"/>
              <a:t>não </a:t>
            </a:r>
            <a:r>
              <a:rPr lang="pt-BR" dirty="0"/>
              <a:t>tiver transitado pelo estabelecimento transmitente;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29368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84887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</a:t>
            </a:r>
            <a:r>
              <a:rPr lang="pt-BR" sz="4000" dirty="0" smtClean="0"/>
              <a:t>Cálculo – Regras Gerais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na </a:t>
            </a:r>
            <a:r>
              <a:rPr lang="pt-BR" dirty="0" smtClean="0">
                <a:solidFill>
                  <a:srgbClr val="0000FF"/>
                </a:solidFill>
              </a:rPr>
              <a:t>prestação </a:t>
            </a:r>
            <a:r>
              <a:rPr lang="pt-BR" dirty="0">
                <a:solidFill>
                  <a:srgbClr val="0000FF"/>
                </a:solidFill>
              </a:rPr>
              <a:t>de </a:t>
            </a:r>
            <a:r>
              <a:rPr lang="pt-BR" dirty="0" smtClean="0">
                <a:solidFill>
                  <a:srgbClr val="0000FF"/>
                </a:solidFill>
              </a:rPr>
              <a:t>serviço </a:t>
            </a:r>
            <a:r>
              <a:rPr lang="pt-BR" dirty="0"/>
              <a:t>de transporte interestadual e intermunicipal e de </a:t>
            </a:r>
            <a:r>
              <a:rPr lang="pt-BR" dirty="0" smtClean="0"/>
              <a:t>comunicação</a:t>
            </a:r>
            <a:r>
              <a:rPr lang="pt-BR" dirty="0"/>
              <a:t>, </a:t>
            </a:r>
            <a:r>
              <a:rPr lang="pt-BR" b="1" u="sng" dirty="0">
                <a:solidFill>
                  <a:srgbClr val="0000FF"/>
                </a:solidFill>
              </a:rPr>
              <a:t>o </a:t>
            </a:r>
            <a:r>
              <a:rPr lang="pt-BR" b="1" u="sng" dirty="0" smtClean="0">
                <a:solidFill>
                  <a:srgbClr val="0000FF"/>
                </a:solidFill>
              </a:rPr>
              <a:t>preço </a:t>
            </a:r>
            <a:r>
              <a:rPr lang="pt-BR" b="1" u="sng" dirty="0">
                <a:solidFill>
                  <a:srgbClr val="0000FF"/>
                </a:solidFill>
              </a:rPr>
              <a:t>do </a:t>
            </a:r>
            <a:r>
              <a:rPr lang="pt-BR" b="1" u="sng" dirty="0" smtClean="0">
                <a:solidFill>
                  <a:srgbClr val="0000FF"/>
                </a:solidFill>
              </a:rPr>
              <a:t>serviço</a:t>
            </a:r>
            <a:r>
              <a:rPr lang="pt-BR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7096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784887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</a:t>
            </a:r>
            <a:r>
              <a:rPr lang="pt-BR" sz="4000" dirty="0" smtClean="0"/>
              <a:t>Cálculo – Regras Gerais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VIII - na hipótese do </a:t>
            </a:r>
            <a:r>
              <a:rPr lang="pt-BR" dirty="0" smtClean="0">
                <a:solidFill>
                  <a:srgbClr val="FF0000"/>
                </a:solidFill>
              </a:rPr>
              <a:t>inciso XII do art. 12</a:t>
            </a:r>
            <a:r>
              <a:rPr lang="pt-BR" dirty="0" smtClean="0"/>
              <a:t>, </a:t>
            </a:r>
            <a:r>
              <a:rPr lang="pt-BR" b="1" u="sng" dirty="0" smtClean="0">
                <a:solidFill>
                  <a:srgbClr val="0000FF"/>
                </a:solidFill>
              </a:rPr>
              <a:t>o valor da operação</a:t>
            </a:r>
            <a:r>
              <a:rPr lang="pt-BR" dirty="0" smtClean="0"/>
              <a:t> de que decorrer a entrada;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</a:t>
            </a:r>
          </a:p>
          <a:p>
            <a:pPr marL="45720" indent="0" algn="just">
              <a:buNone/>
            </a:pPr>
            <a:r>
              <a:rPr lang="pt-BR" dirty="0"/>
              <a:t>XII — da entrada no território do Estado de lubrificantes e combustíveis líquidos e gasosos derivados de petróleo e energia elétrica oriundos de outro Estado, quando não destinados  comercialização ou  industrialização;</a:t>
            </a:r>
          </a:p>
          <a:p>
            <a:pPr marL="45720" indent="0" algn="just">
              <a:buNone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95940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300" dirty="0" smtClean="0"/>
              <a:t>Base de Cálculo - Serviços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na </a:t>
            </a:r>
            <a:r>
              <a:rPr lang="pt-BR" dirty="0" smtClean="0"/>
              <a:t>hipótese </a:t>
            </a:r>
            <a:r>
              <a:rPr lang="pt-BR" dirty="0"/>
              <a:t>do </a:t>
            </a:r>
            <a:r>
              <a:rPr lang="pt-BR" dirty="0">
                <a:solidFill>
                  <a:srgbClr val="FF0000"/>
                </a:solidFill>
              </a:rPr>
              <a:t>inciso II do art. 12</a:t>
            </a:r>
            <a:r>
              <a:rPr lang="pt-BR" dirty="0"/>
              <a:t>, o </a:t>
            </a:r>
            <a:r>
              <a:rPr lang="pt-BR" b="1" u="sng" dirty="0">
                <a:solidFill>
                  <a:srgbClr val="0000FF"/>
                </a:solidFill>
              </a:rPr>
              <a:t>valor da </a:t>
            </a:r>
            <a:r>
              <a:rPr lang="pt-BR" b="1" u="sng" dirty="0" smtClean="0">
                <a:solidFill>
                  <a:srgbClr val="0000FF"/>
                </a:solidFill>
              </a:rPr>
              <a:t>operação</a:t>
            </a:r>
            <a:r>
              <a:rPr lang="pt-BR" dirty="0"/>
              <a:t>, compreendendo mercadoria e </a:t>
            </a:r>
            <a:r>
              <a:rPr lang="pt-BR" dirty="0" smtClean="0"/>
              <a:t>serviço</a:t>
            </a:r>
            <a:r>
              <a:rPr lang="pt-BR" dirty="0"/>
              <a:t>; </a:t>
            </a:r>
          </a:p>
          <a:p>
            <a:pPr marL="45720" indent="0" algn="just">
              <a:buNone/>
            </a:pPr>
            <a:r>
              <a:rPr lang="pt-BR" dirty="0"/>
              <a:t> </a:t>
            </a:r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do fornecimento de </a:t>
            </a:r>
            <a:r>
              <a:rPr lang="pt-BR" dirty="0" smtClean="0"/>
              <a:t>alimentação</a:t>
            </a:r>
            <a:r>
              <a:rPr lang="pt-BR" dirty="0"/>
              <a:t>, bebidas e outras mercadorias por qualquer estabelecimento;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461370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Base </a:t>
            </a:r>
            <a:r>
              <a:rPr lang="pt-BR" sz="4400" dirty="0"/>
              <a:t>de Cálculo - Serviços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272808" cy="4608512"/>
          </a:xfrm>
        </p:spPr>
        <p:txBody>
          <a:bodyPr>
            <a:normAutofit fontScale="85000" lnSpcReduction="10000"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</a:t>
            </a:r>
            <a:r>
              <a:rPr lang="pt-BR" dirty="0" smtClean="0"/>
              <a:t>é: </a:t>
            </a:r>
          </a:p>
          <a:p>
            <a:pPr marL="45720" indent="0" algn="just">
              <a:buNone/>
            </a:pPr>
            <a:r>
              <a:rPr lang="pt-BR" dirty="0" smtClean="0"/>
              <a:t>IV </a:t>
            </a:r>
            <a:r>
              <a:rPr lang="pt-BR" dirty="0"/>
              <a:t>- no fornecimento de que trata </a:t>
            </a:r>
            <a:r>
              <a:rPr lang="pt-BR" dirty="0">
                <a:solidFill>
                  <a:srgbClr val="FF0000"/>
                </a:solidFill>
              </a:rPr>
              <a:t>o inciso VIII do art. 12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u="sng" dirty="0" smtClean="0">
                <a:solidFill>
                  <a:srgbClr val="0000FF"/>
                </a:solidFill>
              </a:rPr>
              <a:t>o </a:t>
            </a:r>
            <a:r>
              <a:rPr lang="pt-BR" b="1" u="sng" dirty="0">
                <a:solidFill>
                  <a:srgbClr val="0000FF"/>
                </a:solidFill>
              </a:rPr>
              <a:t>valor da </a:t>
            </a:r>
            <a:r>
              <a:rPr lang="pt-BR" b="1" u="sng" dirty="0" smtClean="0">
                <a:solidFill>
                  <a:srgbClr val="0000FF"/>
                </a:solidFill>
              </a:rPr>
              <a:t>operação</a:t>
            </a:r>
            <a:r>
              <a:rPr lang="pt-BR" dirty="0"/>
              <a:t>, na </a:t>
            </a:r>
            <a:r>
              <a:rPr lang="pt-BR" dirty="0" smtClean="0"/>
              <a:t>hipótese </a:t>
            </a:r>
            <a:r>
              <a:rPr lang="pt-BR" dirty="0"/>
              <a:t>da </a:t>
            </a:r>
            <a:r>
              <a:rPr lang="pt-BR" dirty="0" smtClean="0">
                <a:solidFill>
                  <a:srgbClr val="FF0000"/>
                </a:solidFill>
              </a:rPr>
              <a:t>alínea </a:t>
            </a:r>
            <a:r>
              <a:rPr lang="pt-BR" dirty="0">
                <a:solidFill>
                  <a:srgbClr val="FF0000"/>
                </a:solidFill>
              </a:rPr>
              <a:t>a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o </a:t>
            </a:r>
            <a:r>
              <a:rPr lang="pt-BR" b="1" u="sng" dirty="0" smtClean="0">
                <a:solidFill>
                  <a:srgbClr val="0000FF"/>
                </a:solidFill>
              </a:rPr>
              <a:t>preço </a:t>
            </a:r>
            <a:r>
              <a:rPr lang="pt-BR" b="1" u="sng" dirty="0">
                <a:solidFill>
                  <a:srgbClr val="0000FF"/>
                </a:solidFill>
              </a:rPr>
              <a:t>corrente da mercadoria </a:t>
            </a:r>
            <a:r>
              <a:rPr lang="pt-BR" dirty="0"/>
              <a:t>fornecida ou empregada, na </a:t>
            </a:r>
            <a:r>
              <a:rPr lang="pt-BR" dirty="0" smtClean="0"/>
              <a:t>hipótese </a:t>
            </a:r>
            <a:r>
              <a:rPr lang="pt-BR" dirty="0"/>
              <a:t>da </a:t>
            </a:r>
            <a:r>
              <a:rPr lang="pt-BR" dirty="0" smtClean="0">
                <a:solidFill>
                  <a:srgbClr val="FF0000"/>
                </a:solidFill>
              </a:rPr>
              <a:t>alínea </a:t>
            </a:r>
            <a:r>
              <a:rPr lang="pt-BR" dirty="0">
                <a:solidFill>
                  <a:srgbClr val="FF0000"/>
                </a:solidFill>
              </a:rPr>
              <a:t>b</a:t>
            </a:r>
            <a:r>
              <a:rPr lang="pt-BR" dirty="0"/>
              <a:t>; </a:t>
            </a:r>
          </a:p>
          <a:p>
            <a:pPr marL="45720" indent="0" algn="just">
              <a:buNone/>
            </a:pPr>
            <a:r>
              <a:rPr lang="pt-BR" dirty="0"/>
              <a:t> </a:t>
            </a:r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VIII </a:t>
            </a:r>
            <a:r>
              <a:rPr lang="pt-BR" dirty="0"/>
              <a:t>- do fornecimento de mercadoria com </a:t>
            </a:r>
            <a:r>
              <a:rPr lang="pt-BR" dirty="0" smtClean="0"/>
              <a:t>prestação </a:t>
            </a:r>
            <a:r>
              <a:rPr lang="pt-BR" dirty="0"/>
              <a:t>de </a:t>
            </a:r>
            <a:r>
              <a:rPr lang="pt-BR" dirty="0" smtClean="0"/>
              <a:t>serviços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não </a:t>
            </a:r>
            <a:r>
              <a:rPr lang="pt-BR" dirty="0"/>
              <a:t>compreendidos na </a:t>
            </a:r>
            <a:r>
              <a:rPr lang="pt-BR" dirty="0" smtClean="0"/>
              <a:t>competência tributária </a:t>
            </a:r>
            <a:r>
              <a:rPr lang="pt-BR" dirty="0"/>
              <a:t>dos </a:t>
            </a:r>
            <a:r>
              <a:rPr lang="pt-BR" dirty="0" smtClean="0"/>
              <a:t>Municípios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compreendidos na </a:t>
            </a:r>
            <a:r>
              <a:rPr lang="pt-BR" dirty="0" smtClean="0"/>
              <a:t>competência tributária </a:t>
            </a:r>
            <a:r>
              <a:rPr lang="pt-BR" dirty="0"/>
              <a:t>dos </a:t>
            </a:r>
            <a:r>
              <a:rPr lang="pt-BR" dirty="0" smtClean="0"/>
              <a:t>Municípios </a:t>
            </a:r>
            <a:r>
              <a:rPr lang="pt-BR" dirty="0"/>
              <a:t>e com </a:t>
            </a:r>
            <a:r>
              <a:rPr lang="pt-BR" dirty="0" smtClean="0"/>
              <a:t>indicação </a:t>
            </a:r>
            <a:r>
              <a:rPr lang="pt-BR" dirty="0"/>
              <a:t>expressa de </a:t>
            </a:r>
            <a:r>
              <a:rPr lang="pt-BR" dirty="0" smtClean="0"/>
              <a:t>incidência </a:t>
            </a:r>
            <a:r>
              <a:rPr lang="pt-BR" dirty="0"/>
              <a:t>do imposto de </a:t>
            </a:r>
            <a:r>
              <a:rPr lang="pt-BR" dirty="0" smtClean="0"/>
              <a:t>competência </a:t>
            </a:r>
            <a:r>
              <a:rPr lang="pt-BR" dirty="0"/>
              <a:t>estadual, como definido na lei complementar </a:t>
            </a:r>
            <a:r>
              <a:rPr lang="pt-BR" dirty="0" smtClean="0"/>
              <a:t>aplicável</a:t>
            </a:r>
            <a:r>
              <a:rPr lang="pt-BR" dirty="0"/>
              <a:t>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24703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Base de Cálculo - Licitações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</a:t>
            </a:r>
            <a:r>
              <a:rPr lang="pt-BR" dirty="0" smtClean="0"/>
              <a:t>é: </a:t>
            </a:r>
          </a:p>
          <a:p>
            <a:pPr marL="45720" indent="0" algn="just">
              <a:buNone/>
            </a:pPr>
            <a:r>
              <a:rPr lang="pt-BR" dirty="0" smtClean="0"/>
              <a:t>VII </a:t>
            </a:r>
            <a:r>
              <a:rPr lang="pt-BR" dirty="0"/>
              <a:t>- no caso do </a:t>
            </a:r>
            <a:r>
              <a:rPr lang="pt-BR" dirty="0">
                <a:solidFill>
                  <a:srgbClr val="FF0000"/>
                </a:solidFill>
              </a:rPr>
              <a:t>inciso XI do art. 12</a:t>
            </a:r>
            <a:r>
              <a:rPr lang="pt-BR" dirty="0"/>
              <a:t>, o </a:t>
            </a:r>
            <a:r>
              <a:rPr lang="pt-BR" b="1" u="sng" dirty="0">
                <a:solidFill>
                  <a:srgbClr val="0000FF"/>
                </a:solidFill>
              </a:rPr>
              <a:t>valor da </a:t>
            </a:r>
            <a:r>
              <a:rPr lang="pt-BR" b="1" u="sng" dirty="0" smtClean="0">
                <a:solidFill>
                  <a:srgbClr val="0000FF"/>
                </a:solidFill>
              </a:rPr>
              <a:t>operação</a:t>
            </a:r>
            <a:r>
              <a:rPr lang="pt-BR" dirty="0" smtClean="0"/>
              <a:t> </a:t>
            </a:r>
            <a:r>
              <a:rPr lang="pt-BR" dirty="0"/>
              <a:t>acrescido do valor dos </a:t>
            </a:r>
            <a:r>
              <a:rPr lang="pt-BR" b="1" u="sng" dirty="0">
                <a:solidFill>
                  <a:srgbClr val="0000FF"/>
                </a:solidFill>
              </a:rPr>
              <a:t>impostos de </a:t>
            </a:r>
            <a:r>
              <a:rPr lang="pt-BR" b="1" u="sng" dirty="0" smtClean="0">
                <a:solidFill>
                  <a:srgbClr val="0000FF"/>
                </a:solidFill>
              </a:rPr>
              <a:t>importação</a:t>
            </a:r>
            <a:r>
              <a:rPr lang="pt-BR" dirty="0" smtClean="0"/>
              <a:t> </a:t>
            </a:r>
            <a:r>
              <a:rPr lang="pt-BR" dirty="0"/>
              <a:t>e sobre </a:t>
            </a:r>
            <a:r>
              <a:rPr lang="pt-BR" b="1" u="sng" dirty="0">
                <a:solidFill>
                  <a:srgbClr val="0000FF"/>
                </a:solidFill>
              </a:rPr>
              <a:t>produtos industrializados </a:t>
            </a:r>
            <a:r>
              <a:rPr lang="pt-BR" dirty="0"/>
              <a:t>e de todas as </a:t>
            </a:r>
            <a:r>
              <a:rPr lang="pt-BR" b="1" u="sng" dirty="0">
                <a:solidFill>
                  <a:srgbClr val="0000FF"/>
                </a:solidFill>
              </a:rPr>
              <a:t>despesas cobradas ou debitadas ao adquirente</a:t>
            </a:r>
            <a:r>
              <a:rPr lang="pt-BR" dirty="0"/>
              <a:t>; </a:t>
            </a:r>
          </a:p>
          <a:p>
            <a:pPr marL="45720" indent="0" algn="just">
              <a:buNone/>
            </a:pPr>
            <a:r>
              <a:rPr lang="pt-BR" dirty="0"/>
              <a:t> </a:t>
            </a:r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XI </a:t>
            </a:r>
            <a:r>
              <a:rPr lang="pt-BR" dirty="0"/>
              <a:t>— da </a:t>
            </a:r>
            <a:r>
              <a:rPr lang="pt-BR" dirty="0" smtClean="0"/>
              <a:t>aquisição </a:t>
            </a:r>
            <a:r>
              <a:rPr lang="pt-BR" dirty="0"/>
              <a:t>em </a:t>
            </a:r>
            <a:r>
              <a:rPr lang="pt-BR" dirty="0" smtClean="0"/>
              <a:t>licitação pública </a:t>
            </a:r>
            <a:r>
              <a:rPr lang="pt-BR" dirty="0"/>
              <a:t>de mercadorias ou bens importados do exterior e apreendidos ou abandonados;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77429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dirty="0" smtClean="0"/>
              <a:t>Base de Cálculo do DIFAL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fontScale="92500" lnSpcReduction="10000"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</a:t>
            </a:r>
            <a:r>
              <a:rPr lang="pt-BR" dirty="0" smtClean="0"/>
              <a:t>é: </a:t>
            </a:r>
          </a:p>
          <a:p>
            <a:pPr marL="45720" indent="0" algn="just">
              <a:buNone/>
            </a:pPr>
            <a:r>
              <a:rPr lang="pt-BR" dirty="0" smtClean="0"/>
              <a:t>IX </a:t>
            </a:r>
            <a:r>
              <a:rPr lang="pt-BR" dirty="0"/>
              <a:t>- na </a:t>
            </a:r>
            <a:r>
              <a:rPr lang="pt-BR" dirty="0" smtClean="0"/>
              <a:t>hipótese </a:t>
            </a:r>
            <a:r>
              <a:rPr lang="pt-BR" dirty="0"/>
              <a:t>do </a:t>
            </a:r>
            <a:r>
              <a:rPr lang="pt-BR" dirty="0">
                <a:solidFill>
                  <a:srgbClr val="FF0000"/>
                </a:solidFill>
              </a:rPr>
              <a:t>inciso XIII do art. 12</a:t>
            </a:r>
            <a:r>
              <a:rPr lang="pt-BR" dirty="0"/>
              <a:t>, o </a:t>
            </a:r>
            <a:r>
              <a:rPr lang="pt-BR" b="1" u="sng" dirty="0">
                <a:solidFill>
                  <a:srgbClr val="0000FF"/>
                </a:solidFill>
              </a:rPr>
              <a:t>valor da </a:t>
            </a:r>
            <a:r>
              <a:rPr lang="pt-BR" b="1" u="sng" dirty="0" smtClean="0">
                <a:solidFill>
                  <a:srgbClr val="0000FF"/>
                </a:solidFill>
              </a:rPr>
              <a:t>prestação </a:t>
            </a:r>
            <a:r>
              <a:rPr lang="pt-BR" b="1" u="sng" dirty="0">
                <a:solidFill>
                  <a:srgbClr val="0000FF"/>
                </a:solidFill>
              </a:rPr>
              <a:t>no Estado de origem</a:t>
            </a:r>
            <a:r>
              <a:rPr lang="pt-BR" dirty="0" smtClean="0"/>
              <a:t>.</a:t>
            </a:r>
          </a:p>
          <a:p>
            <a:pPr marL="45720" indent="0" algn="just">
              <a:buNone/>
            </a:pPr>
            <a:r>
              <a:rPr lang="pt-BR" dirty="0" smtClean="0"/>
              <a:t>§3º No </a:t>
            </a:r>
            <a:r>
              <a:rPr lang="pt-BR" dirty="0"/>
              <a:t>caso do inciso IX, o imposto a pagar </a:t>
            </a:r>
            <a:r>
              <a:rPr lang="pt-BR" dirty="0" smtClean="0"/>
              <a:t>ser</a:t>
            </a:r>
            <a:r>
              <a:rPr lang="pt-BR" dirty="0"/>
              <a:t>á</a:t>
            </a:r>
            <a:r>
              <a:rPr lang="pt-BR" dirty="0" smtClean="0"/>
              <a:t> </a:t>
            </a:r>
            <a:r>
              <a:rPr lang="pt-BR" dirty="0"/>
              <a:t>o valor resultante da </a:t>
            </a:r>
            <a:r>
              <a:rPr lang="pt-BR" dirty="0" smtClean="0"/>
              <a:t>aplicação </a:t>
            </a:r>
            <a:r>
              <a:rPr lang="pt-BR" dirty="0"/>
              <a:t>do percentual equivalente  </a:t>
            </a:r>
            <a:r>
              <a:rPr lang="pt-BR" dirty="0" smtClean="0"/>
              <a:t>diferença </a:t>
            </a:r>
            <a:r>
              <a:rPr lang="pt-BR" dirty="0"/>
              <a:t>entre a </a:t>
            </a:r>
            <a:r>
              <a:rPr lang="pt-BR" dirty="0" smtClean="0"/>
              <a:t>alíquota </a:t>
            </a:r>
            <a:r>
              <a:rPr lang="pt-BR" dirty="0"/>
              <a:t>interna e a interestadual, sobre o valor ali previsto. </a:t>
            </a:r>
          </a:p>
          <a:p>
            <a:pPr marL="45720" indent="0" algn="just">
              <a:buNone/>
            </a:pPr>
            <a:r>
              <a:rPr lang="pt-BR" dirty="0"/>
              <a:t> </a:t>
            </a:r>
          </a:p>
          <a:p>
            <a:pPr marL="45720" indent="0" algn="just">
              <a:buNone/>
            </a:pPr>
            <a:r>
              <a:rPr lang="pt-BR" dirty="0"/>
              <a:t>Art. 12. Considera-se ocorrido o fato gerador do imposto no momento: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XIII </a:t>
            </a:r>
            <a:r>
              <a:rPr lang="pt-BR" dirty="0"/>
              <a:t>- da </a:t>
            </a:r>
            <a:r>
              <a:rPr lang="pt-BR" dirty="0" smtClean="0"/>
              <a:t>utilização</a:t>
            </a:r>
            <a:r>
              <a:rPr lang="pt-BR" dirty="0"/>
              <a:t>, por contribuinte, de </a:t>
            </a:r>
            <a:r>
              <a:rPr lang="pt-BR" dirty="0" smtClean="0"/>
              <a:t>serviço </a:t>
            </a:r>
            <a:r>
              <a:rPr lang="pt-BR" dirty="0"/>
              <a:t>cuja </a:t>
            </a:r>
            <a:r>
              <a:rPr lang="pt-BR" dirty="0" smtClean="0"/>
              <a:t>prestação </a:t>
            </a:r>
            <a:r>
              <a:rPr lang="pt-BR" dirty="0"/>
              <a:t>se tenha iniciado em outro Estado e </a:t>
            </a:r>
            <a:r>
              <a:rPr lang="pt-BR" dirty="0" smtClean="0"/>
              <a:t>não </a:t>
            </a:r>
            <a:r>
              <a:rPr lang="pt-BR" dirty="0"/>
              <a:t>esteja vinculada a </a:t>
            </a:r>
            <a:r>
              <a:rPr lang="pt-BR" dirty="0" smtClean="0"/>
              <a:t>operação </a:t>
            </a:r>
            <a:r>
              <a:rPr lang="pt-BR" dirty="0"/>
              <a:t>ou </a:t>
            </a:r>
            <a:r>
              <a:rPr lang="pt-BR" dirty="0" smtClean="0"/>
              <a:t>prestação subsequente.</a:t>
            </a:r>
          </a:p>
        </p:txBody>
      </p:sp>
    </p:spTree>
    <p:extLst>
      <p:ext uri="{BB962C8B-B14F-4D97-AF65-F5344CB8AC3E}">
        <p14:creationId xmlns:p14="http://schemas.microsoft.com/office/powerpoint/2010/main" val="324576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13. A base de </a:t>
            </a:r>
            <a:r>
              <a:rPr lang="pt-BR" dirty="0" smtClean="0"/>
              <a:t>cálculo </a:t>
            </a:r>
            <a:r>
              <a:rPr lang="pt-BR" dirty="0"/>
              <a:t>do imposto </a:t>
            </a:r>
            <a:r>
              <a:rPr lang="pt-BR" dirty="0" smtClean="0"/>
              <a:t>é: </a:t>
            </a:r>
          </a:p>
          <a:p>
            <a:pPr marL="45720" indent="0" algn="just">
              <a:buNone/>
            </a:pPr>
            <a:r>
              <a:rPr lang="pt-BR" dirty="0" smtClean="0"/>
              <a:t>V </a:t>
            </a:r>
            <a:r>
              <a:rPr lang="pt-BR" dirty="0"/>
              <a:t>- na </a:t>
            </a:r>
            <a:r>
              <a:rPr lang="pt-BR" dirty="0" smtClean="0"/>
              <a:t>hipótese </a:t>
            </a:r>
            <a:r>
              <a:rPr lang="pt-BR" dirty="0"/>
              <a:t>do </a:t>
            </a:r>
            <a:r>
              <a:rPr lang="pt-BR" dirty="0">
                <a:solidFill>
                  <a:srgbClr val="FF0000"/>
                </a:solidFill>
              </a:rPr>
              <a:t>inciso IX do art. 12</a:t>
            </a:r>
            <a:r>
              <a:rPr lang="pt-BR" dirty="0"/>
              <a:t>, a </a:t>
            </a:r>
            <a:r>
              <a:rPr lang="pt-BR" b="1" u="sng" dirty="0">
                <a:solidFill>
                  <a:srgbClr val="0000FF"/>
                </a:solidFill>
              </a:rPr>
              <a:t>soma das seguintes parcelas</a:t>
            </a:r>
            <a:r>
              <a:rPr lang="pt-BR" dirty="0"/>
              <a:t>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u="sng" dirty="0" smtClean="0">
                <a:solidFill>
                  <a:srgbClr val="0000FF"/>
                </a:solidFill>
              </a:rPr>
              <a:t>o </a:t>
            </a:r>
            <a:r>
              <a:rPr lang="pt-BR" b="1" u="sng" dirty="0">
                <a:solidFill>
                  <a:srgbClr val="0000FF"/>
                </a:solidFill>
              </a:rPr>
              <a:t>valor da mercadoria ou bem constante dos documentos de </a:t>
            </a:r>
            <a:r>
              <a:rPr lang="pt-BR" b="1" u="sng" dirty="0" smtClean="0">
                <a:solidFill>
                  <a:srgbClr val="0000FF"/>
                </a:solidFill>
              </a:rPr>
              <a:t>importação</a:t>
            </a:r>
            <a:r>
              <a:rPr lang="pt-BR" dirty="0"/>
              <a:t>, observado o disposto no art. 14;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imposto de </a:t>
            </a:r>
            <a:r>
              <a:rPr lang="pt-BR" b="1" u="sng" dirty="0" smtClean="0">
                <a:solidFill>
                  <a:srgbClr val="0000FF"/>
                </a:solidFill>
              </a:rPr>
              <a:t>importação</a:t>
            </a:r>
            <a:r>
              <a:rPr lang="pt-BR" dirty="0"/>
              <a:t>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c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imposto sobre produtos industrializados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d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imposto sobre </a:t>
            </a:r>
            <a:r>
              <a:rPr lang="pt-BR" b="1" u="sng" dirty="0" smtClean="0">
                <a:solidFill>
                  <a:srgbClr val="0000FF"/>
                </a:solidFill>
              </a:rPr>
              <a:t>operações </a:t>
            </a:r>
            <a:r>
              <a:rPr lang="pt-BR" b="1" u="sng" dirty="0">
                <a:solidFill>
                  <a:srgbClr val="0000FF"/>
                </a:solidFill>
              </a:rPr>
              <a:t>de </a:t>
            </a:r>
            <a:r>
              <a:rPr lang="pt-BR" b="1" u="sng" dirty="0" smtClean="0">
                <a:solidFill>
                  <a:srgbClr val="0000FF"/>
                </a:solidFill>
              </a:rPr>
              <a:t>câmbio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e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quaisquer outros impostos, taxas, </a:t>
            </a:r>
            <a:r>
              <a:rPr lang="pt-BR" b="1" u="sng" dirty="0" smtClean="0">
                <a:solidFill>
                  <a:srgbClr val="0000FF"/>
                </a:solidFill>
              </a:rPr>
              <a:t>contribuições </a:t>
            </a:r>
            <a:r>
              <a:rPr lang="pt-BR" b="1" u="sng" dirty="0">
                <a:solidFill>
                  <a:srgbClr val="0000FF"/>
                </a:solidFill>
              </a:rPr>
              <a:t>e despesas aduaneiras</a:t>
            </a:r>
            <a:r>
              <a:rPr lang="pt-BR" dirty="0"/>
              <a:t>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4495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1º Integra </a:t>
            </a:r>
            <a:r>
              <a:rPr lang="pt-BR" dirty="0"/>
              <a:t>a base de </a:t>
            </a:r>
            <a:r>
              <a:rPr lang="pt-BR" dirty="0" smtClean="0"/>
              <a:t>cálculo </a:t>
            </a:r>
            <a:r>
              <a:rPr lang="pt-BR" dirty="0"/>
              <a:t>do imposto, inclusive na </a:t>
            </a:r>
            <a:r>
              <a:rPr lang="pt-BR" dirty="0" smtClean="0"/>
              <a:t>hipótese </a:t>
            </a:r>
            <a:r>
              <a:rPr lang="pt-BR" dirty="0"/>
              <a:t>do inciso V do caput deste artigo: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</a:t>
            </a:r>
            <a:r>
              <a:rPr lang="pt-BR" b="1" u="sng" dirty="0">
                <a:solidFill>
                  <a:srgbClr val="0000FF"/>
                </a:solidFill>
              </a:rPr>
              <a:t>o montante do </a:t>
            </a:r>
            <a:r>
              <a:rPr lang="pt-BR" b="1" u="sng" dirty="0" smtClean="0">
                <a:solidFill>
                  <a:srgbClr val="0000FF"/>
                </a:solidFill>
              </a:rPr>
              <a:t>próprio </a:t>
            </a:r>
            <a:r>
              <a:rPr lang="pt-BR" b="1" u="sng" dirty="0">
                <a:solidFill>
                  <a:srgbClr val="0000FF"/>
                </a:solidFill>
              </a:rPr>
              <a:t>imposto</a:t>
            </a:r>
            <a:r>
              <a:rPr lang="pt-BR" dirty="0"/>
              <a:t>, constituindo o respectivo destaque mera </a:t>
            </a:r>
            <a:r>
              <a:rPr lang="pt-BR" dirty="0" smtClean="0"/>
              <a:t>indicação </a:t>
            </a:r>
            <a:r>
              <a:rPr lang="pt-BR" dirty="0"/>
              <a:t>para fins de controle;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o valor correspondente a: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</a:t>
            </a:r>
            <a:r>
              <a:rPr lang="pt-BR" b="1" u="sng" dirty="0" smtClean="0">
                <a:solidFill>
                  <a:srgbClr val="0000FF"/>
                </a:solidFill>
              </a:rPr>
              <a:t>seguros</a:t>
            </a:r>
            <a:r>
              <a:rPr lang="pt-BR" b="1" u="sng" dirty="0">
                <a:solidFill>
                  <a:srgbClr val="0000FF"/>
                </a:solidFill>
              </a:rPr>
              <a:t>, juros e demais </a:t>
            </a:r>
            <a:r>
              <a:rPr lang="pt-BR" b="1" u="sng" dirty="0" smtClean="0">
                <a:solidFill>
                  <a:srgbClr val="0000FF"/>
                </a:solidFill>
              </a:rPr>
              <a:t>importâncias </a:t>
            </a:r>
            <a:r>
              <a:rPr lang="pt-BR" dirty="0"/>
              <a:t>pagas, recebidas ou debitadas, bem como descontos concedidos sob </a:t>
            </a:r>
            <a:r>
              <a:rPr lang="pt-BR" dirty="0" smtClean="0"/>
              <a:t>condição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</a:t>
            </a:r>
            <a:r>
              <a:rPr lang="pt-BR" b="1" u="sng" dirty="0">
                <a:solidFill>
                  <a:srgbClr val="0000FF"/>
                </a:solidFill>
              </a:rPr>
              <a:t>frete</a:t>
            </a:r>
            <a:r>
              <a:rPr lang="pt-BR" dirty="0"/>
              <a:t>, caso o transporte seja </a:t>
            </a:r>
            <a:r>
              <a:rPr lang="pt-BR" b="1" u="sng" dirty="0">
                <a:solidFill>
                  <a:srgbClr val="0000FF"/>
                </a:solidFill>
              </a:rPr>
              <a:t>efetuado pelo </a:t>
            </a:r>
            <a:r>
              <a:rPr lang="pt-BR" b="1" u="sng" dirty="0" smtClean="0">
                <a:solidFill>
                  <a:srgbClr val="0000FF"/>
                </a:solidFill>
              </a:rPr>
              <a:t>próprio </a:t>
            </a:r>
            <a:r>
              <a:rPr lang="pt-BR" b="1" u="sng" dirty="0">
                <a:solidFill>
                  <a:srgbClr val="0000FF"/>
                </a:solidFill>
              </a:rPr>
              <a:t>remetente ou por sua conta e ordem e seja cobrado em separado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23968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12. Considera-se ocorrido o fato gerador do imposto no momento: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IX </a:t>
            </a:r>
            <a:r>
              <a:rPr lang="pt-BR" dirty="0"/>
              <a:t>— do </a:t>
            </a:r>
            <a:r>
              <a:rPr lang="pt-BR" dirty="0" smtClean="0"/>
              <a:t>desembaraço </a:t>
            </a:r>
            <a:r>
              <a:rPr lang="pt-BR" dirty="0"/>
              <a:t>aduaneiro de mercadorias ou bens importados do exterior;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21418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1916832"/>
            <a:ext cx="7056784" cy="446449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14. </a:t>
            </a:r>
            <a:r>
              <a:rPr lang="pt-BR" dirty="0">
                <a:solidFill>
                  <a:srgbClr val="0000FF"/>
                </a:solidFill>
              </a:rPr>
              <a:t>O </a:t>
            </a:r>
            <a:r>
              <a:rPr lang="pt-BR" dirty="0" smtClean="0">
                <a:solidFill>
                  <a:srgbClr val="0000FF"/>
                </a:solidFill>
              </a:rPr>
              <a:t>preço </a:t>
            </a:r>
            <a:r>
              <a:rPr lang="pt-BR" dirty="0">
                <a:solidFill>
                  <a:srgbClr val="0000FF"/>
                </a:solidFill>
              </a:rPr>
              <a:t>de </a:t>
            </a:r>
            <a:r>
              <a:rPr lang="pt-BR" dirty="0" smtClean="0">
                <a:solidFill>
                  <a:srgbClr val="0000FF"/>
                </a:solidFill>
              </a:rPr>
              <a:t>importação </a:t>
            </a:r>
            <a:r>
              <a:rPr lang="pt-BR" dirty="0">
                <a:solidFill>
                  <a:srgbClr val="0000FF"/>
                </a:solidFill>
              </a:rPr>
              <a:t>expresso em moeda estrangeira ser convertido em moeda nacional </a:t>
            </a:r>
            <a:r>
              <a:rPr lang="pt-BR" dirty="0"/>
              <a:t>pela mesma taxa de </a:t>
            </a:r>
            <a:r>
              <a:rPr lang="pt-BR" dirty="0" smtClean="0"/>
              <a:t>câmbio </a:t>
            </a:r>
            <a:r>
              <a:rPr lang="pt-BR" dirty="0"/>
              <a:t>utilizada no </a:t>
            </a:r>
            <a:r>
              <a:rPr lang="pt-BR" dirty="0" smtClean="0"/>
              <a:t>cálculo </a:t>
            </a:r>
            <a:r>
              <a:rPr lang="pt-BR" dirty="0"/>
              <a:t>do imposto de </a:t>
            </a:r>
            <a:r>
              <a:rPr lang="pt-BR" dirty="0" smtClean="0"/>
              <a:t>importação</a:t>
            </a:r>
            <a:r>
              <a:rPr lang="pt-BR" dirty="0"/>
              <a:t>, sem qualquer </a:t>
            </a:r>
            <a:r>
              <a:rPr lang="pt-BR" dirty="0" smtClean="0"/>
              <a:t>acréscimo </a:t>
            </a:r>
            <a:r>
              <a:rPr lang="pt-BR" dirty="0"/>
              <a:t>ou </a:t>
            </a:r>
            <a:r>
              <a:rPr lang="pt-BR" dirty="0" smtClean="0"/>
              <a:t>devolução </a:t>
            </a:r>
            <a:r>
              <a:rPr lang="pt-BR" dirty="0"/>
              <a:t>posterior se houver </a:t>
            </a:r>
            <a:r>
              <a:rPr lang="pt-BR" dirty="0" smtClean="0"/>
              <a:t>variação </a:t>
            </a:r>
            <a:r>
              <a:rPr lang="pt-BR" dirty="0"/>
              <a:t>da taxa de </a:t>
            </a:r>
            <a:r>
              <a:rPr lang="pt-BR" dirty="0" smtClean="0"/>
              <a:t>câmbio até </a:t>
            </a:r>
            <a:r>
              <a:rPr lang="pt-BR" dirty="0"/>
              <a:t>o pagamento efetivo do </a:t>
            </a:r>
            <a:r>
              <a:rPr lang="pt-BR" dirty="0" smtClean="0"/>
              <a:t>preço.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 smtClean="0"/>
              <a:t>Parágrafo único</a:t>
            </a:r>
            <a:r>
              <a:rPr lang="pt-BR" dirty="0"/>
              <a:t>. </a:t>
            </a:r>
            <a:r>
              <a:rPr lang="pt-BR" dirty="0">
                <a:solidFill>
                  <a:srgbClr val="0000FF"/>
                </a:solidFill>
              </a:rPr>
              <a:t>O valor fixado pela autoridade aduaneira para base de </a:t>
            </a:r>
            <a:r>
              <a:rPr lang="pt-BR" dirty="0" smtClean="0">
                <a:solidFill>
                  <a:srgbClr val="0000FF"/>
                </a:solidFill>
              </a:rPr>
              <a:t>cálculo </a:t>
            </a:r>
            <a:r>
              <a:rPr lang="pt-BR" dirty="0">
                <a:solidFill>
                  <a:srgbClr val="0000FF"/>
                </a:solidFill>
              </a:rPr>
              <a:t>do imposto de </a:t>
            </a:r>
            <a:r>
              <a:rPr lang="pt-BR" dirty="0" smtClean="0">
                <a:solidFill>
                  <a:srgbClr val="0000FF"/>
                </a:solidFill>
              </a:rPr>
              <a:t>importação</a:t>
            </a:r>
            <a:r>
              <a:rPr lang="pt-BR" dirty="0"/>
              <a:t>, nos termos da lei </a:t>
            </a:r>
            <a:r>
              <a:rPr lang="pt-BR" dirty="0" smtClean="0"/>
              <a:t>aplicável</a:t>
            </a:r>
            <a:r>
              <a:rPr lang="pt-BR" dirty="0"/>
              <a:t>, </a:t>
            </a:r>
            <a:r>
              <a:rPr lang="pt-BR" dirty="0">
                <a:solidFill>
                  <a:srgbClr val="0000FF"/>
                </a:solidFill>
              </a:rPr>
              <a:t>substituir o </a:t>
            </a:r>
            <a:r>
              <a:rPr lang="pt-BR" dirty="0" smtClean="0">
                <a:solidFill>
                  <a:srgbClr val="0000FF"/>
                </a:solidFill>
              </a:rPr>
              <a:t>preço </a:t>
            </a:r>
            <a:r>
              <a:rPr lang="pt-BR" dirty="0">
                <a:solidFill>
                  <a:srgbClr val="0000FF"/>
                </a:solidFill>
              </a:rPr>
              <a:t>declarado</a:t>
            </a:r>
            <a:r>
              <a:rPr lang="pt-BR" dirty="0"/>
              <a:t>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69377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65263" y="1943894"/>
            <a:ext cx="57816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4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/>
              <a:t>Base de Cálculo - Importação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pic>
        <p:nvPicPr>
          <p:cNvPr id="5" name="Espaço Reservado para Conteúdo 4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33897" y="1988840"/>
            <a:ext cx="57721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8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000" dirty="0" smtClean="0"/>
              <a:t>Alíquota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119572" y="2060848"/>
            <a:ext cx="6400800" cy="3474720"/>
          </a:xfrm>
        </p:spPr>
        <p:txBody>
          <a:bodyPr/>
          <a:lstStyle/>
          <a:p>
            <a:pPr marL="45720" indent="0">
              <a:buNone/>
            </a:pPr>
            <a:r>
              <a:rPr lang="pt-BR" dirty="0" smtClean="0"/>
              <a:t>Já estudamos isso anteriormente.</a:t>
            </a:r>
          </a:p>
          <a:p>
            <a:pPr marL="45720" indent="0">
              <a:buNone/>
            </a:pPr>
            <a:endParaRPr lang="pt-BR" dirty="0"/>
          </a:p>
          <a:p>
            <a:pPr marL="45720" indent="0">
              <a:buNone/>
            </a:pPr>
            <a:r>
              <a:rPr lang="pt-BR" dirty="0" smtClean="0"/>
              <a:t>Mas para fixar em sua mente consulte a Lei do ICMS no DF.</a:t>
            </a:r>
          </a:p>
          <a:p>
            <a:pPr marL="45720" indent="0">
              <a:buNone/>
            </a:pPr>
            <a:endParaRPr lang="pt-BR" dirty="0"/>
          </a:p>
          <a:p>
            <a:pPr marL="45720" indent="0">
              <a:buNone/>
            </a:pPr>
            <a:r>
              <a:rPr lang="pt-BR" dirty="0" smtClean="0"/>
              <a:t>Lei 1254, de 08 de novembro de 1996, artigo 18.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2158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3500" dirty="0" smtClean="0"/>
              <a:t>Fundo de Combate e Erradicação da Pobreza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119572" y="2492896"/>
            <a:ext cx="6400800" cy="3474720"/>
          </a:xfrm>
        </p:spPr>
        <p:txBody>
          <a:bodyPr/>
          <a:lstStyle/>
          <a:p>
            <a:pPr marL="45720" indent="0" algn="just">
              <a:buNone/>
            </a:pPr>
            <a:r>
              <a:rPr lang="pt-BR" dirty="0" smtClean="0"/>
              <a:t>Corresponde ao adicional de 2% do ICMS sobre alguns produtos elencados pela Lei 4220/2008.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7307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55576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3500" dirty="0" smtClean="0"/>
              <a:t>Fundo de Combate e Erradicação da Pobreza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1119572" y="2492896"/>
            <a:ext cx="6400800" cy="3474720"/>
          </a:xfrm>
        </p:spPr>
        <p:txBody>
          <a:bodyPr/>
          <a:lstStyle/>
          <a:p>
            <a:pPr marL="45720" indent="0" algn="just">
              <a:buNone/>
            </a:pPr>
            <a:r>
              <a:rPr lang="pt-BR" dirty="0" smtClean="0"/>
              <a:t>Corresponde ao adicional de 2% do ICMS sobre alguns produtos elencados pela Lei 4220/2008.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784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51. Para a compensação a que se refere o artigo anterior, é assegurado ao sujeito passivo o </a:t>
            </a:r>
            <a:r>
              <a:rPr lang="pt-BR" b="1" dirty="0">
                <a:solidFill>
                  <a:srgbClr val="0000FF"/>
                </a:solidFill>
              </a:rPr>
              <a:t>direito de creditar-se do imposto anteriormente cobrado em operações </a:t>
            </a:r>
            <a:r>
              <a:rPr lang="pt-BR" dirty="0"/>
              <a:t>de que tenha resultado a entrada, real ou simbólica, de bem ou mercadoria no estabelecimento, inclusive se destinados ao seu uso, consumo ou </a:t>
            </a:r>
            <a:r>
              <a:rPr lang="pt-BR" b="1" dirty="0">
                <a:solidFill>
                  <a:srgbClr val="FF0000"/>
                </a:solidFill>
              </a:rPr>
              <a:t>ativo permanente</a:t>
            </a:r>
            <a:r>
              <a:rPr lang="pt-BR" dirty="0"/>
              <a:t>, ou o recebimento de serviço de transporte interestadual e intermunicipal ou de comunicação (Lei nº </a:t>
            </a:r>
            <a:r>
              <a:rPr lang="pt-BR" dirty="0" smtClean="0"/>
              <a:t>1.254, </a:t>
            </a:r>
            <a:r>
              <a:rPr lang="pt-BR" dirty="0"/>
              <a:t>de 8 de novembro de 1996, art. 32).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1724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54. </a:t>
            </a:r>
            <a:r>
              <a:rPr lang="pt-BR" dirty="0" smtClean="0"/>
              <a:t>§8º Além </a:t>
            </a:r>
            <a:r>
              <a:rPr lang="pt-BR" dirty="0"/>
              <a:t>do </a:t>
            </a:r>
            <a:r>
              <a:rPr lang="pt-BR" dirty="0" smtClean="0"/>
              <a:t>lançamento </a:t>
            </a:r>
            <a:r>
              <a:rPr lang="pt-BR" dirty="0"/>
              <a:t>em conjunto com os demais </a:t>
            </a:r>
            <a:r>
              <a:rPr lang="pt-BR" dirty="0" smtClean="0"/>
              <a:t>créditos</a:t>
            </a:r>
            <a:r>
              <a:rPr lang="pt-BR" dirty="0"/>
              <a:t>, para efeito da </a:t>
            </a:r>
            <a:r>
              <a:rPr lang="pt-BR" dirty="0" smtClean="0"/>
              <a:t>compensação </a:t>
            </a:r>
            <a:r>
              <a:rPr lang="pt-BR" dirty="0"/>
              <a:t>prevista no art. 51, os </a:t>
            </a:r>
            <a:r>
              <a:rPr lang="pt-BR" dirty="0" smtClean="0"/>
              <a:t>créditos </a:t>
            </a:r>
            <a:r>
              <a:rPr lang="pt-BR" dirty="0"/>
              <a:t>resultantes de </a:t>
            </a:r>
            <a:r>
              <a:rPr lang="pt-BR" dirty="0" smtClean="0"/>
              <a:t>operações </a:t>
            </a:r>
            <a:r>
              <a:rPr lang="pt-BR" dirty="0"/>
              <a:t>de que decorra </a:t>
            </a:r>
            <a:r>
              <a:rPr lang="pt-BR" b="1" dirty="0">
                <a:solidFill>
                  <a:srgbClr val="0000FF"/>
                </a:solidFill>
              </a:rPr>
              <a:t>entrada de mercadorias destinadas ao ativo permanente</a:t>
            </a:r>
            <a:r>
              <a:rPr lang="pt-BR" dirty="0"/>
              <a:t> </a:t>
            </a:r>
            <a:r>
              <a:rPr lang="pt-BR" dirty="0" smtClean="0"/>
              <a:t>serão </a:t>
            </a:r>
            <a:r>
              <a:rPr lang="pt-BR" dirty="0"/>
              <a:t>objeto de outro </a:t>
            </a:r>
            <a:r>
              <a:rPr lang="pt-BR" dirty="0" smtClean="0"/>
              <a:t>lançamento </a:t>
            </a:r>
            <a:r>
              <a:rPr lang="pt-BR" dirty="0"/>
              <a:t>no Controle de </a:t>
            </a:r>
            <a:r>
              <a:rPr lang="pt-BR" dirty="0" smtClean="0"/>
              <a:t>Crédito </a:t>
            </a:r>
            <a:r>
              <a:rPr lang="pt-BR" dirty="0"/>
              <a:t>do Ativo Permanente - CIAP, a que se referem os artigos 202 a 204, para </a:t>
            </a:r>
            <a:r>
              <a:rPr lang="pt-BR" dirty="0" smtClean="0"/>
              <a:t>aplicação </a:t>
            </a:r>
            <a:r>
              <a:rPr lang="pt-BR" dirty="0"/>
              <a:t>do disposto nos </a:t>
            </a:r>
            <a:r>
              <a:rPr lang="pt-BR" dirty="0" smtClean="0"/>
              <a:t>§§ 4º a 7º do </a:t>
            </a:r>
            <a:r>
              <a:rPr lang="pt-BR" dirty="0"/>
              <a:t>art. 60.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61174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§</a:t>
            </a:r>
            <a:r>
              <a:rPr lang="pt-BR" dirty="0" smtClean="0"/>
              <a:t>12</a:t>
            </a:r>
            <a:r>
              <a:rPr lang="pt-BR" dirty="0"/>
              <a:t>. Para efeito do disposto no caput do art. 51, relativamente aos </a:t>
            </a:r>
            <a:r>
              <a:rPr lang="pt-BR" dirty="0" smtClean="0"/>
              <a:t>créditos </a:t>
            </a:r>
            <a:r>
              <a:rPr lang="pt-BR" dirty="0"/>
              <a:t>decorrentes de entrada de mercadorias no estabelecimento, ocorridas a partir de </a:t>
            </a:r>
            <a:r>
              <a:rPr lang="pt-BR" dirty="0" smtClean="0"/>
              <a:t>1º de </a:t>
            </a:r>
            <a:r>
              <a:rPr lang="pt-BR" dirty="0"/>
              <a:t>janeiro de 2001 e destinadas ao ativo permanente, dever ser observado: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— a </a:t>
            </a:r>
            <a:r>
              <a:rPr lang="pt-BR" dirty="0" smtClean="0"/>
              <a:t>apropriação será </a:t>
            </a:r>
            <a:r>
              <a:rPr lang="pt-BR" dirty="0"/>
              <a:t>feita  </a:t>
            </a:r>
            <a:r>
              <a:rPr lang="pt-BR" dirty="0" smtClean="0"/>
              <a:t>razão </a:t>
            </a:r>
            <a:r>
              <a:rPr lang="pt-BR" dirty="0"/>
              <a:t>de </a:t>
            </a:r>
            <a:r>
              <a:rPr lang="pt-BR" b="1" dirty="0">
                <a:solidFill>
                  <a:srgbClr val="0000FF"/>
                </a:solidFill>
              </a:rPr>
              <a:t>um quarenta e oito avos por </a:t>
            </a:r>
            <a:r>
              <a:rPr lang="pt-BR" b="1" dirty="0" smtClean="0">
                <a:solidFill>
                  <a:srgbClr val="0000FF"/>
                </a:solidFill>
              </a:rPr>
              <a:t>mês</a:t>
            </a:r>
            <a:r>
              <a:rPr lang="pt-BR" dirty="0"/>
              <a:t>, </a:t>
            </a:r>
            <a:r>
              <a:rPr lang="pt-BR" b="1" dirty="0">
                <a:solidFill>
                  <a:srgbClr val="FF0000"/>
                </a:solidFill>
              </a:rPr>
              <a:t>devendo a primeira </a:t>
            </a:r>
            <a:r>
              <a:rPr lang="pt-BR" b="1" dirty="0" smtClean="0">
                <a:solidFill>
                  <a:srgbClr val="FF0000"/>
                </a:solidFill>
              </a:rPr>
              <a:t>fração </a:t>
            </a:r>
            <a:r>
              <a:rPr lang="pt-BR" b="1" dirty="0">
                <a:solidFill>
                  <a:srgbClr val="FF0000"/>
                </a:solidFill>
              </a:rPr>
              <a:t>ser apropriada no </a:t>
            </a:r>
            <a:r>
              <a:rPr lang="pt-BR" b="1" dirty="0" smtClean="0">
                <a:solidFill>
                  <a:srgbClr val="FF0000"/>
                </a:solidFill>
              </a:rPr>
              <a:t>mês </a:t>
            </a:r>
            <a:r>
              <a:rPr lang="pt-BR" b="1" dirty="0">
                <a:solidFill>
                  <a:srgbClr val="FF0000"/>
                </a:solidFill>
              </a:rPr>
              <a:t>em que ocorrer a entrada no estabelecimento</a:t>
            </a:r>
            <a:r>
              <a:rPr lang="pt-BR" dirty="0"/>
              <a:t>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18422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II — em cada </a:t>
            </a:r>
            <a:r>
              <a:rPr lang="pt-BR" dirty="0" smtClean="0"/>
              <a:t>período </a:t>
            </a:r>
            <a:r>
              <a:rPr lang="pt-BR" dirty="0"/>
              <a:t>de </a:t>
            </a:r>
            <a:r>
              <a:rPr lang="pt-BR" dirty="0" smtClean="0"/>
              <a:t>apuração </a:t>
            </a:r>
            <a:r>
              <a:rPr lang="pt-BR" dirty="0"/>
              <a:t>do imposto, </a:t>
            </a:r>
            <a:r>
              <a:rPr lang="pt-BR" b="1" dirty="0" smtClean="0">
                <a:solidFill>
                  <a:srgbClr val="0000FF"/>
                </a:solidFill>
              </a:rPr>
              <a:t>não será </a:t>
            </a:r>
            <a:r>
              <a:rPr lang="pt-BR" b="1" dirty="0">
                <a:solidFill>
                  <a:srgbClr val="0000FF"/>
                </a:solidFill>
              </a:rPr>
              <a:t>admitido o creditamento</a:t>
            </a:r>
            <a:r>
              <a:rPr lang="pt-BR" dirty="0"/>
              <a:t> de que trata o inciso I, </a:t>
            </a:r>
            <a:r>
              <a:rPr lang="pt-BR" b="1" dirty="0">
                <a:solidFill>
                  <a:srgbClr val="0000FF"/>
                </a:solidFill>
              </a:rPr>
              <a:t>em </a:t>
            </a:r>
            <a:r>
              <a:rPr lang="pt-BR" b="1" dirty="0" smtClean="0">
                <a:solidFill>
                  <a:srgbClr val="0000FF"/>
                </a:solidFill>
              </a:rPr>
              <a:t>relação à proporção </a:t>
            </a:r>
            <a:r>
              <a:rPr lang="pt-BR" b="1" dirty="0">
                <a:solidFill>
                  <a:srgbClr val="0000FF"/>
                </a:solidFill>
              </a:rPr>
              <a:t>das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saídas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isentas ou </a:t>
            </a:r>
            <a:r>
              <a:rPr lang="pt-BR" b="1" dirty="0" smtClean="0">
                <a:solidFill>
                  <a:srgbClr val="0000FF"/>
                </a:solidFill>
              </a:rPr>
              <a:t>não </a:t>
            </a:r>
            <a:r>
              <a:rPr lang="pt-BR" b="1" dirty="0">
                <a:solidFill>
                  <a:srgbClr val="0000FF"/>
                </a:solidFill>
              </a:rPr>
              <a:t>tributadas sobre o total das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saídas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efetuadas no mesmo </a:t>
            </a:r>
            <a:r>
              <a:rPr lang="pt-BR" b="1" dirty="0" smtClean="0">
                <a:solidFill>
                  <a:srgbClr val="0000FF"/>
                </a:solidFill>
              </a:rPr>
              <a:t>período</a:t>
            </a:r>
            <a:r>
              <a:rPr lang="pt-BR" dirty="0"/>
              <a:t>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43300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III - para </a:t>
            </a:r>
            <a:r>
              <a:rPr lang="pt-BR" dirty="0" smtClean="0"/>
              <a:t>aplicação </a:t>
            </a:r>
            <a:r>
              <a:rPr lang="pt-BR" dirty="0"/>
              <a:t>do disposto nos incisos I e II, o montante do </a:t>
            </a:r>
            <a:r>
              <a:rPr lang="pt-BR" b="1" dirty="0" smtClean="0">
                <a:solidFill>
                  <a:srgbClr val="0000FF"/>
                </a:solidFill>
              </a:rPr>
              <a:t>crédito </a:t>
            </a:r>
            <a:r>
              <a:rPr lang="pt-BR" b="1" dirty="0">
                <a:solidFill>
                  <a:srgbClr val="0000FF"/>
                </a:solidFill>
              </a:rPr>
              <a:t>a </a:t>
            </a:r>
            <a:r>
              <a:rPr lang="pt-BR" b="1" dirty="0" smtClean="0">
                <a:solidFill>
                  <a:srgbClr val="0000FF"/>
                </a:solidFill>
              </a:rPr>
              <a:t>ser </a:t>
            </a:r>
            <a:r>
              <a:rPr lang="pt-BR" b="1" dirty="0">
                <a:solidFill>
                  <a:srgbClr val="0000FF"/>
                </a:solidFill>
              </a:rPr>
              <a:t>apropriado </a:t>
            </a:r>
            <a:r>
              <a:rPr lang="pt-BR" b="1" dirty="0" smtClean="0">
                <a:solidFill>
                  <a:srgbClr val="0000FF"/>
                </a:solidFill>
              </a:rPr>
              <a:t>será </a:t>
            </a:r>
            <a:r>
              <a:rPr lang="pt-BR" b="1" dirty="0">
                <a:solidFill>
                  <a:srgbClr val="0000FF"/>
                </a:solidFill>
              </a:rPr>
              <a:t>o obtido multiplicando-se o valor total do respectivo </a:t>
            </a:r>
            <a:r>
              <a:rPr lang="pt-BR" b="1" dirty="0" smtClean="0">
                <a:solidFill>
                  <a:srgbClr val="0000FF"/>
                </a:solidFill>
              </a:rPr>
              <a:t>crédito </a:t>
            </a:r>
            <a:r>
              <a:rPr lang="pt-BR" b="1" dirty="0">
                <a:solidFill>
                  <a:srgbClr val="0000FF"/>
                </a:solidFill>
              </a:rPr>
              <a:t>pelo fator igual a um quarenta e oito avos da </a:t>
            </a:r>
            <a:r>
              <a:rPr lang="pt-BR" b="1" dirty="0" smtClean="0">
                <a:solidFill>
                  <a:srgbClr val="0000FF"/>
                </a:solidFill>
              </a:rPr>
              <a:t>relação </a:t>
            </a:r>
            <a:r>
              <a:rPr lang="pt-BR" b="1" dirty="0">
                <a:solidFill>
                  <a:srgbClr val="0000FF"/>
                </a:solidFill>
              </a:rPr>
              <a:t>entre o valor das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saídas </a:t>
            </a:r>
            <a:r>
              <a:rPr lang="pt-BR" b="1" dirty="0">
                <a:solidFill>
                  <a:srgbClr val="0000FF"/>
                </a:solidFill>
              </a:rPr>
              <a:t>e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tributadas e o total das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saídas </a:t>
            </a:r>
            <a:r>
              <a:rPr lang="pt-BR" b="1" dirty="0">
                <a:solidFill>
                  <a:srgbClr val="0000FF"/>
                </a:solidFill>
              </a:rPr>
              <a:t>e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do </a:t>
            </a:r>
            <a:r>
              <a:rPr lang="pt-BR" b="1" dirty="0" smtClean="0">
                <a:solidFill>
                  <a:srgbClr val="0000FF"/>
                </a:solidFill>
              </a:rPr>
              <a:t>período</a:t>
            </a:r>
            <a:r>
              <a:rPr lang="pt-BR" dirty="0"/>
              <a:t>, equiparando-se </a:t>
            </a:r>
            <a:r>
              <a:rPr lang="pt-BR" dirty="0" smtClean="0"/>
              <a:t>às </a:t>
            </a:r>
            <a:r>
              <a:rPr lang="pt-BR" dirty="0"/>
              <a:t>tributadas, para fins deste inciso, as </a:t>
            </a:r>
            <a:r>
              <a:rPr lang="pt-BR" dirty="0" smtClean="0"/>
              <a:t>saídas </a:t>
            </a:r>
            <a:r>
              <a:rPr lang="pt-BR" dirty="0"/>
              <a:t>e </a:t>
            </a:r>
            <a:r>
              <a:rPr lang="pt-BR" dirty="0" smtClean="0"/>
              <a:t>prestações </a:t>
            </a:r>
            <a:r>
              <a:rPr lang="pt-BR" dirty="0"/>
              <a:t>com destino ao exterior ou as </a:t>
            </a:r>
            <a:r>
              <a:rPr lang="pt-BR" dirty="0" smtClean="0"/>
              <a:t>saídas </a:t>
            </a:r>
            <a:r>
              <a:rPr lang="pt-BR" dirty="0"/>
              <a:t>de papel destinado  </a:t>
            </a:r>
            <a:r>
              <a:rPr lang="pt-BR" dirty="0" smtClean="0"/>
              <a:t>impressão </a:t>
            </a:r>
            <a:r>
              <a:rPr lang="pt-BR" dirty="0"/>
              <a:t>de livros, jornais e </a:t>
            </a:r>
            <a:r>
              <a:rPr lang="pt-BR" dirty="0" smtClean="0"/>
              <a:t>periódicos</a:t>
            </a:r>
            <a:r>
              <a:rPr lang="pt-BR" dirty="0"/>
              <a:t>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82219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IV — o quociente de um quarenta e oito avos </a:t>
            </a:r>
            <a:r>
              <a:rPr lang="pt-BR" b="1" dirty="0" smtClean="0">
                <a:solidFill>
                  <a:srgbClr val="0000FF"/>
                </a:solidFill>
              </a:rPr>
              <a:t>será </a:t>
            </a:r>
            <a:r>
              <a:rPr lang="pt-BR" b="1" dirty="0">
                <a:solidFill>
                  <a:srgbClr val="0000FF"/>
                </a:solidFill>
              </a:rPr>
              <a:t>proporcionalmente aumentado ou </a:t>
            </a:r>
            <a:r>
              <a:rPr lang="pt-BR" b="1" dirty="0" smtClean="0">
                <a:solidFill>
                  <a:srgbClr val="0000FF"/>
                </a:solidFill>
              </a:rPr>
              <a:t>diminuído</a:t>
            </a:r>
            <a:r>
              <a:rPr lang="pt-BR" dirty="0"/>
              <a:t>, </a:t>
            </a:r>
            <a:r>
              <a:rPr lang="pt-BR" dirty="0">
                <a:solidFill>
                  <a:srgbClr val="FF0000"/>
                </a:solidFill>
              </a:rPr>
              <a:t>pro rata die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caso o </a:t>
            </a:r>
            <a:r>
              <a:rPr lang="pt-BR" b="1" dirty="0" smtClean="0">
                <a:solidFill>
                  <a:srgbClr val="0000FF"/>
                </a:solidFill>
              </a:rPr>
              <a:t>período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apuração </a:t>
            </a:r>
            <a:r>
              <a:rPr lang="pt-BR" b="1" dirty="0">
                <a:solidFill>
                  <a:srgbClr val="0000FF"/>
                </a:solidFill>
              </a:rPr>
              <a:t>seja superior ou inferior a um </a:t>
            </a:r>
            <a:r>
              <a:rPr lang="pt-BR" b="1" dirty="0" smtClean="0">
                <a:solidFill>
                  <a:srgbClr val="0000FF"/>
                </a:solidFill>
              </a:rPr>
              <a:t>mês</a:t>
            </a:r>
            <a:r>
              <a:rPr lang="pt-BR" dirty="0" smtClean="0"/>
              <a:t>;</a:t>
            </a:r>
          </a:p>
          <a:p>
            <a:pPr marL="45720" indent="0" algn="just">
              <a:buNone/>
            </a:pPr>
            <a:endParaRPr lang="pt-BR" dirty="0"/>
          </a:p>
          <a:p>
            <a:pPr marL="45720" indent="0" algn="just">
              <a:buNone/>
            </a:pPr>
            <a:r>
              <a:rPr lang="pt-BR" dirty="0"/>
              <a:t>V — na </a:t>
            </a:r>
            <a:r>
              <a:rPr lang="pt-BR" dirty="0" smtClean="0"/>
              <a:t>hipótese </a:t>
            </a:r>
            <a:r>
              <a:rPr lang="pt-BR" dirty="0"/>
              <a:t>de </a:t>
            </a:r>
            <a:r>
              <a:rPr lang="pt-BR" b="1" dirty="0" smtClean="0">
                <a:solidFill>
                  <a:srgbClr val="0000FF"/>
                </a:solidFill>
              </a:rPr>
              <a:t>alienação </a:t>
            </a:r>
            <a:r>
              <a:rPr lang="pt-BR" b="1" dirty="0">
                <a:solidFill>
                  <a:srgbClr val="0000FF"/>
                </a:solidFill>
              </a:rPr>
              <a:t>dos bens do ativo permanente</a:t>
            </a:r>
            <a:r>
              <a:rPr lang="pt-BR" dirty="0"/>
              <a:t>, </a:t>
            </a:r>
            <a:r>
              <a:rPr lang="pt-BR" u="sng" dirty="0"/>
              <a:t>antes de decorrido o prazo de quatro anos</a:t>
            </a:r>
            <a:r>
              <a:rPr lang="pt-BR" dirty="0"/>
              <a:t> contado da data de sua </a:t>
            </a:r>
            <a:r>
              <a:rPr lang="pt-BR" dirty="0" smtClean="0"/>
              <a:t>aquisição</a:t>
            </a:r>
            <a:r>
              <a:rPr lang="pt-BR" dirty="0"/>
              <a:t>, </a:t>
            </a:r>
            <a:r>
              <a:rPr lang="pt-BR" b="1" dirty="0" smtClean="0">
                <a:solidFill>
                  <a:srgbClr val="0000FF"/>
                </a:solidFill>
              </a:rPr>
              <a:t>não será </a:t>
            </a:r>
            <a:r>
              <a:rPr lang="pt-BR" b="1" dirty="0">
                <a:solidFill>
                  <a:srgbClr val="0000FF"/>
                </a:solidFill>
              </a:rPr>
              <a:t>admitido</a:t>
            </a:r>
            <a:r>
              <a:rPr lang="pt-BR" dirty="0"/>
              <a:t>, </a:t>
            </a:r>
            <a:r>
              <a:rPr lang="pt-BR" u="sng" dirty="0"/>
              <a:t>a partir da data da </a:t>
            </a:r>
            <a:r>
              <a:rPr lang="pt-BR" u="sng" dirty="0" smtClean="0"/>
              <a:t>alienação</a:t>
            </a:r>
            <a:r>
              <a:rPr lang="pt-BR" dirty="0"/>
              <a:t>, </a:t>
            </a:r>
            <a:r>
              <a:rPr lang="pt-BR" dirty="0">
                <a:solidFill>
                  <a:srgbClr val="0000FF"/>
                </a:solidFill>
              </a:rPr>
              <a:t>o creditamento</a:t>
            </a:r>
            <a:r>
              <a:rPr lang="pt-BR" dirty="0"/>
              <a:t> de que trata este </a:t>
            </a:r>
            <a:r>
              <a:rPr lang="pt-BR" dirty="0" smtClean="0"/>
              <a:t>parágrafo </a:t>
            </a:r>
            <a:r>
              <a:rPr lang="pt-BR" b="1" dirty="0">
                <a:solidFill>
                  <a:srgbClr val="0000FF"/>
                </a:solidFill>
              </a:rPr>
              <a:t>em </a:t>
            </a:r>
            <a:r>
              <a:rPr lang="pt-BR" b="1" dirty="0" smtClean="0">
                <a:solidFill>
                  <a:srgbClr val="0000FF"/>
                </a:solidFill>
              </a:rPr>
              <a:t>relação à fração </a:t>
            </a:r>
            <a:r>
              <a:rPr lang="pt-BR" b="1" dirty="0">
                <a:solidFill>
                  <a:srgbClr val="0000FF"/>
                </a:solidFill>
              </a:rPr>
              <a:t>que corresponderia ao restante do </a:t>
            </a:r>
            <a:r>
              <a:rPr lang="pt-BR" b="1" dirty="0" smtClean="0">
                <a:solidFill>
                  <a:srgbClr val="0000FF"/>
                </a:solidFill>
              </a:rPr>
              <a:t>quadriênio</a:t>
            </a:r>
            <a:r>
              <a:rPr lang="pt-BR" dirty="0"/>
              <a:t>;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365525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VI — </a:t>
            </a:r>
            <a:r>
              <a:rPr lang="pt-BR" u="sng" dirty="0" smtClean="0"/>
              <a:t>além </a:t>
            </a:r>
            <a:r>
              <a:rPr lang="pt-BR" u="sng" dirty="0"/>
              <a:t>do </a:t>
            </a:r>
            <a:r>
              <a:rPr lang="pt-BR" u="sng" dirty="0" smtClean="0"/>
              <a:t>lançamento </a:t>
            </a:r>
            <a:r>
              <a:rPr lang="pt-BR" dirty="0"/>
              <a:t>em conjunto com os demais </a:t>
            </a:r>
            <a:r>
              <a:rPr lang="pt-BR" dirty="0" smtClean="0"/>
              <a:t>créditos</a:t>
            </a:r>
            <a:r>
              <a:rPr lang="pt-BR" dirty="0"/>
              <a:t>, para efeito da </a:t>
            </a:r>
            <a:r>
              <a:rPr lang="pt-BR" dirty="0" smtClean="0"/>
              <a:t>compensação </a:t>
            </a:r>
            <a:r>
              <a:rPr lang="pt-BR" dirty="0"/>
              <a:t>prevista nos </a:t>
            </a:r>
            <a:r>
              <a:rPr lang="pt-BR" dirty="0" err="1"/>
              <a:t>arts</a:t>
            </a:r>
            <a:r>
              <a:rPr lang="pt-BR" dirty="0"/>
              <a:t>. 50 e 51, </a:t>
            </a:r>
            <a:r>
              <a:rPr lang="pt-BR" u="sng" dirty="0" smtClean="0"/>
              <a:t>serão </a:t>
            </a:r>
            <a:r>
              <a:rPr lang="pt-BR" u="sng" dirty="0"/>
              <a:t>objeto de outro </a:t>
            </a:r>
            <a:r>
              <a:rPr lang="pt-BR" u="sng" dirty="0" smtClean="0"/>
              <a:t>lançamento </a:t>
            </a:r>
            <a:r>
              <a:rPr lang="pt-BR" u="sng" dirty="0"/>
              <a:t>no Controle de </a:t>
            </a:r>
            <a:r>
              <a:rPr lang="pt-BR" u="sng" dirty="0" smtClean="0"/>
              <a:t>Crédito </a:t>
            </a:r>
            <a:r>
              <a:rPr lang="pt-BR" u="sng" dirty="0"/>
              <a:t>do Ativo Permanente- CIAP- modelo A</a:t>
            </a:r>
            <a:r>
              <a:rPr lang="pt-BR" dirty="0"/>
              <a:t>, a que se referem os </a:t>
            </a:r>
            <a:r>
              <a:rPr lang="pt-BR" dirty="0" err="1"/>
              <a:t>arts</a:t>
            </a:r>
            <a:r>
              <a:rPr lang="pt-BR" dirty="0"/>
              <a:t>. 203-A e 203-B, para </a:t>
            </a:r>
            <a:r>
              <a:rPr lang="pt-BR" dirty="0" smtClean="0"/>
              <a:t>aplicação </a:t>
            </a:r>
            <a:r>
              <a:rPr lang="pt-BR" dirty="0"/>
              <a:t>do disposto nos incisos I a V deste </a:t>
            </a:r>
            <a:r>
              <a:rPr lang="pt-BR" dirty="0" smtClean="0"/>
              <a:t>parágrafo</a:t>
            </a:r>
            <a:r>
              <a:rPr lang="pt-BR" dirty="0"/>
              <a:t>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VII </a:t>
            </a:r>
            <a:r>
              <a:rPr lang="pt-BR" dirty="0"/>
              <a:t>— </a:t>
            </a:r>
            <a:r>
              <a:rPr lang="pt-BR" b="1" dirty="0">
                <a:solidFill>
                  <a:srgbClr val="0000FF"/>
                </a:solidFill>
              </a:rPr>
              <a:t>ao final do </a:t>
            </a:r>
            <a:r>
              <a:rPr lang="pt-BR" b="1" dirty="0" err="1" smtClean="0">
                <a:solidFill>
                  <a:srgbClr val="0000FF"/>
                </a:solidFill>
              </a:rPr>
              <a:t>quadragêsimo</a:t>
            </a:r>
            <a:r>
              <a:rPr lang="pt-BR" b="1" dirty="0" smtClean="0">
                <a:solidFill>
                  <a:srgbClr val="0000FF"/>
                </a:solidFill>
              </a:rPr>
              <a:t> </a:t>
            </a:r>
            <a:r>
              <a:rPr lang="pt-BR" b="1" dirty="0">
                <a:solidFill>
                  <a:srgbClr val="0000FF"/>
                </a:solidFill>
              </a:rPr>
              <a:t>oitavo </a:t>
            </a:r>
            <a:r>
              <a:rPr lang="pt-BR" b="1" dirty="0" smtClean="0">
                <a:solidFill>
                  <a:srgbClr val="0000FF"/>
                </a:solidFill>
              </a:rPr>
              <a:t>mês </a:t>
            </a:r>
            <a:r>
              <a:rPr lang="pt-BR" u="sng" dirty="0"/>
              <a:t>contado da data da entrada do bem no estabelecimento</a:t>
            </a:r>
            <a:r>
              <a:rPr lang="pt-BR" dirty="0"/>
              <a:t>, </a:t>
            </a:r>
            <a:r>
              <a:rPr lang="pt-BR" b="1" dirty="0">
                <a:solidFill>
                  <a:srgbClr val="0000FF"/>
                </a:solidFill>
              </a:rPr>
              <a:t>o saldo remanescente do </a:t>
            </a:r>
            <a:r>
              <a:rPr lang="pt-BR" b="1" dirty="0" smtClean="0">
                <a:solidFill>
                  <a:srgbClr val="0000FF"/>
                </a:solidFill>
              </a:rPr>
              <a:t>crédito será cancelado.</a:t>
            </a:r>
          </a:p>
        </p:txBody>
      </p:sp>
    </p:spTree>
    <p:extLst>
      <p:ext uri="{BB962C8B-B14F-4D97-AF65-F5344CB8AC3E}">
        <p14:creationId xmlns:p14="http://schemas.microsoft.com/office/powerpoint/2010/main" val="241140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 fontScale="85000" lnSpcReduction="20000"/>
          </a:bodyPr>
          <a:lstStyle/>
          <a:p>
            <a:pPr marL="45720" indent="0" algn="just">
              <a:buNone/>
            </a:pPr>
            <a:r>
              <a:rPr lang="pt-BR" dirty="0"/>
              <a:t>Art. 58. </a:t>
            </a:r>
            <a:r>
              <a:rPr lang="pt-BR" b="1" dirty="0" smtClean="0">
                <a:solidFill>
                  <a:srgbClr val="FF0000"/>
                </a:solidFill>
              </a:rPr>
              <a:t>Não dão </a:t>
            </a:r>
            <a:r>
              <a:rPr lang="pt-BR" b="1" dirty="0">
                <a:solidFill>
                  <a:srgbClr val="FF0000"/>
                </a:solidFill>
              </a:rPr>
              <a:t>direito a </a:t>
            </a:r>
            <a:r>
              <a:rPr lang="pt-BR" b="1" dirty="0" smtClean="0">
                <a:solidFill>
                  <a:srgbClr val="FF0000"/>
                </a:solidFill>
              </a:rPr>
              <a:t>crédito </a:t>
            </a:r>
            <a:r>
              <a:rPr lang="pt-BR" dirty="0"/>
              <a:t>as entradas de bens ou mercadorias, inclusive se destinados ao ativo permanente do estabelecimento, ou a </a:t>
            </a:r>
            <a:r>
              <a:rPr lang="pt-BR" dirty="0" smtClean="0"/>
              <a:t>utilização </a:t>
            </a:r>
            <a:r>
              <a:rPr lang="pt-BR" dirty="0"/>
              <a:t>de </a:t>
            </a:r>
            <a:r>
              <a:rPr lang="pt-BR" dirty="0" smtClean="0"/>
              <a:t>serviços</a:t>
            </a:r>
            <a:r>
              <a:rPr lang="pt-BR" dirty="0"/>
              <a:t>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- resultantes de </a:t>
            </a:r>
            <a:r>
              <a:rPr lang="pt-BR" b="1" dirty="0" smtClean="0">
                <a:solidFill>
                  <a:srgbClr val="0000FF"/>
                </a:solidFill>
              </a:rPr>
              <a:t>operações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prestações </a:t>
            </a:r>
            <a:r>
              <a:rPr lang="pt-BR" b="1" dirty="0">
                <a:solidFill>
                  <a:srgbClr val="0000FF"/>
                </a:solidFill>
              </a:rPr>
              <a:t>isentas ou </a:t>
            </a:r>
            <a:r>
              <a:rPr lang="pt-BR" b="1" dirty="0" smtClean="0">
                <a:solidFill>
                  <a:srgbClr val="0000FF"/>
                </a:solidFill>
              </a:rPr>
              <a:t>não </a:t>
            </a:r>
            <a:r>
              <a:rPr lang="pt-BR" b="1" dirty="0">
                <a:solidFill>
                  <a:srgbClr val="0000FF"/>
                </a:solidFill>
              </a:rPr>
              <a:t>tributadas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 </a:t>
            </a:r>
            <a:r>
              <a:rPr lang="pt-BR" dirty="0"/>
              <a:t>- que se refiram a bens, mercadorias ou </a:t>
            </a:r>
            <a:r>
              <a:rPr lang="pt-BR" dirty="0" smtClean="0"/>
              <a:t>serviços </a:t>
            </a:r>
            <a:r>
              <a:rPr lang="pt-BR" b="1" dirty="0">
                <a:solidFill>
                  <a:srgbClr val="0000FF"/>
                </a:solidFill>
              </a:rPr>
              <a:t>alheios  atividade do estabelecimento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III </a:t>
            </a:r>
            <a:r>
              <a:rPr lang="pt-BR" dirty="0"/>
              <a:t>- </a:t>
            </a:r>
            <a:r>
              <a:rPr lang="pt-BR" b="1" dirty="0">
                <a:solidFill>
                  <a:srgbClr val="0000FF"/>
                </a:solidFill>
              </a:rPr>
              <a:t>para </a:t>
            </a:r>
            <a:r>
              <a:rPr lang="pt-BR" b="1" dirty="0" smtClean="0">
                <a:solidFill>
                  <a:srgbClr val="0000FF"/>
                </a:solidFill>
              </a:rPr>
              <a:t>comercialização </a:t>
            </a:r>
            <a:r>
              <a:rPr lang="pt-BR" b="1" dirty="0">
                <a:solidFill>
                  <a:srgbClr val="0000FF"/>
                </a:solidFill>
              </a:rPr>
              <a:t>ou para atividade de </a:t>
            </a:r>
            <a:r>
              <a:rPr lang="pt-BR" b="1" dirty="0" smtClean="0">
                <a:solidFill>
                  <a:srgbClr val="0000FF"/>
                </a:solidFill>
              </a:rPr>
              <a:t>prestação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serviços</a:t>
            </a:r>
            <a:r>
              <a:rPr lang="pt-BR" dirty="0"/>
              <a:t>, quando a </a:t>
            </a:r>
            <a:r>
              <a:rPr lang="pt-BR" dirty="0" smtClean="0"/>
              <a:t>saída </a:t>
            </a:r>
            <a:r>
              <a:rPr lang="pt-BR" dirty="0"/>
              <a:t>ou a </a:t>
            </a:r>
            <a:r>
              <a:rPr lang="pt-BR" dirty="0" smtClean="0"/>
              <a:t>prestação </a:t>
            </a:r>
            <a:r>
              <a:rPr lang="pt-BR" dirty="0"/>
              <a:t>subsequente </a:t>
            </a:r>
            <a:r>
              <a:rPr lang="pt-BR" dirty="0" smtClean="0"/>
              <a:t>não </a:t>
            </a:r>
            <a:r>
              <a:rPr lang="pt-BR" dirty="0"/>
              <a:t>for tributada ou estiver isenta do imposto, exceto as destinadas ao exterior;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IV </a:t>
            </a:r>
            <a:r>
              <a:rPr lang="pt-BR" dirty="0"/>
              <a:t>- para </a:t>
            </a:r>
            <a:r>
              <a:rPr lang="pt-BR" dirty="0" smtClean="0"/>
              <a:t>integração </a:t>
            </a:r>
            <a:r>
              <a:rPr lang="pt-BR" dirty="0"/>
              <a:t>ou consumo no processo de </a:t>
            </a:r>
            <a:r>
              <a:rPr lang="pt-BR" b="1" dirty="0" smtClean="0">
                <a:solidFill>
                  <a:srgbClr val="0000FF"/>
                </a:solidFill>
              </a:rPr>
              <a:t>industrialização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produção </a:t>
            </a:r>
            <a:r>
              <a:rPr lang="pt-BR" b="1" dirty="0">
                <a:solidFill>
                  <a:srgbClr val="0000FF"/>
                </a:solidFill>
              </a:rPr>
              <a:t>rural</a:t>
            </a:r>
            <a:r>
              <a:rPr lang="pt-BR" dirty="0"/>
              <a:t>, quando a </a:t>
            </a:r>
            <a:r>
              <a:rPr lang="pt-BR" dirty="0" smtClean="0"/>
              <a:t>saída </a:t>
            </a:r>
            <a:r>
              <a:rPr lang="pt-BR" dirty="0"/>
              <a:t>do produto resultante </a:t>
            </a:r>
            <a:r>
              <a:rPr lang="pt-BR" dirty="0" smtClean="0"/>
              <a:t>não </a:t>
            </a:r>
            <a:r>
              <a:rPr lang="pt-BR" dirty="0"/>
              <a:t>for tributada ou estiver isenta do imposto, exceto se tratar de </a:t>
            </a:r>
            <a:r>
              <a:rPr lang="pt-BR" dirty="0" smtClean="0"/>
              <a:t>saída </a:t>
            </a:r>
            <a:r>
              <a:rPr lang="pt-BR" dirty="0"/>
              <a:t>para o exterior.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5972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Ativo Imobilizado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V - quando o contribuinte: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tenha </a:t>
            </a:r>
            <a:r>
              <a:rPr lang="pt-BR" b="1" dirty="0">
                <a:solidFill>
                  <a:srgbClr val="0000FF"/>
                </a:solidFill>
              </a:rPr>
              <a:t>optado por regime de abatimento de percentagem fixa</a:t>
            </a:r>
            <a:r>
              <a:rPr lang="pt-BR" dirty="0"/>
              <a:t> a </a:t>
            </a:r>
            <a:r>
              <a:rPr lang="pt-BR" dirty="0" smtClean="0"/>
              <a:t>título </a:t>
            </a:r>
            <a:r>
              <a:rPr lang="pt-BR" dirty="0"/>
              <a:t>do montante do imposto cobrado nas </a:t>
            </a:r>
            <a:r>
              <a:rPr lang="pt-BR" dirty="0" smtClean="0"/>
              <a:t>operações </a:t>
            </a:r>
            <a:r>
              <a:rPr lang="pt-BR" dirty="0"/>
              <a:t>ou </a:t>
            </a:r>
            <a:r>
              <a:rPr lang="pt-BR" dirty="0" smtClean="0"/>
              <a:t>prestações </a:t>
            </a:r>
            <a:r>
              <a:rPr lang="pt-BR" dirty="0"/>
              <a:t>anteriores de que trata o inciso II do art. 63;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esteja enquadrado como </a:t>
            </a:r>
            <a:r>
              <a:rPr lang="pt-BR" b="1" dirty="0">
                <a:solidFill>
                  <a:srgbClr val="0000FF"/>
                </a:solidFill>
              </a:rPr>
              <a:t>microempresa, feirante ou </a:t>
            </a:r>
            <a:r>
              <a:rPr lang="pt-BR" b="1" dirty="0" smtClean="0">
                <a:solidFill>
                  <a:srgbClr val="0000FF"/>
                </a:solidFill>
              </a:rPr>
              <a:t>ambulante</a:t>
            </a:r>
            <a:r>
              <a:rPr lang="pt-BR" dirty="0"/>
              <a:t>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562507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Uso e Consumo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Art. 33. Na </a:t>
            </a:r>
            <a:r>
              <a:rPr lang="pt-BR" dirty="0" smtClean="0"/>
              <a:t>aplicação </a:t>
            </a:r>
            <a:r>
              <a:rPr lang="pt-BR" dirty="0"/>
              <a:t>do art. 20 observar-se- o seguinte: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I </a:t>
            </a:r>
            <a:r>
              <a:rPr lang="pt-BR" dirty="0"/>
              <a:t>— </a:t>
            </a:r>
            <a:r>
              <a:rPr lang="pt-BR" b="1" dirty="0">
                <a:solidFill>
                  <a:srgbClr val="0000FF"/>
                </a:solidFill>
              </a:rPr>
              <a:t>somente </a:t>
            </a:r>
            <a:r>
              <a:rPr lang="pt-BR" b="1" dirty="0" smtClean="0">
                <a:solidFill>
                  <a:srgbClr val="0000FF"/>
                </a:solidFill>
              </a:rPr>
              <a:t>darão </a:t>
            </a:r>
            <a:r>
              <a:rPr lang="pt-BR" b="1" dirty="0">
                <a:solidFill>
                  <a:srgbClr val="0000FF"/>
                </a:solidFill>
              </a:rPr>
              <a:t>direito de </a:t>
            </a:r>
            <a:r>
              <a:rPr lang="pt-BR" b="1" dirty="0" smtClean="0">
                <a:solidFill>
                  <a:srgbClr val="0000FF"/>
                </a:solidFill>
              </a:rPr>
              <a:t>crédito </a:t>
            </a:r>
            <a:r>
              <a:rPr lang="pt-BR" dirty="0"/>
              <a:t>as mercadorias destinadas ao </a:t>
            </a:r>
            <a:r>
              <a:rPr lang="pt-BR" b="1" dirty="0">
                <a:solidFill>
                  <a:srgbClr val="0000FF"/>
                </a:solidFill>
              </a:rPr>
              <a:t>uso ou consumo </a:t>
            </a:r>
            <a:r>
              <a:rPr lang="pt-BR" dirty="0"/>
              <a:t>do estabelecimento nele entradas </a:t>
            </a:r>
            <a:r>
              <a:rPr lang="pt-BR" b="1" dirty="0">
                <a:solidFill>
                  <a:srgbClr val="FF0000"/>
                </a:solidFill>
              </a:rPr>
              <a:t>a partir de </a:t>
            </a:r>
            <a:r>
              <a:rPr lang="pt-BR" b="1" dirty="0" smtClean="0">
                <a:solidFill>
                  <a:srgbClr val="FF0000"/>
                </a:solidFill>
              </a:rPr>
              <a:t>1º de </a:t>
            </a:r>
            <a:r>
              <a:rPr lang="pt-BR" b="1" dirty="0">
                <a:solidFill>
                  <a:srgbClr val="FF0000"/>
                </a:solidFill>
              </a:rPr>
              <a:t>janeiro de 2020</a:t>
            </a:r>
            <a:r>
              <a:rPr lang="pt-BR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3471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Energia Elétrica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 lnSpcReduction="10000"/>
          </a:bodyPr>
          <a:lstStyle/>
          <a:p>
            <a:pPr marL="45720" indent="0" algn="just">
              <a:buNone/>
            </a:pPr>
            <a:r>
              <a:rPr lang="pt-BR" dirty="0"/>
              <a:t>II — somente </a:t>
            </a:r>
            <a:r>
              <a:rPr lang="pt-BR" b="1" dirty="0" smtClean="0">
                <a:solidFill>
                  <a:srgbClr val="0000FF"/>
                </a:solidFill>
              </a:rPr>
              <a:t>dará </a:t>
            </a:r>
            <a:r>
              <a:rPr lang="pt-BR" b="1" dirty="0">
                <a:solidFill>
                  <a:srgbClr val="0000FF"/>
                </a:solidFill>
              </a:rPr>
              <a:t>direito a </a:t>
            </a:r>
            <a:r>
              <a:rPr lang="pt-BR" b="1" dirty="0" smtClean="0">
                <a:solidFill>
                  <a:srgbClr val="0000FF"/>
                </a:solidFill>
              </a:rPr>
              <a:t>crédito</a:t>
            </a:r>
            <a:r>
              <a:rPr lang="pt-BR" dirty="0" smtClean="0"/>
              <a:t> </a:t>
            </a:r>
            <a:r>
              <a:rPr lang="pt-BR" dirty="0"/>
              <a:t>a entrada </a:t>
            </a:r>
            <a:r>
              <a:rPr lang="pt-BR" b="1" dirty="0">
                <a:solidFill>
                  <a:srgbClr val="0000FF"/>
                </a:solidFill>
              </a:rPr>
              <a:t>de</a:t>
            </a:r>
            <a:r>
              <a:rPr lang="pt-BR" dirty="0"/>
              <a:t> </a:t>
            </a:r>
            <a:r>
              <a:rPr lang="pt-BR" b="1" dirty="0">
                <a:solidFill>
                  <a:srgbClr val="0000FF"/>
                </a:solidFill>
              </a:rPr>
              <a:t>energia </a:t>
            </a:r>
            <a:r>
              <a:rPr lang="pt-BR" b="1" dirty="0" smtClean="0">
                <a:solidFill>
                  <a:srgbClr val="0000FF"/>
                </a:solidFill>
              </a:rPr>
              <a:t>elétrica </a:t>
            </a:r>
            <a:r>
              <a:rPr lang="pt-BR" dirty="0"/>
              <a:t>no estabelecimento: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quando </a:t>
            </a:r>
            <a:r>
              <a:rPr lang="pt-BR" dirty="0"/>
              <a:t>for objeto de </a:t>
            </a:r>
            <a:r>
              <a:rPr lang="pt-BR" b="1" dirty="0" smtClean="0">
                <a:solidFill>
                  <a:srgbClr val="0000FF"/>
                </a:solidFill>
              </a:rPr>
              <a:t>operação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 </a:t>
            </a:r>
            <a:r>
              <a:rPr lang="pt-BR" b="1" dirty="0">
                <a:solidFill>
                  <a:srgbClr val="0000FF"/>
                </a:solidFill>
              </a:rPr>
              <a:t>de energia </a:t>
            </a:r>
            <a:r>
              <a:rPr lang="pt-BR" b="1" dirty="0" smtClean="0">
                <a:solidFill>
                  <a:srgbClr val="0000FF"/>
                </a:solidFill>
              </a:rPr>
              <a:t>elétrica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quando </a:t>
            </a:r>
            <a:r>
              <a:rPr lang="pt-BR" b="1" dirty="0">
                <a:solidFill>
                  <a:srgbClr val="0000FF"/>
                </a:solidFill>
              </a:rPr>
              <a:t>consumida no processo de </a:t>
            </a:r>
            <a:r>
              <a:rPr lang="pt-BR" b="1" dirty="0" smtClean="0">
                <a:solidFill>
                  <a:srgbClr val="0000FF"/>
                </a:solidFill>
              </a:rPr>
              <a:t>industrialização</a:t>
            </a:r>
            <a:r>
              <a:rPr lang="pt-BR" dirty="0"/>
              <a:t>;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c</a:t>
            </a:r>
            <a:r>
              <a:rPr lang="pt-BR" dirty="0"/>
              <a:t>) quando seu </a:t>
            </a:r>
            <a:r>
              <a:rPr lang="pt-BR" b="1" dirty="0">
                <a:solidFill>
                  <a:srgbClr val="0000FF"/>
                </a:solidFill>
              </a:rPr>
              <a:t>consumo resultar em </a:t>
            </a:r>
            <a:r>
              <a:rPr lang="pt-BR" b="1" dirty="0" smtClean="0">
                <a:solidFill>
                  <a:srgbClr val="0000FF"/>
                </a:solidFill>
              </a:rPr>
              <a:t>operação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prestação </a:t>
            </a:r>
            <a:r>
              <a:rPr lang="pt-BR" b="1" dirty="0">
                <a:solidFill>
                  <a:srgbClr val="0000FF"/>
                </a:solidFill>
              </a:rPr>
              <a:t>para o exterior</a:t>
            </a:r>
            <a:r>
              <a:rPr lang="pt-BR" dirty="0"/>
              <a:t>, </a:t>
            </a:r>
            <a:r>
              <a:rPr lang="pt-BR" u="sng" dirty="0"/>
              <a:t>na </a:t>
            </a:r>
            <a:r>
              <a:rPr lang="pt-BR" u="sng" dirty="0" smtClean="0"/>
              <a:t>proporção </a:t>
            </a:r>
            <a:r>
              <a:rPr lang="pt-BR" u="sng" dirty="0"/>
              <a:t>destas sobre as </a:t>
            </a:r>
            <a:r>
              <a:rPr lang="pt-BR" u="sng" dirty="0" smtClean="0"/>
              <a:t>saídas </a:t>
            </a:r>
            <a:r>
              <a:rPr lang="pt-BR" u="sng" dirty="0"/>
              <a:t>ou </a:t>
            </a:r>
            <a:r>
              <a:rPr lang="pt-BR" u="sng" dirty="0" smtClean="0"/>
              <a:t>prestações </a:t>
            </a:r>
            <a:r>
              <a:rPr lang="pt-BR" u="sng" dirty="0"/>
              <a:t>totais</a:t>
            </a:r>
            <a:r>
              <a:rPr lang="pt-BR" dirty="0"/>
              <a:t>; e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d</a:t>
            </a:r>
            <a:r>
              <a:rPr lang="pt-BR" dirty="0"/>
              <a:t>) </a:t>
            </a:r>
            <a:r>
              <a:rPr lang="pt-BR" b="1" dirty="0">
                <a:solidFill>
                  <a:srgbClr val="FF0000"/>
                </a:solidFill>
              </a:rPr>
              <a:t>a partir de </a:t>
            </a:r>
            <a:r>
              <a:rPr lang="pt-BR" b="1" dirty="0" smtClean="0">
                <a:solidFill>
                  <a:srgbClr val="FF0000"/>
                </a:solidFill>
              </a:rPr>
              <a:t>1º de </a:t>
            </a:r>
            <a:r>
              <a:rPr lang="pt-BR" b="1" dirty="0">
                <a:solidFill>
                  <a:srgbClr val="FF0000"/>
                </a:solidFill>
              </a:rPr>
              <a:t>janeiro de 2020 nas demais </a:t>
            </a:r>
            <a:r>
              <a:rPr lang="pt-BR" b="1" dirty="0" smtClean="0">
                <a:solidFill>
                  <a:srgbClr val="FF0000"/>
                </a:solidFill>
              </a:rPr>
              <a:t>hipóteses</a:t>
            </a:r>
            <a:r>
              <a:rPr lang="pt-BR" b="1" dirty="0">
                <a:solidFill>
                  <a:srgbClr val="FF0000"/>
                </a:solidFill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92568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7584" y="260648"/>
            <a:ext cx="7128792" cy="1143000"/>
          </a:xfrm>
        </p:spPr>
        <p:txBody>
          <a:bodyPr/>
          <a:lstStyle/>
          <a:p>
            <a:pPr marL="0" indent="0" algn="ctr">
              <a:buNone/>
            </a:pPr>
            <a:r>
              <a:rPr lang="pt-BR" sz="4400" dirty="0" smtClean="0"/>
              <a:t>Crédito de ICMS</a:t>
            </a:r>
            <a:br>
              <a:rPr lang="pt-BR" sz="4400" dirty="0" smtClean="0"/>
            </a:br>
            <a:r>
              <a:rPr lang="pt-BR" sz="4400" dirty="0" smtClean="0"/>
              <a:t>Serviços de Comunicação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3"/>
          </p:nvPr>
        </p:nvSpPr>
        <p:spPr>
          <a:xfrm>
            <a:off x="827584" y="2276872"/>
            <a:ext cx="7056784" cy="4104456"/>
          </a:xfrm>
        </p:spPr>
        <p:txBody>
          <a:bodyPr>
            <a:normAutofit/>
          </a:bodyPr>
          <a:lstStyle/>
          <a:p>
            <a:pPr marL="45720" indent="0" algn="just">
              <a:buNone/>
            </a:pPr>
            <a:r>
              <a:rPr lang="pt-BR" dirty="0"/>
              <a:t>IV — somente dar direito a </a:t>
            </a:r>
            <a:r>
              <a:rPr lang="pt-BR" dirty="0" smtClean="0"/>
              <a:t>crédito </a:t>
            </a:r>
            <a:r>
              <a:rPr lang="pt-BR" dirty="0"/>
              <a:t>o recebimento de </a:t>
            </a:r>
            <a:r>
              <a:rPr lang="pt-BR" dirty="0" smtClean="0"/>
              <a:t>serviços </a:t>
            </a:r>
            <a:r>
              <a:rPr lang="pt-BR" dirty="0"/>
              <a:t>de </a:t>
            </a:r>
            <a:r>
              <a:rPr lang="pt-BR" dirty="0" smtClean="0"/>
              <a:t>comunicação </a:t>
            </a:r>
            <a:r>
              <a:rPr lang="pt-BR" dirty="0"/>
              <a:t>utilizados pelo estabelecimento: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a) ao </a:t>
            </a:r>
            <a:r>
              <a:rPr lang="pt-BR" dirty="0"/>
              <a:t>qual tenham sido </a:t>
            </a:r>
            <a:r>
              <a:rPr lang="pt-BR" b="1" dirty="0">
                <a:solidFill>
                  <a:srgbClr val="0000FF"/>
                </a:solidFill>
              </a:rPr>
              <a:t>prestados na </a:t>
            </a:r>
            <a:r>
              <a:rPr lang="pt-BR" b="1" dirty="0" smtClean="0">
                <a:solidFill>
                  <a:srgbClr val="0000FF"/>
                </a:solidFill>
              </a:rPr>
              <a:t>execução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serviços </a:t>
            </a:r>
            <a:r>
              <a:rPr lang="pt-BR" b="1" dirty="0">
                <a:solidFill>
                  <a:srgbClr val="0000FF"/>
                </a:solidFill>
              </a:rPr>
              <a:t>da mesma natureza</a:t>
            </a:r>
            <a:r>
              <a:rPr lang="pt-BR" dirty="0"/>
              <a:t>; 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b</a:t>
            </a:r>
            <a:r>
              <a:rPr lang="pt-BR" dirty="0"/>
              <a:t>) quando sua </a:t>
            </a:r>
            <a:r>
              <a:rPr lang="pt-BR" dirty="0" smtClean="0"/>
              <a:t>utilização </a:t>
            </a:r>
            <a:r>
              <a:rPr lang="pt-BR" b="1" dirty="0">
                <a:solidFill>
                  <a:srgbClr val="0000FF"/>
                </a:solidFill>
              </a:rPr>
              <a:t>resultar em </a:t>
            </a:r>
            <a:r>
              <a:rPr lang="pt-BR" b="1" dirty="0" smtClean="0">
                <a:solidFill>
                  <a:srgbClr val="0000FF"/>
                </a:solidFill>
              </a:rPr>
              <a:t>operação </a:t>
            </a:r>
            <a:r>
              <a:rPr lang="pt-BR" b="1" dirty="0">
                <a:solidFill>
                  <a:srgbClr val="0000FF"/>
                </a:solidFill>
              </a:rPr>
              <a:t>de </a:t>
            </a:r>
            <a:r>
              <a:rPr lang="pt-BR" b="1" dirty="0" smtClean="0">
                <a:solidFill>
                  <a:srgbClr val="0000FF"/>
                </a:solidFill>
              </a:rPr>
              <a:t>saída </a:t>
            </a:r>
            <a:r>
              <a:rPr lang="pt-BR" b="1" dirty="0">
                <a:solidFill>
                  <a:srgbClr val="0000FF"/>
                </a:solidFill>
              </a:rPr>
              <a:t>ou </a:t>
            </a:r>
            <a:r>
              <a:rPr lang="pt-BR" b="1" dirty="0" smtClean="0">
                <a:solidFill>
                  <a:srgbClr val="0000FF"/>
                </a:solidFill>
              </a:rPr>
              <a:t>prestação </a:t>
            </a:r>
            <a:r>
              <a:rPr lang="pt-BR" b="1" dirty="0">
                <a:solidFill>
                  <a:srgbClr val="0000FF"/>
                </a:solidFill>
              </a:rPr>
              <a:t>para o exterior</a:t>
            </a:r>
            <a:r>
              <a:rPr lang="pt-BR" dirty="0"/>
              <a:t>, </a:t>
            </a:r>
            <a:r>
              <a:rPr lang="pt-BR" u="sng" dirty="0"/>
              <a:t>na </a:t>
            </a:r>
            <a:r>
              <a:rPr lang="pt-BR" u="sng" dirty="0" smtClean="0"/>
              <a:t>proporção </a:t>
            </a:r>
            <a:r>
              <a:rPr lang="pt-BR" u="sng" dirty="0"/>
              <a:t>desta sobre as </a:t>
            </a:r>
            <a:r>
              <a:rPr lang="pt-BR" u="sng" dirty="0" smtClean="0"/>
              <a:t>saídas </a:t>
            </a:r>
            <a:r>
              <a:rPr lang="pt-BR" u="sng" dirty="0"/>
              <a:t>ou </a:t>
            </a:r>
            <a:r>
              <a:rPr lang="pt-BR" u="sng" dirty="0" smtClean="0"/>
              <a:t>prestações </a:t>
            </a:r>
            <a:r>
              <a:rPr lang="pt-BR" u="sng" dirty="0"/>
              <a:t>totais</a:t>
            </a:r>
            <a:r>
              <a:rPr lang="pt-BR" dirty="0"/>
              <a:t>;  </a:t>
            </a:r>
            <a:endParaRPr lang="pt-BR" dirty="0" smtClean="0"/>
          </a:p>
          <a:p>
            <a:pPr marL="45720" indent="0" algn="just">
              <a:buNone/>
            </a:pPr>
            <a:r>
              <a:rPr lang="pt-BR" dirty="0" smtClean="0"/>
              <a:t>c</a:t>
            </a:r>
            <a:r>
              <a:rPr lang="pt-BR" dirty="0"/>
              <a:t>) </a:t>
            </a:r>
            <a:r>
              <a:rPr lang="pt-BR" b="1" dirty="0">
                <a:solidFill>
                  <a:srgbClr val="FF0000"/>
                </a:solidFill>
              </a:rPr>
              <a:t>a partir de </a:t>
            </a:r>
            <a:r>
              <a:rPr lang="pt-BR" b="1" dirty="0" smtClean="0">
                <a:solidFill>
                  <a:srgbClr val="FF0000"/>
                </a:solidFill>
              </a:rPr>
              <a:t>1º de </a:t>
            </a:r>
            <a:r>
              <a:rPr lang="pt-BR" b="1" dirty="0">
                <a:solidFill>
                  <a:srgbClr val="FF0000"/>
                </a:solidFill>
              </a:rPr>
              <a:t>janeiro de 2020 nas demais </a:t>
            </a:r>
            <a:r>
              <a:rPr lang="pt-BR" b="1" dirty="0" smtClean="0">
                <a:solidFill>
                  <a:srgbClr val="FF0000"/>
                </a:solidFill>
              </a:rPr>
              <a:t>hipóteses</a:t>
            </a:r>
            <a:r>
              <a:rPr lang="pt-BR" b="1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068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egração">
  <a:themeElements>
    <a:clrScheme name="Integração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Integração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ção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1718</TotalTime>
  <Words>4403</Words>
  <Application>Microsoft Office PowerPoint</Application>
  <PresentationFormat>Apresentação na tela (4:3)</PresentationFormat>
  <Paragraphs>337</Paragraphs>
  <Slides>69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69</vt:i4>
      </vt:variant>
    </vt:vector>
  </HeadingPairs>
  <TitlesOfParts>
    <vt:vector size="70" baseType="lpstr">
      <vt:lpstr>Integração</vt:lpstr>
      <vt:lpstr>Intensivo de ICMS </vt:lpstr>
      <vt:lpstr>CF/88 Art. 155, §2º, XII </vt:lpstr>
      <vt:lpstr>Classificação doutrinária </vt:lpstr>
      <vt:lpstr>Classificação doutrinária </vt:lpstr>
      <vt:lpstr>LC 24/75 </vt:lpstr>
      <vt:lpstr>LC 24/75 </vt:lpstr>
      <vt:lpstr>LC 24/75 </vt:lpstr>
      <vt:lpstr>LC 24/75 </vt:lpstr>
      <vt:lpstr>ICMS no Distrito Federal </vt:lpstr>
      <vt:lpstr>Incidência </vt:lpstr>
      <vt:lpstr>Incidência </vt:lpstr>
      <vt:lpstr>Incidência </vt:lpstr>
      <vt:lpstr>Incidência </vt:lpstr>
      <vt:lpstr>Incidência</vt:lpstr>
      <vt:lpstr>Incidência </vt:lpstr>
      <vt:lpstr>Incidência </vt:lpstr>
      <vt:lpstr>Incidência</vt:lpstr>
      <vt:lpstr>Incidência </vt:lpstr>
      <vt:lpstr>Incidência </vt:lpstr>
      <vt:lpstr>Base do ICMS </vt:lpstr>
      <vt:lpstr>Base do ICMS </vt:lpstr>
      <vt:lpstr>Base do ICMS </vt:lpstr>
      <vt:lpstr>Não Incidência </vt:lpstr>
      <vt:lpstr>Não Incidência </vt:lpstr>
      <vt:lpstr>Não Incidência </vt:lpstr>
      <vt:lpstr>Não Incidência </vt:lpstr>
      <vt:lpstr>Não Incidência </vt:lpstr>
      <vt:lpstr>Não Incidência </vt:lpstr>
      <vt:lpstr>Não Incidência </vt:lpstr>
      <vt:lpstr>Não Incidência </vt:lpstr>
      <vt:lpstr>Não Incidência </vt:lpstr>
      <vt:lpstr>Suspensão </vt:lpstr>
      <vt:lpstr>Suspensão </vt:lpstr>
      <vt:lpstr>Suspensão </vt:lpstr>
      <vt:lpstr>Suspensão </vt:lpstr>
      <vt:lpstr>Sujeito Passivo </vt:lpstr>
      <vt:lpstr>Sujeito Passivo </vt:lpstr>
      <vt:lpstr>Sujeito Passivo </vt:lpstr>
      <vt:lpstr>Sujeito Passivo </vt:lpstr>
      <vt:lpstr>Sujeito Passivo </vt:lpstr>
      <vt:lpstr>Base de Cálculo </vt:lpstr>
      <vt:lpstr>Base de Cálculo – Regras Gerais </vt:lpstr>
      <vt:lpstr>Base de Cálculo – Regras Gerais </vt:lpstr>
      <vt:lpstr>Base de Cálculo – Regras Gerais </vt:lpstr>
      <vt:lpstr>Base de Cálculo - Serviços </vt:lpstr>
      <vt:lpstr>Base de Cálculo - Serviços </vt:lpstr>
      <vt:lpstr>Base de Cálculo - Licitações </vt:lpstr>
      <vt:lpstr>Base de Cálculo do DIFAL </vt:lpstr>
      <vt:lpstr>Base de Cálculo - Importação </vt:lpstr>
      <vt:lpstr>Base de Cálculo - Importação </vt:lpstr>
      <vt:lpstr>Base de Cálculo - Importação </vt:lpstr>
      <vt:lpstr>Base de Cálculo - Importação </vt:lpstr>
      <vt:lpstr>Base de Cálculo - Importação </vt:lpstr>
      <vt:lpstr>Base de Cálculo - Importação </vt:lpstr>
      <vt:lpstr>Alíquota </vt:lpstr>
      <vt:lpstr>Fundo de Combate e Erradicação da Pobreza </vt:lpstr>
      <vt:lpstr>Fundo de Combate e Erradicação da Pobreza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Ativo Imobilizado </vt:lpstr>
      <vt:lpstr>Crédito de ICMS Uso e Consumo </vt:lpstr>
      <vt:lpstr>Crédito de ICMS Energia Elétrica </vt:lpstr>
      <vt:lpstr>Crédito de ICMS Serviços de Comunicação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Definição de ICMS</dc:title>
  <dc:creator>ASUS</dc:creator>
  <cp:lastModifiedBy>ASUS</cp:lastModifiedBy>
  <cp:revision>103</cp:revision>
  <cp:lastPrinted>2018-06-18T13:14:56Z</cp:lastPrinted>
  <dcterms:created xsi:type="dcterms:W3CDTF">2018-03-21T16:06:44Z</dcterms:created>
  <dcterms:modified xsi:type="dcterms:W3CDTF">2018-07-20T19:52:12Z</dcterms:modified>
</cp:coreProperties>
</file>