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7" r:id="rId13"/>
    <p:sldId id="270" r:id="rId14"/>
    <p:sldId id="273" r:id="rId15"/>
    <p:sldId id="271" r:id="rId16"/>
    <p:sldId id="272" r:id="rId17"/>
    <p:sldId id="275" r:id="rId18"/>
    <p:sldId id="276" r:id="rId19"/>
    <p:sldId id="274" r:id="rId20"/>
    <p:sldId id="277" r:id="rId21"/>
    <p:sldId id="279" r:id="rId22"/>
    <p:sldId id="278" r:id="rId23"/>
    <p:sldId id="282" r:id="rId24"/>
    <p:sldId id="283" r:id="rId25"/>
    <p:sldId id="287" r:id="rId26"/>
    <p:sldId id="285" r:id="rId27"/>
    <p:sldId id="288" r:id="rId28"/>
    <p:sldId id="289" r:id="rId29"/>
    <p:sldId id="290" r:id="rId30"/>
    <p:sldId id="291" r:id="rId31"/>
    <p:sldId id="284" r:id="rId32"/>
    <p:sldId id="280" r:id="rId33"/>
    <p:sldId id="292" r:id="rId34"/>
    <p:sldId id="293" r:id="rId35"/>
    <p:sldId id="294" r:id="rId36"/>
    <p:sldId id="295" r:id="rId37"/>
    <p:sldId id="296" r:id="rId38"/>
    <p:sldId id="286" r:id="rId39"/>
    <p:sldId id="305" r:id="rId40"/>
    <p:sldId id="298" r:id="rId41"/>
    <p:sldId id="299" r:id="rId42"/>
    <p:sldId id="300" r:id="rId43"/>
    <p:sldId id="301" r:id="rId44"/>
    <p:sldId id="302" r:id="rId45"/>
    <p:sldId id="303" r:id="rId46"/>
    <p:sldId id="306" r:id="rId47"/>
    <p:sldId id="304" r:id="rId48"/>
    <p:sldId id="297" r:id="rId49"/>
    <p:sldId id="307" r:id="rId50"/>
    <p:sldId id="308" r:id="rId51"/>
    <p:sldId id="309" r:id="rId52"/>
    <p:sldId id="310" r:id="rId53"/>
    <p:sldId id="311" r:id="rId54"/>
    <p:sldId id="312" r:id="rId55"/>
    <p:sldId id="313" r:id="rId56"/>
    <p:sldId id="314" r:id="rId5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6" autoAdjust="0"/>
    <p:restoredTop sz="94660"/>
  </p:normalViewPr>
  <p:slideViewPr>
    <p:cSldViewPr snapToGrid="0">
      <p:cViewPr varScale="1">
        <p:scale>
          <a:sx n="52" d="100"/>
          <a:sy n="52" d="100"/>
        </p:scale>
        <p:origin x="96" y="14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EAAEF9-E66E-415D-A4EB-63C7C89A567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pt-BR"/>
        </a:p>
      </dgm:t>
    </dgm:pt>
    <dgm:pt modelId="{3DED9555-CA6D-410A-8302-BA00BB5DCAC1}">
      <dgm:prSet phldrT="[Texto]"/>
      <dgm:spPr>
        <a:solidFill>
          <a:schemeClr val="accent3">
            <a:lumMod val="40000"/>
            <a:lumOff val="60000"/>
          </a:schemeClr>
        </a:solidFill>
      </dgm:spPr>
      <dgm:t>
        <a:bodyPr/>
        <a:lstStyle/>
        <a:p>
          <a:r>
            <a:rPr lang="pt-BR" dirty="0" smtClean="0">
              <a:solidFill>
                <a:schemeClr val="tx1">
                  <a:lumMod val="75000"/>
                  <a:lumOff val="25000"/>
                </a:schemeClr>
              </a:solidFill>
            </a:rPr>
            <a:t>ICMS DIFAL</a:t>
          </a:r>
          <a:endParaRPr lang="pt-BR" dirty="0">
            <a:solidFill>
              <a:schemeClr val="tx1">
                <a:lumMod val="75000"/>
                <a:lumOff val="25000"/>
              </a:schemeClr>
            </a:solidFill>
          </a:endParaRPr>
        </a:p>
      </dgm:t>
    </dgm:pt>
    <dgm:pt modelId="{24C43DE7-CCD6-48D2-BB49-006BEB16C459}" type="parTrans" cxnId="{F8EFBB33-B633-4802-A187-C671B09678C7}">
      <dgm:prSet/>
      <dgm:spPr/>
      <dgm:t>
        <a:bodyPr/>
        <a:lstStyle/>
        <a:p>
          <a:endParaRPr lang="pt-BR"/>
        </a:p>
      </dgm:t>
    </dgm:pt>
    <dgm:pt modelId="{EE7403EE-76A1-4328-BB5F-45A7DFC89F83}" type="sibTrans" cxnId="{F8EFBB33-B633-4802-A187-C671B09678C7}">
      <dgm:prSet/>
      <dgm:spPr/>
      <dgm:t>
        <a:bodyPr/>
        <a:lstStyle/>
        <a:p>
          <a:endParaRPr lang="pt-BR"/>
        </a:p>
      </dgm:t>
    </dgm:pt>
    <dgm:pt modelId="{23C12696-FAAA-42C3-A21D-5E65569517FC}">
      <dgm:prSet/>
      <dgm:spPr>
        <a:solidFill>
          <a:schemeClr val="accent3">
            <a:lumMod val="40000"/>
            <a:lumOff val="60000"/>
          </a:schemeClr>
        </a:solidFill>
      </dgm:spPr>
      <dgm:t>
        <a:bodyPr/>
        <a:lstStyle/>
        <a:p>
          <a:r>
            <a:rPr lang="pt-BR" dirty="0" smtClean="0">
              <a:solidFill>
                <a:schemeClr val="tx1">
                  <a:lumMod val="75000"/>
                  <a:lumOff val="25000"/>
                </a:schemeClr>
              </a:solidFill>
            </a:rPr>
            <a:t>Destinatário contribuinte do ICMS</a:t>
          </a:r>
          <a:endParaRPr lang="pt-BR" dirty="0">
            <a:solidFill>
              <a:schemeClr val="tx1">
                <a:lumMod val="75000"/>
                <a:lumOff val="25000"/>
              </a:schemeClr>
            </a:solidFill>
          </a:endParaRPr>
        </a:p>
      </dgm:t>
    </dgm:pt>
    <dgm:pt modelId="{EECCB58D-C0EA-49DF-8AB7-B6074FAFF5B9}" type="parTrans" cxnId="{7314522B-62F3-4B5E-9986-4262DC0882A1}">
      <dgm:prSet/>
      <dgm:spPr/>
      <dgm:t>
        <a:bodyPr/>
        <a:lstStyle/>
        <a:p>
          <a:endParaRPr lang="pt-BR"/>
        </a:p>
      </dgm:t>
    </dgm:pt>
    <dgm:pt modelId="{3BC5EC1F-6335-45A0-B212-31A6E3591143}" type="sibTrans" cxnId="{7314522B-62F3-4B5E-9986-4262DC0882A1}">
      <dgm:prSet/>
      <dgm:spPr/>
      <dgm:t>
        <a:bodyPr/>
        <a:lstStyle/>
        <a:p>
          <a:endParaRPr lang="pt-BR"/>
        </a:p>
      </dgm:t>
    </dgm:pt>
    <dgm:pt modelId="{F11A0EBB-11C5-49F6-988E-6D6FF818EF75}">
      <dgm:prSet/>
      <dgm:spPr>
        <a:solidFill>
          <a:schemeClr val="accent3">
            <a:lumMod val="40000"/>
            <a:lumOff val="60000"/>
          </a:schemeClr>
        </a:solidFill>
      </dgm:spPr>
      <dgm:t>
        <a:bodyPr/>
        <a:lstStyle/>
        <a:p>
          <a:r>
            <a:rPr lang="pt-BR" dirty="0" smtClean="0">
              <a:solidFill>
                <a:schemeClr val="tx1">
                  <a:lumMod val="75000"/>
                  <a:lumOff val="25000"/>
                </a:schemeClr>
              </a:solidFill>
            </a:rPr>
            <a:t>Convênio ou Protocolo</a:t>
          </a:r>
          <a:endParaRPr lang="pt-BR" dirty="0">
            <a:solidFill>
              <a:schemeClr val="tx1">
                <a:lumMod val="75000"/>
                <a:lumOff val="25000"/>
              </a:schemeClr>
            </a:solidFill>
          </a:endParaRPr>
        </a:p>
      </dgm:t>
    </dgm:pt>
    <dgm:pt modelId="{A5022207-570B-437D-9FF4-D3F8210F6551}" type="parTrans" cxnId="{30E2739D-33F2-4E2A-82EE-AE55A2515A7E}">
      <dgm:prSet/>
      <dgm:spPr/>
      <dgm:t>
        <a:bodyPr/>
        <a:lstStyle/>
        <a:p>
          <a:endParaRPr lang="pt-BR"/>
        </a:p>
      </dgm:t>
    </dgm:pt>
    <dgm:pt modelId="{0FED6FE8-E7EC-4941-ADF2-C06B0B2D8A49}" type="sibTrans" cxnId="{30E2739D-33F2-4E2A-82EE-AE55A2515A7E}">
      <dgm:prSet/>
      <dgm:spPr/>
      <dgm:t>
        <a:bodyPr/>
        <a:lstStyle/>
        <a:p>
          <a:endParaRPr lang="pt-BR"/>
        </a:p>
      </dgm:t>
    </dgm:pt>
    <dgm:pt modelId="{17E13C73-E592-434A-A7DE-A7681F2C9639}">
      <dgm:prSet/>
      <dgm:spPr>
        <a:solidFill>
          <a:schemeClr val="accent3">
            <a:lumMod val="40000"/>
            <a:lumOff val="60000"/>
          </a:schemeClr>
        </a:solidFill>
      </dgm:spPr>
      <dgm:t>
        <a:bodyPr/>
        <a:lstStyle/>
        <a:p>
          <a:r>
            <a:rPr lang="pt-BR" dirty="0" smtClean="0">
              <a:solidFill>
                <a:schemeClr val="tx1">
                  <a:lumMod val="75000"/>
                  <a:lumOff val="25000"/>
                </a:schemeClr>
              </a:solidFill>
            </a:rPr>
            <a:t>Alíquota interna se superior</a:t>
          </a:r>
          <a:endParaRPr lang="pt-BR" dirty="0">
            <a:solidFill>
              <a:schemeClr val="tx1">
                <a:lumMod val="75000"/>
                <a:lumOff val="25000"/>
              </a:schemeClr>
            </a:solidFill>
          </a:endParaRPr>
        </a:p>
      </dgm:t>
    </dgm:pt>
    <dgm:pt modelId="{3594108D-78D1-44D0-BA31-D586C34F7644}" type="parTrans" cxnId="{4F119A74-88DC-480A-AFAD-58DA985AF549}">
      <dgm:prSet/>
      <dgm:spPr/>
      <dgm:t>
        <a:bodyPr/>
        <a:lstStyle/>
        <a:p>
          <a:endParaRPr lang="pt-BR"/>
        </a:p>
      </dgm:t>
    </dgm:pt>
    <dgm:pt modelId="{AC8FA928-EBCA-4F1D-A02E-E9BAE4FBBE8E}" type="sibTrans" cxnId="{4F119A74-88DC-480A-AFAD-58DA985AF549}">
      <dgm:prSet/>
      <dgm:spPr/>
      <dgm:t>
        <a:bodyPr/>
        <a:lstStyle/>
        <a:p>
          <a:endParaRPr lang="pt-BR"/>
        </a:p>
      </dgm:t>
    </dgm:pt>
    <dgm:pt modelId="{35D62B85-059C-4F9F-B760-2F405E8013F9}">
      <dgm:prSet/>
      <dgm:spPr>
        <a:solidFill>
          <a:schemeClr val="accent3">
            <a:lumMod val="40000"/>
            <a:lumOff val="60000"/>
          </a:schemeClr>
        </a:solidFill>
      </dgm:spPr>
      <dgm:t>
        <a:bodyPr/>
        <a:lstStyle/>
        <a:p>
          <a:r>
            <a:rPr lang="pt-BR" dirty="0" smtClean="0">
              <a:solidFill>
                <a:schemeClr val="tx1">
                  <a:lumMod val="75000"/>
                  <a:lumOff val="25000"/>
                </a:schemeClr>
              </a:solidFill>
            </a:rPr>
            <a:t>Bem para ativo ou despesa</a:t>
          </a:r>
          <a:endParaRPr lang="pt-BR" dirty="0">
            <a:solidFill>
              <a:schemeClr val="tx1">
                <a:lumMod val="75000"/>
                <a:lumOff val="25000"/>
              </a:schemeClr>
            </a:solidFill>
          </a:endParaRPr>
        </a:p>
      </dgm:t>
    </dgm:pt>
    <dgm:pt modelId="{D875203A-F2F3-43CD-AC75-FECCF5C2244B}" type="parTrans" cxnId="{EDA714C9-5B7B-4934-BD1A-FED03751FA92}">
      <dgm:prSet/>
      <dgm:spPr/>
      <dgm:t>
        <a:bodyPr/>
        <a:lstStyle/>
        <a:p>
          <a:endParaRPr lang="pt-BR"/>
        </a:p>
      </dgm:t>
    </dgm:pt>
    <dgm:pt modelId="{EDAA8BF9-06FB-4FA5-B15A-A41FA11D83B4}" type="sibTrans" cxnId="{EDA714C9-5B7B-4934-BD1A-FED03751FA92}">
      <dgm:prSet/>
      <dgm:spPr/>
      <dgm:t>
        <a:bodyPr/>
        <a:lstStyle/>
        <a:p>
          <a:endParaRPr lang="pt-BR"/>
        </a:p>
      </dgm:t>
    </dgm:pt>
    <dgm:pt modelId="{531BA14E-968B-457F-8BA7-1525563DA776}">
      <dgm:prSet/>
      <dgm:spPr>
        <a:solidFill>
          <a:schemeClr val="accent3">
            <a:lumMod val="40000"/>
            <a:lumOff val="60000"/>
          </a:schemeClr>
        </a:solidFill>
      </dgm:spPr>
      <dgm:t>
        <a:bodyPr/>
        <a:lstStyle/>
        <a:p>
          <a:r>
            <a:rPr lang="pt-BR" dirty="0" smtClean="0">
              <a:solidFill>
                <a:schemeClr val="tx1">
                  <a:lumMod val="75000"/>
                  <a:lumOff val="25000"/>
                </a:schemeClr>
              </a:solidFill>
            </a:rPr>
            <a:t>Operação Interestadual</a:t>
          </a:r>
          <a:endParaRPr lang="pt-BR" dirty="0">
            <a:solidFill>
              <a:schemeClr val="tx1">
                <a:lumMod val="75000"/>
                <a:lumOff val="25000"/>
              </a:schemeClr>
            </a:solidFill>
          </a:endParaRPr>
        </a:p>
      </dgm:t>
    </dgm:pt>
    <dgm:pt modelId="{FAF117FF-2625-4EDC-94ED-0E7F3399B9AC}" type="parTrans" cxnId="{930590F9-915E-4AD2-964C-826A94A12885}">
      <dgm:prSet/>
      <dgm:spPr/>
      <dgm:t>
        <a:bodyPr/>
        <a:lstStyle/>
        <a:p>
          <a:endParaRPr lang="pt-BR"/>
        </a:p>
      </dgm:t>
    </dgm:pt>
    <dgm:pt modelId="{DB42BA74-3625-4392-A5B1-EF15499EF6E8}" type="sibTrans" cxnId="{930590F9-915E-4AD2-964C-826A94A12885}">
      <dgm:prSet/>
      <dgm:spPr/>
      <dgm:t>
        <a:bodyPr/>
        <a:lstStyle/>
        <a:p>
          <a:endParaRPr lang="pt-BR"/>
        </a:p>
      </dgm:t>
    </dgm:pt>
    <dgm:pt modelId="{DC22CC4F-84FF-4B4F-BE95-2A4A6C888353}" type="pres">
      <dgm:prSet presAssocID="{1EEAAEF9-E66E-415D-A4EB-63C7C89A5674}" presName="diagram" presStyleCnt="0">
        <dgm:presLayoutVars>
          <dgm:chPref val="1"/>
          <dgm:dir/>
          <dgm:animOne val="branch"/>
          <dgm:animLvl val="lvl"/>
          <dgm:resizeHandles val="exact"/>
        </dgm:presLayoutVars>
      </dgm:prSet>
      <dgm:spPr/>
      <dgm:t>
        <a:bodyPr/>
        <a:lstStyle/>
        <a:p>
          <a:endParaRPr lang="pt-BR"/>
        </a:p>
      </dgm:t>
    </dgm:pt>
    <dgm:pt modelId="{88C2D2CE-BB96-469E-AF77-A30FA5E617E0}" type="pres">
      <dgm:prSet presAssocID="{3DED9555-CA6D-410A-8302-BA00BB5DCAC1}" presName="root1" presStyleCnt="0"/>
      <dgm:spPr/>
    </dgm:pt>
    <dgm:pt modelId="{C0C4E4E9-A144-4BBC-BF79-A7EB154405DA}" type="pres">
      <dgm:prSet presAssocID="{3DED9555-CA6D-410A-8302-BA00BB5DCAC1}" presName="LevelOneTextNode" presStyleLbl="node0" presStyleIdx="0" presStyleCnt="1" custScaleX="183590" custScaleY="92272" custLinFactNeighborX="-59576" custLinFactNeighborY="-26127">
        <dgm:presLayoutVars>
          <dgm:chPref val="3"/>
        </dgm:presLayoutVars>
      </dgm:prSet>
      <dgm:spPr/>
      <dgm:t>
        <a:bodyPr/>
        <a:lstStyle/>
        <a:p>
          <a:endParaRPr lang="pt-BR"/>
        </a:p>
      </dgm:t>
    </dgm:pt>
    <dgm:pt modelId="{CC7C0BE5-1DA0-4213-9C64-7FEF7C21DBC9}" type="pres">
      <dgm:prSet presAssocID="{3DED9555-CA6D-410A-8302-BA00BB5DCAC1}" presName="level2hierChild" presStyleCnt="0"/>
      <dgm:spPr/>
    </dgm:pt>
    <dgm:pt modelId="{038C9BE0-B729-41B2-842A-225A7F495537}" type="pres">
      <dgm:prSet presAssocID="{FAF117FF-2625-4EDC-94ED-0E7F3399B9AC}" presName="conn2-1" presStyleLbl="parChTrans1D2" presStyleIdx="0" presStyleCnt="5"/>
      <dgm:spPr/>
      <dgm:t>
        <a:bodyPr/>
        <a:lstStyle/>
        <a:p>
          <a:endParaRPr lang="pt-BR"/>
        </a:p>
      </dgm:t>
    </dgm:pt>
    <dgm:pt modelId="{B88DE960-9E7D-4B24-A384-A6A740501BFA}" type="pres">
      <dgm:prSet presAssocID="{FAF117FF-2625-4EDC-94ED-0E7F3399B9AC}" presName="connTx" presStyleLbl="parChTrans1D2" presStyleIdx="0" presStyleCnt="5"/>
      <dgm:spPr/>
      <dgm:t>
        <a:bodyPr/>
        <a:lstStyle/>
        <a:p>
          <a:endParaRPr lang="pt-BR"/>
        </a:p>
      </dgm:t>
    </dgm:pt>
    <dgm:pt modelId="{D6361B28-B50C-4A75-AA11-870775941550}" type="pres">
      <dgm:prSet presAssocID="{531BA14E-968B-457F-8BA7-1525563DA776}" presName="root2" presStyleCnt="0"/>
      <dgm:spPr/>
    </dgm:pt>
    <dgm:pt modelId="{718871FB-C699-4DEE-BCFF-5175E7405499}" type="pres">
      <dgm:prSet presAssocID="{531BA14E-968B-457F-8BA7-1525563DA776}" presName="LevelTwoTextNode" presStyleLbl="node2" presStyleIdx="0" presStyleCnt="5" custScaleX="137804">
        <dgm:presLayoutVars>
          <dgm:chPref val="3"/>
        </dgm:presLayoutVars>
      </dgm:prSet>
      <dgm:spPr/>
      <dgm:t>
        <a:bodyPr/>
        <a:lstStyle/>
        <a:p>
          <a:endParaRPr lang="pt-BR"/>
        </a:p>
      </dgm:t>
    </dgm:pt>
    <dgm:pt modelId="{09901BE2-33A0-41A8-B07E-27D2071C280A}" type="pres">
      <dgm:prSet presAssocID="{531BA14E-968B-457F-8BA7-1525563DA776}" presName="level3hierChild" presStyleCnt="0"/>
      <dgm:spPr/>
    </dgm:pt>
    <dgm:pt modelId="{87B33251-E58F-4E54-9CE8-908017294C4C}" type="pres">
      <dgm:prSet presAssocID="{EECCB58D-C0EA-49DF-8AB7-B6074FAFF5B9}" presName="conn2-1" presStyleLbl="parChTrans1D2" presStyleIdx="1" presStyleCnt="5"/>
      <dgm:spPr/>
      <dgm:t>
        <a:bodyPr/>
        <a:lstStyle/>
        <a:p>
          <a:endParaRPr lang="pt-BR"/>
        </a:p>
      </dgm:t>
    </dgm:pt>
    <dgm:pt modelId="{D2EB32AE-B0AB-49A9-BE61-73CC1264AD36}" type="pres">
      <dgm:prSet presAssocID="{EECCB58D-C0EA-49DF-8AB7-B6074FAFF5B9}" presName="connTx" presStyleLbl="parChTrans1D2" presStyleIdx="1" presStyleCnt="5"/>
      <dgm:spPr/>
      <dgm:t>
        <a:bodyPr/>
        <a:lstStyle/>
        <a:p>
          <a:endParaRPr lang="pt-BR"/>
        </a:p>
      </dgm:t>
    </dgm:pt>
    <dgm:pt modelId="{48F2DC15-E813-4BF7-ACAE-CAD15F42AE17}" type="pres">
      <dgm:prSet presAssocID="{23C12696-FAAA-42C3-A21D-5E65569517FC}" presName="root2" presStyleCnt="0"/>
      <dgm:spPr/>
    </dgm:pt>
    <dgm:pt modelId="{A444C5EC-B041-4344-8014-167A351DC6DC}" type="pres">
      <dgm:prSet presAssocID="{23C12696-FAAA-42C3-A21D-5E65569517FC}" presName="LevelTwoTextNode" presStyleLbl="node2" presStyleIdx="1" presStyleCnt="5" custScaleX="139467">
        <dgm:presLayoutVars>
          <dgm:chPref val="3"/>
        </dgm:presLayoutVars>
      </dgm:prSet>
      <dgm:spPr/>
      <dgm:t>
        <a:bodyPr/>
        <a:lstStyle/>
        <a:p>
          <a:endParaRPr lang="pt-BR"/>
        </a:p>
      </dgm:t>
    </dgm:pt>
    <dgm:pt modelId="{C8B027E6-9264-481A-927A-960F19BFF744}" type="pres">
      <dgm:prSet presAssocID="{23C12696-FAAA-42C3-A21D-5E65569517FC}" presName="level3hierChild" presStyleCnt="0"/>
      <dgm:spPr/>
    </dgm:pt>
    <dgm:pt modelId="{86D17AE4-058A-4AE2-8E38-0F7C7EB048A0}" type="pres">
      <dgm:prSet presAssocID="{A5022207-570B-437D-9FF4-D3F8210F6551}" presName="conn2-1" presStyleLbl="parChTrans1D2" presStyleIdx="2" presStyleCnt="5"/>
      <dgm:spPr/>
      <dgm:t>
        <a:bodyPr/>
        <a:lstStyle/>
        <a:p>
          <a:endParaRPr lang="pt-BR"/>
        </a:p>
      </dgm:t>
    </dgm:pt>
    <dgm:pt modelId="{6DF4B2A8-85EF-40CF-82A2-FE3B3CBD61F0}" type="pres">
      <dgm:prSet presAssocID="{A5022207-570B-437D-9FF4-D3F8210F6551}" presName="connTx" presStyleLbl="parChTrans1D2" presStyleIdx="2" presStyleCnt="5"/>
      <dgm:spPr/>
      <dgm:t>
        <a:bodyPr/>
        <a:lstStyle/>
        <a:p>
          <a:endParaRPr lang="pt-BR"/>
        </a:p>
      </dgm:t>
    </dgm:pt>
    <dgm:pt modelId="{CEC9B793-86A9-4C74-8095-B14B13A06CBB}" type="pres">
      <dgm:prSet presAssocID="{F11A0EBB-11C5-49F6-988E-6D6FF818EF75}" presName="root2" presStyleCnt="0"/>
      <dgm:spPr/>
    </dgm:pt>
    <dgm:pt modelId="{ADCA5B14-499C-47B0-B3CB-74370190C3D8}" type="pres">
      <dgm:prSet presAssocID="{F11A0EBB-11C5-49F6-988E-6D6FF818EF75}" presName="LevelTwoTextNode" presStyleLbl="node2" presStyleIdx="2" presStyleCnt="5" custScaleX="136141">
        <dgm:presLayoutVars>
          <dgm:chPref val="3"/>
        </dgm:presLayoutVars>
      </dgm:prSet>
      <dgm:spPr/>
      <dgm:t>
        <a:bodyPr/>
        <a:lstStyle/>
        <a:p>
          <a:endParaRPr lang="pt-BR"/>
        </a:p>
      </dgm:t>
    </dgm:pt>
    <dgm:pt modelId="{056FA7A3-4289-4C9E-B800-0C0C30BC5EED}" type="pres">
      <dgm:prSet presAssocID="{F11A0EBB-11C5-49F6-988E-6D6FF818EF75}" presName="level3hierChild" presStyleCnt="0"/>
      <dgm:spPr/>
    </dgm:pt>
    <dgm:pt modelId="{A1FB2801-B3F6-4063-9872-12D6266ADD77}" type="pres">
      <dgm:prSet presAssocID="{3594108D-78D1-44D0-BA31-D586C34F7644}" presName="conn2-1" presStyleLbl="parChTrans1D2" presStyleIdx="3" presStyleCnt="5"/>
      <dgm:spPr/>
      <dgm:t>
        <a:bodyPr/>
        <a:lstStyle/>
        <a:p>
          <a:endParaRPr lang="pt-BR"/>
        </a:p>
      </dgm:t>
    </dgm:pt>
    <dgm:pt modelId="{DAA836BB-5FE2-4CFB-B0D7-3329731A29C3}" type="pres">
      <dgm:prSet presAssocID="{3594108D-78D1-44D0-BA31-D586C34F7644}" presName="connTx" presStyleLbl="parChTrans1D2" presStyleIdx="3" presStyleCnt="5"/>
      <dgm:spPr/>
      <dgm:t>
        <a:bodyPr/>
        <a:lstStyle/>
        <a:p>
          <a:endParaRPr lang="pt-BR"/>
        </a:p>
      </dgm:t>
    </dgm:pt>
    <dgm:pt modelId="{9260F6B5-2289-4A9C-A528-28938B2BD1BD}" type="pres">
      <dgm:prSet presAssocID="{17E13C73-E592-434A-A7DE-A7681F2C9639}" presName="root2" presStyleCnt="0"/>
      <dgm:spPr/>
    </dgm:pt>
    <dgm:pt modelId="{852302AA-B613-4E40-B8E7-B97020965BE5}" type="pres">
      <dgm:prSet presAssocID="{17E13C73-E592-434A-A7DE-A7681F2C9639}" presName="LevelTwoTextNode" presStyleLbl="node2" presStyleIdx="3" presStyleCnt="5" custScaleX="137804" custLinFactNeighborX="611" custLinFactNeighborY="-1222">
        <dgm:presLayoutVars>
          <dgm:chPref val="3"/>
        </dgm:presLayoutVars>
      </dgm:prSet>
      <dgm:spPr/>
      <dgm:t>
        <a:bodyPr/>
        <a:lstStyle/>
        <a:p>
          <a:endParaRPr lang="pt-BR"/>
        </a:p>
      </dgm:t>
    </dgm:pt>
    <dgm:pt modelId="{1740EFC7-DAA2-41D6-A5F5-82B55E7F026A}" type="pres">
      <dgm:prSet presAssocID="{17E13C73-E592-434A-A7DE-A7681F2C9639}" presName="level3hierChild" presStyleCnt="0"/>
      <dgm:spPr/>
    </dgm:pt>
    <dgm:pt modelId="{109B2E07-63DB-489C-9FE7-ADF1B72669BB}" type="pres">
      <dgm:prSet presAssocID="{D875203A-F2F3-43CD-AC75-FECCF5C2244B}" presName="conn2-1" presStyleLbl="parChTrans1D2" presStyleIdx="4" presStyleCnt="5"/>
      <dgm:spPr/>
      <dgm:t>
        <a:bodyPr/>
        <a:lstStyle/>
        <a:p>
          <a:endParaRPr lang="pt-BR"/>
        </a:p>
      </dgm:t>
    </dgm:pt>
    <dgm:pt modelId="{64170E14-9761-471D-AE3C-9181089DEE61}" type="pres">
      <dgm:prSet presAssocID="{D875203A-F2F3-43CD-AC75-FECCF5C2244B}" presName="connTx" presStyleLbl="parChTrans1D2" presStyleIdx="4" presStyleCnt="5"/>
      <dgm:spPr/>
      <dgm:t>
        <a:bodyPr/>
        <a:lstStyle/>
        <a:p>
          <a:endParaRPr lang="pt-BR"/>
        </a:p>
      </dgm:t>
    </dgm:pt>
    <dgm:pt modelId="{25149397-0378-495A-85E5-E0DA76548388}" type="pres">
      <dgm:prSet presAssocID="{35D62B85-059C-4F9F-B760-2F405E8013F9}" presName="root2" presStyleCnt="0"/>
      <dgm:spPr/>
    </dgm:pt>
    <dgm:pt modelId="{EF332C25-DD0E-4C09-8869-A14B545F6F9B}" type="pres">
      <dgm:prSet presAssocID="{35D62B85-059C-4F9F-B760-2F405E8013F9}" presName="LevelTwoTextNode" presStyleLbl="node2" presStyleIdx="4" presStyleCnt="5" custScaleX="136141">
        <dgm:presLayoutVars>
          <dgm:chPref val="3"/>
        </dgm:presLayoutVars>
      </dgm:prSet>
      <dgm:spPr/>
      <dgm:t>
        <a:bodyPr/>
        <a:lstStyle/>
        <a:p>
          <a:endParaRPr lang="pt-BR"/>
        </a:p>
      </dgm:t>
    </dgm:pt>
    <dgm:pt modelId="{7830C133-C2B7-4D8F-8E59-190D075AA428}" type="pres">
      <dgm:prSet presAssocID="{35D62B85-059C-4F9F-B760-2F405E8013F9}" presName="level3hierChild" presStyleCnt="0"/>
      <dgm:spPr/>
    </dgm:pt>
  </dgm:ptLst>
  <dgm:cxnLst>
    <dgm:cxn modelId="{74DB7B62-8844-4FE1-9EF9-3D8AF8BAF26B}" type="presOf" srcId="{23C12696-FAAA-42C3-A21D-5E65569517FC}" destId="{A444C5EC-B041-4344-8014-167A351DC6DC}" srcOrd="0" destOrd="0" presId="urn:microsoft.com/office/officeart/2005/8/layout/hierarchy2"/>
    <dgm:cxn modelId="{9FDEEA2B-EA55-4F9D-B58F-B9A35FEA4714}" type="presOf" srcId="{FAF117FF-2625-4EDC-94ED-0E7F3399B9AC}" destId="{B88DE960-9E7D-4B24-A384-A6A740501BFA}" srcOrd="1" destOrd="0" presId="urn:microsoft.com/office/officeart/2005/8/layout/hierarchy2"/>
    <dgm:cxn modelId="{B7951710-7399-4A77-B36E-D326D32CA8E9}" type="presOf" srcId="{3594108D-78D1-44D0-BA31-D586C34F7644}" destId="{A1FB2801-B3F6-4063-9872-12D6266ADD77}" srcOrd="0" destOrd="0" presId="urn:microsoft.com/office/officeart/2005/8/layout/hierarchy2"/>
    <dgm:cxn modelId="{F4AD5A12-6E2A-4ACB-A518-A88E1BFE0FB7}" type="presOf" srcId="{EECCB58D-C0EA-49DF-8AB7-B6074FAFF5B9}" destId="{D2EB32AE-B0AB-49A9-BE61-73CC1264AD36}" srcOrd="1" destOrd="0" presId="urn:microsoft.com/office/officeart/2005/8/layout/hierarchy2"/>
    <dgm:cxn modelId="{4F119A74-88DC-480A-AFAD-58DA985AF549}" srcId="{3DED9555-CA6D-410A-8302-BA00BB5DCAC1}" destId="{17E13C73-E592-434A-A7DE-A7681F2C9639}" srcOrd="3" destOrd="0" parTransId="{3594108D-78D1-44D0-BA31-D586C34F7644}" sibTransId="{AC8FA928-EBCA-4F1D-A02E-E9BAE4FBBE8E}"/>
    <dgm:cxn modelId="{33198EE0-2CAD-4FA3-B50D-BC948DC4D9BA}" type="presOf" srcId="{D875203A-F2F3-43CD-AC75-FECCF5C2244B}" destId="{64170E14-9761-471D-AE3C-9181089DEE61}" srcOrd="1" destOrd="0" presId="urn:microsoft.com/office/officeart/2005/8/layout/hierarchy2"/>
    <dgm:cxn modelId="{F93F8D2D-A746-4A3B-8AF2-F28082122B84}" type="presOf" srcId="{35D62B85-059C-4F9F-B760-2F405E8013F9}" destId="{EF332C25-DD0E-4C09-8869-A14B545F6F9B}" srcOrd="0" destOrd="0" presId="urn:microsoft.com/office/officeart/2005/8/layout/hierarchy2"/>
    <dgm:cxn modelId="{7314522B-62F3-4B5E-9986-4262DC0882A1}" srcId="{3DED9555-CA6D-410A-8302-BA00BB5DCAC1}" destId="{23C12696-FAAA-42C3-A21D-5E65569517FC}" srcOrd="1" destOrd="0" parTransId="{EECCB58D-C0EA-49DF-8AB7-B6074FAFF5B9}" sibTransId="{3BC5EC1F-6335-45A0-B212-31A6E3591143}"/>
    <dgm:cxn modelId="{9AE747E8-BD17-474A-8169-B4B3AE8E63B6}" type="presOf" srcId="{D875203A-F2F3-43CD-AC75-FECCF5C2244B}" destId="{109B2E07-63DB-489C-9FE7-ADF1B72669BB}" srcOrd="0" destOrd="0" presId="urn:microsoft.com/office/officeart/2005/8/layout/hierarchy2"/>
    <dgm:cxn modelId="{C49C8E04-4464-458E-8861-FF977F41F7E6}" type="presOf" srcId="{3594108D-78D1-44D0-BA31-D586C34F7644}" destId="{DAA836BB-5FE2-4CFB-B0D7-3329731A29C3}" srcOrd="1" destOrd="0" presId="urn:microsoft.com/office/officeart/2005/8/layout/hierarchy2"/>
    <dgm:cxn modelId="{0858FD48-FFEA-4464-AFBD-37CAA32FEB9B}" type="presOf" srcId="{EECCB58D-C0EA-49DF-8AB7-B6074FAFF5B9}" destId="{87B33251-E58F-4E54-9CE8-908017294C4C}" srcOrd="0" destOrd="0" presId="urn:microsoft.com/office/officeart/2005/8/layout/hierarchy2"/>
    <dgm:cxn modelId="{EDA714C9-5B7B-4934-BD1A-FED03751FA92}" srcId="{3DED9555-CA6D-410A-8302-BA00BB5DCAC1}" destId="{35D62B85-059C-4F9F-B760-2F405E8013F9}" srcOrd="4" destOrd="0" parTransId="{D875203A-F2F3-43CD-AC75-FECCF5C2244B}" sibTransId="{EDAA8BF9-06FB-4FA5-B15A-A41FA11D83B4}"/>
    <dgm:cxn modelId="{5817ACCF-C521-4301-B2AC-1A414C379FCD}" type="presOf" srcId="{A5022207-570B-437D-9FF4-D3F8210F6551}" destId="{6DF4B2A8-85EF-40CF-82A2-FE3B3CBD61F0}" srcOrd="1" destOrd="0" presId="urn:microsoft.com/office/officeart/2005/8/layout/hierarchy2"/>
    <dgm:cxn modelId="{2856E6B7-A61F-447A-919A-F2030F6DA02B}" type="presOf" srcId="{1EEAAEF9-E66E-415D-A4EB-63C7C89A5674}" destId="{DC22CC4F-84FF-4B4F-BE95-2A4A6C888353}" srcOrd="0" destOrd="0" presId="urn:microsoft.com/office/officeart/2005/8/layout/hierarchy2"/>
    <dgm:cxn modelId="{37191328-1397-48CF-83E3-2C3B2F83AA70}" type="presOf" srcId="{FAF117FF-2625-4EDC-94ED-0E7F3399B9AC}" destId="{038C9BE0-B729-41B2-842A-225A7F495537}" srcOrd="0" destOrd="0" presId="urn:microsoft.com/office/officeart/2005/8/layout/hierarchy2"/>
    <dgm:cxn modelId="{930590F9-915E-4AD2-964C-826A94A12885}" srcId="{3DED9555-CA6D-410A-8302-BA00BB5DCAC1}" destId="{531BA14E-968B-457F-8BA7-1525563DA776}" srcOrd="0" destOrd="0" parTransId="{FAF117FF-2625-4EDC-94ED-0E7F3399B9AC}" sibTransId="{DB42BA74-3625-4392-A5B1-EF15499EF6E8}"/>
    <dgm:cxn modelId="{873FA7D0-919D-4EB5-8B9E-D687ECE53B85}" type="presOf" srcId="{531BA14E-968B-457F-8BA7-1525563DA776}" destId="{718871FB-C699-4DEE-BCFF-5175E7405499}" srcOrd="0" destOrd="0" presId="urn:microsoft.com/office/officeart/2005/8/layout/hierarchy2"/>
    <dgm:cxn modelId="{98C86087-8E85-4673-8BC4-C58BEF655BDF}" type="presOf" srcId="{3DED9555-CA6D-410A-8302-BA00BB5DCAC1}" destId="{C0C4E4E9-A144-4BBC-BF79-A7EB154405DA}" srcOrd="0" destOrd="0" presId="urn:microsoft.com/office/officeart/2005/8/layout/hierarchy2"/>
    <dgm:cxn modelId="{8533DD5B-93B1-4913-A43A-15E6ACB87D64}" type="presOf" srcId="{17E13C73-E592-434A-A7DE-A7681F2C9639}" destId="{852302AA-B613-4E40-B8E7-B97020965BE5}" srcOrd="0" destOrd="0" presId="urn:microsoft.com/office/officeart/2005/8/layout/hierarchy2"/>
    <dgm:cxn modelId="{F8EFBB33-B633-4802-A187-C671B09678C7}" srcId="{1EEAAEF9-E66E-415D-A4EB-63C7C89A5674}" destId="{3DED9555-CA6D-410A-8302-BA00BB5DCAC1}" srcOrd="0" destOrd="0" parTransId="{24C43DE7-CCD6-48D2-BB49-006BEB16C459}" sibTransId="{EE7403EE-76A1-4328-BB5F-45A7DFC89F83}"/>
    <dgm:cxn modelId="{F26DBCC0-022C-4763-88C5-763E25B426B0}" type="presOf" srcId="{A5022207-570B-437D-9FF4-D3F8210F6551}" destId="{86D17AE4-058A-4AE2-8E38-0F7C7EB048A0}" srcOrd="0" destOrd="0" presId="urn:microsoft.com/office/officeart/2005/8/layout/hierarchy2"/>
    <dgm:cxn modelId="{30E2739D-33F2-4E2A-82EE-AE55A2515A7E}" srcId="{3DED9555-CA6D-410A-8302-BA00BB5DCAC1}" destId="{F11A0EBB-11C5-49F6-988E-6D6FF818EF75}" srcOrd="2" destOrd="0" parTransId="{A5022207-570B-437D-9FF4-D3F8210F6551}" sibTransId="{0FED6FE8-E7EC-4941-ADF2-C06B0B2D8A49}"/>
    <dgm:cxn modelId="{9E0264DA-8049-4E2F-9DA9-0CCBAC3E0966}" type="presOf" srcId="{F11A0EBB-11C5-49F6-988E-6D6FF818EF75}" destId="{ADCA5B14-499C-47B0-B3CB-74370190C3D8}" srcOrd="0" destOrd="0" presId="urn:microsoft.com/office/officeart/2005/8/layout/hierarchy2"/>
    <dgm:cxn modelId="{D9A56D2B-1E50-4A6E-9D90-64BC455FEF21}" type="presParOf" srcId="{DC22CC4F-84FF-4B4F-BE95-2A4A6C888353}" destId="{88C2D2CE-BB96-469E-AF77-A30FA5E617E0}" srcOrd="0" destOrd="0" presId="urn:microsoft.com/office/officeart/2005/8/layout/hierarchy2"/>
    <dgm:cxn modelId="{4905AB54-6417-4988-87AA-C9EB3F92C46E}" type="presParOf" srcId="{88C2D2CE-BB96-469E-AF77-A30FA5E617E0}" destId="{C0C4E4E9-A144-4BBC-BF79-A7EB154405DA}" srcOrd="0" destOrd="0" presId="urn:microsoft.com/office/officeart/2005/8/layout/hierarchy2"/>
    <dgm:cxn modelId="{FD7D402F-F8B5-4EDD-A584-3F56D2F3A108}" type="presParOf" srcId="{88C2D2CE-BB96-469E-AF77-A30FA5E617E0}" destId="{CC7C0BE5-1DA0-4213-9C64-7FEF7C21DBC9}" srcOrd="1" destOrd="0" presId="urn:microsoft.com/office/officeart/2005/8/layout/hierarchy2"/>
    <dgm:cxn modelId="{B345DE2C-437E-496E-A302-D4AF2C0ED509}" type="presParOf" srcId="{CC7C0BE5-1DA0-4213-9C64-7FEF7C21DBC9}" destId="{038C9BE0-B729-41B2-842A-225A7F495537}" srcOrd="0" destOrd="0" presId="urn:microsoft.com/office/officeart/2005/8/layout/hierarchy2"/>
    <dgm:cxn modelId="{3DF447C0-EFD2-4D6E-816E-3475A26AF606}" type="presParOf" srcId="{038C9BE0-B729-41B2-842A-225A7F495537}" destId="{B88DE960-9E7D-4B24-A384-A6A740501BFA}" srcOrd="0" destOrd="0" presId="urn:microsoft.com/office/officeart/2005/8/layout/hierarchy2"/>
    <dgm:cxn modelId="{182D9E95-1A4D-48DE-B8A5-4D405B5439A9}" type="presParOf" srcId="{CC7C0BE5-1DA0-4213-9C64-7FEF7C21DBC9}" destId="{D6361B28-B50C-4A75-AA11-870775941550}" srcOrd="1" destOrd="0" presId="urn:microsoft.com/office/officeart/2005/8/layout/hierarchy2"/>
    <dgm:cxn modelId="{BC6EA959-E51B-4F6B-A90F-7B45FF9FFD89}" type="presParOf" srcId="{D6361B28-B50C-4A75-AA11-870775941550}" destId="{718871FB-C699-4DEE-BCFF-5175E7405499}" srcOrd="0" destOrd="0" presId="urn:microsoft.com/office/officeart/2005/8/layout/hierarchy2"/>
    <dgm:cxn modelId="{EE0FEC97-E082-4553-8BDF-6224624D6304}" type="presParOf" srcId="{D6361B28-B50C-4A75-AA11-870775941550}" destId="{09901BE2-33A0-41A8-B07E-27D2071C280A}" srcOrd="1" destOrd="0" presId="urn:microsoft.com/office/officeart/2005/8/layout/hierarchy2"/>
    <dgm:cxn modelId="{6346CD1B-381A-4097-8812-15B75D69FAFA}" type="presParOf" srcId="{CC7C0BE5-1DA0-4213-9C64-7FEF7C21DBC9}" destId="{87B33251-E58F-4E54-9CE8-908017294C4C}" srcOrd="2" destOrd="0" presId="urn:microsoft.com/office/officeart/2005/8/layout/hierarchy2"/>
    <dgm:cxn modelId="{36790CDC-10AA-4EF2-BBF5-E3708C07AE5F}" type="presParOf" srcId="{87B33251-E58F-4E54-9CE8-908017294C4C}" destId="{D2EB32AE-B0AB-49A9-BE61-73CC1264AD36}" srcOrd="0" destOrd="0" presId="urn:microsoft.com/office/officeart/2005/8/layout/hierarchy2"/>
    <dgm:cxn modelId="{FD4CD00F-783D-46BD-A7A9-799CB2818FB7}" type="presParOf" srcId="{CC7C0BE5-1DA0-4213-9C64-7FEF7C21DBC9}" destId="{48F2DC15-E813-4BF7-ACAE-CAD15F42AE17}" srcOrd="3" destOrd="0" presId="urn:microsoft.com/office/officeart/2005/8/layout/hierarchy2"/>
    <dgm:cxn modelId="{CE487F7A-2F1C-49E7-BC07-181395D5D8D8}" type="presParOf" srcId="{48F2DC15-E813-4BF7-ACAE-CAD15F42AE17}" destId="{A444C5EC-B041-4344-8014-167A351DC6DC}" srcOrd="0" destOrd="0" presId="urn:microsoft.com/office/officeart/2005/8/layout/hierarchy2"/>
    <dgm:cxn modelId="{E4D10DB6-09E5-42FB-A2D7-9D0FE9384CED}" type="presParOf" srcId="{48F2DC15-E813-4BF7-ACAE-CAD15F42AE17}" destId="{C8B027E6-9264-481A-927A-960F19BFF744}" srcOrd="1" destOrd="0" presId="urn:microsoft.com/office/officeart/2005/8/layout/hierarchy2"/>
    <dgm:cxn modelId="{AEE510FC-6DCD-4F1F-8738-34E8D94290DE}" type="presParOf" srcId="{CC7C0BE5-1DA0-4213-9C64-7FEF7C21DBC9}" destId="{86D17AE4-058A-4AE2-8E38-0F7C7EB048A0}" srcOrd="4" destOrd="0" presId="urn:microsoft.com/office/officeart/2005/8/layout/hierarchy2"/>
    <dgm:cxn modelId="{D067ED1F-3BBC-4B6E-996A-ECD76F4E3429}" type="presParOf" srcId="{86D17AE4-058A-4AE2-8E38-0F7C7EB048A0}" destId="{6DF4B2A8-85EF-40CF-82A2-FE3B3CBD61F0}" srcOrd="0" destOrd="0" presId="urn:microsoft.com/office/officeart/2005/8/layout/hierarchy2"/>
    <dgm:cxn modelId="{96AFC075-C8A0-44BC-A247-F475124C5B11}" type="presParOf" srcId="{CC7C0BE5-1DA0-4213-9C64-7FEF7C21DBC9}" destId="{CEC9B793-86A9-4C74-8095-B14B13A06CBB}" srcOrd="5" destOrd="0" presId="urn:microsoft.com/office/officeart/2005/8/layout/hierarchy2"/>
    <dgm:cxn modelId="{6AA986FC-0AC1-4573-AD47-8359ABCBF255}" type="presParOf" srcId="{CEC9B793-86A9-4C74-8095-B14B13A06CBB}" destId="{ADCA5B14-499C-47B0-B3CB-74370190C3D8}" srcOrd="0" destOrd="0" presId="urn:microsoft.com/office/officeart/2005/8/layout/hierarchy2"/>
    <dgm:cxn modelId="{68C80FE3-B4FA-420D-9126-92112300F05F}" type="presParOf" srcId="{CEC9B793-86A9-4C74-8095-B14B13A06CBB}" destId="{056FA7A3-4289-4C9E-B800-0C0C30BC5EED}" srcOrd="1" destOrd="0" presId="urn:microsoft.com/office/officeart/2005/8/layout/hierarchy2"/>
    <dgm:cxn modelId="{BADA344D-15C8-4803-BF48-941C36E83002}" type="presParOf" srcId="{CC7C0BE5-1DA0-4213-9C64-7FEF7C21DBC9}" destId="{A1FB2801-B3F6-4063-9872-12D6266ADD77}" srcOrd="6" destOrd="0" presId="urn:microsoft.com/office/officeart/2005/8/layout/hierarchy2"/>
    <dgm:cxn modelId="{089DD022-C655-4478-A8BD-00D6F0541DC7}" type="presParOf" srcId="{A1FB2801-B3F6-4063-9872-12D6266ADD77}" destId="{DAA836BB-5FE2-4CFB-B0D7-3329731A29C3}" srcOrd="0" destOrd="0" presId="urn:microsoft.com/office/officeart/2005/8/layout/hierarchy2"/>
    <dgm:cxn modelId="{605277D6-8798-4E61-8D66-A501820136E8}" type="presParOf" srcId="{CC7C0BE5-1DA0-4213-9C64-7FEF7C21DBC9}" destId="{9260F6B5-2289-4A9C-A528-28938B2BD1BD}" srcOrd="7" destOrd="0" presId="urn:microsoft.com/office/officeart/2005/8/layout/hierarchy2"/>
    <dgm:cxn modelId="{267E43CB-8407-4AB1-A51F-D7E7370B5598}" type="presParOf" srcId="{9260F6B5-2289-4A9C-A528-28938B2BD1BD}" destId="{852302AA-B613-4E40-B8E7-B97020965BE5}" srcOrd="0" destOrd="0" presId="urn:microsoft.com/office/officeart/2005/8/layout/hierarchy2"/>
    <dgm:cxn modelId="{B9964C2C-25BB-421E-9DF4-BC2FD32B2855}" type="presParOf" srcId="{9260F6B5-2289-4A9C-A528-28938B2BD1BD}" destId="{1740EFC7-DAA2-41D6-A5F5-82B55E7F026A}" srcOrd="1" destOrd="0" presId="urn:microsoft.com/office/officeart/2005/8/layout/hierarchy2"/>
    <dgm:cxn modelId="{4718601C-16D7-40A6-A74D-52ADA7385697}" type="presParOf" srcId="{CC7C0BE5-1DA0-4213-9C64-7FEF7C21DBC9}" destId="{109B2E07-63DB-489C-9FE7-ADF1B72669BB}" srcOrd="8" destOrd="0" presId="urn:microsoft.com/office/officeart/2005/8/layout/hierarchy2"/>
    <dgm:cxn modelId="{2FB6A7C5-4BE3-49B3-8F8C-8C3496A3F9BE}" type="presParOf" srcId="{109B2E07-63DB-489C-9FE7-ADF1B72669BB}" destId="{64170E14-9761-471D-AE3C-9181089DEE61}" srcOrd="0" destOrd="0" presId="urn:microsoft.com/office/officeart/2005/8/layout/hierarchy2"/>
    <dgm:cxn modelId="{50123C1D-C1FF-4401-ABAC-9BFFDAA9092E}" type="presParOf" srcId="{CC7C0BE5-1DA0-4213-9C64-7FEF7C21DBC9}" destId="{25149397-0378-495A-85E5-E0DA76548388}" srcOrd="9" destOrd="0" presId="urn:microsoft.com/office/officeart/2005/8/layout/hierarchy2"/>
    <dgm:cxn modelId="{249ED4DF-7414-4F8F-B70B-8C2D894711D2}" type="presParOf" srcId="{25149397-0378-495A-85E5-E0DA76548388}" destId="{EF332C25-DD0E-4C09-8869-A14B545F6F9B}" srcOrd="0" destOrd="0" presId="urn:microsoft.com/office/officeart/2005/8/layout/hierarchy2"/>
    <dgm:cxn modelId="{AC3B5824-3395-4E7C-B7C1-8063CA40B36C}" type="presParOf" srcId="{25149397-0378-495A-85E5-E0DA76548388}" destId="{7830C133-C2B7-4D8F-8E59-190D075AA428}"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pt-BR" smtClean="0"/>
              <a:t>Clique para editar o título mestre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dirty="0"/>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229549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pt-BR" smtClean="0"/>
              <a:t>Clique para editar o título mestre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4225806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1323171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pt-BR" smtClean="0"/>
              <a:t>Clique para editar o título mestre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fld id="{54FCB1AE-0297-4304-BB6A-23869BF4EC69}" type="datetimeFigureOut">
              <a:rPr lang="pt-BR" smtClean="0"/>
              <a:t>15/08/2018</a:t>
            </a:fld>
            <a:endParaRPr lang="pt-BR"/>
          </a:p>
        </p:txBody>
      </p:sp>
      <p:sp>
        <p:nvSpPr>
          <p:cNvPr id="6" name="Footer Placeholder 5"/>
          <p:cNvSpPr>
            <a:spLocks noGrp="1"/>
          </p:cNvSpPr>
          <p:nvPr>
            <p:ph type="ftr" sz="quarter" idx="11"/>
          </p:nvPr>
        </p:nvSpPr>
        <p:spPr/>
        <p:txBody>
          <a:bodyPr/>
          <a:lstStyle/>
          <a:p>
            <a:endParaRPr lang="pt-B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3530514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smtClean="0"/>
              <a:t>Clique para editar o título mestre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54FCB1AE-0297-4304-BB6A-23869BF4EC69}" type="datetimeFigureOut">
              <a:rPr lang="pt-BR" smtClean="0"/>
              <a:t>15/08/2018</a:t>
            </a:fld>
            <a:endParaRPr lang="pt-BR"/>
          </a:p>
        </p:txBody>
      </p:sp>
      <p:sp>
        <p:nvSpPr>
          <p:cNvPr id="8" name="Footer Placeholder 7"/>
          <p:cNvSpPr>
            <a:spLocks noGrp="1"/>
          </p:cNvSpPr>
          <p:nvPr>
            <p:ph type="ftr" sz="quarter" idx="11"/>
          </p:nvPr>
        </p:nvSpPr>
        <p:spPr/>
        <p:txBody>
          <a:bodyPr/>
          <a:lstStyle/>
          <a:p>
            <a:endParaRPr lang="pt-B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1712821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fld id="{54FCB1AE-0297-4304-BB6A-23869BF4EC69}" type="datetimeFigureOut">
              <a:rPr lang="pt-BR" smtClean="0"/>
              <a:t>15/08/2018</a:t>
            </a:fld>
            <a:endParaRPr lang="pt-BR"/>
          </a:p>
        </p:txBody>
      </p:sp>
      <p:sp>
        <p:nvSpPr>
          <p:cNvPr id="4" name="Footer Placeholder 3"/>
          <p:cNvSpPr>
            <a:spLocks noGrp="1"/>
          </p:cNvSpPr>
          <p:nvPr>
            <p:ph type="ftr" sz="quarter" idx="11"/>
          </p:nvPr>
        </p:nvSpPr>
        <p:spPr/>
        <p:txBody>
          <a:bodyPr/>
          <a:lstStyle/>
          <a:p>
            <a:endParaRPr lang="pt-B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79584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FCB1AE-0297-4304-BB6A-23869BF4EC69}" type="datetimeFigureOut">
              <a:rPr lang="pt-BR" smtClean="0"/>
              <a:t>15/08/2018</a:t>
            </a:fld>
            <a:endParaRPr lang="pt-BR"/>
          </a:p>
        </p:txBody>
      </p:sp>
      <p:sp>
        <p:nvSpPr>
          <p:cNvPr id="3" name="Footer Placeholder 2"/>
          <p:cNvSpPr>
            <a:spLocks noGrp="1"/>
          </p:cNvSpPr>
          <p:nvPr>
            <p:ph type="ftr" sz="quarter" idx="11"/>
          </p:nvPr>
        </p:nvSpPr>
        <p:spPr/>
        <p:txBody>
          <a:bodyPr/>
          <a:lstStyle/>
          <a:p>
            <a:endParaRPr lang="pt-B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3857354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pt-BR" smtClean="0"/>
              <a:t>Clique para editar o título mestre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Date Placeholder 4"/>
          <p:cNvSpPr>
            <a:spLocks noGrp="1"/>
          </p:cNvSpPr>
          <p:nvPr>
            <p:ph type="dt" sz="half" idx="10"/>
          </p:nvPr>
        </p:nvSpPr>
        <p:spPr/>
        <p:txBody>
          <a:bodyPr/>
          <a:lstStyle/>
          <a:p>
            <a:fld id="{54FCB1AE-0297-4304-BB6A-23869BF4EC69}" type="datetimeFigureOut">
              <a:rPr lang="pt-BR" smtClean="0"/>
              <a:t>15/08/2018</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4096176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Date Placeholder 4"/>
          <p:cNvSpPr>
            <a:spLocks noGrp="1"/>
          </p:cNvSpPr>
          <p:nvPr>
            <p:ph type="dt" sz="half" idx="10"/>
          </p:nvPr>
        </p:nvSpPr>
        <p:spPr/>
        <p:txBody>
          <a:bodyPr/>
          <a:lstStyle/>
          <a:p>
            <a:fld id="{54FCB1AE-0297-4304-BB6A-23869BF4EC69}" type="datetimeFigureOut">
              <a:rPr lang="pt-BR" smtClean="0"/>
              <a:t>15/08/2018</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2090706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pt-BR" smtClean="0"/>
              <a:t>Clique para editar o título mestre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1938875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smtClean="0"/>
              <a:t>Clique para editar o título mestre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F64A20-00EF-494F-A18B-29FEBA2FB834}" type="slidenum">
              <a:rPr lang="pt-BR" smtClean="0"/>
              <a:t>‹nº›</a:t>
            </a:fld>
            <a:endParaRPr lang="pt-B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26597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pt-BR" smtClean="0"/>
              <a:t>Clique para editar o título mestre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Clique para editar o texto mestre</a:t>
            </a:r>
          </a:p>
        </p:txBody>
      </p:sp>
      <p:sp>
        <p:nvSpPr>
          <p:cNvPr id="5" name="Date Placeholder 4"/>
          <p:cNvSpPr>
            <a:spLocks noGrp="1"/>
          </p:cNvSpPr>
          <p:nvPr>
            <p:ph type="dt" sz="half" idx="10"/>
          </p:nvPr>
        </p:nvSpPr>
        <p:spPr/>
        <p:txBody>
          <a:bodyPr/>
          <a:lstStyle/>
          <a:p>
            <a:fld id="{54FCB1AE-0297-4304-BB6A-23869BF4EC69}" type="datetimeFigureOut">
              <a:rPr lang="pt-BR" smtClean="0"/>
              <a:t>15/08/2018</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2713324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smtClean="0"/>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Clique para editar o texto mestre</a:t>
            </a:r>
          </a:p>
        </p:txBody>
      </p:sp>
      <p:sp>
        <p:nvSpPr>
          <p:cNvPr id="5" name="Date Placeholder 4"/>
          <p:cNvSpPr>
            <a:spLocks noGrp="1"/>
          </p:cNvSpPr>
          <p:nvPr>
            <p:ph type="dt" sz="half" idx="10"/>
          </p:nvPr>
        </p:nvSpPr>
        <p:spPr/>
        <p:txBody>
          <a:bodyPr/>
          <a:lstStyle/>
          <a:p>
            <a:fld id="{54FCB1AE-0297-4304-BB6A-23869BF4EC69}" type="datetimeFigureOut">
              <a:rPr lang="pt-BR" smtClean="0"/>
              <a:t>15/08/2018</a:t>
            </a:fld>
            <a:endParaRPr lang="pt-BR"/>
          </a:p>
        </p:txBody>
      </p:sp>
      <p:sp>
        <p:nvSpPr>
          <p:cNvPr id="6" name="Footer Placeholder 5"/>
          <p:cNvSpPr>
            <a:spLocks noGrp="1"/>
          </p:cNvSpPr>
          <p:nvPr>
            <p:ph type="ftr" sz="quarter" idx="11"/>
          </p:nvPr>
        </p:nvSpPr>
        <p:spPr/>
        <p:txBody>
          <a:bodyPr/>
          <a:lstStyle/>
          <a:p>
            <a:endParaRPr lang="pt-B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64A20-00EF-494F-A18B-29FEBA2FB834}" type="slidenum">
              <a:rPr lang="pt-BR" smtClean="0"/>
              <a:t>‹nº›</a:t>
            </a:fld>
            <a:endParaRPr lang="pt-B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80754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pt-BR" smtClean="0"/>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smtClean="0"/>
              <a:t>Clique para editar o texto mestre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smtClean="0"/>
              <a:t>Clique para editar o texto mestre</a:t>
            </a:r>
          </a:p>
        </p:txBody>
      </p:sp>
      <p:sp>
        <p:nvSpPr>
          <p:cNvPr id="5" name="Date Placeholder 4"/>
          <p:cNvSpPr>
            <a:spLocks noGrp="1"/>
          </p:cNvSpPr>
          <p:nvPr>
            <p:ph type="dt" sz="half" idx="10"/>
          </p:nvPr>
        </p:nvSpPr>
        <p:spPr/>
        <p:txBody>
          <a:bodyPr/>
          <a:lstStyle/>
          <a:p>
            <a:fld id="{54FCB1AE-0297-4304-BB6A-23869BF4EC69}" type="datetimeFigureOut">
              <a:rPr lang="pt-BR" smtClean="0"/>
              <a:t>15/08/2018</a:t>
            </a:fld>
            <a:endParaRPr lang="pt-BR"/>
          </a:p>
        </p:txBody>
      </p:sp>
      <p:sp>
        <p:nvSpPr>
          <p:cNvPr id="6" name="Footer Placeholder 5"/>
          <p:cNvSpPr>
            <a:spLocks noGrp="1"/>
          </p:cNvSpPr>
          <p:nvPr>
            <p:ph type="ftr" sz="quarter" idx="11"/>
          </p:nvPr>
        </p:nvSpPr>
        <p:spPr/>
        <p:txBody>
          <a:bodyPr/>
          <a:lstStyle/>
          <a:p>
            <a:endParaRPr lang="pt-B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1814711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smtClean="0"/>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1082140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pt-BR" smtClean="0"/>
              <a:t>Clique para editar o título mestre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54FCB1AE-0297-4304-BB6A-23869BF4EC69}" type="datetimeFigureOut">
              <a:rPr lang="pt-BR" smtClean="0"/>
              <a:t>15/08/2018</a:t>
            </a:fld>
            <a:endParaRPr lang="pt-BR"/>
          </a:p>
        </p:txBody>
      </p:sp>
      <p:sp>
        <p:nvSpPr>
          <p:cNvPr id="5" name="Footer Placeholder 4"/>
          <p:cNvSpPr>
            <a:spLocks noGrp="1"/>
          </p:cNvSpPr>
          <p:nvPr>
            <p:ph type="ftr" sz="quarter" idx="11"/>
          </p:nvPr>
        </p:nvSpPr>
        <p:spPr/>
        <p:txBody>
          <a:bodyPr/>
          <a:lstStyle/>
          <a:p>
            <a:endParaRPr lang="pt-B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F64A20-00EF-494F-A18B-29FEBA2FB834}" type="slidenum">
              <a:rPr lang="pt-BR" smtClean="0"/>
              <a:t>‹nº›</a:t>
            </a:fld>
            <a:endParaRPr lang="pt-BR"/>
          </a:p>
        </p:txBody>
      </p:sp>
    </p:spTree>
    <p:extLst>
      <p:ext uri="{BB962C8B-B14F-4D97-AF65-F5344CB8AC3E}">
        <p14:creationId xmlns:p14="http://schemas.microsoft.com/office/powerpoint/2010/main" val="97955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4FCB1AE-0297-4304-BB6A-23869BF4EC69}" type="datetimeFigureOut">
              <a:rPr lang="pt-BR" smtClean="0"/>
              <a:t>15/08/2018</a:t>
            </a:fld>
            <a:endParaRPr lang="pt-B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7F64A20-00EF-494F-A18B-29FEBA2FB834}" type="slidenum">
              <a:rPr lang="pt-BR" smtClean="0"/>
              <a:t>‹nº›</a:t>
            </a:fld>
            <a:endParaRPr lang="pt-BR"/>
          </a:p>
        </p:txBody>
      </p:sp>
    </p:spTree>
    <p:extLst>
      <p:ext uri="{BB962C8B-B14F-4D97-AF65-F5344CB8AC3E}">
        <p14:creationId xmlns:p14="http://schemas.microsoft.com/office/powerpoint/2010/main" val="29576041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9213" y="1765006"/>
            <a:ext cx="8915399" cy="2009552"/>
          </a:xfrm>
        </p:spPr>
        <p:txBody>
          <a:bodyPr>
            <a:normAutofit/>
          </a:bodyPr>
          <a:lstStyle/>
          <a:p>
            <a:pPr algn="ctr"/>
            <a:r>
              <a:rPr lang="pt-BR" b="1" dirty="0" smtClean="0">
                <a:latin typeface="Bookman Old Style" panose="02050604050505020204" pitchFamily="18" charset="0"/>
              </a:rPr>
              <a:t>Substituição Tributária ICMS </a:t>
            </a:r>
            <a:endParaRPr lang="pt-BR" b="1" dirty="0">
              <a:latin typeface="Bookman Old Style" panose="02050604050505020204" pitchFamily="18" charset="0"/>
            </a:endParaRPr>
          </a:p>
        </p:txBody>
      </p:sp>
      <p:sp>
        <p:nvSpPr>
          <p:cNvPr id="3" name="Subtítulo 2"/>
          <p:cNvSpPr>
            <a:spLocks noGrp="1"/>
          </p:cNvSpPr>
          <p:nvPr>
            <p:ph type="subTitle" idx="1"/>
          </p:nvPr>
        </p:nvSpPr>
        <p:spPr>
          <a:xfrm>
            <a:off x="1524000" y="4802660"/>
            <a:ext cx="9144000" cy="1145059"/>
          </a:xfrm>
        </p:spPr>
        <p:txBody>
          <a:bodyPr>
            <a:normAutofit lnSpcReduction="10000"/>
          </a:bodyPr>
          <a:lstStyle/>
          <a:p>
            <a:pPr>
              <a:lnSpc>
                <a:spcPct val="100000"/>
              </a:lnSpc>
              <a:spcBef>
                <a:spcPts val="0"/>
              </a:spcBef>
            </a:pPr>
            <a:endParaRPr lang="pt-BR" dirty="0" smtClean="0"/>
          </a:p>
          <a:p>
            <a:pPr>
              <a:lnSpc>
                <a:spcPct val="100000"/>
              </a:lnSpc>
              <a:spcBef>
                <a:spcPts val="0"/>
              </a:spcBef>
            </a:pPr>
            <a:endParaRPr lang="pt-BR" dirty="0"/>
          </a:p>
          <a:p>
            <a:pPr algn="r">
              <a:lnSpc>
                <a:spcPct val="100000"/>
              </a:lnSpc>
              <a:spcBef>
                <a:spcPts val="0"/>
              </a:spcBef>
            </a:pPr>
            <a:r>
              <a:rPr lang="pt-BR" dirty="0" smtClean="0">
                <a:latin typeface="Bookman Old Style" panose="02050604050505020204" pitchFamily="18" charset="0"/>
              </a:rPr>
              <a:t>Professor: Bruno Costa Teixeira</a:t>
            </a:r>
          </a:p>
          <a:p>
            <a:pPr algn="r">
              <a:lnSpc>
                <a:spcPct val="100000"/>
              </a:lnSpc>
              <a:spcBef>
                <a:spcPts val="0"/>
              </a:spcBef>
            </a:pPr>
            <a:r>
              <a:rPr lang="pt-BR" dirty="0" smtClean="0">
                <a:latin typeface="Bookman Old Style" panose="02050604050505020204" pitchFamily="18" charset="0"/>
              </a:rPr>
              <a:t>Contador CRC n.º 023948/O-3</a:t>
            </a:r>
            <a:endParaRPr lang="pt-BR" dirty="0">
              <a:latin typeface="Bookman Old Style" panose="02050604050505020204" pitchFamily="18" charset="0"/>
            </a:endParaRPr>
          </a:p>
        </p:txBody>
      </p:sp>
    </p:spTree>
    <p:extLst>
      <p:ext uri="{BB962C8B-B14F-4D97-AF65-F5344CB8AC3E}">
        <p14:creationId xmlns:p14="http://schemas.microsoft.com/office/powerpoint/2010/main" val="14992178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a:r>
              <a:rPr lang="pt-BR" sz="4400" b="1" dirty="0" smtClean="0">
                <a:latin typeface="Bookman Old Style" panose="02050604050505020204" pitchFamily="18" charset="0"/>
                <a:cs typeface="Times New Roman" panose="02020603050405020304" pitchFamily="18" charset="0"/>
              </a:rPr>
              <a:t>O que é a Substituição Tributária?</a:t>
            </a:r>
            <a:endParaRPr lang="pt-BR" sz="4400" b="1" dirty="0">
              <a:latin typeface="Bookman Old Style" panose="02050604050505020204" pitchFamily="18" charset="0"/>
              <a:cs typeface="Times New Roman" panose="02020603050405020304" pitchFamily="18" charset="0"/>
            </a:endParaRPr>
          </a:p>
        </p:txBody>
      </p:sp>
      <p:sp>
        <p:nvSpPr>
          <p:cNvPr id="3" name="Espaço Reservado para Conteúdo 2"/>
          <p:cNvSpPr>
            <a:spLocks noGrp="1"/>
          </p:cNvSpPr>
          <p:nvPr>
            <p:ph idx="1"/>
          </p:nvPr>
        </p:nvSpPr>
        <p:spPr>
          <a:ln>
            <a:noFill/>
          </a:ln>
        </p:spPr>
        <p:style>
          <a:lnRef idx="2">
            <a:schemeClr val="accent2"/>
          </a:lnRef>
          <a:fillRef idx="1">
            <a:schemeClr val="lt1"/>
          </a:fillRef>
          <a:effectRef idx="0">
            <a:schemeClr val="accent2"/>
          </a:effectRef>
          <a:fontRef idx="minor">
            <a:schemeClr val="dk1"/>
          </a:fontRef>
        </p:style>
        <p:txBody>
          <a:bodyPr>
            <a:normAutofit fontScale="92500"/>
          </a:bodyPr>
          <a:lstStyle/>
          <a:p>
            <a:pPr marL="0" indent="0">
              <a:buNone/>
            </a:pPr>
            <a:endParaRPr lang="pt-BR" dirty="0" smtClean="0"/>
          </a:p>
          <a:p>
            <a:pPr marL="0" indent="0" algn="just">
              <a:buNone/>
            </a:pPr>
            <a:r>
              <a:rPr lang="pt-BR" sz="2400" dirty="0"/>
              <a:t>É o </a:t>
            </a:r>
            <a:r>
              <a:rPr lang="pt-BR" sz="2400" dirty="0">
                <a:solidFill>
                  <a:srgbClr val="0000FF"/>
                </a:solidFill>
              </a:rPr>
              <a:t>instituto jurídico previsto na Constituição Federal </a:t>
            </a:r>
            <a:r>
              <a:rPr lang="pt-BR" sz="2400" dirty="0"/>
              <a:t>que autoriza, desde que prevista em lei do ente estatal tributante, a possibilidade de </a:t>
            </a:r>
            <a:r>
              <a:rPr lang="pt-BR" sz="2400" dirty="0">
                <a:solidFill>
                  <a:srgbClr val="0000FF"/>
                </a:solidFill>
              </a:rPr>
              <a:t>atribuir a outrem</a:t>
            </a:r>
            <a:r>
              <a:rPr lang="pt-BR" sz="2400" dirty="0"/>
              <a:t>, sujeito passivo da obrigação tributária, </a:t>
            </a:r>
            <a:r>
              <a:rPr lang="pt-BR" sz="2400" dirty="0">
                <a:solidFill>
                  <a:srgbClr val="0000FF"/>
                </a:solidFill>
              </a:rPr>
              <a:t>a condição de responsável pelo pagamento de imposto</a:t>
            </a:r>
            <a:r>
              <a:rPr lang="pt-BR" sz="2400" dirty="0"/>
              <a:t> relativo a </a:t>
            </a:r>
            <a:r>
              <a:rPr lang="pt-BR" sz="2400" dirty="0">
                <a:solidFill>
                  <a:srgbClr val="0000FF"/>
                </a:solidFill>
              </a:rPr>
              <a:t>fato gerador praticado por terceiros</a:t>
            </a:r>
            <a:r>
              <a:rPr lang="pt-BR" sz="2400" dirty="0"/>
              <a:t>.</a:t>
            </a:r>
          </a:p>
          <a:p>
            <a:pPr marL="0" indent="0" algn="just">
              <a:buNone/>
            </a:pPr>
            <a:r>
              <a:rPr lang="pt-BR" sz="2400" dirty="0"/>
              <a:t>A Substituição Tributária constitui-se como regime de tributação que assegura arrecadação mais eficiente e possibilita racionalizar a fiscalização do cumprimento das obrigações tributárias pelos contribuintes.</a:t>
            </a:r>
            <a:endParaRPr lang="pt-BR" dirty="0"/>
          </a:p>
          <a:p>
            <a:pPr marL="0" indent="0">
              <a:buNone/>
            </a:pPr>
            <a:endParaRPr lang="pt-BR" dirty="0"/>
          </a:p>
        </p:txBody>
      </p:sp>
    </p:spTree>
    <p:extLst>
      <p:ext uri="{BB962C8B-B14F-4D97-AF65-F5344CB8AC3E}">
        <p14:creationId xmlns:p14="http://schemas.microsoft.com/office/powerpoint/2010/main" val="3026184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4400" b="1" dirty="0" smtClean="0">
                <a:latin typeface="Bookman Old Style" panose="02050604050505020204" pitchFamily="18" charset="0"/>
              </a:rPr>
              <a:t>Ainda na definição...</a:t>
            </a:r>
            <a:endParaRPr lang="pt-BR" sz="4400"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a:bodyPr>
          <a:lstStyle/>
          <a:p>
            <a:pPr marL="0" lvl="0" indent="0" algn="just" eaLnBrk="0" fontAlgn="base" hangingPunct="0">
              <a:lnSpc>
                <a:spcPct val="150000"/>
              </a:lnSpc>
              <a:spcBef>
                <a:spcPct val="0"/>
              </a:spcBef>
              <a:spcAft>
                <a:spcPct val="0"/>
              </a:spcAft>
              <a:buNone/>
            </a:pPr>
            <a:r>
              <a:rPr lang="pt-BR" sz="2400" dirty="0" smtClean="0"/>
              <a:t>A </a:t>
            </a:r>
            <a:r>
              <a:rPr lang="pt-BR" sz="2400" dirty="0"/>
              <a:t>Substituição Tributária pode ser conceituada como sendo o regime pelo qual a </a:t>
            </a:r>
            <a:r>
              <a:rPr lang="pt-BR" sz="2400" dirty="0">
                <a:solidFill>
                  <a:srgbClr val="0000FF"/>
                </a:solidFill>
              </a:rPr>
              <a:t>responsabilidade pelo ICMS </a:t>
            </a:r>
            <a:r>
              <a:rPr lang="pt-BR" sz="2400" dirty="0"/>
              <a:t>devido em relação às operações ou prestações de serviços </a:t>
            </a:r>
            <a:r>
              <a:rPr lang="pt-BR" sz="2400" dirty="0">
                <a:solidFill>
                  <a:srgbClr val="0000FF"/>
                </a:solidFill>
              </a:rPr>
              <a:t>é atribuída a outro contribuinte</a:t>
            </a:r>
            <a:r>
              <a:rPr lang="pt-BR" sz="2400" dirty="0"/>
              <a:t>.</a:t>
            </a:r>
            <a:endParaRPr lang="pt-BR" altLang="pt-BR" sz="2400" i="1" dirty="0"/>
          </a:p>
          <a:p>
            <a:endParaRPr lang="pt-BR" dirty="0"/>
          </a:p>
        </p:txBody>
      </p:sp>
    </p:spTree>
    <p:extLst>
      <p:ext uri="{BB962C8B-B14F-4D97-AF65-F5344CB8AC3E}">
        <p14:creationId xmlns:p14="http://schemas.microsoft.com/office/powerpoint/2010/main" val="25217141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Convênio x Protocolo</a:t>
            </a:r>
            <a:endParaRPr lang="pt-BR" dirty="0"/>
          </a:p>
        </p:txBody>
      </p:sp>
      <p:sp>
        <p:nvSpPr>
          <p:cNvPr id="3" name="Espaço Reservado para Conteúdo 2"/>
          <p:cNvSpPr>
            <a:spLocks noGrp="1"/>
          </p:cNvSpPr>
          <p:nvPr>
            <p:ph idx="1"/>
          </p:nvPr>
        </p:nvSpPr>
        <p:spPr>
          <a:xfrm>
            <a:off x="2589212" y="1905000"/>
            <a:ext cx="8915400" cy="4006222"/>
          </a:xfrm>
        </p:spPr>
        <p:txBody>
          <a:bodyPr>
            <a:noAutofit/>
          </a:bodyPr>
          <a:lstStyle/>
          <a:p>
            <a:pPr marL="0" indent="0" algn="just">
              <a:buNone/>
            </a:pPr>
            <a:r>
              <a:rPr lang="pt-BR" sz="2000" b="1" u="sng" dirty="0">
                <a:solidFill>
                  <a:schemeClr val="accent2">
                    <a:lumMod val="75000"/>
                  </a:schemeClr>
                </a:solidFill>
              </a:rPr>
              <a:t>Convênios</a:t>
            </a:r>
            <a:r>
              <a:rPr lang="pt-BR" sz="2000" dirty="0">
                <a:solidFill>
                  <a:srgbClr val="C00000"/>
                </a:solidFill>
              </a:rPr>
              <a:t> </a:t>
            </a:r>
            <a:r>
              <a:rPr lang="pt-BR" sz="2000" dirty="0"/>
              <a:t>são atos assinados por todos os representantes de cada um dos Estados e do Distrito Federal, que deliberam sobre a concessão de benefícios, incentivos fiscais e regimes de tributação que terão aplicação no âmbito interno de cada ente federativo e também no âmbito interestadual.</a:t>
            </a:r>
          </a:p>
          <a:p>
            <a:pPr algn="just"/>
            <a:endParaRPr lang="pt-BR" sz="2000" dirty="0"/>
          </a:p>
          <a:p>
            <a:pPr marL="0" indent="0" algn="just">
              <a:buNone/>
            </a:pPr>
            <a:r>
              <a:rPr lang="pt-BR" sz="2000" b="1" u="sng" dirty="0" smtClean="0">
                <a:solidFill>
                  <a:schemeClr val="accent2">
                    <a:lumMod val="75000"/>
                  </a:schemeClr>
                </a:solidFill>
              </a:rPr>
              <a:t>Protocolos</a:t>
            </a:r>
            <a:r>
              <a:rPr lang="pt-BR" sz="2000" dirty="0" smtClean="0">
                <a:solidFill>
                  <a:srgbClr val="C00000"/>
                </a:solidFill>
              </a:rPr>
              <a:t> </a:t>
            </a:r>
            <a:r>
              <a:rPr lang="pt-BR" sz="2000" dirty="0"/>
              <a:t>são atos assinados apenas por alguns dos Estados, para determinar a aplicação de benefícios, incentivos fiscais e regimes de tributação, nas operações e prestações internas e interestaduais.</a:t>
            </a:r>
          </a:p>
          <a:p>
            <a:pPr marL="0" indent="0">
              <a:buNone/>
            </a:pPr>
            <a:r>
              <a:rPr lang="pt-BR" sz="2000" dirty="0" smtClean="0">
                <a:latin typeface="Bookman Old Style" panose="02050604050505020204" pitchFamily="18" charset="0"/>
              </a:rPr>
              <a:t> </a:t>
            </a:r>
          </a:p>
        </p:txBody>
      </p:sp>
    </p:spTree>
    <p:extLst>
      <p:ext uri="{BB962C8B-B14F-4D97-AF65-F5344CB8AC3E}">
        <p14:creationId xmlns:p14="http://schemas.microsoft.com/office/powerpoint/2010/main" val="21977551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Substituição na CF/88</a:t>
            </a:r>
            <a:endParaRPr lang="pt-BR" dirty="0"/>
          </a:p>
        </p:txBody>
      </p:sp>
      <p:sp>
        <p:nvSpPr>
          <p:cNvPr id="3" name="Espaço Reservado para Conteúdo 2"/>
          <p:cNvSpPr>
            <a:spLocks noGrp="1"/>
          </p:cNvSpPr>
          <p:nvPr>
            <p:ph idx="1"/>
          </p:nvPr>
        </p:nvSpPr>
        <p:spPr>
          <a:xfrm>
            <a:off x="2391990" y="2133600"/>
            <a:ext cx="8915400" cy="3777622"/>
          </a:xfrm>
        </p:spPr>
        <p:txBody>
          <a:bodyPr>
            <a:normAutofit/>
          </a:bodyPr>
          <a:lstStyle/>
          <a:p>
            <a:pPr marL="0" indent="0" algn="just">
              <a:buNone/>
            </a:pPr>
            <a:r>
              <a:rPr lang="pt-BR" sz="2000" dirty="0"/>
              <a:t>Em face da </a:t>
            </a:r>
            <a:r>
              <a:rPr lang="pt-BR" sz="2000" b="1" dirty="0"/>
              <a:t>eficiência</a:t>
            </a:r>
            <a:r>
              <a:rPr lang="pt-BR" sz="2000" dirty="0"/>
              <a:t> desse instituto, uma vez que a sua aplicação fez diminuir a evasão fiscal e facilitou a fiscalização, a atual </a:t>
            </a:r>
            <a:r>
              <a:rPr lang="pt-BR" sz="2000" i="1" dirty="0"/>
              <a:t>Constituição Federal, no seu artigo 150, parágrafo 7º, incorporou-o definitivamente e a Lei Complementar nº 87/96 </a:t>
            </a:r>
            <a:r>
              <a:rPr lang="pt-BR" sz="2000" dirty="0"/>
              <a:t>veio a legitimá-la</a:t>
            </a:r>
            <a:r>
              <a:rPr lang="pt-BR" sz="2000" dirty="0" smtClean="0"/>
              <a:t>:</a:t>
            </a:r>
          </a:p>
          <a:p>
            <a:pPr marL="0" indent="0" algn="just">
              <a:buNone/>
            </a:pPr>
            <a:endParaRPr lang="pt-BR" sz="2000" dirty="0">
              <a:latin typeface="Bookman Old Style" panose="02050604050505020204" pitchFamily="18" charset="0"/>
            </a:endParaRPr>
          </a:p>
          <a:p>
            <a:pPr marL="0" indent="0" algn="just">
              <a:buNone/>
            </a:pPr>
            <a:r>
              <a:rPr lang="pt-BR" sz="2000" b="1" i="1" dirty="0"/>
              <a:t>§ 7º </a:t>
            </a:r>
            <a:r>
              <a:rPr lang="pt-BR" sz="2000" i="1" dirty="0"/>
              <a:t>A lei poderá atribuir a sujeito passivo de obrigação tributária a condição de responsável pelo pagamento de imposto ou contribuição, cujo fato gerador deva ocorrer posteriormente, assegurada a imediata e preferencial restituição da quantia paga, caso não se realize o fato gerador presumido.</a:t>
            </a:r>
            <a:endParaRPr lang="pt-BR" sz="2000" dirty="0">
              <a:latin typeface="Bookman Old Style" panose="02050604050505020204" pitchFamily="18" charset="0"/>
            </a:endParaRPr>
          </a:p>
        </p:txBody>
      </p:sp>
    </p:spTree>
    <p:extLst>
      <p:ext uri="{BB962C8B-B14F-4D97-AF65-F5344CB8AC3E}">
        <p14:creationId xmlns:p14="http://schemas.microsoft.com/office/powerpoint/2010/main" val="37971945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Participantes da Substituição Tributária</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a:bodyPr>
          <a:lstStyle/>
          <a:p>
            <a:pPr marL="0" indent="0" algn="just">
              <a:buNone/>
            </a:pPr>
            <a:r>
              <a:rPr lang="pt-BR" sz="2000" b="1" dirty="0" smtClean="0">
                <a:latin typeface="Bookman Old Style" panose="02050604050505020204" pitchFamily="18" charset="0"/>
              </a:rPr>
              <a:t>Substituto</a:t>
            </a:r>
          </a:p>
          <a:p>
            <a:pPr marL="0" indent="0" algn="just">
              <a:buNone/>
            </a:pPr>
            <a:endParaRPr lang="pt-BR" sz="2000" b="1" dirty="0" smtClean="0">
              <a:latin typeface="Bookman Old Style" panose="02050604050505020204" pitchFamily="18" charset="0"/>
            </a:endParaRPr>
          </a:p>
          <a:p>
            <a:pPr marL="0" indent="0" algn="just">
              <a:buNone/>
            </a:pPr>
            <a:r>
              <a:rPr lang="pt-BR" sz="2000" dirty="0"/>
              <a:t>É o responsável pela retenção e recolhimento do imposto incidente em operações ou prestações antecedentes, concomitantes ou subsequentes, inclusive do valor decorrente da diferença entre as alíquotas interna e interestadual nas operações e prestações de destinem mercadorias e serviços a consumidor final. Em regra geral será o fabricante ou importador no que se refere às operações </a:t>
            </a:r>
            <a:r>
              <a:rPr lang="pt-BR" sz="2000" dirty="0" smtClean="0"/>
              <a:t>subsequentes.</a:t>
            </a:r>
            <a:endParaRPr lang="pt-BR" sz="2000" dirty="0"/>
          </a:p>
          <a:p>
            <a:pPr marL="0" indent="0" algn="just">
              <a:buNone/>
            </a:pPr>
            <a:endParaRPr lang="pt-BR" sz="2000" dirty="0">
              <a:latin typeface="Bookman Old Style" panose="02050604050505020204" pitchFamily="18" charset="0"/>
            </a:endParaRPr>
          </a:p>
        </p:txBody>
      </p:sp>
    </p:spTree>
    <p:extLst>
      <p:ext uri="{BB962C8B-B14F-4D97-AF65-F5344CB8AC3E}">
        <p14:creationId xmlns:p14="http://schemas.microsoft.com/office/powerpoint/2010/main" val="3887807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Participantes da Substituição Tributária</a:t>
            </a:r>
          </a:p>
        </p:txBody>
      </p:sp>
      <p:sp>
        <p:nvSpPr>
          <p:cNvPr id="3" name="Espaço Reservado para Conteúdo 2"/>
          <p:cNvSpPr>
            <a:spLocks noGrp="1"/>
          </p:cNvSpPr>
          <p:nvPr>
            <p:ph idx="1"/>
          </p:nvPr>
        </p:nvSpPr>
        <p:spPr/>
        <p:txBody>
          <a:bodyPr>
            <a:normAutofit lnSpcReduction="10000"/>
          </a:bodyPr>
          <a:lstStyle/>
          <a:p>
            <a:pPr marL="0" indent="0">
              <a:buNone/>
            </a:pPr>
            <a:r>
              <a:rPr lang="pt-BR" b="1" dirty="0" smtClean="0"/>
              <a:t>Substituído</a:t>
            </a:r>
          </a:p>
          <a:p>
            <a:pPr marL="0" indent="0">
              <a:buNone/>
            </a:pPr>
            <a:endParaRPr lang="pt-BR" dirty="0">
              <a:latin typeface="Bookman Old Style" panose="02050604050505020204" pitchFamily="18" charset="0"/>
            </a:endParaRPr>
          </a:p>
          <a:p>
            <a:pPr marL="0" indent="0">
              <a:buNone/>
            </a:pPr>
            <a:r>
              <a:rPr lang="pt-BR" dirty="0"/>
              <a:t>É aquele que tem o imposto devido relativo às operações e prestações de serviços pago pelo contribuinte substituto.</a:t>
            </a:r>
          </a:p>
          <a:p>
            <a:pPr marL="0" indent="0">
              <a:buNone/>
            </a:pPr>
            <a:endParaRPr lang="pt-BR" dirty="0">
              <a:latin typeface="Bookman Old Style" panose="02050604050505020204" pitchFamily="18" charset="0"/>
            </a:endParaRPr>
          </a:p>
          <a:p>
            <a:pPr marL="0" indent="0">
              <a:buNone/>
            </a:pPr>
            <a:r>
              <a:rPr lang="pt-BR" b="1" dirty="0" smtClean="0">
                <a:latin typeface="Bookman Old Style" panose="02050604050505020204" pitchFamily="18" charset="0"/>
              </a:rPr>
              <a:t>Responsável</a:t>
            </a:r>
          </a:p>
          <a:p>
            <a:pPr marL="0" indent="0">
              <a:buNone/>
            </a:pPr>
            <a:endParaRPr lang="pt-BR" dirty="0" smtClean="0">
              <a:latin typeface="Bookman Old Style" panose="02050604050505020204" pitchFamily="18" charset="0"/>
            </a:endParaRPr>
          </a:p>
          <a:p>
            <a:pPr marL="0" indent="0">
              <a:buNone/>
            </a:pPr>
            <a:r>
              <a:rPr lang="pt-BR" dirty="0"/>
              <a:t>O contribuinte que receber, de dentro ou de fora do Estado, mercadoria sujeita à substituição tributária, sem que tenha sido feita a retenção total na operação anterior, fica solidariamente responsável pelo recolhimento do imposto que deveria ter sido retido. </a:t>
            </a:r>
          </a:p>
          <a:p>
            <a:pPr marL="0" indent="0">
              <a:buNone/>
            </a:pPr>
            <a:endParaRPr lang="pt-BR" dirty="0">
              <a:latin typeface="Bookman Old Style" panose="02050604050505020204" pitchFamily="18" charset="0"/>
            </a:endParaRPr>
          </a:p>
          <a:p>
            <a:pPr marL="0" indent="0">
              <a:buNone/>
            </a:pPr>
            <a:endParaRPr lang="pt-BR" dirty="0">
              <a:latin typeface="Bookman Old Style" panose="02050604050505020204" pitchFamily="18" charset="0"/>
            </a:endParaRPr>
          </a:p>
        </p:txBody>
      </p:sp>
    </p:spTree>
    <p:extLst>
      <p:ext uri="{BB962C8B-B14F-4D97-AF65-F5344CB8AC3E}">
        <p14:creationId xmlns:p14="http://schemas.microsoft.com/office/powerpoint/2010/main" val="35091848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Responsável</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lnSpcReduction="10000"/>
          </a:bodyPr>
          <a:lstStyle/>
          <a:p>
            <a:pPr marL="0" indent="0" algn="just">
              <a:buNone/>
            </a:pPr>
            <a:r>
              <a:rPr lang="pt-BR" dirty="0"/>
              <a:t>Na hipótese de responsabilidade tributária em relação às operações ou prestações antecedentes, o imposto devido pelas referidas operações ou prestações será pago pelo responsável quando:</a:t>
            </a:r>
          </a:p>
          <a:p>
            <a:pPr marL="0" indent="0" algn="just">
              <a:buNone/>
            </a:pPr>
            <a:endParaRPr lang="pt-BR" dirty="0" smtClean="0"/>
          </a:p>
          <a:p>
            <a:pPr marL="0" lvl="0" indent="0" algn="just">
              <a:buNone/>
            </a:pPr>
            <a:r>
              <a:rPr lang="pt-BR" dirty="0" smtClean="0"/>
              <a:t>a</a:t>
            </a:r>
            <a:r>
              <a:rPr lang="pt-BR" dirty="0"/>
              <a:t>) da entrada ou recebimento da mercadoria ou serviço;</a:t>
            </a:r>
          </a:p>
          <a:p>
            <a:pPr marL="0" indent="0" algn="just">
              <a:buNone/>
            </a:pPr>
            <a:endParaRPr lang="pt-BR" dirty="0"/>
          </a:p>
          <a:p>
            <a:pPr marL="0" lvl="0" indent="0" algn="just">
              <a:buNone/>
            </a:pPr>
            <a:r>
              <a:rPr lang="pt-BR" dirty="0" smtClean="0"/>
              <a:t>b</a:t>
            </a:r>
            <a:r>
              <a:rPr lang="pt-BR" dirty="0"/>
              <a:t>) da saída subsequente por ele promovida, ainda que isenta ou não-tributada;</a:t>
            </a:r>
          </a:p>
          <a:p>
            <a:pPr marL="0" indent="0" algn="just">
              <a:buNone/>
            </a:pPr>
            <a:endParaRPr lang="pt-BR" dirty="0"/>
          </a:p>
          <a:p>
            <a:pPr marL="0" lvl="0" indent="0" algn="just">
              <a:buNone/>
            </a:pPr>
            <a:r>
              <a:rPr lang="pt-BR" dirty="0" smtClean="0"/>
              <a:t>c</a:t>
            </a:r>
            <a:r>
              <a:rPr lang="pt-BR" dirty="0"/>
              <a:t>) ocorrer qualquer saída ou evento que impossibilite a ocorrência do fato determinante do pagamento do imposto.</a:t>
            </a:r>
          </a:p>
          <a:p>
            <a:pPr marL="0" indent="0">
              <a:buNone/>
            </a:pPr>
            <a:endParaRPr lang="pt-BR" dirty="0"/>
          </a:p>
          <a:p>
            <a:pPr marL="0" indent="0">
              <a:buNone/>
            </a:pPr>
            <a:endParaRPr lang="pt-BR" dirty="0"/>
          </a:p>
        </p:txBody>
      </p:sp>
    </p:spTree>
    <p:extLst>
      <p:ext uri="{BB962C8B-B14F-4D97-AF65-F5344CB8AC3E}">
        <p14:creationId xmlns:p14="http://schemas.microsoft.com/office/powerpoint/2010/main" val="3226499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Operação antecedente</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a:bodyPr>
          <a:lstStyle/>
          <a:p>
            <a:pPr marL="0" indent="0" algn="just">
              <a:buNone/>
            </a:pPr>
            <a:r>
              <a:rPr lang="pt-BR" sz="2200" dirty="0"/>
              <a:t>É a modalidade de substituição tributária em que o recolhimento do imposto devido pelo remetente da mercadoria fica sob a responsabilidade do adquirente, nos termos dos artigos </a:t>
            </a:r>
            <a:r>
              <a:rPr lang="pt-BR" sz="2200" dirty="0" smtClean="0"/>
              <a:t>337 </a:t>
            </a:r>
            <a:r>
              <a:rPr lang="pt-BR" sz="2200" dirty="0"/>
              <a:t>a </a:t>
            </a:r>
            <a:r>
              <a:rPr lang="pt-BR" sz="2200" dirty="0" smtClean="0"/>
              <a:t>345 </a:t>
            </a:r>
            <a:r>
              <a:rPr lang="pt-BR" sz="2200" dirty="0"/>
              <a:t>do </a:t>
            </a:r>
            <a:r>
              <a:rPr lang="pt-BR" sz="2200" dirty="0" smtClean="0"/>
              <a:t>Decreto 18955/1997.</a:t>
            </a:r>
            <a:endParaRPr lang="pt-BR" sz="2200" dirty="0"/>
          </a:p>
          <a:p>
            <a:pPr marL="0" indent="0" algn="just">
              <a:buNone/>
            </a:pPr>
            <a:r>
              <a:rPr lang="pt-BR" dirty="0">
                <a:latin typeface="Bookman Old Style" panose="02050604050505020204" pitchFamily="18" charset="0"/>
              </a:rPr>
              <a:t>	</a:t>
            </a:r>
            <a:endParaRPr lang="pt-BR" dirty="0" smtClean="0">
              <a:latin typeface="Bookman Old Style" panose="02050604050505020204" pitchFamily="18" charset="0"/>
            </a:endParaRPr>
          </a:p>
        </p:txBody>
      </p:sp>
    </p:spTree>
    <p:extLst>
      <p:ext uri="{BB962C8B-B14F-4D97-AF65-F5344CB8AC3E}">
        <p14:creationId xmlns:p14="http://schemas.microsoft.com/office/powerpoint/2010/main" val="8557036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Aplicabilidade</a:t>
            </a:r>
            <a:endParaRPr lang="pt-BR" b="1" dirty="0"/>
          </a:p>
        </p:txBody>
      </p:sp>
      <p:sp>
        <p:nvSpPr>
          <p:cNvPr id="3" name="Espaço Reservado para Conteúdo 2"/>
          <p:cNvSpPr>
            <a:spLocks noGrp="1"/>
          </p:cNvSpPr>
          <p:nvPr>
            <p:ph idx="1"/>
          </p:nvPr>
        </p:nvSpPr>
        <p:spPr/>
        <p:txBody>
          <a:bodyPr/>
          <a:lstStyle/>
          <a:p>
            <a:pPr marL="0" indent="0" algn="just">
              <a:buNone/>
            </a:pPr>
            <a:r>
              <a:rPr lang="pt-BR" sz="2000" dirty="0"/>
              <a:t>Aplica-se nas operações internas e interestaduais em relação às operações subsequentes a serem realizadas pelos contribuintes substituídos.</a:t>
            </a:r>
          </a:p>
          <a:p>
            <a:pPr algn="just"/>
            <a:endParaRPr lang="pt-BR" sz="2000" dirty="0"/>
          </a:p>
          <a:p>
            <a:pPr marL="0" indent="0" algn="just">
              <a:buNone/>
            </a:pPr>
            <a:r>
              <a:rPr lang="pt-BR" sz="2000" dirty="0"/>
              <a:t>Ressalte-se que, nas operações interestaduais, em relação a algumas mercadorias, a sujeição ocorre, também, quanto às entradas para uso e consumo ou ativo imobilizado desde que o destinatário das mercadorias seja contribuinte do ICMS e nestes casos não incidirá na operação a margem presumida, pré-definida pelo Governo, na base de cálculo do regime da ST. </a:t>
            </a:r>
          </a:p>
          <a:p>
            <a:pPr marL="0" indent="0">
              <a:buNone/>
            </a:pPr>
            <a:endParaRPr lang="pt-BR" dirty="0" smtClean="0">
              <a:latin typeface="Bookman Old Style" panose="02050604050505020204" pitchFamily="18" charset="0"/>
            </a:endParaRPr>
          </a:p>
        </p:txBody>
      </p:sp>
    </p:spTree>
    <p:extLst>
      <p:ext uri="{BB962C8B-B14F-4D97-AF65-F5344CB8AC3E}">
        <p14:creationId xmlns:p14="http://schemas.microsoft.com/office/powerpoint/2010/main" val="26120122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Não aplicabilidade</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fontScale="92500" lnSpcReduction="10000"/>
          </a:bodyPr>
          <a:lstStyle/>
          <a:p>
            <a:pPr marL="0" indent="0" algn="just">
              <a:buNone/>
            </a:pPr>
            <a:r>
              <a:rPr lang="pt-BR" sz="2000" b="1" dirty="0"/>
              <a:t>Não se aplica a Substituição Tributária:</a:t>
            </a:r>
          </a:p>
          <a:p>
            <a:pPr marL="0" indent="0" algn="just">
              <a:buNone/>
            </a:pPr>
            <a:r>
              <a:rPr lang="pt-BR" sz="2000" dirty="0"/>
              <a:t> </a:t>
            </a:r>
          </a:p>
          <a:p>
            <a:pPr marL="0" lvl="0" indent="0" algn="just">
              <a:buNone/>
            </a:pPr>
            <a:r>
              <a:rPr lang="pt-BR" sz="2000" dirty="0" smtClean="0"/>
              <a:t>a</a:t>
            </a:r>
            <a:r>
              <a:rPr lang="pt-BR" sz="2000" dirty="0"/>
              <a:t>) às operações que destinem mercadorias a sujeito passivo por substituição da mesma mercadoria. </a:t>
            </a:r>
            <a:r>
              <a:rPr lang="pt-BR" sz="2000" i="1" dirty="0">
                <a:solidFill>
                  <a:srgbClr val="C00000"/>
                </a:solidFill>
              </a:rPr>
              <a:t>Ex.: saída de fabricante de </a:t>
            </a:r>
            <a:r>
              <a:rPr lang="pt-BR" sz="2000" i="1" dirty="0" smtClean="0">
                <a:solidFill>
                  <a:srgbClr val="C00000"/>
                </a:solidFill>
              </a:rPr>
              <a:t>monitor </a:t>
            </a:r>
            <a:r>
              <a:rPr lang="pt-BR" sz="2000" i="1" dirty="0">
                <a:solidFill>
                  <a:srgbClr val="C00000"/>
                </a:solidFill>
              </a:rPr>
              <a:t>para outra indústria de </a:t>
            </a:r>
            <a:r>
              <a:rPr lang="pt-BR" sz="2000" i="1" dirty="0" smtClean="0">
                <a:solidFill>
                  <a:srgbClr val="C00000"/>
                </a:solidFill>
              </a:rPr>
              <a:t>monitor;</a:t>
            </a:r>
            <a:endParaRPr lang="pt-BR" sz="2000" i="1" dirty="0">
              <a:solidFill>
                <a:srgbClr val="C00000"/>
              </a:solidFill>
            </a:endParaRPr>
          </a:p>
          <a:p>
            <a:pPr marL="0" lvl="0" indent="0" algn="just">
              <a:buNone/>
            </a:pPr>
            <a:endParaRPr lang="pt-BR" sz="2000" dirty="0" smtClean="0">
              <a:solidFill>
                <a:srgbClr val="C00000"/>
              </a:solidFill>
            </a:endParaRPr>
          </a:p>
          <a:p>
            <a:pPr marL="0" lvl="0" indent="0" algn="just">
              <a:buNone/>
            </a:pPr>
            <a:r>
              <a:rPr lang="pt-BR" sz="2000" dirty="0" smtClean="0"/>
              <a:t>b</a:t>
            </a:r>
            <a:r>
              <a:rPr lang="pt-BR" sz="2000" dirty="0"/>
              <a:t>) às transferências para outro estabelecimento, exceto varejista, do sujeito passivo por substituição, hipótese em que a responsabilidade pela retenção e recolhimento do imposto recairá sobre o estabelecimento que promover a saída da mercadoria com destino a empresa diversa;</a:t>
            </a:r>
          </a:p>
          <a:p>
            <a:pPr marL="0" indent="0">
              <a:buNone/>
            </a:pPr>
            <a:r>
              <a:rPr lang="pt-BR" sz="2000" dirty="0">
                <a:latin typeface="Bookman Old Style" panose="02050604050505020204" pitchFamily="18" charset="0"/>
              </a:rPr>
              <a:t>	</a:t>
            </a:r>
            <a:r>
              <a:rPr lang="pt-BR" sz="2000" dirty="0" smtClean="0">
                <a:latin typeface="Bookman Old Style" panose="02050604050505020204" pitchFamily="18" charset="0"/>
              </a:rPr>
              <a:t> </a:t>
            </a:r>
          </a:p>
          <a:p>
            <a:pPr marL="0" indent="0">
              <a:buNone/>
            </a:pPr>
            <a:endParaRPr lang="pt-BR" dirty="0"/>
          </a:p>
        </p:txBody>
      </p:sp>
    </p:spTree>
    <p:extLst>
      <p:ext uri="{BB962C8B-B14F-4D97-AF65-F5344CB8AC3E}">
        <p14:creationId xmlns:p14="http://schemas.microsoft.com/office/powerpoint/2010/main" val="37618558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Não aplicabilidade</a:t>
            </a:r>
            <a:endParaRPr lang="pt-BR" b="1" dirty="0"/>
          </a:p>
        </p:txBody>
      </p:sp>
      <p:sp>
        <p:nvSpPr>
          <p:cNvPr id="3" name="Espaço Reservado para Conteúdo 2"/>
          <p:cNvSpPr>
            <a:spLocks noGrp="1"/>
          </p:cNvSpPr>
          <p:nvPr>
            <p:ph idx="1"/>
          </p:nvPr>
        </p:nvSpPr>
        <p:spPr/>
        <p:txBody>
          <a:bodyPr>
            <a:normAutofit/>
          </a:bodyPr>
          <a:lstStyle/>
          <a:p>
            <a:pPr marL="0" indent="0" algn="just">
              <a:buNone/>
            </a:pPr>
            <a:r>
              <a:rPr lang="pt-BR" dirty="0"/>
              <a:t>c) na saída para consumidor final, salvo se a operação for interestadual e o destinatário contribuinte do ICMS, uma vez que, como me referi no subitem acima, alguns Protocolos/Convênios que dispõe sobre o regime da Substituição Tributária atribuem a responsabilidade ao remetente em relação à entrada para uso e consumo ou ativo imobilizado, ou seja, em relação ao diferencial de alíquotas. </a:t>
            </a:r>
          </a:p>
          <a:p>
            <a:pPr marL="0" indent="0" algn="just">
              <a:buNone/>
            </a:pPr>
            <a:endParaRPr lang="pt-BR" dirty="0" smtClean="0"/>
          </a:p>
          <a:p>
            <a:pPr marL="0" indent="0" algn="just">
              <a:buNone/>
            </a:pPr>
            <a:r>
              <a:rPr lang="pt-BR" dirty="0" smtClean="0"/>
              <a:t>d</a:t>
            </a:r>
            <a:r>
              <a:rPr lang="pt-BR" dirty="0"/>
              <a:t>) à operação que destinar mercadoria para utilização em processo de industrialização.</a:t>
            </a:r>
          </a:p>
          <a:p>
            <a:pPr marL="0" indent="0" algn="just">
              <a:buNone/>
            </a:pPr>
            <a:endParaRPr lang="pt-BR" dirty="0">
              <a:latin typeface="Bookman Old Style" panose="02050604050505020204" pitchFamily="18" charset="0"/>
            </a:endParaRPr>
          </a:p>
          <a:p>
            <a:endParaRPr lang="pt-BR" dirty="0"/>
          </a:p>
        </p:txBody>
      </p:sp>
    </p:spTree>
    <p:extLst>
      <p:ext uri="{BB962C8B-B14F-4D97-AF65-F5344CB8AC3E}">
        <p14:creationId xmlns:p14="http://schemas.microsoft.com/office/powerpoint/2010/main" val="36343736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Mercadorias Sujeitas ao Regime da Substituição Tributária</a:t>
            </a:r>
            <a:endParaRPr lang="pt-BR" dirty="0"/>
          </a:p>
        </p:txBody>
      </p:sp>
      <p:sp>
        <p:nvSpPr>
          <p:cNvPr id="3" name="Espaço Reservado para Conteúdo 2"/>
          <p:cNvSpPr>
            <a:spLocks noGrp="1"/>
          </p:cNvSpPr>
          <p:nvPr>
            <p:ph idx="1"/>
          </p:nvPr>
        </p:nvSpPr>
        <p:spPr>
          <a:xfrm>
            <a:off x="2592925" y="2152261"/>
            <a:ext cx="8915400" cy="3777622"/>
          </a:xfrm>
        </p:spPr>
        <p:txBody>
          <a:bodyPr>
            <a:normAutofit/>
          </a:bodyPr>
          <a:lstStyle/>
          <a:p>
            <a:pPr marL="0" indent="0">
              <a:buNone/>
            </a:pPr>
            <a:r>
              <a:rPr lang="pt-BR" sz="2200" dirty="0">
                <a:latin typeface="Bookman Old Style" panose="02050604050505020204" pitchFamily="18" charset="0"/>
              </a:rPr>
              <a:t>Decreto 18955 - RICMS-97 - Anexo 04 Caderno 01 - </a:t>
            </a:r>
            <a:r>
              <a:rPr lang="pt-BR" sz="2200" dirty="0" smtClean="0">
                <a:latin typeface="Bookman Old Style" panose="02050604050505020204" pitchFamily="18" charset="0"/>
              </a:rPr>
              <a:t>Substituição Tributária </a:t>
            </a:r>
            <a:r>
              <a:rPr lang="pt-BR" sz="2200" dirty="0">
                <a:latin typeface="Bookman Old Style" panose="02050604050505020204" pitchFamily="18" charset="0"/>
              </a:rPr>
              <a:t>- Operações </a:t>
            </a:r>
            <a:r>
              <a:rPr lang="pt-BR" sz="2200" dirty="0" smtClean="0">
                <a:latin typeface="Bookman Old Style" panose="02050604050505020204" pitchFamily="18" charset="0"/>
              </a:rPr>
              <a:t>posteriores</a:t>
            </a:r>
          </a:p>
          <a:p>
            <a:pPr marL="0" indent="0">
              <a:buNone/>
            </a:pPr>
            <a:endParaRPr lang="pt-BR" sz="2200" dirty="0">
              <a:latin typeface="Bookman Old Style" panose="02050604050505020204" pitchFamily="18" charset="0"/>
            </a:endParaRPr>
          </a:p>
          <a:p>
            <a:pPr marL="0" indent="0">
              <a:buNone/>
            </a:pPr>
            <a:r>
              <a:rPr lang="pt-BR" sz="2200" dirty="0"/>
              <a:t>Decreto 18955 - RICMS-97 - Anexo IV Caderno III - </a:t>
            </a:r>
            <a:r>
              <a:rPr lang="pt-BR" sz="2200" dirty="0" smtClean="0"/>
              <a:t>Substituição Tributária </a:t>
            </a:r>
            <a:r>
              <a:rPr lang="pt-BR" sz="2200" dirty="0"/>
              <a:t>- operações internas</a:t>
            </a:r>
          </a:p>
        </p:txBody>
      </p:sp>
    </p:spTree>
    <p:extLst>
      <p:ext uri="{BB962C8B-B14F-4D97-AF65-F5344CB8AC3E}">
        <p14:creationId xmlns:p14="http://schemas.microsoft.com/office/powerpoint/2010/main" val="33082240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pt-BR" b="1" dirty="0" smtClean="0">
                <a:latin typeface="Bookman Old Style" panose="02050604050505020204" pitchFamily="18" charset="0"/>
              </a:rPr>
              <a:t>Operações Anteriores</a:t>
            </a:r>
            <a:endParaRPr lang="pt-BR" dirty="0"/>
          </a:p>
        </p:txBody>
      </p:sp>
      <p:sp>
        <p:nvSpPr>
          <p:cNvPr id="3" name="Espaço Reservado para Conteúdo 2"/>
          <p:cNvSpPr>
            <a:spLocks noGrp="1"/>
          </p:cNvSpPr>
          <p:nvPr>
            <p:ph idx="1"/>
          </p:nvPr>
        </p:nvSpPr>
        <p:spPr>
          <a:xfrm>
            <a:off x="2589212" y="1905000"/>
            <a:ext cx="8915400" cy="4059352"/>
          </a:xfrm>
        </p:spPr>
        <p:txBody>
          <a:bodyPr/>
          <a:lstStyle/>
          <a:p>
            <a:pPr marL="0" indent="0">
              <a:buNone/>
            </a:pPr>
            <a:r>
              <a:rPr lang="pt-BR" dirty="0"/>
              <a:t>Nesta hipótese de substituição tributária, a legislação atribui a determinado contribuinte a responsabilidade pelo pagamento do ICMS em relação às operações anteriores. Nesta espécie se encontra o diferimento do lançamento do imposto.</a:t>
            </a:r>
          </a:p>
          <a:p>
            <a:pPr marL="0" indent="0">
              <a:buNone/>
            </a:pPr>
            <a:endParaRPr lang="pt-BR" dirty="0"/>
          </a:p>
        </p:txBody>
      </p:sp>
      <p:sp>
        <p:nvSpPr>
          <p:cNvPr id="4" name="Retângulo de cantos arredondados 3"/>
          <p:cNvSpPr/>
          <p:nvPr/>
        </p:nvSpPr>
        <p:spPr>
          <a:xfrm>
            <a:off x="4547203" y="5642904"/>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6"/>
          </a:lnRef>
          <a:fillRef idx="3">
            <a:schemeClr val="accent6"/>
          </a:fillRef>
          <a:effectRef idx="3">
            <a:schemeClr val="accent6"/>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CONSUMIDOR FINAL</a:t>
            </a:r>
          </a:p>
        </p:txBody>
      </p:sp>
      <p:sp>
        <p:nvSpPr>
          <p:cNvPr id="5" name="Seta em curva para a direita 4"/>
          <p:cNvSpPr/>
          <p:nvPr/>
        </p:nvSpPr>
        <p:spPr>
          <a:xfrm flipH="1">
            <a:off x="7409928" y="5070570"/>
            <a:ext cx="428628" cy="857256"/>
          </a:xfrm>
          <a:prstGeom prst="curved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pt-BR">
              <a:solidFill>
                <a:schemeClr val="tx1"/>
              </a:solidFill>
            </a:endParaRPr>
          </a:p>
        </p:txBody>
      </p:sp>
      <p:sp>
        <p:nvSpPr>
          <p:cNvPr id="6" name="Retângulo de cantos arredondados 5"/>
          <p:cNvSpPr/>
          <p:nvPr/>
        </p:nvSpPr>
        <p:spPr>
          <a:xfrm>
            <a:off x="4547203" y="4891953"/>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COMÉRCIO VAREJISTA</a:t>
            </a:r>
          </a:p>
        </p:txBody>
      </p:sp>
      <p:sp>
        <p:nvSpPr>
          <p:cNvPr id="7" name="Seta em curva para a direita 6"/>
          <p:cNvSpPr/>
          <p:nvPr/>
        </p:nvSpPr>
        <p:spPr>
          <a:xfrm>
            <a:off x="4101064" y="4320449"/>
            <a:ext cx="428628" cy="857256"/>
          </a:xfrm>
          <a:prstGeom prst="curv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pt-BR">
              <a:solidFill>
                <a:schemeClr val="tx1"/>
              </a:solidFill>
            </a:endParaRPr>
          </a:p>
        </p:txBody>
      </p:sp>
      <p:sp>
        <p:nvSpPr>
          <p:cNvPr id="8" name="Retângulo de cantos arredondados 7"/>
          <p:cNvSpPr/>
          <p:nvPr/>
        </p:nvSpPr>
        <p:spPr>
          <a:xfrm>
            <a:off x="4570461" y="4126011"/>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COMÉRCIO ATACADISTA</a:t>
            </a:r>
          </a:p>
        </p:txBody>
      </p:sp>
      <p:sp>
        <p:nvSpPr>
          <p:cNvPr id="9" name="Seta em curva para a direita 8"/>
          <p:cNvSpPr/>
          <p:nvPr/>
        </p:nvSpPr>
        <p:spPr>
          <a:xfrm flipH="1">
            <a:off x="7404723" y="3607845"/>
            <a:ext cx="428628" cy="857256"/>
          </a:xfrm>
          <a:prstGeom prst="curved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pt-BR">
              <a:solidFill>
                <a:schemeClr val="tx1"/>
              </a:solidFill>
            </a:endParaRPr>
          </a:p>
        </p:txBody>
      </p:sp>
      <p:sp>
        <p:nvSpPr>
          <p:cNvPr id="10" name="Retângulo de cantos arredondados 9"/>
          <p:cNvSpPr/>
          <p:nvPr/>
        </p:nvSpPr>
        <p:spPr>
          <a:xfrm>
            <a:off x="4547203" y="3396152"/>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2"/>
          </a:lnRef>
          <a:fillRef idx="3">
            <a:schemeClr val="accent2"/>
          </a:fillRef>
          <a:effectRef idx="3">
            <a:schemeClr val="accent2"/>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INDÚSTRIA</a:t>
            </a:r>
          </a:p>
        </p:txBody>
      </p:sp>
      <p:sp>
        <p:nvSpPr>
          <p:cNvPr id="11" name="CaixaDeTexto 10"/>
          <p:cNvSpPr txBox="1"/>
          <p:nvPr/>
        </p:nvSpPr>
        <p:spPr>
          <a:xfrm>
            <a:off x="7605210" y="3622996"/>
            <a:ext cx="1000132" cy="323165"/>
          </a:xfrm>
          <a:prstGeom prst="rect">
            <a:avLst/>
          </a:prstGeom>
          <a:noFill/>
        </p:spPr>
        <p:txBody>
          <a:bodyPr wrap="square" rtlCol="0">
            <a:spAutoFit/>
          </a:bodyPr>
          <a:lstStyle/>
          <a:p>
            <a:pPr algn="ctr"/>
            <a:r>
              <a:rPr lang="pt-BR" sz="1500" b="1" dirty="0"/>
              <a:t>ICMS</a:t>
            </a:r>
          </a:p>
        </p:txBody>
      </p:sp>
      <p:sp>
        <p:nvSpPr>
          <p:cNvPr id="12" name="CaixaDeTexto 11"/>
          <p:cNvSpPr txBox="1"/>
          <p:nvPr/>
        </p:nvSpPr>
        <p:spPr>
          <a:xfrm>
            <a:off x="7833351" y="5750571"/>
            <a:ext cx="1000132" cy="323165"/>
          </a:xfrm>
          <a:prstGeom prst="rect">
            <a:avLst/>
          </a:prstGeom>
          <a:noFill/>
        </p:spPr>
        <p:txBody>
          <a:bodyPr wrap="square" rtlCol="0">
            <a:spAutoFit/>
          </a:bodyPr>
          <a:lstStyle/>
          <a:p>
            <a:pPr algn="ctr"/>
            <a:r>
              <a:rPr lang="pt-BR" sz="1500" b="1" dirty="0"/>
              <a:t>ICMS</a:t>
            </a:r>
          </a:p>
        </p:txBody>
      </p:sp>
      <p:sp>
        <p:nvSpPr>
          <p:cNvPr id="13" name="Elipse 12"/>
          <p:cNvSpPr/>
          <p:nvPr/>
        </p:nvSpPr>
        <p:spPr>
          <a:xfrm flipH="1" flipV="1">
            <a:off x="7869278" y="5535724"/>
            <a:ext cx="857256" cy="85725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pt-BR"/>
          </a:p>
        </p:txBody>
      </p:sp>
      <p:sp>
        <p:nvSpPr>
          <p:cNvPr id="14" name="CaixaDeTexto 13"/>
          <p:cNvSpPr txBox="1"/>
          <p:nvPr/>
        </p:nvSpPr>
        <p:spPr>
          <a:xfrm>
            <a:off x="7833351" y="5953969"/>
            <a:ext cx="1000132" cy="323165"/>
          </a:xfrm>
          <a:prstGeom prst="rect">
            <a:avLst/>
          </a:prstGeom>
          <a:noFill/>
        </p:spPr>
        <p:txBody>
          <a:bodyPr wrap="square" rtlCol="0">
            <a:spAutoFit/>
          </a:bodyPr>
          <a:lstStyle/>
          <a:p>
            <a:pPr algn="ctr"/>
            <a:r>
              <a:rPr lang="pt-BR" sz="1500" b="1" dirty="0"/>
              <a:t>ICMS</a:t>
            </a:r>
          </a:p>
        </p:txBody>
      </p:sp>
      <p:sp>
        <p:nvSpPr>
          <p:cNvPr id="17" name="Texto explicativo em seta para a esquerda 16"/>
          <p:cNvSpPr/>
          <p:nvPr/>
        </p:nvSpPr>
        <p:spPr>
          <a:xfrm>
            <a:off x="7404723" y="4126785"/>
            <a:ext cx="2500330" cy="571504"/>
          </a:xfrm>
          <a:prstGeom prst="leftArrowCallout">
            <a:avLst/>
          </a:prstGeom>
          <a:solidFill>
            <a:schemeClr val="accent5">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2000" b="1" dirty="0" smtClean="0">
                <a:effectLst>
                  <a:outerShdw blurRad="38100" dist="38100" dir="2700000" algn="tl">
                    <a:srgbClr val="000000">
                      <a:alpha val="43137"/>
                    </a:srgbClr>
                  </a:outerShdw>
                </a:effectLst>
              </a:rPr>
              <a:t>Substituído</a:t>
            </a:r>
            <a:endParaRPr lang="pt-BR" sz="2000" b="1" dirty="0">
              <a:effectLst>
                <a:outerShdw blurRad="38100" dist="38100" dir="2700000" algn="tl">
                  <a:srgbClr val="000000">
                    <a:alpha val="43137"/>
                  </a:srgbClr>
                </a:outerShdw>
              </a:effectLst>
            </a:endParaRPr>
          </a:p>
        </p:txBody>
      </p:sp>
      <p:sp>
        <p:nvSpPr>
          <p:cNvPr id="18" name="Texto explicativo em seta para a esquerda 17"/>
          <p:cNvSpPr/>
          <p:nvPr/>
        </p:nvSpPr>
        <p:spPr>
          <a:xfrm>
            <a:off x="7404723" y="4927694"/>
            <a:ext cx="2500330" cy="571504"/>
          </a:xfrm>
          <a:prstGeom prst="leftArrowCallout">
            <a:avLst/>
          </a:prstGeom>
          <a:solidFill>
            <a:schemeClr val="accent5">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2000" b="1" dirty="0" smtClean="0">
                <a:effectLst>
                  <a:outerShdw blurRad="38100" dist="38100" dir="2700000" algn="tl">
                    <a:srgbClr val="000000">
                      <a:alpha val="43137"/>
                    </a:srgbClr>
                  </a:outerShdw>
                </a:effectLst>
              </a:rPr>
              <a:t>Substituto</a:t>
            </a:r>
            <a:endParaRPr lang="pt-BR"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6420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1000"/>
                                        <p:tgtEl>
                                          <p:spTgt spid="9"/>
                                        </p:tgtEl>
                                      </p:cBhvr>
                                    </p:animEffect>
                                  </p:childTnLst>
                                </p:cTn>
                              </p:par>
                            </p:childTnLst>
                          </p:cTn>
                        </p:par>
                        <p:par>
                          <p:cTn id="12" fill="hold">
                            <p:stCondLst>
                              <p:cond delay="2000"/>
                            </p:stCondLst>
                            <p:childTnLst>
                              <p:par>
                                <p:cTn id="13" presetID="22" presetClass="entr" presetSubtype="2"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1000"/>
                                        <p:tgtEl>
                                          <p:spTgt spid="11"/>
                                        </p:tgtEl>
                                      </p:cBhvr>
                                    </p:animEffect>
                                  </p:childTnLst>
                                </p:cTn>
                              </p:par>
                            </p:childTnLst>
                          </p:cTn>
                        </p:par>
                        <p:par>
                          <p:cTn id="20" fill="hold">
                            <p:stCondLst>
                              <p:cond delay="4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1000"/>
                                        <p:tgtEl>
                                          <p:spTgt spid="7"/>
                                        </p:tgtEl>
                                      </p:cBhvr>
                                    </p:animEffect>
                                  </p:childTnLst>
                                </p:cTn>
                              </p:par>
                            </p:childTnLst>
                          </p:cTn>
                        </p:par>
                        <p:par>
                          <p:cTn id="24" fill="hold">
                            <p:stCondLst>
                              <p:cond delay="500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1000"/>
                                        <p:tgtEl>
                                          <p:spTgt spid="6"/>
                                        </p:tgtEl>
                                      </p:cBhvr>
                                    </p:animEffect>
                                  </p:childTnLst>
                                </p:cTn>
                              </p:par>
                            </p:childTnLst>
                          </p:cTn>
                        </p:par>
                        <p:par>
                          <p:cTn id="28" fill="hold">
                            <p:stCondLst>
                              <p:cond delay="6000"/>
                            </p:stCondLst>
                            <p:childTnLst>
                              <p:par>
                                <p:cTn id="29" presetID="22" presetClass="entr" presetSubtype="8"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1000"/>
                                        <p:tgtEl>
                                          <p:spTgt spid="12"/>
                                        </p:tgtEl>
                                      </p:cBhvr>
                                    </p:animEffect>
                                  </p:childTnLst>
                                </p:cTn>
                              </p:par>
                            </p:childTnLst>
                          </p:cTn>
                        </p:par>
                        <p:par>
                          <p:cTn id="32" fill="hold">
                            <p:stCondLst>
                              <p:cond delay="7000"/>
                            </p:stCondLst>
                            <p:childTnLst>
                              <p:par>
                                <p:cTn id="33" presetID="22" presetClass="entr" presetSubtype="1"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1000"/>
                                        <p:tgtEl>
                                          <p:spTgt spid="5"/>
                                        </p:tgtEl>
                                      </p:cBhvr>
                                    </p:animEffect>
                                  </p:childTnLst>
                                </p:cTn>
                              </p:par>
                            </p:childTnLst>
                          </p:cTn>
                        </p:par>
                        <p:par>
                          <p:cTn id="36" fill="hold">
                            <p:stCondLst>
                              <p:cond delay="8000"/>
                            </p:stCondLst>
                            <p:childTnLst>
                              <p:par>
                                <p:cTn id="37" presetID="22" presetClass="entr" presetSubtype="2"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right)">
                                      <p:cBhvr>
                                        <p:cTn id="39" dur="1000"/>
                                        <p:tgtEl>
                                          <p:spTgt spid="4"/>
                                        </p:tgtEl>
                                      </p:cBhvr>
                                    </p:animEffect>
                                  </p:childTnLst>
                                </p:cTn>
                              </p:par>
                            </p:childTnLst>
                          </p:cTn>
                        </p:par>
                        <p:par>
                          <p:cTn id="40" fill="hold">
                            <p:stCondLst>
                              <p:cond delay="9000"/>
                            </p:stCondLst>
                            <p:childTnLst>
                              <p:par>
                                <p:cTn id="41" presetID="22" presetClass="entr" presetSubtype="2"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right)">
                                      <p:cBhvr>
                                        <p:cTn id="43" dur="1000"/>
                                        <p:tgtEl>
                                          <p:spTgt spid="14"/>
                                        </p:tgtEl>
                                      </p:cBhvr>
                                    </p:animEffect>
                                  </p:childTnLst>
                                </p:cTn>
                              </p:par>
                            </p:childTnLst>
                          </p:cTn>
                        </p:par>
                        <p:par>
                          <p:cTn id="44" fill="hold">
                            <p:stCondLst>
                              <p:cond delay="10000"/>
                            </p:stCondLst>
                            <p:childTnLst>
                              <p:par>
                                <p:cTn id="45" presetID="22" presetClass="entr" presetSubtype="2"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right)">
                                      <p:cBhvr>
                                        <p:cTn id="47" dur="10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xit" presetSubtype="4" fill="hold" grpId="1" nodeType="clickEffect">
                                  <p:stCondLst>
                                    <p:cond delay="0"/>
                                  </p:stCondLst>
                                  <p:childTnLst>
                                    <p:animEffect transition="out" filter="wipe(down)">
                                      <p:cBhvr>
                                        <p:cTn id="51" dur="500"/>
                                        <p:tgtEl>
                                          <p:spTgt spid="4"/>
                                        </p:tgtEl>
                                      </p:cBhvr>
                                    </p:animEffect>
                                    <p:set>
                                      <p:cBhvr>
                                        <p:cTn id="52" dur="1" fill="hold">
                                          <p:stCondLst>
                                            <p:cond delay="499"/>
                                          </p:stCondLst>
                                        </p:cTn>
                                        <p:tgtEl>
                                          <p:spTgt spid="4"/>
                                        </p:tgtEl>
                                        <p:attrNameLst>
                                          <p:attrName>style.visibility</p:attrName>
                                        </p:attrNameLst>
                                      </p:cBhvr>
                                      <p:to>
                                        <p:strVal val="hidden"/>
                                      </p:to>
                                    </p:set>
                                  </p:childTnLst>
                                </p:cTn>
                              </p:par>
                              <p:par>
                                <p:cTn id="53" presetID="22" presetClass="exit" presetSubtype="4" fill="hold" grpId="1" nodeType="withEffect">
                                  <p:stCondLst>
                                    <p:cond delay="0"/>
                                  </p:stCondLst>
                                  <p:childTnLst>
                                    <p:animEffect transition="out" filter="wipe(down)">
                                      <p:cBhvr>
                                        <p:cTn id="54" dur="500"/>
                                        <p:tgtEl>
                                          <p:spTgt spid="5"/>
                                        </p:tgtEl>
                                      </p:cBhvr>
                                    </p:animEffect>
                                    <p:set>
                                      <p:cBhvr>
                                        <p:cTn id="55" dur="1" fill="hold">
                                          <p:stCondLst>
                                            <p:cond delay="499"/>
                                          </p:stCondLst>
                                        </p:cTn>
                                        <p:tgtEl>
                                          <p:spTgt spid="5"/>
                                        </p:tgtEl>
                                        <p:attrNameLst>
                                          <p:attrName>style.visibility</p:attrName>
                                        </p:attrNameLst>
                                      </p:cBhvr>
                                      <p:to>
                                        <p:strVal val="hidden"/>
                                      </p:to>
                                    </p:set>
                                  </p:childTnLst>
                                </p:cTn>
                              </p:par>
                              <p:par>
                                <p:cTn id="56" presetID="22" presetClass="exit" presetSubtype="4" fill="hold" grpId="1" nodeType="withEffect">
                                  <p:stCondLst>
                                    <p:cond delay="0"/>
                                  </p:stCondLst>
                                  <p:childTnLst>
                                    <p:animEffect transition="out" filter="wipe(down)">
                                      <p:cBhvr>
                                        <p:cTn id="57" dur="500"/>
                                        <p:tgtEl>
                                          <p:spTgt spid="9"/>
                                        </p:tgtEl>
                                      </p:cBhvr>
                                    </p:animEffect>
                                    <p:set>
                                      <p:cBhvr>
                                        <p:cTn id="58" dur="1" fill="hold">
                                          <p:stCondLst>
                                            <p:cond delay="499"/>
                                          </p:stCondLst>
                                        </p:cTn>
                                        <p:tgtEl>
                                          <p:spTgt spid="9"/>
                                        </p:tgtEl>
                                        <p:attrNameLst>
                                          <p:attrName>style.visibility</p:attrName>
                                        </p:attrNameLst>
                                      </p:cBhvr>
                                      <p:to>
                                        <p:strVal val="hidden"/>
                                      </p:to>
                                    </p:set>
                                  </p:childTnLst>
                                </p:cTn>
                              </p:par>
                              <p:par>
                                <p:cTn id="59" presetID="22" presetClass="exit" presetSubtype="4" fill="hold" grpId="1" nodeType="withEffect">
                                  <p:stCondLst>
                                    <p:cond delay="0"/>
                                  </p:stCondLst>
                                  <p:childTnLst>
                                    <p:animEffect transition="out" filter="wipe(down)">
                                      <p:cBhvr>
                                        <p:cTn id="60" dur="500"/>
                                        <p:tgtEl>
                                          <p:spTgt spid="10"/>
                                        </p:tgtEl>
                                      </p:cBhvr>
                                    </p:animEffect>
                                    <p:set>
                                      <p:cBhvr>
                                        <p:cTn id="61" dur="1" fill="hold">
                                          <p:stCondLst>
                                            <p:cond delay="499"/>
                                          </p:stCondLst>
                                        </p:cTn>
                                        <p:tgtEl>
                                          <p:spTgt spid="10"/>
                                        </p:tgtEl>
                                        <p:attrNameLst>
                                          <p:attrName>style.visibility</p:attrName>
                                        </p:attrNameLst>
                                      </p:cBhvr>
                                      <p:to>
                                        <p:strVal val="hidden"/>
                                      </p:to>
                                    </p:set>
                                  </p:childTnLst>
                                </p:cTn>
                              </p:par>
                              <p:par>
                                <p:cTn id="62" presetID="22" presetClass="exit" presetSubtype="4" fill="hold" grpId="1" nodeType="withEffect">
                                  <p:stCondLst>
                                    <p:cond delay="0"/>
                                  </p:stCondLst>
                                  <p:childTnLst>
                                    <p:animEffect transition="out" filter="wipe(down)">
                                      <p:cBhvr>
                                        <p:cTn id="63" dur="500"/>
                                        <p:tgtEl>
                                          <p:spTgt spid="11"/>
                                        </p:tgtEl>
                                      </p:cBhvr>
                                    </p:animEffect>
                                    <p:set>
                                      <p:cBhvr>
                                        <p:cTn id="64" dur="1" fill="hold">
                                          <p:stCondLst>
                                            <p:cond delay="499"/>
                                          </p:stCondLst>
                                        </p:cTn>
                                        <p:tgtEl>
                                          <p:spTgt spid="11"/>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right)">
                                      <p:cBhvr>
                                        <p:cTn id="69" dur="1000"/>
                                        <p:tgtEl>
                                          <p:spTgt spid="17"/>
                                        </p:tgtEl>
                                      </p:cBhvr>
                                    </p:animEffect>
                                  </p:childTnLst>
                                </p:cTn>
                              </p:par>
                            </p:childTnLst>
                          </p:cTn>
                        </p:par>
                        <p:par>
                          <p:cTn id="70" fill="hold">
                            <p:stCondLst>
                              <p:cond delay="1000"/>
                            </p:stCondLst>
                            <p:childTnLst>
                              <p:par>
                                <p:cTn id="71" presetID="22" presetClass="entr" presetSubtype="2"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right)">
                                      <p:cBhvr>
                                        <p:cTn id="73"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7" grpId="0" animBg="1"/>
      <p:bldP spid="8" grpId="0" animBg="1"/>
      <p:bldP spid="9" grpId="0" animBg="1"/>
      <p:bldP spid="9" grpId="1" animBg="1"/>
      <p:bldP spid="10" grpId="0" animBg="1"/>
      <p:bldP spid="10" grpId="1" animBg="1"/>
      <p:bldP spid="11" grpId="0"/>
      <p:bldP spid="11" grpId="1"/>
      <p:bldP spid="12" grpId="0"/>
      <p:bldP spid="13" grpId="0" animBg="1"/>
      <p:bldP spid="14" grpId="0"/>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Operações Subsequentes</a:t>
            </a:r>
            <a:endParaRPr lang="pt-BR" dirty="0"/>
          </a:p>
        </p:txBody>
      </p:sp>
      <p:sp>
        <p:nvSpPr>
          <p:cNvPr id="3" name="Espaço Reservado para Conteúdo 2"/>
          <p:cNvSpPr>
            <a:spLocks noGrp="1"/>
          </p:cNvSpPr>
          <p:nvPr>
            <p:ph idx="1"/>
          </p:nvPr>
        </p:nvSpPr>
        <p:spPr>
          <a:xfrm>
            <a:off x="2589212" y="1905000"/>
            <a:ext cx="8915400" cy="4006222"/>
          </a:xfrm>
        </p:spPr>
        <p:txBody>
          <a:bodyPr/>
          <a:lstStyle/>
          <a:p>
            <a:pPr marL="0" indent="0" algn="just">
              <a:buNone/>
            </a:pPr>
            <a:r>
              <a:rPr lang="pt-BR" dirty="0"/>
              <a:t>Caracteriza-se pela atribuição a determinado contribuinte (normalmente o primeiro na cadeia de comercialização, o fabricante ou importador) pelo pagamento do valor do ICMS incidente nas subsequentes operações com a mercadoria, até sua saída destinada a consumidor ou usuário final. </a:t>
            </a:r>
            <a:endParaRPr lang="pt-BR" dirty="0" smtClean="0"/>
          </a:p>
          <a:p>
            <a:pPr marL="0" indent="0" algn="just">
              <a:buNone/>
            </a:pPr>
            <a:endParaRPr lang="pt-BR" dirty="0"/>
          </a:p>
          <a:p>
            <a:pPr marL="0" indent="0" algn="just">
              <a:buNone/>
            </a:pPr>
            <a:endParaRPr lang="pt-BR" dirty="0"/>
          </a:p>
        </p:txBody>
      </p:sp>
      <p:sp>
        <p:nvSpPr>
          <p:cNvPr id="4" name="Retângulo de cantos arredondados 3"/>
          <p:cNvSpPr/>
          <p:nvPr/>
        </p:nvSpPr>
        <p:spPr>
          <a:xfrm>
            <a:off x="4027809" y="5431288"/>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6"/>
          </a:lnRef>
          <a:fillRef idx="3">
            <a:schemeClr val="accent6"/>
          </a:fillRef>
          <a:effectRef idx="3">
            <a:schemeClr val="accent6"/>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CONSUMIDOR FINAL</a:t>
            </a:r>
          </a:p>
        </p:txBody>
      </p:sp>
      <p:sp>
        <p:nvSpPr>
          <p:cNvPr id="5" name="Seta em curva para a direita 4"/>
          <p:cNvSpPr/>
          <p:nvPr/>
        </p:nvSpPr>
        <p:spPr>
          <a:xfrm flipH="1">
            <a:off x="6671015" y="4931222"/>
            <a:ext cx="428628" cy="857256"/>
          </a:xfrm>
          <a:prstGeom prst="curved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pt-BR">
              <a:solidFill>
                <a:schemeClr val="tx1"/>
              </a:solidFill>
            </a:endParaRPr>
          </a:p>
        </p:txBody>
      </p:sp>
      <p:sp>
        <p:nvSpPr>
          <p:cNvPr id="6" name="Retângulo de cantos arredondados 5"/>
          <p:cNvSpPr/>
          <p:nvPr/>
        </p:nvSpPr>
        <p:spPr>
          <a:xfrm>
            <a:off x="4027809" y="4716908"/>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5"/>
          </a:lnRef>
          <a:fillRef idx="3">
            <a:schemeClr val="accent5"/>
          </a:fillRef>
          <a:effectRef idx="3">
            <a:schemeClr val="accent5"/>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COMÉRCIO VAREJISTA</a:t>
            </a:r>
          </a:p>
        </p:txBody>
      </p:sp>
      <p:sp>
        <p:nvSpPr>
          <p:cNvPr id="7" name="Seta em curva para a direita 6"/>
          <p:cNvSpPr/>
          <p:nvPr/>
        </p:nvSpPr>
        <p:spPr>
          <a:xfrm>
            <a:off x="3742057" y="4216842"/>
            <a:ext cx="428628" cy="857256"/>
          </a:xfrm>
          <a:prstGeom prst="curved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pt-BR">
              <a:solidFill>
                <a:schemeClr val="tx1"/>
              </a:solidFill>
            </a:endParaRPr>
          </a:p>
        </p:txBody>
      </p:sp>
      <p:sp>
        <p:nvSpPr>
          <p:cNvPr id="8" name="Retângulo de cantos arredondados 7"/>
          <p:cNvSpPr/>
          <p:nvPr/>
        </p:nvSpPr>
        <p:spPr>
          <a:xfrm>
            <a:off x="4027809" y="4002528"/>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3">
            <a:schemeClr val="accent1"/>
          </a:fillRef>
          <a:effectRef idx="3">
            <a:schemeClr val="accent1"/>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COMÉRCIO ATACADISTA</a:t>
            </a:r>
          </a:p>
        </p:txBody>
      </p:sp>
      <p:sp>
        <p:nvSpPr>
          <p:cNvPr id="9" name="Seta em curva para a direita 8"/>
          <p:cNvSpPr/>
          <p:nvPr/>
        </p:nvSpPr>
        <p:spPr>
          <a:xfrm flipH="1">
            <a:off x="6671015" y="3502462"/>
            <a:ext cx="428628" cy="857256"/>
          </a:xfrm>
          <a:prstGeom prst="curved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pt-BR">
              <a:solidFill>
                <a:schemeClr val="tx1"/>
              </a:solidFill>
            </a:endParaRPr>
          </a:p>
        </p:txBody>
      </p:sp>
      <p:sp>
        <p:nvSpPr>
          <p:cNvPr id="10" name="Retângulo de cantos arredondados 9"/>
          <p:cNvSpPr/>
          <p:nvPr/>
        </p:nvSpPr>
        <p:spPr>
          <a:xfrm>
            <a:off x="4027809" y="3288148"/>
            <a:ext cx="2786082" cy="571504"/>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2"/>
          </a:lnRef>
          <a:fillRef idx="3">
            <a:schemeClr val="accent2"/>
          </a:fillRef>
          <a:effectRef idx="3">
            <a:schemeClr val="accent2"/>
          </a:effectRef>
          <a:fontRef idx="minor">
            <a:schemeClr val="lt1"/>
          </a:fontRef>
        </p:style>
        <p:txBody>
          <a:bodyPr rtlCol="0" anchor="ctr"/>
          <a:lstStyle/>
          <a:p>
            <a:pPr algn="ctr"/>
            <a:r>
              <a:rPr lang="pt-BR" b="1" dirty="0">
                <a:effectLst>
                  <a:outerShdw blurRad="38100" dist="38100" dir="2700000" algn="tl">
                    <a:srgbClr val="000000">
                      <a:alpha val="43137"/>
                    </a:srgbClr>
                  </a:outerShdw>
                </a:effectLst>
              </a:rPr>
              <a:t>INDÚSTRIA</a:t>
            </a:r>
          </a:p>
        </p:txBody>
      </p:sp>
      <p:sp>
        <p:nvSpPr>
          <p:cNvPr id="11" name="CaixaDeTexto 10"/>
          <p:cNvSpPr txBox="1"/>
          <p:nvPr/>
        </p:nvSpPr>
        <p:spPr>
          <a:xfrm>
            <a:off x="6885329" y="3716777"/>
            <a:ext cx="1000132" cy="323165"/>
          </a:xfrm>
          <a:prstGeom prst="rect">
            <a:avLst/>
          </a:prstGeom>
          <a:noFill/>
        </p:spPr>
        <p:txBody>
          <a:bodyPr wrap="square" rtlCol="0">
            <a:spAutoFit/>
          </a:bodyPr>
          <a:lstStyle/>
          <a:p>
            <a:pPr algn="ctr"/>
            <a:r>
              <a:rPr lang="pt-BR" sz="1500" b="1" dirty="0"/>
              <a:t>ICMS</a:t>
            </a:r>
          </a:p>
        </p:txBody>
      </p:sp>
      <p:sp>
        <p:nvSpPr>
          <p:cNvPr id="12" name="CaixaDeTexto 11"/>
          <p:cNvSpPr txBox="1"/>
          <p:nvPr/>
        </p:nvSpPr>
        <p:spPr>
          <a:xfrm>
            <a:off x="6957303" y="5569715"/>
            <a:ext cx="1000132" cy="323165"/>
          </a:xfrm>
          <a:prstGeom prst="rect">
            <a:avLst/>
          </a:prstGeom>
          <a:noFill/>
        </p:spPr>
        <p:txBody>
          <a:bodyPr wrap="square" rtlCol="0">
            <a:spAutoFit/>
          </a:bodyPr>
          <a:lstStyle/>
          <a:p>
            <a:pPr algn="ctr"/>
            <a:r>
              <a:rPr lang="pt-BR" sz="1500" b="1" dirty="0"/>
              <a:t>ICMS</a:t>
            </a:r>
          </a:p>
        </p:txBody>
      </p:sp>
      <p:sp>
        <p:nvSpPr>
          <p:cNvPr id="13" name="Elipse 12"/>
          <p:cNvSpPr/>
          <p:nvPr/>
        </p:nvSpPr>
        <p:spPr>
          <a:xfrm flipH="1" flipV="1">
            <a:off x="7100179" y="5354412"/>
            <a:ext cx="714380" cy="71438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pt-BR"/>
          </a:p>
        </p:txBody>
      </p:sp>
      <p:sp>
        <p:nvSpPr>
          <p:cNvPr id="14" name="Elipse 13"/>
          <p:cNvSpPr/>
          <p:nvPr/>
        </p:nvSpPr>
        <p:spPr>
          <a:xfrm flipH="1" flipV="1">
            <a:off x="2813363" y="4288280"/>
            <a:ext cx="857256" cy="85725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pt-BR"/>
          </a:p>
        </p:txBody>
      </p:sp>
      <p:sp>
        <p:nvSpPr>
          <p:cNvPr id="15" name="Texto explicativo em seta para a esquerda 14"/>
          <p:cNvSpPr/>
          <p:nvPr/>
        </p:nvSpPr>
        <p:spPr>
          <a:xfrm>
            <a:off x="6599577" y="4002528"/>
            <a:ext cx="2500330" cy="571504"/>
          </a:xfrm>
          <a:prstGeom prst="leftArrowCallout">
            <a:avLst/>
          </a:prstGeom>
          <a:solidFill>
            <a:schemeClr val="accent5">
              <a:lumMod val="5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2000" b="1" dirty="0">
                <a:effectLst>
                  <a:outerShdw blurRad="38100" dist="38100" dir="2700000" algn="tl">
                    <a:srgbClr val="000000">
                      <a:alpha val="43137"/>
                    </a:srgbClr>
                  </a:outerShdw>
                </a:effectLst>
              </a:rPr>
              <a:t>Responsável</a:t>
            </a:r>
          </a:p>
        </p:txBody>
      </p:sp>
      <p:sp>
        <p:nvSpPr>
          <p:cNvPr id="16" name="Texto explicativo em seta para a esquerda 15"/>
          <p:cNvSpPr/>
          <p:nvPr/>
        </p:nvSpPr>
        <p:spPr>
          <a:xfrm>
            <a:off x="6599577" y="4716908"/>
            <a:ext cx="2500330" cy="571504"/>
          </a:xfrm>
          <a:prstGeom prst="leftArrowCallout">
            <a:avLst/>
          </a:prstGeom>
          <a:solidFill>
            <a:schemeClr val="accent5">
              <a:lumMod val="5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2000" b="1" dirty="0">
                <a:effectLst>
                  <a:outerShdw blurRad="38100" dist="38100" dir="2700000" algn="tl">
                    <a:srgbClr val="000000">
                      <a:alpha val="43137"/>
                    </a:srgbClr>
                  </a:outerShdw>
                </a:effectLst>
              </a:rPr>
              <a:t>Contribuinte</a:t>
            </a:r>
          </a:p>
        </p:txBody>
      </p:sp>
      <p:sp>
        <p:nvSpPr>
          <p:cNvPr id="17" name="Texto explicativo em seta para a esquerda 16"/>
          <p:cNvSpPr/>
          <p:nvPr/>
        </p:nvSpPr>
        <p:spPr>
          <a:xfrm>
            <a:off x="6599577" y="4002528"/>
            <a:ext cx="2500330" cy="571504"/>
          </a:xfrm>
          <a:prstGeom prst="leftArrowCallout">
            <a:avLst/>
          </a:prstGeom>
          <a:solidFill>
            <a:schemeClr val="accent5">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2000" b="1" dirty="0">
                <a:effectLst>
                  <a:outerShdw blurRad="38100" dist="38100" dir="2700000" algn="tl">
                    <a:srgbClr val="000000">
                      <a:alpha val="43137"/>
                    </a:srgbClr>
                  </a:outerShdw>
                </a:effectLst>
              </a:rPr>
              <a:t>Substituto</a:t>
            </a:r>
          </a:p>
        </p:txBody>
      </p:sp>
      <p:sp>
        <p:nvSpPr>
          <p:cNvPr id="18" name="Texto explicativo em seta para a esquerda 17"/>
          <p:cNvSpPr/>
          <p:nvPr/>
        </p:nvSpPr>
        <p:spPr>
          <a:xfrm>
            <a:off x="6599577" y="4716908"/>
            <a:ext cx="2500330" cy="571504"/>
          </a:xfrm>
          <a:prstGeom prst="leftArrowCallout">
            <a:avLst/>
          </a:prstGeom>
          <a:solidFill>
            <a:schemeClr val="accent5">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2"/>
          </a:lnRef>
          <a:fillRef idx="3">
            <a:schemeClr val="accent2"/>
          </a:fillRef>
          <a:effectRef idx="3">
            <a:schemeClr val="accent2"/>
          </a:effectRef>
          <a:fontRef idx="minor">
            <a:schemeClr val="lt1"/>
          </a:fontRef>
        </p:style>
        <p:txBody>
          <a:bodyPr rtlCol="0" anchor="ctr"/>
          <a:lstStyle/>
          <a:p>
            <a:pPr algn="ctr"/>
            <a:r>
              <a:rPr lang="pt-BR" sz="2000" b="1" dirty="0">
                <a:effectLst>
                  <a:outerShdw blurRad="38100" dist="38100" dir="2700000" algn="tl">
                    <a:srgbClr val="000000">
                      <a:alpha val="43137"/>
                    </a:srgbClr>
                  </a:outerShdw>
                </a:effectLst>
              </a:rPr>
              <a:t>Substituído</a:t>
            </a:r>
          </a:p>
        </p:txBody>
      </p:sp>
      <p:sp>
        <p:nvSpPr>
          <p:cNvPr id="20" name="CaixaDeTexto 19"/>
          <p:cNvSpPr txBox="1"/>
          <p:nvPr/>
        </p:nvSpPr>
        <p:spPr>
          <a:xfrm>
            <a:off x="2786732" y="4412449"/>
            <a:ext cx="1000132" cy="323165"/>
          </a:xfrm>
          <a:prstGeom prst="rect">
            <a:avLst/>
          </a:prstGeom>
          <a:noFill/>
        </p:spPr>
        <p:txBody>
          <a:bodyPr wrap="square" rtlCol="0">
            <a:spAutoFit/>
          </a:bodyPr>
          <a:lstStyle/>
          <a:p>
            <a:pPr algn="ctr"/>
            <a:r>
              <a:rPr lang="pt-BR" sz="1500" b="1" dirty="0"/>
              <a:t>ICMS</a:t>
            </a:r>
          </a:p>
        </p:txBody>
      </p:sp>
      <p:sp>
        <p:nvSpPr>
          <p:cNvPr id="21" name="CaixaDeTexto 20"/>
          <p:cNvSpPr txBox="1"/>
          <p:nvPr/>
        </p:nvSpPr>
        <p:spPr>
          <a:xfrm>
            <a:off x="2786732" y="4682965"/>
            <a:ext cx="1000132" cy="323165"/>
          </a:xfrm>
          <a:prstGeom prst="rect">
            <a:avLst/>
          </a:prstGeom>
          <a:noFill/>
        </p:spPr>
        <p:txBody>
          <a:bodyPr wrap="square" rtlCol="0">
            <a:spAutoFit/>
          </a:bodyPr>
          <a:lstStyle/>
          <a:p>
            <a:pPr algn="ctr"/>
            <a:r>
              <a:rPr lang="pt-BR" sz="1500" b="1" dirty="0"/>
              <a:t>ICMS</a:t>
            </a:r>
          </a:p>
        </p:txBody>
      </p:sp>
    </p:spTree>
    <p:extLst>
      <p:ext uri="{BB962C8B-B14F-4D97-AF65-F5344CB8AC3E}">
        <p14:creationId xmlns:p14="http://schemas.microsoft.com/office/powerpoint/2010/main" val="150855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1000"/>
                                        <p:tgtEl>
                                          <p:spTgt spid="9"/>
                                        </p:tgtEl>
                                      </p:cBhvr>
                                    </p:animEffect>
                                  </p:childTnLst>
                                </p:cTn>
                              </p:par>
                            </p:childTnLst>
                          </p:cTn>
                        </p:par>
                        <p:par>
                          <p:cTn id="12" fill="hold">
                            <p:stCondLst>
                              <p:cond delay="2000"/>
                            </p:stCondLst>
                            <p:childTnLst>
                              <p:par>
                                <p:cTn id="13" presetID="22" presetClass="entr" presetSubtype="2"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1000"/>
                                        <p:tgtEl>
                                          <p:spTgt spid="11"/>
                                        </p:tgtEl>
                                      </p:cBhvr>
                                    </p:animEffect>
                                  </p:childTnLst>
                                </p:cTn>
                              </p:par>
                            </p:childTnLst>
                          </p:cTn>
                        </p:par>
                        <p:par>
                          <p:cTn id="20" fill="hold">
                            <p:stCondLst>
                              <p:cond delay="4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1000"/>
                                        <p:tgtEl>
                                          <p:spTgt spid="7"/>
                                        </p:tgtEl>
                                      </p:cBhvr>
                                    </p:animEffect>
                                  </p:childTnLst>
                                </p:cTn>
                              </p:par>
                            </p:childTnLst>
                          </p:cTn>
                        </p:par>
                        <p:par>
                          <p:cTn id="24" fill="hold">
                            <p:stCondLst>
                              <p:cond delay="5000"/>
                            </p:stCondLst>
                            <p:childTnLst>
                              <p:par>
                                <p:cTn id="25" presetID="22" presetClass="entr" presetSubtype="8"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1000"/>
                                        <p:tgtEl>
                                          <p:spTgt spid="6"/>
                                        </p:tgtEl>
                                      </p:cBhvr>
                                    </p:animEffect>
                                  </p:childTnLst>
                                </p:cTn>
                              </p:par>
                            </p:childTnLst>
                          </p:cTn>
                        </p:par>
                        <p:par>
                          <p:cTn id="28" fill="hold">
                            <p:stCondLst>
                              <p:cond delay="6000"/>
                            </p:stCondLst>
                            <p:childTnLst>
                              <p:par>
                                <p:cTn id="29" presetID="22" presetClass="entr" presetSubtype="1"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1000"/>
                                        <p:tgtEl>
                                          <p:spTgt spid="5"/>
                                        </p:tgtEl>
                                      </p:cBhvr>
                                    </p:animEffect>
                                  </p:childTnLst>
                                </p:cTn>
                              </p:par>
                            </p:childTnLst>
                          </p:cTn>
                        </p:par>
                        <p:par>
                          <p:cTn id="32" fill="hold">
                            <p:stCondLst>
                              <p:cond delay="7000"/>
                            </p:stCondLst>
                            <p:childTnLst>
                              <p:par>
                                <p:cTn id="33" presetID="22" presetClass="entr" presetSubtype="2"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right)">
                                      <p:cBhvr>
                                        <p:cTn id="35" dur="1000"/>
                                        <p:tgtEl>
                                          <p:spTgt spid="4"/>
                                        </p:tgtEl>
                                      </p:cBhvr>
                                    </p:animEffect>
                                  </p:childTnLst>
                                </p:cTn>
                              </p:par>
                            </p:childTnLst>
                          </p:cTn>
                        </p:par>
                        <p:par>
                          <p:cTn id="36" fill="hold">
                            <p:stCondLst>
                              <p:cond delay="8000"/>
                            </p:stCondLst>
                            <p:childTnLst>
                              <p:par>
                                <p:cTn id="37" presetID="22" presetClass="entr" presetSubtype="8"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1000"/>
                                        <p:tgtEl>
                                          <p:spTgt spid="12"/>
                                        </p:tgtEl>
                                      </p:cBhvr>
                                    </p:animEffect>
                                  </p:childTnLst>
                                </p:cTn>
                              </p:par>
                            </p:childTnLst>
                          </p:cTn>
                        </p:par>
                        <p:par>
                          <p:cTn id="40" fill="hold">
                            <p:stCondLst>
                              <p:cond delay="9000"/>
                            </p:stCondLst>
                            <p:childTnLst>
                              <p:par>
                                <p:cTn id="41" presetID="22" presetClass="entr" presetSubtype="8"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1000"/>
                                        <p:tgtEl>
                                          <p:spTgt spid="13"/>
                                        </p:tgtEl>
                                      </p:cBhvr>
                                    </p:animEffect>
                                  </p:childTnLst>
                                </p:cTn>
                              </p:par>
                            </p:childTnLst>
                          </p:cTn>
                        </p:par>
                        <p:par>
                          <p:cTn id="44" fill="hold">
                            <p:stCondLst>
                              <p:cond delay="10000"/>
                            </p:stCondLst>
                            <p:childTnLst>
                              <p:par>
                                <p:cTn id="45" presetID="22" presetClass="exit" presetSubtype="4" fill="hold" grpId="1" nodeType="afterEffect">
                                  <p:stCondLst>
                                    <p:cond delay="0"/>
                                  </p:stCondLst>
                                  <p:childTnLst>
                                    <p:animEffect transition="out" filter="wipe(down)">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childTnLst>
                          </p:cTn>
                        </p:par>
                        <p:par>
                          <p:cTn id="48" fill="hold">
                            <p:stCondLst>
                              <p:cond delay="10500"/>
                            </p:stCondLst>
                            <p:childTnLst>
                              <p:par>
                                <p:cTn id="49" presetID="22" presetClass="exit" presetSubtype="4" fill="hold" grpId="1" nodeType="afterEffect">
                                  <p:stCondLst>
                                    <p:cond delay="0"/>
                                  </p:stCondLst>
                                  <p:childTnLst>
                                    <p:animEffect transition="out" filter="wipe(down)">
                                      <p:cBhvr>
                                        <p:cTn id="50" dur="500"/>
                                        <p:tgtEl>
                                          <p:spTgt spid="12"/>
                                        </p:tgtEl>
                                      </p:cBhvr>
                                    </p:animEffect>
                                    <p:set>
                                      <p:cBhvr>
                                        <p:cTn id="51" dur="1" fill="hold">
                                          <p:stCondLst>
                                            <p:cond delay="499"/>
                                          </p:stCondLst>
                                        </p:cTn>
                                        <p:tgtEl>
                                          <p:spTgt spid="12"/>
                                        </p:tgtEl>
                                        <p:attrNameLst>
                                          <p:attrName>style.visibility</p:attrName>
                                        </p:attrNameLst>
                                      </p:cBhvr>
                                      <p:to>
                                        <p:strVal val="hidden"/>
                                      </p:to>
                                    </p:set>
                                  </p:childTnLst>
                                </p:cTn>
                              </p:par>
                            </p:childTnLst>
                          </p:cTn>
                        </p:par>
                        <p:par>
                          <p:cTn id="52" fill="hold">
                            <p:stCondLst>
                              <p:cond delay="11000"/>
                            </p:stCondLst>
                            <p:childTnLst>
                              <p:par>
                                <p:cTn id="53" presetID="22" presetClass="entr" presetSubtype="2"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right)">
                                      <p:cBhvr>
                                        <p:cTn id="55" dur="10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xit" presetSubtype="4" fill="hold" grpId="1" nodeType="clickEffect">
                                  <p:stCondLst>
                                    <p:cond delay="0"/>
                                  </p:stCondLst>
                                  <p:childTnLst>
                                    <p:animEffect transition="out" filter="wipe(down)">
                                      <p:cBhvr>
                                        <p:cTn id="59" dur="500"/>
                                        <p:tgtEl>
                                          <p:spTgt spid="4"/>
                                        </p:tgtEl>
                                      </p:cBhvr>
                                    </p:animEffect>
                                    <p:set>
                                      <p:cBhvr>
                                        <p:cTn id="60" dur="1" fill="hold">
                                          <p:stCondLst>
                                            <p:cond delay="499"/>
                                          </p:stCondLst>
                                        </p:cTn>
                                        <p:tgtEl>
                                          <p:spTgt spid="4"/>
                                        </p:tgtEl>
                                        <p:attrNameLst>
                                          <p:attrName>style.visibility</p:attrName>
                                        </p:attrNameLst>
                                      </p:cBhvr>
                                      <p:to>
                                        <p:strVal val="hidden"/>
                                      </p:to>
                                    </p:set>
                                  </p:childTnLst>
                                </p:cTn>
                              </p:par>
                              <p:par>
                                <p:cTn id="61" presetID="22" presetClass="exit" presetSubtype="4" fill="hold" grpId="1" nodeType="withEffect">
                                  <p:stCondLst>
                                    <p:cond delay="0"/>
                                  </p:stCondLst>
                                  <p:childTnLst>
                                    <p:animEffect transition="out" filter="wipe(down)">
                                      <p:cBhvr>
                                        <p:cTn id="62" dur="500"/>
                                        <p:tgtEl>
                                          <p:spTgt spid="5"/>
                                        </p:tgtEl>
                                      </p:cBhvr>
                                    </p:animEffect>
                                    <p:set>
                                      <p:cBhvr>
                                        <p:cTn id="63" dur="1" fill="hold">
                                          <p:stCondLst>
                                            <p:cond delay="499"/>
                                          </p:stCondLst>
                                        </p:cTn>
                                        <p:tgtEl>
                                          <p:spTgt spid="5"/>
                                        </p:tgtEl>
                                        <p:attrNameLst>
                                          <p:attrName>style.visibility</p:attrName>
                                        </p:attrNameLst>
                                      </p:cBhvr>
                                      <p:to>
                                        <p:strVal val="hidden"/>
                                      </p:to>
                                    </p:set>
                                  </p:childTnLst>
                                </p:cTn>
                              </p:par>
                              <p:par>
                                <p:cTn id="64" presetID="22" presetClass="exit" presetSubtype="4" fill="hold" grpId="1" nodeType="withEffect">
                                  <p:stCondLst>
                                    <p:cond delay="0"/>
                                  </p:stCondLst>
                                  <p:childTnLst>
                                    <p:animEffect transition="out" filter="wipe(down)">
                                      <p:cBhvr>
                                        <p:cTn id="65" dur="500"/>
                                        <p:tgtEl>
                                          <p:spTgt spid="9"/>
                                        </p:tgtEl>
                                      </p:cBhvr>
                                    </p:animEffect>
                                    <p:set>
                                      <p:cBhvr>
                                        <p:cTn id="66" dur="1" fill="hold">
                                          <p:stCondLst>
                                            <p:cond delay="499"/>
                                          </p:stCondLst>
                                        </p:cTn>
                                        <p:tgtEl>
                                          <p:spTgt spid="9"/>
                                        </p:tgtEl>
                                        <p:attrNameLst>
                                          <p:attrName>style.visibility</p:attrName>
                                        </p:attrNameLst>
                                      </p:cBhvr>
                                      <p:to>
                                        <p:strVal val="hidden"/>
                                      </p:to>
                                    </p:set>
                                  </p:childTnLst>
                                </p:cTn>
                              </p:par>
                              <p:par>
                                <p:cTn id="67" presetID="22" presetClass="exit" presetSubtype="4" fill="hold" grpId="1" nodeType="withEffect">
                                  <p:stCondLst>
                                    <p:cond delay="0"/>
                                  </p:stCondLst>
                                  <p:childTnLst>
                                    <p:animEffect transition="out" filter="wipe(down)">
                                      <p:cBhvr>
                                        <p:cTn id="68" dur="500"/>
                                        <p:tgtEl>
                                          <p:spTgt spid="10"/>
                                        </p:tgtEl>
                                      </p:cBhvr>
                                    </p:animEffect>
                                    <p:set>
                                      <p:cBhvr>
                                        <p:cTn id="69" dur="1" fill="hold">
                                          <p:stCondLst>
                                            <p:cond delay="499"/>
                                          </p:stCondLst>
                                        </p:cTn>
                                        <p:tgtEl>
                                          <p:spTgt spid="10"/>
                                        </p:tgtEl>
                                        <p:attrNameLst>
                                          <p:attrName>style.visibility</p:attrName>
                                        </p:attrNameLst>
                                      </p:cBhvr>
                                      <p:to>
                                        <p:strVal val="hidden"/>
                                      </p:to>
                                    </p:set>
                                  </p:childTnLst>
                                </p:cTn>
                              </p:par>
                              <p:par>
                                <p:cTn id="70" presetID="22" presetClass="exit" presetSubtype="4" fill="hold" grpId="1" nodeType="withEffect">
                                  <p:stCondLst>
                                    <p:cond delay="0"/>
                                  </p:stCondLst>
                                  <p:childTnLst>
                                    <p:animEffect transition="out" filter="wipe(down)">
                                      <p:cBhvr>
                                        <p:cTn id="71" dur="500"/>
                                        <p:tgtEl>
                                          <p:spTgt spid="11"/>
                                        </p:tgtEl>
                                      </p:cBhvr>
                                    </p:animEffect>
                                    <p:set>
                                      <p:cBhvr>
                                        <p:cTn id="72" dur="1" fill="hold">
                                          <p:stCondLst>
                                            <p:cond delay="499"/>
                                          </p:stCondLst>
                                        </p:cTn>
                                        <p:tgtEl>
                                          <p:spTgt spid="11"/>
                                        </p:tgtEl>
                                        <p:attrNameLst>
                                          <p:attrName>style.visibility</p:attrName>
                                        </p:attrNameLst>
                                      </p:cBhvr>
                                      <p:to>
                                        <p:strVal val="hidden"/>
                                      </p:to>
                                    </p:set>
                                  </p:childTnLst>
                                </p:cTn>
                              </p:par>
                            </p:childTnLst>
                          </p:cTn>
                        </p:par>
                        <p:par>
                          <p:cTn id="73" fill="hold">
                            <p:stCondLst>
                              <p:cond delay="500"/>
                            </p:stCondLst>
                            <p:childTnLst>
                              <p:par>
                                <p:cTn id="74" presetID="22" presetClass="entr" presetSubtype="2" fill="hold" grpId="0" nodeType="after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wipe(right)">
                                      <p:cBhvr>
                                        <p:cTn id="76" dur="1000"/>
                                        <p:tgtEl>
                                          <p:spTgt spid="15"/>
                                        </p:tgtEl>
                                      </p:cBhvr>
                                    </p:animEffect>
                                  </p:childTnLst>
                                </p:cTn>
                              </p:par>
                            </p:childTnLst>
                          </p:cTn>
                        </p:par>
                        <p:par>
                          <p:cTn id="77" fill="hold">
                            <p:stCondLst>
                              <p:cond delay="1500"/>
                            </p:stCondLst>
                            <p:childTnLst>
                              <p:par>
                                <p:cTn id="78" presetID="22" presetClass="entr" presetSubtype="2" fill="hold" grpId="0"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wipe(right)">
                                      <p:cBhvr>
                                        <p:cTn id="80" dur="1000"/>
                                        <p:tgtEl>
                                          <p:spTgt spid="16"/>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wipe(right)">
                                      <p:cBhvr>
                                        <p:cTn id="85" dur="1000"/>
                                        <p:tgtEl>
                                          <p:spTgt spid="17"/>
                                        </p:tgtEl>
                                      </p:cBhvr>
                                    </p:animEffect>
                                  </p:childTnLst>
                                </p:cTn>
                              </p:par>
                            </p:childTnLst>
                          </p:cTn>
                        </p:par>
                        <p:par>
                          <p:cTn id="86" fill="hold">
                            <p:stCondLst>
                              <p:cond delay="1000"/>
                            </p:stCondLst>
                            <p:childTnLst>
                              <p:par>
                                <p:cTn id="87" presetID="22" presetClass="entr" presetSubtype="2" fill="hold" grpId="0" nodeType="after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wipe(right)">
                                      <p:cBhvr>
                                        <p:cTn id="89" dur="1000"/>
                                        <p:tgtEl>
                                          <p:spTgt spid="18"/>
                                        </p:tgtEl>
                                      </p:cBhvr>
                                    </p:animEffect>
                                  </p:childTnLst>
                                </p:cTn>
                              </p:par>
                            </p:childTnLst>
                          </p:cTn>
                        </p:par>
                        <p:par>
                          <p:cTn id="90" fill="hold">
                            <p:stCondLst>
                              <p:cond delay="2000"/>
                            </p:stCondLst>
                            <p:childTnLst>
                              <p:par>
                                <p:cTn id="91" presetID="22" presetClass="entr" presetSubtype="8" fill="hold" grpId="0" nodeType="after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wipe(left)">
                                      <p:cBhvr>
                                        <p:cTn id="93" dur="1000"/>
                                        <p:tgtEl>
                                          <p:spTgt spid="20"/>
                                        </p:tgtEl>
                                      </p:cBhvr>
                                    </p:animEffect>
                                  </p:childTnLst>
                                </p:cTn>
                              </p:par>
                            </p:childTnLst>
                          </p:cTn>
                        </p:par>
                        <p:par>
                          <p:cTn id="94" fill="hold">
                            <p:stCondLst>
                              <p:cond delay="3000"/>
                            </p:stCondLst>
                            <p:childTnLst>
                              <p:par>
                                <p:cTn id="95" presetID="22" presetClass="exit" presetSubtype="4" fill="hold" grpId="1" nodeType="afterEffect">
                                  <p:stCondLst>
                                    <p:cond delay="0"/>
                                  </p:stCondLst>
                                  <p:childTnLst>
                                    <p:animEffect transition="out" filter="wipe(down)">
                                      <p:cBhvr>
                                        <p:cTn id="96" dur="500"/>
                                        <p:tgtEl>
                                          <p:spTgt spid="20"/>
                                        </p:tgtEl>
                                      </p:cBhvr>
                                    </p:animEffect>
                                    <p:set>
                                      <p:cBhvr>
                                        <p:cTn id="97" dur="1" fill="hold">
                                          <p:stCondLst>
                                            <p:cond delay="499"/>
                                          </p:stCondLst>
                                        </p:cTn>
                                        <p:tgtEl>
                                          <p:spTgt spid="20"/>
                                        </p:tgtEl>
                                        <p:attrNameLst>
                                          <p:attrName>style.visibility</p:attrName>
                                        </p:attrNameLst>
                                      </p:cBhvr>
                                      <p:to>
                                        <p:strVal val="hidden"/>
                                      </p:to>
                                    </p:set>
                                  </p:childTnLst>
                                </p:cTn>
                              </p:par>
                            </p:childTnLst>
                          </p:cTn>
                        </p:par>
                        <p:par>
                          <p:cTn id="98" fill="hold">
                            <p:stCondLst>
                              <p:cond delay="3500"/>
                            </p:stCondLst>
                            <p:childTnLst>
                              <p:par>
                                <p:cTn id="99" presetID="22" presetClass="entr" presetSubtype="8" fill="hold" grpId="0" nodeType="after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wipe(left)">
                                      <p:cBhvr>
                                        <p:cTn id="101" dur="1000"/>
                                        <p:tgtEl>
                                          <p:spTgt spid="21"/>
                                        </p:tgtEl>
                                      </p:cBhvr>
                                    </p:animEffect>
                                  </p:childTnLst>
                                </p:cTn>
                              </p:par>
                            </p:childTnLst>
                          </p:cTn>
                        </p:par>
                        <p:par>
                          <p:cTn id="102" fill="hold">
                            <p:stCondLst>
                              <p:cond delay="4500"/>
                            </p:stCondLst>
                            <p:childTnLst>
                              <p:par>
                                <p:cTn id="103" presetID="22" presetClass="exit" presetSubtype="4" fill="hold" grpId="1" nodeType="afterEffect">
                                  <p:stCondLst>
                                    <p:cond delay="0"/>
                                  </p:stCondLst>
                                  <p:childTnLst>
                                    <p:animEffect transition="out" filter="wipe(down)">
                                      <p:cBhvr>
                                        <p:cTn id="104" dur="500"/>
                                        <p:tgtEl>
                                          <p:spTgt spid="21"/>
                                        </p:tgtEl>
                                      </p:cBhvr>
                                    </p:animEffect>
                                    <p:set>
                                      <p:cBhvr>
                                        <p:cTn id="105"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7" grpId="0" animBg="1"/>
      <p:bldP spid="8" grpId="0" animBg="1"/>
      <p:bldP spid="9" grpId="0" animBg="1"/>
      <p:bldP spid="9" grpId="1" animBg="1"/>
      <p:bldP spid="10" grpId="0" animBg="1"/>
      <p:bldP spid="10" grpId="1" animBg="1"/>
      <p:bldP spid="11" grpId="0"/>
      <p:bldP spid="11" grpId="1"/>
      <p:bldP spid="12" grpId="0"/>
      <p:bldP spid="12" grpId="1"/>
      <p:bldP spid="13" grpId="0" animBg="1"/>
      <p:bldP spid="13" grpId="1" animBg="1"/>
      <p:bldP spid="14" grpId="0" animBg="1"/>
      <p:bldP spid="15" grpId="0" animBg="1"/>
      <p:bldP spid="16" grpId="0" animBg="1"/>
      <p:bldP spid="17" grpId="0" animBg="1"/>
      <p:bldP spid="18" grpId="0" animBg="1"/>
      <p:bldP spid="20" grpId="0"/>
      <p:bldP spid="20" grpId="1"/>
      <p:bldP spid="21" grpId="0"/>
      <p:bldP spid="21"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Regime da não cumulatividade</a:t>
            </a:r>
            <a:endParaRPr lang="pt-BR" dirty="0"/>
          </a:p>
        </p:txBody>
      </p:sp>
      <p:sp>
        <p:nvSpPr>
          <p:cNvPr id="3" name="Espaço Reservado para Conteúdo 2"/>
          <p:cNvSpPr>
            <a:spLocks noGrp="1"/>
          </p:cNvSpPr>
          <p:nvPr>
            <p:ph idx="1"/>
          </p:nvPr>
        </p:nvSpPr>
        <p:spPr/>
        <p:txBody>
          <a:bodyPr/>
          <a:lstStyle/>
          <a:p>
            <a:pPr marL="0" indent="0" algn="just">
              <a:buNone/>
            </a:pPr>
            <a:endParaRPr lang="pt-BR" sz="2200" dirty="0" smtClean="0"/>
          </a:p>
          <a:p>
            <a:pPr marL="0" indent="0" algn="just">
              <a:buNone/>
            </a:pPr>
            <a:r>
              <a:rPr lang="pt-BR" sz="2400" b="1" dirty="0"/>
              <a:t>Não Cumulativo: </a:t>
            </a:r>
            <a:r>
              <a:rPr lang="pt-BR" sz="2400" dirty="0"/>
              <a:t>Respeita o regime de compensação, na entrada crédito na saída débito do imposto. Esse princípio constitucional evita o efeito cascata, com isso nas operações posteriores apenas afeta a margem de lucro de cada operação.</a:t>
            </a:r>
          </a:p>
          <a:p>
            <a:pPr marL="0" indent="0">
              <a:buNone/>
            </a:pPr>
            <a:endParaRPr lang="pt-BR" dirty="0"/>
          </a:p>
        </p:txBody>
      </p:sp>
    </p:spTree>
    <p:extLst>
      <p:ext uri="{BB962C8B-B14F-4D97-AF65-F5344CB8AC3E}">
        <p14:creationId xmlns:p14="http://schemas.microsoft.com/office/powerpoint/2010/main" val="8544723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Alíquota Interestadual</a:t>
            </a:r>
            <a:r>
              <a:rPr lang="pt-BR" b="1" dirty="0">
                <a:latin typeface="Bookman Old Style" panose="02050604050505020204" pitchFamily="18" charset="0"/>
              </a:rPr>
              <a:t/>
            </a:r>
            <a:br>
              <a:rPr lang="pt-BR" b="1" dirty="0">
                <a:latin typeface="Bookman Old Style" panose="02050604050505020204" pitchFamily="18" charset="0"/>
              </a:rPr>
            </a:br>
            <a:endParaRPr lang="pt-BR" dirty="0"/>
          </a:p>
        </p:txBody>
      </p:sp>
      <p:pic>
        <p:nvPicPr>
          <p:cNvPr id="4" name="Espaço Reservado para Conteúdo 3"/>
          <p:cNvPicPr>
            <a:picLocks noGrp="1" noChangeAspect="1"/>
          </p:cNvPicPr>
          <p:nvPr>
            <p:ph idx="1"/>
          </p:nvPr>
        </p:nvPicPr>
        <p:blipFill>
          <a:blip r:embed="rId2"/>
          <a:stretch>
            <a:fillRect/>
          </a:stretch>
        </p:blipFill>
        <p:spPr>
          <a:xfrm>
            <a:off x="2592925" y="1391556"/>
            <a:ext cx="7584141" cy="4722373"/>
          </a:xfrm>
          <a:prstGeom prst="rect">
            <a:avLst/>
          </a:prstGeom>
        </p:spPr>
      </p:pic>
    </p:spTree>
    <p:extLst>
      <p:ext uri="{BB962C8B-B14F-4D97-AF65-F5344CB8AC3E}">
        <p14:creationId xmlns:p14="http://schemas.microsoft.com/office/powerpoint/2010/main" val="21600394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Alíquota Interna dos Estados</a:t>
            </a:r>
            <a:endParaRPr lang="pt-BR" dirty="0"/>
          </a:p>
        </p:txBody>
      </p:sp>
      <p:sp>
        <p:nvSpPr>
          <p:cNvPr id="3" name="Espaço Reservado para Conteúdo 2"/>
          <p:cNvSpPr>
            <a:spLocks noGrp="1"/>
          </p:cNvSpPr>
          <p:nvPr>
            <p:ph idx="1"/>
          </p:nvPr>
        </p:nvSpPr>
        <p:spPr>
          <a:xfrm>
            <a:off x="2589212" y="2133600"/>
            <a:ext cx="8915400" cy="4500282"/>
          </a:xfrm>
        </p:spPr>
        <p:txBody>
          <a:bodyPr>
            <a:normAutofit fontScale="70000" lnSpcReduction="20000"/>
          </a:bodyPr>
          <a:lstStyle/>
          <a:p>
            <a:pPr>
              <a:buFont typeface="Arial" panose="020B0604020202020204" pitchFamily="34" charset="0"/>
              <a:buChar char="•"/>
            </a:pPr>
            <a:r>
              <a:rPr lang="pt-BR" sz="2200" b="1" dirty="0"/>
              <a:t>Acre – AC:</a:t>
            </a:r>
            <a:r>
              <a:rPr lang="pt-BR" sz="2200" dirty="0"/>
              <a:t> </a:t>
            </a:r>
            <a:r>
              <a:rPr lang="pt-BR" sz="2200" dirty="0">
                <a:solidFill>
                  <a:srgbClr val="FF0000"/>
                </a:solidFill>
              </a:rPr>
              <a:t>Artigo 17, inciso I, do RICMS/AC.</a:t>
            </a:r>
            <a:endParaRPr lang="pt-BR" sz="2200" dirty="0"/>
          </a:p>
          <a:p>
            <a:pPr>
              <a:buFont typeface="Arial" panose="020B0604020202020204" pitchFamily="34" charset="0"/>
              <a:buChar char="•"/>
            </a:pPr>
            <a:r>
              <a:rPr lang="pt-BR" sz="2200" b="1" dirty="0"/>
              <a:t>Alagoas – AL:</a:t>
            </a:r>
            <a:r>
              <a:rPr lang="pt-BR" sz="2200" dirty="0"/>
              <a:t> </a:t>
            </a:r>
            <a:r>
              <a:rPr lang="pt-BR" sz="2200" dirty="0">
                <a:solidFill>
                  <a:srgbClr val="FF0000"/>
                </a:solidFill>
              </a:rPr>
              <a:t>Artigo 17, inciso I, alínea “b”, da Lei nº 5.900/96 – Artigo 2º do Decreto nº 2.845/2005</a:t>
            </a:r>
            <a:endParaRPr lang="pt-BR" sz="2200" dirty="0"/>
          </a:p>
          <a:p>
            <a:pPr>
              <a:buFont typeface="Arial" panose="020B0604020202020204" pitchFamily="34" charset="0"/>
              <a:buChar char="•"/>
            </a:pPr>
            <a:r>
              <a:rPr lang="pt-BR" sz="2200" dirty="0"/>
              <a:t>Amapá – AP: </a:t>
            </a:r>
            <a:r>
              <a:rPr lang="pt-BR" sz="2200" dirty="0">
                <a:solidFill>
                  <a:srgbClr val="FF0000"/>
                </a:solidFill>
              </a:rPr>
              <a:t>Artigo 37, inciso III, alínea “i”, da Lei n° 400/97.</a:t>
            </a:r>
            <a:endParaRPr lang="pt-BR" sz="2200" dirty="0"/>
          </a:p>
          <a:p>
            <a:pPr>
              <a:buFont typeface="Arial" panose="020B0604020202020204" pitchFamily="34" charset="0"/>
              <a:buChar char="•"/>
            </a:pPr>
            <a:r>
              <a:rPr lang="pt-BR" sz="2200" b="1" dirty="0"/>
              <a:t>Amazonas – AM:</a:t>
            </a:r>
            <a:r>
              <a:rPr lang="pt-BR" sz="2200" dirty="0"/>
              <a:t> </a:t>
            </a:r>
            <a:r>
              <a:rPr lang="pt-BR" sz="2200" dirty="0">
                <a:solidFill>
                  <a:srgbClr val="FF0000"/>
                </a:solidFill>
              </a:rPr>
              <a:t>Artigo 12, inciso I, alínea “b”, do Código Tributário do Estado (Lei Complementar 19/97).</a:t>
            </a:r>
            <a:endParaRPr lang="pt-BR" sz="2200" dirty="0"/>
          </a:p>
          <a:p>
            <a:pPr>
              <a:buFont typeface="Arial" panose="020B0604020202020204" pitchFamily="34" charset="0"/>
              <a:buChar char="•"/>
            </a:pPr>
            <a:r>
              <a:rPr lang="pt-BR" sz="2200" b="1" dirty="0"/>
              <a:t>Bahia – BA:</a:t>
            </a:r>
            <a:r>
              <a:rPr lang="pt-BR" sz="2200" dirty="0"/>
              <a:t> </a:t>
            </a:r>
            <a:r>
              <a:rPr lang="pt-BR" sz="2200" dirty="0">
                <a:solidFill>
                  <a:srgbClr val="FF0000"/>
                </a:solidFill>
              </a:rPr>
              <a:t>Artigo 15, inciso I, alínea “a”, da Lei n° 7.014/96.</a:t>
            </a:r>
            <a:endParaRPr lang="pt-BR" sz="2200" dirty="0"/>
          </a:p>
          <a:p>
            <a:pPr>
              <a:buFont typeface="Arial" panose="020B0604020202020204" pitchFamily="34" charset="0"/>
              <a:buChar char="•"/>
            </a:pPr>
            <a:r>
              <a:rPr lang="pt-BR" sz="2200" b="1" dirty="0"/>
              <a:t>Ceará – CE:</a:t>
            </a:r>
            <a:r>
              <a:rPr lang="pt-BR" sz="2200" dirty="0"/>
              <a:t> </a:t>
            </a:r>
            <a:r>
              <a:rPr lang="pt-BR" sz="2200" dirty="0">
                <a:solidFill>
                  <a:srgbClr val="FF0000"/>
                </a:solidFill>
              </a:rPr>
              <a:t>Artigo 44, inciso I, alínea “c”, da Lei nº 12.670/96 01/04/2017</a:t>
            </a:r>
            <a:endParaRPr lang="pt-BR" sz="2200" dirty="0"/>
          </a:p>
          <a:p>
            <a:pPr>
              <a:buFont typeface="Arial" panose="020B0604020202020204" pitchFamily="34" charset="0"/>
              <a:buChar char="•"/>
            </a:pPr>
            <a:r>
              <a:rPr lang="pt-BR" sz="2200" b="1" dirty="0"/>
              <a:t>Distrito Federal – DF:</a:t>
            </a:r>
            <a:r>
              <a:rPr lang="pt-BR" sz="2200" dirty="0"/>
              <a:t> </a:t>
            </a:r>
            <a:r>
              <a:rPr lang="pt-BR" sz="2200" dirty="0">
                <a:solidFill>
                  <a:srgbClr val="FF0000"/>
                </a:solidFill>
              </a:rPr>
              <a:t>Artigo 18, inciso II, alínea “c”, da Lei nº 1.254/96</a:t>
            </a:r>
            <a:endParaRPr lang="pt-BR" sz="2200" dirty="0"/>
          </a:p>
          <a:p>
            <a:pPr>
              <a:buFont typeface="Arial" panose="020B0604020202020204" pitchFamily="34" charset="0"/>
              <a:buChar char="•"/>
            </a:pPr>
            <a:r>
              <a:rPr lang="pt-BR" sz="2200" b="1" dirty="0"/>
              <a:t>Espírito Santo – ES:</a:t>
            </a:r>
            <a:r>
              <a:rPr lang="pt-BR" sz="2200" dirty="0"/>
              <a:t> </a:t>
            </a:r>
            <a:r>
              <a:rPr lang="pt-BR" sz="2200" dirty="0">
                <a:solidFill>
                  <a:srgbClr val="FF0000"/>
                </a:solidFill>
              </a:rPr>
              <a:t>Artigo 71, inciso I, alínea “a”, do RICMS/ES.</a:t>
            </a:r>
            <a:endParaRPr lang="pt-BR" sz="2200" dirty="0"/>
          </a:p>
          <a:p>
            <a:pPr>
              <a:buFont typeface="Arial" panose="020B0604020202020204" pitchFamily="34" charset="0"/>
              <a:buChar char="•"/>
            </a:pPr>
            <a:r>
              <a:rPr lang="pt-BR" sz="2200" b="1" dirty="0"/>
              <a:t>Goiás – GO:</a:t>
            </a:r>
            <a:r>
              <a:rPr lang="pt-BR" sz="2200" dirty="0"/>
              <a:t> </a:t>
            </a:r>
            <a:r>
              <a:rPr lang="pt-BR" sz="2200" dirty="0">
                <a:solidFill>
                  <a:srgbClr val="FF0000"/>
                </a:solidFill>
              </a:rPr>
              <a:t>Artigo 20, inciso I, do RCTE/GO.</a:t>
            </a:r>
            <a:endParaRPr lang="pt-BR" sz="2200" dirty="0"/>
          </a:p>
          <a:p>
            <a:pPr>
              <a:buFont typeface="Arial" panose="020B0604020202020204" pitchFamily="34" charset="0"/>
              <a:buChar char="•"/>
            </a:pPr>
            <a:r>
              <a:rPr lang="pt-BR" sz="2200" b="1" dirty="0"/>
              <a:t>Maranhão – MA:</a:t>
            </a:r>
            <a:r>
              <a:rPr lang="pt-BR" sz="2200" dirty="0"/>
              <a:t> </a:t>
            </a:r>
            <a:r>
              <a:rPr lang="pt-BR" sz="2200" dirty="0">
                <a:solidFill>
                  <a:srgbClr val="FF0000"/>
                </a:solidFill>
              </a:rPr>
              <a:t>Artigo 23, inciso III, da Lei n° 7.799/2002.</a:t>
            </a:r>
            <a:endParaRPr lang="pt-BR" sz="2200" dirty="0"/>
          </a:p>
          <a:p>
            <a:pPr>
              <a:buFont typeface="Arial" panose="020B0604020202020204" pitchFamily="34" charset="0"/>
              <a:buChar char="•"/>
            </a:pPr>
            <a:r>
              <a:rPr lang="pt-BR" sz="2200" b="1" dirty="0"/>
              <a:t>Mato Grosso – MT:</a:t>
            </a:r>
            <a:r>
              <a:rPr lang="pt-BR" sz="2200" dirty="0"/>
              <a:t> </a:t>
            </a:r>
            <a:r>
              <a:rPr lang="pt-BR" sz="2200" dirty="0">
                <a:solidFill>
                  <a:srgbClr val="FF0000"/>
                </a:solidFill>
              </a:rPr>
              <a:t>Artigo 95, inciso I, alínea “a”, do RICMS/MT.</a:t>
            </a:r>
            <a:endParaRPr lang="pt-BR" sz="2200" dirty="0"/>
          </a:p>
          <a:p>
            <a:pPr>
              <a:buFont typeface="Arial" panose="020B0604020202020204" pitchFamily="34" charset="0"/>
              <a:buChar char="•"/>
            </a:pPr>
            <a:r>
              <a:rPr lang="pt-BR" sz="2200" b="1" dirty="0"/>
              <a:t>Mato Grosso do Sul –  MS:</a:t>
            </a:r>
            <a:r>
              <a:rPr lang="pt-BR" sz="2200" dirty="0"/>
              <a:t> </a:t>
            </a:r>
            <a:r>
              <a:rPr lang="pt-BR" sz="2200" dirty="0">
                <a:solidFill>
                  <a:srgbClr val="FF0000"/>
                </a:solidFill>
              </a:rPr>
              <a:t>Artigo 41, inciso III, alínea “a”, do RICMS/MS.</a:t>
            </a:r>
            <a:endParaRPr lang="pt-BR" sz="2200" dirty="0"/>
          </a:p>
          <a:p>
            <a:pPr>
              <a:buFont typeface="Arial" panose="020B0604020202020204" pitchFamily="34" charset="0"/>
              <a:buChar char="•"/>
            </a:pPr>
            <a:r>
              <a:rPr lang="pt-BR" sz="2200" b="1" dirty="0"/>
              <a:t>Minas Gerais – MG:</a:t>
            </a:r>
            <a:r>
              <a:rPr lang="pt-BR" sz="2200" dirty="0"/>
              <a:t> </a:t>
            </a:r>
            <a:r>
              <a:rPr lang="pt-BR" sz="2200" dirty="0">
                <a:solidFill>
                  <a:srgbClr val="FF0000"/>
                </a:solidFill>
              </a:rPr>
              <a:t>Artigo 42, inciso I, alínea “e”, do RICMS/MG.</a:t>
            </a:r>
            <a:endParaRPr lang="pt-BR" sz="2200" dirty="0"/>
          </a:p>
          <a:p>
            <a:pPr marL="0" indent="0">
              <a:buNone/>
            </a:pPr>
            <a:endParaRPr lang="pt-BR" dirty="0"/>
          </a:p>
        </p:txBody>
      </p:sp>
    </p:spTree>
    <p:extLst>
      <p:ext uri="{BB962C8B-B14F-4D97-AF65-F5344CB8AC3E}">
        <p14:creationId xmlns:p14="http://schemas.microsoft.com/office/powerpoint/2010/main" val="6049691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Alíquota Interna dos Estados</a:t>
            </a:r>
            <a:endParaRPr lang="pt-BR" dirty="0"/>
          </a:p>
        </p:txBody>
      </p:sp>
      <p:sp>
        <p:nvSpPr>
          <p:cNvPr id="3" name="Espaço Reservado para Conteúdo 2"/>
          <p:cNvSpPr>
            <a:spLocks noGrp="1"/>
          </p:cNvSpPr>
          <p:nvPr>
            <p:ph idx="1"/>
          </p:nvPr>
        </p:nvSpPr>
        <p:spPr>
          <a:xfrm>
            <a:off x="2589212" y="2133599"/>
            <a:ext cx="8915400" cy="4231341"/>
          </a:xfrm>
        </p:spPr>
        <p:txBody>
          <a:bodyPr>
            <a:normAutofit fontScale="77500" lnSpcReduction="20000"/>
          </a:bodyPr>
          <a:lstStyle/>
          <a:p>
            <a:pPr>
              <a:buFont typeface="Arial" panose="020B0604020202020204" pitchFamily="34" charset="0"/>
              <a:buChar char="•"/>
            </a:pPr>
            <a:r>
              <a:rPr lang="pt-BR" b="1" dirty="0"/>
              <a:t>Pará – PA:</a:t>
            </a:r>
            <a:r>
              <a:rPr lang="pt-BR" dirty="0"/>
              <a:t> </a:t>
            </a:r>
            <a:r>
              <a:rPr lang="pt-BR" dirty="0">
                <a:solidFill>
                  <a:srgbClr val="FF0000"/>
                </a:solidFill>
              </a:rPr>
              <a:t>Artigo 20, inciso VI, do RICMS/PA.</a:t>
            </a:r>
            <a:endParaRPr lang="pt-BR" dirty="0"/>
          </a:p>
          <a:p>
            <a:pPr>
              <a:buFont typeface="Arial" panose="020B0604020202020204" pitchFamily="34" charset="0"/>
              <a:buChar char="•"/>
            </a:pPr>
            <a:r>
              <a:rPr lang="pt-BR" b="1" dirty="0"/>
              <a:t>Paraíba – PB:</a:t>
            </a:r>
            <a:r>
              <a:rPr lang="pt-BR" dirty="0"/>
              <a:t> </a:t>
            </a:r>
            <a:r>
              <a:rPr lang="pt-BR" dirty="0">
                <a:solidFill>
                  <a:srgbClr val="FF0000"/>
                </a:solidFill>
              </a:rPr>
              <a:t>Artigo 13, inciso IV, do RICMS/PB.</a:t>
            </a:r>
            <a:endParaRPr lang="pt-BR" dirty="0"/>
          </a:p>
          <a:p>
            <a:pPr>
              <a:buFont typeface="Arial" panose="020B0604020202020204" pitchFamily="34" charset="0"/>
              <a:buChar char="•"/>
            </a:pPr>
            <a:r>
              <a:rPr lang="pt-BR" b="1" dirty="0"/>
              <a:t>Paraná – PR:</a:t>
            </a:r>
            <a:r>
              <a:rPr lang="pt-BR" dirty="0"/>
              <a:t> </a:t>
            </a:r>
            <a:r>
              <a:rPr lang="pt-BR" dirty="0">
                <a:solidFill>
                  <a:srgbClr val="FF0000"/>
                </a:solidFill>
              </a:rPr>
              <a:t>Artigo 14, inciso VI, do RICMS/PR.</a:t>
            </a:r>
            <a:endParaRPr lang="pt-BR" dirty="0"/>
          </a:p>
          <a:p>
            <a:pPr>
              <a:buFont typeface="Arial" panose="020B0604020202020204" pitchFamily="34" charset="0"/>
              <a:buChar char="•"/>
            </a:pPr>
            <a:r>
              <a:rPr lang="pt-BR" b="1" dirty="0"/>
              <a:t>Pernambuco – PE:</a:t>
            </a:r>
            <a:r>
              <a:rPr lang="pt-BR" dirty="0"/>
              <a:t> </a:t>
            </a:r>
            <a:r>
              <a:rPr lang="pt-BR" dirty="0">
                <a:solidFill>
                  <a:srgbClr val="FF0000"/>
                </a:solidFill>
              </a:rPr>
              <a:t>Artigo 23-B, inciso VII, alínea “a”, da Lei n° 10.259/89. </a:t>
            </a:r>
            <a:endParaRPr lang="pt-BR" dirty="0"/>
          </a:p>
          <a:p>
            <a:pPr>
              <a:buFont typeface="Arial" panose="020B0604020202020204" pitchFamily="34" charset="0"/>
              <a:buChar char="•"/>
            </a:pPr>
            <a:r>
              <a:rPr lang="pt-BR" b="1" dirty="0"/>
              <a:t>Piauí – PI:</a:t>
            </a:r>
            <a:r>
              <a:rPr lang="pt-BR" dirty="0"/>
              <a:t> </a:t>
            </a:r>
            <a:r>
              <a:rPr lang="pt-BR" dirty="0">
                <a:solidFill>
                  <a:srgbClr val="FF0000"/>
                </a:solidFill>
              </a:rPr>
              <a:t>Artigo 20, inciso I, alínea “a”, do RICMS/PI. – Artigo 23-D da Lei n° 4.257/89</a:t>
            </a:r>
            <a:endParaRPr lang="pt-BR" dirty="0"/>
          </a:p>
          <a:p>
            <a:pPr>
              <a:buFont typeface="Arial" panose="020B0604020202020204" pitchFamily="34" charset="0"/>
              <a:buChar char="•"/>
            </a:pPr>
            <a:r>
              <a:rPr lang="pt-BR" dirty="0"/>
              <a:t>Rio de Janeiro – RJ: </a:t>
            </a:r>
            <a:r>
              <a:rPr lang="pt-BR" dirty="0">
                <a:solidFill>
                  <a:srgbClr val="FF0000"/>
                </a:solidFill>
              </a:rPr>
              <a:t>Artigo 14, inciso I, da Lei n° 2.657/96 – Lei n° 4.056/2002</a:t>
            </a:r>
            <a:endParaRPr lang="pt-BR" dirty="0"/>
          </a:p>
          <a:p>
            <a:pPr>
              <a:buFont typeface="Arial" panose="020B0604020202020204" pitchFamily="34" charset="0"/>
              <a:buChar char="•"/>
            </a:pPr>
            <a:r>
              <a:rPr lang="pt-BR" b="1" dirty="0"/>
              <a:t>Rio Grande do Norte – RN:</a:t>
            </a:r>
            <a:r>
              <a:rPr lang="pt-BR" dirty="0"/>
              <a:t> </a:t>
            </a:r>
            <a:r>
              <a:rPr lang="pt-BR" dirty="0">
                <a:solidFill>
                  <a:srgbClr val="FF0000"/>
                </a:solidFill>
              </a:rPr>
              <a:t>Artigo 104, inciso I, alínea “a”, do RICMS/RN.</a:t>
            </a:r>
            <a:endParaRPr lang="pt-BR" dirty="0"/>
          </a:p>
          <a:p>
            <a:pPr>
              <a:buFont typeface="Arial" panose="020B0604020202020204" pitchFamily="34" charset="0"/>
              <a:buChar char="•"/>
            </a:pPr>
            <a:r>
              <a:rPr lang="pt-BR" b="1" dirty="0"/>
              <a:t>Rio Grande do Sul – RS:</a:t>
            </a:r>
            <a:r>
              <a:rPr lang="pt-BR" dirty="0"/>
              <a:t> </a:t>
            </a:r>
            <a:r>
              <a:rPr lang="pt-BR" dirty="0">
                <a:solidFill>
                  <a:srgbClr val="FF0000"/>
                </a:solidFill>
              </a:rPr>
              <a:t>Artigo 27, inciso X, do Livro I do RICMS/RS</a:t>
            </a:r>
            <a:endParaRPr lang="pt-BR" dirty="0"/>
          </a:p>
          <a:p>
            <a:pPr>
              <a:buFont typeface="Arial" panose="020B0604020202020204" pitchFamily="34" charset="0"/>
              <a:buChar char="•"/>
            </a:pPr>
            <a:r>
              <a:rPr lang="pt-BR" b="1" dirty="0"/>
              <a:t>Rondônia – RO:</a:t>
            </a:r>
            <a:r>
              <a:rPr lang="pt-BR" dirty="0"/>
              <a:t> </a:t>
            </a:r>
            <a:r>
              <a:rPr lang="pt-BR" dirty="0">
                <a:solidFill>
                  <a:srgbClr val="FF0000"/>
                </a:solidFill>
              </a:rPr>
              <a:t>Artigo 12, inciso I, alínea “e”, do RICMS/RO. </a:t>
            </a:r>
            <a:endParaRPr lang="pt-BR" dirty="0"/>
          </a:p>
          <a:p>
            <a:pPr>
              <a:buFont typeface="Arial" panose="020B0604020202020204" pitchFamily="34" charset="0"/>
              <a:buChar char="•"/>
            </a:pPr>
            <a:r>
              <a:rPr lang="pt-BR" b="1" dirty="0"/>
              <a:t>Roraima – RR:</a:t>
            </a:r>
            <a:r>
              <a:rPr lang="pt-BR" dirty="0"/>
              <a:t> </a:t>
            </a:r>
            <a:r>
              <a:rPr lang="pt-BR" dirty="0">
                <a:solidFill>
                  <a:srgbClr val="FF0000"/>
                </a:solidFill>
              </a:rPr>
              <a:t>Artigo 46, inciso I, alínea “d”, do RICMS/RR.</a:t>
            </a:r>
            <a:endParaRPr lang="pt-BR" dirty="0"/>
          </a:p>
          <a:p>
            <a:pPr>
              <a:buFont typeface="Arial" panose="020B0604020202020204" pitchFamily="34" charset="0"/>
              <a:buChar char="•"/>
            </a:pPr>
            <a:r>
              <a:rPr lang="pt-BR" b="1" dirty="0"/>
              <a:t>Santa Catarina – SC:</a:t>
            </a:r>
            <a:r>
              <a:rPr lang="pt-BR" dirty="0"/>
              <a:t> </a:t>
            </a:r>
            <a:r>
              <a:rPr lang="pt-BR" dirty="0">
                <a:solidFill>
                  <a:srgbClr val="FF0000"/>
                </a:solidFill>
              </a:rPr>
              <a:t>Artigo 26, inciso I, do RICMS/SC.</a:t>
            </a:r>
            <a:endParaRPr lang="pt-BR" dirty="0"/>
          </a:p>
          <a:p>
            <a:pPr>
              <a:buFont typeface="Arial" panose="020B0604020202020204" pitchFamily="34" charset="0"/>
              <a:buChar char="•"/>
            </a:pPr>
            <a:r>
              <a:rPr lang="pt-BR" b="1" dirty="0"/>
              <a:t>São Paulo -SP:</a:t>
            </a:r>
            <a:r>
              <a:rPr lang="pt-BR" dirty="0"/>
              <a:t> </a:t>
            </a:r>
            <a:r>
              <a:rPr lang="pt-BR" dirty="0">
                <a:solidFill>
                  <a:srgbClr val="FF0000"/>
                </a:solidFill>
              </a:rPr>
              <a:t>Artigo 52, inciso I, do RICMS/SP.</a:t>
            </a:r>
            <a:endParaRPr lang="pt-BR" dirty="0"/>
          </a:p>
          <a:p>
            <a:pPr>
              <a:buFont typeface="Arial" panose="020B0604020202020204" pitchFamily="34" charset="0"/>
              <a:buChar char="•"/>
            </a:pPr>
            <a:r>
              <a:rPr lang="pt-BR" b="1" dirty="0"/>
              <a:t>Sergipe – SE:</a:t>
            </a:r>
            <a:r>
              <a:rPr lang="pt-BR" dirty="0"/>
              <a:t> </a:t>
            </a:r>
            <a:r>
              <a:rPr lang="pt-BR" dirty="0">
                <a:solidFill>
                  <a:srgbClr val="FF0000"/>
                </a:solidFill>
              </a:rPr>
              <a:t>Artigo 40, inciso I, do RICMS/SE.</a:t>
            </a:r>
            <a:endParaRPr lang="pt-BR" dirty="0"/>
          </a:p>
          <a:p>
            <a:pPr>
              <a:buFont typeface="Arial" panose="020B0604020202020204" pitchFamily="34" charset="0"/>
              <a:buChar char="•"/>
            </a:pPr>
            <a:r>
              <a:rPr lang="pt-BR" b="1" dirty="0"/>
              <a:t>Tocantins – TO:</a:t>
            </a:r>
            <a:r>
              <a:rPr lang="pt-BR" dirty="0"/>
              <a:t> </a:t>
            </a:r>
            <a:r>
              <a:rPr lang="pt-BR" dirty="0">
                <a:solidFill>
                  <a:srgbClr val="FF0000"/>
                </a:solidFill>
              </a:rPr>
              <a:t>Artigo 27, inciso II, do Código Tributário do Estado (Lei n° 1.287/2001).</a:t>
            </a:r>
            <a:endParaRPr lang="pt-BR" dirty="0"/>
          </a:p>
          <a:p>
            <a:pPr marL="0" indent="0" algn="just">
              <a:buNone/>
            </a:pPr>
            <a:endParaRPr lang="pt-BR" dirty="0"/>
          </a:p>
        </p:txBody>
      </p:sp>
    </p:spTree>
    <p:extLst>
      <p:ext uri="{BB962C8B-B14F-4D97-AF65-F5344CB8AC3E}">
        <p14:creationId xmlns:p14="http://schemas.microsoft.com/office/powerpoint/2010/main" val="24780876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Alíquota Interna</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a:bodyPr>
          <a:lstStyle/>
          <a:p>
            <a:pPr marL="0" indent="0" algn="just">
              <a:buNone/>
            </a:pPr>
            <a:r>
              <a:rPr lang="pt-BR" dirty="0" smtClean="0"/>
              <a:t>	</a:t>
            </a:r>
          </a:p>
          <a:p>
            <a:pPr marL="0" indent="0" algn="just">
              <a:buNone/>
            </a:pPr>
            <a:r>
              <a:rPr lang="pt-BR" i="1" dirty="0">
                <a:solidFill>
                  <a:srgbClr val="FF0000"/>
                </a:solidFill>
              </a:rPr>
              <a:t>Art. 18. </a:t>
            </a:r>
            <a:r>
              <a:rPr lang="pt-BR" dirty="0"/>
              <a:t>As alíquotas do imposto, seletivas em função da essencialidade das mercadorias e serviços, são:</a:t>
            </a:r>
          </a:p>
          <a:p>
            <a:pPr marL="0" indent="0" algn="just">
              <a:buNone/>
            </a:pPr>
            <a:endParaRPr lang="pt-BR" dirty="0" smtClean="0">
              <a:latin typeface="Bookman Old Style" panose="02050604050505020204" pitchFamily="18" charset="0"/>
            </a:endParaRPr>
          </a:p>
          <a:p>
            <a:pPr marL="0" indent="0" algn="just">
              <a:buNone/>
            </a:pPr>
            <a:r>
              <a:rPr lang="pt-BR" dirty="0" smtClean="0">
                <a:latin typeface="Bookman Old Style" panose="02050604050505020204" pitchFamily="18" charset="0"/>
              </a:rPr>
              <a:t>.....</a:t>
            </a:r>
          </a:p>
        </p:txBody>
      </p:sp>
    </p:spTree>
    <p:extLst>
      <p:ext uri="{BB962C8B-B14F-4D97-AF65-F5344CB8AC3E}">
        <p14:creationId xmlns:p14="http://schemas.microsoft.com/office/powerpoint/2010/main" val="226109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Fundo de Erradicação e Combate a </a:t>
            </a:r>
            <a:r>
              <a:rPr lang="pt-BR" b="1" dirty="0" err="1" smtClean="0">
                <a:latin typeface="Bookman Old Style" panose="02050604050505020204" pitchFamily="18" charset="0"/>
              </a:rPr>
              <a:t>Probreza</a:t>
            </a:r>
            <a:endParaRPr lang="pt-BR" dirty="0"/>
          </a:p>
        </p:txBody>
      </p:sp>
      <p:sp>
        <p:nvSpPr>
          <p:cNvPr id="3" name="Espaço Reservado para Conteúdo 2"/>
          <p:cNvSpPr>
            <a:spLocks noGrp="1"/>
          </p:cNvSpPr>
          <p:nvPr>
            <p:ph idx="1"/>
          </p:nvPr>
        </p:nvSpPr>
        <p:spPr>
          <a:xfrm>
            <a:off x="2589212" y="2133599"/>
            <a:ext cx="8915400" cy="4136571"/>
          </a:xfrm>
        </p:spPr>
        <p:txBody>
          <a:bodyPr>
            <a:normAutofit/>
          </a:bodyPr>
          <a:lstStyle/>
          <a:p>
            <a:pPr marL="0" indent="0" algn="ctr">
              <a:buNone/>
            </a:pPr>
            <a:endParaRPr lang="pt-BR" dirty="0" smtClean="0"/>
          </a:p>
          <a:p>
            <a:pPr marL="0" indent="0" algn="ctr">
              <a:buNone/>
            </a:pPr>
            <a:endParaRPr lang="pt-BR" dirty="0"/>
          </a:p>
          <a:p>
            <a:pPr marL="0" indent="0" algn="ctr">
              <a:buNone/>
            </a:pPr>
            <a:r>
              <a:rPr lang="pt-BR" b="1" dirty="0" smtClean="0"/>
              <a:t>No Distrito Federal – Lei n.º 5569 de 18/12/2015</a:t>
            </a:r>
            <a:endParaRPr lang="pt-BR" b="1" dirty="0"/>
          </a:p>
        </p:txBody>
      </p:sp>
    </p:spTree>
    <p:extLst>
      <p:ext uri="{BB962C8B-B14F-4D97-AF65-F5344CB8AC3E}">
        <p14:creationId xmlns:p14="http://schemas.microsoft.com/office/powerpoint/2010/main" val="1409787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Opção Pela Condição de Substituto Tributário</a:t>
            </a:r>
            <a:endParaRPr lang="pt-BR" b="1" dirty="0">
              <a:latin typeface="Bookman Old Style" panose="02050604050505020204" pitchFamily="18" charset="0"/>
            </a:endParaRPr>
          </a:p>
        </p:txBody>
      </p:sp>
      <p:sp>
        <p:nvSpPr>
          <p:cNvPr id="3" name="Espaço Reservado para Conteúdo 2"/>
          <p:cNvSpPr>
            <a:spLocks noGrp="1"/>
          </p:cNvSpPr>
          <p:nvPr>
            <p:ph idx="1"/>
          </p:nvPr>
        </p:nvSpPr>
        <p:spPr>
          <a:xfrm>
            <a:off x="2591068" y="2120900"/>
            <a:ext cx="8915400" cy="3777622"/>
          </a:xfrm>
        </p:spPr>
        <p:txBody>
          <a:bodyPr/>
          <a:lstStyle/>
          <a:p>
            <a:pPr marL="0" indent="0" algn="just">
              <a:buNone/>
            </a:pPr>
            <a:endParaRPr lang="pt-BR" dirty="0" smtClean="0"/>
          </a:p>
          <a:p>
            <a:pPr marL="0" indent="0" algn="just">
              <a:buNone/>
            </a:pPr>
            <a:r>
              <a:rPr lang="pt-BR" dirty="0" smtClean="0"/>
              <a:t>Nas </a:t>
            </a:r>
            <a:r>
              <a:rPr lang="pt-BR" dirty="0"/>
              <a:t>operações com mercadorias na Lei nº 5569/2015 obrigadas ao recolhimento do adicional de dois por cento do ICMS referente ao Fundo de Combate a Pobreza  deverá ser recolhido em DAR separado do ICMS ST. </a:t>
            </a:r>
          </a:p>
          <a:p>
            <a:pPr marL="0" indent="0" algn="just">
              <a:buNone/>
            </a:pPr>
            <a:endParaRPr lang="pt-BR" dirty="0" smtClean="0"/>
          </a:p>
        </p:txBody>
      </p:sp>
    </p:spTree>
    <p:extLst>
      <p:ext uri="{BB962C8B-B14F-4D97-AF65-F5344CB8AC3E}">
        <p14:creationId xmlns:p14="http://schemas.microsoft.com/office/powerpoint/2010/main" val="2369875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Substituição Tributária</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a:bodyPr>
          <a:lstStyle/>
          <a:p>
            <a:pPr marL="0" indent="0" algn="just">
              <a:lnSpc>
                <a:spcPct val="150000"/>
              </a:lnSpc>
              <a:buNone/>
            </a:pPr>
            <a:r>
              <a:rPr lang="pt-BR" dirty="0"/>
              <a:t>O recolhimento do ICMS ST é a antecipação do ICMS que a empresa (comércio) do seu cliente pagaria ao vender aquela mercadoria ao consumidor final. </a:t>
            </a:r>
            <a:r>
              <a:rPr lang="pt-BR" b="1" i="1" dirty="0"/>
              <a:t>Portanto, o pagamento do ICMS ST não é uma despesa para a empresa que recolhe. </a:t>
            </a:r>
          </a:p>
          <a:p>
            <a:pPr algn="just">
              <a:lnSpc>
                <a:spcPct val="150000"/>
              </a:lnSpc>
            </a:pPr>
            <a:endParaRPr lang="pt-BR" b="1" i="1" dirty="0"/>
          </a:p>
          <a:p>
            <a:pPr marL="0" indent="0" algn="just">
              <a:lnSpc>
                <a:spcPct val="150000"/>
              </a:lnSpc>
              <a:buNone/>
            </a:pPr>
            <a:r>
              <a:rPr lang="pt-BR" dirty="0"/>
              <a:t>Por quê? Pois o valor destacado na nota fiscal no campo "Substituição Tributária“ diminuído do valor do ICMS Normal, será reembolsado para essa mesma empresa que recolheu o imposto no recebimento desta venda. </a:t>
            </a:r>
          </a:p>
          <a:p>
            <a:pPr marL="0" indent="0">
              <a:buNone/>
            </a:pPr>
            <a:endParaRPr lang="pt-BR" dirty="0"/>
          </a:p>
        </p:txBody>
      </p:sp>
    </p:spTree>
    <p:extLst>
      <p:ext uri="{BB962C8B-B14F-4D97-AF65-F5344CB8AC3E}">
        <p14:creationId xmlns:p14="http://schemas.microsoft.com/office/powerpoint/2010/main" val="2413677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Exemplo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lstStyle/>
          <a:p>
            <a:pPr marL="0" indent="0">
              <a:buNone/>
            </a:pPr>
            <a:endParaRPr lang="pt-BR" dirty="0" smtClean="0"/>
          </a:p>
          <a:p>
            <a:pPr marL="0" indent="0">
              <a:buNone/>
            </a:pPr>
            <a:r>
              <a:rPr lang="pt-BR" dirty="0" smtClean="0"/>
              <a:t>Valor da Mercadoria R$ 1.000,00</a:t>
            </a:r>
          </a:p>
          <a:p>
            <a:pPr marL="0" indent="0">
              <a:buNone/>
            </a:pPr>
            <a:r>
              <a:rPr lang="pt-BR" dirty="0" smtClean="0"/>
              <a:t>MVA ajustada 78%</a:t>
            </a:r>
          </a:p>
          <a:p>
            <a:pPr marL="0" indent="0">
              <a:buNone/>
            </a:pPr>
            <a:r>
              <a:rPr lang="pt-BR" dirty="0" smtClean="0"/>
              <a:t>Estado de Origem: SP</a:t>
            </a:r>
          </a:p>
          <a:p>
            <a:pPr marL="0" indent="0">
              <a:buNone/>
            </a:pPr>
            <a:r>
              <a:rPr lang="pt-BR" dirty="0" smtClean="0"/>
              <a:t>Estado de Destino: DF</a:t>
            </a:r>
          </a:p>
          <a:p>
            <a:pPr marL="0" indent="0">
              <a:buNone/>
            </a:pPr>
            <a:r>
              <a:rPr lang="pt-BR" dirty="0" smtClean="0"/>
              <a:t>Produto Nacional</a:t>
            </a:r>
            <a:endParaRPr lang="pt-BR" dirty="0"/>
          </a:p>
        </p:txBody>
      </p:sp>
    </p:spTree>
    <p:extLst>
      <p:ext uri="{BB962C8B-B14F-4D97-AF65-F5344CB8AC3E}">
        <p14:creationId xmlns:p14="http://schemas.microsoft.com/office/powerpoint/2010/main" val="2513201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Exemplo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lstStyle/>
          <a:p>
            <a:pPr marL="0" indent="0">
              <a:buNone/>
            </a:pPr>
            <a:endParaRPr lang="pt-BR" dirty="0" smtClean="0"/>
          </a:p>
          <a:p>
            <a:pPr marL="0" indent="0">
              <a:buNone/>
            </a:pPr>
            <a:r>
              <a:rPr lang="pt-BR" dirty="0"/>
              <a:t>Valor da Mercadoria R$ 1.000,00</a:t>
            </a:r>
          </a:p>
          <a:p>
            <a:pPr marL="0" indent="0">
              <a:buNone/>
            </a:pPr>
            <a:r>
              <a:rPr lang="pt-BR" dirty="0"/>
              <a:t>MVA </a:t>
            </a:r>
            <a:r>
              <a:rPr lang="pt-BR" dirty="0" smtClean="0"/>
              <a:t>ajustada </a:t>
            </a:r>
            <a:r>
              <a:rPr lang="pt-BR" dirty="0"/>
              <a:t>49%</a:t>
            </a:r>
          </a:p>
          <a:p>
            <a:pPr marL="0" indent="0">
              <a:buNone/>
            </a:pPr>
            <a:r>
              <a:rPr lang="pt-BR" dirty="0"/>
              <a:t>Estado de Origem: CE</a:t>
            </a:r>
          </a:p>
          <a:p>
            <a:pPr marL="0" indent="0">
              <a:buNone/>
            </a:pPr>
            <a:r>
              <a:rPr lang="pt-BR" dirty="0"/>
              <a:t>Estado de Destino: DF</a:t>
            </a:r>
          </a:p>
          <a:p>
            <a:pPr marL="0" indent="0">
              <a:buNone/>
            </a:pPr>
            <a:r>
              <a:rPr lang="pt-BR" dirty="0"/>
              <a:t>Produto </a:t>
            </a:r>
            <a:r>
              <a:rPr lang="pt-BR" dirty="0" smtClean="0"/>
              <a:t>Impostado</a:t>
            </a:r>
            <a:endParaRPr lang="pt-BR" dirty="0"/>
          </a:p>
        </p:txBody>
      </p:sp>
    </p:spTree>
    <p:extLst>
      <p:ext uri="{BB962C8B-B14F-4D97-AF65-F5344CB8AC3E}">
        <p14:creationId xmlns:p14="http://schemas.microsoft.com/office/powerpoint/2010/main" val="1804764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Base de Cálculo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fontScale="92500" lnSpcReduction="10000"/>
          </a:bodyPr>
          <a:lstStyle/>
          <a:p>
            <a:pPr marL="0" indent="0" algn="just">
              <a:lnSpc>
                <a:spcPct val="150000"/>
              </a:lnSpc>
              <a:buNone/>
            </a:pPr>
            <a:r>
              <a:rPr lang="pt-BR" b="1" i="1" dirty="0"/>
              <a:t>A Lei Complementar nº 87/96 em seu artigo 8º</a:t>
            </a:r>
            <a:r>
              <a:rPr lang="pt-BR" dirty="0"/>
              <a:t>, ao tratar do regime de sujeição passiva por substituição, determina que a base de cálculo será o valor correspondente ao preço de venda a consumidor acrescido do valor do frete, IPI e demais despesas debitadas ao estabelecimento destinatário, bem como a parcela resultante da aplicação (sobre esse total) do percentual de valor agregado (margem de lucro). Esse percentual é estabelecido em cada caso de acordo com as peculiaridades de cada mercadoria.</a:t>
            </a:r>
          </a:p>
          <a:p>
            <a:pPr algn="just">
              <a:lnSpc>
                <a:spcPct val="150000"/>
              </a:lnSpc>
            </a:pPr>
            <a:endParaRPr lang="pt-BR" dirty="0">
              <a:solidFill>
                <a:srgbClr val="002060"/>
              </a:solidFill>
            </a:endParaRPr>
          </a:p>
          <a:p>
            <a:pPr marL="0" indent="0" algn="just">
              <a:lnSpc>
                <a:spcPct val="150000"/>
              </a:lnSpc>
              <a:buNone/>
            </a:pPr>
            <a:r>
              <a:rPr lang="pt-BR" b="1" dirty="0">
                <a:solidFill>
                  <a:srgbClr val="C00000"/>
                </a:solidFill>
              </a:rPr>
              <a:t>BC = (Valor mercadoria + frete + IPI + outras despesas) x margem de lucro.</a:t>
            </a:r>
          </a:p>
          <a:p>
            <a:pPr marL="0" indent="0">
              <a:buNone/>
            </a:pPr>
            <a:endParaRPr lang="pt-BR" dirty="0">
              <a:latin typeface="Bookman Old Style" panose="02050604050505020204" pitchFamily="18" charset="0"/>
            </a:endParaRPr>
          </a:p>
        </p:txBody>
      </p:sp>
    </p:spTree>
    <p:extLst>
      <p:ext uri="{BB962C8B-B14F-4D97-AF65-F5344CB8AC3E}">
        <p14:creationId xmlns:p14="http://schemas.microsoft.com/office/powerpoint/2010/main" val="4199733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Base de Cálculo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a:xfrm>
            <a:off x="2589212" y="2133600"/>
            <a:ext cx="8915400" cy="4159624"/>
          </a:xfrm>
        </p:spPr>
        <p:txBody>
          <a:bodyPr/>
          <a:lstStyle/>
          <a:p>
            <a:pPr marL="0" indent="0" algn="just">
              <a:lnSpc>
                <a:spcPct val="150000"/>
              </a:lnSpc>
              <a:buNone/>
            </a:pPr>
            <a:r>
              <a:rPr lang="pt-BR" b="1" i="1" dirty="0"/>
              <a:t>Art. 8º </a:t>
            </a:r>
            <a:r>
              <a:rPr lang="pt-BR" b="1" dirty="0"/>
              <a:t>A base de cálculo</a:t>
            </a:r>
            <a:r>
              <a:rPr lang="pt-BR" dirty="0"/>
              <a:t>, para fins de substituição tributária, será:</a:t>
            </a:r>
          </a:p>
          <a:p>
            <a:pPr marL="0" indent="0" algn="just">
              <a:lnSpc>
                <a:spcPct val="150000"/>
              </a:lnSpc>
              <a:buNone/>
            </a:pPr>
            <a:endParaRPr lang="pt-BR" dirty="0" smtClean="0"/>
          </a:p>
          <a:p>
            <a:pPr marL="0" indent="0" algn="just">
              <a:lnSpc>
                <a:spcPct val="150000"/>
              </a:lnSpc>
              <a:buNone/>
            </a:pPr>
            <a:r>
              <a:rPr lang="pt-BR" b="1" dirty="0" smtClean="0"/>
              <a:t>I </a:t>
            </a:r>
            <a:r>
              <a:rPr lang="pt-BR" b="1" dirty="0"/>
              <a:t>- </a:t>
            </a:r>
            <a:r>
              <a:rPr lang="pt-BR" dirty="0"/>
              <a:t>em relação às operações ou prestações antecedentes ou concomitantes, o valor da operação ou prestação praticado pelo contribuinte substituído;</a:t>
            </a:r>
          </a:p>
          <a:p>
            <a:pPr marL="0" indent="0" algn="just">
              <a:buNone/>
            </a:pPr>
            <a:endParaRPr lang="pt-BR" dirty="0">
              <a:latin typeface="Bookman Old Style" panose="02050604050505020204" pitchFamily="18" charset="0"/>
            </a:endParaRPr>
          </a:p>
        </p:txBody>
      </p:sp>
    </p:spTree>
    <p:extLst>
      <p:ext uri="{BB962C8B-B14F-4D97-AF65-F5344CB8AC3E}">
        <p14:creationId xmlns:p14="http://schemas.microsoft.com/office/powerpoint/2010/main" val="12766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Base de Cálculo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a:xfrm>
            <a:off x="2589212" y="1905000"/>
            <a:ext cx="8915400" cy="4316506"/>
          </a:xfrm>
        </p:spPr>
        <p:txBody>
          <a:bodyPr>
            <a:normAutofit fontScale="92500" lnSpcReduction="10000"/>
          </a:bodyPr>
          <a:lstStyle/>
          <a:p>
            <a:pPr marL="0" indent="0" algn="just">
              <a:buNone/>
            </a:pPr>
            <a:r>
              <a:rPr lang="pt-BR" b="1" i="1" dirty="0"/>
              <a:t>Art. 8º </a:t>
            </a:r>
            <a:r>
              <a:rPr lang="pt-BR" b="1" dirty="0"/>
              <a:t>A base de cálculo</a:t>
            </a:r>
            <a:r>
              <a:rPr lang="pt-BR" dirty="0"/>
              <a:t>, para fins de substituição tributária, será:</a:t>
            </a:r>
          </a:p>
          <a:p>
            <a:pPr marL="0" indent="0" algn="just">
              <a:buNone/>
            </a:pPr>
            <a:endParaRPr lang="pt-BR" dirty="0" smtClean="0"/>
          </a:p>
          <a:p>
            <a:pPr marL="0" indent="0" algn="just">
              <a:buNone/>
            </a:pPr>
            <a:r>
              <a:rPr lang="pt-BR" b="1" dirty="0" smtClean="0"/>
              <a:t>II </a:t>
            </a:r>
            <a:r>
              <a:rPr lang="pt-BR" b="1" dirty="0"/>
              <a:t>- </a:t>
            </a:r>
            <a:r>
              <a:rPr lang="pt-BR" dirty="0"/>
              <a:t>em relação às operações ou prestações subsequentes, obtida pelo somatório das parcelas seguintes:</a:t>
            </a:r>
          </a:p>
          <a:p>
            <a:pPr marL="355600" algn="just"/>
            <a:endParaRPr lang="pt-BR" dirty="0"/>
          </a:p>
          <a:p>
            <a:pPr marL="12700" indent="0" algn="just">
              <a:buNone/>
            </a:pPr>
            <a:r>
              <a:rPr lang="pt-BR" b="1" dirty="0"/>
              <a:t>a) </a:t>
            </a:r>
            <a:r>
              <a:rPr lang="pt-BR" dirty="0"/>
              <a:t>o valor da operação ou prestação própria realizada pelo substituto tributário ou pelo substituído intermediário;</a:t>
            </a:r>
          </a:p>
          <a:p>
            <a:pPr marL="355600" algn="just"/>
            <a:endParaRPr lang="pt-BR" dirty="0"/>
          </a:p>
          <a:p>
            <a:pPr marL="12700" indent="0" algn="just">
              <a:buNone/>
            </a:pPr>
            <a:r>
              <a:rPr lang="pt-BR" b="1" dirty="0"/>
              <a:t>b) </a:t>
            </a:r>
            <a:r>
              <a:rPr lang="pt-BR" dirty="0"/>
              <a:t>o montante dos valores de seguro, de frete e de outros encargos cobrados ou transferíveis aos adquirentes ou tomadores de serviço;</a:t>
            </a:r>
          </a:p>
          <a:p>
            <a:pPr marL="355600" algn="just"/>
            <a:endParaRPr lang="pt-BR" dirty="0"/>
          </a:p>
          <a:p>
            <a:pPr marL="12700" indent="0" algn="just">
              <a:buNone/>
            </a:pPr>
            <a:r>
              <a:rPr lang="pt-BR" b="1" dirty="0"/>
              <a:t>c) </a:t>
            </a:r>
            <a:r>
              <a:rPr lang="pt-BR" dirty="0"/>
              <a:t>a margem de valor agregado, inclusive lucro, relativa às operações ou prestações subsequentes.</a:t>
            </a:r>
          </a:p>
          <a:p>
            <a:pPr marL="0" indent="0" algn="just">
              <a:buNone/>
            </a:pPr>
            <a:endParaRPr lang="pt-BR" dirty="0">
              <a:latin typeface="Bookman Old Style" panose="02050604050505020204" pitchFamily="18" charset="0"/>
            </a:endParaRPr>
          </a:p>
        </p:txBody>
      </p:sp>
    </p:spTree>
    <p:extLst>
      <p:ext uri="{BB962C8B-B14F-4D97-AF65-F5344CB8AC3E}">
        <p14:creationId xmlns:p14="http://schemas.microsoft.com/office/powerpoint/2010/main" val="1559868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Base de Cálculo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a:xfrm>
            <a:off x="2169459" y="1905000"/>
            <a:ext cx="9338866" cy="4065494"/>
          </a:xfrm>
        </p:spPr>
        <p:txBody>
          <a:bodyPr>
            <a:normAutofit/>
          </a:bodyPr>
          <a:lstStyle/>
          <a:p>
            <a:pPr marL="0" indent="0" algn="just">
              <a:lnSpc>
                <a:spcPct val="150000"/>
              </a:lnSpc>
              <a:buNone/>
            </a:pPr>
            <a:r>
              <a:rPr lang="pt-BR" dirty="0"/>
              <a:t>Para isso ser possível, o primeiro passo foi entender quais produtos o governo tinha conhecimento de toda a cadeia e, depois, entender qual seria a média dos valores negociados para ser recolhido. Após muito estudo, foi criada a </a:t>
            </a:r>
            <a:r>
              <a:rPr lang="pt-BR" b="1" dirty="0"/>
              <a:t>MVA - Margem de Valor Agregado</a:t>
            </a:r>
            <a:r>
              <a:rPr lang="pt-BR" dirty="0"/>
              <a:t> ou </a:t>
            </a:r>
            <a:r>
              <a:rPr lang="pt-BR" b="1" dirty="0"/>
              <a:t>IVA - Índice de Valor Adicionado Setorial</a:t>
            </a:r>
            <a:r>
              <a:rPr lang="pt-BR" dirty="0"/>
              <a:t>, que nada mais é do que um percentual que será adicionado ao valor do produto na hora de gerar a base de cálculo do ICMS por Substituição tributária (ICMS-ST). </a:t>
            </a:r>
          </a:p>
          <a:p>
            <a:pPr marL="0" indent="0" algn="just">
              <a:lnSpc>
                <a:spcPct val="150000"/>
              </a:lnSpc>
              <a:buNone/>
            </a:pPr>
            <a:endParaRPr lang="pt-BR" dirty="0">
              <a:latin typeface="Bookman Old Style" panose="02050604050505020204" pitchFamily="18" charset="0"/>
            </a:endParaRPr>
          </a:p>
        </p:txBody>
      </p:sp>
    </p:spTree>
    <p:extLst>
      <p:ext uri="{BB962C8B-B14F-4D97-AF65-F5344CB8AC3E}">
        <p14:creationId xmlns:p14="http://schemas.microsoft.com/office/powerpoint/2010/main" val="709512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Cálculo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a:xfrm>
            <a:off x="2589212" y="1905000"/>
            <a:ext cx="8915400" cy="4316506"/>
          </a:xfrm>
        </p:spPr>
        <p:txBody>
          <a:bodyPr>
            <a:normAutofit/>
          </a:bodyPr>
          <a:lstStyle/>
          <a:p>
            <a:pPr marL="0" indent="0" algn="just">
              <a:lnSpc>
                <a:spcPct val="150000"/>
              </a:lnSpc>
              <a:buNone/>
            </a:pPr>
            <a:r>
              <a:rPr lang="pt-BR" b="1" dirty="0">
                <a:latin typeface="Calibri" panose="020F0502020204030204" pitchFamily="34" charset="0"/>
                <a:ea typeface="Calibri" panose="020F0502020204030204" pitchFamily="34" charset="0"/>
                <a:cs typeface="Times New Roman" panose="02020603050405020304" pitchFamily="18" charset="0"/>
              </a:rPr>
              <a:t>Forma de </a:t>
            </a:r>
            <a:r>
              <a:rPr lang="pt-BR" b="1" dirty="0" smtClean="0">
                <a:latin typeface="Calibri" panose="020F0502020204030204" pitchFamily="34" charset="0"/>
                <a:ea typeface="Calibri" panose="020F0502020204030204" pitchFamily="34" charset="0"/>
                <a:cs typeface="Times New Roman" panose="02020603050405020304" pitchFamily="18" charset="0"/>
              </a:rPr>
              <a:t>cálculo</a:t>
            </a:r>
            <a:endParaRPr lang="pt-BR" dirty="0" smtClean="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endParaRPr lang="pt-BR"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Como </a:t>
            </a:r>
            <a:r>
              <a:rPr lang="pt-BR" dirty="0">
                <a:latin typeface="Calibri" panose="020F0502020204030204" pitchFamily="34" charset="0"/>
                <a:ea typeface="Calibri" panose="020F0502020204030204" pitchFamily="34" charset="0"/>
                <a:cs typeface="Times New Roman" panose="02020603050405020304" pitchFamily="18" charset="0"/>
              </a:rPr>
              <a:t>o contribuinte substituto pratica o fato gerador ao promover a saída das mercadorias de seu estabelecimento e, pela sistemática do regime, paga o ICMS em relação aos fatos geradores futuros praticados pelos contribuintes substituídos, sabemos que este terá</a:t>
            </a:r>
            <a:r>
              <a:rPr lang="pt-BR" dirty="0" smtClean="0">
                <a:latin typeface="Calibri" panose="020F0502020204030204" pitchFamily="34" charset="0"/>
                <a:ea typeface="Calibri" panose="020F0502020204030204" pitchFamily="34" charset="0"/>
                <a:cs typeface="Times New Roman" panose="02020603050405020304" pitchFamily="18" charset="0"/>
              </a:rPr>
              <a:t>:</a:t>
            </a:r>
            <a:r>
              <a:rPr lang="pt-BR" dirty="0">
                <a:latin typeface="Calibri" panose="020F0502020204030204" pitchFamily="34" charset="0"/>
                <a:ea typeface="Calibri" panose="020F0502020204030204" pitchFamily="34" charset="0"/>
                <a:cs typeface="Times New Roman" panose="02020603050405020304" pitchFamily="18" charset="0"/>
              </a:rPr>
              <a:t> </a:t>
            </a:r>
            <a:endParaRPr lang="pt-BR" dirty="0" smtClean="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endParaRPr lang="pt-BR"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a) o </a:t>
            </a:r>
            <a:r>
              <a:rPr lang="pt-BR" dirty="0">
                <a:latin typeface="Calibri" panose="020F0502020204030204" pitchFamily="34" charset="0"/>
                <a:ea typeface="Calibri" panose="020F0502020204030204" pitchFamily="34" charset="0"/>
                <a:cs typeface="Times New Roman" panose="02020603050405020304" pitchFamily="18" charset="0"/>
              </a:rPr>
              <a:t>ICMS da operação própria;</a:t>
            </a:r>
          </a:p>
          <a:p>
            <a:pPr marL="0"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b) o </a:t>
            </a:r>
            <a:r>
              <a:rPr lang="pt-BR" dirty="0">
                <a:latin typeface="Calibri" panose="020F0502020204030204" pitchFamily="34" charset="0"/>
                <a:ea typeface="Calibri" panose="020F0502020204030204" pitchFamily="34" charset="0"/>
                <a:cs typeface="Times New Roman" panose="02020603050405020304" pitchFamily="18" charset="0"/>
              </a:rPr>
              <a:t>ICMS das operações subsequentes.</a:t>
            </a:r>
          </a:p>
          <a:p>
            <a:pPr marL="0" indent="0" algn="just">
              <a:buNone/>
            </a:pPr>
            <a:endParaRPr lang="pt-BR" dirty="0"/>
          </a:p>
        </p:txBody>
      </p:sp>
    </p:spTree>
    <p:extLst>
      <p:ext uri="{BB962C8B-B14F-4D97-AF65-F5344CB8AC3E}">
        <p14:creationId xmlns:p14="http://schemas.microsoft.com/office/powerpoint/2010/main" val="2942845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Cálculo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normAutofit lnSpcReduction="10000"/>
          </a:bodyPr>
          <a:lstStyle/>
          <a:p>
            <a:pPr indent="0" algn="just">
              <a:buNone/>
            </a:pPr>
            <a:r>
              <a:rPr lang="pt-BR" dirty="0" smtClean="0">
                <a:latin typeface="Calibri" panose="020F0502020204030204" pitchFamily="34" charset="0"/>
                <a:ea typeface="Calibri" panose="020F0502020204030204" pitchFamily="34" charset="0"/>
                <a:cs typeface="Times New Roman" panose="02020603050405020304" pitchFamily="18" charset="0"/>
              </a:rPr>
              <a:t>Consideramos</a:t>
            </a:r>
            <a:r>
              <a:rPr lang="pt-BR" dirty="0">
                <a:latin typeface="Calibri" panose="020F0502020204030204" pitchFamily="34" charset="0"/>
                <a:ea typeface="Calibri" panose="020F0502020204030204" pitchFamily="34" charset="0"/>
                <a:cs typeface="Times New Roman" panose="02020603050405020304" pitchFamily="18" charset="0"/>
              </a:rPr>
              <a:t>, para fins de exemplificação, uma operação realizada por um fabricante </a:t>
            </a:r>
            <a:r>
              <a:rPr lang="pt-BR" dirty="0" smtClean="0">
                <a:latin typeface="Calibri" panose="020F0502020204030204" pitchFamily="34" charset="0"/>
                <a:ea typeface="Calibri" panose="020F0502020204030204" pitchFamily="34" charset="0"/>
                <a:cs typeface="Times New Roman" panose="02020603050405020304" pitchFamily="18" charset="0"/>
              </a:rPr>
              <a:t>de lâmpadas </a:t>
            </a:r>
            <a:r>
              <a:rPr lang="pt-BR" dirty="0">
                <a:latin typeface="Calibri" panose="020F0502020204030204" pitchFamily="34" charset="0"/>
                <a:ea typeface="Calibri" panose="020F0502020204030204" pitchFamily="34" charset="0"/>
                <a:cs typeface="Times New Roman" panose="02020603050405020304" pitchFamily="18" charset="0"/>
              </a:rPr>
              <a:t>estabelecido no Estado do Goiás com destino a um cliente localizado no Distrito Federal, cujo valor da venda é de R$ 1.000,00 e com IPI calculado a uma alíquota de 15%, teremos:</a:t>
            </a:r>
          </a:p>
          <a:p>
            <a:pPr indent="0" algn="just">
              <a:buNone/>
            </a:pPr>
            <a:endParaRPr lang="pt-BR" dirty="0">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pt-BR" dirty="0" smtClean="0">
                <a:latin typeface="Calibri" panose="020F0502020204030204" pitchFamily="34" charset="0"/>
                <a:ea typeface="Calibri" panose="020F0502020204030204" pitchFamily="34" charset="0"/>
                <a:cs typeface="Times New Roman" panose="02020603050405020304" pitchFamily="18" charset="0"/>
              </a:rPr>
              <a:t>      ICMS </a:t>
            </a:r>
            <a:r>
              <a:rPr lang="pt-BR" dirty="0">
                <a:latin typeface="Calibri" panose="020F0502020204030204" pitchFamily="34" charset="0"/>
                <a:ea typeface="Calibri" panose="020F0502020204030204" pitchFamily="34" charset="0"/>
                <a:cs typeface="Times New Roman" panose="02020603050405020304" pitchFamily="18" charset="0"/>
              </a:rPr>
              <a:t>da operação própria – R$ 1.000,00 x 12% (origem GO destino DF) = R$ 120,00</a:t>
            </a:r>
          </a:p>
          <a:p>
            <a:pPr marL="0" indent="0" algn="just">
              <a:buNone/>
            </a:pPr>
            <a:endParaRPr lang="pt-BR" dirty="0" smtClean="0">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pt-BR" dirty="0" smtClean="0">
                <a:latin typeface="Calibri" panose="020F0502020204030204" pitchFamily="34" charset="0"/>
                <a:ea typeface="Calibri" panose="020F0502020204030204" pitchFamily="34" charset="0"/>
                <a:cs typeface="Times New Roman" panose="02020603050405020304" pitchFamily="18" charset="0"/>
              </a:rPr>
              <a:t>      Base </a:t>
            </a:r>
            <a:r>
              <a:rPr lang="pt-BR" dirty="0">
                <a:latin typeface="Calibri" panose="020F0502020204030204" pitchFamily="34" charset="0"/>
                <a:ea typeface="Calibri" panose="020F0502020204030204" pitchFamily="34" charset="0"/>
                <a:cs typeface="Times New Roman" panose="02020603050405020304" pitchFamily="18" charset="0"/>
              </a:rPr>
              <a:t>cálculo da ST – R$ 1.000,00 + R$ 150,00 (IPI) + 58,83% (margem de valor agregado) = </a:t>
            </a:r>
            <a:r>
              <a:rPr lang="pt-BR" dirty="0" smtClean="0">
                <a:latin typeface="Calibri" panose="020F0502020204030204" pitchFamily="34" charset="0"/>
                <a:ea typeface="Calibri" panose="020F0502020204030204" pitchFamily="34" charset="0"/>
                <a:cs typeface="Times New Roman" panose="02020603050405020304" pitchFamily="18" charset="0"/>
              </a:rPr>
              <a:t>         R</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smtClean="0">
                <a:latin typeface="Calibri" panose="020F0502020204030204" pitchFamily="34" charset="0"/>
                <a:ea typeface="Calibri" panose="020F0502020204030204" pitchFamily="34" charset="0"/>
                <a:cs typeface="Times New Roman" panose="02020603050405020304" pitchFamily="18" charset="0"/>
              </a:rPr>
              <a:t>1.826,55</a:t>
            </a:r>
          </a:p>
          <a:p>
            <a:pPr marL="0" indent="0" algn="just">
              <a:buNone/>
            </a:pPr>
            <a:endParaRPr lang="pt-BR" dirty="0">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pt-BR" dirty="0" smtClean="0">
                <a:latin typeface="Calibri" panose="020F0502020204030204" pitchFamily="34" charset="0"/>
                <a:ea typeface="Calibri" panose="020F0502020204030204" pitchFamily="34" charset="0"/>
                <a:cs typeface="Times New Roman" panose="02020603050405020304" pitchFamily="18" charset="0"/>
              </a:rPr>
              <a:t>     R</a:t>
            </a:r>
            <a:r>
              <a:rPr lang="pt-BR" dirty="0">
                <a:latin typeface="Calibri" panose="020F0502020204030204" pitchFamily="34" charset="0"/>
                <a:ea typeface="Calibri" panose="020F0502020204030204" pitchFamily="34" charset="0"/>
                <a:cs typeface="Times New Roman" panose="02020603050405020304" pitchFamily="18" charset="0"/>
              </a:rPr>
              <a:t>$ 1.826,55 x 18% (alíquota interna praticada no Distrito Federal) = R$ 328,78</a:t>
            </a:r>
          </a:p>
        </p:txBody>
      </p:sp>
    </p:spTree>
    <p:extLst>
      <p:ext uri="{BB962C8B-B14F-4D97-AF65-F5344CB8AC3E}">
        <p14:creationId xmlns:p14="http://schemas.microsoft.com/office/powerpoint/2010/main" val="1806357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Cálculo</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Como</a:t>
            </a:r>
            <a:r>
              <a:rPr lang="pt-BR" dirty="0">
                <a:latin typeface="Calibri" panose="020F0502020204030204" pitchFamily="34" charset="0"/>
                <a:ea typeface="Calibri" panose="020F0502020204030204" pitchFamily="34" charset="0"/>
                <a:cs typeface="Times New Roman" panose="02020603050405020304" pitchFamily="18" charset="0"/>
              </a:rPr>
              <a:t>, </a:t>
            </a:r>
            <a:r>
              <a:rPr lang="pt-BR" dirty="0" smtClean="0">
                <a:latin typeface="Calibri" panose="020F0502020204030204" pitchFamily="34" charset="0"/>
                <a:ea typeface="Calibri" panose="020F0502020204030204" pitchFamily="34" charset="0"/>
                <a:cs typeface="Times New Roman" panose="02020603050405020304" pitchFamily="18" charset="0"/>
              </a:rPr>
              <a:t>de conformidade com o citado, o valor do imposto substituição será a diferença entre o calculado de acordo com o estabelecido no subitem “Base de cálculo” e o devido pela operação normal do estabelecimento que efetuar a substituição tributária, teremos :</a:t>
            </a:r>
          </a:p>
          <a:p>
            <a:pPr indent="449580" algn="just">
              <a:lnSpc>
                <a:spcPct val="150000"/>
              </a:lnSpc>
            </a:pPr>
            <a:endParaRPr lang="pt-BR" dirty="0" smtClean="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       R$ 328,78 – R$ 120,00 = </a:t>
            </a:r>
            <a:r>
              <a:rPr lang="pt-BR" b="1" dirty="0" smtClean="0">
                <a:latin typeface="Calibri" panose="020F0502020204030204" pitchFamily="34" charset="0"/>
                <a:ea typeface="Calibri" panose="020F0502020204030204" pitchFamily="34" charset="0"/>
                <a:cs typeface="Times New Roman" panose="02020603050405020304" pitchFamily="18" charset="0"/>
              </a:rPr>
              <a:t>R$ 208,78</a:t>
            </a:r>
            <a:r>
              <a:rPr lang="pt-BR" dirty="0" smtClean="0">
                <a:latin typeface="Calibri" panose="020F0502020204030204" pitchFamily="34" charset="0"/>
                <a:ea typeface="Calibri" panose="020F0502020204030204" pitchFamily="34" charset="0"/>
                <a:cs typeface="Times New Roman" panose="02020603050405020304" pitchFamily="18" charset="0"/>
              </a:rPr>
              <a:t> </a:t>
            </a:r>
          </a:p>
          <a:p>
            <a:endParaRPr lang="pt-BR" dirty="0"/>
          </a:p>
        </p:txBody>
      </p:sp>
    </p:spTree>
    <p:extLst>
      <p:ext uri="{BB962C8B-B14F-4D97-AF65-F5344CB8AC3E}">
        <p14:creationId xmlns:p14="http://schemas.microsoft.com/office/powerpoint/2010/main" val="21166292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Cálculo</a:t>
            </a:r>
            <a:endParaRPr lang="pt-BR" dirty="0"/>
          </a:p>
        </p:txBody>
      </p:sp>
      <p:pic>
        <p:nvPicPr>
          <p:cNvPr id="4" name="Espaço Reservado para Conteúdo 3"/>
          <p:cNvPicPr>
            <a:picLocks noGrp="1" noChangeAspect="1"/>
          </p:cNvPicPr>
          <p:nvPr>
            <p:ph idx="1"/>
          </p:nvPr>
        </p:nvPicPr>
        <p:blipFill>
          <a:blip r:embed="rId2"/>
          <a:stretch>
            <a:fillRect/>
          </a:stretch>
        </p:blipFill>
        <p:spPr>
          <a:xfrm>
            <a:off x="2592925" y="2049929"/>
            <a:ext cx="7886700" cy="2762250"/>
          </a:xfrm>
          <a:prstGeom prst="rect">
            <a:avLst/>
          </a:prstGeom>
        </p:spPr>
      </p:pic>
    </p:spTree>
    <p:extLst>
      <p:ext uri="{BB962C8B-B14F-4D97-AF65-F5344CB8AC3E}">
        <p14:creationId xmlns:p14="http://schemas.microsoft.com/office/powerpoint/2010/main" val="2892054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MVA</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indent="0" algn="just">
              <a:lnSpc>
                <a:spcPct val="150000"/>
              </a:lnSpc>
              <a:buNone/>
            </a:pPr>
            <a:r>
              <a:rPr lang="pt-BR" dirty="0"/>
              <a:t>A partir da necessidade de se equiparar as tributações das operações internas com as das operações interestaduais, </a:t>
            </a:r>
            <a:r>
              <a:rPr lang="pt-BR" b="1" dirty="0"/>
              <a:t>foi criada a MVA Ajustada</a:t>
            </a:r>
            <a:r>
              <a:rPr lang="pt-BR" dirty="0"/>
              <a:t>, a ser utilizada nas hipóteses em que a alíquota interna for superior à alíquota interestadual e que possibilita o equilíbrio das cargas tributárias nas duas hipóteses de aquisição, mediante uma certa elevação do percentual de MVA.</a:t>
            </a:r>
          </a:p>
          <a:p>
            <a:pPr indent="0" algn="just">
              <a:lnSpc>
                <a:spcPct val="150000"/>
              </a:lnSpc>
              <a:buNone/>
            </a:pPr>
            <a:endParaRPr lang="pt-BR" dirty="0"/>
          </a:p>
        </p:txBody>
      </p:sp>
    </p:spTree>
    <p:extLst>
      <p:ext uri="{BB962C8B-B14F-4D97-AF65-F5344CB8AC3E}">
        <p14:creationId xmlns:p14="http://schemas.microsoft.com/office/powerpoint/2010/main" val="24594182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MVA</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indent="0" algn="just">
              <a:lnSpc>
                <a:spcPct val="150000"/>
              </a:lnSpc>
              <a:buNone/>
            </a:pPr>
            <a:r>
              <a:rPr lang="pt-BR" dirty="0"/>
              <a:t>Para efeitos de determinação da base de cálculo da substituição tributária nas operações de que trata a introdução desta matéria, o percentual de MVA adotado será aquele estabelecido em Convênio ou Protocolo ou pela unidade federada destinatária da mercadoria, conforme fórmula prevista na legislação.</a:t>
            </a:r>
          </a:p>
          <a:p>
            <a:pPr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 </a:t>
            </a:r>
            <a:endParaRPr lang="pt-BR" dirty="0"/>
          </a:p>
        </p:txBody>
      </p:sp>
    </p:spTree>
    <p:extLst>
      <p:ext uri="{BB962C8B-B14F-4D97-AF65-F5344CB8AC3E}">
        <p14:creationId xmlns:p14="http://schemas.microsoft.com/office/powerpoint/2010/main" val="1777356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MVA</a:t>
            </a:r>
            <a:endParaRPr lang="pt-BR" dirty="0"/>
          </a:p>
        </p:txBody>
      </p:sp>
      <p:sp>
        <p:nvSpPr>
          <p:cNvPr id="3" name="Espaço Reservado para Conteúdo 2"/>
          <p:cNvSpPr>
            <a:spLocks noGrp="1"/>
          </p:cNvSpPr>
          <p:nvPr>
            <p:ph idx="1"/>
          </p:nvPr>
        </p:nvSpPr>
        <p:spPr>
          <a:xfrm>
            <a:off x="2061882" y="2133600"/>
            <a:ext cx="9072283" cy="3777622"/>
          </a:xfrm>
        </p:spPr>
        <p:txBody>
          <a:bodyPr/>
          <a:lstStyle/>
          <a:p>
            <a:pPr marL="0" indent="0">
              <a:buNone/>
            </a:pPr>
            <a:r>
              <a:rPr lang="pt-BR" dirty="0"/>
              <a:t>Assim, caso haja previsão para o cálculo do ajuste, temos a seguinte equação:</a:t>
            </a:r>
          </a:p>
          <a:p>
            <a:pPr marL="0" indent="0">
              <a:buNone/>
            </a:pPr>
            <a:r>
              <a:rPr lang="pt-BR" dirty="0">
                <a:solidFill>
                  <a:srgbClr val="C00000"/>
                </a:solidFill>
              </a:rPr>
              <a:t/>
            </a:r>
            <a:br>
              <a:rPr lang="pt-BR" dirty="0">
                <a:solidFill>
                  <a:srgbClr val="C00000"/>
                </a:solidFill>
              </a:rPr>
            </a:br>
            <a:r>
              <a:rPr lang="pt-BR" dirty="0">
                <a:solidFill>
                  <a:srgbClr val="C00000"/>
                </a:solidFill>
              </a:rPr>
              <a:t> </a:t>
            </a:r>
          </a:p>
          <a:p>
            <a:pPr marL="0" indent="0">
              <a:buNone/>
            </a:pPr>
            <a:r>
              <a:rPr lang="pt-BR" b="1" dirty="0"/>
              <a:t>"MVA ajustada = [(1+ MVA ST original/100) x (1 - ALQ </a:t>
            </a:r>
            <a:r>
              <a:rPr lang="pt-BR" b="1" dirty="0" err="1"/>
              <a:t>inter</a:t>
            </a:r>
            <a:r>
              <a:rPr lang="pt-BR" b="1" dirty="0"/>
              <a:t>) / (1- ALQ </a:t>
            </a:r>
            <a:r>
              <a:rPr lang="pt-BR" b="1" dirty="0" err="1"/>
              <a:t>intra</a:t>
            </a:r>
            <a:r>
              <a:rPr lang="pt-BR" b="1" dirty="0"/>
              <a:t>)] -1</a:t>
            </a:r>
            <a:r>
              <a:rPr lang="pt-BR" b="1" dirty="0" smtClean="0"/>
              <a:t>]"</a:t>
            </a:r>
            <a:endParaRPr lang="pt-BR" b="1" dirty="0"/>
          </a:p>
          <a:p>
            <a:pPr indent="0" algn="just">
              <a:lnSpc>
                <a:spcPct val="150000"/>
              </a:lnSpc>
              <a:buNone/>
            </a:pPr>
            <a:r>
              <a:rPr lang="pt-BR" dirty="0" smtClean="0">
                <a:latin typeface="Calibri" panose="020F0502020204030204" pitchFamily="34" charset="0"/>
                <a:ea typeface="Calibri" panose="020F0502020204030204" pitchFamily="34" charset="0"/>
                <a:cs typeface="Times New Roman" panose="02020603050405020304" pitchFamily="18" charset="0"/>
              </a:rPr>
              <a:t> </a:t>
            </a:r>
            <a:endParaRPr lang="pt-BR" dirty="0"/>
          </a:p>
        </p:txBody>
      </p:sp>
    </p:spTree>
    <p:extLst>
      <p:ext uri="{BB962C8B-B14F-4D97-AF65-F5344CB8AC3E}">
        <p14:creationId xmlns:p14="http://schemas.microsoft.com/office/powerpoint/2010/main" val="1517606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MVA</a:t>
            </a:r>
            <a:endParaRPr lang="pt-BR" dirty="0"/>
          </a:p>
        </p:txBody>
      </p:sp>
      <p:sp>
        <p:nvSpPr>
          <p:cNvPr id="3" name="Espaço Reservado para Conteúdo 2"/>
          <p:cNvSpPr>
            <a:spLocks noGrp="1"/>
          </p:cNvSpPr>
          <p:nvPr>
            <p:ph idx="1"/>
          </p:nvPr>
        </p:nvSpPr>
        <p:spPr>
          <a:xfrm>
            <a:off x="2061882" y="2133599"/>
            <a:ext cx="8713694" cy="4303059"/>
          </a:xfrm>
        </p:spPr>
        <p:txBody>
          <a:bodyPr>
            <a:normAutofit fontScale="92500" lnSpcReduction="10000"/>
          </a:bodyPr>
          <a:lstStyle/>
          <a:p>
            <a:pPr marL="0" indent="0">
              <a:lnSpc>
                <a:spcPct val="150000"/>
              </a:lnSpc>
              <a:buNone/>
            </a:pPr>
            <a:r>
              <a:rPr lang="pt-BR" dirty="0" smtClean="0"/>
              <a:t>Onde </a:t>
            </a:r>
            <a:r>
              <a:rPr lang="pt-BR" dirty="0"/>
              <a:t>que :</a:t>
            </a:r>
            <a:br>
              <a:rPr lang="pt-BR" dirty="0"/>
            </a:br>
            <a:r>
              <a:rPr lang="pt-BR" dirty="0"/>
              <a:t/>
            </a:r>
            <a:br>
              <a:rPr lang="pt-BR" dirty="0"/>
            </a:br>
            <a:r>
              <a:rPr lang="pt-BR" dirty="0"/>
              <a:t>I - "MVA ST original" é a margem de valor agregado prevista para as operações internas;</a:t>
            </a:r>
            <a:br>
              <a:rPr lang="pt-BR" dirty="0"/>
            </a:br>
            <a:r>
              <a:rPr lang="pt-BR" dirty="0"/>
              <a:t/>
            </a:r>
            <a:br>
              <a:rPr lang="pt-BR" dirty="0"/>
            </a:br>
            <a:r>
              <a:rPr lang="pt-BR" dirty="0"/>
              <a:t>II -"ALQ </a:t>
            </a:r>
            <a:r>
              <a:rPr lang="pt-BR" dirty="0" err="1"/>
              <a:t>inter</a:t>
            </a:r>
            <a:r>
              <a:rPr lang="pt-BR" dirty="0"/>
              <a:t>" é o coeficiente correspondente à alíquota interestadual aplicável à operação;</a:t>
            </a:r>
            <a:br>
              <a:rPr lang="pt-BR" dirty="0"/>
            </a:br>
            <a:r>
              <a:rPr lang="pt-BR" dirty="0"/>
              <a:t/>
            </a:r>
            <a:br>
              <a:rPr lang="pt-BR" dirty="0"/>
            </a:br>
            <a:r>
              <a:rPr lang="pt-BR" dirty="0"/>
              <a:t>III -"ALQ </a:t>
            </a:r>
            <a:r>
              <a:rPr lang="pt-BR" dirty="0" err="1"/>
              <a:t>intra</a:t>
            </a:r>
            <a:r>
              <a:rPr lang="pt-BR" dirty="0"/>
              <a:t>" é o coeficiente correspondente à alíquota interna ou ao percentual de carga tributária efetiva, quando este for inferior à alíquota interna.</a:t>
            </a:r>
          </a:p>
        </p:txBody>
      </p:sp>
    </p:spTree>
    <p:extLst>
      <p:ext uri="{BB962C8B-B14F-4D97-AF65-F5344CB8AC3E}">
        <p14:creationId xmlns:p14="http://schemas.microsoft.com/office/powerpoint/2010/main" val="27882302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Exemplo</a:t>
            </a:r>
            <a:endParaRPr lang="pt-BR" b="1" dirty="0">
              <a:latin typeface="Bookman Old Style" panose="02050604050505020204" pitchFamily="18" charset="0"/>
            </a:endParaRPr>
          </a:p>
        </p:txBody>
      </p:sp>
      <p:sp>
        <p:nvSpPr>
          <p:cNvPr id="3" name="Espaço Reservado para Conteúdo 2"/>
          <p:cNvSpPr>
            <a:spLocks noGrp="1"/>
          </p:cNvSpPr>
          <p:nvPr>
            <p:ph idx="1"/>
          </p:nvPr>
        </p:nvSpPr>
        <p:spPr/>
        <p:txBody>
          <a:bodyPr/>
          <a:lstStyle/>
          <a:p>
            <a:pPr marL="0" indent="0">
              <a:buNone/>
            </a:pPr>
            <a:endParaRPr lang="pt-BR" dirty="0" smtClean="0"/>
          </a:p>
          <a:p>
            <a:pPr marL="0" indent="0">
              <a:buNone/>
            </a:pPr>
            <a:r>
              <a:rPr lang="pt-BR" dirty="0" smtClean="0"/>
              <a:t>Valor da Mercadoria R$ 1.000,00</a:t>
            </a:r>
          </a:p>
          <a:p>
            <a:pPr marL="0" indent="0">
              <a:buNone/>
            </a:pPr>
            <a:r>
              <a:rPr lang="pt-BR" dirty="0" smtClean="0"/>
              <a:t>MVA original 50%</a:t>
            </a:r>
          </a:p>
          <a:p>
            <a:pPr marL="0" indent="0">
              <a:buNone/>
            </a:pPr>
            <a:r>
              <a:rPr lang="pt-BR" dirty="0" smtClean="0"/>
              <a:t>Estado de Origem: CE</a:t>
            </a:r>
          </a:p>
          <a:p>
            <a:pPr marL="0" indent="0">
              <a:buNone/>
            </a:pPr>
            <a:r>
              <a:rPr lang="pt-BR" dirty="0" smtClean="0"/>
              <a:t>Estado de Destino: DF</a:t>
            </a:r>
          </a:p>
          <a:p>
            <a:pPr marL="0" indent="0">
              <a:buNone/>
            </a:pPr>
            <a:r>
              <a:rPr lang="pt-BR" dirty="0" smtClean="0"/>
              <a:t>Produto Nacional</a:t>
            </a:r>
            <a:endParaRPr lang="pt-BR" dirty="0"/>
          </a:p>
        </p:txBody>
      </p:sp>
    </p:spTree>
    <p:extLst>
      <p:ext uri="{BB962C8B-B14F-4D97-AF65-F5344CB8AC3E}">
        <p14:creationId xmlns:p14="http://schemas.microsoft.com/office/powerpoint/2010/main" val="1395910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Exemplo</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buNone/>
            </a:pPr>
            <a:r>
              <a:rPr lang="pt-BR" dirty="0"/>
              <a:t>Valor da Mercadoria R$ 1.000,00</a:t>
            </a:r>
          </a:p>
          <a:p>
            <a:pPr marL="0" indent="0">
              <a:buNone/>
            </a:pPr>
            <a:r>
              <a:rPr lang="pt-BR" dirty="0"/>
              <a:t>MVA original </a:t>
            </a:r>
            <a:r>
              <a:rPr lang="pt-BR" dirty="0" smtClean="0"/>
              <a:t>50%</a:t>
            </a:r>
            <a:endParaRPr lang="pt-BR" dirty="0"/>
          </a:p>
          <a:p>
            <a:pPr marL="0" indent="0">
              <a:buNone/>
            </a:pPr>
            <a:r>
              <a:rPr lang="pt-BR" dirty="0"/>
              <a:t>Estado de Origem: </a:t>
            </a:r>
            <a:r>
              <a:rPr lang="pt-BR" dirty="0" smtClean="0"/>
              <a:t>PR</a:t>
            </a:r>
            <a:endParaRPr lang="pt-BR" dirty="0"/>
          </a:p>
          <a:p>
            <a:pPr marL="0" indent="0">
              <a:buNone/>
            </a:pPr>
            <a:r>
              <a:rPr lang="pt-BR" dirty="0"/>
              <a:t>Estado de Destino: DF</a:t>
            </a:r>
          </a:p>
          <a:p>
            <a:pPr marL="0" indent="0">
              <a:buNone/>
            </a:pPr>
            <a:r>
              <a:rPr lang="pt-BR" dirty="0"/>
              <a:t>Produto </a:t>
            </a:r>
            <a:r>
              <a:rPr lang="pt-BR" dirty="0" smtClean="0"/>
              <a:t>Nacional</a:t>
            </a:r>
            <a:endParaRPr lang="pt-BR" dirty="0"/>
          </a:p>
        </p:txBody>
      </p:sp>
    </p:spTree>
    <p:extLst>
      <p:ext uri="{BB962C8B-B14F-4D97-AF65-F5344CB8AC3E}">
        <p14:creationId xmlns:p14="http://schemas.microsoft.com/office/powerpoint/2010/main" val="34184260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Exemplo</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buNone/>
            </a:pPr>
            <a:r>
              <a:rPr lang="pt-BR" dirty="0"/>
              <a:t>Valor da Mercadoria R$ 1.000,00</a:t>
            </a:r>
          </a:p>
          <a:p>
            <a:pPr marL="0" indent="0">
              <a:buNone/>
            </a:pPr>
            <a:r>
              <a:rPr lang="pt-BR" dirty="0"/>
              <a:t>MVA original </a:t>
            </a:r>
            <a:r>
              <a:rPr lang="pt-BR" dirty="0" smtClean="0"/>
              <a:t>50%</a:t>
            </a:r>
            <a:endParaRPr lang="pt-BR" dirty="0"/>
          </a:p>
          <a:p>
            <a:pPr marL="0" indent="0">
              <a:buNone/>
            </a:pPr>
            <a:r>
              <a:rPr lang="pt-BR" dirty="0"/>
              <a:t>Estado de Origem: CE</a:t>
            </a:r>
          </a:p>
          <a:p>
            <a:pPr marL="0" indent="0">
              <a:buNone/>
            </a:pPr>
            <a:r>
              <a:rPr lang="pt-BR" dirty="0"/>
              <a:t>Estado de Destino: DF</a:t>
            </a:r>
          </a:p>
          <a:p>
            <a:pPr marL="0" indent="0">
              <a:buNone/>
            </a:pPr>
            <a:r>
              <a:rPr lang="pt-BR" dirty="0"/>
              <a:t>Produto </a:t>
            </a:r>
            <a:r>
              <a:rPr lang="pt-BR" dirty="0" smtClean="0"/>
              <a:t>Importado</a:t>
            </a:r>
            <a:endParaRPr lang="pt-BR" dirty="0"/>
          </a:p>
        </p:txBody>
      </p:sp>
    </p:spTree>
    <p:extLst>
      <p:ext uri="{BB962C8B-B14F-4D97-AF65-F5344CB8AC3E}">
        <p14:creationId xmlns:p14="http://schemas.microsoft.com/office/powerpoint/2010/main" val="1776114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Simples Nacional</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lgn="just">
              <a:lnSpc>
                <a:spcPct val="150000"/>
              </a:lnSpc>
              <a:buNone/>
            </a:pPr>
            <a:endParaRPr lang="pt-BR" dirty="0" smtClean="0"/>
          </a:p>
          <a:p>
            <a:pPr marL="0" indent="0" algn="just">
              <a:lnSpc>
                <a:spcPct val="150000"/>
              </a:lnSpc>
              <a:buNone/>
            </a:pPr>
            <a:r>
              <a:rPr lang="pt-BR" dirty="0" smtClean="0"/>
              <a:t>Conforme </a:t>
            </a:r>
            <a:r>
              <a:rPr lang="pt-BR" dirty="0"/>
              <a:t>dispõe o </a:t>
            </a:r>
            <a:r>
              <a:rPr lang="pt-BR" i="1" dirty="0"/>
              <a:t>artigo 13 parágrafo 1º inciso XIII alínea "a" da LC 123/2006</a:t>
            </a:r>
            <a:r>
              <a:rPr lang="pt-BR" dirty="0"/>
              <a:t>, o estabelecimento optante pelo Simples Nacional deverá adotar o mesmo procedimento que o estabelecimento regime normal, quando estiver praticando operações sujeitas ao regime de substituição </a:t>
            </a:r>
            <a:r>
              <a:rPr lang="pt-BR" dirty="0" smtClean="0"/>
              <a:t>tributária</a:t>
            </a:r>
            <a:r>
              <a:rPr lang="pt-BR" dirty="0"/>
              <a:t>.</a:t>
            </a:r>
            <a:endParaRPr lang="pt-BR" dirty="0" smtClean="0"/>
          </a:p>
          <a:p>
            <a:pPr marL="0" indent="0" algn="just">
              <a:buNone/>
            </a:pPr>
            <a:endParaRPr lang="pt-BR" dirty="0"/>
          </a:p>
        </p:txBody>
      </p:sp>
    </p:spTree>
    <p:extLst>
      <p:ext uri="{BB962C8B-B14F-4D97-AF65-F5344CB8AC3E}">
        <p14:creationId xmlns:p14="http://schemas.microsoft.com/office/powerpoint/2010/main" val="2822164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S</a:t>
            </a:r>
            <a:r>
              <a:rPr lang="pt-BR" b="1" dirty="0" smtClean="0">
                <a:latin typeface="Bookman Old Style" panose="02050604050505020204" pitchFamily="18" charset="0"/>
              </a:rPr>
              <a:t>imples Nacional</a:t>
            </a:r>
            <a:endParaRPr lang="pt-BR" dirty="0"/>
          </a:p>
        </p:txBody>
      </p:sp>
      <p:sp>
        <p:nvSpPr>
          <p:cNvPr id="3" name="Espaço Reservado para Conteúdo 2"/>
          <p:cNvSpPr>
            <a:spLocks noGrp="1"/>
          </p:cNvSpPr>
          <p:nvPr>
            <p:ph idx="1"/>
          </p:nvPr>
        </p:nvSpPr>
        <p:spPr>
          <a:xfrm>
            <a:off x="2061882" y="2133600"/>
            <a:ext cx="8265459" cy="3777622"/>
          </a:xfrm>
        </p:spPr>
        <p:txBody>
          <a:bodyPr>
            <a:noAutofit/>
          </a:bodyPr>
          <a:lstStyle/>
          <a:p>
            <a:pPr marL="0" indent="0" algn="just">
              <a:lnSpc>
                <a:spcPct val="160000"/>
              </a:lnSpc>
              <a:buNone/>
            </a:pPr>
            <a:r>
              <a:rPr lang="pt-BR" sz="1600" i="1" dirty="0"/>
              <a:t>"</a:t>
            </a:r>
            <a:r>
              <a:rPr lang="pt-BR" sz="1600" b="1" i="1" dirty="0"/>
              <a:t>Art. 13</a:t>
            </a:r>
            <a:r>
              <a:rPr lang="pt-BR" sz="1600" i="1" dirty="0"/>
              <a:t>.  O Simples Nacional implica o recolhimento mensal, mediante documento único de arrecadação, dos seguintes impostos e contribuições</a:t>
            </a:r>
            <a:r>
              <a:rPr lang="pt-BR" sz="1600" i="1" dirty="0" smtClean="0"/>
              <a:t>:</a:t>
            </a:r>
            <a:endParaRPr lang="pt-BR" sz="1600" i="1" dirty="0"/>
          </a:p>
          <a:p>
            <a:pPr marL="0" indent="0" algn="just">
              <a:lnSpc>
                <a:spcPct val="160000"/>
              </a:lnSpc>
              <a:buNone/>
            </a:pPr>
            <a:r>
              <a:rPr lang="pt-BR" sz="1600" b="1" i="1" dirty="0"/>
              <a:t>§ 1º</a:t>
            </a:r>
            <a:r>
              <a:rPr lang="pt-BR" sz="1600" i="1" dirty="0"/>
              <a:t>  O recolhimento na forma deste artigo </a:t>
            </a:r>
            <a:r>
              <a:rPr lang="pt-BR" sz="1600" b="1" i="1" dirty="0">
                <a:solidFill>
                  <a:srgbClr val="0000FF"/>
                </a:solidFill>
              </a:rPr>
              <a:t>não exclui a incidência dos seguintes impostos</a:t>
            </a:r>
            <a:r>
              <a:rPr lang="pt-BR" sz="1600" i="1" dirty="0"/>
              <a:t> ou contribuições, devidos na qualidade de contribuinte ou responsável, em relação aos quais será observada a legislação aplicável às demais pessoas jurídicas</a:t>
            </a:r>
            <a:r>
              <a:rPr lang="pt-BR" sz="1600" i="1" dirty="0" smtClean="0"/>
              <a:t>:</a:t>
            </a:r>
            <a:endParaRPr lang="pt-BR" sz="1600" i="1" dirty="0"/>
          </a:p>
          <a:p>
            <a:pPr marL="0" indent="0" algn="just">
              <a:lnSpc>
                <a:spcPct val="160000"/>
              </a:lnSpc>
              <a:buNone/>
            </a:pPr>
            <a:r>
              <a:rPr lang="pt-BR" sz="1600" b="1" i="1" dirty="0">
                <a:solidFill>
                  <a:srgbClr val="0000FF"/>
                </a:solidFill>
              </a:rPr>
              <a:t>XIII - ICMS devido</a:t>
            </a:r>
            <a:r>
              <a:rPr lang="pt-BR" sz="1600" b="1" i="1" dirty="0" smtClean="0">
                <a:solidFill>
                  <a:srgbClr val="0000FF"/>
                </a:solidFill>
              </a:rPr>
              <a:t>:</a:t>
            </a:r>
            <a:endParaRPr lang="pt-BR" sz="1600" i="1" dirty="0">
              <a:solidFill>
                <a:srgbClr val="0000FF"/>
              </a:solidFill>
            </a:endParaRPr>
          </a:p>
          <a:p>
            <a:pPr marL="0" indent="0" algn="just">
              <a:lnSpc>
                <a:spcPct val="160000"/>
              </a:lnSpc>
              <a:buNone/>
            </a:pPr>
            <a:r>
              <a:rPr lang="pt-BR" sz="1600" b="1" i="1" dirty="0">
                <a:solidFill>
                  <a:srgbClr val="0000FF"/>
                </a:solidFill>
              </a:rPr>
              <a:t>a) nas operações ou prestações sujeitas ao regime de substituição tributária</a:t>
            </a:r>
            <a:r>
              <a:rPr lang="pt-BR" sz="1600" i="1" dirty="0"/>
              <a:t>."</a:t>
            </a:r>
          </a:p>
        </p:txBody>
      </p:sp>
    </p:spTree>
    <p:extLst>
      <p:ext uri="{BB962C8B-B14F-4D97-AF65-F5344CB8AC3E}">
        <p14:creationId xmlns:p14="http://schemas.microsoft.com/office/powerpoint/2010/main" val="2984357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Simples Nacional</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lgn="just">
              <a:lnSpc>
                <a:spcPct val="150000"/>
              </a:lnSpc>
              <a:buNone/>
            </a:pPr>
            <a:r>
              <a:rPr lang="pt-BR" b="1" dirty="0">
                <a:solidFill>
                  <a:srgbClr val="0000FF"/>
                </a:solidFill>
              </a:rPr>
              <a:t>Quando o remetente da mercadoria é optante pelo Simples Nacional</a:t>
            </a:r>
          </a:p>
          <a:p>
            <a:pPr algn="just">
              <a:lnSpc>
                <a:spcPct val="150000"/>
              </a:lnSpc>
            </a:pPr>
            <a:endParaRPr lang="pt-BR" b="1" dirty="0">
              <a:solidFill>
                <a:srgbClr val="C00000"/>
              </a:solidFill>
            </a:endParaRPr>
          </a:p>
          <a:p>
            <a:pPr marL="0" indent="0" algn="just">
              <a:lnSpc>
                <a:spcPct val="150000"/>
              </a:lnSpc>
              <a:buNone/>
            </a:pPr>
            <a:r>
              <a:rPr lang="pt-BR" dirty="0"/>
              <a:t>Vamos imaginar o caso de uma </a:t>
            </a:r>
            <a:r>
              <a:rPr lang="pt-BR" b="1" dirty="0">
                <a:solidFill>
                  <a:srgbClr val="0000FF"/>
                </a:solidFill>
              </a:rPr>
              <a:t>indústria optante pelo Simples Nacional</a:t>
            </a:r>
            <a:r>
              <a:rPr lang="pt-BR" dirty="0"/>
              <a:t>, </a:t>
            </a:r>
            <a:r>
              <a:rPr lang="pt-BR" b="1" dirty="0">
                <a:solidFill>
                  <a:srgbClr val="0000FF"/>
                </a:solidFill>
              </a:rPr>
              <a:t>que enviará mercadorias sujeitas à Substituição Tributária </a:t>
            </a:r>
            <a:r>
              <a:rPr lang="pt-BR" dirty="0"/>
              <a:t>para um Estado diferente daquele em que ela está localizada. Nestas situações, não será aplicada a MVA ajustada, assim para efeitos do cálculo do ICMS ST </a:t>
            </a:r>
            <a:r>
              <a:rPr lang="pt-BR" b="1" dirty="0">
                <a:solidFill>
                  <a:srgbClr val="0000FF"/>
                </a:solidFill>
              </a:rPr>
              <a:t>será utilizada apenas a MVA original</a:t>
            </a:r>
            <a:r>
              <a:rPr lang="pt-BR" dirty="0"/>
              <a:t>.</a:t>
            </a:r>
          </a:p>
        </p:txBody>
      </p:sp>
    </p:spTree>
    <p:extLst>
      <p:ext uri="{BB962C8B-B14F-4D97-AF65-F5344CB8AC3E}">
        <p14:creationId xmlns:p14="http://schemas.microsoft.com/office/powerpoint/2010/main" val="22092748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Cálculo</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lgn="just">
              <a:lnSpc>
                <a:spcPct val="150000"/>
              </a:lnSpc>
              <a:buNone/>
            </a:pPr>
            <a:r>
              <a:rPr lang="pt-BR" dirty="0"/>
              <a:t>Essa regra </a:t>
            </a:r>
            <a:r>
              <a:rPr lang="pt-BR" dirty="0" smtClean="0"/>
              <a:t>está disposta no </a:t>
            </a:r>
            <a:r>
              <a:rPr lang="pt-BR" i="1" dirty="0" smtClean="0"/>
              <a:t>Convênio </a:t>
            </a:r>
            <a:r>
              <a:rPr lang="pt-BR" i="1" dirty="0"/>
              <a:t>ICMS </a:t>
            </a:r>
            <a:r>
              <a:rPr lang="pt-BR" i="1" dirty="0" smtClean="0"/>
              <a:t>52/2017</a:t>
            </a:r>
            <a:r>
              <a:rPr lang="pt-BR" i="1" dirty="0" smtClean="0">
                <a:solidFill>
                  <a:srgbClr val="002060"/>
                </a:solidFill>
              </a:rPr>
              <a:t>, </a:t>
            </a:r>
            <a:r>
              <a:rPr lang="pt-BR" dirty="0"/>
              <a:t>visando beneficiar as empresas optantes pelo Simples Nacional. Na comparação entre produtos oferecidos pelo mesmo valor, sairá mais barato optar pelo fornecedor que seja optante pelo Simples Nacional.</a:t>
            </a:r>
          </a:p>
        </p:txBody>
      </p:sp>
    </p:spTree>
    <p:extLst>
      <p:ext uri="{BB962C8B-B14F-4D97-AF65-F5344CB8AC3E}">
        <p14:creationId xmlns:p14="http://schemas.microsoft.com/office/powerpoint/2010/main" val="30445276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Frente na Compra</a:t>
            </a:r>
            <a:endParaRPr lang="pt-BR" dirty="0"/>
          </a:p>
        </p:txBody>
      </p:sp>
      <p:sp>
        <p:nvSpPr>
          <p:cNvPr id="3" name="Espaço Reservado para Conteúdo 2"/>
          <p:cNvSpPr>
            <a:spLocks noGrp="1"/>
          </p:cNvSpPr>
          <p:nvPr>
            <p:ph idx="1"/>
          </p:nvPr>
        </p:nvSpPr>
        <p:spPr>
          <a:xfrm>
            <a:off x="2061882" y="2133600"/>
            <a:ext cx="8677836" cy="3777622"/>
          </a:xfrm>
        </p:spPr>
        <p:txBody>
          <a:bodyPr/>
          <a:lstStyle/>
          <a:p>
            <a:pPr marL="0" indent="0" algn="just">
              <a:lnSpc>
                <a:spcPct val="150000"/>
              </a:lnSpc>
              <a:buNone/>
            </a:pPr>
            <a:r>
              <a:rPr lang="en-US" b="1" dirty="0" err="1"/>
              <a:t>Frete</a:t>
            </a:r>
            <a:r>
              <a:rPr lang="en-US" b="1" dirty="0"/>
              <a:t> FOB (Free on board)</a:t>
            </a:r>
          </a:p>
          <a:p>
            <a:pPr algn="just">
              <a:lnSpc>
                <a:spcPct val="150000"/>
              </a:lnSpc>
            </a:pPr>
            <a:endParaRPr lang="pt-BR" dirty="0"/>
          </a:p>
          <a:p>
            <a:pPr marL="0" indent="0" algn="just">
              <a:lnSpc>
                <a:spcPct val="150000"/>
              </a:lnSpc>
              <a:buNone/>
            </a:pPr>
            <a:r>
              <a:rPr lang="pt-BR" dirty="0"/>
              <a:t>A sigla FOB significa </a:t>
            </a:r>
            <a:r>
              <a:rPr lang="pt-BR" i="1" dirty="0" err="1"/>
              <a:t>free</a:t>
            </a:r>
            <a:r>
              <a:rPr lang="pt-BR" i="1" dirty="0"/>
              <a:t> </a:t>
            </a:r>
            <a:r>
              <a:rPr lang="pt-BR" i="1" dirty="0" err="1"/>
              <a:t>on</a:t>
            </a:r>
            <a:r>
              <a:rPr lang="pt-BR" i="1" dirty="0"/>
              <a:t> </a:t>
            </a:r>
            <a:r>
              <a:rPr lang="pt-BR" i="1" dirty="0" err="1"/>
              <a:t>board</a:t>
            </a:r>
            <a:r>
              <a:rPr lang="pt-BR" dirty="0"/>
              <a:t> e em português pode ser traduzida por “</a:t>
            </a:r>
            <a:r>
              <a:rPr lang="pt-BR" b="1" dirty="0"/>
              <a:t>Livre a bordo</a:t>
            </a:r>
            <a:r>
              <a:rPr lang="pt-BR" dirty="0"/>
              <a:t>”. Neste tipo de frete, </a:t>
            </a:r>
            <a:r>
              <a:rPr lang="pt-BR" b="1" dirty="0">
                <a:solidFill>
                  <a:srgbClr val="C00000"/>
                </a:solidFill>
              </a:rPr>
              <a:t>o comprador assume todos os riscos e custos</a:t>
            </a:r>
            <a:r>
              <a:rPr lang="pt-BR" dirty="0"/>
              <a:t> com o transporte da mercadoria, assim que ela é colocada a bordo do navio. Por conta e risco do fornecedor fica a obrigação de colocar a mercadoria a bordo, no porto de embarque designado pelo importador.</a:t>
            </a:r>
          </a:p>
        </p:txBody>
      </p:sp>
    </p:spTree>
    <p:extLst>
      <p:ext uri="{BB962C8B-B14F-4D97-AF65-F5344CB8AC3E}">
        <p14:creationId xmlns:p14="http://schemas.microsoft.com/office/powerpoint/2010/main" val="38449657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Frente na Compra</a:t>
            </a:r>
            <a:endParaRPr lang="pt-BR" dirty="0"/>
          </a:p>
        </p:txBody>
      </p:sp>
      <p:sp>
        <p:nvSpPr>
          <p:cNvPr id="3" name="Espaço Reservado para Conteúdo 2"/>
          <p:cNvSpPr>
            <a:spLocks noGrp="1"/>
          </p:cNvSpPr>
          <p:nvPr>
            <p:ph idx="1"/>
          </p:nvPr>
        </p:nvSpPr>
        <p:spPr>
          <a:xfrm>
            <a:off x="2061882" y="2133600"/>
            <a:ext cx="8677836" cy="3777622"/>
          </a:xfrm>
        </p:spPr>
        <p:txBody>
          <a:bodyPr/>
          <a:lstStyle/>
          <a:p>
            <a:pPr marL="0" indent="0" algn="just">
              <a:lnSpc>
                <a:spcPct val="150000"/>
              </a:lnSpc>
              <a:buNone/>
            </a:pPr>
            <a:r>
              <a:rPr lang="en-US" b="1" dirty="0" err="1"/>
              <a:t>Frete</a:t>
            </a:r>
            <a:r>
              <a:rPr lang="en-US" b="1" dirty="0"/>
              <a:t> CIF (Cost, Insurance and Freight)</a:t>
            </a:r>
          </a:p>
          <a:p>
            <a:pPr algn="just">
              <a:lnSpc>
                <a:spcPct val="150000"/>
              </a:lnSpc>
            </a:pPr>
            <a:endParaRPr lang="pt-BR" dirty="0"/>
          </a:p>
          <a:p>
            <a:pPr marL="0" indent="0" algn="just">
              <a:lnSpc>
                <a:spcPct val="150000"/>
              </a:lnSpc>
              <a:buNone/>
            </a:pPr>
            <a:r>
              <a:rPr lang="pt-BR" dirty="0"/>
              <a:t>CIF é a sigla para </a:t>
            </a:r>
            <a:r>
              <a:rPr lang="pt-BR" i="1" dirty="0" err="1"/>
              <a:t>Cost</a:t>
            </a:r>
            <a:r>
              <a:rPr lang="pt-BR" i="1" dirty="0"/>
              <a:t>, </a:t>
            </a:r>
            <a:r>
              <a:rPr lang="pt-BR" i="1" dirty="0" err="1"/>
              <a:t>Insurance</a:t>
            </a:r>
            <a:r>
              <a:rPr lang="pt-BR" i="1" dirty="0"/>
              <a:t> </a:t>
            </a:r>
            <a:r>
              <a:rPr lang="pt-BR" i="1" dirty="0" err="1"/>
              <a:t>and</a:t>
            </a:r>
            <a:r>
              <a:rPr lang="pt-BR" i="1" dirty="0"/>
              <a:t> </a:t>
            </a:r>
            <a:r>
              <a:rPr lang="pt-BR" i="1" dirty="0" err="1"/>
              <a:t>Freight</a:t>
            </a:r>
            <a:r>
              <a:rPr lang="pt-BR" dirty="0"/>
              <a:t>, que em português, significa “</a:t>
            </a:r>
            <a:r>
              <a:rPr lang="pt-BR" b="1" dirty="0"/>
              <a:t>Custo, Seguros e Frete</a:t>
            </a:r>
            <a:r>
              <a:rPr lang="pt-BR" dirty="0"/>
              <a:t>”. Neste tipo de frete, </a:t>
            </a:r>
            <a:r>
              <a:rPr lang="pt-BR" b="1" dirty="0">
                <a:solidFill>
                  <a:srgbClr val="C00000"/>
                </a:solidFill>
              </a:rPr>
              <a:t>o fornecedor é responsável por todos os custos e riscos</a:t>
            </a:r>
            <a:r>
              <a:rPr lang="pt-BR" dirty="0">
                <a:solidFill>
                  <a:srgbClr val="C00000"/>
                </a:solidFill>
              </a:rPr>
              <a:t> </a:t>
            </a:r>
            <a:r>
              <a:rPr lang="pt-BR" dirty="0"/>
              <a:t>com a entrega da mercadoria, incluindo o seguro marítimo e frete. Esta responsabilidade finda quando a mercadoria chega ao porto de destino designado pelo comprador.</a:t>
            </a:r>
          </a:p>
          <a:p>
            <a:pPr marL="0" indent="0" algn="just">
              <a:lnSpc>
                <a:spcPct val="150000"/>
              </a:lnSpc>
              <a:buNone/>
            </a:pPr>
            <a:endParaRPr lang="pt-BR" dirty="0"/>
          </a:p>
        </p:txBody>
      </p:sp>
    </p:spTree>
    <p:extLst>
      <p:ext uri="{BB962C8B-B14F-4D97-AF65-F5344CB8AC3E}">
        <p14:creationId xmlns:p14="http://schemas.microsoft.com/office/powerpoint/2010/main" val="3595637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smtClean="0">
                <a:latin typeface="Bookman Old Style" panose="02050604050505020204" pitchFamily="18" charset="0"/>
              </a:rPr>
              <a:t>Substituição Tributária x DIFAL</a:t>
            </a:r>
            <a:endParaRPr lang="pt-BR" dirty="0"/>
          </a:p>
        </p:txBody>
      </p:sp>
      <p:sp>
        <p:nvSpPr>
          <p:cNvPr id="3" name="Espaço Reservado para Conteúdo 2"/>
          <p:cNvSpPr>
            <a:spLocks noGrp="1"/>
          </p:cNvSpPr>
          <p:nvPr>
            <p:ph idx="1"/>
          </p:nvPr>
        </p:nvSpPr>
        <p:spPr>
          <a:xfrm>
            <a:off x="2061882" y="2133600"/>
            <a:ext cx="8265459" cy="3777622"/>
          </a:xfrm>
        </p:spPr>
        <p:txBody>
          <a:bodyPr>
            <a:normAutofit/>
          </a:bodyPr>
          <a:lstStyle/>
          <a:p>
            <a:pPr marL="0" indent="0" algn="just">
              <a:lnSpc>
                <a:spcPct val="160000"/>
              </a:lnSpc>
              <a:buNone/>
            </a:pPr>
            <a:r>
              <a:rPr lang="pt-BR" dirty="0"/>
              <a:t>Os acordos firmados entre as Unidades da federação para cobrança do ICMS através do regime de substituição tributária podem resultar na cobrança do Diferencial de Alíquotas. Mas isto ocorre em qual situação</a:t>
            </a:r>
            <a:r>
              <a:rPr lang="pt-BR" dirty="0" smtClean="0"/>
              <a:t>?</a:t>
            </a:r>
          </a:p>
        </p:txBody>
      </p:sp>
    </p:spTree>
    <p:extLst>
      <p:ext uri="{BB962C8B-B14F-4D97-AF65-F5344CB8AC3E}">
        <p14:creationId xmlns:p14="http://schemas.microsoft.com/office/powerpoint/2010/main" val="674122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Substituição Tributária x DIFAL</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lgn="just">
              <a:lnSpc>
                <a:spcPct val="160000"/>
              </a:lnSpc>
              <a:buNone/>
            </a:pPr>
            <a:r>
              <a:rPr lang="pt-BR" dirty="0"/>
              <a:t>Na operação interestadual destinada a pessoa contribuinte do ICMS em que as Unidades da federação envolvidas na operação firmaram acordo através de Protocolo ou Convênio ICMS para a cobrança de ICMS através do regime de substituição tributária poderá ser cobrado:</a:t>
            </a:r>
          </a:p>
          <a:p>
            <a:pPr marL="0" indent="0" algn="just">
              <a:lnSpc>
                <a:spcPct val="160000"/>
              </a:lnSpc>
              <a:buNone/>
            </a:pPr>
            <a:endParaRPr lang="pt-BR" dirty="0"/>
          </a:p>
          <a:p>
            <a:pPr marL="0" indent="0" algn="just">
              <a:lnSpc>
                <a:spcPct val="160000"/>
              </a:lnSpc>
              <a:buNone/>
            </a:pPr>
            <a:r>
              <a:rPr lang="pt-BR" dirty="0"/>
              <a:t>- ICMS Substituição Tributária; ou</a:t>
            </a:r>
          </a:p>
          <a:p>
            <a:pPr marL="0" indent="0" algn="just">
              <a:lnSpc>
                <a:spcPct val="160000"/>
              </a:lnSpc>
              <a:buNone/>
            </a:pPr>
            <a:r>
              <a:rPr lang="pt-BR" dirty="0"/>
              <a:t> - Diferencial de Alíquotas;</a:t>
            </a:r>
          </a:p>
        </p:txBody>
      </p:sp>
    </p:spTree>
    <p:extLst>
      <p:ext uri="{BB962C8B-B14F-4D97-AF65-F5344CB8AC3E}">
        <p14:creationId xmlns:p14="http://schemas.microsoft.com/office/powerpoint/2010/main" val="2435682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Substituição Tributária x DIFAL</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lgn="just">
              <a:lnSpc>
                <a:spcPct val="150000"/>
              </a:lnSpc>
              <a:buNone/>
            </a:pPr>
            <a:r>
              <a:rPr lang="pt-BR" dirty="0">
                <a:solidFill>
                  <a:srgbClr val="002060"/>
                </a:solidFill>
              </a:rPr>
              <a:t>Será devido o ICMS-ST se o destinatário da mercadoria for revender. No entanto se a mercadoria for destinada ao ativo imobilizado ou despesa será devido o Diferencial de Alíquotas.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342" y="3836894"/>
            <a:ext cx="8349616" cy="23029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2425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Substituição Tributária x DIFAL</a:t>
            </a:r>
            <a:endParaRPr lang="pt-BR" dirty="0"/>
          </a:p>
        </p:txBody>
      </p:sp>
      <p:sp>
        <p:nvSpPr>
          <p:cNvPr id="3" name="Espaço Reservado para Conteúdo 2"/>
          <p:cNvSpPr>
            <a:spLocks noGrp="1"/>
          </p:cNvSpPr>
          <p:nvPr>
            <p:ph idx="1"/>
          </p:nvPr>
        </p:nvSpPr>
        <p:spPr>
          <a:xfrm>
            <a:off x="2061882" y="2133600"/>
            <a:ext cx="9287436" cy="4034118"/>
          </a:xfrm>
        </p:spPr>
        <p:txBody>
          <a:bodyPr/>
          <a:lstStyle/>
          <a:p>
            <a:pPr marL="0" indent="0" algn="just">
              <a:lnSpc>
                <a:spcPct val="150000"/>
              </a:lnSpc>
              <a:buNone/>
            </a:pPr>
            <a:r>
              <a:rPr lang="pt-BR" dirty="0"/>
              <a:t>Nas operações destinadas á contribuintes do ICMS que tenham a finalidade de uso e consumo da mercadoria sujeita ao regime de substituição tributária, caberá ao remetente o recolhimento do ICMS por diferencial de alíquotas na forma de substituição tributária , </a:t>
            </a:r>
            <a:r>
              <a:rPr lang="pt-BR" b="1" u="sng" dirty="0">
                <a:solidFill>
                  <a:srgbClr val="0000FF"/>
                </a:solidFill>
              </a:rPr>
              <a:t>sem a inclusão da margem</a:t>
            </a:r>
            <a:r>
              <a:rPr lang="pt-BR" dirty="0"/>
              <a:t>, considerando a diferença entre a alíquota interna do Estado de destino da mercadoria e a alíquota interestadual, o percentual resultante será aplicado sobre o valor dos produtos, incluindo frete, IPI e demais despesas cobradas do destinatário ou o valor que serviria de base de cálculo do ICMS por substituição tributária.</a:t>
            </a:r>
          </a:p>
        </p:txBody>
      </p:sp>
    </p:spTree>
    <p:extLst>
      <p:ext uri="{BB962C8B-B14F-4D97-AF65-F5344CB8AC3E}">
        <p14:creationId xmlns:p14="http://schemas.microsoft.com/office/powerpoint/2010/main" val="10603211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Substituição Tributária x DIFAL</a:t>
            </a:r>
            <a:endParaRPr lang="pt-BR" dirty="0"/>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4124801556"/>
              </p:ext>
            </p:extLst>
          </p:nvPr>
        </p:nvGraphicFramePr>
        <p:xfrm>
          <a:off x="2062163" y="2133600"/>
          <a:ext cx="8264525"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8960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pt-BR" b="1" dirty="0" smtClean="0">
                <a:latin typeface="Bookman Old Style" panose="02050604050505020204" pitchFamily="18" charset="0"/>
              </a:rPr>
              <a:t>Redução na Base de Cálculo</a:t>
            </a:r>
            <a:endParaRPr lang="pt-BR" dirty="0"/>
          </a:p>
        </p:txBody>
      </p:sp>
      <p:sp>
        <p:nvSpPr>
          <p:cNvPr id="3" name="Espaço Reservado para Conteúdo 2"/>
          <p:cNvSpPr>
            <a:spLocks noGrp="1"/>
          </p:cNvSpPr>
          <p:nvPr>
            <p:ph idx="1"/>
          </p:nvPr>
        </p:nvSpPr>
        <p:spPr>
          <a:xfrm>
            <a:off x="2061882" y="2133600"/>
            <a:ext cx="8265459" cy="3777622"/>
          </a:xfrm>
        </p:spPr>
        <p:txBody>
          <a:bodyPr/>
          <a:lstStyle/>
          <a:p>
            <a:pPr marL="0" indent="0" algn="just">
              <a:lnSpc>
                <a:spcPct val="160000"/>
              </a:lnSpc>
              <a:buNone/>
            </a:pPr>
            <a:r>
              <a:rPr lang="pt-BR" dirty="0"/>
              <a:t>Produtos comprados do CE (alíquota interestadual 12%), alíquota interna no DF seria 18%, mas há o beneficio fiscal por redução da base de cálculo em 33,33%, portanto a alíquota passa a ser 12%. Como o fornecedor deve calcular a ST? </a:t>
            </a:r>
            <a:endParaRPr lang="pt-BR" dirty="0">
              <a:solidFill>
                <a:srgbClr val="002060"/>
              </a:solidFill>
            </a:endParaRPr>
          </a:p>
          <a:p>
            <a:pPr marL="0" indent="0" algn="just">
              <a:lnSpc>
                <a:spcPct val="160000"/>
              </a:lnSpc>
              <a:buNone/>
            </a:pPr>
            <a:r>
              <a:rPr lang="pt-BR" i="1" dirty="0" smtClean="0"/>
              <a:t>						(</a:t>
            </a:r>
            <a:r>
              <a:rPr lang="pt-BR" i="1" dirty="0"/>
              <a:t>ANEXO I, DECRETO Nº 18.955/1997, CADERNO II)</a:t>
            </a:r>
          </a:p>
          <a:p>
            <a:pPr marL="0" indent="0" algn="just">
              <a:lnSpc>
                <a:spcPct val="160000"/>
              </a:lnSpc>
              <a:buNone/>
            </a:pPr>
            <a:endParaRPr lang="pt-BR" dirty="0"/>
          </a:p>
        </p:txBody>
      </p:sp>
    </p:spTree>
    <p:extLst>
      <p:ext uri="{BB962C8B-B14F-4D97-AF65-F5344CB8AC3E}">
        <p14:creationId xmlns:p14="http://schemas.microsoft.com/office/powerpoint/2010/main" val="4233809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dirty="0">
                <a:latin typeface="Bookman Old Style" panose="02050604050505020204" pitchFamily="18" charset="0"/>
              </a:rPr>
              <a:t>Substituição Tributária x DIFAL</a:t>
            </a:r>
            <a:endParaRPr lang="pt-BR" dirty="0"/>
          </a:p>
        </p:txBody>
      </p:sp>
      <p:sp>
        <p:nvSpPr>
          <p:cNvPr id="3" name="Espaço Reservado para Conteúdo 2"/>
          <p:cNvSpPr>
            <a:spLocks noGrp="1"/>
          </p:cNvSpPr>
          <p:nvPr>
            <p:ph idx="1"/>
          </p:nvPr>
        </p:nvSpPr>
        <p:spPr>
          <a:xfrm>
            <a:off x="2061882" y="2133600"/>
            <a:ext cx="8265459" cy="3777622"/>
          </a:xfrm>
        </p:spPr>
        <p:txBody>
          <a:bodyPr>
            <a:normAutofit fontScale="85000" lnSpcReduction="10000"/>
          </a:bodyPr>
          <a:lstStyle/>
          <a:p>
            <a:pPr marL="0" indent="0">
              <a:lnSpc>
                <a:spcPct val="150000"/>
              </a:lnSpc>
              <a:buNone/>
            </a:pPr>
            <a:r>
              <a:rPr lang="pt-BR" b="1" dirty="0"/>
              <a:t>VALOR DA NOTA FISCAL (+) MVA 40% = </a:t>
            </a:r>
            <a:r>
              <a:rPr lang="pt-BR" dirty="0">
                <a:solidFill>
                  <a:srgbClr val="FF0000"/>
                </a:solidFill>
              </a:rPr>
              <a:t>R$1.000,00 + R400,00= R$1.400,00</a:t>
            </a:r>
          </a:p>
          <a:p>
            <a:pPr marL="0" indent="0">
              <a:lnSpc>
                <a:spcPct val="150000"/>
              </a:lnSpc>
              <a:buNone/>
            </a:pPr>
            <a:r>
              <a:rPr lang="pt-BR" b="1" dirty="0" smtClean="0"/>
              <a:t>REDUÇÃO </a:t>
            </a:r>
            <a:r>
              <a:rPr lang="pt-BR" b="1" dirty="0"/>
              <a:t>DA BASE DE CÁLCULO DE 33,33% (ou 12% de alíquota) </a:t>
            </a:r>
            <a:r>
              <a:rPr lang="pt-BR" dirty="0"/>
              <a:t>=</a:t>
            </a:r>
            <a:r>
              <a:rPr lang="pt-BR" dirty="0">
                <a:solidFill>
                  <a:srgbClr val="FF0000"/>
                </a:solidFill>
              </a:rPr>
              <a:t> 1.400,00 x 33,33% = 466,62</a:t>
            </a:r>
          </a:p>
          <a:p>
            <a:pPr marL="0" indent="0">
              <a:lnSpc>
                <a:spcPct val="150000"/>
              </a:lnSpc>
              <a:buNone/>
            </a:pPr>
            <a:r>
              <a:rPr lang="pt-BR" b="1" dirty="0"/>
              <a:t>VALOR DA BASE DE CÁLCULO/ST COM BENEFÍCIO = </a:t>
            </a:r>
            <a:r>
              <a:rPr lang="pt-BR" dirty="0">
                <a:solidFill>
                  <a:srgbClr val="FF0000"/>
                </a:solidFill>
              </a:rPr>
              <a:t>1.400,00 (-) 466,62 = R$933,38</a:t>
            </a:r>
            <a:r>
              <a:rPr lang="pt-BR" b="1" dirty="0"/>
              <a:t> </a:t>
            </a:r>
          </a:p>
          <a:p>
            <a:pPr marL="0" indent="0">
              <a:lnSpc>
                <a:spcPct val="150000"/>
              </a:lnSpc>
              <a:buNone/>
            </a:pPr>
            <a:r>
              <a:rPr lang="pt-BR" b="1" dirty="0"/>
              <a:t>ICMS/ST NA OPERAÇÃO COM BENEFÍCIO = </a:t>
            </a:r>
            <a:r>
              <a:rPr lang="pt-BR" dirty="0">
                <a:solidFill>
                  <a:srgbClr val="FF0000"/>
                </a:solidFill>
              </a:rPr>
              <a:t>R$933,38 X 18% = 168,00</a:t>
            </a:r>
            <a:r>
              <a:rPr lang="pt-BR" b="1" dirty="0"/>
              <a:t/>
            </a:r>
            <a:br>
              <a:rPr lang="pt-BR" b="1" dirty="0"/>
            </a:br>
            <a:endParaRPr lang="pt-BR" b="1" dirty="0"/>
          </a:p>
          <a:p>
            <a:pPr marL="0" indent="0">
              <a:lnSpc>
                <a:spcPct val="150000"/>
              </a:lnSpc>
              <a:buNone/>
            </a:pPr>
            <a:r>
              <a:rPr lang="pt-BR" b="1" dirty="0"/>
              <a:t>Do crédito:</a:t>
            </a:r>
          </a:p>
          <a:p>
            <a:pPr marL="0" indent="0">
              <a:lnSpc>
                <a:spcPct val="150000"/>
              </a:lnSpc>
              <a:buNone/>
            </a:pPr>
            <a:r>
              <a:rPr lang="pt-BR" b="1" dirty="0"/>
              <a:t>BASE DE CÁLCULO: 1.000,00 X 12% = </a:t>
            </a:r>
            <a:r>
              <a:rPr lang="pt-BR" dirty="0">
                <a:solidFill>
                  <a:srgbClr val="FF0000"/>
                </a:solidFill>
              </a:rPr>
              <a:t>120,00 </a:t>
            </a:r>
          </a:p>
          <a:p>
            <a:pPr marL="0" indent="0">
              <a:lnSpc>
                <a:spcPct val="150000"/>
              </a:lnSpc>
              <a:buNone/>
            </a:pPr>
            <a:r>
              <a:rPr lang="pt-BR" b="1" dirty="0"/>
              <a:t>Cálculo da ST: R$168,00 (-) R$120,00 = </a:t>
            </a:r>
            <a:r>
              <a:rPr lang="pt-BR" dirty="0">
                <a:solidFill>
                  <a:srgbClr val="FF0000"/>
                </a:solidFill>
              </a:rPr>
              <a:t>R$48,00 (valor a ser recolhido a título de ST) </a:t>
            </a:r>
          </a:p>
        </p:txBody>
      </p:sp>
    </p:spTree>
    <p:extLst>
      <p:ext uri="{BB962C8B-B14F-4D97-AF65-F5344CB8AC3E}">
        <p14:creationId xmlns:p14="http://schemas.microsoft.com/office/powerpoint/2010/main" val="9133615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61883" y="624110"/>
            <a:ext cx="9442730" cy="1280890"/>
          </a:xfrm>
        </p:spPr>
        <p:txBody>
          <a:bodyPr/>
          <a:lstStyle/>
          <a:p>
            <a:pPr algn="ctr"/>
            <a:r>
              <a:rPr lang="pt-BR" b="1" dirty="0">
                <a:latin typeface="Bookman Old Style" panose="02050604050505020204" pitchFamily="18" charset="0"/>
              </a:rPr>
              <a:t>Substituição Tributária x </a:t>
            </a:r>
            <a:r>
              <a:rPr lang="pt-BR" b="1" dirty="0" smtClean="0">
                <a:latin typeface="Bookman Old Style" panose="02050604050505020204" pitchFamily="18" charset="0"/>
              </a:rPr>
              <a:t>Antecipação</a:t>
            </a:r>
            <a:endParaRPr lang="pt-BR" dirty="0"/>
          </a:p>
        </p:txBody>
      </p:sp>
      <p:sp>
        <p:nvSpPr>
          <p:cNvPr id="3" name="Espaço Reservado para Conteúdo 2"/>
          <p:cNvSpPr>
            <a:spLocks noGrp="1"/>
          </p:cNvSpPr>
          <p:nvPr>
            <p:ph idx="1"/>
          </p:nvPr>
        </p:nvSpPr>
        <p:spPr>
          <a:xfrm>
            <a:off x="2061882" y="2133600"/>
            <a:ext cx="8265459" cy="3777622"/>
          </a:xfrm>
        </p:spPr>
        <p:txBody>
          <a:bodyPr>
            <a:normAutofit fontScale="92500" lnSpcReduction="10000"/>
          </a:bodyPr>
          <a:lstStyle/>
          <a:p>
            <a:pPr marL="0" indent="0" algn="just">
              <a:lnSpc>
                <a:spcPct val="150000"/>
              </a:lnSpc>
              <a:buNone/>
            </a:pPr>
            <a:r>
              <a:rPr lang="pt-BR" dirty="0"/>
              <a:t>Em operações interestaduais, podem acontecer casos nos quais o Estado destinatário prevê em sua legislação do ICMS a antecipação do recolhimento do imposto quando da entrada da mercadoria em seu território. </a:t>
            </a:r>
          </a:p>
          <a:p>
            <a:pPr algn="just">
              <a:lnSpc>
                <a:spcPct val="150000"/>
              </a:lnSpc>
            </a:pPr>
            <a:endParaRPr lang="pt-BR" dirty="0"/>
          </a:p>
          <a:p>
            <a:pPr marL="0" indent="0" algn="just">
              <a:lnSpc>
                <a:spcPct val="150000"/>
              </a:lnSpc>
              <a:buNone/>
            </a:pPr>
            <a:r>
              <a:rPr lang="pt-BR" dirty="0"/>
              <a:t>Tal antecipação pode ser feita pelo remetente, antes da saída da mercadoria, por guia de recolhimento em nome do destinatário como forma de agilizar o trâmite das mercadorias nos postos de fiscalização existentes nas fronteiras.</a:t>
            </a:r>
          </a:p>
        </p:txBody>
      </p:sp>
    </p:spTree>
    <p:extLst>
      <p:ext uri="{BB962C8B-B14F-4D97-AF65-F5344CB8AC3E}">
        <p14:creationId xmlns:p14="http://schemas.microsoft.com/office/powerpoint/2010/main" val="11248711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01795" y="624110"/>
            <a:ext cx="9502817" cy="1280890"/>
          </a:xfrm>
        </p:spPr>
        <p:txBody>
          <a:bodyPr/>
          <a:lstStyle/>
          <a:p>
            <a:pPr algn="ctr"/>
            <a:r>
              <a:rPr lang="pt-BR" b="1" dirty="0">
                <a:latin typeface="Bookman Old Style" panose="02050604050505020204" pitchFamily="18" charset="0"/>
              </a:rPr>
              <a:t>Substituição Tributária x </a:t>
            </a:r>
            <a:r>
              <a:rPr lang="pt-BR" b="1" dirty="0" smtClean="0">
                <a:latin typeface="Bookman Old Style" panose="02050604050505020204" pitchFamily="18" charset="0"/>
              </a:rPr>
              <a:t>Antecipação</a:t>
            </a:r>
            <a:endParaRPr lang="pt-BR" dirty="0"/>
          </a:p>
        </p:txBody>
      </p:sp>
      <p:sp>
        <p:nvSpPr>
          <p:cNvPr id="3" name="Espaço Reservado para Conteúdo 2"/>
          <p:cNvSpPr>
            <a:spLocks noGrp="1"/>
          </p:cNvSpPr>
          <p:nvPr>
            <p:ph idx="1"/>
          </p:nvPr>
        </p:nvSpPr>
        <p:spPr>
          <a:xfrm>
            <a:off x="1811216" y="2133600"/>
            <a:ext cx="9530862" cy="3777622"/>
          </a:xfrm>
        </p:spPr>
        <p:txBody>
          <a:bodyPr>
            <a:normAutofit/>
          </a:bodyPr>
          <a:lstStyle/>
          <a:p>
            <a:pPr marL="0" indent="0" algn="just">
              <a:lnSpc>
                <a:spcPct val="150000"/>
              </a:lnSpc>
              <a:buNone/>
            </a:pPr>
            <a:r>
              <a:rPr lang="pt-BR" dirty="0"/>
              <a:t>A fórmula de cálculo da antecipação tributária é idêntica à do ICMS-ST, onde ao valor da operação é adicionada a margem de valor agregado e sobre esse resultado aplica-se a alíquota interna do Estado destinatário.</a:t>
            </a:r>
          </a:p>
          <a:p>
            <a:pPr marL="0" indent="0" algn="just">
              <a:lnSpc>
                <a:spcPct val="150000"/>
              </a:lnSpc>
              <a:buNone/>
            </a:pPr>
            <a:endParaRPr lang="pt-BR" dirty="0"/>
          </a:p>
          <a:p>
            <a:pPr marL="0" indent="0" algn="just">
              <a:lnSpc>
                <a:spcPct val="150000"/>
              </a:lnSpc>
              <a:buNone/>
            </a:pPr>
            <a:r>
              <a:rPr lang="pt-BR" dirty="0"/>
              <a:t>A antecipação é obrigação do destinatário da mercadoria e se refere ao recolhimento do imposto de sua operação. Não se deve confundir a antecipação com a substituição tributária, posto que está se refere ao recolhimento de toda uma cadeia, e não só de um destinatário em específico.</a:t>
            </a:r>
          </a:p>
        </p:txBody>
      </p:sp>
    </p:spTree>
    <p:extLst>
      <p:ext uri="{BB962C8B-B14F-4D97-AF65-F5344CB8AC3E}">
        <p14:creationId xmlns:p14="http://schemas.microsoft.com/office/powerpoint/2010/main" val="4225479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53515" y="624110"/>
            <a:ext cx="9651098" cy="1280890"/>
          </a:xfrm>
        </p:spPr>
        <p:txBody>
          <a:bodyPr/>
          <a:lstStyle/>
          <a:p>
            <a:pPr algn="ctr"/>
            <a:r>
              <a:rPr lang="pt-BR" b="1" dirty="0">
                <a:latin typeface="Bookman Old Style" panose="02050604050505020204" pitchFamily="18" charset="0"/>
              </a:rPr>
              <a:t>Substituição Tributária x </a:t>
            </a:r>
            <a:r>
              <a:rPr lang="pt-BR" b="1" dirty="0" smtClean="0">
                <a:latin typeface="Bookman Old Style" panose="02050604050505020204" pitchFamily="18" charset="0"/>
              </a:rPr>
              <a:t>Antecipação</a:t>
            </a:r>
            <a:endParaRPr lang="pt-BR" dirty="0"/>
          </a:p>
        </p:txBody>
      </p:sp>
      <p:sp>
        <p:nvSpPr>
          <p:cNvPr id="3" name="Espaço Reservado para Conteúdo 2"/>
          <p:cNvSpPr>
            <a:spLocks noGrp="1"/>
          </p:cNvSpPr>
          <p:nvPr>
            <p:ph idx="1"/>
          </p:nvPr>
        </p:nvSpPr>
        <p:spPr>
          <a:xfrm>
            <a:off x="1582615" y="2356338"/>
            <a:ext cx="9214339" cy="3554884"/>
          </a:xfrm>
        </p:spPr>
        <p:txBody>
          <a:bodyPr>
            <a:normAutofit/>
          </a:bodyPr>
          <a:lstStyle/>
          <a:p>
            <a:pPr marL="0" indent="0">
              <a:buNone/>
            </a:pPr>
            <a:r>
              <a:rPr lang="pt-BR" b="1" dirty="0">
                <a:solidFill>
                  <a:srgbClr val="0000FF"/>
                </a:solidFill>
              </a:rPr>
              <a:t>Antecipação </a:t>
            </a:r>
            <a:r>
              <a:rPr lang="pt-BR" b="1" dirty="0" smtClean="0">
                <a:solidFill>
                  <a:srgbClr val="0000FF"/>
                </a:solidFill>
              </a:rPr>
              <a:t>tributária </a:t>
            </a:r>
            <a:r>
              <a:rPr lang="pt-BR" i="1" dirty="0"/>
              <a:t>recolhimento do imposto devido pelo destinatário de sua própria operação – pago pelo adquirente</a:t>
            </a:r>
          </a:p>
          <a:p>
            <a:endParaRPr lang="pt-BR" dirty="0"/>
          </a:p>
          <a:p>
            <a:pPr marL="0" indent="0">
              <a:buNone/>
            </a:pPr>
            <a:r>
              <a:rPr lang="pt-BR" b="1" dirty="0">
                <a:solidFill>
                  <a:srgbClr val="0000FF"/>
                </a:solidFill>
              </a:rPr>
              <a:t>Substituição tributária</a:t>
            </a:r>
            <a:r>
              <a:rPr lang="pt-BR" dirty="0"/>
              <a:t> </a:t>
            </a:r>
            <a:r>
              <a:rPr lang="pt-BR" i="1" dirty="0" smtClean="0"/>
              <a:t>recolhimento </a:t>
            </a:r>
            <a:r>
              <a:rPr lang="pt-BR" i="1" dirty="0"/>
              <a:t>do imposto devido por todos os destinatários da cadeia produtiva (várias operações) – pago pelo vendedor</a:t>
            </a:r>
          </a:p>
        </p:txBody>
      </p:sp>
    </p:spTree>
    <p:extLst>
      <p:ext uri="{BB962C8B-B14F-4D97-AF65-F5344CB8AC3E}">
        <p14:creationId xmlns:p14="http://schemas.microsoft.com/office/powerpoint/2010/main" val="1158810839"/>
      </p:ext>
    </p:extLst>
  </p:cSld>
  <p:clrMapOvr>
    <a:masterClrMapping/>
  </p:clrMapOvr>
</p:sld>
</file>

<file path=ppt/theme/theme1.xml><?xml version="1.0" encoding="utf-8"?>
<a:theme xmlns:a="http://schemas.openxmlformats.org/drawingml/2006/main" name="Cacho">
  <a:themeElements>
    <a:clrScheme name="Cacho">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Cacho">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acho">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1649</TotalTime>
  <Words>2772</Words>
  <Application>Microsoft Office PowerPoint</Application>
  <PresentationFormat>Widescreen</PresentationFormat>
  <Paragraphs>284</Paragraphs>
  <Slides>56</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56</vt:i4>
      </vt:variant>
    </vt:vector>
  </HeadingPairs>
  <TitlesOfParts>
    <vt:vector size="63" baseType="lpstr">
      <vt:lpstr>Arial</vt:lpstr>
      <vt:lpstr>Bookman Old Style</vt:lpstr>
      <vt:lpstr>Calibri</vt:lpstr>
      <vt:lpstr>Century Gothic</vt:lpstr>
      <vt:lpstr>Times New Roman</vt:lpstr>
      <vt:lpstr>Wingdings 3</vt:lpstr>
      <vt:lpstr>Cacho</vt:lpstr>
      <vt:lpstr>Substituição Tributária ICMS </vt:lpstr>
      <vt:lpstr>O que é a Substituição Tributária?</vt:lpstr>
      <vt:lpstr>Ainda na definição...</vt:lpstr>
      <vt:lpstr>Convênio x Protocolo</vt:lpstr>
      <vt:lpstr>Substituição na CF/88</vt:lpstr>
      <vt:lpstr>Participantes da Substituição Tributária</vt:lpstr>
      <vt:lpstr>Participantes da Substituição Tributária</vt:lpstr>
      <vt:lpstr>Responsável</vt:lpstr>
      <vt:lpstr>Operação antecedente</vt:lpstr>
      <vt:lpstr>Aplicabilidade</vt:lpstr>
      <vt:lpstr>Não aplicabilidade</vt:lpstr>
      <vt:lpstr>Não aplicabilidade</vt:lpstr>
      <vt:lpstr>Mercadorias Sujeitas ao Regime da Substituição Tributária</vt:lpstr>
      <vt:lpstr>Operações Anteriores</vt:lpstr>
      <vt:lpstr>Operações Subsequentes</vt:lpstr>
      <vt:lpstr>Regime da não cumulatividade</vt:lpstr>
      <vt:lpstr>Alíquota Interestadual </vt:lpstr>
      <vt:lpstr>Alíquota Interna dos Estados</vt:lpstr>
      <vt:lpstr>Alíquota Interna dos Estados</vt:lpstr>
      <vt:lpstr>Alíquota Interna</vt:lpstr>
      <vt:lpstr>Fundo de Erradicação e Combate a Probreza</vt:lpstr>
      <vt:lpstr>Opção Pela Condição de Substituto Tributário</vt:lpstr>
      <vt:lpstr>Substituição Tributária</vt:lpstr>
      <vt:lpstr>Exemplo</vt:lpstr>
      <vt:lpstr>Exemplo</vt:lpstr>
      <vt:lpstr>Base de Cálculo</vt:lpstr>
      <vt:lpstr>Base de Cálculo</vt:lpstr>
      <vt:lpstr>Base de Cálculo</vt:lpstr>
      <vt:lpstr>Base de Cálculo</vt:lpstr>
      <vt:lpstr>Cálculo</vt:lpstr>
      <vt:lpstr>Cálculo</vt:lpstr>
      <vt:lpstr>Cálculo</vt:lpstr>
      <vt:lpstr>Cálculo</vt:lpstr>
      <vt:lpstr>MVA</vt:lpstr>
      <vt:lpstr>MVA</vt:lpstr>
      <vt:lpstr>MVA</vt:lpstr>
      <vt:lpstr>MVA</vt:lpstr>
      <vt:lpstr>Exemplo</vt:lpstr>
      <vt:lpstr>Exemplo</vt:lpstr>
      <vt:lpstr>Exemplo</vt:lpstr>
      <vt:lpstr>Simples Nacional</vt:lpstr>
      <vt:lpstr>Simples Nacional</vt:lpstr>
      <vt:lpstr>Simples Nacional</vt:lpstr>
      <vt:lpstr>Cálculo</vt:lpstr>
      <vt:lpstr>Frente na Compra</vt:lpstr>
      <vt:lpstr>Frente na Compra</vt:lpstr>
      <vt:lpstr>Substituição Tributária x DIFAL</vt:lpstr>
      <vt:lpstr>Substituição Tributária x DIFAL</vt:lpstr>
      <vt:lpstr>Substituição Tributária x DIFAL</vt:lpstr>
      <vt:lpstr>Substituição Tributária x DIFAL</vt:lpstr>
      <vt:lpstr>Substituição Tributária x DIFAL</vt:lpstr>
      <vt:lpstr>Redução na Base de Cálculo</vt:lpstr>
      <vt:lpstr>Substituição Tributária x DIFAL</vt:lpstr>
      <vt:lpstr>Substituição Tributária x Antecipação</vt:lpstr>
      <vt:lpstr>Substituição Tributária x Antecipação</vt:lpstr>
      <vt:lpstr>Substituição Tributária x Antecipação</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Aspectos práticos da  Lei n.º 5005</dc:title>
  <dc:creator>Usuário do Windows</dc:creator>
  <cp:lastModifiedBy>Usuário do Windows</cp:lastModifiedBy>
  <cp:revision>66</cp:revision>
  <cp:lastPrinted>2018-08-15T18:00:20Z</cp:lastPrinted>
  <dcterms:created xsi:type="dcterms:W3CDTF">2018-03-16T23:19:06Z</dcterms:created>
  <dcterms:modified xsi:type="dcterms:W3CDTF">2018-08-16T03:35:54Z</dcterms:modified>
</cp:coreProperties>
</file>