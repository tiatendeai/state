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4" r:id="rId5"/>
    <p:sldId id="270" r:id="rId6"/>
    <p:sldId id="272" r:id="rId7"/>
    <p:sldId id="273" r:id="rId8"/>
    <p:sldId id="274" r:id="rId9"/>
    <p:sldId id="275" r:id="rId10"/>
    <p:sldId id="263" r:id="rId11"/>
    <p:sldId id="268" r:id="rId12"/>
    <p:sldId id="267" r:id="rId13"/>
    <p:sldId id="266" r:id="rId14"/>
    <p:sldId id="269" r:id="rId15"/>
    <p:sldId id="265" r:id="rId16"/>
    <p:sldId id="277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42"/>
            <a:ext cx="12192000" cy="68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4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94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617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60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88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696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6178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76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70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2659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95106B-E83F-4731-B514-5984D5C5626B}" type="datetimeFigureOut">
              <a:rPr lang="pt-BR" smtClean="0"/>
              <a:t>18/08/2018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F8437F-1467-4C18-9F6E-5FF125C4F3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676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9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lanalto.gov.br/ccivil_03/LEIS/LEIS_2001/L10336.ht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ota.info/coberturas-especiais/combustivel-legal/afinal-como-tributados-combustiveis-2505201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37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sz="1800" u="sng" dirty="0" smtClean="0"/>
              <a:t>Tema:</a:t>
            </a:r>
          </a:p>
          <a:p>
            <a:pPr marL="0" indent="0">
              <a:buNone/>
            </a:pPr>
            <a:endParaRPr lang="pt-BR" sz="1800" u="sng" dirty="0" smtClean="0"/>
          </a:p>
          <a:p>
            <a:pPr marL="0" indent="0">
              <a:buNone/>
            </a:pPr>
            <a:r>
              <a:rPr lang="pt-BR" sz="1800" dirty="0" smtClean="0"/>
              <a:t>              Tributação no Sistema de Transportes </a:t>
            </a: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</p:spTree>
    <p:extLst>
      <p:ext uri="{BB962C8B-B14F-4D97-AF65-F5344CB8AC3E}">
        <p14:creationId xmlns:p14="http://schemas.microsoft.com/office/powerpoint/2010/main" val="276124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3" name="Retângulo 2"/>
          <p:cNvSpPr/>
          <p:nvPr/>
        </p:nvSpPr>
        <p:spPr>
          <a:xfrm>
            <a:off x="876300" y="2641938"/>
            <a:ext cx="96774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endParaRPr lang="pt-BR" dirty="0" smtClean="0"/>
          </a:p>
          <a:p>
            <a:pPr algn="just"/>
            <a:r>
              <a:rPr lang="pt-BR" dirty="0" smtClean="0"/>
              <a:t>A </a:t>
            </a:r>
            <a:r>
              <a:rPr lang="pt-BR" dirty="0"/>
              <a:t>partir da apresentação de conceitos, essa atividade busca estimular a percepção sobre o impacto dos tributos na cadeia de consumo: bens e serviços. Será fomentada a discussão sobre a necessidade de se entender a reforma tributária e as propostas, atualmente em vigor, após as paralisações das atividades de transporte. O evento se propõe, ainda, a explicar os termos: </a:t>
            </a:r>
            <a:r>
              <a:rPr lang="pt-BR" dirty="0" smtClean="0"/>
              <a:t>ICMS- PIS-COFINS </a:t>
            </a:r>
            <a:r>
              <a:rPr lang="pt-BR" dirty="0"/>
              <a:t>e </a:t>
            </a:r>
            <a:r>
              <a:rPr lang="pt-BR" dirty="0" smtClean="0"/>
              <a:t>CIDE.</a:t>
            </a:r>
          </a:p>
          <a:p>
            <a:pPr algn="just"/>
            <a:endParaRPr lang="pt-BR" dirty="0"/>
          </a:p>
          <a:p>
            <a:pPr algn="just"/>
            <a:endParaRPr lang="pt-BR" dirty="0" smtClean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912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2879380"/>
            <a:ext cx="3721100" cy="29241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tângulo 3"/>
          <p:cNvSpPr/>
          <p:nvPr/>
        </p:nvSpPr>
        <p:spPr>
          <a:xfrm>
            <a:off x="869726" y="2879380"/>
            <a:ext cx="4356100" cy="296508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 smtClean="0"/>
              <a:t>Apesar da existência de vários modais possíveis, no Brasil a matriz de transporte é rodoviária. Essa matriz, em alguns momentos, coloca o sistema de escoamento numa dependência.   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807200" y="5927390"/>
            <a:ext cx="3721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Fonte: http</a:t>
            </a:r>
            <a:r>
              <a:rPr lang="pt-BR" sz="1000" dirty="0"/>
              <a:t>://logisticanodiadia.blogspot.com</a:t>
            </a:r>
          </a:p>
        </p:txBody>
      </p:sp>
    </p:spTree>
    <p:extLst>
      <p:ext uri="{BB962C8B-B14F-4D97-AF65-F5344CB8AC3E}">
        <p14:creationId xmlns:p14="http://schemas.microsoft.com/office/powerpoint/2010/main" val="17312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05300" y="474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27100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3996267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Destino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7065434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Territórios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27100" y="2692400"/>
            <a:ext cx="766233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Como se tributa o frete no sistema de transportes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927099" y="4651805"/>
            <a:ext cx="4593167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Trajeto</a:t>
            </a:r>
            <a:endParaRPr lang="pt-BR" dirty="0"/>
          </a:p>
        </p:txBody>
      </p:sp>
      <p:cxnSp>
        <p:nvCxnSpPr>
          <p:cNvPr id="13" name="Conector reto 12"/>
          <p:cNvCxnSpPr/>
          <p:nvPr/>
        </p:nvCxnSpPr>
        <p:spPr>
          <a:xfrm>
            <a:off x="927100" y="4414738"/>
            <a:ext cx="0" cy="33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5520266" y="4414738"/>
            <a:ext cx="0" cy="33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8589434" y="3061732"/>
            <a:ext cx="0" cy="4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83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05300" y="474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27100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</a:t>
            </a:r>
            <a:endParaRPr lang="pt-BR" dirty="0"/>
          </a:p>
          <a:p>
            <a:pPr algn="ctr"/>
            <a:r>
              <a:rPr lang="pt-BR" dirty="0" smtClean="0"/>
              <a:t>Zona Sul de São Paulo 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33288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Destino</a:t>
            </a:r>
          </a:p>
          <a:p>
            <a:pPr algn="ctr"/>
            <a:r>
              <a:rPr lang="pt-BR" dirty="0" smtClean="0"/>
              <a:t>Zona Oeste de São Paulo 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5553429" y="3513038"/>
            <a:ext cx="2192866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Território:</a:t>
            </a:r>
          </a:p>
          <a:p>
            <a:pPr algn="ctr"/>
            <a:r>
              <a:rPr lang="pt-BR" dirty="0" smtClean="0"/>
              <a:t>Intramunicipal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27100" y="2692400"/>
            <a:ext cx="90438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Como se tributa o frete no sistema de transportes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84469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Tributo</a:t>
            </a:r>
          </a:p>
          <a:p>
            <a:pPr algn="ctr"/>
            <a:r>
              <a:rPr lang="pt-BR" dirty="0" smtClean="0"/>
              <a:t>ISSQN. 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>
            <a:off x="7848600" y="39751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927100" y="4651805"/>
            <a:ext cx="39257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Mesmo Município</a:t>
            </a:r>
            <a:endParaRPr lang="pt-BR" dirty="0"/>
          </a:p>
        </p:txBody>
      </p:sp>
      <p:cxnSp>
        <p:nvCxnSpPr>
          <p:cNvPr id="14" name="Conector reto 13"/>
          <p:cNvCxnSpPr/>
          <p:nvPr/>
        </p:nvCxnSpPr>
        <p:spPr>
          <a:xfrm>
            <a:off x="927100" y="4414738"/>
            <a:ext cx="0" cy="33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4852812" y="4305300"/>
            <a:ext cx="0" cy="346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9970912" y="3050693"/>
            <a:ext cx="0" cy="4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8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05300" y="474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27100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</a:t>
            </a:r>
            <a:endParaRPr lang="pt-BR" dirty="0"/>
          </a:p>
          <a:p>
            <a:pPr algn="ctr"/>
            <a:r>
              <a:rPr lang="pt-BR" dirty="0" smtClean="0"/>
              <a:t>São Paulo 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33288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Destino</a:t>
            </a:r>
          </a:p>
          <a:p>
            <a:pPr algn="ctr"/>
            <a:r>
              <a:rPr lang="pt-BR" dirty="0" smtClean="0"/>
              <a:t>Guarulhos 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5553429" y="3513038"/>
            <a:ext cx="2192866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Território:</a:t>
            </a:r>
          </a:p>
          <a:p>
            <a:pPr algn="ctr"/>
            <a:r>
              <a:rPr lang="pt-BR" dirty="0" smtClean="0"/>
              <a:t>Intermunicipal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27100" y="2692400"/>
            <a:ext cx="90438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Como se tributa o frete no sistema de transportes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84469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Tributo</a:t>
            </a:r>
          </a:p>
          <a:p>
            <a:pPr algn="ctr"/>
            <a:r>
              <a:rPr lang="pt-BR" dirty="0" smtClean="0"/>
              <a:t>ICMS. 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>
            <a:off x="7848600" y="39751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927100" y="4651805"/>
            <a:ext cx="39257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Municípios diferentes</a:t>
            </a:r>
            <a:endParaRPr lang="pt-BR" dirty="0"/>
          </a:p>
        </p:txBody>
      </p:sp>
      <p:cxnSp>
        <p:nvCxnSpPr>
          <p:cNvPr id="14" name="Conector reto 13"/>
          <p:cNvCxnSpPr/>
          <p:nvPr/>
        </p:nvCxnSpPr>
        <p:spPr>
          <a:xfrm>
            <a:off x="927100" y="4414738"/>
            <a:ext cx="0" cy="33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4852812" y="4403699"/>
            <a:ext cx="0" cy="33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>
          <a:xfrm>
            <a:off x="9970912" y="3061732"/>
            <a:ext cx="0" cy="4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60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05300" y="474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27100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</a:t>
            </a:r>
            <a:endParaRPr lang="pt-BR" dirty="0"/>
          </a:p>
          <a:p>
            <a:pPr algn="ctr"/>
            <a:r>
              <a:rPr lang="pt-BR" dirty="0" smtClean="0"/>
              <a:t>SP. 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33288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Destino</a:t>
            </a:r>
          </a:p>
          <a:p>
            <a:pPr algn="ctr"/>
            <a:r>
              <a:rPr lang="pt-BR" dirty="0" smtClean="0"/>
              <a:t>MG. 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5553429" y="3513038"/>
            <a:ext cx="2192866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Território</a:t>
            </a:r>
          </a:p>
          <a:p>
            <a:pPr algn="ctr"/>
            <a:r>
              <a:rPr lang="pt-BR" dirty="0" smtClean="0"/>
              <a:t>Interestadual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27100" y="2692400"/>
            <a:ext cx="90438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Como se tributa o frete no sistema de transportes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84469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Tributo</a:t>
            </a:r>
          </a:p>
          <a:p>
            <a:pPr algn="ctr"/>
            <a:r>
              <a:rPr lang="pt-BR" dirty="0" smtClean="0"/>
              <a:t>ICMS. 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>
            <a:off x="7848600" y="39751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927100" y="4651805"/>
            <a:ext cx="39257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Estados diferentes</a:t>
            </a:r>
            <a:endParaRPr lang="pt-BR" dirty="0"/>
          </a:p>
        </p:txBody>
      </p:sp>
      <p:cxnSp>
        <p:nvCxnSpPr>
          <p:cNvPr id="14" name="Conector reto 13"/>
          <p:cNvCxnSpPr/>
          <p:nvPr/>
        </p:nvCxnSpPr>
        <p:spPr>
          <a:xfrm>
            <a:off x="9970912" y="3061732"/>
            <a:ext cx="0" cy="4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7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305300" y="474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927100" y="3513038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</a:t>
            </a:r>
            <a:endParaRPr lang="pt-BR" dirty="0"/>
          </a:p>
          <a:p>
            <a:pPr algn="ctr"/>
            <a:r>
              <a:rPr lang="pt-BR" dirty="0" smtClean="0"/>
              <a:t>São Paulo 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5520267" y="3493936"/>
            <a:ext cx="1975556" cy="920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Destino</a:t>
            </a:r>
          </a:p>
          <a:p>
            <a:pPr algn="ctr"/>
            <a:r>
              <a:rPr lang="pt-BR" dirty="0" smtClean="0"/>
              <a:t>São Paulo 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2889956" y="3493936"/>
            <a:ext cx="2192866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Trajeto</a:t>
            </a:r>
          </a:p>
          <a:p>
            <a:pPr algn="ctr"/>
            <a:r>
              <a:rPr lang="pt-BR" dirty="0" smtClean="0"/>
              <a:t>Guarulhos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27100" y="2692400"/>
            <a:ext cx="904381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Como se tributa o frete no sistema de transportes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8446912" y="3501999"/>
            <a:ext cx="1524000" cy="901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Tributo</a:t>
            </a:r>
          </a:p>
          <a:p>
            <a:pPr algn="ctr"/>
            <a:r>
              <a:rPr lang="pt-BR" dirty="0" smtClean="0"/>
              <a:t>ISSQN. 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>
            <a:off x="7848600" y="397510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/>
          <p:cNvSpPr/>
          <p:nvPr/>
        </p:nvSpPr>
        <p:spPr>
          <a:xfrm>
            <a:off x="927100" y="4651804"/>
            <a:ext cx="3925712" cy="8472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Origem e Destino: Intramunicipal</a:t>
            </a:r>
          </a:p>
        </p:txBody>
      </p:sp>
      <p:cxnSp>
        <p:nvCxnSpPr>
          <p:cNvPr id="14" name="Conector reto 13"/>
          <p:cNvCxnSpPr/>
          <p:nvPr/>
        </p:nvCxnSpPr>
        <p:spPr>
          <a:xfrm>
            <a:off x="9962446" y="3061732"/>
            <a:ext cx="0" cy="451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86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4" name="CaixaDeTexto 1"/>
          <p:cNvSpPr txBox="1">
            <a:spLocks noChangeArrowheads="1"/>
          </p:cNvSpPr>
          <p:nvPr/>
        </p:nvSpPr>
        <p:spPr bwMode="auto">
          <a:xfrm>
            <a:off x="6984551" y="2409725"/>
            <a:ext cx="3240182" cy="390876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u="sng" dirty="0" smtClean="0">
                <a:latin typeface="+mn-lt"/>
              </a:rPr>
              <a:t>Tipos</a:t>
            </a:r>
            <a:endParaRPr lang="pt-BR" altLang="pt-BR" sz="1800" u="sng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00 – Mercadoria para </a:t>
            </a:r>
            <a:r>
              <a:rPr lang="pt-BR" altLang="pt-BR" sz="1800" dirty="0" smtClean="0">
                <a:latin typeface="+mn-lt"/>
              </a:rPr>
              <a:t>Revenda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01 – </a:t>
            </a:r>
            <a:r>
              <a:rPr lang="pt-BR" altLang="pt-BR" sz="1800" dirty="0" smtClean="0">
                <a:latin typeface="+mn-lt"/>
              </a:rPr>
              <a:t>Matéria-Prima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02 – </a:t>
            </a:r>
            <a:r>
              <a:rPr lang="pt-BR" altLang="pt-BR" sz="1800" dirty="0" smtClean="0">
                <a:latin typeface="+mn-lt"/>
              </a:rPr>
              <a:t>Embalagem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03 – Produto em </a:t>
            </a:r>
            <a:r>
              <a:rPr lang="pt-BR" altLang="pt-BR" sz="1800" dirty="0" smtClean="0">
                <a:latin typeface="+mn-lt"/>
              </a:rPr>
              <a:t>Processo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04 – Produto </a:t>
            </a:r>
            <a:r>
              <a:rPr lang="pt-BR" altLang="pt-BR" sz="1800" dirty="0" smtClean="0">
                <a:latin typeface="+mn-lt"/>
              </a:rPr>
              <a:t>Acabado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05 – </a:t>
            </a:r>
            <a:r>
              <a:rPr lang="pt-BR" altLang="pt-BR" sz="1800" dirty="0" smtClean="0">
                <a:latin typeface="+mn-lt"/>
              </a:rPr>
              <a:t>Subproduto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06 – Produto </a:t>
            </a:r>
            <a:r>
              <a:rPr lang="pt-BR" altLang="pt-BR" sz="1800" dirty="0" smtClean="0">
                <a:latin typeface="+mn-lt"/>
              </a:rPr>
              <a:t>Intermediário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07 – Material de Uso e </a:t>
            </a:r>
            <a:r>
              <a:rPr lang="pt-BR" altLang="pt-BR" sz="1800" dirty="0" smtClean="0">
                <a:latin typeface="+mn-lt"/>
              </a:rPr>
              <a:t>Consumo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08 – Ativo </a:t>
            </a:r>
            <a:r>
              <a:rPr lang="pt-BR" altLang="pt-BR" sz="1800" dirty="0" smtClean="0">
                <a:latin typeface="+mn-lt"/>
              </a:rPr>
              <a:t>Imobilizado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09 – </a:t>
            </a:r>
            <a:r>
              <a:rPr lang="pt-BR" altLang="pt-BR" sz="1800" dirty="0" smtClean="0">
                <a:latin typeface="+mn-lt"/>
              </a:rPr>
              <a:t>Serviços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10 – Outros </a:t>
            </a:r>
            <a:r>
              <a:rPr lang="pt-BR" altLang="pt-BR" sz="1800" dirty="0" smtClean="0">
                <a:latin typeface="+mn-lt"/>
              </a:rPr>
              <a:t>insumos</a:t>
            </a:r>
            <a:endParaRPr lang="pt-BR" altLang="pt-BR" sz="1800" dirty="0">
              <a:latin typeface="+mn-lt"/>
            </a:endParaRPr>
          </a:p>
          <a:p>
            <a:r>
              <a:rPr lang="pt-BR" altLang="pt-BR" sz="1800" dirty="0">
                <a:latin typeface="+mn-lt"/>
              </a:rPr>
              <a:t>99 – </a:t>
            </a:r>
            <a:r>
              <a:rPr lang="pt-BR" altLang="pt-BR" sz="1800" dirty="0" smtClean="0">
                <a:latin typeface="+mn-lt"/>
              </a:rPr>
              <a:t>Outros itens </a:t>
            </a:r>
            <a:endParaRPr lang="pt-BR" altLang="pt-BR" sz="1800" dirty="0">
              <a:latin typeface="+mn-lt"/>
            </a:endParaRPr>
          </a:p>
          <a:p>
            <a:endParaRPr lang="pt-BR" altLang="pt-BR" dirty="0"/>
          </a:p>
        </p:txBody>
      </p:sp>
      <p:sp>
        <p:nvSpPr>
          <p:cNvPr id="6" name="CaixaDeTexto 1"/>
          <p:cNvSpPr txBox="1">
            <a:spLocks noChangeArrowheads="1"/>
          </p:cNvSpPr>
          <p:nvPr/>
        </p:nvSpPr>
        <p:spPr bwMode="auto">
          <a:xfrm>
            <a:off x="1862681" y="3963887"/>
            <a:ext cx="3364062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 smtClean="0">
                <a:latin typeface="+mn-lt"/>
              </a:rPr>
              <a:t>Do que a cadeia logística tem que dar conta</a:t>
            </a:r>
            <a:endParaRPr lang="pt-BR" altLang="pt-BR" dirty="0">
              <a:latin typeface="+mn-lt"/>
            </a:endParaRPr>
          </a:p>
        </p:txBody>
      </p:sp>
      <p:cxnSp>
        <p:nvCxnSpPr>
          <p:cNvPr id="7" name="Conector reto 6"/>
          <p:cNvCxnSpPr/>
          <p:nvPr/>
        </p:nvCxnSpPr>
        <p:spPr>
          <a:xfrm flipV="1">
            <a:off x="5245961" y="2409725"/>
            <a:ext cx="1738590" cy="1554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5245961" y="4271664"/>
            <a:ext cx="1738590" cy="2046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72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386" y="2892181"/>
            <a:ext cx="2400624" cy="13375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CaixaDeTexto 2"/>
          <p:cNvSpPr txBox="1"/>
          <p:nvPr/>
        </p:nvSpPr>
        <p:spPr>
          <a:xfrm>
            <a:off x="7870386" y="5094781"/>
            <a:ext cx="240062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Produto em Processo 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960" y="2863362"/>
            <a:ext cx="2577940" cy="13663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CaixaDeTexto 6"/>
          <p:cNvSpPr txBox="1"/>
          <p:nvPr/>
        </p:nvSpPr>
        <p:spPr>
          <a:xfrm>
            <a:off x="3200111" y="5097451"/>
            <a:ext cx="257794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Produto acabado </a:t>
            </a:r>
            <a:endParaRPr lang="pt-BR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098960" y="2274929"/>
            <a:ext cx="2577940" cy="368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 que queremos </a:t>
            </a:r>
            <a:endParaRPr lang="pt-BR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7870386" y="2290718"/>
            <a:ext cx="2400624" cy="3683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O que é preciso</a:t>
            </a:r>
            <a:endParaRPr lang="pt-BR" dirty="0"/>
          </a:p>
        </p:txBody>
      </p:sp>
      <p:sp>
        <p:nvSpPr>
          <p:cNvPr id="11" name="Seta para baixo 10"/>
          <p:cNvSpPr/>
          <p:nvPr/>
        </p:nvSpPr>
        <p:spPr>
          <a:xfrm>
            <a:off x="8851900" y="4320670"/>
            <a:ext cx="355600" cy="68313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 para baixo 11"/>
          <p:cNvSpPr/>
          <p:nvPr/>
        </p:nvSpPr>
        <p:spPr>
          <a:xfrm>
            <a:off x="4210130" y="4310293"/>
            <a:ext cx="355600" cy="68313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422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4" name="CaixaDeTexto 1"/>
          <p:cNvSpPr txBox="1">
            <a:spLocks noChangeArrowheads="1"/>
          </p:cNvSpPr>
          <p:nvPr/>
        </p:nvSpPr>
        <p:spPr bwMode="auto">
          <a:xfrm>
            <a:off x="184782" y="3806736"/>
            <a:ext cx="2343462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 smtClean="0">
                <a:latin typeface="+mn-lt"/>
              </a:rPr>
              <a:t>O impacto para o consumidor</a:t>
            </a:r>
            <a:endParaRPr lang="pt-BR" altLang="pt-BR" dirty="0">
              <a:latin typeface="+mn-lt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062532"/>
              </p:ext>
            </p:extLst>
          </p:nvPr>
        </p:nvGraphicFramePr>
        <p:xfrm>
          <a:off x="3452841" y="2093125"/>
          <a:ext cx="8379959" cy="3565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4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56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652">
                  <a:extLst>
                    <a:ext uri="{9D8B030D-6E8A-4147-A177-3AD203B41FA5}">
                      <a16:colId xmlns:a16="http://schemas.microsoft.com/office/drawing/2014/main" val="403697654"/>
                    </a:ext>
                  </a:extLst>
                </a:gridCol>
                <a:gridCol w="608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9436">
                  <a:extLst>
                    <a:ext uri="{9D8B030D-6E8A-4147-A177-3AD203B41FA5}">
                      <a16:colId xmlns:a16="http://schemas.microsoft.com/office/drawing/2014/main" val="1076834555"/>
                    </a:ext>
                  </a:extLst>
                </a:gridCol>
                <a:gridCol w="10354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189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660131514"/>
                    </a:ext>
                  </a:extLst>
                </a:gridCol>
                <a:gridCol w="19288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7317"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/>
                          </a:solidFill>
                        </a:rPr>
                        <a:t>PRODUTO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/>
                          </a:solidFill>
                        </a:rPr>
                        <a:t>CF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/>
                          </a:solidFill>
                        </a:rPr>
                        <a:t>SIT.TRIB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solidFill>
                            <a:schemeClr val="tx1"/>
                          </a:solidFill>
                        </a:rPr>
                        <a:t>UN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solidFill>
                            <a:schemeClr val="tx1"/>
                          </a:solidFill>
                        </a:rPr>
                        <a:t>QUANT.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solidFill>
                            <a:schemeClr val="tx1"/>
                          </a:solidFill>
                        </a:rPr>
                        <a:t>VR.UNIT.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solidFill>
                            <a:schemeClr val="tx1"/>
                          </a:solidFill>
                        </a:rPr>
                        <a:t>VR.TOTAL</a:t>
                      </a:r>
                      <a:endParaRPr lang="pt-BR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/>
                          </a:solidFill>
                        </a:rPr>
                        <a:t>MÉDIA DOS TRIBUTOS</a:t>
                      </a:r>
                      <a:endParaRPr lang="pt-BR" sz="14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46"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COMBUSTIVEIS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X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X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LT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12.500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0,80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10.000,00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66% (6.600,00)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779">
                <a:tc gridSpan="14">
                  <a:txBody>
                    <a:bodyPr/>
                    <a:lstStyle/>
                    <a:p>
                      <a:pPr algn="just"/>
                      <a:r>
                        <a:rPr lang="pt-BR" sz="1400" b="1" u="sng" dirty="0" smtClean="0"/>
                        <a:t>CALCULO DOS TRIBUTOS</a:t>
                      </a:r>
                      <a:endParaRPr lang="pt-BR" sz="1400" b="1" u="sng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296">
                <a:tc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BC. ICMS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VR.ICMS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BC.ICMS ST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ICMS ST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pt-BR" sz="1400" b="1" dirty="0" smtClean="0"/>
                        <a:t>VR.PRODUTOS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218">
                <a:tc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11.300,00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pt-BR" sz="1400" b="1" dirty="0" err="1" smtClean="0"/>
                        <a:t>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400" b="1" dirty="0" err="1" smtClean="0"/>
                        <a:t>xxxxxxxxxx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400" b="1" dirty="0" err="1" smtClean="0"/>
                        <a:t>xxxxxxxxxxxxxxxxxxxxxxxx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pt-BR" sz="1400" b="1" dirty="0" smtClean="0"/>
                        <a:t>3.400,00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FRETE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u="none" dirty="0" smtClean="0"/>
                        <a:t>SEGURO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PIS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COFINS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IPI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>
                          <a:hlinkClick r:id="rId2"/>
                        </a:rPr>
                        <a:t>CIDE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pt-BR" sz="1400" b="1" dirty="0" smtClean="0"/>
                        <a:t>VR.TOTAL NOTA FISCAL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218">
                <a:tc>
                  <a:txBody>
                    <a:bodyPr/>
                    <a:lstStyle/>
                    <a:p>
                      <a:pPr algn="just"/>
                      <a:r>
                        <a:rPr lang="pt-BR" sz="1400" b="1" u="none" dirty="0" smtClean="0"/>
                        <a:t>300,00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pt-BR" sz="1400" b="1" u="none" dirty="0" smtClean="0"/>
                        <a:t>1.000,00</a:t>
                      </a:r>
                      <a:endParaRPr lang="pt-BR" sz="1400" b="1" u="none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xxxxxxxxxxxxx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pt-BR" sz="1400" b="1" dirty="0" smtClean="0"/>
                        <a:t>xxxxxxxx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400" b="1" dirty="0" smtClean="0"/>
                        <a:t>0,00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pt-BR" sz="1400" b="1" dirty="0" smtClean="0"/>
                        <a:t>xxxxxxxx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pt-BR" sz="1400" b="1" dirty="0" smtClean="0"/>
                        <a:t>11.300,00</a:t>
                      </a:r>
                      <a:endParaRPr lang="pt-BR" sz="1400" b="1" dirty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52466">
                <a:tc gridSpan="14">
                  <a:txBody>
                    <a:bodyPr/>
                    <a:lstStyle/>
                    <a:p>
                      <a:pPr algn="just"/>
                      <a:endParaRPr lang="pt-BR" sz="1400" b="1" i="1" u="sng" dirty="0" smtClean="0"/>
                    </a:p>
                  </a:txBody>
                  <a:tcPr marL="68580" marR="68580" marT="34287" marB="3428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sz="10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7716">
                          <a:srgbClr val="F5FAFB"/>
                        </a:gs>
                        <a:gs pos="41588">
                          <a:srgbClr val="ECF6F7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7" name="Conector reto 6"/>
          <p:cNvCxnSpPr/>
          <p:nvPr/>
        </p:nvCxnSpPr>
        <p:spPr>
          <a:xfrm flipV="1">
            <a:off x="2528244" y="2093126"/>
            <a:ext cx="924597" cy="1713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2528244" y="4114513"/>
            <a:ext cx="924597" cy="15442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2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4" name="CaixaDeTexto 1"/>
          <p:cNvSpPr txBox="1">
            <a:spLocks noChangeArrowheads="1"/>
          </p:cNvSpPr>
          <p:nvPr/>
        </p:nvSpPr>
        <p:spPr bwMode="auto">
          <a:xfrm>
            <a:off x="414118" y="3654622"/>
            <a:ext cx="3539696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 smtClean="0">
                <a:hlinkClick r:id="rId2"/>
              </a:rPr>
              <a:t>Tributação nos Combustíveis </a:t>
            </a:r>
            <a:endParaRPr lang="pt-BR" altLang="pt-BR" dirty="0"/>
          </a:p>
        </p:txBody>
      </p:sp>
      <p:sp>
        <p:nvSpPr>
          <p:cNvPr id="6" name="CaixaDeTexto 1"/>
          <p:cNvSpPr txBox="1">
            <a:spLocks noChangeArrowheads="1"/>
          </p:cNvSpPr>
          <p:nvPr/>
        </p:nvSpPr>
        <p:spPr bwMode="auto">
          <a:xfrm>
            <a:off x="8110555" y="3654621"/>
            <a:ext cx="3772352" cy="30777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 smtClean="0"/>
              <a:t>66%</a:t>
            </a:r>
            <a:endParaRPr lang="pt-BR" altLang="pt-BR" dirty="0"/>
          </a:p>
        </p:txBody>
      </p:sp>
      <p:sp>
        <p:nvSpPr>
          <p:cNvPr id="7" name="CaixaDeTexto 1"/>
          <p:cNvSpPr txBox="1">
            <a:spLocks noChangeArrowheads="1"/>
          </p:cNvSpPr>
          <p:nvPr/>
        </p:nvSpPr>
        <p:spPr bwMode="auto">
          <a:xfrm>
            <a:off x="4210403" y="3288611"/>
            <a:ext cx="3772352" cy="95410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 smtClean="0">
                <a:latin typeface="+mn-lt"/>
              </a:rPr>
              <a:t>CIDE</a:t>
            </a:r>
          </a:p>
          <a:p>
            <a:pPr algn="ctr"/>
            <a:r>
              <a:rPr lang="pt-BR" altLang="pt-BR" dirty="0" smtClean="0">
                <a:latin typeface="+mn-lt"/>
              </a:rPr>
              <a:t>COFINS</a:t>
            </a:r>
          </a:p>
          <a:p>
            <a:pPr algn="ctr"/>
            <a:r>
              <a:rPr lang="pt-BR" altLang="pt-BR" dirty="0" smtClean="0">
                <a:latin typeface="+mn-lt"/>
              </a:rPr>
              <a:t>ICMS</a:t>
            </a:r>
          </a:p>
          <a:p>
            <a:pPr algn="ctr"/>
            <a:r>
              <a:rPr lang="pt-BR" altLang="pt-BR" dirty="0" smtClean="0">
                <a:latin typeface="+mn-lt"/>
              </a:rPr>
              <a:t>PIS</a:t>
            </a:r>
            <a:endParaRPr lang="pt-BR" altLang="pt-BR" dirty="0">
              <a:latin typeface="+mn-lt"/>
            </a:endParaRPr>
          </a:p>
        </p:txBody>
      </p:sp>
      <p:cxnSp>
        <p:nvCxnSpPr>
          <p:cNvPr id="8" name="Conector reto 7"/>
          <p:cNvCxnSpPr/>
          <p:nvPr/>
        </p:nvCxnSpPr>
        <p:spPr>
          <a:xfrm>
            <a:off x="414118" y="3962398"/>
            <a:ext cx="0" cy="1395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>
            <a:off x="414118" y="5357611"/>
            <a:ext cx="9734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 flipV="1">
            <a:off x="10148552" y="4082603"/>
            <a:ext cx="0" cy="1275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"/>
          <p:cNvSpPr txBox="1">
            <a:spLocks noChangeArrowheads="1"/>
          </p:cNvSpPr>
          <p:nvPr/>
        </p:nvSpPr>
        <p:spPr bwMode="auto">
          <a:xfrm>
            <a:off x="4210403" y="4323111"/>
            <a:ext cx="3772352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dirty="0" smtClean="0">
                <a:latin typeface="+mn-lt"/>
              </a:rPr>
              <a:t>FEDERAIS: 41%</a:t>
            </a:r>
          </a:p>
          <a:p>
            <a:pPr algn="ctr"/>
            <a:endParaRPr lang="pt-BR" altLang="pt-BR" dirty="0" smtClean="0">
              <a:latin typeface="+mn-lt"/>
            </a:endParaRPr>
          </a:p>
          <a:p>
            <a:pPr algn="ctr"/>
            <a:r>
              <a:rPr lang="pt-BR" altLang="pt-BR" dirty="0" smtClean="0">
                <a:latin typeface="+mn-lt"/>
              </a:rPr>
              <a:t>ESTADUAIS:25%</a:t>
            </a:r>
            <a:r>
              <a:rPr lang="pt-BR" altLang="pt-BR" dirty="0" smtClean="0"/>
              <a:t> 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118328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887413" y="2497138"/>
            <a:ext cx="984408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u="sng" dirty="0"/>
              <a:t>Exemplo</a:t>
            </a:r>
            <a:r>
              <a:rPr lang="pt-BR" u="sng" dirty="0" smtClean="0"/>
              <a:t>:</a:t>
            </a:r>
          </a:p>
          <a:p>
            <a:pPr>
              <a:defRPr/>
            </a:pPr>
            <a:endParaRPr lang="pt-BR" u="sng" dirty="0"/>
          </a:p>
          <a:p>
            <a:pPr>
              <a:defRPr/>
            </a:pPr>
            <a:r>
              <a:rPr lang="pt-BR" dirty="0"/>
              <a:t> Valor de um bem da linha branca = 2.000,00 </a:t>
            </a:r>
            <a:r>
              <a:rPr lang="pt-BR" dirty="0" smtClean="0"/>
              <a:t>--------------------------------------- </a:t>
            </a:r>
            <a:r>
              <a:rPr lang="pt-BR" dirty="0"/>
              <a:t>40% são tributos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460401"/>
              </p:ext>
            </p:extLst>
          </p:nvPr>
        </p:nvGraphicFramePr>
        <p:xfrm>
          <a:off x="887413" y="3706812"/>
          <a:ext cx="9844087" cy="227488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083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0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765">
                <a:tc>
                  <a:txBody>
                    <a:bodyPr/>
                    <a:lstStyle/>
                    <a:p>
                      <a:r>
                        <a:rPr lang="pt-BR" sz="1800" b="0" dirty="0" smtClean="0"/>
                        <a:t>Consumidor com renda de 5.000,00</a:t>
                      </a:r>
                      <a:endParaRPr lang="pt-BR" sz="1800" b="0" dirty="0"/>
                    </a:p>
                  </a:txBody>
                  <a:tcPr marL="91443" marR="91443" marT="45706" marB="457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 smtClean="0"/>
                        <a:t>                            16,00%</a:t>
                      </a:r>
                      <a:endParaRPr lang="pt-BR" sz="1800" b="0" dirty="0"/>
                    </a:p>
                  </a:txBody>
                  <a:tcPr marL="91443" marR="91443" marT="45706" marB="457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118">
                <a:tc>
                  <a:txBody>
                    <a:bodyPr/>
                    <a:lstStyle/>
                    <a:p>
                      <a:r>
                        <a:rPr lang="pt-BR" sz="1800" dirty="0" smtClean="0"/>
                        <a:t>Consumidor com renda de 1.500,00 </a:t>
                      </a:r>
                      <a:endParaRPr lang="pt-BR" sz="1800" dirty="0"/>
                    </a:p>
                  </a:txBody>
                  <a:tcPr marL="91443" marR="91443" marT="45706" marB="4570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                            53,00%</a:t>
                      </a:r>
                      <a:endParaRPr lang="pt-BR" sz="1800" dirty="0"/>
                    </a:p>
                  </a:txBody>
                  <a:tcPr marL="91443" marR="91443" marT="45706" marB="457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1004">
                <a:tc gridSpan="2">
                  <a:txBody>
                    <a:bodyPr/>
                    <a:lstStyle/>
                    <a:p>
                      <a:endParaRPr lang="pt-BR" sz="1800" dirty="0" smtClean="0"/>
                    </a:p>
                    <a:p>
                      <a:endParaRPr lang="pt-BR" sz="1800" dirty="0" smtClean="0"/>
                    </a:p>
                    <a:p>
                      <a:endParaRPr lang="pt-BR" sz="1800" dirty="0" smtClean="0"/>
                    </a:p>
                    <a:p>
                      <a:r>
                        <a:rPr lang="pt-BR" sz="1800" dirty="0" smtClean="0"/>
                        <a:t>Aqui, percebe-se a regressividade nos tributos</a:t>
                      </a:r>
                      <a:endParaRPr lang="pt-BR" sz="1800" dirty="0"/>
                    </a:p>
                  </a:txBody>
                  <a:tcPr marL="91443" marR="91443" marT="45706" marB="45706"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marL="91443" marR="91443" marT="45706" marB="4570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eta para baixo 5"/>
          <p:cNvSpPr/>
          <p:nvPr/>
        </p:nvSpPr>
        <p:spPr>
          <a:xfrm>
            <a:off x="1066800" y="4737100"/>
            <a:ext cx="292100" cy="711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68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4" name="Espaço Reservado para Conteúdo 3"/>
          <p:cNvSpPr txBox="1">
            <a:spLocks noGrp="1"/>
          </p:cNvSpPr>
          <p:nvPr>
            <p:ph idx="1"/>
          </p:nvPr>
        </p:nvSpPr>
        <p:spPr>
          <a:xfrm>
            <a:off x="889001" y="2620591"/>
            <a:ext cx="10452100" cy="361124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pt-BR" sz="1400" dirty="0" smtClean="0"/>
              <a:t> </a:t>
            </a:r>
            <a:r>
              <a:rPr lang="pt-BR" sz="1800" dirty="0" smtClean="0"/>
              <a:t>Reforma tributária, com efeitos na redução fiscal, considerando um dos tributos mais complexos: ICMS.</a:t>
            </a:r>
          </a:p>
          <a:p>
            <a:pPr marL="285750" indent="-285750" algn="just">
              <a:defRPr/>
            </a:pPr>
            <a:r>
              <a:rPr lang="pt-BR" sz="1800" dirty="0" smtClean="0"/>
              <a:t>Alíquotas </a:t>
            </a:r>
            <a:r>
              <a:rPr lang="pt-BR" sz="1800" dirty="0"/>
              <a:t>interestaduais únicas, reduziria o </a:t>
            </a:r>
            <a:r>
              <a:rPr lang="pt-BR" sz="1800" dirty="0" smtClean="0"/>
              <a:t>custo dos contribuintes.</a:t>
            </a:r>
            <a:endParaRPr lang="pt-BR" sz="1800" dirty="0"/>
          </a:p>
          <a:p>
            <a:pPr marL="285750" indent="-285750" algn="just">
              <a:defRPr/>
            </a:pPr>
            <a:r>
              <a:rPr lang="pt-BR" sz="1800" dirty="0"/>
              <a:t>Revisão do conceito de apropriação do crédito, incluindo itens de consumo.</a:t>
            </a:r>
          </a:p>
          <a:p>
            <a:pPr marL="285750" indent="-285750" algn="just">
              <a:defRPr/>
            </a:pPr>
            <a:r>
              <a:rPr lang="pt-BR" sz="1800" dirty="0"/>
              <a:t>Eliminação da Substituição Tributária para o SIMPLES NACIONAL.</a:t>
            </a:r>
          </a:p>
          <a:p>
            <a:pPr marL="285750" indent="-285750" algn="just">
              <a:defRPr/>
            </a:pPr>
            <a:r>
              <a:rPr lang="pt-BR" sz="1800" dirty="0"/>
              <a:t>Alteração no método de cálculo do ICMS = Cálculo por fora.</a:t>
            </a:r>
          </a:p>
          <a:p>
            <a:pPr marL="285750" indent="-285750" algn="just">
              <a:defRPr/>
            </a:pPr>
            <a:r>
              <a:rPr lang="pt-BR" sz="1800" dirty="0"/>
              <a:t>Atualização do conceito de apropriação do crédito para Ativos Imobilizados.</a:t>
            </a:r>
          </a:p>
          <a:p>
            <a:pPr marL="285750" indent="-285750" algn="just">
              <a:defRPr/>
            </a:pPr>
            <a:r>
              <a:rPr lang="pt-BR" sz="1800" u="sng" dirty="0"/>
              <a:t>A discussão recente da exclusão do ICMS PRÓPRIO, da base do PIS/COFINS, </a:t>
            </a:r>
            <a:r>
              <a:rPr lang="pt-BR" sz="1800" u="sng" dirty="0" smtClean="0"/>
              <a:t>está no Supremo Tribunal Federal. </a:t>
            </a:r>
          </a:p>
          <a:p>
            <a:pPr marL="285750" indent="-285750" algn="just">
              <a:defRPr/>
            </a:pPr>
            <a:r>
              <a:rPr lang="pt-BR" sz="1800" dirty="0" smtClean="0"/>
              <a:t>A </a:t>
            </a:r>
            <a:r>
              <a:rPr lang="pt-BR" sz="1800" dirty="0"/>
              <a:t>regressividade, distorce a capacidade de tributar para o de menor renda.</a:t>
            </a:r>
          </a:p>
          <a:p>
            <a:pPr marL="285750" indent="-285750" algn="just">
              <a:defRPr/>
            </a:pPr>
            <a:r>
              <a:rPr lang="pt-BR" sz="1800" dirty="0"/>
              <a:t>Alterar o foco da tributação </a:t>
            </a:r>
            <a:r>
              <a:rPr lang="pt-BR" sz="1800" u="sng" dirty="0"/>
              <a:t>para o patrimônio </a:t>
            </a:r>
            <a:r>
              <a:rPr lang="pt-BR" sz="1800" u="sng" dirty="0" smtClean="0"/>
              <a:t>e a </a:t>
            </a:r>
            <a:r>
              <a:rPr lang="pt-BR" sz="1800" u="sng" dirty="0"/>
              <a:t>renda e não consumo</a:t>
            </a:r>
            <a:r>
              <a:rPr lang="pt-BR" sz="1800" dirty="0"/>
              <a:t>.  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89001" y="2056039"/>
            <a:ext cx="226059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CENÁRIO IDEAL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091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520251" y="2057554"/>
            <a:ext cx="10515600" cy="3812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 smtClean="0"/>
          </a:p>
          <a:p>
            <a:pPr marL="0" indent="0" algn="ctr">
              <a:buNone/>
            </a:pPr>
            <a:r>
              <a:rPr lang="pt-BR" dirty="0"/>
              <a:t> 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  <a:latin typeface="Museo Sans 700" panose="02000000000000000000" pitchFamily="50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544712" y="6310489"/>
            <a:ext cx="3951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 smtClean="0"/>
              <a:t>Ademir Macedo de Oliveira</a:t>
            </a:r>
            <a:endParaRPr lang="pt-BR" sz="1000" i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3391012" y="3502223"/>
            <a:ext cx="425850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Obrigado </a:t>
            </a:r>
            <a:r>
              <a:rPr lang="pt-BR" dirty="0" smtClean="0"/>
              <a:t>!</a:t>
            </a:r>
          </a:p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ademir.moliveira@sp.senac.br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97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539</Words>
  <Application>Microsoft Office PowerPoint</Application>
  <PresentationFormat>Widescreen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Museo Sans 700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Anelise Kalinka de Andrade</dc:creator>
  <cp:lastModifiedBy>Casa Aberta</cp:lastModifiedBy>
  <cp:revision>46</cp:revision>
  <dcterms:created xsi:type="dcterms:W3CDTF">2017-09-11T15:28:17Z</dcterms:created>
  <dcterms:modified xsi:type="dcterms:W3CDTF">2018-08-18T18:48:12Z</dcterms:modified>
</cp:coreProperties>
</file>