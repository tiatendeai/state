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9"/>
  </p:notesMasterIdLst>
  <p:sldIdLst>
    <p:sldId id="258" r:id="rId2"/>
    <p:sldId id="259" r:id="rId3"/>
    <p:sldId id="260" r:id="rId4"/>
    <p:sldId id="266" r:id="rId5"/>
    <p:sldId id="267" r:id="rId6"/>
    <p:sldId id="268" r:id="rId7"/>
    <p:sldId id="269" r:id="rId8"/>
    <p:sldId id="270" r:id="rId9"/>
    <p:sldId id="261" r:id="rId10"/>
    <p:sldId id="262" r:id="rId11"/>
    <p:sldId id="263" r:id="rId12"/>
    <p:sldId id="265" r:id="rId13"/>
    <p:sldId id="264" r:id="rId14"/>
    <p:sldId id="271" r:id="rId15"/>
    <p:sldId id="272" r:id="rId16"/>
    <p:sldId id="273" r:id="rId17"/>
    <p:sldId id="274" r:id="rId18"/>
    <p:sldId id="275" r:id="rId19"/>
    <p:sldId id="278" r:id="rId20"/>
    <p:sldId id="276" r:id="rId21"/>
    <p:sldId id="323" r:id="rId22"/>
    <p:sldId id="277" r:id="rId23"/>
    <p:sldId id="279" r:id="rId24"/>
    <p:sldId id="283" r:id="rId25"/>
    <p:sldId id="284" r:id="rId26"/>
    <p:sldId id="285" r:id="rId27"/>
    <p:sldId id="286" r:id="rId28"/>
    <p:sldId id="287" r:id="rId29"/>
    <p:sldId id="288" r:id="rId30"/>
    <p:sldId id="282" r:id="rId31"/>
    <p:sldId id="280" r:id="rId32"/>
    <p:sldId id="281"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5" r:id="rId50"/>
    <p:sldId id="306" r:id="rId51"/>
    <p:sldId id="307" r:id="rId52"/>
    <p:sldId id="309" r:id="rId53"/>
    <p:sldId id="310" r:id="rId54"/>
    <p:sldId id="311" r:id="rId55"/>
    <p:sldId id="312" r:id="rId56"/>
    <p:sldId id="313" r:id="rId57"/>
    <p:sldId id="314" r:id="rId58"/>
    <p:sldId id="315" r:id="rId59"/>
    <p:sldId id="316" r:id="rId60"/>
    <p:sldId id="317" r:id="rId61"/>
    <p:sldId id="319" r:id="rId62"/>
    <p:sldId id="320" r:id="rId63"/>
    <p:sldId id="324" r:id="rId64"/>
    <p:sldId id="325" r:id="rId65"/>
    <p:sldId id="326" r:id="rId66"/>
    <p:sldId id="327" r:id="rId67"/>
    <p:sldId id="328" r:id="rId68"/>
    <p:sldId id="321" r:id="rId69"/>
    <p:sldId id="329" r:id="rId70"/>
    <p:sldId id="330" r:id="rId71"/>
    <p:sldId id="331" r:id="rId72"/>
    <p:sldId id="332" r:id="rId73"/>
    <p:sldId id="333" r:id="rId74"/>
    <p:sldId id="339" r:id="rId75"/>
    <p:sldId id="334" r:id="rId76"/>
    <p:sldId id="338" r:id="rId77"/>
    <p:sldId id="335" r:id="rId78"/>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897" autoAdjust="0"/>
    <p:restoredTop sz="94660"/>
  </p:normalViewPr>
  <p:slideViewPr>
    <p:cSldViewPr snapToGrid="0">
      <p:cViewPr varScale="1">
        <p:scale>
          <a:sx n="74" d="100"/>
          <a:sy n="74" d="100"/>
        </p:scale>
        <p:origin x="420" y="66"/>
      </p:cViewPr>
      <p:guideLst/>
    </p:cSldViewPr>
  </p:slid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diagrams/colors1.xml><?xml version="1.0" encoding="utf-8"?>
<dgm:colorsDef xmlns:dgm="http://schemas.openxmlformats.org/drawingml/2006/diagram" xmlns:a="http://schemas.openxmlformats.org/drawingml/2006/main" uniqueId="urn:microsoft.com/office/officeart/2005/8/colors/accent2_1">
  <dgm:title val=""/>
  <dgm:desc val=""/>
  <dgm:catLst>
    <dgm:cat type="accent2" pri="11100"/>
  </dgm:catLst>
  <dgm:styleLbl name="node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accent2">
        <a:shade val="80000"/>
      </a:schemeClr>
    </dgm:linClrLst>
    <dgm:effectClrLst/>
    <dgm:txLinClrLst/>
    <dgm:txFillClrLst/>
    <dgm:txEffectClrLst/>
  </dgm:styleLbl>
  <dgm:styleLbl name="node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f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align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bgImgPlace1">
    <dgm:fillClrLst meth="repeat">
      <a:schemeClr val="accent2">
        <a:tint val="40000"/>
      </a:schemeClr>
    </dgm:fillClrLst>
    <dgm:linClrLst meth="repeat">
      <a:schemeClr val="accent2">
        <a:shade val="80000"/>
      </a:schemeClr>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meth="repeat">
      <a:schemeClr val="dk1"/>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accent2">
        <a:shade val="80000"/>
      </a:schemeClr>
    </dgm:linClrLst>
    <dgm:effectClrLst/>
    <dgm:txLinClrLst/>
    <dgm:txFillClrLst meth="repeat">
      <a:schemeClr val="dk1"/>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dgm:txEffectClrLst/>
  </dgm:styleLbl>
  <dgm:styleLbl name="parChTrans2D2">
    <dgm:fillClrLst meth="repeat">
      <a:schemeClr val="accent2"/>
    </dgm:fillClrLst>
    <dgm:linClrLst meth="repeat">
      <a:schemeClr val="accent2"/>
    </dgm:linClrLst>
    <dgm:effectClrLst/>
    <dgm:txLinClrLst/>
    <dgm:txFillClrLst/>
    <dgm:txEffectClrLst/>
  </dgm:styleLbl>
  <dgm:styleLbl name="parChTrans2D3">
    <dgm:fillClrLst meth="repeat">
      <a:schemeClr val="accent2"/>
    </dgm:fillClrLst>
    <dgm:linClrLst meth="repeat">
      <a:schemeClr val="accent2"/>
    </dgm:linClrLst>
    <dgm:effectClrLst/>
    <dgm:txLinClrLst/>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conF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align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trAlignAcc1">
    <dgm:fillClrLst meth="repeat">
      <a:schemeClr val="accent2">
        <a:alpha val="40000"/>
        <a:tint val="40000"/>
      </a:schemeClr>
    </dgm:fillClrLst>
    <dgm:linClrLst meth="repeat">
      <a:schemeClr val="accent2"/>
    </dgm:linClrLst>
    <dgm:effectClrLst/>
    <dgm:txLinClrLst/>
    <dgm:txFillClrLst meth="repeat">
      <a:schemeClr val="dk1"/>
    </dgm:txFillClrLst>
    <dgm:txEffectClrLst/>
  </dgm:styleLbl>
  <dgm:styleLbl name="bgAcc1">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accent2">
        <a:alpha val="90000"/>
      </a:schemeClr>
    </dgm:linClrLst>
    <dgm:effectClrLst/>
    <dgm:txLinClrLst/>
    <dgm:txFillClrLst meth="repeat">
      <a:schemeClr val="dk1"/>
    </dgm:txFillClrLst>
    <dgm:txEffectClrLst/>
  </dgm:styleLbl>
  <dgm:styleLbl name="fgAcc0">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2">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3">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fgAcc4">
    <dgm:fillClrLst meth="repeat">
      <a:schemeClr val="accent2">
        <a:alpha val="90000"/>
        <a:tint val="4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18667C4-B2CE-470D-9A34-9EA3C2D670A3}" type="doc">
      <dgm:prSet loTypeId="urn:microsoft.com/office/officeart/2005/8/layout/cycle7" loCatId="cycle" qsTypeId="urn:microsoft.com/office/officeart/2005/8/quickstyle/simple1" qsCatId="simple" csTypeId="urn:microsoft.com/office/officeart/2005/8/colors/accent2_1" csCatId="accent2" phldr="1"/>
      <dgm:spPr/>
      <dgm:t>
        <a:bodyPr/>
        <a:lstStyle/>
        <a:p>
          <a:endParaRPr lang="pt-BR"/>
        </a:p>
      </dgm:t>
    </dgm:pt>
    <dgm:pt modelId="{4BC4878C-20DB-4898-B5FC-638D98B872BB}">
      <dgm:prSet phldrT="[Texto]">
        <dgm:style>
          <a:lnRef idx="2">
            <a:schemeClr val="accent2">
              <a:shade val="50000"/>
            </a:schemeClr>
          </a:lnRef>
          <a:fillRef idx="1">
            <a:schemeClr val="accent2"/>
          </a:fillRef>
          <a:effectRef idx="0">
            <a:schemeClr val="accent2"/>
          </a:effectRef>
          <a:fontRef idx="minor">
            <a:schemeClr val="lt1"/>
          </a:fontRef>
        </dgm:style>
      </dgm:prSet>
      <dgm:spPr/>
      <dgm:t>
        <a:bodyPr/>
        <a:lstStyle/>
        <a:p>
          <a:r>
            <a:rPr lang="pt-BR" dirty="0" smtClean="0"/>
            <a:t>Material de Embalagem</a:t>
          </a:r>
          <a:endParaRPr lang="pt-BR" dirty="0"/>
        </a:p>
      </dgm:t>
    </dgm:pt>
    <dgm:pt modelId="{46C665D6-F89D-48BA-A6BE-B82555941B91}" type="parTrans" cxnId="{04A4D402-41AA-40BA-849B-9E1E857354BB}">
      <dgm:prSet/>
      <dgm:spPr/>
      <dgm:t>
        <a:bodyPr/>
        <a:lstStyle/>
        <a:p>
          <a:endParaRPr lang="pt-BR"/>
        </a:p>
      </dgm:t>
    </dgm:pt>
    <dgm:pt modelId="{0F813215-6A3C-4DC8-B629-EA06F75322C2}" type="sibTrans" cxnId="{04A4D402-41AA-40BA-849B-9E1E857354BB}">
      <dgm:prSet/>
      <dgm:spPr/>
      <dgm:t>
        <a:bodyPr/>
        <a:lstStyle/>
        <a:p>
          <a:endParaRPr lang="pt-BR"/>
        </a:p>
      </dgm:t>
    </dgm:pt>
    <dgm:pt modelId="{EA725327-7521-475F-B3E4-9E01C0BB9446}">
      <dgm:prSet phldrT="[Texto]"/>
      <dgm:spPr/>
      <dgm:t>
        <a:bodyPr/>
        <a:lstStyle/>
        <a:p>
          <a:r>
            <a:rPr lang="pt-BR" dirty="0" smtClean="0"/>
            <a:t>Depósito Linha de Produção</a:t>
          </a:r>
          <a:endParaRPr lang="pt-BR" dirty="0"/>
        </a:p>
      </dgm:t>
    </dgm:pt>
    <dgm:pt modelId="{0DA5A46A-C567-4055-95B2-850951371A6A}" type="parTrans" cxnId="{D87292EE-402C-4E07-9992-C8D70E3729ED}">
      <dgm:prSet/>
      <dgm:spPr/>
      <dgm:t>
        <a:bodyPr/>
        <a:lstStyle/>
        <a:p>
          <a:endParaRPr lang="pt-BR"/>
        </a:p>
      </dgm:t>
    </dgm:pt>
    <dgm:pt modelId="{88FC0F03-5FFD-44F7-9CA4-22C0F1D9FDA7}" type="sibTrans" cxnId="{D87292EE-402C-4E07-9992-C8D70E3729ED}">
      <dgm:prSet/>
      <dgm:spPr/>
      <dgm:t>
        <a:bodyPr/>
        <a:lstStyle/>
        <a:p>
          <a:endParaRPr lang="pt-BR"/>
        </a:p>
      </dgm:t>
    </dgm:pt>
    <dgm:pt modelId="{58838BCF-9108-49E5-B75E-D9E01158ADB8}">
      <dgm:prSet phldrT="[Texto]"/>
      <dgm:spPr/>
      <dgm:t>
        <a:bodyPr/>
        <a:lstStyle/>
        <a:p>
          <a:r>
            <a:rPr lang="pt-BR" dirty="0" smtClean="0"/>
            <a:t>Depósito</a:t>
          </a:r>
        </a:p>
        <a:p>
          <a:r>
            <a:rPr lang="pt-BR" dirty="0" smtClean="0"/>
            <a:t>Almoxarifado</a:t>
          </a:r>
          <a:endParaRPr lang="pt-BR" dirty="0"/>
        </a:p>
      </dgm:t>
    </dgm:pt>
    <dgm:pt modelId="{A216D055-354F-4E49-9343-D8ED61484818}" type="parTrans" cxnId="{81722F73-B487-4FD4-BBE1-B6CD3D1B4ECC}">
      <dgm:prSet/>
      <dgm:spPr/>
      <dgm:t>
        <a:bodyPr/>
        <a:lstStyle/>
        <a:p>
          <a:endParaRPr lang="pt-BR"/>
        </a:p>
      </dgm:t>
    </dgm:pt>
    <dgm:pt modelId="{D26F67FF-AE59-4AE0-83B6-86C937E9524D}" type="sibTrans" cxnId="{81722F73-B487-4FD4-BBE1-B6CD3D1B4ECC}">
      <dgm:prSet/>
      <dgm:spPr/>
      <dgm:t>
        <a:bodyPr/>
        <a:lstStyle/>
        <a:p>
          <a:endParaRPr lang="pt-BR"/>
        </a:p>
      </dgm:t>
    </dgm:pt>
    <dgm:pt modelId="{FC6ABD1E-1931-4FE1-9743-514E1A0F753C}" type="pres">
      <dgm:prSet presAssocID="{318667C4-B2CE-470D-9A34-9EA3C2D670A3}" presName="Name0" presStyleCnt="0">
        <dgm:presLayoutVars>
          <dgm:dir/>
          <dgm:resizeHandles val="exact"/>
        </dgm:presLayoutVars>
      </dgm:prSet>
      <dgm:spPr/>
      <dgm:t>
        <a:bodyPr/>
        <a:lstStyle/>
        <a:p>
          <a:endParaRPr lang="pt-BR"/>
        </a:p>
      </dgm:t>
    </dgm:pt>
    <dgm:pt modelId="{CDB4576C-BFB7-41ED-8274-7B940D64EFF1}" type="pres">
      <dgm:prSet presAssocID="{4BC4878C-20DB-4898-B5FC-638D98B872BB}" presName="node" presStyleLbl="node1" presStyleIdx="0" presStyleCnt="3">
        <dgm:presLayoutVars>
          <dgm:bulletEnabled val="1"/>
        </dgm:presLayoutVars>
      </dgm:prSet>
      <dgm:spPr/>
      <dgm:t>
        <a:bodyPr/>
        <a:lstStyle/>
        <a:p>
          <a:endParaRPr lang="pt-BR"/>
        </a:p>
      </dgm:t>
    </dgm:pt>
    <dgm:pt modelId="{D59FA3BC-21BC-497E-A00C-A040D1166007}" type="pres">
      <dgm:prSet presAssocID="{0F813215-6A3C-4DC8-B629-EA06F75322C2}" presName="sibTrans" presStyleLbl="sibTrans2D1" presStyleIdx="0" presStyleCnt="3"/>
      <dgm:spPr/>
      <dgm:t>
        <a:bodyPr/>
        <a:lstStyle/>
        <a:p>
          <a:endParaRPr lang="pt-BR"/>
        </a:p>
      </dgm:t>
    </dgm:pt>
    <dgm:pt modelId="{3F1697AD-8D58-4730-AD7C-8F6267C21688}" type="pres">
      <dgm:prSet presAssocID="{0F813215-6A3C-4DC8-B629-EA06F75322C2}" presName="connectorText" presStyleLbl="sibTrans2D1" presStyleIdx="0" presStyleCnt="3"/>
      <dgm:spPr/>
      <dgm:t>
        <a:bodyPr/>
        <a:lstStyle/>
        <a:p>
          <a:endParaRPr lang="pt-BR"/>
        </a:p>
      </dgm:t>
    </dgm:pt>
    <dgm:pt modelId="{AA6D9A1D-1D12-40EB-8435-686EBC6FEC4F}" type="pres">
      <dgm:prSet presAssocID="{EA725327-7521-475F-B3E4-9E01C0BB9446}" presName="node" presStyleLbl="node1" presStyleIdx="1" presStyleCnt="3">
        <dgm:presLayoutVars>
          <dgm:bulletEnabled val="1"/>
        </dgm:presLayoutVars>
      </dgm:prSet>
      <dgm:spPr/>
      <dgm:t>
        <a:bodyPr/>
        <a:lstStyle/>
        <a:p>
          <a:endParaRPr lang="pt-BR"/>
        </a:p>
      </dgm:t>
    </dgm:pt>
    <dgm:pt modelId="{0367DF4A-6DDF-4CDA-8E02-61214876AA78}" type="pres">
      <dgm:prSet presAssocID="{88FC0F03-5FFD-44F7-9CA4-22C0F1D9FDA7}" presName="sibTrans" presStyleLbl="sibTrans2D1" presStyleIdx="1" presStyleCnt="3"/>
      <dgm:spPr/>
      <dgm:t>
        <a:bodyPr/>
        <a:lstStyle/>
        <a:p>
          <a:endParaRPr lang="pt-BR"/>
        </a:p>
      </dgm:t>
    </dgm:pt>
    <dgm:pt modelId="{1B02233F-390B-4379-9777-76CFCAD0EE23}" type="pres">
      <dgm:prSet presAssocID="{88FC0F03-5FFD-44F7-9CA4-22C0F1D9FDA7}" presName="connectorText" presStyleLbl="sibTrans2D1" presStyleIdx="1" presStyleCnt="3"/>
      <dgm:spPr/>
      <dgm:t>
        <a:bodyPr/>
        <a:lstStyle/>
        <a:p>
          <a:endParaRPr lang="pt-BR"/>
        </a:p>
      </dgm:t>
    </dgm:pt>
    <dgm:pt modelId="{3DDFDFF0-2966-435C-BDC8-5A0E9BCAE32D}" type="pres">
      <dgm:prSet presAssocID="{58838BCF-9108-49E5-B75E-D9E01158ADB8}" presName="node" presStyleLbl="node1" presStyleIdx="2" presStyleCnt="3">
        <dgm:presLayoutVars>
          <dgm:bulletEnabled val="1"/>
        </dgm:presLayoutVars>
      </dgm:prSet>
      <dgm:spPr/>
      <dgm:t>
        <a:bodyPr/>
        <a:lstStyle/>
        <a:p>
          <a:endParaRPr lang="pt-BR"/>
        </a:p>
      </dgm:t>
    </dgm:pt>
    <dgm:pt modelId="{FB27FA54-C14C-4E1C-9039-7543252AF891}" type="pres">
      <dgm:prSet presAssocID="{D26F67FF-AE59-4AE0-83B6-86C937E9524D}" presName="sibTrans" presStyleLbl="sibTrans2D1" presStyleIdx="2" presStyleCnt="3"/>
      <dgm:spPr/>
      <dgm:t>
        <a:bodyPr/>
        <a:lstStyle/>
        <a:p>
          <a:endParaRPr lang="pt-BR"/>
        </a:p>
      </dgm:t>
    </dgm:pt>
    <dgm:pt modelId="{87F94A30-D4B6-4B79-BEC7-E6C43E6FF96C}" type="pres">
      <dgm:prSet presAssocID="{D26F67FF-AE59-4AE0-83B6-86C937E9524D}" presName="connectorText" presStyleLbl="sibTrans2D1" presStyleIdx="2" presStyleCnt="3"/>
      <dgm:spPr/>
      <dgm:t>
        <a:bodyPr/>
        <a:lstStyle/>
        <a:p>
          <a:endParaRPr lang="pt-BR"/>
        </a:p>
      </dgm:t>
    </dgm:pt>
  </dgm:ptLst>
  <dgm:cxnLst>
    <dgm:cxn modelId="{50B1C2EA-0B4F-47A4-A46D-A7B300C762E9}" type="presOf" srcId="{0F813215-6A3C-4DC8-B629-EA06F75322C2}" destId="{3F1697AD-8D58-4730-AD7C-8F6267C21688}" srcOrd="1" destOrd="0" presId="urn:microsoft.com/office/officeart/2005/8/layout/cycle7"/>
    <dgm:cxn modelId="{3E5C74EA-461B-4B50-8E1D-2ACF7D37BB19}" type="presOf" srcId="{58838BCF-9108-49E5-B75E-D9E01158ADB8}" destId="{3DDFDFF0-2966-435C-BDC8-5A0E9BCAE32D}" srcOrd="0" destOrd="0" presId="urn:microsoft.com/office/officeart/2005/8/layout/cycle7"/>
    <dgm:cxn modelId="{81722F73-B487-4FD4-BBE1-B6CD3D1B4ECC}" srcId="{318667C4-B2CE-470D-9A34-9EA3C2D670A3}" destId="{58838BCF-9108-49E5-B75E-D9E01158ADB8}" srcOrd="2" destOrd="0" parTransId="{A216D055-354F-4E49-9343-D8ED61484818}" sibTransId="{D26F67FF-AE59-4AE0-83B6-86C937E9524D}"/>
    <dgm:cxn modelId="{DBEB95AA-0AB8-4CBF-916B-8615FB6E827B}" type="presOf" srcId="{88FC0F03-5FFD-44F7-9CA4-22C0F1D9FDA7}" destId="{0367DF4A-6DDF-4CDA-8E02-61214876AA78}" srcOrd="0" destOrd="0" presId="urn:microsoft.com/office/officeart/2005/8/layout/cycle7"/>
    <dgm:cxn modelId="{D87292EE-402C-4E07-9992-C8D70E3729ED}" srcId="{318667C4-B2CE-470D-9A34-9EA3C2D670A3}" destId="{EA725327-7521-475F-B3E4-9E01C0BB9446}" srcOrd="1" destOrd="0" parTransId="{0DA5A46A-C567-4055-95B2-850951371A6A}" sibTransId="{88FC0F03-5FFD-44F7-9CA4-22C0F1D9FDA7}"/>
    <dgm:cxn modelId="{E0F270F3-A738-4050-BB03-6970DDD0FA6D}" type="presOf" srcId="{4BC4878C-20DB-4898-B5FC-638D98B872BB}" destId="{CDB4576C-BFB7-41ED-8274-7B940D64EFF1}" srcOrd="0" destOrd="0" presId="urn:microsoft.com/office/officeart/2005/8/layout/cycle7"/>
    <dgm:cxn modelId="{308E35EF-3D34-4831-A576-5AA8CBC90ABF}" type="presOf" srcId="{D26F67FF-AE59-4AE0-83B6-86C937E9524D}" destId="{FB27FA54-C14C-4E1C-9039-7543252AF891}" srcOrd="0" destOrd="0" presId="urn:microsoft.com/office/officeart/2005/8/layout/cycle7"/>
    <dgm:cxn modelId="{C5C81160-5ED3-4096-9953-C1858797EFEE}" type="presOf" srcId="{D26F67FF-AE59-4AE0-83B6-86C937E9524D}" destId="{87F94A30-D4B6-4B79-BEC7-E6C43E6FF96C}" srcOrd="1" destOrd="0" presId="urn:microsoft.com/office/officeart/2005/8/layout/cycle7"/>
    <dgm:cxn modelId="{793766EF-92C4-40BB-B8EF-EC66F63A4A73}" type="presOf" srcId="{318667C4-B2CE-470D-9A34-9EA3C2D670A3}" destId="{FC6ABD1E-1931-4FE1-9743-514E1A0F753C}" srcOrd="0" destOrd="0" presId="urn:microsoft.com/office/officeart/2005/8/layout/cycle7"/>
    <dgm:cxn modelId="{FC9EE0D9-1940-454C-87BE-EBC4749EB856}" type="presOf" srcId="{EA725327-7521-475F-B3E4-9E01C0BB9446}" destId="{AA6D9A1D-1D12-40EB-8435-686EBC6FEC4F}" srcOrd="0" destOrd="0" presId="urn:microsoft.com/office/officeart/2005/8/layout/cycle7"/>
    <dgm:cxn modelId="{E53D1BC9-ED5A-43E7-A356-965413D4AF60}" type="presOf" srcId="{88FC0F03-5FFD-44F7-9CA4-22C0F1D9FDA7}" destId="{1B02233F-390B-4379-9777-76CFCAD0EE23}" srcOrd="1" destOrd="0" presId="urn:microsoft.com/office/officeart/2005/8/layout/cycle7"/>
    <dgm:cxn modelId="{04A4D402-41AA-40BA-849B-9E1E857354BB}" srcId="{318667C4-B2CE-470D-9A34-9EA3C2D670A3}" destId="{4BC4878C-20DB-4898-B5FC-638D98B872BB}" srcOrd="0" destOrd="0" parTransId="{46C665D6-F89D-48BA-A6BE-B82555941B91}" sibTransId="{0F813215-6A3C-4DC8-B629-EA06F75322C2}"/>
    <dgm:cxn modelId="{9F106FD9-BA7A-4B7A-B4E5-19DA5FFDA68C}" type="presOf" srcId="{0F813215-6A3C-4DC8-B629-EA06F75322C2}" destId="{D59FA3BC-21BC-497E-A00C-A040D1166007}" srcOrd="0" destOrd="0" presId="urn:microsoft.com/office/officeart/2005/8/layout/cycle7"/>
    <dgm:cxn modelId="{2942CF21-12AB-430A-B401-BFDA1109C49A}" type="presParOf" srcId="{FC6ABD1E-1931-4FE1-9743-514E1A0F753C}" destId="{CDB4576C-BFB7-41ED-8274-7B940D64EFF1}" srcOrd="0" destOrd="0" presId="urn:microsoft.com/office/officeart/2005/8/layout/cycle7"/>
    <dgm:cxn modelId="{15A145E4-C447-4716-AE2B-26515E71335F}" type="presParOf" srcId="{FC6ABD1E-1931-4FE1-9743-514E1A0F753C}" destId="{D59FA3BC-21BC-497E-A00C-A040D1166007}" srcOrd="1" destOrd="0" presId="urn:microsoft.com/office/officeart/2005/8/layout/cycle7"/>
    <dgm:cxn modelId="{C472E9A3-8BB3-41EF-9228-394BE4C23C95}" type="presParOf" srcId="{D59FA3BC-21BC-497E-A00C-A040D1166007}" destId="{3F1697AD-8D58-4730-AD7C-8F6267C21688}" srcOrd="0" destOrd="0" presId="urn:microsoft.com/office/officeart/2005/8/layout/cycle7"/>
    <dgm:cxn modelId="{3F6F4206-13DE-4B91-8327-E5E87A93DE45}" type="presParOf" srcId="{FC6ABD1E-1931-4FE1-9743-514E1A0F753C}" destId="{AA6D9A1D-1D12-40EB-8435-686EBC6FEC4F}" srcOrd="2" destOrd="0" presId="urn:microsoft.com/office/officeart/2005/8/layout/cycle7"/>
    <dgm:cxn modelId="{1248B90F-03DB-4C13-87C2-67FADCE0F8DA}" type="presParOf" srcId="{FC6ABD1E-1931-4FE1-9743-514E1A0F753C}" destId="{0367DF4A-6DDF-4CDA-8E02-61214876AA78}" srcOrd="3" destOrd="0" presId="urn:microsoft.com/office/officeart/2005/8/layout/cycle7"/>
    <dgm:cxn modelId="{6261E5F0-7108-44F1-A3E7-630692146A15}" type="presParOf" srcId="{0367DF4A-6DDF-4CDA-8E02-61214876AA78}" destId="{1B02233F-390B-4379-9777-76CFCAD0EE23}" srcOrd="0" destOrd="0" presId="urn:microsoft.com/office/officeart/2005/8/layout/cycle7"/>
    <dgm:cxn modelId="{365666A7-CC16-4ED1-924F-F3CD7CFD325E}" type="presParOf" srcId="{FC6ABD1E-1931-4FE1-9743-514E1A0F753C}" destId="{3DDFDFF0-2966-435C-BDC8-5A0E9BCAE32D}" srcOrd="4" destOrd="0" presId="urn:microsoft.com/office/officeart/2005/8/layout/cycle7"/>
    <dgm:cxn modelId="{39C340EB-1C75-417E-A23B-12E61481BC91}" type="presParOf" srcId="{FC6ABD1E-1931-4FE1-9743-514E1A0F753C}" destId="{FB27FA54-C14C-4E1C-9039-7543252AF891}" srcOrd="5" destOrd="0" presId="urn:microsoft.com/office/officeart/2005/8/layout/cycle7"/>
    <dgm:cxn modelId="{E14FC504-2BDA-4C39-93AD-F8795F03FDDE}" type="presParOf" srcId="{FB27FA54-C14C-4E1C-9039-7543252AF891}" destId="{87F94A30-D4B6-4B79-BEC7-E6C43E6FF96C}" srcOrd="0" destOrd="0" presId="urn:microsoft.com/office/officeart/2005/8/layout/cycle7"/>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dirty="0"/>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04728E6-AFEF-4E87-AB96-DF1F121C1A5D}" type="datetimeFigureOut">
              <a:rPr lang="pt-BR" smtClean="0"/>
              <a:t>02/04/2017</a:t>
            </a:fld>
            <a:endParaRPr lang="pt-BR" dirty="0"/>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dirty="0"/>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dirty="0"/>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C4077D-6CBF-4E46-A03D-C2D3715A8F40}" type="slidenum">
              <a:rPr lang="pt-BR" smtClean="0"/>
              <a:t>‹nº›</a:t>
            </a:fld>
            <a:endParaRPr lang="pt-BR" dirty="0"/>
          </a:p>
        </p:txBody>
      </p:sp>
    </p:spTree>
    <p:extLst>
      <p:ext uri="{BB962C8B-B14F-4D97-AF65-F5344CB8AC3E}">
        <p14:creationId xmlns:p14="http://schemas.microsoft.com/office/powerpoint/2010/main" val="42051746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10"/>
          </p:nvPr>
        </p:nvSpPr>
        <p:spPr/>
        <p:txBody>
          <a:bodyPr/>
          <a:lstStyle/>
          <a:p>
            <a:fld id="{8EC4077D-6CBF-4E46-A03D-C2D3715A8F40}" type="slidenum">
              <a:rPr lang="pt-BR" smtClean="0"/>
              <a:t>1</a:t>
            </a:fld>
            <a:endParaRPr lang="pt-BR" dirty="0"/>
          </a:p>
        </p:txBody>
      </p:sp>
    </p:spTree>
    <p:extLst>
      <p:ext uri="{BB962C8B-B14F-4D97-AF65-F5344CB8AC3E}">
        <p14:creationId xmlns:p14="http://schemas.microsoft.com/office/powerpoint/2010/main" val="147582925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pic>
        <p:nvPicPr>
          <p:cNvPr id="7" name="Imagem 6" descr="fundo_full.jpg"/>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pt-BR" smtClean="0"/>
              <a:t>Clique para editar o título mestre</a:t>
            </a:r>
            <a:endParaRPr lang="pt-B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smtClean="0"/>
              <a:t>Clique para editar o estilo do subtítulo mestre</a:t>
            </a:r>
            <a:endParaRPr lang="pt-BR"/>
          </a:p>
        </p:txBody>
      </p:sp>
      <p:sp>
        <p:nvSpPr>
          <p:cNvPr id="4" name="Espaço Reservado para Data 3"/>
          <p:cNvSpPr>
            <a:spLocks noGrp="1"/>
          </p:cNvSpPr>
          <p:nvPr>
            <p:ph type="dt" sz="half" idx="10"/>
          </p:nvPr>
        </p:nvSpPr>
        <p:spPr/>
        <p:txBody>
          <a:bodyPr/>
          <a:lstStyle/>
          <a:p>
            <a:fld id="{9721D068-BD21-49D3-9C5C-AB7AE3CF2B4C}" type="datetime1">
              <a:rPr lang="pt-BR" smtClean="0"/>
              <a:t>02/04/2017</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lvl1pPr>
              <a:defRPr sz="1800" b="1">
                <a:solidFill>
                  <a:schemeClr val="tx1"/>
                </a:solidFill>
                <a:latin typeface="Arial" panose="020B0604020202020204" pitchFamily="34" charset="0"/>
                <a:cs typeface="Arial" panose="020B0604020202020204" pitchFamily="34" charset="0"/>
              </a:defRPr>
            </a:lvl1pPr>
          </a:lstStyle>
          <a:p>
            <a:fld id="{6E858C45-D598-4769-91F6-5D4820F0911C}" type="slidenum">
              <a:rPr lang="pt-BR" smtClean="0"/>
              <a:pPr/>
              <a:t>‹nº›</a:t>
            </a:fld>
            <a:endParaRPr lang="pt-BR" dirty="0"/>
          </a:p>
        </p:txBody>
      </p:sp>
      <p:pic>
        <p:nvPicPr>
          <p:cNvPr id="1026" name="Picture 2" descr="https://upload.wikimedia.org/wikipedia/commons/e/e1/Logo_CEUNSP_Cruzeiro_do_Sul.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9592238" y="156957"/>
            <a:ext cx="2151523" cy="75046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377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ítulo e conteúdo">
    <p:spTree>
      <p:nvGrpSpPr>
        <p:cNvPr id="1" name=""/>
        <p:cNvGrpSpPr/>
        <p:nvPr/>
      </p:nvGrpSpPr>
      <p:grpSpPr>
        <a:xfrm>
          <a:off x="0" y="0"/>
          <a:ext cx="0" cy="0"/>
          <a:chOff x="0" y="0"/>
          <a:chExt cx="0" cy="0"/>
        </a:xfrm>
      </p:grpSpPr>
      <p:pic>
        <p:nvPicPr>
          <p:cNvPr id="8" name="Imagem 11" descr="fundo_base_2010.jpg"/>
          <p:cNvPicPr>
            <a:picLocks noChangeAspect="1"/>
          </p:cNvPicPr>
          <p:nvPr userDrawn="1"/>
        </p:nvPicPr>
        <p:blipFill rotWithShape="1">
          <a:blip r:embed="rId2">
            <a:extLst>
              <a:ext uri="{28A0092B-C50C-407E-A947-70E740481C1C}">
                <a14:useLocalDpi xmlns:a14="http://schemas.microsoft.com/office/drawing/2010/main" val="0"/>
              </a:ext>
            </a:extLst>
          </a:blip>
          <a:srcRect r="25547"/>
          <a:stretch/>
        </p:blipFill>
        <p:spPr bwMode="auto">
          <a:xfrm>
            <a:off x="1588" y="0"/>
            <a:ext cx="12190411"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Espaço Reservado para Conteúdo 2"/>
          <p:cNvSpPr>
            <a:spLocks noGrp="1"/>
          </p:cNvSpPr>
          <p:nvPr>
            <p:ph idx="1"/>
          </p:nvPr>
        </p:nvSpPr>
        <p:spPr>
          <a:xfrm>
            <a:off x="381000" y="914400"/>
            <a:ext cx="11569700" cy="5262563"/>
          </a:xfrm>
        </p:spPr>
        <p:txBody>
          <a:bodyPr>
            <a:normAutofit/>
          </a:bodyPr>
          <a:lstStyle>
            <a:lvl1pPr algn="just">
              <a:defRPr sz="2000">
                <a:latin typeface="Arial" panose="020B0604020202020204" pitchFamily="34" charset="0"/>
                <a:cs typeface="Arial" panose="020B0604020202020204" pitchFamily="34" charset="0"/>
              </a:defRPr>
            </a:lvl1pPr>
            <a:lvl2pPr algn="just">
              <a:defRPr sz="1800">
                <a:latin typeface="Arial" panose="020B0604020202020204" pitchFamily="34" charset="0"/>
                <a:cs typeface="Arial" panose="020B0604020202020204" pitchFamily="34" charset="0"/>
              </a:defRPr>
            </a:lvl2pPr>
            <a:lvl3pPr algn="just">
              <a:defRPr sz="1600">
                <a:latin typeface="Arial" panose="020B0604020202020204" pitchFamily="34" charset="0"/>
                <a:cs typeface="Arial" panose="020B0604020202020204" pitchFamily="34" charset="0"/>
              </a:defRPr>
            </a:lvl3pPr>
            <a:lvl4pPr algn="just">
              <a:defRPr sz="1400">
                <a:latin typeface="Arial" panose="020B0604020202020204" pitchFamily="34" charset="0"/>
                <a:cs typeface="Arial" panose="020B0604020202020204" pitchFamily="34" charset="0"/>
              </a:defRPr>
            </a:lvl4pPr>
            <a:lvl5pPr algn="just">
              <a:defRPr sz="1400">
                <a:latin typeface="Arial" panose="020B0604020202020204" pitchFamily="34" charset="0"/>
                <a:cs typeface="Arial" panose="020B0604020202020204" pitchFamily="34" charset="0"/>
              </a:defRPr>
            </a:lvl5pPr>
          </a:lstStyle>
          <a:p>
            <a:pPr lvl="0"/>
            <a:r>
              <a:rPr lang="pt-BR" dirty="0" smtClean="0"/>
              <a:t>Clique para editar o texto mestre</a:t>
            </a:r>
          </a:p>
          <a:p>
            <a:pPr lvl="1"/>
            <a:r>
              <a:rPr lang="pt-BR" dirty="0" smtClean="0"/>
              <a:t>Segundo nível</a:t>
            </a:r>
          </a:p>
          <a:p>
            <a:pPr lvl="2"/>
            <a:r>
              <a:rPr lang="pt-BR" dirty="0" smtClean="0"/>
              <a:t>Terceiro nível</a:t>
            </a:r>
          </a:p>
          <a:p>
            <a:pPr lvl="3"/>
            <a:r>
              <a:rPr lang="pt-BR" dirty="0" smtClean="0"/>
              <a:t>Quarto nível</a:t>
            </a:r>
          </a:p>
          <a:p>
            <a:pPr lvl="4"/>
            <a:r>
              <a:rPr lang="pt-BR" dirty="0" smtClean="0"/>
              <a:t>Quinto nível</a:t>
            </a:r>
            <a:endParaRPr lang="pt-BR" dirty="0"/>
          </a:p>
        </p:txBody>
      </p:sp>
      <p:sp>
        <p:nvSpPr>
          <p:cNvPr id="4" name="Espaço Reservado para Data 3"/>
          <p:cNvSpPr>
            <a:spLocks noGrp="1"/>
          </p:cNvSpPr>
          <p:nvPr>
            <p:ph type="dt" sz="half" idx="10"/>
          </p:nvPr>
        </p:nvSpPr>
        <p:spPr>
          <a:xfrm>
            <a:off x="838200" y="6457950"/>
            <a:ext cx="2743200" cy="365125"/>
          </a:xfrm>
        </p:spPr>
        <p:txBody>
          <a:bodyPr/>
          <a:lstStyle/>
          <a:p>
            <a:fld id="{733DBF73-B462-4E9F-A7DB-FC8E3A3AFE84}" type="datetime1">
              <a:rPr lang="pt-BR" smtClean="0"/>
              <a:t>02/04/2017</a:t>
            </a:fld>
            <a:endParaRPr lang="pt-BR" dirty="0"/>
          </a:p>
        </p:txBody>
      </p:sp>
      <p:sp>
        <p:nvSpPr>
          <p:cNvPr id="5" name="Espaço Reservado para Rodapé 4"/>
          <p:cNvSpPr>
            <a:spLocks noGrp="1"/>
          </p:cNvSpPr>
          <p:nvPr>
            <p:ph type="ftr" sz="quarter" idx="11"/>
          </p:nvPr>
        </p:nvSpPr>
        <p:spPr>
          <a:xfrm>
            <a:off x="4038600" y="6457950"/>
            <a:ext cx="4114800" cy="365125"/>
          </a:xfrm>
        </p:spPr>
        <p:txBody>
          <a:bodyPr/>
          <a:lstStyle/>
          <a:p>
            <a:endParaRPr lang="pt-BR" dirty="0"/>
          </a:p>
        </p:txBody>
      </p:sp>
      <p:sp>
        <p:nvSpPr>
          <p:cNvPr id="6" name="Espaço Reservado para Número de Slide 5"/>
          <p:cNvSpPr>
            <a:spLocks noGrp="1"/>
          </p:cNvSpPr>
          <p:nvPr>
            <p:ph type="sldNum" sz="quarter" idx="12"/>
          </p:nvPr>
        </p:nvSpPr>
        <p:spPr>
          <a:xfrm>
            <a:off x="9321800" y="6457950"/>
            <a:ext cx="2743200" cy="365125"/>
          </a:xfrm>
        </p:spPr>
        <p:txBody>
          <a:bodyPr/>
          <a:lstStyle>
            <a:lvl1pPr>
              <a:defRPr sz="1800" b="1">
                <a:solidFill>
                  <a:schemeClr val="tx1"/>
                </a:solidFill>
                <a:latin typeface="Arial" panose="020B0604020202020204" pitchFamily="34" charset="0"/>
                <a:cs typeface="Arial" panose="020B0604020202020204" pitchFamily="34" charset="0"/>
              </a:defRPr>
            </a:lvl1pPr>
          </a:lstStyle>
          <a:p>
            <a:fld id="{6E858C45-D598-4769-91F6-5D4820F0911C}" type="slidenum">
              <a:rPr lang="pt-BR" smtClean="0"/>
              <a:pPr/>
              <a:t>‹nº›</a:t>
            </a:fld>
            <a:endParaRPr lang="pt-BR" dirty="0"/>
          </a:p>
        </p:txBody>
      </p:sp>
      <p:sp>
        <p:nvSpPr>
          <p:cNvPr id="9" name="CaixaDeTexto 8"/>
          <p:cNvSpPr txBox="1"/>
          <p:nvPr userDrawn="1"/>
        </p:nvSpPr>
        <p:spPr>
          <a:xfrm>
            <a:off x="381000" y="174903"/>
            <a:ext cx="7086600" cy="400110"/>
          </a:xfrm>
          <a:prstGeom prst="rect">
            <a:avLst/>
          </a:prstGeom>
          <a:noFill/>
        </p:spPr>
        <p:txBody>
          <a:bodyPr wrap="square" rtlCol="0">
            <a:spAutoFit/>
          </a:bodyPr>
          <a:lstStyle/>
          <a:p>
            <a:r>
              <a:rPr lang="pt-BR" sz="2000" dirty="0" smtClean="0">
                <a:latin typeface="Arial" panose="020B0604020202020204" pitchFamily="34" charset="0"/>
                <a:cs typeface="Arial" panose="020B0604020202020204" pitchFamily="34" charset="0"/>
              </a:rPr>
              <a:t>ESTRUTURA</a:t>
            </a:r>
            <a:r>
              <a:rPr lang="pt-BR" sz="2000" baseline="0" dirty="0" smtClean="0">
                <a:latin typeface="Arial" panose="020B0604020202020204" pitchFamily="34" charset="0"/>
                <a:cs typeface="Arial" panose="020B0604020202020204" pitchFamily="34" charset="0"/>
              </a:rPr>
              <a:t> DAS DEMONSTRAÇÕES CONTÁBEIS </a:t>
            </a:r>
            <a:r>
              <a:rPr lang="pt-BR" sz="2000" dirty="0" smtClean="0">
                <a:latin typeface="Arial" panose="020B0604020202020204" pitchFamily="34" charset="0"/>
                <a:cs typeface="Arial" panose="020B0604020202020204" pitchFamily="34" charset="0"/>
              </a:rPr>
              <a:t>I</a:t>
            </a:r>
            <a:endParaRPr lang="pt-BR" sz="2000" dirty="0">
              <a:latin typeface="Arial" panose="020B0604020202020204" pitchFamily="34" charset="0"/>
              <a:cs typeface="Arial" panose="020B0604020202020204" pitchFamily="34" charset="0"/>
            </a:endParaRPr>
          </a:p>
        </p:txBody>
      </p:sp>
      <p:pic>
        <p:nvPicPr>
          <p:cNvPr id="2050" name="Picture 2" descr="https://upload.wikimedia.org/wikipedia/commons/e/e1/Logo_CEUNSP_Cruzeiro_do_Sul.png"/>
          <p:cNvPicPr>
            <a:picLocks noChangeAspect="1" noChangeArrowheads="1"/>
          </p:cNvPicPr>
          <p:nvPr userDrawn="1"/>
        </p:nvPicPr>
        <p:blipFill>
          <a:blip r:embed="rId3" cstate="print">
            <a:extLst>
              <a:ext uri="{28A0092B-C50C-407E-A947-70E740481C1C}">
                <a14:useLocalDpi xmlns:a14="http://schemas.microsoft.com/office/drawing/2010/main" val="0"/>
              </a:ext>
            </a:extLst>
          </a:blip>
          <a:srcRect/>
          <a:stretch>
            <a:fillRect/>
          </a:stretch>
        </p:blipFill>
        <p:spPr bwMode="auto">
          <a:xfrm>
            <a:off x="10250727" y="58544"/>
            <a:ext cx="1814273" cy="6328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4939774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pt-BR" smtClean="0"/>
              <a:t>Clique para editar o título mestre</a:t>
            </a:r>
            <a:endParaRPr lang="pt-BR"/>
          </a:p>
        </p:txBody>
      </p:sp>
      <p:sp>
        <p:nvSpPr>
          <p:cNvPr id="3" name="Espaço Reservado para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smtClean="0"/>
              <a:t>Clique para editar o texto mestre</a:t>
            </a:r>
          </a:p>
        </p:txBody>
      </p:sp>
      <p:sp>
        <p:nvSpPr>
          <p:cNvPr id="4" name="Espaço Reservado para Data 3"/>
          <p:cNvSpPr>
            <a:spLocks noGrp="1"/>
          </p:cNvSpPr>
          <p:nvPr>
            <p:ph type="dt" sz="half" idx="10"/>
          </p:nvPr>
        </p:nvSpPr>
        <p:spPr/>
        <p:txBody>
          <a:bodyPr/>
          <a:lstStyle/>
          <a:p>
            <a:fld id="{2CCFF468-CDDE-49BD-BAD4-98AFFAEF3B18}" type="datetime1">
              <a:rPr lang="pt-BR" smtClean="0"/>
              <a:t>02/04/2017</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6E858C45-D598-4769-91F6-5D4820F0911C}" type="slidenum">
              <a:rPr lang="pt-BR" smtClean="0"/>
              <a:t>‹nº›</a:t>
            </a:fld>
            <a:endParaRPr lang="pt-BR" dirty="0"/>
          </a:p>
        </p:txBody>
      </p:sp>
    </p:spTree>
    <p:extLst>
      <p:ext uri="{BB962C8B-B14F-4D97-AF65-F5344CB8AC3E}">
        <p14:creationId xmlns:p14="http://schemas.microsoft.com/office/powerpoint/2010/main" val="34337173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Conteúdo 2"/>
          <p:cNvSpPr>
            <a:spLocks noGrp="1"/>
          </p:cNvSpPr>
          <p:nvPr>
            <p:ph sz="half" idx="1"/>
          </p:nvPr>
        </p:nvSpPr>
        <p:spPr>
          <a:xfrm>
            <a:off x="838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Conteúdo 3"/>
          <p:cNvSpPr>
            <a:spLocks noGrp="1"/>
          </p:cNvSpPr>
          <p:nvPr>
            <p:ph sz="half" idx="2"/>
          </p:nvPr>
        </p:nvSpPr>
        <p:spPr>
          <a:xfrm>
            <a:off x="6172200" y="1825625"/>
            <a:ext cx="5181600" cy="435133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Data 4"/>
          <p:cNvSpPr>
            <a:spLocks noGrp="1"/>
          </p:cNvSpPr>
          <p:nvPr>
            <p:ph type="dt" sz="half" idx="10"/>
          </p:nvPr>
        </p:nvSpPr>
        <p:spPr/>
        <p:txBody>
          <a:bodyPr/>
          <a:lstStyle/>
          <a:p>
            <a:fld id="{C28884F8-5C56-4A6A-B55C-B4771369CDCF}" type="datetime1">
              <a:rPr lang="pt-BR" smtClean="0"/>
              <a:t>02/04/2017</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6E858C45-D598-4769-91F6-5D4820F0911C}" type="slidenum">
              <a:rPr lang="pt-BR" smtClean="0"/>
              <a:t>‹nº›</a:t>
            </a:fld>
            <a:endParaRPr lang="pt-BR" dirty="0"/>
          </a:p>
        </p:txBody>
      </p:sp>
    </p:spTree>
    <p:extLst>
      <p:ext uri="{BB962C8B-B14F-4D97-AF65-F5344CB8AC3E}">
        <p14:creationId xmlns:p14="http://schemas.microsoft.com/office/powerpoint/2010/main" val="40798485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pt-BR" smtClean="0"/>
              <a:t>Clique para editar o título mestre</a:t>
            </a:r>
            <a:endParaRPr lang="pt-BR"/>
          </a:p>
        </p:txBody>
      </p:sp>
      <p:sp>
        <p:nvSpPr>
          <p:cNvPr id="3" name="Espaço Reservado para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4" name="Espaço Reservado para Conteúdo 3"/>
          <p:cNvSpPr>
            <a:spLocks noGrp="1"/>
          </p:cNvSpPr>
          <p:nvPr>
            <p:ph sz="half" idx="2"/>
          </p:nvPr>
        </p:nvSpPr>
        <p:spPr>
          <a:xfrm>
            <a:off x="839788" y="2505075"/>
            <a:ext cx="5157787"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5" name="Espaço Reservado para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smtClean="0"/>
              <a:t>Clique para editar o texto mestre</a:t>
            </a:r>
          </a:p>
        </p:txBody>
      </p:sp>
      <p:sp>
        <p:nvSpPr>
          <p:cNvPr id="6" name="Espaço Reservado para Conteúdo 5"/>
          <p:cNvSpPr>
            <a:spLocks noGrp="1"/>
          </p:cNvSpPr>
          <p:nvPr>
            <p:ph sz="quarter" idx="4"/>
          </p:nvPr>
        </p:nvSpPr>
        <p:spPr>
          <a:xfrm>
            <a:off x="6172200" y="2505075"/>
            <a:ext cx="5183188" cy="3684588"/>
          </a:xfrm>
        </p:spPr>
        <p:txBody>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7" name="Espaço Reservado para Data 6"/>
          <p:cNvSpPr>
            <a:spLocks noGrp="1"/>
          </p:cNvSpPr>
          <p:nvPr>
            <p:ph type="dt" sz="half" idx="10"/>
          </p:nvPr>
        </p:nvSpPr>
        <p:spPr/>
        <p:txBody>
          <a:bodyPr/>
          <a:lstStyle/>
          <a:p>
            <a:fld id="{1787770F-294E-4B27-952F-F0FD3C1318B9}" type="datetime1">
              <a:rPr lang="pt-BR" smtClean="0"/>
              <a:t>02/04/2017</a:t>
            </a:fld>
            <a:endParaRPr lang="pt-BR" dirty="0"/>
          </a:p>
        </p:txBody>
      </p:sp>
      <p:sp>
        <p:nvSpPr>
          <p:cNvPr id="8" name="Espaço Reservado para Rodapé 7"/>
          <p:cNvSpPr>
            <a:spLocks noGrp="1"/>
          </p:cNvSpPr>
          <p:nvPr>
            <p:ph type="ftr" sz="quarter" idx="11"/>
          </p:nvPr>
        </p:nvSpPr>
        <p:spPr/>
        <p:txBody>
          <a:bodyPr/>
          <a:lstStyle/>
          <a:p>
            <a:endParaRPr lang="pt-BR" dirty="0"/>
          </a:p>
        </p:txBody>
      </p:sp>
      <p:sp>
        <p:nvSpPr>
          <p:cNvPr id="9" name="Espaço Reservado para Número de Slide 8"/>
          <p:cNvSpPr>
            <a:spLocks noGrp="1"/>
          </p:cNvSpPr>
          <p:nvPr>
            <p:ph type="sldNum" sz="quarter" idx="12"/>
          </p:nvPr>
        </p:nvSpPr>
        <p:spPr/>
        <p:txBody>
          <a:bodyPr/>
          <a:lstStyle/>
          <a:p>
            <a:fld id="{6E858C45-D598-4769-91F6-5D4820F0911C}" type="slidenum">
              <a:rPr lang="pt-BR" smtClean="0"/>
              <a:t>‹nº›</a:t>
            </a:fld>
            <a:endParaRPr lang="pt-BR" dirty="0"/>
          </a:p>
        </p:txBody>
      </p:sp>
    </p:spTree>
    <p:extLst>
      <p:ext uri="{BB962C8B-B14F-4D97-AF65-F5344CB8AC3E}">
        <p14:creationId xmlns:p14="http://schemas.microsoft.com/office/powerpoint/2010/main" val="16876888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Data 2"/>
          <p:cNvSpPr>
            <a:spLocks noGrp="1"/>
          </p:cNvSpPr>
          <p:nvPr>
            <p:ph type="dt" sz="half" idx="10"/>
          </p:nvPr>
        </p:nvSpPr>
        <p:spPr/>
        <p:txBody>
          <a:bodyPr/>
          <a:lstStyle/>
          <a:p>
            <a:fld id="{D17B4A05-8DE4-408A-9DAB-B33409E48043}" type="datetime1">
              <a:rPr lang="pt-BR" smtClean="0"/>
              <a:t>02/04/2017</a:t>
            </a:fld>
            <a:endParaRPr lang="pt-BR" dirty="0"/>
          </a:p>
        </p:txBody>
      </p:sp>
      <p:sp>
        <p:nvSpPr>
          <p:cNvPr id="4" name="Espaço Reservado para Rodapé 3"/>
          <p:cNvSpPr>
            <a:spLocks noGrp="1"/>
          </p:cNvSpPr>
          <p:nvPr>
            <p:ph type="ftr" sz="quarter" idx="11"/>
          </p:nvPr>
        </p:nvSpPr>
        <p:spPr/>
        <p:txBody>
          <a:bodyPr/>
          <a:lstStyle/>
          <a:p>
            <a:endParaRPr lang="pt-BR" dirty="0"/>
          </a:p>
        </p:txBody>
      </p:sp>
      <p:sp>
        <p:nvSpPr>
          <p:cNvPr id="5" name="Espaço Reservado para Número de Slide 4"/>
          <p:cNvSpPr>
            <a:spLocks noGrp="1"/>
          </p:cNvSpPr>
          <p:nvPr>
            <p:ph type="sldNum" sz="quarter" idx="12"/>
          </p:nvPr>
        </p:nvSpPr>
        <p:spPr/>
        <p:txBody>
          <a:bodyPr/>
          <a:lstStyle/>
          <a:p>
            <a:fld id="{6E858C45-D598-4769-91F6-5D4820F0911C}" type="slidenum">
              <a:rPr lang="pt-BR" smtClean="0"/>
              <a:t>‹nº›</a:t>
            </a:fld>
            <a:endParaRPr lang="pt-BR" dirty="0"/>
          </a:p>
        </p:txBody>
      </p:sp>
    </p:spTree>
    <p:extLst>
      <p:ext uri="{BB962C8B-B14F-4D97-AF65-F5344CB8AC3E}">
        <p14:creationId xmlns:p14="http://schemas.microsoft.com/office/powerpoint/2010/main" val="148794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p:cNvSpPr>
            <a:spLocks noGrp="1"/>
          </p:cNvSpPr>
          <p:nvPr>
            <p:ph type="dt" sz="half" idx="10"/>
          </p:nvPr>
        </p:nvSpPr>
        <p:spPr/>
        <p:txBody>
          <a:bodyPr/>
          <a:lstStyle/>
          <a:p>
            <a:fld id="{53FA5C19-E3D8-4C22-A8DD-41DDD466CF49}" type="datetime1">
              <a:rPr lang="pt-BR" smtClean="0"/>
              <a:t>02/04/2017</a:t>
            </a:fld>
            <a:endParaRPr lang="pt-BR" dirty="0"/>
          </a:p>
        </p:txBody>
      </p:sp>
      <p:sp>
        <p:nvSpPr>
          <p:cNvPr id="3" name="Espaço Reservado para Rodapé 2"/>
          <p:cNvSpPr>
            <a:spLocks noGrp="1"/>
          </p:cNvSpPr>
          <p:nvPr>
            <p:ph type="ftr" sz="quarter" idx="11"/>
          </p:nvPr>
        </p:nvSpPr>
        <p:spPr/>
        <p:txBody>
          <a:bodyPr/>
          <a:lstStyle/>
          <a:p>
            <a:endParaRPr lang="pt-BR" dirty="0"/>
          </a:p>
        </p:txBody>
      </p:sp>
      <p:sp>
        <p:nvSpPr>
          <p:cNvPr id="4" name="Espaço Reservado para Número de Slide 3"/>
          <p:cNvSpPr>
            <a:spLocks noGrp="1"/>
          </p:cNvSpPr>
          <p:nvPr>
            <p:ph type="sldNum" sz="quarter" idx="12"/>
          </p:nvPr>
        </p:nvSpPr>
        <p:spPr/>
        <p:txBody>
          <a:bodyPr/>
          <a:lstStyle/>
          <a:p>
            <a:fld id="{6E858C45-D598-4769-91F6-5D4820F0911C}" type="slidenum">
              <a:rPr lang="pt-BR" smtClean="0"/>
              <a:t>‹nº›</a:t>
            </a:fld>
            <a:endParaRPr lang="pt-BR" dirty="0"/>
          </a:p>
        </p:txBody>
      </p:sp>
    </p:spTree>
    <p:extLst>
      <p:ext uri="{BB962C8B-B14F-4D97-AF65-F5344CB8AC3E}">
        <p14:creationId xmlns:p14="http://schemas.microsoft.com/office/powerpoint/2010/main" val="41277345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Conteú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0DD17E0B-96F5-4174-AE69-6694AA2FD535}" type="datetime1">
              <a:rPr lang="pt-BR" smtClean="0"/>
              <a:t>02/04/2017</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6E858C45-D598-4769-91F6-5D4820F0911C}" type="slidenum">
              <a:rPr lang="pt-BR" smtClean="0"/>
              <a:t>‹nº›</a:t>
            </a:fld>
            <a:endParaRPr lang="pt-BR" dirty="0"/>
          </a:p>
        </p:txBody>
      </p:sp>
    </p:spTree>
    <p:extLst>
      <p:ext uri="{BB962C8B-B14F-4D97-AF65-F5344CB8AC3E}">
        <p14:creationId xmlns:p14="http://schemas.microsoft.com/office/powerpoint/2010/main" val="108475639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pt-BR" smtClean="0"/>
              <a:t>Clique para editar o título mestre</a:t>
            </a:r>
            <a:endParaRPr lang="pt-BR"/>
          </a:p>
        </p:txBody>
      </p:sp>
      <p:sp>
        <p:nvSpPr>
          <p:cNvPr id="3" name="Espaço Reservado para Imagem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dirty="0"/>
          </a:p>
        </p:txBody>
      </p:sp>
      <p:sp>
        <p:nvSpPr>
          <p:cNvPr id="4" name="Espaço Reservado para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smtClean="0"/>
              <a:t>Clique para editar o texto mestre</a:t>
            </a:r>
          </a:p>
        </p:txBody>
      </p:sp>
      <p:sp>
        <p:nvSpPr>
          <p:cNvPr id="5" name="Espaço Reservado para Data 4"/>
          <p:cNvSpPr>
            <a:spLocks noGrp="1"/>
          </p:cNvSpPr>
          <p:nvPr>
            <p:ph type="dt" sz="half" idx="10"/>
          </p:nvPr>
        </p:nvSpPr>
        <p:spPr/>
        <p:txBody>
          <a:bodyPr/>
          <a:lstStyle/>
          <a:p>
            <a:fld id="{81745E5F-7301-4DE7-A437-03E87533B4B1}" type="datetime1">
              <a:rPr lang="pt-BR" smtClean="0"/>
              <a:t>02/04/2017</a:t>
            </a:fld>
            <a:endParaRPr lang="pt-BR" dirty="0"/>
          </a:p>
        </p:txBody>
      </p:sp>
      <p:sp>
        <p:nvSpPr>
          <p:cNvPr id="6" name="Espaço Reservado para Rodapé 5"/>
          <p:cNvSpPr>
            <a:spLocks noGrp="1"/>
          </p:cNvSpPr>
          <p:nvPr>
            <p:ph type="ftr" sz="quarter" idx="11"/>
          </p:nvPr>
        </p:nvSpPr>
        <p:spPr/>
        <p:txBody>
          <a:bodyPr/>
          <a:lstStyle/>
          <a:p>
            <a:endParaRPr lang="pt-BR" dirty="0"/>
          </a:p>
        </p:txBody>
      </p:sp>
      <p:sp>
        <p:nvSpPr>
          <p:cNvPr id="7" name="Espaço Reservado para Número de Slide 6"/>
          <p:cNvSpPr>
            <a:spLocks noGrp="1"/>
          </p:cNvSpPr>
          <p:nvPr>
            <p:ph type="sldNum" sz="quarter" idx="12"/>
          </p:nvPr>
        </p:nvSpPr>
        <p:spPr/>
        <p:txBody>
          <a:bodyPr/>
          <a:lstStyle/>
          <a:p>
            <a:fld id="{6E858C45-D598-4769-91F6-5D4820F0911C}" type="slidenum">
              <a:rPr lang="pt-BR" smtClean="0"/>
              <a:t>‹nº›</a:t>
            </a:fld>
            <a:endParaRPr lang="pt-BR" dirty="0"/>
          </a:p>
        </p:txBody>
      </p:sp>
    </p:spTree>
    <p:extLst>
      <p:ext uri="{BB962C8B-B14F-4D97-AF65-F5344CB8AC3E}">
        <p14:creationId xmlns:p14="http://schemas.microsoft.com/office/powerpoint/2010/main" val="30677648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smtClean="0"/>
              <a:t>Clique para editar o título mestre</a:t>
            </a:r>
            <a:endParaRPr lang="pt-BR"/>
          </a:p>
        </p:txBody>
      </p:sp>
      <p:sp>
        <p:nvSpPr>
          <p:cNvPr id="3" name="Espaço Reservado para Texto Vertical 2"/>
          <p:cNvSpPr>
            <a:spLocks noGrp="1"/>
          </p:cNvSpPr>
          <p:nvPr>
            <p:ph type="body" orient="vert" idx="1"/>
          </p:nvPr>
        </p:nvSpPr>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769B61C6-36B9-49A6-9A1C-043755C6A2C7}" type="datetime1">
              <a:rPr lang="pt-BR" smtClean="0"/>
              <a:t>02/04/2017</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6E858C45-D598-4769-91F6-5D4820F0911C}" type="slidenum">
              <a:rPr lang="pt-BR" smtClean="0"/>
              <a:t>‹nº›</a:t>
            </a:fld>
            <a:endParaRPr lang="pt-BR" dirty="0"/>
          </a:p>
        </p:txBody>
      </p:sp>
    </p:spTree>
    <p:extLst>
      <p:ext uri="{BB962C8B-B14F-4D97-AF65-F5344CB8AC3E}">
        <p14:creationId xmlns:p14="http://schemas.microsoft.com/office/powerpoint/2010/main" val="235331296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pt-BR" smtClean="0"/>
              <a:t>Clique para editar o título mestre</a:t>
            </a:r>
            <a:endParaRPr lang="pt-BR"/>
          </a:p>
        </p:txBody>
      </p:sp>
      <p:sp>
        <p:nvSpPr>
          <p:cNvPr id="3" name="Espaço Reservado para Texto Vertical 2"/>
          <p:cNvSpPr>
            <a:spLocks noGrp="1"/>
          </p:cNvSpPr>
          <p:nvPr>
            <p:ph type="body" orient="vert" idx="1"/>
          </p:nvPr>
        </p:nvSpPr>
        <p:spPr>
          <a:xfrm>
            <a:off x="838200" y="365125"/>
            <a:ext cx="7734300" cy="5811838"/>
          </a:xfrm>
        </p:spPr>
        <p:txBody>
          <a:bodyPr vert="eaVert"/>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10"/>
          </p:nvPr>
        </p:nvSpPr>
        <p:spPr/>
        <p:txBody>
          <a:bodyPr/>
          <a:lstStyle/>
          <a:p>
            <a:fld id="{25CBFB73-D660-4771-8C69-972D7722DA45}" type="datetime1">
              <a:rPr lang="pt-BR" smtClean="0"/>
              <a:t>02/04/2017</a:t>
            </a:fld>
            <a:endParaRPr lang="pt-BR" dirty="0"/>
          </a:p>
        </p:txBody>
      </p:sp>
      <p:sp>
        <p:nvSpPr>
          <p:cNvPr id="5" name="Espaço Reservado para Rodapé 4"/>
          <p:cNvSpPr>
            <a:spLocks noGrp="1"/>
          </p:cNvSpPr>
          <p:nvPr>
            <p:ph type="ftr" sz="quarter" idx="11"/>
          </p:nvPr>
        </p:nvSpPr>
        <p:spPr/>
        <p:txBody>
          <a:bodyPr/>
          <a:lstStyle/>
          <a:p>
            <a:endParaRPr lang="pt-BR" dirty="0"/>
          </a:p>
        </p:txBody>
      </p:sp>
      <p:sp>
        <p:nvSpPr>
          <p:cNvPr id="6" name="Espaço Reservado para Número de Slide 5"/>
          <p:cNvSpPr>
            <a:spLocks noGrp="1"/>
          </p:cNvSpPr>
          <p:nvPr>
            <p:ph type="sldNum" sz="quarter" idx="12"/>
          </p:nvPr>
        </p:nvSpPr>
        <p:spPr/>
        <p:txBody>
          <a:bodyPr/>
          <a:lstStyle/>
          <a:p>
            <a:fld id="{6E858C45-D598-4769-91F6-5D4820F0911C}" type="slidenum">
              <a:rPr lang="pt-BR" smtClean="0"/>
              <a:t>‹nº›</a:t>
            </a:fld>
            <a:endParaRPr lang="pt-BR" dirty="0"/>
          </a:p>
        </p:txBody>
      </p:sp>
    </p:spTree>
    <p:extLst>
      <p:ext uri="{BB962C8B-B14F-4D97-AF65-F5344CB8AC3E}">
        <p14:creationId xmlns:p14="http://schemas.microsoft.com/office/powerpoint/2010/main" val="2378177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smtClean="0"/>
              <a:t>Clique para editar o título mestre</a:t>
            </a:r>
            <a:endParaRPr lang="pt-BR"/>
          </a:p>
        </p:txBody>
      </p:sp>
      <p:sp>
        <p:nvSpPr>
          <p:cNvPr id="3" name="Espaço Reservado para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smtClean="0"/>
              <a:t>Clique para editar o texto mestre</a:t>
            </a:r>
          </a:p>
          <a:p>
            <a:pPr lvl="1"/>
            <a:r>
              <a:rPr lang="pt-BR" smtClean="0"/>
              <a:t>Segundo nível</a:t>
            </a:r>
          </a:p>
          <a:p>
            <a:pPr lvl="2"/>
            <a:r>
              <a:rPr lang="pt-BR" smtClean="0"/>
              <a:t>Terceiro nível</a:t>
            </a:r>
          </a:p>
          <a:p>
            <a:pPr lvl="3"/>
            <a:r>
              <a:rPr lang="pt-BR" smtClean="0"/>
              <a:t>Quarto nível</a:t>
            </a:r>
          </a:p>
          <a:p>
            <a:pPr lvl="4"/>
            <a:r>
              <a:rPr lang="pt-BR" smtClean="0"/>
              <a:t>Quinto nível</a:t>
            </a:r>
            <a:endParaRPr lang="pt-BR"/>
          </a:p>
        </p:txBody>
      </p:sp>
      <p:sp>
        <p:nvSpPr>
          <p:cNvPr id="4" name="Espaço Reservado para Dat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B33858B-3E16-49EB-903A-52442FEF9050}" type="datetime1">
              <a:rPr lang="pt-BR" smtClean="0"/>
              <a:t>02/04/2017</a:t>
            </a:fld>
            <a:endParaRPr lang="pt-BR" dirty="0"/>
          </a:p>
        </p:txBody>
      </p:sp>
      <p:sp>
        <p:nvSpPr>
          <p:cNvPr id="5" name="Espaço Reservado para Rodapé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dirty="0"/>
          </a:p>
        </p:txBody>
      </p:sp>
      <p:sp>
        <p:nvSpPr>
          <p:cNvPr id="6" name="Espaço Reservado para Número de Slide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858C45-D598-4769-91F6-5D4820F0911C}" type="slidenum">
              <a:rPr lang="pt-BR" smtClean="0"/>
              <a:t>‹nº›</a:t>
            </a:fld>
            <a:endParaRPr lang="pt-BR" dirty="0"/>
          </a:p>
        </p:txBody>
      </p:sp>
    </p:spTree>
    <p:extLst>
      <p:ext uri="{BB962C8B-B14F-4D97-AF65-F5344CB8AC3E}">
        <p14:creationId xmlns:p14="http://schemas.microsoft.com/office/powerpoint/2010/main" val="2311964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p:txBody>
          <a:bodyPr>
            <a:normAutofit fontScale="90000"/>
          </a:bodyPr>
          <a:lstStyle/>
          <a:p>
            <a:r>
              <a:rPr lang="pt-BR" dirty="0" smtClean="0"/>
              <a:t>ESTRUTURA DAS DEMONSTRAÇÕES CONTÁBEIS I</a:t>
            </a:r>
            <a:endParaRPr lang="pt-BR" dirty="0"/>
          </a:p>
        </p:txBody>
      </p:sp>
      <p:sp>
        <p:nvSpPr>
          <p:cNvPr id="3" name="Subtítulo 2"/>
          <p:cNvSpPr>
            <a:spLocks noGrp="1"/>
          </p:cNvSpPr>
          <p:nvPr>
            <p:ph type="subTitle" idx="1"/>
          </p:nvPr>
        </p:nvSpPr>
        <p:spPr/>
        <p:txBody>
          <a:bodyPr/>
          <a:lstStyle/>
          <a:p>
            <a:endParaRPr lang="pt-BR" dirty="0" smtClean="0"/>
          </a:p>
          <a:p>
            <a:r>
              <a:rPr lang="pt-BR" dirty="0" smtClean="0"/>
              <a:t>CPC 00</a:t>
            </a:r>
          </a:p>
          <a:p>
            <a:endParaRPr lang="pt-BR" dirty="0"/>
          </a:p>
        </p:txBody>
      </p:sp>
      <p:sp>
        <p:nvSpPr>
          <p:cNvPr id="4" name="Espaço Reservado para Número de Slide 3"/>
          <p:cNvSpPr>
            <a:spLocks noGrp="1"/>
          </p:cNvSpPr>
          <p:nvPr>
            <p:ph type="sldNum" sz="quarter" idx="12"/>
          </p:nvPr>
        </p:nvSpPr>
        <p:spPr/>
        <p:txBody>
          <a:bodyPr/>
          <a:lstStyle/>
          <a:p>
            <a:fld id="{6E858C45-D598-4769-91F6-5D4820F0911C}" type="slidenum">
              <a:rPr lang="pt-BR" smtClean="0"/>
              <a:t>1</a:t>
            </a:fld>
            <a:endParaRPr lang="pt-BR" dirty="0"/>
          </a:p>
        </p:txBody>
      </p:sp>
      <p:sp>
        <p:nvSpPr>
          <p:cNvPr id="5" name="CaixaDeTexto 4"/>
          <p:cNvSpPr txBox="1"/>
          <p:nvPr/>
        </p:nvSpPr>
        <p:spPr>
          <a:xfrm>
            <a:off x="347729" y="5892581"/>
            <a:ext cx="6581105" cy="646331"/>
          </a:xfrm>
          <a:prstGeom prst="rect">
            <a:avLst/>
          </a:prstGeom>
          <a:noFill/>
        </p:spPr>
        <p:txBody>
          <a:bodyPr wrap="square" rtlCol="0">
            <a:spAutoFit/>
          </a:bodyPr>
          <a:lstStyle/>
          <a:p>
            <a:r>
              <a:rPr lang="pt-BR" dirty="0" smtClean="0"/>
              <a:t>Emerson Braz de Azevedo</a:t>
            </a:r>
          </a:p>
          <a:p>
            <a:r>
              <a:rPr lang="pt-BR" dirty="0" smtClean="0"/>
              <a:t>E-mail: emerson_braz_azevedo@hotmail.com</a:t>
            </a:r>
            <a:endParaRPr lang="pt-BR" dirty="0"/>
          </a:p>
        </p:txBody>
      </p:sp>
    </p:spTree>
    <p:extLst>
      <p:ext uri="{BB962C8B-B14F-4D97-AF65-F5344CB8AC3E}">
        <p14:creationId xmlns:p14="http://schemas.microsoft.com/office/powerpoint/2010/main" val="32709062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b="1" dirty="0"/>
              <a:t>Introdução</a:t>
            </a:r>
          </a:p>
          <a:p>
            <a:pPr lvl="1"/>
            <a:endParaRPr lang="pt-BR" dirty="0" smtClean="0"/>
          </a:p>
          <a:p>
            <a:pPr lvl="1"/>
            <a:r>
              <a:rPr lang="pt-BR" dirty="0" smtClean="0"/>
              <a:t>As </a:t>
            </a:r>
            <a:r>
              <a:rPr lang="pt-BR" dirty="0"/>
              <a:t>demonstrações contábeis são elaboradas e apresentadas para usuários externos </a:t>
            </a:r>
            <a:r>
              <a:rPr lang="pt-BR" dirty="0" smtClean="0"/>
              <a:t>em geral</a:t>
            </a:r>
            <a:r>
              <a:rPr lang="pt-BR" dirty="0"/>
              <a:t>, tendo em vista suas finalidades distintas e necessidades diversas. Governos</a:t>
            </a:r>
            <a:r>
              <a:rPr lang="pt-BR" dirty="0" smtClean="0"/>
              <a:t>, órgãos </a:t>
            </a:r>
            <a:r>
              <a:rPr lang="pt-BR" dirty="0"/>
              <a:t>reguladores ou autoridades tributárias, por exemplo, podem </a:t>
            </a:r>
            <a:r>
              <a:rPr lang="pt-BR" dirty="0" smtClean="0"/>
              <a:t>determinar especificamente </a:t>
            </a:r>
            <a:r>
              <a:rPr lang="pt-BR" dirty="0"/>
              <a:t>exigências para atender a seus próprios interesses. Essas exigências, </a:t>
            </a:r>
            <a:r>
              <a:rPr lang="pt-BR" dirty="0" smtClean="0"/>
              <a:t>no entanto</a:t>
            </a:r>
            <a:r>
              <a:rPr lang="pt-BR" dirty="0"/>
              <a:t>, não devem afetar as demonstrações contábeis elaboradas segundo </a:t>
            </a:r>
            <a:r>
              <a:rPr lang="pt-BR" dirty="0" smtClean="0"/>
              <a:t>esta Estrutura </a:t>
            </a:r>
            <a:r>
              <a:rPr lang="pt-BR" dirty="0"/>
              <a:t>Conceitual.</a:t>
            </a:r>
          </a:p>
          <a:p>
            <a:pPr lvl="1"/>
            <a:endParaRPr lang="pt-BR" dirty="0" smtClean="0"/>
          </a:p>
          <a:p>
            <a:pPr lvl="1"/>
            <a:r>
              <a:rPr lang="pt-BR" dirty="0" smtClean="0"/>
              <a:t>Demonstrações </a:t>
            </a:r>
            <a:r>
              <a:rPr lang="pt-BR" dirty="0"/>
              <a:t>contábeis elaboradas dentro do que prescreve esta Estrutura </a:t>
            </a:r>
            <a:r>
              <a:rPr lang="pt-BR" dirty="0" smtClean="0"/>
              <a:t>Conceitual objetivam </a:t>
            </a:r>
            <a:r>
              <a:rPr lang="pt-BR" dirty="0"/>
              <a:t>fornecer informações que sejam úteis na tomada de decisões econômicas </a:t>
            </a:r>
            <a:r>
              <a:rPr lang="pt-BR" dirty="0" smtClean="0"/>
              <a:t>e avaliações </a:t>
            </a:r>
            <a:r>
              <a:rPr lang="pt-BR" dirty="0"/>
              <a:t>por parte dos usuários em geral, não tendo o propósito de atender </a:t>
            </a:r>
            <a:r>
              <a:rPr lang="pt-BR" dirty="0" smtClean="0"/>
              <a:t>finalidade ou </a:t>
            </a:r>
            <a:r>
              <a:rPr lang="pt-BR" dirty="0"/>
              <a:t>necessidade específica de determinados grupos de usuários.</a:t>
            </a:r>
          </a:p>
          <a:p>
            <a:pPr lvl="1"/>
            <a:endParaRPr lang="pt-BR" dirty="0" smtClean="0"/>
          </a:p>
          <a:p>
            <a:pPr lvl="1"/>
            <a:r>
              <a:rPr lang="pt-BR" dirty="0" smtClean="0"/>
              <a:t>Demonstrações </a:t>
            </a:r>
            <a:r>
              <a:rPr lang="pt-BR" dirty="0"/>
              <a:t>contábeis elaboradas com tal finalidade satisfazem as </a:t>
            </a:r>
            <a:r>
              <a:rPr lang="pt-BR" dirty="0" smtClean="0"/>
              <a:t>necessidades comuns </a:t>
            </a:r>
            <a:r>
              <a:rPr lang="pt-BR" dirty="0"/>
              <a:t>da maioria dos seus usuários, uma vez que quase todos eles utilizam </a:t>
            </a:r>
            <a:r>
              <a:rPr lang="pt-BR" dirty="0" smtClean="0"/>
              <a:t>essas demonstrações </a:t>
            </a:r>
            <a:r>
              <a:rPr lang="pt-BR" dirty="0"/>
              <a:t>contábeis para a tomada de decisões econômicas, tais como:</a:t>
            </a:r>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2</a:t>
            </a:fld>
            <a:endParaRPr lang="pt-BR" dirty="0"/>
          </a:p>
        </p:txBody>
      </p:sp>
    </p:spTree>
    <p:extLst>
      <p:ext uri="{BB962C8B-B14F-4D97-AF65-F5344CB8AC3E}">
        <p14:creationId xmlns:p14="http://schemas.microsoft.com/office/powerpoint/2010/main" val="21177062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01521"/>
            <a:ext cx="11569700" cy="5262563"/>
          </a:xfrm>
        </p:spPr>
        <p:txBody>
          <a:bodyPr>
            <a:normAutofit lnSpcReduction="10000"/>
          </a:bodyPr>
          <a:lstStyle/>
          <a:p>
            <a:r>
              <a:rPr lang="pt-BR" dirty="0" smtClean="0"/>
              <a:t>Introdução</a:t>
            </a:r>
          </a:p>
          <a:p>
            <a:endParaRPr lang="pt-BR" dirty="0" smtClean="0"/>
          </a:p>
          <a:p>
            <a:pPr lvl="1"/>
            <a:r>
              <a:rPr lang="pt-BR" dirty="0"/>
              <a:t>(a) decidir </a:t>
            </a:r>
            <a:r>
              <a:rPr lang="pt-BR" dirty="0" smtClean="0"/>
              <a:t>quando </a:t>
            </a:r>
            <a:r>
              <a:rPr lang="pt-BR" dirty="0"/>
              <a:t>comprar, manter ou vender instrumentos patrimoniais;</a:t>
            </a:r>
          </a:p>
          <a:p>
            <a:pPr lvl="1"/>
            <a:r>
              <a:rPr lang="pt-BR" dirty="0"/>
              <a:t>(b) avaliar a administração da entidade quanto à responsabilidade que lhe tenha sido conferida e quanto à qualidade de seu desempenho e de sua prestação de contas;</a:t>
            </a:r>
          </a:p>
          <a:p>
            <a:pPr lvl="1"/>
            <a:r>
              <a:rPr lang="pt-BR" dirty="0"/>
              <a:t>(c) avaliar a capacidade de a entidade pagar seus empregados e proporcionar-lhes outros benefícios; </a:t>
            </a:r>
          </a:p>
          <a:p>
            <a:pPr lvl="1"/>
            <a:r>
              <a:rPr lang="pt-BR" dirty="0"/>
              <a:t>(d) avaliar a segurança quanto à recuperação dos recursos financeiros emprestados à entidade;</a:t>
            </a:r>
          </a:p>
          <a:p>
            <a:pPr lvl="1"/>
            <a:r>
              <a:rPr lang="pt-BR" dirty="0"/>
              <a:t>(e) determinar políticas tributárias;</a:t>
            </a:r>
          </a:p>
          <a:p>
            <a:pPr lvl="1"/>
            <a:r>
              <a:rPr lang="pt-BR" dirty="0"/>
              <a:t>(f) determinar a distribuição de lucros e dividendos;</a:t>
            </a:r>
          </a:p>
          <a:p>
            <a:pPr lvl="1"/>
            <a:r>
              <a:rPr lang="pt-BR" dirty="0"/>
              <a:t>(g) elaborar e usar estatísticas da renda nacional; ou</a:t>
            </a:r>
          </a:p>
          <a:p>
            <a:pPr lvl="1"/>
            <a:r>
              <a:rPr lang="pt-BR" dirty="0"/>
              <a:t>(h) regulamentar as atividades das entidades</a:t>
            </a:r>
            <a:r>
              <a:rPr lang="pt-BR" dirty="0" smtClean="0"/>
              <a:t>.</a:t>
            </a:r>
          </a:p>
          <a:p>
            <a:pPr lvl="1"/>
            <a:endParaRPr lang="pt-BR" dirty="0"/>
          </a:p>
          <a:p>
            <a:pPr lvl="1"/>
            <a:r>
              <a:rPr lang="pt-BR" dirty="0" smtClean="0"/>
              <a:t>Resumidamente: </a:t>
            </a:r>
          </a:p>
          <a:p>
            <a:pPr lvl="2"/>
            <a:r>
              <a:rPr lang="pt-BR" altLang="pt-BR" dirty="0" smtClean="0"/>
              <a:t>O </a:t>
            </a:r>
            <a:r>
              <a:rPr lang="pt-BR" altLang="pt-BR" dirty="0"/>
              <a:t>objetivo </a:t>
            </a:r>
            <a:r>
              <a:rPr lang="pt-BR" altLang="pt-BR" dirty="0" smtClean="0"/>
              <a:t>da informação contábil é </a:t>
            </a:r>
            <a:r>
              <a:rPr lang="pt-BR" altLang="pt-BR" dirty="0"/>
              <a:t>de permitir a cada </a:t>
            </a:r>
            <a:r>
              <a:rPr lang="pt-BR" altLang="pt-BR" dirty="0" smtClean="0"/>
              <a:t>usuário</a:t>
            </a:r>
            <a:r>
              <a:rPr lang="pt-BR" altLang="pt-BR" dirty="0"/>
              <a:t>, a avaliação da situação econômica e financeira da entidade, num sentido estático, bem como fazer inferências sobre suas tendências </a:t>
            </a:r>
            <a:r>
              <a:rPr lang="pt-BR" altLang="pt-BR" dirty="0" smtClean="0"/>
              <a:t>futuras.</a:t>
            </a:r>
          </a:p>
          <a:p>
            <a:pPr lvl="2"/>
            <a:r>
              <a:rPr lang="en-US" altLang="pt-BR" dirty="0" smtClean="0"/>
              <a:t>A informação contábil é o processo </a:t>
            </a:r>
            <a:r>
              <a:rPr lang="en-US" altLang="pt-BR" dirty="0"/>
              <a:t>de registro de todas as transações de uma empresa, expressas em termos monetários, mostrando os reflexos dessas transações na situação econômico-financeira da companhia, auxiliando a administração a tomar </a:t>
            </a:r>
            <a:r>
              <a:rPr lang="en-US" altLang="pt-BR" dirty="0" smtClean="0"/>
              <a:t>decisões, de forma mais genérica a contabilidade é a linguagem dos </a:t>
            </a:r>
            <a:r>
              <a:rPr lang="en-US" altLang="pt-BR" dirty="0" err="1" smtClean="0"/>
              <a:t>negócios</a:t>
            </a:r>
            <a:r>
              <a:rPr lang="en-US" altLang="pt-BR" dirty="0" smtClean="0"/>
              <a:t>, </a:t>
            </a:r>
            <a:r>
              <a:rPr lang="en-US" altLang="pt-BR" dirty="0" err="1" smtClean="0"/>
              <a:t>onde</a:t>
            </a:r>
            <a:r>
              <a:rPr lang="en-US" altLang="pt-BR" dirty="0" smtClean="0"/>
              <a:t> </a:t>
            </a:r>
            <a:r>
              <a:rPr lang="en-US" altLang="pt-BR" dirty="0" err="1" smtClean="0"/>
              <a:t>podemos</a:t>
            </a:r>
            <a:r>
              <a:rPr lang="en-US" altLang="pt-BR" dirty="0" smtClean="0"/>
              <a:t> </a:t>
            </a:r>
            <a:r>
              <a:rPr lang="en-US" altLang="pt-BR" dirty="0" err="1" smtClean="0"/>
              <a:t>depositar</a:t>
            </a:r>
            <a:r>
              <a:rPr lang="en-US" altLang="pt-BR" dirty="0" smtClean="0"/>
              <a:t> </a:t>
            </a:r>
            <a:r>
              <a:rPr lang="en-US" altLang="pt-BR" dirty="0" err="1" smtClean="0"/>
              <a:t>confiança</a:t>
            </a:r>
            <a:r>
              <a:rPr lang="en-US" altLang="pt-BR" dirty="0" smtClean="0"/>
              <a:t> </a:t>
            </a:r>
            <a:r>
              <a:rPr lang="en-US" altLang="pt-BR" dirty="0" err="1" smtClean="0"/>
              <a:t>sobre</a:t>
            </a:r>
            <a:r>
              <a:rPr lang="en-US" altLang="pt-BR" dirty="0" smtClean="0"/>
              <a:t> o </a:t>
            </a:r>
            <a:r>
              <a:rPr lang="en-US" altLang="pt-BR" dirty="0" err="1" smtClean="0"/>
              <a:t>resultado</a:t>
            </a:r>
            <a:r>
              <a:rPr lang="en-US" altLang="pt-BR" dirty="0" smtClean="0"/>
              <a:t> da </a:t>
            </a:r>
            <a:r>
              <a:rPr lang="en-US" altLang="pt-BR" dirty="0" err="1" smtClean="0"/>
              <a:t>empresa</a:t>
            </a:r>
            <a:r>
              <a:rPr lang="en-US" altLang="pt-BR" dirty="0" smtClean="0"/>
              <a:t> no </a:t>
            </a:r>
            <a:r>
              <a:rPr lang="en-US" altLang="pt-BR" dirty="0" err="1" smtClean="0"/>
              <a:t>periodo</a:t>
            </a:r>
            <a:r>
              <a:rPr lang="en-US" altLang="pt-BR" dirty="0" smtClean="0"/>
              <a:t>.</a:t>
            </a:r>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3</a:t>
            </a:fld>
            <a:endParaRPr lang="pt-BR" dirty="0"/>
          </a:p>
        </p:txBody>
      </p:sp>
    </p:spTree>
    <p:extLst>
      <p:ext uri="{BB962C8B-B14F-4D97-AF65-F5344CB8AC3E}">
        <p14:creationId xmlns:p14="http://schemas.microsoft.com/office/powerpoint/2010/main" val="6773158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1" y="914400"/>
            <a:ext cx="3384766" cy="5262563"/>
          </a:xfrm>
        </p:spPr>
        <p:txBody>
          <a:bodyPr/>
          <a:lstStyle/>
          <a:p>
            <a:pPr algn="l"/>
            <a:r>
              <a:rPr lang="pt-BR" dirty="0" smtClean="0"/>
              <a:t>Usuários</a:t>
            </a:r>
          </a:p>
          <a:p>
            <a:pPr algn="l"/>
            <a:endParaRPr lang="pt-BR" dirty="0"/>
          </a:p>
          <a:p>
            <a:pPr lvl="1" algn="l"/>
            <a:r>
              <a:rPr lang="pt-BR" dirty="0" smtClean="0"/>
              <a:t>Dentro dos usuários destaca – se principalmente o governo (impostos); investidores (resultado obtido sobre o valor investido); bancos (empréstimos e financiamentos);</a:t>
            </a:r>
          </a:p>
          <a:p>
            <a:pPr algn="l"/>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4</a:t>
            </a:fld>
            <a:endParaRPr lang="pt-BR" dirty="0"/>
          </a:p>
        </p:txBody>
      </p:sp>
      <p:grpSp>
        <p:nvGrpSpPr>
          <p:cNvPr id="4" name="Grupo 2"/>
          <p:cNvGrpSpPr>
            <a:grpSpLocks/>
          </p:cNvGrpSpPr>
          <p:nvPr/>
        </p:nvGrpSpPr>
        <p:grpSpPr bwMode="auto">
          <a:xfrm>
            <a:off x="3765884" y="1470776"/>
            <a:ext cx="8066087" cy="4508500"/>
            <a:chOff x="63500" y="1676400"/>
            <a:chExt cx="9017000" cy="4508500"/>
          </a:xfrm>
        </p:grpSpPr>
        <p:sp>
          <p:nvSpPr>
            <p:cNvPr id="6" name="Oval 12"/>
            <p:cNvSpPr>
              <a:spLocks noChangeArrowheads="1"/>
            </p:cNvSpPr>
            <p:nvPr/>
          </p:nvSpPr>
          <p:spPr bwMode="auto">
            <a:xfrm>
              <a:off x="2819532" y="3124200"/>
              <a:ext cx="3504936" cy="1524000"/>
            </a:xfrm>
            <a:prstGeom prst="ellipse">
              <a:avLst/>
            </a:prstGeom>
            <a:gradFill rotWithShape="0">
              <a:gsLst>
                <a:gs pos="0">
                  <a:srgbClr val="00CCFF">
                    <a:gamma/>
                    <a:tint val="23922"/>
                    <a:invGamma/>
                  </a:srgbClr>
                </a:gs>
                <a:gs pos="100000">
                  <a:srgbClr val="00CCFF"/>
                </a:gs>
              </a:gsLst>
              <a:lin ang="2700000" scaled="1"/>
            </a:gradFill>
            <a:ln w="254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defRPr/>
              </a:pPr>
              <a:r>
                <a:rPr lang="pt-BR" altLang="pt-BR" b="1">
                  <a:solidFill>
                    <a:srgbClr val="FF6600"/>
                  </a:solidFill>
                  <a:effectLst>
                    <a:outerShdw blurRad="38100" dist="38100" dir="2700000" algn="tl">
                      <a:srgbClr val="000000"/>
                    </a:outerShdw>
                  </a:effectLst>
                </a:rPr>
                <a:t>EMPRESA</a:t>
              </a:r>
              <a:endParaRPr lang="pt-BR" altLang="pt-BR" b="1">
                <a:solidFill>
                  <a:srgbClr val="FF6600"/>
                </a:solidFill>
              </a:endParaRPr>
            </a:p>
          </p:txBody>
        </p:sp>
        <p:sp>
          <p:nvSpPr>
            <p:cNvPr id="7" name="Oval 13"/>
            <p:cNvSpPr>
              <a:spLocks noChangeArrowheads="1"/>
            </p:cNvSpPr>
            <p:nvPr/>
          </p:nvSpPr>
          <p:spPr bwMode="auto">
            <a:xfrm>
              <a:off x="520700" y="2016125"/>
              <a:ext cx="2755900" cy="927100"/>
            </a:xfrm>
            <a:prstGeom prst="ellipse">
              <a:avLst/>
            </a:prstGeom>
            <a:gradFill rotWithShape="0">
              <a:gsLst>
                <a:gs pos="0">
                  <a:srgbClr val="969696"/>
                </a:gs>
                <a:gs pos="50000">
                  <a:srgbClr val="E6E6E6"/>
                </a:gs>
                <a:gs pos="100000">
                  <a:srgbClr val="969696"/>
                </a:gs>
              </a:gsLst>
              <a:lin ang="18900000" scaled="1"/>
            </a:gradFill>
            <a:ln w="254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pt-BR" altLang="pt-BR" b="1" i="1">
                  <a:solidFill>
                    <a:srgbClr val="3333CC"/>
                  </a:solidFill>
                  <a:latin typeface="Arial" panose="020B0604020202020204" pitchFamily="34" charset="0"/>
                </a:rPr>
                <a:t>Investidores</a:t>
              </a:r>
            </a:p>
          </p:txBody>
        </p:sp>
        <p:sp>
          <p:nvSpPr>
            <p:cNvPr id="8" name="Oval 14"/>
            <p:cNvSpPr>
              <a:spLocks noChangeArrowheads="1"/>
            </p:cNvSpPr>
            <p:nvPr/>
          </p:nvSpPr>
          <p:spPr bwMode="auto">
            <a:xfrm>
              <a:off x="3238500" y="1676400"/>
              <a:ext cx="2755900" cy="927100"/>
            </a:xfrm>
            <a:prstGeom prst="ellipse">
              <a:avLst/>
            </a:prstGeom>
            <a:gradFill rotWithShape="0">
              <a:gsLst>
                <a:gs pos="0">
                  <a:srgbClr val="969696"/>
                </a:gs>
                <a:gs pos="50000">
                  <a:srgbClr val="E6E6E6"/>
                </a:gs>
                <a:gs pos="100000">
                  <a:srgbClr val="969696"/>
                </a:gs>
              </a:gsLst>
              <a:lin ang="18900000" scaled="1"/>
            </a:gradFill>
            <a:ln w="254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pt-BR" altLang="pt-BR" b="1" i="1">
                  <a:solidFill>
                    <a:srgbClr val="3333CC"/>
                  </a:solidFill>
                  <a:latin typeface="Arial" panose="020B0604020202020204" pitchFamily="34" charset="0"/>
                </a:rPr>
                <a:t>Fornecedores</a:t>
              </a:r>
            </a:p>
          </p:txBody>
        </p:sp>
        <p:sp>
          <p:nvSpPr>
            <p:cNvPr id="9" name="Oval 15"/>
            <p:cNvSpPr>
              <a:spLocks noChangeArrowheads="1"/>
            </p:cNvSpPr>
            <p:nvPr/>
          </p:nvSpPr>
          <p:spPr bwMode="auto">
            <a:xfrm>
              <a:off x="6019800" y="2016125"/>
              <a:ext cx="2755900" cy="927100"/>
            </a:xfrm>
            <a:prstGeom prst="ellipse">
              <a:avLst/>
            </a:prstGeom>
            <a:gradFill rotWithShape="0">
              <a:gsLst>
                <a:gs pos="0">
                  <a:srgbClr val="969696"/>
                </a:gs>
                <a:gs pos="50000">
                  <a:srgbClr val="E6E6E6"/>
                </a:gs>
                <a:gs pos="100000">
                  <a:srgbClr val="969696"/>
                </a:gs>
              </a:gsLst>
              <a:lin ang="18900000" scaled="1"/>
            </a:gradFill>
            <a:ln w="254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pt-BR" altLang="pt-BR" b="1" i="1">
                  <a:solidFill>
                    <a:srgbClr val="3333CC"/>
                  </a:solidFill>
                  <a:latin typeface="Arial" panose="020B0604020202020204" pitchFamily="34" charset="0"/>
                </a:rPr>
                <a:t>Bancos</a:t>
              </a:r>
            </a:p>
          </p:txBody>
        </p:sp>
        <p:sp>
          <p:nvSpPr>
            <p:cNvPr id="10" name="Oval 16"/>
            <p:cNvSpPr>
              <a:spLocks noChangeArrowheads="1"/>
            </p:cNvSpPr>
            <p:nvPr/>
          </p:nvSpPr>
          <p:spPr bwMode="auto">
            <a:xfrm>
              <a:off x="1752600" y="5257800"/>
              <a:ext cx="2755900" cy="927100"/>
            </a:xfrm>
            <a:prstGeom prst="ellipse">
              <a:avLst/>
            </a:prstGeom>
            <a:gradFill rotWithShape="0">
              <a:gsLst>
                <a:gs pos="0">
                  <a:srgbClr val="FF0000"/>
                </a:gs>
                <a:gs pos="50000">
                  <a:srgbClr val="FFFFFF"/>
                </a:gs>
                <a:gs pos="100000">
                  <a:srgbClr val="FF0000"/>
                </a:gs>
              </a:gsLst>
              <a:lin ang="18900000" scaled="1"/>
            </a:gradFill>
            <a:ln w="254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pt-BR" altLang="pt-BR" b="1" i="1">
                  <a:solidFill>
                    <a:srgbClr val="990099"/>
                  </a:solidFill>
                  <a:latin typeface="Arial" panose="020B0604020202020204" pitchFamily="34" charset="0"/>
                </a:rPr>
                <a:t>Governo</a:t>
              </a:r>
            </a:p>
          </p:txBody>
        </p:sp>
        <p:sp>
          <p:nvSpPr>
            <p:cNvPr id="11" name="Oval 17"/>
            <p:cNvSpPr>
              <a:spLocks noChangeArrowheads="1"/>
            </p:cNvSpPr>
            <p:nvPr/>
          </p:nvSpPr>
          <p:spPr bwMode="auto">
            <a:xfrm>
              <a:off x="6324600" y="3162300"/>
              <a:ext cx="2755900" cy="927100"/>
            </a:xfrm>
            <a:prstGeom prst="ellipse">
              <a:avLst/>
            </a:prstGeom>
            <a:gradFill rotWithShape="0">
              <a:gsLst>
                <a:gs pos="0">
                  <a:srgbClr val="008000"/>
                </a:gs>
                <a:gs pos="50000">
                  <a:srgbClr val="C2E1C2"/>
                </a:gs>
                <a:gs pos="100000">
                  <a:srgbClr val="008000"/>
                </a:gs>
              </a:gsLst>
              <a:lin ang="18900000" scaled="1"/>
            </a:gradFill>
            <a:ln w="254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pt-BR" altLang="pt-BR" b="1" i="1">
                  <a:solidFill>
                    <a:srgbClr val="008000"/>
                  </a:solidFill>
                  <a:latin typeface="Arial" panose="020B0604020202020204" pitchFamily="34" charset="0"/>
                </a:rPr>
                <a:t>Sindicato</a:t>
              </a:r>
              <a:endParaRPr lang="pt-BR" altLang="pt-BR" b="1" i="1">
                <a:solidFill>
                  <a:srgbClr val="FF0000"/>
                </a:solidFill>
                <a:latin typeface="Arial" panose="020B0604020202020204" pitchFamily="34" charset="0"/>
              </a:endParaRPr>
            </a:p>
          </p:txBody>
        </p:sp>
        <p:sp>
          <p:nvSpPr>
            <p:cNvPr id="12" name="Oval 18"/>
            <p:cNvSpPr>
              <a:spLocks noChangeArrowheads="1"/>
            </p:cNvSpPr>
            <p:nvPr/>
          </p:nvSpPr>
          <p:spPr bwMode="auto">
            <a:xfrm>
              <a:off x="63500" y="3162300"/>
              <a:ext cx="2755900" cy="927100"/>
            </a:xfrm>
            <a:prstGeom prst="ellipse">
              <a:avLst/>
            </a:prstGeom>
            <a:gradFill rotWithShape="0">
              <a:gsLst>
                <a:gs pos="0">
                  <a:srgbClr val="008000"/>
                </a:gs>
                <a:gs pos="50000">
                  <a:srgbClr val="C2E1C2"/>
                </a:gs>
                <a:gs pos="100000">
                  <a:srgbClr val="008000"/>
                </a:gs>
              </a:gsLst>
              <a:lin ang="18900000" scaled="1"/>
            </a:gradFill>
            <a:ln w="254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pt-BR" altLang="pt-BR" b="1" i="1">
                  <a:solidFill>
                    <a:srgbClr val="008000"/>
                  </a:solidFill>
                  <a:latin typeface="Arial" panose="020B0604020202020204" pitchFamily="34" charset="0"/>
                </a:rPr>
                <a:t>Funcionários</a:t>
              </a:r>
              <a:endParaRPr lang="pt-BR" altLang="pt-BR" b="1" i="1">
                <a:solidFill>
                  <a:srgbClr val="FF0000"/>
                </a:solidFill>
                <a:latin typeface="Arial" panose="020B0604020202020204" pitchFamily="34" charset="0"/>
              </a:endParaRPr>
            </a:p>
          </p:txBody>
        </p:sp>
        <p:sp>
          <p:nvSpPr>
            <p:cNvPr id="13" name="Oval 19"/>
            <p:cNvSpPr>
              <a:spLocks noChangeArrowheads="1"/>
            </p:cNvSpPr>
            <p:nvPr/>
          </p:nvSpPr>
          <p:spPr bwMode="auto">
            <a:xfrm>
              <a:off x="5866608" y="4343400"/>
              <a:ext cx="2756032" cy="927100"/>
            </a:xfrm>
            <a:prstGeom prst="ellipse">
              <a:avLst/>
            </a:prstGeom>
            <a:gradFill rotWithShape="0">
              <a:gsLst>
                <a:gs pos="0">
                  <a:schemeClr val="folHlink"/>
                </a:gs>
                <a:gs pos="50000">
                  <a:schemeClr val="folHlink">
                    <a:gamma/>
                    <a:tint val="23922"/>
                    <a:invGamma/>
                  </a:schemeClr>
                </a:gs>
                <a:gs pos="100000">
                  <a:schemeClr val="folHlink"/>
                </a:gs>
              </a:gsLst>
              <a:lin ang="18900000" scaled="1"/>
            </a:gradFill>
            <a:ln w="254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defRPr/>
              </a:pPr>
              <a:r>
                <a:rPr lang="pt-BR" altLang="pt-BR" b="1" i="1">
                  <a:solidFill>
                    <a:schemeClr val="hlink"/>
                  </a:solidFill>
                </a:rPr>
                <a:t>Órgãos de Classe</a:t>
              </a:r>
            </a:p>
          </p:txBody>
        </p:sp>
        <p:sp>
          <p:nvSpPr>
            <p:cNvPr id="14" name="Oval 20"/>
            <p:cNvSpPr>
              <a:spLocks noChangeArrowheads="1"/>
            </p:cNvSpPr>
            <p:nvPr/>
          </p:nvSpPr>
          <p:spPr bwMode="auto">
            <a:xfrm>
              <a:off x="533782" y="4343400"/>
              <a:ext cx="2756033" cy="927100"/>
            </a:xfrm>
            <a:prstGeom prst="ellipse">
              <a:avLst/>
            </a:prstGeom>
            <a:gradFill rotWithShape="0">
              <a:gsLst>
                <a:gs pos="0">
                  <a:schemeClr val="folHlink"/>
                </a:gs>
                <a:gs pos="50000">
                  <a:schemeClr val="folHlink">
                    <a:gamma/>
                    <a:tint val="23922"/>
                    <a:invGamma/>
                  </a:schemeClr>
                </a:gs>
                <a:gs pos="100000">
                  <a:schemeClr val="folHlink"/>
                </a:gs>
              </a:gsLst>
              <a:lin ang="18900000" scaled="1"/>
            </a:gradFill>
            <a:ln w="254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defRPr/>
              </a:pPr>
              <a:r>
                <a:rPr lang="pt-BR" altLang="pt-BR" b="1" i="1">
                  <a:solidFill>
                    <a:srgbClr val="6600CC"/>
                  </a:solidFill>
                </a:rPr>
                <a:t>Concorrentes</a:t>
              </a:r>
            </a:p>
          </p:txBody>
        </p:sp>
        <p:sp>
          <p:nvSpPr>
            <p:cNvPr id="15" name="Oval 21"/>
            <p:cNvSpPr>
              <a:spLocks noChangeArrowheads="1"/>
            </p:cNvSpPr>
            <p:nvPr/>
          </p:nvSpPr>
          <p:spPr bwMode="auto">
            <a:xfrm>
              <a:off x="4635000" y="5257800"/>
              <a:ext cx="2756032" cy="927100"/>
            </a:xfrm>
            <a:prstGeom prst="ellipse">
              <a:avLst/>
            </a:prstGeom>
            <a:gradFill rotWithShape="0">
              <a:gsLst>
                <a:gs pos="0">
                  <a:schemeClr val="folHlink"/>
                </a:gs>
                <a:gs pos="50000">
                  <a:schemeClr val="folHlink">
                    <a:gamma/>
                    <a:tint val="23922"/>
                    <a:invGamma/>
                  </a:schemeClr>
                </a:gs>
                <a:gs pos="100000">
                  <a:schemeClr val="folHlink"/>
                </a:gs>
              </a:gsLst>
              <a:lin ang="18900000" scaled="1"/>
            </a:gradFill>
            <a:ln w="25400">
              <a:solidFill>
                <a:schemeClr val="accent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2075" tIns="46038" rIns="92075" bIns="46038" anchor="ctr"/>
            <a:lstStyle/>
            <a:p>
              <a:pPr algn="ctr">
                <a:defRPr/>
              </a:pPr>
              <a:r>
                <a:rPr lang="pt-BR" altLang="pt-BR" b="1" i="1">
                  <a:solidFill>
                    <a:srgbClr val="FF6600"/>
                  </a:solidFill>
                </a:rPr>
                <a:t>Outros</a:t>
              </a:r>
            </a:p>
          </p:txBody>
        </p:sp>
      </p:grpSp>
    </p:spTree>
    <p:extLst>
      <p:ext uri="{BB962C8B-B14F-4D97-AF65-F5344CB8AC3E}">
        <p14:creationId xmlns:p14="http://schemas.microsoft.com/office/powerpoint/2010/main" val="3630018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Pontos Principais</a:t>
            </a:r>
          </a:p>
          <a:p>
            <a:endParaRPr lang="pt-BR" dirty="0" smtClean="0"/>
          </a:p>
          <a:p>
            <a:pPr lvl="1"/>
            <a:r>
              <a:rPr lang="pt-BR" altLang="pt-BR" dirty="0"/>
              <a:t>Princípios – primeiros pronunciamentos para orientação de contadores</a:t>
            </a:r>
          </a:p>
          <a:p>
            <a:pPr lvl="2"/>
            <a:r>
              <a:rPr lang="pt-BR" altLang="pt-BR" dirty="0"/>
              <a:t>Princípios Contábeis – representam as regras e normas através das quais os Conceitos Fundamentais de Contabilidade são trazidos para uma amplitude mais limitada</a:t>
            </a:r>
            <a:r>
              <a:rPr lang="pt-BR" altLang="pt-BR" dirty="0" smtClean="0"/>
              <a:t>;</a:t>
            </a:r>
          </a:p>
          <a:p>
            <a:pPr lvl="2"/>
            <a:endParaRPr lang="pt-BR" altLang="pt-BR" dirty="0"/>
          </a:p>
          <a:p>
            <a:pPr lvl="1"/>
            <a:r>
              <a:rPr lang="pt-BR" altLang="pt-BR" dirty="0"/>
              <a:t>Procedimentos (Normas) Contábeis – Representam a forma de lançamento contábil usada para que os Princípios sejam reconhecidos na escrituração;</a:t>
            </a:r>
          </a:p>
          <a:p>
            <a:pPr lvl="1"/>
            <a:endParaRPr lang="pt-BR" altLang="pt-BR" dirty="0" smtClean="0"/>
          </a:p>
          <a:p>
            <a:pPr lvl="1"/>
            <a:r>
              <a:rPr lang="pt-BR" altLang="pt-BR" dirty="0" smtClean="0"/>
              <a:t>No </a:t>
            </a:r>
            <a:r>
              <a:rPr lang="pt-BR" altLang="pt-BR" dirty="0"/>
              <a:t>Brasil esse conjunto é chamado de Princípios Fundamentais de contabilidade</a:t>
            </a:r>
          </a:p>
          <a:p>
            <a:pPr lvl="1"/>
            <a:endParaRPr lang="pt-BR" dirty="0" smtClean="0"/>
          </a:p>
          <a:p>
            <a:endParaRPr lang="pt-BR" dirty="0"/>
          </a:p>
          <a:p>
            <a:pPr lvl="1"/>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5</a:t>
            </a:fld>
            <a:endParaRPr lang="pt-BR" dirty="0"/>
          </a:p>
        </p:txBody>
      </p:sp>
    </p:spTree>
    <p:extLst>
      <p:ext uri="{BB962C8B-B14F-4D97-AF65-F5344CB8AC3E}">
        <p14:creationId xmlns:p14="http://schemas.microsoft.com/office/powerpoint/2010/main" val="37402559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30442"/>
            <a:ext cx="11569700" cy="5262563"/>
          </a:xfrm>
        </p:spPr>
        <p:txBody>
          <a:bodyPr/>
          <a:lstStyle/>
          <a:p>
            <a:pPr>
              <a:defRPr/>
            </a:pPr>
            <a:r>
              <a:rPr lang="pt-BR" dirty="0" smtClean="0">
                <a:solidFill>
                  <a:schemeClr val="tx1">
                    <a:lumMod val="75000"/>
                    <a:lumOff val="25000"/>
                  </a:schemeClr>
                </a:solidFill>
              </a:rPr>
              <a:t>Princípios </a:t>
            </a:r>
            <a:r>
              <a:rPr lang="pt-BR" dirty="0">
                <a:solidFill>
                  <a:schemeClr val="tx1">
                    <a:lumMod val="75000"/>
                    <a:lumOff val="25000"/>
                  </a:schemeClr>
                </a:solidFill>
              </a:rPr>
              <a:t>e resoluções </a:t>
            </a:r>
            <a:r>
              <a:rPr lang="pt-BR" dirty="0" smtClean="0">
                <a:solidFill>
                  <a:schemeClr val="tx1">
                    <a:lumMod val="75000"/>
                    <a:lumOff val="25000"/>
                  </a:schemeClr>
                </a:solidFill>
              </a:rPr>
              <a:t>contábeis</a:t>
            </a:r>
          </a:p>
          <a:p>
            <a:pPr lvl="1">
              <a:defRPr/>
            </a:pPr>
            <a:endParaRPr lang="pt-BR" dirty="0" smtClean="0">
              <a:solidFill>
                <a:schemeClr val="tx1">
                  <a:lumMod val="75000"/>
                  <a:lumOff val="25000"/>
                </a:schemeClr>
              </a:solidFill>
            </a:endParaRPr>
          </a:p>
          <a:p>
            <a:pPr lvl="1">
              <a:defRPr/>
            </a:pPr>
            <a:r>
              <a:rPr lang="pt-BR" dirty="0" smtClean="0">
                <a:solidFill>
                  <a:schemeClr val="tx1">
                    <a:lumMod val="75000"/>
                    <a:lumOff val="25000"/>
                  </a:schemeClr>
                </a:solidFill>
              </a:rPr>
              <a:t>Circular </a:t>
            </a:r>
            <a:r>
              <a:rPr lang="pt-BR" dirty="0">
                <a:solidFill>
                  <a:schemeClr val="tx1">
                    <a:lumMod val="75000"/>
                    <a:lumOff val="25000"/>
                  </a:schemeClr>
                </a:solidFill>
              </a:rPr>
              <a:t>n. 179/72 Banco </a:t>
            </a:r>
            <a:r>
              <a:rPr lang="pt-BR" dirty="0" smtClean="0">
                <a:solidFill>
                  <a:schemeClr val="tx1">
                    <a:lumMod val="75000"/>
                    <a:lumOff val="25000"/>
                  </a:schemeClr>
                </a:solidFill>
              </a:rPr>
              <a:t>Central</a:t>
            </a:r>
          </a:p>
          <a:p>
            <a:pPr lvl="1">
              <a:defRPr/>
            </a:pPr>
            <a:r>
              <a:rPr lang="pt-BR" dirty="0" smtClean="0">
                <a:solidFill>
                  <a:schemeClr val="tx1">
                    <a:lumMod val="75000"/>
                    <a:lumOff val="25000"/>
                  </a:schemeClr>
                </a:solidFill>
              </a:rPr>
              <a:t>Lei </a:t>
            </a:r>
            <a:r>
              <a:rPr lang="pt-BR" dirty="0">
                <a:solidFill>
                  <a:schemeClr val="tx1">
                    <a:lumMod val="75000"/>
                    <a:lumOff val="25000"/>
                  </a:schemeClr>
                </a:solidFill>
              </a:rPr>
              <a:t>nº </a:t>
            </a:r>
            <a:r>
              <a:rPr lang="pt-BR" dirty="0" smtClean="0">
                <a:solidFill>
                  <a:schemeClr val="tx1">
                    <a:lumMod val="75000"/>
                    <a:lumOff val="25000"/>
                  </a:schemeClr>
                </a:solidFill>
              </a:rPr>
              <a:t>6.404/76</a:t>
            </a:r>
          </a:p>
          <a:p>
            <a:pPr lvl="1">
              <a:defRPr/>
            </a:pPr>
            <a:r>
              <a:rPr lang="pt-BR" dirty="0" smtClean="0">
                <a:solidFill>
                  <a:schemeClr val="tx1">
                    <a:lumMod val="75000"/>
                    <a:lumOff val="25000"/>
                  </a:schemeClr>
                </a:solidFill>
              </a:rPr>
              <a:t>Resolução </a:t>
            </a:r>
            <a:r>
              <a:rPr lang="pt-BR" dirty="0">
                <a:solidFill>
                  <a:schemeClr val="tx1">
                    <a:lumMod val="75000"/>
                    <a:lumOff val="25000"/>
                  </a:schemeClr>
                </a:solidFill>
              </a:rPr>
              <a:t>CFC n. </a:t>
            </a:r>
            <a:r>
              <a:rPr lang="pt-BR" dirty="0" smtClean="0">
                <a:solidFill>
                  <a:schemeClr val="tx1">
                    <a:lumMod val="75000"/>
                    <a:lumOff val="25000"/>
                  </a:schemeClr>
                </a:solidFill>
              </a:rPr>
              <a:t>321/72</a:t>
            </a:r>
          </a:p>
          <a:p>
            <a:pPr lvl="1">
              <a:defRPr/>
            </a:pPr>
            <a:r>
              <a:rPr lang="pt-BR" dirty="0" smtClean="0">
                <a:solidFill>
                  <a:schemeClr val="tx1">
                    <a:lumMod val="75000"/>
                    <a:lumOff val="25000"/>
                  </a:schemeClr>
                </a:solidFill>
              </a:rPr>
              <a:t>Resolução </a:t>
            </a:r>
            <a:r>
              <a:rPr lang="pt-BR" dirty="0">
                <a:solidFill>
                  <a:schemeClr val="tx1">
                    <a:lumMod val="75000"/>
                    <a:lumOff val="25000"/>
                  </a:schemeClr>
                </a:solidFill>
              </a:rPr>
              <a:t>CFC n. </a:t>
            </a:r>
            <a:r>
              <a:rPr lang="pt-BR" dirty="0" smtClean="0">
                <a:solidFill>
                  <a:schemeClr val="tx1">
                    <a:lumMod val="75000"/>
                    <a:lumOff val="25000"/>
                  </a:schemeClr>
                </a:solidFill>
              </a:rPr>
              <a:t>530/81</a:t>
            </a:r>
          </a:p>
          <a:p>
            <a:pPr lvl="1">
              <a:defRPr/>
            </a:pPr>
            <a:r>
              <a:rPr lang="pt-BR" dirty="0" smtClean="0">
                <a:solidFill>
                  <a:schemeClr val="tx1">
                    <a:lumMod val="75000"/>
                    <a:lumOff val="25000"/>
                  </a:schemeClr>
                </a:solidFill>
              </a:rPr>
              <a:t>Resolução </a:t>
            </a:r>
            <a:r>
              <a:rPr lang="pt-BR" dirty="0">
                <a:solidFill>
                  <a:schemeClr val="tx1">
                    <a:lumMod val="75000"/>
                    <a:lumOff val="25000"/>
                  </a:schemeClr>
                </a:solidFill>
              </a:rPr>
              <a:t>CFC n. </a:t>
            </a:r>
            <a:r>
              <a:rPr lang="pt-BR" dirty="0" smtClean="0">
                <a:solidFill>
                  <a:schemeClr val="tx1">
                    <a:lumMod val="75000"/>
                    <a:lumOff val="25000"/>
                  </a:schemeClr>
                </a:solidFill>
              </a:rPr>
              <a:t>750/93</a:t>
            </a:r>
          </a:p>
          <a:p>
            <a:pPr lvl="1">
              <a:defRPr/>
            </a:pPr>
            <a:r>
              <a:rPr lang="pt-BR" dirty="0" smtClean="0">
                <a:solidFill>
                  <a:schemeClr val="tx1">
                    <a:lumMod val="75000"/>
                    <a:lumOff val="25000"/>
                  </a:schemeClr>
                </a:solidFill>
              </a:rPr>
              <a:t>Resolução </a:t>
            </a:r>
            <a:r>
              <a:rPr lang="pt-BR" dirty="0">
                <a:solidFill>
                  <a:schemeClr val="tx1">
                    <a:lumMod val="75000"/>
                    <a:lumOff val="25000"/>
                  </a:schemeClr>
                </a:solidFill>
              </a:rPr>
              <a:t>CFC n. 774/94	</a:t>
            </a:r>
            <a:endParaRPr lang="pt-BR" dirty="0" smtClean="0">
              <a:solidFill>
                <a:schemeClr val="tx1">
                  <a:lumMod val="75000"/>
                  <a:lumOff val="25000"/>
                </a:schemeClr>
              </a:solidFill>
            </a:endParaRPr>
          </a:p>
          <a:p>
            <a:pPr lvl="1">
              <a:defRPr/>
            </a:pPr>
            <a:r>
              <a:rPr lang="pt-BR" dirty="0" smtClean="0">
                <a:solidFill>
                  <a:schemeClr val="tx1">
                    <a:lumMod val="75000"/>
                    <a:lumOff val="25000"/>
                  </a:schemeClr>
                </a:solidFill>
              </a:rPr>
              <a:t>Resolução </a:t>
            </a:r>
            <a:r>
              <a:rPr lang="pt-BR" dirty="0">
                <a:solidFill>
                  <a:schemeClr val="tx1">
                    <a:lumMod val="75000"/>
                    <a:lumOff val="25000"/>
                  </a:schemeClr>
                </a:solidFill>
              </a:rPr>
              <a:t>CFC n. </a:t>
            </a:r>
            <a:r>
              <a:rPr lang="pt-BR" dirty="0" smtClean="0">
                <a:solidFill>
                  <a:schemeClr val="tx1">
                    <a:lumMod val="75000"/>
                    <a:lumOff val="25000"/>
                  </a:schemeClr>
                </a:solidFill>
              </a:rPr>
              <a:t>1.121/2008</a:t>
            </a:r>
          </a:p>
          <a:p>
            <a:pPr lvl="1">
              <a:defRPr/>
            </a:pPr>
            <a:r>
              <a:rPr lang="pt-BR" dirty="0" smtClean="0">
                <a:solidFill>
                  <a:schemeClr val="tx1">
                    <a:lumMod val="75000"/>
                    <a:lumOff val="25000"/>
                  </a:schemeClr>
                </a:solidFill>
              </a:rPr>
              <a:t>Deliberação </a:t>
            </a:r>
            <a:r>
              <a:rPr lang="pt-BR" dirty="0">
                <a:solidFill>
                  <a:schemeClr val="tx1">
                    <a:lumMod val="75000"/>
                    <a:lumOff val="25000"/>
                  </a:schemeClr>
                </a:solidFill>
              </a:rPr>
              <a:t>CVM n. 539/2008 – revoga a Deliberação CVM n. </a:t>
            </a:r>
            <a:r>
              <a:rPr lang="pt-BR" dirty="0" smtClean="0">
                <a:solidFill>
                  <a:schemeClr val="tx1">
                    <a:lumMod val="75000"/>
                    <a:lumOff val="25000"/>
                  </a:schemeClr>
                </a:solidFill>
              </a:rPr>
              <a:t>29/86</a:t>
            </a:r>
          </a:p>
          <a:p>
            <a:pPr lvl="1">
              <a:defRPr/>
            </a:pPr>
            <a:r>
              <a:rPr lang="pt-BR" dirty="0" smtClean="0">
                <a:solidFill>
                  <a:schemeClr val="tx1">
                    <a:lumMod val="75000"/>
                    <a:lumOff val="25000"/>
                  </a:schemeClr>
                </a:solidFill>
              </a:rPr>
              <a:t>Princípios </a:t>
            </a:r>
            <a:r>
              <a:rPr lang="pt-BR" dirty="0">
                <a:solidFill>
                  <a:schemeClr val="tx1">
                    <a:lumMod val="75000"/>
                    <a:lumOff val="25000"/>
                  </a:schemeClr>
                </a:solidFill>
              </a:rPr>
              <a:t>Fundamentais de Contabilidade – </a:t>
            </a:r>
            <a:r>
              <a:rPr lang="pt-BR" dirty="0" smtClean="0">
                <a:solidFill>
                  <a:schemeClr val="tx1">
                    <a:lumMod val="75000"/>
                    <a:lumOff val="25000"/>
                  </a:schemeClr>
                </a:solidFill>
              </a:rPr>
              <a:t>PFC</a:t>
            </a:r>
          </a:p>
          <a:p>
            <a:pPr lvl="1">
              <a:defRPr/>
            </a:pPr>
            <a:r>
              <a:rPr lang="en-US" dirty="0" smtClean="0">
                <a:solidFill>
                  <a:schemeClr val="tx1">
                    <a:lumMod val="75000"/>
                    <a:lumOff val="25000"/>
                  </a:schemeClr>
                </a:solidFill>
              </a:rPr>
              <a:t>BR </a:t>
            </a:r>
            <a:r>
              <a:rPr lang="en-US" dirty="0">
                <a:solidFill>
                  <a:schemeClr val="tx1">
                    <a:lumMod val="75000"/>
                    <a:lumOff val="25000"/>
                  </a:schemeClr>
                </a:solidFill>
              </a:rPr>
              <a:t>GAAP – Brazilian GAAPs – Generally Accepted Accounting </a:t>
            </a:r>
            <a:r>
              <a:rPr lang="en-US" dirty="0" smtClean="0">
                <a:solidFill>
                  <a:schemeClr val="tx1">
                    <a:lumMod val="75000"/>
                    <a:lumOff val="25000"/>
                  </a:schemeClr>
                </a:solidFill>
              </a:rPr>
              <a:t>Principles</a:t>
            </a:r>
          </a:p>
          <a:p>
            <a:pPr lvl="1">
              <a:defRPr/>
            </a:pPr>
            <a:r>
              <a:rPr lang="pt-BR" dirty="0" smtClean="0">
                <a:solidFill>
                  <a:schemeClr val="tx1">
                    <a:lumMod val="75000"/>
                    <a:lumOff val="25000"/>
                  </a:schemeClr>
                </a:solidFill>
              </a:rPr>
              <a:t>Pronunciamento Técnicos do CPC</a:t>
            </a:r>
            <a:endParaRPr lang="pt-BR" dirty="0">
              <a:solidFill>
                <a:schemeClr val="tx1">
                  <a:lumMod val="75000"/>
                  <a:lumOff val="25000"/>
                </a:schemeClr>
              </a:solidFill>
            </a:endParaRPr>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6</a:t>
            </a:fld>
            <a:endParaRPr lang="pt-BR" dirty="0"/>
          </a:p>
        </p:txBody>
      </p:sp>
    </p:spTree>
    <p:extLst>
      <p:ext uri="{BB962C8B-B14F-4D97-AF65-F5344CB8AC3E}">
        <p14:creationId xmlns:p14="http://schemas.microsoft.com/office/powerpoint/2010/main" val="38520975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30442"/>
            <a:ext cx="11569700" cy="5262563"/>
          </a:xfrm>
        </p:spPr>
        <p:txBody>
          <a:bodyPr/>
          <a:lstStyle/>
          <a:p>
            <a:r>
              <a:rPr lang="pt-BR" dirty="0" smtClean="0"/>
              <a:t>Características da Informação Contábil</a:t>
            </a:r>
          </a:p>
          <a:p>
            <a:endParaRPr lang="pt-BR" dirty="0"/>
          </a:p>
          <a:p>
            <a:pPr lvl="1">
              <a:defRPr/>
            </a:pPr>
            <a:r>
              <a:rPr lang="pt-BR" dirty="0">
                <a:solidFill>
                  <a:schemeClr val="tx1">
                    <a:lumMod val="75000"/>
                    <a:lumOff val="25000"/>
                  </a:schemeClr>
                </a:solidFill>
              </a:rPr>
              <a:t>A Resolução CFC n. 750/93 estabeleceu os Princípios Fundamentais de Contabilidade:</a:t>
            </a:r>
          </a:p>
          <a:p>
            <a:pPr lvl="2">
              <a:defRPr/>
            </a:pPr>
            <a:r>
              <a:rPr lang="pt-BR" dirty="0">
                <a:solidFill>
                  <a:schemeClr val="tx1">
                    <a:lumMod val="75000"/>
                    <a:lumOff val="25000"/>
                  </a:schemeClr>
                </a:solidFill>
              </a:rPr>
              <a:t>Entidade;</a:t>
            </a:r>
          </a:p>
          <a:p>
            <a:pPr lvl="2">
              <a:defRPr/>
            </a:pPr>
            <a:r>
              <a:rPr lang="pt-BR" dirty="0">
                <a:solidFill>
                  <a:schemeClr val="tx1">
                    <a:lumMod val="75000"/>
                    <a:lumOff val="25000"/>
                  </a:schemeClr>
                </a:solidFill>
              </a:rPr>
              <a:t>Continuidade;</a:t>
            </a:r>
          </a:p>
          <a:p>
            <a:pPr lvl="2">
              <a:defRPr/>
            </a:pPr>
            <a:r>
              <a:rPr lang="pt-BR" dirty="0">
                <a:solidFill>
                  <a:schemeClr val="tx1">
                    <a:lumMod val="75000"/>
                    <a:lumOff val="25000"/>
                  </a:schemeClr>
                </a:solidFill>
              </a:rPr>
              <a:t>Oportunidade;</a:t>
            </a:r>
          </a:p>
          <a:p>
            <a:pPr lvl="2">
              <a:defRPr/>
            </a:pPr>
            <a:r>
              <a:rPr lang="pt-BR" dirty="0">
                <a:solidFill>
                  <a:schemeClr val="tx1">
                    <a:lumMod val="75000"/>
                    <a:lumOff val="25000"/>
                  </a:schemeClr>
                </a:solidFill>
              </a:rPr>
              <a:t>Registro pelo valor original;</a:t>
            </a:r>
          </a:p>
          <a:p>
            <a:pPr lvl="2">
              <a:defRPr/>
            </a:pPr>
            <a:r>
              <a:rPr lang="pt-BR" dirty="0">
                <a:solidFill>
                  <a:schemeClr val="tx1">
                    <a:lumMod val="75000"/>
                    <a:lumOff val="25000"/>
                  </a:schemeClr>
                </a:solidFill>
              </a:rPr>
              <a:t>Atualização monetária;</a:t>
            </a:r>
          </a:p>
          <a:p>
            <a:pPr lvl="2">
              <a:defRPr/>
            </a:pPr>
            <a:r>
              <a:rPr lang="pt-BR" dirty="0">
                <a:solidFill>
                  <a:schemeClr val="tx1">
                    <a:lumMod val="75000"/>
                    <a:lumOff val="25000"/>
                  </a:schemeClr>
                </a:solidFill>
              </a:rPr>
              <a:t>Competência;</a:t>
            </a:r>
          </a:p>
          <a:p>
            <a:pPr lvl="2">
              <a:defRPr/>
            </a:pPr>
            <a:r>
              <a:rPr lang="pt-BR" dirty="0">
                <a:solidFill>
                  <a:schemeClr val="tx1">
                    <a:lumMod val="75000"/>
                    <a:lumOff val="25000"/>
                  </a:schemeClr>
                </a:solidFill>
              </a:rPr>
              <a:t>Prudência;</a:t>
            </a:r>
          </a:p>
          <a:p>
            <a:endParaRPr lang="pt-BR" dirty="0" smtClean="0"/>
          </a:p>
          <a:p>
            <a:pPr lvl="1"/>
            <a:r>
              <a:rPr lang="pt-BR" altLang="pt-BR" dirty="0"/>
              <a:t>Resolução CFC n. 750/93 – representam os pressupostos básicos que fundamentam a escrituração e elaboração de demonstrações contábeis.</a:t>
            </a:r>
          </a:p>
          <a:p>
            <a:pPr lvl="1"/>
            <a:endParaRPr lang="pt-BR" altLang="pt-BR" dirty="0" smtClean="0"/>
          </a:p>
          <a:p>
            <a:pPr lvl="1"/>
            <a:r>
              <a:rPr lang="pt-BR" altLang="pt-BR" dirty="0" smtClean="0"/>
              <a:t>Resolução </a:t>
            </a:r>
            <a:r>
              <a:rPr lang="pt-BR" altLang="pt-BR" dirty="0"/>
              <a:t>CFC n. 774/94 – Representa o apêndice sobre os Princípios Fundamentais de Contabilidade (esclarece a Resolução CFC n. 750/93)</a:t>
            </a:r>
          </a:p>
          <a:p>
            <a:endParaRPr lang="pt-BR" dirty="0" smtClean="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7</a:t>
            </a:fld>
            <a:endParaRPr lang="pt-BR" dirty="0"/>
          </a:p>
        </p:txBody>
      </p:sp>
    </p:spTree>
    <p:extLst>
      <p:ext uri="{BB962C8B-B14F-4D97-AF65-F5344CB8AC3E}">
        <p14:creationId xmlns:p14="http://schemas.microsoft.com/office/powerpoint/2010/main" val="9748302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62526"/>
            <a:ext cx="11569700" cy="5262563"/>
          </a:xfrm>
        </p:spPr>
        <p:txBody>
          <a:bodyPr/>
          <a:lstStyle/>
          <a:p>
            <a:r>
              <a:rPr lang="pt-BR" b="1" dirty="0"/>
              <a:t>Características da Informação Contábil</a:t>
            </a:r>
          </a:p>
          <a:p>
            <a:endParaRPr lang="pt-BR" b="1" dirty="0" smtClean="0"/>
          </a:p>
          <a:p>
            <a:pPr lvl="1"/>
            <a:r>
              <a:rPr lang="pt-BR" dirty="0"/>
              <a:t>Para que as informações constantes nos relatórios </a:t>
            </a:r>
            <a:r>
              <a:rPr lang="pt-BR" dirty="0" smtClean="0"/>
              <a:t>contábil financeiros</a:t>
            </a:r>
            <a:r>
              <a:rPr lang="pt-BR" dirty="0"/>
              <a:t> </a:t>
            </a:r>
            <a:r>
              <a:rPr lang="pt-BR" dirty="0" smtClean="0"/>
              <a:t>de </a:t>
            </a:r>
            <a:r>
              <a:rPr lang="pt-BR" dirty="0"/>
              <a:t>propósito geral sejam úteis aos investidores, </a:t>
            </a:r>
            <a:r>
              <a:rPr lang="pt-BR" dirty="0" smtClean="0"/>
              <a:t>elas precisam </a:t>
            </a:r>
            <a:r>
              <a:rPr lang="pt-BR" dirty="0"/>
              <a:t>ser capaz de influenciar na decisão dos usuários</a:t>
            </a:r>
            <a:r>
              <a:rPr lang="pt-BR" dirty="0" smtClean="0"/>
              <a:t>.</a:t>
            </a:r>
          </a:p>
          <a:p>
            <a:pPr lvl="1"/>
            <a:r>
              <a:rPr lang="pt-BR" dirty="0"/>
              <a:t>Assim, as características qualitativas são atributos </a:t>
            </a:r>
            <a:r>
              <a:rPr lang="pt-BR" dirty="0" smtClean="0"/>
              <a:t>fundamentais para </a:t>
            </a:r>
            <a:r>
              <a:rPr lang="pt-BR" dirty="0"/>
              <a:t>que as informações atinjam o objetivo definido </a:t>
            </a:r>
            <a:r>
              <a:rPr lang="pt-BR" dirty="0" smtClean="0"/>
              <a:t>anteriormente Tais </a:t>
            </a:r>
            <a:r>
              <a:rPr lang="pt-BR" dirty="0"/>
              <a:t>características qualitativas são divididas em dois grupos, </a:t>
            </a:r>
            <a:r>
              <a:rPr lang="pt-BR" dirty="0" smtClean="0"/>
              <a:t>as fundamentais </a:t>
            </a:r>
            <a:r>
              <a:rPr lang="pt-BR" dirty="0"/>
              <a:t>e as de </a:t>
            </a:r>
            <a:r>
              <a:rPr lang="pt-BR" dirty="0" smtClean="0"/>
              <a:t>melhoria</a:t>
            </a:r>
          </a:p>
          <a:p>
            <a:pPr lvl="1"/>
            <a:endParaRPr lang="pt-BR" dirty="0"/>
          </a:p>
          <a:p>
            <a:pPr marL="0" indent="0">
              <a:buNone/>
            </a:pPr>
            <a:r>
              <a:rPr lang="pt-BR" b="1" dirty="0" smtClean="0"/>
              <a:t>Características </a:t>
            </a:r>
            <a:r>
              <a:rPr lang="pt-BR" b="1" dirty="0"/>
              <a:t>qualitativas fundamentais</a:t>
            </a:r>
          </a:p>
          <a:p>
            <a:endParaRPr lang="pt-BR" dirty="0" smtClean="0"/>
          </a:p>
          <a:p>
            <a:pPr lvl="1"/>
            <a:r>
              <a:rPr lang="pt-BR" dirty="0" smtClean="0"/>
              <a:t>As </a:t>
            </a:r>
            <a:r>
              <a:rPr lang="pt-BR" dirty="0"/>
              <a:t>características qualitativas são fundamentais e devem </a:t>
            </a:r>
            <a:r>
              <a:rPr lang="pt-BR" dirty="0" smtClean="0"/>
              <a:t>sempre existir </a:t>
            </a:r>
            <a:r>
              <a:rPr lang="pt-BR" dirty="0"/>
              <a:t>concomitantemente, não podendo nenhuma delas </a:t>
            </a:r>
            <a:r>
              <a:rPr lang="pt-BR" dirty="0" smtClean="0"/>
              <a:t>ser deixada </a:t>
            </a:r>
            <a:r>
              <a:rPr lang="pt-BR" dirty="0"/>
              <a:t>de lado, ignorada ou colocada em segundo plano. </a:t>
            </a:r>
            <a:r>
              <a:rPr lang="pt-BR" dirty="0" smtClean="0"/>
              <a:t>São elas</a:t>
            </a:r>
            <a:r>
              <a:rPr lang="pt-BR" dirty="0"/>
              <a:t>: </a:t>
            </a:r>
            <a:r>
              <a:rPr lang="pt-BR" dirty="0" smtClean="0"/>
              <a:t>relevância, materialidade e </a:t>
            </a:r>
            <a:r>
              <a:rPr lang="pt-BR" dirty="0"/>
              <a:t>representação fidedigna.</a:t>
            </a:r>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8</a:t>
            </a:fld>
            <a:endParaRPr lang="pt-BR" dirty="0"/>
          </a:p>
        </p:txBody>
      </p:sp>
    </p:spTree>
    <p:extLst>
      <p:ext uri="{BB962C8B-B14F-4D97-AF65-F5344CB8AC3E}">
        <p14:creationId xmlns:p14="http://schemas.microsoft.com/office/powerpoint/2010/main" val="31905189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b="1" dirty="0" smtClean="0"/>
              <a:t>Relevância</a:t>
            </a:r>
          </a:p>
          <a:p>
            <a:endParaRPr lang="pt-BR" dirty="0" smtClean="0"/>
          </a:p>
          <a:p>
            <a:pPr lvl="1"/>
            <a:r>
              <a:rPr lang="pt-BR" dirty="0" smtClean="0"/>
              <a:t>Informação </a:t>
            </a:r>
            <a:r>
              <a:rPr lang="pt-BR" dirty="0"/>
              <a:t>contábil-financeira relevante é aquela capaz de </a:t>
            </a:r>
            <a:r>
              <a:rPr lang="pt-BR" dirty="0" smtClean="0"/>
              <a:t>fazer diferença </a:t>
            </a:r>
            <a:r>
              <a:rPr lang="pt-BR" dirty="0"/>
              <a:t>nas decisões que possam ser tomadas pelos usuários</a:t>
            </a:r>
            <a:r>
              <a:rPr lang="pt-BR" dirty="0" smtClean="0"/>
              <a:t>, especialmente </a:t>
            </a:r>
            <a:r>
              <a:rPr lang="pt-BR" dirty="0"/>
              <a:t>se possuir valor preditivo, confirmatório ou ambos.</a:t>
            </a:r>
          </a:p>
          <a:p>
            <a:pPr lvl="1"/>
            <a:r>
              <a:rPr lang="pt-BR" dirty="0" smtClean="0"/>
              <a:t>A </a:t>
            </a:r>
            <a:r>
              <a:rPr lang="pt-BR" dirty="0"/>
              <a:t>informação contábil-financeira não precisa ser uma predição </a:t>
            </a:r>
            <a:r>
              <a:rPr lang="pt-BR" dirty="0" smtClean="0"/>
              <a:t>ou uma </a:t>
            </a:r>
            <a:r>
              <a:rPr lang="pt-BR" dirty="0"/>
              <a:t>projeção para possuir valor preditivo. Basta que ela possa </a:t>
            </a:r>
            <a:r>
              <a:rPr lang="pt-BR" dirty="0" smtClean="0"/>
              <a:t>ser utilizada </a:t>
            </a:r>
            <a:r>
              <a:rPr lang="pt-BR" dirty="0"/>
              <a:t>pelos usuários em processos que visam predizer </a:t>
            </a:r>
            <a:r>
              <a:rPr lang="pt-BR" dirty="0" smtClean="0"/>
              <a:t>futuros resultados</a:t>
            </a:r>
            <a:r>
              <a:rPr lang="pt-BR" dirty="0"/>
              <a:t>, ou seja, a informação contábil-financeira com </a:t>
            </a:r>
            <a:r>
              <a:rPr lang="pt-BR" dirty="0" smtClean="0"/>
              <a:t>valor preditivo </a:t>
            </a:r>
            <a:r>
              <a:rPr lang="pt-BR" dirty="0"/>
              <a:t>é empregada pelos usuários ao fazerem suas </a:t>
            </a:r>
            <a:r>
              <a:rPr lang="pt-BR" dirty="0" smtClean="0"/>
              <a:t>próprias predições</a:t>
            </a:r>
            <a:r>
              <a:rPr lang="pt-BR" dirty="0"/>
              <a:t>. Assim, o objetivo da informação contábil-financeira </a:t>
            </a:r>
            <a:r>
              <a:rPr lang="pt-BR" dirty="0" smtClean="0"/>
              <a:t>não é </a:t>
            </a:r>
            <a:r>
              <a:rPr lang="pt-BR" dirty="0"/>
              <a:t>fornecer previsões sobre o fluxo de caixa futuro nem sobre </a:t>
            </a:r>
            <a:r>
              <a:rPr lang="pt-BR" dirty="0" smtClean="0"/>
              <a:t>o valor </a:t>
            </a:r>
            <a:r>
              <a:rPr lang="pt-BR" dirty="0"/>
              <a:t>da empresa, mas sim fornecer subsídios para que </a:t>
            </a:r>
            <a:r>
              <a:rPr lang="pt-BR" dirty="0" smtClean="0"/>
              <a:t>eles sejam apurados.</a:t>
            </a:r>
          </a:p>
          <a:p>
            <a:pPr lvl="1"/>
            <a:r>
              <a:rPr lang="pt-BR" dirty="0" smtClean="0"/>
              <a:t>Quanto </a:t>
            </a:r>
            <a:r>
              <a:rPr lang="pt-BR" dirty="0"/>
              <a:t>ao valor confirmatório, ele existe se a informação servir </a:t>
            </a:r>
            <a:r>
              <a:rPr lang="pt-BR" dirty="0" smtClean="0"/>
              <a:t>de </a:t>
            </a:r>
            <a:r>
              <a:rPr lang="pt-BR" i="1" dirty="0" smtClean="0"/>
              <a:t>feedback </a:t>
            </a:r>
            <a:r>
              <a:rPr lang="pt-BR" dirty="0"/>
              <a:t>para avaliações prévias, no intuito de confirmá-las </a:t>
            </a:r>
            <a:r>
              <a:rPr lang="pt-BR" dirty="0" smtClean="0"/>
              <a:t>ou alterá-las</a:t>
            </a:r>
            <a:r>
              <a:rPr lang="pt-BR" dirty="0"/>
              <a:t>. A informação que tem valor preditivo muitas </a:t>
            </a:r>
            <a:r>
              <a:rPr lang="pt-BR" dirty="0" smtClean="0"/>
              <a:t>vezes também </a:t>
            </a:r>
            <a:r>
              <a:rPr lang="pt-BR" dirty="0"/>
              <a:t>tem valor confirmatório. Por exemplo, a informação </a:t>
            </a:r>
            <a:r>
              <a:rPr lang="pt-BR" dirty="0" smtClean="0"/>
              <a:t>sobre receita </a:t>
            </a:r>
            <a:r>
              <a:rPr lang="pt-BR" dirty="0"/>
              <a:t>para o ano corrente, a qual pode ser utilizada como </a:t>
            </a:r>
            <a:r>
              <a:rPr lang="pt-BR" dirty="0" smtClean="0"/>
              <a:t>base para </a:t>
            </a:r>
            <a:r>
              <a:rPr lang="pt-BR" dirty="0"/>
              <a:t>predizer receitas para anos futuros, também pode </a:t>
            </a:r>
            <a:r>
              <a:rPr lang="pt-BR" dirty="0" smtClean="0"/>
              <a:t>ser comparada </a:t>
            </a:r>
            <a:r>
              <a:rPr lang="pt-BR" dirty="0"/>
              <a:t>com predições de receita para o ano corrente </a:t>
            </a:r>
            <a:r>
              <a:rPr lang="pt-BR" dirty="0" smtClean="0"/>
              <a:t>que foram </a:t>
            </a:r>
            <a:r>
              <a:rPr lang="pt-BR" dirty="0"/>
              <a:t>feitas nos anos anteriores.</a:t>
            </a:r>
          </a:p>
          <a:p>
            <a:pPr lvl="1"/>
            <a:r>
              <a:rPr lang="pt-BR" dirty="0"/>
              <a:t>Os resultados dessas comparações podem auxiliar os usuários </a:t>
            </a:r>
            <a:r>
              <a:rPr lang="pt-BR" dirty="0" smtClean="0"/>
              <a:t>a corrigirem </a:t>
            </a:r>
            <a:r>
              <a:rPr lang="pt-BR" dirty="0"/>
              <a:t>e melhorarem os processos que foram utilizados </a:t>
            </a:r>
            <a:r>
              <a:rPr lang="pt-BR" dirty="0" smtClean="0"/>
              <a:t>para fazer </a:t>
            </a:r>
            <a:r>
              <a:rPr lang="pt-BR" dirty="0"/>
              <a:t>tais predições.</a:t>
            </a:r>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9</a:t>
            </a:fld>
            <a:endParaRPr lang="pt-BR" dirty="0"/>
          </a:p>
        </p:txBody>
      </p:sp>
    </p:spTree>
    <p:extLst>
      <p:ext uri="{BB962C8B-B14F-4D97-AF65-F5344CB8AC3E}">
        <p14:creationId xmlns:p14="http://schemas.microsoft.com/office/powerpoint/2010/main" val="5573222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30442"/>
            <a:ext cx="11569700" cy="5262563"/>
          </a:xfrm>
        </p:spPr>
        <p:txBody>
          <a:bodyPr>
            <a:normAutofit/>
          </a:bodyPr>
          <a:lstStyle/>
          <a:p>
            <a:r>
              <a:rPr lang="pt-BR" b="1" dirty="0" smtClean="0"/>
              <a:t>Materialidade</a:t>
            </a:r>
          </a:p>
          <a:p>
            <a:endParaRPr lang="pt-BR" dirty="0"/>
          </a:p>
          <a:p>
            <a:pPr lvl="1"/>
            <a:r>
              <a:rPr lang="pt-BR" dirty="0"/>
              <a:t>A materialidade não é, por si só, uma característica </a:t>
            </a:r>
            <a:r>
              <a:rPr lang="pt-BR" dirty="0" smtClean="0"/>
              <a:t>qualitativa fundamental</a:t>
            </a:r>
            <a:r>
              <a:rPr lang="pt-BR" dirty="0"/>
              <a:t>, mas uma especificidade da relevância. A </a:t>
            </a:r>
            <a:r>
              <a:rPr lang="pt-BR" dirty="0" smtClean="0"/>
              <a:t>informação é </a:t>
            </a:r>
            <a:r>
              <a:rPr lang="pt-BR" dirty="0"/>
              <a:t>material se a sua omissão ou sua divulgação distorcida </a:t>
            </a:r>
            <a:r>
              <a:rPr lang="pt-BR" dirty="0" smtClean="0"/>
              <a:t>puder influenciar </a:t>
            </a:r>
            <a:r>
              <a:rPr lang="pt-BR" dirty="0"/>
              <a:t>nas decisões dos usuários. Em outras palavras, </a:t>
            </a:r>
            <a:r>
              <a:rPr lang="pt-BR" dirty="0" smtClean="0"/>
              <a:t>a materialidade </a:t>
            </a:r>
            <a:r>
              <a:rPr lang="pt-BR" dirty="0"/>
              <a:t>é um aspecto específico da relevância baseado </a:t>
            </a:r>
            <a:r>
              <a:rPr lang="pt-BR" dirty="0" smtClean="0"/>
              <a:t>na natureza </a:t>
            </a:r>
            <a:r>
              <a:rPr lang="pt-BR" dirty="0"/>
              <a:t>ou na magnitude, ou em ambos, dos itens do </a:t>
            </a:r>
            <a:r>
              <a:rPr lang="pt-BR" dirty="0" smtClean="0"/>
              <a:t>relatório contábil-financeiro.</a:t>
            </a:r>
          </a:p>
          <a:p>
            <a:pPr lvl="1"/>
            <a:r>
              <a:rPr lang="pt-BR" dirty="0" smtClean="0"/>
              <a:t>A </a:t>
            </a:r>
            <a:r>
              <a:rPr lang="pt-BR" dirty="0"/>
              <a:t>avaliação da relevância de uma informação não pode </a:t>
            </a:r>
            <a:r>
              <a:rPr lang="pt-BR" dirty="0" smtClean="0"/>
              <a:t>estar exclusivamente </a:t>
            </a:r>
            <a:r>
              <a:rPr lang="pt-BR" dirty="0"/>
              <a:t>atrelada à sua materialidade, à magnitude </a:t>
            </a:r>
            <a:r>
              <a:rPr lang="pt-BR" dirty="0" smtClean="0"/>
              <a:t>do número </a:t>
            </a:r>
            <a:r>
              <a:rPr lang="pt-BR" dirty="0"/>
              <a:t>referente à essa informação, mas deve considerar </a:t>
            </a:r>
            <a:r>
              <a:rPr lang="pt-BR" dirty="0" smtClean="0"/>
              <a:t>sua natureza </a:t>
            </a:r>
            <a:r>
              <a:rPr lang="pt-BR" dirty="0"/>
              <a:t>e conteúdo informacional.</a:t>
            </a:r>
          </a:p>
          <a:p>
            <a:pPr lvl="1"/>
            <a:r>
              <a:rPr lang="pt-BR" dirty="0"/>
              <a:t>A magnitude de um número pode não ser grande, mas </a:t>
            </a:r>
            <a:r>
              <a:rPr lang="pt-BR" dirty="0" smtClean="0"/>
              <a:t>sua natureza </a:t>
            </a:r>
            <a:r>
              <a:rPr lang="pt-BR" dirty="0"/>
              <a:t>pode trazer relevantes entendimentos. Vejamos </a:t>
            </a:r>
            <a:r>
              <a:rPr lang="pt-BR" dirty="0" smtClean="0"/>
              <a:t>um exemplo</a:t>
            </a:r>
            <a:r>
              <a:rPr lang="pt-BR" dirty="0"/>
              <a:t>: uma entidade qualquer possuía uma dívida no </a:t>
            </a:r>
            <a:r>
              <a:rPr lang="pt-BR" dirty="0" smtClean="0"/>
              <a:t>montante de </a:t>
            </a:r>
            <a:r>
              <a:rPr lang="pt-BR" dirty="0"/>
              <a:t>$25 milhões nos últimos três anos. Todavia, essa dívida </a:t>
            </a:r>
            <a:r>
              <a:rPr lang="pt-BR" dirty="0" smtClean="0"/>
              <a:t>foi paga </a:t>
            </a:r>
            <a:r>
              <a:rPr lang="pt-BR" dirty="0"/>
              <a:t>com sucesso e há somente um saldo em aberto de $10 mil.</a:t>
            </a:r>
          </a:p>
          <a:p>
            <a:pPr lvl="1"/>
            <a:r>
              <a:rPr lang="pt-BR" dirty="0"/>
              <a:t>Esse saldo, considerando o total do passivo da entidade </a:t>
            </a:r>
            <a:r>
              <a:rPr lang="pt-BR" dirty="0" smtClean="0"/>
              <a:t>pode representar </a:t>
            </a:r>
            <a:r>
              <a:rPr lang="pt-BR" dirty="0"/>
              <a:t>1% ou menos, portanto, de valor material </a:t>
            </a:r>
            <a:r>
              <a:rPr lang="pt-BR" dirty="0" smtClean="0"/>
              <a:t>irrisório podendo </a:t>
            </a:r>
            <a:r>
              <a:rPr lang="pt-BR" dirty="0"/>
              <a:t>até mesmo ser agrupada em uma conta de “</a:t>
            </a:r>
            <a:r>
              <a:rPr lang="pt-BR" dirty="0" smtClean="0"/>
              <a:t>outros passivos</a:t>
            </a:r>
            <a:r>
              <a:rPr lang="pt-BR" dirty="0"/>
              <a:t>”; todavia, a entidade pode entender que a </a:t>
            </a:r>
            <a:r>
              <a:rPr lang="pt-BR" dirty="0" smtClean="0"/>
              <a:t>divulgação desse </a:t>
            </a:r>
            <a:r>
              <a:rPr lang="pt-BR" dirty="0"/>
              <a:t>número imaterial dá ênfase a uma relevante informação </a:t>
            </a:r>
            <a:r>
              <a:rPr lang="pt-BR" dirty="0" smtClean="0"/>
              <a:t>de que </a:t>
            </a:r>
            <a:r>
              <a:rPr lang="pt-BR" dirty="0"/>
              <a:t>a entidade conseguiu com sucesso pagar a sua </a:t>
            </a:r>
            <a:r>
              <a:rPr lang="pt-BR" dirty="0" smtClean="0"/>
              <a:t>dívida.</a:t>
            </a:r>
          </a:p>
          <a:p>
            <a:pPr lvl="1"/>
            <a:r>
              <a:rPr lang="pt-BR" dirty="0" smtClean="0"/>
              <a:t>Portanto</a:t>
            </a:r>
            <a:r>
              <a:rPr lang="pt-BR" dirty="0"/>
              <a:t>, apesar de imaterial, é uma informação relevante.</a:t>
            </a:r>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10</a:t>
            </a:fld>
            <a:endParaRPr lang="pt-BR" dirty="0"/>
          </a:p>
        </p:txBody>
      </p:sp>
    </p:spTree>
    <p:extLst>
      <p:ext uri="{BB962C8B-B14F-4D97-AF65-F5344CB8AC3E}">
        <p14:creationId xmlns:p14="http://schemas.microsoft.com/office/powerpoint/2010/main" val="154484990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b="1" dirty="0" smtClean="0"/>
              <a:t>Representação fidedigna</a:t>
            </a:r>
          </a:p>
          <a:p>
            <a:endParaRPr lang="pt-BR" dirty="0" smtClean="0"/>
          </a:p>
          <a:p>
            <a:pPr lvl="1"/>
            <a:r>
              <a:rPr lang="pt-BR" dirty="0" smtClean="0"/>
              <a:t>Para </a:t>
            </a:r>
            <a:r>
              <a:rPr lang="pt-BR" dirty="0"/>
              <a:t>ser útil, a informação além de ser relevante, deve </a:t>
            </a:r>
            <a:r>
              <a:rPr lang="pt-BR" dirty="0" smtClean="0"/>
              <a:t>ser representar </a:t>
            </a:r>
            <a:r>
              <a:rPr lang="pt-BR" dirty="0"/>
              <a:t>fidedignamente as transações e, consequentemente</a:t>
            </a:r>
            <a:r>
              <a:rPr lang="pt-BR" dirty="0" smtClean="0"/>
              <a:t>, a </a:t>
            </a:r>
            <a:r>
              <a:rPr lang="pt-BR" dirty="0"/>
              <a:t>estrutura patrimonial e financeira e desempenho da entidade. </a:t>
            </a:r>
            <a:r>
              <a:rPr lang="pt-BR" dirty="0" smtClean="0"/>
              <a:t>E essa </a:t>
            </a:r>
            <a:r>
              <a:rPr lang="pt-BR" dirty="0"/>
              <a:t>representação fidedigna, para que seja alcançada, </a:t>
            </a:r>
            <a:r>
              <a:rPr lang="pt-BR" dirty="0" smtClean="0"/>
              <a:t>deve levar </a:t>
            </a:r>
            <a:r>
              <a:rPr lang="pt-BR" dirty="0"/>
              <a:t>em conta a essência econômica dos fatos representados, </a:t>
            </a:r>
            <a:r>
              <a:rPr lang="pt-BR" dirty="0" smtClean="0"/>
              <a:t>e </a:t>
            </a:r>
            <a:r>
              <a:rPr lang="pt-BR" dirty="0"/>
              <a:t>não sua forma jurídica. Apesar da essência sobre a forma ter </a:t>
            </a:r>
            <a:r>
              <a:rPr lang="pt-BR" dirty="0" smtClean="0"/>
              <a:t>sido formalmente </a:t>
            </a:r>
            <a:r>
              <a:rPr lang="pt-BR" dirty="0"/>
              <a:t>retirada da estrutura conceitual na sua última revisão</a:t>
            </a:r>
            <a:r>
              <a:rPr lang="pt-BR" dirty="0" smtClean="0"/>
              <a:t>, isso </a:t>
            </a:r>
            <a:r>
              <a:rPr lang="pt-BR" dirty="0"/>
              <a:t>foi realizado pois ela é considerada redundante frente </a:t>
            </a:r>
            <a:r>
              <a:rPr lang="pt-BR" dirty="0" smtClean="0"/>
              <a:t>à existência </a:t>
            </a:r>
            <a:r>
              <a:rPr lang="pt-BR" dirty="0"/>
              <a:t>da representação fidedigna. Todavia, é </a:t>
            </a:r>
            <a:r>
              <a:rPr lang="pt-BR" dirty="0" smtClean="0"/>
              <a:t>importante ressaltar </a:t>
            </a:r>
            <a:r>
              <a:rPr lang="pt-BR" dirty="0"/>
              <a:t>que ela é condição </a:t>
            </a:r>
            <a:r>
              <a:rPr lang="pt-BR" i="1" dirty="0"/>
              <a:t>si ne qua non </a:t>
            </a:r>
            <a:r>
              <a:rPr lang="pt-BR" dirty="0"/>
              <a:t>para que </a:t>
            </a:r>
            <a:r>
              <a:rPr lang="pt-BR" dirty="0" smtClean="0"/>
              <a:t>a representação </a:t>
            </a:r>
            <a:r>
              <a:rPr lang="pt-BR" dirty="0"/>
              <a:t>fidedigna seja alcançada.</a:t>
            </a:r>
          </a:p>
          <a:p>
            <a:pPr lvl="1"/>
            <a:endParaRPr lang="pt-BR" dirty="0" smtClean="0"/>
          </a:p>
          <a:p>
            <a:pPr lvl="1"/>
            <a:r>
              <a:rPr lang="pt-BR" dirty="0" smtClean="0"/>
              <a:t>Ainda</a:t>
            </a:r>
            <a:r>
              <a:rPr lang="pt-BR" dirty="0"/>
              <a:t>, ser fidedigna, a representação da realidade </a:t>
            </a:r>
            <a:r>
              <a:rPr lang="pt-BR" dirty="0" smtClean="0"/>
              <a:t>retratada precisa </a:t>
            </a:r>
            <a:r>
              <a:rPr lang="pt-BR" dirty="0"/>
              <a:t>ser completa, neutra e livre de erro. Para que ela </a:t>
            </a:r>
            <a:r>
              <a:rPr lang="pt-BR" dirty="0" smtClean="0"/>
              <a:t>seja completa</a:t>
            </a:r>
            <a:r>
              <a:rPr lang="pt-BR" dirty="0"/>
              <a:t>, toda a informação necessária para que o </a:t>
            </a:r>
            <a:r>
              <a:rPr lang="pt-BR" dirty="0" smtClean="0"/>
              <a:t>usuário compreenda </a:t>
            </a:r>
            <a:r>
              <a:rPr lang="pt-BR" dirty="0"/>
              <a:t>o fenômeno retratado, incluindo todas as </a:t>
            </a:r>
            <a:r>
              <a:rPr lang="pt-BR" dirty="0" smtClean="0"/>
              <a:t>descrições e </a:t>
            </a:r>
            <a:r>
              <a:rPr lang="pt-BR" dirty="0"/>
              <a:t>explicações necessárias devem estar presentes. Já </a:t>
            </a:r>
            <a:r>
              <a:rPr lang="pt-BR" dirty="0" smtClean="0"/>
              <a:t>Informação neutra </a:t>
            </a:r>
            <a:r>
              <a:rPr lang="pt-BR" dirty="0"/>
              <a:t>não significa informação sem propósito ou sem </a:t>
            </a:r>
            <a:r>
              <a:rPr lang="pt-BR" dirty="0" smtClean="0"/>
              <a:t>influência no </a:t>
            </a:r>
            <a:r>
              <a:rPr lang="pt-BR" dirty="0"/>
              <a:t>comportamento dos usuários, significa que a informação </a:t>
            </a:r>
            <a:r>
              <a:rPr lang="pt-BR" dirty="0" smtClean="0"/>
              <a:t>é desprovida </a:t>
            </a:r>
            <a:r>
              <a:rPr lang="pt-BR" dirty="0"/>
              <a:t>de viés na sua seleção ou apresentação. Por fim, </a:t>
            </a:r>
            <a:r>
              <a:rPr lang="pt-BR" dirty="0" smtClean="0"/>
              <a:t>um retrato </a:t>
            </a:r>
            <a:r>
              <a:rPr lang="pt-BR" dirty="0"/>
              <a:t>da realidade econômica livre de erros significa </a:t>
            </a:r>
            <a:r>
              <a:rPr lang="pt-BR" dirty="0" smtClean="0"/>
              <a:t>inexistência de </a:t>
            </a:r>
            <a:r>
              <a:rPr lang="pt-BR" dirty="0"/>
              <a:t>erros ou omissões na informação e seu processo de </a:t>
            </a:r>
            <a:r>
              <a:rPr lang="pt-BR" dirty="0" smtClean="0"/>
              <a:t>obtenção que </a:t>
            </a:r>
            <a:r>
              <a:rPr lang="pt-BR" dirty="0"/>
              <a:t>possam levar à sua distorção e, portanto, não </a:t>
            </a:r>
            <a:r>
              <a:rPr lang="pt-BR" dirty="0" smtClean="0"/>
              <a:t>representação fidedigna </a:t>
            </a:r>
            <a:r>
              <a:rPr lang="pt-BR" dirty="0"/>
              <a:t>da realidade</a:t>
            </a:r>
            <a:r>
              <a:rPr lang="pt-BR" dirty="0" smtClean="0"/>
              <a:t>.</a:t>
            </a:r>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11</a:t>
            </a:fld>
            <a:endParaRPr lang="pt-BR" dirty="0"/>
          </a:p>
        </p:txBody>
      </p:sp>
    </p:spTree>
    <p:extLst>
      <p:ext uri="{BB962C8B-B14F-4D97-AF65-F5344CB8AC3E}">
        <p14:creationId xmlns:p14="http://schemas.microsoft.com/office/powerpoint/2010/main" val="3203975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b="1" dirty="0" smtClean="0"/>
              <a:t>Representação fidedigna</a:t>
            </a:r>
          </a:p>
          <a:p>
            <a:pPr lvl="1"/>
            <a:endParaRPr lang="pt-BR" dirty="0" smtClean="0"/>
          </a:p>
          <a:p>
            <a:pPr lvl="2"/>
            <a:r>
              <a:rPr lang="pt-BR" dirty="0"/>
              <a:t>“As demonstrações contábeis não são neutras se, pela escolha </a:t>
            </a:r>
            <a:r>
              <a:rPr lang="pt-BR" dirty="0" smtClean="0"/>
              <a:t>ou apresentação </a:t>
            </a:r>
            <a:r>
              <a:rPr lang="pt-BR" dirty="0"/>
              <a:t>da informação, elas induzirem a tomada de decisão </a:t>
            </a:r>
            <a:r>
              <a:rPr lang="pt-BR" dirty="0" smtClean="0"/>
              <a:t>ou um </a:t>
            </a:r>
            <a:r>
              <a:rPr lang="pt-BR" dirty="0"/>
              <a:t>julgamento, visando atingir um resultado ou </a:t>
            </a:r>
            <a:r>
              <a:rPr lang="pt-BR" dirty="0" smtClean="0"/>
              <a:t>desfecho predeterminado</a:t>
            </a:r>
            <a:r>
              <a:rPr lang="pt-BR" dirty="0"/>
              <a:t>.” (FIPECAFI, 2010, p39</a:t>
            </a:r>
            <a:r>
              <a:rPr lang="pt-BR" dirty="0" smtClean="0"/>
              <a:t>).</a:t>
            </a:r>
          </a:p>
          <a:p>
            <a:pPr lvl="2"/>
            <a:r>
              <a:rPr lang="pt-BR" dirty="0" smtClean="0"/>
              <a:t>“</a:t>
            </a:r>
            <a:r>
              <a:rPr lang="pt-BR" dirty="0"/>
              <a:t>A maioria das informações contábeis está sujeita a algum risco de </a:t>
            </a:r>
            <a:r>
              <a:rPr lang="pt-BR" dirty="0" smtClean="0"/>
              <a:t>ser menos </a:t>
            </a:r>
            <a:r>
              <a:rPr lang="pt-BR" dirty="0"/>
              <a:t>do que uma representação fiel daquilo que se propõe a retratar</a:t>
            </a:r>
            <a:r>
              <a:rPr lang="pt-BR" dirty="0" smtClean="0"/>
              <a:t>. Isso </a:t>
            </a:r>
            <a:r>
              <a:rPr lang="pt-BR" dirty="0"/>
              <a:t>pode decorrer de dificuldades inerentes à identificação </a:t>
            </a:r>
            <a:r>
              <a:rPr lang="pt-BR" dirty="0" smtClean="0"/>
              <a:t>das transações </a:t>
            </a:r>
            <a:r>
              <a:rPr lang="pt-BR" dirty="0"/>
              <a:t>ou outros eventos a serem avaliados ou à identificação </a:t>
            </a:r>
            <a:r>
              <a:rPr lang="pt-BR" dirty="0" smtClean="0"/>
              <a:t>e aplicação </a:t>
            </a:r>
            <a:r>
              <a:rPr lang="pt-BR" dirty="0"/>
              <a:t>de técnicas de mensuração e apresentação que </a:t>
            </a:r>
            <a:r>
              <a:rPr lang="pt-BR" dirty="0" smtClean="0"/>
              <a:t>possam transmitir</a:t>
            </a:r>
            <a:r>
              <a:rPr lang="pt-BR" dirty="0"/>
              <a:t>, adequadamente, informações que correspondam a </a:t>
            </a:r>
            <a:r>
              <a:rPr lang="pt-BR" dirty="0" smtClean="0"/>
              <a:t>tais transações </a:t>
            </a:r>
            <a:r>
              <a:rPr lang="pt-BR" dirty="0"/>
              <a:t>e eventos.” (FIPECAFI, 2010, p. 38</a:t>
            </a:r>
            <a:r>
              <a:rPr lang="pt-BR" dirty="0" smtClean="0"/>
              <a:t>).</a:t>
            </a:r>
          </a:p>
          <a:p>
            <a:pPr lvl="2"/>
            <a:endParaRPr lang="pt-BR" dirty="0" smtClean="0"/>
          </a:p>
          <a:p>
            <a:pPr lvl="1"/>
            <a:r>
              <a:rPr lang="pt-BR" dirty="0" smtClean="0"/>
              <a:t>Nesse </a:t>
            </a:r>
            <a:r>
              <a:rPr lang="pt-BR" dirty="0"/>
              <a:t>sentido, é importante ressaltar que um retrato livre de </a:t>
            </a:r>
            <a:r>
              <a:rPr lang="pt-BR" dirty="0" smtClean="0"/>
              <a:t>erros não </a:t>
            </a:r>
            <a:r>
              <a:rPr lang="pt-BR" dirty="0"/>
              <a:t>significa algo perfeitamente exato em todos os aspectos</a:t>
            </a:r>
            <a:r>
              <a:rPr lang="pt-BR" dirty="0" smtClean="0"/>
              <a:t>.</a:t>
            </a:r>
          </a:p>
          <a:p>
            <a:pPr lvl="1"/>
            <a:r>
              <a:rPr lang="pt-BR" dirty="0" smtClean="0"/>
              <a:t>A </a:t>
            </a:r>
            <a:r>
              <a:rPr lang="pt-BR" dirty="0"/>
              <a:t>contabilidade é permeada em quase a totalidade de </a:t>
            </a:r>
            <a:r>
              <a:rPr lang="pt-BR" dirty="0" smtClean="0"/>
              <a:t>suas representações </a:t>
            </a:r>
            <a:r>
              <a:rPr lang="pt-BR" dirty="0"/>
              <a:t>por estimativas. Precisão, exatidão numérica </a:t>
            </a:r>
            <a:r>
              <a:rPr lang="pt-BR" dirty="0" smtClean="0"/>
              <a:t>na grande </a:t>
            </a:r>
            <a:r>
              <a:rPr lang="pt-BR" dirty="0"/>
              <a:t>maioria das vezes não pode ser atingida integralmente</a:t>
            </a:r>
            <a:r>
              <a:rPr lang="pt-BR" dirty="0" smtClean="0"/>
              <a:t>. Veja-se</a:t>
            </a:r>
            <a:r>
              <a:rPr lang="pt-BR" dirty="0"/>
              <a:t>, por exemplo, o simples caso da depreciação: ela é </a:t>
            </a:r>
            <a:r>
              <a:rPr lang="pt-BR" dirty="0" smtClean="0"/>
              <a:t>exata ou </a:t>
            </a:r>
            <a:r>
              <a:rPr lang="pt-BR" dirty="0"/>
              <a:t>é uma estimativa de perda de valor? É uma estimativa, </a:t>
            </a:r>
            <a:r>
              <a:rPr lang="pt-BR" dirty="0" smtClean="0"/>
              <a:t>e portanto </a:t>
            </a:r>
            <a:r>
              <a:rPr lang="pt-BR" dirty="0"/>
              <a:t>passível de ser feita de forma incorreta. Entretanto, </a:t>
            </a:r>
            <a:r>
              <a:rPr lang="pt-BR" dirty="0" smtClean="0"/>
              <a:t>a utilização </a:t>
            </a:r>
            <a:r>
              <a:rPr lang="pt-BR" dirty="0"/>
              <a:t>de estimativas não implica em erros, desde que </a:t>
            </a:r>
            <a:r>
              <a:rPr lang="pt-BR" dirty="0" smtClean="0"/>
              <a:t>elas sejam </a:t>
            </a:r>
            <a:r>
              <a:rPr lang="pt-BR" dirty="0"/>
              <a:t>feitas de forma diligente e com o uso adequado de todas </a:t>
            </a:r>
            <a:r>
              <a:rPr lang="pt-BR" dirty="0" smtClean="0"/>
              <a:t>as informações </a:t>
            </a:r>
            <a:r>
              <a:rPr lang="pt-BR" dirty="0"/>
              <a:t>necessárias disponíveis à época da avaliação</a:t>
            </a:r>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12</a:t>
            </a:fld>
            <a:endParaRPr lang="pt-BR" dirty="0"/>
          </a:p>
        </p:txBody>
      </p:sp>
    </p:spTree>
    <p:extLst>
      <p:ext uri="{BB962C8B-B14F-4D97-AF65-F5344CB8AC3E}">
        <p14:creationId xmlns:p14="http://schemas.microsoft.com/office/powerpoint/2010/main" val="238985018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30442"/>
            <a:ext cx="11569700" cy="5262563"/>
          </a:xfrm>
        </p:spPr>
        <p:txBody>
          <a:bodyPr>
            <a:normAutofit lnSpcReduction="10000"/>
          </a:bodyPr>
          <a:lstStyle/>
          <a:p>
            <a:r>
              <a:rPr lang="pt-BR" b="1" dirty="0" smtClean="0"/>
              <a:t>Características </a:t>
            </a:r>
            <a:r>
              <a:rPr lang="pt-BR" b="1" dirty="0"/>
              <a:t>qualitativas de melhoria</a:t>
            </a:r>
          </a:p>
          <a:p>
            <a:pPr lvl="1"/>
            <a:endParaRPr lang="pt-BR" dirty="0" smtClean="0"/>
          </a:p>
          <a:p>
            <a:pPr lvl="1"/>
            <a:r>
              <a:rPr lang="pt-BR" dirty="0" smtClean="0"/>
              <a:t>As </a:t>
            </a:r>
            <a:r>
              <a:rPr lang="pt-BR" dirty="0"/>
              <a:t>características qualitativas de melhoria são atributos </a:t>
            </a:r>
            <a:r>
              <a:rPr lang="pt-BR" dirty="0" smtClean="0"/>
              <a:t>da informação </a:t>
            </a:r>
            <a:r>
              <a:rPr lang="pt-BR" dirty="0"/>
              <a:t>contábil financeira que garantem a existência </a:t>
            </a:r>
            <a:r>
              <a:rPr lang="pt-BR" dirty="0" smtClean="0"/>
              <a:t>das características </a:t>
            </a:r>
            <a:r>
              <a:rPr lang="pt-BR" dirty="0"/>
              <a:t>fundamentais e aprimoram a informação. Elas, </a:t>
            </a:r>
            <a:r>
              <a:rPr lang="pt-BR" dirty="0" smtClean="0"/>
              <a:t>em circunstâncias </a:t>
            </a:r>
            <a:r>
              <a:rPr lang="pt-BR" dirty="0"/>
              <a:t>especiais, podem ser </a:t>
            </a:r>
            <a:r>
              <a:rPr lang="pt-BR" dirty="0" smtClean="0"/>
              <a:t>momentaneamente suprimidas </a:t>
            </a:r>
            <a:r>
              <a:rPr lang="pt-BR" dirty="0"/>
              <a:t>caso seja necessário para garantir a existência </a:t>
            </a:r>
            <a:r>
              <a:rPr lang="pt-BR" dirty="0" smtClean="0"/>
              <a:t>das características </a:t>
            </a:r>
            <a:r>
              <a:rPr lang="pt-BR" dirty="0"/>
              <a:t>fundamentais. São elas: comparabilidade</a:t>
            </a:r>
            <a:r>
              <a:rPr lang="pt-BR" dirty="0" smtClean="0"/>
              <a:t>, </a:t>
            </a:r>
            <a:r>
              <a:rPr lang="pt-BR" dirty="0" err="1" smtClean="0"/>
              <a:t>verificabilidade</a:t>
            </a:r>
            <a:r>
              <a:rPr lang="pt-BR" dirty="0"/>
              <a:t>, tempestividade e compreensibilidade.</a:t>
            </a:r>
          </a:p>
          <a:p>
            <a:endParaRPr lang="pt-BR" b="1" dirty="0" smtClean="0"/>
          </a:p>
          <a:p>
            <a:r>
              <a:rPr lang="pt-BR" b="1" dirty="0" smtClean="0"/>
              <a:t>Comparabilidade</a:t>
            </a:r>
            <a:endParaRPr lang="pt-BR" b="1" dirty="0"/>
          </a:p>
          <a:p>
            <a:pPr lvl="1"/>
            <a:endParaRPr lang="pt-BR" dirty="0" smtClean="0"/>
          </a:p>
          <a:p>
            <a:pPr lvl="1"/>
            <a:r>
              <a:rPr lang="pt-BR" dirty="0" smtClean="0"/>
              <a:t>Considerando </a:t>
            </a:r>
            <a:r>
              <a:rPr lang="pt-BR" dirty="0"/>
              <a:t>as necessidades dos usuários quanto à tomada </a:t>
            </a:r>
            <a:r>
              <a:rPr lang="pt-BR" dirty="0" smtClean="0"/>
              <a:t>de decisões</a:t>
            </a:r>
            <a:r>
              <a:rPr lang="pt-BR" dirty="0"/>
              <a:t>, como por exemplo, vender ou manter um investimento</a:t>
            </a:r>
            <a:r>
              <a:rPr lang="pt-BR" dirty="0" smtClean="0"/>
              <a:t>, ou </a:t>
            </a:r>
            <a:r>
              <a:rPr lang="pt-BR" dirty="0"/>
              <a:t>investir em uma entidade ou outra, a informação será mais </a:t>
            </a:r>
            <a:r>
              <a:rPr lang="pt-BR" dirty="0" smtClean="0"/>
              <a:t>útil caso </a:t>
            </a:r>
            <a:r>
              <a:rPr lang="pt-BR" dirty="0"/>
              <a:t>possa ser comparada com informação similar sobre </a:t>
            </a:r>
            <a:r>
              <a:rPr lang="pt-BR" dirty="0" smtClean="0"/>
              <a:t>outras entidades </a:t>
            </a:r>
            <a:r>
              <a:rPr lang="pt-BR" dirty="0"/>
              <a:t>e com informação similar sobre a mesma entidade </a:t>
            </a:r>
            <a:r>
              <a:rPr lang="pt-BR" dirty="0" smtClean="0"/>
              <a:t>para outro período.</a:t>
            </a:r>
          </a:p>
          <a:p>
            <a:pPr lvl="1"/>
            <a:r>
              <a:rPr lang="pt-BR" dirty="0" smtClean="0"/>
              <a:t>Todavia</a:t>
            </a:r>
            <a:r>
              <a:rPr lang="pt-BR" dirty="0"/>
              <a:t>, nem sempre a comparabilidade pode ser cumprida. </a:t>
            </a:r>
            <a:r>
              <a:rPr lang="pt-BR" dirty="0" smtClean="0"/>
              <a:t>Por exemplo</a:t>
            </a:r>
            <a:r>
              <a:rPr lang="pt-BR" dirty="0"/>
              <a:t>, em caso de adoção de novas políticas contábeis </a:t>
            </a:r>
            <a:r>
              <a:rPr lang="pt-BR" dirty="0" smtClean="0"/>
              <a:t>que melhorem </a:t>
            </a:r>
            <a:r>
              <a:rPr lang="pt-BR" dirty="0"/>
              <a:t>a representação fidedigna nem sempre é possível </a:t>
            </a:r>
            <a:r>
              <a:rPr lang="pt-BR" dirty="0" smtClean="0"/>
              <a:t>se recalcular </a:t>
            </a:r>
            <a:r>
              <a:rPr lang="pt-BR" dirty="0"/>
              <a:t>as informações de períodos anteriores, o que leva à </a:t>
            </a:r>
            <a:r>
              <a:rPr lang="pt-BR" dirty="0" smtClean="0"/>
              <a:t>não possibilidade </a:t>
            </a:r>
            <a:r>
              <a:rPr lang="pt-BR" dirty="0"/>
              <a:t>de se ter comparabilidade das informações. Todavia</a:t>
            </a:r>
            <a:r>
              <a:rPr lang="pt-BR" dirty="0" smtClean="0"/>
              <a:t>, a </a:t>
            </a:r>
            <a:r>
              <a:rPr lang="pt-BR" dirty="0"/>
              <a:t>melhoria da representação fidedigna é </a:t>
            </a:r>
            <a:r>
              <a:rPr lang="pt-BR" dirty="0" smtClean="0"/>
              <a:t>hierarquicamente </a:t>
            </a:r>
            <a:r>
              <a:rPr lang="pt-BR" dirty="0"/>
              <a:t>superior e deve ser mantida mesmo que em detrimento </a:t>
            </a:r>
            <a:r>
              <a:rPr lang="pt-BR" dirty="0" smtClean="0"/>
              <a:t>da comparabilidade</a:t>
            </a:r>
            <a:r>
              <a:rPr lang="pt-BR" dirty="0"/>
              <a:t>. Ressalta-se que, sempre que possível, </a:t>
            </a:r>
            <a:r>
              <a:rPr lang="pt-BR" dirty="0" smtClean="0"/>
              <a:t>ambas devem </a:t>
            </a:r>
            <a:r>
              <a:rPr lang="pt-BR" dirty="0"/>
              <a:t>ser mantidas.</a:t>
            </a:r>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13</a:t>
            </a:fld>
            <a:endParaRPr lang="pt-BR" dirty="0"/>
          </a:p>
        </p:txBody>
      </p:sp>
    </p:spTree>
    <p:extLst>
      <p:ext uri="{BB962C8B-B14F-4D97-AF65-F5344CB8AC3E}">
        <p14:creationId xmlns:p14="http://schemas.microsoft.com/office/powerpoint/2010/main" val="34094442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01521"/>
            <a:ext cx="11569700" cy="5262563"/>
          </a:xfrm>
        </p:spPr>
        <p:txBody>
          <a:bodyPr>
            <a:normAutofit lnSpcReduction="10000"/>
          </a:bodyPr>
          <a:lstStyle/>
          <a:p>
            <a:r>
              <a:rPr lang="pt-BR" b="1" dirty="0"/>
              <a:t>Comparabilidade</a:t>
            </a:r>
          </a:p>
          <a:p>
            <a:endParaRPr lang="pt-BR" dirty="0" smtClean="0"/>
          </a:p>
          <a:p>
            <a:pPr lvl="2"/>
            <a:r>
              <a:rPr lang="pt-BR" dirty="0"/>
              <a:t>“Os usuários devem poder comparar as demonstrações contábeis </a:t>
            </a:r>
            <a:r>
              <a:rPr lang="pt-BR" dirty="0" smtClean="0"/>
              <a:t>de uma </a:t>
            </a:r>
            <a:r>
              <a:rPr lang="pt-BR" dirty="0"/>
              <a:t>entidade ao longo do tempo, a fim de identificar tendências na </a:t>
            </a:r>
            <a:r>
              <a:rPr lang="pt-BR" dirty="0" smtClean="0"/>
              <a:t>sua posição </a:t>
            </a:r>
            <a:r>
              <a:rPr lang="pt-BR" dirty="0"/>
              <a:t>patrimonial e financeira e no seu desempenho. Os </a:t>
            </a:r>
            <a:r>
              <a:rPr lang="pt-BR" dirty="0" smtClean="0"/>
              <a:t>usuários devem </a:t>
            </a:r>
            <a:r>
              <a:rPr lang="pt-BR" dirty="0"/>
              <a:t>também ser capazes de comparar as demonstrações </a:t>
            </a:r>
            <a:r>
              <a:rPr lang="pt-BR" dirty="0" smtClean="0"/>
              <a:t>contábeis de </a:t>
            </a:r>
            <a:r>
              <a:rPr lang="pt-BR" dirty="0"/>
              <a:t>diferentes entidades a fim de avaliar, em termos relativos, a </a:t>
            </a:r>
            <a:r>
              <a:rPr lang="pt-BR" dirty="0" smtClean="0"/>
              <a:t>sua posição </a:t>
            </a:r>
            <a:r>
              <a:rPr lang="pt-BR" dirty="0"/>
              <a:t>patrimonial e financeira, o desempenho e as mutações </a:t>
            </a:r>
            <a:r>
              <a:rPr lang="pt-BR" dirty="0" smtClean="0"/>
              <a:t>na posição </a:t>
            </a:r>
            <a:r>
              <a:rPr lang="pt-BR" dirty="0"/>
              <a:t>financeira. Consequentemente, a mensuração e </a:t>
            </a:r>
            <a:r>
              <a:rPr lang="pt-BR" dirty="0" smtClean="0"/>
              <a:t>apresentação dos </a:t>
            </a:r>
            <a:r>
              <a:rPr lang="pt-BR" dirty="0"/>
              <a:t>efeitos financeiros de transações semelhantes e outros </a:t>
            </a:r>
            <a:r>
              <a:rPr lang="pt-BR" dirty="0" smtClean="0"/>
              <a:t>eventos devem </a:t>
            </a:r>
            <a:r>
              <a:rPr lang="pt-BR" dirty="0"/>
              <a:t>ser feitas de modo consistente pela entidade, ao longo </a:t>
            </a:r>
            <a:r>
              <a:rPr lang="pt-BR" dirty="0" smtClean="0"/>
              <a:t>dos diversos </a:t>
            </a:r>
            <a:r>
              <a:rPr lang="pt-BR" dirty="0"/>
              <a:t>períodos, e também por entidades diferentes.” (FIPECAFI</a:t>
            </a:r>
            <a:r>
              <a:rPr lang="pt-BR" dirty="0" smtClean="0"/>
              <a:t>, 2010</a:t>
            </a:r>
            <a:r>
              <a:rPr lang="pt-BR" dirty="0"/>
              <a:t>, p. 39).</a:t>
            </a:r>
            <a:endParaRPr lang="pt-BR" dirty="0" smtClean="0"/>
          </a:p>
          <a:p>
            <a:endParaRPr lang="pt-BR" dirty="0"/>
          </a:p>
          <a:p>
            <a:r>
              <a:rPr lang="pt-BR" b="1" dirty="0" err="1" smtClean="0"/>
              <a:t>Verificabilidade</a:t>
            </a:r>
            <a:endParaRPr lang="pt-BR" b="1" dirty="0"/>
          </a:p>
          <a:p>
            <a:endParaRPr lang="pt-BR" dirty="0" smtClean="0"/>
          </a:p>
          <a:p>
            <a:pPr lvl="1"/>
            <a:r>
              <a:rPr lang="pt-BR" dirty="0" smtClean="0"/>
              <a:t>A </a:t>
            </a:r>
            <a:r>
              <a:rPr lang="pt-BR" dirty="0"/>
              <a:t>informação é verificável quando diferentes </a:t>
            </a:r>
            <a:r>
              <a:rPr lang="pt-BR" dirty="0" smtClean="0"/>
              <a:t>observadores, cônscios </a:t>
            </a:r>
            <a:r>
              <a:rPr lang="pt-BR" dirty="0"/>
              <a:t>e independentes, podem chegar a um consenso, </a:t>
            </a:r>
            <a:r>
              <a:rPr lang="pt-BR" dirty="0" smtClean="0"/>
              <a:t>embora não </a:t>
            </a:r>
            <a:r>
              <a:rPr lang="pt-BR" dirty="0"/>
              <a:t>chegue necessariamente a um completo acordo, quanto </a:t>
            </a:r>
            <a:r>
              <a:rPr lang="pt-BR" dirty="0" smtClean="0"/>
              <a:t>ao retrato </a:t>
            </a:r>
            <a:r>
              <a:rPr lang="pt-BR" dirty="0"/>
              <a:t>de uma realidade econômica em particular ser </a:t>
            </a:r>
            <a:r>
              <a:rPr lang="pt-BR" dirty="0" smtClean="0"/>
              <a:t>uma representação </a:t>
            </a:r>
            <a:r>
              <a:rPr lang="pt-BR" dirty="0"/>
              <a:t>fidedigna</a:t>
            </a:r>
            <a:r>
              <a:rPr lang="pt-BR" dirty="0" smtClean="0"/>
              <a:t>. A </a:t>
            </a:r>
            <a:r>
              <a:rPr lang="pt-BR" dirty="0"/>
              <a:t>verificação da informação pode ser feita de forma direta, como</a:t>
            </a:r>
            <a:r>
              <a:rPr lang="pt-BR" dirty="0" smtClean="0"/>
              <a:t>, por </a:t>
            </a:r>
            <a:r>
              <a:rPr lang="pt-BR" dirty="0"/>
              <a:t>exemplo, por meio da contagem de caixa ou observação </a:t>
            </a:r>
            <a:r>
              <a:rPr lang="pt-BR" dirty="0" smtClean="0"/>
              <a:t>de documentos</a:t>
            </a:r>
            <a:r>
              <a:rPr lang="pt-BR" dirty="0"/>
              <a:t>, ou indireta, através da checagem de dados </a:t>
            </a:r>
            <a:r>
              <a:rPr lang="pt-BR" dirty="0" smtClean="0"/>
              <a:t>de entrada </a:t>
            </a:r>
            <a:r>
              <a:rPr lang="pt-BR" dirty="0"/>
              <a:t>de um modelo, fórmula ou outra técnica de mensuração</a:t>
            </a:r>
            <a:r>
              <a:rPr lang="pt-BR" dirty="0" smtClean="0"/>
              <a:t>, recalculando </a:t>
            </a:r>
            <a:r>
              <a:rPr lang="pt-BR" dirty="0"/>
              <a:t>os resultados obtidos por meio da aplicação </a:t>
            </a:r>
            <a:r>
              <a:rPr lang="pt-BR" dirty="0" smtClean="0"/>
              <a:t>da mesma </a:t>
            </a:r>
            <a:r>
              <a:rPr lang="pt-BR" dirty="0"/>
              <a:t>metodologia.</a:t>
            </a:r>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14</a:t>
            </a:fld>
            <a:endParaRPr lang="pt-BR" dirty="0"/>
          </a:p>
        </p:txBody>
      </p:sp>
    </p:spTree>
    <p:extLst>
      <p:ext uri="{BB962C8B-B14F-4D97-AF65-F5344CB8AC3E}">
        <p14:creationId xmlns:p14="http://schemas.microsoft.com/office/powerpoint/2010/main" val="3196376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30442"/>
            <a:ext cx="11569700" cy="5678906"/>
          </a:xfrm>
        </p:spPr>
        <p:txBody>
          <a:bodyPr>
            <a:normAutofit/>
          </a:bodyPr>
          <a:lstStyle/>
          <a:p>
            <a:r>
              <a:rPr lang="pt-BR" b="1" dirty="0" smtClean="0"/>
              <a:t>Tempestividade</a:t>
            </a:r>
          </a:p>
          <a:p>
            <a:endParaRPr lang="pt-BR" b="1" dirty="0"/>
          </a:p>
          <a:p>
            <a:pPr lvl="1"/>
            <a:r>
              <a:rPr lang="pt-BR" dirty="0"/>
              <a:t>Tempestividade significa ter informação disponível para </a:t>
            </a:r>
            <a:r>
              <a:rPr lang="pt-BR" dirty="0" smtClean="0"/>
              <a:t>tomadores de </a:t>
            </a:r>
            <a:r>
              <a:rPr lang="pt-BR" dirty="0"/>
              <a:t>decisão a tempo de poder influenciá-los em suas decisões. </a:t>
            </a:r>
            <a:r>
              <a:rPr lang="pt-BR" dirty="0" smtClean="0"/>
              <a:t>Em geral</a:t>
            </a:r>
            <a:r>
              <a:rPr lang="pt-BR" dirty="0"/>
              <a:t>, a informação mais antiga é a que tem menos utilidade</a:t>
            </a:r>
            <a:r>
              <a:rPr lang="pt-BR" dirty="0" smtClean="0"/>
              <a:t>. Contudo</a:t>
            </a:r>
            <a:r>
              <a:rPr lang="pt-BR" dirty="0"/>
              <a:t>, algumas informações podem manter sua </a:t>
            </a:r>
            <a:r>
              <a:rPr lang="pt-BR" dirty="0" smtClean="0"/>
              <a:t>tempestividade mesmo </a:t>
            </a:r>
            <a:r>
              <a:rPr lang="pt-BR" dirty="0"/>
              <a:t>após o encerramento do período contábil, em </a:t>
            </a:r>
            <a:r>
              <a:rPr lang="pt-BR" dirty="0" smtClean="0"/>
              <a:t>decorrência de </a:t>
            </a:r>
            <a:r>
              <a:rPr lang="pt-BR" dirty="0"/>
              <a:t>alguns usuários, por exemplo, necessitarem identificar e </a:t>
            </a:r>
            <a:r>
              <a:rPr lang="pt-BR" dirty="0" smtClean="0"/>
              <a:t>avalia tendências.</a:t>
            </a:r>
          </a:p>
          <a:p>
            <a:pPr lvl="1"/>
            <a:endParaRPr lang="pt-BR" dirty="0" smtClean="0"/>
          </a:p>
          <a:p>
            <a:pPr lvl="2"/>
            <a:r>
              <a:rPr lang="pt-BR" dirty="0"/>
              <a:t>“Para fornecer uma informação na época oportuna pode ser </a:t>
            </a:r>
            <a:r>
              <a:rPr lang="pt-BR" dirty="0" smtClean="0"/>
              <a:t>necessário divulgá-la </a:t>
            </a:r>
            <a:r>
              <a:rPr lang="pt-BR" dirty="0"/>
              <a:t>antes que todos os aspectos de uma transação ou </a:t>
            </a:r>
            <a:r>
              <a:rPr lang="pt-BR" dirty="0" smtClean="0"/>
              <a:t>evento sejam </a:t>
            </a:r>
            <a:r>
              <a:rPr lang="pt-BR" dirty="0"/>
              <a:t>conhecidos, prejudicando assim a sua confiabilidade. Por </a:t>
            </a:r>
            <a:r>
              <a:rPr lang="pt-BR" dirty="0" smtClean="0"/>
              <a:t>outro lado</a:t>
            </a:r>
            <a:r>
              <a:rPr lang="pt-BR" dirty="0"/>
              <a:t>, se para divulgar a informação a entidade aguardar até que </a:t>
            </a:r>
            <a:r>
              <a:rPr lang="pt-BR" dirty="0" smtClean="0"/>
              <a:t>todos os </a:t>
            </a:r>
            <a:r>
              <a:rPr lang="pt-BR" dirty="0"/>
              <a:t>aspectos se tornem conhecidos, a informação pode ser </a:t>
            </a:r>
            <a:r>
              <a:rPr lang="pt-BR" dirty="0" smtClean="0"/>
              <a:t>altamente confiável</a:t>
            </a:r>
            <a:r>
              <a:rPr lang="pt-BR" dirty="0"/>
              <a:t>, porém de pouca utilidade para os usuários que tenham </a:t>
            </a:r>
            <a:r>
              <a:rPr lang="pt-BR" dirty="0" smtClean="0"/>
              <a:t>tido necessidade </a:t>
            </a:r>
            <a:r>
              <a:rPr lang="pt-BR" dirty="0"/>
              <a:t>de tomar decisões nesse ínterim. Para atingir o </a:t>
            </a:r>
            <a:r>
              <a:rPr lang="pt-BR" dirty="0" smtClean="0"/>
              <a:t>adequado equilíbrio </a:t>
            </a:r>
            <a:r>
              <a:rPr lang="pt-BR" dirty="0"/>
              <a:t>entre a relevância e a confiabilidade, o princípio </a:t>
            </a:r>
            <a:r>
              <a:rPr lang="pt-BR" dirty="0" smtClean="0"/>
              <a:t>básico consiste </a:t>
            </a:r>
            <a:r>
              <a:rPr lang="pt-BR" dirty="0"/>
              <a:t>em identificar qual a melhor forma para atender </a:t>
            </a:r>
            <a:r>
              <a:rPr lang="pt-BR" dirty="0" smtClean="0"/>
              <a:t>as necessidades </a:t>
            </a:r>
            <a:r>
              <a:rPr lang="pt-BR" dirty="0"/>
              <a:t>do </a:t>
            </a:r>
            <a:r>
              <a:rPr lang="pt-BR" dirty="0" smtClean="0"/>
              <a:t>processo </a:t>
            </a:r>
            <a:r>
              <a:rPr lang="pt-BR" dirty="0"/>
              <a:t>de </a:t>
            </a:r>
            <a:r>
              <a:rPr lang="pt-BR" dirty="0" smtClean="0"/>
              <a:t>decisão econômica dos usuários</a:t>
            </a:r>
            <a:r>
              <a:rPr lang="pt-BR" dirty="0"/>
              <a:t>.” (FIPECAFI, 2010, p. 40).</a:t>
            </a:r>
            <a:endParaRPr lang="pt-BR" dirty="0" smtClean="0"/>
          </a:p>
          <a:p>
            <a:pPr lvl="1"/>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15</a:t>
            </a:fld>
            <a:endParaRPr lang="pt-BR" dirty="0"/>
          </a:p>
        </p:txBody>
      </p:sp>
    </p:spTree>
    <p:extLst>
      <p:ext uri="{BB962C8B-B14F-4D97-AF65-F5344CB8AC3E}">
        <p14:creationId xmlns:p14="http://schemas.microsoft.com/office/powerpoint/2010/main" val="10382632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898358"/>
            <a:ext cx="11569700" cy="5262563"/>
          </a:xfrm>
        </p:spPr>
        <p:txBody>
          <a:bodyPr>
            <a:normAutofit lnSpcReduction="10000"/>
          </a:bodyPr>
          <a:lstStyle/>
          <a:p>
            <a:r>
              <a:rPr lang="pt-BR" b="1" dirty="0"/>
              <a:t>Tempestividade</a:t>
            </a:r>
          </a:p>
          <a:p>
            <a:endParaRPr lang="pt-BR" dirty="0" smtClean="0"/>
          </a:p>
          <a:p>
            <a:pPr lvl="1"/>
            <a:r>
              <a:rPr lang="pt-BR" dirty="0" smtClean="0"/>
              <a:t>A </a:t>
            </a:r>
            <a:r>
              <a:rPr lang="pt-BR" dirty="0"/>
              <a:t>tempestividade também está relacionada, em algumas circunstâncias, à exatidão de determinada informação. Muitas vezes pode não ser possível obter-se um valor exato acerca de determinado evento econômico em tempo adequado para se divulgar a informação. Por exemplo, em caso de incêndio de um galpão de estocagem, a entidade pode não conseguir apurar precisamente o tamanho do prejuízo incorrido no tempo adequado para informar os usuários, mas a informação deve ser dada, mesmo que ainda incompleta, no tempo certo. Afinal, de pouco adianta informar com 100% de precisão um prejuízo incorrido há seis meses; é melhor informar com menos precisão em um momento próximo à ocorrência do evento para que os usuários já possam ajustar suas previsões.</a:t>
            </a:r>
          </a:p>
          <a:p>
            <a:endParaRPr lang="pt-BR" b="1" dirty="0"/>
          </a:p>
          <a:p>
            <a:r>
              <a:rPr lang="pt-BR" b="1" dirty="0" smtClean="0"/>
              <a:t>Compreensibilidade</a:t>
            </a:r>
            <a:endParaRPr lang="pt-BR" b="1" dirty="0"/>
          </a:p>
          <a:p>
            <a:endParaRPr lang="pt-BR" dirty="0" smtClean="0"/>
          </a:p>
          <a:p>
            <a:pPr lvl="1"/>
            <a:r>
              <a:rPr lang="pt-BR" dirty="0" smtClean="0"/>
              <a:t>Classificar</a:t>
            </a:r>
            <a:r>
              <a:rPr lang="pt-BR" dirty="0"/>
              <a:t>, caracterizar e apresentar a informação com clareza </a:t>
            </a:r>
            <a:r>
              <a:rPr lang="pt-BR" dirty="0" smtClean="0"/>
              <a:t>e concisão</a:t>
            </a:r>
            <a:r>
              <a:rPr lang="pt-BR" dirty="0"/>
              <a:t>, torna-a compreensível. Mesmo que certos </a:t>
            </a:r>
            <a:r>
              <a:rPr lang="pt-BR" dirty="0" smtClean="0"/>
              <a:t>fenômenos sejam </a:t>
            </a:r>
            <a:r>
              <a:rPr lang="pt-BR" dirty="0"/>
              <a:t>inerentemente complexos e não possam ser </a:t>
            </a:r>
            <a:r>
              <a:rPr lang="pt-BR" dirty="0" smtClean="0"/>
              <a:t>facilmente compreendidos</a:t>
            </a:r>
            <a:r>
              <a:rPr lang="pt-BR" dirty="0"/>
              <a:t>, não implica que não devam ser divulgados. </a:t>
            </a:r>
            <a:r>
              <a:rPr lang="pt-BR" dirty="0" smtClean="0"/>
              <a:t>Os relatórios </a:t>
            </a:r>
            <a:r>
              <a:rPr lang="pt-BR" dirty="0"/>
              <a:t>contábil-financeiros devem ser elaborados para </a:t>
            </a:r>
            <a:r>
              <a:rPr lang="pt-BR" dirty="0" smtClean="0"/>
              <a:t>usuários que </a:t>
            </a:r>
            <a:r>
              <a:rPr lang="pt-BR" dirty="0"/>
              <a:t>têm conhecimento razoável de negócios e </a:t>
            </a:r>
            <a:r>
              <a:rPr lang="pt-BR" dirty="0" smtClean="0"/>
              <a:t>atividades econômicas </a:t>
            </a:r>
            <a:r>
              <a:rPr lang="pt-BR" dirty="0"/>
              <a:t>e que revisem e analisem a </a:t>
            </a:r>
            <a:r>
              <a:rPr lang="pt-BR" dirty="0" smtClean="0"/>
              <a:t>informação diligentemente</a:t>
            </a:r>
            <a:r>
              <a:rPr lang="pt-BR" dirty="0"/>
              <a:t>.</a:t>
            </a:r>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16</a:t>
            </a:fld>
            <a:endParaRPr lang="pt-BR" dirty="0"/>
          </a:p>
        </p:txBody>
      </p:sp>
    </p:spTree>
    <p:extLst>
      <p:ext uri="{BB962C8B-B14F-4D97-AF65-F5344CB8AC3E}">
        <p14:creationId xmlns:p14="http://schemas.microsoft.com/office/powerpoint/2010/main" val="98909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14400"/>
            <a:ext cx="11569700" cy="5543550"/>
          </a:xfrm>
        </p:spPr>
        <p:txBody>
          <a:bodyPr>
            <a:normAutofit lnSpcReduction="10000"/>
          </a:bodyPr>
          <a:lstStyle/>
          <a:p>
            <a:r>
              <a:rPr lang="pt-BR" b="1" dirty="0" smtClean="0"/>
              <a:t>Características </a:t>
            </a:r>
            <a:r>
              <a:rPr lang="pt-BR" b="1" dirty="0"/>
              <a:t>da Informação Contábil</a:t>
            </a:r>
          </a:p>
          <a:p>
            <a:pPr lvl="1"/>
            <a:endParaRPr lang="pt-BR" dirty="0" smtClean="0"/>
          </a:p>
          <a:p>
            <a:pPr lvl="1"/>
            <a:r>
              <a:rPr lang="pt-BR" dirty="0" smtClean="0"/>
              <a:t>Além das características </a:t>
            </a:r>
            <a:r>
              <a:rPr lang="pt-BR" b="1" dirty="0"/>
              <a:t>qualitativas de </a:t>
            </a:r>
            <a:r>
              <a:rPr lang="pt-BR" b="1" dirty="0" smtClean="0"/>
              <a:t>melhoria e fundamentais</a:t>
            </a:r>
            <a:r>
              <a:rPr lang="pt-BR" dirty="0" smtClean="0"/>
              <a:t>, destaca – se ainda as seguintes características: Continuidade, Entidade, Prudência, Oportunidade, Competência,</a:t>
            </a:r>
          </a:p>
          <a:p>
            <a:pPr lvl="1"/>
            <a:endParaRPr lang="pt-BR" b="1" dirty="0"/>
          </a:p>
          <a:p>
            <a:pPr lvl="1"/>
            <a:endParaRPr lang="pt-BR" b="1" dirty="0"/>
          </a:p>
          <a:p>
            <a:r>
              <a:rPr lang="pt-BR" b="1" dirty="0" smtClean="0"/>
              <a:t>Continuidade</a:t>
            </a:r>
          </a:p>
          <a:p>
            <a:endParaRPr lang="pt-BR" b="1" dirty="0" smtClean="0"/>
          </a:p>
          <a:p>
            <a:pPr lvl="1"/>
            <a:r>
              <a:rPr lang="pt-BR" dirty="0" smtClean="0"/>
              <a:t>As </a:t>
            </a:r>
            <a:r>
              <a:rPr lang="pt-BR" dirty="0"/>
              <a:t>demonstrações contábeis normalmente são elaboradas </a:t>
            </a:r>
            <a:r>
              <a:rPr lang="pt-BR" dirty="0" smtClean="0"/>
              <a:t>tendo como </a:t>
            </a:r>
            <a:r>
              <a:rPr lang="pt-BR" dirty="0"/>
              <a:t>premissa que a entidade está em atividade, e irá </a:t>
            </a:r>
            <a:r>
              <a:rPr lang="pt-BR" dirty="0" smtClean="0"/>
              <a:t>manter-se em </a:t>
            </a:r>
            <a:r>
              <a:rPr lang="pt-BR" dirty="0"/>
              <a:t>operação por um futuro previsível</a:t>
            </a:r>
            <a:r>
              <a:rPr lang="pt-BR" dirty="0" smtClean="0"/>
              <a:t>. Desse </a:t>
            </a:r>
            <a:r>
              <a:rPr lang="pt-BR" dirty="0"/>
              <a:t>modo, parte-se do pressuposto de que a entidade não </a:t>
            </a:r>
            <a:r>
              <a:rPr lang="pt-BR" dirty="0" smtClean="0"/>
              <a:t>tem a </a:t>
            </a:r>
            <a:r>
              <a:rPr lang="pt-BR" dirty="0"/>
              <a:t>intenção, nem tampouco a necessidade, de entrar liquidação </a:t>
            </a:r>
            <a:r>
              <a:rPr lang="pt-BR" dirty="0" smtClean="0"/>
              <a:t>ou de </a:t>
            </a:r>
            <a:r>
              <a:rPr lang="pt-BR" dirty="0"/>
              <a:t>reduzir materialmente a escala de suas operações. Por </a:t>
            </a:r>
            <a:r>
              <a:rPr lang="pt-BR" dirty="0" smtClean="0"/>
              <a:t>outro lado</a:t>
            </a:r>
            <a:r>
              <a:rPr lang="pt-BR" dirty="0"/>
              <a:t>, se essa intenção ou necessidade existir, as </a:t>
            </a:r>
            <a:r>
              <a:rPr lang="pt-BR" dirty="0" smtClean="0"/>
              <a:t>demonstrações </a:t>
            </a:r>
            <a:r>
              <a:rPr lang="pt-BR" dirty="0"/>
              <a:t>contábeis podem ter que ser elaboradas em bases diferentes e</a:t>
            </a:r>
            <a:r>
              <a:rPr lang="pt-BR" dirty="0" smtClean="0"/>
              <a:t>, nesse </a:t>
            </a:r>
            <a:r>
              <a:rPr lang="pt-BR" dirty="0"/>
              <a:t>caso, a base de elaboração utilizada deve ser divulgada</a:t>
            </a:r>
            <a:r>
              <a:rPr lang="pt-BR" dirty="0" smtClean="0"/>
              <a:t>.</a:t>
            </a:r>
          </a:p>
          <a:p>
            <a:pPr lvl="1"/>
            <a:endParaRPr lang="pt-BR" dirty="0" smtClean="0"/>
          </a:p>
          <a:p>
            <a:pPr lvl="1"/>
            <a:r>
              <a:rPr lang="pt-BR" dirty="0" smtClean="0"/>
              <a:t>Quando </a:t>
            </a:r>
            <a:r>
              <a:rPr lang="pt-BR" dirty="0"/>
              <a:t>a premissa de continuidade é ferida, cada caso </a:t>
            </a:r>
            <a:r>
              <a:rPr lang="pt-BR" dirty="0" smtClean="0"/>
              <a:t>específico deve </a:t>
            </a:r>
            <a:r>
              <a:rPr lang="pt-BR" dirty="0"/>
              <a:t>ser analisado individualmente e os pronunciamentos do </a:t>
            </a:r>
            <a:r>
              <a:rPr lang="pt-BR" dirty="0" smtClean="0"/>
              <a:t>IFRS não </a:t>
            </a:r>
            <a:r>
              <a:rPr lang="pt-BR" dirty="0"/>
              <a:t>mais devem ser aplicados obrigatoriamente. Por </a:t>
            </a:r>
            <a:r>
              <a:rPr lang="pt-BR" dirty="0" smtClean="0"/>
              <a:t>exemplo, uma </a:t>
            </a:r>
            <a:r>
              <a:rPr lang="pt-BR" dirty="0"/>
              <a:t>entidade que possua estoques e que está em processo </a:t>
            </a:r>
            <a:r>
              <a:rPr lang="pt-BR" dirty="0" smtClean="0"/>
              <a:t>de encerramento </a:t>
            </a:r>
            <a:r>
              <a:rPr lang="pt-BR" dirty="0"/>
              <a:t>de suas atividades não deve mais apurar </a:t>
            </a:r>
            <a:r>
              <a:rPr lang="pt-BR" dirty="0" smtClean="0"/>
              <a:t>seus valores </a:t>
            </a:r>
            <a:r>
              <a:rPr lang="pt-BR" dirty="0"/>
              <a:t>com base no custo histórico, e sim considerando </a:t>
            </a:r>
            <a:r>
              <a:rPr lang="pt-BR" dirty="0" smtClean="0"/>
              <a:t>os valores </a:t>
            </a:r>
            <a:r>
              <a:rPr lang="pt-BR" dirty="0"/>
              <a:t>realizáveis dos seus estoques. E estes valores, por </a:t>
            </a:r>
            <a:r>
              <a:rPr lang="pt-BR" dirty="0" smtClean="0"/>
              <a:t>sua vez</a:t>
            </a:r>
            <a:r>
              <a:rPr lang="pt-BR" dirty="0"/>
              <a:t>, irão depender das condições de liquidação da entidade e </a:t>
            </a:r>
            <a:r>
              <a:rPr lang="pt-BR" dirty="0" smtClean="0"/>
              <a:t>das negociações </a:t>
            </a:r>
            <a:r>
              <a:rPr lang="pt-BR" dirty="0"/>
              <a:t>que ela consegue fazer com os mesmos.</a:t>
            </a:r>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17</a:t>
            </a:fld>
            <a:endParaRPr lang="pt-BR" dirty="0"/>
          </a:p>
        </p:txBody>
      </p:sp>
    </p:spTree>
    <p:extLst>
      <p:ext uri="{BB962C8B-B14F-4D97-AF65-F5344CB8AC3E}">
        <p14:creationId xmlns:p14="http://schemas.microsoft.com/office/powerpoint/2010/main" val="33410960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30442"/>
            <a:ext cx="11569700" cy="5262563"/>
          </a:xfrm>
        </p:spPr>
        <p:txBody>
          <a:bodyPr>
            <a:normAutofit lnSpcReduction="10000"/>
          </a:bodyPr>
          <a:lstStyle/>
          <a:p>
            <a:r>
              <a:rPr lang="pt-BR" b="1" dirty="0" smtClean="0"/>
              <a:t>Entidade</a:t>
            </a:r>
          </a:p>
          <a:p>
            <a:endParaRPr lang="pt-BR" b="1" dirty="0" smtClean="0"/>
          </a:p>
          <a:p>
            <a:pPr lvl="1"/>
            <a:r>
              <a:rPr lang="pt-BR" altLang="pt-BR" dirty="0"/>
              <a:t>O princípio da Entidade reconhece o patrimônio como objeto da Contabilidade e afirma a autonomia patrimonial, a necessidade da diferenciação de um patrimônio particular no universo dos patrimônios existentes, independentemente de pertencer a uma pessoa, um conjunto de pessoas, uma sociedade, ou instituição de qualquer natureza ou finalidade, com ou em fins lucrativos” (...)</a:t>
            </a:r>
          </a:p>
          <a:p>
            <a:endParaRPr lang="pt-BR" b="1" dirty="0"/>
          </a:p>
          <a:p>
            <a:r>
              <a:rPr lang="pt-BR" b="1" dirty="0" smtClean="0"/>
              <a:t>Prudência</a:t>
            </a:r>
          </a:p>
          <a:p>
            <a:endParaRPr lang="pt-BR" b="1" dirty="0" smtClean="0"/>
          </a:p>
          <a:p>
            <a:pPr lvl="1">
              <a:defRPr/>
            </a:pPr>
            <a:r>
              <a:rPr lang="pt-BR" dirty="0"/>
              <a:t>Os contabilistas se deparam com incertezas que inevitavelmente envolvem certos eventos e circunstâncias, tais como a possibilidade de recebimento de contas a receber de liquidação duvidosa, a vida útil provável das máquinas e equipamentos e o número de reclamações cobertas por garantias que possam ocorrer. Tais incertezas são reconhecidas pela divulgação da sua natureza e extensão e pelo exercício de prudência na preparação das demonstrações contábeis.</a:t>
            </a:r>
          </a:p>
          <a:p>
            <a:pPr lvl="1">
              <a:defRPr/>
            </a:pPr>
            <a:endParaRPr lang="pt-BR" dirty="0" smtClean="0"/>
          </a:p>
          <a:p>
            <a:pPr lvl="1">
              <a:defRPr/>
            </a:pPr>
            <a:r>
              <a:rPr lang="pt-BR" dirty="0" smtClean="0"/>
              <a:t>Assim </a:t>
            </a:r>
            <a:r>
              <a:rPr lang="pt-BR" dirty="0"/>
              <a:t>a prudência consiste no emprego de um certo grau de precaução no exercício dos julgamentos necessários às estimativas em certas condições de incerteza, no sentido de que ativos ou receitas não sejam superestimados e que passivos ou despesas não sejam subestimados</a:t>
            </a:r>
            <a:r>
              <a:rPr lang="pt-BR" dirty="0" smtClean="0"/>
              <a:t>.</a:t>
            </a:r>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18</a:t>
            </a:fld>
            <a:endParaRPr lang="pt-BR" dirty="0"/>
          </a:p>
        </p:txBody>
      </p:sp>
    </p:spTree>
    <p:extLst>
      <p:ext uri="{BB962C8B-B14F-4D97-AF65-F5344CB8AC3E}">
        <p14:creationId xmlns:p14="http://schemas.microsoft.com/office/powerpoint/2010/main" val="15746570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14400"/>
            <a:ext cx="11569700" cy="5543550"/>
          </a:xfrm>
        </p:spPr>
        <p:txBody>
          <a:bodyPr>
            <a:normAutofit lnSpcReduction="10000"/>
          </a:bodyPr>
          <a:lstStyle/>
          <a:p>
            <a:r>
              <a:rPr lang="pt-BR" b="1" dirty="0" smtClean="0"/>
              <a:t>Prudência</a:t>
            </a:r>
          </a:p>
          <a:p>
            <a:endParaRPr lang="pt-BR" b="1" dirty="0" smtClean="0"/>
          </a:p>
          <a:p>
            <a:pPr lvl="1">
              <a:defRPr/>
            </a:pPr>
            <a:r>
              <a:rPr lang="pt-BR" dirty="0" smtClean="0"/>
              <a:t>Entretanto</a:t>
            </a:r>
            <a:r>
              <a:rPr lang="pt-BR" dirty="0"/>
              <a:t>, o exercício da prudência não permite, por exemplo, a criação de reservas ocultas ou provisões excessivas, a subavaliação deliberada de ativos ou receitas, a superavaliação deliberada de passivos ou despesas, pois as demonstrações contábeis deixariam de ser neutras e perderiam a confiabilidade.</a:t>
            </a:r>
          </a:p>
          <a:p>
            <a:pPr lvl="1">
              <a:defRPr/>
            </a:pPr>
            <a:endParaRPr lang="pt-BR" altLang="pt-BR" dirty="0" smtClean="0"/>
          </a:p>
          <a:p>
            <a:pPr lvl="1">
              <a:defRPr/>
            </a:pPr>
            <a:r>
              <a:rPr lang="pt-BR" altLang="pt-BR" dirty="0" smtClean="0"/>
              <a:t>Determina </a:t>
            </a:r>
            <a:r>
              <a:rPr lang="pt-BR" altLang="pt-BR" dirty="0"/>
              <a:t>a adoção do menor valor para os componentes do Ativo e do maior para os do Passivo, sempre que se apresentem alternativas igualmente validas para a quantificação das mutações patrimoniais que alterem o patrimônio liquido. O mesmo ganha ênfase para definição dos valores relativos as variações patrimoniais, devem ser feitas estimativas que envolvam incertezas de grau variável</a:t>
            </a:r>
            <a:r>
              <a:rPr lang="pt-BR" altLang="pt-BR" dirty="0" smtClean="0"/>
              <a:t>.</a:t>
            </a:r>
            <a:endParaRPr lang="pt-BR" b="1" dirty="0" smtClean="0"/>
          </a:p>
          <a:p>
            <a:endParaRPr lang="pt-BR" b="1" dirty="0" smtClean="0"/>
          </a:p>
          <a:p>
            <a:pPr>
              <a:defRPr/>
            </a:pPr>
            <a:r>
              <a:rPr lang="pt-BR" altLang="pt-BR" b="1" dirty="0" smtClean="0"/>
              <a:t>Oportunidade</a:t>
            </a:r>
            <a:endParaRPr lang="pt-BR" altLang="pt-BR" b="1" dirty="0"/>
          </a:p>
          <a:p>
            <a:pPr lvl="1">
              <a:defRPr/>
            </a:pPr>
            <a:endParaRPr lang="pt-BR" altLang="pt-BR" dirty="0" smtClean="0"/>
          </a:p>
          <a:p>
            <a:pPr lvl="1">
              <a:defRPr/>
            </a:pPr>
            <a:r>
              <a:rPr lang="pt-BR" altLang="pt-BR" dirty="0" smtClean="0"/>
              <a:t>Refere-se </a:t>
            </a:r>
            <a:r>
              <a:rPr lang="pt-BR" altLang="pt-BR" dirty="0"/>
              <a:t>ao momento em que devem ser registradas as variações patrimoniais. Devem ser feitas imediatamente e de forma integral, independentemente das causas que as originaram, contemplando os aspectos físicos e monetários. Quando se tratar de um fato futuro, o registro deverá ser feito desde que tecnicamente estimável mesmo existindo razoável certeza de sua ocorrência. São os casos de Provisões para Férias, para Contingências, etc.</a:t>
            </a:r>
          </a:p>
          <a:p>
            <a:endParaRPr lang="pt-BR" b="1"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19</a:t>
            </a:fld>
            <a:endParaRPr lang="pt-BR" dirty="0"/>
          </a:p>
        </p:txBody>
      </p:sp>
    </p:spTree>
    <p:extLst>
      <p:ext uri="{BB962C8B-B14F-4D97-AF65-F5344CB8AC3E}">
        <p14:creationId xmlns:p14="http://schemas.microsoft.com/office/powerpoint/2010/main" val="8909082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14400"/>
            <a:ext cx="11569700" cy="5543550"/>
          </a:xfrm>
        </p:spPr>
        <p:txBody>
          <a:bodyPr>
            <a:noAutofit/>
          </a:bodyPr>
          <a:lstStyle/>
          <a:p>
            <a:r>
              <a:rPr lang="pt-BR" altLang="pt-BR" b="1" dirty="0"/>
              <a:t>Registro pelo Valor</a:t>
            </a:r>
          </a:p>
          <a:p>
            <a:pPr lvl="1"/>
            <a:endParaRPr lang="pt-BR" altLang="pt-BR" sz="2000" dirty="0" smtClean="0"/>
          </a:p>
          <a:p>
            <a:pPr lvl="1"/>
            <a:r>
              <a:rPr lang="pt-BR" altLang="pt-BR" dirty="0" smtClean="0"/>
              <a:t>As </a:t>
            </a:r>
            <a:r>
              <a:rPr lang="pt-BR" altLang="pt-BR" dirty="0"/>
              <a:t>variações do patrimônio devem ser registradas pelos valores originais das transações com o mundo exterior, expressos em valor presente e na moeda do país. Esses valores serão mantidos na avaliação das variações patrimoniais posteriores, quando configurarem agregações ou decomposições no interior da empresa. </a:t>
            </a:r>
          </a:p>
          <a:p>
            <a:endParaRPr lang="pt-BR" altLang="pt-BR" b="1"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20</a:t>
            </a:fld>
            <a:endParaRPr lang="pt-BR" dirty="0"/>
          </a:p>
        </p:txBody>
      </p:sp>
      <p:pic>
        <p:nvPicPr>
          <p:cNvPr id="4" name="Imagem 3" descr="C:\Users\User\Desktop\Scan.jpg"/>
          <p:cNvPicPr/>
          <p:nvPr/>
        </p:nvPicPr>
        <p:blipFill>
          <a:blip r:embed="rId2"/>
          <a:srcRect t="24601" r="22125" b="41453"/>
          <a:stretch>
            <a:fillRect/>
          </a:stretch>
        </p:blipFill>
        <p:spPr bwMode="auto">
          <a:xfrm>
            <a:off x="1235530" y="2768958"/>
            <a:ext cx="9093325" cy="3688992"/>
          </a:xfrm>
          <a:prstGeom prst="rect">
            <a:avLst/>
          </a:prstGeom>
          <a:noFill/>
          <a:ln w="9525">
            <a:noFill/>
            <a:miter lim="800000"/>
            <a:headEnd/>
            <a:tailEnd/>
          </a:ln>
        </p:spPr>
      </p:pic>
    </p:spTree>
    <p:extLst>
      <p:ext uri="{BB962C8B-B14F-4D97-AF65-F5344CB8AC3E}">
        <p14:creationId xmlns:p14="http://schemas.microsoft.com/office/powerpoint/2010/main" val="12183843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01521"/>
            <a:ext cx="11569700" cy="5543550"/>
          </a:xfrm>
        </p:spPr>
        <p:txBody>
          <a:bodyPr>
            <a:noAutofit/>
          </a:bodyPr>
          <a:lstStyle/>
          <a:p>
            <a:r>
              <a:rPr lang="pt-BR" b="1" dirty="0" smtClean="0"/>
              <a:t>Regimes Contábeis</a:t>
            </a:r>
          </a:p>
          <a:p>
            <a:endParaRPr lang="pt-BR" dirty="0"/>
          </a:p>
          <a:p>
            <a:pPr lvl="1"/>
            <a:r>
              <a:rPr lang="pt-BR" dirty="0" smtClean="0"/>
              <a:t>Define o momento do lançamento do evento ocorrido na empresa, temos basicamente o Caixa e Competência, vejamos a diferença entre eles:</a:t>
            </a:r>
          </a:p>
          <a:p>
            <a:pPr lvl="1"/>
            <a:endParaRPr lang="pt-BR" sz="2000" dirty="0"/>
          </a:p>
          <a:p>
            <a:pPr lvl="2"/>
            <a:r>
              <a:rPr lang="pt-BR" b="1" dirty="0" smtClean="0"/>
              <a:t>Caixa: </a:t>
            </a:r>
            <a:r>
              <a:rPr lang="pt-BR" altLang="pt-BR" dirty="0" smtClean="0"/>
              <a:t>Normalmente </a:t>
            </a:r>
            <a:r>
              <a:rPr lang="pt-BR" altLang="pt-BR" dirty="0"/>
              <a:t>utilizada por empresa menores, que realizam os lançamentos contábeis conforme entrada ou saída do seu caixa.</a:t>
            </a:r>
          </a:p>
          <a:p>
            <a:pPr lvl="1"/>
            <a:endParaRPr lang="pt-BR" altLang="pt-BR" sz="1600" dirty="0"/>
          </a:p>
          <a:p>
            <a:pPr lvl="2"/>
            <a:r>
              <a:rPr lang="pt-BR" altLang="pt-BR" b="1" dirty="0" smtClean="0"/>
              <a:t>Competência: </a:t>
            </a:r>
            <a:r>
              <a:rPr lang="pt-BR" altLang="pt-BR" dirty="0" smtClean="0"/>
              <a:t>Estabelece </a:t>
            </a:r>
            <a:r>
              <a:rPr lang="pt-BR" altLang="pt-BR" dirty="0"/>
              <a:t>que as Receitas e as Despesas devem ser incluídas na apuração do resultado do período em que foram geradas, sempre simultaneamente quando se correlacionarem (Princípio da Confrontação das Despesas com as Receitas), independentemente de recebimento ou pagamento. Prevalece sempre o período em que ocorreram</a:t>
            </a:r>
          </a:p>
          <a:p>
            <a:endParaRPr lang="pt-BR" altLang="pt-BR" b="1"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21</a:t>
            </a:fld>
            <a:endParaRPr lang="pt-BR" dirty="0"/>
          </a:p>
        </p:txBody>
      </p:sp>
    </p:spTree>
    <p:extLst>
      <p:ext uri="{BB962C8B-B14F-4D97-AF65-F5344CB8AC3E}">
        <p14:creationId xmlns:p14="http://schemas.microsoft.com/office/powerpoint/2010/main" val="4918888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3"/>
          <p:cNvSpPr>
            <a:spLocks noGrp="1"/>
          </p:cNvSpPr>
          <p:nvPr>
            <p:ph type="ctrTitle"/>
          </p:nvPr>
        </p:nvSpPr>
        <p:spPr/>
        <p:txBody>
          <a:bodyPr/>
          <a:lstStyle/>
          <a:p>
            <a:r>
              <a:rPr lang="pt-BR" dirty="0" smtClean="0"/>
              <a:t>ELEMENTOS DA POSIÇÃO PATRIMONIAL E FINANCEIRA</a:t>
            </a:r>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22</a:t>
            </a:fld>
            <a:endParaRPr lang="pt-BR" dirty="0"/>
          </a:p>
        </p:txBody>
      </p:sp>
    </p:spTree>
    <p:extLst>
      <p:ext uri="{BB962C8B-B14F-4D97-AF65-F5344CB8AC3E}">
        <p14:creationId xmlns:p14="http://schemas.microsoft.com/office/powerpoint/2010/main" val="33692388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43321"/>
            <a:ext cx="11569700" cy="5262563"/>
          </a:xfrm>
        </p:spPr>
        <p:txBody>
          <a:bodyPr>
            <a:normAutofit lnSpcReduction="10000"/>
          </a:bodyPr>
          <a:lstStyle/>
          <a:p>
            <a:r>
              <a:rPr lang="pt-BR" b="1" dirty="0" smtClean="0"/>
              <a:t>Elementos – Demonstrações</a:t>
            </a:r>
          </a:p>
          <a:p>
            <a:endParaRPr lang="pt-BR" b="1" dirty="0"/>
          </a:p>
          <a:p>
            <a:pPr lvl="1"/>
            <a:r>
              <a:rPr lang="pt-BR" dirty="0"/>
              <a:t>Os elementos diretamente relacionados com a mensuração </a:t>
            </a:r>
            <a:r>
              <a:rPr lang="pt-BR" dirty="0" smtClean="0"/>
              <a:t>da posição </a:t>
            </a:r>
            <a:r>
              <a:rPr lang="pt-BR" dirty="0"/>
              <a:t>patrimonial e financeira são os ativos, os passivos e </a:t>
            </a:r>
            <a:r>
              <a:rPr lang="pt-BR" dirty="0" smtClean="0"/>
              <a:t>o patrimônio </a:t>
            </a:r>
            <a:r>
              <a:rPr lang="pt-BR" dirty="0"/>
              <a:t>líquido. É importante lembrar que ao avaliar se um </a:t>
            </a:r>
            <a:r>
              <a:rPr lang="pt-BR" dirty="0" smtClean="0"/>
              <a:t>item se </a:t>
            </a:r>
            <a:r>
              <a:rPr lang="pt-BR" dirty="0"/>
              <a:t>enquadra na definição de ativo, passivo ou patrimônio líquido</a:t>
            </a:r>
            <a:r>
              <a:rPr lang="pt-BR" dirty="0" smtClean="0"/>
              <a:t>, deve-se </a:t>
            </a:r>
            <a:r>
              <a:rPr lang="pt-BR" dirty="0"/>
              <a:t>atentar principalmente para a sua essência e </a:t>
            </a:r>
            <a:r>
              <a:rPr lang="pt-BR" dirty="0" smtClean="0"/>
              <a:t>realidade econômica </a:t>
            </a:r>
            <a:r>
              <a:rPr lang="pt-BR" dirty="0"/>
              <a:t>e não apenas para sua forma legal, seguindo assim </a:t>
            </a:r>
            <a:r>
              <a:rPr lang="pt-BR" dirty="0" smtClean="0"/>
              <a:t>a representação fidedigna.</a:t>
            </a:r>
          </a:p>
          <a:p>
            <a:pPr lvl="1"/>
            <a:endParaRPr lang="pt-BR" dirty="0" smtClean="0"/>
          </a:p>
          <a:p>
            <a:pPr lvl="1"/>
            <a:r>
              <a:rPr lang="pt-BR" dirty="0" smtClean="0"/>
              <a:t>As </a:t>
            </a:r>
            <a:r>
              <a:rPr lang="pt-BR" dirty="0"/>
              <a:t>demonstrações contábeis retratam os efeitos patrimoniais e financeiros </a:t>
            </a:r>
            <a:r>
              <a:rPr lang="pt-BR" dirty="0" smtClean="0"/>
              <a:t>das transações </a:t>
            </a:r>
            <a:r>
              <a:rPr lang="pt-BR" dirty="0"/>
              <a:t>e outros eventos, por meio do grupamento dos mesmos em </a:t>
            </a:r>
            <a:r>
              <a:rPr lang="pt-BR" dirty="0" smtClean="0"/>
              <a:t>classes amplas </a:t>
            </a:r>
            <a:r>
              <a:rPr lang="pt-BR" dirty="0"/>
              <a:t>de acordo com as suas características econômicas. Essas classes </a:t>
            </a:r>
            <a:r>
              <a:rPr lang="pt-BR" dirty="0" smtClean="0"/>
              <a:t>amplas são </a:t>
            </a:r>
            <a:r>
              <a:rPr lang="pt-BR" dirty="0"/>
              <a:t>denominadas de elementos das demonstrações contábeis. Os </a:t>
            </a:r>
            <a:r>
              <a:rPr lang="pt-BR" dirty="0" smtClean="0"/>
              <a:t>elementos diretamente </a:t>
            </a:r>
            <a:r>
              <a:rPr lang="pt-BR" dirty="0"/>
              <a:t>relacionados à mensuração da posição patrimonial e financeira </a:t>
            </a:r>
            <a:r>
              <a:rPr lang="pt-BR" dirty="0" smtClean="0"/>
              <a:t>no balanço </a:t>
            </a:r>
            <a:r>
              <a:rPr lang="pt-BR" dirty="0"/>
              <a:t>patrimonial são os ativos, os passivos e o patrimônio líquido. </a:t>
            </a:r>
            <a:r>
              <a:rPr lang="pt-BR" dirty="0" smtClean="0"/>
              <a:t>Os elementos </a:t>
            </a:r>
            <a:r>
              <a:rPr lang="pt-BR" dirty="0"/>
              <a:t>diretamente relacionados com a mensuração do desempenho </a:t>
            </a:r>
            <a:r>
              <a:rPr lang="pt-BR" dirty="0" smtClean="0"/>
              <a:t>na demonstração </a:t>
            </a:r>
            <a:r>
              <a:rPr lang="pt-BR" dirty="0"/>
              <a:t>do resultado são as receitas e as despesas. A demonstração </a:t>
            </a:r>
            <a:r>
              <a:rPr lang="pt-BR" dirty="0" smtClean="0"/>
              <a:t>das mutações </a:t>
            </a:r>
            <a:r>
              <a:rPr lang="pt-BR" dirty="0"/>
              <a:t>na posição financeira usualmente reflete os elementos </a:t>
            </a:r>
            <a:r>
              <a:rPr lang="pt-BR" dirty="0" smtClean="0"/>
              <a:t>da demonstração </a:t>
            </a:r>
            <a:r>
              <a:rPr lang="pt-BR" dirty="0"/>
              <a:t>do resultado e as alterações nos elementos do balanço </a:t>
            </a:r>
            <a:r>
              <a:rPr lang="pt-BR" dirty="0" smtClean="0"/>
              <a:t>patrimonial. Assim</a:t>
            </a:r>
            <a:r>
              <a:rPr lang="pt-BR" dirty="0"/>
              <a:t>, esta </a:t>
            </a:r>
            <a:r>
              <a:rPr lang="pt-BR" i="1" dirty="0"/>
              <a:t>Estrutura Conceitual </a:t>
            </a:r>
            <a:r>
              <a:rPr lang="pt-BR" dirty="0"/>
              <a:t>não identifica qualquer elemento que </a:t>
            </a:r>
            <a:r>
              <a:rPr lang="pt-BR" dirty="0" smtClean="0"/>
              <a:t>seja exclusivo </a:t>
            </a:r>
            <a:r>
              <a:rPr lang="pt-BR" dirty="0"/>
              <a:t>dessa demonstração.</a:t>
            </a:r>
          </a:p>
          <a:p>
            <a:pPr lvl="1"/>
            <a:endParaRPr lang="pt-BR" dirty="0" smtClean="0"/>
          </a:p>
          <a:p>
            <a:pPr lvl="1"/>
            <a:r>
              <a:rPr lang="pt-BR" dirty="0" smtClean="0"/>
              <a:t>A </a:t>
            </a:r>
            <a:r>
              <a:rPr lang="pt-BR" dirty="0"/>
              <a:t>apresentação desses elementos no balanço patrimonial e na demonstração </a:t>
            </a:r>
            <a:r>
              <a:rPr lang="pt-BR" dirty="0" smtClean="0"/>
              <a:t>do resultado </a:t>
            </a:r>
            <a:r>
              <a:rPr lang="pt-BR" dirty="0"/>
              <a:t>envolve um processo de subclassificação. Por exemplo, ativos </a:t>
            </a:r>
            <a:r>
              <a:rPr lang="pt-BR" dirty="0" smtClean="0"/>
              <a:t>e passivos </a:t>
            </a:r>
            <a:r>
              <a:rPr lang="pt-BR" dirty="0"/>
              <a:t>podem ser classificados por sua natureza ou função nos negócios </a:t>
            </a:r>
            <a:r>
              <a:rPr lang="pt-BR" dirty="0" smtClean="0"/>
              <a:t>da entidade</a:t>
            </a:r>
            <a:r>
              <a:rPr lang="pt-BR" dirty="0"/>
              <a:t>, a fim de mostrar as informações da maneira mais útil aos usuários </a:t>
            </a:r>
            <a:r>
              <a:rPr lang="pt-BR" dirty="0" smtClean="0"/>
              <a:t>para fins </a:t>
            </a:r>
            <a:r>
              <a:rPr lang="pt-BR" dirty="0"/>
              <a:t>de tomada de decisões econômicas.</a:t>
            </a:r>
            <a:endParaRPr lang="pt-BR" b="1" dirty="0" smtClean="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23</a:t>
            </a:fld>
            <a:endParaRPr lang="pt-BR" dirty="0"/>
          </a:p>
        </p:txBody>
      </p:sp>
    </p:spTree>
    <p:extLst>
      <p:ext uri="{BB962C8B-B14F-4D97-AF65-F5344CB8AC3E}">
        <p14:creationId xmlns:p14="http://schemas.microsoft.com/office/powerpoint/2010/main" val="1119247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Objetivos</a:t>
            </a:r>
          </a:p>
          <a:p>
            <a:pPr lvl="1"/>
            <a:endParaRPr lang="pt-BR" dirty="0" smtClean="0"/>
          </a:p>
          <a:p>
            <a:pPr lvl="1"/>
            <a:r>
              <a:rPr lang="pt-BR" altLang="pt-BR" dirty="0"/>
              <a:t>A análise das demonstrações financeiras exige conhecimento do que representa cada conta que nela figura. Há uma infinidade de contas decorrentes de inumeráveis operações realizadas por empresa das mais diferentes atividades;</a:t>
            </a:r>
          </a:p>
          <a:p>
            <a:pPr lvl="1"/>
            <a:r>
              <a:rPr lang="pt-BR" altLang="pt-BR" dirty="0"/>
              <a:t>Mesmo o exame das operações de uma simples empresa comercial revela enorme profusão de contas, e sem uma noção do que estas representam, a interpretação das demonstrações financeiras fica prejudicada.</a:t>
            </a:r>
          </a:p>
          <a:p>
            <a:pPr lvl="1"/>
            <a:r>
              <a:rPr lang="pt-BR" altLang="pt-BR" dirty="0"/>
              <a:t>A análise de balanço visa extrair informações para a tomada de decisão. O perfeito conhecimento do significada de cada conta facilita a busca de informações precisas.</a:t>
            </a:r>
          </a:p>
          <a:p>
            <a:pPr lvl="1"/>
            <a:endParaRPr lang="pt-BR" dirty="0" smtClean="0"/>
          </a:p>
          <a:p>
            <a:r>
              <a:rPr lang="pt-BR" dirty="0" smtClean="0"/>
              <a:t>Relatórios e Informações</a:t>
            </a:r>
          </a:p>
          <a:p>
            <a:endParaRPr lang="pt-BR" dirty="0"/>
          </a:p>
          <a:p>
            <a:pPr lvl="1"/>
            <a:r>
              <a:rPr lang="pt-BR" dirty="0" smtClean="0"/>
              <a:t>Para a publicação de uma empresa é necessária no mínimo 4 relatórios para esta realizar a mesma.</a:t>
            </a:r>
          </a:p>
          <a:p>
            <a:endParaRPr lang="pt-BR" dirty="0"/>
          </a:p>
          <a:p>
            <a:endParaRPr lang="pt-BR" dirty="0"/>
          </a:p>
          <a:p>
            <a:pPr lvl="1"/>
            <a:endParaRPr lang="pt-BR" dirty="0" smtClean="0"/>
          </a:p>
          <a:p>
            <a:pPr lvl="1"/>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24</a:t>
            </a:fld>
            <a:endParaRPr lang="pt-BR" dirty="0"/>
          </a:p>
        </p:txBody>
      </p:sp>
    </p:spTree>
    <p:extLst>
      <p:ext uri="{BB962C8B-B14F-4D97-AF65-F5344CB8AC3E}">
        <p14:creationId xmlns:p14="http://schemas.microsoft.com/office/powerpoint/2010/main" val="9398102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pPr>
              <a:defRPr/>
            </a:pPr>
            <a:r>
              <a:rPr lang="pt-BR" dirty="0"/>
              <a:t>Relatório da Diretoria</a:t>
            </a:r>
          </a:p>
          <a:p>
            <a:pPr lvl="1">
              <a:defRPr/>
            </a:pPr>
            <a:endParaRPr lang="pt-BR" dirty="0" smtClean="0"/>
          </a:p>
          <a:p>
            <a:pPr lvl="1">
              <a:defRPr/>
            </a:pPr>
            <a:r>
              <a:rPr lang="pt-BR" dirty="0" smtClean="0"/>
              <a:t>Através </a:t>
            </a:r>
            <a:r>
              <a:rPr lang="pt-BR" dirty="0"/>
              <a:t>desse relatório, a diretoria presta informação ao acionista sobre diversos aspectos do desempenho e de perspectivas da sociedade relativas a estratégia de vendas, compras, produtos, expansão, ampliação da empresa, politica financeira, de recursos humanos, planos e previsões.</a:t>
            </a:r>
          </a:p>
          <a:p>
            <a:pPr marL="0" indent="0">
              <a:buFont typeface="Wingdings 3" panose="05040102010807070707" pitchFamily="18" charset="2"/>
              <a:buNone/>
              <a:defRPr/>
            </a:pPr>
            <a:endParaRPr lang="pt-BR" dirty="0"/>
          </a:p>
          <a:p>
            <a:pPr>
              <a:defRPr/>
            </a:pPr>
            <a:r>
              <a:rPr lang="pt-BR" dirty="0"/>
              <a:t>Demonstrações </a:t>
            </a:r>
            <a:r>
              <a:rPr lang="pt-BR" dirty="0" smtClean="0"/>
              <a:t>Financeiras</a:t>
            </a:r>
          </a:p>
          <a:p>
            <a:pPr>
              <a:defRPr/>
            </a:pPr>
            <a:endParaRPr lang="pt-BR" dirty="0"/>
          </a:p>
          <a:p>
            <a:pPr lvl="1">
              <a:defRPr/>
            </a:pPr>
            <a:r>
              <a:rPr lang="pt-BR" dirty="0"/>
              <a:t>Balanço Patrimonial</a:t>
            </a:r>
          </a:p>
          <a:p>
            <a:pPr lvl="1">
              <a:defRPr/>
            </a:pPr>
            <a:r>
              <a:rPr lang="pt-BR" dirty="0"/>
              <a:t>Demonstração do Resultado do Exercício</a:t>
            </a:r>
          </a:p>
          <a:p>
            <a:pPr lvl="1">
              <a:defRPr/>
            </a:pPr>
            <a:r>
              <a:rPr lang="pt-BR" dirty="0"/>
              <a:t>Demonstração de Lucro ou Prejuízos Acumulados, que pode ser substituído pelas Demonstração das Mutações do Patrimônio Liquido</a:t>
            </a:r>
          </a:p>
          <a:p>
            <a:pPr lvl="1">
              <a:defRPr/>
            </a:pPr>
            <a:r>
              <a:rPr lang="pt-BR" dirty="0"/>
              <a:t>Demonstração </a:t>
            </a:r>
            <a:r>
              <a:rPr lang="pt-BR" dirty="0" smtClean="0"/>
              <a:t>do Fluxo de Caixa Liquido da Empresa</a:t>
            </a:r>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25</a:t>
            </a:fld>
            <a:endParaRPr lang="pt-BR" dirty="0"/>
          </a:p>
        </p:txBody>
      </p:sp>
    </p:spTree>
    <p:extLst>
      <p:ext uri="{BB962C8B-B14F-4D97-AF65-F5344CB8AC3E}">
        <p14:creationId xmlns:p14="http://schemas.microsoft.com/office/powerpoint/2010/main" val="1788172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altLang="pt-BR" dirty="0"/>
              <a:t>Notas Explicativas</a:t>
            </a:r>
          </a:p>
          <a:p>
            <a:pPr lvl="1"/>
            <a:endParaRPr lang="pt-BR" altLang="pt-BR" dirty="0" smtClean="0"/>
          </a:p>
          <a:p>
            <a:pPr lvl="1"/>
            <a:r>
              <a:rPr lang="pt-BR" altLang="pt-BR" dirty="0" smtClean="0"/>
              <a:t>São </a:t>
            </a:r>
            <a:r>
              <a:rPr lang="pt-BR" altLang="pt-BR" dirty="0"/>
              <a:t>informações que complementam as demonstrações financeiras: critérios contábeis (avaliação de estoque), provisões (o que a empresa leva – se em conta para provisionar suas despesas), garantias a longo prazo, contingências de passivos, eventos subsequentes à data do balanço que tenham efeitos relevantes sobre a situação financeira da companhia.</a:t>
            </a:r>
          </a:p>
          <a:p>
            <a:endParaRPr lang="pt-BR" altLang="pt-BR" dirty="0"/>
          </a:p>
          <a:p>
            <a:r>
              <a:rPr lang="pt-BR" altLang="pt-BR" dirty="0"/>
              <a:t>Parecer dos Auditores</a:t>
            </a:r>
          </a:p>
          <a:p>
            <a:pPr lvl="1"/>
            <a:endParaRPr lang="pt-BR" altLang="pt-BR" dirty="0" smtClean="0"/>
          </a:p>
          <a:p>
            <a:pPr lvl="1"/>
            <a:r>
              <a:rPr lang="pt-BR" altLang="pt-BR" dirty="0" smtClean="0"/>
              <a:t>É </a:t>
            </a:r>
            <a:r>
              <a:rPr lang="pt-BR" altLang="pt-BR" dirty="0"/>
              <a:t>obrigatório para empresas abertas, ou seja, negociam ações na Bolsa de Valores. Os auditores não tem vinculo empregatício com a empresa, e os mesmos emitem opinião sobre a veracidade das demonstrações, verificando todos os controles internos da empresa, conferem lançamentos e conciliações, checam as movimentações de banco, clientes, estoques, fornecedores, tudo por amostragem</a:t>
            </a:r>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26</a:t>
            </a:fld>
            <a:endParaRPr lang="pt-BR" dirty="0"/>
          </a:p>
        </p:txBody>
      </p:sp>
    </p:spTree>
    <p:extLst>
      <p:ext uri="{BB962C8B-B14F-4D97-AF65-F5344CB8AC3E}">
        <p14:creationId xmlns:p14="http://schemas.microsoft.com/office/powerpoint/2010/main" val="350943824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Pontos Importantes sobre as Demonstrações</a:t>
            </a:r>
          </a:p>
          <a:p>
            <a:endParaRPr lang="pt-BR" dirty="0"/>
          </a:p>
          <a:p>
            <a:pPr lvl="1"/>
            <a:r>
              <a:rPr lang="pt-BR" altLang="pt-BR" dirty="0"/>
              <a:t>A Lei das S/A (Lei nº </a:t>
            </a:r>
            <a:r>
              <a:rPr lang="pt-BR" altLang="pt-BR" dirty="0" smtClean="0"/>
              <a:t>6.404/76) </a:t>
            </a:r>
            <a:r>
              <a:rPr lang="pt-BR" altLang="pt-BR" dirty="0"/>
              <a:t>determina a estrutura básica das 4 demonstrações financeiras.</a:t>
            </a:r>
          </a:p>
          <a:p>
            <a:pPr lvl="1"/>
            <a:endParaRPr lang="pt-BR" altLang="pt-BR" dirty="0" smtClean="0"/>
          </a:p>
          <a:p>
            <a:pPr lvl="1"/>
            <a:r>
              <a:rPr lang="pt-BR" altLang="pt-BR" dirty="0" smtClean="0"/>
              <a:t>A </a:t>
            </a:r>
            <a:r>
              <a:rPr lang="pt-BR" altLang="pt-BR" dirty="0"/>
              <a:t>legislação fiscal tomou como base esta lei para todas as demais empresas.</a:t>
            </a:r>
          </a:p>
          <a:p>
            <a:pPr lvl="1"/>
            <a:endParaRPr lang="pt-BR" altLang="pt-BR" dirty="0" smtClean="0"/>
          </a:p>
          <a:p>
            <a:pPr lvl="1"/>
            <a:r>
              <a:rPr lang="pt-BR" altLang="pt-BR" dirty="0" smtClean="0"/>
              <a:t>Basicamente </a:t>
            </a:r>
            <a:r>
              <a:rPr lang="pt-BR" altLang="pt-BR" dirty="0"/>
              <a:t>a lei, tem a seguintes disposição.</a:t>
            </a:r>
          </a:p>
          <a:p>
            <a:pPr lvl="2"/>
            <a:r>
              <a:rPr lang="pt-BR" altLang="pt-BR" dirty="0"/>
              <a:t>Demonstrações Financeiras obrigatórias.</a:t>
            </a:r>
          </a:p>
          <a:p>
            <a:pPr lvl="2"/>
            <a:r>
              <a:rPr lang="pt-BR" altLang="pt-BR" dirty="0"/>
              <a:t>Conteúdo das Demonstrações Financeiras</a:t>
            </a:r>
          </a:p>
          <a:p>
            <a:pPr lvl="2"/>
            <a:r>
              <a:rPr lang="pt-BR" altLang="pt-BR" dirty="0"/>
              <a:t>Critérios de avaliação de Ativo e Passivo</a:t>
            </a:r>
          </a:p>
          <a:p>
            <a:pPr lvl="2"/>
            <a:r>
              <a:rPr lang="pt-BR" altLang="pt-BR" dirty="0"/>
              <a:t>Correção Monetária do Balanço</a:t>
            </a:r>
          </a:p>
          <a:p>
            <a:pPr lvl="2"/>
            <a:r>
              <a:rPr lang="pt-BR" altLang="pt-BR" dirty="0"/>
              <a:t>Determinação do Lucro Liquido</a:t>
            </a:r>
          </a:p>
          <a:p>
            <a:pPr lvl="2"/>
            <a:r>
              <a:rPr lang="pt-BR" altLang="pt-BR" dirty="0"/>
              <a:t>Consolidação de Demonstrações Financeiras</a:t>
            </a:r>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27</a:t>
            </a:fld>
            <a:endParaRPr lang="pt-BR" dirty="0"/>
          </a:p>
        </p:txBody>
      </p:sp>
    </p:spTree>
    <p:extLst>
      <p:ext uri="{BB962C8B-B14F-4D97-AF65-F5344CB8AC3E}">
        <p14:creationId xmlns:p14="http://schemas.microsoft.com/office/powerpoint/2010/main" val="14888601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Pontos Importantes sobre as Demonstrações</a:t>
            </a:r>
          </a:p>
          <a:p>
            <a:endParaRPr lang="pt-BR" dirty="0" smtClean="0"/>
          </a:p>
          <a:p>
            <a:pPr lvl="1"/>
            <a:r>
              <a:rPr lang="pt-BR" altLang="pt-BR" i="1" dirty="0"/>
              <a:t>De acordo </a:t>
            </a:r>
            <a:r>
              <a:rPr lang="pt-BR" altLang="pt-BR" dirty="0"/>
              <a:t>Lei 11.638 de 28/12/2007 - MP 449 DE 3/12/2008</a:t>
            </a:r>
          </a:p>
          <a:p>
            <a:pPr lvl="1"/>
            <a:r>
              <a:rPr lang="pt-BR" altLang="pt-BR" dirty="0"/>
              <a:t>Para todas as empresas submetidas ao Regime de Lucro Real</a:t>
            </a:r>
          </a:p>
          <a:p>
            <a:pPr lvl="2"/>
            <a:endParaRPr lang="pt-BR" altLang="pt-BR" sz="1200" dirty="0" smtClean="0"/>
          </a:p>
          <a:p>
            <a:pPr lvl="2"/>
            <a:r>
              <a:rPr lang="pt-BR" altLang="pt-BR" dirty="0" smtClean="0"/>
              <a:t>Balanço </a:t>
            </a:r>
            <a:r>
              <a:rPr lang="pt-BR" altLang="pt-BR" dirty="0"/>
              <a:t>Patrimonial</a:t>
            </a:r>
          </a:p>
          <a:p>
            <a:pPr lvl="2"/>
            <a:r>
              <a:rPr lang="pt-BR" altLang="pt-BR" dirty="0" smtClean="0"/>
              <a:t>Demonstração </a:t>
            </a:r>
            <a:r>
              <a:rPr lang="pt-BR" altLang="pt-BR" dirty="0"/>
              <a:t>de Resultados do Exercício – DRE</a:t>
            </a:r>
          </a:p>
          <a:p>
            <a:pPr lvl="2"/>
            <a:r>
              <a:rPr lang="pt-BR" altLang="pt-BR" dirty="0" smtClean="0"/>
              <a:t>Demonstração </a:t>
            </a:r>
            <a:r>
              <a:rPr lang="pt-BR" altLang="pt-BR" dirty="0"/>
              <a:t>de Lucros ou Prejuízos Acumulados – DLPA ou DMPL</a:t>
            </a:r>
          </a:p>
          <a:p>
            <a:pPr lvl="1"/>
            <a:endParaRPr lang="pt-BR" dirty="0" smtClean="0"/>
          </a:p>
          <a:p>
            <a:pPr lvl="1"/>
            <a:r>
              <a:rPr lang="pt-BR" altLang="pt-BR" dirty="0"/>
              <a:t>Para as Empresas em </a:t>
            </a:r>
            <a:r>
              <a:rPr lang="pt-BR" altLang="pt-BR" dirty="0" smtClean="0"/>
              <a:t>Geral</a:t>
            </a:r>
          </a:p>
          <a:p>
            <a:pPr lvl="2"/>
            <a:endParaRPr lang="pt-BR" altLang="pt-BR" sz="1400" dirty="0"/>
          </a:p>
          <a:p>
            <a:pPr lvl="2"/>
            <a:r>
              <a:rPr lang="pt-BR" altLang="pt-BR" dirty="0" smtClean="0"/>
              <a:t>Demonstração </a:t>
            </a:r>
            <a:r>
              <a:rPr lang="pt-BR" altLang="pt-BR" dirty="0"/>
              <a:t>do Fluxo de Caixa (empresas com PL superior a R$ 2 milhões)</a:t>
            </a:r>
          </a:p>
          <a:p>
            <a:pPr>
              <a:buFont typeface="Century Gothic" panose="020B0502020202020204" pitchFamily="34" charset="0"/>
              <a:buAutoNum type="arabicPeriod"/>
            </a:pPr>
            <a:endParaRPr lang="pt-BR" altLang="pt-BR" sz="1600" dirty="0"/>
          </a:p>
          <a:p>
            <a:pPr lvl="1"/>
            <a:r>
              <a:rPr lang="pt-BR" altLang="pt-BR" dirty="0"/>
              <a:t>Para as Empresas de Capital </a:t>
            </a:r>
            <a:r>
              <a:rPr lang="pt-BR" altLang="pt-BR" dirty="0" smtClean="0"/>
              <a:t>Aberto</a:t>
            </a:r>
          </a:p>
          <a:p>
            <a:pPr lvl="2"/>
            <a:r>
              <a:rPr lang="pt-BR" altLang="pt-BR" dirty="0"/>
              <a:t>D</a:t>
            </a:r>
            <a:r>
              <a:rPr lang="pt-BR" altLang="pt-BR" dirty="0" smtClean="0"/>
              <a:t>emonstração </a:t>
            </a:r>
            <a:r>
              <a:rPr lang="pt-BR" altLang="pt-BR" dirty="0"/>
              <a:t>de Valor Adicionado – </a:t>
            </a:r>
            <a:r>
              <a:rPr lang="pt-BR" altLang="pt-BR" dirty="0" smtClean="0"/>
              <a:t>DVA</a:t>
            </a:r>
          </a:p>
          <a:p>
            <a:pPr lvl="2"/>
            <a:r>
              <a:rPr lang="pt-BR" altLang="pt-BR" dirty="0" smtClean="0"/>
              <a:t>Demonstração </a:t>
            </a:r>
            <a:r>
              <a:rPr lang="pt-BR" altLang="pt-BR" dirty="0"/>
              <a:t>de Mutações do Patrimônio Líquido - DMPL</a:t>
            </a:r>
          </a:p>
          <a:p>
            <a:pPr lvl="1"/>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28</a:t>
            </a:fld>
            <a:endParaRPr lang="pt-BR" dirty="0"/>
          </a:p>
        </p:txBody>
      </p:sp>
    </p:spTree>
    <p:extLst>
      <p:ext uri="{BB962C8B-B14F-4D97-AF65-F5344CB8AC3E}">
        <p14:creationId xmlns:p14="http://schemas.microsoft.com/office/powerpoint/2010/main" val="16361705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Balanço Patrimonial</a:t>
            </a:r>
          </a:p>
          <a:p>
            <a:endParaRPr lang="pt-BR" dirty="0"/>
          </a:p>
          <a:p>
            <a:pPr lvl="1"/>
            <a:r>
              <a:rPr lang="pt-BR" altLang="pt-BR" dirty="0"/>
              <a:t>É a demonstração que representa todos os </a:t>
            </a:r>
            <a:r>
              <a:rPr lang="pt-BR" altLang="pt-BR" u="sng" dirty="0"/>
              <a:t>Bens e Direitos </a:t>
            </a:r>
            <a:r>
              <a:rPr lang="pt-BR" altLang="pt-BR" dirty="0"/>
              <a:t>da empresa (Ativo). Assim como também todas as </a:t>
            </a:r>
            <a:r>
              <a:rPr lang="pt-BR" altLang="pt-BR" u="sng" dirty="0"/>
              <a:t>Obrigações</a:t>
            </a:r>
            <a:r>
              <a:rPr lang="pt-BR" altLang="pt-BR" dirty="0"/>
              <a:t> (Passivo) em determinada data.</a:t>
            </a:r>
          </a:p>
          <a:p>
            <a:pPr lvl="1"/>
            <a:endParaRPr lang="pt-BR" altLang="pt-BR" dirty="0" smtClean="0"/>
          </a:p>
          <a:p>
            <a:pPr lvl="1"/>
            <a:r>
              <a:rPr lang="pt-BR" altLang="pt-BR" dirty="0" smtClean="0"/>
              <a:t>A </a:t>
            </a:r>
            <a:r>
              <a:rPr lang="pt-BR" altLang="pt-BR" dirty="0"/>
              <a:t>diferença entre Bens + Direitos – Obrigações chamamos de </a:t>
            </a:r>
            <a:r>
              <a:rPr lang="pt-BR" altLang="pt-BR" u="sng" dirty="0"/>
              <a:t>Patrimônio Liquido</a:t>
            </a:r>
            <a:r>
              <a:rPr lang="pt-BR" altLang="pt-BR" dirty="0"/>
              <a:t> da Empresa, que representa o capital investido pelos proprietários da empresa, quer através de recursos trazidos de fora da empresa, quer gerados por esta em suas operações.</a:t>
            </a:r>
          </a:p>
          <a:p>
            <a:pPr lvl="1"/>
            <a:endParaRPr lang="pt-BR" altLang="pt-BR" dirty="0" smtClean="0"/>
          </a:p>
          <a:p>
            <a:pPr lvl="1"/>
            <a:r>
              <a:rPr lang="pt-BR" altLang="pt-BR" dirty="0" smtClean="0"/>
              <a:t>A </a:t>
            </a:r>
            <a:r>
              <a:rPr lang="pt-BR" altLang="pt-BR" dirty="0"/>
              <a:t>Lei nº 6.404/76, diz que o Balanço Patrimonial deve conter no mínimo os seguintes grupos de </a:t>
            </a:r>
            <a:r>
              <a:rPr lang="pt-BR" altLang="pt-BR" dirty="0" smtClean="0"/>
              <a:t>conta que veremos ao longo da matéria.</a:t>
            </a:r>
            <a:endParaRPr lang="pt-BR" altLang="pt-BR" dirty="0"/>
          </a:p>
          <a:p>
            <a:pPr lvl="1"/>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29</a:t>
            </a:fld>
            <a:endParaRPr lang="pt-BR" dirty="0"/>
          </a:p>
        </p:txBody>
      </p:sp>
    </p:spTree>
    <p:extLst>
      <p:ext uri="{BB962C8B-B14F-4D97-AF65-F5344CB8AC3E}">
        <p14:creationId xmlns:p14="http://schemas.microsoft.com/office/powerpoint/2010/main" val="6782513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b="1" dirty="0" smtClean="0"/>
              <a:t>Ativos</a:t>
            </a:r>
            <a:endParaRPr lang="pt-BR" b="1" dirty="0"/>
          </a:p>
          <a:p>
            <a:pPr lvl="1"/>
            <a:endParaRPr lang="pt-BR" dirty="0" smtClean="0"/>
          </a:p>
          <a:p>
            <a:pPr lvl="1"/>
            <a:r>
              <a:rPr lang="pt-BR" dirty="0" smtClean="0"/>
              <a:t>Um </a:t>
            </a:r>
            <a:r>
              <a:rPr lang="pt-BR" dirty="0"/>
              <a:t>ativo é definido como sendo um recurso controlado </a:t>
            </a:r>
            <a:r>
              <a:rPr lang="pt-BR" dirty="0" smtClean="0"/>
              <a:t>pela entidade </a:t>
            </a:r>
            <a:r>
              <a:rPr lang="pt-BR" dirty="0"/>
              <a:t>como resultado de eventos passados e do qual </a:t>
            </a:r>
            <a:r>
              <a:rPr lang="pt-BR" dirty="0" smtClean="0"/>
              <a:t>se espera </a:t>
            </a:r>
            <a:r>
              <a:rPr lang="pt-BR" dirty="0"/>
              <a:t>que fluam futuros benefícios econômicos para a </a:t>
            </a:r>
            <a:r>
              <a:rPr lang="pt-BR" dirty="0" smtClean="0"/>
              <a:t>entidade. Note-se </a:t>
            </a:r>
            <a:r>
              <a:rPr lang="pt-BR" dirty="0"/>
              <a:t>que, apesar da definição de ativo mencionar que ele é </a:t>
            </a:r>
            <a:r>
              <a:rPr lang="pt-BR" dirty="0" smtClean="0"/>
              <a:t>um recurso </a:t>
            </a:r>
            <a:r>
              <a:rPr lang="pt-BR" dirty="0"/>
              <a:t>controlado, a essência do ativo é que tal recurso </a:t>
            </a:r>
            <a:r>
              <a:rPr lang="pt-BR" dirty="0" smtClean="0"/>
              <a:t>deve prover </a:t>
            </a:r>
            <a:r>
              <a:rPr lang="pt-BR" dirty="0"/>
              <a:t>benefícios econômicos futuros. Caso tais </a:t>
            </a:r>
            <a:r>
              <a:rPr lang="pt-BR" dirty="0" smtClean="0"/>
              <a:t>benefícios econômicos </a:t>
            </a:r>
            <a:r>
              <a:rPr lang="pt-BR" dirty="0"/>
              <a:t>não existam, o ativo também não existe</a:t>
            </a:r>
            <a:r>
              <a:rPr lang="pt-BR" dirty="0" smtClean="0"/>
              <a:t>. </a:t>
            </a:r>
          </a:p>
          <a:p>
            <a:pPr lvl="1"/>
            <a:endParaRPr lang="pt-BR" dirty="0" smtClean="0"/>
          </a:p>
          <a:p>
            <a:pPr lvl="1"/>
            <a:r>
              <a:rPr lang="pt-BR" dirty="0" smtClean="0"/>
              <a:t>O </a:t>
            </a:r>
            <a:r>
              <a:rPr lang="pt-BR" dirty="0"/>
              <a:t>benefício econômico futuro de um ativo é o seu potencial </a:t>
            </a:r>
            <a:r>
              <a:rPr lang="pt-BR" dirty="0" smtClean="0"/>
              <a:t>em contribuir</a:t>
            </a:r>
            <a:r>
              <a:rPr lang="pt-BR" dirty="0"/>
              <a:t>, direta ou indiretamente, para a ocorrência de fluxos </a:t>
            </a:r>
            <a:r>
              <a:rPr lang="pt-BR" dirty="0" smtClean="0"/>
              <a:t>de caixa </a:t>
            </a:r>
            <a:r>
              <a:rPr lang="pt-BR" dirty="0"/>
              <a:t>positivos para a entidade ou redução de fluxos de </a:t>
            </a:r>
            <a:r>
              <a:rPr lang="pt-BR" dirty="0" smtClean="0"/>
              <a:t>caixa negativos</a:t>
            </a:r>
            <a:r>
              <a:rPr lang="pt-BR" dirty="0"/>
              <a:t>. Os benefícios econômicos futuros gerados por um </a:t>
            </a:r>
            <a:r>
              <a:rPr lang="pt-BR" dirty="0" smtClean="0"/>
              <a:t>ativo podem </a:t>
            </a:r>
            <a:r>
              <a:rPr lang="pt-BR" dirty="0"/>
              <a:t>fluir para a entidade de diversas maneiras, como </a:t>
            </a:r>
            <a:r>
              <a:rPr lang="pt-BR" dirty="0" smtClean="0"/>
              <a:t>por exemplo:</a:t>
            </a:r>
          </a:p>
          <a:p>
            <a:pPr lvl="2"/>
            <a:endParaRPr lang="pt-BR" dirty="0" smtClean="0"/>
          </a:p>
          <a:p>
            <a:pPr lvl="2"/>
            <a:r>
              <a:rPr lang="pt-BR" dirty="0" smtClean="0"/>
              <a:t>(</a:t>
            </a:r>
            <a:r>
              <a:rPr lang="pt-BR" dirty="0"/>
              <a:t>a) usado isoladamente ou em conjunto com outros ativos </a:t>
            </a:r>
            <a:r>
              <a:rPr lang="pt-BR" dirty="0" smtClean="0"/>
              <a:t>na produção </a:t>
            </a:r>
            <a:r>
              <a:rPr lang="pt-BR" dirty="0"/>
              <a:t>de bens ou na prestação de serviços a </a:t>
            </a:r>
            <a:r>
              <a:rPr lang="pt-BR" dirty="0" smtClean="0"/>
              <a:t>serem vendidos </a:t>
            </a:r>
            <a:r>
              <a:rPr lang="pt-BR" dirty="0"/>
              <a:t>pela entidade;</a:t>
            </a:r>
          </a:p>
          <a:p>
            <a:pPr lvl="2"/>
            <a:r>
              <a:rPr lang="pt-BR" dirty="0"/>
              <a:t>(b) trocado por outros ativos;</a:t>
            </a:r>
          </a:p>
          <a:p>
            <a:pPr lvl="2"/>
            <a:r>
              <a:rPr lang="pt-BR" dirty="0"/>
              <a:t>(c) usado para liquidar um passivo; ou</a:t>
            </a:r>
          </a:p>
          <a:p>
            <a:pPr lvl="2"/>
            <a:r>
              <a:rPr lang="pt-BR" dirty="0"/>
              <a:t>(d) distribuído aos proprietários da entidade.</a:t>
            </a:r>
            <a:endParaRPr lang="pt-BR" b="1"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30</a:t>
            </a:fld>
            <a:endParaRPr lang="pt-BR" dirty="0"/>
          </a:p>
        </p:txBody>
      </p:sp>
    </p:spTree>
    <p:extLst>
      <p:ext uri="{BB962C8B-B14F-4D97-AF65-F5344CB8AC3E}">
        <p14:creationId xmlns:p14="http://schemas.microsoft.com/office/powerpoint/2010/main" val="35153883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753979"/>
            <a:ext cx="11569700" cy="5892633"/>
          </a:xfrm>
        </p:spPr>
        <p:txBody>
          <a:bodyPr>
            <a:normAutofit/>
          </a:bodyPr>
          <a:lstStyle/>
          <a:p>
            <a:r>
              <a:rPr lang="pt-BR" b="1" dirty="0" smtClean="0"/>
              <a:t>Passivos</a:t>
            </a:r>
          </a:p>
          <a:p>
            <a:endParaRPr lang="pt-BR" b="1" dirty="0" smtClean="0"/>
          </a:p>
          <a:p>
            <a:pPr lvl="1"/>
            <a:r>
              <a:rPr lang="pt-BR" dirty="0"/>
              <a:t>Um passivo é definido como sendo uma obrigação presente </a:t>
            </a:r>
            <a:r>
              <a:rPr lang="pt-BR" dirty="0" smtClean="0"/>
              <a:t>da entidade</a:t>
            </a:r>
            <a:r>
              <a:rPr lang="pt-BR" dirty="0"/>
              <a:t>, derivada de eventos passados, cuja liquidação </a:t>
            </a:r>
            <a:r>
              <a:rPr lang="pt-BR" dirty="0" smtClean="0"/>
              <a:t>se espera </a:t>
            </a:r>
            <a:r>
              <a:rPr lang="pt-BR" dirty="0"/>
              <a:t>que resulte na saída de recursos da entidade capazes </a:t>
            </a:r>
            <a:r>
              <a:rPr lang="pt-BR" dirty="0" smtClean="0"/>
              <a:t>de gerar </a:t>
            </a:r>
            <a:r>
              <a:rPr lang="pt-BR" dirty="0"/>
              <a:t>benefícios econômicos. Tais obrigações constituem </a:t>
            </a:r>
            <a:r>
              <a:rPr lang="pt-BR" dirty="0" smtClean="0"/>
              <a:t>um dever </a:t>
            </a:r>
            <a:r>
              <a:rPr lang="pt-BR" dirty="0"/>
              <a:t>ou responsabilidade de entregar ativos para quitação </a:t>
            </a:r>
            <a:r>
              <a:rPr lang="pt-BR" dirty="0" smtClean="0"/>
              <a:t>da </a:t>
            </a:r>
            <a:r>
              <a:rPr lang="pt-BR" dirty="0"/>
              <a:t>obrigação ou desempenhar uma dada tarefa de certa maneira</a:t>
            </a:r>
            <a:r>
              <a:rPr lang="pt-BR" dirty="0" smtClean="0"/>
              <a:t>. Essas </a:t>
            </a:r>
            <a:r>
              <a:rPr lang="pt-BR" dirty="0"/>
              <a:t>obrigações podem ser legalmente exigíveis </a:t>
            </a:r>
            <a:r>
              <a:rPr lang="pt-BR" dirty="0" smtClean="0"/>
              <a:t>em consequência </a:t>
            </a:r>
            <a:r>
              <a:rPr lang="pt-BR" dirty="0"/>
              <a:t>de contrato ou de exigências estatutárias, </a:t>
            </a:r>
            <a:r>
              <a:rPr lang="pt-BR" dirty="0" smtClean="0"/>
              <a:t>mas também </a:t>
            </a:r>
            <a:r>
              <a:rPr lang="pt-BR" dirty="0"/>
              <a:t>podem derivar de políticas específicas da entidade (</a:t>
            </a:r>
            <a:r>
              <a:rPr lang="pt-BR" dirty="0" smtClean="0"/>
              <a:t>tais como</a:t>
            </a:r>
            <a:r>
              <a:rPr lang="pt-BR" dirty="0"/>
              <a:t>, por exemplo, garantias estendidas e além dos prazos </a:t>
            </a:r>
            <a:r>
              <a:rPr lang="pt-BR" dirty="0" smtClean="0"/>
              <a:t>legais exigidos). </a:t>
            </a:r>
          </a:p>
          <a:p>
            <a:pPr lvl="1"/>
            <a:r>
              <a:rPr lang="pt-BR" dirty="0" smtClean="0"/>
              <a:t>Ressalta-se </a:t>
            </a:r>
            <a:r>
              <a:rPr lang="pt-BR" dirty="0"/>
              <a:t>que há uma distinção entre obrigação presente </a:t>
            </a:r>
            <a:r>
              <a:rPr lang="pt-BR" dirty="0" smtClean="0"/>
              <a:t>e compromisso </a:t>
            </a:r>
            <a:r>
              <a:rPr lang="pt-BR" dirty="0"/>
              <a:t>futuro: a decisão de adquirir ativos no futuro não </a:t>
            </a:r>
            <a:r>
              <a:rPr lang="pt-BR" dirty="0" smtClean="0"/>
              <a:t>dá origem</a:t>
            </a:r>
            <a:r>
              <a:rPr lang="pt-BR" dirty="0"/>
              <a:t>, por si só, a uma obrigação presente</a:t>
            </a:r>
            <a:r>
              <a:rPr lang="pt-BR" dirty="0" smtClean="0"/>
              <a:t>.</a:t>
            </a:r>
          </a:p>
          <a:p>
            <a:pPr lvl="1"/>
            <a:r>
              <a:rPr lang="pt-BR" dirty="0"/>
              <a:t>A liquidação de uma obrigação presente pode ocorrer por meio de:</a:t>
            </a:r>
          </a:p>
          <a:p>
            <a:pPr lvl="2"/>
            <a:endParaRPr lang="pt-BR" dirty="0" smtClean="0"/>
          </a:p>
          <a:p>
            <a:pPr lvl="2"/>
            <a:r>
              <a:rPr lang="pt-BR" dirty="0" smtClean="0"/>
              <a:t>(</a:t>
            </a:r>
            <a:r>
              <a:rPr lang="pt-BR" dirty="0"/>
              <a:t>a) pagamento em </a:t>
            </a:r>
            <a:r>
              <a:rPr lang="pt-BR" dirty="0" smtClean="0"/>
              <a:t>caixa</a:t>
            </a:r>
          </a:p>
          <a:p>
            <a:pPr lvl="2"/>
            <a:r>
              <a:rPr lang="pt-BR" dirty="0"/>
              <a:t>(b) transferência de outros ativos;</a:t>
            </a:r>
          </a:p>
          <a:p>
            <a:pPr lvl="2"/>
            <a:r>
              <a:rPr lang="pt-BR" dirty="0"/>
              <a:t>(c) prestação de serviços;</a:t>
            </a:r>
          </a:p>
          <a:p>
            <a:pPr lvl="2"/>
            <a:r>
              <a:rPr lang="pt-BR" dirty="0"/>
              <a:t>(d) substituição da obrigação por outra; ou</a:t>
            </a:r>
          </a:p>
          <a:p>
            <a:pPr lvl="2"/>
            <a:r>
              <a:rPr lang="pt-BR" dirty="0"/>
              <a:t>(e) conversão da obrigação em item do patrimônio líquido.</a:t>
            </a:r>
          </a:p>
          <a:p>
            <a:pPr lvl="1"/>
            <a:endParaRPr lang="pt-BR" dirty="0" smtClean="0"/>
          </a:p>
          <a:p>
            <a:pPr lvl="1"/>
            <a:r>
              <a:rPr lang="pt-BR" dirty="0" smtClean="0"/>
              <a:t>A </a:t>
            </a:r>
            <a:r>
              <a:rPr lang="pt-BR" dirty="0"/>
              <a:t>obrigação pode também ser extinta pela renúncia do credor </a:t>
            </a:r>
            <a:r>
              <a:rPr lang="pt-BR" dirty="0" smtClean="0"/>
              <a:t>ou pela </a:t>
            </a:r>
            <a:r>
              <a:rPr lang="pt-BR" dirty="0"/>
              <a:t>perda dos seus direitos.</a:t>
            </a:r>
            <a:endParaRPr lang="pt-BR" b="1"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31</a:t>
            </a:fld>
            <a:endParaRPr lang="pt-BR" dirty="0"/>
          </a:p>
        </p:txBody>
      </p:sp>
    </p:spTree>
    <p:extLst>
      <p:ext uri="{BB962C8B-B14F-4D97-AF65-F5344CB8AC3E}">
        <p14:creationId xmlns:p14="http://schemas.microsoft.com/office/powerpoint/2010/main" val="17949346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b="1" dirty="0"/>
              <a:t>Patrimônio Líquido</a:t>
            </a:r>
          </a:p>
          <a:p>
            <a:endParaRPr lang="pt-BR" dirty="0" smtClean="0"/>
          </a:p>
          <a:p>
            <a:pPr lvl="1"/>
            <a:r>
              <a:rPr lang="pt-BR" dirty="0" smtClean="0"/>
              <a:t>O </a:t>
            </a:r>
            <a:r>
              <a:rPr lang="pt-BR" dirty="0"/>
              <a:t>patrimônio líquido é definido como sendo o interesse </a:t>
            </a:r>
            <a:r>
              <a:rPr lang="pt-BR" dirty="0" smtClean="0"/>
              <a:t>residual nos </a:t>
            </a:r>
            <a:r>
              <a:rPr lang="pt-BR" dirty="0"/>
              <a:t>ativos da entidade depois de deduzidos todos os </a:t>
            </a:r>
            <a:r>
              <a:rPr lang="pt-BR" dirty="0" smtClean="0"/>
              <a:t>seus passivos</a:t>
            </a:r>
            <a:r>
              <a:rPr lang="pt-BR" dirty="0"/>
              <a:t>. Como é um valor residual, é apresentado no </a:t>
            </a:r>
            <a:r>
              <a:rPr lang="pt-BR" dirty="0" smtClean="0"/>
              <a:t>balanço patrimonial </a:t>
            </a:r>
            <a:r>
              <a:rPr lang="pt-BR" dirty="0"/>
              <a:t>levando-se em conta a mensuração dos ativos </a:t>
            </a:r>
            <a:r>
              <a:rPr lang="pt-BR" dirty="0" smtClean="0"/>
              <a:t>e passivos</a:t>
            </a:r>
            <a:r>
              <a:rPr lang="pt-BR" dirty="0"/>
              <a:t>. É importante ressaltar que o patrimônio líquido </a:t>
            </a:r>
            <a:r>
              <a:rPr lang="pt-BR" dirty="0" smtClean="0"/>
              <a:t>não representa </a:t>
            </a:r>
            <a:r>
              <a:rPr lang="pt-BR" dirty="0"/>
              <a:t>o valor de uma entidade, ou o valor pela qual ela </a:t>
            </a:r>
            <a:r>
              <a:rPr lang="pt-BR" dirty="0" smtClean="0"/>
              <a:t>deva ser </a:t>
            </a:r>
            <a:r>
              <a:rPr lang="pt-BR" dirty="0"/>
              <a:t>negociada. Caso isso venha a ocorrer, é somente </a:t>
            </a:r>
            <a:r>
              <a:rPr lang="pt-BR" dirty="0" smtClean="0"/>
              <a:t>por coincidência</a:t>
            </a:r>
            <a:r>
              <a:rPr lang="pt-BR" dirty="0"/>
              <a:t>.</a:t>
            </a:r>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32</a:t>
            </a:fld>
            <a:endParaRPr lang="pt-BR" dirty="0"/>
          </a:p>
        </p:txBody>
      </p:sp>
    </p:spTree>
    <p:extLst>
      <p:ext uri="{BB962C8B-B14F-4D97-AF65-F5344CB8AC3E}">
        <p14:creationId xmlns:p14="http://schemas.microsoft.com/office/powerpoint/2010/main" val="144382122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ATIVO</a:t>
            </a:r>
          </a:p>
          <a:p>
            <a:pPr lvl="1"/>
            <a:endParaRPr lang="pt-BR" dirty="0" smtClean="0"/>
          </a:p>
          <a:p>
            <a:pPr lvl="1"/>
            <a:r>
              <a:rPr lang="pt-BR" altLang="pt-BR" dirty="0"/>
              <a:t>Na Lei nº 6.404/76, em seu artigo 178 que no Ativo as contas serão dispostas em ordem decrescentes de grau de liquidez, e dentro desse conceito, as contas de Disponibilidade são as primeiras a serem apresentadas, e também como definido pelo artigo 179 são enquadradas no Ativo Circulante</a:t>
            </a:r>
          </a:p>
          <a:p>
            <a:pPr lvl="1"/>
            <a:endParaRPr lang="pt-BR" altLang="pt-BR" dirty="0"/>
          </a:p>
          <a:p>
            <a:pPr lvl="1"/>
            <a:r>
              <a:rPr lang="pt-BR" altLang="pt-BR" dirty="0" smtClean="0"/>
              <a:t>Conceito: De </a:t>
            </a:r>
            <a:r>
              <a:rPr lang="pt-BR" altLang="pt-BR" dirty="0"/>
              <a:t>uma forma geral, são classificáveis no Ativo Circulante que tenham sua realização, certe ou provável, dentro do exercício seguinte, o que, normalmente, significa realização num prazo inferior a um ano do próprio </a:t>
            </a:r>
            <a:r>
              <a:rPr lang="pt-BR" altLang="pt-BR" dirty="0" smtClean="0"/>
              <a:t>balanço. E no Não Circulante as que ultrapassam este prazo.</a:t>
            </a:r>
            <a:endParaRPr lang="pt-BR" altLang="pt-BR" dirty="0"/>
          </a:p>
          <a:p>
            <a:pPr lvl="1"/>
            <a:endParaRPr lang="pt-BR" dirty="0" smtClean="0"/>
          </a:p>
          <a:p>
            <a:endParaRPr lang="pt-BR" dirty="0"/>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33</a:t>
            </a:fld>
            <a:endParaRPr lang="pt-BR" dirty="0"/>
          </a:p>
        </p:txBody>
      </p:sp>
      <p:grpSp>
        <p:nvGrpSpPr>
          <p:cNvPr id="4" name="Grupo 4"/>
          <p:cNvGrpSpPr>
            <a:grpSpLocks/>
          </p:cNvGrpSpPr>
          <p:nvPr/>
        </p:nvGrpSpPr>
        <p:grpSpPr bwMode="auto">
          <a:xfrm>
            <a:off x="3125610" y="3717478"/>
            <a:ext cx="8569325" cy="2740472"/>
            <a:chOff x="179388" y="1773238"/>
            <a:chExt cx="8782050" cy="3592512"/>
          </a:xfrm>
        </p:grpSpPr>
        <p:sp>
          <p:nvSpPr>
            <p:cNvPr id="5" name="Rectangle 6"/>
            <p:cNvSpPr>
              <a:spLocks noChangeArrowheads="1"/>
            </p:cNvSpPr>
            <p:nvPr/>
          </p:nvSpPr>
          <p:spPr bwMode="auto">
            <a:xfrm>
              <a:off x="179388" y="1773238"/>
              <a:ext cx="2697162" cy="476250"/>
            </a:xfrm>
            <a:prstGeom prst="rect">
              <a:avLst/>
            </a:prstGeom>
            <a:solidFill>
              <a:srgbClr val="000000"/>
            </a:solidFill>
            <a:ln w="6350">
              <a:solidFill>
                <a:schemeClr val="bg1"/>
              </a:solidFill>
              <a:miter lim="800000"/>
              <a:headEnd/>
              <a:tailEnd/>
            </a:ln>
            <a:effectLst>
              <a:outerShdw dist="107763" dir="2700000" algn="ctr" rotWithShape="0">
                <a:srgbClr val="C0C0C0">
                  <a:alpha val="50000"/>
                </a:srgbClr>
              </a:outerShdw>
            </a:effectLst>
          </p:spPr>
          <p:txBody>
            <a:bodyPr wrap="none" lIns="45720" rIns="45720"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endParaRPr lang="pt-BR" altLang="pt-BR" sz="1200">
                <a:solidFill>
                  <a:schemeClr val="tx1"/>
                </a:solidFill>
                <a:latin typeface="Arial" panose="020B0604020202020204" pitchFamily="34" charset="0"/>
                <a:cs typeface="Arial" panose="020B0604020202020204" pitchFamily="34" charset="0"/>
              </a:endParaRPr>
            </a:p>
          </p:txBody>
        </p:sp>
        <p:sp>
          <p:nvSpPr>
            <p:cNvPr id="6" name="Rectangle 7"/>
            <p:cNvSpPr>
              <a:spLocks noChangeArrowheads="1"/>
            </p:cNvSpPr>
            <p:nvPr/>
          </p:nvSpPr>
          <p:spPr bwMode="auto">
            <a:xfrm>
              <a:off x="179388" y="2312988"/>
              <a:ext cx="2697162" cy="3052762"/>
            </a:xfrm>
            <a:prstGeom prst="rect">
              <a:avLst/>
            </a:prstGeom>
            <a:solidFill>
              <a:srgbClr val="000000">
                <a:alpha val="50195"/>
              </a:srgbClr>
            </a:solidFill>
            <a:ln w="6350">
              <a:solidFill>
                <a:schemeClr val="bg1"/>
              </a:solidFill>
              <a:miter lim="800000"/>
              <a:headEnd/>
              <a:tailEnd/>
            </a:ln>
            <a:effectLst>
              <a:outerShdw dist="107763" dir="2700000" algn="ctr" rotWithShape="0">
                <a:srgbClr val="C0C0C0">
                  <a:alpha val="50000"/>
                </a:srgbClr>
              </a:outerShdw>
            </a:effectLst>
          </p:spPr>
          <p:txBody>
            <a:bodyPr wrap="none" lIns="45720" rIns="45720"/>
            <a:lstStyle>
              <a:lvl1pPr marL="114300" indent="-114300">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30000"/>
                </a:spcBef>
                <a:buClr>
                  <a:schemeClr val="folHlink"/>
                </a:buClr>
                <a:buFontTx/>
                <a:buChar char="•"/>
              </a:pPr>
              <a:endParaRPr lang="pt-BR" altLang="pt-BR" sz="1200">
                <a:solidFill>
                  <a:schemeClr val="tx1"/>
                </a:solidFill>
                <a:latin typeface="Arial" panose="020B0604020202020204" pitchFamily="34" charset="0"/>
                <a:cs typeface="Arial" panose="020B0604020202020204" pitchFamily="34" charset="0"/>
              </a:endParaRPr>
            </a:p>
          </p:txBody>
        </p:sp>
        <p:sp>
          <p:nvSpPr>
            <p:cNvPr id="7" name="Rectangle 8"/>
            <p:cNvSpPr>
              <a:spLocks noChangeArrowheads="1"/>
            </p:cNvSpPr>
            <p:nvPr/>
          </p:nvSpPr>
          <p:spPr bwMode="auto">
            <a:xfrm>
              <a:off x="3203575" y="1773238"/>
              <a:ext cx="2695575" cy="476250"/>
            </a:xfrm>
            <a:prstGeom prst="rect">
              <a:avLst/>
            </a:prstGeom>
            <a:solidFill>
              <a:srgbClr val="000000"/>
            </a:solidFill>
            <a:ln w="6350">
              <a:solidFill>
                <a:schemeClr val="bg1"/>
              </a:solidFill>
              <a:miter lim="800000"/>
              <a:headEnd/>
              <a:tailEnd/>
            </a:ln>
            <a:effectLst>
              <a:outerShdw dist="107763" dir="2700000" algn="ctr" rotWithShape="0">
                <a:srgbClr val="C0C0C0">
                  <a:alpha val="50000"/>
                </a:srgbClr>
              </a:outerShdw>
            </a:effectLst>
          </p:spPr>
          <p:txBody>
            <a:bodyPr wrap="none" lIns="45720" rIns="45720"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endParaRPr lang="pt-BR" altLang="pt-BR" sz="1200">
                <a:solidFill>
                  <a:schemeClr val="tx1"/>
                </a:solidFill>
                <a:latin typeface="Arial" panose="020B0604020202020204" pitchFamily="34" charset="0"/>
                <a:cs typeface="Arial" panose="020B0604020202020204" pitchFamily="34" charset="0"/>
              </a:endParaRPr>
            </a:p>
          </p:txBody>
        </p:sp>
        <p:sp>
          <p:nvSpPr>
            <p:cNvPr id="8" name="Rectangle 9"/>
            <p:cNvSpPr>
              <a:spLocks noChangeArrowheads="1"/>
            </p:cNvSpPr>
            <p:nvPr/>
          </p:nvSpPr>
          <p:spPr bwMode="auto">
            <a:xfrm>
              <a:off x="3240088" y="2312988"/>
              <a:ext cx="2697162" cy="3052762"/>
            </a:xfrm>
            <a:prstGeom prst="rect">
              <a:avLst/>
            </a:prstGeom>
            <a:solidFill>
              <a:schemeClr val="tx1">
                <a:alpha val="50195"/>
              </a:schemeClr>
            </a:solidFill>
            <a:ln w="6350">
              <a:solidFill>
                <a:schemeClr val="bg1"/>
              </a:solidFill>
              <a:miter lim="800000"/>
              <a:headEnd/>
              <a:tailEnd/>
            </a:ln>
            <a:effectLst>
              <a:outerShdw dist="107763" dir="2700000" algn="ctr" rotWithShape="0">
                <a:srgbClr val="C0C0C0">
                  <a:alpha val="50000"/>
                </a:srgbClr>
              </a:outerShdw>
            </a:effectLst>
          </p:spPr>
          <p:txBody>
            <a:bodyPr wrap="none" lIns="45720" rIns="45720"/>
            <a:lstStyle>
              <a:lvl1pPr marL="114300" indent="-114300">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30000"/>
                </a:spcBef>
                <a:buClr>
                  <a:schemeClr val="folHlink"/>
                </a:buClr>
                <a:buFontTx/>
                <a:buChar char="•"/>
              </a:pPr>
              <a:endParaRPr lang="pt-BR" altLang="pt-BR" sz="1200">
                <a:solidFill>
                  <a:schemeClr val="tx1"/>
                </a:solidFill>
                <a:latin typeface="Arial" panose="020B0604020202020204" pitchFamily="34" charset="0"/>
                <a:cs typeface="Arial" panose="020B0604020202020204" pitchFamily="34" charset="0"/>
              </a:endParaRPr>
            </a:p>
          </p:txBody>
        </p:sp>
        <p:sp>
          <p:nvSpPr>
            <p:cNvPr id="9" name="Rectangle 10"/>
            <p:cNvSpPr>
              <a:spLocks noChangeArrowheads="1"/>
            </p:cNvSpPr>
            <p:nvPr/>
          </p:nvSpPr>
          <p:spPr bwMode="auto">
            <a:xfrm>
              <a:off x="6264275" y="1773238"/>
              <a:ext cx="2697163" cy="476250"/>
            </a:xfrm>
            <a:prstGeom prst="rect">
              <a:avLst/>
            </a:prstGeom>
            <a:solidFill>
              <a:srgbClr val="000000"/>
            </a:solidFill>
            <a:ln w="6350">
              <a:solidFill>
                <a:schemeClr val="bg1"/>
              </a:solidFill>
              <a:miter lim="800000"/>
              <a:headEnd/>
              <a:tailEnd/>
            </a:ln>
            <a:effectLst>
              <a:outerShdw dist="107763" dir="2700000" algn="ctr" rotWithShape="0">
                <a:srgbClr val="C0C0C0">
                  <a:alpha val="50000"/>
                </a:srgbClr>
              </a:outerShdw>
            </a:effectLst>
          </p:spPr>
          <p:txBody>
            <a:bodyPr wrap="none" lIns="45720" rIns="45720"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endParaRPr lang="pt-BR" altLang="pt-BR" sz="1200">
                <a:solidFill>
                  <a:schemeClr val="tx1"/>
                </a:solidFill>
                <a:latin typeface="Arial" panose="020B0604020202020204" pitchFamily="34" charset="0"/>
                <a:cs typeface="Arial" panose="020B0604020202020204" pitchFamily="34" charset="0"/>
              </a:endParaRPr>
            </a:p>
          </p:txBody>
        </p:sp>
        <p:sp>
          <p:nvSpPr>
            <p:cNvPr id="10" name="Rectangle 11"/>
            <p:cNvSpPr>
              <a:spLocks noChangeArrowheads="1"/>
            </p:cNvSpPr>
            <p:nvPr/>
          </p:nvSpPr>
          <p:spPr bwMode="auto">
            <a:xfrm>
              <a:off x="6264275" y="2241550"/>
              <a:ext cx="2697163" cy="3052763"/>
            </a:xfrm>
            <a:prstGeom prst="rect">
              <a:avLst/>
            </a:prstGeom>
            <a:solidFill>
              <a:schemeClr val="tx1">
                <a:alpha val="50195"/>
              </a:schemeClr>
            </a:solidFill>
            <a:ln w="6350">
              <a:solidFill>
                <a:schemeClr val="bg1"/>
              </a:solidFill>
              <a:miter lim="800000"/>
              <a:headEnd/>
              <a:tailEnd/>
            </a:ln>
            <a:effectLst>
              <a:outerShdw dist="107763" dir="2700000" algn="ctr" rotWithShape="0">
                <a:srgbClr val="C0C0C0">
                  <a:alpha val="50000"/>
                </a:srgbClr>
              </a:outerShdw>
            </a:effectLst>
          </p:spPr>
          <p:txBody>
            <a:bodyPr wrap="none" lIns="45720" rIns="45720"/>
            <a:lstStyle>
              <a:lvl1pPr marL="114300" indent="-114300">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30000"/>
                </a:spcBef>
                <a:buClr>
                  <a:schemeClr val="folHlink"/>
                </a:buClr>
                <a:buFontTx/>
                <a:buChar char="•"/>
              </a:pPr>
              <a:endParaRPr lang="pt-BR" altLang="pt-BR" sz="1200">
                <a:solidFill>
                  <a:schemeClr val="tx1"/>
                </a:solidFill>
                <a:latin typeface="Arial" panose="020B0604020202020204" pitchFamily="34" charset="0"/>
                <a:cs typeface="Arial" panose="020B0604020202020204" pitchFamily="34" charset="0"/>
              </a:endParaRPr>
            </a:p>
          </p:txBody>
        </p:sp>
        <p:sp>
          <p:nvSpPr>
            <p:cNvPr id="11" name="Text Box 12"/>
            <p:cNvSpPr txBox="1">
              <a:spLocks noChangeArrowheads="1"/>
            </p:cNvSpPr>
            <p:nvPr/>
          </p:nvSpPr>
          <p:spPr bwMode="auto">
            <a:xfrm>
              <a:off x="741363" y="1795463"/>
              <a:ext cx="1053360" cy="36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200">
                  <a:solidFill>
                    <a:schemeClr val="bg1"/>
                  </a:solidFill>
                  <a:latin typeface="Arial" panose="020B0604020202020204" pitchFamily="34" charset="0"/>
                  <a:cs typeface="Arial" panose="020B0604020202020204" pitchFamily="34" charset="0"/>
                </a:rPr>
                <a:t>Lei 6.404/76</a:t>
              </a:r>
            </a:p>
          </p:txBody>
        </p:sp>
        <p:sp>
          <p:nvSpPr>
            <p:cNvPr id="12" name="Text Box 13"/>
            <p:cNvSpPr txBox="1">
              <a:spLocks noChangeArrowheads="1"/>
            </p:cNvSpPr>
            <p:nvPr/>
          </p:nvSpPr>
          <p:spPr bwMode="auto">
            <a:xfrm>
              <a:off x="3471862" y="1797049"/>
              <a:ext cx="1417864" cy="36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200">
                  <a:solidFill>
                    <a:schemeClr val="bg1"/>
                  </a:solidFill>
                  <a:latin typeface="Arial" panose="020B0604020202020204" pitchFamily="34" charset="0"/>
                  <a:cs typeface="Arial" panose="020B0604020202020204" pitchFamily="34" charset="0"/>
                </a:rPr>
                <a:t>Lei No. 11.638/07</a:t>
              </a:r>
            </a:p>
          </p:txBody>
        </p:sp>
        <p:sp>
          <p:nvSpPr>
            <p:cNvPr id="13" name="Text Box 14"/>
            <p:cNvSpPr txBox="1">
              <a:spLocks noChangeArrowheads="1"/>
            </p:cNvSpPr>
            <p:nvPr/>
          </p:nvSpPr>
          <p:spPr bwMode="auto">
            <a:xfrm>
              <a:off x="6310312" y="1847850"/>
              <a:ext cx="2062300" cy="36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200">
                  <a:solidFill>
                    <a:schemeClr val="bg1"/>
                  </a:solidFill>
                  <a:latin typeface="Arial" panose="020B0604020202020204" pitchFamily="34" charset="0"/>
                  <a:cs typeface="Arial" panose="020B0604020202020204" pitchFamily="34" charset="0"/>
                </a:rPr>
                <a:t>MP 449/08 e Lei 11.941/09</a:t>
              </a:r>
            </a:p>
          </p:txBody>
        </p:sp>
        <p:sp>
          <p:nvSpPr>
            <p:cNvPr id="14" name="Text Box 15"/>
            <p:cNvSpPr txBox="1">
              <a:spLocks noChangeArrowheads="1"/>
            </p:cNvSpPr>
            <p:nvPr/>
          </p:nvSpPr>
          <p:spPr bwMode="auto">
            <a:xfrm>
              <a:off x="323850" y="2414588"/>
              <a:ext cx="895652" cy="36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200" u="sng">
                  <a:solidFill>
                    <a:schemeClr val="bg1"/>
                  </a:solidFill>
                  <a:latin typeface="Arial" panose="020B0604020202020204" pitchFamily="34" charset="0"/>
                  <a:cs typeface="Arial" panose="020B0604020202020204" pitchFamily="34" charset="0"/>
                </a:rPr>
                <a:t>Circulante</a:t>
              </a:r>
            </a:p>
          </p:txBody>
        </p:sp>
        <p:sp>
          <p:nvSpPr>
            <p:cNvPr id="15" name="Text Box 16"/>
            <p:cNvSpPr txBox="1">
              <a:spLocks noChangeArrowheads="1"/>
            </p:cNvSpPr>
            <p:nvPr/>
          </p:nvSpPr>
          <p:spPr bwMode="auto">
            <a:xfrm>
              <a:off x="3390899" y="2416175"/>
              <a:ext cx="895652" cy="36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200" u="sng">
                  <a:solidFill>
                    <a:schemeClr val="bg1"/>
                  </a:solidFill>
                  <a:latin typeface="Arial" panose="020B0604020202020204" pitchFamily="34" charset="0"/>
                  <a:cs typeface="Arial" panose="020B0604020202020204" pitchFamily="34" charset="0"/>
                </a:rPr>
                <a:t>Circulante</a:t>
              </a:r>
            </a:p>
          </p:txBody>
        </p:sp>
        <p:sp>
          <p:nvSpPr>
            <p:cNvPr id="16" name="Text Box 17"/>
            <p:cNvSpPr txBox="1">
              <a:spLocks noChangeArrowheads="1"/>
            </p:cNvSpPr>
            <p:nvPr/>
          </p:nvSpPr>
          <p:spPr bwMode="auto">
            <a:xfrm>
              <a:off x="6443663" y="2417763"/>
              <a:ext cx="895652" cy="36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200" u="sng">
                  <a:solidFill>
                    <a:schemeClr val="bg1"/>
                  </a:solidFill>
                  <a:latin typeface="Arial" panose="020B0604020202020204" pitchFamily="34" charset="0"/>
                  <a:cs typeface="Arial" panose="020B0604020202020204" pitchFamily="34" charset="0"/>
                </a:rPr>
                <a:t>Circulante</a:t>
              </a:r>
            </a:p>
          </p:txBody>
        </p:sp>
        <p:sp>
          <p:nvSpPr>
            <p:cNvPr id="17" name="Text Box 18"/>
            <p:cNvSpPr txBox="1">
              <a:spLocks noChangeArrowheads="1"/>
            </p:cNvSpPr>
            <p:nvPr/>
          </p:nvSpPr>
          <p:spPr bwMode="auto">
            <a:xfrm>
              <a:off x="325438" y="3132138"/>
              <a:ext cx="1978256" cy="36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200" u="sng">
                  <a:solidFill>
                    <a:schemeClr val="bg1"/>
                  </a:solidFill>
                  <a:latin typeface="Arial" panose="020B0604020202020204" pitchFamily="34" charset="0"/>
                  <a:cs typeface="Arial" panose="020B0604020202020204" pitchFamily="34" charset="0"/>
                </a:rPr>
                <a:t>Realizável a Longo Prazo</a:t>
              </a:r>
            </a:p>
          </p:txBody>
        </p:sp>
        <p:sp>
          <p:nvSpPr>
            <p:cNvPr id="18" name="Text Box 19"/>
            <p:cNvSpPr txBox="1">
              <a:spLocks noChangeArrowheads="1"/>
            </p:cNvSpPr>
            <p:nvPr/>
          </p:nvSpPr>
          <p:spPr bwMode="auto">
            <a:xfrm>
              <a:off x="3360738" y="3133725"/>
              <a:ext cx="1978256" cy="36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200" u="sng">
                  <a:solidFill>
                    <a:schemeClr val="bg1"/>
                  </a:solidFill>
                  <a:latin typeface="Arial" panose="020B0604020202020204" pitchFamily="34" charset="0"/>
                  <a:cs typeface="Arial" panose="020B0604020202020204" pitchFamily="34" charset="0"/>
                </a:rPr>
                <a:t>Realizável a Longo Prazo</a:t>
              </a:r>
            </a:p>
          </p:txBody>
        </p:sp>
        <p:sp>
          <p:nvSpPr>
            <p:cNvPr id="19" name="Text Box 20"/>
            <p:cNvSpPr txBox="1">
              <a:spLocks noChangeArrowheads="1"/>
            </p:cNvSpPr>
            <p:nvPr/>
          </p:nvSpPr>
          <p:spPr bwMode="auto">
            <a:xfrm>
              <a:off x="6397625" y="3135313"/>
              <a:ext cx="1227497" cy="36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200" u="sng">
                  <a:solidFill>
                    <a:srgbClr val="FFFF00"/>
                  </a:solidFill>
                  <a:latin typeface="Arial" panose="020B0604020202020204" pitchFamily="34" charset="0"/>
                  <a:cs typeface="Arial" panose="020B0604020202020204" pitchFamily="34" charset="0"/>
                </a:rPr>
                <a:t>Não Circulante</a:t>
              </a:r>
            </a:p>
          </p:txBody>
        </p:sp>
        <p:sp>
          <p:nvSpPr>
            <p:cNvPr id="20" name="Text Box 22"/>
            <p:cNvSpPr txBox="1">
              <a:spLocks noChangeArrowheads="1"/>
            </p:cNvSpPr>
            <p:nvPr/>
          </p:nvSpPr>
          <p:spPr bwMode="auto">
            <a:xfrm>
              <a:off x="6767513" y="3500438"/>
              <a:ext cx="1257373" cy="1092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Char char="•"/>
              </a:pPr>
              <a:r>
                <a:rPr lang="pt-BR" altLang="pt-BR" sz="1200">
                  <a:solidFill>
                    <a:schemeClr val="bg1"/>
                  </a:solidFill>
                  <a:latin typeface="Arial" panose="020B0604020202020204" pitchFamily="34" charset="0"/>
                  <a:cs typeface="Arial" panose="020B0604020202020204" pitchFamily="34" charset="0"/>
                </a:rPr>
                <a:t> Realizável</a:t>
              </a:r>
            </a:p>
            <a:p>
              <a:pPr eaLnBrk="1" hangingPunct="1">
                <a:spcBef>
                  <a:spcPct val="0"/>
                </a:spcBef>
                <a:buClrTx/>
                <a:buFontTx/>
                <a:buChar char="•"/>
              </a:pPr>
              <a:r>
                <a:rPr lang="pt-BR" altLang="pt-BR" sz="1200">
                  <a:solidFill>
                    <a:schemeClr val="bg1"/>
                  </a:solidFill>
                  <a:latin typeface="Arial" panose="020B0604020202020204" pitchFamily="34" charset="0"/>
                  <a:cs typeface="Arial" panose="020B0604020202020204" pitchFamily="34" charset="0"/>
                </a:rPr>
                <a:t> Investimentos</a:t>
              </a:r>
            </a:p>
            <a:p>
              <a:pPr eaLnBrk="1" hangingPunct="1">
                <a:spcBef>
                  <a:spcPct val="0"/>
                </a:spcBef>
                <a:buClrTx/>
                <a:buFontTx/>
                <a:buChar char="•"/>
              </a:pPr>
              <a:r>
                <a:rPr lang="pt-BR" altLang="pt-BR" sz="1200">
                  <a:solidFill>
                    <a:schemeClr val="bg1"/>
                  </a:solidFill>
                  <a:latin typeface="Arial" panose="020B0604020202020204" pitchFamily="34" charset="0"/>
                  <a:cs typeface="Arial" panose="020B0604020202020204" pitchFamily="34" charset="0"/>
                </a:rPr>
                <a:t> Imobilizado</a:t>
              </a:r>
            </a:p>
            <a:p>
              <a:pPr eaLnBrk="1" hangingPunct="1">
                <a:spcBef>
                  <a:spcPct val="0"/>
                </a:spcBef>
                <a:buClrTx/>
                <a:buFontTx/>
                <a:buChar char="•"/>
              </a:pPr>
              <a:r>
                <a:rPr lang="pt-BR" altLang="pt-BR" sz="1200">
                  <a:solidFill>
                    <a:schemeClr val="bg1"/>
                  </a:solidFill>
                  <a:latin typeface="Arial" panose="020B0604020202020204" pitchFamily="34" charset="0"/>
                  <a:cs typeface="Arial" panose="020B0604020202020204" pitchFamily="34" charset="0"/>
                </a:rPr>
                <a:t> </a:t>
              </a:r>
              <a:r>
                <a:rPr lang="pt-BR" altLang="pt-BR" sz="1200">
                  <a:solidFill>
                    <a:srgbClr val="FF9900"/>
                  </a:solidFill>
                  <a:latin typeface="Arial" panose="020B0604020202020204" pitchFamily="34" charset="0"/>
                  <a:cs typeface="Arial" panose="020B0604020202020204" pitchFamily="34" charset="0"/>
                </a:rPr>
                <a:t>Intangível</a:t>
              </a:r>
              <a:endParaRPr lang="pt-BR" altLang="pt-BR" sz="1200">
                <a:solidFill>
                  <a:schemeClr val="bg1"/>
                </a:solidFill>
                <a:latin typeface="Arial" panose="020B0604020202020204" pitchFamily="34" charset="0"/>
                <a:cs typeface="Arial" panose="020B0604020202020204" pitchFamily="34" charset="0"/>
              </a:endParaRPr>
            </a:p>
          </p:txBody>
        </p:sp>
        <p:sp>
          <p:nvSpPr>
            <p:cNvPr id="21" name="Text Box 23"/>
            <p:cNvSpPr txBox="1">
              <a:spLocks noChangeArrowheads="1"/>
            </p:cNvSpPr>
            <p:nvPr/>
          </p:nvSpPr>
          <p:spPr bwMode="auto">
            <a:xfrm>
              <a:off x="330200" y="3595689"/>
              <a:ext cx="1045147" cy="36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200" u="sng">
                  <a:solidFill>
                    <a:schemeClr val="bg1"/>
                  </a:solidFill>
                  <a:latin typeface="Arial" panose="020B0604020202020204" pitchFamily="34" charset="0"/>
                  <a:cs typeface="Arial" panose="020B0604020202020204" pitchFamily="34" charset="0"/>
                </a:rPr>
                <a:t>Permanente</a:t>
              </a:r>
            </a:p>
          </p:txBody>
        </p:sp>
        <p:sp>
          <p:nvSpPr>
            <p:cNvPr id="22" name="Text Box 24"/>
            <p:cNvSpPr txBox="1">
              <a:spLocks noChangeArrowheads="1"/>
            </p:cNvSpPr>
            <p:nvPr/>
          </p:nvSpPr>
          <p:spPr bwMode="auto">
            <a:xfrm>
              <a:off x="3365500" y="3597275"/>
              <a:ext cx="1045147" cy="3631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200" u="sng">
                  <a:solidFill>
                    <a:schemeClr val="bg1"/>
                  </a:solidFill>
                  <a:latin typeface="Arial" panose="020B0604020202020204" pitchFamily="34" charset="0"/>
                  <a:cs typeface="Arial" panose="020B0604020202020204" pitchFamily="34" charset="0"/>
                </a:rPr>
                <a:t>Permanente</a:t>
              </a:r>
            </a:p>
          </p:txBody>
        </p:sp>
        <p:sp>
          <p:nvSpPr>
            <p:cNvPr id="23" name="Text Box 25"/>
            <p:cNvSpPr txBox="1">
              <a:spLocks noChangeArrowheads="1"/>
            </p:cNvSpPr>
            <p:nvPr/>
          </p:nvSpPr>
          <p:spPr bwMode="auto">
            <a:xfrm>
              <a:off x="3708400" y="4005263"/>
              <a:ext cx="1257373" cy="1092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Char char="•"/>
              </a:pPr>
              <a:r>
                <a:rPr lang="pt-BR" altLang="pt-BR" sz="1200" dirty="0">
                  <a:solidFill>
                    <a:schemeClr val="bg1"/>
                  </a:solidFill>
                  <a:latin typeface="Arial" panose="020B0604020202020204" pitchFamily="34" charset="0"/>
                  <a:cs typeface="Arial" panose="020B0604020202020204" pitchFamily="34" charset="0"/>
                </a:rPr>
                <a:t> Investimentos</a:t>
              </a:r>
            </a:p>
            <a:p>
              <a:pPr eaLnBrk="1" hangingPunct="1">
                <a:spcBef>
                  <a:spcPct val="0"/>
                </a:spcBef>
                <a:buClrTx/>
                <a:buFontTx/>
                <a:buChar char="•"/>
              </a:pPr>
              <a:r>
                <a:rPr lang="pt-BR" altLang="pt-BR" sz="1200" dirty="0">
                  <a:solidFill>
                    <a:schemeClr val="bg1"/>
                  </a:solidFill>
                  <a:latin typeface="Arial" panose="020B0604020202020204" pitchFamily="34" charset="0"/>
                  <a:cs typeface="Arial" panose="020B0604020202020204" pitchFamily="34" charset="0"/>
                </a:rPr>
                <a:t> Imobilizado</a:t>
              </a:r>
            </a:p>
            <a:p>
              <a:pPr eaLnBrk="1" hangingPunct="1">
                <a:spcBef>
                  <a:spcPct val="0"/>
                </a:spcBef>
                <a:buClrTx/>
                <a:buFontTx/>
                <a:buChar char="•"/>
              </a:pPr>
              <a:r>
                <a:rPr lang="pt-BR" altLang="pt-BR" sz="1200" dirty="0">
                  <a:solidFill>
                    <a:schemeClr val="bg1"/>
                  </a:solidFill>
                  <a:latin typeface="Arial" panose="020B0604020202020204" pitchFamily="34" charset="0"/>
                  <a:cs typeface="Arial" panose="020B0604020202020204" pitchFamily="34" charset="0"/>
                </a:rPr>
                <a:t> </a:t>
              </a:r>
              <a:r>
                <a:rPr lang="pt-BR" altLang="pt-BR" sz="1200" dirty="0">
                  <a:solidFill>
                    <a:srgbClr val="FFFF00"/>
                  </a:solidFill>
                  <a:latin typeface="Arial" panose="020B0604020202020204" pitchFamily="34" charset="0"/>
                  <a:cs typeface="Arial" panose="020B0604020202020204" pitchFamily="34" charset="0"/>
                </a:rPr>
                <a:t>Intangível</a:t>
              </a:r>
            </a:p>
            <a:p>
              <a:pPr eaLnBrk="1" hangingPunct="1">
                <a:spcBef>
                  <a:spcPct val="0"/>
                </a:spcBef>
                <a:buClrTx/>
                <a:buFontTx/>
                <a:buChar char="•"/>
              </a:pPr>
              <a:r>
                <a:rPr lang="pt-BR" altLang="pt-BR" sz="1200" dirty="0">
                  <a:solidFill>
                    <a:schemeClr val="bg1"/>
                  </a:solidFill>
                  <a:latin typeface="Arial" panose="020B0604020202020204" pitchFamily="34" charset="0"/>
                  <a:cs typeface="Arial" panose="020B0604020202020204" pitchFamily="34" charset="0"/>
                </a:rPr>
                <a:t> Diferido</a:t>
              </a:r>
            </a:p>
          </p:txBody>
        </p:sp>
        <p:sp>
          <p:nvSpPr>
            <p:cNvPr id="24" name="Text Box 26"/>
            <p:cNvSpPr txBox="1">
              <a:spLocks noChangeArrowheads="1"/>
            </p:cNvSpPr>
            <p:nvPr/>
          </p:nvSpPr>
          <p:spPr bwMode="auto">
            <a:xfrm>
              <a:off x="684213" y="3968750"/>
              <a:ext cx="1257373" cy="850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Char char="•"/>
              </a:pPr>
              <a:r>
                <a:rPr lang="pt-BR" altLang="pt-BR" sz="1200">
                  <a:solidFill>
                    <a:schemeClr val="bg1"/>
                  </a:solidFill>
                  <a:latin typeface="Arial" panose="020B0604020202020204" pitchFamily="34" charset="0"/>
                  <a:cs typeface="Arial" panose="020B0604020202020204" pitchFamily="34" charset="0"/>
                </a:rPr>
                <a:t> Investimentos</a:t>
              </a:r>
            </a:p>
            <a:p>
              <a:pPr eaLnBrk="1" hangingPunct="1">
                <a:spcBef>
                  <a:spcPct val="0"/>
                </a:spcBef>
                <a:buClrTx/>
                <a:buFontTx/>
                <a:buChar char="•"/>
              </a:pPr>
              <a:r>
                <a:rPr lang="pt-BR" altLang="pt-BR" sz="1200">
                  <a:solidFill>
                    <a:schemeClr val="bg1"/>
                  </a:solidFill>
                  <a:latin typeface="Arial" panose="020B0604020202020204" pitchFamily="34" charset="0"/>
                  <a:cs typeface="Arial" panose="020B0604020202020204" pitchFamily="34" charset="0"/>
                </a:rPr>
                <a:t> Imobilizado</a:t>
              </a:r>
            </a:p>
            <a:p>
              <a:pPr eaLnBrk="1" hangingPunct="1">
                <a:spcBef>
                  <a:spcPct val="0"/>
                </a:spcBef>
                <a:buClrTx/>
                <a:buFontTx/>
                <a:buChar char="•"/>
              </a:pPr>
              <a:r>
                <a:rPr lang="pt-BR" altLang="pt-BR" sz="1200">
                  <a:solidFill>
                    <a:schemeClr val="bg1"/>
                  </a:solidFill>
                  <a:latin typeface="Arial" panose="020B0604020202020204" pitchFamily="34" charset="0"/>
                  <a:cs typeface="Arial" panose="020B0604020202020204" pitchFamily="34" charset="0"/>
                </a:rPr>
                <a:t> Diferido</a:t>
              </a:r>
            </a:p>
          </p:txBody>
        </p:sp>
      </p:grpSp>
    </p:spTree>
    <p:extLst>
      <p:ext uri="{BB962C8B-B14F-4D97-AF65-F5344CB8AC3E}">
        <p14:creationId xmlns:p14="http://schemas.microsoft.com/office/powerpoint/2010/main" val="398561747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altLang="pt-BR" b="1" dirty="0" smtClean="0"/>
              <a:t>Disponibilidades</a:t>
            </a:r>
            <a:endParaRPr lang="pt-BR" altLang="pt-BR" b="1" dirty="0"/>
          </a:p>
          <a:p>
            <a:endParaRPr lang="pt-BR" altLang="pt-BR" dirty="0" smtClean="0"/>
          </a:p>
          <a:p>
            <a:pPr lvl="1"/>
            <a:r>
              <a:rPr lang="pt-BR" altLang="pt-BR" dirty="0" smtClean="0"/>
              <a:t>Conceito: Representa </a:t>
            </a:r>
            <a:r>
              <a:rPr lang="pt-BR" altLang="pt-BR" dirty="0"/>
              <a:t>o dinheiro em mãos da empresa, os depósitos bancários a vista e as aplicações de imediata conversibilidade em dinheiro</a:t>
            </a:r>
            <a:r>
              <a:rPr lang="pt-BR" altLang="pt-BR" dirty="0" smtClean="0"/>
              <a:t>.</a:t>
            </a:r>
          </a:p>
          <a:p>
            <a:pPr lvl="1"/>
            <a:endParaRPr lang="pt-BR" altLang="pt-BR" dirty="0"/>
          </a:p>
          <a:p>
            <a:pPr lvl="1"/>
            <a:r>
              <a:rPr lang="pt-BR" altLang="pt-BR" dirty="0"/>
              <a:t>Aplicações de liquidez imediata que são investimentos feitos pela empresa a curtíssimo prazo, também pode enquadrar no grupo de disponibilidades.</a:t>
            </a:r>
          </a:p>
          <a:p>
            <a:pPr lvl="1"/>
            <a:endParaRPr lang="pt-BR" altLang="pt-BR" dirty="0" smtClean="0"/>
          </a:p>
          <a:p>
            <a:pPr lvl="1"/>
            <a:r>
              <a:rPr lang="pt-BR" altLang="pt-BR" dirty="0" smtClean="0"/>
              <a:t>Neste </a:t>
            </a:r>
            <a:r>
              <a:rPr lang="pt-BR" altLang="pt-BR" dirty="0"/>
              <a:t>grupo podemos ter as seguintes contas.</a:t>
            </a:r>
          </a:p>
          <a:p>
            <a:pPr lvl="2"/>
            <a:r>
              <a:rPr lang="pt-BR" altLang="pt-BR" dirty="0" smtClean="0"/>
              <a:t>Caixa</a:t>
            </a:r>
            <a:r>
              <a:rPr lang="pt-BR" altLang="pt-BR" dirty="0"/>
              <a:t>: inclui dinheiro, bem como cheques em mãos recebidos e ainda não depositados, dentro desta conta podemos ter dois tipos de contas.</a:t>
            </a:r>
          </a:p>
          <a:p>
            <a:pPr lvl="3"/>
            <a:r>
              <a:rPr lang="pt-BR" altLang="pt-BR" dirty="0"/>
              <a:t>Fundo Fixo: é um valor que é disponibilizado para pagamentos de algumas taxas, correios e pequenas despesas durante o dia a dia da empresa.</a:t>
            </a:r>
          </a:p>
          <a:p>
            <a:pPr lvl="3"/>
            <a:r>
              <a:rPr lang="pt-BR" altLang="pt-BR" dirty="0"/>
              <a:t>Caixa Flutuante: Nesta conta transitam valores recebidos de clientes em dinheiro, e também pagamento a fornecedores em dinheiro. Também podemos lançar nesta conta os cheques recebidos e não depositados dos clientes.</a:t>
            </a:r>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34</a:t>
            </a:fld>
            <a:endParaRPr lang="pt-BR" dirty="0"/>
          </a:p>
        </p:txBody>
      </p:sp>
    </p:spTree>
    <p:extLst>
      <p:ext uri="{BB962C8B-B14F-4D97-AF65-F5344CB8AC3E}">
        <p14:creationId xmlns:p14="http://schemas.microsoft.com/office/powerpoint/2010/main" val="121337235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b="1" dirty="0" smtClean="0"/>
              <a:t>Disponibilidades</a:t>
            </a:r>
          </a:p>
          <a:p>
            <a:endParaRPr lang="pt-BR" b="1" dirty="0"/>
          </a:p>
          <a:p>
            <a:pPr lvl="1"/>
            <a:r>
              <a:rPr lang="pt-BR" altLang="pt-BR" dirty="0"/>
              <a:t>Aplicações de liquidez imediata</a:t>
            </a:r>
          </a:p>
          <a:p>
            <a:pPr lvl="2"/>
            <a:r>
              <a:rPr lang="pt-BR" altLang="pt-BR" dirty="0"/>
              <a:t>São aplicações de curtíssimo prazo no mercado financeiro, onde a diferença entre o aplicado e o recebido será receita financeira.</a:t>
            </a:r>
          </a:p>
          <a:p>
            <a:pPr lvl="1"/>
            <a:endParaRPr lang="pt-BR" altLang="pt-BR" dirty="0"/>
          </a:p>
          <a:p>
            <a:pPr lvl="1"/>
            <a:r>
              <a:rPr lang="pt-BR" altLang="pt-BR" dirty="0"/>
              <a:t>Numerários em trânsito</a:t>
            </a:r>
          </a:p>
          <a:p>
            <a:pPr lvl="2"/>
            <a:r>
              <a:rPr lang="pt-BR" altLang="pt-BR" dirty="0"/>
              <a:t>São os valores que estão em transito principalmente em carros fortes.</a:t>
            </a:r>
          </a:p>
          <a:p>
            <a:pPr lvl="1"/>
            <a:endParaRPr lang="pt-BR" altLang="pt-BR" dirty="0"/>
          </a:p>
          <a:p>
            <a:pPr lvl="1"/>
            <a:r>
              <a:rPr lang="pt-BR" altLang="pt-BR" dirty="0"/>
              <a:t>Contas de livre movimentação</a:t>
            </a:r>
          </a:p>
          <a:p>
            <a:pPr lvl="2"/>
            <a:r>
              <a:rPr lang="pt-BR" altLang="pt-BR" dirty="0"/>
              <a:t>São representadas normalmente pelas contas de livre movimentação mantidas pela empresa em bancos.</a:t>
            </a:r>
          </a:p>
          <a:p>
            <a:pPr lvl="1"/>
            <a:endParaRPr lang="pt-BR" altLang="pt-BR" dirty="0"/>
          </a:p>
          <a:p>
            <a:pPr lvl="1"/>
            <a:r>
              <a:rPr lang="pt-BR" altLang="pt-BR" dirty="0"/>
              <a:t>Contas bancárias negativas</a:t>
            </a:r>
          </a:p>
          <a:p>
            <a:pPr lvl="2"/>
            <a:r>
              <a:rPr lang="pt-BR" altLang="pt-BR" dirty="0"/>
              <a:t>Se algum dia a empresa ficar com o saldo negativo no banco, a mesma deverá ter uma conta especifica para este fim, pois ela não se torna uma conta redutora do grupo de contas bancárias, mas sim um item do passivo circulante.</a:t>
            </a:r>
          </a:p>
          <a:p>
            <a:pPr lvl="1"/>
            <a:endParaRPr lang="pt-BR" b="1"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35</a:t>
            </a:fld>
            <a:endParaRPr lang="pt-BR" dirty="0"/>
          </a:p>
        </p:txBody>
      </p:sp>
    </p:spTree>
    <p:extLst>
      <p:ext uri="{BB962C8B-B14F-4D97-AF65-F5344CB8AC3E}">
        <p14:creationId xmlns:p14="http://schemas.microsoft.com/office/powerpoint/2010/main" val="418938165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pPr>
              <a:defRPr/>
            </a:pPr>
            <a:r>
              <a:rPr lang="pt-BR" altLang="pt-BR" b="1" dirty="0" smtClean="0"/>
              <a:t>Direitos a Curto Prazo</a:t>
            </a:r>
          </a:p>
          <a:p>
            <a:pPr>
              <a:defRPr/>
            </a:pPr>
            <a:endParaRPr lang="pt-BR" altLang="pt-BR" b="1" dirty="0" smtClean="0"/>
          </a:p>
          <a:p>
            <a:pPr lvl="1">
              <a:defRPr/>
            </a:pPr>
            <a:r>
              <a:rPr lang="pt-BR" dirty="0" smtClean="0"/>
              <a:t>Conceito: É </a:t>
            </a:r>
            <a:r>
              <a:rPr lang="pt-BR" dirty="0"/>
              <a:t>tudo o que a empresa tem a receber de alguém, normalmente os valores a receber decorrentes de vendas a prazo de mercadoria e serviços a clientes, ou oriundos de outras transações. Essas outras transações não representam o objeto principal da empresa, mas são normais e inerentes as suas atividades.</a:t>
            </a:r>
          </a:p>
          <a:p>
            <a:pPr lvl="1">
              <a:defRPr/>
            </a:pPr>
            <a:r>
              <a:rPr lang="pt-BR" dirty="0"/>
              <a:t>Neste grupo de contas a receber podemos ter as seguintes contas contábeis.</a:t>
            </a:r>
          </a:p>
          <a:p>
            <a:pPr lvl="2">
              <a:defRPr/>
            </a:pPr>
            <a:r>
              <a:rPr lang="pt-BR" dirty="0" smtClean="0"/>
              <a:t>Duplicatas </a:t>
            </a:r>
            <a:r>
              <a:rPr lang="pt-BR" dirty="0"/>
              <a:t>a Receber / Clientes</a:t>
            </a:r>
          </a:p>
          <a:p>
            <a:pPr lvl="2">
              <a:defRPr/>
            </a:pPr>
            <a:r>
              <a:rPr lang="pt-BR" dirty="0"/>
              <a:t>Controladas e coligadas – transações operacionais</a:t>
            </a:r>
          </a:p>
          <a:p>
            <a:pPr lvl="2">
              <a:defRPr/>
            </a:pPr>
            <a:r>
              <a:rPr lang="pt-BR" dirty="0"/>
              <a:t>Provisão para créditos e liquidação duvidosa (conta credora)</a:t>
            </a:r>
          </a:p>
          <a:p>
            <a:pPr lvl="2">
              <a:defRPr/>
            </a:pPr>
            <a:r>
              <a:rPr lang="pt-BR" dirty="0"/>
              <a:t>Faturamento para entrega futura (conta credora)</a:t>
            </a:r>
          </a:p>
          <a:p>
            <a:pPr lvl="2">
              <a:defRPr/>
            </a:pPr>
            <a:r>
              <a:rPr lang="pt-BR" dirty="0"/>
              <a:t>Outras contas a receber</a:t>
            </a:r>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36</a:t>
            </a:fld>
            <a:endParaRPr lang="pt-BR" dirty="0"/>
          </a:p>
        </p:txBody>
      </p:sp>
    </p:spTree>
    <p:extLst>
      <p:ext uri="{BB962C8B-B14F-4D97-AF65-F5344CB8AC3E}">
        <p14:creationId xmlns:p14="http://schemas.microsoft.com/office/powerpoint/2010/main" val="36104723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01521"/>
            <a:ext cx="11569700" cy="5262563"/>
          </a:xfrm>
        </p:spPr>
        <p:txBody>
          <a:bodyPr/>
          <a:lstStyle/>
          <a:p>
            <a:r>
              <a:rPr lang="pt-BR" altLang="pt-BR" b="1" dirty="0" smtClean="0"/>
              <a:t>Direitos a Curto Prazo</a:t>
            </a:r>
          </a:p>
          <a:p>
            <a:endParaRPr lang="pt-BR" altLang="pt-BR" b="1" dirty="0" smtClean="0"/>
          </a:p>
          <a:p>
            <a:pPr lvl="1"/>
            <a:r>
              <a:rPr lang="pt-BR" altLang="pt-BR" dirty="0" smtClean="0"/>
              <a:t>Duplicatas a Receber</a:t>
            </a:r>
          </a:p>
          <a:p>
            <a:pPr lvl="2"/>
            <a:endParaRPr lang="pt-BR" altLang="pt-BR" dirty="0" smtClean="0"/>
          </a:p>
          <a:p>
            <a:pPr lvl="2"/>
            <a:r>
              <a:rPr lang="pt-BR" altLang="pt-BR" dirty="0" smtClean="0"/>
              <a:t>Tem </a:t>
            </a:r>
            <a:r>
              <a:rPr lang="pt-BR" altLang="pt-BR" dirty="0"/>
              <a:t>como origem no curso normal das operações da empresa pela venda a prazo de mercadoria e serviços, representando um direito a cobrar de seus clientes. Teremos lançamento nesta conta somente no momento da venda e esta relacionada com as receitas da empresa.</a:t>
            </a:r>
          </a:p>
          <a:p>
            <a:pPr lvl="2"/>
            <a:endParaRPr lang="pt-BR" altLang="pt-BR" dirty="0" smtClean="0"/>
          </a:p>
          <a:p>
            <a:pPr lvl="2"/>
            <a:r>
              <a:rPr lang="pt-BR" altLang="pt-BR" dirty="0" smtClean="0"/>
              <a:t>As </a:t>
            </a:r>
            <a:r>
              <a:rPr lang="pt-BR" altLang="pt-BR" dirty="0"/>
              <a:t>duplicatas a receber de clientes são geralmente contabilizados através de conta sintética no razão geral, sendo o seu registro individualizado efetuado em razão auxiliar, totalizado por cliente, cujo saldo deve ser mensalmente comparado com o razão geral. As eventuais divergências devem ser analisadas quanto a sua origem e regularizadas dentro do período contábil, caso não seja, podem ser tornar um item de auditoria externa em caso empresa S/A</a:t>
            </a:r>
          </a:p>
          <a:p>
            <a:pPr lvl="2"/>
            <a:endParaRPr lang="pt-BR" altLang="pt-BR" dirty="0" smtClean="0"/>
          </a:p>
          <a:p>
            <a:pPr lvl="2"/>
            <a:r>
              <a:rPr lang="pt-BR" altLang="pt-BR" dirty="0" smtClean="0"/>
              <a:t>Esses </a:t>
            </a:r>
            <a:r>
              <a:rPr lang="pt-BR" altLang="pt-BR" dirty="0"/>
              <a:t>valores devem ser avaliadas pelo ser valor liquido de realização, ou seja, lançar pelo valor do produto que será recebido. Se a empresa tiver contas a receber em moeda estrangeira, elas devem ser atualizadas as taxas de cambio até a data do Balanço, envolvendo a conta de variações monetárias (Conta de Resultados). Os juros eventualmente cobrados devem ser reconhecidos como receitas financeiras.</a:t>
            </a:r>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37</a:t>
            </a:fld>
            <a:endParaRPr lang="pt-BR" dirty="0"/>
          </a:p>
        </p:txBody>
      </p:sp>
    </p:spTree>
    <p:extLst>
      <p:ext uri="{BB962C8B-B14F-4D97-AF65-F5344CB8AC3E}">
        <p14:creationId xmlns:p14="http://schemas.microsoft.com/office/powerpoint/2010/main" val="29234437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14400"/>
            <a:ext cx="11569700" cy="5262563"/>
          </a:xfrm>
        </p:spPr>
        <p:txBody>
          <a:bodyPr>
            <a:normAutofit/>
          </a:bodyPr>
          <a:lstStyle/>
          <a:p>
            <a:r>
              <a:rPr lang="pt-BR" altLang="pt-BR" b="1" dirty="0"/>
              <a:t>Direitos a Curto </a:t>
            </a:r>
            <a:r>
              <a:rPr lang="pt-BR" altLang="pt-BR" b="1" dirty="0" smtClean="0"/>
              <a:t>Prazo</a:t>
            </a:r>
          </a:p>
          <a:p>
            <a:endParaRPr lang="pt-BR" altLang="pt-BR" b="1" dirty="0"/>
          </a:p>
          <a:p>
            <a:pPr lvl="1">
              <a:defRPr/>
            </a:pPr>
            <a:r>
              <a:rPr lang="pt-BR" dirty="0" smtClean="0"/>
              <a:t>Provisão para créditos de liquidação duvidosa</a:t>
            </a:r>
          </a:p>
          <a:p>
            <a:pPr lvl="2">
              <a:defRPr/>
            </a:pPr>
            <a:r>
              <a:rPr lang="pt-BR" dirty="0" smtClean="0"/>
              <a:t>Conceito: Essa </a:t>
            </a:r>
            <a:r>
              <a:rPr lang="pt-BR" dirty="0"/>
              <a:t>provisão deve ser feita para cobrir as perdas estimadas na cobrança das contas a receber. A Lei nº 8.981 de 20/01/95 no artigo 43 definiu as regras para realizar esta provisão, que de forma genérica, seria o percentual que reflete as perdas efetivamente ocorridas no recebimento dos créditos nos últimos três anos.</a:t>
            </a:r>
          </a:p>
          <a:p>
            <a:pPr lvl="2">
              <a:defRPr/>
            </a:pPr>
            <a:r>
              <a:rPr lang="pt-BR" dirty="0"/>
              <a:t>A provisão é constituída para cobrir os casos de contas que não se espera sejam recebidas dos clientes respectivos</a:t>
            </a:r>
          </a:p>
          <a:p>
            <a:pPr lvl="2">
              <a:defRPr/>
            </a:pPr>
            <a:r>
              <a:rPr lang="pt-BR" dirty="0"/>
              <a:t>A apuração do valor da provisão pode variar de empresa para empresa, pois cada empresa tem particularidades especificas, por exemplo: prazo de pagamento. Porem é bom considerar alguns critérios para realizar esta apuração:</a:t>
            </a:r>
          </a:p>
          <a:p>
            <a:pPr lvl="3">
              <a:defRPr/>
            </a:pPr>
            <a:r>
              <a:rPr lang="pt-BR" dirty="0"/>
              <a:t>Analisar individualmente cada cliente;</a:t>
            </a:r>
          </a:p>
          <a:p>
            <a:pPr lvl="3">
              <a:defRPr/>
            </a:pPr>
            <a:r>
              <a:rPr lang="pt-BR" dirty="0"/>
              <a:t>Dever ser devidamente considerada a experiência anterior da empresa com relação a prejuízos com contas a receber.</a:t>
            </a:r>
          </a:p>
          <a:p>
            <a:pPr lvl="3">
              <a:defRPr/>
            </a:pPr>
            <a:r>
              <a:rPr lang="pt-BR" dirty="0"/>
              <a:t>Considerar as condições de venda, principalmente a existência de garantias reais que podem reduzir as perspectivas de perdas</a:t>
            </a:r>
          </a:p>
          <a:p>
            <a:pPr lvl="1"/>
            <a:endParaRPr lang="pt-BR" altLang="pt-BR" b="1" dirty="0"/>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38</a:t>
            </a:fld>
            <a:endParaRPr lang="pt-BR" dirty="0"/>
          </a:p>
        </p:txBody>
      </p:sp>
    </p:spTree>
    <p:extLst>
      <p:ext uri="{BB962C8B-B14F-4D97-AF65-F5344CB8AC3E}">
        <p14:creationId xmlns:p14="http://schemas.microsoft.com/office/powerpoint/2010/main" val="357539681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altLang="pt-BR" b="1" dirty="0"/>
              <a:t>Direitos a Curto </a:t>
            </a:r>
            <a:r>
              <a:rPr lang="pt-BR" altLang="pt-BR" b="1" dirty="0" smtClean="0"/>
              <a:t>Prazo</a:t>
            </a:r>
          </a:p>
          <a:p>
            <a:endParaRPr lang="pt-BR" altLang="pt-BR" b="1" dirty="0"/>
          </a:p>
          <a:p>
            <a:pPr lvl="1"/>
            <a:r>
              <a:rPr lang="pt-BR" altLang="pt-BR" dirty="0"/>
              <a:t>Outras contas que temos direitos a receber de alguém que podem ser títulos e valores que a empresa tem a receber de seus clientes que normalmente não é originada do objeto principal da empresa. Dentro deste grupo podemos ter as seguintes contas:</a:t>
            </a:r>
          </a:p>
          <a:p>
            <a:pPr lvl="2"/>
            <a:r>
              <a:rPr lang="pt-BR" altLang="pt-BR" dirty="0"/>
              <a:t>Títulos a receber: podem originar das próprias contas normais a receber que foram renegociadas ou substituídas por outras formas de títulos (notas promissórias), tendo novos prazos de vencimento, e acrescido de juros. Também pode originar devido a venda de ativos imobilizado ou participação de investimentos.</a:t>
            </a:r>
          </a:p>
          <a:p>
            <a:pPr lvl="2"/>
            <a:r>
              <a:rPr lang="pt-BR" altLang="pt-BR" dirty="0"/>
              <a:t>Cheques em cobrança: são cheques recebidos e não cobrados imediatamente, por serem pagáveis em outras praças ou por outras restrições de seu recebimento a vista (</a:t>
            </a:r>
            <a:r>
              <a:rPr lang="pt-BR" altLang="pt-BR" dirty="0" err="1"/>
              <a:t>pré</a:t>
            </a:r>
            <a:r>
              <a:rPr lang="pt-BR" altLang="pt-BR" dirty="0"/>
              <a:t> datado).</a:t>
            </a:r>
          </a:p>
          <a:p>
            <a:pPr lvl="2"/>
            <a:r>
              <a:rPr lang="pt-BR" altLang="pt-BR" dirty="0"/>
              <a:t>Dividendos a receber: registra – se nesta os dividendos de participação que a empresa tenha direito a receber, desde que a outra empresa já tenha registrado o dividendo a distribuir na sua Demonstração de Lucros ou Prejuízos Acumulados.</a:t>
            </a:r>
          </a:p>
          <a:p>
            <a:pPr lvl="2"/>
            <a:r>
              <a:rPr lang="pt-BR" altLang="pt-BR" dirty="0"/>
              <a:t>Juros a receber: registra os juros que a empresa tem a receber de terceiros, relativo a operações não ligadas a atividade fim da empresa.</a:t>
            </a:r>
          </a:p>
          <a:p>
            <a:pPr lvl="1"/>
            <a:endParaRPr lang="pt-BR" altLang="pt-BR" b="1" dirty="0"/>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39</a:t>
            </a:fld>
            <a:endParaRPr lang="pt-BR" dirty="0"/>
          </a:p>
        </p:txBody>
      </p:sp>
    </p:spTree>
    <p:extLst>
      <p:ext uri="{BB962C8B-B14F-4D97-AF65-F5344CB8AC3E}">
        <p14:creationId xmlns:p14="http://schemas.microsoft.com/office/powerpoint/2010/main" val="17337026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altLang="pt-BR" b="1" dirty="0"/>
              <a:t>Direitos a Curto Prazo</a:t>
            </a:r>
          </a:p>
          <a:p>
            <a:endParaRPr lang="pt-BR" dirty="0" smtClean="0"/>
          </a:p>
          <a:p>
            <a:pPr lvl="1">
              <a:defRPr/>
            </a:pPr>
            <a:r>
              <a:rPr lang="pt-BR" dirty="0"/>
              <a:t>Neste grupo também podemos alocar as contas e subcontas relacionadas a créditos de funcionários, cujo conceito é o seguinte</a:t>
            </a:r>
          </a:p>
          <a:p>
            <a:pPr lvl="1">
              <a:defRPr/>
            </a:pPr>
            <a:r>
              <a:rPr lang="pt-BR" dirty="0"/>
              <a:t>Esse agrupamento deve englobar todas as operações de créditos de funcionários por adiantamentos concedidos por conta de salários, por conta de despesas, empréstimos e outros. Dentro deste grupo podemos ter as seguintes contas:</a:t>
            </a:r>
          </a:p>
          <a:p>
            <a:pPr lvl="2">
              <a:defRPr/>
            </a:pPr>
            <a:r>
              <a:rPr lang="pt-BR" dirty="0"/>
              <a:t>Adiantamento para viagens</a:t>
            </a:r>
          </a:p>
          <a:p>
            <a:pPr lvl="2">
              <a:defRPr/>
            </a:pPr>
            <a:r>
              <a:rPr lang="pt-BR" dirty="0"/>
              <a:t>Adiantamento de despesa</a:t>
            </a:r>
          </a:p>
          <a:p>
            <a:pPr lvl="2">
              <a:defRPr/>
            </a:pPr>
            <a:r>
              <a:rPr lang="pt-BR" dirty="0"/>
              <a:t>Antecipação de salários e ordenados</a:t>
            </a:r>
          </a:p>
          <a:p>
            <a:pPr lvl="2">
              <a:defRPr/>
            </a:pPr>
            <a:r>
              <a:rPr lang="pt-BR" dirty="0"/>
              <a:t>Empréstimos a funcionários</a:t>
            </a:r>
          </a:p>
          <a:p>
            <a:pPr lvl="2">
              <a:defRPr/>
            </a:pPr>
            <a:r>
              <a:rPr lang="pt-BR" dirty="0"/>
              <a:t>Antecipação de 13º salário</a:t>
            </a:r>
          </a:p>
          <a:p>
            <a:pPr lvl="2">
              <a:defRPr/>
            </a:pPr>
            <a:r>
              <a:rPr lang="pt-BR" dirty="0"/>
              <a:t>Antecipação de férias</a:t>
            </a:r>
          </a:p>
          <a:p>
            <a:pPr lvl="2">
              <a:defRPr/>
            </a:pPr>
            <a:r>
              <a:rPr lang="pt-BR" dirty="0"/>
              <a:t>Previdência social sobre 13º salário a recuperar</a:t>
            </a:r>
          </a:p>
          <a:p>
            <a:pPr lvl="1"/>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40</a:t>
            </a:fld>
            <a:endParaRPr lang="pt-BR" dirty="0"/>
          </a:p>
        </p:txBody>
      </p:sp>
    </p:spTree>
    <p:extLst>
      <p:ext uri="{BB962C8B-B14F-4D97-AF65-F5344CB8AC3E}">
        <p14:creationId xmlns:p14="http://schemas.microsoft.com/office/powerpoint/2010/main" val="31718597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altLang="pt-BR" b="1" dirty="0"/>
              <a:t>Direitos a Curto </a:t>
            </a:r>
            <a:r>
              <a:rPr lang="pt-BR" altLang="pt-BR" b="1" dirty="0" smtClean="0"/>
              <a:t>Prazo</a:t>
            </a:r>
          </a:p>
          <a:p>
            <a:endParaRPr lang="pt-BR" altLang="pt-BR" b="1" dirty="0"/>
          </a:p>
          <a:p>
            <a:pPr lvl="1"/>
            <a:r>
              <a:rPr lang="pt-BR" altLang="pt-BR" dirty="0"/>
              <a:t>Também podemos lançar neste grupo, as contas relacionadas a impostos a recuperar, que são diversas operações que podem gerar valores a recuperar de impostos, tais como: ICMS, PIS, COFINS, IPI, IRRF, CSL. Para um melhor controle da empresa é interessante que para cada imposto que a empresa tenha a recuperar, é que seja aberta uma conta contábil especifica.</a:t>
            </a:r>
          </a:p>
          <a:p>
            <a:pPr lvl="1"/>
            <a:r>
              <a:rPr lang="pt-BR" altLang="pt-BR" dirty="0"/>
              <a:t>Impostos a Recuperar</a:t>
            </a:r>
          </a:p>
          <a:p>
            <a:pPr lvl="2"/>
            <a:r>
              <a:rPr lang="pt-BR" altLang="pt-BR" dirty="0"/>
              <a:t>ICMS a Recuperar</a:t>
            </a:r>
          </a:p>
          <a:p>
            <a:pPr lvl="2"/>
            <a:r>
              <a:rPr lang="pt-BR" altLang="pt-BR" dirty="0"/>
              <a:t>IPI a </a:t>
            </a:r>
            <a:r>
              <a:rPr lang="pt-BR" altLang="pt-BR" dirty="0" err="1"/>
              <a:t>Recupear</a:t>
            </a:r>
            <a:endParaRPr lang="pt-BR" altLang="pt-BR" dirty="0"/>
          </a:p>
          <a:p>
            <a:pPr lvl="2"/>
            <a:r>
              <a:rPr lang="pt-BR" altLang="pt-BR" dirty="0"/>
              <a:t>IRRF a Recuperar</a:t>
            </a:r>
          </a:p>
          <a:p>
            <a:pPr lvl="2"/>
            <a:r>
              <a:rPr lang="pt-BR" altLang="pt-BR" dirty="0"/>
              <a:t>PIS a Recuperar</a:t>
            </a:r>
          </a:p>
          <a:p>
            <a:pPr lvl="2"/>
            <a:r>
              <a:rPr lang="pt-BR" altLang="pt-BR" dirty="0"/>
              <a:t>COFINS a Recuperar</a:t>
            </a:r>
          </a:p>
          <a:p>
            <a:pPr lvl="1"/>
            <a:endParaRPr lang="pt-BR" altLang="pt-BR" b="1" dirty="0"/>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41</a:t>
            </a:fld>
            <a:endParaRPr lang="pt-BR" dirty="0"/>
          </a:p>
        </p:txBody>
      </p:sp>
    </p:spTree>
    <p:extLst>
      <p:ext uri="{BB962C8B-B14F-4D97-AF65-F5344CB8AC3E}">
        <p14:creationId xmlns:p14="http://schemas.microsoft.com/office/powerpoint/2010/main" val="193194084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lnSpcReduction="10000"/>
          </a:bodyPr>
          <a:lstStyle/>
          <a:p>
            <a:r>
              <a:rPr lang="pt-BR" altLang="pt-BR" dirty="0" smtClean="0"/>
              <a:t>Estoques</a:t>
            </a:r>
          </a:p>
          <a:p>
            <a:endParaRPr lang="pt-BR" altLang="pt-BR" dirty="0" smtClean="0"/>
          </a:p>
          <a:p>
            <a:pPr lvl="1"/>
            <a:r>
              <a:rPr lang="pt-BR" altLang="pt-BR" dirty="0" smtClean="0"/>
              <a:t>Conceito</a:t>
            </a:r>
            <a:endParaRPr lang="pt-BR" altLang="pt-BR" dirty="0"/>
          </a:p>
          <a:p>
            <a:pPr lvl="2"/>
            <a:r>
              <a:rPr lang="pt-BR" altLang="pt-BR" dirty="0"/>
              <a:t>Os estoques representam um dos ativos mais importantes do capital circulante e da posição financeira da empresa seja ela industrial ou comercial. A sua correta determinação no inicio e no fim do período contábil é essencial para uma apuração adequada do lucro liquido do exercício. Os estoque são intimamente ligados às principais áreas de operação dessas companhias e envolvem problemas de administração, controle, contabilização e principalmente de avaliação.</a:t>
            </a:r>
          </a:p>
          <a:p>
            <a:pPr lvl="2"/>
            <a:r>
              <a:rPr lang="pt-BR" altLang="pt-BR" dirty="0" smtClean="0"/>
              <a:t>Os </a:t>
            </a:r>
            <a:r>
              <a:rPr lang="pt-BR" altLang="pt-BR" dirty="0"/>
              <a:t>estoques são bens adquiridos ou produzidos pela empresa com o objetivo de venda ou utilização própria no curso normal de suas atividades. O momento da contabilização de compras de itens do estoque, assim como o das vendas a terceiros, deve ser o da transmissão do direito de propriedade dos mesmos.</a:t>
            </a:r>
          </a:p>
          <a:p>
            <a:pPr lvl="2"/>
            <a:r>
              <a:rPr lang="pt-BR" altLang="pt-BR" dirty="0"/>
              <a:t>Veremos abaixo as contas que normalmente temos nas empresas, onde é atribuído os estoques.</a:t>
            </a:r>
          </a:p>
          <a:p>
            <a:pPr lvl="3"/>
            <a:r>
              <a:rPr lang="pt-BR" altLang="pt-BR" dirty="0"/>
              <a:t>Produto Acabados: são os produtos já terminados e oriundos da própria produção da empresa e que estão disponíveis para a venda a terceiros ou transferência para alguma outra filial do grupo</a:t>
            </a:r>
            <a:r>
              <a:rPr lang="pt-BR" altLang="pt-BR" dirty="0" smtClean="0"/>
              <a:t>.</a:t>
            </a:r>
          </a:p>
          <a:p>
            <a:pPr lvl="3"/>
            <a:r>
              <a:rPr lang="pt-BR" altLang="pt-BR" dirty="0"/>
              <a:t>Mercadorias para revenda: são produtos acabados adquiridos de terceiros, e que não sofrem nenhum tipo de transformação.</a:t>
            </a:r>
          </a:p>
          <a:p>
            <a:pPr lvl="3"/>
            <a:r>
              <a:rPr lang="pt-BR" altLang="pt-BR" dirty="0"/>
              <a:t>Produtos em elaboração: são produtos em fase de elaboração, e que ao final de um período não ficaram prontos. Neste encontraremos os lançamentos das matérias primas já consumidas em algum momento da produção, bem como os custos diretos e indiretos relativos a produção.</a:t>
            </a:r>
          </a:p>
          <a:p>
            <a:pPr lvl="3"/>
            <a:r>
              <a:rPr lang="pt-BR" altLang="pt-BR" dirty="0"/>
              <a:t>Matéria prima: é onde são alocados os materiais importantes para a produção do produto acabado da empresa.</a:t>
            </a:r>
          </a:p>
          <a:p>
            <a:pPr lvl="3"/>
            <a:r>
              <a:rPr lang="pt-BR" altLang="pt-BR" dirty="0"/>
              <a:t>Materiais de acondicionamento e embalagem: são os materiais que são destinados a embalagem do produto acabado, bem como para sua remessa. Algumas empresas lançam estes materiais como parte integrante do produto acabado, compondo o seu custo.</a:t>
            </a:r>
          </a:p>
          <a:p>
            <a:pPr marL="1371600" lvl="3" indent="0">
              <a:buNone/>
            </a:pPr>
            <a:endParaRPr lang="pt-BR" alt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42</a:t>
            </a:fld>
            <a:endParaRPr lang="pt-BR" dirty="0"/>
          </a:p>
        </p:txBody>
      </p:sp>
    </p:spTree>
    <p:extLst>
      <p:ext uri="{BB962C8B-B14F-4D97-AF65-F5344CB8AC3E}">
        <p14:creationId xmlns:p14="http://schemas.microsoft.com/office/powerpoint/2010/main" val="17870627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lnSpcReduction="10000"/>
          </a:bodyPr>
          <a:lstStyle/>
          <a:p>
            <a:r>
              <a:rPr lang="pt-BR" altLang="pt-BR" b="1" dirty="0" smtClean="0"/>
              <a:t>Estoques</a:t>
            </a:r>
          </a:p>
          <a:p>
            <a:pPr lvl="2"/>
            <a:endParaRPr lang="pt-BR" altLang="pt-BR" b="1" dirty="0" smtClean="0"/>
          </a:p>
          <a:p>
            <a:pPr lvl="2"/>
            <a:r>
              <a:rPr lang="pt-BR" altLang="pt-BR" dirty="0"/>
              <a:t>Materiais auxiliares: são materiais secundários utilizados no processo produtivo, podendo ser alocados diretamente ou não no produto acabado.</a:t>
            </a:r>
          </a:p>
          <a:p>
            <a:pPr lvl="2"/>
            <a:r>
              <a:rPr lang="pt-BR" altLang="pt-BR" dirty="0"/>
              <a:t>Materiais de manutenção: são os materiais utilizados para a manutenção do parque fabril da empresa, desde peças a óleos lubrificantes.</a:t>
            </a:r>
          </a:p>
          <a:p>
            <a:pPr lvl="2"/>
            <a:r>
              <a:rPr lang="pt-BR" altLang="pt-BR" dirty="0"/>
              <a:t>Importações em andamento: neste engloba os custos já incorridos relativos a importação em andamento e as próprias mercadorias em transito, quando a condição de compra é feita FOB, no ponto de embarque, pelo exportador.</a:t>
            </a:r>
          </a:p>
          <a:p>
            <a:pPr lvl="2"/>
            <a:r>
              <a:rPr lang="pt-BR" altLang="pt-BR" dirty="0"/>
              <a:t>Material de escritório e informática: são itens utilizados no escritório que a empresa compra e acaba estocando em grandes quantidades, exemplo: papel sulfite.</a:t>
            </a:r>
          </a:p>
          <a:p>
            <a:pPr lvl="2"/>
            <a:r>
              <a:rPr lang="pt-BR" altLang="pt-BR" dirty="0"/>
              <a:t>Material de segurança: são os EPIS dos colaboradores</a:t>
            </a:r>
          </a:p>
          <a:p>
            <a:pPr lvl="2"/>
            <a:r>
              <a:rPr lang="pt-BR" altLang="pt-BR" dirty="0"/>
              <a:t>Material de limpeza: todo o material de limpeza utilizado na empresa</a:t>
            </a:r>
          </a:p>
          <a:p>
            <a:pPr lvl="2"/>
            <a:r>
              <a:rPr lang="pt-BR" altLang="pt-BR" dirty="0"/>
              <a:t>Almoxarifado: esta conta é muito variável de empresa para empresa, pois pode – se colocar despesas de material de escritório, alimentação de pessoal, material de limpeza, material de segurança </a:t>
            </a:r>
          </a:p>
          <a:p>
            <a:endParaRPr lang="pt-BR" altLang="pt-BR" dirty="0" smtClean="0"/>
          </a:p>
          <a:p>
            <a:pPr lvl="1"/>
            <a:r>
              <a:rPr lang="pt-BR" altLang="pt-BR" dirty="0" smtClean="0"/>
              <a:t>Produtos </a:t>
            </a:r>
            <a:r>
              <a:rPr lang="pt-BR" altLang="pt-BR" dirty="0"/>
              <a:t>em elaboração</a:t>
            </a:r>
          </a:p>
          <a:p>
            <a:pPr lvl="2"/>
            <a:r>
              <a:rPr lang="pt-BR" altLang="pt-BR" dirty="0"/>
              <a:t>Componentes do custo: o custo dos estoques de produtos em processo e acabados na data do balanço deve ser feito pelo “custeio real por absorção”, ou seja, deve incluir todos os custos diretos (material, mão de obra e outros) e indiretos (gastos gerais de fabricação) necessários para colocar o item em condições de </a:t>
            </a:r>
            <a:r>
              <a:rPr lang="pt-BR" altLang="pt-BR" dirty="0" smtClean="0"/>
              <a:t>venda</a:t>
            </a:r>
            <a:endParaRPr lang="pt-BR" altLang="pt-BR" dirty="0"/>
          </a:p>
          <a:p>
            <a:pPr lvl="2"/>
            <a:endParaRPr lang="pt-BR" altLang="pt-BR" b="1" dirty="0" smtClean="0"/>
          </a:p>
          <a:p>
            <a:endParaRPr lang="pt-BR" altLang="pt-BR" b="1" dirty="0"/>
          </a:p>
          <a:p>
            <a:endParaRPr lang="pt-BR" altLang="pt-BR" b="1"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43</a:t>
            </a:fld>
            <a:endParaRPr lang="pt-BR" dirty="0"/>
          </a:p>
        </p:txBody>
      </p:sp>
    </p:spTree>
    <p:extLst>
      <p:ext uri="{BB962C8B-B14F-4D97-AF65-F5344CB8AC3E}">
        <p14:creationId xmlns:p14="http://schemas.microsoft.com/office/powerpoint/2010/main" val="37857322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altLang="pt-BR" b="1" dirty="0" smtClean="0"/>
              <a:t>Estoques</a:t>
            </a:r>
          </a:p>
          <a:p>
            <a:endParaRPr lang="pt-BR" altLang="pt-BR" b="1" dirty="0"/>
          </a:p>
          <a:p>
            <a:pPr lvl="1"/>
            <a:r>
              <a:rPr lang="pt-BR" altLang="pt-BR" dirty="0"/>
              <a:t>Componentes do custo</a:t>
            </a:r>
          </a:p>
          <a:p>
            <a:pPr lvl="2"/>
            <a:r>
              <a:rPr lang="pt-BR" altLang="pt-BR" dirty="0"/>
              <a:t>Custos dos materiais diretos equivalem a valorização dos consumos efetuados pela produção, na forma de determinação de custo.</a:t>
            </a:r>
          </a:p>
          <a:p>
            <a:pPr lvl="2"/>
            <a:r>
              <a:rPr lang="pt-BR" altLang="pt-BR" dirty="0"/>
              <a:t>Custo com mão de obra direta, incluem salários e encargos do pessoal que trabalha direta e indiretamente na produção do produto.</a:t>
            </a:r>
          </a:p>
          <a:p>
            <a:pPr lvl="2"/>
            <a:r>
              <a:rPr lang="pt-BR" altLang="pt-BR" dirty="0"/>
              <a:t>Gastos gerais com produção, também chamados de custos indiretos industriais, incluem todos os demais custos incorridos na produção (inspeção, manutenção, almoxarifado, supervisão, energia, seguros, aluguel) que são atribuídos aos produtos através de rateio.</a:t>
            </a:r>
          </a:p>
          <a:p>
            <a:pPr lvl="2"/>
            <a:r>
              <a:rPr lang="pt-BR" altLang="pt-BR" dirty="0"/>
              <a:t>Para alocar os custos de produtos em processos são geralmente determinados sob dois tipos básicos de procedimentos ou sistema de custeio:</a:t>
            </a:r>
          </a:p>
          <a:p>
            <a:pPr lvl="3"/>
            <a:r>
              <a:rPr lang="pt-BR" altLang="pt-BR" dirty="0"/>
              <a:t>Por ordem: acumulados os custos para cada ordem de produto</a:t>
            </a:r>
          </a:p>
          <a:p>
            <a:pPr lvl="3"/>
            <a:r>
              <a:rPr lang="pt-BR" altLang="pt-BR" dirty="0"/>
              <a:t>Por processo: acumulados os custos por fase de processo</a:t>
            </a:r>
          </a:p>
          <a:p>
            <a:pPr lvl="1"/>
            <a:endParaRPr lang="pt-BR" altLang="pt-BR" b="1" dirty="0"/>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44</a:t>
            </a:fld>
            <a:endParaRPr lang="pt-BR" dirty="0"/>
          </a:p>
        </p:txBody>
      </p:sp>
    </p:spTree>
    <p:extLst>
      <p:ext uri="{BB962C8B-B14F-4D97-AF65-F5344CB8AC3E}">
        <p14:creationId xmlns:p14="http://schemas.microsoft.com/office/powerpoint/2010/main" val="81266201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altLang="pt-BR" b="1" dirty="0" smtClean="0"/>
              <a:t>Estoques</a:t>
            </a:r>
          </a:p>
          <a:p>
            <a:endParaRPr lang="pt-BR" altLang="pt-BR" b="1" dirty="0"/>
          </a:p>
          <a:p>
            <a:pPr lvl="1"/>
            <a:r>
              <a:rPr lang="pt-BR" altLang="pt-BR" dirty="0"/>
              <a:t>Sistema de depósitos, exemplo:</a:t>
            </a:r>
          </a:p>
          <a:p>
            <a:pPr lvl="2"/>
            <a:r>
              <a:rPr lang="pt-BR" altLang="pt-BR" dirty="0"/>
              <a:t>Muitas empresas utilizam o sistema de depósitos (locais de guarda) de materiais, além das contas contábeis para um melhor controle e contabilização dos materiais, ou seja, dentro da conta contábil podemos ter vários depósitos.</a:t>
            </a:r>
          </a:p>
          <a:p>
            <a:pPr lvl="2"/>
            <a:r>
              <a:rPr lang="pt-BR" altLang="pt-BR" dirty="0"/>
              <a:t>Compra de material de embalagem no dia 10/01 no valor de R$ 100,00 (quantidade de 100 peças)</a:t>
            </a:r>
          </a:p>
          <a:p>
            <a:pPr lvl="2"/>
            <a:r>
              <a:rPr lang="pt-BR" altLang="pt-BR" dirty="0"/>
              <a:t>Transferência para a linha de produção de 50 peças da embalagem no dia 15/01 para ser utilizado na produção do dia 18/01</a:t>
            </a:r>
          </a:p>
          <a:p>
            <a:pPr lvl="1"/>
            <a:endParaRPr lang="pt-BR" altLang="pt-BR" b="1" dirty="0"/>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45</a:t>
            </a:fld>
            <a:endParaRPr lang="pt-BR" dirty="0"/>
          </a:p>
        </p:txBody>
      </p:sp>
      <p:graphicFrame>
        <p:nvGraphicFramePr>
          <p:cNvPr id="4" name="Diagrama 3"/>
          <p:cNvGraphicFramePr/>
          <p:nvPr>
            <p:extLst>
              <p:ext uri="{D42A27DB-BD31-4B8C-83A1-F6EECF244321}">
                <p14:modId xmlns:p14="http://schemas.microsoft.com/office/powerpoint/2010/main" val="3491093201"/>
              </p:ext>
            </p:extLst>
          </p:nvPr>
        </p:nvGraphicFramePr>
        <p:xfrm>
          <a:off x="2276494" y="3765062"/>
          <a:ext cx="5643448" cy="22684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CaixaDeTexto 2"/>
          <p:cNvSpPr txBox="1">
            <a:spLocks noChangeArrowheads="1"/>
          </p:cNvSpPr>
          <p:nvPr/>
        </p:nvSpPr>
        <p:spPr bwMode="auto">
          <a:xfrm>
            <a:off x="5876522" y="3764566"/>
            <a:ext cx="3097213" cy="60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lgn="ctr">
              <a:spcBef>
                <a:spcPct val="0"/>
              </a:spcBef>
              <a:buClrTx/>
              <a:buFontTx/>
              <a:buNone/>
            </a:pPr>
            <a:r>
              <a:rPr lang="pt-BR" altLang="pt-BR" sz="1100" dirty="0">
                <a:solidFill>
                  <a:schemeClr val="tx1"/>
                </a:solidFill>
                <a:latin typeface="Arial" panose="020B0604020202020204" pitchFamily="34" charset="0"/>
              </a:rPr>
              <a:t>Qual o saldo da conta contábil no dia 17/01?</a:t>
            </a:r>
          </a:p>
          <a:p>
            <a:pPr algn="ctr">
              <a:spcBef>
                <a:spcPct val="0"/>
              </a:spcBef>
              <a:buClrTx/>
              <a:buFontTx/>
              <a:buNone/>
            </a:pPr>
            <a:r>
              <a:rPr lang="pt-BR" altLang="pt-BR" sz="1100" dirty="0">
                <a:solidFill>
                  <a:schemeClr val="tx1"/>
                </a:solidFill>
                <a:latin typeface="Arial" panose="020B0604020202020204" pitchFamily="34" charset="0"/>
              </a:rPr>
              <a:t>R$ 100,00 reais ou R$ 50,00 reais?</a:t>
            </a:r>
          </a:p>
          <a:p>
            <a:pPr algn="ctr">
              <a:spcBef>
                <a:spcPct val="0"/>
              </a:spcBef>
              <a:buClrTx/>
              <a:buFontTx/>
              <a:buNone/>
            </a:pPr>
            <a:endParaRPr lang="pt-BR" altLang="pt-BR" sz="1100" dirty="0">
              <a:solidFill>
                <a:schemeClr val="tx1"/>
              </a:solidFill>
              <a:latin typeface="Arial" panose="020B0604020202020204" pitchFamily="34" charset="0"/>
            </a:endParaRPr>
          </a:p>
        </p:txBody>
      </p:sp>
    </p:spTree>
    <p:extLst>
      <p:ext uri="{BB962C8B-B14F-4D97-AF65-F5344CB8AC3E}">
        <p14:creationId xmlns:p14="http://schemas.microsoft.com/office/powerpoint/2010/main" val="110565647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fontScale="92500" lnSpcReduction="10000"/>
          </a:bodyPr>
          <a:lstStyle/>
          <a:p>
            <a:r>
              <a:rPr lang="pt-BR" altLang="pt-BR" b="1" dirty="0" smtClean="0"/>
              <a:t>Estoques</a:t>
            </a:r>
          </a:p>
          <a:p>
            <a:endParaRPr lang="pt-BR" altLang="pt-BR" b="1" dirty="0"/>
          </a:p>
          <a:p>
            <a:pPr lvl="1"/>
            <a:r>
              <a:rPr lang="pt-BR" altLang="pt-BR" dirty="0"/>
              <a:t>Conceito do valor do estoque.</a:t>
            </a:r>
          </a:p>
          <a:p>
            <a:pPr lvl="2"/>
            <a:r>
              <a:rPr lang="pt-BR" altLang="pt-BR" dirty="0"/>
              <a:t>As empresas compram os materiais ao longo dos meses, e pode ocorrer que o material comprado no inicio do mês, esteja mais caro ou mais barato quando for comprado novamente no final do mês corrido, é nisto que surge a duvida, qual o preço unitário deve ser atribuído aos estoques na data do balanço. Porém lembramos que no Brasil, a legislação do Imposto de Renda tem permitido, apenas, a utilização dos seguintes métodos.</a:t>
            </a:r>
          </a:p>
          <a:p>
            <a:pPr lvl="3"/>
            <a:r>
              <a:rPr lang="pt-BR" altLang="pt-BR" dirty="0"/>
              <a:t>Custo médio ponderado móvel: realiza a média dos materiais comprados ao longo do mês.</a:t>
            </a:r>
          </a:p>
          <a:p>
            <a:pPr lvl="3"/>
            <a:r>
              <a:rPr lang="pt-BR" altLang="pt-BR" dirty="0"/>
              <a:t>FIFO ou PEPS: é onde que diz que o primeiro material que entrou, é o primeiro a ser utilizado. Exemplo:</a:t>
            </a:r>
          </a:p>
          <a:p>
            <a:pPr lvl="4"/>
            <a:r>
              <a:rPr lang="pt-BR" altLang="pt-BR" dirty="0"/>
              <a:t>Material comprado a R$ 1,00 em 10/01 e o mesmo material comprado a R$ 0,90 em 15/01, o primeiro que será consumido </a:t>
            </a:r>
            <a:r>
              <a:rPr lang="pt-BR" altLang="pt-BR" dirty="0" smtClean="0"/>
              <a:t>em </a:t>
            </a:r>
            <a:r>
              <a:rPr lang="pt-BR" altLang="pt-BR" dirty="0"/>
              <a:t>seu total é o que entrou primeiro.</a:t>
            </a:r>
          </a:p>
          <a:p>
            <a:pPr lvl="3"/>
            <a:r>
              <a:rPr lang="pt-BR" altLang="pt-BR" dirty="0"/>
              <a:t>LIFO ou UEPS: é onde que diz o ultimo entrou é o primeiro a sair, este não é permitido para fins fiscais no Brasil.</a:t>
            </a:r>
          </a:p>
          <a:p>
            <a:pPr lvl="1"/>
            <a:endParaRPr lang="pt-BR" altLang="pt-BR" b="1" dirty="0" smtClean="0"/>
          </a:p>
          <a:p>
            <a:pPr lvl="1"/>
            <a:r>
              <a:rPr lang="pt-BR" altLang="pt-BR" dirty="0"/>
              <a:t>Controle do estoque</a:t>
            </a:r>
          </a:p>
          <a:p>
            <a:pPr lvl="2"/>
            <a:r>
              <a:rPr lang="pt-BR" altLang="pt-BR" dirty="0"/>
              <a:t>Na data do balanço é correto determinar a quantidade física real de cada material no estoque desde da matéria prima até o produto acabado. E para isto é necessário a questão de controles internos para garantir que a empresa tenha fisicamente, seja representado no balanço. </a:t>
            </a:r>
          </a:p>
          <a:p>
            <a:pPr lvl="2"/>
            <a:r>
              <a:rPr lang="pt-BR" altLang="pt-BR" dirty="0"/>
              <a:t>É neste ponto que entra o controle interno de inventário, que é a contagem física do material em uma data especifica, normalmente próximo ao fechamento anual.</a:t>
            </a:r>
          </a:p>
          <a:p>
            <a:pPr lvl="2"/>
            <a:r>
              <a:rPr lang="pt-BR" altLang="pt-BR" dirty="0"/>
              <a:t>Em empresa que publicam balanço, no dia da contagem geral haverá acompanhamento de uma auditoria externa, para validar os controles internos e as contagens físicas</a:t>
            </a:r>
            <a:endParaRPr lang="pt-BR" altLang="pt-BR" b="1"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46</a:t>
            </a:fld>
            <a:endParaRPr lang="pt-BR" dirty="0"/>
          </a:p>
        </p:txBody>
      </p:sp>
    </p:spTree>
    <p:extLst>
      <p:ext uri="{BB962C8B-B14F-4D97-AF65-F5344CB8AC3E}">
        <p14:creationId xmlns:p14="http://schemas.microsoft.com/office/powerpoint/2010/main" val="323805949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altLang="pt-BR" dirty="0" smtClean="0"/>
              <a:t>Despesas Antecipadas</a:t>
            </a:r>
          </a:p>
          <a:p>
            <a:endParaRPr lang="pt-BR" altLang="pt-BR" dirty="0"/>
          </a:p>
          <a:p>
            <a:pPr lvl="1"/>
            <a:r>
              <a:rPr lang="pt-BR" altLang="pt-BR" dirty="0"/>
              <a:t>Conceito</a:t>
            </a:r>
          </a:p>
          <a:p>
            <a:pPr lvl="2"/>
            <a:r>
              <a:rPr lang="pt-BR" altLang="pt-BR" dirty="0"/>
              <a:t>São gastos que são pagos antecipadamente pela empresa, e cujo os benefícios ou a prestação de serviço à empresa se farão durante o exercício. Neste grupo podemos citar os seguintes gastos.</a:t>
            </a:r>
          </a:p>
          <a:p>
            <a:pPr lvl="3"/>
            <a:r>
              <a:rPr lang="pt-BR" altLang="pt-BR" dirty="0"/>
              <a:t>Pagamento do IPTU</a:t>
            </a:r>
          </a:p>
          <a:p>
            <a:pPr lvl="3"/>
            <a:r>
              <a:rPr lang="pt-BR" altLang="pt-BR" dirty="0"/>
              <a:t>Pagamento do IPVA</a:t>
            </a:r>
          </a:p>
          <a:p>
            <a:pPr lvl="3"/>
            <a:r>
              <a:rPr lang="pt-BR" altLang="pt-BR" dirty="0"/>
              <a:t>Pagamento de Seguros</a:t>
            </a:r>
          </a:p>
          <a:p>
            <a:pPr lvl="3"/>
            <a:r>
              <a:rPr lang="pt-BR" altLang="pt-BR" dirty="0"/>
              <a:t>Pagamento de Assinaturas de Revistas</a:t>
            </a:r>
          </a:p>
          <a:p>
            <a:pPr lvl="3"/>
            <a:r>
              <a:rPr lang="pt-BR" altLang="pt-BR" dirty="0"/>
              <a:t>Pagamento de Aluguel antecipado.</a:t>
            </a:r>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47</a:t>
            </a:fld>
            <a:endParaRPr lang="pt-BR" dirty="0"/>
          </a:p>
        </p:txBody>
      </p:sp>
    </p:spTree>
    <p:extLst>
      <p:ext uri="{BB962C8B-B14F-4D97-AF65-F5344CB8AC3E}">
        <p14:creationId xmlns:p14="http://schemas.microsoft.com/office/powerpoint/2010/main" val="40021506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dirty="0" smtClean="0"/>
              <a:t>ATIVO NÃO CIRCULANTE</a:t>
            </a:r>
          </a:p>
          <a:p>
            <a:pPr lvl="1"/>
            <a:endParaRPr lang="pt-BR" dirty="0"/>
          </a:p>
          <a:p>
            <a:pPr lvl="1"/>
            <a:r>
              <a:rPr lang="pt-BR" dirty="0" smtClean="0"/>
              <a:t>São valores que ultrapassam o prazo de um exercício na empresa. Neste temos os seguintes grupos</a:t>
            </a:r>
          </a:p>
          <a:p>
            <a:pPr lvl="1"/>
            <a:endParaRPr lang="pt-BR" dirty="0"/>
          </a:p>
          <a:p>
            <a:r>
              <a:rPr lang="pt-BR" altLang="pt-BR" dirty="0"/>
              <a:t>ATIVO </a:t>
            </a:r>
            <a:r>
              <a:rPr lang="pt-BR" altLang="pt-BR" dirty="0" smtClean="0"/>
              <a:t>REALIZAVEL </a:t>
            </a:r>
            <a:r>
              <a:rPr lang="pt-BR" altLang="pt-BR" dirty="0"/>
              <a:t>A LONGO PRAZO</a:t>
            </a:r>
          </a:p>
          <a:p>
            <a:endParaRPr lang="pt-BR" altLang="pt-BR" dirty="0" smtClean="0"/>
          </a:p>
          <a:p>
            <a:pPr lvl="1"/>
            <a:r>
              <a:rPr lang="pt-BR" altLang="pt-BR" dirty="0" smtClean="0"/>
              <a:t>Conceito</a:t>
            </a:r>
            <a:endParaRPr lang="pt-BR" altLang="pt-BR" dirty="0"/>
          </a:p>
          <a:p>
            <a:pPr lvl="2"/>
            <a:r>
              <a:rPr lang="pt-BR" altLang="pt-BR" dirty="0"/>
              <a:t>De uma forma geral, são classificáveis no Realizável a Longo Prazo as contas da mesma natureza das do Ativo Circulante, que todavia, tenham sua realização, certa ou provável, após o termino do exercício seguinte, o que, normalmente, significa realização num prazo superior a um ano a partir do próprio balanço.</a:t>
            </a:r>
          </a:p>
          <a:p>
            <a:pPr lvl="2"/>
            <a:r>
              <a:rPr lang="pt-BR" altLang="pt-BR" dirty="0"/>
              <a:t>De acordo com a Lei das S/A em seu artigo 179 temos “No ativo realizável a longo prazo: os direitos realizáveis após o termino do exercício seguinte, assim como os derivados de vendas, adiantamentos ou empréstimos da sociedade coligadas ou controladas (artigo 243), diretores, acionistas ou participantes no lucro da companhia, que não constituírem negócios usuais na exploração do objeto da companhia”.</a:t>
            </a:r>
          </a:p>
          <a:p>
            <a:pPr lvl="2"/>
            <a:r>
              <a:rPr lang="pt-BR" altLang="pt-BR" dirty="0"/>
              <a:t>Podemos dividir em três subgrupos o Realizável a Longo Prazo</a:t>
            </a:r>
          </a:p>
          <a:p>
            <a:pPr lvl="3"/>
            <a:r>
              <a:rPr lang="pt-BR" altLang="pt-BR" dirty="0"/>
              <a:t>Créditos e valores</a:t>
            </a:r>
          </a:p>
          <a:p>
            <a:pPr lvl="3"/>
            <a:r>
              <a:rPr lang="pt-BR" altLang="pt-BR" dirty="0"/>
              <a:t>Investimentos temporários a longo prazo</a:t>
            </a:r>
          </a:p>
          <a:p>
            <a:pPr lvl="3"/>
            <a:r>
              <a:rPr lang="pt-BR" altLang="pt-BR" dirty="0"/>
              <a:t>Despesas </a:t>
            </a:r>
            <a:r>
              <a:rPr lang="pt-BR" altLang="pt-BR" dirty="0" smtClean="0"/>
              <a:t>Antecipadas</a:t>
            </a:r>
            <a:endParaRPr lang="pt-BR" alt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48</a:t>
            </a:fld>
            <a:endParaRPr lang="pt-BR" dirty="0"/>
          </a:p>
        </p:txBody>
      </p:sp>
    </p:spTree>
    <p:extLst>
      <p:ext uri="{BB962C8B-B14F-4D97-AF65-F5344CB8AC3E}">
        <p14:creationId xmlns:p14="http://schemas.microsoft.com/office/powerpoint/2010/main" val="20916303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altLang="pt-BR" b="1" dirty="0" smtClean="0"/>
              <a:t>Créditos e Valores</a:t>
            </a:r>
          </a:p>
          <a:p>
            <a:pPr lvl="1"/>
            <a:r>
              <a:rPr lang="pt-BR" altLang="pt-BR" b="1" dirty="0" smtClean="0"/>
              <a:t>Conceito</a:t>
            </a:r>
          </a:p>
          <a:p>
            <a:pPr lvl="2"/>
            <a:r>
              <a:rPr lang="pt-BR" altLang="pt-BR" dirty="0" smtClean="0"/>
              <a:t>Neste </a:t>
            </a:r>
            <a:r>
              <a:rPr lang="pt-BR" altLang="pt-BR" dirty="0"/>
              <a:t>grupo são registados ou classificados os créditos a receber de terceiros relativos a eventuais a eventuais contas de clientes com prazo de pagamento superior ao exercício seguinte à data do balanço, títulos a receber, adiantamentos. Dentro deste, podemos abrir nestas contas.</a:t>
            </a:r>
          </a:p>
          <a:p>
            <a:pPr lvl="3"/>
            <a:r>
              <a:rPr lang="pt-BR" altLang="pt-BR" dirty="0"/>
              <a:t>Bancos: principalmente empréstimos a longos prazos.</a:t>
            </a:r>
          </a:p>
          <a:p>
            <a:pPr lvl="3"/>
            <a:r>
              <a:rPr lang="pt-BR" altLang="pt-BR" dirty="0"/>
              <a:t>Contas a receber</a:t>
            </a:r>
          </a:p>
          <a:p>
            <a:pPr lvl="3"/>
            <a:r>
              <a:rPr lang="pt-BR" altLang="pt-BR" dirty="0"/>
              <a:t>Títulos a receber</a:t>
            </a:r>
          </a:p>
          <a:p>
            <a:pPr lvl="3"/>
            <a:r>
              <a:rPr lang="pt-BR" altLang="pt-BR" dirty="0"/>
              <a:t>Crédito de acionistas, diretores, coligadas e controladas – transações não operacionais</a:t>
            </a:r>
          </a:p>
          <a:p>
            <a:pPr lvl="3"/>
            <a:r>
              <a:rPr lang="pt-BR" altLang="pt-BR" dirty="0"/>
              <a:t>Adiantamentos a terceiros</a:t>
            </a:r>
          </a:p>
          <a:p>
            <a:endParaRPr lang="pt-BR" dirty="0" smtClean="0"/>
          </a:p>
          <a:p>
            <a:r>
              <a:rPr lang="pt-BR" altLang="pt-BR" dirty="0" smtClean="0"/>
              <a:t>Despesas Antecipadas</a:t>
            </a:r>
          </a:p>
          <a:p>
            <a:pPr lvl="1"/>
            <a:r>
              <a:rPr lang="pt-BR" altLang="pt-BR" dirty="0" smtClean="0"/>
              <a:t>Conceito</a:t>
            </a:r>
            <a:r>
              <a:rPr lang="pt-BR" altLang="pt-BR" dirty="0"/>
              <a:t>:</a:t>
            </a:r>
          </a:p>
          <a:p>
            <a:pPr lvl="2"/>
            <a:r>
              <a:rPr lang="pt-BR" altLang="pt-BR" dirty="0"/>
              <a:t>Esse subgrupo é composto de pagamentos antecipados de itens que se converterão em despesa após o exercício seguinte a data do balanço . Caracterizam-se por benefícios ou serviços já pagos, mas a incorrer a longo prazo, como é </a:t>
            </a:r>
            <a:r>
              <a:rPr lang="pt-BR" altLang="pt-BR" dirty="0" smtClean="0"/>
              <a:t>o </a:t>
            </a:r>
            <a:r>
              <a:rPr lang="pt-BR" altLang="pt-BR" dirty="0"/>
              <a:t>caso de:</a:t>
            </a:r>
          </a:p>
          <a:p>
            <a:pPr lvl="3"/>
            <a:r>
              <a:rPr lang="pt-BR" altLang="pt-BR" dirty="0"/>
              <a:t>Prêmios de seguro a apropriar a longo prazo.</a:t>
            </a:r>
          </a:p>
          <a:p>
            <a:pPr lvl="3"/>
            <a:r>
              <a:rPr lang="pt-BR" altLang="pt-BR" dirty="0"/>
              <a:t>Imposto de renda </a:t>
            </a:r>
            <a:r>
              <a:rPr lang="pt-BR" altLang="pt-BR" dirty="0" smtClean="0"/>
              <a:t>diferido</a:t>
            </a:r>
            <a:endParaRPr lang="pt-BR" alt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49</a:t>
            </a:fld>
            <a:endParaRPr lang="pt-BR" dirty="0"/>
          </a:p>
        </p:txBody>
      </p:sp>
    </p:spTree>
    <p:extLst>
      <p:ext uri="{BB962C8B-B14F-4D97-AF65-F5344CB8AC3E}">
        <p14:creationId xmlns:p14="http://schemas.microsoft.com/office/powerpoint/2010/main" val="169284890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14400"/>
            <a:ext cx="11569700" cy="5262563"/>
          </a:xfrm>
        </p:spPr>
        <p:txBody>
          <a:bodyPr>
            <a:normAutofit/>
          </a:bodyPr>
          <a:lstStyle/>
          <a:p>
            <a:r>
              <a:rPr lang="pt-BR" dirty="0" smtClean="0"/>
              <a:t>Investimentos</a:t>
            </a:r>
          </a:p>
          <a:p>
            <a:endParaRPr lang="pt-BR" dirty="0"/>
          </a:p>
          <a:p>
            <a:pPr lvl="1"/>
            <a:r>
              <a:rPr lang="pt-BR" altLang="pt-BR" dirty="0"/>
              <a:t>Conceito:</a:t>
            </a:r>
          </a:p>
          <a:p>
            <a:pPr lvl="2"/>
            <a:r>
              <a:rPr lang="pt-BR" altLang="pt-BR" dirty="0"/>
              <a:t>Conforme o artigo 179 da Lei nº 6.404 estabelece como as contas serão classificadas definindo, no seu item III, que ficam: “Em investimentos: as participações permanentes em outras sociedades e os direitos de qualquer natureza, não classificáveis no ativo circulante, e que não se destinem a manutenção da atividade da companhia ou da empresa</a:t>
            </a:r>
            <a:r>
              <a:rPr lang="pt-BR" altLang="pt-BR" dirty="0" smtClean="0"/>
              <a:t>”.</a:t>
            </a:r>
          </a:p>
          <a:p>
            <a:pPr lvl="2"/>
            <a:endParaRPr lang="pt-BR" altLang="pt-BR" dirty="0"/>
          </a:p>
          <a:p>
            <a:pPr lvl="2"/>
            <a:r>
              <a:rPr lang="pt-BR" altLang="pt-BR" dirty="0"/>
              <a:t>Com este detalhe acima, entendemos que deverão ser classificados dois tipos de ativos no grupo de investimentos: 1º - participações permanentes em outras sociedades e 2º outros investimentos permanentes. Abrindo os detalhes destas contas, temos as seguintes colocações</a:t>
            </a:r>
            <a:r>
              <a:rPr lang="pt-BR" altLang="pt-BR" dirty="0" smtClean="0"/>
              <a:t>:</a:t>
            </a:r>
          </a:p>
          <a:p>
            <a:pPr lvl="2"/>
            <a:endParaRPr lang="pt-BR" altLang="pt-BR" dirty="0"/>
          </a:p>
          <a:p>
            <a:pPr lvl="3"/>
            <a:r>
              <a:rPr lang="pt-BR" altLang="pt-BR" dirty="0"/>
              <a:t>1º - Englobam todas as participações de caráter permanente em outras empresas na forma de ações ou quotas, que são avaliadas pelo método da equivalência patrimonial ou avaliadas pelo método de custo.</a:t>
            </a:r>
          </a:p>
          <a:p>
            <a:pPr lvl="3"/>
            <a:endParaRPr lang="pt-BR" altLang="pt-BR" dirty="0" smtClean="0"/>
          </a:p>
          <a:p>
            <a:pPr lvl="3"/>
            <a:r>
              <a:rPr lang="pt-BR" altLang="pt-BR" dirty="0" smtClean="0"/>
              <a:t>2º </a:t>
            </a:r>
            <a:r>
              <a:rPr lang="pt-BR" altLang="pt-BR" dirty="0"/>
              <a:t>- Englobam os demais investimentos distintos na forma de participações em outras empresas ou em algo específicos, por exemplo: obras de arte, terrenos e imóveis para futura utilização e imóveis não de uso (para renda</a:t>
            </a:r>
            <a:r>
              <a:rPr lang="pt-BR" altLang="pt-BR" dirty="0" smtClean="0"/>
              <a:t>).</a:t>
            </a:r>
            <a:endParaRPr lang="pt-BR" alt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50</a:t>
            </a:fld>
            <a:endParaRPr lang="pt-BR" dirty="0"/>
          </a:p>
        </p:txBody>
      </p:sp>
    </p:spTree>
    <p:extLst>
      <p:ext uri="{BB962C8B-B14F-4D97-AF65-F5344CB8AC3E}">
        <p14:creationId xmlns:p14="http://schemas.microsoft.com/office/powerpoint/2010/main" val="412990276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14400"/>
            <a:ext cx="11569700" cy="5543549"/>
          </a:xfrm>
        </p:spPr>
        <p:txBody>
          <a:bodyPr>
            <a:normAutofit lnSpcReduction="10000"/>
          </a:bodyPr>
          <a:lstStyle/>
          <a:p>
            <a:r>
              <a:rPr lang="pt-BR" dirty="0" smtClean="0"/>
              <a:t>Investimentos</a:t>
            </a:r>
          </a:p>
          <a:p>
            <a:endParaRPr lang="pt-BR" dirty="0"/>
          </a:p>
          <a:p>
            <a:pPr lvl="2"/>
            <a:r>
              <a:rPr lang="pt-BR" altLang="pt-BR" dirty="0"/>
              <a:t>Composição de Investimentos:</a:t>
            </a:r>
          </a:p>
          <a:p>
            <a:pPr lvl="3"/>
            <a:r>
              <a:rPr lang="pt-BR" altLang="pt-BR" dirty="0"/>
              <a:t>Participações societárias de caráter permanente;</a:t>
            </a:r>
          </a:p>
          <a:p>
            <a:pPr lvl="3"/>
            <a:r>
              <a:rPr lang="pt-BR" altLang="pt-BR" dirty="0"/>
              <a:t>Aplicações de recursos em sociedades coligadas ou controladas;</a:t>
            </a:r>
          </a:p>
          <a:p>
            <a:pPr lvl="3"/>
            <a:r>
              <a:rPr lang="pt-BR" altLang="pt-BR" dirty="0"/>
              <a:t>Certificados de investimentos (CI), ações ou quotas decorrentes de incentivos fiscais (FINOR, FINAM, FUNRES)</a:t>
            </a:r>
          </a:p>
          <a:p>
            <a:pPr lvl="3"/>
            <a:r>
              <a:rPr lang="pt-BR" altLang="pt-BR" dirty="0"/>
              <a:t>Participações em Sociedades </a:t>
            </a:r>
            <a:r>
              <a:rPr lang="pt-BR" altLang="pt-BR" dirty="0" err="1"/>
              <a:t>Ltda</a:t>
            </a:r>
            <a:r>
              <a:rPr lang="pt-BR" altLang="pt-BR" dirty="0"/>
              <a:t>;</a:t>
            </a:r>
          </a:p>
          <a:p>
            <a:pPr lvl="3"/>
            <a:r>
              <a:rPr lang="pt-BR" altLang="pt-BR" dirty="0"/>
              <a:t>Aplicações em imóveis não destinados à atividade-fim ou revenda</a:t>
            </a:r>
          </a:p>
          <a:p>
            <a:pPr lvl="3"/>
            <a:r>
              <a:rPr lang="pt-BR" altLang="pt-BR" dirty="0"/>
              <a:t>Florestas destinadas à proteção do solo ou à preservação do </a:t>
            </a:r>
            <a:r>
              <a:rPr lang="pt-BR" altLang="pt-BR" dirty="0" smtClean="0"/>
              <a:t>meio-ambiente</a:t>
            </a:r>
          </a:p>
          <a:p>
            <a:pPr lvl="3"/>
            <a:endParaRPr lang="pt-BR" altLang="pt-BR" dirty="0"/>
          </a:p>
          <a:p>
            <a:pPr lvl="3"/>
            <a:endParaRPr lang="pt-BR" altLang="pt-BR" dirty="0"/>
          </a:p>
          <a:p>
            <a:pPr lvl="1"/>
            <a:r>
              <a:rPr lang="pt-BR" altLang="pt-BR" dirty="0"/>
              <a:t>Avaliação dos investimentos da </a:t>
            </a:r>
            <a:r>
              <a:rPr lang="pt-BR" altLang="pt-BR" dirty="0" smtClean="0"/>
              <a:t>empresa – Método de custo</a:t>
            </a:r>
          </a:p>
          <a:p>
            <a:pPr lvl="2"/>
            <a:r>
              <a:rPr lang="pt-BR" altLang="pt-BR" dirty="0" smtClean="0"/>
              <a:t>São </a:t>
            </a:r>
            <a:r>
              <a:rPr lang="pt-BR" altLang="pt-BR" dirty="0"/>
              <a:t>avaliados pelo método de custo todos os investimentos na forma de ações ou quotas não sejam em coligadas ou controladas, ou mesmo os feitos em tais empresas, porém não significativos, ou seja, não relevantes, individualmente ou em seu </a:t>
            </a:r>
            <a:r>
              <a:rPr lang="pt-BR" altLang="pt-BR" dirty="0" smtClean="0"/>
              <a:t>conjunto.</a:t>
            </a:r>
          </a:p>
          <a:p>
            <a:pPr lvl="2"/>
            <a:r>
              <a:rPr lang="pt-BR" altLang="pt-BR" dirty="0" smtClean="0"/>
              <a:t>Por </a:t>
            </a:r>
            <a:r>
              <a:rPr lang="pt-BR" altLang="pt-BR" dirty="0"/>
              <a:t>este método, os investimentos são registrados pelo custo de aquisição, deduzido de provisão para perdas, e tais valores são corrigidos </a:t>
            </a:r>
            <a:r>
              <a:rPr lang="pt-BR" altLang="pt-BR" dirty="0" smtClean="0"/>
              <a:t>monetariamente.</a:t>
            </a:r>
          </a:p>
          <a:p>
            <a:pPr lvl="2"/>
            <a:r>
              <a:rPr lang="pt-BR" altLang="pt-BR" dirty="0" smtClean="0"/>
              <a:t>A </a:t>
            </a:r>
            <a:r>
              <a:rPr lang="pt-BR" altLang="pt-BR" dirty="0"/>
              <a:t>empresa investidora registra somente as operações ou transações baseadas em atos formais, de fatos, os dividendos são registrados como receitas no momento em que são declarados e distribuídos, ou provisionados pela empresa </a:t>
            </a:r>
            <a:r>
              <a:rPr lang="pt-BR" altLang="pt-BR" dirty="0" smtClean="0"/>
              <a:t>investida.</a:t>
            </a:r>
          </a:p>
          <a:p>
            <a:pPr lvl="2"/>
            <a:r>
              <a:rPr lang="pt-BR" altLang="pt-BR" dirty="0" smtClean="0"/>
              <a:t>Dessa </a:t>
            </a:r>
            <a:r>
              <a:rPr lang="pt-BR" altLang="pt-BR" dirty="0"/>
              <a:t>forma, no método de custo não importa a geração efetiva dos lucros ou reservas mas, sim as datas e os atos formais de sua distribuição. Assim, deixa – se de reconhecer na Empresa investidora os lucros e reservas gerados e não distribuídos pela coligada ou controlada</a:t>
            </a:r>
            <a:r>
              <a:rPr lang="pt-BR" altLang="pt-BR" dirty="0" smtClean="0"/>
              <a:t>.</a:t>
            </a:r>
            <a:endParaRPr lang="pt-BR" alt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51</a:t>
            </a:fld>
            <a:endParaRPr lang="pt-BR" dirty="0"/>
          </a:p>
        </p:txBody>
      </p:sp>
    </p:spTree>
    <p:extLst>
      <p:ext uri="{BB962C8B-B14F-4D97-AF65-F5344CB8AC3E}">
        <p14:creationId xmlns:p14="http://schemas.microsoft.com/office/powerpoint/2010/main" val="43299260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Investimentos</a:t>
            </a:r>
          </a:p>
          <a:p>
            <a:endParaRPr lang="pt-BR" dirty="0"/>
          </a:p>
          <a:p>
            <a:pPr lvl="1"/>
            <a:r>
              <a:rPr lang="pt-BR" altLang="pt-BR" dirty="0"/>
              <a:t>Método da equivalência patrimonial</a:t>
            </a:r>
          </a:p>
          <a:p>
            <a:pPr lvl="2"/>
            <a:r>
              <a:rPr lang="pt-BR" altLang="pt-BR" dirty="0"/>
              <a:t>O conceito do método da equivalência patrimonial é baseado no fato de que os resultados e quaisquer variações patrimoniais de uma controlada ou coligada devem ser reconhecidos (contabilizados) no momento de sua geração, independentemente de serem ou não distribuídos.</a:t>
            </a:r>
          </a:p>
          <a:p>
            <a:pPr lvl="2"/>
            <a:r>
              <a:rPr lang="pt-BR" altLang="pt-BR" dirty="0"/>
              <a:t>No artigo 248 da Lei nº 6.404 estabelece para as empresa S/A a obrigatoriedade da adoção método da equivalência patrimonial dos investimentos. Esse método será aplicado, todavia, somente para “os investimentos relevantes em sociedades coligadas, sobre cuja administração tenha influencia ou de que participe com 20% ou mais do capital social, e em sociedades controladas.</a:t>
            </a:r>
          </a:p>
          <a:p>
            <a:pPr lvl="2"/>
            <a:r>
              <a:rPr lang="pt-BR" altLang="pt-BR" dirty="0"/>
              <a:t>Define – se coligada: uma empresa que tenha participação em outra empresa, porém a participação é igual a ou maior que 10% e igual a ou menor que 50% do capital total.</a:t>
            </a:r>
          </a:p>
          <a:p>
            <a:pPr lvl="2"/>
            <a:r>
              <a:rPr lang="pt-BR" altLang="pt-BR" dirty="0"/>
              <a:t>Define – se controlada: uma empresa que tenha participação em outra empresa, porém a participação maior que 50% do capital votante.</a:t>
            </a:r>
          </a:p>
          <a:p>
            <a:pPr lvl="2"/>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52</a:t>
            </a:fld>
            <a:endParaRPr lang="pt-BR" dirty="0"/>
          </a:p>
        </p:txBody>
      </p:sp>
    </p:spTree>
    <p:extLst>
      <p:ext uri="{BB962C8B-B14F-4D97-AF65-F5344CB8AC3E}">
        <p14:creationId xmlns:p14="http://schemas.microsoft.com/office/powerpoint/2010/main" val="252236883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lnSpcReduction="10000"/>
          </a:bodyPr>
          <a:lstStyle/>
          <a:p>
            <a:r>
              <a:rPr lang="pt-BR" dirty="0" smtClean="0"/>
              <a:t>Imobilizado</a:t>
            </a:r>
          </a:p>
          <a:p>
            <a:endParaRPr lang="pt-BR" dirty="0"/>
          </a:p>
          <a:p>
            <a:pPr lvl="1"/>
            <a:r>
              <a:rPr lang="pt-BR" altLang="pt-BR" dirty="0" smtClean="0"/>
              <a:t>Conceito</a:t>
            </a:r>
            <a:endParaRPr lang="pt-BR" altLang="pt-BR" dirty="0"/>
          </a:p>
          <a:p>
            <a:pPr lvl="2"/>
            <a:r>
              <a:rPr lang="pt-BR" altLang="pt-BR" dirty="0"/>
              <a:t>A Lei nº 6.404 em seu artigo 179, no item IV, conceitua como contas a serem classificadas no Ativo Imobilizado: “Os direitos que tenham por objetos bens destinados a manutenção das atividades da companhia e da empresa, ou exercidos com essa finalidade, inclusive os de propriedade industrial ou comercial”.</a:t>
            </a:r>
          </a:p>
          <a:p>
            <a:pPr lvl="2"/>
            <a:r>
              <a:rPr lang="pt-BR" altLang="pt-BR" dirty="0"/>
              <a:t>Os itens classificados na categoria de Ativo Imobilizado incluem:</a:t>
            </a:r>
          </a:p>
          <a:p>
            <a:pPr lvl="3"/>
            <a:r>
              <a:rPr lang="pt-BR" altLang="pt-BR" dirty="0"/>
              <a:t>Bens tangíveis: são bens que tem um corpo físico, tais como terrenos, obras civis, máquinas, móveis, veículos, benfeitorias em propriedades, direitos sobre recursos naturais.</a:t>
            </a:r>
          </a:p>
          <a:p>
            <a:pPr lvl="3"/>
            <a:r>
              <a:rPr lang="pt-BR" altLang="pt-BR" dirty="0"/>
              <a:t>Bens intangíveis: são valores que não reside em qualquer propriedade física, mas nos direitos de propriedade que são legalmente conferidos aos seus possuidores, tais como patentes, direitos autorais e marcas.</a:t>
            </a:r>
          </a:p>
          <a:p>
            <a:pPr lvl="1"/>
            <a:endParaRPr lang="pt-BR" dirty="0" smtClean="0"/>
          </a:p>
          <a:p>
            <a:pPr lvl="2"/>
            <a:r>
              <a:rPr lang="pt-BR" altLang="pt-BR" dirty="0"/>
              <a:t>Terrenos: esta conta registra os terrenos de propriedade da empresa realmente utilizados nas operações, ou seja, onde se localizam a fabrica, os depósitos, os escritórios, as filiais e as lojas. Os terrenos que não se destina a construção de uma empresa, devem estar classificados em investimentos.</a:t>
            </a:r>
          </a:p>
          <a:p>
            <a:pPr lvl="2"/>
            <a:endParaRPr lang="pt-BR" altLang="pt-BR" dirty="0" smtClean="0"/>
          </a:p>
          <a:p>
            <a:pPr lvl="2"/>
            <a:r>
              <a:rPr lang="pt-BR" altLang="pt-BR" dirty="0" smtClean="0"/>
              <a:t>Obras</a:t>
            </a:r>
            <a:r>
              <a:rPr lang="pt-BR" altLang="pt-BR" dirty="0"/>
              <a:t>: esta conta registra todos os valores que foram melhoramentos e obras integrados aos terrenos, podendo integrar este valor os seguintes itens:</a:t>
            </a:r>
          </a:p>
          <a:p>
            <a:pPr lvl="3"/>
            <a:r>
              <a:rPr lang="pt-BR" altLang="pt-BR" dirty="0" smtClean="0"/>
              <a:t>Serviços diversos: limpeza do terreno, terraplanagem, topográficos.</a:t>
            </a:r>
          </a:p>
          <a:p>
            <a:pPr lvl="3"/>
            <a:r>
              <a:rPr lang="pt-BR" altLang="pt-BR" dirty="0" smtClean="0"/>
              <a:t>Materiais: areia, pedra, concreto, ferro, aço, alumínio, material de construção em geral</a:t>
            </a:r>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53</a:t>
            </a:fld>
            <a:endParaRPr lang="pt-BR" dirty="0"/>
          </a:p>
        </p:txBody>
      </p:sp>
    </p:spTree>
    <p:extLst>
      <p:ext uri="{BB962C8B-B14F-4D97-AF65-F5344CB8AC3E}">
        <p14:creationId xmlns:p14="http://schemas.microsoft.com/office/powerpoint/2010/main" val="118205847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01521"/>
            <a:ext cx="11569700" cy="5262563"/>
          </a:xfrm>
        </p:spPr>
        <p:txBody>
          <a:bodyPr>
            <a:normAutofit/>
          </a:bodyPr>
          <a:lstStyle/>
          <a:p>
            <a:r>
              <a:rPr lang="pt-BR" dirty="0" smtClean="0"/>
              <a:t>Imobilizado</a:t>
            </a:r>
          </a:p>
          <a:p>
            <a:pPr lvl="2"/>
            <a:endParaRPr lang="pt-BR" dirty="0"/>
          </a:p>
          <a:p>
            <a:pPr lvl="2"/>
            <a:r>
              <a:rPr lang="pt-BR" altLang="pt-BR" dirty="0"/>
              <a:t>Instalações: são registrados nesta conta os valores referente as instalações elétricas, instalações hidráulicas, sanitárias, de vapor, de ar comprimido, frigorificas, contra incêndios, de comunicações, de climatização, para combustíveis, gases, para cozinha.</a:t>
            </a:r>
          </a:p>
          <a:p>
            <a:pPr lvl="2"/>
            <a:endParaRPr lang="pt-BR" altLang="pt-BR" dirty="0" smtClean="0"/>
          </a:p>
          <a:p>
            <a:pPr lvl="2"/>
            <a:r>
              <a:rPr lang="pt-BR" altLang="pt-BR" dirty="0" smtClean="0"/>
              <a:t>Máquinas</a:t>
            </a:r>
            <a:r>
              <a:rPr lang="pt-BR" altLang="pt-BR" dirty="0"/>
              <a:t>, aparelhos e equipamentos: envolve os valores registrados dos equipamentos utilizado no processo de produção da empresa, também podemos encontrar os custos com instalações lançados nesta conta.</a:t>
            </a:r>
          </a:p>
          <a:p>
            <a:pPr lvl="2"/>
            <a:endParaRPr lang="pt-BR" altLang="pt-BR" dirty="0" smtClean="0"/>
          </a:p>
          <a:p>
            <a:pPr lvl="2"/>
            <a:r>
              <a:rPr lang="pt-BR" altLang="pt-BR" dirty="0" smtClean="0"/>
              <a:t>Móveis </a:t>
            </a:r>
            <a:r>
              <a:rPr lang="pt-BR" altLang="pt-BR" dirty="0"/>
              <a:t>e utensílios: são classificados nesta conta todos os móveis utilizados na administração da empresa, por exemplo: mesas, cadeiras, arquivos.</a:t>
            </a:r>
          </a:p>
          <a:p>
            <a:pPr lvl="2"/>
            <a:endParaRPr lang="pt-BR" altLang="pt-BR" dirty="0" smtClean="0"/>
          </a:p>
          <a:p>
            <a:pPr lvl="2"/>
            <a:r>
              <a:rPr lang="pt-BR" altLang="pt-BR" dirty="0" smtClean="0"/>
              <a:t>Veículos</a:t>
            </a:r>
            <a:r>
              <a:rPr lang="pt-BR" altLang="pt-BR" dirty="0"/>
              <a:t>: são classificados nesta conta todos os veículos de propriedade da empresa, sejam os de uso da administração, do pessoal de vendas, de transporte em geral, do pessoal do industrial. As empilhadeiras e similares utilizados na produção, podem ser registrados na conta de equipamentos.</a:t>
            </a:r>
          </a:p>
          <a:p>
            <a:pPr lvl="2"/>
            <a:endParaRPr lang="pt-BR" dirty="0" smtClean="0"/>
          </a:p>
          <a:p>
            <a:pPr lvl="2"/>
            <a:r>
              <a:rPr lang="pt-BR" altLang="pt-BR" dirty="0"/>
              <a:t>Equipamentos de processamento: nesta conta são contabilizados os equipamentos de processamento de dados adquiridos pela empresa.</a:t>
            </a:r>
          </a:p>
          <a:p>
            <a:pPr lvl="2"/>
            <a:endParaRPr lang="pt-BR" altLang="pt-BR" dirty="0" smtClean="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54</a:t>
            </a:fld>
            <a:endParaRPr lang="pt-BR" dirty="0"/>
          </a:p>
        </p:txBody>
      </p:sp>
    </p:spTree>
    <p:extLst>
      <p:ext uri="{BB962C8B-B14F-4D97-AF65-F5344CB8AC3E}">
        <p14:creationId xmlns:p14="http://schemas.microsoft.com/office/powerpoint/2010/main" val="89443148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Imobilizado</a:t>
            </a:r>
          </a:p>
          <a:p>
            <a:endParaRPr lang="pt-BR" dirty="0"/>
          </a:p>
          <a:p>
            <a:pPr lvl="2"/>
            <a:r>
              <a:rPr lang="pt-BR" altLang="pt-BR" dirty="0"/>
              <a:t>Sistemas aplicativos: são registrado o valor dos softwares adquiridos ou desenvolvidos pela empresa.</a:t>
            </a:r>
          </a:p>
          <a:p>
            <a:pPr lvl="1"/>
            <a:endParaRPr lang="pt-BR" altLang="pt-BR" dirty="0" smtClean="0"/>
          </a:p>
          <a:p>
            <a:pPr lvl="2"/>
            <a:r>
              <a:rPr lang="pt-BR" altLang="pt-BR" dirty="0" smtClean="0"/>
              <a:t>Florestamento </a:t>
            </a:r>
            <a:r>
              <a:rPr lang="pt-BR" altLang="pt-BR" dirty="0"/>
              <a:t>e reflorestamento: essa classifica – se todos os custos acumulados relativos a projetos de florestamento e reflorestamento da empresa. Os projetos liderados pela sociedade, como sócio ostensiva, em conjunto com outros acionistas, devem ter toda contabilização do projeto a parte, de acordo com os critérios próprios.</a:t>
            </a:r>
          </a:p>
          <a:p>
            <a:pPr lvl="2"/>
            <a:endParaRPr lang="pt-BR" altLang="pt-BR" dirty="0" smtClean="0"/>
          </a:p>
          <a:p>
            <a:pPr lvl="2"/>
            <a:r>
              <a:rPr lang="pt-BR" altLang="pt-BR" dirty="0" smtClean="0"/>
              <a:t>Imobilizado </a:t>
            </a:r>
            <a:r>
              <a:rPr lang="pt-BR" altLang="pt-BR" dirty="0"/>
              <a:t>em andamento: são os registros dos bens que ainda se encontram na fase de implementação dentro da empresa, ao seu termino deverá ser transferido para a conta correspondente.</a:t>
            </a:r>
          </a:p>
          <a:p>
            <a:pPr lvl="1"/>
            <a:endParaRPr lang="pt-BR" altLang="pt-BR" dirty="0" smtClean="0"/>
          </a:p>
          <a:p>
            <a:pPr lvl="2"/>
            <a:r>
              <a:rPr lang="pt-BR" altLang="pt-BR" dirty="0" smtClean="0"/>
              <a:t>Depreciação</a:t>
            </a:r>
            <a:r>
              <a:rPr lang="pt-BR" altLang="pt-BR" dirty="0"/>
              <a:t>: é o valor que é lançado </a:t>
            </a:r>
            <a:endParaRPr lang="pt-BR" altLang="pt-BR" dirty="0" smtClean="0"/>
          </a:p>
          <a:p>
            <a:pPr marL="914400" lvl="2" indent="0">
              <a:buNone/>
            </a:pPr>
            <a:r>
              <a:rPr lang="pt-BR" altLang="pt-BR" dirty="0" smtClean="0"/>
              <a:t>relativo </a:t>
            </a:r>
            <a:r>
              <a:rPr lang="pt-BR" altLang="pt-BR" dirty="0"/>
              <a:t>a perda da vida útil dos bens da </a:t>
            </a:r>
            <a:endParaRPr lang="pt-BR" altLang="pt-BR" dirty="0" smtClean="0"/>
          </a:p>
          <a:p>
            <a:pPr marL="914400" lvl="2" indent="0">
              <a:buNone/>
            </a:pPr>
            <a:r>
              <a:rPr lang="pt-BR" altLang="pt-BR" dirty="0" smtClean="0"/>
              <a:t>empresa</a:t>
            </a:r>
            <a:r>
              <a:rPr lang="pt-BR" altLang="pt-BR" dirty="0"/>
              <a:t>, exceto a parte de terrenos. </a:t>
            </a:r>
            <a:endParaRPr lang="pt-BR" altLang="pt-BR" dirty="0" smtClean="0"/>
          </a:p>
          <a:p>
            <a:pPr marL="914400" lvl="2" indent="0">
              <a:buNone/>
            </a:pPr>
            <a:r>
              <a:rPr lang="pt-BR" altLang="pt-BR" dirty="0" smtClean="0"/>
              <a:t>Veja </a:t>
            </a:r>
            <a:r>
              <a:rPr lang="pt-BR" altLang="pt-BR" dirty="0"/>
              <a:t>a </a:t>
            </a:r>
            <a:r>
              <a:rPr lang="pt-BR" altLang="pt-BR" dirty="0" smtClean="0"/>
              <a:t>tabela ao lado.</a:t>
            </a:r>
            <a:endParaRPr lang="pt-BR" altLang="pt-BR" dirty="0"/>
          </a:p>
          <a:p>
            <a:pPr lvl="1"/>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55</a:t>
            </a:fld>
            <a:endParaRPr lang="pt-BR" dirty="0"/>
          </a:p>
        </p:txBody>
      </p:sp>
      <p:pic>
        <p:nvPicPr>
          <p:cNvPr id="4" name="Imagem 3"/>
          <p:cNvPicPr>
            <a:picLocks noChangeAspect="1"/>
          </p:cNvPicPr>
          <p:nvPr/>
        </p:nvPicPr>
        <p:blipFill>
          <a:blip r:embed="rId2"/>
          <a:stretch>
            <a:fillRect/>
          </a:stretch>
        </p:blipFill>
        <p:spPr>
          <a:xfrm>
            <a:off x="5821251" y="4183016"/>
            <a:ext cx="5419500" cy="2599330"/>
          </a:xfrm>
          <a:prstGeom prst="rect">
            <a:avLst/>
          </a:prstGeom>
          <a:solidFill>
            <a:srgbClr val="FFFFFF">
              <a:shade val="85000"/>
            </a:srgbClr>
          </a:solid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32198794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Intangível</a:t>
            </a:r>
          </a:p>
          <a:p>
            <a:pPr lvl="1"/>
            <a:endParaRPr lang="pt-BR" dirty="0"/>
          </a:p>
          <a:p>
            <a:pPr lvl="1"/>
            <a:r>
              <a:rPr lang="pt-BR" dirty="0" smtClean="0"/>
              <a:t>Conceito</a:t>
            </a:r>
          </a:p>
          <a:p>
            <a:pPr lvl="2"/>
            <a:r>
              <a:rPr lang="pt-BR" altLang="pt-BR" dirty="0" smtClean="0"/>
              <a:t>Conforme </a:t>
            </a:r>
            <a:r>
              <a:rPr lang="pt-BR" altLang="pt-BR" dirty="0"/>
              <a:t>o item V do artigo 179 da Lei das S/A define que o Ativo Diferido, serão classificadas “as aplicações de recursos em despesas que contribuirão para a formação do resultado de mais de um exercício social, inclusive os juros pagos ou creditados aos acionistas durante o período que anteceder o inicio das operações sociais”.</a:t>
            </a:r>
          </a:p>
          <a:p>
            <a:pPr lvl="2"/>
            <a:endParaRPr lang="pt-BR" altLang="pt-BR" dirty="0" smtClean="0"/>
          </a:p>
          <a:p>
            <a:pPr lvl="2"/>
            <a:r>
              <a:rPr lang="pt-BR" altLang="pt-BR" dirty="0" smtClean="0"/>
              <a:t>Este </a:t>
            </a:r>
            <a:r>
              <a:rPr lang="pt-BR" altLang="pt-BR" dirty="0"/>
              <a:t>grupo do diferido caracteriza – se por serem ativos intangíveis, que serão amortizados por apropriação as despesas operacionais, no período de tempo em que estiverem contribuindo para a formação do resultado da empresa.</a:t>
            </a:r>
          </a:p>
          <a:p>
            <a:pPr lvl="2"/>
            <a:endParaRPr lang="pt-BR" altLang="pt-BR" dirty="0" smtClean="0"/>
          </a:p>
          <a:p>
            <a:pPr lvl="2"/>
            <a:r>
              <a:rPr lang="pt-BR" altLang="pt-BR" dirty="0" smtClean="0"/>
              <a:t>Este </a:t>
            </a:r>
            <a:r>
              <a:rPr lang="pt-BR" altLang="pt-BR" dirty="0"/>
              <a:t>grupo pode ser subdivido nestes subgrupos</a:t>
            </a:r>
          </a:p>
          <a:p>
            <a:pPr lvl="3"/>
            <a:r>
              <a:rPr lang="pt-BR" altLang="pt-BR" dirty="0"/>
              <a:t>Gastos de implantação e </a:t>
            </a:r>
            <a:r>
              <a:rPr lang="pt-BR" altLang="pt-BR" dirty="0" err="1"/>
              <a:t>pré</a:t>
            </a:r>
            <a:r>
              <a:rPr lang="pt-BR" altLang="pt-BR" dirty="0"/>
              <a:t> operacionais: são valores que ocorrem dentro da organização, principalmente quando é um novo empreendimento, para sua abertura, taxas e custos com construções junto a órgãos, antes do inicio de suas atividades.</a:t>
            </a:r>
          </a:p>
          <a:p>
            <a:pPr lvl="3"/>
            <a:r>
              <a:rPr lang="pt-BR" altLang="pt-BR" dirty="0"/>
              <a:t>Gastos com pesquisas e desenvolvimento de produtos: são valores que ocorrem relativos a pesquisa e desenvolvimento de novos produtos e marcas</a:t>
            </a:r>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56</a:t>
            </a:fld>
            <a:endParaRPr lang="pt-BR" dirty="0"/>
          </a:p>
        </p:txBody>
      </p:sp>
    </p:spTree>
    <p:extLst>
      <p:ext uri="{BB962C8B-B14F-4D97-AF65-F5344CB8AC3E}">
        <p14:creationId xmlns:p14="http://schemas.microsoft.com/office/powerpoint/2010/main" val="73813092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27279"/>
            <a:ext cx="11569700" cy="5262563"/>
          </a:xfrm>
        </p:spPr>
        <p:txBody>
          <a:bodyPr/>
          <a:lstStyle/>
          <a:p>
            <a:r>
              <a:rPr lang="pt-BR" dirty="0" smtClean="0"/>
              <a:t>PASSIVO</a:t>
            </a:r>
          </a:p>
          <a:p>
            <a:pPr lvl="1"/>
            <a:endParaRPr lang="pt-BR" altLang="pt-BR" dirty="0" smtClean="0"/>
          </a:p>
          <a:p>
            <a:pPr lvl="1"/>
            <a:r>
              <a:rPr lang="pt-BR" altLang="pt-BR" dirty="0" smtClean="0"/>
              <a:t>Conceito: É </a:t>
            </a:r>
            <a:r>
              <a:rPr lang="pt-BR" altLang="pt-BR" dirty="0"/>
              <a:t>onde que encontramos os valores de obrigações da empresa. É dividido em três itens:</a:t>
            </a:r>
          </a:p>
          <a:p>
            <a:pPr lvl="1"/>
            <a:endParaRPr lang="pt-BR" altLang="pt-BR" dirty="0" smtClean="0"/>
          </a:p>
          <a:p>
            <a:pPr lvl="1"/>
            <a:r>
              <a:rPr lang="pt-BR" altLang="pt-BR" dirty="0" smtClean="0"/>
              <a:t>Passivo </a:t>
            </a:r>
            <a:r>
              <a:rPr lang="pt-BR" altLang="pt-BR" dirty="0"/>
              <a:t>circulante</a:t>
            </a:r>
          </a:p>
          <a:p>
            <a:pPr lvl="2"/>
            <a:r>
              <a:rPr lang="pt-BR" altLang="pt-BR" dirty="0"/>
              <a:t>O passivo circulante é representado pelas obrigações da companhia cuja liquidação se espera que ocorra dentro do exercício social seguinte, ou de acordo com o ciclo operacional da empresa, se este for superior a essa prazo. Estas obrigações podem representar valores fixos ou variáveis, vencidos ou a vencer, em uma data ou em diversas datas futuras</a:t>
            </a:r>
          </a:p>
          <a:p>
            <a:pPr lvl="2"/>
            <a:endParaRPr lang="pt-BR" altLang="pt-BR" dirty="0"/>
          </a:p>
          <a:p>
            <a:pPr lvl="1"/>
            <a:r>
              <a:rPr lang="pt-BR" altLang="pt-BR" dirty="0"/>
              <a:t>Exigível a longo prazo</a:t>
            </a:r>
          </a:p>
          <a:p>
            <a:pPr lvl="2"/>
            <a:r>
              <a:rPr lang="pt-BR" altLang="pt-BR" dirty="0"/>
              <a:t>No passivo exigível a longo prazo serão registrados as obrigações da companhia cuja liquidação deverá ocorrer em prazo superior a seu ciclo operacional, ou após o exercício social seguinte</a:t>
            </a:r>
          </a:p>
          <a:p>
            <a:pPr lvl="2"/>
            <a:endParaRPr lang="pt-BR" altLang="pt-BR" dirty="0"/>
          </a:p>
          <a:p>
            <a:pPr lvl="1"/>
            <a:r>
              <a:rPr lang="pt-BR" altLang="pt-BR" dirty="0"/>
              <a:t>Patrimônio Liquido</a:t>
            </a:r>
          </a:p>
          <a:p>
            <a:pPr lvl="2"/>
            <a:r>
              <a:rPr lang="pt-BR" altLang="pt-BR" dirty="0"/>
              <a:t>É onde registrado o capital social da empresa, bem como os resultados de lucros ou prejuízos </a:t>
            </a:r>
            <a:r>
              <a:rPr lang="pt-BR" altLang="pt-BR" dirty="0" smtClean="0"/>
              <a:t>acumulados, além dos valores que a empresa realiza reserva para utilização futura.</a:t>
            </a:r>
            <a:endParaRPr lang="pt-BR" altLang="pt-BR" dirty="0"/>
          </a:p>
          <a:p>
            <a:pPr lvl="1"/>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57</a:t>
            </a:fld>
            <a:endParaRPr lang="pt-BR" dirty="0"/>
          </a:p>
        </p:txBody>
      </p:sp>
    </p:spTree>
    <p:extLst>
      <p:ext uri="{BB962C8B-B14F-4D97-AF65-F5344CB8AC3E}">
        <p14:creationId xmlns:p14="http://schemas.microsoft.com/office/powerpoint/2010/main" val="80516181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Passivo</a:t>
            </a:r>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58</a:t>
            </a:fld>
            <a:endParaRPr lang="pt-BR" dirty="0"/>
          </a:p>
        </p:txBody>
      </p:sp>
      <p:grpSp>
        <p:nvGrpSpPr>
          <p:cNvPr id="4" name="Grupo 4"/>
          <p:cNvGrpSpPr>
            <a:grpSpLocks/>
          </p:cNvGrpSpPr>
          <p:nvPr/>
        </p:nvGrpSpPr>
        <p:grpSpPr bwMode="auto">
          <a:xfrm>
            <a:off x="1898650" y="1227137"/>
            <a:ext cx="8794750" cy="4637088"/>
            <a:chOff x="166688" y="1233488"/>
            <a:chExt cx="8794750" cy="4637087"/>
          </a:xfrm>
        </p:grpSpPr>
        <p:sp>
          <p:nvSpPr>
            <p:cNvPr id="5" name="Rectangle 3"/>
            <p:cNvSpPr>
              <a:spLocks noChangeArrowheads="1"/>
            </p:cNvSpPr>
            <p:nvPr/>
          </p:nvSpPr>
          <p:spPr bwMode="auto">
            <a:xfrm>
              <a:off x="166688" y="1236663"/>
              <a:ext cx="2697162" cy="476250"/>
            </a:xfrm>
            <a:prstGeom prst="rect">
              <a:avLst/>
            </a:prstGeom>
            <a:solidFill>
              <a:srgbClr val="8E8EB2"/>
            </a:solidFill>
            <a:ln w="6350">
              <a:solidFill>
                <a:schemeClr val="bg1"/>
              </a:solidFill>
              <a:miter lim="800000"/>
              <a:headEnd/>
              <a:tailEnd/>
            </a:ln>
            <a:effectLst>
              <a:outerShdw dist="107763" dir="2700000" algn="ctr" rotWithShape="0">
                <a:srgbClr val="C0C0C0">
                  <a:alpha val="50000"/>
                </a:srgbClr>
              </a:outerShdw>
            </a:effectLst>
          </p:spPr>
          <p:txBody>
            <a:bodyPr wrap="none" lIns="45720" rIns="45720"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endParaRPr lang="pt-BR" altLang="pt-BR" sz="1200">
                <a:solidFill>
                  <a:schemeClr val="tx1"/>
                </a:solidFill>
                <a:latin typeface="Times New Roman" panose="02020603050405020304" pitchFamily="18" charset="0"/>
              </a:endParaRPr>
            </a:p>
          </p:txBody>
        </p:sp>
        <p:sp>
          <p:nvSpPr>
            <p:cNvPr id="6" name="Rectangle 4"/>
            <p:cNvSpPr>
              <a:spLocks noChangeArrowheads="1"/>
            </p:cNvSpPr>
            <p:nvPr/>
          </p:nvSpPr>
          <p:spPr bwMode="auto">
            <a:xfrm>
              <a:off x="179388" y="1773238"/>
              <a:ext cx="2697162" cy="4097337"/>
            </a:xfrm>
            <a:prstGeom prst="rect">
              <a:avLst/>
            </a:prstGeom>
            <a:solidFill>
              <a:srgbClr val="003300">
                <a:alpha val="50195"/>
              </a:srgbClr>
            </a:solidFill>
            <a:ln w="6350">
              <a:solidFill>
                <a:schemeClr val="bg1"/>
              </a:solidFill>
              <a:miter lim="800000"/>
              <a:headEnd/>
              <a:tailEnd/>
            </a:ln>
            <a:effectLst>
              <a:outerShdw dist="107763" dir="2700000" algn="ctr" rotWithShape="0">
                <a:srgbClr val="C0C0C0">
                  <a:alpha val="50000"/>
                </a:srgbClr>
              </a:outerShdw>
            </a:effectLst>
          </p:spPr>
          <p:txBody>
            <a:bodyPr wrap="none" lIns="45720" rIns="45720"/>
            <a:lstStyle>
              <a:lvl1pPr marL="114300" indent="-114300">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30000"/>
                </a:spcBef>
                <a:buClr>
                  <a:schemeClr val="folHlink"/>
                </a:buClr>
                <a:buFontTx/>
                <a:buChar char="•"/>
              </a:pPr>
              <a:endParaRPr lang="pt-BR" altLang="pt-BR" sz="1200">
                <a:solidFill>
                  <a:schemeClr val="tx1"/>
                </a:solidFill>
                <a:latin typeface="Times New Roman" panose="02020603050405020304" pitchFamily="18" charset="0"/>
              </a:endParaRPr>
            </a:p>
          </p:txBody>
        </p:sp>
        <p:sp>
          <p:nvSpPr>
            <p:cNvPr id="7" name="Rectangle 5"/>
            <p:cNvSpPr>
              <a:spLocks noChangeArrowheads="1"/>
            </p:cNvSpPr>
            <p:nvPr/>
          </p:nvSpPr>
          <p:spPr bwMode="auto">
            <a:xfrm>
              <a:off x="3216275" y="1235075"/>
              <a:ext cx="2695575" cy="476250"/>
            </a:xfrm>
            <a:prstGeom prst="rect">
              <a:avLst/>
            </a:prstGeom>
            <a:solidFill>
              <a:srgbClr val="8E8EB2"/>
            </a:solidFill>
            <a:ln w="6350">
              <a:solidFill>
                <a:schemeClr val="bg1"/>
              </a:solidFill>
              <a:miter lim="800000"/>
              <a:headEnd/>
              <a:tailEnd/>
            </a:ln>
            <a:effectLst>
              <a:outerShdw dist="107763" dir="2700000" algn="ctr" rotWithShape="0">
                <a:srgbClr val="C0C0C0">
                  <a:alpha val="50000"/>
                </a:srgbClr>
              </a:outerShdw>
            </a:effectLst>
          </p:spPr>
          <p:txBody>
            <a:bodyPr wrap="none" lIns="45720" rIns="45720"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endParaRPr lang="pt-BR" altLang="pt-BR" sz="1200">
                <a:solidFill>
                  <a:schemeClr val="tx1"/>
                </a:solidFill>
                <a:latin typeface="Times New Roman" panose="02020603050405020304" pitchFamily="18" charset="0"/>
              </a:endParaRPr>
            </a:p>
          </p:txBody>
        </p:sp>
        <p:sp>
          <p:nvSpPr>
            <p:cNvPr id="8" name="Rectangle 6"/>
            <p:cNvSpPr>
              <a:spLocks noChangeArrowheads="1"/>
            </p:cNvSpPr>
            <p:nvPr/>
          </p:nvSpPr>
          <p:spPr bwMode="auto">
            <a:xfrm>
              <a:off x="3240088" y="1773238"/>
              <a:ext cx="2697162" cy="4097337"/>
            </a:xfrm>
            <a:prstGeom prst="rect">
              <a:avLst/>
            </a:prstGeom>
            <a:solidFill>
              <a:srgbClr val="003300">
                <a:alpha val="50195"/>
              </a:srgbClr>
            </a:solidFill>
            <a:ln w="6350">
              <a:solidFill>
                <a:schemeClr val="bg1"/>
              </a:solidFill>
              <a:miter lim="800000"/>
              <a:headEnd/>
              <a:tailEnd/>
            </a:ln>
            <a:effectLst>
              <a:outerShdw dist="107763" dir="2700000" algn="ctr" rotWithShape="0">
                <a:srgbClr val="C0C0C0">
                  <a:alpha val="50000"/>
                </a:srgbClr>
              </a:outerShdw>
            </a:effectLst>
          </p:spPr>
          <p:txBody>
            <a:bodyPr wrap="none" lIns="45720" rIns="45720"/>
            <a:lstStyle>
              <a:lvl1pPr marL="114300" indent="-114300">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30000"/>
                </a:spcBef>
                <a:buClr>
                  <a:schemeClr val="folHlink"/>
                </a:buClr>
                <a:buFontTx/>
                <a:buChar char="•"/>
              </a:pPr>
              <a:endParaRPr lang="pt-BR" altLang="pt-BR" sz="1200">
                <a:solidFill>
                  <a:schemeClr val="tx1"/>
                </a:solidFill>
                <a:latin typeface="Times New Roman" panose="02020603050405020304" pitchFamily="18" charset="0"/>
              </a:endParaRPr>
            </a:p>
          </p:txBody>
        </p:sp>
        <p:sp>
          <p:nvSpPr>
            <p:cNvPr id="9" name="Rectangle 7"/>
            <p:cNvSpPr>
              <a:spLocks noChangeArrowheads="1"/>
            </p:cNvSpPr>
            <p:nvPr/>
          </p:nvSpPr>
          <p:spPr bwMode="auto">
            <a:xfrm>
              <a:off x="6259513" y="1233488"/>
              <a:ext cx="2697162" cy="476250"/>
            </a:xfrm>
            <a:prstGeom prst="rect">
              <a:avLst/>
            </a:prstGeom>
            <a:solidFill>
              <a:srgbClr val="8E8EB2"/>
            </a:solidFill>
            <a:ln w="6350">
              <a:solidFill>
                <a:schemeClr val="bg1"/>
              </a:solidFill>
              <a:miter lim="800000"/>
              <a:headEnd/>
              <a:tailEnd/>
            </a:ln>
            <a:effectLst>
              <a:outerShdw dist="107763" dir="2700000" algn="ctr" rotWithShape="0">
                <a:srgbClr val="C0C0C0">
                  <a:alpha val="50000"/>
                </a:srgbClr>
              </a:outerShdw>
            </a:effectLst>
          </p:spPr>
          <p:txBody>
            <a:bodyPr wrap="none" lIns="45720" rIns="45720" anchor="ct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endParaRPr lang="pt-BR" altLang="pt-BR" sz="1200">
                <a:solidFill>
                  <a:schemeClr val="tx1"/>
                </a:solidFill>
                <a:latin typeface="Times New Roman" panose="02020603050405020304" pitchFamily="18" charset="0"/>
              </a:endParaRPr>
            </a:p>
          </p:txBody>
        </p:sp>
        <p:sp>
          <p:nvSpPr>
            <p:cNvPr id="10" name="Rectangle 8"/>
            <p:cNvSpPr>
              <a:spLocks noChangeArrowheads="1"/>
            </p:cNvSpPr>
            <p:nvPr/>
          </p:nvSpPr>
          <p:spPr bwMode="auto">
            <a:xfrm>
              <a:off x="6264275" y="1773238"/>
              <a:ext cx="2697163" cy="4097337"/>
            </a:xfrm>
            <a:prstGeom prst="rect">
              <a:avLst/>
            </a:prstGeom>
            <a:solidFill>
              <a:srgbClr val="003300">
                <a:alpha val="50195"/>
              </a:srgbClr>
            </a:solidFill>
            <a:ln w="6350">
              <a:solidFill>
                <a:schemeClr val="bg1"/>
              </a:solidFill>
              <a:miter lim="800000"/>
              <a:headEnd/>
              <a:tailEnd/>
            </a:ln>
            <a:effectLst>
              <a:outerShdw dist="107763" dir="2700000" algn="ctr" rotWithShape="0">
                <a:srgbClr val="C0C0C0">
                  <a:alpha val="50000"/>
                </a:srgbClr>
              </a:outerShdw>
            </a:effectLst>
          </p:spPr>
          <p:txBody>
            <a:bodyPr wrap="none" lIns="45720" rIns="45720"/>
            <a:lstStyle>
              <a:lvl1pPr marL="114300" indent="-114300">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30000"/>
                </a:spcBef>
                <a:buClr>
                  <a:schemeClr val="folHlink"/>
                </a:buClr>
                <a:buFontTx/>
                <a:buChar char="•"/>
              </a:pPr>
              <a:endParaRPr lang="pt-BR" altLang="pt-BR" sz="1200">
                <a:solidFill>
                  <a:schemeClr val="tx1"/>
                </a:solidFill>
                <a:latin typeface="Times New Roman" panose="02020603050405020304" pitchFamily="18" charset="0"/>
              </a:endParaRPr>
            </a:p>
          </p:txBody>
        </p:sp>
        <p:sp>
          <p:nvSpPr>
            <p:cNvPr id="11" name="Text Box 9"/>
            <p:cNvSpPr txBox="1">
              <a:spLocks noChangeArrowheads="1"/>
            </p:cNvSpPr>
            <p:nvPr/>
          </p:nvSpPr>
          <p:spPr bwMode="auto">
            <a:xfrm>
              <a:off x="741363" y="1255713"/>
              <a:ext cx="1581150"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2400">
                  <a:solidFill>
                    <a:schemeClr val="bg1"/>
                  </a:solidFill>
                  <a:latin typeface="Times New Roman" panose="02020603050405020304" pitchFamily="18" charset="0"/>
                </a:rPr>
                <a:t>Lei 6.404/76</a:t>
              </a:r>
            </a:p>
          </p:txBody>
        </p:sp>
        <p:sp>
          <p:nvSpPr>
            <p:cNvPr id="12" name="Text Box 10"/>
            <p:cNvSpPr txBox="1">
              <a:spLocks noChangeArrowheads="1"/>
            </p:cNvSpPr>
            <p:nvPr/>
          </p:nvSpPr>
          <p:spPr bwMode="auto">
            <a:xfrm>
              <a:off x="3475038" y="1257300"/>
              <a:ext cx="2187575" cy="396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en-US" altLang="pt-BR" sz="2400">
                  <a:solidFill>
                    <a:schemeClr val="bg1"/>
                  </a:solidFill>
                  <a:latin typeface="Times New Roman" panose="02020603050405020304" pitchFamily="18" charset="0"/>
                </a:rPr>
                <a:t>Lei No. 11.638/07</a:t>
              </a:r>
              <a:endParaRPr lang="pt-BR" altLang="pt-BR" sz="2400">
                <a:solidFill>
                  <a:schemeClr val="bg1"/>
                </a:solidFill>
                <a:latin typeface="Times New Roman" panose="02020603050405020304" pitchFamily="18" charset="0"/>
              </a:endParaRPr>
            </a:p>
          </p:txBody>
        </p:sp>
        <p:sp>
          <p:nvSpPr>
            <p:cNvPr id="13" name="Text Box 11"/>
            <p:cNvSpPr txBox="1">
              <a:spLocks noChangeArrowheads="1"/>
            </p:cNvSpPr>
            <p:nvPr/>
          </p:nvSpPr>
          <p:spPr bwMode="auto">
            <a:xfrm>
              <a:off x="6205538" y="1282700"/>
              <a:ext cx="2647950"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600">
                  <a:solidFill>
                    <a:schemeClr val="bg1"/>
                  </a:solidFill>
                  <a:latin typeface="Times New Roman" panose="02020603050405020304" pitchFamily="18" charset="0"/>
                </a:rPr>
                <a:t>MP 449/08 e Lei 11.941/09</a:t>
              </a:r>
            </a:p>
          </p:txBody>
        </p:sp>
        <p:sp>
          <p:nvSpPr>
            <p:cNvPr id="14" name="Text Box 12"/>
            <p:cNvSpPr txBox="1">
              <a:spLocks noChangeArrowheads="1"/>
            </p:cNvSpPr>
            <p:nvPr/>
          </p:nvSpPr>
          <p:spPr bwMode="auto">
            <a:xfrm>
              <a:off x="323850" y="1863725"/>
              <a:ext cx="1096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600" u="sng">
                  <a:solidFill>
                    <a:schemeClr val="bg1"/>
                  </a:solidFill>
                  <a:latin typeface="Times New Roman" panose="02020603050405020304" pitchFamily="18" charset="0"/>
                </a:rPr>
                <a:t>Circulante</a:t>
              </a:r>
            </a:p>
          </p:txBody>
        </p:sp>
        <p:sp>
          <p:nvSpPr>
            <p:cNvPr id="15" name="Text Box 13"/>
            <p:cNvSpPr txBox="1">
              <a:spLocks noChangeArrowheads="1"/>
            </p:cNvSpPr>
            <p:nvPr/>
          </p:nvSpPr>
          <p:spPr bwMode="auto">
            <a:xfrm>
              <a:off x="3390900" y="1876425"/>
              <a:ext cx="10969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600" u="sng">
                  <a:solidFill>
                    <a:schemeClr val="bg1"/>
                  </a:solidFill>
                  <a:latin typeface="Times New Roman" panose="02020603050405020304" pitchFamily="18" charset="0"/>
                </a:rPr>
                <a:t>Circulante</a:t>
              </a:r>
            </a:p>
          </p:txBody>
        </p:sp>
        <p:sp>
          <p:nvSpPr>
            <p:cNvPr id="16" name="Text Box 14"/>
            <p:cNvSpPr txBox="1">
              <a:spLocks noChangeArrowheads="1"/>
            </p:cNvSpPr>
            <p:nvPr/>
          </p:nvSpPr>
          <p:spPr bwMode="auto">
            <a:xfrm>
              <a:off x="6403975" y="1878013"/>
              <a:ext cx="1177925"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600" u="sng">
                  <a:solidFill>
                    <a:srgbClr val="FFFF00"/>
                  </a:solidFill>
                  <a:latin typeface="Times New Roman" panose="02020603050405020304" pitchFamily="18" charset="0"/>
                </a:rPr>
                <a:t>Circulante</a:t>
              </a:r>
            </a:p>
          </p:txBody>
        </p:sp>
        <p:sp>
          <p:nvSpPr>
            <p:cNvPr id="17" name="Text Box 15"/>
            <p:cNvSpPr txBox="1">
              <a:spLocks noChangeArrowheads="1"/>
            </p:cNvSpPr>
            <p:nvPr/>
          </p:nvSpPr>
          <p:spPr bwMode="auto">
            <a:xfrm>
              <a:off x="325438" y="2365375"/>
              <a:ext cx="2271712"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600" u="sng">
                  <a:solidFill>
                    <a:schemeClr val="bg1"/>
                  </a:solidFill>
                  <a:latin typeface="Times New Roman" panose="02020603050405020304" pitchFamily="18" charset="0"/>
                </a:rPr>
                <a:t>Exigível a Longo Prazo</a:t>
              </a:r>
            </a:p>
          </p:txBody>
        </p:sp>
        <p:sp>
          <p:nvSpPr>
            <p:cNvPr id="18" name="Text Box 16"/>
            <p:cNvSpPr txBox="1">
              <a:spLocks noChangeArrowheads="1"/>
            </p:cNvSpPr>
            <p:nvPr/>
          </p:nvSpPr>
          <p:spPr bwMode="auto">
            <a:xfrm>
              <a:off x="3403600" y="2362200"/>
              <a:ext cx="227171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600" u="sng">
                  <a:solidFill>
                    <a:schemeClr val="bg1"/>
                  </a:solidFill>
                  <a:latin typeface="Times New Roman" panose="02020603050405020304" pitchFamily="18" charset="0"/>
                </a:rPr>
                <a:t>Exigível a Longo Prazo</a:t>
              </a:r>
            </a:p>
          </p:txBody>
        </p:sp>
        <p:sp>
          <p:nvSpPr>
            <p:cNvPr id="19" name="Text Box 17"/>
            <p:cNvSpPr txBox="1">
              <a:spLocks noChangeArrowheads="1"/>
            </p:cNvSpPr>
            <p:nvPr/>
          </p:nvSpPr>
          <p:spPr bwMode="auto">
            <a:xfrm>
              <a:off x="6397625" y="2363788"/>
              <a:ext cx="1617663"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600" u="sng">
                  <a:solidFill>
                    <a:srgbClr val="FFFF00"/>
                  </a:solidFill>
                  <a:latin typeface="Times New Roman" panose="02020603050405020304" pitchFamily="18" charset="0"/>
                </a:rPr>
                <a:t>Não Circulante</a:t>
              </a:r>
            </a:p>
          </p:txBody>
        </p:sp>
        <p:sp>
          <p:nvSpPr>
            <p:cNvPr id="20" name="Text Box 18"/>
            <p:cNvSpPr txBox="1">
              <a:spLocks noChangeArrowheads="1"/>
            </p:cNvSpPr>
            <p:nvPr/>
          </p:nvSpPr>
          <p:spPr bwMode="auto">
            <a:xfrm>
              <a:off x="6516688" y="2817813"/>
              <a:ext cx="233997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Char char="•"/>
              </a:pPr>
              <a:r>
                <a:rPr lang="pt-BR" altLang="pt-BR" sz="1400">
                  <a:solidFill>
                    <a:schemeClr val="bg1"/>
                  </a:solidFill>
                  <a:latin typeface="Times New Roman" panose="02020603050405020304" pitchFamily="18" charset="0"/>
                </a:rPr>
                <a:t> Exigível a Longo Prazo</a:t>
              </a:r>
            </a:p>
          </p:txBody>
        </p:sp>
        <p:sp>
          <p:nvSpPr>
            <p:cNvPr id="21" name="Text Box 19"/>
            <p:cNvSpPr txBox="1">
              <a:spLocks noChangeArrowheads="1"/>
            </p:cNvSpPr>
            <p:nvPr/>
          </p:nvSpPr>
          <p:spPr bwMode="auto">
            <a:xfrm>
              <a:off x="330200" y="2828925"/>
              <a:ext cx="24780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600" u="sng" dirty="0">
                  <a:solidFill>
                    <a:schemeClr val="bg1"/>
                  </a:solidFill>
                  <a:latin typeface="Times New Roman" panose="02020603050405020304" pitchFamily="18" charset="0"/>
                </a:rPr>
                <a:t>Resultado de Exercícios Futuros</a:t>
              </a:r>
            </a:p>
          </p:txBody>
        </p:sp>
        <p:sp>
          <p:nvSpPr>
            <p:cNvPr id="22" name="Text Box 22"/>
            <p:cNvSpPr txBox="1">
              <a:spLocks noChangeArrowheads="1"/>
            </p:cNvSpPr>
            <p:nvPr/>
          </p:nvSpPr>
          <p:spPr bwMode="auto">
            <a:xfrm>
              <a:off x="431800" y="3898900"/>
              <a:ext cx="2447925" cy="1368425"/>
            </a:xfrm>
            <a:prstGeom prst="rect">
              <a:avLst/>
            </a:prstGeom>
            <a:solidFill>
              <a:schemeClr val="accent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Char char="•"/>
              </a:pPr>
              <a:r>
                <a:rPr lang="pt-BR" altLang="pt-BR" sz="1400">
                  <a:solidFill>
                    <a:schemeClr val="bg1"/>
                  </a:solidFill>
                  <a:latin typeface="Times New Roman" panose="02020603050405020304" pitchFamily="18" charset="0"/>
                </a:rPr>
                <a:t> Capital  Social</a:t>
              </a:r>
            </a:p>
            <a:p>
              <a:pPr eaLnBrk="1" hangingPunct="1">
                <a:spcBef>
                  <a:spcPct val="0"/>
                </a:spcBef>
                <a:buClrTx/>
                <a:buFontTx/>
                <a:buChar char="•"/>
              </a:pPr>
              <a:r>
                <a:rPr lang="pt-BR" altLang="pt-BR" sz="1400">
                  <a:solidFill>
                    <a:schemeClr val="bg1"/>
                  </a:solidFill>
                  <a:latin typeface="Times New Roman" panose="02020603050405020304" pitchFamily="18" charset="0"/>
                </a:rPr>
                <a:t> Reserva de Capital</a:t>
              </a:r>
            </a:p>
            <a:p>
              <a:pPr eaLnBrk="1" hangingPunct="1">
                <a:spcBef>
                  <a:spcPct val="0"/>
                </a:spcBef>
                <a:buClrTx/>
                <a:buFontTx/>
                <a:buChar char="•"/>
              </a:pPr>
              <a:r>
                <a:rPr lang="pt-BR" altLang="pt-BR" sz="1400">
                  <a:solidFill>
                    <a:schemeClr val="bg1"/>
                  </a:solidFill>
                  <a:latin typeface="Times New Roman" panose="02020603050405020304" pitchFamily="18" charset="0"/>
                </a:rPr>
                <a:t> </a:t>
              </a:r>
              <a:r>
                <a:rPr lang="pt-BR" altLang="pt-BR" sz="1400">
                  <a:solidFill>
                    <a:srgbClr val="FFFF00"/>
                  </a:solidFill>
                  <a:latin typeface="Times New Roman" panose="02020603050405020304" pitchFamily="18" charset="0"/>
                </a:rPr>
                <a:t>Reserva  de Reavaliação</a:t>
              </a:r>
            </a:p>
            <a:p>
              <a:pPr eaLnBrk="1" hangingPunct="1">
                <a:spcBef>
                  <a:spcPct val="0"/>
                </a:spcBef>
                <a:buClrTx/>
                <a:buFontTx/>
                <a:buChar char="•"/>
              </a:pPr>
              <a:r>
                <a:rPr lang="pt-BR" altLang="pt-BR" sz="1400">
                  <a:solidFill>
                    <a:schemeClr val="bg1"/>
                  </a:solidFill>
                  <a:latin typeface="Times New Roman" panose="02020603050405020304" pitchFamily="18" charset="0"/>
                </a:rPr>
                <a:t> Reserva de Lucros</a:t>
              </a:r>
            </a:p>
            <a:p>
              <a:pPr eaLnBrk="1" hangingPunct="1">
                <a:spcBef>
                  <a:spcPct val="0"/>
                </a:spcBef>
                <a:buClrTx/>
                <a:buFontTx/>
                <a:buChar char="•"/>
              </a:pPr>
              <a:r>
                <a:rPr lang="pt-BR" altLang="pt-BR" sz="1400">
                  <a:solidFill>
                    <a:srgbClr val="FFFF00"/>
                  </a:solidFill>
                  <a:latin typeface="Times New Roman" panose="02020603050405020304" pitchFamily="18" charset="0"/>
                </a:rPr>
                <a:t> Lucros</a:t>
              </a:r>
              <a:r>
                <a:rPr lang="pt-BR" altLang="pt-BR" sz="1400">
                  <a:solidFill>
                    <a:schemeClr val="bg1"/>
                  </a:solidFill>
                  <a:latin typeface="Times New Roman" panose="02020603050405020304" pitchFamily="18" charset="0"/>
                </a:rPr>
                <a:t> ou Prejuízos Acumulados</a:t>
              </a:r>
            </a:p>
          </p:txBody>
        </p:sp>
        <p:sp>
          <p:nvSpPr>
            <p:cNvPr id="23" name="Text Box 23"/>
            <p:cNvSpPr txBox="1">
              <a:spLocks noChangeArrowheads="1"/>
            </p:cNvSpPr>
            <p:nvPr/>
          </p:nvSpPr>
          <p:spPr bwMode="auto">
            <a:xfrm>
              <a:off x="323850" y="3476625"/>
              <a:ext cx="2478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600" u="sng">
                  <a:solidFill>
                    <a:schemeClr val="bg1"/>
                  </a:solidFill>
                  <a:latin typeface="Times New Roman" panose="02020603050405020304" pitchFamily="18" charset="0"/>
                </a:rPr>
                <a:t>Patrimônio Líquido</a:t>
              </a:r>
            </a:p>
          </p:txBody>
        </p:sp>
        <p:sp>
          <p:nvSpPr>
            <p:cNvPr id="24" name="Text Box 24"/>
            <p:cNvSpPr txBox="1">
              <a:spLocks noChangeArrowheads="1"/>
            </p:cNvSpPr>
            <p:nvPr/>
          </p:nvSpPr>
          <p:spPr bwMode="auto">
            <a:xfrm>
              <a:off x="3413125" y="2827338"/>
              <a:ext cx="2478088" cy="581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600" u="sng">
                  <a:solidFill>
                    <a:schemeClr val="bg1"/>
                  </a:solidFill>
                  <a:latin typeface="Times New Roman" panose="02020603050405020304" pitchFamily="18" charset="0"/>
                </a:rPr>
                <a:t>Resultado de Exercícios Futuros</a:t>
              </a:r>
            </a:p>
          </p:txBody>
        </p:sp>
        <p:sp>
          <p:nvSpPr>
            <p:cNvPr id="25" name="Text Box 25"/>
            <p:cNvSpPr txBox="1">
              <a:spLocks noChangeArrowheads="1"/>
            </p:cNvSpPr>
            <p:nvPr/>
          </p:nvSpPr>
          <p:spPr bwMode="auto">
            <a:xfrm>
              <a:off x="3311525" y="3357563"/>
              <a:ext cx="2752725"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400">
                  <a:solidFill>
                    <a:srgbClr val="FFFF00"/>
                  </a:solidFill>
                  <a:latin typeface="Times New Roman" panose="02020603050405020304" pitchFamily="18" charset="0"/>
                </a:rPr>
                <a:t>(Inclui lucros não realizados)</a:t>
              </a:r>
            </a:p>
          </p:txBody>
        </p:sp>
        <p:sp>
          <p:nvSpPr>
            <p:cNvPr id="26" name="Text Box 26"/>
            <p:cNvSpPr txBox="1">
              <a:spLocks noChangeArrowheads="1"/>
            </p:cNvSpPr>
            <p:nvPr/>
          </p:nvSpPr>
          <p:spPr bwMode="auto">
            <a:xfrm>
              <a:off x="3413125" y="3740150"/>
              <a:ext cx="2478088"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600" u="sng">
                  <a:solidFill>
                    <a:schemeClr val="bg1"/>
                  </a:solidFill>
                  <a:latin typeface="Times New Roman" panose="02020603050405020304" pitchFamily="18" charset="0"/>
                </a:rPr>
                <a:t>Patrimônio Líquido</a:t>
              </a:r>
            </a:p>
          </p:txBody>
        </p:sp>
        <p:sp>
          <p:nvSpPr>
            <p:cNvPr id="27" name="Text Box 27"/>
            <p:cNvSpPr txBox="1">
              <a:spLocks noChangeArrowheads="1"/>
            </p:cNvSpPr>
            <p:nvPr/>
          </p:nvSpPr>
          <p:spPr bwMode="auto">
            <a:xfrm>
              <a:off x="3563938" y="4078288"/>
              <a:ext cx="2339975" cy="1581150"/>
            </a:xfrm>
            <a:prstGeom prst="rect">
              <a:avLst/>
            </a:prstGeom>
            <a:solidFill>
              <a:schemeClr val="accent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Char char="•"/>
              </a:pPr>
              <a:r>
                <a:rPr lang="pt-BR" altLang="pt-BR" sz="1400">
                  <a:solidFill>
                    <a:schemeClr val="bg1"/>
                  </a:solidFill>
                  <a:latin typeface="Times New Roman" panose="02020603050405020304" pitchFamily="18" charset="0"/>
                </a:rPr>
                <a:t> Capital  Social</a:t>
              </a:r>
            </a:p>
            <a:p>
              <a:pPr eaLnBrk="1" hangingPunct="1">
                <a:spcBef>
                  <a:spcPct val="0"/>
                </a:spcBef>
                <a:buClrTx/>
                <a:buFontTx/>
                <a:buChar char="•"/>
              </a:pPr>
              <a:r>
                <a:rPr lang="pt-BR" altLang="pt-BR" sz="1400">
                  <a:solidFill>
                    <a:schemeClr val="bg1"/>
                  </a:solidFill>
                  <a:latin typeface="Times New Roman" panose="02020603050405020304" pitchFamily="18" charset="0"/>
                </a:rPr>
                <a:t> Reserva de Capital</a:t>
              </a:r>
            </a:p>
            <a:p>
              <a:pPr eaLnBrk="1" hangingPunct="1">
                <a:spcBef>
                  <a:spcPct val="0"/>
                </a:spcBef>
                <a:buClrTx/>
                <a:buFontTx/>
                <a:buChar char="•"/>
              </a:pPr>
              <a:r>
                <a:rPr lang="pt-BR" altLang="pt-BR" sz="1400">
                  <a:solidFill>
                    <a:srgbClr val="FFFF00"/>
                  </a:solidFill>
                  <a:latin typeface="Times New Roman" panose="02020603050405020304" pitchFamily="18" charset="0"/>
                </a:rPr>
                <a:t> Ajustes de Avaliação Patrimonial</a:t>
              </a:r>
            </a:p>
            <a:p>
              <a:pPr eaLnBrk="1" hangingPunct="1">
                <a:spcBef>
                  <a:spcPct val="0"/>
                </a:spcBef>
                <a:buClrTx/>
                <a:buFontTx/>
                <a:buChar char="•"/>
              </a:pPr>
              <a:r>
                <a:rPr lang="pt-BR" altLang="pt-BR" sz="1400">
                  <a:solidFill>
                    <a:schemeClr val="bg1"/>
                  </a:solidFill>
                  <a:latin typeface="Times New Roman" panose="02020603050405020304" pitchFamily="18" charset="0"/>
                </a:rPr>
                <a:t> Reserva de Lucros</a:t>
              </a:r>
            </a:p>
            <a:p>
              <a:pPr eaLnBrk="1" hangingPunct="1">
                <a:spcBef>
                  <a:spcPct val="0"/>
                </a:spcBef>
                <a:buClrTx/>
                <a:buFontTx/>
                <a:buChar char="•"/>
              </a:pPr>
              <a:r>
                <a:rPr lang="pt-BR" altLang="pt-BR" sz="1400">
                  <a:solidFill>
                    <a:schemeClr val="bg1"/>
                  </a:solidFill>
                  <a:latin typeface="Times New Roman" panose="02020603050405020304" pitchFamily="18" charset="0"/>
                </a:rPr>
                <a:t> Ações em Tesouraria</a:t>
              </a:r>
            </a:p>
            <a:p>
              <a:pPr eaLnBrk="1" hangingPunct="1">
                <a:spcBef>
                  <a:spcPct val="0"/>
                </a:spcBef>
                <a:buClrTx/>
                <a:buFontTx/>
                <a:buChar char="•"/>
              </a:pPr>
              <a:r>
                <a:rPr lang="pt-BR" altLang="pt-BR" sz="1400">
                  <a:solidFill>
                    <a:schemeClr val="bg1"/>
                  </a:solidFill>
                  <a:latin typeface="Times New Roman" panose="02020603050405020304" pitchFamily="18" charset="0"/>
                </a:rPr>
                <a:t> Prejuízos Acumulados</a:t>
              </a:r>
            </a:p>
          </p:txBody>
        </p:sp>
        <p:sp>
          <p:nvSpPr>
            <p:cNvPr id="28" name="Text Box 28"/>
            <p:cNvSpPr txBox="1">
              <a:spLocks noChangeArrowheads="1"/>
            </p:cNvSpPr>
            <p:nvPr/>
          </p:nvSpPr>
          <p:spPr bwMode="auto">
            <a:xfrm>
              <a:off x="6475413" y="3743325"/>
              <a:ext cx="2478087" cy="336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None/>
              </a:pPr>
              <a:r>
                <a:rPr lang="pt-BR" altLang="pt-BR" sz="1600" u="sng">
                  <a:solidFill>
                    <a:srgbClr val="FFFF00"/>
                  </a:solidFill>
                  <a:latin typeface="Times New Roman" panose="02020603050405020304" pitchFamily="18" charset="0"/>
                </a:rPr>
                <a:t>Patrimônio Líquido</a:t>
              </a:r>
            </a:p>
          </p:txBody>
        </p:sp>
        <p:sp>
          <p:nvSpPr>
            <p:cNvPr id="29" name="Text Box 29"/>
            <p:cNvSpPr txBox="1">
              <a:spLocks noChangeArrowheads="1"/>
            </p:cNvSpPr>
            <p:nvPr/>
          </p:nvSpPr>
          <p:spPr bwMode="auto">
            <a:xfrm>
              <a:off x="6626225" y="4081463"/>
              <a:ext cx="2266950" cy="1581150"/>
            </a:xfrm>
            <a:prstGeom prst="rect">
              <a:avLst/>
            </a:prstGeom>
            <a:solidFill>
              <a:schemeClr val="accent2"/>
            </a:solidFill>
            <a:ln>
              <a:noFill/>
            </a:ln>
            <a:extLst>
              <a:ext uri="{91240B29-F687-4F45-9708-019B960494DF}">
                <a14:hiddenLine xmlns:a14="http://schemas.microsoft.com/office/drawing/2010/main" w="9525" algn="ctr">
                  <a:solidFill>
                    <a:srgbClr val="000000"/>
                  </a:solidFill>
                  <a:miter lim="800000"/>
                  <a:headEnd/>
                  <a:tailEnd/>
                </a14:hiddenLine>
              </a:ext>
            </a:extLst>
          </p:spPr>
          <p:txBody>
            <a:bodyPr lIns="90000" tIns="46800" rIns="90000" bIns="46800">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eaLnBrk="1" hangingPunct="1">
                <a:spcBef>
                  <a:spcPct val="0"/>
                </a:spcBef>
                <a:buClrTx/>
                <a:buFontTx/>
                <a:buChar char="•"/>
              </a:pPr>
              <a:r>
                <a:rPr lang="pt-BR" altLang="pt-BR" sz="1400">
                  <a:solidFill>
                    <a:schemeClr val="bg1"/>
                  </a:solidFill>
                  <a:latin typeface="Times New Roman" panose="02020603050405020304" pitchFamily="18" charset="0"/>
                </a:rPr>
                <a:t> Capital  Social</a:t>
              </a:r>
            </a:p>
            <a:p>
              <a:pPr eaLnBrk="1" hangingPunct="1">
                <a:spcBef>
                  <a:spcPct val="0"/>
                </a:spcBef>
                <a:buClrTx/>
                <a:buFontTx/>
                <a:buChar char="•"/>
              </a:pPr>
              <a:r>
                <a:rPr lang="pt-BR" altLang="pt-BR" sz="1400">
                  <a:solidFill>
                    <a:schemeClr val="bg1"/>
                  </a:solidFill>
                  <a:latin typeface="Times New Roman" panose="02020603050405020304" pitchFamily="18" charset="0"/>
                </a:rPr>
                <a:t> Reserva de Capital</a:t>
              </a:r>
            </a:p>
            <a:p>
              <a:pPr eaLnBrk="1" hangingPunct="1">
                <a:spcBef>
                  <a:spcPct val="0"/>
                </a:spcBef>
                <a:buClrTx/>
                <a:buFontTx/>
                <a:buChar char="•"/>
              </a:pPr>
              <a:r>
                <a:rPr lang="pt-BR" altLang="pt-BR" sz="1400">
                  <a:solidFill>
                    <a:srgbClr val="FFFF00"/>
                  </a:solidFill>
                  <a:latin typeface="Times New Roman" panose="02020603050405020304" pitchFamily="18" charset="0"/>
                </a:rPr>
                <a:t> Ajustes de Avaliação Patrimonial</a:t>
              </a:r>
            </a:p>
            <a:p>
              <a:pPr eaLnBrk="1" hangingPunct="1">
                <a:spcBef>
                  <a:spcPct val="0"/>
                </a:spcBef>
                <a:buClrTx/>
                <a:buFontTx/>
                <a:buChar char="•"/>
              </a:pPr>
              <a:r>
                <a:rPr lang="pt-BR" altLang="pt-BR" sz="1400">
                  <a:solidFill>
                    <a:schemeClr val="bg1"/>
                  </a:solidFill>
                  <a:latin typeface="Times New Roman" panose="02020603050405020304" pitchFamily="18" charset="0"/>
                </a:rPr>
                <a:t> Reserva de Lucros</a:t>
              </a:r>
            </a:p>
            <a:p>
              <a:pPr eaLnBrk="1" hangingPunct="1">
                <a:spcBef>
                  <a:spcPct val="0"/>
                </a:spcBef>
                <a:buClrTx/>
                <a:buFontTx/>
                <a:buChar char="•"/>
              </a:pPr>
              <a:r>
                <a:rPr lang="pt-BR" altLang="pt-BR" sz="1400">
                  <a:solidFill>
                    <a:schemeClr val="bg1"/>
                  </a:solidFill>
                  <a:latin typeface="Times New Roman" panose="02020603050405020304" pitchFamily="18" charset="0"/>
                </a:rPr>
                <a:t> Ações em Tesouraria</a:t>
              </a:r>
            </a:p>
            <a:p>
              <a:pPr eaLnBrk="1" hangingPunct="1">
                <a:spcBef>
                  <a:spcPct val="0"/>
                </a:spcBef>
                <a:buClrTx/>
                <a:buFontTx/>
                <a:buChar char="•"/>
              </a:pPr>
              <a:r>
                <a:rPr lang="pt-BR" altLang="pt-BR" sz="1400">
                  <a:solidFill>
                    <a:schemeClr val="bg1"/>
                  </a:solidFill>
                  <a:latin typeface="Times New Roman" panose="02020603050405020304" pitchFamily="18" charset="0"/>
                </a:rPr>
                <a:t> Prejuízos Acumulados</a:t>
              </a:r>
            </a:p>
          </p:txBody>
        </p:sp>
      </p:grpSp>
    </p:spTree>
    <p:extLst>
      <p:ext uri="{BB962C8B-B14F-4D97-AF65-F5344CB8AC3E}">
        <p14:creationId xmlns:p14="http://schemas.microsoft.com/office/powerpoint/2010/main" val="40627204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Passivo</a:t>
            </a:r>
          </a:p>
          <a:p>
            <a:endParaRPr lang="pt-BR" dirty="0"/>
          </a:p>
          <a:p>
            <a:pPr lvl="2"/>
            <a:r>
              <a:rPr lang="pt-BR" altLang="pt-BR" dirty="0" smtClean="0"/>
              <a:t>Critérios para avaliação do passivo: O artigo 184 da Lei nº 6.404/76 determina os critérios que devem ser observados para a avaliação dos passivos.</a:t>
            </a:r>
          </a:p>
          <a:p>
            <a:pPr lvl="2"/>
            <a:endParaRPr lang="pt-BR" altLang="pt-BR" dirty="0" smtClean="0"/>
          </a:p>
          <a:p>
            <a:pPr lvl="3"/>
            <a:r>
              <a:rPr lang="pt-BR" altLang="pt-BR" dirty="0" smtClean="0"/>
              <a:t>As obrigações, encargos e riscos, conhecidos ou calculáveis, inclusive imposto de renda a pagar com base no resultado do exercício, serão computados pelo valor atualizado até a data do balanço.</a:t>
            </a:r>
          </a:p>
          <a:p>
            <a:pPr lvl="3"/>
            <a:r>
              <a:rPr lang="pt-BR" altLang="pt-BR" dirty="0" smtClean="0"/>
              <a:t>As obrigações em moeda estrangeira, com clausula de paridade cambial, serão convertidas em moeda nacional a taxa de cambio em vigor na data do balanço;</a:t>
            </a:r>
          </a:p>
          <a:p>
            <a:pPr lvl="3"/>
            <a:r>
              <a:rPr lang="pt-BR" altLang="pt-BR" dirty="0" smtClean="0"/>
              <a:t>As obrigações sujeitas a correção monetária serão atualizados até a data do balanço.</a:t>
            </a:r>
          </a:p>
          <a:p>
            <a:pPr lvl="3"/>
            <a:r>
              <a:rPr lang="pt-BR" altLang="pt-BR" dirty="0"/>
              <a:t>Segundo o plano de contas referencial da Receita Federal (SPED), o grupamento relativo as OBRIGAÇÕES DE CURTO PRAZO deve ter obrigatoriamente as seguintes contas básicas a partir de 01/01/2009</a:t>
            </a:r>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59</a:t>
            </a:fld>
            <a:endParaRPr lang="pt-BR" dirty="0"/>
          </a:p>
        </p:txBody>
      </p:sp>
    </p:spTree>
    <p:extLst>
      <p:ext uri="{BB962C8B-B14F-4D97-AF65-F5344CB8AC3E}">
        <p14:creationId xmlns:p14="http://schemas.microsoft.com/office/powerpoint/2010/main" val="13137957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01521"/>
            <a:ext cx="11569700" cy="5262563"/>
          </a:xfrm>
        </p:spPr>
        <p:txBody>
          <a:bodyPr/>
          <a:lstStyle/>
          <a:p>
            <a:r>
              <a:rPr lang="pt-BR" dirty="0" smtClean="0"/>
              <a:t>Passivo</a:t>
            </a:r>
          </a:p>
          <a:p>
            <a:pPr lvl="1"/>
            <a:endParaRPr lang="pt-BR" dirty="0"/>
          </a:p>
          <a:p>
            <a:pPr lvl="2"/>
            <a:r>
              <a:rPr lang="pt-BR" altLang="pt-BR" dirty="0"/>
              <a:t>Critérios para avaliação do passivo: O artigo 184 da Lei nº 6.404/76 determina os critérios que devem ser observados para a avaliação dos passivos.</a:t>
            </a:r>
          </a:p>
          <a:p>
            <a:pPr lvl="2"/>
            <a:endParaRPr lang="pt-BR" altLang="pt-BR" dirty="0"/>
          </a:p>
          <a:p>
            <a:pPr lvl="3"/>
            <a:r>
              <a:rPr lang="pt-BR" altLang="pt-BR" dirty="0"/>
              <a:t>As obrigações, encargos e riscos, conhecidos ou calculáveis, inclusive imposto de renda a pagar com base no resultado do exercício, serão computados pelo valor atualizado até a data do balanço.</a:t>
            </a:r>
          </a:p>
          <a:p>
            <a:pPr lvl="3"/>
            <a:r>
              <a:rPr lang="pt-BR" altLang="pt-BR" dirty="0"/>
              <a:t>As obrigações em moeda estrangeira, com clausula de paridade cambial, serão convertidas em moeda nacional a taxa de cambio em vigor na data do balanço;</a:t>
            </a:r>
          </a:p>
          <a:p>
            <a:pPr lvl="3"/>
            <a:r>
              <a:rPr lang="pt-BR" altLang="pt-BR" dirty="0"/>
              <a:t>As obrigações sujeitas a correção monetária serão atualizados até a data do balanço.</a:t>
            </a:r>
          </a:p>
          <a:p>
            <a:pPr lvl="3"/>
            <a:r>
              <a:rPr lang="pt-BR" altLang="pt-BR" dirty="0"/>
              <a:t>Segundo o plano de contas referencial da Receita Federal (SPED), o grupamento relativo as OBRIGAÇÕES DE CURTO PRAZO deve ter obrigatoriamente as seguintes contas básicas a partir de 01/01/2009</a:t>
            </a:r>
            <a:endParaRPr lang="pt-BR" dirty="0"/>
          </a:p>
          <a:p>
            <a:endParaRPr lang="pt-BR" dirty="0" smtClean="0"/>
          </a:p>
          <a:p>
            <a:r>
              <a:rPr lang="pt-BR" dirty="0" smtClean="0"/>
              <a:t>Passivo Circulante</a:t>
            </a:r>
          </a:p>
          <a:p>
            <a:pPr lvl="1"/>
            <a:endParaRPr lang="pt-BR" altLang="pt-BR" dirty="0" smtClean="0"/>
          </a:p>
          <a:p>
            <a:pPr lvl="1"/>
            <a:r>
              <a:rPr lang="pt-BR" altLang="pt-BR" dirty="0" smtClean="0"/>
              <a:t>Conceito: Dentro </a:t>
            </a:r>
            <a:r>
              <a:rPr lang="pt-BR" altLang="pt-BR" dirty="0"/>
              <a:t>do passivo circulante estão contabilizadas as obrigações conhecidas ou calculáveis ou encargos estimados, inclusive contingências passivas, cujos prazos estabelecidos ou esperados, situem – se no curso do exercício.</a:t>
            </a:r>
          </a:p>
          <a:p>
            <a:pPr lvl="1"/>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60</a:t>
            </a:fld>
            <a:endParaRPr lang="pt-BR" dirty="0"/>
          </a:p>
        </p:txBody>
      </p:sp>
    </p:spTree>
    <p:extLst>
      <p:ext uri="{BB962C8B-B14F-4D97-AF65-F5344CB8AC3E}">
        <p14:creationId xmlns:p14="http://schemas.microsoft.com/office/powerpoint/2010/main" val="345269029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27279"/>
            <a:ext cx="11569700" cy="5262563"/>
          </a:xfrm>
        </p:spPr>
        <p:txBody>
          <a:bodyPr>
            <a:normAutofit fontScale="92500" lnSpcReduction="10000"/>
          </a:bodyPr>
          <a:lstStyle/>
          <a:p>
            <a:r>
              <a:rPr lang="pt-BR" dirty="0" smtClean="0"/>
              <a:t>Passivo Circulante</a:t>
            </a:r>
          </a:p>
          <a:p>
            <a:pPr lvl="1"/>
            <a:endParaRPr lang="pt-BR" altLang="pt-BR" dirty="0" smtClean="0"/>
          </a:p>
          <a:p>
            <a:pPr lvl="1"/>
            <a:r>
              <a:rPr lang="pt-BR" altLang="pt-BR" dirty="0" smtClean="0"/>
              <a:t>E </a:t>
            </a:r>
            <a:r>
              <a:rPr lang="pt-BR" altLang="pt-BR" dirty="0"/>
              <a:t>neste grupo podemos encontrar os seguintes grupos de contas.</a:t>
            </a:r>
          </a:p>
          <a:p>
            <a:pPr lvl="2"/>
            <a:r>
              <a:rPr lang="pt-BR" altLang="pt-BR" dirty="0"/>
              <a:t>Fornecedores em geral</a:t>
            </a:r>
          </a:p>
          <a:p>
            <a:pPr lvl="2"/>
            <a:r>
              <a:rPr lang="pt-BR" altLang="pt-BR" dirty="0"/>
              <a:t>Adiantamentos de clientes;</a:t>
            </a:r>
          </a:p>
          <a:p>
            <a:pPr lvl="2"/>
            <a:r>
              <a:rPr lang="pt-BR" altLang="pt-BR" dirty="0"/>
              <a:t>Financiamentos de curtos prazos</a:t>
            </a:r>
          </a:p>
          <a:p>
            <a:pPr lvl="2"/>
            <a:r>
              <a:rPr lang="pt-BR" altLang="pt-BR" dirty="0"/>
              <a:t>Impostos, Taxas e Contribuições a Recolher</a:t>
            </a:r>
          </a:p>
          <a:p>
            <a:pPr lvl="2"/>
            <a:r>
              <a:rPr lang="pt-BR" altLang="pt-BR" dirty="0"/>
              <a:t>Obrigações Trabalhistas</a:t>
            </a:r>
          </a:p>
          <a:p>
            <a:pPr lvl="2"/>
            <a:r>
              <a:rPr lang="pt-BR" altLang="pt-BR" dirty="0"/>
              <a:t>Dividendos propostos ou Lucros creditados</a:t>
            </a:r>
          </a:p>
          <a:p>
            <a:pPr lvl="2"/>
            <a:r>
              <a:rPr lang="pt-BR" altLang="pt-BR" dirty="0"/>
              <a:t>Obrigações administrativas e operacionais</a:t>
            </a:r>
          </a:p>
          <a:p>
            <a:pPr lvl="2"/>
            <a:r>
              <a:rPr lang="pt-BR" altLang="pt-BR" dirty="0"/>
              <a:t>Provisões para contingências</a:t>
            </a:r>
          </a:p>
          <a:p>
            <a:pPr lvl="2"/>
            <a:r>
              <a:rPr lang="pt-BR" altLang="pt-BR" dirty="0"/>
              <a:t>Doações e Subvenções para Investimentos</a:t>
            </a:r>
          </a:p>
          <a:p>
            <a:pPr lvl="2"/>
            <a:endParaRPr lang="pt-BR" dirty="0"/>
          </a:p>
          <a:p>
            <a:pPr lvl="1"/>
            <a:r>
              <a:rPr lang="pt-BR" altLang="pt-BR" dirty="0"/>
              <a:t>Fornecedores: Conceito</a:t>
            </a:r>
          </a:p>
          <a:p>
            <a:pPr lvl="2"/>
            <a:r>
              <a:rPr lang="pt-BR" altLang="pt-BR" dirty="0"/>
              <a:t>Toda compra de insumos, embalagens, materiais de manutenção, materiais auxiliares e de escritório. Será registrado os valores a prazo neste grupo.</a:t>
            </a:r>
          </a:p>
          <a:p>
            <a:pPr lvl="2"/>
            <a:r>
              <a:rPr lang="pt-BR" altLang="pt-BR" dirty="0"/>
              <a:t>Todas as compras devem ser registrados pelo regime de competência para que as eventuais despesas sejam dedutíveis para efeito de calculo do IR e da CSL</a:t>
            </a:r>
            <a:r>
              <a:rPr lang="pt-BR" altLang="pt-BR" dirty="0" smtClean="0"/>
              <a:t>.</a:t>
            </a:r>
            <a:endParaRPr lang="pt-BR" dirty="0" smtClean="0"/>
          </a:p>
          <a:p>
            <a:pPr lvl="2"/>
            <a:r>
              <a:rPr lang="pt-BR" altLang="pt-BR" dirty="0"/>
              <a:t>As obrigações e encargos, conhecidos ou calculáveis, quando sujeitos a variações monetárias, são computados pelo valor atualizado até a data da avaliação</a:t>
            </a:r>
            <a:r>
              <a:rPr lang="pt-BR" altLang="pt-BR" dirty="0" smtClean="0"/>
              <a:t>.</a:t>
            </a:r>
            <a:endParaRPr lang="pt-BR" dirty="0"/>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61</a:t>
            </a:fld>
            <a:endParaRPr lang="pt-BR" dirty="0"/>
          </a:p>
        </p:txBody>
      </p:sp>
    </p:spTree>
    <p:extLst>
      <p:ext uri="{BB962C8B-B14F-4D97-AF65-F5344CB8AC3E}">
        <p14:creationId xmlns:p14="http://schemas.microsoft.com/office/powerpoint/2010/main" val="284911957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dirty="0" smtClean="0"/>
              <a:t>Passivo Circulante</a:t>
            </a:r>
          </a:p>
          <a:p>
            <a:pPr lvl="1"/>
            <a:endParaRPr lang="pt-BR" dirty="0" smtClean="0"/>
          </a:p>
          <a:p>
            <a:pPr lvl="2"/>
            <a:r>
              <a:rPr lang="pt-BR" altLang="pt-BR" dirty="0" smtClean="0"/>
              <a:t>As </a:t>
            </a:r>
            <a:r>
              <a:rPr lang="pt-BR" altLang="pt-BR" dirty="0"/>
              <a:t>obrigações em moedas estrangeiras são convertidas ao valor da moeda nacional, a taxa de cambio da data da avaliação.</a:t>
            </a:r>
          </a:p>
          <a:p>
            <a:pPr lvl="2"/>
            <a:r>
              <a:rPr lang="pt-BR" altLang="pt-BR" dirty="0"/>
              <a:t>Processos administrativos com fornecedores devem ser lançados no grupo de contingências </a:t>
            </a:r>
          </a:p>
          <a:p>
            <a:pPr lvl="2"/>
            <a:r>
              <a:rPr lang="pt-BR" altLang="pt-BR" dirty="0"/>
              <a:t>Quanto a conciliação dos saldos das contas devem ser realizados mensalmente devido ao balancete. Eventuais diferenças deve ser feita uma circularização junto aos fornecedores.</a:t>
            </a:r>
          </a:p>
          <a:p>
            <a:pPr lvl="1"/>
            <a:endParaRPr lang="pt-BR" dirty="0" smtClean="0"/>
          </a:p>
          <a:p>
            <a:pPr lvl="1"/>
            <a:r>
              <a:rPr lang="pt-BR" altLang="pt-BR" dirty="0"/>
              <a:t>Podemos dividir o grupo de fornecedores em sub grupos conforme abaixo:</a:t>
            </a:r>
          </a:p>
          <a:p>
            <a:pPr lvl="2"/>
            <a:r>
              <a:rPr lang="pt-BR" altLang="pt-BR" dirty="0"/>
              <a:t>Fornecedores de mercadorias para revenda;</a:t>
            </a:r>
          </a:p>
          <a:p>
            <a:pPr lvl="2"/>
            <a:r>
              <a:rPr lang="pt-BR" altLang="pt-BR" dirty="0"/>
              <a:t>Fornecedores de bens para o permanente;</a:t>
            </a:r>
          </a:p>
          <a:p>
            <a:pPr lvl="2"/>
            <a:r>
              <a:rPr lang="pt-BR" altLang="pt-BR" dirty="0"/>
              <a:t>Fornecedores de matéria prima;</a:t>
            </a:r>
          </a:p>
          <a:p>
            <a:pPr lvl="2"/>
            <a:r>
              <a:rPr lang="pt-BR" altLang="pt-BR" dirty="0"/>
              <a:t>Fornecedores de peças;</a:t>
            </a:r>
          </a:p>
          <a:p>
            <a:pPr lvl="2"/>
            <a:r>
              <a:rPr lang="pt-BR" altLang="pt-BR" dirty="0"/>
              <a:t>Fornecedores de bens em consignação ou comodato;</a:t>
            </a:r>
          </a:p>
          <a:p>
            <a:pPr lvl="2"/>
            <a:r>
              <a:rPr lang="pt-BR" altLang="pt-BR" dirty="0"/>
              <a:t>Fornecedores de material de expediente;</a:t>
            </a:r>
          </a:p>
          <a:p>
            <a:pPr lvl="2"/>
            <a:r>
              <a:rPr lang="pt-BR" altLang="pt-BR" dirty="0"/>
              <a:t>Fornecedores de material de segurança;</a:t>
            </a:r>
          </a:p>
          <a:p>
            <a:pPr lvl="2"/>
            <a:r>
              <a:rPr lang="pt-BR" altLang="pt-BR" dirty="0"/>
              <a:t>Fornecedores no exterior;</a:t>
            </a:r>
          </a:p>
          <a:p>
            <a:pPr lvl="2"/>
            <a:r>
              <a:rPr lang="pt-BR" altLang="pt-BR" dirty="0"/>
              <a:t>Outros </a:t>
            </a:r>
            <a:r>
              <a:rPr lang="pt-BR" altLang="pt-BR" dirty="0" smtClean="0"/>
              <a:t>fornecedores</a:t>
            </a:r>
            <a:endParaRPr lang="pt-BR" alt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62</a:t>
            </a:fld>
            <a:endParaRPr lang="pt-BR" dirty="0"/>
          </a:p>
        </p:txBody>
      </p:sp>
    </p:spTree>
    <p:extLst>
      <p:ext uri="{BB962C8B-B14F-4D97-AF65-F5344CB8AC3E}">
        <p14:creationId xmlns:p14="http://schemas.microsoft.com/office/powerpoint/2010/main" val="21638188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dirty="0" smtClean="0"/>
              <a:t>Passivo Circulante</a:t>
            </a:r>
          </a:p>
          <a:p>
            <a:endParaRPr lang="pt-BR" dirty="0" smtClean="0"/>
          </a:p>
          <a:p>
            <a:pPr lvl="1"/>
            <a:r>
              <a:rPr lang="pt-BR" altLang="pt-BR" dirty="0"/>
              <a:t>Adiantamento de Clientes: Conceito</a:t>
            </a:r>
          </a:p>
          <a:p>
            <a:pPr lvl="2"/>
            <a:r>
              <a:rPr lang="pt-BR" altLang="pt-BR" dirty="0"/>
              <a:t>Nos casos de empresas fornecedoras de bens, usualmente equipamentos, ou serviços, tais como os de empreiteiras de obras, transportes a executar e outros é comum o recebimento, dos clientes que contrataram os bens ou serviços, de parcelas em dinheiro antecipadamente dos bens ou execução de tais serviços. Essas antecipações recebidas devem ser registradas como um passivo, pois temos a obrigação contratual de produzir tais bens ou prestar serviços</a:t>
            </a:r>
            <a:endParaRPr lang="pt-BR" dirty="0"/>
          </a:p>
          <a:p>
            <a:endParaRPr lang="pt-BR" dirty="0" smtClean="0"/>
          </a:p>
          <a:p>
            <a:pPr lvl="1"/>
            <a:r>
              <a:rPr lang="pt-BR" altLang="pt-BR" dirty="0" smtClean="0"/>
              <a:t>Financiamentos de Curto Prazo: Conceito</a:t>
            </a:r>
          </a:p>
          <a:p>
            <a:pPr lvl="2"/>
            <a:r>
              <a:rPr lang="pt-BR" altLang="pt-BR" dirty="0" smtClean="0"/>
              <a:t>Deve </a:t>
            </a:r>
            <a:r>
              <a:rPr lang="pt-BR" altLang="pt-BR" dirty="0"/>
              <a:t>se contabilizar os valores obtidos em instituições financeiras públicas ou privadas, sejam elas nacionais ou internacionais</a:t>
            </a:r>
          </a:p>
          <a:p>
            <a:pPr lvl="3"/>
            <a:r>
              <a:rPr lang="pt-BR" altLang="pt-BR" dirty="0"/>
              <a:t>Financiamento (SFN)</a:t>
            </a:r>
          </a:p>
          <a:p>
            <a:pPr lvl="3"/>
            <a:r>
              <a:rPr lang="pt-BR" altLang="pt-BR" dirty="0"/>
              <a:t>Arrendamento mercantil (SFN)</a:t>
            </a:r>
          </a:p>
          <a:p>
            <a:pPr lvl="3"/>
            <a:r>
              <a:rPr lang="pt-BR" altLang="pt-BR" dirty="0"/>
              <a:t>Financiamentos </a:t>
            </a:r>
            <a:r>
              <a:rPr lang="pt-BR" altLang="pt-BR" dirty="0" smtClean="0"/>
              <a:t>exterior</a:t>
            </a:r>
            <a:endParaRPr lang="pt-BR" altLang="pt-BR" dirty="0"/>
          </a:p>
          <a:p>
            <a:pPr lvl="3"/>
            <a:r>
              <a:rPr lang="pt-BR" altLang="pt-BR" dirty="0"/>
              <a:t>Arrendamento mercantil exterior</a:t>
            </a:r>
          </a:p>
          <a:p>
            <a:pPr lvl="3"/>
            <a:r>
              <a:rPr lang="pt-BR" altLang="pt-BR" dirty="0"/>
              <a:t>Outros financiamentos</a:t>
            </a:r>
          </a:p>
          <a:p>
            <a:pPr lvl="3"/>
            <a:r>
              <a:rPr lang="pt-BR" altLang="pt-BR" dirty="0"/>
              <a:t>Duplicatas descontadas: estes são os valores que as empresas descontam junto a bancos</a:t>
            </a:r>
            <a:r>
              <a:rPr lang="pt-BR" altLang="pt-BR" dirty="0" smtClean="0"/>
              <a:t>.</a:t>
            </a:r>
            <a:endParaRPr lang="pt-BR" alt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63</a:t>
            </a:fld>
            <a:endParaRPr lang="pt-BR" dirty="0"/>
          </a:p>
        </p:txBody>
      </p:sp>
    </p:spTree>
    <p:extLst>
      <p:ext uri="{BB962C8B-B14F-4D97-AF65-F5344CB8AC3E}">
        <p14:creationId xmlns:p14="http://schemas.microsoft.com/office/powerpoint/2010/main" val="116035354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dirty="0" smtClean="0"/>
              <a:t>Passivo Circulante</a:t>
            </a:r>
          </a:p>
          <a:p>
            <a:endParaRPr lang="pt-BR" dirty="0" smtClean="0"/>
          </a:p>
          <a:p>
            <a:pPr lvl="1"/>
            <a:r>
              <a:rPr lang="pt-BR" altLang="pt-BR" dirty="0" smtClean="0"/>
              <a:t>Impostos, taxas e contribuições a recolher: Conceito</a:t>
            </a:r>
          </a:p>
          <a:p>
            <a:pPr lvl="2"/>
            <a:r>
              <a:rPr lang="pt-BR" altLang="pt-BR" dirty="0" smtClean="0"/>
              <a:t>São </a:t>
            </a:r>
            <a:r>
              <a:rPr lang="pt-BR" altLang="pt-BR" dirty="0"/>
              <a:t>as obrigações tributárias da empresa e onde devemos contabilizar não somente os impostos federais, estaduais e municipais de conta própria, ou seja, gerados pela atividade da empresa. Bem como devemos contabilizar também os retidos pela fonte pagadora a funcionários e autônomos e também junto as empresas prestadora de serviços.</a:t>
            </a:r>
          </a:p>
          <a:p>
            <a:pPr lvl="2"/>
            <a:r>
              <a:rPr lang="pt-BR" altLang="pt-BR" dirty="0"/>
              <a:t>Segue abaixo, as contas principais que subdivide este grupo a recolher:</a:t>
            </a:r>
          </a:p>
          <a:p>
            <a:pPr lvl="3"/>
            <a:r>
              <a:rPr lang="pt-BR" altLang="pt-BR" dirty="0"/>
              <a:t>IPI a recolher</a:t>
            </a:r>
          </a:p>
          <a:p>
            <a:pPr lvl="3"/>
            <a:r>
              <a:rPr lang="pt-BR" altLang="pt-BR" dirty="0"/>
              <a:t>ICMS a recolher</a:t>
            </a:r>
          </a:p>
          <a:p>
            <a:pPr lvl="3"/>
            <a:r>
              <a:rPr lang="pt-BR" altLang="pt-BR" dirty="0"/>
              <a:t>Contribuições a recolher</a:t>
            </a:r>
          </a:p>
          <a:p>
            <a:pPr lvl="3"/>
            <a:r>
              <a:rPr lang="pt-BR" altLang="pt-BR" dirty="0"/>
              <a:t>Tributos municipais a recolher</a:t>
            </a:r>
          </a:p>
          <a:p>
            <a:pPr lvl="3"/>
            <a:r>
              <a:rPr lang="pt-BR" altLang="pt-BR" dirty="0"/>
              <a:t>Débitos fiscais IRPJ</a:t>
            </a:r>
          </a:p>
          <a:p>
            <a:pPr lvl="3"/>
            <a:r>
              <a:rPr lang="pt-BR" altLang="pt-BR" dirty="0"/>
              <a:t>Provisão para Contribuição Social sobre o Lucro Liquido</a:t>
            </a:r>
          </a:p>
          <a:p>
            <a:pPr lvl="3"/>
            <a:r>
              <a:rPr lang="pt-BR" altLang="pt-BR" dirty="0"/>
              <a:t>Débitos fiscais CSLL</a:t>
            </a:r>
          </a:p>
          <a:p>
            <a:pPr lvl="3"/>
            <a:r>
              <a:rPr lang="pt-BR" altLang="pt-BR" dirty="0"/>
              <a:t>Provisão para o Imposto de Renda</a:t>
            </a:r>
          </a:p>
          <a:p>
            <a:pPr lvl="3"/>
            <a:r>
              <a:rPr lang="pt-BR" altLang="pt-BR" dirty="0" smtClean="0"/>
              <a:t>Outros</a:t>
            </a:r>
            <a:endParaRPr lang="pt-BR" alt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64</a:t>
            </a:fld>
            <a:endParaRPr lang="pt-BR" dirty="0"/>
          </a:p>
        </p:txBody>
      </p:sp>
    </p:spTree>
    <p:extLst>
      <p:ext uri="{BB962C8B-B14F-4D97-AF65-F5344CB8AC3E}">
        <p14:creationId xmlns:p14="http://schemas.microsoft.com/office/powerpoint/2010/main" val="140783499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dirty="0" smtClean="0"/>
              <a:t>Passivo Circulante</a:t>
            </a:r>
          </a:p>
          <a:p>
            <a:endParaRPr lang="pt-BR" dirty="0" smtClean="0"/>
          </a:p>
          <a:p>
            <a:pPr lvl="1"/>
            <a:r>
              <a:rPr lang="pt-BR" altLang="pt-BR" dirty="0"/>
              <a:t>Impostos, taxas e contribuições a recolher: Fechamento de impostos</a:t>
            </a:r>
          </a:p>
          <a:p>
            <a:pPr lvl="2"/>
            <a:r>
              <a:rPr lang="pt-BR" altLang="pt-BR" dirty="0"/>
              <a:t>Contas que podemos ter no Ativo e no Passivo são deste grupo, pois os valores lançados no grupo do passivo representa a obrigação da companhia junto as esferas estaduais, federais e municipais. Normalmente são valores que incidem sobre as vendas de mercadorias da empresas ou prestação de serviços.</a:t>
            </a:r>
          </a:p>
          <a:p>
            <a:pPr lvl="2"/>
            <a:r>
              <a:rPr lang="pt-BR" altLang="pt-BR" dirty="0"/>
              <a:t>No ativo quando verificamos as contas de ICMS, PIS, COFINS por exemplo são valores que as empresas tomaram de créditos em relação a compra de insumos utilizados na produção.</a:t>
            </a:r>
          </a:p>
          <a:p>
            <a:pPr lvl="2"/>
            <a:r>
              <a:rPr lang="pt-BR" altLang="pt-BR" dirty="0"/>
              <a:t>Ao final do mês realizara um encontro de contas, verificando o saldo a recuperar e o saldo a recolher.</a:t>
            </a:r>
          </a:p>
          <a:p>
            <a:pPr lvl="2"/>
            <a:endParaRPr lang="pt-BR" altLang="pt-BR" dirty="0"/>
          </a:p>
          <a:p>
            <a:pPr lvl="1"/>
            <a:r>
              <a:rPr lang="pt-BR" dirty="0" smtClean="0"/>
              <a:t>Obrigações Administrativas e Operacionais: Conceito</a:t>
            </a:r>
          </a:p>
          <a:p>
            <a:pPr lvl="2"/>
            <a:r>
              <a:rPr lang="pt-BR" altLang="pt-BR" dirty="0" smtClean="0"/>
              <a:t>São </a:t>
            </a:r>
            <a:r>
              <a:rPr lang="pt-BR" altLang="pt-BR" dirty="0"/>
              <a:t>valores que ocorrem com certa frequência dentro da empresa, ou seja, ocorre mensalmente.</a:t>
            </a:r>
          </a:p>
          <a:p>
            <a:pPr lvl="2"/>
            <a:r>
              <a:rPr lang="pt-BR" altLang="pt-BR" dirty="0"/>
              <a:t>Dentro deste podemos ter:</a:t>
            </a:r>
          </a:p>
          <a:p>
            <a:pPr lvl="3"/>
            <a:r>
              <a:rPr lang="pt-BR" altLang="pt-BR" dirty="0"/>
              <a:t>Água, Energia, Gás e Telefone</a:t>
            </a:r>
          </a:p>
          <a:p>
            <a:pPr lvl="3"/>
            <a:r>
              <a:rPr lang="pt-BR" altLang="pt-BR" dirty="0"/>
              <a:t>IPVA, multas de trânsito</a:t>
            </a:r>
          </a:p>
          <a:p>
            <a:pPr lvl="3"/>
            <a:r>
              <a:rPr lang="pt-BR" altLang="pt-BR" dirty="0"/>
              <a:t>Aluguéis e condomínios;</a:t>
            </a:r>
          </a:p>
          <a:p>
            <a:pPr lvl="3"/>
            <a:r>
              <a:rPr lang="pt-BR" altLang="pt-BR" dirty="0"/>
              <a:t>Arrendamento mercantil;</a:t>
            </a:r>
          </a:p>
          <a:p>
            <a:endParaRPr lang="pt-BR" dirty="0"/>
          </a:p>
          <a:p>
            <a:endParaRPr lang="pt-BR" dirty="0" smtClean="0"/>
          </a:p>
          <a:p>
            <a:pPr lvl="2"/>
            <a:endParaRPr lang="pt-BR" altLang="pt-BR" dirty="0" smtClean="0"/>
          </a:p>
          <a:p>
            <a:pPr lvl="2"/>
            <a:endParaRPr lang="pt-BR" altLang="pt-BR" dirty="0"/>
          </a:p>
          <a:p>
            <a:pPr lvl="2"/>
            <a:endParaRPr lang="pt-BR" alt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65</a:t>
            </a:fld>
            <a:endParaRPr lang="pt-BR" dirty="0"/>
          </a:p>
        </p:txBody>
      </p:sp>
    </p:spTree>
    <p:extLst>
      <p:ext uri="{BB962C8B-B14F-4D97-AF65-F5344CB8AC3E}">
        <p14:creationId xmlns:p14="http://schemas.microsoft.com/office/powerpoint/2010/main" val="40340511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Passivo Circulante</a:t>
            </a:r>
          </a:p>
          <a:p>
            <a:endParaRPr lang="pt-BR" dirty="0" smtClean="0"/>
          </a:p>
          <a:p>
            <a:pPr lvl="1"/>
            <a:r>
              <a:rPr lang="pt-BR" altLang="pt-BR" dirty="0" smtClean="0"/>
              <a:t>Obrigações Trabalhistas: Conceito</a:t>
            </a:r>
          </a:p>
          <a:p>
            <a:pPr lvl="2"/>
            <a:r>
              <a:rPr lang="pt-BR" altLang="pt-BR" dirty="0" smtClean="0"/>
              <a:t>Neste </a:t>
            </a:r>
            <a:r>
              <a:rPr lang="pt-BR" altLang="pt-BR" dirty="0"/>
              <a:t>grupo estaremos contabilizando tudo o que é relacionado aos colaboradores das empresas, desde do salário até os encargos incidentes sobre os mesmos.</a:t>
            </a:r>
          </a:p>
          <a:p>
            <a:pPr lvl="2"/>
            <a:r>
              <a:rPr lang="pt-BR" altLang="pt-BR" dirty="0"/>
              <a:t>Dentro deste grupo podemos ter as seguintes contas contábeis.</a:t>
            </a:r>
          </a:p>
          <a:p>
            <a:pPr lvl="3"/>
            <a:r>
              <a:rPr lang="pt-BR" altLang="pt-BR" dirty="0"/>
              <a:t>Salários a pagar</a:t>
            </a:r>
          </a:p>
          <a:p>
            <a:pPr lvl="3"/>
            <a:r>
              <a:rPr lang="pt-BR" altLang="pt-BR" dirty="0"/>
              <a:t>Autônomos PJ a pagar</a:t>
            </a:r>
          </a:p>
          <a:p>
            <a:pPr lvl="3"/>
            <a:r>
              <a:rPr lang="pt-BR" altLang="pt-BR" dirty="0"/>
              <a:t>INSS a recolher</a:t>
            </a:r>
          </a:p>
          <a:p>
            <a:pPr lvl="3"/>
            <a:r>
              <a:rPr lang="pt-BR" altLang="pt-BR" dirty="0"/>
              <a:t>FGTS a recolher</a:t>
            </a:r>
          </a:p>
          <a:p>
            <a:pPr lvl="3"/>
            <a:r>
              <a:rPr lang="pt-BR" altLang="pt-BR" dirty="0"/>
              <a:t>Contribuição sindical a recolher</a:t>
            </a:r>
          </a:p>
          <a:p>
            <a:pPr lvl="3"/>
            <a:r>
              <a:rPr lang="pt-BR" altLang="pt-BR" dirty="0"/>
              <a:t>Indenizações processos trabalhistas</a:t>
            </a:r>
          </a:p>
          <a:p>
            <a:pPr lvl="3"/>
            <a:r>
              <a:rPr lang="pt-BR" altLang="pt-BR" dirty="0"/>
              <a:t>Provisão de férias</a:t>
            </a:r>
          </a:p>
          <a:p>
            <a:pPr lvl="3"/>
            <a:r>
              <a:rPr lang="pt-BR" altLang="pt-BR" dirty="0"/>
              <a:t>Provisão de 13º salários</a:t>
            </a:r>
          </a:p>
          <a:p>
            <a:pPr lvl="3"/>
            <a:r>
              <a:rPr lang="pt-BR" altLang="pt-BR" dirty="0"/>
              <a:t>Provisão de benefícios (*)</a:t>
            </a:r>
          </a:p>
          <a:p>
            <a:pPr lvl="2"/>
            <a:r>
              <a:rPr lang="pt-BR" altLang="pt-BR" dirty="0"/>
              <a:t>Os salários e ordenados, quando pagos no mês seguinte ao qual forem incorridos, devem ser provisionados. Esta provisão deve incluir todos os benefícios aos quais empregado tenha direito, como horas extras adicionais, prêmios.</a:t>
            </a:r>
          </a:p>
          <a:p>
            <a:pPr lvl="1"/>
            <a:endParaRPr lang="pt-BR" dirty="0" smtClean="0"/>
          </a:p>
          <a:p>
            <a:pPr lvl="1"/>
            <a:endParaRPr lang="pt-BR" dirty="0" smtClean="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66</a:t>
            </a:fld>
            <a:endParaRPr lang="pt-BR" dirty="0"/>
          </a:p>
        </p:txBody>
      </p:sp>
    </p:spTree>
    <p:extLst>
      <p:ext uri="{BB962C8B-B14F-4D97-AF65-F5344CB8AC3E}">
        <p14:creationId xmlns:p14="http://schemas.microsoft.com/office/powerpoint/2010/main" val="18645333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Passivo Circulante</a:t>
            </a:r>
          </a:p>
          <a:p>
            <a:endParaRPr lang="pt-BR" dirty="0" smtClean="0"/>
          </a:p>
          <a:p>
            <a:pPr lvl="1"/>
            <a:r>
              <a:rPr lang="pt-BR" altLang="pt-BR" dirty="0"/>
              <a:t>Obrigações Trabalhistas: Conceito</a:t>
            </a:r>
          </a:p>
          <a:p>
            <a:pPr lvl="2"/>
            <a:r>
              <a:rPr lang="pt-BR" altLang="pt-BR" dirty="0"/>
              <a:t>As obrigações sociais resultante dos salários pagos ou creditados pela sociedade deverão ser registrados com base nas taxas de encargos incidentes. Tais encargos englobam principalmente as contribuições ao INSS e FGTS, calculadas com base na folha de pagamento e recolhidas por meio de guias especificas.</a:t>
            </a:r>
          </a:p>
          <a:p>
            <a:pPr lvl="2"/>
            <a:r>
              <a:rPr lang="pt-BR" altLang="pt-BR" dirty="0"/>
              <a:t>No regime de competência, as férias transcorridas e ainda não gozadas devem ser provisionadas contabilmente, permitindo melhor apuração do resultado. A legislação permite a dedução da formação dessa provisão, inclusive considerando a parcela proporcional, bem como a relativa aos encargos sociais derivantes das férias. E exigido, no entanto, que a empresa mantenha na data do balanço uma posição analítica como suporte do valor provisionado.</a:t>
            </a:r>
          </a:p>
          <a:p>
            <a:pPr lvl="2"/>
            <a:r>
              <a:rPr lang="pt-BR" altLang="pt-BR" dirty="0"/>
              <a:t>O 13º salário também é um encargo complementar de salário. Por isso deve ser apropriado como custo ou despesa adicional dos 12 meses normais do exercício, através da constituição de uma provisão para o 13º salário, na base de 1/12 do valor bruto da folha de pagamento, o que é importante para fins de resultados.</a:t>
            </a:r>
          </a:p>
          <a:p>
            <a:pPr lvl="2"/>
            <a:r>
              <a:rPr lang="pt-BR" altLang="pt-BR" dirty="0"/>
              <a:t>A participação nos lucros, onde o débito representa uma redução do lucro da empresa, contabilizado no próprio exercício, tendo contrapartida um passivo, que no plano de contas será registrado no passivo circulante</a:t>
            </a:r>
            <a:endParaRPr lang="pt-BR" dirty="0" smtClean="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67</a:t>
            </a:fld>
            <a:endParaRPr lang="pt-BR" dirty="0"/>
          </a:p>
        </p:txBody>
      </p:sp>
    </p:spTree>
    <p:extLst>
      <p:ext uri="{BB962C8B-B14F-4D97-AF65-F5344CB8AC3E}">
        <p14:creationId xmlns:p14="http://schemas.microsoft.com/office/powerpoint/2010/main" val="117564131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a:xfrm>
            <a:off x="381000" y="914400"/>
            <a:ext cx="11569700" cy="5543550"/>
          </a:xfrm>
        </p:spPr>
        <p:txBody>
          <a:bodyPr>
            <a:normAutofit fontScale="92500" lnSpcReduction="10000"/>
          </a:bodyPr>
          <a:lstStyle/>
          <a:p>
            <a:r>
              <a:rPr lang="pt-BR" dirty="0" smtClean="0"/>
              <a:t>Passivo Circulante</a:t>
            </a:r>
          </a:p>
          <a:p>
            <a:endParaRPr lang="pt-BR" dirty="0" smtClean="0"/>
          </a:p>
          <a:p>
            <a:pPr lvl="1"/>
            <a:r>
              <a:rPr lang="pt-BR" dirty="0" smtClean="0"/>
              <a:t>Dividendos Propostos ou Lucros Creditados: Conceito:</a:t>
            </a:r>
          </a:p>
          <a:p>
            <a:pPr lvl="2"/>
            <a:r>
              <a:rPr lang="pt-BR" altLang="pt-BR" dirty="0" smtClean="0"/>
              <a:t>Neste </a:t>
            </a:r>
            <a:r>
              <a:rPr lang="pt-BR" altLang="pt-BR" dirty="0"/>
              <a:t>grupo estaremos realizando a contabilização dos valores de antecipação de dividendos a pagar a distribuir e a participação nos lucros das empresas. </a:t>
            </a:r>
          </a:p>
          <a:p>
            <a:pPr lvl="2"/>
            <a:r>
              <a:rPr lang="pt-BR" altLang="pt-BR" dirty="0"/>
              <a:t>Podemos ter as seguintes contas neste:</a:t>
            </a:r>
          </a:p>
          <a:p>
            <a:pPr lvl="3"/>
            <a:r>
              <a:rPr lang="pt-BR" altLang="pt-BR" dirty="0"/>
              <a:t>Antecipação de lucros;</a:t>
            </a:r>
          </a:p>
          <a:p>
            <a:pPr lvl="3"/>
            <a:r>
              <a:rPr lang="pt-BR" altLang="pt-BR" dirty="0"/>
              <a:t>Dividendos a pagar;</a:t>
            </a:r>
          </a:p>
          <a:p>
            <a:pPr lvl="3"/>
            <a:r>
              <a:rPr lang="pt-BR" altLang="pt-BR" dirty="0"/>
              <a:t>Participação nos lucros a pagar. Detalhe que o PLR dos colaboradores também podemos encontrar no grupo de obrigações trabalhistas.</a:t>
            </a:r>
          </a:p>
          <a:p>
            <a:pPr lvl="3"/>
            <a:r>
              <a:rPr lang="pt-BR" altLang="pt-BR" dirty="0"/>
              <a:t>Juros sobre capital a pagar</a:t>
            </a:r>
          </a:p>
          <a:p>
            <a:pPr lvl="1"/>
            <a:endParaRPr lang="pt-BR" dirty="0" smtClean="0"/>
          </a:p>
          <a:p>
            <a:pPr lvl="1"/>
            <a:r>
              <a:rPr lang="pt-BR" dirty="0" smtClean="0"/>
              <a:t>Provisão para Contingencia: Conceito</a:t>
            </a:r>
          </a:p>
          <a:p>
            <a:pPr lvl="2"/>
            <a:r>
              <a:rPr lang="pt-BR" altLang="pt-BR" dirty="0"/>
              <a:t>Contabilizamos neste os valores reservados, extraídos dos Lucros ou das Reservas para atendimento de despesas previsíveis ou calculáveis, como por exemplo aquelas que dependem de decisão judicial e que podem ser desfavoráveis a empresa. Deve ser realizado o lançamento com o maior valor aproximado possível do processo.</a:t>
            </a:r>
          </a:p>
          <a:p>
            <a:pPr lvl="2"/>
            <a:r>
              <a:rPr lang="pt-BR" altLang="pt-BR" dirty="0"/>
              <a:t>Podemos ter as seguintes contas.</a:t>
            </a:r>
          </a:p>
          <a:p>
            <a:pPr lvl="3"/>
            <a:r>
              <a:rPr lang="pt-BR" altLang="pt-BR" dirty="0"/>
              <a:t>Débitos fiscais CSLL</a:t>
            </a:r>
          </a:p>
          <a:p>
            <a:pPr lvl="3"/>
            <a:r>
              <a:rPr lang="pt-BR" altLang="pt-BR" dirty="0"/>
              <a:t>Débitos fiscais IRPJ</a:t>
            </a:r>
          </a:p>
          <a:p>
            <a:pPr lvl="3"/>
            <a:r>
              <a:rPr lang="pt-BR" altLang="pt-BR" dirty="0"/>
              <a:t>Provisões de natureza fiscal</a:t>
            </a:r>
          </a:p>
          <a:p>
            <a:pPr lvl="3"/>
            <a:r>
              <a:rPr lang="pt-BR" altLang="pt-BR" dirty="0"/>
              <a:t>Provisões de natureza trabalhista</a:t>
            </a:r>
          </a:p>
          <a:p>
            <a:pPr lvl="3"/>
            <a:r>
              <a:rPr lang="pt-BR" altLang="pt-BR" dirty="0"/>
              <a:t>Provisões de natureza </a:t>
            </a:r>
            <a:r>
              <a:rPr lang="pt-BR" altLang="pt-BR" dirty="0" smtClean="0"/>
              <a:t>cível</a:t>
            </a:r>
            <a:endParaRPr lang="pt-BR" dirty="0" smtClean="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68</a:t>
            </a:fld>
            <a:endParaRPr lang="pt-BR" dirty="0"/>
          </a:p>
        </p:txBody>
      </p:sp>
    </p:spTree>
    <p:extLst>
      <p:ext uri="{BB962C8B-B14F-4D97-AF65-F5344CB8AC3E}">
        <p14:creationId xmlns:p14="http://schemas.microsoft.com/office/powerpoint/2010/main" val="203429508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Passivo Não Circulante</a:t>
            </a:r>
          </a:p>
          <a:p>
            <a:pPr lvl="1"/>
            <a:endParaRPr lang="pt-BR" dirty="0" smtClean="0"/>
          </a:p>
          <a:p>
            <a:pPr lvl="1"/>
            <a:r>
              <a:rPr lang="pt-BR" dirty="0" smtClean="0"/>
              <a:t>Conceito: É a somatória dos valores de exigível a longo prazo (dividas com terceiros) e o valor do Patrimônio Líquido.</a:t>
            </a:r>
            <a:endParaRPr lang="pt-BR" dirty="0"/>
          </a:p>
          <a:p>
            <a:endParaRPr lang="pt-BR" dirty="0" smtClean="0"/>
          </a:p>
          <a:p>
            <a:r>
              <a:rPr lang="pt-BR" dirty="0" smtClean="0"/>
              <a:t>Passivo Exigível a Longo Prazo</a:t>
            </a:r>
          </a:p>
          <a:p>
            <a:pPr lvl="1"/>
            <a:endParaRPr lang="pt-BR" dirty="0" smtClean="0"/>
          </a:p>
          <a:p>
            <a:pPr lvl="1"/>
            <a:r>
              <a:rPr lang="pt-BR" altLang="pt-BR" dirty="0" smtClean="0"/>
              <a:t>Conceito: São </a:t>
            </a:r>
            <a:r>
              <a:rPr lang="pt-BR" altLang="pt-BR" dirty="0"/>
              <a:t>todas as exigibilidades que tenham vencimento após o termino do exercício social subsequente, ou seja, seu vencimento ocorrera num prazo superior a um ano, a contar da data de apresentação do balanço patrimonial do exercício atual.</a:t>
            </a:r>
          </a:p>
          <a:p>
            <a:pPr lvl="1"/>
            <a:r>
              <a:rPr lang="pt-BR" altLang="pt-BR" dirty="0"/>
              <a:t>Neste grupo não há nenhum impedimento sobre as questão de contas contábeis, porem destacamos os principais grupos:</a:t>
            </a:r>
          </a:p>
          <a:p>
            <a:pPr lvl="2"/>
            <a:r>
              <a:rPr lang="pt-BR" altLang="pt-BR" dirty="0"/>
              <a:t>Empréstimos a pagar</a:t>
            </a:r>
          </a:p>
          <a:p>
            <a:pPr lvl="2"/>
            <a:r>
              <a:rPr lang="pt-BR" altLang="pt-BR" dirty="0"/>
              <a:t>Financiamentos a pagar</a:t>
            </a:r>
          </a:p>
          <a:p>
            <a:pPr lvl="2"/>
            <a:r>
              <a:rPr lang="pt-BR" altLang="pt-BR" dirty="0"/>
              <a:t>Debentures a pagar</a:t>
            </a:r>
          </a:p>
          <a:p>
            <a:pPr lvl="2"/>
            <a:r>
              <a:rPr lang="pt-BR" altLang="pt-BR" dirty="0"/>
              <a:t>Impostos a recolher.</a:t>
            </a:r>
          </a:p>
          <a:p>
            <a:pPr lvl="1"/>
            <a:endParaRPr lang="pt-BR" dirty="0"/>
          </a:p>
          <a:p>
            <a:endParaRPr lang="pt-BR" dirty="0" smtClean="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69</a:t>
            </a:fld>
            <a:endParaRPr lang="pt-BR" dirty="0"/>
          </a:p>
        </p:txBody>
      </p:sp>
    </p:spTree>
    <p:extLst>
      <p:ext uri="{BB962C8B-B14F-4D97-AF65-F5344CB8AC3E}">
        <p14:creationId xmlns:p14="http://schemas.microsoft.com/office/powerpoint/2010/main" val="283839331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Passivo Não Circulante</a:t>
            </a:r>
          </a:p>
          <a:p>
            <a:endParaRPr lang="pt-BR" dirty="0"/>
          </a:p>
          <a:p>
            <a:pPr lvl="1"/>
            <a:r>
              <a:rPr lang="pt-BR" altLang="pt-BR" dirty="0" smtClean="0"/>
              <a:t>Conceito: No </a:t>
            </a:r>
            <a:r>
              <a:rPr lang="pt-BR" altLang="pt-BR" dirty="0"/>
              <a:t>balanço patrimonial, a diferença entre o valor dos ativos e o dos passivos e resultado de exercício futuros represente o patrimônio liquido, que é o valor contábil pertencente aos acionistas ou sócios da empresa.</a:t>
            </a:r>
          </a:p>
          <a:p>
            <a:pPr lvl="1"/>
            <a:endParaRPr lang="pt-BR" altLang="pt-BR" dirty="0"/>
          </a:p>
          <a:p>
            <a:pPr lvl="1"/>
            <a:r>
              <a:rPr lang="pt-BR" altLang="pt-BR" dirty="0"/>
              <a:t>De acordo com a Lei nº 6.404/76, o patrimônio líquido é divido em:</a:t>
            </a:r>
          </a:p>
          <a:p>
            <a:pPr lvl="2"/>
            <a:r>
              <a:rPr lang="pt-BR" altLang="pt-BR" dirty="0"/>
              <a:t>Capital Social: Este representa valores recebidos pela empresa, ou por ela gerados, e que estão formalmente incorporados ao capital;</a:t>
            </a:r>
          </a:p>
          <a:p>
            <a:pPr lvl="2"/>
            <a:r>
              <a:rPr lang="pt-BR" altLang="pt-BR" dirty="0"/>
              <a:t>Reservas de Capital: Este representam valores recebidos que não transitaram pelo seu resultado como receitas;</a:t>
            </a:r>
          </a:p>
          <a:p>
            <a:pPr lvl="2"/>
            <a:r>
              <a:rPr lang="pt-BR" altLang="pt-BR" dirty="0"/>
              <a:t>Reservas de Reavaliação: Este representam acréscimo de valor atribuído a elementos do ativo acima dos índices de correção monetária;</a:t>
            </a:r>
          </a:p>
          <a:p>
            <a:pPr lvl="2"/>
            <a:r>
              <a:rPr lang="pt-BR" altLang="pt-BR" dirty="0"/>
              <a:t>Reservas de Lucros: Este representam lucros obtidos pela mesma empresa, retidos com finalidade específica;</a:t>
            </a:r>
          </a:p>
          <a:p>
            <a:pPr lvl="2"/>
            <a:r>
              <a:rPr lang="pt-BR" altLang="pt-BR" dirty="0"/>
              <a:t>Lucros ou Prejuízos Acumulados: Este que são também resultados obtidos, mas retidos sem finalidade específica (quando lucros), ou à espera de absorção futura (quando prejuízos) </a:t>
            </a:r>
          </a:p>
          <a:p>
            <a:pPr lvl="1"/>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70</a:t>
            </a:fld>
            <a:endParaRPr lang="pt-BR" dirty="0"/>
          </a:p>
        </p:txBody>
      </p:sp>
    </p:spTree>
    <p:extLst>
      <p:ext uri="{BB962C8B-B14F-4D97-AF65-F5344CB8AC3E}">
        <p14:creationId xmlns:p14="http://schemas.microsoft.com/office/powerpoint/2010/main" val="40356214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dirty="0"/>
              <a:t>Passivo Não Circulante</a:t>
            </a:r>
          </a:p>
          <a:p>
            <a:endParaRPr lang="pt-BR" dirty="0" smtClean="0"/>
          </a:p>
          <a:p>
            <a:pPr lvl="1"/>
            <a:r>
              <a:rPr lang="pt-BR" dirty="0" smtClean="0"/>
              <a:t>Capital Social</a:t>
            </a:r>
          </a:p>
          <a:p>
            <a:pPr lvl="2"/>
            <a:r>
              <a:rPr lang="pt-BR" dirty="0" smtClean="0"/>
              <a:t>Conceito: </a:t>
            </a:r>
            <a:r>
              <a:rPr lang="pt-BR" altLang="pt-BR" dirty="0" smtClean="0"/>
              <a:t>É </a:t>
            </a:r>
            <a:r>
              <a:rPr lang="pt-BR" altLang="pt-BR" dirty="0"/>
              <a:t>o investimento efetuado na companhia pelos acionistas é representado pelo capital social, este abrange não só as parcelas entregues pelos acionistas como também os valores obtidos pela sociedade e que, por decisão dos proprietários, se incorporam ao capital social, representando uma espécie de renúncia a sua distribuição na forma de dinheiro ou de outros bens.</a:t>
            </a:r>
          </a:p>
          <a:p>
            <a:pPr lvl="2">
              <a:defRPr/>
            </a:pPr>
            <a:r>
              <a:rPr lang="pt-BR" altLang="pt-BR" dirty="0"/>
              <a:t>O valor que deve constar do patrimônio líquido no subgrupo do capital é o do capital realizado, ou seja, aquele que fora totalmente integralizado pelo acionista.</a:t>
            </a:r>
          </a:p>
          <a:p>
            <a:pPr lvl="2">
              <a:defRPr/>
            </a:pPr>
            <a:r>
              <a:rPr lang="pt-BR" dirty="0"/>
              <a:t>Esquema de contabilização do capital realizado</a:t>
            </a:r>
            <a:r>
              <a:rPr lang="pt-BR" dirty="0" smtClean="0"/>
              <a:t>:</a:t>
            </a:r>
          </a:p>
          <a:p>
            <a:pPr lvl="2">
              <a:defRPr/>
            </a:pPr>
            <a:endParaRPr lang="pt-BR" dirty="0"/>
          </a:p>
          <a:p>
            <a:pPr lvl="2">
              <a:defRPr/>
            </a:pPr>
            <a:endParaRPr lang="pt-BR" dirty="0"/>
          </a:p>
          <a:p>
            <a:pPr marL="0" indent="0">
              <a:buFont typeface="Wingdings 3" panose="05040102010807070707" pitchFamily="18" charset="2"/>
              <a:buNone/>
              <a:defRPr/>
            </a:pPr>
            <a:r>
              <a:rPr lang="pt-BR" sz="1000" dirty="0"/>
              <a:t>D – Capital a Integralizar</a:t>
            </a:r>
          </a:p>
          <a:p>
            <a:pPr marL="0" indent="0">
              <a:buFont typeface="Wingdings 3" panose="05040102010807070707" pitchFamily="18" charset="2"/>
              <a:buNone/>
              <a:defRPr/>
            </a:pPr>
            <a:r>
              <a:rPr lang="pt-BR" sz="1000" dirty="0"/>
              <a:t>C – Capital Social</a:t>
            </a:r>
          </a:p>
          <a:p>
            <a:pPr marL="0" indent="0">
              <a:buFont typeface="Wingdings 3" panose="05040102010807070707" pitchFamily="18" charset="2"/>
              <a:buNone/>
              <a:defRPr/>
            </a:pPr>
            <a:r>
              <a:rPr lang="pt-BR" sz="1000" dirty="0"/>
              <a:t>R$ 100.000,00</a:t>
            </a:r>
          </a:p>
          <a:p>
            <a:pPr marL="0" indent="0">
              <a:buFont typeface="Wingdings 3" panose="05040102010807070707" pitchFamily="18" charset="2"/>
              <a:buNone/>
              <a:defRPr/>
            </a:pPr>
            <a:r>
              <a:rPr lang="pt-BR" sz="1000" dirty="0"/>
              <a:t>D – Bancos, Imobilizados, Estoques</a:t>
            </a:r>
          </a:p>
          <a:p>
            <a:pPr marL="0" indent="0">
              <a:buFont typeface="Wingdings 3" panose="05040102010807070707" pitchFamily="18" charset="2"/>
              <a:buNone/>
              <a:defRPr/>
            </a:pPr>
            <a:r>
              <a:rPr lang="pt-BR" sz="1000" dirty="0"/>
              <a:t>C – Capital a Integralizar</a:t>
            </a:r>
          </a:p>
          <a:p>
            <a:pPr marL="0" indent="0">
              <a:buFont typeface="Wingdings 3" panose="05040102010807070707" pitchFamily="18" charset="2"/>
              <a:buNone/>
              <a:defRPr/>
            </a:pPr>
            <a:r>
              <a:rPr lang="pt-BR" sz="1000" dirty="0"/>
              <a:t>R$ 80.000,00</a:t>
            </a:r>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71</a:t>
            </a:fld>
            <a:endParaRPr lang="pt-BR" dirty="0"/>
          </a:p>
        </p:txBody>
      </p:sp>
      <p:sp>
        <p:nvSpPr>
          <p:cNvPr id="4" name="Retângulo 4"/>
          <p:cNvSpPr>
            <a:spLocks noChangeArrowheads="1"/>
          </p:cNvSpPr>
          <p:nvPr/>
        </p:nvSpPr>
        <p:spPr bwMode="auto">
          <a:xfrm>
            <a:off x="4230509" y="4394894"/>
            <a:ext cx="3275012" cy="830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pt-BR" altLang="pt-BR" sz="1200" dirty="0">
                <a:solidFill>
                  <a:schemeClr val="tx1"/>
                </a:solidFill>
                <a:latin typeface="Arial" panose="020B0604020202020204" pitchFamily="34" charset="0"/>
              </a:rPr>
              <a:t>Classificação no Balanço é como abaixo:</a:t>
            </a:r>
          </a:p>
          <a:p>
            <a:pPr>
              <a:spcBef>
                <a:spcPct val="0"/>
              </a:spcBef>
              <a:buClrTx/>
              <a:buFontTx/>
              <a:buNone/>
            </a:pPr>
            <a:r>
              <a:rPr lang="pt-BR" altLang="pt-BR" sz="1200" dirty="0">
                <a:solidFill>
                  <a:schemeClr val="tx1"/>
                </a:solidFill>
                <a:latin typeface="Arial" panose="020B0604020202020204" pitchFamily="34" charset="0"/>
              </a:rPr>
              <a:t>Capital Social – R$ 100.000,00</a:t>
            </a:r>
          </a:p>
          <a:p>
            <a:pPr>
              <a:spcBef>
                <a:spcPct val="0"/>
              </a:spcBef>
              <a:buClrTx/>
              <a:buFontTx/>
              <a:buNone/>
            </a:pPr>
            <a:r>
              <a:rPr lang="pt-BR" altLang="pt-BR" sz="1200" dirty="0">
                <a:solidFill>
                  <a:schemeClr val="tx1"/>
                </a:solidFill>
                <a:latin typeface="Arial" panose="020B0604020202020204" pitchFamily="34" charset="0"/>
              </a:rPr>
              <a:t>(-) A integralizar – R$ 20.000,00</a:t>
            </a:r>
          </a:p>
          <a:p>
            <a:pPr>
              <a:spcBef>
                <a:spcPct val="0"/>
              </a:spcBef>
              <a:buClrTx/>
              <a:buFontTx/>
              <a:buNone/>
            </a:pPr>
            <a:r>
              <a:rPr lang="pt-BR" altLang="pt-BR" sz="1200" dirty="0">
                <a:solidFill>
                  <a:schemeClr val="tx1"/>
                </a:solidFill>
                <a:latin typeface="Arial" panose="020B0604020202020204" pitchFamily="34" charset="0"/>
              </a:rPr>
              <a:t>(=) Capital realizado – R$ 80.000,00</a:t>
            </a:r>
          </a:p>
        </p:txBody>
      </p:sp>
    </p:spTree>
    <p:extLst>
      <p:ext uri="{BB962C8B-B14F-4D97-AF65-F5344CB8AC3E}">
        <p14:creationId xmlns:p14="http://schemas.microsoft.com/office/powerpoint/2010/main" val="16428577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lnSpcReduction="10000"/>
          </a:bodyPr>
          <a:lstStyle/>
          <a:p>
            <a:r>
              <a:rPr lang="pt-BR" dirty="0" smtClean="0"/>
              <a:t>Passivo Não Circulante</a:t>
            </a:r>
          </a:p>
          <a:p>
            <a:endParaRPr lang="pt-BR" dirty="0" smtClean="0"/>
          </a:p>
          <a:p>
            <a:pPr lvl="2"/>
            <a:r>
              <a:rPr lang="pt-BR" dirty="0" smtClean="0"/>
              <a:t>Capital Social: </a:t>
            </a:r>
            <a:r>
              <a:rPr lang="pt-BR" altLang="pt-BR" dirty="0" smtClean="0"/>
              <a:t>Detalhe</a:t>
            </a:r>
            <a:r>
              <a:rPr lang="pt-BR" altLang="pt-BR" dirty="0"/>
              <a:t>: Algumas S/A tem capital autorizado, cujo limite estabelecido em valor ou em numero de ações, pelo qual o estatuto autoriza o conselho de administração a aumentar o capital social da empresa, independentemente de reforma estatutária, dando mais flexibilidade a empresa, o que é particularmente muito útil nas suas expansões, que venha exigir aportes de capital.</a:t>
            </a:r>
          </a:p>
          <a:p>
            <a:pPr lvl="1"/>
            <a:endParaRPr lang="pt-BR" altLang="pt-BR" dirty="0"/>
          </a:p>
          <a:p>
            <a:pPr lvl="1"/>
            <a:r>
              <a:rPr lang="pt-BR" altLang="pt-BR" dirty="0" smtClean="0"/>
              <a:t>Reservas de Capital</a:t>
            </a:r>
          </a:p>
          <a:p>
            <a:pPr lvl="1"/>
            <a:endParaRPr lang="pt-BR" altLang="pt-BR" dirty="0"/>
          </a:p>
          <a:p>
            <a:pPr lvl="2"/>
            <a:r>
              <a:rPr lang="pt-BR" altLang="pt-BR" dirty="0" smtClean="0"/>
              <a:t>Conceito: </a:t>
            </a:r>
            <a:r>
              <a:rPr lang="pt-BR" altLang="pt-BR" dirty="0"/>
              <a:t>As reservas de capital são constituídas com valores recebidos pela companhia e que não transitam pelo resultado como receitas, por se referirem a valores destinados a reforço do capital da empresa, sem terem contrapartidas qualquer esforço em termos de entrega de mercadorias ou prestação de serviços.</a:t>
            </a:r>
          </a:p>
          <a:p>
            <a:pPr lvl="2"/>
            <a:r>
              <a:rPr lang="pt-BR" altLang="pt-BR" dirty="0"/>
              <a:t>As reservas de capital somente podem ser utilizadas para:</a:t>
            </a:r>
          </a:p>
          <a:p>
            <a:pPr lvl="3"/>
            <a:r>
              <a:rPr lang="pt-BR" altLang="pt-BR" dirty="0"/>
              <a:t>Absorver prejuízos, quando estes ultrapassarem os lucros acumulados e as reservas de lucros. Convém observar que, no caso da exigência de lucros acumulados e de reservas de lucros, os prejuízos serão absorvidos primeiramente por essas contas;</a:t>
            </a:r>
          </a:p>
          <a:p>
            <a:pPr lvl="3"/>
            <a:r>
              <a:rPr lang="pt-BR" altLang="pt-BR" dirty="0"/>
              <a:t>Resgate, reembolso ou compra de ações;</a:t>
            </a:r>
          </a:p>
          <a:p>
            <a:pPr lvl="3"/>
            <a:r>
              <a:rPr lang="pt-BR" altLang="pt-BR" dirty="0"/>
              <a:t>Resgate de parte beneficiárias;</a:t>
            </a:r>
          </a:p>
          <a:p>
            <a:pPr lvl="3"/>
            <a:r>
              <a:rPr lang="pt-BR" altLang="pt-BR" dirty="0"/>
              <a:t>Incorporação ao capital;</a:t>
            </a:r>
          </a:p>
          <a:p>
            <a:pPr lvl="3"/>
            <a:r>
              <a:rPr lang="pt-BR" altLang="pt-BR" dirty="0"/>
              <a:t>Pagamento de dividendo a ações preferenciais, quando essa vantagem lhes for assegurada (precisa estar no estatuto da empresa</a:t>
            </a:r>
            <a:r>
              <a:rPr lang="pt-BR" altLang="pt-BR" dirty="0" smtClean="0"/>
              <a:t>)</a:t>
            </a:r>
            <a:endParaRPr lang="pt-BR" alt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72</a:t>
            </a:fld>
            <a:endParaRPr lang="pt-BR" dirty="0"/>
          </a:p>
        </p:txBody>
      </p:sp>
    </p:spTree>
    <p:extLst>
      <p:ext uri="{BB962C8B-B14F-4D97-AF65-F5344CB8AC3E}">
        <p14:creationId xmlns:p14="http://schemas.microsoft.com/office/powerpoint/2010/main" val="12033267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Passivo Não Circulante</a:t>
            </a:r>
          </a:p>
          <a:p>
            <a:endParaRPr lang="pt-BR" dirty="0" smtClean="0"/>
          </a:p>
          <a:p>
            <a:pPr lvl="1"/>
            <a:r>
              <a:rPr lang="pt-BR" dirty="0" smtClean="0"/>
              <a:t>Reservas de Lucro</a:t>
            </a:r>
          </a:p>
          <a:p>
            <a:pPr lvl="2"/>
            <a:r>
              <a:rPr lang="pt-BR" dirty="0" smtClean="0"/>
              <a:t>Conceito: </a:t>
            </a:r>
            <a:r>
              <a:rPr lang="pt-BR" altLang="pt-BR" dirty="0" smtClean="0"/>
              <a:t>São </a:t>
            </a:r>
            <a:r>
              <a:rPr lang="pt-BR" altLang="pt-BR" dirty="0"/>
              <a:t>as reservas constituídas pela apropriação de lucros da companhia, antes de sua distribuição aos acionistas.</a:t>
            </a:r>
          </a:p>
          <a:p>
            <a:pPr lvl="2"/>
            <a:r>
              <a:rPr lang="pt-BR" altLang="pt-BR" dirty="0"/>
              <a:t>Dentro deste grupo podemos ter as seguintes reservas de lucros:</a:t>
            </a:r>
          </a:p>
          <a:p>
            <a:pPr lvl="3"/>
            <a:r>
              <a:rPr lang="pt-BR" altLang="pt-BR" dirty="0"/>
              <a:t>Reserva legal</a:t>
            </a:r>
          </a:p>
          <a:p>
            <a:pPr lvl="3"/>
            <a:r>
              <a:rPr lang="pt-BR" altLang="pt-BR" dirty="0"/>
              <a:t>Reservas estatutárias</a:t>
            </a:r>
          </a:p>
          <a:p>
            <a:pPr lvl="3"/>
            <a:r>
              <a:rPr lang="pt-BR" altLang="pt-BR" dirty="0"/>
              <a:t>Reservas para contingencias;</a:t>
            </a:r>
          </a:p>
          <a:p>
            <a:pPr lvl="3"/>
            <a:r>
              <a:rPr lang="pt-BR" altLang="pt-BR" dirty="0"/>
              <a:t>Reservas de lucros a realizar;</a:t>
            </a:r>
          </a:p>
          <a:p>
            <a:pPr lvl="3"/>
            <a:r>
              <a:rPr lang="pt-BR" altLang="pt-BR" dirty="0"/>
              <a:t>Reservas de lucros para expansão;</a:t>
            </a:r>
          </a:p>
          <a:p>
            <a:pPr lvl="3"/>
            <a:r>
              <a:rPr lang="pt-BR" altLang="pt-BR" dirty="0"/>
              <a:t>Reserva especial para dividendo obrigatório não distribuído;</a:t>
            </a:r>
          </a:p>
          <a:p>
            <a:pPr lvl="1"/>
            <a:endParaRPr lang="pt-BR" dirty="0" smtClean="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73</a:t>
            </a:fld>
            <a:endParaRPr lang="pt-BR" dirty="0"/>
          </a:p>
        </p:txBody>
      </p:sp>
    </p:spTree>
    <p:extLst>
      <p:ext uri="{BB962C8B-B14F-4D97-AF65-F5344CB8AC3E}">
        <p14:creationId xmlns:p14="http://schemas.microsoft.com/office/powerpoint/2010/main" val="115409065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lnSpcReduction="10000"/>
          </a:bodyPr>
          <a:lstStyle/>
          <a:p>
            <a:pPr marL="457200" lvl="1" indent="0">
              <a:buNone/>
            </a:pPr>
            <a:r>
              <a:rPr lang="pt-BR" dirty="0"/>
              <a:t>Passivo Não Circulante</a:t>
            </a:r>
          </a:p>
          <a:p>
            <a:pPr marL="457200" lvl="1" indent="0">
              <a:buNone/>
            </a:pPr>
            <a:endParaRPr lang="pt-BR" dirty="0" smtClean="0"/>
          </a:p>
          <a:p>
            <a:pPr lvl="1"/>
            <a:r>
              <a:rPr lang="pt-BR" dirty="0" smtClean="0"/>
              <a:t>Reserva </a:t>
            </a:r>
            <a:r>
              <a:rPr lang="pt-BR" dirty="0"/>
              <a:t>Estatutária</a:t>
            </a:r>
          </a:p>
          <a:p>
            <a:pPr lvl="2"/>
            <a:endParaRPr lang="pt-BR" dirty="0"/>
          </a:p>
          <a:p>
            <a:pPr lvl="2"/>
            <a:r>
              <a:rPr lang="pt-BR" altLang="pt-BR" dirty="0"/>
              <a:t>São valores que devem ser constituídos conforme estatuto da companhia, como destinação de uma parcela dos lucros do exercício.</a:t>
            </a:r>
          </a:p>
          <a:p>
            <a:pPr lvl="2"/>
            <a:r>
              <a:rPr lang="pt-BR" altLang="pt-BR" dirty="0"/>
              <a:t>Para cada reserva estatutária, a empresa terá de, no seu estatuto:</a:t>
            </a:r>
          </a:p>
          <a:p>
            <a:pPr lvl="3"/>
            <a:r>
              <a:rPr lang="pt-BR" altLang="pt-BR" dirty="0"/>
              <a:t>Definir sua finalidade de modo preciso e completo;</a:t>
            </a:r>
          </a:p>
          <a:p>
            <a:pPr lvl="3"/>
            <a:r>
              <a:rPr lang="pt-BR" altLang="pt-BR" dirty="0"/>
              <a:t>Fixar os critérios para determinar a parcela anual do lucro liquido a ser utilizada;</a:t>
            </a:r>
          </a:p>
          <a:p>
            <a:pPr lvl="3"/>
            <a:r>
              <a:rPr lang="pt-BR" altLang="pt-BR" dirty="0"/>
              <a:t>Estabelecer o seu limite máximo.</a:t>
            </a:r>
          </a:p>
          <a:p>
            <a:pPr lvl="1"/>
            <a:endParaRPr lang="pt-BR" dirty="0"/>
          </a:p>
          <a:p>
            <a:pPr lvl="1"/>
            <a:r>
              <a:rPr lang="pt-BR" dirty="0" smtClean="0"/>
              <a:t>Reserva </a:t>
            </a:r>
            <a:r>
              <a:rPr lang="pt-BR" dirty="0"/>
              <a:t>Legal</a:t>
            </a:r>
          </a:p>
          <a:p>
            <a:pPr lvl="2"/>
            <a:endParaRPr lang="pt-BR" dirty="0"/>
          </a:p>
          <a:p>
            <a:pPr lvl="2"/>
            <a:r>
              <a:rPr lang="pt-BR" altLang="pt-BR" dirty="0"/>
              <a:t>Essa reserva é constituída a partir da destinação de 5% do lucro liquido do exercício. A mesma é obrigatória para a companhia até que seu valor atinja 20% do capital social realizado, quando então deixara de ser acrescida. Outro ponto que ela pode parar de receber créditos é quando atingir 30% quando somado o saldo desta reserva com o da reservas de capital</a:t>
            </a:r>
            <a:r>
              <a:rPr lang="pt-BR" altLang="pt-BR" dirty="0" smtClean="0"/>
              <a:t>.</a:t>
            </a:r>
          </a:p>
          <a:p>
            <a:pPr lvl="2"/>
            <a:r>
              <a:rPr lang="pt-BR" dirty="0"/>
              <a:t>Segundo o artigo 193 da Lei nº 6.404/76, do lucro líquido do exercício, 5% serão aplicados, antes de qualquer destinação, na constituição da reserva legal. Sendo assim, esta reserva é </a:t>
            </a:r>
            <a:r>
              <a:rPr lang="pt-BR" dirty="0" smtClean="0"/>
              <a:t>obrigatória. Todos </a:t>
            </a:r>
            <a:r>
              <a:rPr lang="pt-BR" dirty="0"/>
              <a:t>os artigos que se referem à constituição das demais reservas de lucros utilizam a palavra "poderá", enquanto a constituição da reserva legal utiliza a palavra "serão". </a:t>
            </a:r>
            <a:r>
              <a:rPr lang="pt-BR" dirty="0" smtClean="0"/>
              <a:t>Sendo </a:t>
            </a:r>
            <a:r>
              <a:rPr lang="pt-BR" dirty="0"/>
              <a:t>assim, a </a:t>
            </a:r>
            <a:r>
              <a:rPr lang="pt-BR" b="1" dirty="0"/>
              <a:t>única reserva</a:t>
            </a:r>
            <a:r>
              <a:rPr lang="pt-BR" dirty="0"/>
              <a:t> de lucro de constituição </a:t>
            </a:r>
            <a:r>
              <a:rPr lang="pt-BR" b="1" dirty="0"/>
              <a:t>obrigatória</a:t>
            </a:r>
            <a:r>
              <a:rPr lang="pt-BR" dirty="0"/>
              <a:t> às sociedades por ações é a </a:t>
            </a:r>
            <a:r>
              <a:rPr lang="pt-BR" b="1" dirty="0"/>
              <a:t>reserva legal</a:t>
            </a:r>
            <a:r>
              <a:rPr lang="pt-BR" dirty="0" smtClean="0"/>
              <a:t>.</a:t>
            </a:r>
            <a:endParaRPr lang="pt-BR" altLang="pt-BR" dirty="0"/>
          </a:p>
          <a:p>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74</a:t>
            </a:fld>
            <a:endParaRPr lang="pt-BR" dirty="0"/>
          </a:p>
        </p:txBody>
      </p:sp>
    </p:spTree>
    <p:extLst>
      <p:ext uri="{BB962C8B-B14F-4D97-AF65-F5344CB8AC3E}">
        <p14:creationId xmlns:p14="http://schemas.microsoft.com/office/powerpoint/2010/main" val="971871625"/>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normAutofit/>
          </a:bodyPr>
          <a:lstStyle/>
          <a:p>
            <a:r>
              <a:rPr lang="pt-BR" dirty="0"/>
              <a:t>Passivo Não Circulante</a:t>
            </a:r>
          </a:p>
          <a:p>
            <a:endParaRPr lang="pt-BR" dirty="0" smtClean="0"/>
          </a:p>
          <a:p>
            <a:pPr lvl="1"/>
            <a:r>
              <a:rPr lang="pt-BR" dirty="0" smtClean="0"/>
              <a:t>Reserva </a:t>
            </a:r>
            <a:r>
              <a:rPr lang="pt-BR" dirty="0" smtClean="0"/>
              <a:t>de Lucros a Realizar</a:t>
            </a:r>
          </a:p>
          <a:p>
            <a:pPr lvl="2"/>
            <a:endParaRPr lang="pt-BR" dirty="0"/>
          </a:p>
          <a:p>
            <a:pPr lvl="2"/>
            <a:r>
              <a:rPr lang="pt-BR" altLang="pt-BR" dirty="0"/>
              <a:t>Esta reserva é constituída como uma destinação dos lucros do exercício, sendo, todavia, optativa ou não sua </a:t>
            </a:r>
            <a:r>
              <a:rPr lang="pt-BR" altLang="pt-BR" dirty="0" err="1" smtClean="0"/>
              <a:t>constituição.O</a:t>
            </a:r>
            <a:r>
              <a:rPr lang="pt-BR" altLang="pt-BR" dirty="0" smtClean="0"/>
              <a:t> </a:t>
            </a:r>
            <a:r>
              <a:rPr lang="pt-BR" altLang="pt-BR" dirty="0"/>
              <a:t>objetivo de constituir esta reserva é evidenciar a parcela de lucros ainda não realizada financeiramente (apesar de contábil e economicamente realizada) pela companhia e também não distribuir dividendo obrigatório, fixado como porcentagem do lucro do exercício, sobre essa mesma parcela.</a:t>
            </a:r>
          </a:p>
          <a:p>
            <a:pPr lvl="2"/>
            <a:r>
              <a:rPr lang="pt-BR" altLang="pt-BR" dirty="0"/>
              <a:t>Como a contabilidade considera, para a apuração do lucro, não somente os fatos financeiros, mas também econômicos, dificilmente todo o lucro apurado da companhia resulta em um aumento correspondente no seu ativo circulante. Isto é mais verdade quando a perda do poder aquisitivo da moeda é reconhecida nas demonstrações financeiras.</a:t>
            </a:r>
          </a:p>
          <a:p>
            <a:pPr lvl="2"/>
            <a:r>
              <a:rPr lang="pt-BR" altLang="pt-BR" dirty="0"/>
              <a:t>Dessa forma, sempre que a empresa tenha lucros já contabilizados e integrantes do lucro liquido do exercício, mas que não foram financeiramente realizados, a Administração poderá decidir por constituir tal Reserva de Lucros a Realizar.</a:t>
            </a:r>
          </a:p>
          <a:p>
            <a:pPr lvl="2"/>
            <a:r>
              <a:rPr lang="pt-BR" altLang="pt-BR" dirty="0"/>
              <a:t>Também pode ser utilizado para investimentos futuros conforme definido em assembleia</a:t>
            </a:r>
            <a:r>
              <a:rPr lang="pt-BR" altLang="pt-BR" dirty="0" smtClean="0"/>
              <a:t>.</a:t>
            </a:r>
            <a:endParaRPr lang="pt-BR" alt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75</a:t>
            </a:fld>
            <a:endParaRPr lang="pt-BR" dirty="0"/>
          </a:p>
        </p:txBody>
      </p:sp>
    </p:spTree>
    <p:extLst>
      <p:ext uri="{BB962C8B-B14F-4D97-AF65-F5344CB8AC3E}">
        <p14:creationId xmlns:p14="http://schemas.microsoft.com/office/powerpoint/2010/main" val="237951134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Passivo Não Circulante</a:t>
            </a:r>
          </a:p>
          <a:p>
            <a:endParaRPr lang="pt-BR" dirty="0"/>
          </a:p>
          <a:p>
            <a:pPr lvl="1"/>
            <a:r>
              <a:rPr lang="pt-BR" altLang="pt-BR" b="1" dirty="0"/>
              <a:t>AJUSTES DE AVALIAÇÃO PATRIMONIAL</a:t>
            </a:r>
          </a:p>
          <a:p>
            <a:pPr lvl="2"/>
            <a:r>
              <a:rPr lang="pt-BR" altLang="pt-BR" dirty="0"/>
              <a:t>Criada pela Lei nº 11638/2007, essa conta compreende as diversas contrapartidas de aumentos ou diminuições de valor de itens do ativo ou passivo decorrentes de avaliações a preços de mercado, que por razões específicas não foram destinadas ao resultado. Muitos valores desses transitarão pelo resultado futuro.</a:t>
            </a:r>
          </a:p>
          <a:p>
            <a:pPr lvl="2"/>
            <a:endParaRPr lang="pt-BR" altLang="pt-BR" b="1" dirty="0"/>
          </a:p>
          <a:p>
            <a:pPr lvl="1"/>
            <a:r>
              <a:rPr lang="pt-BR" altLang="pt-BR" b="1" dirty="0"/>
              <a:t>AÇÕES OU COTAS EM TESOURARIA</a:t>
            </a:r>
          </a:p>
          <a:p>
            <a:pPr lvl="2"/>
            <a:r>
              <a:rPr lang="pt-BR" altLang="pt-BR" dirty="0"/>
              <a:t>Valores relativos à aquisição de ações ou cotas da própria entidade, portanto são dedutíveis no Patrimônio Líquido. Normalmente isto ocorre com empresas listada na Bolsa de Valores, que dependendo do valor de suas ações, elas recompram dos seus investidores, voltando a ter uma maior participação em seu próprio capital.</a:t>
            </a:r>
          </a:p>
          <a:p>
            <a:pPr lvl="2"/>
            <a:endParaRPr lang="pt-BR" altLang="pt-BR" dirty="0"/>
          </a:p>
          <a:p>
            <a:pPr lvl="1"/>
            <a:endParaRPr lang="pt-BR" altLang="pt-BR" dirty="0"/>
          </a:p>
          <a:p>
            <a:pPr lvl="1"/>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76</a:t>
            </a:fld>
            <a:endParaRPr lang="pt-BR" dirty="0"/>
          </a:p>
        </p:txBody>
      </p:sp>
    </p:spTree>
    <p:extLst>
      <p:ext uri="{BB962C8B-B14F-4D97-AF65-F5344CB8AC3E}">
        <p14:creationId xmlns:p14="http://schemas.microsoft.com/office/powerpoint/2010/main" val="33086705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p:cNvSpPr>
            <a:spLocks noGrp="1"/>
          </p:cNvSpPr>
          <p:nvPr>
            <p:ph idx="1"/>
          </p:nvPr>
        </p:nvSpPr>
        <p:spPr/>
        <p:txBody>
          <a:bodyPr/>
          <a:lstStyle/>
          <a:p>
            <a:r>
              <a:rPr lang="pt-BR" dirty="0" smtClean="0"/>
              <a:t>Passivo Não Circulante</a:t>
            </a:r>
          </a:p>
          <a:p>
            <a:endParaRPr lang="pt-BR" dirty="0"/>
          </a:p>
          <a:p>
            <a:pPr lvl="1"/>
            <a:r>
              <a:rPr lang="pt-BR" altLang="pt-BR" dirty="0"/>
              <a:t>LUCROS OU PREJUIZOS ACUMULADOS</a:t>
            </a:r>
          </a:p>
          <a:p>
            <a:pPr lvl="2"/>
            <a:r>
              <a:rPr lang="pt-BR" altLang="pt-BR" dirty="0"/>
              <a:t>Essa conta representa o saldo remanescente dos lucros (ou prejuízos) líquidos das apropriações para reservas de lucros e dos dividendos distribuídos, saldo esse que faz parte do patrimônio liquido na data do balanço. Essa conta representa a interligação entre o Balanço e a Demonstração do Resultado do Exercício.</a:t>
            </a:r>
          </a:p>
          <a:p>
            <a:pPr lvl="2"/>
            <a:r>
              <a:rPr lang="pt-BR" altLang="pt-BR" dirty="0"/>
              <a:t>Dentro deste grupo temos também a conta lucro ou prejuízo liquido que recebe o valor do resultado do exercício.</a:t>
            </a:r>
          </a:p>
          <a:p>
            <a:pPr lvl="2"/>
            <a:r>
              <a:rPr lang="pt-BR" altLang="pt-BR" dirty="0"/>
              <a:t>Segundo a Lei das S.A., conforme modificação introduzida pela Lei nº. 11.638/07, o lucro líquido do exercício deve ser integralmente destinado de acordo com os fundamentos contidos nos </a:t>
            </a:r>
            <a:r>
              <a:rPr lang="pt-BR" altLang="pt-BR" dirty="0" err="1"/>
              <a:t>arts</a:t>
            </a:r>
            <a:r>
              <a:rPr lang="pt-BR" altLang="pt-BR" dirty="0"/>
              <a:t>. 193 a 197 da Lei das S.A. A referida Lei não eliminou a conta de lucros acumulados nem a demonstração de sua movimentação, que devem ser apresentadas como parte da demonstração das mutações do patrimônio líquido. Essa conta, entretanto, tem natureza absolutamente transitória e deve ser utilizada para a transferência do lucro apurado no período, contrapartida das reversões das reservas de lucros e para as destinações do lucro.</a:t>
            </a:r>
          </a:p>
          <a:p>
            <a:pPr lvl="2"/>
            <a:r>
              <a:rPr lang="pt-BR" altLang="pt-BR" dirty="0"/>
              <a:t>Na elaboração das demonstrações contábeis ao término do exercício social em que adotar pela primeira vez a Lei nº 11.638/07, a administração da entidade deve propor a destinação de eventuais saldos de lucros acumulados existentes.</a:t>
            </a:r>
          </a:p>
          <a:p>
            <a:pPr lvl="1"/>
            <a:endParaRPr lang="pt-BR" dirty="0"/>
          </a:p>
        </p:txBody>
      </p:sp>
      <p:sp>
        <p:nvSpPr>
          <p:cNvPr id="3" name="Espaço Reservado para Número de Slide 2"/>
          <p:cNvSpPr>
            <a:spLocks noGrp="1"/>
          </p:cNvSpPr>
          <p:nvPr>
            <p:ph type="sldNum" sz="quarter" idx="12"/>
          </p:nvPr>
        </p:nvSpPr>
        <p:spPr/>
        <p:txBody>
          <a:bodyPr/>
          <a:lstStyle/>
          <a:p>
            <a:fld id="{6E858C45-D598-4769-91F6-5D4820F0911C}" type="slidenum">
              <a:rPr lang="pt-BR" smtClean="0"/>
              <a:pPr/>
              <a:t>77</a:t>
            </a:fld>
            <a:endParaRPr lang="pt-BR" dirty="0"/>
          </a:p>
        </p:txBody>
      </p:sp>
    </p:spTree>
    <p:extLst>
      <p:ext uri="{BB962C8B-B14F-4D97-AF65-F5344CB8AC3E}">
        <p14:creationId xmlns:p14="http://schemas.microsoft.com/office/powerpoint/2010/main" val="3101795515"/>
      </p:ext>
    </p:extLst>
  </p:cSld>
  <p:clrMapOvr>
    <a:masterClrMapping/>
  </p:clrMapOvr>
</p:sld>
</file>

<file path=ppt/theme/theme1.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Escritório">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Escritório">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7713</TotalTime>
  <Words>11768</Words>
  <Application>Microsoft Office PowerPoint</Application>
  <PresentationFormat>Widescreen</PresentationFormat>
  <Paragraphs>911</Paragraphs>
  <Slides>77</Slides>
  <Notes>1</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77</vt:i4>
      </vt:variant>
    </vt:vector>
  </HeadingPairs>
  <TitlesOfParts>
    <vt:vector size="84" baseType="lpstr">
      <vt:lpstr>Arial</vt:lpstr>
      <vt:lpstr>Calibri</vt:lpstr>
      <vt:lpstr>Calibri Light</vt:lpstr>
      <vt:lpstr>Century Gothic</vt:lpstr>
      <vt:lpstr>Times New Roman</vt:lpstr>
      <vt:lpstr>Wingdings 3</vt:lpstr>
      <vt:lpstr>Tema do Office</vt:lpstr>
      <vt:lpstr>ESTRUTURA DAS DEMONSTRAÇÕES CONTÁBEIS I</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ELEMENTOS DA POSIÇÃO PATRIMONIAL E FINANCEIRA</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Emerson</dc:creator>
  <cp:lastModifiedBy>Emerson</cp:lastModifiedBy>
  <cp:revision>222</cp:revision>
  <dcterms:created xsi:type="dcterms:W3CDTF">2015-08-06T18:14:37Z</dcterms:created>
  <dcterms:modified xsi:type="dcterms:W3CDTF">2017-04-02T03:31:50Z</dcterms:modified>
</cp:coreProperties>
</file>