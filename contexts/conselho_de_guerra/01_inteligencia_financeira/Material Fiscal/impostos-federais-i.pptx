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71" r:id="rId4"/>
    <p:sldId id="272" r:id="rId5"/>
    <p:sldId id="273" r:id="rId6"/>
    <p:sldId id="270" r:id="rId7"/>
    <p:sldId id="258" r:id="rId8"/>
    <p:sldId id="260" r:id="rId9"/>
    <p:sldId id="259" r:id="rId10"/>
    <p:sldId id="261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0" d="100"/>
          <a:sy n="80" d="100"/>
        </p:scale>
        <p:origin x="-1522" y="-1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0DB0DC-28F4-4D10-AB69-61B5FF8EB267}" type="datetimeFigureOut">
              <a:rPr lang="pt-BR" smtClean="0"/>
              <a:t>22/11/2018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FF2EE5-B7B3-4D7A-AEDA-BDB9BC26F61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5634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479BE-C464-4F84-BFB6-1155AE8ECDC6}" type="datetime1">
              <a:rPr lang="pt-BR" smtClean="0"/>
              <a:t>22/11/2018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20C6F-523E-41A6-83D0-FB4C016969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3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AA928-E0A6-42AB-9E19-919F56ACE254}" type="datetime1">
              <a:rPr lang="pt-BR" smtClean="0"/>
              <a:t>22/11/2018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20C6F-523E-41A6-83D0-FB4C016969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5813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2BBBB-5D8F-45DB-BFBA-137C261B606E}" type="datetime1">
              <a:rPr lang="pt-BR" smtClean="0"/>
              <a:t>22/11/2018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20C6F-523E-41A6-83D0-FB4C016969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2676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72CAB-9B21-497A-9C1C-B66EE9910EE5}" type="datetime1">
              <a:rPr lang="pt-BR" smtClean="0"/>
              <a:t>22/11/2018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20C6F-523E-41A6-83D0-FB4C016969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4648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E111B-90CD-4C6F-AAA4-5E3450CA3977}" type="datetime1">
              <a:rPr lang="pt-BR" smtClean="0"/>
              <a:t>22/11/2018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20C6F-523E-41A6-83D0-FB4C016969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7615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2D5FF-CB0C-4020-9C36-517EEF3112BA}" type="datetime1">
              <a:rPr lang="pt-BR" smtClean="0"/>
              <a:t>22/11/2018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20C6F-523E-41A6-83D0-FB4C016969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3209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208D8-3830-4351-A3E1-8234A88101DD}" type="datetime1">
              <a:rPr lang="pt-BR" smtClean="0"/>
              <a:t>22/11/2018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20C6F-523E-41A6-83D0-FB4C016969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5590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91C7A-7D7A-471C-B78B-BB4509075D0F}" type="datetime1">
              <a:rPr lang="pt-BR" smtClean="0"/>
              <a:t>22/11/2018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20C6F-523E-41A6-83D0-FB4C016969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822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2F546-165E-4292-8A1F-B92905DAC53C}" type="datetime1">
              <a:rPr lang="pt-BR" smtClean="0"/>
              <a:t>22/11/2018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20C6F-523E-41A6-83D0-FB4C016969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7076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41D51-4F91-44CF-8F24-82975F940348}" type="datetime1">
              <a:rPr lang="pt-BR" smtClean="0"/>
              <a:t>22/11/2018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20C6F-523E-41A6-83D0-FB4C016969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2303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0CEE5-1395-46A2-AC1E-DE3279351793}" type="datetime1">
              <a:rPr lang="pt-BR" smtClean="0"/>
              <a:t>22/11/2018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20C6F-523E-41A6-83D0-FB4C016969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6720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C79C6B-7B8A-4247-852A-DFEF0DD773D2}" type="datetime1">
              <a:rPr lang="pt-BR" smtClean="0"/>
              <a:t>22/11/2018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B20C6F-523E-41A6-83D0-FB4C016969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452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3568" y="404664"/>
            <a:ext cx="7772400" cy="1470025"/>
          </a:xfrm>
        </p:spPr>
        <p:txBody>
          <a:bodyPr/>
          <a:lstStyle/>
          <a:p>
            <a:r>
              <a:rPr lang="pt-BR" b="1" dirty="0" smtClean="0"/>
              <a:t>IMPOSTOS FEDERAIS </a:t>
            </a:r>
            <a:r>
              <a:rPr lang="pt-BR" b="1" dirty="0" smtClean="0"/>
              <a:t>I</a:t>
            </a:r>
            <a:endParaRPr lang="pt-BR" b="1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067944" y="5805264"/>
            <a:ext cx="4960640" cy="769640"/>
          </a:xfrm>
        </p:spPr>
        <p:txBody>
          <a:bodyPr/>
          <a:lstStyle/>
          <a:p>
            <a:r>
              <a:rPr lang="pt-BR" b="1" dirty="0" smtClean="0">
                <a:solidFill>
                  <a:schemeClr val="tx1"/>
                </a:solidFill>
              </a:rPr>
              <a:t>Prof. Lúcia Young</a:t>
            </a:r>
            <a:endParaRPr lang="pt-BR" b="1" dirty="0">
              <a:solidFill>
                <a:schemeClr val="tx1"/>
              </a:solidFill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20C6F-523E-41A6-83D0-FB4C01696949}" type="slidenum">
              <a:rPr lang="pt-BR" smtClean="0"/>
              <a:t>1</a:t>
            </a:fld>
            <a:endParaRPr lang="pt-BR"/>
          </a:p>
        </p:txBody>
      </p:sp>
      <p:pic>
        <p:nvPicPr>
          <p:cNvPr id="1026" name="Picture 2" descr="Resultado de imagem para IO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2060848"/>
            <a:ext cx="3713832" cy="1805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esultado de imagem para IP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700808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Resultado de imagem para imposto de rend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4365104"/>
            <a:ext cx="3898950" cy="2100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0088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solidFill>
                  <a:srgbClr val="C00000"/>
                </a:solidFill>
              </a:rPr>
              <a:t>Imposto de Renda Pessoa Física</a:t>
            </a:r>
            <a:endParaRPr lang="pt-BR" b="1" dirty="0">
              <a:solidFill>
                <a:srgbClr val="C00000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pt-BR" dirty="0"/>
              <a:t>As pessoas físicas domiciliadas ou residentes no Brasil, titulares de disponibilidade econômica ou jurídica de renda ou proventos de qualquer natureza, inclusive rendimentos e ganhos de capital, são contribuintes do imposto de renda, sem distinção da nacionalidade, sexo, idade, estado civil ou profissão</a:t>
            </a:r>
            <a:r>
              <a:rPr lang="pt-BR" dirty="0" smtClean="0"/>
              <a:t>.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São também contribuintes as pessoas físicas que perceberem rendimentos de bens de que tenham a posse como se lhes pertencessem, de acordo com a legislação em vigor</a:t>
            </a:r>
            <a:r>
              <a:rPr lang="pt-BR" dirty="0" smtClean="0"/>
              <a:t>.</a:t>
            </a:r>
            <a:endParaRPr lang="pt-BR" dirty="0"/>
          </a:p>
        </p:txBody>
      </p:sp>
      <p:sp>
        <p:nvSpPr>
          <p:cNvPr id="4" name="Seta para a direita 3"/>
          <p:cNvSpPr/>
          <p:nvPr/>
        </p:nvSpPr>
        <p:spPr>
          <a:xfrm>
            <a:off x="8316416" y="548680"/>
            <a:ext cx="720080" cy="5040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20C6F-523E-41A6-83D0-FB4C01696949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0472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solidFill>
                  <a:srgbClr val="C00000"/>
                </a:solidFill>
              </a:rPr>
              <a:t>Imposto de Renda Pessoa Física</a:t>
            </a:r>
            <a:endParaRPr lang="pt-BR" b="1" dirty="0">
              <a:solidFill>
                <a:srgbClr val="C00000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São tributáveis pelo IRPF os rendimentos (como salários, benefícios e remuneração por serviços prestados), ganhos de capital, juros e outras rendas (como aluguéis e direitos autorais) ou proventos (como aposentadoria</a:t>
            </a:r>
            <a:r>
              <a:rPr lang="pt-BR" dirty="0" smtClean="0"/>
              <a:t>).</a:t>
            </a:r>
            <a:endParaRPr lang="pt-BR" dirty="0"/>
          </a:p>
        </p:txBody>
      </p:sp>
      <p:sp>
        <p:nvSpPr>
          <p:cNvPr id="4" name="Seta para a direita 3"/>
          <p:cNvSpPr/>
          <p:nvPr/>
        </p:nvSpPr>
        <p:spPr>
          <a:xfrm>
            <a:off x="8316416" y="548680"/>
            <a:ext cx="720080" cy="5040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20C6F-523E-41A6-83D0-FB4C01696949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2075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solidFill>
                  <a:srgbClr val="C00000"/>
                </a:solidFill>
              </a:rPr>
              <a:t>Imposto de Renda Pessoa Física</a:t>
            </a:r>
            <a:endParaRPr lang="pt-BR" b="1" dirty="0">
              <a:solidFill>
                <a:srgbClr val="C00000"/>
              </a:solidFill>
            </a:endParaRPr>
          </a:p>
        </p:txBody>
      </p:sp>
      <p:graphicFrame>
        <p:nvGraphicFramePr>
          <p:cNvPr id="5" name="Espaço Reservado para Conteúdo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6459693"/>
              </p:ext>
            </p:extLst>
          </p:nvPr>
        </p:nvGraphicFramePr>
        <p:xfrm>
          <a:off x="755576" y="1988840"/>
          <a:ext cx="7776864" cy="2682240"/>
        </p:xfrm>
        <a:graphic>
          <a:graphicData uri="http://schemas.openxmlformats.org/drawingml/2006/table">
            <a:tbl>
              <a:tblPr/>
              <a:tblGrid>
                <a:gridCol w="2907987"/>
                <a:gridCol w="2214338"/>
                <a:gridCol w="2654539"/>
              </a:tblGrid>
              <a:tr h="0">
                <a:tc>
                  <a:txBody>
                    <a:bodyPr/>
                    <a:lstStyle/>
                    <a:p>
                      <a:r>
                        <a:rPr lang="pt-BR" sz="2000" b="1" dirty="0">
                          <a:effectLst/>
                          <a:latin typeface="Times New Roman"/>
                        </a:rPr>
                        <a:t>Base de Cálculo (R$)</a:t>
                      </a:r>
                      <a:endParaRPr lang="pt-BR" sz="2000" dirty="0">
                        <a:effectLst/>
                        <a:latin typeface="Times New Roman"/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>
                          <a:effectLst/>
                          <a:latin typeface="Times New Roman"/>
                        </a:rPr>
                        <a:t>Alíquota (%)</a:t>
                      </a:r>
                      <a:endParaRPr lang="pt-BR" sz="2000">
                        <a:effectLst/>
                        <a:latin typeface="Times New Roman"/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>
                          <a:effectLst/>
                          <a:latin typeface="Times New Roman"/>
                        </a:rPr>
                        <a:t>Parcela a Deduzir do IR (R$)</a:t>
                      </a:r>
                      <a:endParaRPr lang="pt-BR" sz="2000">
                        <a:effectLst/>
                        <a:latin typeface="Times New Roman"/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pt-BR" sz="2000" dirty="0">
                          <a:effectLst/>
                          <a:latin typeface="Times New Roman"/>
                        </a:rPr>
                        <a:t>Até 1.903,98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>
                          <a:effectLst/>
                          <a:latin typeface="Times New Roman"/>
                        </a:rPr>
                        <a:t>-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2000">
                          <a:effectLst/>
                          <a:latin typeface="Times New Roman"/>
                        </a:rPr>
                        <a:t>-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pt-BR" sz="2000">
                          <a:effectLst/>
                          <a:latin typeface="Times New Roman"/>
                        </a:rPr>
                        <a:t>De 1.903,99 até 2.826,65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>
                          <a:effectLst/>
                          <a:latin typeface="Times New Roman"/>
                        </a:rPr>
                        <a:t>7,5%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2000">
                          <a:effectLst/>
                          <a:latin typeface="Times New Roman"/>
                        </a:rPr>
                        <a:t>142,80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pt-BR" sz="2000">
                          <a:effectLst/>
                          <a:latin typeface="Times New Roman"/>
                        </a:rPr>
                        <a:t>De 2.826,66 até 3.751,05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>
                          <a:effectLst/>
                          <a:latin typeface="Times New Roman"/>
                        </a:rPr>
                        <a:t>15%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2000" dirty="0">
                          <a:effectLst/>
                          <a:latin typeface="Times New Roman"/>
                        </a:rPr>
                        <a:t>354,80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pt-BR" sz="2000">
                          <a:effectLst/>
                          <a:latin typeface="Times New Roman"/>
                        </a:rPr>
                        <a:t>De 3.751,06 até 4.664,68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>
                          <a:effectLst/>
                          <a:latin typeface="Times New Roman"/>
                        </a:rPr>
                        <a:t>22,5%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2000" dirty="0">
                          <a:effectLst/>
                          <a:latin typeface="Times New Roman"/>
                        </a:rPr>
                        <a:t>636,13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pt-BR" sz="2000">
                          <a:effectLst/>
                          <a:latin typeface="Times New Roman"/>
                        </a:rPr>
                        <a:t>Acima de 4.664,68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>
                          <a:effectLst/>
                          <a:latin typeface="Times New Roman"/>
                        </a:rPr>
                        <a:t>27,5%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2000" dirty="0">
                          <a:effectLst/>
                          <a:latin typeface="Times New Roman"/>
                        </a:rPr>
                        <a:t>869,36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20C6F-523E-41A6-83D0-FB4C01696949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0876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solidFill>
                  <a:srgbClr val="C00000"/>
                </a:solidFill>
              </a:rPr>
              <a:t>Imposto de Renda Pessoa Jurídica</a:t>
            </a:r>
            <a:endParaRPr lang="pt-BR" b="1" dirty="0">
              <a:solidFill>
                <a:srgbClr val="C00000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/>
              <a:t>As Pessoas Jurídicas, por opção ou por determinação legal, são tributadas por uma das seguintes formas:</a:t>
            </a:r>
          </a:p>
          <a:p>
            <a:endParaRPr lang="pt-BR" dirty="0"/>
          </a:p>
          <a:p>
            <a:r>
              <a:rPr lang="pt-BR" dirty="0"/>
              <a:t>a) </a:t>
            </a:r>
            <a:r>
              <a:rPr lang="pt-BR" dirty="0" smtClean="0"/>
              <a:t>Simples Nacional (8 tributos).</a:t>
            </a:r>
            <a:endParaRPr lang="pt-BR" dirty="0"/>
          </a:p>
          <a:p>
            <a:endParaRPr lang="pt-BR" dirty="0"/>
          </a:p>
          <a:p>
            <a:r>
              <a:rPr lang="pt-BR" dirty="0"/>
              <a:t>b) Lucro </a:t>
            </a:r>
            <a:r>
              <a:rPr lang="pt-BR" dirty="0" smtClean="0"/>
              <a:t>Presumido Trimestral.</a:t>
            </a:r>
            <a:endParaRPr lang="pt-BR" dirty="0"/>
          </a:p>
          <a:p>
            <a:endParaRPr lang="pt-BR" dirty="0"/>
          </a:p>
          <a:p>
            <a:r>
              <a:rPr lang="pt-BR" dirty="0"/>
              <a:t>c) Lucro </a:t>
            </a:r>
            <a:r>
              <a:rPr lang="pt-BR" dirty="0" smtClean="0"/>
              <a:t>Real (apuração e recolhimento trimestral OU apuração anual com recolhimentos mensais por estimativa).</a:t>
            </a:r>
            <a:endParaRPr lang="pt-BR" dirty="0"/>
          </a:p>
          <a:p>
            <a:endParaRPr lang="pt-BR" dirty="0"/>
          </a:p>
          <a:p>
            <a:r>
              <a:rPr lang="pt-BR" dirty="0"/>
              <a:t>d) Lucro </a:t>
            </a:r>
            <a:r>
              <a:rPr lang="pt-BR" dirty="0" smtClean="0"/>
              <a:t>Arbitrado Trimestral.</a:t>
            </a:r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20C6F-523E-41A6-83D0-FB4C01696949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7867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solidFill>
                  <a:srgbClr val="C00000"/>
                </a:solidFill>
              </a:rPr>
              <a:t>IOF</a:t>
            </a:r>
            <a:endParaRPr lang="pt-BR" b="1" dirty="0">
              <a:solidFill>
                <a:srgbClr val="C00000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pt-BR" dirty="0" smtClean="0"/>
              <a:t>IOF - Imposto Sobre Operações De Crédito, Câmbio E Seguro, Ou Relativas A Títulos Ou Valores Mobiliários</a:t>
            </a:r>
          </a:p>
          <a:p>
            <a:endParaRPr lang="pt-BR" b="1" dirty="0"/>
          </a:p>
          <a:p>
            <a:r>
              <a:rPr lang="pt-BR" dirty="0"/>
              <a:t>As alíquotas gerais aplicáveis a empréstimos são: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1. mutuário pessoa jurídica: 0,0041% ou;</a:t>
            </a:r>
          </a:p>
          <a:p>
            <a:r>
              <a:rPr lang="pt-BR" dirty="0"/>
              <a:t>2. mutuário pessoa física: 0,0082</a:t>
            </a:r>
            <a:r>
              <a:rPr lang="pt-BR" dirty="0" smtClean="0"/>
              <a:t>%.</a:t>
            </a:r>
            <a:endParaRPr lang="pt-BR" dirty="0"/>
          </a:p>
        </p:txBody>
      </p:sp>
      <p:sp>
        <p:nvSpPr>
          <p:cNvPr id="4" name="Seta para a direita 3"/>
          <p:cNvSpPr/>
          <p:nvPr/>
        </p:nvSpPr>
        <p:spPr>
          <a:xfrm>
            <a:off x="8316416" y="548680"/>
            <a:ext cx="720080" cy="5040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20C6F-523E-41A6-83D0-FB4C01696949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6781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solidFill>
                  <a:srgbClr val="C00000"/>
                </a:solidFill>
              </a:rPr>
              <a:t>IOF</a:t>
            </a:r>
            <a:endParaRPr lang="pt-BR" b="1" dirty="0">
              <a:solidFill>
                <a:srgbClr val="C00000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/>
              <a:t>O IOF </a:t>
            </a:r>
            <a:r>
              <a:rPr lang="pt-BR" b="1" dirty="0"/>
              <a:t>incide</a:t>
            </a:r>
            <a:r>
              <a:rPr lang="pt-BR" dirty="0"/>
              <a:t> sobre</a:t>
            </a:r>
            <a:r>
              <a:rPr lang="pt-BR" dirty="0" smtClean="0"/>
              <a:t>: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I - </a:t>
            </a:r>
            <a:r>
              <a:rPr lang="pt-BR" u="sng" dirty="0"/>
              <a:t>operações de crédito</a:t>
            </a:r>
            <a:r>
              <a:rPr lang="pt-BR" dirty="0"/>
              <a:t> realizadas:</a:t>
            </a:r>
          </a:p>
          <a:p>
            <a:r>
              <a:rPr lang="pt-BR" dirty="0"/>
              <a:t>a) por instituições financeiras;</a:t>
            </a:r>
          </a:p>
          <a:p>
            <a:r>
              <a:rPr lang="pt-BR" dirty="0"/>
              <a:t>b) </a:t>
            </a:r>
            <a:r>
              <a:rPr lang="pt-BR" i="1" dirty="0" smtClean="0"/>
              <a:t>factoring</a:t>
            </a:r>
            <a:r>
              <a:rPr lang="pt-BR" dirty="0" smtClean="0"/>
              <a:t>;</a:t>
            </a:r>
            <a:endParaRPr lang="pt-BR" dirty="0"/>
          </a:p>
          <a:p>
            <a:r>
              <a:rPr lang="pt-BR" dirty="0"/>
              <a:t>c) entre pessoas jurídicas ou entre pessoa jurídica e pessoa física</a:t>
            </a:r>
            <a:r>
              <a:rPr lang="pt-BR" dirty="0" smtClean="0"/>
              <a:t>;</a:t>
            </a:r>
            <a:endParaRPr lang="pt-BR" dirty="0"/>
          </a:p>
          <a:p>
            <a:r>
              <a:rPr lang="pt-BR" dirty="0"/>
              <a:t>II - operações de câmbio;</a:t>
            </a:r>
          </a:p>
          <a:p>
            <a:r>
              <a:rPr lang="pt-BR" dirty="0"/>
              <a:t>III - operações de seguro realizadas por seguradoras;</a:t>
            </a:r>
          </a:p>
          <a:p>
            <a:r>
              <a:rPr lang="pt-BR" dirty="0"/>
              <a:t>IV - operações relativas a títulos ou valores mobiliários;</a:t>
            </a:r>
          </a:p>
          <a:p>
            <a:r>
              <a:rPr lang="pt-BR" dirty="0"/>
              <a:t>V - operações com ouro, ativo financeiro, ou instrumento cambial</a:t>
            </a:r>
            <a:r>
              <a:rPr lang="pt-BR" dirty="0" smtClean="0"/>
              <a:t>.</a:t>
            </a:r>
            <a:endParaRPr lang="pt-BR" dirty="0"/>
          </a:p>
        </p:txBody>
      </p:sp>
      <p:sp>
        <p:nvSpPr>
          <p:cNvPr id="4" name="Seta para a direita 3"/>
          <p:cNvSpPr/>
          <p:nvPr/>
        </p:nvSpPr>
        <p:spPr>
          <a:xfrm>
            <a:off x="8316416" y="548680"/>
            <a:ext cx="720080" cy="5040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20C6F-523E-41A6-83D0-FB4C01696949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4719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solidFill>
                  <a:srgbClr val="C00000"/>
                </a:solidFill>
              </a:rPr>
              <a:t>IOF</a:t>
            </a:r>
            <a:endParaRPr lang="pt-BR" b="1" dirty="0">
              <a:solidFill>
                <a:srgbClr val="C00000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/>
              <a:t>A expressão "operações de crédito" compreende as operações de</a:t>
            </a:r>
            <a:r>
              <a:rPr lang="pt-BR" dirty="0" smtClean="0"/>
              <a:t>: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1) empréstimo sob qualquer modalidade, inclusive abertura de crédito e desconto de títulos</a:t>
            </a:r>
            <a:r>
              <a:rPr lang="pt-BR" dirty="0" smtClean="0"/>
              <a:t>;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2) alienação, à empresa que exercer as atividades de factoring, de direitos creditórios resultantes de vendas a prazo e</a:t>
            </a:r>
            <a:r>
              <a:rPr lang="pt-BR" dirty="0" smtClean="0"/>
              <a:t>;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3) mútuo de recursos financeiros entre pessoas jurídicas ou entre pessoa jurídica e pessoa física.</a:t>
            </a:r>
          </a:p>
        </p:txBody>
      </p:sp>
      <p:sp>
        <p:nvSpPr>
          <p:cNvPr id="4" name="Seta para a direita 3"/>
          <p:cNvSpPr/>
          <p:nvPr/>
        </p:nvSpPr>
        <p:spPr>
          <a:xfrm>
            <a:off x="8316416" y="548680"/>
            <a:ext cx="720080" cy="5040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20C6F-523E-41A6-83D0-FB4C01696949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9152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solidFill>
                  <a:srgbClr val="C00000"/>
                </a:solidFill>
              </a:rPr>
              <a:t>IOF</a:t>
            </a:r>
            <a:endParaRPr lang="pt-BR" b="1" dirty="0">
              <a:solidFill>
                <a:srgbClr val="C00000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u="sng" dirty="0"/>
              <a:t>Não se submetem à incidência do IOF</a:t>
            </a:r>
            <a:r>
              <a:rPr lang="pt-BR" dirty="0"/>
              <a:t> as operações realizadas por órgãos da administração direta da União, dos Estados, do Distrito Federal e dos Municípios, e, desde que vinculadas às finalidades essenciais das respectivas entidades, as operações realizadas por</a:t>
            </a:r>
            <a:r>
              <a:rPr lang="pt-BR" dirty="0" smtClean="0"/>
              <a:t>: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I - autarquias e fundações instituídas e mantidas pelo Poder Público;</a:t>
            </a:r>
          </a:p>
          <a:p>
            <a:r>
              <a:rPr lang="pt-BR" dirty="0"/>
              <a:t>II - templos de qualquer culto;</a:t>
            </a:r>
          </a:p>
          <a:p>
            <a:r>
              <a:rPr lang="pt-BR" dirty="0"/>
              <a:t>III - partidos políticos, inclusive suas fundações, entidades sindicais de trabalhadores e instituições de educação e de assistência social, sem fins lucrativos, atendidos os requisitos da lei.</a:t>
            </a:r>
          </a:p>
        </p:txBody>
      </p:sp>
      <p:sp>
        <p:nvSpPr>
          <p:cNvPr id="4" name="Seta para a direita 3"/>
          <p:cNvSpPr/>
          <p:nvPr/>
        </p:nvSpPr>
        <p:spPr>
          <a:xfrm>
            <a:off x="8316416" y="548680"/>
            <a:ext cx="720080" cy="5040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20C6F-523E-41A6-83D0-FB4C01696949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6155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solidFill>
                  <a:srgbClr val="C00000"/>
                </a:solidFill>
              </a:rPr>
              <a:t>IOF</a:t>
            </a:r>
            <a:endParaRPr lang="pt-BR" b="1" dirty="0">
              <a:solidFill>
                <a:srgbClr val="C00000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b="1" dirty="0"/>
              <a:t>Exemplo</a:t>
            </a:r>
            <a:r>
              <a:rPr lang="pt-BR" b="1" dirty="0" smtClean="0"/>
              <a:t>:  </a:t>
            </a:r>
            <a:r>
              <a:rPr lang="pt-BR" dirty="0" smtClean="0"/>
              <a:t>A </a:t>
            </a:r>
            <a:r>
              <a:rPr lang="pt-BR" dirty="0"/>
              <a:t>Companhia Financiada tomou um empréstimo de R$ 300.000,00 para pagamento único ao final de 455 dias.  Neste caso, o IOF máximo devido na operação será de R$ 5.629,50, calculado da seguinte forma</a:t>
            </a:r>
            <a:r>
              <a:rPr lang="pt-BR" dirty="0" smtClean="0"/>
              <a:t>: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a) IOF: R$ 300.000,00 x (0,0041% ao dia x 365 dias) = R$ 4.489,50</a:t>
            </a:r>
          </a:p>
          <a:p>
            <a:r>
              <a:rPr lang="pt-BR" dirty="0"/>
              <a:t>b) Adicional IOF: R$ 300.000,00 x 0,38% = R$ 1.140,00</a:t>
            </a:r>
          </a:p>
          <a:p>
            <a:r>
              <a:rPr lang="pt-BR" dirty="0"/>
              <a:t>c) IOF Máximo na operação (a + b) = R$ 5.629,50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20C6F-523E-41A6-83D0-FB4C01696949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84218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solidFill>
                  <a:srgbClr val="C00000"/>
                </a:solidFill>
              </a:rPr>
              <a:t>IPI</a:t>
            </a:r>
            <a:endParaRPr lang="pt-BR" b="1" dirty="0">
              <a:solidFill>
                <a:srgbClr val="C00000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 imposto sobre produtos industrializados (IPI) incide sobre produtos industrializados, nacionais e estrangeiros.</a:t>
            </a:r>
          </a:p>
          <a:p>
            <a:endParaRPr lang="pt-BR" dirty="0"/>
          </a:p>
          <a:p>
            <a:r>
              <a:rPr lang="pt-BR" dirty="0"/>
              <a:t>Suas disposições estão regulamentadas pelo Decreto 7.212/2010 (RIPI/2010</a:t>
            </a:r>
            <a:r>
              <a:rPr lang="pt-BR" dirty="0" smtClean="0"/>
              <a:t>).</a:t>
            </a:r>
          </a:p>
          <a:p>
            <a:endParaRPr lang="pt-BR" dirty="0"/>
          </a:p>
          <a:p>
            <a:r>
              <a:rPr lang="pt-BR" dirty="0" smtClean="0"/>
              <a:t>Tabela </a:t>
            </a:r>
            <a:r>
              <a:rPr lang="pt-BR" dirty="0"/>
              <a:t>de Incidência do IPI (TIPI)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20C6F-523E-41A6-83D0-FB4C01696949}" type="slidenum">
              <a:rPr lang="pt-BR" smtClean="0"/>
              <a:t>11</a:t>
            </a:fld>
            <a:endParaRPr lang="pt-BR"/>
          </a:p>
        </p:txBody>
      </p:sp>
      <p:sp>
        <p:nvSpPr>
          <p:cNvPr id="4" name="Seta para a direita 3"/>
          <p:cNvSpPr/>
          <p:nvPr/>
        </p:nvSpPr>
        <p:spPr>
          <a:xfrm>
            <a:off x="7668344" y="404664"/>
            <a:ext cx="792088" cy="7200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1786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solidFill>
                  <a:srgbClr val="C00000"/>
                </a:solidFill>
              </a:rPr>
              <a:t>IPI</a:t>
            </a:r>
            <a:endParaRPr lang="pt-BR" b="1" dirty="0">
              <a:solidFill>
                <a:srgbClr val="C00000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/>
              <a:t>Caracteriza industrialização qualquer operação que modifique a natureza, o funcionamento, o acabamento, a apresentação ou a finalidade do produto, ou o aperfeiçoe para consumo, tal como</a:t>
            </a:r>
            <a:r>
              <a:rPr lang="pt-BR" dirty="0" smtClean="0"/>
              <a:t>: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I – a que, exercida sobre matéria-prima ou produto intermediário, importe na obtenção de espécie nova (transformação</a:t>
            </a:r>
            <a:r>
              <a:rPr lang="pt-BR" dirty="0" smtClean="0"/>
              <a:t>);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II – a que importe em modificar, aperfeiçoar ou, de qualquer forma, alterar o funcionamento, a utilização, o acabamento ou a aparência do produto (beneficiamento);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20C6F-523E-41A6-83D0-FB4C01696949}" type="slidenum">
              <a:rPr lang="pt-BR" smtClean="0"/>
              <a:t>12</a:t>
            </a:fld>
            <a:endParaRPr lang="pt-BR"/>
          </a:p>
        </p:txBody>
      </p:sp>
      <p:sp>
        <p:nvSpPr>
          <p:cNvPr id="5" name="Seta para a direita 4"/>
          <p:cNvSpPr/>
          <p:nvPr/>
        </p:nvSpPr>
        <p:spPr>
          <a:xfrm>
            <a:off x="7668344" y="404664"/>
            <a:ext cx="792088" cy="7200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53748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solidFill>
                  <a:srgbClr val="C00000"/>
                </a:solidFill>
              </a:rPr>
              <a:t>IPI</a:t>
            </a:r>
            <a:endParaRPr lang="pt-BR" b="1" dirty="0">
              <a:solidFill>
                <a:srgbClr val="C00000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BR" dirty="0"/>
              <a:t>III – a que consista na reunião de produtos, peças ou partes e de que resulte um novo produto ou unidade autônoma, ainda que sob a mesma classificação fiscal (montagem</a:t>
            </a:r>
            <a:r>
              <a:rPr lang="pt-BR" dirty="0" smtClean="0"/>
              <a:t>);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IV – a que importe em alterar a apresentação do produto, pela colocação da embalagem, ainda que em substituição da original, salvo quando a embalagem colocada se destine apenas ao transporte da mercadoria (acondicionamento ou </a:t>
            </a:r>
            <a:r>
              <a:rPr lang="pt-BR" dirty="0" err="1"/>
              <a:t>reacondicionamento</a:t>
            </a:r>
            <a:r>
              <a:rPr lang="pt-BR" dirty="0" smtClean="0"/>
              <a:t>);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V – a que, exercida sobre produto usado ou parte remanescente de produto deteriorado ou inutilizado, renove ou restaure o produto para utilização (renovação ou recondicionamento</a:t>
            </a:r>
            <a:r>
              <a:rPr lang="pt-BR" dirty="0" smtClean="0"/>
              <a:t>).</a:t>
            </a:r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20C6F-523E-41A6-83D0-FB4C01696949}" type="slidenum">
              <a:rPr lang="pt-BR" smtClean="0"/>
              <a:t>13</a:t>
            </a:fld>
            <a:endParaRPr lang="pt-BR"/>
          </a:p>
        </p:txBody>
      </p:sp>
      <p:sp>
        <p:nvSpPr>
          <p:cNvPr id="5" name="Seta para a direita 4"/>
          <p:cNvSpPr/>
          <p:nvPr/>
        </p:nvSpPr>
        <p:spPr>
          <a:xfrm>
            <a:off x="7668344" y="404664"/>
            <a:ext cx="792088" cy="7200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8417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solidFill>
                  <a:srgbClr val="C00000"/>
                </a:solidFill>
              </a:rPr>
              <a:t>IPI</a:t>
            </a:r>
            <a:endParaRPr lang="pt-BR" b="1" dirty="0">
              <a:solidFill>
                <a:srgbClr val="C00000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São imunes da incidência do IPI</a:t>
            </a:r>
            <a:r>
              <a:rPr lang="pt-BR" dirty="0" smtClean="0"/>
              <a:t>: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I – os livros, jornais, periódicos e o papel destinado à sua impressão;</a:t>
            </a:r>
          </a:p>
          <a:p>
            <a:r>
              <a:rPr lang="pt-BR" dirty="0"/>
              <a:t>II – os produtos industrializados destinados ao exterior;</a:t>
            </a:r>
          </a:p>
          <a:p>
            <a:r>
              <a:rPr lang="pt-BR" dirty="0"/>
              <a:t>III – o ouro, quando definido em lei como ativo financeiro ou instrumento cambial;</a:t>
            </a:r>
          </a:p>
          <a:p>
            <a:r>
              <a:rPr lang="pt-BR" dirty="0"/>
              <a:t>IV – a energia elétrica, derivados de petróleo, combustíveis e minerais do País.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20C6F-523E-41A6-83D0-FB4C01696949}" type="slidenum">
              <a:rPr lang="pt-BR" smtClean="0"/>
              <a:t>14</a:t>
            </a:fld>
            <a:endParaRPr lang="pt-BR"/>
          </a:p>
        </p:txBody>
      </p:sp>
      <p:sp>
        <p:nvSpPr>
          <p:cNvPr id="5" name="Seta para a direita 4"/>
          <p:cNvSpPr/>
          <p:nvPr/>
        </p:nvSpPr>
        <p:spPr>
          <a:xfrm>
            <a:off x="7668344" y="404664"/>
            <a:ext cx="792088" cy="7200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90102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solidFill>
                  <a:srgbClr val="C00000"/>
                </a:solidFill>
              </a:rPr>
              <a:t>IPI</a:t>
            </a:r>
            <a:endParaRPr lang="pt-BR" b="1" dirty="0">
              <a:solidFill>
                <a:srgbClr val="C00000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pt-BR" dirty="0"/>
              <a:t>São obrigados ao pagamento do IPI como contribuinte</a:t>
            </a:r>
            <a:r>
              <a:rPr lang="pt-BR" dirty="0" smtClean="0"/>
              <a:t>: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I – o importador, em relação ao fato gerador decorrente do desembaraço aduaneiro de produto de procedência estrangeira</a:t>
            </a:r>
            <a:r>
              <a:rPr lang="pt-BR" dirty="0" smtClean="0"/>
              <a:t>;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II – o industrial, em relação ao fato gerador decorrente da saída de produto que industrializar em seu estabelecimento, bem assim quanto aos demais fatos geradores decorrentes de atos que praticar;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20C6F-523E-41A6-83D0-FB4C01696949}" type="slidenum">
              <a:rPr lang="pt-BR" smtClean="0"/>
              <a:t>15</a:t>
            </a:fld>
            <a:endParaRPr lang="pt-BR"/>
          </a:p>
        </p:txBody>
      </p:sp>
      <p:sp>
        <p:nvSpPr>
          <p:cNvPr id="5" name="Seta para a direita 4"/>
          <p:cNvSpPr/>
          <p:nvPr/>
        </p:nvSpPr>
        <p:spPr>
          <a:xfrm>
            <a:off x="7668344" y="404664"/>
            <a:ext cx="792088" cy="7200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66759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solidFill>
                  <a:srgbClr val="C00000"/>
                </a:solidFill>
              </a:rPr>
              <a:t>IPI</a:t>
            </a:r>
            <a:endParaRPr lang="pt-BR" b="1" dirty="0">
              <a:solidFill>
                <a:srgbClr val="C00000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III – o estabelecimento equiparado a industrial, quanto ao fato gerador relativo aos produtos que dele saírem, bem assim quanto aos demais fatos geradores decorrentes de atos que praticar</a:t>
            </a:r>
            <a:r>
              <a:rPr lang="pt-BR" dirty="0" smtClean="0"/>
              <a:t>;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IV – os que consumirem ou utilizarem em outra finalidade, ou remeterem a pessoas que não sejam empresas jornalísticas ou editoras, o papel destinado à impressão de livros, jornais e periódicos, quando alcançado pela imunidade</a:t>
            </a:r>
            <a:r>
              <a:rPr lang="pt-BR" dirty="0" smtClean="0"/>
              <a:t>.</a:t>
            </a:r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20C6F-523E-41A6-83D0-FB4C01696949}" type="slidenum">
              <a:rPr lang="pt-BR" smtClean="0"/>
              <a:t>16</a:t>
            </a:fld>
            <a:endParaRPr lang="pt-BR"/>
          </a:p>
        </p:txBody>
      </p:sp>
      <p:sp>
        <p:nvSpPr>
          <p:cNvPr id="5" name="Seta para a direita 4"/>
          <p:cNvSpPr/>
          <p:nvPr/>
        </p:nvSpPr>
        <p:spPr>
          <a:xfrm>
            <a:off x="7668344" y="404664"/>
            <a:ext cx="792088" cy="7200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26937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solidFill>
                  <a:srgbClr val="C00000"/>
                </a:solidFill>
              </a:rPr>
              <a:t>IPI</a:t>
            </a:r>
            <a:endParaRPr lang="pt-BR" b="1" dirty="0">
              <a:solidFill>
                <a:srgbClr val="C00000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Fato gerador do IPI é</a:t>
            </a:r>
            <a:r>
              <a:rPr lang="pt-BR" dirty="0" smtClean="0"/>
              <a:t>: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1 – o desembaraço aduaneiro de produto de procedência estrangeira</a:t>
            </a:r>
            <a:r>
              <a:rPr lang="pt-BR" dirty="0" smtClean="0"/>
              <a:t>;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2 – a saída de produto do estabelecimento industrial, ou equiparado a industrial.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20C6F-523E-41A6-83D0-FB4C01696949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838516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</TotalTime>
  <Words>914</Words>
  <Application>Microsoft Office PowerPoint</Application>
  <PresentationFormat>Apresentação na tela (4:3)</PresentationFormat>
  <Paragraphs>133</Paragraphs>
  <Slides>17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18" baseType="lpstr">
      <vt:lpstr>Tema do Office</vt:lpstr>
      <vt:lpstr>IMPOSTOS FEDERAIS I</vt:lpstr>
      <vt:lpstr>Imposto de Renda Pessoa Física</vt:lpstr>
      <vt:lpstr>Imposto de Renda Pessoa Física</vt:lpstr>
      <vt:lpstr>Imposto de Renda Pessoa Física</vt:lpstr>
      <vt:lpstr>Imposto de Renda Pessoa Jurídica</vt:lpstr>
      <vt:lpstr>IOF</vt:lpstr>
      <vt:lpstr>IOF</vt:lpstr>
      <vt:lpstr>IOF</vt:lpstr>
      <vt:lpstr>IOF</vt:lpstr>
      <vt:lpstr>IOF</vt:lpstr>
      <vt:lpstr>IPI</vt:lpstr>
      <vt:lpstr>IPI</vt:lpstr>
      <vt:lpstr>IPI</vt:lpstr>
      <vt:lpstr>IPI</vt:lpstr>
      <vt:lpstr>IPI</vt:lpstr>
      <vt:lpstr>IPI</vt:lpstr>
      <vt:lpstr>IPI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Lúcia</dc:creator>
  <cp:lastModifiedBy>Lúcia</cp:lastModifiedBy>
  <cp:revision>147</cp:revision>
  <dcterms:created xsi:type="dcterms:W3CDTF">2018-10-18T01:18:32Z</dcterms:created>
  <dcterms:modified xsi:type="dcterms:W3CDTF">2018-11-22T18:53:28Z</dcterms:modified>
</cp:coreProperties>
</file>