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86"/>
  </p:notesMasterIdLst>
  <p:sldIdLst>
    <p:sldId id="256" r:id="rId2"/>
    <p:sldId id="368" r:id="rId3"/>
    <p:sldId id="381" r:id="rId4"/>
    <p:sldId id="723" r:id="rId5"/>
    <p:sldId id="732" r:id="rId6"/>
    <p:sldId id="724" r:id="rId7"/>
    <p:sldId id="772" r:id="rId8"/>
    <p:sldId id="733" r:id="rId9"/>
    <p:sldId id="734" r:id="rId10"/>
    <p:sldId id="735" r:id="rId11"/>
    <p:sldId id="736" r:id="rId12"/>
    <p:sldId id="737" r:id="rId13"/>
    <p:sldId id="740" r:id="rId14"/>
    <p:sldId id="741" r:id="rId15"/>
    <p:sldId id="334" r:id="rId16"/>
    <p:sldId id="725" r:id="rId17"/>
    <p:sldId id="742" r:id="rId18"/>
    <p:sldId id="743" r:id="rId19"/>
    <p:sldId id="744" r:id="rId20"/>
    <p:sldId id="745" r:id="rId21"/>
    <p:sldId id="746" r:id="rId22"/>
    <p:sldId id="747" r:id="rId23"/>
    <p:sldId id="726" r:id="rId24"/>
    <p:sldId id="727" r:id="rId25"/>
    <p:sldId id="728" r:id="rId26"/>
    <p:sldId id="729" r:id="rId27"/>
    <p:sldId id="730" r:id="rId28"/>
    <p:sldId id="731" r:id="rId29"/>
    <p:sldId id="769" r:id="rId30"/>
    <p:sldId id="770" r:id="rId31"/>
    <p:sldId id="771" r:id="rId32"/>
    <p:sldId id="712" r:id="rId33"/>
    <p:sldId id="717" r:id="rId34"/>
    <p:sldId id="718" r:id="rId35"/>
    <p:sldId id="748" r:id="rId36"/>
    <p:sldId id="773" r:id="rId37"/>
    <p:sldId id="774" r:id="rId38"/>
    <p:sldId id="261" r:id="rId39"/>
    <p:sldId id="775" r:id="rId40"/>
    <p:sldId id="776" r:id="rId41"/>
    <p:sldId id="777" r:id="rId42"/>
    <p:sldId id="778" r:id="rId43"/>
    <p:sldId id="779" r:id="rId44"/>
    <p:sldId id="780" r:id="rId45"/>
    <p:sldId id="781" r:id="rId46"/>
    <p:sldId id="782" r:id="rId47"/>
    <p:sldId id="783" r:id="rId48"/>
    <p:sldId id="784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749" r:id="rId57"/>
    <p:sldId id="750" r:id="rId58"/>
    <p:sldId id="785" r:id="rId59"/>
    <p:sldId id="751" r:id="rId60"/>
    <p:sldId id="752" r:id="rId61"/>
    <p:sldId id="753" r:id="rId62"/>
    <p:sldId id="390" r:id="rId63"/>
    <p:sldId id="754" r:id="rId64"/>
    <p:sldId id="755" r:id="rId65"/>
    <p:sldId id="756" r:id="rId66"/>
    <p:sldId id="757" r:id="rId67"/>
    <p:sldId id="371" r:id="rId68"/>
    <p:sldId id="372" r:id="rId69"/>
    <p:sldId id="373" r:id="rId70"/>
    <p:sldId id="374" r:id="rId71"/>
    <p:sldId id="375" r:id="rId72"/>
    <p:sldId id="376" r:id="rId73"/>
    <p:sldId id="377" r:id="rId74"/>
    <p:sldId id="378" r:id="rId75"/>
    <p:sldId id="379" r:id="rId76"/>
    <p:sldId id="392" r:id="rId77"/>
    <p:sldId id="300" r:id="rId78"/>
    <p:sldId id="329" r:id="rId79"/>
    <p:sldId id="787" r:id="rId80"/>
    <p:sldId id="788" r:id="rId81"/>
    <p:sldId id="789" r:id="rId82"/>
    <p:sldId id="790" r:id="rId83"/>
    <p:sldId id="791" r:id="rId84"/>
    <p:sldId id="350" r:id="rId8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D8805-BC06-4FDB-871C-39C96CB250BC}" type="datetimeFigureOut">
              <a:rPr lang="pt-BR" smtClean="0"/>
              <a:t>13/12/2019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F0169-A499-429C-93F7-A6276B82C3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378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F0169-A499-429C-93F7-A6276B82C34F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0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7D75D-D576-4073-81CC-01D344BF8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59B3F-1629-4986-A90A-36F76F3D1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4B4CE2-C079-4878-B541-2B3C865B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789434-43AD-4E7A-B85E-7F0421A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A6E05-7C5D-419D-8BEA-31B2D42F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65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16366-DF74-4FA1-87F9-BCE82739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3E85B4-EB0E-4F4C-8130-8C641F6A7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093864-CA73-4056-9DD5-D984BC38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D3CCFE-9998-4C61-8EB7-C00B1D7C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F051C1-BD7E-4EDB-B9C0-8EA178D2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22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896B7-365E-4343-AFDB-C2D71925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2DD7EC-CF7D-4C2C-938A-FDCA7DAAC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88053A-3452-4B35-98E7-87AC5536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3CD8DB-17D3-44B9-924C-9333DD4A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02E3B3-88D6-4ED2-A271-0FF6AA45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19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BD4CA-11B1-4AC7-9BFE-B2C6B00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DDC247-86D5-4B91-9846-4E679F9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7B299B-05B8-44FA-8017-3D39B5F6C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2C656-1E6C-41F5-9D52-F2089683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3AEBE5-9546-41EF-BB00-7251B147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10BF38-82FA-4804-8B3F-F4C67C5F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BF265-75D6-4672-BC24-8D87A3EE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2EB606-1605-481A-9F1A-DCBDDFB8B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C0F58C-F84A-499F-9BBF-1257E631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0DE486-1A49-4AA1-9366-8CF3764A8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EF02CC-2584-4027-8AE7-E0C1EC635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ECFAF6-D422-4ED6-B394-86AF4B98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D11A77-B8A4-4E39-85A0-7ABFFB00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0B29DD-5372-4821-84F3-328CCA3D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38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289DF-6AE6-4773-8AE4-A921E663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0D50CC-1F60-4350-A6D6-7AFB0C2B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B564AA-C712-4506-8B4C-035926AF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CE5FA5-5854-4A79-9AA0-0177AC3C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32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7A23D-B57D-4986-A415-3DC0A3E2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9E4748-1FE3-4D52-B3DE-A125D6EA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9D9CF7-9606-45BA-9F3C-1400075A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88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FB32C-AE95-414C-91ED-A5B65C85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421F4C-04CF-4D86-AF23-79707BC9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2C92B3-1051-4519-B179-CF378FFC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E5783B-FA11-41A0-AD04-1C675901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850DB2-931E-48EC-97D1-F4689E60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12276A-6131-4EA9-8820-5B995A0A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7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F43E2-1125-4ECD-BEAF-520F22E5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B2A3A4-EC6A-4BDF-B765-D8CB47F2F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D7CCAF-3B06-4935-83AE-9BFFCF5B1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4B5C8A-4316-41F5-86E2-D9BF1234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0A0542-3E79-4DD8-AB2B-7DFC2C5E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7966AA-60B0-494F-B6F0-7045695C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63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2D65E-053D-4B3A-B3A7-C4934067E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57B66A-8F7E-4E5A-801C-1DFFE7890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49CCFD-2AFC-4DA7-8203-FC997A27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CFAD84-3487-4C54-A4E6-C0ADFA75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A90F6-2833-4F2D-BFCC-F49F5CC5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89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3B0D8D-6E47-4E53-BEA8-E610F4B5A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EDDED4-1480-415C-ABED-19C2F9ED6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977CDA-5296-4AF2-B7EB-AD3698E1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50BE20-C03C-4480-8CA9-C873BF82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735FAD-8E00-472D-A038-606F2161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88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40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60EED8-CE80-4E1A-B32E-AD441F14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5FF44E-346C-4D94-8304-211018F07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FAE4DC-F692-4BF6-98CC-7D074AAA5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D3C01-ECD7-4651-8210-D1C129421E03}" type="datetimeFigureOut">
              <a:rPr lang="pt-BR" smtClean="0"/>
              <a:pPr/>
              <a:t>13/12/2019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166352-969D-4BBD-8437-750406AAE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E7FFB-3223-43FC-AA96-A66E30A2E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6AF08-8380-4124-927A-7078E7968C7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4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2204864"/>
            <a:ext cx="7920880" cy="1122532"/>
          </a:xfrm>
        </p:spPr>
        <p:txBody>
          <a:bodyPr>
            <a:noAutofit/>
          </a:bodyPr>
          <a:lstStyle/>
          <a:p>
            <a:pPr algn="ctr"/>
            <a:r>
              <a:rPr lang="pt-BR" sz="6000" dirty="0"/>
              <a:t>Planejamento Tributário </a:t>
            </a:r>
            <a:r>
              <a:rPr lang="pt-BR" sz="6000"/>
              <a:t>na Prática</a:t>
            </a:r>
            <a:endParaRPr lang="pt-BR" sz="6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Mestrando Fábio Andrade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Currículo resumido do Professor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Professor Fábio Andrade da Silva, Graduado em Ciências Contábeis pela Universidade da Amazônia, Pós-graduação em Gestão de Tributos pela Faculdade Ideal e MBA em Gestão Financeira, Controladoria e Auditoria pela Fundação Getúlio Vargas, Cursando Pós graduação em Gestão de Aprendizado no Ensino Superior pela Faculdade da Amazônia e Cursando Mestrado em Ciências da Educação na Universidade de Assunção.</a:t>
            </a:r>
          </a:p>
          <a:p>
            <a:pPr algn="just"/>
            <a:r>
              <a:rPr lang="pt-BR" dirty="0"/>
              <a:t>Atua como Palestrante, professor em cursos Técnicos, cursos de Graduação, Pós Graduação, e tendo seu próprio escritório, Presta serviços contábeis e de consultoria a diversas empresas. </a:t>
            </a:r>
          </a:p>
          <a:p>
            <a:pPr algn="just"/>
            <a:r>
              <a:rPr lang="pt-BR" dirty="0"/>
              <a:t>Atua como Presidente da Comissão de planejamento tributário no conselho de contabilidade do Pará (CRC-PA)</a:t>
            </a:r>
          </a:p>
        </p:txBody>
      </p:sp>
    </p:spTree>
    <p:extLst>
      <p:ext uri="{BB962C8B-B14F-4D97-AF65-F5344CB8AC3E}">
        <p14:creationId xmlns:p14="http://schemas.microsoft.com/office/powerpoint/2010/main" val="408250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C163C2-902A-44AD-B476-93958D987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340769"/>
            <a:ext cx="7772870" cy="4450432"/>
          </a:xfrm>
        </p:spPr>
        <p:txBody>
          <a:bodyPr>
            <a:normAutofit/>
          </a:bodyPr>
          <a:lstStyle/>
          <a:p>
            <a:pPr algn="ctr"/>
            <a:r>
              <a:rPr lang="pt-BR" sz="4500" dirty="0"/>
              <a:t>O primeiro dever da inteligência é desconfiar dela mesma.</a:t>
            </a:r>
          </a:p>
          <a:p>
            <a:pPr algn="ctr"/>
            <a:r>
              <a:rPr lang="pt-BR" sz="4500" dirty="0"/>
              <a:t>Albert Einstein</a:t>
            </a:r>
          </a:p>
        </p:txBody>
      </p:sp>
    </p:spTree>
    <p:extLst>
      <p:ext uri="{BB962C8B-B14F-4D97-AF65-F5344CB8AC3E}">
        <p14:creationId xmlns:p14="http://schemas.microsoft.com/office/powerpoint/2010/main" val="119380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F093C-2997-4529-A9EE-26D60657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404665"/>
            <a:ext cx="6798734" cy="1224136"/>
          </a:xfrm>
        </p:spPr>
        <p:txBody>
          <a:bodyPr/>
          <a:lstStyle/>
          <a:p>
            <a:r>
              <a:rPr lang="pt-BR" dirty="0"/>
              <a:t>A importante decisão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89D2D7-F74E-448E-ADDF-0210DAAF3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628801"/>
            <a:ext cx="7772870" cy="4162399"/>
          </a:xfrm>
        </p:spPr>
        <p:txBody>
          <a:bodyPr>
            <a:noAutofit/>
          </a:bodyPr>
          <a:lstStyle/>
          <a:p>
            <a:pPr algn="just"/>
            <a:r>
              <a:rPr lang="pt-BR" sz="3500" dirty="0"/>
              <a:t>Um grande decisão deve ser tomada anualmente pelos profissionais da contabilidade, é claro que estamos falando dos regimes tributários:</a:t>
            </a:r>
          </a:p>
          <a:p>
            <a:pPr algn="just"/>
            <a:r>
              <a:rPr lang="pt-BR" sz="3500" dirty="0"/>
              <a:t>1 – Simples Nacional</a:t>
            </a:r>
          </a:p>
          <a:p>
            <a:pPr algn="just"/>
            <a:r>
              <a:rPr lang="pt-BR" sz="3500" dirty="0"/>
              <a:t>2 – Lucro Presumido</a:t>
            </a:r>
          </a:p>
          <a:p>
            <a:pPr algn="just"/>
            <a:r>
              <a:rPr lang="pt-BR" sz="3500" dirty="0"/>
              <a:t>3 – Lucro Real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DD3126-4333-4E42-B781-107901610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412777"/>
            <a:ext cx="770262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BFCCE6-85C0-46AF-872F-58EE1686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500" dirty="0"/>
              <a:t>“Você não é pago pelo que você sabe. Você é pago pelo o que você faz com aquilo que sabe.”</a:t>
            </a:r>
          </a:p>
          <a:p>
            <a:pPr algn="ctr"/>
            <a:endParaRPr lang="pt-BR" sz="4500" dirty="0"/>
          </a:p>
          <a:p>
            <a:pPr algn="ctr"/>
            <a:r>
              <a:rPr lang="pt-BR" sz="4500" dirty="0"/>
              <a:t>Livro Seja FODA</a:t>
            </a:r>
          </a:p>
        </p:txBody>
      </p:sp>
    </p:spTree>
    <p:extLst>
      <p:ext uri="{BB962C8B-B14F-4D97-AF65-F5344CB8AC3E}">
        <p14:creationId xmlns:p14="http://schemas.microsoft.com/office/powerpoint/2010/main" val="420464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E4DE7-ADF6-4CAD-B772-BBAC5F02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b="1" dirty="0"/>
              <a:t>Pensar bem faz bem!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3FB2C2-0463-4261-9CF9-5F6FBA4CA3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Como </a:t>
            </a:r>
            <a:r>
              <a:rPr lang="pt-BR" sz="3500" dirty="0">
                <a:solidFill>
                  <a:srgbClr val="FF0000"/>
                </a:solidFill>
              </a:rPr>
              <a:t>não é permitida mudança de regime tributário </a:t>
            </a:r>
            <a:r>
              <a:rPr lang="pt-BR" sz="3500" dirty="0"/>
              <a:t>dentro do ano calendário, uma </a:t>
            </a:r>
            <a:r>
              <a:rPr lang="pt-BR" sz="3500" b="1" dirty="0"/>
              <a:t>mudança equivocada pode sabotar </a:t>
            </a:r>
            <a:r>
              <a:rPr lang="pt-BR" sz="3500" dirty="0"/>
              <a:t>financeiramente a empresa.</a:t>
            </a:r>
          </a:p>
        </p:txBody>
      </p:sp>
    </p:spTree>
    <p:extLst>
      <p:ext uri="{BB962C8B-B14F-4D97-AF65-F5344CB8AC3E}">
        <p14:creationId xmlns:p14="http://schemas.microsoft.com/office/powerpoint/2010/main" val="350830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EAD64-956B-4A12-8D94-8C4F33A3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Cuidado ao ser um “Especialista”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E8E03A-7C2C-457D-B81E-2509CB786D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“Se você dá uma opinião, e alguém a segue, você é moralmente obrigado a ser exposto às consequências do que falou”.</a:t>
            </a:r>
          </a:p>
          <a:p>
            <a:pPr algn="ctr"/>
            <a:r>
              <a:rPr lang="pt-BR" sz="3500" dirty="0" err="1"/>
              <a:t>Nassim</a:t>
            </a:r>
            <a:r>
              <a:rPr lang="pt-BR" sz="3500" dirty="0"/>
              <a:t> </a:t>
            </a:r>
            <a:r>
              <a:rPr lang="pt-BR" sz="3500" dirty="0" err="1"/>
              <a:t>Taleb</a:t>
            </a:r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263097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552BA-FCBA-49D4-8DD3-A49ECE5E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SIMPLES NACIONAL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3191F-0AC1-45EA-8711-B4C02120C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500" dirty="0"/>
              <a:t>A lei complementar 123 de 14/12/2006, também conhecida como lei geral da ME e EPP, instituiu o novo estatuto, novas definições e regras gerais de aplicação. </a:t>
            </a:r>
            <a:r>
              <a:rPr lang="pt-BR" sz="3500" dirty="0">
                <a:solidFill>
                  <a:srgbClr val="FF0000"/>
                </a:solidFill>
              </a:rPr>
              <a:t>O Simples Nacional é um regime tributário diferenciado, simplificado e favorecido</a:t>
            </a:r>
            <a:r>
              <a:rPr lang="pt-BR" sz="3500" dirty="0"/>
              <a:t>, aplicável às Microempresas e Empresas de Pequeno Porte a partir de 01/07/2007.</a:t>
            </a:r>
          </a:p>
          <a:p>
            <a:pPr algn="just"/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16021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552BA-FCBA-49D4-8DD3-A49ECE5E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Os tributos abrangidos pelo Simples Nacional São: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3191F-0AC1-45EA-8711-B4C02120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4784"/>
            <a:ext cx="7886700" cy="4692179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IRPJ: Imposto de renda Pessoa Jurídica </a:t>
            </a:r>
          </a:p>
          <a:p>
            <a:pPr lvl="0"/>
            <a:r>
              <a:rPr lang="pt-BR" dirty="0"/>
              <a:t>CSLL: Contribuição social sobre o lucro líquido</a:t>
            </a:r>
          </a:p>
          <a:p>
            <a:pPr lvl="0"/>
            <a:r>
              <a:rPr lang="pt-BR" dirty="0"/>
              <a:t>PIS: Programa de integração social</a:t>
            </a:r>
          </a:p>
          <a:p>
            <a:pPr lvl="0"/>
            <a:r>
              <a:rPr lang="pt-BR" dirty="0"/>
              <a:t>COFINS: Contribuição para o financiamento da seguridade Social</a:t>
            </a:r>
          </a:p>
          <a:p>
            <a:pPr lvl="0"/>
            <a:r>
              <a:rPr lang="pt-BR" dirty="0"/>
              <a:t>IPI: Imposto sobre produtos industrializados</a:t>
            </a:r>
          </a:p>
          <a:p>
            <a:pPr lvl="0"/>
            <a:r>
              <a:rPr lang="pt-BR" dirty="0"/>
              <a:t>INSS COTA PATRONAL: INSS da empresa</a:t>
            </a:r>
          </a:p>
          <a:p>
            <a:pPr lvl="0"/>
            <a:r>
              <a:rPr lang="pt-BR" dirty="0"/>
              <a:t>ISS : Imposto sobre serviços</a:t>
            </a:r>
          </a:p>
          <a:p>
            <a:pPr lvl="0"/>
            <a:r>
              <a:rPr lang="pt-BR" dirty="0"/>
              <a:t>ICMS: Imposto sobre operações relativas à circulação de mercadorias e sobre prestações de serviços de transporte interestadual, intermunicipal e de comunicação.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Artigo 13 da Lei Complementar 123/06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48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Lucro Presumido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lucro presumido é uma forma de tributação </a:t>
            </a:r>
            <a:r>
              <a:rPr lang="pt-BR" sz="3500" dirty="0">
                <a:solidFill>
                  <a:srgbClr val="FF0000"/>
                </a:solidFill>
              </a:rPr>
              <a:t>simplificada para determinação da base de cálculo do imposto de renda e da CSLL </a:t>
            </a:r>
            <a:r>
              <a:rPr lang="pt-BR" sz="3500" dirty="0"/>
              <a:t>das pessoas jurídicas que não estiverem obrigadas, no ano-calendário, à apuração do lucro real.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Lucro Presumido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lucro presumido utiliza </a:t>
            </a:r>
            <a:r>
              <a:rPr lang="pt-BR" sz="3500" dirty="0">
                <a:solidFill>
                  <a:srgbClr val="FF0000"/>
                </a:solidFill>
              </a:rPr>
              <a:t>resultado estimado</a:t>
            </a:r>
            <a:r>
              <a:rPr lang="pt-BR" sz="3500" dirty="0"/>
              <a:t> (presumido), determinado </a:t>
            </a:r>
            <a:r>
              <a:rPr lang="pt-BR" sz="3500" dirty="0">
                <a:solidFill>
                  <a:srgbClr val="FF0000"/>
                </a:solidFill>
              </a:rPr>
              <a:t>através de percentuais definidos </a:t>
            </a:r>
            <a:r>
              <a:rPr lang="pt-BR" sz="3500" dirty="0"/>
              <a:t>em lei, o imposto de renda e a contribuição são devidos trimestralmente. 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Lucro Presumido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b="1" dirty="0"/>
              <a:t>Receita Bruta da atividade x Percentual: Lucro Presumido</a:t>
            </a:r>
            <a:endParaRPr lang="pt-BR" sz="3500" dirty="0"/>
          </a:p>
          <a:p>
            <a:pPr algn="ctr"/>
            <a:r>
              <a:rPr lang="pt-BR" sz="3500" b="1" dirty="0"/>
              <a:t>Lucro Presumido x Alíquota = Imposto de renda e CSLL devidos</a:t>
            </a:r>
            <a:r>
              <a:rPr lang="pt-BR" sz="3500" dirty="0"/>
              <a:t>.</a:t>
            </a:r>
          </a:p>
          <a:p>
            <a:pPr algn="ctr"/>
            <a:endParaRPr lang="pt-BR" sz="3500" dirty="0"/>
          </a:p>
          <a:p>
            <a:pPr algn="ctr"/>
            <a:r>
              <a:rPr lang="pt-BR" sz="3500" b="1" dirty="0">
                <a:solidFill>
                  <a:srgbClr val="FF0000"/>
                </a:solidFill>
              </a:rPr>
              <a:t>Art. 220 do Decreto 9.580/18 - Alíquotas</a:t>
            </a:r>
          </a:p>
          <a:p>
            <a:pPr algn="ctr"/>
            <a:endParaRPr lang="pt-BR" sz="3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476673"/>
            <a:ext cx="7920880" cy="1296144"/>
          </a:xfrm>
        </p:spPr>
        <p:txBody>
          <a:bodyPr>
            <a:normAutofit/>
          </a:bodyPr>
          <a:lstStyle/>
          <a:p>
            <a:pPr algn="ctr"/>
            <a:r>
              <a:rPr lang="pt-BR" sz="2500" b="1" dirty="0"/>
              <a:t>Percentuais de presunção.</a:t>
            </a:r>
            <a:br>
              <a:rPr lang="pt-BR" sz="2500" dirty="0"/>
            </a:br>
            <a:r>
              <a:rPr lang="pt-BR" sz="2500" b="1" dirty="0">
                <a:solidFill>
                  <a:srgbClr val="FF0000"/>
                </a:solidFill>
              </a:rPr>
              <a:t>Art. 220 do Decreto 9.580/18 - Alíquotas</a:t>
            </a:r>
            <a:br>
              <a:rPr lang="pt-BR" sz="2500" b="1" dirty="0">
                <a:solidFill>
                  <a:srgbClr val="FF0000"/>
                </a:solidFill>
              </a:rPr>
            </a:br>
            <a:endParaRPr lang="pt-BR" sz="2500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186006"/>
              </p:ext>
            </p:extLst>
          </p:nvPr>
        </p:nvGraphicFramePr>
        <p:xfrm>
          <a:off x="980145" y="1340768"/>
          <a:ext cx="718371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75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IRPJ - Atividades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IRPJ - Alíquotas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752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Comercial, Industrial, Transporte de carga, Serviços Hospitalares </a:t>
                      </a:r>
                      <a:r>
                        <a:rPr lang="pt-BR" sz="2000" b="1" kern="1200" dirty="0">
                          <a:solidFill>
                            <a:schemeClr val="dk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 de auxílio diagnóstico e terapia, patologia clínica, </a:t>
                      </a:r>
                      <a:r>
                        <a:rPr lang="pt-BR" sz="2000" b="1" kern="1200" dirty="0" err="1">
                          <a:solidFill>
                            <a:schemeClr val="dk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imagenologia</a:t>
                      </a:r>
                      <a:r>
                        <a:rPr lang="pt-BR" sz="2000" b="1" kern="1200" dirty="0">
                          <a:solidFill>
                            <a:schemeClr val="dk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 anatomia patológica e </a:t>
                      </a:r>
                      <a:r>
                        <a:rPr lang="pt-BR" sz="2000" b="1" kern="1200" dirty="0" err="1">
                          <a:solidFill>
                            <a:schemeClr val="dk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citopatologia</a:t>
                      </a:r>
                      <a:r>
                        <a:rPr lang="pt-BR" sz="2000" b="1" kern="1200" dirty="0">
                          <a:solidFill>
                            <a:schemeClr val="dk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 medicina nuclear e análises e patologias clínicas</a:t>
                      </a: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8%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376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Revendas, para consumo, Combustível derivado de petróleo, álcool etílico carburante e gás natural.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1,6%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Prestação de Serviços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88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Empresas que faturam até R$ 120.000,00 no ano.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16%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Serviços em geral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32%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Transporte (exceto os de carga)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16%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548681"/>
            <a:ext cx="7975798" cy="1512167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Percentuais de presunção.</a:t>
            </a:r>
            <a:br>
              <a:rPr lang="pt-BR" b="1" dirty="0"/>
            </a:br>
            <a:r>
              <a:rPr lang="pt-BR" b="1" dirty="0">
                <a:solidFill>
                  <a:srgbClr val="FF0000"/>
                </a:solidFill>
              </a:rPr>
              <a:t>Art. 220 do Decreto 9.580/18 - Alíquotas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935159"/>
              </p:ext>
            </p:extLst>
          </p:nvPr>
        </p:nvGraphicFramePr>
        <p:xfrm>
          <a:off x="628650" y="2373117"/>
          <a:ext cx="7886700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CSLL - Atividades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CSLL - Aliquotas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Times New Roman"/>
                          <a:cs typeface="Times New Roman"/>
                        </a:rPr>
                        <a:t>Pessoas Jurídicas em geral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12 %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Prestação de serviços (exceto hospitalares), intermediação de negócios, administração, locação ou cessão de bens imóveis, móveis e direitos de qualquer natureza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latin typeface="Times New Roman"/>
                          <a:cs typeface="Times New Roman"/>
                        </a:rPr>
                        <a:t>32%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72429" marR="7242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BDABE-13E2-4A19-9D84-552E44A9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E as outras receitas não abrangidas?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886ECB-2E4C-484E-AC27-6F887A54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500" dirty="0"/>
              <a:t>Art. 222.  Os ganhos de capital, as demais receitas e os resultados positivos decorrentes de </a:t>
            </a:r>
            <a:r>
              <a:rPr lang="pt-BR" sz="3500" dirty="0">
                <a:solidFill>
                  <a:srgbClr val="FF0000"/>
                </a:solidFill>
              </a:rPr>
              <a:t>receitas não abrangidas </a:t>
            </a:r>
            <a:r>
              <a:rPr lang="pt-BR" sz="3500" dirty="0"/>
              <a:t>pelo art. 208 </a:t>
            </a:r>
            <a:r>
              <a:rPr lang="pt-BR" sz="3500" dirty="0">
                <a:solidFill>
                  <a:srgbClr val="FF0000"/>
                </a:solidFill>
              </a:rPr>
              <a:t>serão acrescidos à base de cálculo </a:t>
            </a:r>
            <a:r>
              <a:rPr lang="pt-BR" sz="3500" dirty="0"/>
              <a:t>de que trata esta Subseção, para efeito de incidência do imposto sobre a renda.</a:t>
            </a:r>
          </a:p>
        </p:txBody>
      </p:sp>
    </p:spTree>
    <p:extLst>
      <p:ext uri="{BB962C8B-B14F-4D97-AF65-F5344CB8AC3E}">
        <p14:creationId xmlns:p14="http://schemas.microsoft.com/office/powerpoint/2010/main" val="391506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6746F-07F5-465D-8126-E5A52457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476673"/>
            <a:ext cx="6798734" cy="936103"/>
          </a:xfrm>
        </p:spPr>
        <p:txBody>
          <a:bodyPr>
            <a:normAutofit/>
          </a:bodyPr>
          <a:lstStyle/>
          <a:p>
            <a:r>
              <a:rPr lang="pt-BR" dirty="0"/>
              <a:t>E as outras receitas não abrangidas?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A20489-8D57-4C1B-85CF-D5ADD72ABC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628801"/>
            <a:ext cx="7772870" cy="4162400"/>
          </a:xfrm>
        </p:spPr>
        <p:txBody>
          <a:bodyPr>
            <a:noAutofit/>
          </a:bodyPr>
          <a:lstStyle/>
          <a:p>
            <a:pPr algn="just"/>
            <a:r>
              <a:rPr lang="pt-BR" sz="3000" dirty="0"/>
              <a:t>Art. 208. A receita bruta compreende :</a:t>
            </a:r>
          </a:p>
          <a:p>
            <a:pPr algn="just"/>
            <a:r>
              <a:rPr lang="pt-BR" sz="3000" dirty="0"/>
              <a:t>I - o produto da venda de bens nas operações de conta própria;</a:t>
            </a:r>
          </a:p>
          <a:p>
            <a:pPr algn="just"/>
            <a:r>
              <a:rPr lang="pt-BR" sz="3000" dirty="0"/>
              <a:t>II - o preço da prestação de serviços em geral;</a:t>
            </a:r>
          </a:p>
          <a:p>
            <a:pPr algn="just"/>
            <a:r>
              <a:rPr lang="pt-BR" sz="3000" dirty="0"/>
              <a:t>III - o resultado auferido nas operações de conta alheia; e</a:t>
            </a:r>
          </a:p>
          <a:p>
            <a:pPr algn="just"/>
            <a:r>
              <a:rPr lang="pt-BR" sz="3000" dirty="0"/>
              <a:t>IV - as receitas da atividade ou do objeto principal da pessoa jurídica não compreendidas no inciso I ao inciso III do </a:t>
            </a:r>
            <a:r>
              <a:rPr lang="pt-BR" sz="3000" b="1" dirty="0"/>
              <a:t>caput</a:t>
            </a:r>
            <a:endParaRPr lang="pt-BR" sz="3000" dirty="0"/>
          </a:p>
          <a:p>
            <a:pPr algn="just"/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32698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Imposto de Renda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“A coisa mais dura de entender no mundo é o imposto de renda”                                                        </a:t>
            </a:r>
          </a:p>
          <a:p>
            <a:pPr algn="ctr"/>
            <a:endParaRPr lang="pt-BR" sz="3500" dirty="0"/>
          </a:p>
          <a:p>
            <a:pPr algn="ctr">
              <a:buNone/>
            </a:pPr>
            <a:r>
              <a:rPr lang="pt-BR" sz="3500" dirty="0"/>
              <a:t>Albert Einstein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Imposto de Renda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imposto sobre a renda e proventos de qualquer natureza é um </a:t>
            </a:r>
            <a:r>
              <a:rPr lang="pt-BR" sz="3500" dirty="0">
                <a:solidFill>
                  <a:srgbClr val="FF0000"/>
                </a:solidFill>
              </a:rPr>
              <a:t>imposto direto</a:t>
            </a:r>
            <a:r>
              <a:rPr lang="pt-BR" sz="3500" dirty="0"/>
              <a:t>, de natureza fiscal e de competência da União, esse imposto tem como </a:t>
            </a:r>
            <a:r>
              <a:rPr lang="pt-BR" sz="3500" dirty="0">
                <a:solidFill>
                  <a:srgbClr val="FF0000"/>
                </a:solidFill>
              </a:rPr>
              <a:t>fato gerador a aquisição de disponibilidade econômica</a:t>
            </a:r>
            <a:r>
              <a:rPr lang="pt-BR" sz="3500" dirty="0"/>
              <a:t>. O imposto em questão é regulado pelo </a:t>
            </a:r>
            <a:r>
              <a:rPr lang="pt-BR" sz="3500" dirty="0">
                <a:solidFill>
                  <a:srgbClr val="FF0000"/>
                </a:solidFill>
              </a:rPr>
              <a:t>Decreto 9.580/18 e possui 1050 artigos e 410 páginas</a:t>
            </a:r>
            <a:r>
              <a:rPr lang="pt-BR" sz="3500" dirty="0"/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Imposto de Renda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imposto de renda </a:t>
            </a:r>
            <a:r>
              <a:rPr lang="pt-BR" sz="3500" dirty="0">
                <a:solidFill>
                  <a:srgbClr val="FF0000"/>
                </a:solidFill>
              </a:rPr>
              <a:t>atinge tanto as pessoas físicas quanto jurídicas</a:t>
            </a:r>
            <a:r>
              <a:rPr lang="pt-BR" sz="3500" dirty="0"/>
              <a:t>, no tocante a </a:t>
            </a:r>
            <a:r>
              <a:rPr lang="pt-BR" sz="3500" dirty="0">
                <a:solidFill>
                  <a:srgbClr val="FF0000"/>
                </a:solidFill>
              </a:rPr>
              <a:t>pessoas físicas</a:t>
            </a:r>
            <a:r>
              <a:rPr lang="pt-BR" sz="3500" dirty="0"/>
              <a:t>, a base de cálculo </a:t>
            </a:r>
            <a:r>
              <a:rPr lang="pt-BR" sz="3500" dirty="0">
                <a:solidFill>
                  <a:srgbClr val="FF0000"/>
                </a:solidFill>
              </a:rPr>
              <a:t>são os seus rendimentos</a:t>
            </a:r>
            <a:r>
              <a:rPr lang="pt-BR" sz="3500" dirty="0"/>
              <a:t>, quando tratamos da </a:t>
            </a:r>
            <a:r>
              <a:rPr lang="pt-BR" sz="3500" dirty="0">
                <a:solidFill>
                  <a:srgbClr val="FF0000"/>
                </a:solidFill>
              </a:rPr>
              <a:t>pessoa jurídica</a:t>
            </a:r>
            <a:r>
              <a:rPr lang="pt-BR" sz="3500" dirty="0"/>
              <a:t>, a base de cálculo é o </a:t>
            </a:r>
            <a:r>
              <a:rPr lang="pt-BR" sz="3500" dirty="0">
                <a:solidFill>
                  <a:srgbClr val="FF0000"/>
                </a:solidFill>
              </a:rPr>
              <a:t>seu lucro</a:t>
            </a:r>
            <a:r>
              <a:rPr lang="pt-BR" sz="3500" dirty="0"/>
              <a:t>.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764704"/>
          </a:xfrm>
        </p:spPr>
        <p:txBody>
          <a:bodyPr/>
          <a:lstStyle/>
          <a:p>
            <a:pPr algn="ctr"/>
            <a:r>
              <a:rPr lang="pt-BR" dirty="0"/>
              <a:t>Quadro Resumo</a:t>
            </a: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077312"/>
              </p:ext>
            </p:extLst>
          </p:nvPr>
        </p:nvGraphicFramePr>
        <p:xfrm>
          <a:off x="645209" y="620688"/>
          <a:ext cx="7886700" cy="611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38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Tributo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Times New Roman"/>
                          <a:cs typeface="Times New Roman"/>
                        </a:rPr>
                        <a:t>Imposto sobre a renda e proventos de qualquer natureza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1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Espécie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Times New Roman"/>
                          <a:cs typeface="Times New Roman"/>
                        </a:rPr>
                        <a:t>Imposto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51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Competência 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União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51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Fato gerador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Times New Roman"/>
                          <a:cs typeface="Times New Roman"/>
                        </a:rPr>
                        <a:t>Aquisição disponibilidade econômica.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Base de cálculo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É o montante real, presumido ou arbitrado da renda auferida ou proventos tributáveis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0159"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Times New Roman"/>
                          <a:cs typeface="Times New Roman"/>
                        </a:rPr>
                        <a:t>Aliquotas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Pessoas físicas: de 15% a 27,5% evidenciado na tabela progressiva.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Pessoas Jurídicas: 15% sobre o lucro das empresas mais o adicional de 10% sobre a parcela do lucro que exceder R$ 20.000,00 mensais.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516"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Times New Roman"/>
                          <a:cs typeface="Times New Roman"/>
                        </a:rPr>
                        <a:t>Base legal</a:t>
                      </a:r>
                      <a:endParaRPr lang="pt-BR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Decreto 9.580/18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386"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Onde encontro informações?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Times New Roman"/>
                          <a:cs typeface="Times New Roman"/>
                        </a:rPr>
                        <a:t>No site da receita federal, no endereço www.receita.fazenda.gov.br</a:t>
                      </a:r>
                      <a:endParaRPr lang="pt-BR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Imposto de Renda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484784"/>
            <a:ext cx="7886700" cy="4692179"/>
          </a:xfrm>
        </p:spPr>
        <p:txBody>
          <a:bodyPr>
            <a:noAutofit/>
          </a:bodyPr>
          <a:lstStyle/>
          <a:p>
            <a:pPr algn="just"/>
            <a:r>
              <a:rPr lang="pt-BR" sz="2800" dirty="0"/>
              <a:t>O IRPJ é calculado mediante a aplicação da </a:t>
            </a:r>
            <a:r>
              <a:rPr lang="pt-BR" sz="2800" dirty="0">
                <a:solidFill>
                  <a:srgbClr val="FF0000"/>
                </a:solidFill>
              </a:rPr>
              <a:t>alíquota de 15% sobre o lucro tributável</a:t>
            </a:r>
            <a:r>
              <a:rPr lang="pt-BR" sz="2800" dirty="0"/>
              <a:t>, apurado nas modalidades de lucro real, presumido ou lucro arbitrado, </a:t>
            </a:r>
            <a:r>
              <a:rPr lang="pt-BR" sz="2800" dirty="0">
                <a:solidFill>
                  <a:srgbClr val="FF0000"/>
                </a:solidFill>
              </a:rPr>
              <a:t>e 10% sobre o adicional</a:t>
            </a:r>
            <a:r>
              <a:rPr lang="pt-BR" sz="2800" dirty="0"/>
              <a:t>. </a:t>
            </a:r>
          </a:p>
          <a:p>
            <a:pPr algn="just"/>
            <a:r>
              <a:rPr lang="pt-BR" sz="2800" dirty="0"/>
              <a:t>Decreto 9.580, Art. 225. O imposto sobre a renda a ser pago mensalmente será determinado por meio da aplicação, sobre a base de cálculo, da alíquota de quinze por cento.</a:t>
            </a:r>
          </a:p>
          <a:p>
            <a:pPr algn="just"/>
            <a:r>
              <a:rPr lang="pt-BR" sz="2800" dirty="0"/>
              <a:t>Parágrafo único. A parcela da base de cálculo, apurada mensalmente, que exceder a </a:t>
            </a:r>
            <a:r>
              <a:rPr lang="pt-BR" sz="2800" dirty="0">
                <a:solidFill>
                  <a:srgbClr val="FF0000"/>
                </a:solidFill>
              </a:rPr>
              <a:t>R$ 20.000,00 (vinte mil reais) ficará sujeita à incidência de adicional do imposto</a:t>
            </a:r>
            <a:r>
              <a:rPr lang="pt-BR" sz="2800" dirty="0"/>
              <a:t> sobre a renda à alíquota de dez por cento.</a:t>
            </a:r>
          </a:p>
          <a:p>
            <a:pPr algn="just"/>
            <a:endParaRPr lang="pt-BR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O que é o lucro real?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solidFill>
                  <a:srgbClr val="FF0000"/>
                </a:solidFill>
              </a:rPr>
              <a:t>Lucro real é o lucro líquido </a:t>
            </a:r>
            <a:r>
              <a:rPr lang="pt-BR" sz="2800" dirty="0"/>
              <a:t>do exercício apurado na escrituração comercial </a:t>
            </a:r>
            <a:r>
              <a:rPr lang="pt-BR" sz="2800" dirty="0">
                <a:solidFill>
                  <a:srgbClr val="FF0000"/>
                </a:solidFill>
              </a:rPr>
              <a:t>ajustado pelas adições, exclusões e compensações </a:t>
            </a:r>
            <a:r>
              <a:rPr lang="pt-BR" sz="2800" dirty="0"/>
              <a:t>previstas em lei. </a:t>
            </a:r>
          </a:p>
          <a:p>
            <a:pPr algn="just"/>
            <a:r>
              <a:rPr lang="pt-BR" sz="2800" dirty="0">
                <a:solidFill>
                  <a:srgbClr val="FF0000"/>
                </a:solidFill>
              </a:rPr>
              <a:t>Todas as despesas </a:t>
            </a:r>
            <a:r>
              <a:rPr lang="pt-BR" sz="2800" dirty="0"/>
              <a:t>da companhia, independente de sua dedutibilidade, </a:t>
            </a:r>
            <a:r>
              <a:rPr lang="pt-BR" sz="2800" dirty="0">
                <a:solidFill>
                  <a:srgbClr val="FF0000"/>
                </a:solidFill>
              </a:rPr>
              <a:t>serão apuradas na demonstração do resultado</a:t>
            </a:r>
            <a:r>
              <a:rPr lang="pt-BR" sz="2800" dirty="0"/>
              <a:t> do exercício (DRE), porém, </a:t>
            </a:r>
            <a:r>
              <a:rPr lang="pt-BR" sz="2800" dirty="0">
                <a:solidFill>
                  <a:srgbClr val="FF0000"/>
                </a:solidFill>
              </a:rPr>
              <a:t>aquelas consideradas indedutíveis serão oferecidas a tributação</a:t>
            </a:r>
            <a:r>
              <a:rPr lang="pt-BR" sz="2800" dirty="0"/>
              <a:t>.</a:t>
            </a:r>
          </a:p>
          <a:p>
            <a:pPr algn="just"/>
            <a:r>
              <a:rPr lang="pt-BR" sz="2800" dirty="0"/>
              <a:t>Art. 258. O lucro real é o lucro líquido do período de apuração ajustado pelas adições, exclusões ou compensações prescritas ou autorizadas por este Regulamento.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9E60C-705B-46F8-A146-63D47A13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Planejamento Tributário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617281-C1E8-46BB-B3AA-6BF03CCC77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Indicador de Opção:</a:t>
            </a:r>
          </a:p>
          <a:p>
            <a:pPr algn="ctr"/>
            <a:r>
              <a:rPr lang="pt-BR" sz="3500" b="1" dirty="0"/>
              <a:t>Alta Rentabilidade</a:t>
            </a:r>
            <a:r>
              <a:rPr lang="pt-BR" sz="3500" dirty="0"/>
              <a:t> = O </a:t>
            </a:r>
            <a:r>
              <a:rPr lang="pt-BR" sz="3500" dirty="0">
                <a:solidFill>
                  <a:srgbClr val="FF0000"/>
                </a:solidFill>
              </a:rPr>
              <a:t>lucro Presumido</a:t>
            </a:r>
            <a:r>
              <a:rPr lang="pt-BR" sz="3500" dirty="0"/>
              <a:t> é a melhor opção</a:t>
            </a:r>
          </a:p>
          <a:p>
            <a:pPr algn="ctr"/>
            <a:r>
              <a:rPr lang="pt-BR" sz="3500" b="1" dirty="0"/>
              <a:t>Grandes Volumes de Receitas Financeiras </a:t>
            </a:r>
            <a:r>
              <a:rPr lang="pt-BR" sz="3500" dirty="0"/>
              <a:t>= </a:t>
            </a:r>
            <a:r>
              <a:rPr lang="pt-BR" sz="3500" dirty="0">
                <a:solidFill>
                  <a:srgbClr val="FF0000"/>
                </a:solidFill>
              </a:rPr>
              <a:t>Lucro Real </a:t>
            </a:r>
            <a:r>
              <a:rPr lang="pt-BR" sz="3500" dirty="0"/>
              <a:t>é a melhor opção.</a:t>
            </a:r>
          </a:p>
        </p:txBody>
      </p:sp>
    </p:spTree>
    <p:extLst>
      <p:ext uri="{BB962C8B-B14F-4D97-AF65-F5344CB8AC3E}">
        <p14:creationId xmlns:p14="http://schemas.microsoft.com/office/powerpoint/2010/main" val="3944560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59869-F7DC-482E-B1EE-9FC49DF4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Break Even Point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AF6EE5-83CD-4C42-B351-9D67613558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000" dirty="0"/>
              <a:t>Essa é uma </a:t>
            </a:r>
            <a:r>
              <a:rPr lang="pt-BR" sz="3000" dirty="0">
                <a:solidFill>
                  <a:srgbClr val="FF0000"/>
                </a:solidFill>
              </a:rPr>
              <a:t>metodologia</a:t>
            </a:r>
            <a:r>
              <a:rPr lang="pt-BR" sz="3000" dirty="0"/>
              <a:t> utilizada para a </a:t>
            </a:r>
            <a:r>
              <a:rPr lang="pt-BR" sz="3000" dirty="0">
                <a:solidFill>
                  <a:srgbClr val="FF0000"/>
                </a:solidFill>
              </a:rPr>
              <a:t>melhor definição</a:t>
            </a:r>
            <a:r>
              <a:rPr lang="pt-BR" sz="3000" dirty="0"/>
              <a:t> entre o Lucro presumido e o Lucro Real.</a:t>
            </a:r>
          </a:p>
          <a:p>
            <a:pPr algn="ctr"/>
            <a:endParaRPr lang="pt-BR" sz="3000" dirty="0"/>
          </a:p>
          <a:p>
            <a:pPr algn="ctr"/>
            <a:r>
              <a:rPr lang="pt-BR" sz="3000" dirty="0"/>
              <a:t>Fórmula: </a:t>
            </a:r>
          </a:p>
          <a:p>
            <a:pPr algn="ctr"/>
            <a:r>
              <a:rPr lang="pt-BR" sz="3000" dirty="0"/>
              <a:t>B.E. = (Carga tributária / Total das alíquotas) x 100</a:t>
            </a:r>
          </a:p>
        </p:txBody>
      </p:sp>
    </p:spTree>
    <p:extLst>
      <p:ext uri="{BB962C8B-B14F-4D97-AF65-F5344CB8AC3E}">
        <p14:creationId xmlns:p14="http://schemas.microsoft.com/office/powerpoint/2010/main" val="3982458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53165-956F-4903-AE3A-78520BEC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Um pouco mais de Dopamina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3FC4D-A99D-4422-94B3-8BE5D0A38A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Este </a:t>
            </a:r>
            <a:r>
              <a:rPr lang="pt-BR" sz="3500" dirty="0">
                <a:solidFill>
                  <a:srgbClr val="FF0000"/>
                </a:solidFill>
              </a:rPr>
              <a:t>sistema é exato se a empresa não esta sujeita ao adicional de IRPJ</a:t>
            </a:r>
            <a:r>
              <a:rPr lang="pt-BR" sz="3500" dirty="0"/>
              <a:t>, caso a empresa seja, o resultado é aproximado.</a:t>
            </a:r>
          </a:p>
        </p:txBody>
      </p:sp>
    </p:spTree>
    <p:extLst>
      <p:ext uri="{BB962C8B-B14F-4D97-AF65-F5344CB8AC3E}">
        <p14:creationId xmlns:p14="http://schemas.microsoft.com/office/powerpoint/2010/main" val="1337600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96365-3D8B-4BA5-A90A-6DEA156B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sem Adicional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1F4A8A9-88AF-4A68-8A46-78ECE637C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081304"/>
              </p:ext>
            </p:extLst>
          </p:nvPr>
        </p:nvGraphicFramePr>
        <p:xfrm>
          <a:off x="1319690" y="2492896"/>
          <a:ext cx="6504620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310">
                  <a:extLst>
                    <a:ext uri="{9D8B030D-6E8A-4147-A177-3AD203B41FA5}">
                      <a16:colId xmlns:a16="http://schemas.microsoft.com/office/drawing/2014/main" val="2374900887"/>
                    </a:ext>
                  </a:extLst>
                </a:gridCol>
                <a:gridCol w="3252310">
                  <a:extLst>
                    <a:ext uri="{9D8B030D-6E8A-4147-A177-3AD203B41FA5}">
                      <a16:colId xmlns:a16="http://schemas.microsoft.com/office/drawing/2014/main" val="2309500527"/>
                    </a:ext>
                  </a:extLst>
                </a:gridCol>
              </a:tblGrid>
              <a:tr h="540060"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ALIQUOTAS DOS TRIBUTOS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855091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IMPOSTO DE RENDA – IRPJ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4478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CONTRIBUIÇÃO SOCIAL - CSLL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7387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37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902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AE553-C3BD-445C-A648-7CA4BA21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sem Adicional</a:t>
            </a: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6BD17336-26C1-45AC-B9D1-49043FCD7B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39655117"/>
              </p:ext>
            </p:extLst>
          </p:nvPr>
        </p:nvGraphicFramePr>
        <p:xfrm>
          <a:off x="1475656" y="2797536"/>
          <a:ext cx="583041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28">
                  <a:extLst>
                    <a:ext uri="{9D8B030D-6E8A-4147-A177-3AD203B41FA5}">
                      <a16:colId xmlns:a16="http://schemas.microsoft.com/office/drawing/2014/main" val="174396078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101214471"/>
                    </a:ext>
                  </a:extLst>
                </a:gridCol>
                <a:gridCol w="361052">
                  <a:extLst>
                    <a:ext uri="{9D8B030D-6E8A-4147-A177-3AD203B41FA5}">
                      <a16:colId xmlns:a16="http://schemas.microsoft.com/office/drawing/2014/main" val="3560731446"/>
                    </a:ext>
                  </a:extLst>
                </a:gridCol>
                <a:gridCol w="756229">
                  <a:extLst>
                    <a:ext uri="{9D8B030D-6E8A-4147-A177-3AD203B41FA5}">
                      <a16:colId xmlns:a16="http://schemas.microsoft.com/office/drawing/2014/main" val="2151588983"/>
                    </a:ext>
                  </a:extLst>
                </a:gridCol>
                <a:gridCol w="2699143">
                  <a:extLst>
                    <a:ext uri="{9D8B030D-6E8A-4147-A177-3AD203B41FA5}">
                      <a16:colId xmlns:a16="http://schemas.microsoft.com/office/drawing/2014/main" val="365108262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PERCENTUAL LUCRO PRESUMIDO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39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SERVIÇOS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CARGA TRIB.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6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IRPJ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38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CSLL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2,88%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2140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7,68%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3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817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ECF93-E59B-45E4-AC7F-0E034EE9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sem Adicional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02C26-B9DF-41BE-A121-A4B3A2F7F5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Cálculo do Break Even</a:t>
            </a:r>
          </a:p>
          <a:p>
            <a:r>
              <a:rPr lang="pt-BR" dirty="0"/>
              <a:t>B.E. = (Carga tributária total / Total das alíquotas) x 100</a:t>
            </a:r>
          </a:p>
          <a:p>
            <a:r>
              <a:rPr lang="pt-BR" dirty="0"/>
              <a:t>B.E. = (7,68 / 24) x 100</a:t>
            </a:r>
          </a:p>
          <a:p>
            <a:r>
              <a:rPr lang="pt-BR" dirty="0"/>
              <a:t>B.E. = 32%</a:t>
            </a:r>
          </a:p>
          <a:p>
            <a:r>
              <a:rPr lang="pt-BR" dirty="0"/>
              <a:t>Fator: Receita Bruta x B.E.</a:t>
            </a:r>
          </a:p>
          <a:p>
            <a:r>
              <a:rPr lang="pt-BR" dirty="0"/>
              <a:t>Fator: Resultado &lt; Lucro Antes = Lucro Presumido</a:t>
            </a:r>
          </a:p>
          <a:p>
            <a:r>
              <a:rPr lang="pt-BR" dirty="0"/>
              <a:t>Fator: Resultado &gt; Lucro Antes = Lucro Real</a:t>
            </a:r>
          </a:p>
        </p:txBody>
      </p:sp>
    </p:spTree>
    <p:extLst>
      <p:ext uri="{BB962C8B-B14F-4D97-AF65-F5344CB8AC3E}">
        <p14:creationId xmlns:p14="http://schemas.microsoft.com/office/powerpoint/2010/main" val="2655011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96365-3D8B-4BA5-A90A-6DEA156B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com Adicional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1F4A8A9-88AF-4A68-8A46-78ECE637C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138058"/>
              </p:ext>
            </p:extLst>
          </p:nvPr>
        </p:nvGraphicFramePr>
        <p:xfrm>
          <a:off x="1115616" y="1988840"/>
          <a:ext cx="6504150" cy="2347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075">
                  <a:extLst>
                    <a:ext uri="{9D8B030D-6E8A-4147-A177-3AD203B41FA5}">
                      <a16:colId xmlns:a16="http://schemas.microsoft.com/office/drawing/2014/main" val="2374900887"/>
                    </a:ext>
                  </a:extLst>
                </a:gridCol>
                <a:gridCol w="3252075">
                  <a:extLst>
                    <a:ext uri="{9D8B030D-6E8A-4147-A177-3AD203B41FA5}">
                      <a16:colId xmlns:a16="http://schemas.microsoft.com/office/drawing/2014/main" val="2309500527"/>
                    </a:ext>
                  </a:extLst>
                </a:gridCol>
              </a:tblGrid>
              <a:tr h="586864">
                <a:tc gridSpan="2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ALIQUOTAS DOS TRIBUTOS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855091"/>
                  </a:ext>
                </a:extLst>
              </a:tr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IMPOSTO DE RENDA – IRPJ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44783"/>
                  </a:ext>
                </a:extLst>
              </a:tr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CONTRIBUIÇÃO SOCIAL - CSLL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7387"/>
                  </a:ext>
                </a:extLst>
              </a:tr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37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816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AE553-C3BD-445C-A648-7CA4BA21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com Adicional</a:t>
            </a: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6BD17336-26C1-45AC-B9D1-49043FCD7B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2103184"/>
              </p:ext>
            </p:extLst>
          </p:nvPr>
        </p:nvGraphicFramePr>
        <p:xfrm>
          <a:off x="1475656" y="2797536"/>
          <a:ext cx="583041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28">
                  <a:extLst>
                    <a:ext uri="{9D8B030D-6E8A-4147-A177-3AD203B41FA5}">
                      <a16:colId xmlns:a16="http://schemas.microsoft.com/office/drawing/2014/main" val="174396078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101214471"/>
                    </a:ext>
                  </a:extLst>
                </a:gridCol>
                <a:gridCol w="361052">
                  <a:extLst>
                    <a:ext uri="{9D8B030D-6E8A-4147-A177-3AD203B41FA5}">
                      <a16:colId xmlns:a16="http://schemas.microsoft.com/office/drawing/2014/main" val="3560731446"/>
                    </a:ext>
                  </a:extLst>
                </a:gridCol>
                <a:gridCol w="756229">
                  <a:extLst>
                    <a:ext uri="{9D8B030D-6E8A-4147-A177-3AD203B41FA5}">
                      <a16:colId xmlns:a16="http://schemas.microsoft.com/office/drawing/2014/main" val="2151588983"/>
                    </a:ext>
                  </a:extLst>
                </a:gridCol>
                <a:gridCol w="2699143">
                  <a:extLst>
                    <a:ext uri="{9D8B030D-6E8A-4147-A177-3AD203B41FA5}">
                      <a16:colId xmlns:a16="http://schemas.microsoft.com/office/drawing/2014/main" val="365108262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PERCENTUAL LUCRO PRESUMIDO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39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SERVIÇOS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CARGA TRIB.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6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IRPJ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38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CSLL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2,88%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2140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10,88%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3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168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ECF93-E59B-45E4-AC7F-0E034EE9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Metodologia Presumido x Real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Empresas com Adicional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02C26-B9DF-41BE-A121-A4B3A2F7F5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Cálculo do Break Even</a:t>
            </a:r>
          </a:p>
          <a:p>
            <a:r>
              <a:rPr lang="pt-BR" dirty="0"/>
              <a:t>B.E. = (Carga tributária total / Total das alíquotas) x 100</a:t>
            </a:r>
          </a:p>
          <a:p>
            <a:r>
              <a:rPr lang="pt-BR" dirty="0"/>
              <a:t>B.E. = (10,88 / 34) x 100</a:t>
            </a:r>
          </a:p>
          <a:p>
            <a:r>
              <a:rPr lang="pt-BR" dirty="0"/>
              <a:t>B.E. = 32%</a:t>
            </a:r>
          </a:p>
          <a:p>
            <a:r>
              <a:rPr lang="pt-BR" dirty="0"/>
              <a:t>Fator: Receita Bruta x B.E.</a:t>
            </a:r>
          </a:p>
          <a:p>
            <a:r>
              <a:rPr lang="pt-BR" dirty="0"/>
              <a:t>Fator: Resultado &lt; Lucro Antes = Lucro Presumido</a:t>
            </a:r>
          </a:p>
          <a:p>
            <a:r>
              <a:rPr lang="pt-BR" dirty="0"/>
              <a:t>Fator: Resultado &gt; Lucro Antes = Lucro Real</a:t>
            </a:r>
          </a:p>
        </p:txBody>
      </p:sp>
    </p:spTree>
    <p:extLst>
      <p:ext uri="{BB962C8B-B14F-4D97-AF65-F5344CB8AC3E}">
        <p14:creationId xmlns:p14="http://schemas.microsoft.com/office/powerpoint/2010/main" val="1838811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445F5AB-B41D-4B72-A959-F0A736286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17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5FA29-57EA-4CB0-B23D-CFE6A6DD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FÓRMULAS – LUCRO REAL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BB9553-630F-40B7-9695-D9F55BB8D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IR: LUCRO REAL X 15%</a:t>
            </a:r>
          </a:p>
          <a:p>
            <a:pPr algn="ctr"/>
            <a:r>
              <a:rPr lang="pt-BR" sz="3500" dirty="0"/>
              <a:t>IR ADICIONAL: [(LUCRO REAL – PARCELA ISENTA) x 10%]</a:t>
            </a:r>
          </a:p>
          <a:p>
            <a:pPr algn="ctr"/>
            <a:r>
              <a:rPr lang="pt-BR" sz="3500" dirty="0"/>
              <a:t>CSLL: LUCRO REAL x 9%</a:t>
            </a:r>
          </a:p>
          <a:p>
            <a:pPr algn="ctr"/>
            <a:r>
              <a:rPr lang="pt-BR" sz="3500" dirty="0"/>
              <a:t>COMPENSAÇÃO: [(LUCRO LIQUIDO + ADIÇÕES – EXCLUSÕES) x 30%] Decreto 9.580, Art. 261. Inciso III</a:t>
            </a:r>
          </a:p>
        </p:txBody>
      </p:sp>
    </p:spTree>
    <p:extLst>
      <p:ext uri="{BB962C8B-B14F-4D97-AF65-F5344CB8AC3E}">
        <p14:creationId xmlns:p14="http://schemas.microsoft.com/office/powerpoint/2010/main" val="3613460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5FA29-57EA-4CB0-B23D-CFE6A6DD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FÓRMULAS – LUCRO PRESUMIDO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BB9553-630F-40B7-9695-D9F55BB8D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IR: LUCRO PRESUMIDO X 15%</a:t>
            </a:r>
          </a:p>
          <a:p>
            <a:pPr algn="ctr"/>
            <a:r>
              <a:rPr lang="pt-BR" sz="3500" dirty="0"/>
              <a:t>IR ADICIONAL: [(LUCRO PRESUMIDO – 60.000,00) x 10%]</a:t>
            </a:r>
          </a:p>
          <a:p>
            <a:pPr algn="ctr"/>
            <a:r>
              <a:rPr lang="pt-BR" sz="3500" dirty="0"/>
              <a:t>CSLL: LUCRO PRESUMIDO x 9%</a:t>
            </a:r>
          </a:p>
        </p:txBody>
      </p:sp>
    </p:spTree>
    <p:extLst>
      <p:ext uri="{BB962C8B-B14F-4D97-AF65-F5344CB8AC3E}">
        <p14:creationId xmlns:p14="http://schemas.microsoft.com/office/powerpoint/2010/main" val="3557012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FDA70-8134-49C8-8D37-71AAD732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625"/>
            <a:ext cx="7886700" cy="720080"/>
          </a:xfrm>
        </p:spPr>
        <p:txBody>
          <a:bodyPr/>
          <a:lstStyle/>
          <a:p>
            <a:pPr algn="ctr"/>
            <a:r>
              <a:rPr lang="pt-BR" dirty="0"/>
              <a:t>O Sono da Razão Produz Monstros (Goya)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A01669D-B889-4B3F-8EB5-CEA8CD018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747457"/>
            <a:ext cx="6624736" cy="5781590"/>
          </a:xfrm>
        </p:spPr>
      </p:pic>
    </p:spTree>
    <p:extLst>
      <p:ext uri="{BB962C8B-B14F-4D97-AF65-F5344CB8AC3E}">
        <p14:creationId xmlns:p14="http://schemas.microsoft.com/office/powerpoint/2010/main" val="2644445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Como já sabemos, infelizmente, </a:t>
            </a:r>
            <a:r>
              <a:rPr lang="pt-BR" sz="3500" dirty="0">
                <a:solidFill>
                  <a:srgbClr val="FF0000"/>
                </a:solidFill>
              </a:rPr>
              <a:t>muitos tributos incidem sobre a receita das empresas, </a:t>
            </a:r>
            <a:r>
              <a:rPr lang="pt-BR" sz="3500" dirty="0"/>
              <a:t>as contribuições sobre as receitas são: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1 – Programa de Integração Social – PIS</a:t>
            </a:r>
          </a:p>
          <a:p>
            <a:pPr algn="just"/>
            <a:r>
              <a:rPr lang="pt-BR" sz="3500" dirty="0"/>
              <a:t>2 – Programa de formação do patrimônio do servidor Público – PASEP</a:t>
            </a:r>
          </a:p>
          <a:p>
            <a:pPr algn="just"/>
            <a:r>
              <a:rPr lang="pt-BR" sz="3500" dirty="0"/>
              <a:t>3 – Contribuição para o financiamento da seguridade Social – COFINS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Diferença entre </a:t>
            </a:r>
            <a:r>
              <a:rPr lang="pt-BR" dirty="0" err="1"/>
              <a:t>Pis</a:t>
            </a:r>
            <a:r>
              <a:rPr lang="pt-BR" dirty="0"/>
              <a:t> e </a:t>
            </a:r>
            <a:r>
              <a:rPr lang="pt-BR" dirty="0" err="1"/>
              <a:t>Pasep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000" dirty="0"/>
              <a:t>O Abono Salarial do </a:t>
            </a:r>
            <a:r>
              <a:rPr lang="pt-BR" sz="3000" dirty="0">
                <a:solidFill>
                  <a:srgbClr val="FF0000"/>
                </a:solidFill>
              </a:rPr>
              <a:t>PIS</a:t>
            </a:r>
            <a:r>
              <a:rPr lang="pt-BR" sz="3000" dirty="0"/>
              <a:t>, ou seja, dos empregados contratados segundo o </a:t>
            </a:r>
            <a:r>
              <a:rPr lang="pt-BR" sz="3000" dirty="0">
                <a:solidFill>
                  <a:srgbClr val="FF0000"/>
                </a:solidFill>
              </a:rPr>
              <a:t>regime CLT</a:t>
            </a:r>
            <a:r>
              <a:rPr lang="pt-BR" sz="3000" dirty="0"/>
              <a:t>, que trabalham registrados em carteira profissional nas pessoas jurídicas, </a:t>
            </a:r>
            <a:r>
              <a:rPr lang="pt-BR" sz="3000" dirty="0">
                <a:solidFill>
                  <a:srgbClr val="FF0000"/>
                </a:solidFill>
              </a:rPr>
              <a:t>é pago através da Caixa </a:t>
            </a:r>
            <a:r>
              <a:rPr lang="pt-BR" sz="3000" dirty="0"/>
              <a:t>Econômica Federal, que administra as contas dos empregados de empresas privadas. </a:t>
            </a:r>
            <a:r>
              <a:rPr lang="pt-BR" sz="3000" dirty="0">
                <a:solidFill>
                  <a:srgbClr val="FF0000"/>
                </a:solidFill>
              </a:rPr>
              <a:t>O PASEP</a:t>
            </a:r>
            <a:r>
              <a:rPr lang="pt-BR" sz="3000" dirty="0"/>
              <a:t>, que é pago aos </a:t>
            </a:r>
            <a:r>
              <a:rPr lang="pt-BR" sz="3000" dirty="0">
                <a:solidFill>
                  <a:srgbClr val="FF0000"/>
                </a:solidFill>
              </a:rPr>
              <a:t>servidores públicos </a:t>
            </a:r>
            <a:r>
              <a:rPr lang="pt-BR" sz="3000" dirty="0"/>
              <a:t>civis e militares, </a:t>
            </a:r>
            <a:r>
              <a:rPr lang="pt-BR" sz="3000" dirty="0">
                <a:solidFill>
                  <a:srgbClr val="FF0000"/>
                </a:solidFill>
              </a:rPr>
              <a:t>é administrado pelo Banco do Brasil</a:t>
            </a:r>
            <a:r>
              <a:rPr lang="pt-BR" sz="3000" dirty="0"/>
              <a:t>, que faz o pagamento do Abono Salarial.</a:t>
            </a:r>
          </a:p>
          <a:p>
            <a:pPr algn="just"/>
            <a:endParaRPr lang="pt-BR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Em determinados casos, </a:t>
            </a:r>
            <a:r>
              <a:rPr lang="pt-BR" sz="3500" dirty="0">
                <a:solidFill>
                  <a:srgbClr val="FF0000"/>
                </a:solidFill>
              </a:rPr>
              <a:t>existem tributos que incidem sobre determinadas atividades</a:t>
            </a:r>
            <a:r>
              <a:rPr lang="pt-BR" sz="3500" dirty="0"/>
              <a:t>, por exemplo:</a:t>
            </a:r>
          </a:p>
          <a:p>
            <a:pPr algn="just"/>
            <a:r>
              <a:rPr lang="pt-BR" sz="3500" dirty="0"/>
              <a:t>1 – Imposto relativo à circulação de mercadorias e serviços... - ICMS</a:t>
            </a:r>
          </a:p>
          <a:p>
            <a:pPr algn="just"/>
            <a:r>
              <a:rPr lang="pt-BR" sz="3500" dirty="0"/>
              <a:t>2 – Imposto sobre os produtos industrializados - IPI</a:t>
            </a:r>
          </a:p>
          <a:p>
            <a:pPr algn="just"/>
            <a:r>
              <a:rPr lang="pt-BR" sz="3500" dirty="0"/>
              <a:t>3 – Imposto sobre serviços – ISS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>
                <a:solidFill>
                  <a:srgbClr val="FF0000"/>
                </a:solidFill>
              </a:rPr>
              <a:t>Em um único evento</a:t>
            </a:r>
            <a:r>
              <a:rPr lang="pt-BR" sz="3500" dirty="0"/>
              <a:t>, como uma venda de produtos industrializados, podem fazer </a:t>
            </a:r>
            <a:r>
              <a:rPr lang="pt-BR" sz="3500" dirty="0">
                <a:solidFill>
                  <a:srgbClr val="FF0000"/>
                </a:solidFill>
              </a:rPr>
              <a:t>uma empresa praticar vários fatos geradores</a:t>
            </a:r>
            <a:r>
              <a:rPr lang="pt-BR" sz="3500" dirty="0"/>
              <a:t> de forma simultânea como o PIS, COFINS, IPI e ICMS, abaixo começaremos a falar sobre as contribuições do PIS e </a:t>
            </a:r>
            <a:r>
              <a:rPr lang="pt-BR" sz="3500" dirty="0" err="1"/>
              <a:t>dda</a:t>
            </a:r>
            <a:r>
              <a:rPr lang="pt-BR" sz="3500" dirty="0"/>
              <a:t> COFINS. 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programa de integração social </a:t>
            </a:r>
            <a:r>
              <a:rPr lang="pt-BR" sz="3500" dirty="0">
                <a:solidFill>
                  <a:srgbClr val="FF0000"/>
                </a:solidFill>
              </a:rPr>
              <a:t>(PIS) </a:t>
            </a:r>
            <a:r>
              <a:rPr lang="pt-BR" sz="3500" dirty="0"/>
              <a:t>e a Contribuição para o financiamento da seguridade social </a:t>
            </a:r>
            <a:r>
              <a:rPr lang="pt-BR" sz="3500" dirty="0">
                <a:solidFill>
                  <a:srgbClr val="FF0000"/>
                </a:solidFill>
              </a:rPr>
              <a:t>(COFINS)</a:t>
            </a:r>
            <a:r>
              <a:rPr lang="pt-BR" sz="3500" dirty="0"/>
              <a:t>, apesar de </a:t>
            </a:r>
            <a:r>
              <a:rPr lang="pt-BR" sz="3500" dirty="0">
                <a:solidFill>
                  <a:srgbClr val="FF0000"/>
                </a:solidFill>
              </a:rPr>
              <a:t>serem contribuições federais com destinações diferentes</a:t>
            </a:r>
            <a:r>
              <a:rPr lang="pt-BR" sz="3500" dirty="0"/>
              <a:t>, criadas em épocas distintas, de um anos pra cá, </a:t>
            </a:r>
            <a:r>
              <a:rPr lang="pt-BR" sz="3500" b="1" dirty="0">
                <a:solidFill>
                  <a:srgbClr val="FF0000"/>
                </a:solidFill>
              </a:rPr>
              <a:t>praticamente unificaram a sua norma de tributação</a:t>
            </a:r>
            <a:r>
              <a:rPr lang="pt-BR" sz="3500" dirty="0"/>
              <a:t>.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</a:t>
            </a:r>
            <a:r>
              <a:rPr lang="pt-BR" sz="3500" dirty="0">
                <a:solidFill>
                  <a:srgbClr val="FF0000"/>
                </a:solidFill>
              </a:rPr>
              <a:t>PIS foi introduzido no sistema tributário nacional antes mesmo da constituição federal de 1988 </a:t>
            </a:r>
            <a:r>
              <a:rPr lang="pt-BR" sz="3500" dirty="0"/>
              <a:t>(CF 1988), criado pela </a:t>
            </a:r>
            <a:r>
              <a:rPr lang="pt-BR" sz="3500" dirty="0">
                <a:solidFill>
                  <a:srgbClr val="FF0000"/>
                </a:solidFill>
              </a:rPr>
              <a:t>Lei Complementar nº 7</a:t>
            </a:r>
            <a:r>
              <a:rPr lang="pt-BR" sz="3500" dirty="0"/>
              <a:t>, de </a:t>
            </a:r>
            <a:r>
              <a:rPr lang="pt-BR" sz="3500" dirty="0">
                <a:solidFill>
                  <a:srgbClr val="FF0000"/>
                </a:solidFill>
              </a:rPr>
              <a:t>07/09/1970</a:t>
            </a:r>
            <a:r>
              <a:rPr lang="pt-BR" sz="3500" dirty="0"/>
              <a:t>, seu objetivo era promover a integração do empregado na vida da empresa e em seu desenvolvimento.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Essa </a:t>
            </a:r>
            <a:r>
              <a:rPr lang="pt-BR" sz="3500" dirty="0">
                <a:solidFill>
                  <a:srgbClr val="FF0000"/>
                </a:solidFill>
              </a:rPr>
              <a:t>Contribuição foi recepcionada de forma plena pelo artigo 239</a:t>
            </a:r>
            <a:r>
              <a:rPr lang="pt-BR" sz="3500" dirty="0"/>
              <a:t> da Constituição federal, que manteve, no atual sistema tributário, a sua exigência.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/>
              <a:t>Art. 239. A arrecadação decorrente das contribuições para o Programa de Integração Social, criado pela Lei Complementar nº 7, de 7 de setembro de 1970, e para o Programa de Formação do Patrimônio do Servidor Público, criado pela Lei Complementar nº 8, de 3 de dezembro de 1970, passa, a partir da promulgação desta Constituição, a financiar, nos termos que a lei dispuser, o programa do seguro-desemprego, outras ações da previdência social e o abono de que trata o § 3º deste artigo.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dirty="0"/>
              <a:t>COFINS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/>
              <a:t>A COFINS tem como fundamento o artigo 195, caput e inciso I da Constituição.</a:t>
            </a:r>
          </a:p>
          <a:p>
            <a:pPr algn="just"/>
            <a:r>
              <a:rPr lang="pt-BR" sz="2800" dirty="0"/>
              <a:t> Art. 195. </a:t>
            </a:r>
            <a:r>
              <a:rPr lang="pt-BR" sz="2800" dirty="0">
                <a:solidFill>
                  <a:srgbClr val="FF0000"/>
                </a:solidFill>
              </a:rPr>
              <a:t>A seguridade social será financiada por toda a sociedade</a:t>
            </a:r>
            <a:r>
              <a:rPr lang="pt-BR" sz="2800" dirty="0"/>
              <a:t>, de forma direta e indireta, nos termos da lei, mediante recursos provenientes dos orçamentos da União, dos Estados, do Distrito Federal e dos Municípios, e das seguintes contribuições sociais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dirty="0"/>
              <a:t>COFINS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000" dirty="0"/>
              <a:t>I - </a:t>
            </a:r>
            <a:r>
              <a:rPr lang="pt-BR" sz="3000" dirty="0">
                <a:solidFill>
                  <a:srgbClr val="FF0000"/>
                </a:solidFill>
              </a:rPr>
              <a:t>do empregador</a:t>
            </a:r>
            <a:r>
              <a:rPr lang="pt-BR" sz="3000" dirty="0"/>
              <a:t>, da </a:t>
            </a:r>
            <a:r>
              <a:rPr lang="pt-BR" sz="3000" dirty="0">
                <a:solidFill>
                  <a:srgbClr val="FF0000"/>
                </a:solidFill>
              </a:rPr>
              <a:t>empresa</a:t>
            </a:r>
            <a:r>
              <a:rPr lang="pt-BR" sz="3000" dirty="0"/>
              <a:t> e da entidade a ela equiparada na forma da lei, incidentes sobre: </a:t>
            </a:r>
          </a:p>
          <a:p>
            <a:pPr algn="just"/>
            <a:r>
              <a:rPr lang="pt-BR" sz="3000" dirty="0"/>
              <a:t>a) </a:t>
            </a:r>
            <a:r>
              <a:rPr lang="pt-BR" sz="3000" dirty="0">
                <a:solidFill>
                  <a:srgbClr val="FF0000"/>
                </a:solidFill>
              </a:rPr>
              <a:t>a folha de salários </a:t>
            </a:r>
            <a:r>
              <a:rPr lang="pt-BR" sz="3000" dirty="0"/>
              <a:t>e demais rendimentos do trabalho pagos ou creditados, a qualquer título, à pessoa física que lhe preste serviço, mesmo sem vínculo empregatício;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dirty="0"/>
              <a:t>COFINS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b) a </a:t>
            </a:r>
            <a:r>
              <a:rPr lang="pt-BR" sz="3500" dirty="0">
                <a:solidFill>
                  <a:srgbClr val="FF0000"/>
                </a:solidFill>
              </a:rPr>
              <a:t>receita</a:t>
            </a:r>
            <a:r>
              <a:rPr lang="pt-BR" sz="3500" dirty="0"/>
              <a:t> ou o faturamento; </a:t>
            </a:r>
          </a:p>
          <a:p>
            <a:pPr algn="just"/>
            <a:r>
              <a:rPr lang="pt-BR" sz="3500" dirty="0"/>
              <a:t>c) o </a:t>
            </a:r>
            <a:r>
              <a:rPr lang="pt-BR" sz="3500" dirty="0">
                <a:solidFill>
                  <a:srgbClr val="FF0000"/>
                </a:solidFill>
              </a:rPr>
              <a:t>lucro</a:t>
            </a:r>
            <a:r>
              <a:rPr lang="pt-BR" sz="3500" dirty="0"/>
              <a:t>;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dirty="0"/>
              <a:t>COFINS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Na esfera legal, a </a:t>
            </a:r>
            <a:r>
              <a:rPr lang="pt-BR" sz="3500" dirty="0">
                <a:solidFill>
                  <a:srgbClr val="FF0000"/>
                </a:solidFill>
              </a:rPr>
              <a:t>COFINS foi instituída através da Lei complementar 70</a:t>
            </a:r>
            <a:r>
              <a:rPr lang="pt-BR" sz="3500" dirty="0"/>
              <a:t>, de </a:t>
            </a:r>
            <a:r>
              <a:rPr lang="pt-BR" sz="3500" dirty="0">
                <a:solidFill>
                  <a:srgbClr val="FF0000"/>
                </a:solidFill>
              </a:rPr>
              <a:t>30/12/1991</a:t>
            </a:r>
            <a:r>
              <a:rPr lang="pt-BR" sz="3500" dirty="0"/>
              <a:t>, em substituição ao FINSOCIAL, sendo uma das fontes das fontes de financiamento da seguridade social Brasileira.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000" dirty="0">
                <a:solidFill>
                  <a:srgbClr val="FF0000"/>
                </a:solidFill>
              </a:rPr>
              <a:t>Ambas as contribuições incidiam sobre o faturamento de forma cumulativa </a:t>
            </a:r>
            <a:r>
              <a:rPr lang="pt-BR" sz="3000" dirty="0"/>
              <a:t>ou “em cascata”, e, ao longo dos anos, sofreram alterações pontuais no que se refere a alíquota, base de cálculo e universo de contribuintes, </a:t>
            </a:r>
            <a:r>
              <a:rPr lang="pt-BR" sz="3000" dirty="0">
                <a:solidFill>
                  <a:srgbClr val="FF0000"/>
                </a:solidFill>
              </a:rPr>
              <a:t>a relação PIS/COFINS foi unificada pela lei 9.718/1998</a:t>
            </a:r>
            <a:r>
              <a:rPr lang="pt-BR" sz="3000" dirty="0"/>
              <a:t>, que promoveu mudanças profundas na sistemática de apuração de ambos os tributos, porém manteve a incidência cumulativa das contribuições.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000" dirty="0"/>
              <a:t>A lei 9.718/1998 foi seguida pela emenda constitucional nº 20/1998, que alterou a redação do Inciso I do Art. 195 da Constituição, outras medidas mais significativas começaram a ocorrer no final de 2002, por intermédio da </a:t>
            </a:r>
            <a:r>
              <a:rPr lang="pt-BR" sz="3000" dirty="0">
                <a:solidFill>
                  <a:srgbClr val="FF0000"/>
                </a:solidFill>
              </a:rPr>
              <a:t>medida provisória nº 66/2002, posteriormente convertida na Lei 10.637</a:t>
            </a:r>
            <a:r>
              <a:rPr lang="pt-BR" sz="3000" dirty="0"/>
              <a:t>, de 31/12/2002, que introduziu na legislação a </a:t>
            </a:r>
            <a:r>
              <a:rPr lang="pt-BR" sz="3000" dirty="0">
                <a:solidFill>
                  <a:srgbClr val="FF0000"/>
                </a:solidFill>
              </a:rPr>
              <a:t>modalidade não cumulativa do PIS</a:t>
            </a:r>
            <a:r>
              <a:rPr lang="pt-BR" sz="3000" dirty="0"/>
              <a:t>.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A COFINS seguiu o mesmo caminho através da </a:t>
            </a:r>
            <a:r>
              <a:rPr lang="pt-BR" sz="3500" dirty="0">
                <a:solidFill>
                  <a:srgbClr val="FF0000"/>
                </a:solidFill>
              </a:rPr>
              <a:t>medida provisória nº 135/2003, convertida na Lei 10.833, de 29/12/2003</a:t>
            </a:r>
            <a:r>
              <a:rPr lang="pt-BR" sz="3500" dirty="0"/>
              <a:t>, quando foi criada a versão </a:t>
            </a:r>
            <a:r>
              <a:rPr lang="pt-BR" sz="3500" dirty="0">
                <a:solidFill>
                  <a:srgbClr val="FF0000"/>
                </a:solidFill>
              </a:rPr>
              <a:t>não cumulativa de apuração para a COFINS</a:t>
            </a:r>
            <a:r>
              <a:rPr lang="pt-BR" sz="3500" dirty="0"/>
              <a:t>.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600" dirty="0"/>
              <a:t>A não cumulatividade das contribuições PIS e COFINS </a:t>
            </a:r>
            <a:r>
              <a:rPr lang="pt-BR" sz="2600" dirty="0">
                <a:solidFill>
                  <a:srgbClr val="FF0000"/>
                </a:solidFill>
              </a:rPr>
              <a:t>consistem no aproveitamento de créditos autorizados pela legislação</a:t>
            </a:r>
            <a:r>
              <a:rPr lang="pt-BR" sz="2600" dirty="0"/>
              <a:t>, </a:t>
            </a:r>
            <a:r>
              <a:rPr lang="pt-BR" sz="2600" dirty="0">
                <a:solidFill>
                  <a:srgbClr val="FF0000"/>
                </a:solidFill>
              </a:rPr>
              <a:t>que são deduzidos na apuração da base de cálculo das contribuições</a:t>
            </a:r>
            <a:r>
              <a:rPr lang="pt-BR" sz="2600" dirty="0"/>
              <a:t>. A partir do momento da criação desse sistema, passamos a conviver com o sistema cumulativo e o não cumulativo, fato este que tornou a legislação cada vez mais complexa dada o número elevado de restrições impostas a utilização de créditos dessas contribuições, o que trouxe também a necessidade de mais controles e mais trabalho com declarações acessórias.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674253"/>
              </p:ext>
            </p:extLst>
          </p:nvPr>
        </p:nvGraphicFramePr>
        <p:xfrm>
          <a:off x="650118" y="1340768"/>
          <a:ext cx="7457256" cy="5060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Tributos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Programa de Integração Social – PIS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 Programa de formação do patrimônio do servidor Público – PASEP         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Contribuição para o financiamento da seguridade Social – COFINS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Espécie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Contribuição Social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Competência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União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Fato gerador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Auferir Renda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Contribuintes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Pessoas jurídicas de direito privado e as que lhe são equiparadas pela legislação do imposto de renda.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Base de cálculo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ea typeface="Times New Roman"/>
                          <a:cs typeface="Times New Roman"/>
                        </a:rPr>
                        <a:t>Faturamento Mensal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33"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 err="1">
                          <a:latin typeface="Times New Roman"/>
                          <a:ea typeface="Times New Roman"/>
                          <a:cs typeface="Times New Roman"/>
                        </a:rPr>
                        <a:t>Aliquotas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Regime Cumulativo: PIS (0,65%) e COFINS (3%).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  <a:p>
                      <a:pPr algn="just"/>
                      <a:r>
                        <a:rPr lang="pt-BR" sz="1800" dirty="0">
                          <a:latin typeface="Times New Roman"/>
                          <a:ea typeface="Times New Roman"/>
                          <a:cs typeface="Times New Roman"/>
                        </a:rPr>
                        <a:t>Regime não Cumulativo: PIS (1,65%) e COFINS (7,6%)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611560" y="2204864"/>
          <a:ext cx="7467600" cy="285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Times New Roman"/>
                          <a:cs typeface="Times New Roman"/>
                        </a:rPr>
                        <a:t>Regime cumulativo ou “em cascata” é aquele que incide em cada etapa do processo produtivo.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Valores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Incidência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Venda da tora de Madeira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R$ 500,00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PIS/COFINS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Serraria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R$ 800,00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PIS/COFINS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Industria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R$ 1.200,00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PIS/COFINS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Comercio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>
                          <a:latin typeface="Times New Roman"/>
                          <a:cs typeface="Times New Roman"/>
                        </a:rPr>
                        <a:t>R$ 1.500,00</a:t>
                      </a:r>
                      <a:endParaRPr lang="pt-BR" sz="18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dirty="0">
                          <a:latin typeface="Times New Roman"/>
                          <a:cs typeface="Times New Roman"/>
                        </a:rPr>
                        <a:t>PIS/COFINS</a:t>
                      </a:r>
                      <a:endParaRPr lang="pt-BR" sz="18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Contribuição de PIS e COFINS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No regime não cumulativo, as compras representam créditos e as vendas débitos, o PIS e a COFINS são pagos sobre a diferença:</a:t>
            </a:r>
          </a:p>
          <a:p>
            <a:pPr algn="just">
              <a:buNone/>
            </a:pPr>
            <a:endParaRPr lang="pt-BR" sz="3500" dirty="0"/>
          </a:p>
          <a:p>
            <a:pPr algn="just"/>
            <a:r>
              <a:rPr lang="pt-BR" sz="3500" dirty="0"/>
              <a:t>Compra: R$ 500,00</a:t>
            </a:r>
          </a:p>
          <a:p>
            <a:pPr algn="just"/>
            <a:r>
              <a:rPr lang="pt-BR" sz="3500" dirty="0"/>
              <a:t>Venda: R$ 800,00</a:t>
            </a:r>
          </a:p>
          <a:p>
            <a:pPr algn="just"/>
            <a:r>
              <a:rPr lang="pt-BR" sz="3500" dirty="0"/>
              <a:t>Diferença: R$ 300,00</a:t>
            </a:r>
          </a:p>
          <a:p>
            <a:pPr algn="just"/>
            <a:endParaRPr lang="pt-BR" sz="3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E23A7-F0BA-47F2-A901-9D84BA52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Break Even Point – PIS e COFINS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89C1EC24-CE03-4472-B762-342013C281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4018"/>
              </p:ext>
            </p:extLst>
          </p:nvPr>
        </p:nvGraphicFramePr>
        <p:xfrm>
          <a:off x="323528" y="1825624"/>
          <a:ext cx="8496944" cy="400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3296529827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2085678305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518614566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3503706218"/>
                    </a:ext>
                  </a:extLst>
                </a:gridCol>
              </a:tblGrid>
              <a:tr h="723920"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CONTRIBUIÇÃO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CUMULATIVO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NÃO CUMULATIVO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VARIAÇÃO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955422"/>
                  </a:ext>
                </a:extLst>
              </a:tr>
              <a:tr h="723920"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0,65%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1,65%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83705"/>
                  </a:ext>
                </a:extLst>
              </a:tr>
              <a:tr h="723920"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COFINS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7,6%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4,60%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142522"/>
                  </a:ext>
                </a:extLst>
              </a:tr>
              <a:tr h="723920"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TOTAL DE ALIQUOTAS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3,65%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9,25%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5,60%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86695"/>
                  </a:ext>
                </a:extLst>
              </a:tr>
              <a:tr h="723920"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PORCENTAGEM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39,46% (REGRA DE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b="1" dirty="0"/>
                        <a:t>60,54%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30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1855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6124F-E4B7-4D2A-9A64-3B5C7B8F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Break Even Point – PIS e COFINS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A7046-B2B6-4222-9871-3AF56B6A0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Se a empresa auferir uma margem de Lucro superior a 39,46%, será muito pesado estar no regime cumulativo de PIS e COFINS.</a:t>
            </a:r>
          </a:p>
        </p:txBody>
      </p:sp>
    </p:spTree>
    <p:extLst>
      <p:ext uri="{BB962C8B-B14F-4D97-AF65-F5344CB8AC3E}">
        <p14:creationId xmlns:p14="http://schemas.microsoft.com/office/powerpoint/2010/main" val="22354236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C3382-5F91-4EAD-BD4B-2457CD6B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Um pouco mais de </a:t>
            </a:r>
            <a:r>
              <a:rPr lang="pt-BR" b="1" dirty="0"/>
              <a:t>Serotonina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3F6B47-6B29-4987-A8D9-725337C94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 academia não existe diferença entre o mundo acadêmico e o mundo real; no mundo real, existe”.</a:t>
            </a:r>
          </a:p>
          <a:p>
            <a:pPr algn="ctr"/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Yogi</a:t>
            </a:r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Berra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6283231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9E042-921F-40C8-A245-98085280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000" dirty="0"/>
              <a:t>LUCRO REAL ANUAL X LUCRO REAL TRIMESTRAL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1DCB57-248B-4EFF-9261-AD2BE4A6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b="1" dirty="0"/>
              <a:t>Lucro Real Trimestral</a:t>
            </a:r>
            <a:r>
              <a:rPr lang="pt-BR" sz="2500" dirty="0"/>
              <a:t>: Apura a cada encerramento de trimestre</a:t>
            </a:r>
          </a:p>
          <a:p>
            <a:pPr marL="0" indent="0" algn="just">
              <a:buNone/>
            </a:pPr>
            <a:r>
              <a:rPr lang="pt-BR" sz="2500" b="1" dirty="0"/>
              <a:t>Lucro Real Anual</a:t>
            </a:r>
            <a:r>
              <a:rPr lang="pt-BR" sz="2500" dirty="0"/>
              <a:t>: Se faz uma apuração mensal e seus respectivos pagamentos por estimativa, mas se tem uma apuração na data de fechamento do Balanço Patrimonial.</a:t>
            </a:r>
          </a:p>
          <a:p>
            <a:pPr marL="0" indent="0" algn="just">
              <a:buNone/>
            </a:pPr>
            <a:endParaRPr lang="pt-BR" sz="2500" dirty="0"/>
          </a:p>
          <a:p>
            <a:pPr marL="0" indent="0" algn="just">
              <a:buNone/>
            </a:pPr>
            <a:r>
              <a:rPr lang="pt-BR" sz="2500" dirty="0"/>
              <a:t>A apuração trimestral </a:t>
            </a:r>
            <a:r>
              <a:rPr lang="pt-BR" sz="2500" dirty="0">
                <a:solidFill>
                  <a:srgbClr val="FF0000"/>
                </a:solidFill>
              </a:rPr>
              <a:t>prejudica sensivelmente as empresas que não apresentem resultados constantes</a:t>
            </a:r>
            <a:r>
              <a:rPr lang="pt-BR" sz="2500" dirty="0"/>
              <a:t>, ou seja, que apresentem desequilíbrios em seu faturamento.</a:t>
            </a:r>
          </a:p>
          <a:p>
            <a:pPr marL="0" indent="0" algn="just">
              <a:buNone/>
            </a:pPr>
            <a:r>
              <a:rPr lang="pt-BR" sz="2500" dirty="0"/>
              <a:t>De um MODO GERAL – </a:t>
            </a:r>
            <a:r>
              <a:rPr lang="pt-BR" sz="2500" b="1" dirty="0"/>
              <a:t>podem existir exceções</a:t>
            </a:r>
            <a:r>
              <a:rPr lang="pt-BR" sz="2500" dirty="0"/>
              <a:t>, o Lucro </a:t>
            </a:r>
            <a:r>
              <a:rPr lang="pt-BR" sz="2500" dirty="0">
                <a:solidFill>
                  <a:srgbClr val="FF0000"/>
                </a:solidFill>
              </a:rPr>
              <a:t>Real Anual é mais vantajoso</a:t>
            </a:r>
            <a:r>
              <a:rPr lang="pt-B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997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4B857-1FEB-4FD0-94D2-91CE0468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COM RECEITAS QUE OSCILAM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6B7AF4E-CB72-4B5B-9BFA-527CE9F73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117682"/>
              </p:ext>
            </p:extLst>
          </p:nvPr>
        </p:nvGraphicFramePr>
        <p:xfrm>
          <a:off x="484634" y="1484784"/>
          <a:ext cx="8174732" cy="2448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2073">
                  <a:extLst>
                    <a:ext uri="{9D8B030D-6E8A-4147-A177-3AD203B41FA5}">
                      <a16:colId xmlns:a16="http://schemas.microsoft.com/office/drawing/2014/main" val="1676636177"/>
                    </a:ext>
                  </a:extLst>
                </a:gridCol>
                <a:gridCol w="1634946">
                  <a:extLst>
                    <a:ext uri="{9D8B030D-6E8A-4147-A177-3AD203B41FA5}">
                      <a16:colId xmlns:a16="http://schemas.microsoft.com/office/drawing/2014/main" val="3607804899"/>
                    </a:ext>
                  </a:extLst>
                </a:gridCol>
                <a:gridCol w="1634946">
                  <a:extLst>
                    <a:ext uri="{9D8B030D-6E8A-4147-A177-3AD203B41FA5}">
                      <a16:colId xmlns:a16="http://schemas.microsoft.com/office/drawing/2014/main" val="2398017637"/>
                    </a:ext>
                  </a:extLst>
                </a:gridCol>
                <a:gridCol w="1622073">
                  <a:extLst>
                    <a:ext uri="{9D8B030D-6E8A-4147-A177-3AD203B41FA5}">
                      <a16:colId xmlns:a16="http://schemas.microsoft.com/office/drawing/2014/main" val="1404461661"/>
                    </a:ext>
                  </a:extLst>
                </a:gridCol>
                <a:gridCol w="1660694">
                  <a:extLst>
                    <a:ext uri="{9D8B030D-6E8A-4147-A177-3AD203B41FA5}">
                      <a16:colId xmlns:a16="http://schemas.microsoft.com/office/drawing/2014/main" val="3338700405"/>
                    </a:ext>
                  </a:extLst>
                </a:gridCol>
              </a:tblGrid>
              <a:tr h="349753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APURAÇÃO TRIMESTRAL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828399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TRIMESTRE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LUCRO REAL (R$)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- 15%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ADIC. - 10%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33173901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1º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100.000,00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        15.000,00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4.000,00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19.000,00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5020975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2º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        70.000,00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10.500,00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1.000,00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11.500,00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7771687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3º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35.000,00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          5.250,00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 5.250,00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6888155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4º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18.000,00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2.700,00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 2.700,00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2612238"/>
                  </a:ext>
                </a:extLst>
              </a:tr>
              <a:tr h="34975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223.000,00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33.450,00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          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        38.450,00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107969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618541F-9812-41C1-AABA-7538195F0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75939"/>
              </p:ext>
            </p:extLst>
          </p:nvPr>
        </p:nvGraphicFramePr>
        <p:xfrm>
          <a:off x="683568" y="4221088"/>
          <a:ext cx="7886700" cy="1954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1058">
                  <a:extLst>
                    <a:ext uri="{9D8B030D-6E8A-4147-A177-3AD203B41FA5}">
                      <a16:colId xmlns:a16="http://schemas.microsoft.com/office/drawing/2014/main" val="671435756"/>
                    </a:ext>
                  </a:extLst>
                </a:gridCol>
                <a:gridCol w="3885642">
                  <a:extLst>
                    <a:ext uri="{9D8B030D-6E8A-4147-A177-3AD203B41FA5}">
                      <a16:colId xmlns:a16="http://schemas.microsoft.com/office/drawing/2014/main" val="3806536572"/>
                    </a:ext>
                  </a:extLst>
                </a:gridCol>
              </a:tblGrid>
              <a:tr h="28638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APURAÇÃO ANUAL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908464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LUCRO REAL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223.000,00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4636574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15%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33.450,00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5964407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ADIC. - 10%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1267707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33.450,00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38521"/>
                  </a:ext>
                </a:extLst>
              </a:tr>
              <a:tr h="28638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5876252"/>
                  </a:ext>
                </a:extLst>
              </a:tr>
              <a:tr h="22591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u="none" strike="noStrike" dirty="0">
                          <a:effectLst/>
                        </a:rPr>
                        <a:t>DIFERENÇA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u="none" strike="noStrike" dirty="0">
                          <a:effectLst/>
                        </a:rPr>
                        <a:t> R$       5.000,00 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0640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7673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6CB04-900C-4F84-960F-7D255239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COM RECEITAS CONSTANTES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2E371C3-0E3E-480D-9B7F-0CB7222C9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16317"/>
              </p:ext>
            </p:extLst>
          </p:nvPr>
        </p:nvGraphicFramePr>
        <p:xfrm>
          <a:off x="440085" y="1772816"/>
          <a:ext cx="8263830" cy="2376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9752">
                  <a:extLst>
                    <a:ext uri="{9D8B030D-6E8A-4147-A177-3AD203B41FA5}">
                      <a16:colId xmlns:a16="http://schemas.microsoft.com/office/drawing/2014/main" val="561863179"/>
                    </a:ext>
                  </a:extLst>
                </a:gridCol>
                <a:gridCol w="1652766">
                  <a:extLst>
                    <a:ext uri="{9D8B030D-6E8A-4147-A177-3AD203B41FA5}">
                      <a16:colId xmlns:a16="http://schemas.microsoft.com/office/drawing/2014/main" val="1207739461"/>
                    </a:ext>
                  </a:extLst>
                </a:gridCol>
                <a:gridCol w="1652766">
                  <a:extLst>
                    <a:ext uri="{9D8B030D-6E8A-4147-A177-3AD203B41FA5}">
                      <a16:colId xmlns:a16="http://schemas.microsoft.com/office/drawing/2014/main" val="1935549792"/>
                    </a:ext>
                  </a:extLst>
                </a:gridCol>
                <a:gridCol w="1639752">
                  <a:extLst>
                    <a:ext uri="{9D8B030D-6E8A-4147-A177-3AD203B41FA5}">
                      <a16:colId xmlns:a16="http://schemas.microsoft.com/office/drawing/2014/main" val="108034228"/>
                    </a:ext>
                  </a:extLst>
                </a:gridCol>
                <a:gridCol w="1678794">
                  <a:extLst>
                    <a:ext uri="{9D8B030D-6E8A-4147-A177-3AD203B41FA5}">
                      <a16:colId xmlns:a16="http://schemas.microsoft.com/office/drawing/2014/main" val="2823301448"/>
                    </a:ext>
                  </a:extLst>
                </a:gridCol>
              </a:tblGrid>
              <a:tr h="339466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APURAÇÃO TRIMESTRAL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070563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TRIMESTRE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LUCRO REAL (R$)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IRPJ - 15%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IRPJ ADIC. - 10%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IRPJ 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598994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1º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100.000,00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15.000,00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  4.000,00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19.000,00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4181924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2º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120.000,00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18.000,00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  6.000,00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24.000,00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836821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3º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115.000,00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17.250,00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  5.500,00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22.750,00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65033997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4º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130.000,00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19.500,00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  7.000,00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26.500,00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1936937"/>
                  </a:ext>
                </a:extLst>
              </a:tr>
              <a:tr h="33946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465.000,00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69.750,00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>
                          <a:effectLst/>
                        </a:rPr>
                        <a:t> R$             22.500,00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u="none" strike="noStrike" dirty="0">
                          <a:effectLst/>
                        </a:rPr>
                        <a:t> R$             92.250,00 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550035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D8C38F2-2522-4C07-B052-4282A6B21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15907"/>
              </p:ext>
            </p:extLst>
          </p:nvPr>
        </p:nvGraphicFramePr>
        <p:xfrm>
          <a:off x="1151620" y="4509120"/>
          <a:ext cx="6840760" cy="1653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0436">
                  <a:extLst>
                    <a:ext uri="{9D8B030D-6E8A-4147-A177-3AD203B41FA5}">
                      <a16:colId xmlns:a16="http://schemas.microsoft.com/office/drawing/2014/main" val="884231065"/>
                    </a:ext>
                  </a:extLst>
                </a:gridCol>
                <a:gridCol w="3370324">
                  <a:extLst>
                    <a:ext uri="{9D8B030D-6E8A-4147-A177-3AD203B41FA5}">
                      <a16:colId xmlns:a16="http://schemas.microsoft.com/office/drawing/2014/main" val="43362611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APURAÇÃO ANUAL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870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LUCRO REAL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465.000,00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79894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IRPJ 15%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69.750,00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27487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ADIC. - 10%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22.500,00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75747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IRPJ TOTAL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 R$     92.250,00 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2246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 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56111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>
                          <a:effectLst/>
                        </a:rPr>
                        <a:t>DIFERENÇA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u="none" strike="noStrike" dirty="0">
                          <a:effectLst/>
                        </a:rPr>
                        <a:t> R$                   -   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009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8153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8DFFA-3B32-4A3D-A62D-E746A30C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 cama de Procrustes (Mitologia Grega)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8164E5-91C5-4BB0-8D13-62CC3FE3E8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72817"/>
            <a:ext cx="7772870" cy="4018384"/>
          </a:xfrm>
        </p:spPr>
        <p:txBody>
          <a:bodyPr>
            <a:noAutofit/>
          </a:bodyPr>
          <a:lstStyle/>
          <a:p>
            <a:pPr algn="just"/>
            <a:r>
              <a:rPr lang="pt-BR" sz="3000" dirty="0"/>
              <a:t>Procrustes era um bandido que vivia na serra de Elêusis. Em sua casa, </a:t>
            </a:r>
            <a:r>
              <a:rPr lang="pt-BR" sz="3000" dirty="0">
                <a:solidFill>
                  <a:srgbClr val="FF0000"/>
                </a:solidFill>
              </a:rPr>
              <a:t>ele tinha uma cama de ferro</a:t>
            </a:r>
            <a:r>
              <a:rPr lang="pt-BR" sz="3000" dirty="0"/>
              <a:t>, que tinha seu exato tamanho, para a qual convidava todos os viajantes a se deitarem. Se os hóspedes fossem demasiados altos, ele amputava o excesso de comprimento para ajustá-los à cama, e os que tinham pequena estatura eram esticados até atingirem o comprimento suficiente. </a:t>
            </a:r>
          </a:p>
        </p:txBody>
      </p:sp>
    </p:spTree>
    <p:extLst>
      <p:ext uri="{BB962C8B-B14F-4D97-AF65-F5344CB8AC3E}">
        <p14:creationId xmlns:p14="http://schemas.microsoft.com/office/powerpoint/2010/main" val="3100863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46E9E-8BDE-4874-946C-AF56482B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Todos no mesmo Barco!!!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B90EE-D8AE-4178-A341-BAADE92E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4785"/>
            <a:ext cx="7886700" cy="4392488"/>
          </a:xfrm>
        </p:spPr>
        <p:txBody>
          <a:bodyPr>
            <a:noAutofit/>
          </a:bodyPr>
          <a:lstStyle/>
          <a:p>
            <a:pPr algn="just"/>
            <a:r>
              <a:rPr lang="pt-BR" sz="3300" dirty="0"/>
              <a:t>Você já ouviu falar de um vocábulo grego muito utilizado na antiguidade “</a:t>
            </a:r>
            <a:r>
              <a:rPr lang="pt-BR" sz="3300" dirty="0" err="1">
                <a:solidFill>
                  <a:srgbClr val="FF0000"/>
                </a:solidFill>
              </a:rPr>
              <a:t>SynKyndineo</a:t>
            </a:r>
            <a:r>
              <a:rPr lang="pt-BR" sz="3300" dirty="0"/>
              <a:t>”?</a:t>
            </a:r>
          </a:p>
          <a:p>
            <a:pPr algn="just"/>
            <a:r>
              <a:rPr lang="pt-BR" sz="3300" dirty="0" err="1"/>
              <a:t>SynKyndineo</a:t>
            </a:r>
            <a:r>
              <a:rPr lang="pt-BR" sz="3300" dirty="0"/>
              <a:t> Significa “</a:t>
            </a:r>
            <a:r>
              <a:rPr lang="pt-BR" sz="3300" dirty="0">
                <a:solidFill>
                  <a:srgbClr val="FF0000"/>
                </a:solidFill>
              </a:rPr>
              <a:t>Assumir riscos Juntos</a:t>
            </a:r>
            <a:r>
              <a:rPr lang="pt-BR" sz="3300" dirty="0"/>
              <a:t>”! (Lex Rhodia em 800 a.C.)</a:t>
            </a:r>
          </a:p>
          <a:p>
            <a:pPr algn="just"/>
            <a:r>
              <a:rPr lang="pt-BR" sz="3300" dirty="0"/>
              <a:t>Na nossa profissão </a:t>
            </a:r>
            <a:r>
              <a:rPr lang="pt-BR" sz="3300" b="1" dirty="0"/>
              <a:t>sempre assumimos riscos juntos</a:t>
            </a:r>
            <a:r>
              <a:rPr lang="pt-BR" sz="3300" dirty="0"/>
              <a:t> com o empresário!</a:t>
            </a:r>
          </a:p>
          <a:p>
            <a:pPr algn="just"/>
            <a:r>
              <a:rPr lang="pt-BR" sz="3300" dirty="0"/>
              <a:t>“Pois quem hoje derrama comigo seu sangue passará a ser meu irmão.” Shakespeare</a:t>
            </a:r>
          </a:p>
        </p:txBody>
      </p:sp>
    </p:spTree>
    <p:extLst>
      <p:ext uri="{BB962C8B-B14F-4D97-AF65-F5344CB8AC3E}">
        <p14:creationId xmlns:p14="http://schemas.microsoft.com/office/powerpoint/2010/main" val="26699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DD0B4-4EBB-48A8-B704-14399D63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LUCRO ARBITRADO (Art. 602 do Decreto 9.580)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03790C-7C20-4933-AF82-7AC8B26F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620171"/>
          </a:xfrm>
        </p:spPr>
        <p:txBody>
          <a:bodyPr>
            <a:noAutofit/>
          </a:bodyPr>
          <a:lstStyle/>
          <a:p>
            <a:pPr algn="just"/>
            <a:r>
              <a:rPr lang="pt-BR" sz="2800" b="1" dirty="0"/>
              <a:t>O Lucro Será arbitrado quando</a:t>
            </a:r>
            <a:r>
              <a:rPr lang="pt-BR" sz="2800" dirty="0"/>
              <a:t>:</a:t>
            </a:r>
          </a:p>
          <a:p>
            <a:pPr algn="just"/>
            <a:r>
              <a:rPr lang="pt-BR" sz="2800" dirty="0"/>
              <a:t>O contribuinte, obrigado à tributação com base no lucro real, </a:t>
            </a:r>
            <a:r>
              <a:rPr lang="pt-BR" sz="2800" dirty="0">
                <a:solidFill>
                  <a:srgbClr val="FF0000"/>
                </a:solidFill>
              </a:rPr>
              <a:t>não mantiver escrituração na forma das leis comerciais e fiscais </a:t>
            </a:r>
            <a:r>
              <a:rPr lang="pt-BR" sz="2800" dirty="0"/>
              <a:t>ou deixar de elaborar as demonstrações financeiras exigidas;</a:t>
            </a:r>
          </a:p>
          <a:p>
            <a:pPr algn="just"/>
            <a:r>
              <a:rPr lang="pt-BR" sz="2800" dirty="0"/>
              <a:t>O contribuinte </a:t>
            </a:r>
            <a:r>
              <a:rPr lang="pt-BR" sz="2800" dirty="0">
                <a:solidFill>
                  <a:srgbClr val="FF0000"/>
                </a:solidFill>
              </a:rPr>
              <a:t>não escriturar ou deixar de apresentar</a:t>
            </a:r>
            <a:r>
              <a:rPr lang="pt-BR" sz="2800" dirty="0"/>
              <a:t> à autoridade tributária os </a:t>
            </a:r>
            <a:r>
              <a:rPr lang="pt-BR" sz="2800" dirty="0">
                <a:solidFill>
                  <a:srgbClr val="FF0000"/>
                </a:solidFill>
              </a:rPr>
              <a:t>livros</a:t>
            </a:r>
            <a:r>
              <a:rPr lang="pt-BR" sz="2800" dirty="0"/>
              <a:t> ou os registros auxiliares;</a:t>
            </a:r>
          </a:p>
          <a:p>
            <a:pPr algn="just"/>
            <a:r>
              <a:rPr lang="pt-BR" sz="2800" dirty="0"/>
              <a:t>A </a:t>
            </a:r>
            <a:r>
              <a:rPr lang="pt-BR" sz="2800" dirty="0">
                <a:solidFill>
                  <a:srgbClr val="FF0000"/>
                </a:solidFill>
              </a:rPr>
              <a:t>escrituração</a:t>
            </a:r>
            <a:r>
              <a:rPr lang="pt-BR" sz="2800" dirty="0"/>
              <a:t> a que o contribuinte estiver obrigado </a:t>
            </a:r>
            <a:r>
              <a:rPr lang="pt-BR" sz="2800" dirty="0">
                <a:solidFill>
                  <a:srgbClr val="FF0000"/>
                </a:solidFill>
              </a:rPr>
              <a:t>revelar evidentes indícios de fraudes </a:t>
            </a:r>
            <a:r>
              <a:rPr lang="pt-BR" sz="2800" dirty="0"/>
              <a:t>ou contiver vícios, erros ou deficiências que a tornem imprestável.</a:t>
            </a:r>
          </a:p>
        </p:txBody>
      </p:sp>
    </p:spTree>
    <p:extLst>
      <p:ext uri="{BB962C8B-B14F-4D97-AF65-F5344CB8AC3E}">
        <p14:creationId xmlns:p14="http://schemas.microsoft.com/office/powerpoint/2010/main" val="12671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D5CE2-198F-4F61-8579-29E8722C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Base de cálculo do Lucro Arbitrado (Art. 608, Decreto 9.580)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154124-8990-4C88-92FE-4B41714B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1,5 do lucro real relativo ao último período </a:t>
            </a:r>
            <a:r>
              <a:rPr lang="pt-BR" dirty="0"/>
              <a:t>em que a pessoa jurídica </a:t>
            </a:r>
            <a:r>
              <a:rPr lang="pt-BR" dirty="0">
                <a:solidFill>
                  <a:srgbClr val="FF0000"/>
                </a:solidFill>
              </a:rPr>
              <a:t>manteve escrituração</a:t>
            </a:r>
            <a:r>
              <a:rPr lang="pt-BR" dirty="0"/>
              <a:t>, atualizado monetariamente. 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0,04</a:t>
            </a:r>
            <a:r>
              <a:rPr lang="pt-BR" dirty="0"/>
              <a:t> da soma dos valores do </a:t>
            </a:r>
            <a:r>
              <a:rPr lang="pt-BR" dirty="0">
                <a:solidFill>
                  <a:srgbClr val="FF0000"/>
                </a:solidFill>
              </a:rPr>
              <a:t>ativo circulante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realizável em longo prazo </a:t>
            </a:r>
            <a:r>
              <a:rPr lang="pt-BR" dirty="0"/>
              <a:t>e </a:t>
            </a:r>
            <a:r>
              <a:rPr lang="pt-BR" dirty="0">
                <a:solidFill>
                  <a:srgbClr val="FF0000"/>
                </a:solidFill>
              </a:rPr>
              <a:t>permanente</a:t>
            </a:r>
            <a:r>
              <a:rPr lang="pt-BR" dirty="0"/>
              <a:t>, existentes no último balanço patrimonial conhecido;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0,07 do valor do capital</a:t>
            </a:r>
            <a:r>
              <a:rPr lang="pt-BR" dirty="0"/>
              <a:t>, incluindo aí a </a:t>
            </a:r>
            <a:r>
              <a:rPr lang="pt-BR" dirty="0">
                <a:solidFill>
                  <a:srgbClr val="FF0000"/>
                </a:solidFill>
              </a:rPr>
              <a:t>correção monetária do balanço </a:t>
            </a:r>
            <a:r>
              <a:rPr lang="pt-BR" dirty="0"/>
              <a:t>que era contabilizada como reserva de capital;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0,05 do valor do patrimônio líquido </a:t>
            </a:r>
            <a:r>
              <a:rPr lang="pt-BR" dirty="0"/>
              <a:t>constante do último balanço patrimonial conhecido, atualizado monetariamente;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0,4 do valor das compras </a:t>
            </a:r>
            <a:r>
              <a:rPr lang="pt-BR" dirty="0"/>
              <a:t>de mercadorias efetuadas no mês;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0,4 da soma, em cada mês, dos valores da folha </a:t>
            </a:r>
            <a:r>
              <a:rPr lang="pt-BR" dirty="0"/>
              <a:t>de pagamento dos empregados e das compras de matérias primas, produtos intermediários e materiais de embalagem;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0,8</a:t>
            </a:r>
            <a:r>
              <a:rPr lang="pt-BR" dirty="0"/>
              <a:t> da soma dos </a:t>
            </a:r>
            <a:r>
              <a:rPr lang="pt-BR" dirty="0">
                <a:solidFill>
                  <a:srgbClr val="FF0000"/>
                </a:solidFill>
              </a:rPr>
              <a:t>valores devidos </a:t>
            </a:r>
            <a:r>
              <a:rPr lang="pt-BR" dirty="0"/>
              <a:t>no mês </a:t>
            </a:r>
            <a:r>
              <a:rPr lang="pt-BR" dirty="0">
                <a:solidFill>
                  <a:srgbClr val="FF0000"/>
                </a:solidFill>
              </a:rPr>
              <a:t>aos empregados</a:t>
            </a:r>
            <a:r>
              <a:rPr lang="pt-BR" dirty="0"/>
              <a:t>;</a:t>
            </a:r>
          </a:p>
          <a:p>
            <a:pPr algn="just"/>
            <a:r>
              <a:rPr lang="pt-BR" dirty="0">
                <a:solidFill>
                  <a:srgbClr val="FF0000"/>
                </a:solidFill>
              </a:rPr>
              <a:t>0,9</a:t>
            </a:r>
            <a:r>
              <a:rPr lang="pt-BR" dirty="0"/>
              <a:t> do valor mensal do </a:t>
            </a:r>
            <a:r>
              <a:rPr lang="pt-BR" dirty="0">
                <a:solidFill>
                  <a:srgbClr val="FF0000"/>
                </a:solidFill>
              </a:rPr>
              <a:t>aluguel devido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0112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77ACE-9C9C-4F6D-A287-8133F4CC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Kant e a Via Negativa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433269-D741-47E0-9EDF-E9F7F573B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pt-BR" sz="3500" dirty="0"/>
              <a:t>“A teoria é teórica demais para os seres humanos!”                                                 Immanuel Kant</a:t>
            </a:r>
          </a:p>
          <a:p>
            <a:pPr algn="ctr"/>
            <a:r>
              <a:rPr lang="pt-BR" sz="3500" dirty="0"/>
              <a:t>Você sabe o que é o princípio da VIA NEGATIVA?</a:t>
            </a:r>
          </a:p>
          <a:p>
            <a:pPr algn="ctr"/>
            <a:r>
              <a:rPr lang="pt-BR" sz="3500" dirty="0"/>
              <a:t>VIA NEGATIVA é o princípio de que </a:t>
            </a:r>
            <a:r>
              <a:rPr lang="pt-BR" sz="3500" b="1" dirty="0"/>
              <a:t>sabemos o que esta errado com mais clareza do que o que esta certo</a:t>
            </a:r>
            <a:r>
              <a:rPr lang="pt-BR" sz="35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6610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697CE-0B88-452B-9463-22ABBDFC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Planejamento Tributário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678005-D932-460B-9961-C9288CE533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No Brasil, os </a:t>
            </a:r>
            <a:r>
              <a:rPr lang="pt-BR" sz="3500" b="1" dirty="0">
                <a:solidFill>
                  <a:srgbClr val="FF0000"/>
                </a:solidFill>
              </a:rPr>
              <a:t>impostos chegam a representar metade do faturamento </a:t>
            </a:r>
            <a:r>
              <a:rPr lang="pt-BR" sz="3500" dirty="0"/>
              <a:t>de algumas empresas.</a:t>
            </a:r>
          </a:p>
        </p:txBody>
      </p:sp>
    </p:spTree>
    <p:extLst>
      <p:ext uri="{BB962C8B-B14F-4D97-AF65-F5344CB8AC3E}">
        <p14:creationId xmlns:p14="http://schemas.microsoft.com/office/powerpoint/2010/main" val="5109036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AF56A-9701-4D19-8988-B3CE4F5B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Planejamento Tributário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F00310-1022-4500-A4FF-69CE1B9EB6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Um </a:t>
            </a:r>
            <a:r>
              <a:rPr lang="pt-BR" sz="3500" dirty="0">
                <a:solidFill>
                  <a:srgbClr val="FF0000"/>
                </a:solidFill>
              </a:rPr>
              <a:t>engano pode representar multas de até 225% </a:t>
            </a:r>
            <a:r>
              <a:rPr lang="pt-BR" sz="3500" dirty="0"/>
              <a:t>do valor do imposto devido, sem contar os juros.</a:t>
            </a:r>
          </a:p>
        </p:txBody>
      </p:sp>
    </p:spTree>
    <p:extLst>
      <p:ext uri="{BB962C8B-B14F-4D97-AF65-F5344CB8AC3E}">
        <p14:creationId xmlns:p14="http://schemas.microsoft.com/office/powerpoint/2010/main" val="26706563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71473-A97B-4542-B6F4-5307D1B4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Planejamento Tributário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513500-0593-4F6E-8E47-2E7617580C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</a:t>
            </a:r>
            <a:r>
              <a:rPr lang="pt-BR" sz="3500" dirty="0">
                <a:solidFill>
                  <a:srgbClr val="FF0000"/>
                </a:solidFill>
              </a:rPr>
              <a:t>fisco NÃO pode ser driblado</a:t>
            </a:r>
            <a:r>
              <a:rPr lang="pt-BR" sz="3500" dirty="0"/>
              <a:t>,  a tecnologia, a capacidade de realizar fiscalizações em massa é cada vez maior. </a:t>
            </a:r>
          </a:p>
        </p:txBody>
      </p:sp>
    </p:spTree>
    <p:extLst>
      <p:ext uri="{BB962C8B-B14F-4D97-AF65-F5344CB8AC3E}">
        <p14:creationId xmlns:p14="http://schemas.microsoft.com/office/powerpoint/2010/main" val="11886304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E96D4-B712-45D2-B9FB-0459FCFF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Gargalos Tributários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247757-8593-4266-8F02-4DF74D2D9F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b="1" dirty="0"/>
              <a:t>Omitir receitas e faturamentos</a:t>
            </a:r>
          </a:p>
          <a:p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39755006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DBC41-21EF-4162-8A1A-5DCBAC30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Regime tributário incorreto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1DB3E3-EDBD-4CAA-BE34-B56BC081E5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endParaRPr lang="pt-BR" sz="3500" b="1" dirty="0"/>
          </a:p>
          <a:p>
            <a:pPr algn="ctr"/>
            <a:r>
              <a:rPr lang="pt-BR" sz="3500" b="1" dirty="0"/>
              <a:t>O regime tributário deve ser escolhido com cautela.</a:t>
            </a:r>
          </a:p>
          <a:p>
            <a:pPr algn="ctr"/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34871014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067AE-569B-40CF-BFB6-6FC274C4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Créditos apropriados de forma indevida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A2E0E-CBA7-4EE6-87CD-2281F8265D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>
                <a:solidFill>
                  <a:srgbClr val="FF0000"/>
                </a:solidFill>
              </a:rPr>
              <a:t>A legislação brasileira</a:t>
            </a:r>
            <a:r>
              <a:rPr lang="pt-BR" sz="3500" dirty="0"/>
              <a:t>, principalmente de PIS e COFINS, </a:t>
            </a:r>
            <a:r>
              <a:rPr lang="pt-BR" sz="3500" b="1" dirty="0">
                <a:solidFill>
                  <a:srgbClr val="FF0000"/>
                </a:solidFill>
              </a:rPr>
              <a:t>é bastante confusa </a:t>
            </a:r>
            <a:r>
              <a:rPr lang="pt-BR" sz="3500" dirty="0"/>
              <a:t>e, se não tivermos cautela, podemos ter uma interpretação equivocada.</a:t>
            </a:r>
          </a:p>
        </p:txBody>
      </p:sp>
    </p:spTree>
    <p:extLst>
      <p:ext uri="{BB962C8B-B14F-4D97-AF65-F5344CB8AC3E}">
        <p14:creationId xmlns:p14="http://schemas.microsoft.com/office/powerpoint/2010/main" val="34754734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76FA2-FEF6-4C3C-BF4A-0772F525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Atrasar o pagamento dos tributos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B1E110-3D11-468C-8828-35DB1CB491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>
                <a:solidFill>
                  <a:srgbClr val="FF0000"/>
                </a:solidFill>
              </a:rPr>
              <a:t>O Fisco não tolera</a:t>
            </a:r>
            <a:r>
              <a:rPr lang="pt-BR" sz="3500" dirty="0"/>
              <a:t>, e com isso, vem juros e multas.</a:t>
            </a:r>
          </a:p>
        </p:txBody>
      </p:sp>
    </p:spTree>
    <p:extLst>
      <p:ext uri="{BB962C8B-B14F-4D97-AF65-F5344CB8AC3E}">
        <p14:creationId xmlns:p14="http://schemas.microsoft.com/office/powerpoint/2010/main" val="6249449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1CC9D-6E7A-4A40-8948-D6295588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Não entender o Princípio da Entidade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3A3140-6257-41E2-A2F8-284BF88E45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O </a:t>
            </a:r>
            <a:r>
              <a:rPr lang="pt-BR" sz="3500" dirty="0">
                <a:solidFill>
                  <a:srgbClr val="FF0000"/>
                </a:solidFill>
              </a:rPr>
              <a:t>patrimônio dos Sócios </a:t>
            </a:r>
            <a:r>
              <a:rPr lang="pt-BR" sz="3500" dirty="0"/>
              <a:t>não pode ser confundido com o </a:t>
            </a:r>
            <a:r>
              <a:rPr lang="pt-BR" sz="3500" dirty="0">
                <a:solidFill>
                  <a:srgbClr val="FF0000"/>
                </a:solidFill>
              </a:rPr>
              <a:t>patrimônio da empresa</a:t>
            </a:r>
            <a:r>
              <a:rPr lang="pt-BR" sz="3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94329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5F97E-CB0E-4685-9879-9B9BF2B5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Evasão fiscal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A9960-97A0-42D0-8CCE-D9F286615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72817"/>
            <a:ext cx="7772870" cy="4018384"/>
          </a:xfrm>
        </p:spPr>
        <p:txBody>
          <a:bodyPr>
            <a:noAutofit/>
          </a:bodyPr>
          <a:lstStyle/>
          <a:p>
            <a:pPr algn="just"/>
            <a:r>
              <a:rPr lang="pt-BR" sz="3500" dirty="0"/>
              <a:t>Ao contrário da elisão, </a:t>
            </a:r>
            <a:r>
              <a:rPr lang="pt-BR" sz="3500" dirty="0">
                <a:solidFill>
                  <a:srgbClr val="FF0000"/>
                </a:solidFill>
              </a:rPr>
              <a:t>a evasão é a forma ilícita </a:t>
            </a:r>
            <a:r>
              <a:rPr lang="pt-BR" sz="3500" dirty="0"/>
              <a:t>de evitar o pagamento de impostos, taxas ou contribuições de melhoria, esse método se caracteriza pela </a:t>
            </a:r>
            <a:r>
              <a:rPr lang="pt-BR" sz="3500" dirty="0">
                <a:solidFill>
                  <a:srgbClr val="FF0000"/>
                </a:solidFill>
              </a:rPr>
              <a:t>omissão de informações</a:t>
            </a:r>
            <a:r>
              <a:rPr lang="pt-BR" sz="3500" dirty="0"/>
              <a:t>, </a:t>
            </a:r>
            <a:r>
              <a:rPr lang="pt-BR" sz="3500" dirty="0">
                <a:solidFill>
                  <a:srgbClr val="FF0000"/>
                </a:solidFill>
              </a:rPr>
              <a:t>declarações falsas</a:t>
            </a:r>
            <a:r>
              <a:rPr lang="pt-BR" sz="3500" dirty="0"/>
              <a:t>, </a:t>
            </a:r>
            <a:r>
              <a:rPr lang="pt-BR" sz="3500" dirty="0">
                <a:solidFill>
                  <a:srgbClr val="FF0000"/>
                </a:solidFill>
              </a:rPr>
              <a:t>documentos distorcidos</a:t>
            </a:r>
            <a:r>
              <a:rPr lang="pt-BR" sz="3500" dirty="0"/>
              <a:t>, </a:t>
            </a:r>
            <a:r>
              <a:rPr lang="pt-BR" sz="3500" dirty="0">
                <a:solidFill>
                  <a:srgbClr val="FF0000"/>
                </a:solidFill>
              </a:rPr>
              <a:t>documentos falsos</a:t>
            </a:r>
            <a:r>
              <a:rPr lang="pt-BR" sz="3500" dirty="0"/>
              <a:t>, etc.</a:t>
            </a:r>
          </a:p>
          <a:p>
            <a:pPr algn="just"/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8614070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1B9E9-9668-418B-92E3-B6E7B950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Atender à fiscalização de forma inadequada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381E91-4226-4E18-84E0-3F10743F36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/>
              <a:t>Isso pode se </a:t>
            </a:r>
            <a:r>
              <a:rPr lang="pt-BR" sz="3500" dirty="0">
                <a:solidFill>
                  <a:srgbClr val="FF0000"/>
                </a:solidFill>
              </a:rPr>
              <a:t>configurar como embaraço a fiscalização</a:t>
            </a:r>
            <a:r>
              <a:rPr lang="pt-BR" sz="3500" dirty="0"/>
              <a:t> trazendo multas ou auto de infrações, isso gera até expulsão do regime do simples nacional.</a:t>
            </a:r>
          </a:p>
        </p:txBody>
      </p:sp>
    </p:spTree>
    <p:extLst>
      <p:ext uri="{BB962C8B-B14F-4D97-AF65-F5344CB8AC3E}">
        <p14:creationId xmlns:p14="http://schemas.microsoft.com/office/powerpoint/2010/main" val="3542914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pt-BR" dirty="0"/>
            </a:br>
            <a:r>
              <a:rPr lang="pt-BR" b="1" dirty="0"/>
              <a:t>Inspire confiança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500" dirty="0"/>
              <a:t>Os clientes querem fazer negócios com empresas nas quais podem confiar. As relações deverão ser pautadas por:</a:t>
            </a:r>
          </a:p>
          <a:p>
            <a:pPr algn="just"/>
            <a:r>
              <a:rPr lang="pt-BR" sz="3500" dirty="0">
                <a:solidFill>
                  <a:srgbClr val="FF0000"/>
                </a:solidFill>
              </a:rPr>
              <a:t>honestidade e respeito </a:t>
            </a:r>
            <a:r>
              <a:rPr lang="pt-BR" sz="3500" dirty="0"/>
              <a:t>nas negociações;</a:t>
            </a:r>
          </a:p>
          <a:p>
            <a:pPr algn="just"/>
            <a:r>
              <a:rPr lang="pt-BR" sz="3500" dirty="0">
                <a:solidFill>
                  <a:srgbClr val="FF0000"/>
                </a:solidFill>
              </a:rPr>
              <a:t>verdade e clareza </a:t>
            </a:r>
            <a:r>
              <a:rPr lang="pt-BR" sz="3500" dirty="0"/>
              <a:t>sobre o produto ofertado;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Inspire confiança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500" dirty="0">
                <a:solidFill>
                  <a:srgbClr val="FF0000"/>
                </a:solidFill>
              </a:rPr>
              <a:t>Nunca deixar o cliente sem uma solução do seu problema</a:t>
            </a:r>
            <a:r>
              <a:rPr lang="pt-BR" sz="3500" dirty="0"/>
              <a:t>.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C221B-CC64-4DA2-8D96-8AC76A6A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Heleno: O Profeta do Passado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810FCB-F0E6-4074-9AD1-0E8D7941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pt-BR" sz="3000" b="1" dirty="0">
                <a:solidFill>
                  <a:srgbClr val="FF0000"/>
                </a:solidFill>
              </a:rPr>
              <a:t>Para salvar o presente e garantir o futuro, seja um profeta do Passado!!</a:t>
            </a:r>
          </a:p>
          <a:p>
            <a:pPr algn="ctr"/>
            <a:r>
              <a:rPr lang="pt-BR" sz="3000" dirty="0"/>
              <a:t>Heleno, em Ilíada, era um tipo diferente de vidente, era o homem mais esperto do exército de Troia. (Ele disse aos Arcádicos como Troia poderia cair – talvez tenha se esquecido que também cairia junto)</a:t>
            </a:r>
          </a:p>
          <a:p>
            <a:pPr algn="ctr"/>
            <a:r>
              <a:rPr lang="pt-BR" sz="3000" dirty="0"/>
              <a:t>Heleno, diferente de outros videntes, era capaz de </a:t>
            </a:r>
            <a:r>
              <a:rPr lang="pt-BR" sz="3000" dirty="0">
                <a:solidFill>
                  <a:srgbClr val="FF0000"/>
                </a:solidFill>
              </a:rPr>
              <a:t>prever o passado com grande precisão</a:t>
            </a:r>
            <a:r>
              <a:rPr lang="pt-BR" sz="3000" dirty="0"/>
              <a:t>, ele fazia </a:t>
            </a:r>
            <a:r>
              <a:rPr lang="pt-BR" sz="3000" b="1" dirty="0"/>
              <a:t>previsões ao contrário</a:t>
            </a:r>
            <a:r>
              <a:rPr lang="pt-BR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592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34291-BA55-4DB3-B73B-9EA5FC06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 Derretimento do Cubo de Gelo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F60808-4948-4620-9BA0-70BB188D8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4000" dirty="0"/>
              <a:t>Tomarei emprestado o experimento dos doutores Aaron Brown e Paul </a:t>
            </a:r>
            <a:r>
              <a:rPr lang="pt-BR" sz="4000" dirty="0" err="1"/>
              <a:t>Wilmott</a:t>
            </a:r>
            <a:r>
              <a:rPr lang="pt-BR" sz="4000" dirty="0"/>
              <a:t>.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Operação 1: Deixe um cubo de Gelo em cima de uma mesa e imagine como ele ficará depois de derretem.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8F9995-B2CB-4914-9E4E-395D0BB2D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4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8B9FB-6D99-44C5-9E93-93E98750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 poça d’Agua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D56965-FC9D-4289-BFE3-049DC6D4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/>
              <a:t>Considere agora uma poça d’água no chão, tente reconstruir mentalmente a forma do cubo.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08A455-7A43-4FD2-9C62-0320A1138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147" y="3645024"/>
            <a:ext cx="6541706" cy="228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13F7D-10B7-45C3-8674-2FED0C56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Não Sabemos que não sabemos o que não sabemos...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8627A-58BA-4539-9353-A7826249C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000" dirty="0"/>
              <a:t>A poça não necessariamente pode ter sido originada por um cubo de gelo, a segunda operação é muito mais difícil...</a:t>
            </a:r>
          </a:p>
          <a:p>
            <a:pPr algn="just"/>
            <a:endParaRPr lang="pt-BR" sz="3000" dirty="0"/>
          </a:p>
          <a:p>
            <a:pPr algn="just"/>
            <a:r>
              <a:rPr lang="pt-BR" sz="3000" dirty="0"/>
              <a:t>Processo </a:t>
            </a:r>
            <a:r>
              <a:rPr lang="pt-BR" sz="3000" dirty="0" err="1"/>
              <a:t>Forward</a:t>
            </a:r>
            <a:r>
              <a:rPr lang="pt-BR" sz="3000" dirty="0"/>
              <a:t> (para a frente): Usado geralmente na física e engenharia.</a:t>
            </a:r>
          </a:p>
          <a:p>
            <a:pPr algn="just"/>
            <a:endParaRPr lang="pt-BR" sz="3000" dirty="0"/>
          </a:p>
          <a:p>
            <a:pPr algn="just"/>
            <a:r>
              <a:rPr lang="pt-BR" sz="3000" dirty="0"/>
              <a:t>Processo </a:t>
            </a:r>
            <a:r>
              <a:rPr lang="pt-BR" sz="3000" dirty="0" err="1"/>
              <a:t>Backward</a:t>
            </a:r>
            <a:r>
              <a:rPr lang="pt-BR" sz="3000" dirty="0"/>
              <a:t> (inverso): Usado geralmente em abordagens históricas não experimentais.  = é muito, mas muito complicado!!!</a:t>
            </a:r>
          </a:p>
        </p:txBody>
      </p:sp>
    </p:spTree>
    <p:extLst>
      <p:ext uri="{BB962C8B-B14F-4D97-AF65-F5344CB8AC3E}">
        <p14:creationId xmlns:p14="http://schemas.microsoft.com/office/powerpoint/2010/main" val="43725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F8B37-325D-4590-9434-3730BA07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 Biblioteca de Humberto Eco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2A7CF-DB1A-4142-B872-D6CDAFBC6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000" dirty="0"/>
              <a:t>Para salvar o presente e garantir o futuro, seja um profeta do Passado!! (LEMBRA QUE EU DISSE ISSO?)</a:t>
            </a:r>
          </a:p>
          <a:p>
            <a:pPr algn="ctr"/>
            <a:endParaRPr lang="pt-BR" sz="3000" dirty="0"/>
          </a:p>
          <a:p>
            <a:pPr algn="ctr"/>
            <a:r>
              <a:rPr lang="pt-BR" sz="3000" dirty="0"/>
              <a:t>Moral da História: Somente poderemos fazer um excelente trabalho em uma empresa no presente – garantindo assim um futuro, se resolvermos os problemas do passado!</a:t>
            </a:r>
          </a:p>
          <a:p>
            <a:pPr algn="ctr"/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414245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Segundo Sun </a:t>
            </a:r>
            <a:r>
              <a:rPr lang="pt-BR" dirty="0" err="1"/>
              <a:t>Tzu</a:t>
            </a:r>
            <a:r>
              <a:rPr lang="pt-BR" dirty="0"/>
              <a:t>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“O mais importante na guerra é a vitória e não a persistência. Nunca se prolongue.”</a:t>
            </a:r>
          </a:p>
          <a:p>
            <a:pPr algn="just"/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59681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4277</Words>
  <Application>Microsoft Office PowerPoint</Application>
  <PresentationFormat>Apresentação na tela (4:3)</PresentationFormat>
  <Paragraphs>474</Paragraphs>
  <Slides>84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84</vt:i4>
      </vt:variant>
    </vt:vector>
  </HeadingPairs>
  <TitlesOfParts>
    <vt:vector size="89" baseType="lpstr">
      <vt:lpstr>Arial</vt:lpstr>
      <vt:lpstr>Calibri</vt:lpstr>
      <vt:lpstr>Calibri Light</vt:lpstr>
      <vt:lpstr>Times New Roman</vt:lpstr>
      <vt:lpstr>Tema do Office</vt:lpstr>
      <vt:lpstr>Planejamento Tributário na Prática</vt:lpstr>
      <vt:lpstr>Currículo resumido do Professor</vt:lpstr>
      <vt:lpstr>Apresentação do PowerPoint</vt:lpstr>
      <vt:lpstr>A importante decisão</vt:lpstr>
      <vt:lpstr>Apresentação do PowerPoint</vt:lpstr>
      <vt:lpstr>Pensar bem faz bem!</vt:lpstr>
      <vt:lpstr>Cuidado ao ser um “Especialista”</vt:lpstr>
      <vt:lpstr>SIMPLES NACIONAL</vt:lpstr>
      <vt:lpstr>Os tributos abrangidos pelo Simples Nacional São: </vt:lpstr>
      <vt:lpstr>Lucro Presumido</vt:lpstr>
      <vt:lpstr>Lucro Presumido</vt:lpstr>
      <vt:lpstr>Lucro Presumido</vt:lpstr>
      <vt:lpstr>Percentuais de presunção. Art. 220 do Decreto 9.580/18 - Alíquotas </vt:lpstr>
      <vt:lpstr>Percentuais de presunção. Art. 220 do Decreto 9.580/18 - Alíquotas </vt:lpstr>
      <vt:lpstr>E as outras receitas não abrangidas?</vt:lpstr>
      <vt:lpstr>E as outras receitas não abrangidas?</vt:lpstr>
      <vt:lpstr>Imposto de Renda </vt:lpstr>
      <vt:lpstr>Imposto de Renda</vt:lpstr>
      <vt:lpstr>Imposto de Renda</vt:lpstr>
      <vt:lpstr>Quadro Resumo</vt:lpstr>
      <vt:lpstr>Imposto de Renda</vt:lpstr>
      <vt:lpstr>O que é o lucro real? </vt:lpstr>
      <vt:lpstr>Planejamento Tributário</vt:lpstr>
      <vt:lpstr>Break Even Point</vt:lpstr>
      <vt:lpstr>Um pouco mais de Dopamina</vt:lpstr>
      <vt:lpstr>Metodologia Presumido x Real Empresas sem Adicional </vt:lpstr>
      <vt:lpstr>Metodologia Presumido x Real Empresas sem Adicional</vt:lpstr>
      <vt:lpstr>Metodologia Presumido x Real Empresas sem Adicional</vt:lpstr>
      <vt:lpstr>Metodologia Presumido x Real Empresas com Adicional </vt:lpstr>
      <vt:lpstr>Metodologia Presumido x Real Empresas com Adicional</vt:lpstr>
      <vt:lpstr>Metodologia Presumido x Real Empresas com Adicional</vt:lpstr>
      <vt:lpstr>Apresentação do PowerPoint</vt:lpstr>
      <vt:lpstr>FÓRMULAS – LUCRO REAL</vt:lpstr>
      <vt:lpstr>FÓRMULAS – LUCRO PRESUMIDO</vt:lpstr>
      <vt:lpstr>O Sono da Razão Produz Monstros (Goya)</vt:lpstr>
      <vt:lpstr>PIS e COFINS</vt:lpstr>
      <vt:lpstr>PIS e COFINS</vt:lpstr>
      <vt:lpstr>Diferença entre Pis e Pasep</vt:lpstr>
      <vt:lpstr>PIS e COFINS</vt:lpstr>
      <vt:lpstr>PIS e COFINS</vt:lpstr>
      <vt:lpstr>Contribuição de PIS e COFINS</vt:lpstr>
      <vt:lpstr>PIS</vt:lpstr>
      <vt:lpstr>PIS</vt:lpstr>
      <vt:lpstr>Contribuição de PIS e COFINS</vt:lpstr>
      <vt:lpstr>COFINS</vt:lpstr>
      <vt:lpstr>COFINS</vt:lpstr>
      <vt:lpstr>COFINS</vt:lpstr>
      <vt:lpstr>COFINS</vt:lpstr>
      <vt:lpstr>Contribuição de PIS e COFINS</vt:lpstr>
      <vt:lpstr>Contribuição de PIS</vt:lpstr>
      <vt:lpstr>COFINS</vt:lpstr>
      <vt:lpstr>Contribuição de PIS e COFINS</vt:lpstr>
      <vt:lpstr>Contribuição de PIS e COFINS</vt:lpstr>
      <vt:lpstr>Contribuição de PIS e COFINS</vt:lpstr>
      <vt:lpstr>Contribuição de PIS e COFINS</vt:lpstr>
      <vt:lpstr>Break Even Point – PIS e COFINS</vt:lpstr>
      <vt:lpstr>Break Even Point – PIS e COFINS</vt:lpstr>
      <vt:lpstr>Um pouco mais de Serotonina</vt:lpstr>
      <vt:lpstr>LUCRO REAL ANUAL X LUCRO REAL TRIMESTRAL</vt:lpstr>
      <vt:lpstr>EXEMPLO COM RECEITAS QUE OSCILAM</vt:lpstr>
      <vt:lpstr>EXEMPLO COM RECEITAS CONSTANTES</vt:lpstr>
      <vt:lpstr>A cama de Procrustes (Mitologia Grega)</vt:lpstr>
      <vt:lpstr>Todos no mesmo Barco!!!</vt:lpstr>
      <vt:lpstr>LUCRO ARBITRADO (Art. 602 do Decreto 9.580)</vt:lpstr>
      <vt:lpstr>Base de cálculo do Lucro Arbitrado (Art. 608, Decreto 9.580)</vt:lpstr>
      <vt:lpstr>Kant e a Via Negativa</vt:lpstr>
      <vt:lpstr>Planejamento Tributário</vt:lpstr>
      <vt:lpstr>Planejamento Tributário</vt:lpstr>
      <vt:lpstr>Planejamento Tributário</vt:lpstr>
      <vt:lpstr>Gargalos Tributários</vt:lpstr>
      <vt:lpstr>Regime tributário incorreto </vt:lpstr>
      <vt:lpstr>Créditos apropriados de forma indevida </vt:lpstr>
      <vt:lpstr>Atrasar o pagamento dos tributos </vt:lpstr>
      <vt:lpstr>Não entender o Princípio da Entidade</vt:lpstr>
      <vt:lpstr>Evasão fiscal </vt:lpstr>
      <vt:lpstr>Atender à fiscalização de forma inadequada </vt:lpstr>
      <vt:lpstr> Inspire confiança</vt:lpstr>
      <vt:lpstr>Inspire confiança</vt:lpstr>
      <vt:lpstr>Heleno: O Profeta do Passado</vt:lpstr>
      <vt:lpstr>O Derretimento do Cubo de Gelo</vt:lpstr>
      <vt:lpstr>A poça d’Agua</vt:lpstr>
      <vt:lpstr>Não Sabemos que não sabemos o que não sabemos...</vt:lpstr>
      <vt:lpstr>A Biblioteca de Humberto Eco</vt:lpstr>
      <vt:lpstr>Segundo Sun Tzu...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Fabio A. da Silva</dc:creator>
  <cp:lastModifiedBy>Fábio Andrade</cp:lastModifiedBy>
  <cp:revision>114</cp:revision>
  <dcterms:created xsi:type="dcterms:W3CDTF">2015-08-12T02:52:17Z</dcterms:created>
  <dcterms:modified xsi:type="dcterms:W3CDTF">2019-12-13T05:32:11Z</dcterms:modified>
</cp:coreProperties>
</file>