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1"/>
  </p:notesMasterIdLst>
  <p:sldIdLst>
    <p:sldId id="419" r:id="rId2"/>
    <p:sldId id="417" r:id="rId3"/>
    <p:sldId id="258" r:id="rId4"/>
    <p:sldId id="360" r:id="rId5"/>
    <p:sldId id="353" r:id="rId6"/>
    <p:sldId id="354" r:id="rId7"/>
    <p:sldId id="412" r:id="rId8"/>
    <p:sldId id="411" r:id="rId9"/>
    <p:sldId id="260" r:id="rId10"/>
    <p:sldId id="261" r:id="rId11"/>
    <p:sldId id="259" r:id="rId12"/>
    <p:sldId id="361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413" r:id="rId23"/>
    <p:sldId id="414" r:id="rId24"/>
    <p:sldId id="280" r:id="rId25"/>
    <p:sldId id="279" r:id="rId26"/>
    <p:sldId id="281" r:id="rId27"/>
    <p:sldId id="320" r:id="rId28"/>
    <p:sldId id="365" r:id="rId29"/>
    <p:sldId id="366" r:id="rId30"/>
    <p:sldId id="415" r:id="rId31"/>
    <p:sldId id="319" r:id="rId32"/>
    <p:sldId id="285" r:id="rId33"/>
    <p:sldId id="286" r:id="rId34"/>
    <p:sldId id="321" r:id="rId35"/>
    <p:sldId id="395" r:id="rId36"/>
    <p:sldId id="398" r:id="rId37"/>
    <p:sldId id="396" r:id="rId38"/>
    <p:sldId id="357" r:id="rId39"/>
    <p:sldId id="359" r:id="rId40"/>
    <p:sldId id="385" r:id="rId41"/>
    <p:sldId id="369" r:id="rId42"/>
    <p:sldId id="416" r:id="rId43"/>
    <p:sldId id="363" r:id="rId44"/>
    <p:sldId id="339" r:id="rId45"/>
    <p:sldId id="340" r:id="rId46"/>
    <p:sldId id="380" r:id="rId47"/>
    <p:sldId id="381" r:id="rId48"/>
    <p:sldId id="382" r:id="rId49"/>
    <p:sldId id="377" r:id="rId50"/>
    <p:sldId id="387" r:id="rId51"/>
    <p:sldId id="379" r:id="rId52"/>
    <p:sldId id="390" r:id="rId53"/>
    <p:sldId id="378" r:id="rId54"/>
    <p:sldId id="345" r:id="rId55"/>
    <p:sldId id="346" r:id="rId56"/>
    <p:sldId id="347" r:id="rId57"/>
    <p:sldId id="370" r:id="rId58"/>
    <p:sldId id="371" r:id="rId59"/>
    <p:sldId id="372" r:id="rId60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B792"/>
    <a:srgbClr val="FCFC12"/>
    <a:srgbClr val="CCFFCC"/>
    <a:srgbClr val="CCFFFF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8" autoAdjust="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07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FF2D1-70DD-4FBE-80C6-8E4AA007710D}" type="datetimeFigureOut">
              <a:rPr lang="pt-BR" smtClean="0"/>
              <a:t>20/05/2016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1A5E2-6CF3-4B2B-9E31-8D4EB096C86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78AC9-5883-4D51-993D-426484A3B80C}" type="slidenum">
              <a:rPr lang="pt-BR" smtClean="0"/>
              <a:pPr/>
              <a:t>1</a:t>
            </a:fld>
            <a:endParaRPr lang="pt-BR" smtClean="0"/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</p:grpSp>
      <p:sp>
        <p:nvSpPr>
          <p:cNvPr id="6186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6187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1D8EF-467E-4C61-9A3B-C48E28C70F6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03E9A-64C2-48BF-8C5A-5175B538F17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9DA02-DD31-4CF1-B45E-F209E6797D9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D06E6-0E0C-46C4-8465-E743101929E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05B04-1787-407C-BAB6-DEB07FC9CF7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9ECF0-AEB8-4265-B30D-B991713BE58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6F982-4FC4-4A6F-B521-E648FC840A4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1CC8D-0A92-439F-AF15-A5B67602C73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27378-628A-4402-850C-EF54DB3B82B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A023E-9761-4ADE-83A9-F7B4F7277EB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689C-297E-41C6-B216-534A48EBFC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ítulo, conteúd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484ED-0B2F-48E4-B156-D24FA8EC05E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DFE78-C2A5-46B6-8C40-26D73CB9AC7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123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24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25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26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27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28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29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0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1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2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3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4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5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6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7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8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39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0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1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2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3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4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5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6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7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8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49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0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1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2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3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4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5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6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7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5158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grpSp>
          <p:nvGrpSpPr>
            <p:cNvPr id="1068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5160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  <p:sp>
            <p:nvSpPr>
              <p:cNvPr id="5161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</p:grpSp>
      <p:sp>
        <p:nvSpPr>
          <p:cNvPr id="5162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516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5164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65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66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ABD954D9-EC93-415D-BDFB-77F51CE3867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8" r:id="rId1"/>
    <p:sldLayoutId id="2147483717" r:id="rId2"/>
    <p:sldLayoutId id="2147483716" r:id="rId3"/>
    <p:sldLayoutId id="2147483715" r:id="rId4"/>
    <p:sldLayoutId id="2147483714" r:id="rId5"/>
    <p:sldLayoutId id="2147483713" r:id="rId6"/>
    <p:sldLayoutId id="2147483712" r:id="rId7"/>
    <p:sldLayoutId id="2147483711" r:id="rId8"/>
    <p:sldLayoutId id="2147483710" r:id="rId9"/>
    <p:sldLayoutId id="2147483709" r:id="rId10"/>
    <p:sldLayoutId id="2147483708" r:id="rId11"/>
    <p:sldLayoutId id="2147483707" r:id="rId12"/>
    <p:sldLayoutId id="2147483706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Blip>
          <a:blip r:embed="rId15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Blip>
          <a:blip r:embed="rId16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7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hyperlink" Target="mailto:nicms@fazenda.df.gov.br" TargetMode="Externa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zenda.df.gov.br/aplicacoes/legislacao/legislacao/TelaSaidaDocumento.cfm?txtNumero=18955&amp;txtAno=1997&amp;txtTipo=6&amp;txtParte=ANEXO%2004%20CADERNO%2001" TargetMode="External"/><Relationship Id="rId2" Type="http://schemas.openxmlformats.org/officeDocument/2006/relationships/hyperlink" Target="http://www.fazenda.df.gov.br/aplicacoes/legislacao/legislacao/TelaSaidaDocumento.cfm?txtNumero=1254&amp;txtAno=1996&amp;txtTipo=5&amp;txtParte=.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zenda.df.gov.br/aplicacoes/legislacao/legislacao/TelaSaidaDocumento.cfm?txtNumero=1254&amp;txtAno=1996&amp;txtTipo=5&amp;txtParte=.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http://www.desenvolvimento.gov.br/images/Mercad1.gi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zenda.df.gov.br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2133600"/>
            <a:ext cx="8569325" cy="2160588"/>
          </a:xfrm>
        </p:spPr>
        <p:txBody>
          <a:bodyPr/>
          <a:lstStyle/>
          <a:p>
            <a:pPr eaLnBrk="1" hangingPunct="1">
              <a:defRPr/>
            </a:pPr>
            <a:r>
              <a:rPr lang="pt-BR" sz="6600" dirty="0" smtClean="0"/>
              <a:t>ICMS </a:t>
            </a:r>
            <a:r>
              <a:rPr lang="pt-BR" sz="6000" dirty="0" smtClean="0"/>
              <a:t> </a:t>
            </a:r>
            <a:br>
              <a:rPr lang="pt-BR" sz="6000" dirty="0" smtClean="0"/>
            </a:br>
            <a:r>
              <a:rPr lang="pt-BR" dirty="0" smtClean="0"/>
              <a:t>Substituição Tributária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79388" y="188913"/>
          <a:ext cx="1368425" cy="1368425"/>
        </p:xfrm>
        <a:graphic>
          <a:graphicData uri="http://schemas.openxmlformats.org/presentationml/2006/ole">
            <p:oleObj spid="_x0000_s1026" name="Imagem de bitmap" r:id="rId4" imgW="1600000" imgH="1905266" progId="Paint.Picture">
              <p:embed/>
            </p:oleObj>
          </a:graphicData>
        </a:graphic>
      </p:graphicFrame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179388" y="188913"/>
            <a:ext cx="9906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pt-BR"/>
          </a:p>
        </p:txBody>
      </p:sp>
      <p:sp>
        <p:nvSpPr>
          <p:cNvPr id="1029" name="Rectangle 9"/>
          <p:cNvSpPr>
            <a:spLocks noChangeArrowheads="1"/>
          </p:cNvSpPr>
          <p:nvPr/>
        </p:nvSpPr>
        <p:spPr bwMode="auto">
          <a:xfrm>
            <a:off x="179388" y="188913"/>
            <a:ext cx="1033462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pt-BR"/>
          </a:p>
        </p:txBody>
      </p:sp>
      <p:graphicFrame>
        <p:nvGraphicFramePr>
          <p:cNvPr id="2080" name="Group 32"/>
          <p:cNvGraphicFramePr>
            <a:graphicFrameLocks noGrp="1"/>
          </p:cNvGraphicFramePr>
          <p:nvPr/>
        </p:nvGraphicFramePr>
        <p:xfrm>
          <a:off x="1476375" y="188913"/>
          <a:ext cx="6363018" cy="1371600"/>
        </p:xfrm>
        <a:graphic>
          <a:graphicData uri="http://schemas.openxmlformats.org/drawingml/2006/table">
            <a:tbl>
              <a:tblPr/>
              <a:tblGrid>
                <a:gridCol w="358775"/>
                <a:gridCol w="5795963"/>
                <a:gridCol w="208280"/>
              </a:tblGrid>
              <a:tr h="936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GOVERNO DO DISTRITO FEDERAL</a:t>
                      </a:r>
                      <a:endParaRPr kumimoji="0" lang="pt-B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SECRETARIA DE ESTADO DE FAZENDA</a:t>
                      </a:r>
                      <a:endParaRPr kumimoji="0" lang="pt-B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SUBSECRETARIA DA RECEITA</a:t>
                      </a:r>
                      <a:endParaRPr kumimoji="0" lang="pt-B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COORDENAÇÃO DE FISCALIZAÇÃO TRIBUTÁRIA</a:t>
                      </a:r>
                      <a:endParaRPr kumimoji="0" lang="pt-B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GERÊNCIA DE MONITORAMENTO E AUDITORIAS ESPECIAIS</a:t>
                      </a:r>
                      <a:endParaRPr kumimoji="0" lang="pt-B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NICMS: NÚCLEO DE MONITORAMENTO DO ICMS</a:t>
                      </a:r>
                      <a:endParaRPr kumimoji="0" lang="pt-B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179388" y="4437063"/>
            <a:ext cx="8569325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/>
          <a:lstStyle/>
          <a:p>
            <a:pPr>
              <a:defRPr/>
            </a:pP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NICMS: NÚCLEO DE MONITORAMENTO DO ICMS</a:t>
            </a:r>
            <a:b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</a:b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Fones: </a:t>
            </a:r>
            <a:r>
              <a:rPr lang="pt-BR" sz="1600" dirty="0" smtClean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3312-8419 </a:t>
            </a: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– </a:t>
            </a:r>
            <a:r>
              <a:rPr lang="pt-BR" sz="1600" dirty="0" smtClean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3312.8422</a:t>
            </a: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/>
            </a:r>
            <a:b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</a:b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e-mail: </a:t>
            </a: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  <a:hlinkClick r:id="rId5"/>
              </a:rPr>
              <a:t>nicms@fazenda.df.gov.br</a:t>
            </a: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/>
            </a:r>
            <a:b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</a:br>
            <a:r>
              <a:rPr lang="pt-BR" sz="1600" dirty="0" smtClean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Auditor Fiscal da Receita do DF: </a:t>
            </a:r>
            <a:r>
              <a:rPr lang="pt-BR" sz="1600" dirty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Pedro Pereira </a:t>
            </a:r>
            <a:r>
              <a:rPr lang="pt-BR" sz="1600" dirty="0" smtClean="0">
                <a:solidFill>
                  <a:schemeClr val="tx2"/>
                </a:solidFill>
                <a:latin typeface="Arial" charset="0"/>
                <a:ea typeface="Times New Roman" pitchFamily="18" charset="0"/>
                <a:cs typeface="Arial" charset="0"/>
              </a:rPr>
              <a:t>de Matos Júnior</a:t>
            </a:r>
            <a:endParaRPr lang="pt-BR" sz="1600" b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00200"/>
            <a:ext cx="8229600" cy="2980928"/>
          </a:xfrm>
        </p:spPr>
        <p:txBody>
          <a:bodyPr/>
          <a:lstStyle/>
          <a:p>
            <a:pPr eaLnBrk="1" hangingPunct="1">
              <a:defRPr/>
            </a:pPr>
            <a:r>
              <a:rPr lang="pt-BR" b="1" dirty="0" smtClean="0">
                <a:solidFill>
                  <a:srgbClr val="FFFF00"/>
                </a:solidFill>
              </a:rPr>
              <a:t>NORMAS GERAIS</a:t>
            </a:r>
            <a:br>
              <a:rPr lang="pt-BR" b="1" dirty="0" smtClean="0">
                <a:solidFill>
                  <a:srgbClr val="FFFF00"/>
                </a:solidFill>
              </a:rPr>
            </a:br>
            <a:r>
              <a:rPr lang="pt-BR" b="1" dirty="0" smtClean="0">
                <a:solidFill>
                  <a:srgbClr val="FFFF00"/>
                </a:solidFill>
              </a:rPr>
              <a:t>ICMS/ST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smtClean="0">
                <a:solidFill>
                  <a:schemeClr val="tx1"/>
                </a:solidFill>
              </a:rPr>
              <a:t>ASPECTOS DA SUBSTITUIÇÃO TRIBUTÁRIA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2800" b="1" dirty="0" smtClean="0">
                <a:solidFill>
                  <a:srgbClr val="FFFF00"/>
                </a:solidFill>
              </a:rPr>
              <a:t>Praticidade da tributação;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pt-BR" sz="2800" b="1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2800" b="1" dirty="0" smtClean="0">
                <a:solidFill>
                  <a:srgbClr val="FFFF00"/>
                </a:solidFill>
              </a:rPr>
              <a:t>Maior grau de segurança fiscal;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pt-BR" sz="2800" b="1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2800" b="1" dirty="0" smtClean="0">
                <a:solidFill>
                  <a:srgbClr val="FFFF00"/>
                </a:solidFill>
              </a:rPr>
              <a:t>Redução dos custos na arrecadação;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pt-BR" sz="2800" b="1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2800" b="1" dirty="0" smtClean="0">
                <a:solidFill>
                  <a:srgbClr val="FFFF00"/>
                </a:solidFill>
              </a:rPr>
              <a:t>Redução da máquina fiscal;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pt-BR" sz="2800" b="1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pt-BR" sz="2800" b="1" dirty="0" smtClean="0">
                <a:solidFill>
                  <a:srgbClr val="FFFF00"/>
                </a:solidFill>
              </a:rPr>
              <a:t>Maior justiça fiscal / Distribuição equitativa da carga tributária</a:t>
            </a:r>
          </a:p>
          <a:p>
            <a:pPr eaLnBrk="1" hangingPunct="1">
              <a:lnSpc>
                <a:spcPct val="80000"/>
              </a:lnSpc>
              <a:defRPr/>
            </a:pPr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SUBSTITUIÇÃO TRIBUTÁRIA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solidFill>
                  <a:srgbClr val="FFFF00"/>
                </a:solidFill>
              </a:rPr>
              <a:t>DISPOSIÇÕES LEGAIS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/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4996266-47A8-4701-AF12-A2FE7961DBCB}" type="slidenum">
              <a:rPr lang="pt-BR" sz="1200">
                <a:effectLst>
                  <a:outerShdw blurRad="38100" dist="38100" dir="2700000" algn="tl">
                    <a:srgbClr val="000000"/>
                  </a:outerShdw>
                </a:effectLst>
              </a:rPr>
              <a:pPr algn="r">
                <a:defRPr/>
              </a:pPr>
              <a:t>5</a:t>
            </a:fld>
            <a:endParaRPr 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60400" y="317500"/>
            <a:ext cx="7772400" cy="844550"/>
          </a:xfrm>
        </p:spPr>
        <p:txBody>
          <a:bodyPr/>
          <a:lstStyle/>
          <a:p>
            <a:pPr eaLnBrk="1" hangingPunct="1">
              <a:defRPr/>
            </a:pPr>
            <a:r>
              <a:rPr lang="pt-BR" sz="2000" b="1" smtClean="0">
                <a:solidFill>
                  <a:schemeClr val="folHlink"/>
                </a:solidFill>
              </a:rPr>
              <a:t>DEFINIÇÃO DO REGIME DA SUBSTITUIÇÃO TRIBUTÁRIA</a:t>
            </a:r>
            <a:r>
              <a:rPr lang="pt-BR" sz="2000" smtClean="0"/>
              <a:t> </a:t>
            </a:r>
            <a:endParaRPr lang="pt-BR" smtClean="0">
              <a:solidFill>
                <a:srgbClr val="FFFF00"/>
              </a:solidFill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1910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  <a:cs typeface="Arial" charset="0"/>
              </a:rPr>
              <a:t>Segundo o CTN: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pt-BR" sz="2400" b="1" smtClean="0">
              <a:solidFill>
                <a:srgbClr val="FFFF00"/>
              </a:solidFill>
              <a:cs typeface="Arial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  <a:cs typeface="Times New Roman" pitchFamily="18" charset="0"/>
              </a:rPr>
              <a:t>	“</a:t>
            </a:r>
            <a:r>
              <a:rPr lang="pt-BR" sz="2400" b="1" smtClean="0">
                <a:solidFill>
                  <a:srgbClr val="FFFF00"/>
                </a:solidFill>
                <a:ea typeface="Arial Unicode MS" pitchFamily="34" charset="-128"/>
                <a:cs typeface="Arial Unicode MS" pitchFamily="34" charset="-128"/>
              </a:rPr>
              <a:t>Art. 121 -Sujeito passivo da obrigação principal é a pessoa obrigada ao pagamento de tributo ou penalidade pecuniária.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</a:rPr>
              <a:t>	Parágrafo único - O sujeito passivo da obrigação principal diz-se: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</a:rPr>
              <a:t>	I - contribuinte, quando tenha relação pessoal e direta com a situação que constitua o respectivo fato gerador;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</a:rPr>
              <a:t>	II - responsável, quando, sem revestir a condição de contribuinte, sua obrigação decorra de disposição expressa de lei.</a:t>
            </a:r>
            <a:r>
              <a:rPr lang="pt-BR" sz="2400" b="1" smtClean="0">
                <a:solidFill>
                  <a:srgbClr val="FFFF00"/>
                </a:solidFill>
                <a:cs typeface="Times New Roman" pitchFamily="18" charset="0"/>
              </a:rPr>
              <a:t>”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/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F024CE4-23CF-4C78-B91A-DB0FFBCAF98B}" type="slidenum">
              <a:rPr lang="pt-BR" sz="1200">
                <a:effectLst>
                  <a:outerShdw blurRad="38100" dist="38100" dir="2700000" algn="tl">
                    <a:srgbClr val="000000"/>
                  </a:outerShdw>
                </a:effectLst>
              </a:rPr>
              <a:pPr algn="r">
                <a:defRPr/>
              </a:pPr>
              <a:t>6</a:t>
            </a:fld>
            <a:endParaRPr 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2100" b="1" smtClean="0">
                <a:solidFill>
                  <a:schemeClr val="folHlink"/>
                </a:solidFill>
              </a:rPr>
              <a:t>DEFINIÇÃO DO REGIME DA SUBSTITUIÇÃO TRIBUTÁRIA</a:t>
            </a:r>
            <a:r>
              <a:rPr lang="pt-BR" sz="2100" smtClean="0"/>
              <a:t> 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497288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  <a:defRPr/>
            </a:pPr>
            <a:endParaRPr lang="pt-BR" sz="2800" dirty="0" smtClean="0">
              <a:solidFill>
                <a:schemeClr val="folHlink"/>
              </a:solidFill>
            </a:endParaRPr>
          </a:p>
          <a:p>
            <a:pPr marL="342900" lvl="1" indent="-34290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hlink"/>
              </a:buClr>
              <a:buSzPct val="90000"/>
              <a:buNone/>
              <a:defRPr/>
            </a:pPr>
            <a:r>
              <a:rPr lang="pt-BR" b="1" dirty="0" smtClean="0">
                <a:solidFill>
                  <a:srgbClr val="FCFC12"/>
                </a:solidFill>
              </a:rPr>
              <a:t>   Substituto</a:t>
            </a:r>
            <a:r>
              <a:rPr lang="pt-BR" dirty="0" smtClean="0">
                <a:solidFill>
                  <a:srgbClr val="FCFC12"/>
                </a:solidFill>
              </a:rPr>
              <a:t> – É o responsável pelo cálculo, retenção e recolhimento do imposto. Nos termos do parágrafo único da cláusula quinta do Convênio ICMS 81/93 o substituto tributário é aquele definido nos respectivos convênios ou protocolos.</a:t>
            </a:r>
            <a:endParaRPr lang="pt-BR" sz="2400" dirty="0" smtClean="0">
              <a:solidFill>
                <a:srgbClr val="FCFC12"/>
              </a:solidFill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pt-BR" sz="2400" b="1" dirty="0" smtClean="0">
              <a:solidFill>
                <a:srgbClr val="FFFF00"/>
              </a:solidFill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pt-BR" sz="2800" dirty="0" smtClean="0">
                <a:solidFill>
                  <a:schemeClr val="folHlink"/>
                </a:solidFill>
              </a:rPr>
              <a:t>.</a:t>
            </a:r>
            <a:endParaRPr lang="pt-BR" sz="2400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autoUpdateAnimBg="0"/>
      <p:bldP spid="38502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/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F024CE4-23CF-4C78-B91A-DB0FFBCAF98B}" type="slidenum">
              <a:rPr lang="pt-BR" sz="1200">
                <a:effectLst>
                  <a:outerShdw blurRad="38100" dist="38100" dir="2700000" algn="tl">
                    <a:srgbClr val="000000"/>
                  </a:outerShdw>
                </a:effectLst>
              </a:rPr>
              <a:pPr algn="r">
                <a:defRPr/>
              </a:pPr>
              <a:t>7</a:t>
            </a:fld>
            <a:endParaRPr 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2100" b="1" smtClean="0">
                <a:solidFill>
                  <a:schemeClr val="folHlink"/>
                </a:solidFill>
              </a:rPr>
              <a:t>DEFINIÇÃO DO REGIME DA SUBSTITUIÇÃO TRIBUTÁRIA</a:t>
            </a:r>
            <a:r>
              <a:rPr lang="pt-BR" sz="2100" smtClean="0"/>
              <a:t> 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1910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  <a:defRPr/>
            </a:pPr>
            <a:endParaRPr lang="pt-BR" sz="2800" dirty="0" smtClean="0">
              <a:solidFill>
                <a:schemeClr val="folHlink"/>
              </a:solidFill>
            </a:endParaRPr>
          </a:p>
          <a:p>
            <a:pPr marL="180000" lvl="1" indent="-34290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hlink"/>
              </a:buClr>
              <a:buSzPct val="90000"/>
              <a:buNone/>
              <a:defRPr/>
            </a:pPr>
            <a:r>
              <a:rPr lang="pt-BR" b="1" dirty="0" smtClean="0">
                <a:solidFill>
                  <a:srgbClr val="FCFC12"/>
                </a:solidFill>
              </a:rPr>
              <a:t>   Substituído</a:t>
            </a:r>
            <a:r>
              <a:rPr lang="pt-BR" dirty="0" smtClean="0">
                <a:solidFill>
                  <a:srgbClr val="FCFC12"/>
                </a:solidFill>
              </a:rPr>
              <a:t> – É aquele que sofre a retenção do imposto, sendo-lhe vedado a apropriação do crédito de entradas e dispensado do pagamento do imposto quando das saídas internas subsequentes.</a:t>
            </a:r>
          </a:p>
          <a:p>
            <a:pPr marL="180000" lvl="1" indent="-34290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hlink"/>
              </a:buClr>
              <a:buSzPct val="90000"/>
              <a:buNone/>
              <a:defRPr/>
            </a:pPr>
            <a:endParaRPr lang="pt-BR" sz="2400" dirty="0" smtClean="0">
              <a:solidFill>
                <a:srgbClr val="FCFC12"/>
              </a:solidFill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pt-BR" sz="2400" b="1" dirty="0" smtClean="0">
              <a:solidFill>
                <a:srgbClr val="FFFF00"/>
              </a:solidFill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pt-BR" sz="2800" dirty="0" smtClean="0">
                <a:solidFill>
                  <a:schemeClr val="folHlink"/>
                </a:solidFill>
              </a:rPr>
              <a:t>.</a:t>
            </a:r>
            <a:endParaRPr lang="pt-BR" sz="2400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autoUpdateAnimBg="0"/>
      <p:bldP spid="38502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/>
          <p:cNvSpPr txBox="1">
            <a:spLocks noGrp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F024CE4-23CF-4C78-B91A-DB0FFBCAF98B}" type="slidenum">
              <a:rPr lang="pt-BR" sz="1200">
                <a:effectLst>
                  <a:outerShdw blurRad="38100" dist="38100" dir="2700000" algn="tl">
                    <a:srgbClr val="000000"/>
                  </a:outerShdw>
                </a:effectLst>
              </a:rPr>
              <a:pPr algn="r">
                <a:defRPr/>
              </a:pPr>
              <a:t>8</a:t>
            </a:fld>
            <a:endParaRPr 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2100" b="1" smtClean="0">
                <a:solidFill>
                  <a:schemeClr val="folHlink"/>
                </a:solidFill>
              </a:rPr>
              <a:t>DEFINIÇÃO DO REGIME DA SUBSTITUIÇÃO TRIBUTÁRIA</a:t>
            </a:r>
            <a:r>
              <a:rPr lang="pt-BR" sz="2100" smtClean="0"/>
              <a:t> 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1910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  <a:defRPr/>
            </a:pPr>
            <a:endParaRPr lang="pt-BR" sz="2800" smtClean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  <a:cs typeface="Arial" charset="0"/>
              </a:rPr>
              <a:t>Diz o CTN: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endParaRPr lang="pt-BR" sz="2400" b="1" smtClean="0">
              <a:solidFill>
                <a:srgbClr val="FFFF00"/>
              </a:solidFill>
              <a:cs typeface="Arial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pt-BR" sz="2400" b="1" smtClean="0">
                <a:solidFill>
                  <a:srgbClr val="FFFF00"/>
                </a:solidFill>
                <a:cs typeface="Arial" charset="0"/>
              </a:rPr>
              <a:t>	“Art. 128 - Sem prejuízo do disposto neste capítulo, a lei pode atribuir de modo expresso a responsabilidade pelo crédito tributário a terceira pessoa, vinculada ao fato gerador da respectiva obrigação, excluindo a responsabilidade do contribuinte ou atribuindo-a a este em caráter supletivo do cumprimento total ou parcial da referida obrigação.”</a:t>
            </a: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pt-BR" sz="2800" smtClean="0">
                <a:solidFill>
                  <a:schemeClr val="folHlink"/>
                </a:solidFill>
              </a:rPr>
              <a:t>.</a:t>
            </a:r>
            <a:endParaRPr lang="pt-BR" sz="240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5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autoUpdateAnimBg="0"/>
      <p:bldP spid="38502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smtClean="0">
                <a:solidFill>
                  <a:schemeClr val="tx1"/>
                </a:solidFill>
              </a:rPr>
              <a:t>DEFINIÇÃO DO REGIME DA</a:t>
            </a:r>
            <a:br>
              <a:rPr lang="pt-BR" sz="2800" b="1" smtClean="0">
                <a:solidFill>
                  <a:schemeClr val="tx1"/>
                </a:solidFill>
              </a:rPr>
            </a:br>
            <a:r>
              <a:rPr lang="pt-BR" sz="2800" b="1" smtClean="0">
                <a:solidFill>
                  <a:schemeClr val="tx1"/>
                </a:solidFill>
              </a:rPr>
              <a:t>SUBSTITUIÇÃO TRIBUTÁRIA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pt-BR" smtClean="0">
                <a:solidFill>
                  <a:srgbClr val="FFFF00"/>
                </a:solidFill>
              </a:rPr>
              <a:t>Atribuição legal da responsabilidade pelo cumprimento da obrigação tributária a terceiro que não praticou o fato gerador.</a:t>
            </a:r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2000" b="1" dirty="0" smtClean="0"/>
              <a:t>EXEMPLO DE CADEIA DE SUBSTITUIÇÃO TRIBUTÁRIA</a:t>
            </a:r>
            <a:br>
              <a:rPr lang="pt-BR" sz="2000" b="1" dirty="0" smtClean="0"/>
            </a:br>
            <a:r>
              <a:rPr lang="pt-BR" sz="2000" b="1" dirty="0" smtClean="0"/>
              <a:t>OPERAÇÃO COM</a:t>
            </a:r>
            <a:r>
              <a:rPr lang="pt-BR" dirty="0" smtClean="0"/>
              <a:t> </a:t>
            </a:r>
            <a:r>
              <a:rPr lang="pt-BR" sz="2000" b="1" dirty="0" smtClean="0"/>
              <a:t>DERIVADO DE PETRÓLEO</a:t>
            </a:r>
            <a:endParaRPr lang="pt-BR" b="1" dirty="0" smtClean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2514600"/>
            <a:ext cx="10287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2514600"/>
            <a:ext cx="1066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AutoShape 5"/>
          <p:cNvSpPr>
            <a:spLocks noChangeArrowheads="1"/>
          </p:cNvSpPr>
          <p:nvPr/>
        </p:nvSpPr>
        <p:spPr bwMode="auto">
          <a:xfrm>
            <a:off x="4572000" y="3048000"/>
            <a:ext cx="723900" cy="504825"/>
          </a:xfrm>
          <a:prstGeom prst="rightArrow">
            <a:avLst>
              <a:gd name="adj1" fmla="val 50000"/>
              <a:gd name="adj2" fmla="val 35849"/>
            </a:avLst>
          </a:prstGeom>
          <a:solidFill>
            <a:srgbClr val="FF0000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pt-BR" sz="1000" b="1">
                <a:solidFill>
                  <a:srgbClr val="000080"/>
                </a:solidFill>
                <a:latin typeface="Times New Roman" pitchFamily="18" charset="0"/>
                <a:cs typeface="Times New Roman" pitchFamily="18" charset="0"/>
              </a:rPr>
              <a:t>ICMS</a:t>
            </a:r>
            <a:endParaRPr lang="pt-BR" sz="1000" b="1">
              <a:solidFill>
                <a:schemeClr val="folHlin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hangingPunct="0"/>
            <a:r>
              <a:rPr lang="pt-BR" sz="1200">
                <a:solidFill>
                  <a:srgbClr val="00008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pt-BR" sz="1200">
              <a:solidFill>
                <a:schemeClr val="folHlin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hangingPunct="0"/>
            <a:endParaRPr lang="pt-BR" sz="2400">
              <a:latin typeface="Times New Roman" pitchFamily="18" charset="0"/>
            </a:endParaRPr>
          </a:p>
        </p:txBody>
      </p:sp>
      <p:sp>
        <p:nvSpPr>
          <p:cNvPr id="11270" name="AutoShape 6"/>
          <p:cNvSpPr>
            <a:spLocks noChangeArrowheads="1"/>
          </p:cNvSpPr>
          <p:nvPr/>
        </p:nvSpPr>
        <p:spPr bwMode="auto">
          <a:xfrm>
            <a:off x="2357438" y="2928938"/>
            <a:ext cx="914400" cy="733425"/>
          </a:xfrm>
          <a:prstGeom prst="rightArrow">
            <a:avLst>
              <a:gd name="adj1" fmla="val 50000"/>
              <a:gd name="adj2" fmla="val 31169"/>
            </a:avLst>
          </a:prstGeom>
          <a:solidFill>
            <a:srgbClr val="00FF00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sz="12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ICMS</a:t>
            </a:r>
            <a:endParaRPr lang="pt-BR" sz="2400">
              <a:latin typeface="Times New Roman" pitchFamily="18" charset="0"/>
            </a:endParaRPr>
          </a:p>
        </p:txBody>
      </p:sp>
      <p:sp>
        <p:nvSpPr>
          <p:cNvPr id="11271" name="AutoShape 7"/>
          <p:cNvSpPr>
            <a:spLocks noChangeArrowheads="1"/>
          </p:cNvSpPr>
          <p:nvPr/>
        </p:nvSpPr>
        <p:spPr bwMode="auto">
          <a:xfrm>
            <a:off x="6553200" y="3124200"/>
            <a:ext cx="609600" cy="390525"/>
          </a:xfrm>
          <a:prstGeom prst="rightArrow">
            <a:avLst>
              <a:gd name="adj1" fmla="val 50000"/>
              <a:gd name="adj2" fmla="val 39024"/>
            </a:avLst>
          </a:prstGeom>
          <a:solidFill>
            <a:srgbClr val="FF0000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pt-BR" sz="1000" b="1">
                <a:latin typeface="Times New Roman" pitchFamily="18" charset="0"/>
                <a:cs typeface="Times New Roman" pitchFamily="18" charset="0"/>
              </a:rPr>
              <a:t>ICMS</a:t>
            </a:r>
          </a:p>
          <a:p>
            <a:pPr eaLnBrk="0" hangingPunct="0"/>
            <a:endParaRPr lang="pt-BR" sz="1000" b="1">
              <a:latin typeface="Times New Roman" pitchFamily="18" charset="0"/>
            </a:endParaRPr>
          </a:p>
        </p:txBody>
      </p:sp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2590800"/>
            <a:ext cx="10287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4495800" y="2819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pt-BR" sz="6000">
                <a:latin typeface="Times New Roman" pitchFamily="18" charset="0"/>
                <a:cs typeface="Times New Roman" pitchFamily="18" charset="0"/>
              </a:rPr>
              <a:t>X</a:t>
            </a:r>
            <a:endParaRPr lang="pt-BR" sz="6000">
              <a:latin typeface="Times New Roman" pitchFamily="18" charset="0"/>
            </a:endParaRP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6400800" y="2819400"/>
            <a:ext cx="83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pt-BR" sz="6000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eaLnBrk="0" hangingPunct="0"/>
            <a:endParaRPr lang="pt-BR" sz="2800">
              <a:latin typeface="Times New Roman" pitchFamily="18" charset="0"/>
            </a:endParaRPr>
          </a:p>
        </p:txBody>
      </p:sp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251460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0" y="4191000"/>
            <a:ext cx="914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  <a:defRPr/>
            </a:pPr>
            <a:r>
              <a:rPr lang="pt-BR" sz="14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Refinaria de Petróleo      Distribuidora Combustíveis    Posto Revendedor       Consumidor Final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0" y="4495800"/>
            <a:ext cx="8610600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  <a:defRPr/>
            </a:pPr>
            <a:r>
              <a:rPr lang="pt-BR" sz="13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Contribuinte Substituto          Contribuinte Substituído 1     Contribuinte Substituído 2</a:t>
            </a:r>
          </a:p>
        </p:txBody>
      </p:sp>
      <p:sp>
        <p:nvSpPr>
          <p:cNvPr id="11279" name="AutoShape 15"/>
          <p:cNvSpPr>
            <a:spLocks noChangeArrowheads="1"/>
          </p:cNvSpPr>
          <p:nvPr/>
        </p:nvSpPr>
        <p:spPr bwMode="auto">
          <a:xfrm>
            <a:off x="2268538" y="2924175"/>
            <a:ext cx="1017587" cy="733425"/>
          </a:xfrm>
          <a:prstGeom prst="rightArrow">
            <a:avLst>
              <a:gd name="adj1" fmla="val 50000"/>
              <a:gd name="adj2" fmla="val 31166"/>
            </a:avLst>
          </a:prstGeom>
          <a:solidFill>
            <a:srgbClr val="00FF00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sz="12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ICMS e</a:t>
            </a:r>
            <a:endParaRPr lang="pt-BR" sz="1200" b="1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hangingPunct="0"/>
            <a:r>
              <a:rPr lang="en-US" sz="12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ICMS/ST</a:t>
            </a:r>
            <a:endParaRPr lang="pt-BR" sz="1200" b="1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hangingPunct="0"/>
            <a:endParaRPr lang="pt-BR" sz="2400">
              <a:latin typeface="Times New Roman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9" grpId="0" animBg="1" autoUpdateAnimBg="0"/>
      <p:bldP spid="11270" grpId="0" animBg="1" autoUpdateAnimBg="0"/>
      <p:bldP spid="11271" grpId="0" animBg="1" autoUpdateAnimBg="0"/>
      <p:bldP spid="11273" grpId="0" autoUpdateAnimBg="0"/>
      <p:bldP spid="11274" grpId="0" autoUpdateAnimBg="0"/>
      <p:bldP spid="11276" grpId="0" autoUpdateAnimBg="0"/>
      <p:bldP spid="11277" grpId="0" autoUpdateAnimBg="0"/>
      <p:bldP spid="1127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pt-BR" sz="2400" b="1" dirty="0" smtClean="0">
                <a:solidFill>
                  <a:srgbClr val="FCFC12"/>
                </a:solidFill>
              </a:rPr>
              <a:t>CONSTITUIÇÃO FEDERAL – art. 150, § 7º, redação atual através da Emenda Constitucional nº 3, de 17/03/93:</a:t>
            </a:r>
          </a:p>
          <a:p>
            <a:pPr lvl="1" algn="just" eaLnBrk="1" hangingPunct="1">
              <a:defRPr/>
            </a:pPr>
            <a:r>
              <a:rPr lang="pt-BR" sz="2400" dirty="0" smtClean="0">
                <a:solidFill>
                  <a:srgbClr val="FFFF00"/>
                </a:solidFill>
              </a:rPr>
              <a:t>previsão da substituição tributária</a:t>
            </a:r>
          </a:p>
          <a:p>
            <a:pPr lvl="1" algn="just" eaLnBrk="1" hangingPunct="1">
              <a:defRPr/>
            </a:pPr>
            <a:r>
              <a:rPr lang="pt-BR" sz="2400" dirty="0" smtClean="0">
                <a:solidFill>
                  <a:srgbClr val="FFFF00"/>
                </a:solidFill>
              </a:rPr>
              <a:t>previsão de restituição no caso da não ocorrência do fato gerador presumido</a:t>
            </a:r>
          </a:p>
          <a:p>
            <a:pPr lvl="1" algn="just" eaLnBrk="1" hangingPunct="1">
              <a:defRPr/>
            </a:pPr>
            <a:r>
              <a:rPr lang="pt-BR" sz="2400" dirty="0" smtClean="0">
                <a:solidFill>
                  <a:srgbClr val="FFFF00"/>
                </a:solidFill>
              </a:rPr>
              <a:t>lei complementar irá dispor sobre substituição tributária.</a:t>
            </a:r>
            <a:r>
              <a:rPr lang="pt-BR" sz="3200" dirty="0" smtClean="0">
                <a:solidFill>
                  <a:srgbClr val="FFFF00"/>
                </a:solidFill>
              </a:rPr>
              <a:t>	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  <a:br>
              <a:rPr lang="pt-BR" sz="2800" b="1" dirty="0" smtClean="0">
                <a:solidFill>
                  <a:schemeClr val="tx1"/>
                </a:solidFill>
              </a:rPr>
            </a:br>
            <a:endParaRPr lang="pt-BR" sz="2800" b="1" dirty="0" smtClean="0">
              <a:solidFill>
                <a:schemeClr val="tx1"/>
              </a:solidFill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400" b="1" dirty="0" smtClean="0">
                <a:solidFill>
                  <a:srgbClr val="FCFC12"/>
                </a:solidFill>
              </a:rPr>
              <a:t>CONSTITUIÇÃO FEDERAL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800" b="1" dirty="0" smtClean="0">
                <a:solidFill>
                  <a:srgbClr val="FCFC12"/>
                </a:solidFill>
              </a:rPr>
              <a:t>	“Art. 150 - (...)</a:t>
            </a:r>
          </a:p>
          <a:p>
            <a:pPr lvl="1" algn="just" eaLnBrk="1" hangingPunct="1">
              <a:buFontTx/>
              <a:buNone/>
              <a:defRPr/>
            </a:pPr>
            <a:r>
              <a:rPr lang="pt-BR" sz="2400" dirty="0" smtClean="0">
                <a:solidFill>
                  <a:srgbClr val="FCFC12"/>
                </a:solidFill>
                <a:effectLst/>
              </a:rPr>
              <a:t>§ 7º - A </a:t>
            </a:r>
            <a:r>
              <a:rPr lang="pt-BR" sz="2400" dirty="0" smtClean="0">
                <a:effectLst/>
              </a:rPr>
              <a:t>lei</a:t>
            </a:r>
            <a:r>
              <a:rPr lang="pt-BR" sz="2400" dirty="0" smtClean="0">
                <a:solidFill>
                  <a:srgbClr val="FCFC12"/>
                </a:solidFill>
                <a:effectLst/>
              </a:rPr>
              <a:t> poderá atribuir a sujeito passivo de obrigação tributária a condição de responsável pelo pagamento de imposto ou contribuição, cujo fato gerador deva ocorrer posteriormente, assegurada a imediata e preferencial restituição da quantia paga, caso não se realize o fato gerador presumido.”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PT" sz="2600" b="1" dirty="0" smtClean="0">
                <a:solidFill>
                  <a:srgbClr val="FCFC12"/>
                </a:solidFill>
              </a:rPr>
              <a:t>LEI COMPLEMENTAR 87/96 – artigos 5º ao 10º.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pt-PT" sz="2800" dirty="0" smtClean="0">
              <a:solidFill>
                <a:srgbClr val="FCFC12"/>
              </a:solidFill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PT" sz="2000" dirty="0" smtClean="0">
                <a:solidFill>
                  <a:srgbClr val="FFFF00"/>
                </a:solidFill>
              </a:rPr>
              <a:t>Dispõe que </a:t>
            </a:r>
            <a:r>
              <a:rPr lang="pt-PT" sz="2000" b="1" dirty="0" smtClean="0">
                <a:solidFill>
                  <a:srgbClr val="FFFF00"/>
                </a:solidFill>
              </a:rPr>
              <a:t>lei estadual</a:t>
            </a:r>
            <a:r>
              <a:rPr lang="pt-PT" sz="2000" dirty="0" smtClean="0">
                <a:solidFill>
                  <a:srgbClr val="FFFF00"/>
                </a:solidFill>
              </a:rPr>
              <a:t> poderá atribuir a contribuinte do imposto responsabilidade na condição de substituto tributário;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PT" sz="2000" dirty="0" smtClean="0">
                <a:solidFill>
                  <a:srgbClr val="FFFF00"/>
                </a:solidFill>
              </a:rPr>
              <a:t>Responsabilidade poderá ser atribuída em relação ao imposto incidente nas operações antecedentes, concomitantes ou subseqüentes;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PT" sz="2000" dirty="0" smtClean="0">
                <a:solidFill>
                  <a:srgbClr val="FFFF00"/>
                </a:solidFill>
              </a:rPr>
              <a:t>ST para o diferencial de alíquota;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PT" sz="2000" dirty="0" smtClean="0">
                <a:solidFill>
                  <a:srgbClr val="FFFF00"/>
                </a:solidFill>
              </a:rPr>
              <a:t>Define base de cálculo da ST e forma de cálculo do ICMS ST;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PT" sz="2000" dirty="0" smtClean="0">
                <a:solidFill>
                  <a:srgbClr val="FFFF00"/>
                </a:solidFill>
              </a:rPr>
              <a:t>Define prazo máximo de 90 dias para análise do pedido de restituição, relativo ao fato gerador presumido não realizado. </a:t>
            </a:r>
            <a:endParaRPr lang="pt-BR" sz="2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PT" sz="2800" b="1" smtClean="0">
                <a:solidFill>
                  <a:srgbClr val="FCFC12"/>
                </a:solidFill>
              </a:rPr>
              <a:t>LEI COMPLEMENTAR 87/96 – artigo 9º: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pt-PT" sz="2800" smtClean="0">
              <a:solidFill>
                <a:srgbClr val="FCFC12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pt-PT" sz="2400" smtClean="0">
                <a:solidFill>
                  <a:schemeClr val="folHlink"/>
                </a:solidFill>
              </a:rPr>
              <a:t>	</a:t>
            </a:r>
            <a:r>
              <a:rPr lang="pt-PT" sz="2400" smtClean="0">
                <a:solidFill>
                  <a:srgbClr val="FFFF00"/>
                </a:solidFill>
              </a:rPr>
              <a:t>A adoção do regime de ST em operações interestaduais dependerá de acordo específico celebrado pelos Estados interessados;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pt-PT" sz="240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pt-PT" sz="2400" smtClean="0">
                <a:solidFill>
                  <a:srgbClr val="FFFF00"/>
                </a:solidFill>
              </a:rPr>
              <a:t>	Estes acordos se implementam sob duas modalidades: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pt-PT" sz="2400" smtClean="0">
              <a:solidFill>
                <a:srgbClr val="FFFF00"/>
              </a:solidFill>
            </a:endParaRPr>
          </a:p>
          <a:p>
            <a:pPr lvl="3" eaLnBrk="1" hangingPunct="1">
              <a:lnSpc>
                <a:spcPct val="90000"/>
              </a:lnSpc>
              <a:buSzPct val="80000"/>
              <a:buFont typeface="Wingdings" pitchFamily="2" charset="2"/>
              <a:buChar char="Ø"/>
              <a:defRPr/>
            </a:pPr>
            <a:r>
              <a:rPr lang="pt-PT" sz="2400" smtClean="0">
                <a:solidFill>
                  <a:srgbClr val="FFFF00"/>
                </a:solidFill>
              </a:rPr>
              <a:t>Convênio; ou</a:t>
            </a:r>
          </a:p>
          <a:p>
            <a:pPr lvl="3" eaLnBrk="1" hangingPunct="1">
              <a:lnSpc>
                <a:spcPct val="90000"/>
              </a:lnSpc>
              <a:buSzPct val="80000"/>
              <a:buFont typeface="Wingdings" pitchFamily="2" charset="2"/>
              <a:buChar char="Ø"/>
              <a:defRPr/>
            </a:pPr>
            <a:r>
              <a:rPr lang="pt-PT" sz="2400" smtClean="0">
                <a:solidFill>
                  <a:srgbClr val="FFFF00"/>
                </a:solidFill>
              </a:rPr>
              <a:t>Protocolo.</a:t>
            </a:r>
            <a:endParaRPr lang="pt-BR" sz="240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400" b="1" dirty="0" smtClean="0">
                <a:solidFill>
                  <a:srgbClr val="FCFC12"/>
                </a:solidFill>
              </a:rPr>
              <a:t>CONVÊNIOS E PROTOCOLOS ICMS</a:t>
            </a:r>
          </a:p>
          <a:p>
            <a:pPr eaLnBrk="1" hangingPunct="1">
              <a:lnSpc>
                <a:spcPct val="90000"/>
              </a:lnSpc>
              <a:defRPr/>
            </a:pPr>
            <a:endParaRPr lang="pt-BR" sz="2400" b="1" dirty="0" smtClean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pt-BR" sz="3600" dirty="0" smtClean="0"/>
              <a:t>	</a:t>
            </a:r>
            <a:r>
              <a:rPr lang="pt-BR" sz="2400" dirty="0" smtClean="0">
                <a:solidFill>
                  <a:srgbClr val="FFFF00"/>
                </a:solidFill>
              </a:rPr>
              <a:t>A </a:t>
            </a:r>
            <a:r>
              <a:rPr lang="pt-BR" sz="2400" b="1" dirty="0" smtClean="0">
                <a:solidFill>
                  <a:srgbClr val="FFFF00"/>
                </a:solidFill>
              </a:rPr>
              <a:t>LEI COMPLEMENTAR 24/75</a:t>
            </a:r>
            <a:r>
              <a:rPr lang="pt-BR" sz="2400" dirty="0" smtClean="0">
                <a:solidFill>
                  <a:srgbClr val="FFFF00"/>
                </a:solidFill>
              </a:rPr>
              <a:t> além de outras providências, dispõe sobre as normas gerais aplicáveis aos convênios celebrados entre as unidades da Federação.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pt-BR" sz="2400" dirty="0" smtClean="0">
                <a:solidFill>
                  <a:srgbClr val="FFFF00"/>
                </a:solidFill>
              </a:rPr>
              <a:t>	O Conselho Nacional de Política Fazendária (</a:t>
            </a:r>
            <a:r>
              <a:rPr lang="pt-BR" sz="2400" dirty="0" err="1" smtClean="0">
                <a:solidFill>
                  <a:srgbClr val="FFFF00"/>
                </a:solidFill>
              </a:rPr>
              <a:t>Confaz</a:t>
            </a:r>
            <a:r>
              <a:rPr lang="pt-BR" sz="2400" dirty="0" smtClean="0">
                <a:solidFill>
                  <a:srgbClr val="FFFF00"/>
                </a:solidFill>
              </a:rPr>
              <a:t>) o qual é Constituído  pelo Ministro de Estado da Fazenda e  pelos Secretários de Fazenda, Tributação ou Finanças (Estados e Distrito Federal), é o órgão colegiado que celebra estes acordos.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800" b="1" dirty="0" smtClean="0">
                <a:solidFill>
                  <a:srgbClr val="FCFC12"/>
                </a:solidFill>
              </a:rPr>
              <a:t>Os Convênios podem ser classificados em: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pt-BR" sz="2400" b="1" dirty="0" err="1" smtClean="0">
                <a:solidFill>
                  <a:srgbClr val="FFFF00"/>
                </a:solidFill>
              </a:rPr>
              <a:t>Autorizativos</a:t>
            </a:r>
            <a:r>
              <a:rPr lang="pt-BR" sz="2400" i="1" dirty="0" smtClean="0">
                <a:solidFill>
                  <a:srgbClr val="FFFF00"/>
                </a:solidFill>
              </a:rPr>
              <a:t>:</a:t>
            </a:r>
            <a:r>
              <a:rPr lang="pt-BR" sz="3200" dirty="0" smtClean="0">
                <a:solidFill>
                  <a:srgbClr val="FFFF00"/>
                </a:solidFill>
              </a:rPr>
              <a:t> </a:t>
            </a:r>
            <a:r>
              <a:rPr lang="pt-BR" sz="2400" dirty="0" smtClean="0">
                <a:solidFill>
                  <a:srgbClr val="FFFF00"/>
                </a:solidFill>
              </a:rPr>
              <a:t>autorizam as unidades da Federação à implementação do disposto em suas cláusulas;</a:t>
            </a:r>
          </a:p>
          <a:p>
            <a:pPr lvl="2" algn="just" eaLnBrk="1" hangingPunct="1">
              <a:lnSpc>
                <a:spcPct val="80000"/>
              </a:lnSpc>
              <a:defRPr/>
            </a:pPr>
            <a:r>
              <a:rPr lang="pt-BR" sz="2000" b="1" dirty="0" smtClean="0">
                <a:solidFill>
                  <a:srgbClr val="FFFF00"/>
                </a:solidFill>
              </a:rPr>
              <a:t>Exemplo</a:t>
            </a:r>
            <a:r>
              <a:rPr lang="pt-BR" sz="2000" dirty="0" smtClean="0">
                <a:solidFill>
                  <a:srgbClr val="FFFF00"/>
                </a:solidFill>
              </a:rPr>
              <a:t>: </a:t>
            </a:r>
            <a:r>
              <a:rPr lang="pt-BR" sz="2000" dirty="0" err="1" smtClean="0">
                <a:solidFill>
                  <a:srgbClr val="FFFF00"/>
                </a:solidFill>
              </a:rPr>
              <a:t>Conv</a:t>
            </a:r>
            <a:r>
              <a:rPr lang="pt-BR" sz="2000" dirty="0" smtClean="0">
                <a:solidFill>
                  <a:srgbClr val="FFFF00"/>
                </a:solidFill>
              </a:rPr>
              <a:t>. ICMS 03/99 - Ficam os Estados e o Distrito Federal, quando destinatários, autorizados a atribuir aos remetentes de combustíveis e lubrificantes, derivados ou não de petróleo...</a:t>
            </a: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pt-BR" sz="2400" b="1" dirty="0" smtClean="0">
                <a:solidFill>
                  <a:srgbClr val="FFFF00"/>
                </a:solidFill>
              </a:rPr>
              <a:t>Impositivos</a:t>
            </a:r>
            <a:r>
              <a:rPr lang="pt-BR" sz="2400" dirty="0" smtClean="0">
                <a:solidFill>
                  <a:srgbClr val="FFFF00"/>
                </a:solidFill>
              </a:rPr>
              <a:t>: atribuem o cumprimento de suas cláusulas a todas as unidades da Federação que o ratificarem.</a:t>
            </a:r>
          </a:p>
          <a:p>
            <a:pPr lvl="2" algn="just" eaLnBrk="1" hangingPunct="1">
              <a:lnSpc>
                <a:spcPct val="80000"/>
              </a:lnSpc>
              <a:defRPr/>
            </a:pPr>
            <a:r>
              <a:rPr lang="pt-BR" sz="1800" b="1" dirty="0" smtClean="0">
                <a:solidFill>
                  <a:srgbClr val="FFFF00"/>
                </a:solidFill>
              </a:rPr>
              <a:t>Exemplo</a:t>
            </a:r>
            <a:r>
              <a:rPr lang="pt-BR" sz="1800" dirty="0" smtClean="0">
                <a:solidFill>
                  <a:srgbClr val="FFFF00"/>
                </a:solidFill>
              </a:rPr>
              <a:t>: </a:t>
            </a:r>
            <a:r>
              <a:rPr lang="pt-BR" sz="1800" dirty="0" err="1" smtClean="0">
                <a:solidFill>
                  <a:srgbClr val="FFFF00"/>
                </a:solidFill>
              </a:rPr>
              <a:t>Conv</a:t>
            </a:r>
            <a:r>
              <a:rPr lang="pt-BR" sz="1800" dirty="0" smtClean="0">
                <a:solidFill>
                  <a:srgbClr val="FFFF00"/>
                </a:solidFill>
              </a:rPr>
              <a:t>. ICMS 132/92 - Nas operações interestaduais com veículos novos classificados nos códigos da NBM/SH, indicados no Anexo II, fica atribuída ao estabelecimento importador e ao estabelecimento industrial fabricante a responsabilidade...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800" b="1" dirty="0" smtClean="0">
                <a:solidFill>
                  <a:srgbClr val="FCFC12"/>
                </a:solidFill>
              </a:rPr>
              <a:t>Protocolos ICMS</a:t>
            </a:r>
            <a:r>
              <a:rPr lang="pt-BR" sz="2800" dirty="0" smtClean="0">
                <a:solidFill>
                  <a:srgbClr val="FCFC12"/>
                </a:solidFill>
              </a:rPr>
              <a:t>: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Dois ou mais Estados e Distrito Federal poderão celebrar entre si Protocolos, estabelecendo procedimentos comuns visando à: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implementação de políticas fiscais, 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a permuta de informações e fiscalização conjunta, 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a fixação de critérios para elaboração de pautas fiscais e 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outros assuntos de interesse dos mesmos.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Os Protocolos não se prestarão ao estabelecimento de normas que aumentem, reduzam ou revoguem benefícios fiscais;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Somente as unidades da Federação signatárias são obrigadas ao cumprimento de suas determinações;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dirty="0" smtClean="0">
                <a:solidFill>
                  <a:srgbClr val="FFFF00"/>
                </a:solidFill>
              </a:rPr>
              <a:t>Pode haver adesão de outros Estados e há a possibilidade de exclusão ou reintegração dos interessados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pt-BR" sz="2400" dirty="0" smtClean="0">
                <a:solidFill>
                  <a:srgbClr val="FFFF00"/>
                </a:solidFill>
              </a:rPr>
              <a:t>O CONVÊNIO ICMS 81/93 estabelece as normas gerais de substituição tributária em operações interestaduais, para convênio ou protocolo, como: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sujeito passivo</a:t>
            </a:r>
            <a:r>
              <a:rPr lang="pt-BR" sz="2000" dirty="0" smtClean="0"/>
              <a:t> por substituição;</a:t>
            </a:r>
            <a:endParaRPr lang="pt-BR" sz="2000" b="1" dirty="0" smtClean="0"/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ressarcimento</a:t>
            </a:r>
            <a:r>
              <a:rPr lang="pt-BR" sz="2000" dirty="0" smtClean="0"/>
              <a:t>;</a:t>
            </a:r>
            <a:endParaRPr lang="pt-BR" sz="2000" b="1" dirty="0" smtClean="0"/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não aplicação</a:t>
            </a:r>
            <a:r>
              <a:rPr lang="pt-BR" sz="2000" dirty="0" smtClean="0"/>
              <a:t> da substituição tributária;</a:t>
            </a:r>
            <a:endParaRPr lang="pt-BR" sz="2000" b="1" dirty="0" smtClean="0"/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recolhimento</a:t>
            </a:r>
            <a:r>
              <a:rPr lang="pt-BR" sz="2000" dirty="0" smtClean="0"/>
              <a:t> do imposto retido;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Facultativo </a:t>
            </a:r>
            <a:r>
              <a:rPr lang="pt-BR" sz="2000" dirty="0" smtClean="0"/>
              <a:t>aos Estados exigir inscrição;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dirty="0" smtClean="0"/>
              <a:t>as </a:t>
            </a:r>
            <a:r>
              <a:rPr lang="pt-BR" sz="2000" b="1" dirty="0" smtClean="0"/>
              <a:t>normas</a:t>
            </a:r>
            <a:r>
              <a:rPr lang="pt-BR" sz="2000" dirty="0" smtClean="0"/>
              <a:t> da legislação da </a:t>
            </a:r>
            <a:r>
              <a:rPr lang="pt-BR" sz="2000" b="1" dirty="0" smtClean="0"/>
              <a:t>unidade da Federação de destino</a:t>
            </a:r>
            <a:r>
              <a:rPr lang="pt-BR" sz="2000" dirty="0" smtClean="0"/>
              <a:t> da mercadoria deverão ser observadas pelo sujeito passivo por substituição;</a:t>
            </a:r>
            <a:endParaRPr lang="pt-BR" sz="2000" b="1" dirty="0" smtClean="0"/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fiscalização</a:t>
            </a:r>
            <a:r>
              <a:rPr lang="pt-BR" sz="2000" dirty="0" smtClean="0"/>
              <a:t> do estabelecimento responsável pela retenção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obrigações acessórias.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12775"/>
            <a:ext cx="7772400" cy="4572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smtClean="0">
                <a:solidFill>
                  <a:schemeClr val="folHlink"/>
                </a:solidFill>
              </a:rPr>
              <a:t>CONVÊNIO ICMS 81/93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28600" y="2209800"/>
            <a:ext cx="2286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2000" b="1">
                <a:solidFill>
                  <a:schemeClr val="folHlink"/>
                </a:solidFill>
              </a:rPr>
              <a:t>sujeito passivo por substituição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2438400" y="22860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124200" y="1981200"/>
            <a:ext cx="3657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2000" b="1">
                <a:solidFill>
                  <a:schemeClr val="folHlink"/>
                </a:solidFill>
              </a:rPr>
              <a:t>contribuinte que realiza operações interestaduais com as mercadorias dos Convênios ou Protocolos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7177088" y="260350"/>
            <a:ext cx="1966912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2000" b="1">
                <a:solidFill>
                  <a:schemeClr val="folHlink"/>
                </a:solidFill>
              </a:rPr>
              <a:t> Substitutos “originários”: importador e industrial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6400800" y="1219200"/>
            <a:ext cx="685800" cy="6096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5148263" y="3581400"/>
            <a:ext cx="3995737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2000" b="1" dirty="0">
                <a:solidFill>
                  <a:schemeClr val="folHlink"/>
                </a:solidFill>
              </a:rPr>
              <a:t> Qualquer contribuinte que realizar operação interestadual destinada à comercialização, uso,</a:t>
            </a:r>
            <a:r>
              <a:rPr lang="pt-BR" sz="2000" dirty="0">
                <a:solidFill>
                  <a:schemeClr val="folHlink"/>
                </a:solidFill>
              </a:rPr>
              <a:t> </a:t>
            </a:r>
            <a:r>
              <a:rPr lang="pt-BR" sz="2000" b="1" dirty="0">
                <a:solidFill>
                  <a:schemeClr val="folHlink"/>
                </a:solidFill>
              </a:rPr>
              <a:t>consumo ou Ativo Permanente do destinatário</a:t>
            </a: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6477000" y="2743200"/>
            <a:ext cx="838200" cy="6858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611188" y="4419600"/>
            <a:ext cx="4230687" cy="1107996"/>
          </a:xfrm>
          <a:prstGeom prst="rect">
            <a:avLst/>
          </a:prstGeom>
          <a:solidFill>
            <a:srgbClr val="33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2200" b="1" dirty="0" smtClean="0">
                <a:solidFill>
                  <a:srgbClr val="FCFC12"/>
                </a:solidFill>
              </a:rPr>
              <a:t>Obrigação </a:t>
            </a:r>
            <a:r>
              <a:rPr lang="pt-BR" sz="2200" b="1" dirty="0">
                <a:solidFill>
                  <a:srgbClr val="FCFC12"/>
                </a:solidFill>
              </a:rPr>
              <a:t>objetiva em relação à espécie de mercadoria – independe de IE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autoUpdateAnimBg="0"/>
      <p:bldP spid="27652" grpId="0" animBg="1"/>
      <p:bldP spid="27653" grpId="0" autoUpdateAnimBg="0"/>
      <p:bldP spid="27654" grpId="0" autoUpdateAnimBg="0"/>
      <p:bldP spid="27655" grpId="0" animBg="1"/>
      <p:bldP spid="27656" grpId="0" autoUpdateAnimBg="0"/>
      <p:bldP spid="27657" grpId="0" animBg="1"/>
      <p:bldP spid="27658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800" b="1" dirty="0" smtClean="0">
                <a:solidFill>
                  <a:schemeClr val="tx1"/>
                </a:solidFill>
              </a:rPr>
              <a:t>LEGISLAÇÃO PERTINENTE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800" dirty="0" smtClean="0">
                <a:solidFill>
                  <a:srgbClr val="FFFF00"/>
                </a:solidFill>
              </a:rPr>
              <a:t>O CONVÊNIO ICMS 81/93:</a:t>
            </a: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sz="2400" b="1" dirty="0" smtClean="0">
                <a:solidFill>
                  <a:srgbClr val="FCFC12"/>
                </a:solidFill>
              </a:rPr>
              <a:t>Inscrição Estadual de Substituto Tributário: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Facultativo, aos Estados, exigir a obrigatoriedade do contribuinte de inscrever-se como substituto – Alguns Estados, como MG, é obrigatório);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Administração Tributária concede IE ST de acordo com os critérios previstos na legislação estadual;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Obrigatoriedade de transmissão de GIA-ST e arquivo eletrônico (SINTEGRA) – DF ainda não aderiu ao </a:t>
            </a:r>
            <a:r>
              <a:rPr lang="pt-BR" sz="2000" b="1" dirty="0" err="1" smtClean="0"/>
              <a:t>sped</a:t>
            </a:r>
            <a:r>
              <a:rPr lang="pt-BR" sz="2000" b="1" dirty="0" smtClean="0"/>
              <a:t> fiscal;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O número da IE ST deverá constar de todos os documentos dirigidos à UF destinatária;</a:t>
            </a:r>
          </a:p>
          <a:p>
            <a:pPr lvl="2" algn="just" eaLnBrk="1" hangingPunct="1">
              <a:lnSpc>
                <a:spcPct val="90000"/>
              </a:lnSpc>
              <a:defRPr/>
            </a:pPr>
            <a:r>
              <a:rPr lang="pt-BR" sz="2000" b="1" dirty="0" smtClean="0"/>
              <a:t>Não determina responsabilidade, mas prazo para recolhimento do imposto.</a:t>
            </a:r>
          </a:p>
          <a:p>
            <a:pPr eaLnBrk="1" hangingPunct="1">
              <a:lnSpc>
                <a:spcPct val="90000"/>
              </a:lnSpc>
              <a:defRPr/>
            </a:pPr>
            <a:endParaRPr lang="pt-B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12775"/>
            <a:ext cx="7772400" cy="4572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dirty="0" smtClean="0">
                <a:solidFill>
                  <a:schemeClr val="folHlink"/>
                </a:solidFill>
              </a:rPr>
              <a:t>CONVÊNIO ICMS 81/93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106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1800" b="1" dirty="0" smtClean="0">
                <a:solidFill>
                  <a:schemeClr val="folHlink"/>
                </a:solidFill>
              </a:rPr>
              <a:t>Inscrição Estadual de Substituto Tributário: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pt-BR" sz="1800" b="1" dirty="0" smtClean="0">
                <a:solidFill>
                  <a:schemeClr val="folHlink"/>
                </a:solidFill>
              </a:rPr>
              <a:t>Determina prazo para recolhimento do imposto.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Ex: remessa de cigarro de contribuinte paulista para varejista DF com destino à comercialização.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pt-BR" sz="1600" b="1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pt-BR" sz="1600" b="1" dirty="0" smtClean="0">
              <a:solidFill>
                <a:schemeClr val="folHlink"/>
              </a:solidFill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0" y="3024188"/>
            <a:ext cx="2555776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b="1" dirty="0">
                <a:solidFill>
                  <a:schemeClr val="folHlink"/>
                </a:solidFill>
              </a:rPr>
              <a:t>Contribuinte </a:t>
            </a:r>
            <a:endParaRPr lang="pt-BR" b="1" dirty="0" smtClean="0">
              <a:solidFill>
                <a:schemeClr val="folHlink"/>
              </a:solidFill>
            </a:endParaRPr>
          </a:p>
          <a:p>
            <a:pPr algn="ctr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b="1" dirty="0" smtClean="0">
                <a:solidFill>
                  <a:schemeClr val="folHlink"/>
                </a:solidFill>
              </a:rPr>
              <a:t>com </a:t>
            </a:r>
            <a:r>
              <a:rPr lang="pt-BR" b="1" dirty="0">
                <a:solidFill>
                  <a:schemeClr val="folHlink"/>
                </a:solidFill>
              </a:rPr>
              <a:t>IE/ST</a:t>
            </a:r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2267744" y="3068638"/>
            <a:ext cx="72008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352800" y="2667000"/>
            <a:ext cx="3276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b="1" dirty="0">
                <a:solidFill>
                  <a:schemeClr val="folHlink"/>
                </a:solidFill>
              </a:rPr>
              <a:t>Retém o ICMS ST na NF e recolhe até o dia 09 do mês </a:t>
            </a:r>
            <a:r>
              <a:rPr lang="pt-BR" b="1" dirty="0" err="1" smtClean="0">
                <a:solidFill>
                  <a:schemeClr val="folHlink"/>
                </a:solidFill>
              </a:rPr>
              <a:t>subseqüente</a:t>
            </a:r>
            <a:r>
              <a:rPr lang="pt-BR" b="1" dirty="0" smtClean="0">
                <a:solidFill>
                  <a:schemeClr val="folHlink"/>
                </a:solidFill>
              </a:rPr>
              <a:t> </a:t>
            </a:r>
            <a:endParaRPr lang="pt-BR" b="1" dirty="0">
              <a:solidFill>
                <a:schemeClr val="folHlink"/>
              </a:solidFill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0" y="4554539"/>
            <a:ext cx="24117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b="1" dirty="0" smtClean="0">
                <a:solidFill>
                  <a:schemeClr val="folHlink"/>
                </a:solidFill>
              </a:rPr>
              <a:t>Contribuinte</a:t>
            </a:r>
          </a:p>
          <a:p>
            <a:pPr algn="ctr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b="1" dirty="0" smtClean="0">
                <a:solidFill>
                  <a:schemeClr val="folHlink"/>
                </a:solidFill>
              </a:rPr>
              <a:t> </a:t>
            </a:r>
            <a:r>
              <a:rPr lang="pt-BR" b="1" dirty="0">
                <a:solidFill>
                  <a:schemeClr val="folHlink"/>
                </a:solidFill>
              </a:rPr>
              <a:t>sem </a:t>
            </a:r>
            <a:r>
              <a:rPr lang="pt-BR" b="1" dirty="0" smtClean="0">
                <a:solidFill>
                  <a:schemeClr val="folHlink"/>
                </a:solidFill>
              </a:rPr>
              <a:t>IE/ST</a:t>
            </a:r>
            <a:endParaRPr lang="pt-BR" sz="2000" b="1" dirty="0">
              <a:solidFill>
                <a:schemeClr val="folHlink"/>
              </a:solidFill>
            </a:endParaRPr>
          </a:p>
        </p:txBody>
      </p:sp>
      <p:sp>
        <p:nvSpPr>
          <p:cNvPr id="28680" name="AutoShape 8"/>
          <p:cNvSpPr>
            <a:spLocks noChangeArrowheads="1"/>
          </p:cNvSpPr>
          <p:nvPr/>
        </p:nvSpPr>
        <p:spPr bwMode="auto">
          <a:xfrm>
            <a:off x="2483769" y="4554538"/>
            <a:ext cx="648072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3347864" y="4191000"/>
            <a:ext cx="3456384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2000" b="1" dirty="0">
                <a:solidFill>
                  <a:schemeClr val="folHlink"/>
                </a:solidFill>
              </a:rPr>
              <a:t>Retém o ICMS ST na NF e recolhe na saída da mercadoria em </a:t>
            </a:r>
            <a:r>
              <a:rPr lang="pt-BR" sz="2000" b="1" dirty="0" smtClean="0">
                <a:solidFill>
                  <a:schemeClr val="folHlink"/>
                </a:solidFill>
              </a:rPr>
              <a:t>GNRE ou </a:t>
            </a:r>
            <a:r>
              <a:rPr lang="pt-BR" sz="2000" b="1" dirty="0">
                <a:solidFill>
                  <a:schemeClr val="folHlink"/>
                </a:solidFill>
              </a:rPr>
              <a:t>por </a:t>
            </a:r>
            <a:r>
              <a:rPr lang="pt-BR" sz="2000" b="1" dirty="0" smtClean="0">
                <a:solidFill>
                  <a:schemeClr val="folHlink"/>
                </a:solidFill>
              </a:rPr>
              <a:t>DAR </a:t>
            </a:r>
            <a:r>
              <a:rPr lang="pt-BR" sz="2000" b="1" dirty="0">
                <a:solidFill>
                  <a:schemeClr val="folHlink"/>
                </a:solidFill>
              </a:rPr>
              <a:t>eletrônico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7236296" y="2286000"/>
            <a:ext cx="190770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1600" b="1" dirty="0" smtClean="0">
                <a:solidFill>
                  <a:schemeClr val="folHlink"/>
                </a:solidFill>
              </a:rPr>
              <a:t>POR  APURAÇÃO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1600" b="1" dirty="0" smtClean="0">
                <a:solidFill>
                  <a:schemeClr val="folHlink"/>
                </a:solidFill>
              </a:rPr>
              <a:t>Código 1350/1635</a:t>
            </a:r>
            <a:endParaRPr lang="pt-BR" sz="1600" b="1" dirty="0">
              <a:solidFill>
                <a:schemeClr val="folHlink"/>
              </a:solidFill>
            </a:endParaRPr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 flipH="1">
            <a:off x="6629400" y="2924944"/>
            <a:ext cx="534888" cy="275456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7308304" y="4495800"/>
            <a:ext cx="194421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1600" b="1" dirty="0" smtClean="0">
                <a:solidFill>
                  <a:schemeClr val="folHlink"/>
                </a:solidFill>
              </a:rPr>
              <a:t>POR OPERAÇÃO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sz="1600" b="1" dirty="0" smtClean="0">
                <a:solidFill>
                  <a:schemeClr val="folHlink"/>
                </a:solidFill>
              </a:rPr>
              <a:t>Código 1638</a:t>
            </a:r>
            <a:endParaRPr lang="pt-BR" sz="1600" b="1" dirty="0">
              <a:solidFill>
                <a:schemeClr val="folHlink"/>
              </a:solidFill>
            </a:endParaRPr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flipH="1" flipV="1">
            <a:off x="6876256" y="4869160"/>
            <a:ext cx="306288" cy="157336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pt-BR"/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683568" y="5768975"/>
            <a:ext cx="7848871" cy="36933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pt-BR" b="1" dirty="0">
                <a:solidFill>
                  <a:schemeClr val="accent1"/>
                </a:solidFill>
              </a:rPr>
              <a:t>Uma cópia do </a:t>
            </a:r>
            <a:r>
              <a:rPr lang="pt-BR" b="1" dirty="0" smtClean="0">
                <a:solidFill>
                  <a:schemeClr val="accent1"/>
                </a:solidFill>
              </a:rPr>
              <a:t>DAR ou via </a:t>
            </a:r>
            <a:r>
              <a:rPr lang="pt-BR" b="1" dirty="0">
                <a:solidFill>
                  <a:schemeClr val="accent1"/>
                </a:solidFill>
              </a:rPr>
              <a:t>da GNRE deverá acompanhar o transporte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9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90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0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850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15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8000"/>
                            </p:stCondLst>
                            <p:childTnLst>
                              <p:par>
                                <p:cTn id="73" presetID="19" presetClass="entr" presetSubtype="1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build="p" autoUpdateAnimBg="0" advAuto="6000"/>
      <p:bldP spid="28676" grpId="0" autoUpdateAnimBg="0"/>
      <p:bldP spid="28677" grpId="0" animBg="1"/>
      <p:bldP spid="28678" grpId="0" autoUpdateAnimBg="0"/>
      <p:bldP spid="28679" grpId="0" autoUpdateAnimBg="0"/>
      <p:bldP spid="28680" grpId="0" animBg="1"/>
      <p:bldP spid="28681" grpId="0" autoUpdateAnimBg="0"/>
      <p:bldP spid="28682" grpId="0" autoUpdateAnimBg="0"/>
      <p:bldP spid="28683" grpId="0" animBg="1"/>
      <p:bldP spid="28684" grpId="0" autoUpdateAnimBg="0"/>
      <p:bldP spid="28685" grpId="0" animBg="1"/>
      <p:bldP spid="2868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12775"/>
            <a:ext cx="7772400" cy="4572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dirty="0" smtClean="0">
                <a:solidFill>
                  <a:schemeClr val="folHlink"/>
                </a:solidFill>
              </a:rPr>
              <a:t>DECRETO 18.955/97 – RICMS - DF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909464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NÃO RETENÇÃO DO ICMS ST PELO CONTRIBUINTE SUBSTITUTO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TRIBUTÁRIO – RESPONSABILIDADE SUBSIDIÁRIO DO DESTINATÁRIO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BASE LEGAL: Artigo 320, I, “a”, 1 e 2 – Decreto 18.955/97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pt-BR" sz="1600" b="1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pt-BR" sz="1600" b="1" dirty="0" smtClean="0">
              <a:solidFill>
                <a:schemeClr val="folHlink"/>
              </a:solidFill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115616" y="2420888"/>
            <a:ext cx="727280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/>
              <a:t>Art. 320. Ficam sujeitas ao regime de pagamento antecipado do imposto, as aquisições interestaduais (</a:t>
            </a:r>
            <a:r>
              <a:rPr lang="pt-BR" sz="2000" u="sng" dirty="0" smtClean="0">
                <a:hlinkClick r:id="rId2"/>
              </a:rPr>
              <a:t>Lei nº 1.254/96</a:t>
            </a:r>
            <a:r>
              <a:rPr lang="pt-BR" sz="2000" dirty="0" smtClean="0"/>
              <a:t>, art. 46, § 1º):</a:t>
            </a:r>
          </a:p>
          <a:p>
            <a:pPr algn="just"/>
            <a:r>
              <a:rPr lang="pt-BR" sz="2000" dirty="0" smtClean="0"/>
              <a:t>I - de mercadorias:</a:t>
            </a:r>
          </a:p>
          <a:p>
            <a:pPr algn="just"/>
            <a:r>
              <a:rPr lang="pt-BR" sz="2000" dirty="0" smtClean="0"/>
              <a:t>a) relacionadas no </a:t>
            </a:r>
            <a:r>
              <a:rPr lang="pt-BR" sz="2000" u="sng" dirty="0" smtClean="0">
                <a:hlinkClick r:id="rId3"/>
              </a:rPr>
              <a:t>Caderno I do Anexo IV</a:t>
            </a:r>
            <a:r>
              <a:rPr lang="pt-BR" sz="2000" dirty="0" smtClean="0"/>
              <a:t> a este Regulamento, quando (</a:t>
            </a:r>
            <a:r>
              <a:rPr lang="pt-BR" sz="2000" u="sng" dirty="0" smtClean="0">
                <a:hlinkClick r:id="rId2"/>
              </a:rPr>
              <a:t>Lei nº 1.254/96</a:t>
            </a:r>
            <a:r>
              <a:rPr lang="pt-BR" sz="2000" dirty="0" smtClean="0"/>
              <a:t>, art. 2º, parágrafo único, inciso III, alínea “a”):</a:t>
            </a:r>
          </a:p>
          <a:p>
            <a:pPr algn="just"/>
            <a:r>
              <a:rPr lang="pt-BR" sz="2000" dirty="0" smtClean="0"/>
              <a:t>1) o remetente for estabelecido em unidade federada que não mantenha acordo para retenção do imposto em operações interestaduais destinadas ao Distrito Federal;</a:t>
            </a:r>
          </a:p>
          <a:p>
            <a:pPr algn="just"/>
            <a:r>
              <a:rPr lang="pt-BR" sz="2000" dirty="0" smtClean="0"/>
              <a:t>2) o imposto não tenha sido retido ou tenha sido retido a menor pelo substituto tributário;</a:t>
            </a:r>
            <a:endParaRPr lang="pt-BR" sz="20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build="p" autoUpdateAnimBg="0" advAuto="6000"/>
      <p:bldP spid="2868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12775"/>
            <a:ext cx="7772400" cy="4572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dirty="0" smtClean="0">
                <a:solidFill>
                  <a:schemeClr val="folHlink"/>
                </a:solidFill>
              </a:rPr>
              <a:t>NÃO RETENÇÃO – PRAZO DE PAGAMENTO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295400"/>
            <a:ext cx="7626424" cy="1269504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NÃO RETENÇÃO DO ICMS ST PELO CONTRIBUINTE SUBSTITUTO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TRIBUTÁRIO – RESPONSABILIDADE SUBSIDIÁRIO DO DESTINATÁRIO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sz="1600" b="1" dirty="0" smtClean="0">
                <a:solidFill>
                  <a:schemeClr val="folHlink"/>
                </a:solidFill>
              </a:rPr>
              <a:t>BASE LEGAL: Artigo 320, I, “a”, 1 e 2 – Decreto 18.955/97 – Artigo 74, § 23 e Portaria 217/2012.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pt-BR" sz="1600" b="1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pt-BR" sz="1600" b="1" dirty="0" smtClean="0">
              <a:solidFill>
                <a:schemeClr val="folHlink"/>
              </a:solidFill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115616" y="2708920"/>
            <a:ext cx="7272808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pt-BR" dirty="0" smtClean="0"/>
              <a:t>Art. 74. O imposto será recolhido (</a:t>
            </a:r>
            <a:r>
              <a:rPr lang="pt-BR" u="sng" dirty="0" smtClean="0">
                <a:hlinkClick r:id="rId2"/>
              </a:rPr>
              <a:t>Lei nº 1.254</a:t>
            </a:r>
            <a:r>
              <a:rPr lang="pt-BR" dirty="0" smtClean="0"/>
              <a:t>, de 8 de novembro de 1996, art. 46):</a:t>
            </a:r>
          </a:p>
          <a:p>
            <a:pPr algn="just"/>
            <a:r>
              <a:rPr lang="pt-BR" dirty="0" smtClean="0"/>
              <a:t>...</a:t>
            </a:r>
          </a:p>
          <a:p>
            <a:pPr algn="just"/>
            <a:r>
              <a:rPr lang="pt-BR" dirty="0" smtClean="0"/>
              <a:t>§23. A Secretaria de Estado de Fazenda poderá credenciar o adquirente, em situação cadastral regular, de mercadorias relacionadas no Caderno I do Anexo Iv deste regulamento, </a:t>
            </a:r>
            <a:r>
              <a:rPr lang="pt-BR" u="sng" dirty="0" smtClean="0"/>
              <a:t>oriundas de unidades federadas não signatárias de convênios ou protocolos</a:t>
            </a:r>
            <a:r>
              <a:rPr lang="pt-BR" dirty="0" smtClean="0"/>
              <a:t>, para recolher </a:t>
            </a:r>
            <a:r>
              <a:rPr lang="pt-BR" b="1" dirty="0" smtClean="0"/>
              <a:t>o imposto até o dia vinte do mês corrente ou cinco do mês subsequente</a:t>
            </a:r>
            <a:r>
              <a:rPr lang="pt-BR" dirty="0" smtClean="0"/>
              <a:t>, conforme as entradas das mercadorias no território do Distrito Federal tenham ocorrido, respectivamente, na primeira ou segunda quinzena de cada mês. (AC)</a:t>
            </a:r>
            <a:endParaRPr lang="pt-BR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build="p" autoUpdateAnimBg="0" advAuto="6000"/>
      <p:bldP spid="2868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SUBSTITUIÇÃO TRIBUTÁRIA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559024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 smtClean="0">
                <a:solidFill>
                  <a:schemeClr val="hlink"/>
                </a:solidFill>
              </a:rPr>
              <a:t>APLICABILIDADE NO DISTRITO FEDERAL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dirty="0" smtClean="0">
                <a:solidFill>
                  <a:schemeClr val="tx1"/>
                </a:solidFill>
              </a:rPr>
              <a:t>SUBSTITUIÇÃO TRIBUTÁRIA</a:t>
            </a:r>
            <a:br>
              <a:rPr lang="pt-BR" sz="3200" b="1" dirty="0" smtClean="0">
                <a:solidFill>
                  <a:schemeClr val="tx1"/>
                </a:solidFill>
              </a:rPr>
            </a:br>
            <a:r>
              <a:rPr lang="pt-BR" sz="3200" b="1" dirty="0" smtClean="0">
                <a:solidFill>
                  <a:schemeClr val="tx1"/>
                </a:solidFill>
              </a:rPr>
              <a:t>NO DISTRITO FEDERAL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3072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800" dirty="0" smtClean="0">
                <a:solidFill>
                  <a:schemeClr val="folHlink"/>
                </a:solidFill>
              </a:rPr>
              <a:t>1º - </a:t>
            </a:r>
            <a:r>
              <a:rPr lang="pt-BR" sz="2800" dirty="0" smtClean="0">
                <a:solidFill>
                  <a:schemeClr val="hlink"/>
                </a:solidFill>
              </a:rPr>
              <a:t>POR MEIO DE CONVÊNIO OU PROTOCOLO</a:t>
            </a:r>
            <a:r>
              <a:rPr lang="pt-BR" sz="2800" dirty="0" smtClean="0">
                <a:solidFill>
                  <a:schemeClr val="folHlink"/>
                </a:solidFill>
              </a:rPr>
              <a:t> - se estende a contribuintes de outras unidades da Federação;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pt-BR" sz="2800" dirty="0" smtClean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800" dirty="0" smtClean="0">
                <a:solidFill>
                  <a:schemeClr val="folHlink"/>
                </a:solidFill>
              </a:rPr>
              <a:t>2º - </a:t>
            </a:r>
            <a:r>
              <a:rPr lang="pt-BR" sz="2800" dirty="0" smtClean="0">
                <a:solidFill>
                  <a:schemeClr val="hlink"/>
                </a:solidFill>
              </a:rPr>
              <a:t>QUANDO NÃO HÁ CONVÊNIO OU PROTOCOLO</a:t>
            </a:r>
            <a:r>
              <a:rPr lang="pt-BR" sz="2800" dirty="0" smtClean="0">
                <a:solidFill>
                  <a:schemeClr val="folHlink"/>
                </a:solidFill>
              </a:rPr>
              <a:t> - é a chamada substituição interna - ex: Medicamentos.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pt-BR" sz="2800" dirty="0" smtClean="0">
              <a:solidFill>
                <a:schemeClr val="folHlink"/>
              </a:solidFill>
            </a:endParaRP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pt-BR" dirty="0" smtClean="0">
                <a:solidFill>
                  <a:schemeClr val="folHlink"/>
                </a:solidFill>
              </a:rPr>
              <a:t>Alcança apenas os contribuintes internos; e</a:t>
            </a:r>
          </a:p>
          <a:p>
            <a:pPr lvl="1" algn="just"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pt-BR" dirty="0" smtClean="0">
                <a:solidFill>
                  <a:schemeClr val="folHlink"/>
                </a:solidFill>
              </a:rPr>
              <a:t>Alcança contribuintes de outras UF por meio de Regime Especial – Art. 327 – Dec. 18.955/97.</a:t>
            </a:r>
            <a:endParaRPr lang="pt-BR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PT" dirty="0" smtClean="0"/>
              <a:t>SUBSTITUIÇÃO TRIBUTÁRIA</a:t>
            </a:r>
            <a:endParaRPr lang="pt-BR" dirty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PT" dirty="0" smtClean="0">
                <a:solidFill>
                  <a:schemeClr val="hlink"/>
                </a:solidFill>
              </a:rPr>
              <a:t>HIPÓTESES DE CRÉDITO</a:t>
            </a:r>
          </a:p>
          <a:p>
            <a:pPr eaLnBrk="1" hangingPunct="1">
              <a:defRPr/>
            </a:pPr>
            <a:endParaRPr lang="pt-BR" dirty="0" smtClean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dirty="0" smtClean="0">
                <a:solidFill>
                  <a:schemeClr val="tx1"/>
                </a:solidFill>
              </a:rPr>
              <a:t>HIPÓTESES DE CRÉDITOS – Artigo 329 do Decreto 18.955/97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700808"/>
            <a:ext cx="8964612" cy="4536504"/>
          </a:xfrm>
        </p:spPr>
        <p:txBody>
          <a:bodyPr/>
          <a:lstStyle/>
          <a:p>
            <a:pPr algn="just"/>
            <a:r>
              <a:rPr lang="pt-BR" sz="2400" dirty="0" smtClean="0"/>
              <a:t>Art. 329. O disposto no artigo anterior não se aplica:</a:t>
            </a:r>
          </a:p>
          <a:p>
            <a:pPr algn="just"/>
            <a:r>
              <a:rPr lang="pt-BR" sz="2400" dirty="0" smtClean="0"/>
              <a:t>I - à saída subsequente da mercadoria para outra unidade federada;</a:t>
            </a:r>
          </a:p>
          <a:p>
            <a:pPr algn="just"/>
            <a:r>
              <a:rPr lang="pt-BR" sz="2400" dirty="0" smtClean="0"/>
              <a:t>II - à saída de produto em cuja fabricação tenha sido utilizada a mercadoria como matéria-prima;</a:t>
            </a:r>
          </a:p>
          <a:p>
            <a:pPr algn="just"/>
            <a:r>
              <a:rPr lang="pt-BR" sz="2400" dirty="0" smtClean="0"/>
              <a:t>Devolução de mercadorias;</a:t>
            </a:r>
          </a:p>
          <a:p>
            <a:pPr algn="just"/>
            <a:r>
              <a:rPr lang="pt-BR" sz="2400" dirty="0" smtClean="0"/>
              <a:t>hipóteses de deterioração, extravio, furto, perda, perecimento, roubo ou sinistro (fator gerador presumido não ocorreu);</a:t>
            </a:r>
          </a:p>
          <a:p>
            <a:pPr algn="just"/>
            <a:r>
              <a:rPr lang="pt-BR" sz="2400" dirty="0" smtClean="0"/>
              <a:t>Baixa do Estoque para uso/consumo ou Ativo Fixo.</a:t>
            </a:r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PT" smtClean="0"/>
              <a:t>SUBSTITUIÇÃO TRIBUTÁRIA</a:t>
            </a:r>
            <a:endParaRPr lang="pt-BR" smtClean="0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 smtClean="0">
                <a:solidFill>
                  <a:schemeClr val="hlink"/>
                </a:solidFill>
              </a:rPr>
              <a:t>Inclusão e Exclusão de Produtos no Regime de ST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pt-BR" sz="3200" b="1" dirty="0" smtClean="0">
                <a:solidFill>
                  <a:schemeClr val="tx1"/>
                </a:solidFill>
              </a:rPr>
              <a:t>INCLUSÃO – Base Legal Artigo 321-A – Decreto 18.955/97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60847"/>
            <a:ext cx="8435975" cy="3096345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Levantar o Estoque existente no dia imediatamente anterior;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Encontrar a base de cálculo;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Encaminhar Bloco H até 30 dias;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Apresentar Declaração do ICMS sobre estoque até última dia do mês subsequente (Portaria 53/09);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Recolher cota única ou 1ª parcela de 12 (caso tenha optado por parcelar em 12), até o 10º dia do 2º mês subsequente;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pt-BR" sz="3200" b="1" dirty="0" smtClean="0">
                <a:solidFill>
                  <a:schemeClr val="tx1"/>
                </a:solidFill>
              </a:rPr>
              <a:t>EXCLUSÃO – Base Legal Artigo 321-B – Decreto 18.955/97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60847"/>
            <a:ext cx="8435975" cy="378911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Levantar o Estoque existente no dia imediatamente anterior;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Encontrar a base de cálculo;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Encaminhar o Bloco H no prazo de 30 dias;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Registrar no LFE – campo 03 – E 340;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pt-BR" sz="2000" b="1" dirty="0" smtClean="0"/>
              <a:t>Poderá compensar o crédito apurado com parcelas abertas de parcelamentos na forma da Portaria 177/09.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APLICAÇÃO DA NBM/SH NA LEGISLAÇÃO DO ICMS/ST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000" smtClean="0">
                <a:solidFill>
                  <a:srgbClr val="FCFC12"/>
                </a:solidFill>
              </a:rPr>
              <a:t>As mercadorias sujeitas ao regime de substituição tributária estão relacionadas com a: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000" smtClean="0">
                <a:solidFill>
                  <a:srgbClr val="FCFC12"/>
                </a:solidFill>
              </a:rPr>
              <a:t>Nomenclatura Brasileira de Mercadorias (NBM), sistema de classificação adotado até de 31/12/1996  e / ou 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000" smtClean="0">
                <a:solidFill>
                  <a:srgbClr val="FCFC12"/>
                </a:solidFill>
              </a:rPr>
              <a:t>Nomenclatura Comum do Mercosul (NCM), que é a atual NBM com o sistema de classificação adotado a partir de 1º de janeiro de 1997. (tabela incidência IPI (TIPI)).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000" smtClean="0">
                <a:solidFill>
                  <a:srgbClr val="FCFC12"/>
                </a:solidFill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000" smtClean="0">
                <a:solidFill>
                  <a:srgbClr val="FCFC12"/>
                </a:solidFill>
              </a:rPr>
              <a:t>	O Código NBM é composto por oito dígitos: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pt-BR" sz="2000" smtClean="0">
                <a:solidFill>
                  <a:srgbClr val="FCFC12"/>
                </a:solidFill>
              </a:rPr>
              <a:t>os seis primeiros são formados pelo Sistema Harmonizado;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pt-BR" sz="2000" smtClean="0">
                <a:solidFill>
                  <a:srgbClr val="FCFC12"/>
                </a:solidFill>
              </a:rPr>
              <a:t>sétimo e oitavo dígitos correspondem a desdobramentos específicos atribuídos no âmbito do MERCOSUL.</a:t>
            </a:r>
            <a:r>
              <a:rPr lang="pt-BR" sz="1800" smtClean="0">
                <a:solidFill>
                  <a:srgbClr val="FCFC12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</a:t>
            </a:r>
          </a:p>
          <a:p>
            <a:pPr eaLnBrk="1" hangingPunct="1">
              <a:lnSpc>
                <a:spcPct val="80000"/>
              </a:lnSpc>
              <a:defRPr/>
            </a:pPr>
            <a:endParaRPr lang="pt-BR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385763" y="593725"/>
            <a:ext cx="8147050" cy="427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32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431800" y="998538"/>
            <a:ext cx="8235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solidFill>
                  <a:schemeClr val="folHlink"/>
                </a:solidFill>
                <a:latin typeface="Tahoma" pitchFamily="34" charset="0"/>
              </a:rPr>
              <a:t>3.1 -  Estrutura e composição da Nomenclarura Brasileira de Mercadorias baseada no Sistema Harmonizado(</a:t>
            </a:r>
            <a:r>
              <a:rPr lang="pt-BR" sz="2400" b="1">
                <a:solidFill>
                  <a:schemeClr val="folHlink"/>
                </a:solidFill>
                <a:latin typeface="Tahoma" pitchFamily="34" charset="0"/>
              </a:rPr>
              <a:t>NBM/SH).</a:t>
            </a:r>
            <a:endParaRPr lang="pt-BR" sz="2000" b="1">
              <a:solidFill>
                <a:schemeClr val="folHlink"/>
              </a:solidFill>
              <a:latin typeface="Tahoma" pitchFamily="34" charset="0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61925" y="1898650"/>
            <a:ext cx="2636838" cy="376238"/>
          </a:xfrm>
          <a:prstGeom prst="rect">
            <a:avLst/>
          </a:prstGeom>
          <a:solidFill>
            <a:srgbClr val="FFFFCC"/>
          </a:solidFill>
          <a:ln w="9525">
            <a:solidFill>
              <a:srgbClr val="00008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pt-BR" b="1">
                <a:solidFill>
                  <a:schemeClr val="folHlink"/>
                </a:solidFill>
                <a:ea typeface="Times New Roman" pitchFamily="18" charset="0"/>
                <a:cs typeface="Arial" charset="0"/>
              </a:rPr>
              <a:t> </a:t>
            </a:r>
            <a:r>
              <a:rPr lang="pt-BR" b="1">
                <a:solidFill>
                  <a:srgbClr val="3B1FA1"/>
                </a:solidFill>
                <a:ea typeface="Times New Roman" pitchFamily="18" charset="0"/>
                <a:cs typeface="Arial" charset="0"/>
              </a:rPr>
              <a:t>94   05.    10.    9    2</a:t>
            </a:r>
            <a:endParaRPr lang="pt-BR" b="1">
              <a:solidFill>
                <a:srgbClr val="3B1FA1"/>
              </a:solidFill>
              <a:latin typeface="Times New Roman" pitchFamily="18" charset="0"/>
              <a:ea typeface="Times New Roman" pitchFamily="18" charset="0"/>
              <a:cs typeface="Arial" charset="0"/>
            </a:endParaRPr>
          </a:p>
        </p:txBody>
      </p:sp>
      <p:pic>
        <p:nvPicPr>
          <p:cNvPr id="30725" name="Picture 5" descr="http://www.desenvolvimento.gov.br/images/Mercad1.gif"/>
          <p:cNvPicPr>
            <a:picLocks noChangeAspect="1" noChangeArrowheads="1"/>
          </p:cNvPicPr>
          <p:nvPr/>
        </p:nvPicPr>
        <p:blipFill>
          <a:blip r:embed="rId2" r:link="rId3" cstate="print">
            <a:grayscl/>
          </a:blip>
          <a:srcRect/>
          <a:stretch>
            <a:fillRect/>
          </a:stretch>
        </p:blipFill>
        <p:spPr bwMode="auto">
          <a:xfrm>
            <a:off x="206375" y="2303463"/>
            <a:ext cx="8937625" cy="2198687"/>
          </a:xfrm>
          <a:prstGeom prst="rect">
            <a:avLst/>
          </a:prstGeom>
          <a:solidFill>
            <a:srgbClr val="0000FF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522288" y="4843463"/>
            <a:ext cx="8172450" cy="771525"/>
          </a:xfrm>
          <a:prstGeom prst="rect">
            <a:avLst/>
          </a:prstGeom>
          <a:solidFill>
            <a:srgbClr val="FFFFCC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pt-BR" sz="2000" b="1">
                <a:solidFill>
                  <a:schemeClr val="bg1"/>
                </a:solidFill>
                <a:ea typeface="Times New Roman" pitchFamily="18" charset="0"/>
                <a:cs typeface="Arial" charset="0"/>
              </a:rPr>
              <a:t>Exemplo:</a:t>
            </a:r>
            <a:r>
              <a:rPr lang="pt-BR" sz="2000" b="1">
                <a:solidFill>
                  <a:srgbClr val="800000"/>
                </a:solidFill>
                <a:ea typeface="Times New Roman" pitchFamily="18" charset="0"/>
                <a:cs typeface="Arial" charset="0"/>
              </a:rPr>
              <a:t> </a:t>
            </a:r>
            <a:r>
              <a:rPr lang="pt-BR" sz="2000" b="1">
                <a:solidFill>
                  <a:srgbClr val="CC0000"/>
                </a:solidFill>
                <a:latin typeface="Tahoma" pitchFamily="34" charset="0"/>
                <a:ea typeface="Times New Roman" pitchFamily="18" charset="0"/>
                <a:cs typeface="Arial" charset="0"/>
              </a:rPr>
              <a:t>Código NBM 9405.10.92 Lustres de vidro</a:t>
            </a:r>
            <a:r>
              <a:rPr lang="pt-BR" sz="2400">
                <a:latin typeface="Tahoma" pitchFamily="34" charset="0"/>
                <a:ea typeface="Times New Roman" pitchFamily="18" charset="0"/>
                <a:cs typeface="Arial" charset="0"/>
              </a:rPr>
              <a:t> </a:t>
            </a:r>
            <a:endParaRPr lang="pt-BR" sz="2000">
              <a:solidFill>
                <a:srgbClr val="CC0000"/>
              </a:solidFill>
              <a:latin typeface="Tahoma" pitchFamily="34" charset="0"/>
              <a:ea typeface="Times New Roman" pitchFamily="18" charset="0"/>
              <a:cs typeface="Arial" charset="0"/>
            </a:endParaRPr>
          </a:p>
          <a:p>
            <a:pPr eaLnBrk="0" hangingPunct="0"/>
            <a:r>
              <a:rPr lang="pt-BR" sz="2000">
                <a:solidFill>
                  <a:schemeClr val="bg1"/>
                </a:solidFill>
                <a:ea typeface="Times New Roman" pitchFamily="18" charset="0"/>
                <a:cs typeface="Arial" charset="0"/>
              </a:rPr>
              <a:t>Este código é resultado dos seguintes desdobramentos: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863" y="908050"/>
            <a:ext cx="8658225" cy="468153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endParaRPr lang="en-US" b="1" smtClean="0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41313" y="1066800"/>
            <a:ext cx="8461375" cy="741363"/>
          </a:xfrm>
          <a:prstGeom prst="rect">
            <a:avLst/>
          </a:prstGeom>
          <a:solidFill>
            <a:srgbClr val="FFFFCC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pt-BR" b="1">
                <a:solidFill>
                  <a:srgbClr val="800000"/>
                </a:solidFill>
                <a:ea typeface="Times New Roman" pitchFamily="18" charset="0"/>
                <a:cs typeface="Arial" charset="0"/>
              </a:rPr>
              <a:t>Exemplo: </a:t>
            </a:r>
            <a:r>
              <a:rPr lang="pt-BR" sz="2000" b="1">
                <a:solidFill>
                  <a:srgbClr val="CC0000"/>
                </a:solidFill>
                <a:latin typeface="Tahoma" pitchFamily="34" charset="0"/>
                <a:ea typeface="Times New Roman" pitchFamily="18" charset="0"/>
                <a:cs typeface="Arial" charset="0"/>
              </a:rPr>
              <a:t>Código NBM 9405.10.92 Lustres de vidro</a:t>
            </a:r>
            <a:r>
              <a:rPr lang="pt-BR" sz="2400">
                <a:latin typeface="Tahoma" pitchFamily="34" charset="0"/>
                <a:ea typeface="Times New Roman" pitchFamily="18" charset="0"/>
                <a:cs typeface="Arial" charset="0"/>
              </a:rPr>
              <a:t> </a:t>
            </a:r>
            <a:endParaRPr lang="pt-BR">
              <a:solidFill>
                <a:srgbClr val="CC0000"/>
              </a:solidFill>
              <a:latin typeface="Tahoma" pitchFamily="34" charset="0"/>
              <a:ea typeface="Times New Roman" pitchFamily="18" charset="0"/>
              <a:cs typeface="Arial" charset="0"/>
            </a:endParaRPr>
          </a:p>
          <a:p>
            <a:pPr eaLnBrk="0" hangingPunct="0"/>
            <a:r>
              <a:rPr lang="pt-BR">
                <a:solidFill>
                  <a:schemeClr val="bg2"/>
                </a:solidFill>
                <a:ea typeface="Times New Roman" pitchFamily="18" charset="0"/>
                <a:cs typeface="Arial" charset="0"/>
              </a:rPr>
              <a:t>Este código é resultado dos seguintes desdobramentos:</a:t>
            </a:r>
          </a:p>
        </p:txBody>
      </p:sp>
      <p:graphicFrame>
        <p:nvGraphicFramePr>
          <p:cNvPr id="36868" name="Group 4"/>
          <p:cNvGraphicFramePr>
            <a:graphicFrameLocks noGrp="1"/>
          </p:cNvGraphicFramePr>
          <p:nvPr/>
        </p:nvGraphicFramePr>
        <p:xfrm>
          <a:off x="341313" y="1763713"/>
          <a:ext cx="8461375" cy="4046538"/>
        </p:xfrm>
        <a:graphic>
          <a:graphicData uri="http://schemas.openxmlformats.org/drawingml/2006/table">
            <a:tbl>
              <a:tblPr/>
              <a:tblGrid>
                <a:gridCol w="1662112"/>
                <a:gridCol w="1443038"/>
                <a:gridCol w="5356225"/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Capítulo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CC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94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FFCC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Arial" charset="0"/>
                        </a:rPr>
                        <a:t>Móveis; mobiliário médico-cirúrgico; colchões, almofadas e semelhantes; Aparelhos de iluminação não especificados nem compreendidos em outros capítulos; (...)</a:t>
                      </a:r>
                      <a:r>
                        <a:rPr kumimoji="0" lang="pt-B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CC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Posição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9405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Aparelhos de iluminação</a:t>
                      </a:r>
                      <a:r>
                        <a:rPr kumimoji="0" lang="pt-B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(incluídos os projetores) </a:t>
                      </a: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 suas partes</a:t>
                      </a:r>
                      <a:r>
                        <a:rPr kumimoji="0" lang="pt-B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, não especificados nem compreendidos em outras posições; (...)</a:t>
                      </a:r>
                      <a:r>
                        <a:rPr kumimoji="0" lang="pt-B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Subposição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9405.10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Arial" charset="0"/>
                        </a:rPr>
                        <a:t>Lustres e outros aparelhos de iluminação, elétricos</a:t>
                      </a:r>
                      <a:r>
                        <a:rPr kumimoji="0" lang="pt-B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Arial" charset="0"/>
                        </a:rPr>
                        <a:t>, próprios para serem suspensos ou fixados no teto ou na parede, exceto os dos tipos utilizados na iluminação pública.</a:t>
                      </a:r>
                      <a:r>
                        <a:rPr kumimoji="0" lang="pt-B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Item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9405.10.9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B732D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Outros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Subitem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9405.10.92</a:t>
                      </a:r>
                      <a:endParaRPr kumimoji="0" lang="pt-B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 vidro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31774" name="Text Box 30"/>
          <p:cNvSpPr txBox="1">
            <a:spLocks noChangeArrowheads="1"/>
          </p:cNvSpPr>
          <p:nvPr/>
        </p:nvSpPr>
        <p:spPr bwMode="auto">
          <a:xfrm>
            <a:off x="431800" y="684213"/>
            <a:ext cx="8505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chemeClr val="folHlink"/>
                </a:solidFill>
                <a:latin typeface="Tahoma" pitchFamily="34" charset="0"/>
              </a:rPr>
              <a:t>3.2 - Estrutura e Composição da NBM/SH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APLICAÇÃO DA NBM/SH NA LEGISLAÇÃO DO ICMS/ST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200" smtClean="0">
                <a:solidFill>
                  <a:schemeClr val="folHlink"/>
                </a:solidFill>
              </a:rPr>
              <a:t>Inicialmente analisar a NBM. Se o código do produto na NBM não estiver listado, não está na ST.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200" smtClean="0">
              <a:solidFill>
                <a:schemeClr val="folHlink"/>
              </a:solidFill>
            </a:endParaRPr>
          </a:p>
          <a:p>
            <a:pPr eaLnBrk="1" hangingPunct="1">
              <a:defRPr/>
            </a:pPr>
            <a:r>
              <a:rPr lang="pt-BR" sz="2200" smtClean="0">
                <a:solidFill>
                  <a:schemeClr val="folHlink"/>
                </a:solidFill>
              </a:rPr>
              <a:t>Se o código estiver listado, temos de comparar a descrição da mercadoria, com a redação original da NBM (Tabela TIPI).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200" smtClean="0">
              <a:solidFill>
                <a:schemeClr val="folHlink"/>
              </a:solidFill>
            </a:endParaRPr>
          </a:p>
          <a:p>
            <a:pPr lvl="3" eaLnBrk="1" hangingPunct="1">
              <a:defRPr/>
            </a:pPr>
            <a:r>
              <a:rPr lang="pt-BR" sz="2200" smtClean="0">
                <a:solidFill>
                  <a:schemeClr val="folHlink"/>
                </a:solidFill>
              </a:rPr>
              <a:t>Se a redação for coincidente, todos os produtos com aquela classificação estão sujeitos à ST. </a:t>
            </a:r>
          </a:p>
          <a:p>
            <a:pPr lvl="3" eaLnBrk="1" hangingPunct="1">
              <a:defRPr/>
            </a:pPr>
            <a:r>
              <a:rPr lang="pt-BR" sz="2200" smtClean="0">
                <a:solidFill>
                  <a:schemeClr val="folHlink"/>
                </a:solidFill>
              </a:rPr>
              <a:t>Se a redação for diferente, o legislador quis limitar a aplicação da ST à mercadoria descrita.</a:t>
            </a:r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130" name="Group 2"/>
          <p:cNvGraphicFramePr>
            <a:graphicFrameLocks noGrp="1"/>
          </p:cNvGraphicFramePr>
          <p:nvPr>
            <p:ph sz="half" idx="1"/>
          </p:nvPr>
        </p:nvGraphicFramePr>
        <p:xfrm>
          <a:off x="684213" y="4005263"/>
          <a:ext cx="7753350" cy="1360488"/>
        </p:xfrm>
        <a:graphic>
          <a:graphicData uri="http://schemas.openxmlformats.org/drawingml/2006/table">
            <a:tbl>
              <a:tblPr/>
              <a:tblGrid>
                <a:gridCol w="946150"/>
                <a:gridCol w="1403350"/>
                <a:gridCol w="5403850"/>
              </a:tblGrid>
              <a:tr h="719138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44.1.26</a:t>
                      </a: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9405.10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Lustres e outros aparelhos elétricos de iluminação,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próprios para serem suspensos ou fixados no teto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 na parede, exceto os dos tipos utilizados na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iluminação pública, </a:t>
                      </a: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1ACA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suas partes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13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1ACA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9405.9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D1ACA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6142" name="Rectangle 14"/>
          <p:cNvSpPr>
            <a:spLocks noChangeArrowheads="1"/>
          </p:cNvSpPr>
          <p:nvPr/>
        </p:nvSpPr>
        <p:spPr bwMode="auto">
          <a:xfrm>
            <a:off x="2484438" y="5445125"/>
            <a:ext cx="51831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3">
              <a:defRPr/>
            </a:pPr>
            <a:r>
              <a:rPr lang="pt-BR">
                <a:effectLst>
                  <a:outerShdw blurRad="38100" dist="38100" dir="2700000" algn="tl">
                    <a:srgbClr val="000000"/>
                  </a:outerShdw>
                </a:effectLst>
              </a:rPr>
              <a:t>INCLUÍDOS:</a:t>
            </a:r>
          </a:p>
          <a:p>
            <a:pPr lvl="3">
              <a:defRPr/>
            </a:pPr>
            <a:r>
              <a:rPr lang="pt-BR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9405.10.91 – lustres de pedra</a:t>
            </a:r>
          </a:p>
          <a:p>
            <a:pPr lvl="3">
              <a:defRPr/>
            </a:pPr>
            <a:r>
              <a:rPr lang="pt-BR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9405.10.92 – lustres de vidro</a:t>
            </a:r>
          </a:p>
          <a:p>
            <a:pPr lvl="3">
              <a:defRPr/>
            </a:pPr>
            <a:r>
              <a:rPr lang="pt-BR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9405.10.93 – lustres de metais</a:t>
            </a:r>
          </a:p>
        </p:txBody>
      </p:sp>
      <p:sp>
        <p:nvSpPr>
          <p:cNvPr id="176143" name="Rectangle 15"/>
          <p:cNvSpPr>
            <a:spLocks noChangeArrowheads="1"/>
          </p:cNvSpPr>
          <p:nvPr/>
        </p:nvSpPr>
        <p:spPr bwMode="auto">
          <a:xfrm>
            <a:off x="468313" y="3573463"/>
            <a:ext cx="3548985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ANEXO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IV 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RICMS/97 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–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DF:</a:t>
            </a:r>
            <a:endParaRPr lang="pt-BR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76144" name="Group 16"/>
          <p:cNvGraphicFramePr>
            <a:graphicFrameLocks noGrp="1"/>
          </p:cNvGraphicFramePr>
          <p:nvPr>
            <p:ph sz="half" idx="2"/>
          </p:nvPr>
        </p:nvGraphicFramePr>
        <p:xfrm>
          <a:off x="611188" y="765175"/>
          <a:ext cx="6696075" cy="1347788"/>
        </p:xfrm>
        <a:graphic>
          <a:graphicData uri="http://schemas.openxmlformats.org/drawingml/2006/table">
            <a:tbl>
              <a:tblPr/>
              <a:tblGrid>
                <a:gridCol w="1379537"/>
                <a:gridCol w="5316538"/>
              </a:tblGrid>
              <a:tr h="13477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9405.10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CFC1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Lustres e outros aparelhos elétricos de iluminação,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próprios para serem suspensos ou fixados no teto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 na parede, exceto os dos tipos utilizados na</a:t>
                      </a:r>
                    </a:p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iluminação pública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CFC1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6152" name="Rectangle 24"/>
          <p:cNvSpPr>
            <a:spLocks noChangeArrowheads="1"/>
          </p:cNvSpPr>
          <p:nvPr/>
        </p:nvSpPr>
        <p:spPr bwMode="auto">
          <a:xfrm>
            <a:off x="395288" y="476250"/>
            <a:ext cx="89535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pt-BR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pt-BR">
                <a:solidFill>
                  <a:srgbClr val="FCFC1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NBM</a:t>
            </a:r>
          </a:p>
        </p:txBody>
      </p:sp>
      <p:pic>
        <p:nvPicPr>
          <p:cNvPr id="33817" name="Picture 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188" y="2276475"/>
            <a:ext cx="6697662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202" name="Group 2"/>
          <p:cNvGraphicFramePr>
            <a:graphicFrameLocks noGrp="1"/>
          </p:cNvGraphicFramePr>
          <p:nvPr>
            <p:ph sz="half" idx="1"/>
          </p:nvPr>
        </p:nvGraphicFramePr>
        <p:xfrm>
          <a:off x="611188" y="4437063"/>
          <a:ext cx="7921625" cy="1066800"/>
        </p:xfrm>
        <a:graphic>
          <a:graphicData uri="http://schemas.openxmlformats.org/drawingml/2006/table">
            <a:tbl>
              <a:tblPr/>
              <a:tblGrid>
                <a:gridCol w="1069975"/>
                <a:gridCol w="1004887"/>
                <a:gridCol w="5846763"/>
              </a:tblGrid>
              <a:tr h="5413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xx.</a:t>
                      </a:r>
                      <a:r>
                        <a:rPr kumimoji="0" lang="pt-BR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x.</a:t>
                      </a: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xx</a:t>
                      </a:r>
                      <a:endParaRPr kumimoji="0" lang="pt-BR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7312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pt-BR" sz="16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Fios de ferro ou aço não ligados, não revestidos, </a:t>
                      </a: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6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mesmo</a:t>
                      </a:r>
                      <a:r>
                        <a:rPr lang="pt-BR" sz="16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6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polidos, cordas, cabos, tranças  (entrançados), ligas e artefatos semelhantes, de ferro ou aço, não isolados para usos elétricos.</a:t>
                      </a:r>
                      <a:endParaRPr kumimoji="0" lang="pt-B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9212" name="Group 12"/>
          <p:cNvGraphicFramePr>
            <a:graphicFrameLocks noGrp="1"/>
          </p:cNvGraphicFramePr>
          <p:nvPr>
            <p:ph sz="quarter" idx="2"/>
          </p:nvPr>
        </p:nvGraphicFramePr>
        <p:xfrm>
          <a:off x="827088" y="2133600"/>
          <a:ext cx="8064500" cy="863600"/>
        </p:xfrm>
        <a:graphic>
          <a:graphicData uri="http://schemas.openxmlformats.org/drawingml/2006/table">
            <a:tbl>
              <a:tblPr/>
              <a:tblGrid>
                <a:gridCol w="1511300"/>
                <a:gridCol w="6553200"/>
              </a:tblGrid>
              <a:tr h="8636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Cordas, cabos, tranças (entrançados), ligas e artefatos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semelhantes, de ferro ou aço, não isolados para usos elétricos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9220" name="Rectangle 20"/>
          <p:cNvSpPr>
            <a:spLocks noChangeArrowheads="1"/>
          </p:cNvSpPr>
          <p:nvPr/>
        </p:nvSpPr>
        <p:spPr bwMode="auto">
          <a:xfrm>
            <a:off x="323850" y="3716338"/>
            <a:ext cx="5357172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ANEXO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IV 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RICMS/97 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–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DF </a:t>
            </a:r>
            <a:r>
              <a:rPr lang="pt-BR" dirty="0">
                <a:solidFill>
                  <a:srgbClr val="DE2F0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(exemplo fictício)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</p:txBody>
      </p:sp>
      <p:sp>
        <p:nvSpPr>
          <p:cNvPr id="179221" name="Rectangle 21"/>
          <p:cNvSpPr>
            <a:spLocks noChangeArrowheads="1"/>
          </p:cNvSpPr>
          <p:nvPr/>
        </p:nvSpPr>
        <p:spPr bwMode="auto">
          <a:xfrm>
            <a:off x="468313" y="1341438"/>
            <a:ext cx="89535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pt-BR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pt-BR">
                <a:solidFill>
                  <a:srgbClr val="FCFC1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NBM</a:t>
            </a:r>
          </a:p>
        </p:txBody>
      </p:sp>
      <p:sp>
        <p:nvSpPr>
          <p:cNvPr id="34838" name="Text Box 22"/>
          <p:cNvSpPr txBox="1">
            <a:spLocks noChangeArrowheads="1"/>
          </p:cNvSpPr>
          <p:nvPr/>
        </p:nvSpPr>
        <p:spPr bwMode="auto">
          <a:xfrm>
            <a:off x="1331913" y="404813"/>
            <a:ext cx="54721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solidFill>
                  <a:srgbClr val="DE2F0C"/>
                </a:solidFill>
              </a:rPr>
              <a:t>EXEMPLO FICTÍCIO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54" name="Group 2"/>
          <p:cNvGraphicFramePr>
            <a:graphicFrameLocks noGrp="1"/>
          </p:cNvGraphicFramePr>
          <p:nvPr>
            <p:ph sz="half" idx="1"/>
          </p:nvPr>
        </p:nvGraphicFramePr>
        <p:xfrm>
          <a:off x="539750" y="5300663"/>
          <a:ext cx="8218488" cy="541338"/>
        </p:xfrm>
        <a:graphic>
          <a:graphicData uri="http://schemas.openxmlformats.org/drawingml/2006/table">
            <a:tbl>
              <a:tblPr/>
              <a:tblGrid>
                <a:gridCol w="1003300"/>
                <a:gridCol w="1487488"/>
                <a:gridCol w="5727700"/>
              </a:tblGrid>
              <a:tr h="5413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23.1.7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3809.91.90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Amaciante; suavizante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D1ACA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7164" name="Group 12"/>
          <p:cNvGraphicFramePr>
            <a:graphicFrameLocks noGrp="1"/>
          </p:cNvGraphicFramePr>
          <p:nvPr>
            <p:ph sz="quarter" idx="2"/>
          </p:nvPr>
        </p:nvGraphicFramePr>
        <p:xfrm>
          <a:off x="684213" y="981075"/>
          <a:ext cx="8064500" cy="2225040"/>
        </p:xfrm>
        <a:graphic>
          <a:graphicData uri="http://schemas.openxmlformats.org/drawingml/2006/table">
            <a:tbl>
              <a:tblPr/>
              <a:tblGrid>
                <a:gridCol w="1511300"/>
                <a:gridCol w="6553200"/>
              </a:tblGrid>
              <a:tr h="13477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38.09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Agentes de apresto ou de acabamento, aceleradores de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tingimento</a:t>
                      </a: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ou de fixação de matérias corantes e outros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produtos e preparações (por exemplo, aprestos preparados e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Preparações mordentes) dos tipos utilizados na indústria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têxtil, na indústria do papel, na indústria do couro ou em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Indústrias semelhantes, não especificados nem compreendidos</a:t>
                      </a:r>
                    </a:p>
                    <a:p>
                      <a:pPr marL="342900" marR="0" lvl="0" indent="-34290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em outras Posições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7172" name="Rectangle 20"/>
          <p:cNvSpPr>
            <a:spLocks noChangeArrowheads="1"/>
          </p:cNvSpPr>
          <p:nvPr/>
        </p:nvSpPr>
        <p:spPr bwMode="auto">
          <a:xfrm>
            <a:off x="395288" y="4868863"/>
            <a:ext cx="3548985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ANEXO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IV 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RICMS/97 </a:t>
            </a:r>
            <a:r>
              <a:rPr lang="pt-BR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– </a:t>
            </a:r>
            <a:r>
              <a:rPr lang="pt-BR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DF:</a:t>
            </a:r>
            <a:endParaRPr lang="pt-BR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7173" name="Rectangle 21"/>
          <p:cNvSpPr>
            <a:spLocks noChangeArrowheads="1"/>
          </p:cNvSpPr>
          <p:nvPr/>
        </p:nvSpPr>
        <p:spPr bwMode="auto">
          <a:xfrm>
            <a:off x="395288" y="476250"/>
            <a:ext cx="89535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Blip>
                <a:blip r:embed="rId2"/>
              </a:buBlip>
              <a:defRPr/>
            </a:pPr>
            <a:r>
              <a:rPr lang="pt-BR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pt-BR">
                <a:solidFill>
                  <a:srgbClr val="FCFC1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NBM</a:t>
            </a:r>
          </a:p>
        </p:txBody>
      </p:sp>
      <p:graphicFrame>
        <p:nvGraphicFramePr>
          <p:cNvPr id="177174" name="Group 22"/>
          <p:cNvGraphicFramePr>
            <a:graphicFrameLocks noGrp="1"/>
          </p:cNvGraphicFramePr>
          <p:nvPr>
            <p:ph sz="quarter" idx="3"/>
          </p:nvPr>
        </p:nvGraphicFramePr>
        <p:xfrm>
          <a:off x="684213" y="3357563"/>
          <a:ext cx="7991475" cy="566738"/>
        </p:xfrm>
        <a:graphic>
          <a:graphicData uri="http://schemas.openxmlformats.org/drawingml/2006/table">
            <a:tbl>
              <a:tblPr/>
              <a:tblGrid>
                <a:gridCol w="1524000"/>
                <a:gridCol w="6467475"/>
              </a:tblGrid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3809.91.90</a:t>
                      </a:r>
                      <a:endParaRPr kumimoji="0" lang="pt-BR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CFC1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CFC1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Outros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defRPr/>
            </a:pPr>
            <a:r>
              <a:rPr lang="pt-BR" sz="2000" b="1" smtClean="0">
                <a:solidFill>
                  <a:schemeClr val="folHlink"/>
                </a:solidFill>
              </a:rPr>
              <a:t>Fórmula prática para a Base de Cálculo do ICMS/ST </a:t>
            </a:r>
          </a:p>
          <a:p>
            <a:pPr lvl="1" eaLnBrk="1" hangingPunct="1">
              <a:defRPr/>
            </a:pPr>
            <a:r>
              <a:rPr lang="pt-BR" sz="2000" b="1" smtClean="0">
                <a:solidFill>
                  <a:schemeClr val="folHlink"/>
                </a:solidFill>
              </a:rPr>
              <a:t>MVA AJUSTADA - OPERAÇÕES INTERESTADUAIS </a:t>
            </a:r>
          </a:p>
          <a:p>
            <a:pPr lvl="1" eaLnBrk="1" hangingPunct="1">
              <a:buFontTx/>
              <a:buNone/>
              <a:defRPr/>
            </a:pPr>
            <a:endParaRPr lang="pt-BR" sz="2000" b="1" smtClean="0">
              <a:solidFill>
                <a:schemeClr val="folHlink"/>
              </a:solidFill>
            </a:endParaRPr>
          </a:p>
          <a:p>
            <a:pPr lvl="1" eaLnBrk="1" hangingPunct="1">
              <a:buFontTx/>
              <a:buNone/>
              <a:defRPr/>
            </a:pPr>
            <a:endParaRPr lang="pt-BR" sz="2000" b="1" smtClean="0">
              <a:solidFill>
                <a:schemeClr val="folHlink"/>
              </a:solidFill>
            </a:endParaRPr>
          </a:p>
          <a:p>
            <a:pPr lvl="1" eaLnBrk="1" hangingPunct="1">
              <a:buFontTx/>
              <a:buNone/>
              <a:defRPr/>
            </a:pPr>
            <a:endParaRPr lang="pt-BR" sz="2400" b="1" smtClean="0">
              <a:solidFill>
                <a:schemeClr val="folHlink"/>
              </a:solidFill>
            </a:endParaRPr>
          </a:p>
          <a:p>
            <a:pPr lvl="1" eaLnBrk="1" hangingPunct="1">
              <a:buFontTx/>
              <a:buNone/>
              <a:defRPr/>
            </a:pPr>
            <a:r>
              <a:rPr lang="pt-BR" b="1" smtClean="0">
                <a:solidFill>
                  <a:srgbClr val="FCFC12"/>
                </a:solidFill>
              </a:rPr>
              <a:t>	</a:t>
            </a:r>
          </a:p>
          <a:p>
            <a:pPr lvl="1" eaLnBrk="1" hangingPunct="1">
              <a:buFontTx/>
              <a:buNone/>
              <a:defRPr/>
            </a:pPr>
            <a:r>
              <a:rPr lang="pt-BR" b="1" smtClean="0">
                <a:solidFill>
                  <a:srgbClr val="FCFC12"/>
                </a:solidFill>
              </a:rPr>
              <a:t>MVA ajustada = {[(1+ MVA-ST original) x (1 - ALQ inter) / (1 - ALQ intra)] -1}x 100”</a:t>
            </a:r>
            <a:endParaRPr lang="pt-BR" smtClean="0"/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1258888" y="5805488"/>
            <a:ext cx="1512887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/>
              <a:t>Alíquota interestadual</a:t>
            </a: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4427538" y="5734050"/>
            <a:ext cx="115252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/>
              <a:t>Alíquota interna</a:t>
            </a: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1403350" y="2852738"/>
            <a:ext cx="208915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pt-BR"/>
              <a:t>MVA a ser usada na fórmula geral</a:t>
            </a:r>
          </a:p>
        </p:txBody>
      </p:sp>
      <p:sp>
        <p:nvSpPr>
          <p:cNvPr id="115720" name="AutoShape 8"/>
          <p:cNvSpPr>
            <a:spLocks noChangeArrowheads="1"/>
          </p:cNvSpPr>
          <p:nvPr/>
        </p:nvSpPr>
        <p:spPr bwMode="auto">
          <a:xfrm>
            <a:off x="2124075" y="3500438"/>
            <a:ext cx="360363" cy="647700"/>
          </a:xfrm>
          <a:prstGeom prst="downArrow">
            <a:avLst>
              <a:gd name="adj1" fmla="val 50000"/>
              <a:gd name="adj2" fmla="val 4493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15721" name="AutoShape 9"/>
          <p:cNvSpPr>
            <a:spLocks noChangeArrowheads="1"/>
          </p:cNvSpPr>
          <p:nvPr/>
        </p:nvSpPr>
        <p:spPr bwMode="auto">
          <a:xfrm>
            <a:off x="4643438" y="5300663"/>
            <a:ext cx="288925" cy="433387"/>
          </a:xfrm>
          <a:prstGeom prst="up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15722" name="AutoShape 10"/>
          <p:cNvSpPr>
            <a:spLocks noChangeArrowheads="1"/>
          </p:cNvSpPr>
          <p:nvPr/>
        </p:nvSpPr>
        <p:spPr bwMode="auto">
          <a:xfrm>
            <a:off x="1908175" y="5300663"/>
            <a:ext cx="360363" cy="504825"/>
          </a:xfrm>
          <a:prstGeom prst="upArrow">
            <a:avLst>
              <a:gd name="adj1" fmla="val 50000"/>
              <a:gd name="adj2" fmla="val 350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4787900" y="2716511"/>
            <a:ext cx="2305050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/>
              <a:t>MVA prevista </a:t>
            </a:r>
            <a:r>
              <a:rPr lang="pt-BR" dirty="0" smtClean="0"/>
              <a:t>no Caderno I do </a:t>
            </a:r>
            <a:r>
              <a:rPr lang="pt-BR" dirty="0"/>
              <a:t>Anexo </a:t>
            </a:r>
            <a:r>
              <a:rPr lang="pt-BR" dirty="0" smtClean="0"/>
              <a:t>IV</a:t>
            </a:r>
            <a:endParaRPr lang="pt-BR" dirty="0"/>
          </a:p>
        </p:txBody>
      </p:sp>
      <p:sp>
        <p:nvSpPr>
          <p:cNvPr id="115724" name="AutoShape 12"/>
          <p:cNvSpPr>
            <a:spLocks noChangeArrowheads="1"/>
          </p:cNvSpPr>
          <p:nvPr/>
        </p:nvSpPr>
        <p:spPr bwMode="auto">
          <a:xfrm>
            <a:off x="5795963" y="3500438"/>
            <a:ext cx="360362" cy="576262"/>
          </a:xfrm>
          <a:prstGeom prst="down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nimBg="1"/>
      <p:bldP spid="115717" grpId="0" animBg="1"/>
      <p:bldP spid="115718" grpId="0" animBg="1"/>
      <p:bldP spid="115720" grpId="0" animBg="1"/>
      <p:bldP spid="115721" grpId="0" animBg="1"/>
      <p:bldP spid="115722" grpId="0" animBg="1"/>
      <p:bldP spid="115723" grpId="0" animBg="1"/>
      <p:bldP spid="1157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/>
              <a:t>EXEMPLO MVA AJUSTADA</a:t>
            </a:r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686800" cy="5472113"/>
          </a:xfrm>
        </p:spPr>
        <p:txBody>
          <a:bodyPr/>
          <a:lstStyle/>
          <a:p>
            <a:pPr eaLnBrk="1" hangingPunct="1">
              <a:defRPr/>
            </a:pPr>
            <a:r>
              <a:rPr lang="pt-BR" sz="2000" dirty="0" smtClean="0"/>
              <a:t>Aquisição de cosméticos por contribuinte remetidos por fornecedor estabelecido no Estado de Goiás.</a:t>
            </a:r>
          </a:p>
          <a:p>
            <a:pPr lvl="1" eaLnBrk="1" hangingPunct="1">
              <a:defRPr/>
            </a:pPr>
            <a:r>
              <a:rPr lang="pt-BR" sz="2000" dirty="0" smtClean="0"/>
              <a:t>Mercadoria qualquer</a:t>
            </a:r>
          </a:p>
          <a:p>
            <a:pPr lvl="1" eaLnBrk="1" hangingPunct="1">
              <a:defRPr/>
            </a:pPr>
            <a:r>
              <a:rPr lang="pt-BR" sz="2000" dirty="0" smtClean="0"/>
              <a:t>MVA-ST = 34,87%</a:t>
            </a:r>
          </a:p>
          <a:p>
            <a:pPr lvl="1" eaLnBrk="1" hangingPunct="1">
              <a:defRPr/>
            </a:pPr>
            <a:r>
              <a:rPr lang="pt-BR" sz="2000" dirty="0" smtClean="0"/>
              <a:t>Alíquota Interestadual (ALQ Inter) = 12%</a:t>
            </a:r>
          </a:p>
          <a:p>
            <a:pPr lvl="1" eaLnBrk="1" hangingPunct="1">
              <a:defRPr/>
            </a:pPr>
            <a:r>
              <a:rPr lang="pt-BR" sz="2000" dirty="0" smtClean="0"/>
              <a:t>Alíquota Interna          (ALQ Intra) =  18%</a:t>
            </a:r>
          </a:p>
          <a:p>
            <a:pPr lvl="1" eaLnBrk="1" hangingPunct="1">
              <a:defRPr/>
            </a:pPr>
            <a:r>
              <a:rPr lang="pt-BR" sz="2000" b="1" dirty="0" smtClean="0">
                <a:solidFill>
                  <a:srgbClr val="FCFC12"/>
                </a:solidFill>
              </a:rPr>
              <a:t>MVA ajustada = {[(1+ MVA-ST original) x (1 - ALQ inter) / (1 - ALQ intra)] -1}x 100</a:t>
            </a:r>
            <a:endParaRPr lang="en-US" sz="2000" dirty="0" smtClean="0"/>
          </a:p>
          <a:p>
            <a:pPr lvl="2" eaLnBrk="1" hangingPunct="1">
              <a:defRPr/>
            </a:pPr>
            <a:endParaRPr lang="pt-BR" sz="2000" dirty="0" smtClean="0"/>
          </a:p>
          <a:p>
            <a:pPr lvl="2" eaLnBrk="1" hangingPunct="1">
              <a:buFont typeface="Wingdings" pitchFamily="2" charset="2"/>
              <a:buNone/>
              <a:defRPr/>
            </a:pPr>
            <a:endParaRPr lang="pt-BR" sz="2000" dirty="0" smtClean="0"/>
          </a:p>
          <a:p>
            <a:pPr lvl="2" eaLnBrk="1" hangingPunct="1">
              <a:buFont typeface="Wingdings" pitchFamily="2" charset="2"/>
              <a:buNone/>
              <a:defRPr/>
            </a:pPr>
            <a:endParaRPr lang="pt-BR" sz="2000" dirty="0" smtClean="0"/>
          </a:p>
          <a:p>
            <a:pPr lvl="2" eaLnBrk="1" hangingPunct="1">
              <a:defRPr/>
            </a:pPr>
            <a:r>
              <a:rPr lang="pt-BR" sz="2000" dirty="0" smtClean="0"/>
              <a:t>MVA Ajustada</a:t>
            </a:r>
          </a:p>
          <a:p>
            <a:pPr lvl="2" eaLnBrk="1" hangingPunct="1">
              <a:defRPr/>
            </a:pPr>
            <a:r>
              <a:rPr lang="pt-BR" sz="2000" dirty="0" smtClean="0"/>
              <a:t>= ((A X B) – 1) x 100</a:t>
            </a:r>
          </a:p>
          <a:p>
            <a:pPr lvl="2" eaLnBrk="1" hangingPunct="1">
              <a:defRPr/>
            </a:pPr>
            <a:r>
              <a:rPr lang="pt-BR" sz="2000" dirty="0" smtClean="0"/>
              <a:t>= ((1,3487 x 1,0732) -1) x 100 =</a:t>
            </a:r>
          </a:p>
          <a:p>
            <a:pPr lvl="2" eaLnBrk="1" hangingPunct="1">
              <a:defRPr/>
            </a:pPr>
            <a:r>
              <a:rPr lang="pt-BR" sz="2000" dirty="0" smtClean="0"/>
              <a:t>= 44,74%</a:t>
            </a: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5219700" y="4221163"/>
            <a:ext cx="3692525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= (1 - ALQ inter) : (1 - ALQ intra)</a:t>
            </a:r>
          </a:p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= (1 – 0,12) : (1 – </a:t>
            </a:r>
            <a:r>
              <a:rPr lang="pt-BR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0,18)</a:t>
            </a:r>
            <a:endParaRPr lang="pt-BR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= </a:t>
            </a:r>
            <a:r>
              <a:rPr lang="pt-BR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0,88 </a:t>
            </a:r>
            <a:r>
              <a:rPr lang="pt-B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 </a:t>
            </a:r>
            <a:r>
              <a:rPr lang="pt-BR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0,82</a:t>
            </a:r>
            <a:endParaRPr lang="pt-BR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pt-BR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= </a:t>
            </a:r>
            <a:r>
              <a:rPr lang="pt-BR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1,0732</a:t>
            </a:r>
            <a:endParaRPr lang="pt-BR" dirty="0"/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2339975" y="4149725"/>
            <a:ext cx="280987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A = (1 + MVA-ST original)</a:t>
            </a:r>
          </a:p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A = (1 + 0,3487)</a:t>
            </a:r>
            <a:endParaRPr lang="pt-BR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defRPr/>
            </a:pPr>
            <a:r>
              <a:rPr lang="pt-BR">
                <a:effectLst>
                  <a:outerShdw blurRad="38100" dist="38100" dir="2700000" algn="tl">
                    <a:srgbClr val="000000"/>
                  </a:outerShdw>
                </a:effectLst>
              </a:rPr>
              <a:t>A = 1,3487</a:t>
            </a:r>
            <a:endParaRPr lang="pt-BR"/>
          </a:p>
        </p:txBody>
      </p:sp>
      <p:sp>
        <p:nvSpPr>
          <p:cNvPr id="117774" name="AutoShape 14"/>
          <p:cNvSpPr>
            <a:spLocks noChangeArrowheads="1"/>
          </p:cNvSpPr>
          <p:nvPr/>
        </p:nvSpPr>
        <p:spPr bwMode="auto">
          <a:xfrm>
            <a:off x="4211638" y="3716338"/>
            <a:ext cx="504825" cy="43338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17775" name="AutoShape 15"/>
          <p:cNvSpPr>
            <a:spLocks noChangeArrowheads="1"/>
          </p:cNvSpPr>
          <p:nvPr/>
        </p:nvSpPr>
        <p:spPr bwMode="auto">
          <a:xfrm>
            <a:off x="7077075" y="3787775"/>
            <a:ext cx="504825" cy="433388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77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77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77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77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1" grpId="0" animBg="1"/>
      <p:bldP spid="117773" grpId="0" animBg="1"/>
      <p:bldP spid="117774" grpId="0" animBg="1"/>
      <p:bldP spid="11777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dirty="0" smtClean="0">
                <a:solidFill>
                  <a:schemeClr val="folHlink"/>
                </a:solidFill>
              </a:rPr>
              <a:t>Fórmula prática para a Base de Cálculo do ICMS/ST </a:t>
            </a:r>
          </a:p>
          <a:p>
            <a:pPr lvl="1" eaLnBrk="1" hangingPunct="1">
              <a:defRPr/>
            </a:pPr>
            <a:r>
              <a:rPr lang="pt-BR" sz="2400" b="1" dirty="0" smtClean="0">
                <a:solidFill>
                  <a:schemeClr val="folHlink"/>
                </a:solidFill>
              </a:rPr>
              <a:t>MVA AJUSTADA – OPERAÇÕES INTERNAS</a:t>
            </a:r>
          </a:p>
          <a:p>
            <a:pPr lvl="2" algn="just" eaLnBrk="1" hangingPunct="1">
              <a:defRPr/>
            </a:pPr>
            <a:r>
              <a:rPr lang="pt-BR" sz="2000" b="1" dirty="0" smtClean="0"/>
              <a:t>"MVA ajustada = {[(1+ MVA-ST original) x (1 - ALQ </a:t>
            </a:r>
            <a:r>
              <a:rPr lang="pt-BR" sz="2000" b="1" dirty="0" err="1" smtClean="0"/>
              <a:t>indiv</a:t>
            </a:r>
            <a:r>
              <a:rPr lang="pt-BR" sz="2000" b="1" dirty="0" smtClean="0"/>
              <a:t>) / (1 - ALQ geral)] -1}x 100", onde:</a:t>
            </a:r>
            <a:endParaRPr lang="pt-BR" sz="2000" b="1" dirty="0" smtClean="0">
              <a:solidFill>
                <a:schemeClr val="folHlink"/>
              </a:solidFill>
            </a:endParaRPr>
          </a:p>
          <a:p>
            <a:pPr lvl="3" algn="just" eaLnBrk="1" hangingPunct="1">
              <a:defRPr/>
            </a:pPr>
            <a:r>
              <a:rPr lang="pt-BR" sz="1800" u="sng" dirty="0" smtClean="0"/>
              <a:t>I</a:t>
            </a:r>
            <a:r>
              <a:rPr lang="pt-BR" sz="1800" dirty="0" smtClean="0"/>
              <a:t> - MVA ajustada é o percentual, com duas casas decimais, correspondente à MVA a ser utilizada para apuração da base de cálculo relativa à substituição tributária;</a:t>
            </a:r>
          </a:p>
          <a:p>
            <a:pPr lvl="3" algn="just" eaLnBrk="1" hangingPunct="1">
              <a:defRPr/>
            </a:pPr>
            <a:r>
              <a:rPr lang="pt-BR" sz="1800" u="sng" dirty="0" smtClean="0"/>
              <a:t>II</a:t>
            </a:r>
            <a:r>
              <a:rPr lang="pt-BR" sz="1800" dirty="0" smtClean="0"/>
              <a:t> - MVA-ST original é o coeficiente, com quatro casas decimais, correspondente à MVA prevista na Parte 2 do Anexo XV;</a:t>
            </a:r>
          </a:p>
          <a:p>
            <a:pPr lvl="3" algn="just" eaLnBrk="1" hangingPunct="1">
              <a:defRPr/>
            </a:pPr>
            <a:r>
              <a:rPr lang="pt-BR" sz="1800" dirty="0" smtClean="0"/>
              <a:t>III - ALQ </a:t>
            </a:r>
            <a:r>
              <a:rPr lang="pt-BR" sz="1800" dirty="0" err="1" smtClean="0"/>
              <a:t>indiv</a:t>
            </a:r>
            <a:r>
              <a:rPr lang="pt-BR" sz="1800" dirty="0" smtClean="0"/>
              <a:t> é o coeficiente correspondente à alíquota efetiva aplicável à operação;</a:t>
            </a:r>
          </a:p>
          <a:p>
            <a:pPr lvl="3" algn="just" eaLnBrk="1" hangingPunct="1">
              <a:defRPr/>
            </a:pPr>
            <a:r>
              <a:rPr lang="pt-BR" sz="1800" u="sng" dirty="0" smtClean="0"/>
              <a:t>IV</a:t>
            </a:r>
            <a:r>
              <a:rPr lang="pt-BR" sz="1800" dirty="0" smtClean="0"/>
              <a:t> - ALQ geral é o coeficiente correspondente à alíquota prevista neste Estado para as operações </a:t>
            </a:r>
            <a:r>
              <a:rPr lang="pt-BR" sz="1800" dirty="0" err="1" smtClean="0"/>
              <a:t>subseqüentes</a:t>
            </a:r>
            <a:r>
              <a:rPr lang="pt-BR" sz="1800" dirty="0" smtClean="0"/>
              <a:t> alcançadas pela 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PT" sz="2000" b="1" dirty="0" smtClean="0">
                <a:solidFill>
                  <a:schemeClr val="hlink"/>
                </a:solidFill>
              </a:rPr>
              <a:t>FORMAÇÃO DA BASE DE CÁLCULO DO ICMS ST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	</a:t>
            </a:r>
          </a:p>
          <a:p>
            <a:pPr algn="just" eaLnBrk="1" hangingPunct="1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PREÇO DE PARTIDA: Valor da Mercadoria + Frete + IPI + Outras Despesas repassadas ao destinatário;</a:t>
            </a:r>
          </a:p>
          <a:p>
            <a:pPr algn="just" eaLnBrk="1" hangingPunct="1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BASE DE CÁLCULO DO ICMS/ST: Preço de Partida x MVA </a:t>
            </a:r>
            <a:r>
              <a:rPr lang="pt-BR" sz="1800" dirty="0" err="1" smtClean="0">
                <a:solidFill>
                  <a:schemeClr val="folHlink"/>
                </a:solidFill>
              </a:rPr>
              <a:t>Orignal</a:t>
            </a:r>
            <a:r>
              <a:rPr lang="pt-BR" sz="1800" dirty="0" smtClean="0">
                <a:solidFill>
                  <a:schemeClr val="folHlink"/>
                </a:solidFill>
              </a:rPr>
              <a:t> ou Ajustada;</a:t>
            </a:r>
          </a:p>
          <a:p>
            <a:pPr algn="just" eaLnBrk="1" hangingPunct="1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ICMS ST : BASE DE CÁLCULO DO ICMS/ST x ALÍQUOTA INTERNA – CRÉDITO DO REMETENTE (ICMS PRÓPRIA e ICMS FRETE)</a:t>
            </a:r>
          </a:p>
          <a:p>
            <a:pPr algn="just" eaLnBrk="1" hangingPunct="1">
              <a:buFont typeface="Arial" pitchFamily="34" charset="0"/>
              <a:buChar char="•"/>
              <a:defRPr/>
            </a:pPr>
            <a:endParaRPr lang="pt-BR" sz="1800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PT" sz="2000" b="1" dirty="0" smtClean="0">
                <a:solidFill>
                  <a:schemeClr val="hlink"/>
                </a:solidFill>
              </a:rPr>
              <a:t>SERVIÇO DE TRANSPORTE E BASE DE CÁLCULO ST DA MERCADORIA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	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	</a:t>
            </a:r>
            <a:r>
              <a:rPr lang="pt-BR" sz="2400" dirty="0" smtClean="0">
                <a:solidFill>
                  <a:schemeClr val="folHlink"/>
                </a:solidFill>
              </a:rPr>
              <a:t>Observação - não sendo possível incluir o valor do frete na base de cálculo, o estabelecimento destinatário recolherá a parcela do imposto a ele correspondente, aplicando a alíquota interna prevista para a mercadoria sobre o valor do frete acrescido do percentual de margem de valor agregado estabelecido para a respectiva mercadoria.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defRPr/>
            </a:pPr>
            <a:r>
              <a:rPr lang="pt-PT" sz="2000" b="1" dirty="0" smtClean="0">
                <a:solidFill>
                  <a:schemeClr val="hlink"/>
                </a:solidFill>
              </a:rPr>
              <a:t>BASE DE CÁLCULO AQUISIÇÃO USO E CONSUMO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PT" sz="2000" b="1" dirty="0" smtClean="0">
              <a:solidFill>
                <a:schemeClr val="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	</a:t>
            </a:r>
            <a:r>
              <a:rPr lang="pt-BR" sz="2400" dirty="0" smtClean="0">
                <a:solidFill>
                  <a:schemeClr val="folHlink"/>
                </a:solidFill>
              </a:rPr>
              <a:t>Na entrada, em operação interestadual, de mercadorias destinadas a </a:t>
            </a:r>
            <a:r>
              <a:rPr lang="pt-BR" sz="2400" dirty="0" smtClean="0">
                <a:solidFill>
                  <a:srgbClr val="FCFC12"/>
                </a:solidFill>
              </a:rPr>
              <a:t>uso, consumo ou ativo permanente</a:t>
            </a:r>
            <a:r>
              <a:rPr lang="pt-BR" sz="2400" dirty="0" smtClean="0">
                <a:solidFill>
                  <a:schemeClr val="folHlink"/>
                </a:solidFill>
              </a:rPr>
              <a:t> do adquirente, a mesma </a:t>
            </a:r>
            <a:r>
              <a:rPr lang="pt-BR" sz="2400" dirty="0" smtClean="0">
                <a:solidFill>
                  <a:srgbClr val="FCFC12"/>
                </a:solidFill>
              </a:rPr>
              <a:t>estabelecida</a:t>
            </a:r>
            <a:r>
              <a:rPr lang="pt-BR" sz="2400" dirty="0" smtClean="0">
                <a:solidFill>
                  <a:schemeClr val="folHlink"/>
                </a:solidFill>
              </a:rPr>
              <a:t> para a operação praticada pelo remetente (</a:t>
            </a:r>
            <a:r>
              <a:rPr lang="pt-BR" sz="2400" dirty="0" smtClean="0">
                <a:solidFill>
                  <a:srgbClr val="CCFFFF"/>
                </a:solidFill>
              </a:rPr>
              <a:t>TEM QUE INCLUIR O IPI</a:t>
            </a:r>
            <a:r>
              <a:rPr lang="pt-BR" sz="2400" dirty="0" smtClean="0">
                <a:solidFill>
                  <a:schemeClr val="folHlink"/>
                </a:solidFill>
              </a:rPr>
              <a:t>, que neste caso passa a compor a BC/ST) </a:t>
            </a:r>
          </a:p>
          <a:p>
            <a:pPr algn="just" eaLnBrk="1" hangingPunct="1">
              <a:buFontTx/>
              <a:buChar char="-"/>
              <a:defRPr/>
            </a:pPr>
            <a:r>
              <a:rPr lang="pt-BR" sz="2400" dirty="0" smtClean="0">
                <a:solidFill>
                  <a:schemeClr val="folHlink"/>
                </a:solidFill>
              </a:rPr>
              <a:t>ICMS DIFERENCIAL: ([Valor da Mercadoria + Frete + IPI] x Alíquota Interna) – ICMS do Fornecedor.</a:t>
            </a:r>
          </a:p>
          <a:p>
            <a:pPr eaLnBrk="1" hangingPunct="1">
              <a:buNone/>
              <a:defRPr/>
            </a:pPr>
            <a:endParaRPr lang="pt-BR" sz="2400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PT" sz="1800" b="1" smtClean="0">
                <a:solidFill>
                  <a:schemeClr val="hlink"/>
                </a:solidFill>
              </a:rPr>
              <a:t>DO IMPOSTO A RECOLHER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1600" smtClean="0">
                <a:solidFill>
                  <a:schemeClr val="folHlink"/>
                </a:solidFill>
              </a:rPr>
              <a:t>	</a:t>
            </a:r>
            <a:r>
              <a:rPr lang="pt-BR" sz="2000" smtClean="0">
                <a:solidFill>
                  <a:schemeClr val="folHlink"/>
                </a:solidFill>
              </a:rPr>
              <a:t>I - em relação às </a:t>
            </a:r>
            <a:r>
              <a:rPr lang="pt-BR" sz="2000" smtClean="0">
                <a:solidFill>
                  <a:srgbClr val="FCFC12"/>
                </a:solidFill>
              </a:rPr>
              <a:t>operações subseqüentes</a:t>
            </a:r>
            <a:r>
              <a:rPr lang="pt-BR" sz="2000" smtClean="0">
                <a:solidFill>
                  <a:schemeClr val="folHlink"/>
                </a:solidFill>
              </a:rPr>
              <a:t>, o valor da diferença entre o imposto calculado mediante aplicação da alíquota estabelecida para as operações internas sobre a base de cálculo definida para a substituição e o devido pela operação própria do contribuinte remetente;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II - na entrada, em operação interestadual, de mercadorias destinadas a </a:t>
            </a:r>
            <a:r>
              <a:rPr lang="pt-BR" sz="2000" smtClean="0">
                <a:solidFill>
                  <a:srgbClr val="FCFC12"/>
                </a:solidFill>
              </a:rPr>
              <a:t>uso, consumo ou ativo permanente</a:t>
            </a:r>
            <a:r>
              <a:rPr lang="pt-BR" sz="2000" smtClean="0">
                <a:solidFill>
                  <a:schemeClr val="folHlink"/>
                </a:solidFill>
              </a:rPr>
              <a:t> do adquirente, o valor calculado mediante aplicação do percentual relativo à diferença entre a alíquota interna e a interestadual sobre a respectiva base de cálculo.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III -  É vedada a compensação de débito relativo a substituição tributária com qualquer crédito do imposto decorrente de entrada de mercadoria ou de utilização de serviço.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PT" sz="2000" b="1" dirty="0" smtClean="0">
                <a:solidFill>
                  <a:schemeClr val="hlink"/>
                </a:solidFill>
              </a:rPr>
              <a:t>DO IMPOSTO A RECOLHER - DEFINITIVIDADE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PT" sz="2000" b="1" dirty="0" smtClean="0">
              <a:solidFill>
                <a:schemeClr val="hlink"/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	</a:t>
            </a:r>
            <a:r>
              <a:rPr lang="pt-BR" sz="2000" dirty="0" smtClean="0">
                <a:solidFill>
                  <a:schemeClr val="folHlink"/>
                </a:solidFill>
              </a:rPr>
              <a:t>Ressalvada a situação em que o fato gerador presumido não se realizar, o imposto corretamente </a:t>
            </a:r>
            <a:r>
              <a:rPr lang="pt-BR" sz="2000" dirty="0" smtClean="0">
                <a:solidFill>
                  <a:srgbClr val="FCFC12"/>
                </a:solidFill>
              </a:rPr>
              <a:t>recolhido por substituição tributária é definitivo</a:t>
            </a:r>
            <a:r>
              <a:rPr lang="pt-BR" sz="2000" dirty="0" smtClean="0">
                <a:solidFill>
                  <a:schemeClr val="folHlink"/>
                </a:solidFill>
              </a:rPr>
              <a:t>, não ficando, qualquer que seja o valor das saídas das mercadorias:</a:t>
            </a:r>
          </a:p>
          <a:p>
            <a:pPr lvl="1"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contribuinte ou o responsável sujeito ao recolhimento da diferença do tributo;</a:t>
            </a:r>
          </a:p>
          <a:p>
            <a:pPr lvl="1"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Estado sujeito à restituição de qualquer valor, ainda que sob a forma de aproveitamento de crédito para compensação com débito por saída de outra mercadoria.</a:t>
            </a:r>
          </a:p>
          <a:p>
            <a:pPr lvl="1" eaLnBrk="1" hangingPunct="1">
              <a:buFontTx/>
              <a:buNone/>
              <a:defRPr/>
            </a:pPr>
            <a:endParaRPr lang="pt-BR" sz="1800" dirty="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OBRIGAÇÕES ACESSÓRIAS NA ST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ICMS/ST será recolhido por meio de:</a:t>
            </a:r>
          </a:p>
          <a:p>
            <a:pPr algn="just" eaLnBrk="1" hangingPunct="1"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 - </a:t>
            </a:r>
            <a:r>
              <a:rPr lang="pt-BR" sz="2000" dirty="0" smtClean="0">
                <a:solidFill>
                  <a:schemeClr val="hlink"/>
                </a:solidFill>
              </a:rPr>
              <a:t>Documento de Arrecadação (DAR),</a:t>
            </a:r>
            <a:r>
              <a:rPr lang="pt-BR" sz="2000" dirty="0" smtClean="0">
                <a:solidFill>
                  <a:schemeClr val="folHlink"/>
                </a:solidFill>
              </a:rPr>
              <a:t> em se tratando de recolhimentos efetuados no Distrito Federal;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 - </a:t>
            </a:r>
            <a:r>
              <a:rPr lang="pt-BR" sz="2000" dirty="0" smtClean="0">
                <a:solidFill>
                  <a:schemeClr val="hlink"/>
                </a:solidFill>
              </a:rPr>
              <a:t>Guia Nacional de Recolhimento de Tributos Estaduais (GNRE),</a:t>
            </a:r>
            <a:r>
              <a:rPr lang="pt-BR" sz="2000" dirty="0" smtClean="0">
                <a:solidFill>
                  <a:schemeClr val="folHlink"/>
                </a:solidFill>
              </a:rPr>
              <a:t> em se tratando de recolhimentos efetuados em outra unidade da Federação, hipótese em que deverá ser utilizada GNRE específica sempre que o sujeito passivo por substituição operar com mercadorias sujeitas a regimes de substituição tributária regidos por convênios ou protocolos distintos.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endParaRPr lang="pt-BR" sz="1200" dirty="0" smtClean="0">
              <a:solidFill>
                <a:schemeClr val="folHlink"/>
              </a:solidFill>
            </a:endParaRPr>
          </a:p>
          <a:p>
            <a:pPr lvl="1" algn="just" eaLnBrk="1" hangingPunct="1">
              <a:buFontTx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	Na hipótese em que o recolhimento seja obrigatório </a:t>
            </a:r>
            <a:r>
              <a:rPr lang="pt-BR" sz="1800" dirty="0" smtClean="0">
                <a:solidFill>
                  <a:schemeClr val="hlink"/>
                </a:solidFill>
              </a:rPr>
              <a:t>até o momento da entrada mercadoria no Estado</a:t>
            </a:r>
            <a:r>
              <a:rPr lang="pt-BR" sz="1800" dirty="0" smtClean="0">
                <a:solidFill>
                  <a:schemeClr val="folHlink"/>
                </a:solidFill>
              </a:rPr>
              <a:t>, quando a responsabilidade for do destinatário, somente serão aceitos </a:t>
            </a:r>
            <a:r>
              <a:rPr lang="pt-BR" sz="1800" dirty="0" smtClean="0">
                <a:solidFill>
                  <a:schemeClr val="hlink"/>
                </a:solidFill>
              </a:rPr>
              <a:t>GNRE </a:t>
            </a:r>
            <a:r>
              <a:rPr lang="pt-BR" sz="2000" dirty="0" smtClean="0">
                <a:solidFill>
                  <a:schemeClr val="folHlink"/>
                </a:solidFill>
              </a:rPr>
              <a:t>ou</a:t>
            </a:r>
            <a:r>
              <a:rPr lang="pt-BR" sz="1800" dirty="0" smtClean="0">
                <a:solidFill>
                  <a:schemeClr val="hlink"/>
                </a:solidFill>
              </a:rPr>
              <a:t> DAR eletrônico (preenchidos no site da SEF/DF – </a:t>
            </a:r>
            <a:r>
              <a:rPr lang="pt-BR" sz="1800" dirty="0" smtClean="0">
                <a:solidFill>
                  <a:schemeClr val="hlink"/>
                </a:solidFill>
                <a:hlinkClick r:id="rId2"/>
              </a:rPr>
              <a:t>www.fazenda.df.gov.br</a:t>
            </a:r>
            <a:endParaRPr lang="pt-BR" sz="1800" dirty="0" smtClean="0">
              <a:solidFill>
                <a:schemeClr val="hlink"/>
              </a:solidFill>
            </a:endParaRPr>
          </a:p>
          <a:p>
            <a:pPr lvl="1" algn="just" eaLnBrk="1" hangingPunct="1">
              <a:buFontTx/>
              <a:buNone/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OBRIGAÇÕES ACESSÓRIAS NA ST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Na hipótese de recolhimento por sujeito passivo por substituição situado em outra unidade da Federação e </a:t>
            </a:r>
            <a:r>
              <a:rPr lang="pt-BR" sz="2000" dirty="0" smtClean="0">
                <a:solidFill>
                  <a:schemeClr val="hlink"/>
                </a:solidFill>
              </a:rPr>
              <a:t>não inscrito</a:t>
            </a:r>
            <a:r>
              <a:rPr lang="pt-BR" sz="2000" dirty="0" smtClean="0">
                <a:solidFill>
                  <a:schemeClr val="folHlink"/>
                </a:solidFill>
              </a:rPr>
              <a:t> no Cadastro de Contribuintes do ICMS, será observado o seguinte: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 - deverá ser emitida uma GNRE distinta para cada um dos destinatários, constando no campo N° do Documento de Origem o número da nota fiscal a que se refere o respectivo recolhimento;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 - via da GNRE deverá acompanhar o transporte e ser entregue ao destinatário.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OBRIGAÇÕES ACESSÓRIAS NA ST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</a:t>
            </a:r>
            <a:r>
              <a:rPr lang="pt-BR" sz="2000" dirty="0" smtClean="0">
                <a:solidFill>
                  <a:schemeClr val="hlink"/>
                </a:solidFill>
              </a:rPr>
              <a:t>recolhimento antecipado</a:t>
            </a:r>
            <a:r>
              <a:rPr lang="pt-BR" sz="2000" dirty="0" smtClean="0">
                <a:solidFill>
                  <a:schemeClr val="folHlink"/>
                </a:solidFill>
              </a:rPr>
              <a:t> disposto anteriormente aplica-se também: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 - no período em que o sujeito passivo por substituição encontrar-se com sua </a:t>
            </a:r>
            <a:r>
              <a:rPr lang="pt-BR" sz="2000" dirty="0" smtClean="0">
                <a:solidFill>
                  <a:schemeClr val="hlink"/>
                </a:solidFill>
              </a:rPr>
              <a:t>inscrição suspensa</a:t>
            </a:r>
            <a:r>
              <a:rPr lang="pt-BR" sz="2000" dirty="0" smtClean="0">
                <a:solidFill>
                  <a:schemeClr val="folHlink"/>
                </a:solidFill>
              </a:rPr>
              <a:t>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 - ao sujeito passivo por substituição que por </a:t>
            </a:r>
            <a:r>
              <a:rPr lang="pt-BR" sz="2000" dirty="0" smtClean="0">
                <a:solidFill>
                  <a:schemeClr val="hlink"/>
                </a:solidFill>
              </a:rPr>
              <a:t>2 (dois) meses</a:t>
            </a:r>
            <a:r>
              <a:rPr lang="pt-BR" sz="2000" dirty="0" smtClean="0">
                <a:solidFill>
                  <a:schemeClr val="folHlink"/>
                </a:solidFill>
              </a:rPr>
              <a:t>, consecutivos ou alternados: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	- </a:t>
            </a:r>
            <a:r>
              <a:rPr lang="pt-BR" sz="2000" dirty="0" smtClean="0">
                <a:solidFill>
                  <a:schemeClr val="hlink"/>
                </a:solidFill>
              </a:rPr>
              <a:t>não recolher, </a:t>
            </a:r>
            <a:r>
              <a:rPr lang="pt-BR" sz="2000" dirty="0" smtClean="0">
                <a:solidFill>
                  <a:schemeClr val="folHlink"/>
                </a:solidFill>
              </a:rPr>
              <a:t>no todo ou em parte, o ICMS devido ou seus 	acréscimos legais; ou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	- </a:t>
            </a:r>
            <a:r>
              <a:rPr lang="pt-BR" sz="2000" dirty="0" smtClean="0">
                <a:solidFill>
                  <a:schemeClr val="hlink"/>
                </a:solidFill>
              </a:rPr>
              <a:t>não entregar</a:t>
            </a:r>
            <a:r>
              <a:rPr lang="pt-BR" sz="2000" dirty="0" smtClean="0">
                <a:solidFill>
                  <a:schemeClr val="folHlink"/>
                </a:solidFill>
              </a:rPr>
              <a:t>:</a:t>
            </a:r>
          </a:p>
          <a:p>
            <a:pPr lvl="2" algn="just" eaLnBrk="1" hangingPunct="1">
              <a:buFont typeface="Wingdings" pitchFamily="2" charset="2"/>
              <a:buNone/>
              <a:defRPr/>
            </a:pPr>
            <a:r>
              <a:rPr lang="pt-BR" sz="1600" dirty="0" smtClean="0">
                <a:solidFill>
                  <a:schemeClr val="folHlink"/>
                </a:solidFill>
              </a:rPr>
              <a:t>		a) a Guia Nacional de Informação e Apuração do ICMS Substituição 	Tributária (GIA-ST); ou</a:t>
            </a:r>
          </a:p>
          <a:p>
            <a:pPr lvl="2" algn="just" eaLnBrk="1" hangingPunct="1">
              <a:buFont typeface="Wingdings" pitchFamily="2" charset="2"/>
              <a:buNone/>
              <a:defRPr/>
            </a:pPr>
            <a:r>
              <a:rPr lang="pt-BR" sz="1600" dirty="0" smtClean="0">
                <a:solidFill>
                  <a:schemeClr val="folHlink"/>
                </a:solidFill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1800" b="1" dirty="0" smtClean="0">
                <a:solidFill>
                  <a:schemeClr val="hlink"/>
                </a:solidFill>
              </a:rPr>
              <a:t>A ST NÃO SE APLICA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pt-BR" sz="1800" b="1" dirty="0" smtClean="0">
              <a:solidFill>
                <a:schemeClr val="hlink"/>
              </a:solidFill>
            </a:endParaRP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às operações, inclusive de importação e de aquisição em licitação promovida pelo poder público, </a:t>
            </a:r>
            <a:r>
              <a:rPr lang="pt-BR" sz="1800" dirty="0" smtClean="0">
                <a:solidFill>
                  <a:srgbClr val="FCFC12"/>
                </a:solidFill>
              </a:rPr>
              <a:t>que destinem mercadorias a estabelecimento industrial fabricante da mesma mercadoria</a:t>
            </a:r>
            <a:r>
              <a:rPr lang="pt-BR" sz="1800" dirty="0" smtClean="0">
                <a:solidFill>
                  <a:schemeClr val="folHlink"/>
                </a:solidFill>
              </a:rPr>
              <a:t>, hipótese em que a retenção do imposto devido por substituição tributária será realizada no momento da saída da mercadoria;</a:t>
            </a:r>
          </a:p>
          <a:p>
            <a:pPr lvl="1" algn="just" eaLnBrk="1" hangingPunct="1">
              <a:lnSpc>
                <a:spcPct val="80000"/>
              </a:lnSpc>
              <a:buFontTx/>
              <a:buNone/>
              <a:defRPr/>
            </a:pPr>
            <a:endParaRPr lang="pt-BR" sz="1800" dirty="0" smtClean="0">
              <a:solidFill>
                <a:schemeClr val="folHlink"/>
              </a:solidFill>
            </a:endParaRP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pt-BR" sz="1800" dirty="0" smtClean="0">
                <a:solidFill>
                  <a:schemeClr val="folHlink"/>
                </a:solidFill>
              </a:rPr>
              <a:t> às operações promovidas por estabelecimento industrial em </a:t>
            </a:r>
            <a:r>
              <a:rPr lang="pt-BR" sz="1800" dirty="0" smtClean="0">
                <a:solidFill>
                  <a:srgbClr val="FCFC12"/>
                </a:solidFill>
              </a:rPr>
              <a:t>retorno ao estabelecimento encomendante da industrialização</a:t>
            </a:r>
            <a:r>
              <a:rPr lang="pt-BR" sz="1800" dirty="0" smtClean="0">
                <a:solidFill>
                  <a:schemeClr val="folHlink"/>
                </a:solidFill>
              </a:rPr>
              <a:t>, hipótese em que a este é atribuída a responsabilidade pelo recolhimento do imposto a título de substituição tributária;</a:t>
            </a:r>
          </a:p>
          <a:p>
            <a:pPr lvl="2" algn="just" eaLnBrk="1" hangingPunct="1">
              <a:lnSpc>
                <a:spcPct val="80000"/>
              </a:lnSpc>
              <a:defRPr/>
            </a:pPr>
            <a:r>
              <a:rPr lang="pt-BR" sz="1600" dirty="0" smtClean="0">
                <a:solidFill>
                  <a:schemeClr val="folHlink"/>
                </a:solidFill>
              </a:rPr>
              <a:t>Na hipótese acima, em se tratando de encomendante estabelecimento </a:t>
            </a:r>
            <a:r>
              <a:rPr lang="pt-BR" sz="1600" dirty="0" err="1" smtClean="0">
                <a:solidFill>
                  <a:schemeClr val="folHlink"/>
                </a:solidFill>
              </a:rPr>
              <a:t>não-industrial</a:t>
            </a:r>
            <a:r>
              <a:rPr lang="pt-BR" sz="1600" dirty="0" smtClean="0">
                <a:solidFill>
                  <a:schemeClr val="folHlink"/>
                </a:solidFill>
              </a:rPr>
              <a:t>, a apuração do imposto a título de substituição tributária será efetuada no momento da entrada da mercadoria no estabelecimento encomendante.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400" b="1" smtClean="0">
                <a:solidFill>
                  <a:schemeClr val="hlink"/>
                </a:solidFill>
              </a:rPr>
              <a:t>A ST NÃO SE APLICA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pt-BR" sz="2400" b="1" smtClean="0">
              <a:solidFill>
                <a:schemeClr val="hlink"/>
              </a:solidFill>
            </a:endParaRPr>
          </a:p>
          <a:p>
            <a:pPr lvl="1" algn="just" eaLnBrk="1" hangingPunct="1">
              <a:lnSpc>
                <a:spcPct val="80000"/>
              </a:lnSpc>
              <a:defRPr/>
            </a:pPr>
            <a:r>
              <a:rPr lang="pt-BR" sz="2400" smtClean="0">
                <a:solidFill>
                  <a:schemeClr val="folHlink"/>
                </a:solidFill>
              </a:rPr>
              <a:t>às </a:t>
            </a:r>
            <a:r>
              <a:rPr lang="pt-BR" sz="2400" smtClean="0">
                <a:solidFill>
                  <a:srgbClr val="FCFC12"/>
                </a:solidFill>
              </a:rPr>
              <a:t>transferências promovidas entre estabelecimentos do industrial fabricante</a:t>
            </a:r>
            <a:r>
              <a:rPr lang="pt-BR" sz="2400" smtClean="0">
                <a:solidFill>
                  <a:schemeClr val="folHlink"/>
                </a:solidFill>
              </a:rPr>
              <a:t>, exceto quando destinadas a estabelecimento varejista, hipótese em que a responsabilidade pela retenção e recolhimento do imposto recairá sobre o estabelecimento que promover a saída da mercadoria com destino a outro contribuinte:</a:t>
            </a:r>
          </a:p>
          <a:p>
            <a:pPr lvl="2" algn="just" eaLnBrk="1" hangingPunct="1">
              <a:lnSpc>
                <a:spcPct val="80000"/>
              </a:lnSpc>
              <a:defRPr/>
            </a:pPr>
            <a:r>
              <a:rPr lang="pt-BR" sz="2000" smtClean="0">
                <a:solidFill>
                  <a:schemeClr val="folHlink"/>
                </a:solidFill>
              </a:rPr>
              <a:t>em se tratando de transferência para estabelecimento distribuidor, atacadista, depósito ou centro de distribuição, estes deverão </a:t>
            </a:r>
            <a:r>
              <a:rPr lang="pt-BR" sz="2000" smtClean="0">
                <a:solidFill>
                  <a:srgbClr val="FCFC12"/>
                </a:solidFill>
              </a:rPr>
              <a:t>operar exclusivamente</a:t>
            </a:r>
            <a:r>
              <a:rPr lang="pt-BR" sz="2000" smtClean="0">
                <a:solidFill>
                  <a:schemeClr val="folHlink"/>
                </a:solidFill>
              </a:rPr>
              <a:t> com produtos fabricados por estabelecimento industrial de mesma titularidade.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362950" cy="5113337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smtClean="0">
                <a:solidFill>
                  <a:schemeClr val="hlink"/>
                </a:solidFill>
              </a:rPr>
              <a:t>A ST NÃO SE APLICA</a:t>
            </a:r>
          </a:p>
          <a:p>
            <a:pPr lvl="1" algn="just" eaLnBrk="1" hangingPunct="1">
              <a:defRPr/>
            </a:pPr>
            <a:r>
              <a:rPr lang="pt-BR" sz="2400" smtClean="0">
                <a:solidFill>
                  <a:schemeClr val="folHlink"/>
                </a:solidFill>
              </a:rPr>
              <a:t>às operações que destinem mercadorias a estabelecimento industrial para </a:t>
            </a:r>
            <a:r>
              <a:rPr lang="pt-BR" sz="2400" smtClean="0">
                <a:solidFill>
                  <a:srgbClr val="FCFC12"/>
                </a:solidFill>
              </a:rPr>
              <a:t>emprego em processo de industrialização</a:t>
            </a:r>
            <a:r>
              <a:rPr lang="pt-BR" sz="2400" smtClean="0">
                <a:solidFill>
                  <a:schemeClr val="folHlink"/>
                </a:solidFill>
              </a:rPr>
              <a:t> como matéria-prima, produto intermediário ou material de embalagem.</a:t>
            </a:r>
          </a:p>
          <a:p>
            <a:pPr lvl="2" algn="just"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a - não se considera industrialização a modificação efetuada na mercadoria pelo estabelecimento comercial para atender à necessidade específica do cliente;</a:t>
            </a:r>
          </a:p>
          <a:p>
            <a:pPr lvl="2" algn="just"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b - se a mercadoria não for empregada no processo de industrialização, caberá ao industrial que a recebeu a responsabilidade pela retenção do imposto devido a título de substituição tributária, no momento da saída da mercadoria.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362950" cy="5113337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b="1" dirty="0" smtClean="0">
                <a:solidFill>
                  <a:schemeClr val="hlink"/>
                </a:solidFill>
              </a:rPr>
              <a:t>A ST NÃO SE APLICA</a:t>
            </a:r>
          </a:p>
          <a:p>
            <a:pPr lvl="1" algn="just" eaLnBrk="1" hangingPunct="1">
              <a:defRPr/>
            </a:pPr>
            <a:r>
              <a:rPr lang="pt-BR" sz="2400" dirty="0" smtClean="0">
                <a:solidFill>
                  <a:schemeClr val="folHlink"/>
                </a:solidFill>
              </a:rPr>
              <a:t>às operações que destinem mercadorias a estabelecimento industrial para </a:t>
            </a:r>
            <a:r>
              <a:rPr lang="pt-BR" sz="2400" dirty="0" smtClean="0">
                <a:solidFill>
                  <a:srgbClr val="FFFF00"/>
                </a:solidFill>
              </a:rPr>
              <a:t>emprego em processo de industrialização como matéria-prima, produto intermediário ou material de embalagem</a:t>
            </a:r>
            <a:r>
              <a:rPr lang="pt-BR" sz="2400" dirty="0" smtClean="0">
                <a:solidFill>
                  <a:schemeClr val="folHlink"/>
                </a:solidFill>
              </a:rPr>
              <a:t>.</a:t>
            </a:r>
          </a:p>
          <a:p>
            <a:pPr lvl="2" algn="just" eaLnBrk="1" hangingPunct="1"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lvl="2"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RICMS/02 - Art. 329: </a:t>
            </a:r>
          </a:p>
          <a:p>
            <a:pPr lvl="2"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contribuinte que receber mercadoria com o imposto retido por substituição tributária ou que tenha recolhido o imposto sob o referido título em virtude da entrada da mercadoria em território Distrital e não destiná-la à comercialização, </a:t>
            </a:r>
            <a:r>
              <a:rPr lang="pt-BR" sz="2000" dirty="0" smtClean="0">
                <a:solidFill>
                  <a:schemeClr val="hlink"/>
                </a:solidFill>
              </a:rPr>
              <a:t>poderá apropriar-se, sob a forma de crédito, do valor do imposto que incidiu nas operações com a mercadoria.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ST NAS OPERAÇÕES SUBSEQUENTES – PARA FRENTE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800" b="1" dirty="0" smtClean="0">
                <a:solidFill>
                  <a:schemeClr val="hlink"/>
                </a:solidFill>
              </a:rPr>
              <a:t>A ST NÃO SE APLICA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pt-BR" sz="2800" b="1" dirty="0" smtClean="0">
              <a:solidFill>
                <a:schemeClr val="hlink"/>
              </a:solidFill>
            </a:endParaRPr>
          </a:p>
          <a:p>
            <a:pPr lvl="1" algn="just" eaLnBrk="1" hangingPunct="1">
              <a:lnSpc>
                <a:spcPct val="90000"/>
              </a:lnSpc>
              <a:defRPr/>
            </a:pPr>
            <a:r>
              <a:rPr lang="pt-BR" dirty="0" smtClean="0">
                <a:solidFill>
                  <a:schemeClr val="folHlink"/>
                </a:solidFill>
              </a:rPr>
              <a:t>às operações que destinem mercadorias relacionadas no nos itens 28, 30 a 32, 34, 38 a 42 a contribuinte </a:t>
            </a:r>
            <a:r>
              <a:rPr lang="pt-BR" dirty="0" smtClean="0">
                <a:solidFill>
                  <a:srgbClr val="FCFC12"/>
                </a:solidFill>
              </a:rPr>
              <a:t>detentor de regime especial de tributação de atribuição de responsabilidade</a:t>
            </a:r>
            <a:r>
              <a:rPr lang="pt-BR" dirty="0" smtClean="0">
                <a:solidFill>
                  <a:schemeClr val="folHlink"/>
                </a:solidFill>
              </a:rPr>
              <a:t> pela retenção e recolhimento do imposto devido por substituição tributária, concedido através de Ato Declaratório;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OBRIGAÇÕES ACESSÓRIAS NA ST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 smtClean="0">
                <a:solidFill>
                  <a:schemeClr val="folHlink"/>
                </a:solidFill>
              </a:rPr>
              <a:t>A </a:t>
            </a:r>
            <a:r>
              <a:rPr lang="pt-BR" sz="2400" dirty="0" smtClean="0">
                <a:solidFill>
                  <a:schemeClr val="hlink"/>
                </a:solidFill>
              </a:rPr>
              <a:t>nota fiscal do substituto</a:t>
            </a:r>
            <a:r>
              <a:rPr lang="pt-BR" sz="2400" dirty="0" smtClean="0">
                <a:solidFill>
                  <a:schemeClr val="folHlink"/>
                </a:solidFill>
              </a:rPr>
              <a:t> deverá conter: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400" dirty="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400" dirty="0" smtClean="0">
                <a:solidFill>
                  <a:schemeClr val="folHlink"/>
                </a:solidFill>
              </a:rPr>
              <a:t>	I - a base de cálculo do ICMS retido;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400" dirty="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400" dirty="0" smtClean="0">
                <a:solidFill>
                  <a:schemeClr val="folHlink"/>
                </a:solidFill>
              </a:rPr>
              <a:t>	II - o valor do imposto retido;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400" dirty="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400" dirty="0" smtClean="0">
                <a:solidFill>
                  <a:schemeClr val="folHlink"/>
                </a:solidFill>
              </a:rPr>
              <a:t>	III - o número de inscrição no Cadastro de Contribuintes do ICMS no DF, se o substituto estiver situado em outra unidade da Federação.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OBRIGAÇÕES ACESSÓRIAS NA ST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A</a:t>
            </a:r>
            <a:r>
              <a:rPr lang="pt-BR" sz="2400" dirty="0" smtClean="0">
                <a:solidFill>
                  <a:schemeClr val="folHlink"/>
                </a:solidFill>
              </a:rPr>
              <a:t> </a:t>
            </a:r>
            <a:r>
              <a:rPr lang="pt-BR" sz="2400" dirty="0" smtClean="0">
                <a:solidFill>
                  <a:schemeClr val="hlink"/>
                </a:solidFill>
              </a:rPr>
              <a:t>nota fiscal do substituído</a:t>
            </a:r>
            <a:r>
              <a:rPr lang="pt-BR" sz="2400" dirty="0" smtClean="0">
                <a:solidFill>
                  <a:schemeClr val="folHlink"/>
                </a:solidFill>
              </a:rPr>
              <a:t> </a:t>
            </a:r>
            <a:r>
              <a:rPr lang="pt-BR" sz="2000" dirty="0" smtClean="0">
                <a:solidFill>
                  <a:schemeClr val="folHlink"/>
                </a:solidFill>
              </a:rPr>
              <a:t>será</a:t>
            </a:r>
            <a:r>
              <a:rPr lang="pt-BR" sz="2400" dirty="0" smtClean="0">
                <a:solidFill>
                  <a:schemeClr val="folHlink"/>
                </a:solidFill>
              </a:rPr>
              <a:t> </a:t>
            </a:r>
            <a:r>
              <a:rPr lang="pt-BR" sz="2000" dirty="0" smtClean="0">
                <a:solidFill>
                  <a:schemeClr val="folHlink"/>
                </a:solidFill>
              </a:rPr>
              <a:t>emitida </a:t>
            </a:r>
            <a:r>
              <a:rPr lang="pt-BR" sz="2000" u="sng" dirty="0" smtClean="0">
                <a:solidFill>
                  <a:schemeClr val="folHlink"/>
                </a:solidFill>
              </a:rPr>
              <a:t>sem destaque do imposto</a:t>
            </a:r>
            <a:r>
              <a:rPr lang="pt-BR" sz="2000" dirty="0" smtClean="0">
                <a:solidFill>
                  <a:schemeClr val="folHlink"/>
                </a:solidFill>
              </a:rPr>
              <a:t>, contendo, além das demais indicações, no campo Informações Complementares, o seguinte: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1.  a declaração: </a:t>
            </a:r>
            <a:r>
              <a:rPr lang="pt-BR" sz="2000" dirty="0" smtClean="0">
                <a:solidFill>
                  <a:srgbClr val="57B792"/>
                </a:solidFill>
              </a:rPr>
              <a:t>“imposto retido por substituição - Convênio ou Protocolo ICMS nº  ...    . (§4º do Artigo 331do RICMS);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2.  tratando-se de operação entre contribuintes: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	2.1.  a título de informação ao destinatário, a importância sobre a 	qual já incidiu o imposto e o valor deste;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	2.2.  o valor do </a:t>
            </a:r>
            <a:r>
              <a:rPr lang="pt-BR" sz="2000" dirty="0" smtClean="0">
                <a:solidFill>
                  <a:schemeClr val="hlink"/>
                </a:solidFill>
              </a:rPr>
              <a:t>reembolso</a:t>
            </a:r>
            <a:r>
              <a:rPr lang="pt-BR" sz="2000" dirty="0" smtClean="0">
                <a:solidFill>
                  <a:schemeClr val="folHlink"/>
                </a:solidFill>
              </a:rPr>
              <a:t> de substituição tributária, se for o 	caso;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OBRIGAÇÕES ACESSÓRIAS NA ST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BR" sz="2000" b="1" smtClean="0">
                <a:solidFill>
                  <a:schemeClr val="hlink"/>
                </a:solidFill>
              </a:rPr>
              <a:t>REEMBOLSO</a:t>
            </a:r>
          </a:p>
          <a:p>
            <a:pPr eaLnBrk="1" hangingPunct="1">
              <a:defRPr/>
            </a:pPr>
            <a:endParaRPr lang="pt-BR" sz="2000" b="1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O valor do reembolso corresponderá à diferença positiva entre: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 - o valor resultante da aplicação da alíquota interna estabelecida para a mercadoria sobre o valor que serviu de base para cálculo do ICMS por substituição tributária; 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II - o valor resultante da aplicação da alíquota interna estabelecida para a mercadoria sobre o valor da operação.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RESTITUIÇÃO DE ICMS/ST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estabelecimento que receber mercadoria sujeita à substituição tributária poderá ser </a:t>
            </a:r>
            <a:r>
              <a:rPr lang="pt-BR" sz="2000" dirty="0" smtClean="0">
                <a:solidFill>
                  <a:schemeClr val="hlink"/>
                </a:solidFill>
              </a:rPr>
              <a:t>restituído</a:t>
            </a:r>
            <a:r>
              <a:rPr lang="pt-BR" sz="2000" dirty="0" smtClean="0">
                <a:solidFill>
                  <a:schemeClr val="folHlink"/>
                </a:solidFill>
              </a:rPr>
              <a:t> do valor do </a:t>
            </a:r>
            <a:r>
              <a:rPr lang="pt-BR" sz="2000" dirty="0" smtClean="0">
                <a:solidFill>
                  <a:schemeClr val="hlink"/>
                </a:solidFill>
              </a:rPr>
              <a:t>imposto pago</a:t>
            </a:r>
            <a:r>
              <a:rPr lang="pt-BR" sz="2000" dirty="0" smtClean="0">
                <a:solidFill>
                  <a:schemeClr val="folHlink"/>
                </a:solidFill>
              </a:rPr>
              <a:t>, quando com a mercadoria ocorrer: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 - saída para estabelecimento de contribuinte situado em outra unidade da Federação;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 - saída amparada por isenção ou </a:t>
            </a:r>
            <a:r>
              <a:rPr lang="pt-BR" sz="2000" dirty="0" err="1" smtClean="0">
                <a:solidFill>
                  <a:schemeClr val="folHlink"/>
                </a:solidFill>
              </a:rPr>
              <a:t>não-incidência</a:t>
            </a:r>
            <a:r>
              <a:rPr lang="pt-BR" sz="2000" dirty="0" smtClean="0">
                <a:solidFill>
                  <a:schemeClr val="folHlink"/>
                </a:solidFill>
              </a:rPr>
              <a:t>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III - perecimento, furto, roubo ou qualquer outro tipo de perda.</a:t>
            </a:r>
          </a:p>
          <a:p>
            <a:pPr algn="just" eaLnBrk="1" hangingPunct="1">
              <a:lnSpc>
                <a:spcPct val="80000"/>
              </a:lnSpc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80000"/>
              </a:lnSpc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Na hipótese de perecimento, furto, roubo ou qualquer outro tipo de perda, o contribuinte deverá comprovar o fato.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80000"/>
              </a:lnSpc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Nas hipóteses de redução de base de cálculo ou de redução de alíquota, após a retenção ou pagamento do imposto devido a título de substituição tributária, o valor do imposto recolhido a maior será restituído ao contribuinte, relativamente às mercadorias em estoque no dia anterior à vigência da redução da base de cálculo ou da nova alíquota.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RESTITUIÇÃO DE ICMS/ST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O valor a ser restituído corresponderá: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 - </a:t>
            </a:r>
            <a:r>
              <a:rPr lang="pt-BR" sz="2000" dirty="0" smtClean="0">
                <a:solidFill>
                  <a:schemeClr val="hlink"/>
                </a:solidFill>
              </a:rPr>
              <a:t>ao valor do imposto retido</a:t>
            </a:r>
            <a:r>
              <a:rPr lang="pt-BR" sz="2000" dirty="0" smtClean="0">
                <a:solidFill>
                  <a:schemeClr val="folHlink"/>
                </a:solidFill>
              </a:rPr>
              <a:t>, no caso em que o contribuinte tenha adquirido a mercadoria diretamente daquele que efetuou a retenção;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 - </a:t>
            </a:r>
            <a:r>
              <a:rPr lang="pt-BR" sz="2000" dirty="0" smtClean="0">
                <a:solidFill>
                  <a:schemeClr val="hlink"/>
                </a:solidFill>
              </a:rPr>
              <a:t>ao valor do imposto recolhido</a:t>
            </a:r>
            <a:r>
              <a:rPr lang="pt-BR" sz="2000" dirty="0" smtClean="0">
                <a:solidFill>
                  <a:schemeClr val="folHlink"/>
                </a:solidFill>
              </a:rPr>
              <a:t>, no caso em que o contribuinte tenha apurado o imposto devido a título de substituição tributária por ocasião da entrada da mercadoria em território Distrital ou no estabelecimento;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endParaRPr lang="pt-BR" sz="2000" dirty="0" smtClean="0">
              <a:solidFill>
                <a:schemeClr val="folHlink"/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pt-BR" sz="2000" dirty="0" smtClean="0">
                <a:solidFill>
                  <a:schemeClr val="folHlink"/>
                </a:solidFill>
              </a:rPr>
              <a:t>	III - </a:t>
            </a:r>
            <a:r>
              <a:rPr lang="pt-BR" sz="2000" dirty="0" smtClean="0">
                <a:solidFill>
                  <a:schemeClr val="hlink"/>
                </a:solidFill>
              </a:rPr>
              <a:t>ao valor corretamente informado na nota fiscal a título de reembolso</a:t>
            </a:r>
            <a:r>
              <a:rPr lang="pt-BR" sz="2000" dirty="0" smtClean="0">
                <a:solidFill>
                  <a:schemeClr val="folHlink"/>
                </a:solidFill>
              </a:rPr>
              <a:t>, no caso em que o contribuinte tenha adquirido a mercadoria de contribuinte substituído ou de contribuinte que tenha apurado o imposto devido a título de substituição tributária por ocasião da entrada da mercadoria em território Distrital ou no estabelecimento.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b="1" smtClean="0">
                <a:solidFill>
                  <a:schemeClr val="tx1"/>
                </a:solidFill>
              </a:rPr>
              <a:t>RESTITUIÇÃO DE ICMS/ST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5111750"/>
          </a:xfrm>
        </p:spPr>
        <p:txBody>
          <a:bodyPr/>
          <a:lstStyle/>
          <a:p>
            <a:pPr eaLnBrk="1" hangingPunct="1">
              <a:defRPr/>
            </a:pPr>
            <a:r>
              <a:rPr lang="pt-BR" sz="2000" smtClean="0">
                <a:solidFill>
                  <a:schemeClr val="folHlink"/>
                </a:solidFill>
              </a:rPr>
              <a:t>O valor do imposto poderá ser restituído mediante: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 - </a:t>
            </a:r>
            <a:r>
              <a:rPr lang="pt-BR" sz="2000" smtClean="0">
                <a:solidFill>
                  <a:schemeClr val="hlink"/>
                </a:solidFill>
              </a:rPr>
              <a:t>ressarcimento</a:t>
            </a:r>
            <a:r>
              <a:rPr lang="pt-BR" sz="2000" smtClean="0">
                <a:solidFill>
                  <a:schemeClr val="folHlink"/>
                </a:solidFill>
              </a:rPr>
              <a:t> junto a sujeito passivo por substituição inscrito no Cadastro de Contribuintes do ICMS deste Estado;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II - </a:t>
            </a:r>
            <a:r>
              <a:rPr lang="pt-BR" sz="2000" smtClean="0">
                <a:solidFill>
                  <a:schemeClr val="hlink"/>
                </a:solidFill>
              </a:rPr>
              <a:t>abatimento</a:t>
            </a:r>
            <a:r>
              <a:rPr lang="pt-BR" sz="2000" smtClean="0">
                <a:solidFill>
                  <a:schemeClr val="folHlink"/>
                </a:solidFill>
              </a:rPr>
              <a:t> de imposto devido pelo próprio contribuinte a título de substituição tributária, não se aplicando nas hipóteses em que o imposto deva ser recolhido até o momento da entrada da mercadoria no Estado.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pt-BR" sz="2000" smtClean="0">
                <a:solidFill>
                  <a:schemeClr val="folHlink"/>
                </a:solidFill>
              </a:rPr>
              <a:t>	III - </a:t>
            </a:r>
            <a:r>
              <a:rPr lang="pt-BR" sz="2000" smtClean="0">
                <a:solidFill>
                  <a:schemeClr val="hlink"/>
                </a:solidFill>
              </a:rPr>
              <a:t>creditamento</a:t>
            </a:r>
            <a:r>
              <a:rPr lang="pt-BR" sz="2000" smtClean="0">
                <a:solidFill>
                  <a:schemeClr val="folHlink"/>
                </a:solidFill>
              </a:rPr>
              <a:t> na escrita fiscal do contribuinte.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pt-BR" sz="2000" smtClean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eixe">
  <a:themeElements>
    <a:clrScheme name="Feixe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Feix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eixe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3746</TotalTime>
  <Words>2914</Words>
  <Application>Microsoft Office PowerPoint</Application>
  <PresentationFormat>Apresentação na tela (4:3)</PresentationFormat>
  <Paragraphs>442</Paragraphs>
  <Slides>59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59</vt:i4>
      </vt:variant>
    </vt:vector>
  </HeadingPairs>
  <TitlesOfParts>
    <vt:vector size="61" baseType="lpstr">
      <vt:lpstr>Feixe</vt:lpstr>
      <vt:lpstr>Imagem de bitmap</vt:lpstr>
      <vt:lpstr>ICMS   Substituição Tributária</vt:lpstr>
      <vt:lpstr>NORMAS GERAIS ICMS/ST</vt:lpstr>
      <vt:lpstr>ASPECTOS DA SUBSTITUIÇÃO TRIBUTÁRIA</vt:lpstr>
      <vt:lpstr>SUBSTITUIÇÃO TRIBUTÁRIA</vt:lpstr>
      <vt:lpstr>DEFINIÇÃO DO REGIME DA SUBSTITUIÇÃO TRIBUTÁRIA </vt:lpstr>
      <vt:lpstr>DEFINIÇÃO DO REGIME DA SUBSTITUIÇÃO TRIBUTÁRIA </vt:lpstr>
      <vt:lpstr>DEFINIÇÃO DO REGIME DA SUBSTITUIÇÃO TRIBUTÁRIA </vt:lpstr>
      <vt:lpstr>DEFINIÇÃO DO REGIME DA SUBSTITUIÇÃO TRIBUTÁRIA </vt:lpstr>
      <vt:lpstr>DEFINIÇÃO DO REGIME DA SUBSTITUIÇÃO TRIBUTÁRIA</vt:lpstr>
      <vt:lpstr>EXEMPLO DE CADEIA DE SUBSTITUIÇÃO TRIBUTÁRIA OPERAÇÃO COM DERIVADO DE PETRÓLEO</vt:lpstr>
      <vt:lpstr>LEGISLAÇÃO PERTINENTE</vt:lpstr>
      <vt:lpstr>LEGISLAÇÃO PERTINENTE </vt:lpstr>
      <vt:lpstr>LEGISLAÇÃO PERTINENTE</vt:lpstr>
      <vt:lpstr>LEGISLAÇÃO PERTINENTE</vt:lpstr>
      <vt:lpstr>LEGISLAÇÃO PERTINENTE</vt:lpstr>
      <vt:lpstr>LEGISLAÇÃO PERTINENTE</vt:lpstr>
      <vt:lpstr>LEGISLAÇÃO PERTINENTE</vt:lpstr>
      <vt:lpstr>LEGISLAÇÃO PERTINENTE</vt:lpstr>
      <vt:lpstr>CONVÊNIO ICMS 81/93</vt:lpstr>
      <vt:lpstr>LEGISLAÇÃO PERTINENTE</vt:lpstr>
      <vt:lpstr>CONVÊNIO ICMS 81/93</vt:lpstr>
      <vt:lpstr>DECRETO 18.955/97 – RICMS - DF</vt:lpstr>
      <vt:lpstr>NÃO RETENÇÃO – PRAZO DE PAGAMENTO</vt:lpstr>
      <vt:lpstr>SUBSTITUIÇÃO TRIBUTÁRIA</vt:lpstr>
      <vt:lpstr>SUBSTITUIÇÃO TRIBUTÁRIA NO DISTRITO FEDERAL</vt:lpstr>
      <vt:lpstr>SUBSTITUIÇÃO TRIBUTÁRIA</vt:lpstr>
      <vt:lpstr>HIPÓTESES DE CRÉDITOS – Artigo 329 do Decreto 18.955/97</vt:lpstr>
      <vt:lpstr>SUBSTITUIÇÃO TRIBUTÁRIA</vt:lpstr>
      <vt:lpstr>INCLUSÃO – Base Legal Artigo 321-A – Decreto 18.955/97</vt:lpstr>
      <vt:lpstr>EXCLUSÃO – Base Legal Artigo 321-B – Decreto 18.955/97</vt:lpstr>
      <vt:lpstr>APLICAÇÃO DA NBM/SH NA LEGISLAÇÃO DO ICMS/ST</vt:lpstr>
      <vt:lpstr>Slide 32</vt:lpstr>
      <vt:lpstr>Slide 33</vt:lpstr>
      <vt:lpstr>APLICAÇÃO DA NBM/SH NA LEGISLAÇÃO DO ICMS/ST</vt:lpstr>
      <vt:lpstr>Slide 35</vt:lpstr>
      <vt:lpstr>Slide 36</vt:lpstr>
      <vt:lpstr>Slide 37</vt:lpstr>
      <vt:lpstr>ST NAS OPERAÇÕES SUBSEQUENTES – PARA FRENTE</vt:lpstr>
      <vt:lpstr>EXEMPLO MVA AJUSTADA</vt:lpstr>
      <vt:lpstr>ST NAS OPERAÇÕES SUBSEQUENTES – PARA FRENTE</vt:lpstr>
      <vt:lpstr>ST NAS OPERAÇÕES SUBSEQUENTES – PARA FRENTE</vt:lpstr>
      <vt:lpstr>ST NAS OPERAÇÕES SUBSEQUENTES – PARA FRENTE</vt:lpstr>
      <vt:lpstr>ST NAS OPERAÇÕES SUBSEQUENTES – PARA FRENTE</vt:lpstr>
      <vt:lpstr>ST NAS OPERAÇÕES SUBSEQUENTES – PARA FRENTE</vt:lpstr>
      <vt:lpstr>ST NAS OPERAÇÕES SUBSEQUENTES – PARA FRENTE</vt:lpstr>
      <vt:lpstr>OBRIGAÇÕES ACESSÓRIAS NA ST</vt:lpstr>
      <vt:lpstr>OBRIGAÇÕES ACESSÓRIAS NA ST</vt:lpstr>
      <vt:lpstr>OBRIGAÇÕES ACESSÓRIAS NA ST</vt:lpstr>
      <vt:lpstr>ST NAS OPERAÇÕES SUBSEQUENTES – PARA FRENTE</vt:lpstr>
      <vt:lpstr>ST NAS OPERAÇÕES SUBSEQUENTES – PARA FRENTE</vt:lpstr>
      <vt:lpstr>ST NAS OPERAÇÕES SUBSEQUENTES – PARA FRENTE</vt:lpstr>
      <vt:lpstr>ST NAS OPERAÇÕES SUBSEQUENTES – PARA FRENTE</vt:lpstr>
      <vt:lpstr>ST NAS OPERAÇÕES SUBSEQUENTES – PARA FRENTE</vt:lpstr>
      <vt:lpstr>OBRIGAÇÕES ACESSÓRIAS NA ST</vt:lpstr>
      <vt:lpstr>OBRIGAÇÕES ACESSÓRIAS NA ST</vt:lpstr>
      <vt:lpstr>OBRIGAÇÕES ACESSÓRIAS NA ST</vt:lpstr>
      <vt:lpstr>RESTITUIÇÃO DE ICMS/ST</vt:lpstr>
      <vt:lpstr>RESTITUIÇÃO DE ICMS/ST</vt:lpstr>
      <vt:lpstr>RESTITUIÇÃO DE ICMS/ST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NORMAS GERAIS ICMS/ST</dc:title>
  <dc:creator>Sef</dc:creator>
  <cp:lastModifiedBy>ppmjunior</cp:lastModifiedBy>
  <cp:revision>129</cp:revision>
  <dcterms:created xsi:type="dcterms:W3CDTF">2008-09-11T22:20:39Z</dcterms:created>
  <dcterms:modified xsi:type="dcterms:W3CDTF">2016-05-20T13:53:36Z</dcterms:modified>
</cp:coreProperties>
</file>