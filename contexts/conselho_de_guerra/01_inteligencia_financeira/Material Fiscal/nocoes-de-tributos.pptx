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77" r:id="rId24"/>
    <p:sldId id="278" r:id="rId25"/>
    <p:sldId id="279" r:id="rId26"/>
    <p:sldId id="282" r:id="rId27"/>
    <p:sldId id="280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02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43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01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72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84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80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23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514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29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30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66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57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A0C5-82F4-4D58-8345-A7961C9FE0C0}" type="datetimeFigureOut">
              <a:rPr lang="pt-BR" smtClean="0"/>
              <a:t>30/11/2018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D2292-A123-4D5F-8C0A-83CF29306E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18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de Tributos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>
                <a:solidFill>
                  <a:schemeClr val="tx1"/>
                </a:solidFill>
              </a:rPr>
              <a:t>Prof. Lúcia Young</a:t>
            </a:r>
            <a:endParaRPr lang="pt-B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582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Classificação dos Tributos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</a:t>
            </a:r>
            <a:r>
              <a:rPr lang="pt-BR" b="1" dirty="0" smtClean="0"/>
              <a:t>) Pessoais:  </a:t>
            </a:r>
            <a:r>
              <a:rPr lang="pt-BR" dirty="0" smtClean="0"/>
              <a:t>têm como base de cálculo uma conduta ou um </a:t>
            </a:r>
            <a:r>
              <a:rPr lang="pt-BR" i="1" dirty="0" smtClean="0"/>
              <a:t>status</a:t>
            </a:r>
            <a:r>
              <a:rPr lang="pt-BR" dirty="0" smtClean="0"/>
              <a:t> jurídico individual.</a:t>
            </a:r>
          </a:p>
          <a:p>
            <a:r>
              <a:rPr lang="pt-BR" dirty="0" smtClean="0"/>
              <a:t>Ex.: imposto sobre a renda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b="1" dirty="0"/>
              <a:t>b</a:t>
            </a:r>
            <a:r>
              <a:rPr lang="pt-BR" b="1" dirty="0" smtClean="0"/>
              <a:t>) Reais: </a:t>
            </a:r>
            <a:r>
              <a:rPr lang="pt-BR" dirty="0" smtClean="0"/>
              <a:t>tomam um objeto/bem como referência para tributar.</a:t>
            </a:r>
          </a:p>
          <a:p>
            <a:r>
              <a:rPr lang="pt-BR" dirty="0" smtClean="0"/>
              <a:t>Ex.: IPTU, IPVA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100392" y="476672"/>
            <a:ext cx="64807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62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Classificação dos Tributos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 smtClean="0"/>
              <a:t>c) Diretos: </a:t>
            </a:r>
            <a:r>
              <a:rPr lang="pt-BR" dirty="0" smtClean="0"/>
              <a:t>possuem incidência única, imediata, que esgota a carga tributária.</a:t>
            </a:r>
          </a:p>
          <a:p>
            <a:r>
              <a:rPr lang="pt-BR" dirty="0" smtClean="0"/>
              <a:t>Ex.: imposto sobre a renda, IPTU, IPVA.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b="1" dirty="0"/>
              <a:t>d</a:t>
            </a:r>
            <a:r>
              <a:rPr lang="pt-BR" b="1" dirty="0" smtClean="0"/>
              <a:t>) Indiretos: </a:t>
            </a:r>
            <a:r>
              <a:rPr lang="pt-BR" dirty="0" smtClean="0"/>
              <a:t>pressupõem múltiplas incidências, com o fracionamento e a distribuição da carga tributária ao longo de uma cadeia de circulação econômica.</a:t>
            </a:r>
          </a:p>
          <a:p>
            <a:r>
              <a:rPr lang="pt-BR" dirty="0" smtClean="0"/>
              <a:t>Ex.: ICMS, IPI, PIS e COFINS.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1354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Função dos Tributos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a</a:t>
            </a:r>
            <a:r>
              <a:rPr lang="pt-BR" b="1" dirty="0" smtClean="0"/>
              <a:t>) Fiscal:</a:t>
            </a:r>
            <a:r>
              <a:rPr lang="pt-BR" dirty="0" smtClean="0"/>
              <a:t> função do Estado de arrecadar valores aos cofres públicos.</a:t>
            </a:r>
          </a:p>
          <a:p>
            <a:r>
              <a:rPr lang="pt-BR" dirty="0" smtClean="0"/>
              <a:t>Ex.: imposto de renda, IPTU, IPVA, etc.</a:t>
            </a:r>
          </a:p>
          <a:p>
            <a:endParaRPr lang="pt-BR" dirty="0"/>
          </a:p>
          <a:p>
            <a:r>
              <a:rPr lang="pt-BR" b="1" dirty="0"/>
              <a:t>b</a:t>
            </a:r>
            <a:r>
              <a:rPr lang="pt-BR" b="1" dirty="0" smtClean="0"/>
              <a:t>) Extrafiscal: </a:t>
            </a:r>
            <a:r>
              <a:rPr lang="pt-BR" dirty="0" smtClean="0"/>
              <a:t>além da função de arrecadar valores aos cofres públicos, são utilizados com objetivos adicionais. </a:t>
            </a:r>
          </a:p>
          <a:p>
            <a:r>
              <a:rPr lang="pt-BR" altLang="pt-BR" dirty="0" smtClean="0">
                <a:cs typeface="Arial" charset="0"/>
              </a:rPr>
              <a:t>O objetivo principal do tributo é a </a:t>
            </a:r>
            <a:r>
              <a:rPr lang="pt-BR" altLang="pt-BR" u="sng" dirty="0" smtClean="0">
                <a:cs typeface="Arial" charset="0"/>
              </a:rPr>
              <a:t>interferência no domínio econômico</a:t>
            </a:r>
            <a:r>
              <a:rPr lang="pt-BR" altLang="pt-BR" dirty="0" smtClean="0">
                <a:cs typeface="Arial" charset="0"/>
              </a:rPr>
              <a:t>. </a:t>
            </a:r>
            <a:r>
              <a:rPr lang="pt-BR" dirty="0" smtClean="0"/>
              <a:t>São esses motivos: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7740352" y="47667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502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Função dos Tributos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1) corrigir distorções: </a:t>
            </a:r>
            <a:r>
              <a:rPr lang="pt-BR" dirty="0" smtClean="0"/>
              <a:t>natureza econômico-financeira.</a:t>
            </a:r>
          </a:p>
          <a:p>
            <a:r>
              <a:rPr lang="pt-BR" dirty="0" smtClean="0"/>
              <a:t>Ex.: alíquota do imposto de importação poder ser aumentada pelo Poder Executivo para desestimular a aquisição  de produtos do exterior e com isso, proteger o mercado interior.</a:t>
            </a:r>
          </a:p>
          <a:p>
            <a:r>
              <a:rPr lang="pt-BR" dirty="0" smtClean="0"/>
              <a:t>Zona Franca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7740352" y="47667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70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Função dos Tributos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2</a:t>
            </a:r>
            <a:r>
              <a:rPr lang="pt-BR" b="1" dirty="0" smtClean="0"/>
              <a:t>) Incentivar ou Desestimular: </a:t>
            </a:r>
            <a:r>
              <a:rPr lang="pt-BR" dirty="0" smtClean="0"/>
              <a:t>para atender interesses sociais, como é o caso do IPTU e do ITR, cujas alíquotas podem ser utilizadas como fator para o cumprimento da função social da propriedade.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7740352" y="47667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263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Função dos Tributos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09600" indent="-609600">
              <a:buSzPct val="85000"/>
              <a:buFont typeface="Wingdings" pitchFamily="2" charset="2"/>
              <a:buChar char="Ø"/>
            </a:pPr>
            <a:r>
              <a:rPr lang="pt-BR" b="1" dirty="0"/>
              <a:t>c</a:t>
            </a:r>
            <a:r>
              <a:rPr lang="pt-BR" b="1" dirty="0" smtClean="0"/>
              <a:t>) </a:t>
            </a:r>
            <a:r>
              <a:rPr lang="pt-BR" b="1" dirty="0" err="1" smtClean="0"/>
              <a:t>Parafiscal</a:t>
            </a:r>
            <a:r>
              <a:rPr lang="pt-BR" b="1" dirty="0" smtClean="0"/>
              <a:t>: </a:t>
            </a:r>
            <a:r>
              <a:rPr lang="pt-BR" altLang="pt-BR" dirty="0" smtClean="0">
                <a:cs typeface="Arial" charset="0"/>
              </a:rPr>
              <a:t>São as </a:t>
            </a:r>
            <a:r>
              <a:rPr lang="pt-BR" altLang="pt-BR" u="sng" dirty="0" smtClean="0">
                <a:cs typeface="Arial" charset="0"/>
              </a:rPr>
              <a:t>contribuições especiais</a:t>
            </a:r>
            <a:r>
              <a:rPr lang="pt-BR" altLang="pt-BR" dirty="0" smtClean="0">
                <a:cs typeface="Arial" charset="0"/>
              </a:rPr>
              <a:t>, tais como:</a:t>
            </a:r>
          </a:p>
          <a:p>
            <a:pPr marL="609600" indent="-609600">
              <a:buSzPct val="85000"/>
              <a:buFont typeface="Wingdings" pitchFamily="2" charset="2"/>
              <a:buChar char="Ø"/>
            </a:pPr>
            <a:endParaRPr lang="pt-BR" altLang="pt-BR" dirty="0" smtClean="0">
              <a:cs typeface="Arial" charset="0"/>
            </a:endParaRPr>
          </a:p>
          <a:p>
            <a:pPr marL="609600" indent="-609600">
              <a:buSzPct val="85000"/>
              <a:buFont typeface="Wingdings" pitchFamily="2" charset="2"/>
              <a:buAutoNum type="arabicPeriod"/>
            </a:pPr>
            <a:r>
              <a:rPr lang="pt-BR" altLang="pt-BR" dirty="0" smtClean="0">
                <a:cs typeface="Arial" charset="0"/>
              </a:rPr>
              <a:t>as contribuições </a:t>
            </a:r>
            <a:r>
              <a:rPr lang="pt-BR" altLang="pt-BR" u="sng" dirty="0" smtClean="0">
                <a:cs typeface="Arial" charset="0"/>
              </a:rPr>
              <a:t>sociais</a:t>
            </a:r>
            <a:r>
              <a:rPr lang="pt-BR" altLang="pt-BR" dirty="0" smtClean="0">
                <a:cs typeface="Arial" charset="0"/>
              </a:rPr>
              <a:t> (principalmente as previdenciárias, FGTS), </a:t>
            </a:r>
          </a:p>
          <a:p>
            <a:pPr marL="609600" indent="-609600">
              <a:buSzPct val="85000"/>
              <a:buFont typeface="Wingdings" pitchFamily="2" charset="2"/>
              <a:buAutoNum type="arabicPeriod"/>
            </a:pPr>
            <a:r>
              <a:rPr lang="pt-BR" altLang="pt-BR" dirty="0" smtClean="0">
                <a:cs typeface="Arial" charset="0"/>
              </a:rPr>
              <a:t>de </a:t>
            </a:r>
            <a:r>
              <a:rPr lang="pt-BR" altLang="pt-BR" u="sng" dirty="0" smtClean="0">
                <a:cs typeface="Arial" charset="0"/>
              </a:rPr>
              <a:t>intervenção </a:t>
            </a:r>
            <a:r>
              <a:rPr lang="pt-BR" altLang="pt-BR" u="sng" dirty="0" smtClean="0"/>
              <a:t>no Domínio Econômico</a:t>
            </a:r>
            <a:r>
              <a:rPr lang="pt-BR" altLang="pt-BR" dirty="0" smtClean="0"/>
              <a:t> (CIDE - Petróleo) e; </a:t>
            </a:r>
          </a:p>
          <a:p>
            <a:pPr marL="609600" indent="-609600">
              <a:buSzPct val="85000"/>
              <a:buFont typeface="Wingdings" pitchFamily="2" charset="2"/>
              <a:buAutoNum type="arabicPeriod"/>
            </a:pPr>
            <a:r>
              <a:rPr lang="pt-BR" altLang="pt-BR" dirty="0" smtClean="0"/>
              <a:t>de </a:t>
            </a:r>
            <a:r>
              <a:rPr lang="pt-BR" altLang="pt-BR" u="sng" dirty="0" smtClean="0"/>
              <a:t>Interesse das Categorias Profissionais</a:t>
            </a:r>
            <a:r>
              <a:rPr lang="pt-BR" altLang="pt-BR" dirty="0" smtClean="0"/>
              <a:t> (OAB, CREA etc.) ou </a:t>
            </a:r>
          </a:p>
          <a:p>
            <a:pPr marL="609600" indent="-609600">
              <a:buSzPct val="85000"/>
              <a:buFont typeface="Wingdings" pitchFamily="2" charset="2"/>
              <a:buAutoNum type="arabicPeriod"/>
            </a:pPr>
            <a:r>
              <a:rPr lang="pt-BR" altLang="pt-BR" dirty="0" smtClean="0"/>
              <a:t>Econômicas (SESC, SENAC, SENAI, SESI, SEBRAE, SENAR etc.).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093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pt-BR" altLang="pt-BR" dirty="0" smtClean="0"/>
              <a:t>Incidência Tributária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Não Incidência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Imunidade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Isenção (artigo 175, inciso I, do CTN)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Anistia (180 do CTN)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Remissão</a:t>
            </a:r>
          </a:p>
        </p:txBody>
      </p:sp>
    </p:spTree>
    <p:extLst>
      <p:ext uri="{BB962C8B-B14F-4D97-AF65-F5344CB8AC3E}">
        <p14:creationId xmlns:p14="http://schemas.microsoft.com/office/powerpoint/2010/main" val="181065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t-BR" altLang="pt-BR" b="1" u="sng" dirty="0" smtClean="0"/>
              <a:t>Incidência Tributária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r>
              <a:rPr lang="pt-BR" dirty="0"/>
              <a:t>A </a:t>
            </a:r>
            <a:r>
              <a:rPr lang="pt-BR" dirty="0" smtClean="0"/>
              <a:t>incidência </a:t>
            </a:r>
            <a:r>
              <a:rPr lang="pt-BR" dirty="0"/>
              <a:t>de um tributo corresponde aos fatos ou atos que </a:t>
            </a:r>
            <a:r>
              <a:rPr lang="pt-BR" dirty="0" smtClean="0"/>
              <a:t>estão </a:t>
            </a:r>
            <a:r>
              <a:rPr lang="pt-BR" dirty="0"/>
              <a:t>constantes na lei para dar nascimento à obrigação tributária</a:t>
            </a:r>
            <a:r>
              <a:rPr lang="pt-BR" dirty="0" smtClean="0"/>
              <a:t>.</a:t>
            </a:r>
            <a:endParaRPr lang="pt-BR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9235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t-BR" altLang="pt-BR" b="1" u="sng" dirty="0" smtClean="0"/>
              <a:t>Não Incidência Tributária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r>
              <a:rPr lang="pt-BR" dirty="0"/>
              <a:t>A não-incidência de um tributo corresponde aos fatos ou atos que </a:t>
            </a:r>
            <a:r>
              <a:rPr lang="pt-BR" u="sng" dirty="0"/>
              <a:t>não</a:t>
            </a:r>
            <a:r>
              <a:rPr lang="pt-BR" dirty="0"/>
              <a:t> estão constantes na lei para dar nascimento à obrigação tributária. </a:t>
            </a:r>
          </a:p>
        </p:txBody>
      </p:sp>
    </p:spTree>
    <p:extLst>
      <p:ext uri="{BB962C8B-B14F-4D97-AF65-F5344CB8AC3E}">
        <p14:creationId xmlns:p14="http://schemas.microsoft.com/office/powerpoint/2010/main" val="2633433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t-BR" altLang="pt-BR" b="1" u="sng" dirty="0" smtClean="0"/>
              <a:t>Imunidade Tributária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dirty="0"/>
              <a:t>A imunidade é uma hipótese de não incidência tributária constitucionalmente qualificada. </a:t>
            </a:r>
            <a:endParaRPr lang="pt-BR" dirty="0" smtClean="0"/>
          </a:p>
          <a:p>
            <a:pPr>
              <a:lnSpc>
                <a:spcPct val="80000"/>
              </a:lnSpc>
            </a:pPr>
            <a:endParaRPr lang="pt-BR" dirty="0"/>
          </a:p>
          <a:p>
            <a:pPr>
              <a:lnSpc>
                <a:spcPct val="80000"/>
              </a:lnSpc>
            </a:pPr>
            <a:r>
              <a:rPr lang="pt-BR" dirty="0" smtClean="0"/>
              <a:t>É </a:t>
            </a:r>
            <a:r>
              <a:rPr lang="pt-BR" dirty="0"/>
              <a:t>uma limitação constitucional ao poder de tributar</a:t>
            </a:r>
            <a:r>
              <a:rPr lang="pt-BR" dirty="0" smtClean="0"/>
              <a:t>.</a:t>
            </a:r>
            <a:endParaRPr lang="pt-BR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65703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t-BR" altLang="pt-BR" b="1" u="sng" dirty="0" smtClean="0"/>
              <a:t>Isenção Tributária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dirty="0" smtClean="0"/>
              <a:t>A</a:t>
            </a:r>
            <a:r>
              <a:rPr lang="pt-BR" dirty="0"/>
              <a:t> isenção pode ser considerada uma hipótese de não incidência legalmente qualificada ou a dispensa legal do pagamento de determinado tributo </a:t>
            </a:r>
            <a:r>
              <a:rPr lang="pt-BR" dirty="0" smtClean="0"/>
              <a:t>devido.</a:t>
            </a:r>
          </a:p>
          <a:p>
            <a:pPr>
              <a:lnSpc>
                <a:spcPct val="80000"/>
              </a:lnSpc>
            </a:pPr>
            <a:endParaRPr lang="pt-BR" altLang="pt-BR" dirty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Dispensa prevista em lei ordinária.</a:t>
            </a:r>
          </a:p>
        </p:txBody>
      </p:sp>
    </p:spTree>
    <p:extLst>
      <p:ext uri="{BB962C8B-B14F-4D97-AF65-F5344CB8AC3E}">
        <p14:creationId xmlns:p14="http://schemas.microsoft.com/office/powerpoint/2010/main" val="1491900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t-BR" altLang="pt-BR" b="1" u="sng" dirty="0" smtClean="0"/>
              <a:t>Anistia Tributária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Anistia é o perdão dos acréscimos legais (multa e juros de mora) devidos nos recolhimentos em atraso de débitos fiscais.</a:t>
            </a:r>
          </a:p>
        </p:txBody>
      </p:sp>
    </p:spTree>
    <p:extLst>
      <p:ext uri="{BB962C8B-B14F-4D97-AF65-F5344CB8AC3E}">
        <p14:creationId xmlns:p14="http://schemas.microsoft.com/office/powerpoint/2010/main" val="93328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t-BR" altLang="pt-BR" b="1" u="sng" dirty="0" smtClean="0"/>
              <a:t>Remissão Tributária</a:t>
            </a:r>
          </a:p>
          <a:p>
            <a:pPr>
              <a:lnSpc>
                <a:spcPct val="80000"/>
              </a:lnSpc>
            </a:pPr>
            <a:endParaRPr lang="pt-BR" altLang="pt-BR" dirty="0" smtClean="0"/>
          </a:p>
          <a:p>
            <a:pPr>
              <a:lnSpc>
                <a:spcPct val="80000"/>
              </a:lnSpc>
            </a:pPr>
            <a:r>
              <a:rPr lang="pt-BR" altLang="pt-BR" dirty="0" smtClean="0"/>
              <a:t>Remissão é o perdão da dívida propriamente dita, ou seja, do débito fiscal.</a:t>
            </a:r>
          </a:p>
        </p:txBody>
      </p:sp>
    </p:spTree>
    <p:extLst>
      <p:ext uri="{BB962C8B-B14F-4D97-AF65-F5344CB8AC3E}">
        <p14:creationId xmlns:p14="http://schemas.microsoft.com/office/powerpoint/2010/main" val="362919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pt-BR" altLang="pt-BR" b="1" u="sng" dirty="0" smtClean="0"/>
              <a:t>Bitributação:</a:t>
            </a:r>
          </a:p>
          <a:p>
            <a:pPr>
              <a:lnSpc>
                <a:spcPct val="80000"/>
              </a:lnSpc>
            </a:pPr>
            <a:endParaRPr lang="pt-BR" altLang="pt-BR" b="1" u="sng" dirty="0"/>
          </a:p>
          <a:p>
            <a:r>
              <a:rPr lang="pt-BR" dirty="0"/>
              <a:t>Bitributação ocorre quando </a:t>
            </a:r>
            <a:r>
              <a:rPr lang="pt-BR" dirty="0" smtClean="0"/>
              <a:t>2 </a:t>
            </a:r>
            <a:r>
              <a:rPr lang="pt-BR" dirty="0"/>
              <a:t>entes da federação, por meio de suas pessoas jurídicas de direito público, tributam o mesmo contribuinte sobre o mesmo fato gerador. Por exemplo, isso ocorre quando dois municípios pretendem cobrar ISS sobre um mesmo serviço prestado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ilegitimidade nesse caso se dá pela inconstitucionalidade, em razão da violação de normas constitucionais sobre competência tributária</a:t>
            </a:r>
            <a:r>
              <a:rPr lang="pt-BR" dirty="0" smtClean="0"/>
              <a:t>.</a:t>
            </a:r>
            <a:endParaRPr lang="pt-BR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154202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Entretanto</a:t>
            </a:r>
            <a:r>
              <a:rPr lang="pt-BR" dirty="0"/>
              <a:t>, como existem exceções em tudo que rodeia nosso sistema tributário e nossa administração pública, </a:t>
            </a:r>
            <a:r>
              <a:rPr lang="pt-BR" b="1" dirty="0"/>
              <a:t>há </a:t>
            </a:r>
            <a:r>
              <a:rPr lang="pt-BR" b="1" dirty="0" smtClean="0"/>
              <a:t>2 </a:t>
            </a:r>
            <a:r>
              <a:rPr lang="pt-BR" b="1" dirty="0"/>
              <a:t>situações das quais a bitributação é </a:t>
            </a:r>
            <a:r>
              <a:rPr lang="pt-BR" b="1" dirty="0" smtClean="0"/>
              <a:t>permitida</a:t>
            </a:r>
            <a:r>
              <a:rPr lang="pt-BR" dirty="0"/>
              <a:t>: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1º - na </a:t>
            </a:r>
            <a:r>
              <a:rPr lang="pt-BR" dirty="0"/>
              <a:t>iminência ou no caso de guerra externa, poderá ser exigido imposto extraordinário, compreendido ou não em sua </a:t>
            </a:r>
            <a:r>
              <a:rPr lang="pt-BR" dirty="0" smtClean="0"/>
              <a:t>competência (art</a:t>
            </a:r>
            <a:r>
              <a:rPr lang="pt-BR" dirty="0"/>
              <a:t>. 154, II da Constituição Federal de </a:t>
            </a:r>
            <a:r>
              <a:rPr lang="pt-BR" dirty="0" smtClean="0"/>
              <a:t>1988).</a:t>
            </a:r>
            <a:endParaRPr lang="pt-BR" dirty="0"/>
          </a:p>
          <a:p>
            <a:endParaRPr lang="pt-BR" dirty="0"/>
          </a:p>
          <a:p>
            <a:r>
              <a:rPr lang="pt-BR" dirty="0" smtClean="0"/>
              <a:t>2º - Âmbito Internacional. </a:t>
            </a:r>
            <a:r>
              <a:rPr lang="pt-BR" dirty="0"/>
              <a:t>Ocorre nos casos em que um tributo é recolhido em um </a:t>
            </a:r>
            <a:r>
              <a:rPr lang="pt-BR" dirty="0" smtClean="0"/>
              <a:t>País, </a:t>
            </a:r>
            <a:r>
              <a:rPr lang="pt-BR" dirty="0"/>
              <a:t>mas poderá também ser cobrado noutro</a:t>
            </a:r>
            <a:r>
              <a:rPr lang="pt-BR" dirty="0" smtClean="0"/>
              <a:t>.</a:t>
            </a:r>
            <a:br>
              <a:rPr lang="pt-BR" dirty="0" smtClean="0"/>
            </a:br>
            <a:endParaRPr lang="pt-BR" altLang="pt-BR" b="1" u="sng" dirty="0"/>
          </a:p>
        </p:txBody>
      </p:sp>
    </p:spTree>
    <p:extLst>
      <p:ext uri="{BB962C8B-B14F-4D97-AF65-F5344CB8AC3E}">
        <p14:creationId xmlns:p14="http://schemas.microsoft.com/office/powerpoint/2010/main" val="2847661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i="1" dirty="0" smtClean="0"/>
              <a:t>Bis In Idem</a:t>
            </a:r>
            <a:r>
              <a:rPr lang="pt-BR" b="1" dirty="0" smtClean="0"/>
              <a:t>: </a:t>
            </a:r>
            <a:r>
              <a:rPr lang="pt-BR" altLang="pt-BR" dirty="0" smtClean="0"/>
              <a:t>O denominado </a:t>
            </a:r>
            <a:r>
              <a:rPr lang="pt-BR" altLang="pt-BR" i="1" dirty="0" smtClean="0"/>
              <a:t>bis in idem</a:t>
            </a:r>
            <a:r>
              <a:rPr lang="pt-BR" altLang="pt-BR" dirty="0" smtClean="0"/>
              <a:t> ocorre quando </a:t>
            </a:r>
            <a:r>
              <a:rPr lang="pt-BR" altLang="pt-BR" b="1" u="sng" dirty="0" smtClean="0"/>
              <a:t>um ente tributante</a:t>
            </a:r>
            <a:r>
              <a:rPr lang="pt-BR" altLang="pt-BR" dirty="0" smtClean="0"/>
              <a:t>, no uso de sua competência tributária, exige </a:t>
            </a:r>
            <a:r>
              <a:rPr lang="pt-BR" altLang="pt-BR" b="1" u="sng" dirty="0" smtClean="0"/>
              <a:t>mais de uma vez um mesmo tributo</a:t>
            </a:r>
            <a:r>
              <a:rPr lang="pt-BR" altLang="pt-BR" dirty="0" smtClean="0"/>
              <a:t> de um único contribuinte em razão do </a:t>
            </a:r>
            <a:r>
              <a:rPr lang="pt-BR" altLang="pt-BR" b="1" u="sng" dirty="0" smtClean="0"/>
              <a:t>mesmo fato gerador</a:t>
            </a:r>
            <a:r>
              <a:rPr lang="pt-BR" altLang="pt-BR" dirty="0" smtClean="0"/>
              <a:t>.</a:t>
            </a:r>
          </a:p>
          <a:p>
            <a:endParaRPr lang="pt-BR" altLang="pt-BR" dirty="0" smtClean="0"/>
          </a:p>
          <a:p>
            <a:r>
              <a:rPr lang="pt-BR" altLang="pt-BR" dirty="0" smtClean="0"/>
              <a:t>Exemplo: PIS/COFINS. Também o caso do IRPJ e CSLL. Pode ser também o caso do IRPJ e adicional de IRPJ.</a:t>
            </a:r>
            <a:endParaRPr lang="pt-BR" altLang="pt-BR" b="1" u="sng" dirty="0"/>
          </a:p>
        </p:txBody>
      </p:sp>
    </p:spTree>
    <p:extLst>
      <p:ext uri="{BB962C8B-B14F-4D97-AF65-F5344CB8AC3E}">
        <p14:creationId xmlns:p14="http://schemas.microsoft.com/office/powerpoint/2010/main" val="312313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pt-BR" b="1" dirty="0" smtClean="0"/>
              <a:t>Denúncia Espontânea: </a:t>
            </a:r>
            <a:r>
              <a:rPr lang="pt-BR" altLang="pt-BR" dirty="0" smtClean="0"/>
              <a:t>O artigo 138 do CTN dispõe que a responsabilidade é excluída pela denúncia espontânea da infração, acompanhada, se for o caso, do </a:t>
            </a:r>
            <a:r>
              <a:rPr lang="pt-BR" altLang="pt-BR" u="sng" dirty="0" smtClean="0"/>
              <a:t>pagamento do tributo devido e dos juros de mora</a:t>
            </a:r>
            <a:r>
              <a:rPr lang="pt-BR" altLang="pt-BR" dirty="0" smtClean="0"/>
              <a:t>, ou do depósito de importância arbitrada pela autoridade administrativa, quando o montante do tributo dependa de apuração.</a:t>
            </a:r>
          </a:p>
          <a:p>
            <a:pPr>
              <a:lnSpc>
                <a:spcPct val="90000"/>
              </a:lnSpc>
            </a:pPr>
            <a:endParaRPr lang="pt-BR" altLang="pt-BR" dirty="0"/>
          </a:p>
          <a:p>
            <a:pPr>
              <a:lnSpc>
                <a:spcPct val="90000"/>
              </a:lnSpc>
            </a:pPr>
            <a:r>
              <a:rPr lang="pt-BR" altLang="pt-BR" dirty="0" smtClean="0"/>
              <a:t>Não se considera espontânea a denúncia apresentada </a:t>
            </a:r>
            <a:r>
              <a:rPr lang="pt-BR" altLang="pt-BR" u="sng" dirty="0" smtClean="0"/>
              <a:t>após o inicio de qualquer procedimento administrativo ou medida de fiscalização</a:t>
            </a:r>
            <a:r>
              <a:rPr lang="pt-BR" altLang="pt-BR" dirty="0" smtClean="0"/>
              <a:t>, relacionados com a infração.</a:t>
            </a:r>
          </a:p>
          <a:p>
            <a:endParaRPr lang="pt-BR" altLang="pt-BR" b="1" u="sng" dirty="0"/>
          </a:p>
        </p:txBody>
      </p:sp>
    </p:spTree>
    <p:extLst>
      <p:ext uri="{BB962C8B-B14F-4D97-AF65-F5344CB8AC3E}">
        <p14:creationId xmlns:p14="http://schemas.microsoft.com/office/powerpoint/2010/main" val="2672136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b="1" dirty="0" smtClean="0"/>
              <a:t>Crédito Tributário: </a:t>
            </a:r>
            <a:r>
              <a:rPr lang="pt-BR" altLang="pt-BR" dirty="0" smtClean="0">
                <a:cs typeface="Arial" charset="0"/>
              </a:rPr>
              <a:t>O crédito tributário resulta da obrigação de pagar tributo ou penalidade pecuniária (CTN, art. 139), sendo formalizado pela ato pelo ato administrativo lançamento.</a:t>
            </a:r>
            <a:endParaRPr lang="pt-BR" altLang="pt-BR" dirty="0" smtClean="0"/>
          </a:p>
          <a:p>
            <a:endParaRPr lang="pt-BR" altLang="pt-BR" b="1" u="sng" dirty="0"/>
          </a:p>
        </p:txBody>
      </p:sp>
    </p:spTree>
    <p:extLst>
      <p:ext uri="{BB962C8B-B14F-4D97-AF65-F5344CB8AC3E}">
        <p14:creationId xmlns:p14="http://schemas.microsoft.com/office/powerpoint/2010/main" val="136238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b="1" dirty="0" smtClean="0"/>
              <a:t>Crédito Tributário</a:t>
            </a:r>
          </a:p>
          <a:p>
            <a:pPr>
              <a:lnSpc>
                <a:spcPct val="90000"/>
              </a:lnSpc>
            </a:pPr>
            <a:endParaRPr lang="pt-BR" altLang="pt-BR" b="1" u="sng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pt-BR" altLang="pt-BR" dirty="0" smtClean="0"/>
              <a:t>Suspensão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endParaRPr lang="pt-BR" altLang="pt-BR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pt-BR" altLang="pt-BR" dirty="0" smtClean="0"/>
              <a:t>Extinção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endParaRPr lang="pt-BR" altLang="pt-BR" dirty="0" smtClean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pt-BR" altLang="pt-BR" dirty="0" smtClean="0"/>
              <a:t>Exclusão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8436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pt-BR" altLang="pt-BR" b="1" dirty="0" smtClean="0"/>
              <a:t>Suspensão da Exigibilidade do Crédito:</a:t>
            </a:r>
          </a:p>
          <a:p>
            <a:pPr>
              <a:lnSpc>
                <a:spcPct val="90000"/>
              </a:lnSpc>
            </a:pPr>
            <a:endParaRPr lang="pt-BR" altLang="pt-BR" dirty="0"/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Moratória (concessão de um prazo maior para pagamento de uma dívida tributária vencida)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Depósito do seu montante integral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As reclamações e os recursos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A concessão de medida liminar em mandado de segurança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A concessão de tutela antecipada, em outras espécies de ação judicial;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parcelamento.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49806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dirty="0" smtClean="0"/>
              <a:t>Ressalve-se que a ocorrência dessas hipóteses de suspensão da exigibilidade do crédito tributário, </a:t>
            </a:r>
            <a:r>
              <a:rPr lang="pt-BR" altLang="pt-BR" b="1" u="sng" dirty="0" smtClean="0"/>
              <a:t>não dispensa o sujeito passivo do cumprimento das obrigações acessórias</a:t>
            </a:r>
            <a:r>
              <a:rPr lang="pt-BR" altLang="pt-BR" dirty="0" smtClean="0"/>
              <a:t> dependentes da obrigação principal, cujo crédito seja suspenso, ou </a:t>
            </a:r>
            <a:r>
              <a:rPr lang="pt-BR" altLang="pt-BR" smtClean="0"/>
              <a:t>dela </a:t>
            </a:r>
            <a:r>
              <a:rPr lang="pt-BR" altLang="pt-BR" smtClean="0"/>
              <a:t>consequentes </a:t>
            </a:r>
            <a:r>
              <a:rPr lang="pt-BR" altLang="pt-BR" dirty="0" smtClean="0"/>
              <a:t>(artigo 151, parágrafo único, do CTN).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170987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b="1" dirty="0" smtClean="0"/>
              <a:t>Extinção do Crédito:</a:t>
            </a:r>
          </a:p>
          <a:p>
            <a:pPr>
              <a:lnSpc>
                <a:spcPct val="90000"/>
              </a:lnSpc>
            </a:pPr>
            <a:endParaRPr lang="pt-BR" altLang="pt-BR" dirty="0"/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Pagamento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Compensação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Transação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Remissão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Prescrição e decadência</a:t>
            </a:r>
          </a:p>
          <a:p>
            <a:pPr marL="514350" indent="-514350">
              <a:lnSpc>
                <a:spcPct val="90000"/>
              </a:lnSpc>
              <a:buFont typeface="+mj-lt"/>
              <a:buAutoNum type="alphaLcParenR"/>
            </a:pPr>
            <a:r>
              <a:rPr lang="pt-BR" altLang="pt-BR" dirty="0" smtClean="0"/>
              <a:t>Conversão de depósito em renda</a:t>
            </a:r>
            <a:endParaRPr lang="pt-BR" alt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7668344" y="548680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917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altLang="pt-BR" b="1" dirty="0" smtClean="0"/>
              <a:t>Extinção do Crédito:</a:t>
            </a:r>
          </a:p>
          <a:p>
            <a:pPr>
              <a:lnSpc>
                <a:spcPct val="90000"/>
              </a:lnSpc>
            </a:pPr>
            <a:endParaRPr lang="pt-BR" altLang="pt-BR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g) Pagamento antecipado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h) Decisão administrativa irreformável (definitiva)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j) Decisão judicial passada em julgado (definitiva)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k) Dação em pagamento em bens imóveis, na forma e condições estabelecidas em lei.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88153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altLang="pt-BR" b="1" dirty="0" smtClean="0"/>
              <a:t>Extinção do Crédito:</a:t>
            </a:r>
          </a:p>
          <a:p>
            <a:pPr>
              <a:lnSpc>
                <a:spcPct val="90000"/>
              </a:lnSpc>
            </a:pPr>
            <a:endParaRPr lang="pt-BR" altLang="pt-BR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g) Pagamento antecipado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h) Decisão administrativa irreformável (definitiva)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j) Decisão judicial passada em julgado (definitiva)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pt-BR" dirty="0" smtClean="0"/>
              <a:t>k) Dação em pagamento em bens imóveis, na forma e condições estabelecidas em lei.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63001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altLang="pt-BR" b="1" dirty="0" smtClean="0">
                <a:solidFill>
                  <a:schemeClr val="accent1"/>
                </a:solidFill>
              </a:rPr>
              <a:t>Prescrição</a:t>
            </a:r>
            <a:r>
              <a:rPr lang="pt-BR" altLang="pt-BR" dirty="0" smtClean="0"/>
              <a:t> - refere-se à perda da ação de cobrança do crédito lançado.</a:t>
            </a:r>
          </a:p>
          <a:p>
            <a:endParaRPr lang="pt-BR" altLang="pt-BR" dirty="0" smtClean="0"/>
          </a:p>
          <a:p>
            <a:r>
              <a:rPr lang="pt-BR" altLang="pt-BR" b="1" dirty="0" smtClean="0">
                <a:solidFill>
                  <a:schemeClr val="accent1"/>
                </a:solidFill>
              </a:rPr>
              <a:t>Decadência</a:t>
            </a:r>
            <a:r>
              <a:rPr lang="pt-BR" altLang="pt-BR" dirty="0" smtClean="0"/>
              <a:t> – refere-se a perda do direito de lançar, ou seja, de constituir o crédito tributário.</a:t>
            </a:r>
          </a:p>
          <a:p>
            <a:endParaRPr lang="pt-BR" altLang="pt-BR" dirty="0" smtClean="0"/>
          </a:p>
          <a:p>
            <a:r>
              <a:rPr lang="pt-BR" altLang="pt-BR" dirty="0" smtClean="0"/>
              <a:t>A decadência extingue o direito; a prescrição tem por objeto a ação.</a:t>
            </a:r>
          </a:p>
        </p:txBody>
      </p:sp>
    </p:spTree>
    <p:extLst>
      <p:ext uri="{BB962C8B-B14F-4D97-AF65-F5344CB8AC3E}">
        <p14:creationId xmlns:p14="http://schemas.microsoft.com/office/powerpoint/2010/main" val="4138598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b="1" dirty="0" smtClean="0"/>
              <a:t>Exclusão do Crédito:</a:t>
            </a:r>
          </a:p>
          <a:p>
            <a:pPr>
              <a:lnSpc>
                <a:spcPct val="90000"/>
              </a:lnSpc>
            </a:pPr>
            <a:endParaRPr lang="pt-BR" altLang="pt-BR" dirty="0" smtClean="0"/>
          </a:p>
          <a:p>
            <a:pPr>
              <a:lnSpc>
                <a:spcPct val="90000"/>
              </a:lnSpc>
            </a:pPr>
            <a:r>
              <a:rPr lang="pt-BR" altLang="pt-BR" dirty="0" smtClean="0"/>
              <a:t>Isenção</a:t>
            </a:r>
          </a:p>
          <a:p>
            <a:pPr>
              <a:lnSpc>
                <a:spcPct val="90000"/>
              </a:lnSpc>
            </a:pPr>
            <a:endParaRPr lang="pt-BR" altLang="pt-BR" dirty="0"/>
          </a:p>
          <a:p>
            <a:pPr>
              <a:lnSpc>
                <a:spcPct val="90000"/>
              </a:lnSpc>
            </a:pPr>
            <a:r>
              <a:rPr lang="pt-BR" altLang="pt-BR" dirty="0" smtClean="0"/>
              <a:t>anistia</a:t>
            </a:r>
          </a:p>
        </p:txBody>
      </p:sp>
    </p:spTree>
    <p:extLst>
      <p:ext uri="{BB962C8B-B14F-4D97-AF65-F5344CB8AC3E}">
        <p14:creationId xmlns:p14="http://schemas.microsoft.com/office/powerpoint/2010/main" val="1632304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b="1" dirty="0" smtClean="0"/>
              <a:t>Dívida Ativa Tributária</a:t>
            </a:r>
          </a:p>
          <a:p>
            <a:pPr>
              <a:lnSpc>
                <a:spcPct val="90000"/>
              </a:lnSpc>
            </a:pPr>
            <a:endParaRPr lang="pt-BR" altLang="pt-BR" b="1" dirty="0"/>
          </a:p>
          <a:p>
            <a:pPr>
              <a:lnSpc>
                <a:spcPct val="90000"/>
              </a:lnSpc>
            </a:pPr>
            <a:r>
              <a:rPr lang="pt-BR" altLang="pt-BR" dirty="0" smtClean="0"/>
              <a:t>O artigo 201 do CTN dispõe que constitui dívida ativa tributária a proveniente de crédito dessa natureza, regularmente inscrita na repartição administrativa competente, depois de esgotado o prazo fixado, para pagamento, pela lei ou por decisão final proferida em processo regular.</a:t>
            </a:r>
          </a:p>
        </p:txBody>
      </p:sp>
    </p:spTree>
    <p:extLst>
      <p:ext uri="{BB962C8B-B14F-4D97-AF65-F5344CB8AC3E}">
        <p14:creationId xmlns:p14="http://schemas.microsoft.com/office/powerpoint/2010/main" val="1232065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39750" y="1484313"/>
            <a:ext cx="1655763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200" u="none">
                <a:solidFill>
                  <a:schemeClr val="tx1"/>
                </a:solidFill>
                <a:latin typeface="Comic Sans MS" pitchFamily="66" charset="0"/>
              </a:rPr>
              <a:t>FATO JURÍDICO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187450" y="1773238"/>
            <a:ext cx="288925" cy="576262"/>
          </a:xfrm>
          <a:prstGeom prst="downArrow">
            <a:avLst>
              <a:gd name="adj1" fmla="val 50000"/>
              <a:gd name="adj2" fmla="val 4986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71550" y="2420938"/>
            <a:ext cx="6477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800" b="0" u="none">
                <a:solidFill>
                  <a:schemeClr val="tx1"/>
                </a:solidFill>
              </a:rPr>
              <a:t> LEI</a:t>
            </a:r>
          </a:p>
        </p:txBody>
      </p:sp>
      <p:sp>
        <p:nvSpPr>
          <p:cNvPr id="7" name="AutoShape 7"/>
          <p:cNvSpPr>
            <a:spLocks/>
          </p:cNvSpPr>
          <p:nvPr/>
        </p:nvSpPr>
        <p:spPr bwMode="auto">
          <a:xfrm rot="5400000">
            <a:off x="1116013" y="2276475"/>
            <a:ext cx="431800" cy="1441450"/>
          </a:xfrm>
          <a:prstGeom prst="rightBrace">
            <a:avLst>
              <a:gd name="adj1" fmla="val 27819"/>
              <a:gd name="adj2" fmla="val 5143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1403350" y="19891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2268538" y="1989138"/>
            <a:ext cx="35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627313" y="1700213"/>
            <a:ext cx="1152525" cy="4984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300" u="none">
                <a:solidFill>
                  <a:schemeClr val="tx1"/>
                </a:solidFill>
              </a:rPr>
              <a:t>Obrigação Tributária</a:t>
            </a:r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 flipH="1">
            <a:off x="2771775" y="2205038"/>
            <a:ext cx="360363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3203575" y="2205038"/>
            <a:ext cx="28892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635375" y="1916113"/>
            <a:ext cx="649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284663" y="191611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4932363" y="1700213"/>
            <a:ext cx="1008062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400" u="none">
                <a:solidFill>
                  <a:schemeClr val="tx1"/>
                </a:solidFill>
              </a:rPr>
              <a:t>Crédito tributário</a:t>
            </a: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 rot="5400000">
            <a:off x="5111751" y="2455862"/>
            <a:ext cx="647700" cy="288925"/>
          </a:xfrm>
          <a:prstGeom prst="notchedRightArrow">
            <a:avLst>
              <a:gd name="adj1" fmla="val 50000"/>
              <a:gd name="adj2" fmla="val 5604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930775" y="3068638"/>
            <a:ext cx="1296988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200" u="none">
                <a:solidFill>
                  <a:schemeClr val="tx1"/>
                </a:solidFill>
                <a:latin typeface="Comic Sans MS" pitchFamily="66" charset="0"/>
                <a:cs typeface="Arial" charset="0"/>
              </a:rPr>
              <a:t>● EXTINÇÃO</a:t>
            </a:r>
            <a:br>
              <a:rPr lang="pt-BR" altLang="pt-BR" sz="1200" u="none">
                <a:solidFill>
                  <a:schemeClr val="tx1"/>
                </a:solidFill>
                <a:latin typeface="Comic Sans MS" pitchFamily="66" charset="0"/>
                <a:cs typeface="Arial" charset="0"/>
              </a:rPr>
            </a:br>
            <a:endParaRPr lang="pt-BR" altLang="pt-BR" sz="1200" u="none">
              <a:solidFill>
                <a:schemeClr val="tx1"/>
              </a:solidFill>
              <a:latin typeface="Comic Sans MS" pitchFamily="66" charset="0"/>
              <a:cs typeface="Arial" charset="0"/>
            </a:endParaRPr>
          </a:p>
          <a:p>
            <a:pPr>
              <a:spcBef>
                <a:spcPct val="50000"/>
              </a:spcBef>
            </a:pPr>
            <a:r>
              <a:rPr lang="pt-BR" altLang="pt-BR" sz="1200" b="0" u="none">
                <a:solidFill>
                  <a:schemeClr val="tx1"/>
                </a:solidFill>
                <a:latin typeface="Comic Sans MS" pitchFamily="66" charset="0"/>
              </a:rPr>
              <a:t>●</a:t>
            </a:r>
            <a:r>
              <a:rPr lang="pt-BR" altLang="pt-BR" sz="1200" u="none">
                <a:solidFill>
                  <a:schemeClr val="tx1"/>
                </a:solidFill>
                <a:latin typeface="Comic Sans MS" pitchFamily="66" charset="0"/>
              </a:rPr>
              <a:t>SUSPENSÃO</a:t>
            </a:r>
            <a:br>
              <a:rPr lang="pt-BR" altLang="pt-BR" sz="1200" u="none">
                <a:solidFill>
                  <a:schemeClr val="tx1"/>
                </a:solidFill>
                <a:latin typeface="Comic Sans MS" pitchFamily="66" charset="0"/>
              </a:rPr>
            </a:br>
            <a:endParaRPr lang="pt-BR" altLang="pt-BR" sz="1200" u="none">
              <a:solidFill>
                <a:schemeClr val="tx1"/>
              </a:solidFill>
              <a:latin typeface="Comic Sans MS" pitchFamily="66" charset="0"/>
            </a:endParaRPr>
          </a:p>
          <a:p>
            <a:pPr>
              <a:spcBef>
                <a:spcPct val="50000"/>
              </a:spcBef>
            </a:pPr>
            <a:r>
              <a:rPr lang="pt-BR" altLang="pt-BR" sz="1200" b="0" u="none">
                <a:solidFill>
                  <a:schemeClr val="tx1"/>
                </a:solidFill>
                <a:latin typeface="Comic Sans MS" pitchFamily="66" charset="0"/>
              </a:rPr>
              <a:t>●</a:t>
            </a:r>
            <a:r>
              <a:rPr lang="pt-BR" altLang="pt-BR" sz="1200" u="none">
                <a:solidFill>
                  <a:schemeClr val="tx1"/>
                </a:solidFill>
                <a:latin typeface="Comic Sans MS" pitchFamily="66" charset="0"/>
              </a:rPr>
              <a:t>EXCLUSÃO</a:t>
            </a: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6156325" y="3141663"/>
            <a:ext cx="1223963" cy="1150937"/>
          </a:xfrm>
          <a:prstGeom prst="curvedUpArrow">
            <a:avLst>
              <a:gd name="adj1" fmla="val 21269"/>
              <a:gd name="adj2" fmla="val 42538"/>
              <a:gd name="adj3" fmla="val 3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>
            <a:off x="6877050" y="1412875"/>
            <a:ext cx="1943100" cy="1223963"/>
          </a:xfrm>
          <a:prstGeom prst="wedgeEllipseCallout">
            <a:avLst>
              <a:gd name="adj1" fmla="val -38644"/>
              <a:gd name="adj2" fmla="val 8891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pt-BR" altLang="pt-BR" sz="1400" b="0" u="none">
                <a:solidFill>
                  <a:schemeClr val="tx1"/>
                </a:solidFill>
                <a:latin typeface="Comic Sans MS" pitchFamily="66" charset="0"/>
              </a:rPr>
              <a:t>● </a:t>
            </a:r>
            <a:r>
              <a:rPr lang="pt-BR" altLang="pt-BR" sz="1400" u="none">
                <a:solidFill>
                  <a:schemeClr val="tx1"/>
                </a:solidFill>
                <a:latin typeface="Comic Sans MS" pitchFamily="66" charset="0"/>
              </a:rPr>
              <a:t>EXECUÇÃO FISCAL</a:t>
            </a:r>
          </a:p>
          <a:p>
            <a:pPr algn="ctr"/>
            <a:r>
              <a:rPr lang="pt-BR" altLang="pt-BR" sz="1800" b="0" u="none">
                <a:solidFill>
                  <a:schemeClr val="tx1"/>
                </a:solidFill>
              </a:rPr>
              <a:t>● DÍVIDA ATIVA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124075" y="2708275"/>
            <a:ext cx="863600" cy="244475"/>
          </a:xfrm>
          <a:prstGeom prst="rect">
            <a:avLst/>
          </a:prstGeom>
          <a:noFill/>
          <a:ln w="158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900" u="none">
                <a:solidFill>
                  <a:schemeClr val="tx1"/>
                </a:solidFill>
                <a:latin typeface="Times New Roman" pitchFamily="18" charset="0"/>
              </a:rPr>
              <a:t>PRINCIPAL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3059113" y="2708275"/>
            <a:ext cx="1008062" cy="2444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900" u="none">
                <a:solidFill>
                  <a:schemeClr val="tx1"/>
                </a:solidFill>
                <a:latin typeface="Times New Roman" pitchFamily="18" charset="0"/>
              </a:rPr>
              <a:t>ACESSÓRIA</a:t>
            </a:r>
          </a:p>
        </p:txBody>
      </p:sp>
      <p:sp>
        <p:nvSpPr>
          <p:cNvPr id="22" name="AutoShape 22"/>
          <p:cNvSpPr>
            <a:spLocks noChangeArrowheads="1"/>
          </p:cNvSpPr>
          <p:nvPr/>
        </p:nvSpPr>
        <p:spPr bwMode="auto">
          <a:xfrm>
            <a:off x="3492500" y="4076700"/>
            <a:ext cx="1223963" cy="720725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altLang="pt-BR" sz="1200" u="none">
                <a:solidFill>
                  <a:schemeClr val="tx1"/>
                </a:solidFill>
                <a:latin typeface="Times New Roman" pitchFamily="18" charset="0"/>
              </a:rPr>
              <a:t>LANÇAMENTO</a:t>
            </a:r>
          </a:p>
        </p:txBody>
      </p:sp>
      <p:sp>
        <p:nvSpPr>
          <p:cNvPr id="23" name="AutoShape 23"/>
          <p:cNvSpPr>
            <a:spLocks/>
          </p:cNvSpPr>
          <p:nvPr/>
        </p:nvSpPr>
        <p:spPr bwMode="auto">
          <a:xfrm>
            <a:off x="4932363" y="3067050"/>
            <a:ext cx="71437" cy="1225550"/>
          </a:xfrm>
          <a:prstGeom prst="leftBracket">
            <a:avLst>
              <a:gd name="adj" fmla="val 14296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V="1">
            <a:off x="4211638" y="1989138"/>
            <a:ext cx="0" cy="2087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" name="AutoShape 25"/>
          <p:cNvSpPr>
            <a:spLocks noChangeArrowheads="1"/>
          </p:cNvSpPr>
          <p:nvPr/>
        </p:nvSpPr>
        <p:spPr bwMode="auto">
          <a:xfrm rot="5400000">
            <a:off x="3888581" y="4906169"/>
            <a:ext cx="720725" cy="503238"/>
          </a:xfrm>
          <a:custGeom>
            <a:avLst/>
            <a:gdLst>
              <a:gd name="G0" fmla="+- 12750 0 0"/>
              <a:gd name="G1" fmla="+- 18514 0 0"/>
              <a:gd name="G2" fmla="+- 6171 0 0"/>
              <a:gd name="G3" fmla="*/ 12750 1 2"/>
              <a:gd name="G4" fmla="+- G3 10800 0"/>
              <a:gd name="G5" fmla="+- 21600 12750 18514"/>
              <a:gd name="G6" fmla="+- 18514 6171 0"/>
              <a:gd name="G7" fmla="*/ G6 1 2"/>
              <a:gd name="G8" fmla="*/ 18514 2 1"/>
              <a:gd name="G9" fmla="+- G8 0 21600"/>
              <a:gd name="G10" fmla="+- G5 0 G4"/>
              <a:gd name="G11" fmla="+- 12750 0 G4"/>
              <a:gd name="G12" fmla="*/ G2 G10 G11"/>
              <a:gd name="T0" fmla="*/ 17175 w 21600"/>
              <a:gd name="T1" fmla="*/ 0 h 21600"/>
              <a:gd name="T2" fmla="*/ 12750 w 21600"/>
              <a:gd name="T3" fmla="*/ 6171 h 21600"/>
              <a:gd name="T4" fmla="*/ 6171 w 21600"/>
              <a:gd name="T5" fmla="*/ 12750 h 21600"/>
              <a:gd name="T6" fmla="*/ 0 w 21600"/>
              <a:gd name="T7" fmla="*/ 17175 h 21600"/>
              <a:gd name="T8" fmla="*/ 6171 w 21600"/>
              <a:gd name="T9" fmla="*/ 21600 h 21600"/>
              <a:gd name="T10" fmla="*/ 12343 w 21600"/>
              <a:gd name="T11" fmla="*/ 18514 h 21600"/>
              <a:gd name="T12" fmla="*/ 18514 w 21600"/>
              <a:gd name="T13" fmla="*/ 12343 h 21600"/>
              <a:gd name="T14" fmla="*/ 21600 w 21600"/>
              <a:gd name="T15" fmla="*/ 6171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G12 w 21600"/>
              <a:gd name="T25" fmla="*/ G5 h 21600"/>
              <a:gd name="T26" fmla="*/ G1 w 21600"/>
              <a:gd name="T27" fmla="*/ G1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7175" y="0"/>
                </a:moveTo>
                <a:lnTo>
                  <a:pt x="12750" y="6171"/>
                </a:lnTo>
                <a:lnTo>
                  <a:pt x="15836" y="6171"/>
                </a:lnTo>
                <a:lnTo>
                  <a:pt x="15836" y="15836"/>
                </a:lnTo>
                <a:lnTo>
                  <a:pt x="6171" y="15836"/>
                </a:lnTo>
                <a:lnTo>
                  <a:pt x="6171" y="12750"/>
                </a:lnTo>
                <a:lnTo>
                  <a:pt x="0" y="17175"/>
                </a:lnTo>
                <a:lnTo>
                  <a:pt x="6171" y="21600"/>
                </a:lnTo>
                <a:lnTo>
                  <a:pt x="6171" y="18514"/>
                </a:lnTo>
                <a:lnTo>
                  <a:pt x="18514" y="18514"/>
                </a:lnTo>
                <a:lnTo>
                  <a:pt x="18514" y="6171"/>
                </a:lnTo>
                <a:lnTo>
                  <a:pt x="21600" y="6171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4572000" y="5157788"/>
            <a:ext cx="1584325" cy="4667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1200" u="none">
                <a:solidFill>
                  <a:schemeClr val="tx1"/>
                </a:solidFill>
                <a:latin typeface="Comic Sans MS" pitchFamily="66" charset="0"/>
              </a:rPr>
              <a:t>FISCALIZAÇÃO TRIBUTÁRIA</a:t>
            </a: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684213" y="3357563"/>
            <a:ext cx="2016125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100" u="none">
                <a:solidFill>
                  <a:schemeClr val="tx1"/>
                </a:solidFill>
                <a:latin typeface="Palatino" pitchFamily="18" charset="0"/>
              </a:rPr>
              <a:t>● </a:t>
            </a:r>
            <a:r>
              <a:rPr lang="pt-BR" altLang="pt-BR" sz="1400" u="none">
                <a:solidFill>
                  <a:schemeClr val="tx1"/>
                </a:solidFill>
                <a:latin typeface="Palatino" pitchFamily="18" charset="0"/>
              </a:rPr>
              <a:t>VIGÊNCIA</a:t>
            </a:r>
            <a:br>
              <a:rPr lang="pt-BR" altLang="pt-BR" sz="1400" u="none">
                <a:solidFill>
                  <a:schemeClr val="tx1"/>
                </a:solidFill>
                <a:latin typeface="Palatino" pitchFamily="18" charset="0"/>
              </a:rPr>
            </a:br>
            <a:endParaRPr lang="pt-BR" altLang="pt-BR" sz="1400" u="none">
              <a:solidFill>
                <a:schemeClr val="tx1"/>
              </a:solidFill>
              <a:latin typeface="Palatino" pitchFamily="18" charset="0"/>
            </a:endParaRPr>
          </a:p>
          <a:p>
            <a:pPr>
              <a:spcBef>
                <a:spcPct val="50000"/>
              </a:spcBef>
            </a:pPr>
            <a:r>
              <a:rPr lang="pt-BR" altLang="pt-BR" sz="1400" u="none">
                <a:solidFill>
                  <a:schemeClr val="tx1"/>
                </a:solidFill>
                <a:latin typeface="Palatino" pitchFamily="18" charset="0"/>
              </a:rPr>
              <a:t> ●INTERPRETAÇÃO</a:t>
            </a:r>
          </a:p>
        </p:txBody>
      </p:sp>
      <p:sp>
        <p:nvSpPr>
          <p:cNvPr id="28" name="AutoShape 28"/>
          <p:cNvSpPr>
            <a:spLocks noChangeArrowheads="1"/>
          </p:cNvSpPr>
          <p:nvPr/>
        </p:nvSpPr>
        <p:spPr bwMode="auto">
          <a:xfrm>
            <a:off x="3563938" y="981075"/>
            <a:ext cx="1295400" cy="576263"/>
          </a:xfrm>
          <a:prstGeom prst="leftRightArrowCallout">
            <a:avLst>
              <a:gd name="adj1" fmla="val 21213"/>
              <a:gd name="adj2" fmla="val 35125"/>
              <a:gd name="adj3" fmla="val 34708"/>
              <a:gd name="adj4" fmla="val 1617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2268538" y="1052513"/>
            <a:ext cx="1368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000" u="none">
                <a:solidFill>
                  <a:schemeClr val="tx1"/>
                </a:solidFill>
                <a:latin typeface="Monotype Corsiva" pitchFamily="66" charset="0"/>
              </a:rPr>
              <a:t>Decadência</a:t>
            </a: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859338" y="1052513"/>
            <a:ext cx="1296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000" u="none">
                <a:solidFill>
                  <a:schemeClr val="tx1"/>
                </a:solidFill>
                <a:latin typeface="Monotype Corsiva" pitchFamily="66" charset="0"/>
              </a:rPr>
              <a:t>prescrição</a:t>
            </a: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4211638" y="15573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30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pt-BR" altLang="pt-BR" b="1" dirty="0" smtClean="0"/>
              <a:t>Execução Fiscal</a:t>
            </a:r>
          </a:p>
          <a:p>
            <a:pPr>
              <a:lnSpc>
                <a:spcPct val="90000"/>
              </a:lnSpc>
            </a:pPr>
            <a:endParaRPr lang="pt-BR" altLang="pt-BR" b="1" dirty="0"/>
          </a:p>
          <a:p>
            <a:pPr>
              <a:lnSpc>
                <a:spcPct val="90000"/>
              </a:lnSpc>
            </a:pPr>
            <a:r>
              <a:rPr lang="pt-BR" altLang="pt-BR" dirty="0" smtClean="0"/>
              <a:t>Citação do executado </a:t>
            </a:r>
            <a:r>
              <a:rPr lang="pt-BR" dirty="0"/>
              <a:t>(correio, oficial de justiça, edital</a:t>
            </a:r>
            <a:r>
              <a:rPr lang="pt-BR" dirty="0" smtClean="0"/>
              <a:t>)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pt-BR" dirty="0" smtClean="0"/>
          </a:p>
          <a:p>
            <a:pPr>
              <a:lnSpc>
                <a:spcPct val="90000"/>
              </a:lnSpc>
            </a:pPr>
            <a:r>
              <a:rPr lang="pt-BR" altLang="pt-BR" dirty="0" smtClean="0"/>
              <a:t>Penhora, se a dívida não for paga ou garantida mediante depósito, fiança ou seguro-garantia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pt-BR" dirty="0" smtClean="0"/>
          </a:p>
          <a:p>
            <a:pPr>
              <a:lnSpc>
                <a:spcPct val="90000"/>
              </a:lnSpc>
            </a:pPr>
            <a:r>
              <a:rPr lang="pt-BR" altLang="pt-BR" dirty="0" smtClean="0"/>
              <a:t>Arresto, se o executado não tiver domicílio ou se ocultar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7740352" y="620688"/>
            <a:ext cx="43204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296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FF"/>
                </a:solidFill>
              </a:rPr>
              <a:t>Noções Fundamentais</a:t>
            </a:r>
            <a:endParaRPr lang="pt-BR" b="1" dirty="0">
              <a:solidFill>
                <a:srgbClr val="FF00FF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Não indicados os bens, podem ocorrer penhoras de créditos online, a penhora de faturamento da empresa, a penhora de ações, de imóveis, de veículos, etc. </a:t>
            </a:r>
            <a:endParaRPr lang="pt-BR" dirty="0" smtClean="0"/>
          </a:p>
          <a:p>
            <a:pPr>
              <a:lnSpc>
                <a:spcPct val="90000"/>
              </a:lnSpc>
            </a:pPr>
            <a:endParaRPr lang="pt-BR" dirty="0"/>
          </a:p>
          <a:p>
            <a:pPr>
              <a:lnSpc>
                <a:spcPct val="90000"/>
              </a:lnSpc>
            </a:pPr>
            <a:r>
              <a:rPr lang="pt-BR" dirty="0" smtClean="0"/>
              <a:t>Não </a:t>
            </a:r>
            <a:r>
              <a:rPr lang="pt-BR" dirty="0"/>
              <a:t>pode ser penhorado o imóvel que serve de residência do indivíduo, por se tratar de um bem de família, nem aqueles bens que a lei considera impenhoráveis.</a:t>
            </a:r>
            <a:endParaRPr lang="pt-BR" alt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7020272" y="6021288"/>
            <a:ext cx="2016224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FIM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750424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1267</Words>
  <Application>Microsoft Office PowerPoint</Application>
  <PresentationFormat>Apresentação na tela (4:3)</PresentationFormat>
  <Paragraphs>185</Paragraphs>
  <Slides>31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Tema do Office</vt:lpstr>
      <vt:lpstr>Noções de Tributos</vt:lpstr>
      <vt:lpstr>Classificação dos Tributos</vt:lpstr>
      <vt:lpstr>Classificação dos Tributos</vt:lpstr>
      <vt:lpstr>Função dos Tributos</vt:lpstr>
      <vt:lpstr>Função dos Tributos</vt:lpstr>
      <vt:lpstr>Função dos Tributos</vt:lpstr>
      <vt:lpstr>Função dos Tributos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Noções Fundamentais</vt:lpstr>
      <vt:lpstr>Apresentação do PowerPoint</vt:lpstr>
      <vt:lpstr>Noções Fundamentais</vt:lpstr>
      <vt:lpstr>Noções Fundamentais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Lúcia</dc:creator>
  <cp:lastModifiedBy>Lúcia</cp:lastModifiedBy>
  <cp:revision>45</cp:revision>
  <dcterms:created xsi:type="dcterms:W3CDTF">2018-11-23T12:39:02Z</dcterms:created>
  <dcterms:modified xsi:type="dcterms:W3CDTF">2018-11-30T17:03:16Z</dcterms:modified>
</cp:coreProperties>
</file>