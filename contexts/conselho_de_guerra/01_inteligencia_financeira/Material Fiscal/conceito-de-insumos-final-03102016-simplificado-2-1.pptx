
<file path=[Content_Types].xml><?xml version="1.0" encoding="utf-8"?>
<Types xmlns="http://schemas.openxmlformats.org/package/2006/content-types">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9" r:id="rId1"/>
  </p:sldMasterIdLst>
  <p:notesMasterIdLst>
    <p:notesMasterId r:id="rId49"/>
  </p:notesMasterIdLst>
  <p:sldIdLst>
    <p:sldId id="261" r:id="rId2"/>
    <p:sldId id="367" r:id="rId3"/>
    <p:sldId id="363" r:id="rId4"/>
    <p:sldId id="349" r:id="rId5"/>
    <p:sldId id="360" r:id="rId6"/>
    <p:sldId id="366" r:id="rId7"/>
    <p:sldId id="350" r:id="rId8"/>
    <p:sldId id="355" r:id="rId9"/>
    <p:sldId id="356" r:id="rId10"/>
    <p:sldId id="348" r:id="rId11"/>
    <p:sldId id="310" r:id="rId12"/>
    <p:sldId id="353" r:id="rId13"/>
    <p:sldId id="347" r:id="rId14"/>
    <p:sldId id="334" r:id="rId15"/>
    <p:sldId id="381" r:id="rId16"/>
    <p:sldId id="331" r:id="rId17"/>
    <p:sldId id="320" r:id="rId18"/>
    <p:sldId id="321" r:id="rId19"/>
    <p:sldId id="322" r:id="rId20"/>
    <p:sldId id="335" r:id="rId21"/>
    <p:sldId id="336" r:id="rId22"/>
    <p:sldId id="337" r:id="rId23"/>
    <p:sldId id="338" r:id="rId24"/>
    <p:sldId id="373" r:id="rId25"/>
    <p:sldId id="371" r:id="rId26"/>
    <p:sldId id="329" r:id="rId27"/>
    <p:sldId id="333" r:id="rId28"/>
    <p:sldId id="266" r:id="rId29"/>
    <p:sldId id="269" r:id="rId30"/>
    <p:sldId id="387" r:id="rId31"/>
    <p:sldId id="326" r:id="rId32"/>
    <p:sldId id="279" r:id="rId33"/>
    <p:sldId id="325" r:id="rId34"/>
    <p:sldId id="369" r:id="rId35"/>
    <p:sldId id="280" r:id="rId36"/>
    <p:sldId id="315" r:id="rId37"/>
    <p:sldId id="281" r:id="rId38"/>
    <p:sldId id="283" r:id="rId39"/>
    <p:sldId id="304" r:id="rId40"/>
    <p:sldId id="305" r:id="rId41"/>
    <p:sldId id="306" r:id="rId42"/>
    <p:sldId id="302" r:id="rId43"/>
    <p:sldId id="380" r:id="rId44"/>
    <p:sldId id="286" r:id="rId45"/>
    <p:sldId id="313" r:id="rId46"/>
    <p:sldId id="378" r:id="rId47"/>
    <p:sldId id="352" r:id="rId4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82" autoAdjust="0"/>
    <p:restoredTop sz="94660"/>
  </p:normalViewPr>
  <p:slideViewPr>
    <p:cSldViewPr snapToGrid="0">
      <p:cViewPr varScale="1">
        <p:scale>
          <a:sx n="57" d="100"/>
          <a:sy n="57" d="100"/>
        </p:scale>
        <p:origin x="48"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Planilha_do_Microsoft_Excel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'Plan1 (2)'!$R$5</c:f>
              <c:strCache>
                <c:ptCount val="1"/>
                <c:pt idx="0">
                  <c:v>PART. PROCESSO</c:v>
                </c:pt>
              </c:strCache>
            </c:strRef>
          </c:tx>
          <c:spPr>
            <a:solidFill>
              <a:srgbClr val="4F81BD"/>
            </a:solidFill>
            <a:ln w="25400">
              <a:noFill/>
            </a:ln>
          </c:spPr>
          <c:invertIfNegative val="0"/>
          <c:dLbls>
            <c:numFmt formatCode="0.0%" sourceLinked="0"/>
            <c:spPr>
              <a:noFill/>
              <a:ln w="25400">
                <a:noFill/>
              </a:ln>
            </c:spPr>
            <c:txPr>
              <a:bodyPr rot="0" spcFirstLastPara="1" vertOverflow="ellipsis" vert="horz" wrap="square" lIns="38100" tIns="19050" rIns="38100" bIns="19050" anchor="ctr" anchorCtr="1">
                <a:spAutoFit/>
              </a:bodyPr>
              <a:lstStyle/>
              <a:p>
                <a:pPr>
                  <a:defRPr sz="28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'Plan1 (2)'!$Q$6:$Q$11</c:f>
              <c:strCache>
                <c:ptCount val="5"/>
                <c:pt idx="0">
                  <c:v>0 a 10 mil</c:v>
                </c:pt>
                <c:pt idx="1">
                  <c:v>10 mil a 500 mil</c:v>
                </c:pt>
                <c:pt idx="2">
                  <c:v>500 mil a 15 milhões</c:v>
                </c:pt>
                <c:pt idx="3">
                  <c:v>15 milhões a 100 milhões</c:v>
                </c:pt>
                <c:pt idx="4">
                  <c:v>Acima de 100 milhões</c:v>
                </c:pt>
              </c:strCache>
            </c:strRef>
          </c:cat>
          <c:val>
            <c:numRef>
              <c:f>'Plan1 (2)'!$R$6:$R$11</c:f>
              <c:numCache>
                <c:formatCode>0.00%</c:formatCode>
                <c:ptCount val="6"/>
                <c:pt idx="0">
                  <c:v>0.33675798125426326</c:v>
                </c:pt>
                <c:pt idx="1">
                  <c:v>0.44620916738949196</c:v>
                </c:pt>
                <c:pt idx="2">
                  <c:v>0.18179827700910339</c:v>
                </c:pt>
                <c:pt idx="3">
                  <c:v>2.7781754486429132E-2</c:v>
                </c:pt>
                <c:pt idx="4">
                  <c:v>7.4528198607122708E-3</c:v>
                </c:pt>
              </c:numCache>
            </c:numRef>
          </c:val>
        </c:ser>
        <c:ser>
          <c:idx val="1"/>
          <c:order val="1"/>
          <c:tx>
            <c:strRef>
              <c:f>'Plan1 (2)'!$S$5</c:f>
              <c:strCache>
                <c:ptCount val="1"/>
                <c:pt idx="0">
                  <c:v>PART. VALOR</c:v>
                </c:pt>
              </c:strCache>
            </c:strRef>
          </c:tx>
          <c:spPr>
            <a:solidFill>
              <a:srgbClr val="C0504D"/>
            </a:solidFill>
            <a:ln w="25400">
              <a:noFill/>
            </a:ln>
          </c:spPr>
          <c:invertIfNegative val="0"/>
          <c:dLbls>
            <c:numFmt formatCode="0.0%" sourceLinked="0"/>
            <c:spPr>
              <a:noFill/>
              <a:ln w="25400">
                <a:noFill/>
              </a:ln>
            </c:spPr>
            <c:txPr>
              <a:bodyPr rot="0" spcFirstLastPara="1" vertOverflow="ellipsis" vert="horz" wrap="square" lIns="38100" tIns="19050" rIns="38100" bIns="19050" anchor="ctr" anchorCtr="1">
                <a:spAutoFit/>
              </a:bodyPr>
              <a:lstStyle/>
              <a:p>
                <a:pPr>
                  <a:defRPr sz="28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'Plan1 (2)'!$Q$6:$Q$11</c:f>
              <c:strCache>
                <c:ptCount val="5"/>
                <c:pt idx="0">
                  <c:v>0 a 10 mil</c:v>
                </c:pt>
                <c:pt idx="1">
                  <c:v>10 mil a 500 mil</c:v>
                </c:pt>
                <c:pt idx="2">
                  <c:v>500 mil a 15 milhões</c:v>
                </c:pt>
                <c:pt idx="3">
                  <c:v>15 milhões a 100 milhões</c:v>
                </c:pt>
                <c:pt idx="4">
                  <c:v>Acima de 100 milhões</c:v>
                </c:pt>
              </c:strCache>
            </c:strRef>
          </c:cat>
          <c:val>
            <c:numRef>
              <c:f>'Plan1 (2)'!$S$6:$S$11</c:f>
              <c:numCache>
                <c:formatCode>0.00%</c:formatCode>
                <c:ptCount val="6"/>
                <c:pt idx="0">
                  <c:v>1.6645639404539047E-4</c:v>
                </c:pt>
                <c:pt idx="1">
                  <c:v>9.4627088970155471E-3</c:v>
                </c:pt>
                <c:pt idx="2">
                  <c:v>0.1142661193986957</c:v>
                </c:pt>
                <c:pt idx="3">
                  <c:v>0.20726367482576161</c:v>
                </c:pt>
                <c:pt idx="4">
                  <c:v>0.66884104048448167</c:v>
                </c:pt>
              </c:numCache>
            </c:numRef>
          </c:val>
        </c:ser>
        <c:dLbls>
          <c:showLegendKey val="0"/>
          <c:showVal val="0"/>
          <c:showCatName val="0"/>
          <c:showSerName val="0"/>
          <c:showPercent val="0"/>
          <c:showBubbleSize val="0"/>
        </c:dLbls>
        <c:gapWidth val="219"/>
        <c:overlap val="-27"/>
        <c:axId val="256582512"/>
        <c:axId val="296480632"/>
      </c:barChart>
      <c:catAx>
        <c:axId val="2565825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pPr>
            <a:endParaRPr lang="pt-BR"/>
          </a:p>
        </c:txPr>
        <c:crossAx val="296480632"/>
        <c:crosses val="autoZero"/>
        <c:auto val="1"/>
        <c:lblAlgn val="ctr"/>
        <c:lblOffset val="100"/>
        <c:noMultiLvlLbl val="0"/>
      </c:catAx>
      <c:valAx>
        <c:axId val="29648063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ln w="9525">
            <a:noFill/>
          </a:ln>
        </c:spPr>
        <c:txPr>
          <a:bodyPr rot="-60000000" spcFirstLastPara="1" vertOverflow="ellipsis" vert="horz" wrap="square" anchor="ctr" anchorCtr="1"/>
          <a:lstStyle/>
          <a:p>
            <a:pPr>
              <a:defRPr sz="2400" b="1" i="0" u="none" strike="noStrike" kern="1200" baseline="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pPr>
            <a:endParaRPr lang="pt-BR"/>
          </a:p>
        </c:txPr>
        <c:crossAx val="256582512"/>
        <c:crosses val="autoZero"/>
        <c:crossBetween val="between"/>
      </c:valAx>
      <c:spPr>
        <a:noFill/>
        <a:ln w="25400">
          <a:noFill/>
        </a:ln>
      </c:spPr>
    </c:plotArea>
    <c:legend>
      <c:legendPos val="b"/>
      <c:overlay val="0"/>
      <c:spPr>
        <a:noFill/>
        <a:ln w="25400">
          <a:noFill/>
        </a:ln>
      </c:spPr>
      <c:txPr>
        <a:bodyPr rot="0" spcFirstLastPara="1" vertOverflow="ellipsis" vert="horz" wrap="square" anchor="ctr" anchorCtr="1"/>
        <a:lstStyle/>
        <a:p>
          <a:pPr>
            <a:defRPr sz="2800" b="1" i="0" u="none" strike="noStrike" kern="1200" baseline="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pPr>
          <a:endParaRPr lang="pt-B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pt-BR"/>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1BF82B-7940-47BD-8F5C-F83D6FBC5CCC}" type="doc">
      <dgm:prSet loTypeId="urn:microsoft.com/office/officeart/2005/8/layout/pyramid1" loCatId="pyramid" qsTypeId="urn:microsoft.com/office/officeart/2005/8/quickstyle/simple1" qsCatId="simple" csTypeId="urn:microsoft.com/office/officeart/2005/8/colors/accent6_5" csCatId="accent6" phldr="1"/>
      <dgm:spPr/>
    </dgm:pt>
    <dgm:pt modelId="{E672FFE2-2494-4D69-B2F0-88E76AA7B623}">
      <dgm:prSet phldrT="[Texto]" custT="1"/>
      <dgm:spPr>
        <a:scene3d>
          <a:camera prst="perspectiveFront"/>
          <a:lightRig rig="threePt" dir="t"/>
        </a:scene3d>
        <a:sp3d/>
      </dgm:spPr>
      <dgm:t>
        <a:bodyPr/>
        <a:lstStyle/>
        <a:p>
          <a:r>
            <a:rPr lang="pt-BR" sz="3200" b="1" dirty="0" smtClean="0">
              <a:effectLst>
                <a:outerShdw blurRad="38100" dist="38100" dir="2700000" algn="tl">
                  <a:srgbClr val="000000">
                    <a:alpha val="43137"/>
                  </a:srgbClr>
                </a:outerShdw>
              </a:effectLst>
            </a:rPr>
            <a:t>CONSTITUIÇÃO</a:t>
          </a:r>
          <a:endParaRPr lang="pt-BR" sz="2800" b="1" dirty="0" smtClean="0">
            <a:effectLst>
              <a:outerShdw blurRad="38100" dist="38100" dir="2700000" algn="tl">
                <a:srgbClr val="000000">
                  <a:alpha val="43137"/>
                </a:srgbClr>
              </a:outerShdw>
            </a:effectLst>
          </a:endParaRPr>
        </a:p>
      </dgm:t>
    </dgm:pt>
    <dgm:pt modelId="{67BE80B4-77E3-46A9-BBDD-94D7AE0F1292}" type="parTrans" cxnId="{4B590EDD-4F22-4669-84AE-FCC8F9CAA2D0}">
      <dgm:prSet/>
      <dgm:spPr/>
      <dgm:t>
        <a:bodyPr/>
        <a:lstStyle/>
        <a:p>
          <a:endParaRPr lang="pt-BR"/>
        </a:p>
      </dgm:t>
    </dgm:pt>
    <dgm:pt modelId="{67EF1085-350C-45E4-85F1-A6890527520E}" type="sibTrans" cxnId="{4B590EDD-4F22-4669-84AE-FCC8F9CAA2D0}">
      <dgm:prSet/>
      <dgm:spPr/>
      <dgm:t>
        <a:bodyPr/>
        <a:lstStyle/>
        <a:p>
          <a:endParaRPr lang="pt-BR"/>
        </a:p>
      </dgm:t>
    </dgm:pt>
    <dgm:pt modelId="{D946510C-A4DA-4616-B560-7819D8B2BB14}">
      <dgm:prSet phldrT="[Texto]" custT="1"/>
      <dgm:spPr/>
      <dgm:t>
        <a:bodyPr/>
        <a:lstStyle/>
        <a:p>
          <a:r>
            <a:rPr lang="pt-BR" sz="3200" b="1" smtClean="0">
              <a:effectLst>
                <a:outerShdw blurRad="38100" dist="38100" dir="2700000" algn="tl">
                  <a:srgbClr val="000000">
                    <a:alpha val="43137"/>
                  </a:srgbClr>
                </a:outerShdw>
              </a:effectLst>
            </a:rPr>
            <a:t>INSTRUÇÕES – PORTARIAS </a:t>
          </a:r>
          <a:endParaRPr lang="pt-BR" sz="3200" b="1" dirty="0">
            <a:effectLst>
              <a:outerShdw blurRad="38100" dist="38100" dir="2700000" algn="tl">
                <a:srgbClr val="000000">
                  <a:alpha val="43137"/>
                </a:srgbClr>
              </a:outerShdw>
            </a:effectLst>
          </a:endParaRPr>
        </a:p>
      </dgm:t>
    </dgm:pt>
    <dgm:pt modelId="{BBF6219F-363B-46FF-9285-BD08BBE66B8B}" type="parTrans" cxnId="{5D2D723B-D541-45C4-B594-22EBEC5D72FD}">
      <dgm:prSet/>
      <dgm:spPr/>
      <dgm:t>
        <a:bodyPr/>
        <a:lstStyle/>
        <a:p>
          <a:endParaRPr lang="pt-BR"/>
        </a:p>
      </dgm:t>
    </dgm:pt>
    <dgm:pt modelId="{B3E8C980-5398-46E2-9743-B45747F44617}" type="sibTrans" cxnId="{5D2D723B-D541-45C4-B594-22EBEC5D72FD}">
      <dgm:prSet/>
      <dgm:spPr/>
      <dgm:t>
        <a:bodyPr/>
        <a:lstStyle/>
        <a:p>
          <a:endParaRPr lang="pt-BR"/>
        </a:p>
      </dgm:t>
    </dgm:pt>
    <dgm:pt modelId="{E6E734B9-982E-419A-84DE-3CDA1C8552C7}">
      <dgm:prSet phldrT="[Texto]" custT="1"/>
      <dgm:spPr/>
      <dgm:t>
        <a:bodyPr/>
        <a:lstStyle/>
        <a:p>
          <a:r>
            <a:rPr lang="pt-BR" sz="3200" b="1" dirty="0" smtClean="0">
              <a:effectLst>
                <a:outerShdw blurRad="38100" dist="38100" dir="2700000" algn="tl">
                  <a:srgbClr val="000000">
                    <a:alpha val="43137"/>
                  </a:srgbClr>
                </a:outerShdw>
              </a:effectLst>
            </a:rPr>
            <a:t>LEGISLAÇÃO INFRA-LEGAL</a:t>
          </a:r>
          <a:endParaRPr lang="pt-BR" sz="3200" b="1" dirty="0">
            <a:effectLst>
              <a:outerShdw blurRad="38100" dist="38100" dir="2700000" algn="tl">
                <a:srgbClr val="000000">
                  <a:alpha val="43137"/>
                </a:srgbClr>
              </a:outerShdw>
            </a:effectLst>
          </a:endParaRPr>
        </a:p>
      </dgm:t>
    </dgm:pt>
    <dgm:pt modelId="{25FA31A2-9484-4D0E-9698-6663FFF7DB04}" type="sibTrans" cxnId="{195AE389-975B-47D3-8754-48514713C352}">
      <dgm:prSet/>
      <dgm:spPr/>
      <dgm:t>
        <a:bodyPr/>
        <a:lstStyle/>
        <a:p>
          <a:endParaRPr lang="pt-BR"/>
        </a:p>
      </dgm:t>
    </dgm:pt>
    <dgm:pt modelId="{FE5F180C-D7D9-4052-AFBC-85F5EDA2F914}" type="parTrans" cxnId="{195AE389-975B-47D3-8754-48514713C352}">
      <dgm:prSet/>
      <dgm:spPr/>
      <dgm:t>
        <a:bodyPr/>
        <a:lstStyle/>
        <a:p>
          <a:endParaRPr lang="pt-BR"/>
        </a:p>
      </dgm:t>
    </dgm:pt>
    <dgm:pt modelId="{9AAA0E8E-D0DF-4F1F-B17F-0D187E01F552}" type="pres">
      <dgm:prSet presAssocID="{721BF82B-7940-47BD-8F5C-F83D6FBC5CCC}" presName="Name0" presStyleCnt="0">
        <dgm:presLayoutVars>
          <dgm:dir/>
          <dgm:animLvl val="lvl"/>
          <dgm:resizeHandles val="exact"/>
        </dgm:presLayoutVars>
      </dgm:prSet>
      <dgm:spPr/>
    </dgm:pt>
    <dgm:pt modelId="{4B0638BF-791B-4629-A637-7B8A4BA515F2}" type="pres">
      <dgm:prSet presAssocID="{E672FFE2-2494-4D69-B2F0-88E76AA7B623}" presName="Name8" presStyleCnt="0"/>
      <dgm:spPr/>
    </dgm:pt>
    <dgm:pt modelId="{68BADBE9-91C7-4063-BF56-F87B185FBD47}" type="pres">
      <dgm:prSet presAssocID="{E672FFE2-2494-4D69-B2F0-88E76AA7B623}" presName="level" presStyleLbl="node1" presStyleIdx="0" presStyleCnt="3">
        <dgm:presLayoutVars>
          <dgm:chMax val="1"/>
          <dgm:bulletEnabled val="1"/>
        </dgm:presLayoutVars>
      </dgm:prSet>
      <dgm:spPr/>
      <dgm:t>
        <a:bodyPr/>
        <a:lstStyle/>
        <a:p>
          <a:endParaRPr lang="pt-BR"/>
        </a:p>
      </dgm:t>
    </dgm:pt>
    <dgm:pt modelId="{40B74A00-E848-480B-B539-D8B75209A491}" type="pres">
      <dgm:prSet presAssocID="{E672FFE2-2494-4D69-B2F0-88E76AA7B623}" presName="levelTx" presStyleLbl="revTx" presStyleIdx="0" presStyleCnt="0">
        <dgm:presLayoutVars>
          <dgm:chMax val="1"/>
          <dgm:bulletEnabled val="1"/>
        </dgm:presLayoutVars>
      </dgm:prSet>
      <dgm:spPr/>
      <dgm:t>
        <a:bodyPr/>
        <a:lstStyle/>
        <a:p>
          <a:endParaRPr lang="pt-BR"/>
        </a:p>
      </dgm:t>
    </dgm:pt>
    <dgm:pt modelId="{47983E04-6201-4E77-8E46-55ED2114EA86}" type="pres">
      <dgm:prSet presAssocID="{E6E734B9-982E-419A-84DE-3CDA1C8552C7}" presName="Name8" presStyleCnt="0"/>
      <dgm:spPr/>
    </dgm:pt>
    <dgm:pt modelId="{464337D8-C6E6-49AE-B193-EF330705C250}" type="pres">
      <dgm:prSet presAssocID="{E6E734B9-982E-419A-84DE-3CDA1C8552C7}" presName="level" presStyleLbl="node1" presStyleIdx="1" presStyleCnt="3" custScaleX="99922">
        <dgm:presLayoutVars>
          <dgm:chMax val="1"/>
          <dgm:bulletEnabled val="1"/>
        </dgm:presLayoutVars>
      </dgm:prSet>
      <dgm:spPr/>
      <dgm:t>
        <a:bodyPr/>
        <a:lstStyle/>
        <a:p>
          <a:endParaRPr lang="pt-BR"/>
        </a:p>
      </dgm:t>
    </dgm:pt>
    <dgm:pt modelId="{50C4FDB5-D665-49B8-A108-281CA3318F8E}" type="pres">
      <dgm:prSet presAssocID="{E6E734B9-982E-419A-84DE-3CDA1C8552C7}" presName="levelTx" presStyleLbl="revTx" presStyleIdx="0" presStyleCnt="0">
        <dgm:presLayoutVars>
          <dgm:chMax val="1"/>
          <dgm:bulletEnabled val="1"/>
        </dgm:presLayoutVars>
      </dgm:prSet>
      <dgm:spPr/>
      <dgm:t>
        <a:bodyPr/>
        <a:lstStyle/>
        <a:p>
          <a:endParaRPr lang="pt-BR"/>
        </a:p>
      </dgm:t>
    </dgm:pt>
    <dgm:pt modelId="{0EDD9751-F58A-4285-94C1-B569A50FCD80}" type="pres">
      <dgm:prSet presAssocID="{D946510C-A4DA-4616-B560-7819D8B2BB14}" presName="Name8" presStyleCnt="0"/>
      <dgm:spPr/>
    </dgm:pt>
    <dgm:pt modelId="{C86F1267-1A51-4D2F-83FD-A1641BAAE0EE}" type="pres">
      <dgm:prSet presAssocID="{D946510C-A4DA-4616-B560-7819D8B2BB14}" presName="level" presStyleLbl="node1" presStyleIdx="2" presStyleCnt="3">
        <dgm:presLayoutVars>
          <dgm:chMax val="1"/>
          <dgm:bulletEnabled val="1"/>
        </dgm:presLayoutVars>
      </dgm:prSet>
      <dgm:spPr/>
      <dgm:t>
        <a:bodyPr/>
        <a:lstStyle/>
        <a:p>
          <a:endParaRPr lang="pt-BR"/>
        </a:p>
      </dgm:t>
    </dgm:pt>
    <dgm:pt modelId="{F9D7E511-3020-4BC2-A5D0-9310F18834E6}" type="pres">
      <dgm:prSet presAssocID="{D946510C-A4DA-4616-B560-7819D8B2BB14}" presName="levelTx" presStyleLbl="revTx" presStyleIdx="0" presStyleCnt="0">
        <dgm:presLayoutVars>
          <dgm:chMax val="1"/>
          <dgm:bulletEnabled val="1"/>
        </dgm:presLayoutVars>
      </dgm:prSet>
      <dgm:spPr/>
      <dgm:t>
        <a:bodyPr/>
        <a:lstStyle/>
        <a:p>
          <a:endParaRPr lang="pt-BR"/>
        </a:p>
      </dgm:t>
    </dgm:pt>
  </dgm:ptLst>
  <dgm:cxnLst>
    <dgm:cxn modelId="{95A24A85-B68E-4AAE-902D-C9A85CA954E5}" type="presOf" srcId="{D946510C-A4DA-4616-B560-7819D8B2BB14}" destId="{C86F1267-1A51-4D2F-83FD-A1641BAAE0EE}" srcOrd="0" destOrd="0" presId="urn:microsoft.com/office/officeart/2005/8/layout/pyramid1"/>
    <dgm:cxn modelId="{593E5C5A-A831-4EE4-84CF-661978FE368A}" type="presOf" srcId="{721BF82B-7940-47BD-8F5C-F83D6FBC5CCC}" destId="{9AAA0E8E-D0DF-4F1F-B17F-0D187E01F552}" srcOrd="0" destOrd="0" presId="urn:microsoft.com/office/officeart/2005/8/layout/pyramid1"/>
    <dgm:cxn modelId="{F16D23E7-A0CD-408E-A190-25B3F351FD75}" type="presOf" srcId="{D946510C-A4DA-4616-B560-7819D8B2BB14}" destId="{F9D7E511-3020-4BC2-A5D0-9310F18834E6}" srcOrd="1" destOrd="0" presId="urn:microsoft.com/office/officeart/2005/8/layout/pyramid1"/>
    <dgm:cxn modelId="{0A642E4E-59AA-4377-97E4-CD248074D1CE}" type="presOf" srcId="{E6E734B9-982E-419A-84DE-3CDA1C8552C7}" destId="{464337D8-C6E6-49AE-B193-EF330705C250}" srcOrd="0" destOrd="0" presId="urn:microsoft.com/office/officeart/2005/8/layout/pyramid1"/>
    <dgm:cxn modelId="{8D5F867F-6D2D-4115-928F-1117F6EABB9A}" type="presOf" srcId="{E672FFE2-2494-4D69-B2F0-88E76AA7B623}" destId="{68BADBE9-91C7-4063-BF56-F87B185FBD47}" srcOrd="0" destOrd="0" presId="urn:microsoft.com/office/officeart/2005/8/layout/pyramid1"/>
    <dgm:cxn modelId="{A48990A4-9AB2-4A7F-B1A0-F23D1590FB17}" type="presOf" srcId="{E672FFE2-2494-4D69-B2F0-88E76AA7B623}" destId="{40B74A00-E848-480B-B539-D8B75209A491}" srcOrd="1" destOrd="0" presId="urn:microsoft.com/office/officeart/2005/8/layout/pyramid1"/>
    <dgm:cxn modelId="{195AE389-975B-47D3-8754-48514713C352}" srcId="{721BF82B-7940-47BD-8F5C-F83D6FBC5CCC}" destId="{E6E734B9-982E-419A-84DE-3CDA1C8552C7}" srcOrd="1" destOrd="0" parTransId="{FE5F180C-D7D9-4052-AFBC-85F5EDA2F914}" sibTransId="{25FA31A2-9484-4D0E-9698-6663FFF7DB04}"/>
    <dgm:cxn modelId="{8BDF1653-1B18-48D9-B45C-449AEBD61468}" type="presOf" srcId="{E6E734B9-982E-419A-84DE-3CDA1C8552C7}" destId="{50C4FDB5-D665-49B8-A108-281CA3318F8E}" srcOrd="1" destOrd="0" presId="urn:microsoft.com/office/officeart/2005/8/layout/pyramid1"/>
    <dgm:cxn modelId="{4B590EDD-4F22-4669-84AE-FCC8F9CAA2D0}" srcId="{721BF82B-7940-47BD-8F5C-F83D6FBC5CCC}" destId="{E672FFE2-2494-4D69-B2F0-88E76AA7B623}" srcOrd="0" destOrd="0" parTransId="{67BE80B4-77E3-46A9-BBDD-94D7AE0F1292}" sibTransId="{67EF1085-350C-45E4-85F1-A6890527520E}"/>
    <dgm:cxn modelId="{5D2D723B-D541-45C4-B594-22EBEC5D72FD}" srcId="{721BF82B-7940-47BD-8F5C-F83D6FBC5CCC}" destId="{D946510C-A4DA-4616-B560-7819D8B2BB14}" srcOrd="2" destOrd="0" parTransId="{BBF6219F-363B-46FF-9285-BD08BBE66B8B}" sibTransId="{B3E8C980-5398-46E2-9743-B45747F44617}"/>
    <dgm:cxn modelId="{50B95C0B-AED3-4636-A10E-35D3ACDFF2E3}" type="presParOf" srcId="{9AAA0E8E-D0DF-4F1F-B17F-0D187E01F552}" destId="{4B0638BF-791B-4629-A637-7B8A4BA515F2}" srcOrd="0" destOrd="0" presId="urn:microsoft.com/office/officeart/2005/8/layout/pyramid1"/>
    <dgm:cxn modelId="{02822B65-0EFC-4688-8B25-9B6198213538}" type="presParOf" srcId="{4B0638BF-791B-4629-A637-7B8A4BA515F2}" destId="{68BADBE9-91C7-4063-BF56-F87B185FBD47}" srcOrd="0" destOrd="0" presId="urn:microsoft.com/office/officeart/2005/8/layout/pyramid1"/>
    <dgm:cxn modelId="{79AEFEF0-A9AF-4C16-9AFC-A5F81BC11E79}" type="presParOf" srcId="{4B0638BF-791B-4629-A637-7B8A4BA515F2}" destId="{40B74A00-E848-480B-B539-D8B75209A491}" srcOrd="1" destOrd="0" presId="urn:microsoft.com/office/officeart/2005/8/layout/pyramid1"/>
    <dgm:cxn modelId="{C618F2E5-0A12-4E39-96F7-0C6317D50E24}" type="presParOf" srcId="{9AAA0E8E-D0DF-4F1F-B17F-0D187E01F552}" destId="{47983E04-6201-4E77-8E46-55ED2114EA86}" srcOrd="1" destOrd="0" presId="urn:microsoft.com/office/officeart/2005/8/layout/pyramid1"/>
    <dgm:cxn modelId="{D48AB729-E17D-4D85-AFF0-BBD5A09DA545}" type="presParOf" srcId="{47983E04-6201-4E77-8E46-55ED2114EA86}" destId="{464337D8-C6E6-49AE-B193-EF330705C250}" srcOrd="0" destOrd="0" presId="urn:microsoft.com/office/officeart/2005/8/layout/pyramid1"/>
    <dgm:cxn modelId="{6027C564-E54B-4052-805D-A1A9D3E40A31}" type="presParOf" srcId="{47983E04-6201-4E77-8E46-55ED2114EA86}" destId="{50C4FDB5-D665-49B8-A108-281CA3318F8E}" srcOrd="1" destOrd="0" presId="urn:microsoft.com/office/officeart/2005/8/layout/pyramid1"/>
    <dgm:cxn modelId="{4E5247F0-B7BB-4952-8E20-03DF505B88F5}" type="presParOf" srcId="{9AAA0E8E-D0DF-4F1F-B17F-0D187E01F552}" destId="{0EDD9751-F58A-4285-94C1-B569A50FCD80}" srcOrd="2" destOrd="0" presId="urn:microsoft.com/office/officeart/2005/8/layout/pyramid1"/>
    <dgm:cxn modelId="{0A9B9BC8-D727-47D8-9894-C4C1A4676DF7}" type="presParOf" srcId="{0EDD9751-F58A-4285-94C1-B569A50FCD80}" destId="{C86F1267-1A51-4D2F-83FD-A1641BAAE0EE}" srcOrd="0" destOrd="0" presId="urn:microsoft.com/office/officeart/2005/8/layout/pyramid1"/>
    <dgm:cxn modelId="{B2A3ACAC-8890-420E-A1C3-08522596C11C}" type="presParOf" srcId="{0EDD9751-F58A-4285-94C1-B569A50FCD80}" destId="{F9D7E511-3020-4BC2-A5D0-9310F18834E6}"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621F0B-200E-41BE-AF53-B6655129993B}"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pt-BR"/>
        </a:p>
      </dgm:t>
    </dgm:pt>
    <dgm:pt modelId="{A1F7AC69-E122-4AA8-9A92-C64700DC9F28}">
      <dgm:prSet phldrT="[Texto]"/>
      <dgm:spPr>
        <a:solidFill>
          <a:schemeClr val="accent3">
            <a:lumMod val="40000"/>
            <a:lumOff val="60000"/>
          </a:schemeClr>
        </a:solidFill>
      </dgm:spPr>
      <dgm:t>
        <a:bodyPr/>
        <a:lstStyle/>
        <a:p>
          <a:r>
            <a:rPr lang="pt-BR" b="1" dirty="0" smtClean="0">
              <a:solidFill>
                <a:schemeClr val="tx1"/>
              </a:solidFill>
              <a:effectLst>
                <a:outerShdw blurRad="38100" dist="38100" dir="2700000" algn="tl">
                  <a:srgbClr val="000000">
                    <a:alpha val="43137"/>
                  </a:srgbClr>
                </a:outerShdw>
              </a:effectLst>
            </a:rPr>
            <a:t>QUAL O CAMINHO ?</a:t>
          </a:r>
          <a:endParaRPr lang="pt-BR" b="1" dirty="0">
            <a:solidFill>
              <a:schemeClr val="tx1"/>
            </a:solidFill>
            <a:effectLst>
              <a:outerShdw blurRad="38100" dist="38100" dir="2700000" algn="tl">
                <a:srgbClr val="000000">
                  <a:alpha val="43137"/>
                </a:srgbClr>
              </a:outerShdw>
            </a:effectLst>
          </a:endParaRPr>
        </a:p>
      </dgm:t>
    </dgm:pt>
    <dgm:pt modelId="{7CEF1FCB-A017-4443-84BC-AB8847D802CA}" type="parTrans" cxnId="{ED472DED-4C55-4E8B-82CB-197AEBCA1D0F}">
      <dgm:prSet/>
      <dgm:spPr/>
      <dgm:t>
        <a:bodyPr/>
        <a:lstStyle/>
        <a:p>
          <a:endParaRPr lang="pt-BR"/>
        </a:p>
      </dgm:t>
    </dgm:pt>
    <dgm:pt modelId="{8398F6AF-6061-46B7-BBF4-BB11986568DC}" type="sibTrans" cxnId="{ED472DED-4C55-4E8B-82CB-197AEBCA1D0F}">
      <dgm:prSet/>
      <dgm:spPr/>
      <dgm:t>
        <a:bodyPr/>
        <a:lstStyle/>
        <a:p>
          <a:endParaRPr lang="pt-BR"/>
        </a:p>
      </dgm:t>
    </dgm:pt>
    <dgm:pt modelId="{1FCECAD2-1B52-41AB-8FAA-05994A7F91B5}">
      <dgm:prSet phldrT="[Texto]"/>
      <dgm:spPr>
        <a:solidFill>
          <a:schemeClr val="accent3">
            <a:lumMod val="40000"/>
            <a:lumOff val="60000"/>
          </a:schemeClr>
        </a:solidFill>
      </dgm:spPr>
      <dgm:t>
        <a:bodyPr/>
        <a:lstStyle/>
        <a:p>
          <a:r>
            <a:rPr lang="pt-BR" b="1" dirty="0" smtClean="0">
              <a:solidFill>
                <a:schemeClr val="tx1"/>
              </a:solidFill>
              <a:effectLst>
                <a:outerShdw blurRad="38100" dist="38100" dir="2700000" algn="tl">
                  <a:srgbClr val="000000">
                    <a:alpha val="43137"/>
                  </a:srgbClr>
                </a:outerShdw>
              </a:effectLst>
            </a:rPr>
            <a:t>VISÃO </a:t>
          </a:r>
        </a:p>
        <a:p>
          <a:r>
            <a:rPr lang="pt-BR" b="1" dirty="0" smtClean="0">
              <a:solidFill>
                <a:schemeClr val="tx1"/>
              </a:solidFill>
              <a:effectLst>
                <a:outerShdw blurRad="38100" dist="38100" dir="2700000" algn="tl">
                  <a:srgbClr val="000000">
                    <a:alpha val="43137"/>
                  </a:srgbClr>
                </a:outerShdw>
              </a:effectLst>
            </a:rPr>
            <a:t>LEGAL</a:t>
          </a:r>
          <a:endParaRPr lang="pt-BR" b="1" dirty="0">
            <a:solidFill>
              <a:schemeClr val="tx1"/>
            </a:solidFill>
            <a:effectLst>
              <a:outerShdw blurRad="38100" dist="38100" dir="2700000" algn="tl">
                <a:srgbClr val="000000">
                  <a:alpha val="43137"/>
                </a:srgbClr>
              </a:outerShdw>
            </a:effectLst>
          </a:endParaRPr>
        </a:p>
      </dgm:t>
    </dgm:pt>
    <dgm:pt modelId="{3A02B6CE-DC79-40E7-8EA4-47CE86606813}" type="parTrans" cxnId="{26C40DDD-D454-44BC-8993-1E4A1C1FA599}">
      <dgm:prSet/>
      <dgm:spPr/>
      <dgm:t>
        <a:bodyPr/>
        <a:lstStyle/>
        <a:p>
          <a:endParaRPr lang="pt-BR"/>
        </a:p>
      </dgm:t>
    </dgm:pt>
    <dgm:pt modelId="{E876D704-4228-4DC6-93A2-A6C23F411B0B}" type="sibTrans" cxnId="{26C40DDD-D454-44BC-8993-1E4A1C1FA599}">
      <dgm:prSet/>
      <dgm:spPr/>
      <dgm:t>
        <a:bodyPr/>
        <a:lstStyle/>
        <a:p>
          <a:endParaRPr lang="pt-BR"/>
        </a:p>
      </dgm:t>
    </dgm:pt>
    <dgm:pt modelId="{01E29B31-3738-4B9A-8563-4CA69670D011}">
      <dgm:prSet phldrT="[Texto]"/>
      <dgm:spPr>
        <a:solidFill>
          <a:schemeClr val="accent3">
            <a:lumMod val="40000"/>
            <a:lumOff val="60000"/>
          </a:schemeClr>
        </a:solidFill>
      </dgm:spPr>
      <dgm:t>
        <a:bodyPr/>
        <a:lstStyle/>
        <a:p>
          <a:r>
            <a:rPr lang="pt-BR" b="1" dirty="0" smtClean="0">
              <a:solidFill>
                <a:schemeClr val="tx1"/>
              </a:solidFill>
              <a:effectLst>
                <a:outerShdw blurRad="38100" dist="38100" dir="2700000" algn="tl">
                  <a:srgbClr val="000000">
                    <a:alpha val="43137"/>
                  </a:srgbClr>
                </a:outerShdw>
              </a:effectLst>
            </a:rPr>
            <a:t>VISÃO CONSTITUCIONAL</a:t>
          </a:r>
          <a:endParaRPr lang="pt-BR" b="1" dirty="0">
            <a:solidFill>
              <a:schemeClr val="tx1"/>
            </a:solidFill>
            <a:effectLst>
              <a:outerShdw blurRad="38100" dist="38100" dir="2700000" algn="tl">
                <a:srgbClr val="000000">
                  <a:alpha val="43137"/>
                </a:srgbClr>
              </a:outerShdw>
            </a:effectLst>
          </a:endParaRPr>
        </a:p>
      </dgm:t>
    </dgm:pt>
    <dgm:pt modelId="{811A9C2E-7190-471E-83BD-0F69CE3B4157}" type="parTrans" cxnId="{5A2E2EE0-E535-4F08-9B4A-06582CF7F06C}">
      <dgm:prSet/>
      <dgm:spPr/>
      <dgm:t>
        <a:bodyPr/>
        <a:lstStyle/>
        <a:p>
          <a:endParaRPr lang="pt-BR"/>
        </a:p>
      </dgm:t>
    </dgm:pt>
    <dgm:pt modelId="{594E153E-23AB-4424-BF00-ABD0F63EF942}" type="sibTrans" cxnId="{5A2E2EE0-E535-4F08-9B4A-06582CF7F06C}">
      <dgm:prSet/>
      <dgm:spPr/>
      <dgm:t>
        <a:bodyPr/>
        <a:lstStyle/>
        <a:p>
          <a:endParaRPr lang="pt-BR"/>
        </a:p>
      </dgm:t>
    </dgm:pt>
    <dgm:pt modelId="{971803CC-36E3-4A04-85D3-07108FB36CAD}">
      <dgm:prSet/>
      <dgm:spPr>
        <a:solidFill>
          <a:schemeClr val="accent3">
            <a:lumMod val="40000"/>
            <a:lumOff val="60000"/>
          </a:schemeClr>
        </a:solidFill>
      </dgm:spPr>
      <dgm:t>
        <a:bodyPr/>
        <a:lstStyle/>
        <a:p>
          <a:r>
            <a:rPr lang="pt-BR" b="1" dirty="0" smtClean="0">
              <a:solidFill>
                <a:schemeClr val="tx1"/>
              </a:solidFill>
              <a:effectLst>
                <a:outerShdw blurRad="38100" dist="38100" dir="2700000" algn="tl">
                  <a:srgbClr val="000000">
                    <a:alpha val="43137"/>
                  </a:srgbClr>
                </a:outerShdw>
              </a:effectLst>
            </a:rPr>
            <a:t>AVALIAÇÃO</a:t>
          </a:r>
        </a:p>
        <a:p>
          <a:r>
            <a:rPr lang="pt-BR" b="1" dirty="0" smtClean="0">
              <a:solidFill>
                <a:schemeClr val="tx1"/>
              </a:solidFill>
              <a:effectLst>
                <a:outerShdw blurRad="38100" dist="38100" dir="2700000" algn="tl">
                  <a:srgbClr val="000000">
                    <a:alpha val="43137"/>
                  </a:srgbClr>
                </a:outerShdw>
              </a:effectLst>
            </a:rPr>
            <a:t>RISCOS FISCAIS E TRIBUTÁRIOS</a:t>
          </a:r>
          <a:endParaRPr lang="pt-BR" b="1" dirty="0">
            <a:solidFill>
              <a:schemeClr val="tx1"/>
            </a:solidFill>
            <a:effectLst>
              <a:outerShdw blurRad="38100" dist="38100" dir="2700000" algn="tl">
                <a:srgbClr val="000000">
                  <a:alpha val="43137"/>
                </a:srgbClr>
              </a:outerShdw>
            </a:effectLst>
          </a:endParaRPr>
        </a:p>
      </dgm:t>
    </dgm:pt>
    <dgm:pt modelId="{55755E42-C6DD-4D50-B1EF-3B839DA779EF}" type="parTrans" cxnId="{664783FA-8F98-4E06-BCB0-F32C8D7B3328}">
      <dgm:prSet/>
      <dgm:spPr/>
      <dgm:t>
        <a:bodyPr/>
        <a:lstStyle/>
        <a:p>
          <a:endParaRPr lang="pt-BR"/>
        </a:p>
      </dgm:t>
    </dgm:pt>
    <dgm:pt modelId="{43BDC917-E80C-427B-AF50-5171CF838DDA}" type="sibTrans" cxnId="{664783FA-8F98-4E06-BCB0-F32C8D7B3328}">
      <dgm:prSet/>
      <dgm:spPr/>
      <dgm:t>
        <a:bodyPr/>
        <a:lstStyle/>
        <a:p>
          <a:endParaRPr lang="pt-BR"/>
        </a:p>
      </dgm:t>
    </dgm:pt>
    <dgm:pt modelId="{5D92B12F-09C1-448E-A44E-2A8A2E03E081}">
      <dgm:prSet/>
      <dgm:spPr>
        <a:solidFill>
          <a:schemeClr val="accent3">
            <a:lumMod val="40000"/>
            <a:lumOff val="60000"/>
          </a:schemeClr>
        </a:solidFill>
      </dgm:spPr>
      <dgm:t>
        <a:bodyPr/>
        <a:lstStyle/>
        <a:p>
          <a:r>
            <a:rPr lang="pt-BR" b="1" dirty="0" smtClean="0">
              <a:solidFill>
                <a:schemeClr val="tx1"/>
              </a:solidFill>
              <a:effectLst>
                <a:outerShdw blurRad="38100" dist="38100" dir="2700000" algn="tl">
                  <a:srgbClr val="000000">
                    <a:alpha val="43137"/>
                  </a:srgbClr>
                </a:outerShdw>
              </a:effectLst>
            </a:rPr>
            <a:t>AVALIAÇÃO RISCOS FISCAIS E TRIBUTÁRIOS</a:t>
          </a:r>
          <a:endParaRPr lang="pt-BR" b="1" dirty="0">
            <a:solidFill>
              <a:schemeClr val="tx1"/>
            </a:solidFill>
            <a:effectLst>
              <a:outerShdw blurRad="38100" dist="38100" dir="2700000" algn="tl">
                <a:srgbClr val="000000">
                  <a:alpha val="43137"/>
                </a:srgbClr>
              </a:outerShdw>
            </a:effectLst>
          </a:endParaRPr>
        </a:p>
      </dgm:t>
    </dgm:pt>
    <dgm:pt modelId="{DCCF1920-23CA-439F-9720-742D5E112584}" type="parTrans" cxnId="{35CA8456-83B9-4672-8CC7-B67A74347EE6}">
      <dgm:prSet/>
      <dgm:spPr/>
      <dgm:t>
        <a:bodyPr/>
        <a:lstStyle/>
        <a:p>
          <a:endParaRPr lang="pt-BR"/>
        </a:p>
      </dgm:t>
    </dgm:pt>
    <dgm:pt modelId="{AD59EF91-9016-44CC-B045-1B678465FBD4}" type="sibTrans" cxnId="{35CA8456-83B9-4672-8CC7-B67A74347EE6}">
      <dgm:prSet/>
      <dgm:spPr/>
      <dgm:t>
        <a:bodyPr/>
        <a:lstStyle/>
        <a:p>
          <a:endParaRPr lang="pt-BR"/>
        </a:p>
      </dgm:t>
    </dgm:pt>
    <dgm:pt modelId="{26595C9C-79CD-421E-968A-8A3B85146BB2}" type="pres">
      <dgm:prSet presAssocID="{A1621F0B-200E-41BE-AF53-B6655129993B}" presName="hierChild1" presStyleCnt="0">
        <dgm:presLayoutVars>
          <dgm:orgChart val="1"/>
          <dgm:chPref val="1"/>
          <dgm:dir/>
          <dgm:animOne val="branch"/>
          <dgm:animLvl val="lvl"/>
          <dgm:resizeHandles/>
        </dgm:presLayoutVars>
      </dgm:prSet>
      <dgm:spPr/>
      <dgm:t>
        <a:bodyPr/>
        <a:lstStyle/>
        <a:p>
          <a:endParaRPr lang="pt-BR"/>
        </a:p>
      </dgm:t>
    </dgm:pt>
    <dgm:pt modelId="{C23D2C7D-36F5-4C9A-B2FA-822099D9DA35}" type="pres">
      <dgm:prSet presAssocID="{A1F7AC69-E122-4AA8-9A92-C64700DC9F28}" presName="hierRoot1" presStyleCnt="0">
        <dgm:presLayoutVars>
          <dgm:hierBranch val="init"/>
        </dgm:presLayoutVars>
      </dgm:prSet>
      <dgm:spPr/>
    </dgm:pt>
    <dgm:pt modelId="{3F8F302A-7E41-4A8A-9AB5-BB70A752F11D}" type="pres">
      <dgm:prSet presAssocID="{A1F7AC69-E122-4AA8-9A92-C64700DC9F28}" presName="rootComposite1" presStyleCnt="0"/>
      <dgm:spPr/>
    </dgm:pt>
    <dgm:pt modelId="{D918A012-92B2-4DF5-903F-7E15132148B9}" type="pres">
      <dgm:prSet presAssocID="{A1F7AC69-E122-4AA8-9A92-C64700DC9F28}" presName="rootText1" presStyleLbl="node0" presStyleIdx="0" presStyleCnt="1" custScaleY="68815">
        <dgm:presLayoutVars>
          <dgm:chPref val="3"/>
        </dgm:presLayoutVars>
      </dgm:prSet>
      <dgm:spPr/>
      <dgm:t>
        <a:bodyPr/>
        <a:lstStyle/>
        <a:p>
          <a:endParaRPr lang="pt-BR"/>
        </a:p>
      </dgm:t>
    </dgm:pt>
    <dgm:pt modelId="{3B13320F-3345-4BBD-981E-3BFD421523B6}" type="pres">
      <dgm:prSet presAssocID="{A1F7AC69-E122-4AA8-9A92-C64700DC9F28}" presName="rootConnector1" presStyleLbl="node1" presStyleIdx="0" presStyleCnt="0"/>
      <dgm:spPr/>
      <dgm:t>
        <a:bodyPr/>
        <a:lstStyle/>
        <a:p>
          <a:endParaRPr lang="pt-BR"/>
        </a:p>
      </dgm:t>
    </dgm:pt>
    <dgm:pt modelId="{1C37778F-FA44-4167-9825-B84DFFA11777}" type="pres">
      <dgm:prSet presAssocID="{A1F7AC69-E122-4AA8-9A92-C64700DC9F28}" presName="hierChild2" presStyleCnt="0"/>
      <dgm:spPr/>
    </dgm:pt>
    <dgm:pt modelId="{A2DB958E-D568-49E1-946A-2DD5822E4EB0}" type="pres">
      <dgm:prSet presAssocID="{3A02B6CE-DC79-40E7-8EA4-47CE86606813}" presName="Name37" presStyleLbl="parChTrans1D2" presStyleIdx="0" presStyleCnt="2"/>
      <dgm:spPr/>
      <dgm:t>
        <a:bodyPr/>
        <a:lstStyle/>
        <a:p>
          <a:endParaRPr lang="pt-BR"/>
        </a:p>
      </dgm:t>
    </dgm:pt>
    <dgm:pt modelId="{47ECFE79-8DB4-4A71-913E-09BF75B76F52}" type="pres">
      <dgm:prSet presAssocID="{1FCECAD2-1B52-41AB-8FAA-05994A7F91B5}" presName="hierRoot2" presStyleCnt="0">
        <dgm:presLayoutVars>
          <dgm:hierBranch val="init"/>
        </dgm:presLayoutVars>
      </dgm:prSet>
      <dgm:spPr/>
    </dgm:pt>
    <dgm:pt modelId="{C98B10B9-AC85-4912-9E2C-61C840A00A58}" type="pres">
      <dgm:prSet presAssocID="{1FCECAD2-1B52-41AB-8FAA-05994A7F91B5}" presName="rootComposite" presStyleCnt="0"/>
      <dgm:spPr/>
    </dgm:pt>
    <dgm:pt modelId="{427C32F7-EA1E-4B87-B89D-9EF4926C5D9E}" type="pres">
      <dgm:prSet presAssocID="{1FCECAD2-1B52-41AB-8FAA-05994A7F91B5}" presName="rootText" presStyleLbl="node2" presStyleIdx="0" presStyleCnt="2">
        <dgm:presLayoutVars>
          <dgm:chPref val="3"/>
        </dgm:presLayoutVars>
      </dgm:prSet>
      <dgm:spPr/>
      <dgm:t>
        <a:bodyPr/>
        <a:lstStyle/>
        <a:p>
          <a:endParaRPr lang="pt-BR"/>
        </a:p>
      </dgm:t>
    </dgm:pt>
    <dgm:pt modelId="{6C268BE5-F889-4EA1-978F-CBD4B35B2277}" type="pres">
      <dgm:prSet presAssocID="{1FCECAD2-1B52-41AB-8FAA-05994A7F91B5}" presName="rootConnector" presStyleLbl="node2" presStyleIdx="0" presStyleCnt="2"/>
      <dgm:spPr/>
      <dgm:t>
        <a:bodyPr/>
        <a:lstStyle/>
        <a:p>
          <a:endParaRPr lang="pt-BR"/>
        </a:p>
      </dgm:t>
    </dgm:pt>
    <dgm:pt modelId="{E7CB6E8A-1A6A-40F3-BBA2-1AC6A7A636ED}" type="pres">
      <dgm:prSet presAssocID="{1FCECAD2-1B52-41AB-8FAA-05994A7F91B5}" presName="hierChild4" presStyleCnt="0"/>
      <dgm:spPr/>
    </dgm:pt>
    <dgm:pt modelId="{F1E02757-C53E-4F07-8320-AF9687430603}" type="pres">
      <dgm:prSet presAssocID="{55755E42-C6DD-4D50-B1EF-3B839DA779EF}" presName="Name37" presStyleLbl="parChTrans1D3" presStyleIdx="0" presStyleCnt="2"/>
      <dgm:spPr/>
      <dgm:t>
        <a:bodyPr/>
        <a:lstStyle/>
        <a:p>
          <a:endParaRPr lang="pt-BR"/>
        </a:p>
      </dgm:t>
    </dgm:pt>
    <dgm:pt modelId="{3471F5FC-EF6A-4753-A947-FA26B347734C}" type="pres">
      <dgm:prSet presAssocID="{971803CC-36E3-4A04-85D3-07108FB36CAD}" presName="hierRoot2" presStyleCnt="0">
        <dgm:presLayoutVars>
          <dgm:hierBranch val="init"/>
        </dgm:presLayoutVars>
      </dgm:prSet>
      <dgm:spPr/>
    </dgm:pt>
    <dgm:pt modelId="{86BB286A-4018-4161-B378-5D2853CA40A8}" type="pres">
      <dgm:prSet presAssocID="{971803CC-36E3-4A04-85D3-07108FB36CAD}" presName="rootComposite" presStyleCnt="0"/>
      <dgm:spPr/>
    </dgm:pt>
    <dgm:pt modelId="{0E326566-4B70-49C0-91B8-CB2EA83564FD}" type="pres">
      <dgm:prSet presAssocID="{971803CC-36E3-4A04-85D3-07108FB36CAD}" presName="rootText" presStyleLbl="node3" presStyleIdx="0" presStyleCnt="2">
        <dgm:presLayoutVars>
          <dgm:chPref val="3"/>
        </dgm:presLayoutVars>
      </dgm:prSet>
      <dgm:spPr/>
      <dgm:t>
        <a:bodyPr/>
        <a:lstStyle/>
        <a:p>
          <a:endParaRPr lang="pt-BR"/>
        </a:p>
      </dgm:t>
    </dgm:pt>
    <dgm:pt modelId="{CE7D9F98-CCEC-4EAB-97C5-373CA57283E5}" type="pres">
      <dgm:prSet presAssocID="{971803CC-36E3-4A04-85D3-07108FB36CAD}" presName="rootConnector" presStyleLbl="node3" presStyleIdx="0" presStyleCnt="2"/>
      <dgm:spPr/>
      <dgm:t>
        <a:bodyPr/>
        <a:lstStyle/>
        <a:p>
          <a:endParaRPr lang="pt-BR"/>
        </a:p>
      </dgm:t>
    </dgm:pt>
    <dgm:pt modelId="{D34D5F77-FA5C-40F1-B05C-D0655D79B8BA}" type="pres">
      <dgm:prSet presAssocID="{971803CC-36E3-4A04-85D3-07108FB36CAD}" presName="hierChild4" presStyleCnt="0"/>
      <dgm:spPr/>
    </dgm:pt>
    <dgm:pt modelId="{7B6F01A0-53EE-403A-BADC-0C3521CFCD4B}" type="pres">
      <dgm:prSet presAssocID="{971803CC-36E3-4A04-85D3-07108FB36CAD}" presName="hierChild5" presStyleCnt="0"/>
      <dgm:spPr/>
    </dgm:pt>
    <dgm:pt modelId="{A972C51C-5125-429B-9BF5-BAD03A06C129}" type="pres">
      <dgm:prSet presAssocID="{1FCECAD2-1B52-41AB-8FAA-05994A7F91B5}" presName="hierChild5" presStyleCnt="0"/>
      <dgm:spPr/>
    </dgm:pt>
    <dgm:pt modelId="{2B5F1FDB-9827-4D5D-82C0-8F926D953D04}" type="pres">
      <dgm:prSet presAssocID="{811A9C2E-7190-471E-83BD-0F69CE3B4157}" presName="Name37" presStyleLbl="parChTrans1D2" presStyleIdx="1" presStyleCnt="2"/>
      <dgm:spPr/>
      <dgm:t>
        <a:bodyPr/>
        <a:lstStyle/>
        <a:p>
          <a:endParaRPr lang="pt-BR"/>
        </a:p>
      </dgm:t>
    </dgm:pt>
    <dgm:pt modelId="{2224CB3B-06B3-4A4B-8544-C42CD59A75F6}" type="pres">
      <dgm:prSet presAssocID="{01E29B31-3738-4B9A-8563-4CA69670D011}" presName="hierRoot2" presStyleCnt="0">
        <dgm:presLayoutVars>
          <dgm:hierBranch val="init"/>
        </dgm:presLayoutVars>
      </dgm:prSet>
      <dgm:spPr/>
    </dgm:pt>
    <dgm:pt modelId="{55DCEA29-1B70-4340-9023-3115D5518015}" type="pres">
      <dgm:prSet presAssocID="{01E29B31-3738-4B9A-8563-4CA69670D011}" presName="rootComposite" presStyleCnt="0"/>
      <dgm:spPr/>
    </dgm:pt>
    <dgm:pt modelId="{328843F5-5A82-4D40-9416-3AF6DFC28C94}" type="pres">
      <dgm:prSet presAssocID="{01E29B31-3738-4B9A-8563-4CA69670D011}" presName="rootText" presStyleLbl="node2" presStyleIdx="1" presStyleCnt="2">
        <dgm:presLayoutVars>
          <dgm:chPref val="3"/>
        </dgm:presLayoutVars>
      </dgm:prSet>
      <dgm:spPr/>
      <dgm:t>
        <a:bodyPr/>
        <a:lstStyle/>
        <a:p>
          <a:endParaRPr lang="pt-BR"/>
        </a:p>
      </dgm:t>
    </dgm:pt>
    <dgm:pt modelId="{D7CA8911-FCFC-4734-8F4F-619043FF717C}" type="pres">
      <dgm:prSet presAssocID="{01E29B31-3738-4B9A-8563-4CA69670D011}" presName="rootConnector" presStyleLbl="node2" presStyleIdx="1" presStyleCnt="2"/>
      <dgm:spPr/>
      <dgm:t>
        <a:bodyPr/>
        <a:lstStyle/>
        <a:p>
          <a:endParaRPr lang="pt-BR"/>
        </a:p>
      </dgm:t>
    </dgm:pt>
    <dgm:pt modelId="{86B6D74D-4502-4B9B-8033-546BF078406C}" type="pres">
      <dgm:prSet presAssocID="{01E29B31-3738-4B9A-8563-4CA69670D011}" presName="hierChild4" presStyleCnt="0"/>
      <dgm:spPr/>
    </dgm:pt>
    <dgm:pt modelId="{224C0AEE-7EF9-41C3-88A1-2782F07D8904}" type="pres">
      <dgm:prSet presAssocID="{DCCF1920-23CA-439F-9720-742D5E112584}" presName="Name37" presStyleLbl="parChTrans1D3" presStyleIdx="1" presStyleCnt="2"/>
      <dgm:spPr/>
      <dgm:t>
        <a:bodyPr/>
        <a:lstStyle/>
        <a:p>
          <a:endParaRPr lang="pt-BR"/>
        </a:p>
      </dgm:t>
    </dgm:pt>
    <dgm:pt modelId="{00B707A3-5652-4D07-90C9-F7D2321CF2DE}" type="pres">
      <dgm:prSet presAssocID="{5D92B12F-09C1-448E-A44E-2A8A2E03E081}" presName="hierRoot2" presStyleCnt="0">
        <dgm:presLayoutVars>
          <dgm:hierBranch val="init"/>
        </dgm:presLayoutVars>
      </dgm:prSet>
      <dgm:spPr/>
    </dgm:pt>
    <dgm:pt modelId="{DA2C7446-ADDB-43F4-BA96-3BA50E3056B4}" type="pres">
      <dgm:prSet presAssocID="{5D92B12F-09C1-448E-A44E-2A8A2E03E081}" presName="rootComposite" presStyleCnt="0"/>
      <dgm:spPr/>
    </dgm:pt>
    <dgm:pt modelId="{4841F64D-012F-436B-A00F-5E17B2AEBAC0}" type="pres">
      <dgm:prSet presAssocID="{5D92B12F-09C1-448E-A44E-2A8A2E03E081}" presName="rootText" presStyleLbl="node3" presStyleIdx="1" presStyleCnt="2">
        <dgm:presLayoutVars>
          <dgm:chPref val="3"/>
        </dgm:presLayoutVars>
      </dgm:prSet>
      <dgm:spPr/>
      <dgm:t>
        <a:bodyPr/>
        <a:lstStyle/>
        <a:p>
          <a:endParaRPr lang="pt-BR"/>
        </a:p>
      </dgm:t>
    </dgm:pt>
    <dgm:pt modelId="{350BCF78-EC44-4F8E-87B1-CF91A57B63FC}" type="pres">
      <dgm:prSet presAssocID="{5D92B12F-09C1-448E-A44E-2A8A2E03E081}" presName="rootConnector" presStyleLbl="node3" presStyleIdx="1" presStyleCnt="2"/>
      <dgm:spPr/>
      <dgm:t>
        <a:bodyPr/>
        <a:lstStyle/>
        <a:p>
          <a:endParaRPr lang="pt-BR"/>
        </a:p>
      </dgm:t>
    </dgm:pt>
    <dgm:pt modelId="{2394EB4A-1132-4941-B86F-8C6680593D6A}" type="pres">
      <dgm:prSet presAssocID="{5D92B12F-09C1-448E-A44E-2A8A2E03E081}" presName="hierChild4" presStyleCnt="0"/>
      <dgm:spPr/>
    </dgm:pt>
    <dgm:pt modelId="{D26BCC63-E8A0-4A90-A678-FBFA6D1F0E3A}" type="pres">
      <dgm:prSet presAssocID="{5D92B12F-09C1-448E-A44E-2A8A2E03E081}" presName="hierChild5" presStyleCnt="0"/>
      <dgm:spPr/>
    </dgm:pt>
    <dgm:pt modelId="{836D5F3D-2A63-4331-8B91-6C239F184F7A}" type="pres">
      <dgm:prSet presAssocID="{01E29B31-3738-4B9A-8563-4CA69670D011}" presName="hierChild5" presStyleCnt="0"/>
      <dgm:spPr/>
    </dgm:pt>
    <dgm:pt modelId="{98AB28B0-5713-48BB-B93E-88E7CC3C106E}" type="pres">
      <dgm:prSet presAssocID="{A1F7AC69-E122-4AA8-9A92-C64700DC9F28}" presName="hierChild3" presStyleCnt="0"/>
      <dgm:spPr/>
    </dgm:pt>
  </dgm:ptLst>
  <dgm:cxnLst>
    <dgm:cxn modelId="{326723DD-C8B4-4DDD-A8E5-7D64251CA084}" type="presOf" srcId="{5D92B12F-09C1-448E-A44E-2A8A2E03E081}" destId="{4841F64D-012F-436B-A00F-5E17B2AEBAC0}" srcOrd="0" destOrd="0" presId="urn:microsoft.com/office/officeart/2005/8/layout/orgChart1"/>
    <dgm:cxn modelId="{664783FA-8F98-4E06-BCB0-F32C8D7B3328}" srcId="{1FCECAD2-1B52-41AB-8FAA-05994A7F91B5}" destId="{971803CC-36E3-4A04-85D3-07108FB36CAD}" srcOrd="0" destOrd="0" parTransId="{55755E42-C6DD-4D50-B1EF-3B839DA779EF}" sibTransId="{43BDC917-E80C-427B-AF50-5171CF838DDA}"/>
    <dgm:cxn modelId="{C047F2C3-ADE4-4C5B-9E87-E89A103C5DF8}" type="presOf" srcId="{01E29B31-3738-4B9A-8563-4CA69670D011}" destId="{328843F5-5A82-4D40-9416-3AF6DFC28C94}" srcOrd="0" destOrd="0" presId="urn:microsoft.com/office/officeart/2005/8/layout/orgChart1"/>
    <dgm:cxn modelId="{008D6F08-D8E5-41E2-9D3C-A430832C8679}" type="presOf" srcId="{A1621F0B-200E-41BE-AF53-B6655129993B}" destId="{26595C9C-79CD-421E-968A-8A3B85146BB2}" srcOrd="0" destOrd="0" presId="urn:microsoft.com/office/officeart/2005/8/layout/orgChart1"/>
    <dgm:cxn modelId="{1CB64995-3F1C-451B-998B-95AB824AD07A}" type="presOf" srcId="{01E29B31-3738-4B9A-8563-4CA69670D011}" destId="{D7CA8911-FCFC-4734-8F4F-619043FF717C}" srcOrd="1" destOrd="0" presId="urn:microsoft.com/office/officeart/2005/8/layout/orgChart1"/>
    <dgm:cxn modelId="{5A2E2EE0-E535-4F08-9B4A-06582CF7F06C}" srcId="{A1F7AC69-E122-4AA8-9A92-C64700DC9F28}" destId="{01E29B31-3738-4B9A-8563-4CA69670D011}" srcOrd="1" destOrd="0" parTransId="{811A9C2E-7190-471E-83BD-0F69CE3B4157}" sibTransId="{594E153E-23AB-4424-BF00-ABD0F63EF942}"/>
    <dgm:cxn modelId="{BABAAF55-7167-408D-91B3-FD7C6BABD3A7}" type="presOf" srcId="{55755E42-C6DD-4D50-B1EF-3B839DA779EF}" destId="{F1E02757-C53E-4F07-8320-AF9687430603}" srcOrd="0" destOrd="0" presId="urn:microsoft.com/office/officeart/2005/8/layout/orgChart1"/>
    <dgm:cxn modelId="{ED472DED-4C55-4E8B-82CB-197AEBCA1D0F}" srcId="{A1621F0B-200E-41BE-AF53-B6655129993B}" destId="{A1F7AC69-E122-4AA8-9A92-C64700DC9F28}" srcOrd="0" destOrd="0" parTransId="{7CEF1FCB-A017-4443-84BC-AB8847D802CA}" sibTransId="{8398F6AF-6061-46B7-BBF4-BB11986568DC}"/>
    <dgm:cxn modelId="{771293DA-1151-4181-BEE3-E05721B489EB}" type="presOf" srcId="{5D92B12F-09C1-448E-A44E-2A8A2E03E081}" destId="{350BCF78-EC44-4F8E-87B1-CF91A57B63FC}" srcOrd="1" destOrd="0" presId="urn:microsoft.com/office/officeart/2005/8/layout/orgChart1"/>
    <dgm:cxn modelId="{10E610B4-0CEF-4A3C-93E0-613E4E15CEF5}" type="presOf" srcId="{971803CC-36E3-4A04-85D3-07108FB36CAD}" destId="{CE7D9F98-CCEC-4EAB-97C5-373CA57283E5}" srcOrd="1" destOrd="0" presId="urn:microsoft.com/office/officeart/2005/8/layout/orgChart1"/>
    <dgm:cxn modelId="{5ED4CBBC-2340-4D1E-83B2-649432D7F842}" type="presOf" srcId="{A1F7AC69-E122-4AA8-9A92-C64700DC9F28}" destId="{3B13320F-3345-4BBD-981E-3BFD421523B6}" srcOrd="1" destOrd="0" presId="urn:microsoft.com/office/officeart/2005/8/layout/orgChart1"/>
    <dgm:cxn modelId="{A896DFA2-67F3-4153-8262-DF81E3930157}" type="presOf" srcId="{A1F7AC69-E122-4AA8-9A92-C64700DC9F28}" destId="{D918A012-92B2-4DF5-903F-7E15132148B9}" srcOrd="0" destOrd="0" presId="urn:microsoft.com/office/officeart/2005/8/layout/orgChart1"/>
    <dgm:cxn modelId="{39E92ED5-9AA1-420C-9581-F838A68F2C48}" type="presOf" srcId="{1FCECAD2-1B52-41AB-8FAA-05994A7F91B5}" destId="{427C32F7-EA1E-4B87-B89D-9EF4926C5D9E}" srcOrd="0" destOrd="0" presId="urn:microsoft.com/office/officeart/2005/8/layout/orgChart1"/>
    <dgm:cxn modelId="{B1733701-BF97-4F5B-A4C3-3BA54805F2F7}" type="presOf" srcId="{1FCECAD2-1B52-41AB-8FAA-05994A7F91B5}" destId="{6C268BE5-F889-4EA1-978F-CBD4B35B2277}" srcOrd="1" destOrd="0" presId="urn:microsoft.com/office/officeart/2005/8/layout/orgChart1"/>
    <dgm:cxn modelId="{A1735DA8-2964-411A-953E-7C0254FAC99A}" type="presOf" srcId="{811A9C2E-7190-471E-83BD-0F69CE3B4157}" destId="{2B5F1FDB-9827-4D5D-82C0-8F926D953D04}" srcOrd="0" destOrd="0" presId="urn:microsoft.com/office/officeart/2005/8/layout/orgChart1"/>
    <dgm:cxn modelId="{7E77D22A-F024-4AAC-B83B-17DD385F4B32}" type="presOf" srcId="{971803CC-36E3-4A04-85D3-07108FB36CAD}" destId="{0E326566-4B70-49C0-91B8-CB2EA83564FD}" srcOrd="0" destOrd="0" presId="urn:microsoft.com/office/officeart/2005/8/layout/orgChart1"/>
    <dgm:cxn modelId="{35CA8456-83B9-4672-8CC7-B67A74347EE6}" srcId="{01E29B31-3738-4B9A-8563-4CA69670D011}" destId="{5D92B12F-09C1-448E-A44E-2A8A2E03E081}" srcOrd="0" destOrd="0" parTransId="{DCCF1920-23CA-439F-9720-742D5E112584}" sibTransId="{AD59EF91-9016-44CC-B045-1B678465FBD4}"/>
    <dgm:cxn modelId="{DD0434E6-58F4-43B7-B761-105D467747A3}" type="presOf" srcId="{3A02B6CE-DC79-40E7-8EA4-47CE86606813}" destId="{A2DB958E-D568-49E1-946A-2DD5822E4EB0}" srcOrd="0" destOrd="0" presId="urn:microsoft.com/office/officeart/2005/8/layout/orgChart1"/>
    <dgm:cxn modelId="{C453BC99-D3D7-4803-82E0-9AA57DD8DC05}" type="presOf" srcId="{DCCF1920-23CA-439F-9720-742D5E112584}" destId="{224C0AEE-7EF9-41C3-88A1-2782F07D8904}" srcOrd="0" destOrd="0" presId="urn:microsoft.com/office/officeart/2005/8/layout/orgChart1"/>
    <dgm:cxn modelId="{26C40DDD-D454-44BC-8993-1E4A1C1FA599}" srcId="{A1F7AC69-E122-4AA8-9A92-C64700DC9F28}" destId="{1FCECAD2-1B52-41AB-8FAA-05994A7F91B5}" srcOrd="0" destOrd="0" parTransId="{3A02B6CE-DC79-40E7-8EA4-47CE86606813}" sibTransId="{E876D704-4228-4DC6-93A2-A6C23F411B0B}"/>
    <dgm:cxn modelId="{F2EDD1F3-66D4-4DB6-9FD1-938AA7B86010}" type="presParOf" srcId="{26595C9C-79CD-421E-968A-8A3B85146BB2}" destId="{C23D2C7D-36F5-4C9A-B2FA-822099D9DA35}" srcOrd="0" destOrd="0" presId="urn:microsoft.com/office/officeart/2005/8/layout/orgChart1"/>
    <dgm:cxn modelId="{459A77B7-677B-4C00-A2BC-CB89D45EF1AB}" type="presParOf" srcId="{C23D2C7D-36F5-4C9A-B2FA-822099D9DA35}" destId="{3F8F302A-7E41-4A8A-9AB5-BB70A752F11D}" srcOrd="0" destOrd="0" presId="urn:microsoft.com/office/officeart/2005/8/layout/orgChart1"/>
    <dgm:cxn modelId="{8E50CD0A-3B8C-49A5-8223-1BB3AA3E29BE}" type="presParOf" srcId="{3F8F302A-7E41-4A8A-9AB5-BB70A752F11D}" destId="{D918A012-92B2-4DF5-903F-7E15132148B9}" srcOrd="0" destOrd="0" presId="urn:microsoft.com/office/officeart/2005/8/layout/orgChart1"/>
    <dgm:cxn modelId="{A68208D6-1E54-462D-AB63-DA26C43B439A}" type="presParOf" srcId="{3F8F302A-7E41-4A8A-9AB5-BB70A752F11D}" destId="{3B13320F-3345-4BBD-981E-3BFD421523B6}" srcOrd="1" destOrd="0" presId="urn:microsoft.com/office/officeart/2005/8/layout/orgChart1"/>
    <dgm:cxn modelId="{61C2C274-357A-4A8C-8DCF-80D0B51DFB41}" type="presParOf" srcId="{C23D2C7D-36F5-4C9A-B2FA-822099D9DA35}" destId="{1C37778F-FA44-4167-9825-B84DFFA11777}" srcOrd="1" destOrd="0" presId="urn:microsoft.com/office/officeart/2005/8/layout/orgChart1"/>
    <dgm:cxn modelId="{F91AF284-86D0-4035-8661-F90BAE6E607E}" type="presParOf" srcId="{1C37778F-FA44-4167-9825-B84DFFA11777}" destId="{A2DB958E-D568-49E1-946A-2DD5822E4EB0}" srcOrd="0" destOrd="0" presId="urn:microsoft.com/office/officeart/2005/8/layout/orgChart1"/>
    <dgm:cxn modelId="{561BA998-3460-4ED8-9464-A02FD9628E68}" type="presParOf" srcId="{1C37778F-FA44-4167-9825-B84DFFA11777}" destId="{47ECFE79-8DB4-4A71-913E-09BF75B76F52}" srcOrd="1" destOrd="0" presId="urn:microsoft.com/office/officeart/2005/8/layout/orgChart1"/>
    <dgm:cxn modelId="{CA4020F4-C4BE-403B-8D02-D069BB185907}" type="presParOf" srcId="{47ECFE79-8DB4-4A71-913E-09BF75B76F52}" destId="{C98B10B9-AC85-4912-9E2C-61C840A00A58}" srcOrd="0" destOrd="0" presId="urn:microsoft.com/office/officeart/2005/8/layout/orgChart1"/>
    <dgm:cxn modelId="{B908949C-F607-4778-8B8C-582D5993A505}" type="presParOf" srcId="{C98B10B9-AC85-4912-9E2C-61C840A00A58}" destId="{427C32F7-EA1E-4B87-B89D-9EF4926C5D9E}" srcOrd="0" destOrd="0" presId="urn:microsoft.com/office/officeart/2005/8/layout/orgChart1"/>
    <dgm:cxn modelId="{8B777A9A-A6FB-40EA-A204-86A090F7D47B}" type="presParOf" srcId="{C98B10B9-AC85-4912-9E2C-61C840A00A58}" destId="{6C268BE5-F889-4EA1-978F-CBD4B35B2277}" srcOrd="1" destOrd="0" presId="urn:microsoft.com/office/officeart/2005/8/layout/orgChart1"/>
    <dgm:cxn modelId="{6F7DF658-484B-4AE3-A5EF-93D435BD9A8D}" type="presParOf" srcId="{47ECFE79-8DB4-4A71-913E-09BF75B76F52}" destId="{E7CB6E8A-1A6A-40F3-BBA2-1AC6A7A636ED}" srcOrd="1" destOrd="0" presId="urn:microsoft.com/office/officeart/2005/8/layout/orgChart1"/>
    <dgm:cxn modelId="{B66CC0FD-ADA9-4DA4-8DC8-30099D10222B}" type="presParOf" srcId="{E7CB6E8A-1A6A-40F3-BBA2-1AC6A7A636ED}" destId="{F1E02757-C53E-4F07-8320-AF9687430603}" srcOrd="0" destOrd="0" presId="urn:microsoft.com/office/officeart/2005/8/layout/orgChart1"/>
    <dgm:cxn modelId="{C4367313-2B2B-42FA-AF62-E44405E7590A}" type="presParOf" srcId="{E7CB6E8A-1A6A-40F3-BBA2-1AC6A7A636ED}" destId="{3471F5FC-EF6A-4753-A947-FA26B347734C}" srcOrd="1" destOrd="0" presId="urn:microsoft.com/office/officeart/2005/8/layout/orgChart1"/>
    <dgm:cxn modelId="{25019E16-144F-4386-87E6-F49E118FC829}" type="presParOf" srcId="{3471F5FC-EF6A-4753-A947-FA26B347734C}" destId="{86BB286A-4018-4161-B378-5D2853CA40A8}" srcOrd="0" destOrd="0" presId="urn:microsoft.com/office/officeart/2005/8/layout/orgChart1"/>
    <dgm:cxn modelId="{519D9137-2E9A-4894-B9C9-48526B5E969E}" type="presParOf" srcId="{86BB286A-4018-4161-B378-5D2853CA40A8}" destId="{0E326566-4B70-49C0-91B8-CB2EA83564FD}" srcOrd="0" destOrd="0" presId="urn:microsoft.com/office/officeart/2005/8/layout/orgChart1"/>
    <dgm:cxn modelId="{29FD5734-E55F-4A71-9872-60853C5E542B}" type="presParOf" srcId="{86BB286A-4018-4161-B378-5D2853CA40A8}" destId="{CE7D9F98-CCEC-4EAB-97C5-373CA57283E5}" srcOrd="1" destOrd="0" presId="urn:microsoft.com/office/officeart/2005/8/layout/orgChart1"/>
    <dgm:cxn modelId="{4048E69A-0684-4A4C-93C0-49C3478D4DA9}" type="presParOf" srcId="{3471F5FC-EF6A-4753-A947-FA26B347734C}" destId="{D34D5F77-FA5C-40F1-B05C-D0655D79B8BA}" srcOrd="1" destOrd="0" presId="urn:microsoft.com/office/officeart/2005/8/layout/orgChart1"/>
    <dgm:cxn modelId="{5A124F42-E721-412B-8670-0686287F9E72}" type="presParOf" srcId="{3471F5FC-EF6A-4753-A947-FA26B347734C}" destId="{7B6F01A0-53EE-403A-BADC-0C3521CFCD4B}" srcOrd="2" destOrd="0" presId="urn:microsoft.com/office/officeart/2005/8/layout/orgChart1"/>
    <dgm:cxn modelId="{D27A3D55-6B06-4D08-9407-7C54F80D9815}" type="presParOf" srcId="{47ECFE79-8DB4-4A71-913E-09BF75B76F52}" destId="{A972C51C-5125-429B-9BF5-BAD03A06C129}" srcOrd="2" destOrd="0" presId="urn:microsoft.com/office/officeart/2005/8/layout/orgChart1"/>
    <dgm:cxn modelId="{15143349-8B5D-4A5C-86E8-5B199E10FC94}" type="presParOf" srcId="{1C37778F-FA44-4167-9825-B84DFFA11777}" destId="{2B5F1FDB-9827-4D5D-82C0-8F926D953D04}" srcOrd="2" destOrd="0" presId="urn:microsoft.com/office/officeart/2005/8/layout/orgChart1"/>
    <dgm:cxn modelId="{D047E06E-A16E-4890-BAF0-D22CAE1C53AB}" type="presParOf" srcId="{1C37778F-FA44-4167-9825-B84DFFA11777}" destId="{2224CB3B-06B3-4A4B-8544-C42CD59A75F6}" srcOrd="3" destOrd="0" presId="urn:microsoft.com/office/officeart/2005/8/layout/orgChart1"/>
    <dgm:cxn modelId="{74C6CBB9-4487-4CF7-9999-657EF9733AF6}" type="presParOf" srcId="{2224CB3B-06B3-4A4B-8544-C42CD59A75F6}" destId="{55DCEA29-1B70-4340-9023-3115D5518015}" srcOrd="0" destOrd="0" presId="urn:microsoft.com/office/officeart/2005/8/layout/orgChart1"/>
    <dgm:cxn modelId="{9D57581E-55F8-438F-8043-604F0719B645}" type="presParOf" srcId="{55DCEA29-1B70-4340-9023-3115D5518015}" destId="{328843F5-5A82-4D40-9416-3AF6DFC28C94}" srcOrd="0" destOrd="0" presId="urn:microsoft.com/office/officeart/2005/8/layout/orgChart1"/>
    <dgm:cxn modelId="{EF34BEF3-8130-4B30-8B88-9A6EAB410B0E}" type="presParOf" srcId="{55DCEA29-1B70-4340-9023-3115D5518015}" destId="{D7CA8911-FCFC-4734-8F4F-619043FF717C}" srcOrd="1" destOrd="0" presId="urn:microsoft.com/office/officeart/2005/8/layout/orgChart1"/>
    <dgm:cxn modelId="{B89DB378-9E9C-4CF7-880B-461772B8326D}" type="presParOf" srcId="{2224CB3B-06B3-4A4B-8544-C42CD59A75F6}" destId="{86B6D74D-4502-4B9B-8033-546BF078406C}" srcOrd="1" destOrd="0" presId="urn:microsoft.com/office/officeart/2005/8/layout/orgChart1"/>
    <dgm:cxn modelId="{6033F763-CA6C-4977-BE62-028C44FED0B0}" type="presParOf" srcId="{86B6D74D-4502-4B9B-8033-546BF078406C}" destId="{224C0AEE-7EF9-41C3-88A1-2782F07D8904}" srcOrd="0" destOrd="0" presId="urn:microsoft.com/office/officeart/2005/8/layout/orgChart1"/>
    <dgm:cxn modelId="{ACFFE6F0-37D7-4BAA-986B-120C804B1812}" type="presParOf" srcId="{86B6D74D-4502-4B9B-8033-546BF078406C}" destId="{00B707A3-5652-4D07-90C9-F7D2321CF2DE}" srcOrd="1" destOrd="0" presId="urn:microsoft.com/office/officeart/2005/8/layout/orgChart1"/>
    <dgm:cxn modelId="{2EEA310D-1CD4-4065-AD2D-905BF5592C8F}" type="presParOf" srcId="{00B707A3-5652-4D07-90C9-F7D2321CF2DE}" destId="{DA2C7446-ADDB-43F4-BA96-3BA50E3056B4}" srcOrd="0" destOrd="0" presId="urn:microsoft.com/office/officeart/2005/8/layout/orgChart1"/>
    <dgm:cxn modelId="{E6BA5E15-3EED-4FB7-A26E-096D5C6603C6}" type="presParOf" srcId="{DA2C7446-ADDB-43F4-BA96-3BA50E3056B4}" destId="{4841F64D-012F-436B-A00F-5E17B2AEBAC0}" srcOrd="0" destOrd="0" presId="urn:microsoft.com/office/officeart/2005/8/layout/orgChart1"/>
    <dgm:cxn modelId="{7CF94C05-BE7C-467E-BD5A-A0D449DFDA25}" type="presParOf" srcId="{DA2C7446-ADDB-43F4-BA96-3BA50E3056B4}" destId="{350BCF78-EC44-4F8E-87B1-CF91A57B63FC}" srcOrd="1" destOrd="0" presId="urn:microsoft.com/office/officeart/2005/8/layout/orgChart1"/>
    <dgm:cxn modelId="{CD8679A6-3992-4253-B159-F399937A1C49}" type="presParOf" srcId="{00B707A3-5652-4D07-90C9-F7D2321CF2DE}" destId="{2394EB4A-1132-4941-B86F-8C6680593D6A}" srcOrd="1" destOrd="0" presId="urn:microsoft.com/office/officeart/2005/8/layout/orgChart1"/>
    <dgm:cxn modelId="{D81B53B3-5957-439A-A646-5DF9E25C8FB7}" type="presParOf" srcId="{00B707A3-5652-4D07-90C9-F7D2321CF2DE}" destId="{D26BCC63-E8A0-4A90-A678-FBFA6D1F0E3A}" srcOrd="2" destOrd="0" presId="urn:microsoft.com/office/officeart/2005/8/layout/orgChart1"/>
    <dgm:cxn modelId="{19DAC46D-396A-4765-9651-E3CF2A87D735}" type="presParOf" srcId="{2224CB3B-06B3-4A4B-8544-C42CD59A75F6}" destId="{836D5F3D-2A63-4331-8B91-6C239F184F7A}" srcOrd="2" destOrd="0" presId="urn:microsoft.com/office/officeart/2005/8/layout/orgChart1"/>
    <dgm:cxn modelId="{FD30C3B6-2010-4AC2-B569-B6A758CC41F7}" type="presParOf" srcId="{C23D2C7D-36F5-4C9A-B2FA-822099D9DA35}" destId="{98AB28B0-5713-48BB-B93E-88E7CC3C106E}" srcOrd="2" destOrd="0" presId="urn:microsoft.com/office/officeart/2005/8/layout/orgChart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73D595-814F-463E-BB9D-197F72FBDB36}" type="doc">
      <dgm:prSet loTypeId="urn:microsoft.com/office/officeart/2005/8/layout/hProcess3" loCatId="process" qsTypeId="urn:microsoft.com/office/officeart/2005/8/quickstyle/simple1" qsCatId="simple" csTypeId="urn:microsoft.com/office/officeart/2005/8/colors/accent1_2" csCatId="accent1" phldr="1"/>
      <dgm:spPr/>
    </dgm:pt>
    <dgm:pt modelId="{4043DA8E-78CF-4F60-AAB0-66A3199A3B4D}">
      <dgm:prSet phldrT="[Texto]" custT="1"/>
      <dgm:spPr/>
      <dgm:t>
        <a:bodyPr/>
        <a:lstStyle/>
        <a:p>
          <a:r>
            <a:rPr lang="pt-BR" sz="2800" b="1" dirty="0" smtClean="0">
              <a:effectLst>
                <a:outerShdw blurRad="38100" dist="38100" dir="2700000" algn="tl">
                  <a:srgbClr val="000000">
                    <a:alpha val="43137"/>
                  </a:srgbClr>
                </a:outerShdw>
              </a:effectLst>
            </a:rPr>
            <a:t>2007</a:t>
          </a:r>
        </a:p>
        <a:p>
          <a:r>
            <a:rPr lang="pt-BR" sz="2800" b="1" dirty="0" smtClean="0">
              <a:effectLst>
                <a:outerShdw blurRad="38100" dist="38100" dir="2700000" algn="tl">
                  <a:srgbClr val="000000">
                    <a:alpha val="43137"/>
                  </a:srgbClr>
                </a:outerShdw>
              </a:effectLst>
            </a:rPr>
            <a:t>PREVALECIA </a:t>
          </a:r>
        </a:p>
        <a:p>
          <a:r>
            <a:rPr lang="pt-BR" sz="2800" b="1" dirty="0" smtClean="0">
              <a:effectLst>
                <a:outerShdw blurRad="38100" dist="38100" dir="2700000" algn="tl">
                  <a:srgbClr val="000000">
                    <a:alpha val="43137"/>
                  </a:srgbClr>
                </a:outerShdw>
              </a:effectLst>
            </a:rPr>
            <a:t>VISÃO LEGAL</a:t>
          </a:r>
          <a:endParaRPr lang="pt-BR" sz="2800" b="1" dirty="0">
            <a:effectLst>
              <a:outerShdw blurRad="38100" dist="38100" dir="2700000" algn="tl">
                <a:srgbClr val="000000">
                  <a:alpha val="43137"/>
                </a:srgbClr>
              </a:outerShdw>
            </a:effectLst>
          </a:endParaRPr>
        </a:p>
      </dgm:t>
    </dgm:pt>
    <dgm:pt modelId="{45FBA853-2C5E-4720-AE47-297B21CB8EC0}" type="parTrans" cxnId="{8629B507-36B3-4786-A54D-AB5A001CA801}">
      <dgm:prSet/>
      <dgm:spPr/>
      <dgm:t>
        <a:bodyPr/>
        <a:lstStyle/>
        <a:p>
          <a:endParaRPr lang="pt-BR"/>
        </a:p>
      </dgm:t>
    </dgm:pt>
    <dgm:pt modelId="{E6A965CC-1310-4A29-BF9F-71234BFA5E83}" type="sibTrans" cxnId="{8629B507-36B3-4786-A54D-AB5A001CA801}">
      <dgm:prSet/>
      <dgm:spPr/>
      <dgm:t>
        <a:bodyPr/>
        <a:lstStyle/>
        <a:p>
          <a:endParaRPr lang="pt-BR"/>
        </a:p>
      </dgm:t>
    </dgm:pt>
    <dgm:pt modelId="{4983AD6B-F2F3-48C4-85BF-41911D0A5418}">
      <dgm:prSet phldrT="[Texto]" custT="1"/>
      <dgm:spPr/>
      <dgm:t>
        <a:bodyPr/>
        <a:lstStyle/>
        <a:p>
          <a:r>
            <a:rPr lang="pt-BR" sz="2800" b="1" dirty="0" smtClean="0">
              <a:effectLst>
                <a:outerShdw blurRad="38100" dist="38100" dir="2700000" algn="tl">
                  <a:srgbClr val="000000">
                    <a:alpha val="43137"/>
                  </a:srgbClr>
                </a:outerShdw>
              </a:effectLst>
            </a:rPr>
            <a:t>2016</a:t>
          </a:r>
        </a:p>
        <a:p>
          <a:r>
            <a:rPr lang="pt-BR" sz="2800" b="1" dirty="0" smtClean="0">
              <a:effectLst>
                <a:outerShdw blurRad="38100" dist="38100" dir="2700000" algn="tl">
                  <a:srgbClr val="000000">
                    <a:alpha val="43137"/>
                  </a:srgbClr>
                </a:outerShdw>
              </a:effectLst>
            </a:rPr>
            <a:t>VISÃO CONSTITUCIONAL ESTÁ DESTACANDO</a:t>
          </a:r>
        </a:p>
      </dgm:t>
    </dgm:pt>
    <dgm:pt modelId="{F777D50A-1597-40D0-A202-EBE2306E7C0F}" type="parTrans" cxnId="{63AC4C3C-F710-4CCC-BFB9-6F5289B34419}">
      <dgm:prSet/>
      <dgm:spPr/>
      <dgm:t>
        <a:bodyPr/>
        <a:lstStyle/>
        <a:p>
          <a:endParaRPr lang="pt-BR"/>
        </a:p>
      </dgm:t>
    </dgm:pt>
    <dgm:pt modelId="{8C5BFE84-11DC-4800-A828-0C342B48A1F4}" type="sibTrans" cxnId="{63AC4C3C-F710-4CCC-BFB9-6F5289B34419}">
      <dgm:prSet/>
      <dgm:spPr/>
      <dgm:t>
        <a:bodyPr/>
        <a:lstStyle/>
        <a:p>
          <a:endParaRPr lang="pt-BR"/>
        </a:p>
      </dgm:t>
    </dgm:pt>
    <dgm:pt modelId="{00EA3CBA-38D1-4C3D-A390-A33D787B71C9}" type="pres">
      <dgm:prSet presAssocID="{9373D595-814F-463E-BB9D-197F72FBDB36}" presName="Name0" presStyleCnt="0">
        <dgm:presLayoutVars>
          <dgm:dir/>
          <dgm:animLvl val="lvl"/>
          <dgm:resizeHandles val="exact"/>
        </dgm:presLayoutVars>
      </dgm:prSet>
      <dgm:spPr/>
    </dgm:pt>
    <dgm:pt modelId="{B8A10EB9-EADA-4FFD-BC6A-E81FBF29BB24}" type="pres">
      <dgm:prSet presAssocID="{9373D595-814F-463E-BB9D-197F72FBDB36}" presName="dummy" presStyleCnt="0"/>
      <dgm:spPr/>
    </dgm:pt>
    <dgm:pt modelId="{02CD1B29-889A-490C-A84B-B92BF0845DB0}" type="pres">
      <dgm:prSet presAssocID="{9373D595-814F-463E-BB9D-197F72FBDB36}" presName="linH" presStyleCnt="0"/>
      <dgm:spPr/>
    </dgm:pt>
    <dgm:pt modelId="{D75B8A2E-D061-499A-9AB6-AB9349C482FB}" type="pres">
      <dgm:prSet presAssocID="{9373D595-814F-463E-BB9D-197F72FBDB36}" presName="padding1" presStyleCnt="0"/>
      <dgm:spPr/>
    </dgm:pt>
    <dgm:pt modelId="{708D9DE7-E06A-4C85-A0FE-027D4393E91D}" type="pres">
      <dgm:prSet presAssocID="{4043DA8E-78CF-4F60-AAB0-66A3199A3B4D}" presName="linV" presStyleCnt="0"/>
      <dgm:spPr/>
    </dgm:pt>
    <dgm:pt modelId="{CC3D8D86-E6EA-4F82-85E1-4856C5EEF47C}" type="pres">
      <dgm:prSet presAssocID="{4043DA8E-78CF-4F60-AAB0-66A3199A3B4D}" presName="spVertical1" presStyleCnt="0"/>
      <dgm:spPr/>
    </dgm:pt>
    <dgm:pt modelId="{9D5B6874-3392-4A04-97E5-6A6E151D1415}" type="pres">
      <dgm:prSet presAssocID="{4043DA8E-78CF-4F60-AAB0-66A3199A3B4D}" presName="parTx" presStyleLbl="revTx" presStyleIdx="0" presStyleCnt="2">
        <dgm:presLayoutVars>
          <dgm:chMax val="0"/>
          <dgm:chPref val="0"/>
          <dgm:bulletEnabled val="1"/>
        </dgm:presLayoutVars>
      </dgm:prSet>
      <dgm:spPr/>
      <dgm:t>
        <a:bodyPr/>
        <a:lstStyle/>
        <a:p>
          <a:endParaRPr lang="pt-BR"/>
        </a:p>
      </dgm:t>
    </dgm:pt>
    <dgm:pt modelId="{EE63B912-67EF-4909-A5E7-1D5C8C798EA7}" type="pres">
      <dgm:prSet presAssocID="{4043DA8E-78CF-4F60-AAB0-66A3199A3B4D}" presName="spVertical2" presStyleCnt="0"/>
      <dgm:spPr/>
    </dgm:pt>
    <dgm:pt modelId="{20322E55-AEA5-4901-8D95-8D502AD15BF0}" type="pres">
      <dgm:prSet presAssocID="{4043DA8E-78CF-4F60-AAB0-66A3199A3B4D}" presName="spVertical3" presStyleCnt="0"/>
      <dgm:spPr/>
    </dgm:pt>
    <dgm:pt modelId="{F317ADF5-A11C-42B3-8D04-64E5190ADE2C}" type="pres">
      <dgm:prSet presAssocID="{E6A965CC-1310-4A29-BF9F-71234BFA5E83}" presName="space" presStyleCnt="0"/>
      <dgm:spPr/>
    </dgm:pt>
    <dgm:pt modelId="{A324F6D0-9E52-461E-A955-FF4BF401CF08}" type="pres">
      <dgm:prSet presAssocID="{4983AD6B-F2F3-48C4-85BF-41911D0A5418}" presName="linV" presStyleCnt="0"/>
      <dgm:spPr/>
    </dgm:pt>
    <dgm:pt modelId="{6D494D84-74B0-48AC-9170-1AC03D491D12}" type="pres">
      <dgm:prSet presAssocID="{4983AD6B-F2F3-48C4-85BF-41911D0A5418}" presName="spVertical1" presStyleCnt="0"/>
      <dgm:spPr/>
    </dgm:pt>
    <dgm:pt modelId="{48B0C7B6-5B06-47F3-940C-E3142C2F554C}" type="pres">
      <dgm:prSet presAssocID="{4983AD6B-F2F3-48C4-85BF-41911D0A5418}" presName="parTx" presStyleLbl="revTx" presStyleIdx="1" presStyleCnt="2">
        <dgm:presLayoutVars>
          <dgm:chMax val="0"/>
          <dgm:chPref val="0"/>
          <dgm:bulletEnabled val="1"/>
        </dgm:presLayoutVars>
      </dgm:prSet>
      <dgm:spPr/>
      <dgm:t>
        <a:bodyPr/>
        <a:lstStyle/>
        <a:p>
          <a:endParaRPr lang="pt-BR"/>
        </a:p>
      </dgm:t>
    </dgm:pt>
    <dgm:pt modelId="{209AFE49-70A2-4004-9869-0EDDD83876E9}" type="pres">
      <dgm:prSet presAssocID="{4983AD6B-F2F3-48C4-85BF-41911D0A5418}" presName="spVertical2" presStyleCnt="0"/>
      <dgm:spPr/>
    </dgm:pt>
    <dgm:pt modelId="{0C611BA8-B840-4B1B-9057-14D15F8723E0}" type="pres">
      <dgm:prSet presAssocID="{4983AD6B-F2F3-48C4-85BF-41911D0A5418}" presName="spVertical3" presStyleCnt="0"/>
      <dgm:spPr/>
    </dgm:pt>
    <dgm:pt modelId="{BC82F6ED-306F-4EE3-ACE9-4E4D02783AEA}" type="pres">
      <dgm:prSet presAssocID="{9373D595-814F-463E-BB9D-197F72FBDB36}" presName="padding2" presStyleCnt="0"/>
      <dgm:spPr/>
    </dgm:pt>
    <dgm:pt modelId="{6355CD89-E43C-46EC-AA60-2AA20485A743}" type="pres">
      <dgm:prSet presAssocID="{9373D595-814F-463E-BB9D-197F72FBDB36}" presName="negArrow" presStyleCnt="0"/>
      <dgm:spPr/>
    </dgm:pt>
    <dgm:pt modelId="{178BAD5C-A9DE-4C2F-9112-6E3B9D1AF63E}" type="pres">
      <dgm:prSet presAssocID="{9373D595-814F-463E-BB9D-197F72FBDB36}" presName="backgroundArrow" presStyleLbl="node1" presStyleIdx="0" presStyleCnt="1"/>
      <dgm:spPr>
        <a:solidFill>
          <a:schemeClr val="tx2">
            <a:lumMod val="40000"/>
            <a:lumOff val="60000"/>
          </a:schemeClr>
        </a:solidFill>
      </dgm:spPr>
    </dgm:pt>
  </dgm:ptLst>
  <dgm:cxnLst>
    <dgm:cxn modelId="{823E97C0-55D8-4542-A629-15945A6EB493}" type="presOf" srcId="{4043DA8E-78CF-4F60-AAB0-66A3199A3B4D}" destId="{9D5B6874-3392-4A04-97E5-6A6E151D1415}" srcOrd="0" destOrd="0" presId="urn:microsoft.com/office/officeart/2005/8/layout/hProcess3"/>
    <dgm:cxn modelId="{3966D484-62C8-46FE-8515-1D46A4654698}" type="presOf" srcId="{9373D595-814F-463E-BB9D-197F72FBDB36}" destId="{00EA3CBA-38D1-4C3D-A390-A33D787B71C9}" srcOrd="0" destOrd="0" presId="urn:microsoft.com/office/officeart/2005/8/layout/hProcess3"/>
    <dgm:cxn modelId="{63AC4C3C-F710-4CCC-BFB9-6F5289B34419}" srcId="{9373D595-814F-463E-BB9D-197F72FBDB36}" destId="{4983AD6B-F2F3-48C4-85BF-41911D0A5418}" srcOrd="1" destOrd="0" parTransId="{F777D50A-1597-40D0-A202-EBE2306E7C0F}" sibTransId="{8C5BFE84-11DC-4800-A828-0C342B48A1F4}"/>
    <dgm:cxn modelId="{89649AA9-5D60-49C1-B4B3-3D95D80D4587}" type="presOf" srcId="{4983AD6B-F2F3-48C4-85BF-41911D0A5418}" destId="{48B0C7B6-5B06-47F3-940C-E3142C2F554C}" srcOrd="0" destOrd="0" presId="urn:microsoft.com/office/officeart/2005/8/layout/hProcess3"/>
    <dgm:cxn modelId="{8629B507-36B3-4786-A54D-AB5A001CA801}" srcId="{9373D595-814F-463E-BB9D-197F72FBDB36}" destId="{4043DA8E-78CF-4F60-AAB0-66A3199A3B4D}" srcOrd="0" destOrd="0" parTransId="{45FBA853-2C5E-4720-AE47-297B21CB8EC0}" sibTransId="{E6A965CC-1310-4A29-BF9F-71234BFA5E83}"/>
    <dgm:cxn modelId="{1F0D32F0-FB44-496E-B93E-8F346DB6B1C7}" type="presParOf" srcId="{00EA3CBA-38D1-4C3D-A390-A33D787B71C9}" destId="{B8A10EB9-EADA-4FFD-BC6A-E81FBF29BB24}" srcOrd="0" destOrd="0" presId="urn:microsoft.com/office/officeart/2005/8/layout/hProcess3"/>
    <dgm:cxn modelId="{C27B9E42-4AE5-49F4-A15D-DE278AA4EE31}" type="presParOf" srcId="{00EA3CBA-38D1-4C3D-A390-A33D787B71C9}" destId="{02CD1B29-889A-490C-A84B-B92BF0845DB0}" srcOrd="1" destOrd="0" presId="urn:microsoft.com/office/officeart/2005/8/layout/hProcess3"/>
    <dgm:cxn modelId="{FDF46569-B39E-4A23-B01E-33DC67874CD7}" type="presParOf" srcId="{02CD1B29-889A-490C-A84B-B92BF0845DB0}" destId="{D75B8A2E-D061-499A-9AB6-AB9349C482FB}" srcOrd="0" destOrd="0" presId="urn:microsoft.com/office/officeart/2005/8/layout/hProcess3"/>
    <dgm:cxn modelId="{5BDE1F13-D9D2-490E-8D46-74BAB3A4C5C3}" type="presParOf" srcId="{02CD1B29-889A-490C-A84B-B92BF0845DB0}" destId="{708D9DE7-E06A-4C85-A0FE-027D4393E91D}" srcOrd="1" destOrd="0" presId="urn:microsoft.com/office/officeart/2005/8/layout/hProcess3"/>
    <dgm:cxn modelId="{7391F6F1-F2F0-4D8A-BCDF-A11B2685493E}" type="presParOf" srcId="{708D9DE7-E06A-4C85-A0FE-027D4393E91D}" destId="{CC3D8D86-E6EA-4F82-85E1-4856C5EEF47C}" srcOrd="0" destOrd="0" presId="urn:microsoft.com/office/officeart/2005/8/layout/hProcess3"/>
    <dgm:cxn modelId="{669DF099-5BBB-4754-9D6D-332252FDE69D}" type="presParOf" srcId="{708D9DE7-E06A-4C85-A0FE-027D4393E91D}" destId="{9D5B6874-3392-4A04-97E5-6A6E151D1415}" srcOrd="1" destOrd="0" presId="urn:microsoft.com/office/officeart/2005/8/layout/hProcess3"/>
    <dgm:cxn modelId="{63A7008A-FE2A-47B4-802E-C1DFD7DC7B84}" type="presParOf" srcId="{708D9DE7-E06A-4C85-A0FE-027D4393E91D}" destId="{EE63B912-67EF-4909-A5E7-1D5C8C798EA7}" srcOrd="2" destOrd="0" presId="urn:microsoft.com/office/officeart/2005/8/layout/hProcess3"/>
    <dgm:cxn modelId="{CBC2D5C0-B509-4B76-974E-C68A0DDFD0F6}" type="presParOf" srcId="{708D9DE7-E06A-4C85-A0FE-027D4393E91D}" destId="{20322E55-AEA5-4901-8D95-8D502AD15BF0}" srcOrd="3" destOrd="0" presId="urn:microsoft.com/office/officeart/2005/8/layout/hProcess3"/>
    <dgm:cxn modelId="{E5CDCDBE-3D78-4C12-AC12-F55DDB5C294D}" type="presParOf" srcId="{02CD1B29-889A-490C-A84B-B92BF0845DB0}" destId="{F317ADF5-A11C-42B3-8D04-64E5190ADE2C}" srcOrd="2" destOrd="0" presId="urn:microsoft.com/office/officeart/2005/8/layout/hProcess3"/>
    <dgm:cxn modelId="{3F3D1FE5-35B5-49A5-8358-0B87E941E919}" type="presParOf" srcId="{02CD1B29-889A-490C-A84B-B92BF0845DB0}" destId="{A324F6D0-9E52-461E-A955-FF4BF401CF08}" srcOrd="3" destOrd="0" presId="urn:microsoft.com/office/officeart/2005/8/layout/hProcess3"/>
    <dgm:cxn modelId="{643AD890-1658-44C4-823C-C4F3EF0D70EE}" type="presParOf" srcId="{A324F6D0-9E52-461E-A955-FF4BF401CF08}" destId="{6D494D84-74B0-48AC-9170-1AC03D491D12}" srcOrd="0" destOrd="0" presId="urn:microsoft.com/office/officeart/2005/8/layout/hProcess3"/>
    <dgm:cxn modelId="{78870FE4-4AB5-4BCC-8AAF-85E796B3FF8C}" type="presParOf" srcId="{A324F6D0-9E52-461E-A955-FF4BF401CF08}" destId="{48B0C7B6-5B06-47F3-940C-E3142C2F554C}" srcOrd="1" destOrd="0" presId="urn:microsoft.com/office/officeart/2005/8/layout/hProcess3"/>
    <dgm:cxn modelId="{05486B12-9997-4858-B451-A6D54DA97A6C}" type="presParOf" srcId="{A324F6D0-9E52-461E-A955-FF4BF401CF08}" destId="{209AFE49-70A2-4004-9869-0EDDD83876E9}" srcOrd="2" destOrd="0" presId="urn:microsoft.com/office/officeart/2005/8/layout/hProcess3"/>
    <dgm:cxn modelId="{154FC84D-05F5-4658-99A3-D8AEF1D8D949}" type="presParOf" srcId="{A324F6D0-9E52-461E-A955-FF4BF401CF08}" destId="{0C611BA8-B840-4B1B-9057-14D15F8723E0}" srcOrd="3" destOrd="0" presId="urn:microsoft.com/office/officeart/2005/8/layout/hProcess3"/>
    <dgm:cxn modelId="{CA15F2D9-EEDE-4C3D-AD65-D0C78F10485E}" type="presParOf" srcId="{02CD1B29-889A-490C-A84B-B92BF0845DB0}" destId="{BC82F6ED-306F-4EE3-ACE9-4E4D02783AEA}" srcOrd="4" destOrd="0" presId="urn:microsoft.com/office/officeart/2005/8/layout/hProcess3"/>
    <dgm:cxn modelId="{3DAFC06F-112B-4C2D-A2E0-B1AB93BCFDDC}" type="presParOf" srcId="{02CD1B29-889A-490C-A84B-B92BF0845DB0}" destId="{6355CD89-E43C-46EC-AA60-2AA20485A743}" srcOrd="5" destOrd="0" presId="urn:microsoft.com/office/officeart/2005/8/layout/hProcess3"/>
    <dgm:cxn modelId="{383D36BA-49D6-49D0-8A15-C8F0881962B9}" type="presParOf" srcId="{02CD1B29-889A-490C-A84B-B92BF0845DB0}" destId="{178BAD5C-A9DE-4C2F-9112-6E3B9D1AF63E}" srcOrd="6" destOrd="0" presId="urn:microsoft.com/office/officeart/2005/8/layout/h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19CEF-0EF4-4032-8BFC-F6C2BEF3427D}" type="datetimeFigureOut">
              <a:rPr lang="pt-BR" smtClean="0"/>
              <a:t>05/10/2016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28DD66-A9D4-4290-B335-6AC25F3FC0FB}" type="slidenum">
              <a:rPr lang="pt-BR" smtClean="0"/>
              <a:t>‹nº›</a:t>
            </a:fld>
            <a:endParaRPr lang="pt-BR"/>
          </a:p>
        </p:txBody>
      </p:sp>
    </p:spTree>
    <p:extLst>
      <p:ext uri="{BB962C8B-B14F-4D97-AF65-F5344CB8AC3E}">
        <p14:creationId xmlns:p14="http://schemas.microsoft.com/office/powerpoint/2010/main" val="1030597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469C57DC-83C5-4299-B6B9-8144E73753F6}" type="slidenum">
              <a:rPr lang="en-US" smtClean="0"/>
              <a:pPr/>
              <a:t>8</a:t>
            </a:fld>
            <a:endParaRPr lang="en-US"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n-GB" smtClean="0"/>
          </a:p>
        </p:txBody>
      </p:sp>
    </p:spTree>
    <p:extLst>
      <p:ext uri="{BB962C8B-B14F-4D97-AF65-F5344CB8AC3E}">
        <p14:creationId xmlns:p14="http://schemas.microsoft.com/office/powerpoint/2010/main" val="419200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Espaço Reservado para Número de Slide 6"/>
          <p:cNvSpPr>
            <a:spLocks noGrp="1"/>
          </p:cNvSpPr>
          <p:nvPr>
            <p:ph type="sldNum" sz="quarter" idx="5"/>
          </p:nvPr>
        </p:nvSpPr>
        <p:spPr>
          <a:noFill/>
        </p:spPr>
        <p:txBody>
          <a:bodyPr/>
          <a:lstStyle>
            <a:lvl1pPr algn="l" defTabSz="914423" eaLnBrk="0" hangingPunct="0">
              <a:spcBef>
                <a:spcPct val="30000"/>
              </a:spcBef>
              <a:defRPr sz="1100">
                <a:solidFill>
                  <a:schemeClr val="tx1"/>
                </a:solidFill>
                <a:latin typeface="Calibri" pitchFamily="34" charset="0"/>
              </a:defRPr>
            </a:lvl1pPr>
            <a:lvl2pPr marL="685817" indent="-263776" algn="l" defTabSz="914423" eaLnBrk="0" hangingPunct="0">
              <a:spcBef>
                <a:spcPct val="30000"/>
              </a:spcBef>
              <a:defRPr sz="1100">
                <a:solidFill>
                  <a:schemeClr val="tx1"/>
                </a:solidFill>
                <a:latin typeface="Calibri" pitchFamily="34" charset="0"/>
              </a:defRPr>
            </a:lvl2pPr>
            <a:lvl3pPr marL="1055103" indent="-211021" algn="l" defTabSz="914423" eaLnBrk="0" hangingPunct="0">
              <a:spcBef>
                <a:spcPct val="30000"/>
              </a:spcBef>
              <a:defRPr sz="1100">
                <a:solidFill>
                  <a:schemeClr val="tx1"/>
                </a:solidFill>
                <a:latin typeface="Calibri" pitchFamily="34" charset="0"/>
              </a:defRPr>
            </a:lvl3pPr>
            <a:lvl4pPr marL="1477145" indent="-211021" algn="l" defTabSz="914423" eaLnBrk="0" hangingPunct="0">
              <a:spcBef>
                <a:spcPct val="30000"/>
              </a:spcBef>
              <a:defRPr sz="1100">
                <a:solidFill>
                  <a:schemeClr val="tx1"/>
                </a:solidFill>
                <a:latin typeface="Calibri" pitchFamily="34" charset="0"/>
              </a:defRPr>
            </a:lvl4pPr>
            <a:lvl5pPr marL="1899186" indent="-211021" algn="l" defTabSz="914423" eaLnBrk="0" hangingPunct="0">
              <a:spcBef>
                <a:spcPct val="30000"/>
              </a:spcBef>
              <a:defRPr sz="1100">
                <a:solidFill>
                  <a:schemeClr val="tx1"/>
                </a:solidFill>
                <a:latin typeface="Calibri" pitchFamily="34" charset="0"/>
              </a:defRPr>
            </a:lvl5pPr>
            <a:lvl6pPr marL="2321227" indent="-211021" defTabSz="914423" eaLnBrk="0" fontAlgn="base" hangingPunct="0">
              <a:spcBef>
                <a:spcPct val="30000"/>
              </a:spcBef>
              <a:spcAft>
                <a:spcPct val="0"/>
              </a:spcAft>
              <a:defRPr sz="1100">
                <a:solidFill>
                  <a:schemeClr val="tx1"/>
                </a:solidFill>
                <a:latin typeface="Calibri" pitchFamily="34" charset="0"/>
              </a:defRPr>
            </a:lvl6pPr>
            <a:lvl7pPr marL="2743269" indent="-211021" defTabSz="914423" eaLnBrk="0" fontAlgn="base" hangingPunct="0">
              <a:spcBef>
                <a:spcPct val="30000"/>
              </a:spcBef>
              <a:spcAft>
                <a:spcPct val="0"/>
              </a:spcAft>
              <a:defRPr sz="1100">
                <a:solidFill>
                  <a:schemeClr val="tx1"/>
                </a:solidFill>
                <a:latin typeface="Calibri" pitchFamily="34" charset="0"/>
              </a:defRPr>
            </a:lvl7pPr>
            <a:lvl8pPr marL="3165310" indent="-211021" defTabSz="914423" eaLnBrk="0" fontAlgn="base" hangingPunct="0">
              <a:spcBef>
                <a:spcPct val="30000"/>
              </a:spcBef>
              <a:spcAft>
                <a:spcPct val="0"/>
              </a:spcAft>
              <a:defRPr sz="1100">
                <a:solidFill>
                  <a:schemeClr val="tx1"/>
                </a:solidFill>
                <a:latin typeface="Calibri" pitchFamily="34" charset="0"/>
              </a:defRPr>
            </a:lvl8pPr>
            <a:lvl9pPr marL="3587351" indent="-211021" defTabSz="914423" eaLnBrk="0" fontAlgn="base" hangingPunct="0">
              <a:spcBef>
                <a:spcPct val="30000"/>
              </a:spcBef>
              <a:spcAft>
                <a:spcPct val="0"/>
              </a:spcAft>
              <a:defRPr sz="1100">
                <a:solidFill>
                  <a:schemeClr val="tx1"/>
                </a:solidFill>
                <a:latin typeface="Calibri" pitchFamily="34" charset="0"/>
              </a:defRPr>
            </a:lvl9pPr>
          </a:lstStyle>
          <a:p>
            <a:pPr algn="r" eaLnBrk="1" hangingPunct="1">
              <a:spcBef>
                <a:spcPct val="0"/>
              </a:spcBef>
            </a:pPr>
            <a:fld id="{4156ECE1-1BC5-40D3-A301-0ED93F21493F}" type="slidenum">
              <a:rPr lang="pt-BR" altLang="pt-BR" sz="1200">
                <a:latin typeface="Arial" charset="0"/>
              </a:rPr>
              <a:pPr algn="r" eaLnBrk="1" hangingPunct="1">
                <a:spcBef>
                  <a:spcPct val="0"/>
                </a:spcBef>
              </a:pPr>
              <a:t>23</a:t>
            </a:fld>
            <a:endParaRPr lang="pt-BR" altLang="pt-BR" sz="1200">
              <a:latin typeface="Arial" charset="0"/>
            </a:endParaRPr>
          </a:p>
        </p:txBody>
      </p:sp>
      <p:sp>
        <p:nvSpPr>
          <p:cNvPr id="207875" name="Rectangle 6"/>
          <p:cNvSpPr txBox="1">
            <a:spLocks noGrp="1" noChangeArrowheads="1"/>
          </p:cNvSpPr>
          <p:nvPr/>
        </p:nvSpPr>
        <p:spPr bwMode="auto">
          <a:xfrm>
            <a:off x="0" y="8687297"/>
            <a:ext cx="3777115"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Abril de 2012.</a:t>
            </a:r>
          </a:p>
        </p:txBody>
      </p:sp>
      <p:sp>
        <p:nvSpPr>
          <p:cNvPr id="207876"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5200" eaLnBrk="0" hangingPunct="0">
              <a:spcBef>
                <a:spcPct val="30000"/>
              </a:spcBef>
              <a:defRPr sz="1200">
                <a:solidFill>
                  <a:schemeClr val="tx1"/>
                </a:solidFill>
                <a:latin typeface="Calibri" pitchFamily="34" charset="0"/>
              </a:defRPr>
            </a:lvl1pPr>
            <a:lvl2pPr marL="742950" indent="-285750" algn="l" defTabSz="965200" eaLnBrk="0" hangingPunct="0">
              <a:spcBef>
                <a:spcPct val="30000"/>
              </a:spcBef>
              <a:defRPr sz="1200">
                <a:solidFill>
                  <a:schemeClr val="tx1"/>
                </a:solidFill>
                <a:latin typeface="Calibri" pitchFamily="34" charset="0"/>
              </a:defRPr>
            </a:lvl2pPr>
            <a:lvl3pPr marL="1143000" indent="-228600" algn="l" defTabSz="965200" eaLnBrk="0" hangingPunct="0">
              <a:spcBef>
                <a:spcPct val="30000"/>
              </a:spcBef>
              <a:defRPr sz="1200">
                <a:solidFill>
                  <a:schemeClr val="tx1"/>
                </a:solidFill>
                <a:latin typeface="Calibri" pitchFamily="34" charset="0"/>
              </a:defRPr>
            </a:lvl3pPr>
            <a:lvl4pPr marL="1600200" indent="-228600" algn="l" defTabSz="965200" eaLnBrk="0" hangingPunct="0">
              <a:spcBef>
                <a:spcPct val="30000"/>
              </a:spcBef>
              <a:defRPr sz="1200">
                <a:solidFill>
                  <a:schemeClr val="tx1"/>
                </a:solidFill>
                <a:latin typeface="Calibri" pitchFamily="34" charset="0"/>
              </a:defRPr>
            </a:lvl4pPr>
            <a:lvl5pPr marL="2057400" indent="-228600" algn="l" defTabSz="965200" eaLnBrk="0" hangingPunct="0">
              <a:spcBef>
                <a:spcPct val="30000"/>
              </a:spcBef>
              <a:defRPr sz="1200">
                <a:solidFill>
                  <a:schemeClr val="tx1"/>
                </a:solidFill>
                <a:latin typeface="Calibri" pitchFamily="34" charset="0"/>
              </a:defRPr>
            </a:lvl5pPr>
            <a:lvl6pPr marL="2514600" indent="-228600" defTabSz="965200" eaLnBrk="0" fontAlgn="base" hangingPunct="0">
              <a:spcBef>
                <a:spcPct val="30000"/>
              </a:spcBef>
              <a:spcAft>
                <a:spcPct val="0"/>
              </a:spcAft>
              <a:defRPr sz="1200">
                <a:solidFill>
                  <a:schemeClr val="tx1"/>
                </a:solidFill>
                <a:latin typeface="Calibri" pitchFamily="34" charset="0"/>
              </a:defRPr>
            </a:lvl6pPr>
            <a:lvl7pPr marL="2971800" indent="-228600" defTabSz="965200" eaLnBrk="0" fontAlgn="base" hangingPunct="0">
              <a:spcBef>
                <a:spcPct val="30000"/>
              </a:spcBef>
              <a:spcAft>
                <a:spcPct val="0"/>
              </a:spcAft>
              <a:defRPr sz="1200">
                <a:solidFill>
                  <a:schemeClr val="tx1"/>
                </a:solidFill>
                <a:latin typeface="Calibri" pitchFamily="34" charset="0"/>
              </a:defRPr>
            </a:lvl7pPr>
            <a:lvl8pPr marL="3429000" indent="-228600" defTabSz="965200" eaLnBrk="0" fontAlgn="base" hangingPunct="0">
              <a:spcBef>
                <a:spcPct val="30000"/>
              </a:spcBef>
              <a:spcAft>
                <a:spcPct val="0"/>
              </a:spcAft>
              <a:defRPr sz="1200">
                <a:solidFill>
                  <a:schemeClr val="tx1"/>
                </a:solidFill>
                <a:latin typeface="Calibri" pitchFamily="34" charset="0"/>
              </a:defRPr>
            </a:lvl8pPr>
            <a:lvl9pPr marL="3886200" indent="-228600" defTabSz="965200"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1C454993-E9BF-446C-B06B-D18D35CA1478}" type="slidenum">
              <a:rPr lang="pt-BR" altLang="pt-BR">
                <a:latin typeface="Arial" charset="0"/>
              </a:rPr>
              <a:pPr algn="r" eaLnBrk="1" hangingPunct="1">
                <a:spcBef>
                  <a:spcPct val="0"/>
                </a:spcBef>
              </a:pPr>
              <a:t>23</a:t>
            </a:fld>
            <a:endParaRPr lang="pt-BR" altLang="pt-BR">
              <a:latin typeface="Arial" charset="0"/>
            </a:endParaRPr>
          </a:p>
        </p:txBody>
      </p:sp>
      <p:sp>
        <p:nvSpPr>
          <p:cNvPr id="207877" name="Rectangle 6"/>
          <p:cNvSpPr txBox="1">
            <a:spLocks noGrp="1" noChangeArrowheads="1"/>
          </p:cNvSpPr>
          <p:nvPr/>
        </p:nvSpPr>
        <p:spPr bwMode="auto">
          <a:xfrm>
            <a:off x="1"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ctr" eaLnBrk="1" hangingPunct="1">
              <a:spcBef>
                <a:spcPct val="0"/>
              </a:spcBef>
            </a:pPr>
            <a:r>
              <a:rPr lang="pt-BR" altLang="pt-BR">
                <a:latin typeface="Arial" charset="0"/>
                <a:cs typeface="Arial" charset="0"/>
              </a:rPr>
              <a:t>Todos os direitos reservados à FISCOSoft Editora Ltda - São Paulo, Maio de 2011.</a:t>
            </a:r>
          </a:p>
        </p:txBody>
      </p:sp>
      <p:sp>
        <p:nvSpPr>
          <p:cNvPr id="207878" name="Rectangle 7"/>
          <p:cNvSpPr txBox="1">
            <a:spLocks noGrp="1" noChangeArrowheads="1"/>
          </p:cNvSpPr>
          <p:nvPr/>
        </p:nvSpPr>
        <p:spPr bwMode="auto">
          <a:xfrm>
            <a:off x="3885996" y="8687297"/>
            <a:ext cx="2972004" cy="45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219" tIns="44610" rIns="89219" bIns="44610" anchor="b"/>
          <a:lstStyle>
            <a:lvl1pPr algn="l" defTabSz="966788" eaLnBrk="0" hangingPunct="0">
              <a:spcBef>
                <a:spcPct val="30000"/>
              </a:spcBef>
              <a:defRPr sz="1200">
                <a:solidFill>
                  <a:schemeClr val="tx1"/>
                </a:solidFill>
                <a:latin typeface="Calibri" pitchFamily="34" charset="0"/>
              </a:defRPr>
            </a:lvl1pPr>
            <a:lvl2pPr marL="742950" indent="-285750" algn="l" defTabSz="966788" eaLnBrk="0" hangingPunct="0">
              <a:spcBef>
                <a:spcPct val="30000"/>
              </a:spcBef>
              <a:defRPr sz="1200">
                <a:solidFill>
                  <a:schemeClr val="tx1"/>
                </a:solidFill>
                <a:latin typeface="Calibri" pitchFamily="34" charset="0"/>
              </a:defRPr>
            </a:lvl2pPr>
            <a:lvl3pPr marL="1143000" indent="-228600" algn="l" defTabSz="966788" eaLnBrk="0" hangingPunct="0">
              <a:spcBef>
                <a:spcPct val="30000"/>
              </a:spcBef>
              <a:defRPr sz="1200">
                <a:solidFill>
                  <a:schemeClr val="tx1"/>
                </a:solidFill>
                <a:latin typeface="Calibri" pitchFamily="34" charset="0"/>
              </a:defRPr>
            </a:lvl3pPr>
            <a:lvl4pPr marL="1600200" indent="-228600" algn="l" defTabSz="966788" eaLnBrk="0" hangingPunct="0">
              <a:spcBef>
                <a:spcPct val="30000"/>
              </a:spcBef>
              <a:defRPr sz="1200">
                <a:solidFill>
                  <a:schemeClr val="tx1"/>
                </a:solidFill>
                <a:latin typeface="Calibri" pitchFamily="34" charset="0"/>
              </a:defRPr>
            </a:lvl4pPr>
            <a:lvl5pPr marL="2057400" indent="-228600" algn="l" defTabSz="966788" eaLnBrk="0" hangingPunct="0">
              <a:spcBef>
                <a:spcPct val="30000"/>
              </a:spcBef>
              <a:defRPr sz="1200">
                <a:solidFill>
                  <a:schemeClr val="tx1"/>
                </a:solidFill>
                <a:latin typeface="Calibri" pitchFamily="34" charset="0"/>
              </a:defRPr>
            </a:lvl5pPr>
            <a:lvl6pPr marL="2514600" indent="-228600" defTabSz="966788" eaLnBrk="0" fontAlgn="base" hangingPunct="0">
              <a:spcBef>
                <a:spcPct val="30000"/>
              </a:spcBef>
              <a:spcAft>
                <a:spcPct val="0"/>
              </a:spcAft>
              <a:defRPr sz="1200">
                <a:solidFill>
                  <a:schemeClr val="tx1"/>
                </a:solidFill>
                <a:latin typeface="Calibri" pitchFamily="34" charset="0"/>
              </a:defRPr>
            </a:lvl6pPr>
            <a:lvl7pPr marL="2971800" indent="-228600" defTabSz="966788" eaLnBrk="0" fontAlgn="base" hangingPunct="0">
              <a:spcBef>
                <a:spcPct val="30000"/>
              </a:spcBef>
              <a:spcAft>
                <a:spcPct val="0"/>
              </a:spcAft>
              <a:defRPr sz="1200">
                <a:solidFill>
                  <a:schemeClr val="tx1"/>
                </a:solidFill>
                <a:latin typeface="Calibri" pitchFamily="34" charset="0"/>
              </a:defRPr>
            </a:lvl7pPr>
            <a:lvl8pPr marL="3429000" indent="-228600" defTabSz="966788" eaLnBrk="0" fontAlgn="base" hangingPunct="0">
              <a:spcBef>
                <a:spcPct val="30000"/>
              </a:spcBef>
              <a:spcAft>
                <a:spcPct val="0"/>
              </a:spcAft>
              <a:defRPr sz="1200">
                <a:solidFill>
                  <a:schemeClr val="tx1"/>
                </a:solidFill>
                <a:latin typeface="Calibri" pitchFamily="34" charset="0"/>
              </a:defRPr>
            </a:lvl8pPr>
            <a:lvl9pPr marL="3886200" indent="-228600" defTabSz="966788" eaLnBrk="0" fontAlgn="base" hangingPunct="0">
              <a:spcBef>
                <a:spcPct val="30000"/>
              </a:spcBef>
              <a:spcAft>
                <a:spcPct val="0"/>
              </a:spcAft>
              <a:defRPr sz="1200">
                <a:solidFill>
                  <a:schemeClr val="tx1"/>
                </a:solidFill>
                <a:latin typeface="Calibri" pitchFamily="34" charset="0"/>
              </a:defRPr>
            </a:lvl9pPr>
          </a:lstStyle>
          <a:p>
            <a:pPr algn="r" eaLnBrk="1" hangingPunct="1">
              <a:spcBef>
                <a:spcPct val="0"/>
              </a:spcBef>
            </a:pPr>
            <a:fld id="{41CCBD7A-FE4F-467C-8BD6-8707F75B4E56}" type="slidenum">
              <a:rPr lang="pt-BR" altLang="pt-BR">
                <a:latin typeface="Arial" charset="0"/>
                <a:cs typeface="Arial" charset="0"/>
              </a:rPr>
              <a:pPr algn="r" eaLnBrk="1" hangingPunct="1">
                <a:spcBef>
                  <a:spcPct val="0"/>
                </a:spcBef>
              </a:pPr>
              <a:t>23</a:t>
            </a:fld>
            <a:endParaRPr lang="pt-BR" altLang="pt-BR">
              <a:latin typeface="Arial" charset="0"/>
              <a:cs typeface="Arial" charset="0"/>
            </a:endParaRPr>
          </a:p>
        </p:txBody>
      </p:sp>
      <p:sp>
        <p:nvSpPr>
          <p:cNvPr id="207879" name="Rectangle 2"/>
          <p:cNvSpPr>
            <a:spLocks noGrp="1" noRot="1" noChangeAspect="1" noChangeArrowheads="1" noTextEdit="1"/>
          </p:cNvSpPr>
          <p:nvPr>
            <p:ph type="sldImg"/>
          </p:nvPr>
        </p:nvSpPr>
        <p:spPr bwMode="auto">
          <a:xfrm>
            <a:off x="381000" y="685800"/>
            <a:ext cx="6096000" cy="3430588"/>
          </a:xfrm>
          <a:solidFill>
            <a:srgbClr val="FFFFFF"/>
          </a:solidFill>
          <a:ln>
            <a:solidFill>
              <a:srgbClr val="000000"/>
            </a:solidFill>
            <a:miter lim="800000"/>
            <a:headEnd/>
            <a:tailEnd/>
          </a:ln>
        </p:spPr>
      </p:sp>
      <p:sp>
        <p:nvSpPr>
          <p:cNvPr id="207880" name="Rectangle 3"/>
          <p:cNvSpPr>
            <a:spLocks noGrp="1" noChangeArrowheads="1"/>
          </p:cNvSpPr>
          <p:nvPr>
            <p:ph type="body" idx="1"/>
          </p:nvPr>
        </p:nvSpPr>
        <p:spPr bwMode="auto">
          <a:xfrm>
            <a:off x="913991" y="4344357"/>
            <a:ext cx="5030018" cy="4113169"/>
          </a:xfrm>
          <a:solidFill>
            <a:srgbClr val="FFFFFF"/>
          </a:solidFill>
          <a:ln>
            <a:solidFill>
              <a:srgbClr val="000000"/>
            </a:solidFill>
            <a:miter lim="800000"/>
            <a:headEnd/>
            <a:tailEnd/>
          </a:ln>
        </p:spPr>
        <p:txBody>
          <a:bodyPr wrap="square" lIns="89219" tIns="44610" rIns="89219" bIns="44610" numCol="1" anchor="t" anchorCtr="0" compatLnSpc="1">
            <a:prstTxWarp prst="textNoShape">
              <a:avLst/>
            </a:prstTxWarp>
          </a:bodyPr>
          <a:lstStyle/>
          <a:p>
            <a:pPr eaLnBrk="1" hangingPunct="1"/>
            <a:endParaRPr lang="pt-BR" altLang="pt-BR" smtClean="0"/>
          </a:p>
        </p:txBody>
      </p:sp>
    </p:spTree>
    <p:extLst>
      <p:ext uri="{BB962C8B-B14F-4D97-AF65-F5344CB8AC3E}">
        <p14:creationId xmlns:p14="http://schemas.microsoft.com/office/powerpoint/2010/main" val="3836219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1D3DE8FE-B00B-4E17-BBC6-07E3C1791643}" type="slidenum">
              <a:rPr lang="en-US" smtClean="0"/>
              <a:pPr/>
              <a:t>34</a:t>
            </a:fld>
            <a:endParaRPr lang="en-US"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endParaRPr lang="pt-BR" smtClean="0"/>
          </a:p>
        </p:txBody>
      </p:sp>
    </p:spTree>
    <p:extLst>
      <p:ext uri="{BB962C8B-B14F-4D97-AF65-F5344CB8AC3E}">
        <p14:creationId xmlns:p14="http://schemas.microsoft.com/office/powerpoint/2010/main" val="2123187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59878AD9-D048-43D6-AA8B-EA0D74370CB0}" type="datetimeFigureOut">
              <a:rPr lang="pt-BR" smtClean="0"/>
              <a:t>05/10/2016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FE463410-3E0E-422A-9951-18C615C3F040}" type="slidenum">
              <a:rPr lang="pt-BR" smtClean="0"/>
              <a:t>‹nº›</a:t>
            </a:fld>
            <a:endParaRPr lang="pt-BR"/>
          </a:p>
        </p:txBody>
      </p:sp>
    </p:spTree>
    <p:extLst>
      <p:ext uri="{BB962C8B-B14F-4D97-AF65-F5344CB8AC3E}">
        <p14:creationId xmlns:p14="http://schemas.microsoft.com/office/powerpoint/2010/main" val="3323867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59878AD9-D048-43D6-AA8B-EA0D74370CB0}" type="datetimeFigureOut">
              <a:rPr lang="pt-BR" smtClean="0"/>
              <a:t>05/10/2016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FE463410-3E0E-422A-9951-18C615C3F040}" type="slidenum">
              <a:rPr lang="pt-BR" smtClean="0"/>
              <a:t>‹nº›</a:t>
            </a:fld>
            <a:endParaRPr lang="pt-BR"/>
          </a:p>
        </p:txBody>
      </p:sp>
    </p:spTree>
    <p:extLst>
      <p:ext uri="{BB962C8B-B14F-4D97-AF65-F5344CB8AC3E}">
        <p14:creationId xmlns:p14="http://schemas.microsoft.com/office/powerpoint/2010/main" val="3582397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59878AD9-D048-43D6-AA8B-EA0D74370CB0}" type="datetimeFigureOut">
              <a:rPr lang="pt-BR" smtClean="0"/>
              <a:t>05/10/2016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FE463410-3E0E-422A-9951-18C615C3F040}" type="slidenum">
              <a:rPr lang="pt-BR" smtClean="0"/>
              <a:t>‹nº›</a:t>
            </a:fld>
            <a:endParaRPr lang="pt-BR"/>
          </a:p>
        </p:txBody>
      </p:sp>
    </p:spTree>
    <p:extLst>
      <p:ext uri="{BB962C8B-B14F-4D97-AF65-F5344CB8AC3E}">
        <p14:creationId xmlns:p14="http://schemas.microsoft.com/office/powerpoint/2010/main" val="985238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59878AD9-D048-43D6-AA8B-EA0D74370CB0}" type="datetimeFigureOut">
              <a:rPr lang="pt-BR" smtClean="0"/>
              <a:t>05/10/2016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FE463410-3E0E-422A-9951-18C615C3F040}" type="slidenum">
              <a:rPr lang="pt-BR" smtClean="0"/>
              <a:t>‹nº›</a:t>
            </a:fld>
            <a:endParaRPr lang="pt-BR"/>
          </a:p>
        </p:txBody>
      </p:sp>
    </p:spTree>
    <p:extLst>
      <p:ext uri="{BB962C8B-B14F-4D97-AF65-F5344CB8AC3E}">
        <p14:creationId xmlns:p14="http://schemas.microsoft.com/office/powerpoint/2010/main" val="3373810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59878AD9-D048-43D6-AA8B-EA0D74370CB0}" type="datetimeFigureOut">
              <a:rPr lang="pt-BR" smtClean="0"/>
              <a:t>05/10/2016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FE463410-3E0E-422A-9951-18C615C3F040}" type="slidenum">
              <a:rPr lang="pt-BR" smtClean="0"/>
              <a:t>‹nº›</a:t>
            </a:fld>
            <a:endParaRPr lang="pt-BR"/>
          </a:p>
        </p:txBody>
      </p:sp>
    </p:spTree>
    <p:extLst>
      <p:ext uri="{BB962C8B-B14F-4D97-AF65-F5344CB8AC3E}">
        <p14:creationId xmlns:p14="http://schemas.microsoft.com/office/powerpoint/2010/main" val="1284336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59878AD9-D048-43D6-AA8B-EA0D74370CB0}" type="datetimeFigureOut">
              <a:rPr lang="pt-BR" smtClean="0"/>
              <a:t>05/10/2016</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FE463410-3E0E-422A-9951-18C615C3F040}" type="slidenum">
              <a:rPr lang="pt-BR" smtClean="0"/>
              <a:t>‹nº›</a:t>
            </a:fld>
            <a:endParaRPr lang="pt-BR"/>
          </a:p>
        </p:txBody>
      </p:sp>
    </p:spTree>
    <p:extLst>
      <p:ext uri="{BB962C8B-B14F-4D97-AF65-F5344CB8AC3E}">
        <p14:creationId xmlns:p14="http://schemas.microsoft.com/office/powerpoint/2010/main" val="1184595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59878AD9-D048-43D6-AA8B-EA0D74370CB0}" type="datetimeFigureOut">
              <a:rPr lang="pt-BR" smtClean="0"/>
              <a:t>05/10/2016</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FE463410-3E0E-422A-9951-18C615C3F040}" type="slidenum">
              <a:rPr lang="pt-BR" smtClean="0"/>
              <a:t>‹nº›</a:t>
            </a:fld>
            <a:endParaRPr lang="pt-BR"/>
          </a:p>
        </p:txBody>
      </p:sp>
    </p:spTree>
    <p:extLst>
      <p:ext uri="{BB962C8B-B14F-4D97-AF65-F5344CB8AC3E}">
        <p14:creationId xmlns:p14="http://schemas.microsoft.com/office/powerpoint/2010/main" val="1892555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59878AD9-D048-43D6-AA8B-EA0D74370CB0}" type="datetimeFigureOut">
              <a:rPr lang="pt-BR" smtClean="0"/>
              <a:t>05/10/2016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FE463410-3E0E-422A-9951-18C615C3F040}" type="slidenum">
              <a:rPr lang="pt-BR" smtClean="0"/>
              <a:t>‹nº›</a:t>
            </a:fld>
            <a:endParaRPr lang="pt-BR"/>
          </a:p>
        </p:txBody>
      </p:sp>
    </p:spTree>
    <p:extLst>
      <p:ext uri="{BB962C8B-B14F-4D97-AF65-F5344CB8AC3E}">
        <p14:creationId xmlns:p14="http://schemas.microsoft.com/office/powerpoint/2010/main" val="1425033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59878AD9-D048-43D6-AA8B-EA0D74370CB0}" type="datetimeFigureOut">
              <a:rPr lang="pt-BR" smtClean="0"/>
              <a:t>05/10/2016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FE463410-3E0E-422A-9951-18C615C3F040}" type="slidenum">
              <a:rPr lang="pt-BR" smtClean="0"/>
              <a:t>‹nº›</a:t>
            </a:fld>
            <a:endParaRPr lang="pt-BR"/>
          </a:p>
        </p:txBody>
      </p:sp>
    </p:spTree>
    <p:extLst>
      <p:ext uri="{BB962C8B-B14F-4D97-AF65-F5344CB8AC3E}">
        <p14:creationId xmlns:p14="http://schemas.microsoft.com/office/powerpoint/2010/main" val="2764871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59878AD9-D048-43D6-AA8B-EA0D74370CB0}" type="datetimeFigureOut">
              <a:rPr lang="pt-BR" smtClean="0"/>
              <a:t>05/10/2016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FE463410-3E0E-422A-9951-18C615C3F040}" type="slidenum">
              <a:rPr lang="pt-BR" smtClean="0"/>
              <a:t>‹nº›</a:t>
            </a:fld>
            <a:endParaRPr lang="pt-BR"/>
          </a:p>
        </p:txBody>
      </p:sp>
    </p:spTree>
    <p:extLst>
      <p:ext uri="{BB962C8B-B14F-4D97-AF65-F5344CB8AC3E}">
        <p14:creationId xmlns:p14="http://schemas.microsoft.com/office/powerpoint/2010/main" val="2620051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59878AD9-D048-43D6-AA8B-EA0D74370CB0}" type="datetimeFigureOut">
              <a:rPr lang="pt-BR" smtClean="0"/>
              <a:t>05/10/2016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FE463410-3E0E-422A-9951-18C615C3F040}" type="slidenum">
              <a:rPr lang="pt-BR" smtClean="0"/>
              <a:t>‹nº›</a:t>
            </a:fld>
            <a:endParaRPr lang="pt-BR"/>
          </a:p>
        </p:txBody>
      </p:sp>
    </p:spTree>
    <p:extLst>
      <p:ext uri="{BB962C8B-B14F-4D97-AF65-F5344CB8AC3E}">
        <p14:creationId xmlns:p14="http://schemas.microsoft.com/office/powerpoint/2010/main" val="309542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ítulo, clip-art e texto">
    <p:spTree>
      <p:nvGrpSpPr>
        <p:cNvPr id="1" name=""/>
        <p:cNvGrpSpPr/>
        <p:nvPr/>
      </p:nvGrpSpPr>
      <p:grpSpPr>
        <a:xfrm>
          <a:off x="0" y="0"/>
          <a:ext cx="0" cy="0"/>
          <a:chOff x="0" y="0"/>
          <a:chExt cx="0" cy="0"/>
        </a:xfrm>
      </p:grpSpPr>
      <p:sp>
        <p:nvSpPr>
          <p:cNvPr id="2" name="Título 1"/>
          <p:cNvSpPr>
            <a:spLocks noGrp="1"/>
          </p:cNvSpPr>
          <p:nvPr>
            <p:ph type="title"/>
          </p:nvPr>
        </p:nvSpPr>
        <p:spPr>
          <a:xfrm>
            <a:off x="914400" y="609600"/>
            <a:ext cx="10363200" cy="1143000"/>
          </a:xfrm>
        </p:spPr>
        <p:txBody>
          <a:bodyPr/>
          <a:lstStyle/>
          <a:p>
            <a:r>
              <a:rPr lang="pt-BR" smtClean="0"/>
              <a:t>Clique para editar o estilo do título mestre</a:t>
            </a:r>
            <a:endParaRPr lang="pt-BR"/>
          </a:p>
        </p:txBody>
      </p:sp>
      <p:sp>
        <p:nvSpPr>
          <p:cNvPr id="3" name="Espaço Reservado para Clip-art 2"/>
          <p:cNvSpPr>
            <a:spLocks noGrp="1"/>
          </p:cNvSpPr>
          <p:nvPr>
            <p:ph type="clipArt" sz="half" idx="1"/>
          </p:nvPr>
        </p:nvSpPr>
        <p:spPr>
          <a:xfrm>
            <a:off x="914400" y="1981200"/>
            <a:ext cx="5080000" cy="4114800"/>
          </a:xfrm>
        </p:spPr>
        <p:txBody>
          <a:bodyPr/>
          <a:lstStyle/>
          <a:p>
            <a:endParaRPr lang="pt-BR"/>
          </a:p>
        </p:txBody>
      </p:sp>
      <p:sp>
        <p:nvSpPr>
          <p:cNvPr id="4" name="Espaço Reservado para Texto 3"/>
          <p:cNvSpPr>
            <a:spLocks noGrp="1"/>
          </p:cNvSpPr>
          <p:nvPr>
            <p:ph type="body" sz="half" idx="2"/>
          </p:nvPr>
        </p:nvSpPr>
        <p:spPr>
          <a:xfrm>
            <a:off x="6197600" y="1981200"/>
            <a:ext cx="5080000" cy="4114800"/>
          </a:xfrm>
        </p:spPr>
        <p:txBody>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a:xfrm>
            <a:off x="914400" y="6172200"/>
            <a:ext cx="2540000" cy="457200"/>
          </a:xfrm>
        </p:spPr>
        <p:txBody>
          <a:bodyPr/>
          <a:lstStyle>
            <a:lvl1pPr>
              <a:defRPr/>
            </a:lvl1pPr>
          </a:lstStyle>
          <a:p>
            <a:r>
              <a:rPr lang="pt-BR" smtClean="0"/>
              <a:t>09/06/2009</a:t>
            </a:r>
            <a:endParaRPr lang="pt-BR"/>
          </a:p>
        </p:txBody>
      </p:sp>
      <p:sp>
        <p:nvSpPr>
          <p:cNvPr id="6" name="Espaço Reservado para Rodapé 5"/>
          <p:cNvSpPr>
            <a:spLocks noGrp="1"/>
          </p:cNvSpPr>
          <p:nvPr>
            <p:ph type="ftr" sz="quarter" idx="11"/>
          </p:nvPr>
        </p:nvSpPr>
        <p:spPr>
          <a:xfrm>
            <a:off x="4165600" y="6172200"/>
            <a:ext cx="3860800" cy="457200"/>
          </a:xfrm>
        </p:spPr>
        <p:txBody>
          <a:bodyPr/>
          <a:lstStyle>
            <a:lvl1pPr>
              <a:defRPr/>
            </a:lvl1pPr>
          </a:lstStyle>
          <a:p>
            <a:endParaRPr lang="pt-BR"/>
          </a:p>
        </p:txBody>
      </p:sp>
      <p:sp>
        <p:nvSpPr>
          <p:cNvPr id="7" name="Espaço Reservado para Número de Slide 6"/>
          <p:cNvSpPr>
            <a:spLocks noGrp="1"/>
          </p:cNvSpPr>
          <p:nvPr>
            <p:ph type="sldNum" sz="quarter" idx="12"/>
          </p:nvPr>
        </p:nvSpPr>
        <p:spPr>
          <a:xfrm>
            <a:off x="8737600" y="6172200"/>
            <a:ext cx="2540000" cy="457200"/>
          </a:xfrm>
        </p:spPr>
        <p:txBody>
          <a:bodyPr/>
          <a:lstStyle>
            <a:lvl1pPr>
              <a:defRPr/>
            </a:lvl1pPr>
          </a:lstStyle>
          <a:p>
            <a:fld id="{E5A65690-466A-490F-97D8-BED3DDBAC8D7}" type="slidenum">
              <a:rPr lang="pt-BR"/>
              <a:pPr/>
              <a:t>‹nº›</a:t>
            </a:fld>
            <a:endParaRPr lang="pt-BR"/>
          </a:p>
        </p:txBody>
      </p:sp>
    </p:spTree>
    <p:extLst>
      <p:ext uri="{BB962C8B-B14F-4D97-AF65-F5344CB8AC3E}">
        <p14:creationId xmlns:p14="http://schemas.microsoft.com/office/powerpoint/2010/main" val="4227412922"/>
      </p:ext>
    </p:extLst>
  </p:cSld>
  <p:clrMapOvr>
    <a:masterClrMapping/>
  </p:clrMapOvr>
  <p:transition spd="slow" advClick="0">
    <p:whee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878AD9-D048-43D6-AA8B-EA0D74370CB0}" type="datetimeFigureOut">
              <a:rPr lang="pt-BR" smtClean="0"/>
              <a:t>05/10/2016</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463410-3E0E-422A-9951-18C615C3F040}" type="slidenum">
              <a:rPr lang="pt-BR" smtClean="0"/>
              <a:t>‹nº›</a:t>
            </a:fld>
            <a:endParaRPr lang="pt-BR"/>
          </a:p>
        </p:txBody>
      </p:sp>
    </p:spTree>
    <p:extLst>
      <p:ext uri="{BB962C8B-B14F-4D97-AF65-F5344CB8AC3E}">
        <p14:creationId xmlns:p14="http://schemas.microsoft.com/office/powerpoint/2010/main" val="1185769533"/>
      </p:ext>
    </p:extLst>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 id="2147484044" r:id="rId5"/>
    <p:sldLayoutId id="2147484045" r:id="rId6"/>
    <p:sldLayoutId id="2147484046" r:id="rId7"/>
    <p:sldLayoutId id="2147484047" r:id="rId8"/>
    <p:sldLayoutId id="2147484048" r:id="rId9"/>
    <p:sldLayoutId id="2147484049" r:id="rId10"/>
    <p:sldLayoutId id="2147484050" r:id="rId11"/>
    <p:sldLayoutId id="21474840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novodecisoes.receita.fazenda.gov.br/consultaweb/index.jsf" TargetMode="External"/><Relationship Id="rId2" Type="http://schemas.openxmlformats.org/officeDocument/2006/relationships/hyperlink" Target="http://idg.carf.fazenda.gov.br/jurisprudencia/acordaos-carf-1" TargetMode="External"/><Relationship Id="rId1" Type="http://schemas.openxmlformats.org/officeDocument/2006/relationships/slideLayout" Target="../slideLayouts/slideLayout2.xml"/><Relationship Id="rId4" Type="http://schemas.openxmlformats.org/officeDocument/2006/relationships/hyperlink" Target="http://jota.uol.com.br/stj-volta-julgar-o-que-gera-creditos-de-pis-e-cofi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p:cNvSpPr txBox="1"/>
          <p:nvPr/>
        </p:nvSpPr>
        <p:spPr>
          <a:xfrm>
            <a:off x="722687" y="372383"/>
            <a:ext cx="10938126" cy="5940088"/>
          </a:xfrm>
          <a:prstGeom prst="rect">
            <a:avLst/>
          </a:prstGeom>
          <a:noFill/>
          <a:effectLst>
            <a:outerShdw blurRad="152400" dist="317500" dir="5400000" sx="90000" sy="-19000" rotWithShape="0">
              <a:prstClr val="black">
                <a:alpha val="15000"/>
              </a:prstClr>
            </a:outerShdw>
          </a:effectLst>
          <a:scene3d>
            <a:camera prst="obliqueTopLeft"/>
            <a:lightRig rig="threePt" dir="t"/>
          </a:scene3d>
        </p:spPr>
        <p:txBody>
          <a:bodyPr wrap="square" rtlCol="0">
            <a:spAutoFit/>
          </a:bodyPr>
          <a:lstStyle/>
          <a:p>
            <a:pPr algn="ct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IPEC </a:t>
            </a:r>
            <a:r>
              <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INSTITUTO PONTAGROSSENSE DE ESTUDOS </a:t>
            </a: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CONTÁBEIS</a:t>
            </a:r>
            <a:endPar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endParaRPr lang="pt-BR" sz="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r>
              <a:rPr lang="pt-BR" sz="5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CONCEITO DE INSUMO</a:t>
            </a:r>
          </a:p>
          <a:p>
            <a:pPr algn="ctr"/>
            <a:endParaRPr lang="pt-BR"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r>
              <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OS LIMITES DO CONCEITO NA LEGISLAÇÃO E JURISPRUDÊNCIA</a:t>
            </a:r>
          </a:p>
          <a:p>
            <a:pPr algn="ctr"/>
            <a:endParaRPr lang="pt-BR"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endParaRPr lang="pt-BR" sz="2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RUBENS GOMES</a:t>
            </a:r>
            <a:endPar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endPar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OUTUBRO 2016</a:t>
            </a:r>
            <a:endPar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019094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p:cNvSpPr txBox="1"/>
          <p:nvPr/>
        </p:nvSpPr>
        <p:spPr>
          <a:xfrm>
            <a:off x="347731" y="609667"/>
            <a:ext cx="11844270" cy="7355860"/>
          </a:xfrm>
          <a:prstGeom prst="rect">
            <a:avLst/>
          </a:prstGeom>
          <a:noFill/>
        </p:spPr>
        <p:txBody>
          <a:bodyPr wrap="square" rtlCol="0">
            <a:spAutoFit/>
          </a:bodyPr>
          <a:lstStyle/>
          <a:p>
            <a:pPr algn="ctr"/>
            <a:r>
              <a:rPr lang="pt-BR" sz="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OBJETIVOS</a:t>
            </a:r>
            <a:endPar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pt-BR"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514350" indent="-514350">
              <a:buFont typeface="+mj-lt"/>
              <a:buAutoNum type="arabicPeriod"/>
            </a:pPr>
            <a:r>
              <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COMPREENDER A ESTRUTURA TRIBUTÁRIA </a:t>
            </a:r>
            <a:r>
              <a:rPr lang="pt-BR"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 A FUNÇÃO DAS CONTRIBUIÇÕES SOCIAIS : PIS E COFINS.</a:t>
            </a:r>
          </a:p>
          <a:p>
            <a:pPr marL="514350" indent="-514350">
              <a:buFont typeface="+mj-lt"/>
              <a:buAutoNum type="arabicPeriod"/>
            </a:pPr>
            <a:endParaRPr lang="pt-BR" sz="1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514350" indent="-514350">
              <a:buFont typeface="+mj-lt"/>
              <a:buAutoNum type="arabicPeriod"/>
            </a:pPr>
            <a:r>
              <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COMPREENDER AS CARACTERISTICAS DA NÃO-CUMULATIVIDADE E A IMPORTÂNCIA DO CONCEITO DE INSUMO.</a:t>
            </a:r>
          </a:p>
          <a:p>
            <a:pPr marL="514350" indent="-514350">
              <a:buFont typeface="+mj-lt"/>
              <a:buAutoNum type="arabicPeriod"/>
            </a:pPr>
            <a:endParaRPr lang="pt-BR" sz="1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514350" indent="-514350">
              <a:buFont typeface="+mj-lt"/>
              <a:buAutoNum type="arabicPeriod"/>
            </a:pPr>
            <a:r>
              <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VISUALIZAR AS DIFERENÇAS DOUTRINÁRIAS EM RELAÇÃO AO CONCEITO DE INSUMO.</a:t>
            </a:r>
          </a:p>
          <a:p>
            <a:pPr marL="514350" indent="-514350">
              <a:buFont typeface="+mj-lt"/>
              <a:buAutoNum type="arabicPeriod"/>
            </a:pPr>
            <a:endParaRPr lang="pt-BR" sz="1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514350" indent="-514350">
              <a:buFont typeface="+mj-lt"/>
              <a:buAutoNum type="arabicPeriod"/>
            </a:pPr>
            <a:r>
              <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IDENTIFICAR  AS  PREOCUPAÇÕES PARA A TOMADA DE DECISÃO SOBRE O CONCEITO DE INSUMO</a:t>
            </a:r>
          </a:p>
          <a:p>
            <a:pPr marL="514350" indent="-514350" algn="ctr">
              <a:buFont typeface="+mj-lt"/>
              <a:buAutoNum type="arabicPeriod"/>
            </a:pPr>
            <a:endParaRPr lang="pt-BR" sz="2800" b="1" dirty="0" smtClean="0">
              <a:effectLst>
                <a:outerShdw blurRad="38100" dist="38100" dir="2700000" algn="tl">
                  <a:srgbClr val="000000">
                    <a:alpha val="43137"/>
                  </a:srgbClr>
                </a:outerShdw>
              </a:effectLst>
            </a:endParaRPr>
          </a:p>
          <a:p>
            <a:pPr algn="ctr"/>
            <a:endParaRPr lang="pt-BR" sz="2800" b="1" dirty="0" smtClean="0">
              <a:effectLst>
                <a:outerShdw blurRad="38100" dist="38100" dir="2700000" algn="tl">
                  <a:srgbClr val="000000">
                    <a:alpha val="43137"/>
                  </a:srgbClr>
                </a:outerShdw>
              </a:effectLst>
            </a:endParaRPr>
          </a:p>
          <a:p>
            <a:pPr marL="514350" indent="-514350" algn="ctr">
              <a:buFont typeface="+mj-lt"/>
              <a:buAutoNum type="arabicPeriod"/>
            </a:pPr>
            <a:endParaRPr lang="pt-BR" sz="2800" b="1" dirty="0" smtClean="0">
              <a:effectLst>
                <a:outerShdw blurRad="38100" dist="38100" dir="2700000" algn="tl">
                  <a:srgbClr val="000000">
                    <a:alpha val="43137"/>
                  </a:srgbClr>
                </a:outerShdw>
              </a:effectLst>
            </a:endParaRPr>
          </a:p>
          <a:p>
            <a:pPr algn="ctr"/>
            <a:endParaRPr lang="pt-BR" sz="28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7680537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
                                        <p:tgtEl>
                                          <p:spTgt spid="2">
                                            <p:txEl>
                                              <p:pRg st="2" end="2"/>
                                            </p:txEl>
                                          </p:spTgt>
                                        </p:tgtEl>
                                      </p:cBhvr>
                                    </p:animEffect>
                                    <p:anim calcmode="lin" valueType="num">
                                      <p:cBhvr>
                                        <p:cTn id="8" dur="4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400" fill="hold"/>
                                        <p:tgtEl>
                                          <p:spTgt spid="2">
                                            <p:txEl>
                                              <p:pRg st="2" end="2"/>
                                            </p:txEl>
                                          </p:spTgt>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2">
                                            <p:txEl>
                                              <p:pRg st="2" end="2"/>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2">
                                            <p:txEl>
                                              <p:pRg st="2" end="2"/>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12" presetID="43" presetClass="entr" presetSubtype="0" fill="hold" nodeType="withEffect">
                                  <p:stCondLst>
                                    <p:cond delay="0"/>
                                  </p:stCondLst>
                                  <p:childTnLst>
                                    <p:set>
                                      <p:cBhvr>
                                        <p:cTn id="13" dur="1" fill="hold">
                                          <p:stCondLst>
                                            <p:cond delay="0"/>
                                          </p:stCondLst>
                                        </p:cTn>
                                        <p:tgtEl>
                                          <p:spTgt spid="2">
                                            <p:txEl>
                                              <p:pRg st="4" end="4"/>
                                            </p:txEl>
                                          </p:spTgt>
                                        </p:tgtEl>
                                        <p:attrNameLst>
                                          <p:attrName>style.visibility</p:attrName>
                                        </p:attrNameLst>
                                      </p:cBhvr>
                                      <p:to>
                                        <p:strVal val="visible"/>
                                      </p:to>
                                    </p:set>
                                    <p:animEffect transition="in" filter="fade">
                                      <p:cBhvr>
                                        <p:cTn id="14" dur="100"/>
                                        <p:tgtEl>
                                          <p:spTgt spid="2">
                                            <p:txEl>
                                              <p:pRg st="4" end="4"/>
                                            </p:txEl>
                                          </p:spTgt>
                                        </p:tgtEl>
                                      </p:cBhvr>
                                    </p:animEffect>
                                    <p:anim calcmode="lin" valueType="num">
                                      <p:cBhvr>
                                        <p:cTn id="15" dur="4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6" dur="400" fill="hold"/>
                                        <p:tgtEl>
                                          <p:spTgt spid="2">
                                            <p:txEl>
                                              <p:pRg st="4" end="4"/>
                                            </p:txEl>
                                          </p:spTgt>
                                        </p:tgtEl>
                                        <p:attrNameLst>
                                          <p:attrName>ppt_y</p:attrName>
                                        </p:attrNameLst>
                                      </p:cBhvr>
                                      <p:tavLst>
                                        <p:tav tm="0">
                                          <p:val>
                                            <p:strVal val="#ppt_y+0.31"/>
                                          </p:val>
                                        </p:tav>
                                        <p:tav tm="100000">
                                          <p:val>
                                            <p:strVal val="#ppt_y+0.31"/>
                                          </p:val>
                                        </p:tav>
                                      </p:tavLst>
                                    </p:anim>
                                    <p:anim calcmode="lin" valueType="num">
                                      <p:cBhvr>
                                        <p:cTn id="17" dur="600" decel="50000" fill="hold">
                                          <p:stCondLst>
                                            <p:cond delay="400"/>
                                          </p:stCondLst>
                                        </p:cTn>
                                        <p:tgtEl>
                                          <p:spTgt spid="2">
                                            <p:txEl>
                                              <p:pRg st="4" end="4"/>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8" dur="600" decel="50000" fill="hold">
                                          <p:stCondLst>
                                            <p:cond delay="400"/>
                                          </p:stCondLst>
                                        </p:cTn>
                                        <p:tgtEl>
                                          <p:spTgt spid="2">
                                            <p:txEl>
                                              <p:pRg st="4" end="4"/>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19" presetID="43" presetClass="entr" presetSubtype="0" fill="hold" nodeType="with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animEffect transition="in" filter="fade">
                                      <p:cBhvr>
                                        <p:cTn id="21" dur="100"/>
                                        <p:tgtEl>
                                          <p:spTgt spid="2">
                                            <p:txEl>
                                              <p:pRg st="6" end="6"/>
                                            </p:txEl>
                                          </p:spTgt>
                                        </p:tgtEl>
                                      </p:cBhvr>
                                    </p:animEffect>
                                    <p:anim calcmode="lin" valueType="num">
                                      <p:cBhvr>
                                        <p:cTn id="22" dur="4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3" dur="400" fill="hold"/>
                                        <p:tgtEl>
                                          <p:spTgt spid="2">
                                            <p:txEl>
                                              <p:pRg st="6" end="6"/>
                                            </p:txEl>
                                          </p:spTgt>
                                        </p:tgtEl>
                                        <p:attrNameLst>
                                          <p:attrName>ppt_y</p:attrName>
                                        </p:attrNameLst>
                                      </p:cBhvr>
                                      <p:tavLst>
                                        <p:tav tm="0">
                                          <p:val>
                                            <p:strVal val="#ppt_y+0.31"/>
                                          </p:val>
                                        </p:tav>
                                        <p:tav tm="100000">
                                          <p:val>
                                            <p:strVal val="#ppt_y+0.31"/>
                                          </p:val>
                                        </p:tav>
                                      </p:tavLst>
                                    </p:anim>
                                    <p:anim calcmode="lin" valueType="num">
                                      <p:cBhvr>
                                        <p:cTn id="24" dur="600" decel="50000" fill="hold">
                                          <p:stCondLst>
                                            <p:cond delay="400"/>
                                          </p:stCondLst>
                                        </p:cTn>
                                        <p:tgtEl>
                                          <p:spTgt spid="2">
                                            <p:txEl>
                                              <p:pRg st="6" end="6"/>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5" dur="600" decel="50000" fill="hold">
                                          <p:stCondLst>
                                            <p:cond delay="400"/>
                                          </p:stCondLst>
                                        </p:cTn>
                                        <p:tgtEl>
                                          <p:spTgt spid="2">
                                            <p:txEl>
                                              <p:pRg st="6" end="6"/>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26" presetID="43" presetClass="entr" presetSubtype="0" fill="hold" nodeType="withEffect">
                                  <p:stCondLst>
                                    <p:cond delay="0"/>
                                  </p:stCondLst>
                                  <p:childTnLst>
                                    <p:set>
                                      <p:cBhvr>
                                        <p:cTn id="27" dur="1" fill="hold">
                                          <p:stCondLst>
                                            <p:cond delay="0"/>
                                          </p:stCondLst>
                                        </p:cTn>
                                        <p:tgtEl>
                                          <p:spTgt spid="2">
                                            <p:txEl>
                                              <p:pRg st="8" end="8"/>
                                            </p:txEl>
                                          </p:spTgt>
                                        </p:tgtEl>
                                        <p:attrNameLst>
                                          <p:attrName>style.visibility</p:attrName>
                                        </p:attrNameLst>
                                      </p:cBhvr>
                                      <p:to>
                                        <p:strVal val="visible"/>
                                      </p:to>
                                    </p:set>
                                    <p:animEffect transition="in" filter="fade">
                                      <p:cBhvr>
                                        <p:cTn id="28" dur="100"/>
                                        <p:tgtEl>
                                          <p:spTgt spid="2">
                                            <p:txEl>
                                              <p:pRg st="8" end="8"/>
                                            </p:txEl>
                                          </p:spTgt>
                                        </p:tgtEl>
                                      </p:cBhvr>
                                    </p:animEffect>
                                    <p:anim calcmode="lin" valueType="num">
                                      <p:cBhvr>
                                        <p:cTn id="29" dur="4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0" dur="400" fill="hold"/>
                                        <p:tgtEl>
                                          <p:spTgt spid="2">
                                            <p:txEl>
                                              <p:pRg st="8" end="8"/>
                                            </p:txEl>
                                          </p:spTgt>
                                        </p:tgtEl>
                                        <p:attrNameLst>
                                          <p:attrName>ppt_y</p:attrName>
                                        </p:attrNameLst>
                                      </p:cBhvr>
                                      <p:tavLst>
                                        <p:tav tm="0">
                                          <p:val>
                                            <p:strVal val="#ppt_y+0.31"/>
                                          </p:val>
                                        </p:tav>
                                        <p:tav tm="100000">
                                          <p:val>
                                            <p:strVal val="#ppt_y+0.31"/>
                                          </p:val>
                                        </p:tav>
                                      </p:tavLst>
                                    </p:anim>
                                    <p:anim calcmode="lin" valueType="num">
                                      <p:cBhvr>
                                        <p:cTn id="31" dur="600" decel="50000" fill="hold">
                                          <p:stCondLst>
                                            <p:cond delay="400"/>
                                          </p:stCondLst>
                                        </p:cTn>
                                        <p:tgtEl>
                                          <p:spTgt spid="2">
                                            <p:txEl>
                                              <p:pRg st="8" end="8"/>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2" dur="600" decel="50000" fill="hold">
                                          <p:stCondLst>
                                            <p:cond delay="400"/>
                                          </p:stCondLst>
                                        </p:cTn>
                                        <p:tgtEl>
                                          <p:spTgt spid="2">
                                            <p:txEl>
                                              <p:pRg st="8" end="8"/>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p:cNvSpPr txBox="1"/>
          <p:nvPr/>
        </p:nvSpPr>
        <p:spPr>
          <a:xfrm>
            <a:off x="2057352" y="2584809"/>
            <a:ext cx="9068636" cy="769441"/>
          </a:xfrm>
          <a:prstGeom prst="rect">
            <a:avLst/>
          </a:prstGeom>
          <a:noFill/>
        </p:spPr>
        <p:txBody>
          <a:bodyPr wrap="none" rtlCol="0">
            <a:spAutoFit/>
          </a:bodyPr>
          <a:lstStyle/>
          <a:p>
            <a:r>
              <a:rPr lang="pt-BR" sz="44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VISÃO GERAL DE  TRIBUTAÇÃO</a:t>
            </a:r>
            <a:endParaRPr lang="pt-BR" sz="44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689011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a:xfrm>
            <a:off x="2570825" y="391499"/>
            <a:ext cx="8911687" cy="792566"/>
          </a:xfrm>
          <a:scene3d>
            <a:camera prst="perspectiveRelaxedModerately"/>
            <a:lightRig rig="threePt" dir="t"/>
          </a:scene3d>
        </p:spPr>
        <p:txBody>
          <a:bodyPr>
            <a:noAutofit/>
          </a:bodyPr>
          <a:lstStyle/>
          <a:p>
            <a:pPr algn="ctr"/>
            <a:r>
              <a:rPr lang="pt-BR" sz="4000" b="1" spc="272"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HIERARQUIA  DA LEGISLAÇÃO</a:t>
            </a:r>
          </a:p>
        </p:txBody>
      </p:sp>
      <p:graphicFrame>
        <p:nvGraphicFramePr>
          <p:cNvPr id="4" name="Espaço Reservado para Conteúdo 3"/>
          <p:cNvGraphicFramePr>
            <a:graphicFrameLocks noGrp="1"/>
          </p:cNvGraphicFramePr>
          <p:nvPr>
            <p:ph idx="1"/>
            <p:extLst>
              <p:ext uri="{D42A27DB-BD31-4B8C-83A1-F6EECF244321}">
                <p14:modId xmlns:p14="http://schemas.microsoft.com/office/powerpoint/2010/main" val="2273863962"/>
              </p:ext>
            </p:extLst>
          </p:nvPr>
        </p:nvGraphicFramePr>
        <p:xfrm>
          <a:off x="1523521" y="1481917"/>
          <a:ext cx="9144959" cy="45249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Espaço Reservado para Número de Slide 6"/>
          <p:cNvSpPr>
            <a:spLocks noGrp="1"/>
          </p:cNvSpPr>
          <p:nvPr>
            <p:ph type="sldNum" sz="quarter" idx="12"/>
          </p:nvPr>
        </p:nvSpPr>
        <p:spPr/>
        <p:txBody>
          <a:bodyPr/>
          <a:lstStyle/>
          <a:p>
            <a:fld id="{0C4A02D9-12FF-462D-BB87-6C6C2AFE1093}" type="slidenum">
              <a:rPr lang="en-GB" smtClean="0"/>
              <a:pPr/>
              <a:t>4</a:t>
            </a:fld>
            <a:endParaRPr lang="en-GB" dirty="0"/>
          </a:p>
        </p:txBody>
      </p:sp>
      <p:sp>
        <p:nvSpPr>
          <p:cNvPr id="2" name="Seta em curva para a esquerda 1"/>
          <p:cNvSpPr/>
          <p:nvPr/>
        </p:nvSpPr>
        <p:spPr>
          <a:xfrm>
            <a:off x="7765961" y="2240924"/>
            <a:ext cx="3168202" cy="1687132"/>
          </a:xfrm>
          <a:prstGeom prst="curvedLeftArrow">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solidFill>
                  <a:schemeClr val="tx1"/>
                </a:solidFill>
                <a:effectLst>
                  <a:outerShdw blurRad="38100" dist="38100" dir="2700000" algn="tl">
                    <a:srgbClr val="000000">
                      <a:alpha val="43137"/>
                    </a:srgbClr>
                  </a:outerShdw>
                </a:effectLst>
              </a:rPr>
              <a:t>A NORMA SUPERIOR REGE A NORMA INFERIOR</a:t>
            </a:r>
            <a:endParaRPr lang="pt-BR" sz="2400" b="1" dirty="0">
              <a:solidFill>
                <a:schemeClr val="tx1"/>
              </a:solidFill>
              <a:effectLst>
                <a:outerShdw blurRad="38100" dist="38100" dir="2700000" algn="tl">
                  <a:srgbClr val="000000">
                    <a:alpha val="43137"/>
                  </a:srgbClr>
                </a:outerShdw>
              </a:effectLst>
            </a:endParaRPr>
          </a:p>
        </p:txBody>
      </p:sp>
      <p:sp>
        <p:nvSpPr>
          <p:cNvPr id="8" name="Seta em curva para a esquerda 7"/>
          <p:cNvSpPr/>
          <p:nvPr/>
        </p:nvSpPr>
        <p:spPr>
          <a:xfrm>
            <a:off x="8902036" y="4028158"/>
            <a:ext cx="3168202" cy="1687132"/>
          </a:xfrm>
          <a:prstGeom prst="curvedLeftArrow">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solidFill>
                  <a:schemeClr val="tx1"/>
                </a:solidFill>
                <a:effectLst>
                  <a:outerShdw blurRad="38100" dist="38100" dir="2700000" algn="tl">
                    <a:srgbClr val="000000">
                      <a:alpha val="43137"/>
                    </a:srgbClr>
                  </a:outerShdw>
                </a:effectLst>
              </a:rPr>
              <a:t>A NORMA SUPERIOR REGE A NORMA INFERIOR’</a:t>
            </a:r>
            <a:endParaRPr lang="pt-BR" sz="2400"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9328439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graphicEl>
                                              <a:dgm id="{68BADBE9-91C7-4063-BF56-F87B185FBD47}"/>
                                            </p:graphicEl>
                                          </p:spTgt>
                                        </p:tgtEl>
                                        <p:attrNameLst>
                                          <p:attrName>style.visibility</p:attrName>
                                        </p:attrNameLst>
                                      </p:cBhvr>
                                      <p:to>
                                        <p:strVal val="visible"/>
                                      </p:to>
                                    </p:set>
                                    <p:animEffect transition="in" filter="wipe(left)">
                                      <p:cBhvr>
                                        <p:cTn id="7" dur="2000"/>
                                        <p:tgtEl>
                                          <p:spTgt spid="4">
                                            <p:graphicEl>
                                              <a:dgm id="{68BADBE9-91C7-4063-BF56-F87B185FBD47}"/>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graphicEl>
                                              <a:dgm id="{464337D8-C6E6-49AE-B193-EF330705C250}"/>
                                            </p:graphicEl>
                                          </p:spTgt>
                                        </p:tgtEl>
                                        <p:attrNameLst>
                                          <p:attrName>style.visibility</p:attrName>
                                        </p:attrNameLst>
                                      </p:cBhvr>
                                      <p:to>
                                        <p:strVal val="visible"/>
                                      </p:to>
                                    </p:set>
                                    <p:animEffect transition="in" filter="wipe(left)">
                                      <p:cBhvr>
                                        <p:cTn id="12" dur="2000"/>
                                        <p:tgtEl>
                                          <p:spTgt spid="4">
                                            <p:graphicEl>
                                              <a:dgm id="{464337D8-C6E6-49AE-B193-EF330705C250}"/>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graphicEl>
                                              <a:dgm id="{C86F1267-1A51-4D2F-83FD-A1641BAAE0EE}"/>
                                            </p:graphicEl>
                                          </p:spTgt>
                                        </p:tgtEl>
                                        <p:attrNameLst>
                                          <p:attrName>style.visibility</p:attrName>
                                        </p:attrNameLst>
                                      </p:cBhvr>
                                      <p:to>
                                        <p:strVal val="visible"/>
                                      </p:to>
                                    </p:set>
                                    <p:animEffect transition="in" filter="wipe(left)">
                                      <p:cBhvr>
                                        <p:cTn id="17" dur="2000"/>
                                        <p:tgtEl>
                                          <p:spTgt spid="4">
                                            <p:graphicEl>
                                              <a:dgm id="{C86F1267-1A51-4D2F-83FD-A1641BAAE0EE}"/>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1" nodeType="clickEffect">
                                  <p:stCondLst>
                                    <p:cond delay="0"/>
                                  </p:stCondLst>
                                  <p:childTnLst>
                                    <p:set>
                                      <p:cBhvr>
                                        <p:cTn id="21" dur="1" fill="hold">
                                          <p:stCondLst>
                                            <p:cond delay="0"/>
                                          </p:stCondLst>
                                        </p:cTn>
                                        <p:tgtEl>
                                          <p:spTgt spid="4">
                                            <p:graphicEl>
                                              <a:dgm id="{68BADBE9-91C7-4063-BF56-F87B185FBD47}"/>
                                            </p:graphicEl>
                                          </p:spTgt>
                                        </p:tgtEl>
                                        <p:attrNameLst>
                                          <p:attrName>style.visibility</p:attrName>
                                        </p:attrNameLst>
                                      </p:cBhvr>
                                      <p:to>
                                        <p:strVal val="visible"/>
                                      </p:to>
                                    </p:set>
                                    <p:animEffect transition="in" filter="randombar(horizontal)">
                                      <p:cBhvr>
                                        <p:cTn id="22" dur="500"/>
                                        <p:tgtEl>
                                          <p:spTgt spid="4">
                                            <p:graphicEl>
                                              <a:dgm id="{68BADBE9-91C7-4063-BF56-F87B185FBD47}"/>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1" nodeType="clickEffect">
                                  <p:stCondLst>
                                    <p:cond delay="0"/>
                                  </p:stCondLst>
                                  <p:childTnLst>
                                    <p:set>
                                      <p:cBhvr>
                                        <p:cTn id="26" dur="1" fill="hold">
                                          <p:stCondLst>
                                            <p:cond delay="0"/>
                                          </p:stCondLst>
                                        </p:cTn>
                                        <p:tgtEl>
                                          <p:spTgt spid="4">
                                            <p:graphicEl>
                                              <a:dgm id="{464337D8-C6E6-49AE-B193-EF330705C250}"/>
                                            </p:graphicEl>
                                          </p:spTgt>
                                        </p:tgtEl>
                                        <p:attrNameLst>
                                          <p:attrName>style.visibility</p:attrName>
                                        </p:attrNameLst>
                                      </p:cBhvr>
                                      <p:to>
                                        <p:strVal val="visible"/>
                                      </p:to>
                                    </p:set>
                                    <p:animEffect transition="in" filter="randombar(horizontal)">
                                      <p:cBhvr>
                                        <p:cTn id="27" dur="500"/>
                                        <p:tgtEl>
                                          <p:spTgt spid="4">
                                            <p:graphicEl>
                                              <a:dgm id="{464337D8-C6E6-49AE-B193-EF330705C250}"/>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1" nodeType="clickEffect">
                                  <p:stCondLst>
                                    <p:cond delay="0"/>
                                  </p:stCondLst>
                                  <p:childTnLst>
                                    <p:set>
                                      <p:cBhvr>
                                        <p:cTn id="31" dur="1" fill="hold">
                                          <p:stCondLst>
                                            <p:cond delay="0"/>
                                          </p:stCondLst>
                                        </p:cTn>
                                        <p:tgtEl>
                                          <p:spTgt spid="4">
                                            <p:graphicEl>
                                              <a:dgm id="{C86F1267-1A51-4D2F-83FD-A1641BAAE0EE}"/>
                                            </p:graphicEl>
                                          </p:spTgt>
                                        </p:tgtEl>
                                        <p:attrNameLst>
                                          <p:attrName>style.visibility</p:attrName>
                                        </p:attrNameLst>
                                      </p:cBhvr>
                                      <p:to>
                                        <p:strVal val="visible"/>
                                      </p:to>
                                    </p:set>
                                    <p:animEffect transition="in" filter="randombar(horizontal)">
                                      <p:cBhvr>
                                        <p:cTn id="32" dur="500"/>
                                        <p:tgtEl>
                                          <p:spTgt spid="4">
                                            <p:graphicEl>
                                              <a:dgm id="{C86F1267-1A51-4D2F-83FD-A1641BAAE0EE}"/>
                                            </p:graphicEl>
                                          </p:spTgt>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randombar(horizontal)">
                                      <p:cBhvr>
                                        <p:cTn id="35" dur="500"/>
                                        <p:tgtEl>
                                          <p:spTgt spid="2"/>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randombar(horizontal)">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One"/>
        </p:bldSub>
      </p:bldGraphic>
      <p:bldGraphic spid="4" grpId="1">
        <p:bldSub>
          <a:bldDgm bld="lvlOne"/>
        </p:bldSub>
      </p:bldGraphic>
      <p:bldP spid="2"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p:cNvPicPr preferRelativeResize="0">
            <a:picLocks noChangeAspect="1"/>
          </p:cNvPicPr>
          <p:nvPr/>
        </p:nvPicPr>
        <p:blipFill>
          <a:blip r:embed="rId2"/>
          <a:stretch>
            <a:fillRect/>
          </a:stretch>
        </p:blipFill>
        <p:spPr>
          <a:xfrm>
            <a:off x="1025140" y="691652"/>
            <a:ext cx="11008425" cy="6124591"/>
          </a:xfrm>
          <a:prstGeom prst="rect">
            <a:avLst/>
          </a:prstGeom>
        </p:spPr>
      </p:pic>
      <p:sp>
        <p:nvSpPr>
          <p:cNvPr id="8" name="CaixaDeTexto 7"/>
          <p:cNvSpPr txBox="1"/>
          <p:nvPr/>
        </p:nvSpPr>
        <p:spPr>
          <a:xfrm>
            <a:off x="1592886" y="106877"/>
            <a:ext cx="9166035" cy="646331"/>
          </a:xfrm>
          <a:prstGeom prst="rect">
            <a:avLst/>
          </a:prstGeom>
          <a:noFill/>
        </p:spPr>
        <p:txBody>
          <a:bodyPr wrap="none" rtlCol="0">
            <a:spAutoFit/>
          </a:bodyPr>
          <a:lstStyle/>
          <a:p>
            <a:r>
              <a:rPr lang="pt-BR" sz="3200" b="1" dirty="0" smtClean="0">
                <a:effectLst>
                  <a:outerShdw blurRad="38100" dist="38100" dir="2700000" algn="tl">
                    <a:srgbClr val="000000">
                      <a:alpha val="43137"/>
                    </a:srgbClr>
                  </a:outerShdw>
                </a:effectLst>
              </a:rPr>
              <a:t>CARGA </a:t>
            </a:r>
            <a:r>
              <a:rPr lang="pt-BR" sz="3600" b="1" dirty="0" smtClean="0">
                <a:effectLst>
                  <a:outerShdw blurRad="38100" dist="38100" dir="2700000" algn="tl">
                    <a:srgbClr val="000000">
                      <a:alpha val="43137"/>
                    </a:srgbClr>
                  </a:outerShdw>
                </a:effectLst>
              </a:rPr>
              <a:t>TRIBUTÁRIA </a:t>
            </a:r>
            <a:r>
              <a:rPr lang="pt-BR" sz="3200" b="1" dirty="0" smtClean="0">
                <a:effectLst>
                  <a:outerShdw blurRad="38100" dist="38100" dir="2700000" algn="tl">
                    <a:srgbClr val="000000">
                      <a:alpha val="43137"/>
                    </a:srgbClr>
                  </a:outerShdw>
                </a:effectLst>
              </a:rPr>
              <a:t>POR BASE DE INCIDÊNCIA 2013</a:t>
            </a:r>
            <a:endParaRPr lang="pt-BR" sz="32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869799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p:cNvSpPr txBox="1"/>
          <p:nvPr/>
        </p:nvSpPr>
        <p:spPr>
          <a:xfrm>
            <a:off x="1733797" y="373885"/>
            <a:ext cx="9741278" cy="6863417"/>
          </a:xfrm>
          <a:prstGeom prst="rect">
            <a:avLst/>
          </a:prstGeom>
          <a:noFill/>
        </p:spPr>
        <p:txBody>
          <a:bodyPr wrap="square" rtlCol="0">
            <a:spAutoFit/>
          </a:bodyPr>
          <a:lstStyle/>
          <a:p>
            <a:pPr algn="ctr"/>
            <a:r>
              <a:rPr lang="pt-BR" sz="32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LEGISLAÇÃO  EM  VIGOR  </a:t>
            </a:r>
          </a:p>
          <a:p>
            <a:pPr algn="ctr"/>
            <a:r>
              <a:rPr lang="pt-BR" sz="28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PRINCÍPIO DA  NÃO CUMULATIVIDADE  PIS\COFINS</a:t>
            </a:r>
          </a:p>
          <a:p>
            <a:endPar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CONSTITUIÇÃO FEDERAL  ARTº 195 </a:t>
            </a:r>
            <a:r>
              <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12º</a:t>
            </a:r>
            <a:endParaRPr lang="pt-BR" sz="1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pt-BR" sz="1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LEI  10.637/2002  PIS</a:t>
            </a:r>
          </a:p>
          <a:p>
            <a:pPr marL="914400" lvl="1" indent="-457200">
              <a:buFont typeface="Arial" panose="020B0604020202020204" pitchFamily="34" charset="0"/>
              <a:buChar char="•"/>
            </a:pPr>
            <a:endParaRPr lang="pt-BR" sz="1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endParaRPr lang="pt-BR" sz="1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LEI  10.833/2003  COFINS</a:t>
            </a:r>
          </a:p>
          <a:p>
            <a:pPr marL="914400" lvl="1" indent="-457200">
              <a:buFont typeface="Arial" panose="020B0604020202020204" pitchFamily="34" charset="0"/>
              <a:buChar char="•"/>
            </a:pPr>
            <a:endParaRPr lang="pt-BR"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INSTRUÇÃO NORMATIVA 247/2002   PIS</a:t>
            </a:r>
          </a:p>
          <a:p>
            <a:pPr marL="1371600" lvl="2" indent="-457200">
              <a:buFont typeface="Arial" panose="020B0604020202020204" pitchFamily="34" charset="0"/>
              <a:buChar char="•"/>
            </a:pPr>
            <a:r>
              <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Art. 66º, § 5º (conceito de insumos)</a:t>
            </a:r>
          </a:p>
          <a:p>
            <a:pPr marL="1371600" lvl="2" indent="-457200">
              <a:buFont typeface="Arial" panose="020B0604020202020204" pitchFamily="34" charset="0"/>
              <a:buChar char="•"/>
            </a:pPr>
            <a:endParaRPr lang="pt-BR" sz="1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INSTRUÇÃO NORMATIVA 404/2004   COFINS</a:t>
            </a:r>
          </a:p>
          <a:p>
            <a:pPr marL="1371600" lvl="2" indent="-457200">
              <a:buFont typeface="Arial" panose="020B0604020202020204" pitchFamily="34" charset="0"/>
              <a:buChar char="•"/>
            </a:pPr>
            <a:r>
              <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Art.   8º, § 4º  (conceito de insumos)</a:t>
            </a:r>
          </a:p>
          <a:p>
            <a:endParaRPr lang="pt-BR" sz="3200" dirty="0"/>
          </a:p>
          <a:p>
            <a:endParaRPr lang="pt-BR" sz="3200" dirty="0"/>
          </a:p>
        </p:txBody>
      </p:sp>
    </p:spTree>
    <p:extLst>
      <p:ext uri="{BB962C8B-B14F-4D97-AF65-F5344CB8AC3E}">
        <p14:creationId xmlns:p14="http://schemas.microsoft.com/office/powerpoint/2010/main" val="8380979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738314" y="23813"/>
            <a:ext cx="8472487" cy="1143000"/>
          </a:xfrm>
        </p:spPr>
        <p:txBody>
          <a:bodyPr>
            <a:normAutofit fontScale="90000"/>
          </a:bodyPr>
          <a:lstStyle/>
          <a:p>
            <a:pPr algn="ct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IMPOSTOS NÃO CUMULATIVOS</a:t>
            </a:r>
            <a:b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NA  CADEIA PRODUTIVA</a:t>
            </a:r>
            <a:endPar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2" name="Group 3"/>
          <p:cNvGrpSpPr>
            <a:grpSpLocks/>
          </p:cNvGrpSpPr>
          <p:nvPr/>
        </p:nvGrpSpPr>
        <p:grpSpPr bwMode="auto">
          <a:xfrm>
            <a:off x="1981200" y="4191000"/>
            <a:ext cx="2357438" cy="762000"/>
            <a:chOff x="288" y="1680"/>
            <a:chExt cx="1485" cy="480"/>
          </a:xfrm>
        </p:grpSpPr>
        <p:sp>
          <p:nvSpPr>
            <p:cNvPr id="36901" name="Rectangle 4"/>
            <p:cNvSpPr>
              <a:spLocks noChangeArrowheads="1"/>
            </p:cNvSpPr>
            <p:nvPr/>
          </p:nvSpPr>
          <p:spPr bwMode="auto">
            <a:xfrm>
              <a:off x="288" y="1680"/>
              <a:ext cx="768" cy="480"/>
            </a:xfrm>
            <a:prstGeom prst="rect">
              <a:avLst/>
            </a:prstGeom>
            <a:solidFill>
              <a:srgbClr val="FF0000"/>
            </a:solidFill>
            <a:ln w="9525">
              <a:solidFill>
                <a:schemeClr val="tx1"/>
              </a:solidFill>
              <a:miter lim="800000"/>
              <a:headEnd/>
              <a:tailEnd/>
            </a:ln>
          </p:spPr>
          <p:txBody>
            <a:bodyPr wrap="none" anchor="ctr"/>
            <a:lstStyle/>
            <a:p>
              <a:r>
                <a:rPr lang="en-US" b="1">
                  <a:latin typeface="BankGothic Md BT" pitchFamily="34" charset="0"/>
                </a:rPr>
                <a:t>Fábrica</a:t>
              </a:r>
              <a:endParaRPr lang="pt-BR" b="1">
                <a:latin typeface="BankGothic Md BT" pitchFamily="34" charset="0"/>
              </a:endParaRPr>
            </a:p>
          </p:txBody>
        </p:sp>
        <p:sp>
          <p:nvSpPr>
            <p:cNvPr id="36902" name="AutoShape 5"/>
            <p:cNvSpPr>
              <a:spLocks noChangeArrowheads="1"/>
            </p:cNvSpPr>
            <p:nvPr/>
          </p:nvSpPr>
          <p:spPr bwMode="auto">
            <a:xfrm>
              <a:off x="1188" y="1768"/>
              <a:ext cx="585" cy="200"/>
            </a:xfrm>
            <a:prstGeom prst="rightArrow">
              <a:avLst>
                <a:gd name="adj1" fmla="val 50000"/>
                <a:gd name="adj2" fmla="val 73125"/>
              </a:avLst>
            </a:prstGeom>
            <a:solidFill>
              <a:srgbClr val="000080"/>
            </a:solidFill>
            <a:ln w="9525">
              <a:solidFill>
                <a:schemeClr val="tx1"/>
              </a:solidFill>
              <a:miter lim="800000"/>
              <a:headEnd/>
              <a:tailEnd/>
            </a:ln>
          </p:spPr>
          <p:txBody>
            <a:bodyPr wrap="none" anchor="ctr"/>
            <a:lstStyle/>
            <a:p>
              <a:endParaRPr lang="pt-BR"/>
            </a:p>
          </p:txBody>
        </p:sp>
      </p:grpSp>
      <p:grpSp>
        <p:nvGrpSpPr>
          <p:cNvPr id="3" name="Group 6"/>
          <p:cNvGrpSpPr>
            <a:grpSpLocks/>
          </p:cNvGrpSpPr>
          <p:nvPr/>
        </p:nvGrpSpPr>
        <p:grpSpPr bwMode="auto">
          <a:xfrm>
            <a:off x="4549775" y="4191000"/>
            <a:ext cx="2357438" cy="762000"/>
            <a:chOff x="1906" y="1680"/>
            <a:chExt cx="1485" cy="480"/>
          </a:xfrm>
        </p:grpSpPr>
        <p:sp>
          <p:nvSpPr>
            <p:cNvPr id="36899" name="Rectangle 7"/>
            <p:cNvSpPr>
              <a:spLocks noChangeArrowheads="1"/>
            </p:cNvSpPr>
            <p:nvPr/>
          </p:nvSpPr>
          <p:spPr bwMode="auto">
            <a:xfrm>
              <a:off x="1906" y="1680"/>
              <a:ext cx="768" cy="480"/>
            </a:xfrm>
            <a:prstGeom prst="rect">
              <a:avLst/>
            </a:prstGeom>
            <a:solidFill>
              <a:srgbClr val="FF9900"/>
            </a:solidFill>
            <a:ln w="9525">
              <a:solidFill>
                <a:schemeClr val="tx1"/>
              </a:solidFill>
              <a:miter lim="800000"/>
              <a:headEnd/>
              <a:tailEnd/>
            </a:ln>
          </p:spPr>
          <p:txBody>
            <a:bodyPr wrap="none" anchor="ctr"/>
            <a:lstStyle/>
            <a:p>
              <a:r>
                <a:rPr lang="en-US" sz="1400" b="1">
                  <a:latin typeface="BankGothic Md BT" pitchFamily="34" charset="0"/>
                </a:rPr>
                <a:t>Atacadista</a:t>
              </a:r>
              <a:endParaRPr lang="pt-BR" sz="1400" b="1">
                <a:latin typeface="BankGothic Md BT" pitchFamily="34" charset="0"/>
              </a:endParaRPr>
            </a:p>
          </p:txBody>
        </p:sp>
        <p:sp>
          <p:nvSpPr>
            <p:cNvPr id="36900" name="AutoShape 8"/>
            <p:cNvSpPr>
              <a:spLocks noChangeArrowheads="1"/>
            </p:cNvSpPr>
            <p:nvPr/>
          </p:nvSpPr>
          <p:spPr bwMode="auto">
            <a:xfrm>
              <a:off x="2806" y="1768"/>
              <a:ext cx="585" cy="200"/>
            </a:xfrm>
            <a:prstGeom prst="rightArrow">
              <a:avLst>
                <a:gd name="adj1" fmla="val 50000"/>
                <a:gd name="adj2" fmla="val 73125"/>
              </a:avLst>
            </a:prstGeom>
            <a:solidFill>
              <a:srgbClr val="3366FF"/>
            </a:solidFill>
            <a:ln w="9525">
              <a:solidFill>
                <a:schemeClr val="tx1"/>
              </a:solidFill>
              <a:miter lim="800000"/>
              <a:headEnd/>
              <a:tailEnd/>
            </a:ln>
          </p:spPr>
          <p:txBody>
            <a:bodyPr wrap="none" anchor="ctr"/>
            <a:lstStyle/>
            <a:p>
              <a:endParaRPr lang="pt-BR"/>
            </a:p>
          </p:txBody>
        </p:sp>
      </p:grpSp>
      <p:grpSp>
        <p:nvGrpSpPr>
          <p:cNvPr id="4" name="Group 9"/>
          <p:cNvGrpSpPr>
            <a:grpSpLocks/>
          </p:cNvGrpSpPr>
          <p:nvPr/>
        </p:nvGrpSpPr>
        <p:grpSpPr bwMode="auto">
          <a:xfrm>
            <a:off x="7118351" y="4191000"/>
            <a:ext cx="2359025" cy="762000"/>
            <a:chOff x="3524" y="1680"/>
            <a:chExt cx="1486" cy="480"/>
          </a:xfrm>
        </p:grpSpPr>
        <p:sp>
          <p:nvSpPr>
            <p:cNvPr id="36897" name="Rectangle 10"/>
            <p:cNvSpPr>
              <a:spLocks noChangeArrowheads="1"/>
            </p:cNvSpPr>
            <p:nvPr/>
          </p:nvSpPr>
          <p:spPr bwMode="auto">
            <a:xfrm>
              <a:off x="3524" y="1680"/>
              <a:ext cx="768" cy="480"/>
            </a:xfrm>
            <a:prstGeom prst="rect">
              <a:avLst/>
            </a:prstGeom>
            <a:solidFill>
              <a:srgbClr val="FFFF99"/>
            </a:solidFill>
            <a:ln w="9525">
              <a:solidFill>
                <a:schemeClr val="tx1"/>
              </a:solidFill>
              <a:miter lim="800000"/>
              <a:headEnd/>
              <a:tailEnd/>
            </a:ln>
          </p:spPr>
          <p:txBody>
            <a:bodyPr wrap="none" anchor="ctr"/>
            <a:lstStyle/>
            <a:p>
              <a:r>
                <a:rPr lang="en-US" sz="1600" b="1">
                  <a:latin typeface="BankGothic Md BT" pitchFamily="34" charset="0"/>
                </a:rPr>
                <a:t>Varejista</a:t>
              </a:r>
              <a:endParaRPr lang="pt-BR" sz="1600" b="1">
                <a:latin typeface="BankGothic Md BT" pitchFamily="34" charset="0"/>
              </a:endParaRPr>
            </a:p>
          </p:txBody>
        </p:sp>
        <p:sp>
          <p:nvSpPr>
            <p:cNvPr id="36898" name="AutoShape 11"/>
            <p:cNvSpPr>
              <a:spLocks noChangeArrowheads="1"/>
            </p:cNvSpPr>
            <p:nvPr/>
          </p:nvSpPr>
          <p:spPr bwMode="auto">
            <a:xfrm>
              <a:off x="4425" y="1768"/>
              <a:ext cx="585" cy="200"/>
            </a:xfrm>
            <a:prstGeom prst="rightArrow">
              <a:avLst>
                <a:gd name="adj1" fmla="val 50000"/>
                <a:gd name="adj2" fmla="val 73125"/>
              </a:avLst>
            </a:prstGeom>
            <a:solidFill>
              <a:srgbClr val="99CCFF"/>
            </a:solidFill>
            <a:ln w="9525">
              <a:solidFill>
                <a:schemeClr val="tx1"/>
              </a:solidFill>
              <a:miter lim="800000"/>
              <a:headEnd/>
              <a:tailEnd/>
            </a:ln>
          </p:spPr>
          <p:txBody>
            <a:bodyPr wrap="none" anchor="ctr"/>
            <a:lstStyle/>
            <a:p>
              <a:endParaRPr lang="pt-BR"/>
            </a:p>
          </p:txBody>
        </p:sp>
      </p:grpSp>
      <p:sp>
        <p:nvSpPr>
          <p:cNvPr id="2081804" name="Text Box 12"/>
          <p:cNvSpPr txBox="1">
            <a:spLocks noChangeArrowheads="1"/>
          </p:cNvSpPr>
          <p:nvPr/>
        </p:nvSpPr>
        <p:spPr bwMode="auto">
          <a:xfrm>
            <a:off x="8348663" y="3886200"/>
            <a:ext cx="1091966" cy="369332"/>
          </a:xfrm>
          <a:prstGeom prst="rect">
            <a:avLst/>
          </a:prstGeom>
          <a:noFill/>
          <a:ln w="9525">
            <a:noFill/>
            <a:miter lim="800000"/>
            <a:headEnd/>
            <a:tailEnd/>
          </a:ln>
        </p:spPr>
        <p:txBody>
          <a:bodyPr wrap="none">
            <a:spAutoFit/>
          </a:bodyPr>
          <a:lstStyle/>
          <a:p>
            <a:r>
              <a:rPr lang="en-US" b="1"/>
              <a:t>$ 400,00</a:t>
            </a:r>
            <a:endParaRPr lang="pt-BR" b="1"/>
          </a:p>
        </p:txBody>
      </p:sp>
      <p:sp>
        <p:nvSpPr>
          <p:cNvPr id="2081805" name="Text Box 13"/>
          <p:cNvSpPr txBox="1">
            <a:spLocks noChangeArrowheads="1"/>
          </p:cNvSpPr>
          <p:nvPr/>
        </p:nvSpPr>
        <p:spPr bwMode="auto">
          <a:xfrm>
            <a:off x="5826125" y="3886200"/>
            <a:ext cx="1091966" cy="369332"/>
          </a:xfrm>
          <a:prstGeom prst="rect">
            <a:avLst/>
          </a:prstGeom>
          <a:noFill/>
          <a:ln w="9525">
            <a:noFill/>
            <a:miter lim="800000"/>
            <a:headEnd/>
            <a:tailEnd/>
          </a:ln>
        </p:spPr>
        <p:txBody>
          <a:bodyPr wrap="none">
            <a:spAutoFit/>
          </a:bodyPr>
          <a:lstStyle/>
          <a:p>
            <a:r>
              <a:rPr lang="en-US" b="1"/>
              <a:t>$ 200,00</a:t>
            </a:r>
            <a:endParaRPr lang="pt-BR" b="1"/>
          </a:p>
        </p:txBody>
      </p:sp>
      <p:sp>
        <p:nvSpPr>
          <p:cNvPr id="2081806" name="Text Box 14"/>
          <p:cNvSpPr txBox="1">
            <a:spLocks noChangeArrowheads="1"/>
          </p:cNvSpPr>
          <p:nvPr/>
        </p:nvSpPr>
        <p:spPr bwMode="auto">
          <a:xfrm>
            <a:off x="3167063" y="3886200"/>
            <a:ext cx="1091966" cy="369332"/>
          </a:xfrm>
          <a:prstGeom prst="rect">
            <a:avLst/>
          </a:prstGeom>
          <a:noFill/>
          <a:ln w="9525">
            <a:noFill/>
            <a:miter lim="800000"/>
            <a:headEnd/>
            <a:tailEnd/>
          </a:ln>
        </p:spPr>
        <p:txBody>
          <a:bodyPr wrap="none">
            <a:spAutoFit/>
          </a:bodyPr>
          <a:lstStyle/>
          <a:p>
            <a:r>
              <a:rPr lang="en-US" b="1"/>
              <a:t>$ 100,00</a:t>
            </a:r>
            <a:endParaRPr lang="pt-BR" b="1"/>
          </a:p>
        </p:txBody>
      </p:sp>
      <p:grpSp>
        <p:nvGrpSpPr>
          <p:cNvPr id="5" name="Group 15"/>
          <p:cNvGrpSpPr>
            <a:grpSpLocks/>
          </p:cNvGrpSpPr>
          <p:nvPr/>
        </p:nvGrpSpPr>
        <p:grpSpPr bwMode="auto">
          <a:xfrm>
            <a:off x="8610601" y="4860926"/>
            <a:ext cx="2022475" cy="708025"/>
            <a:chOff x="4752" y="2054"/>
            <a:chExt cx="1274" cy="446"/>
          </a:xfrm>
        </p:grpSpPr>
        <p:sp>
          <p:nvSpPr>
            <p:cNvPr id="2081808" name="Text Box 16"/>
            <p:cNvSpPr txBox="1">
              <a:spLocks noChangeArrowheads="1"/>
            </p:cNvSpPr>
            <p:nvPr/>
          </p:nvSpPr>
          <p:spPr bwMode="auto">
            <a:xfrm>
              <a:off x="4771" y="2054"/>
              <a:ext cx="1255" cy="446"/>
            </a:xfrm>
            <a:prstGeom prst="rect">
              <a:avLst/>
            </a:prstGeom>
            <a:noFill/>
            <a:ln w="9525">
              <a:noFill/>
              <a:miter lim="800000"/>
              <a:headEnd/>
              <a:tailEnd/>
            </a:ln>
            <a:effectLst/>
          </p:spPr>
          <p:txBody>
            <a:bodyPr wrap="none">
              <a:spAutoFit/>
            </a:bodyPr>
            <a:lstStyle/>
            <a:p>
              <a:pPr algn="l">
                <a:defRPr/>
              </a:pPr>
              <a:r>
                <a:rPr lang="en-US" sz="2000" b="1" dirty="0">
                  <a:solidFill>
                    <a:srgbClr val="0000FF"/>
                  </a:solidFill>
                  <a:effectLst>
                    <a:outerShdw blurRad="38100" dist="38100" dir="2700000" algn="tl">
                      <a:srgbClr val="C0C0C0"/>
                    </a:outerShdw>
                  </a:effectLst>
                </a:rPr>
                <a:t>ICMS</a:t>
              </a:r>
            </a:p>
            <a:p>
              <a:pPr algn="l">
                <a:defRPr/>
              </a:pPr>
              <a:r>
                <a:rPr lang="en-US" sz="2000" b="1" dirty="0" err="1">
                  <a:solidFill>
                    <a:srgbClr val="0000FF"/>
                  </a:solidFill>
                  <a:effectLst>
                    <a:outerShdw blurRad="38100" dist="38100" dir="2700000" algn="tl">
                      <a:srgbClr val="C0C0C0"/>
                    </a:outerShdw>
                  </a:effectLst>
                </a:rPr>
                <a:t>Débito</a:t>
              </a:r>
              <a:r>
                <a:rPr lang="en-US" sz="2000" b="1" dirty="0">
                  <a:solidFill>
                    <a:srgbClr val="0000FF"/>
                  </a:solidFill>
                  <a:effectLst>
                    <a:outerShdw blurRad="38100" dist="38100" dir="2700000" algn="tl">
                      <a:srgbClr val="C0C0C0"/>
                    </a:outerShdw>
                  </a:effectLst>
                </a:rPr>
                <a:t>: $ 48,00</a:t>
              </a:r>
              <a:endParaRPr lang="pt-BR" sz="2000" b="1" dirty="0">
                <a:solidFill>
                  <a:srgbClr val="0000FF"/>
                </a:solidFill>
                <a:effectLst>
                  <a:outerShdw blurRad="38100" dist="38100" dir="2700000" algn="tl">
                    <a:srgbClr val="C0C0C0"/>
                  </a:outerShdw>
                </a:effectLst>
              </a:endParaRPr>
            </a:p>
          </p:txBody>
        </p:sp>
        <p:sp>
          <p:nvSpPr>
            <p:cNvPr id="36896" name="Line 17"/>
            <p:cNvSpPr>
              <a:spLocks noChangeShapeType="1"/>
            </p:cNvSpPr>
            <p:nvPr/>
          </p:nvSpPr>
          <p:spPr bwMode="auto">
            <a:xfrm>
              <a:off x="4752" y="2064"/>
              <a:ext cx="0" cy="432"/>
            </a:xfrm>
            <a:prstGeom prst="line">
              <a:avLst/>
            </a:prstGeom>
            <a:noFill/>
            <a:ln w="9525">
              <a:solidFill>
                <a:srgbClr val="0000FF"/>
              </a:solidFill>
              <a:miter lim="800000"/>
              <a:headEnd/>
              <a:tailEnd type="triangle" w="med" len="med"/>
            </a:ln>
          </p:spPr>
          <p:txBody>
            <a:bodyPr wrap="none" anchor="ctr"/>
            <a:lstStyle/>
            <a:p>
              <a:endParaRPr lang="pt-BR"/>
            </a:p>
          </p:txBody>
        </p:sp>
      </p:grpSp>
      <p:grpSp>
        <p:nvGrpSpPr>
          <p:cNvPr id="6" name="Group 18"/>
          <p:cNvGrpSpPr>
            <a:grpSpLocks/>
          </p:cNvGrpSpPr>
          <p:nvPr/>
        </p:nvGrpSpPr>
        <p:grpSpPr bwMode="auto">
          <a:xfrm>
            <a:off x="6019801" y="4876801"/>
            <a:ext cx="2022475" cy="708025"/>
            <a:chOff x="4752" y="2054"/>
            <a:chExt cx="1274" cy="446"/>
          </a:xfrm>
        </p:grpSpPr>
        <p:sp>
          <p:nvSpPr>
            <p:cNvPr id="2081811" name="Text Box 19"/>
            <p:cNvSpPr txBox="1">
              <a:spLocks noChangeArrowheads="1"/>
            </p:cNvSpPr>
            <p:nvPr/>
          </p:nvSpPr>
          <p:spPr bwMode="auto">
            <a:xfrm>
              <a:off x="4771" y="2054"/>
              <a:ext cx="1255" cy="446"/>
            </a:xfrm>
            <a:prstGeom prst="rect">
              <a:avLst/>
            </a:prstGeom>
            <a:noFill/>
            <a:ln w="9525">
              <a:noFill/>
              <a:miter lim="800000"/>
              <a:headEnd/>
              <a:tailEnd/>
            </a:ln>
            <a:effectLst/>
          </p:spPr>
          <p:txBody>
            <a:bodyPr wrap="none">
              <a:spAutoFit/>
            </a:bodyPr>
            <a:lstStyle/>
            <a:p>
              <a:pPr algn="l">
                <a:defRPr/>
              </a:pPr>
              <a:r>
                <a:rPr lang="en-US" sz="2000" b="1" dirty="0">
                  <a:solidFill>
                    <a:srgbClr val="0000FF"/>
                  </a:solidFill>
                  <a:effectLst>
                    <a:outerShdw blurRad="38100" dist="38100" dir="2700000" algn="tl">
                      <a:srgbClr val="C0C0C0"/>
                    </a:outerShdw>
                  </a:effectLst>
                </a:rPr>
                <a:t>ICMS</a:t>
              </a:r>
            </a:p>
            <a:p>
              <a:pPr algn="l">
                <a:defRPr/>
              </a:pPr>
              <a:r>
                <a:rPr lang="en-US" sz="2000" b="1" dirty="0" err="1">
                  <a:solidFill>
                    <a:srgbClr val="0000FF"/>
                  </a:solidFill>
                  <a:effectLst>
                    <a:outerShdw blurRad="38100" dist="38100" dir="2700000" algn="tl">
                      <a:srgbClr val="C0C0C0"/>
                    </a:outerShdw>
                  </a:effectLst>
                </a:rPr>
                <a:t>Débito</a:t>
              </a:r>
              <a:r>
                <a:rPr lang="en-US" sz="2000" b="1" dirty="0">
                  <a:solidFill>
                    <a:srgbClr val="0000FF"/>
                  </a:solidFill>
                  <a:effectLst>
                    <a:outerShdw blurRad="38100" dist="38100" dir="2700000" algn="tl">
                      <a:srgbClr val="C0C0C0"/>
                    </a:outerShdw>
                  </a:effectLst>
                </a:rPr>
                <a:t>: $ 24,00</a:t>
              </a:r>
              <a:endParaRPr lang="pt-BR" sz="2000" b="1" dirty="0">
                <a:solidFill>
                  <a:srgbClr val="0000FF"/>
                </a:solidFill>
                <a:effectLst>
                  <a:outerShdw blurRad="38100" dist="38100" dir="2700000" algn="tl">
                    <a:srgbClr val="C0C0C0"/>
                  </a:outerShdw>
                </a:effectLst>
              </a:endParaRPr>
            </a:p>
          </p:txBody>
        </p:sp>
        <p:sp>
          <p:nvSpPr>
            <p:cNvPr id="36894" name="Line 20"/>
            <p:cNvSpPr>
              <a:spLocks noChangeShapeType="1"/>
            </p:cNvSpPr>
            <p:nvPr/>
          </p:nvSpPr>
          <p:spPr bwMode="auto">
            <a:xfrm>
              <a:off x="4752" y="2064"/>
              <a:ext cx="0" cy="432"/>
            </a:xfrm>
            <a:prstGeom prst="line">
              <a:avLst/>
            </a:prstGeom>
            <a:noFill/>
            <a:ln w="9525">
              <a:solidFill>
                <a:srgbClr val="0000FF"/>
              </a:solidFill>
              <a:miter lim="800000"/>
              <a:headEnd/>
              <a:tailEnd type="triangle" w="med" len="med"/>
            </a:ln>
          </p:spPr>
          <p:txBody>
            <a:bodyPr wrap="none" anchor="ctr"/>
            <a:lstStyle/>
            <a:p>
              <a:endParaRPr lang="pt-BR"/>
            </a:p>
          </p:txBody>
        </p:sp>
      </p:grpSp>
      <p:grpSp>
        <p:nvGrpSpPr>
          <p:cNvPr id="7" name="Group 21"/>
          <p:cNvGrpSpPr>
            <a:grpSpLocks/>
          </p:cNvGrpSpPr>
          <p:nvPr/>
        </p:nvGrpSpPr>
        <p:grpSpPr bwMode="auto">
          <a:xfrm>
            <a:off x="3505201" y="4935539"/>
            <a:ext cx="2022475" cy="708025"/>
            <a:chOff x="4752" y="2054"/>
            <a:chExt cx="1274" cy="446"/>
          </a:xfrm>
        </p:grpSpPr>
        <p:sp>
          <p:nvSpPr>
            <p:cNvPr id="2081814" name="Text Box 22"/>
            <p:cNvSpPr txBox="1">
              <a:spLocks noChangeArrowheads="1"/>
            </p:cNvSpPr>
            <p:nvPr/>
          </p:nvSpPr>
          <p:spPr bwMode="auto">
            <a:xfrm>
              <a:off x="4771" y="2054"/>
              <a:ext cx="1255" cy="446"/>
            </a:xfrm>
            <a:prstGeom prst="rect">
              <a:avLst/>
            </a:prstGeom>
            <a:noFill/>
            <a:ln w="9525">
              <a:noFill/>
              <a:miter lim="800000"/>
              <a:headEnd/>
              <a:tailEnd/>
            </a:ln>
            <a:effectLst/>
          </p:spPr>
          <p:txBody>
            <a:bodyPr wrap="none">
              <a:spAutoFit/>
            </a:bodyPr>
            <a:lstStyle/>
            <a:p>
              <a:pPr algn="l">
                <a:defRPr/>
              </a:pPr>
              <a:r>
                <a:rPr lang="en-US" sz="2000" b="1" dirty="0">
                  <a:solidFill>
                    <a:srgbClr val="0000FF"/>
                  </a:solidFill>
                  <a:effectLst>
                    <a:outerShdw blurRad="38100" dist="38100" dir="2700000" algn="tl">
                      <a:srgbClr val="C0C0C0"/>
                    </a:outerShdw>
                  </a:effectLst>
                </a:rPr>
                <a:t>ICMS</a:t>
              </a:r>
            </a:p>
            <a:p>
              <a:pPr algn="l">
                <a:defRPr/>
              </a:pPr>
              <a:r>
                <a:rPr lang="en-US" sz="2000" b="1" dirty="0" err="1">
                  <a:solidFill>
                    <a:srgbClr val="0000FF"/>
                  </a:solidFill>
                  <a:effectLst>
                    <a:outerShdw blurRad="38100" dist="38100" dir="2700000" algn="tl">
                      <a:srgbClr val="C0C0C0"/>
                    </a:outerShdw>
                  </a:effectLst>
                </a:rPr>
                <a:t>Débito</a:t>
              </a:r>
              <a:r>
                <a:rPr lang="en-US" sz="2000" b="1" dirty="0">
                  <a:solidFill>
                    <a:srgbClr val="0000FF"/>
                  </a:solidFill>
                  <a:effectLst>
                    <a:outerShdw blurRad="38100" dist="38100" dir="2700000" algn="tl">
                      <a:srgbClr val="C0C0C0"/>
                    </a:outerShdw>
                  </a:effectLst>
                </a:rPr>
                <a:t>: $ 12,00</a:t>
              </a:r>
              <a:endParaRPr lang="pt-BR" sz="2000" b="1" dirty="0">
                <a:solidFill>
                  <a:srgbClr val="0000FF"/>
                </a:solidFill>
                <a:effectLst>
                  <a:outerShdw blurRad="38100" dist="38100" dir="2700000" algn="tl">
                    <a:srgbClr val="C0C0C0"/>
                  </a:outerShdw>
                </a:effectLst>
              </a:endParaRPr>
            </a:p>
          </p:txBody>
        </p:sp>
        <p:sp>
          <p:nvSpPr>
            <p:cNvPr id="36892" name="Line 23"/>
            <p:cNvSpPr>
              <a:spLocks noChangeShapeType="1"/>
            </p:cNvSpPr>
            <p:nvPr/>
          </p:nvSpPr>
          <p:spPr bwMode="auto">
            <a:xfrm>
              <a:off x="4752" y="2064"/>
              <a:ext cx="0" cy="432"/>
            </a:xfrm>
            <a:prstGeom prst="line">
              <a:avLst/>
            </a:prstGeom>
            <a:noFill/>
            <a:ln w="9525">
              <a:solidFill>
                <a:srgbClr val="0000FF"/>
              </a:solidFill>
              <a:miter lim="800000"/>
              <a:headEnd/>
              <a:tailEnd type="triangle" w="med" len="med"/>
            </a:ln>
          </p:spPr>
          <p:txBody>
            <a:bodyPr wrap="none" anchor="ctr"/>
            <a:lstStyle/>
            <a:p>
              <a:endParaRPr lang="pt-BR"/>
            </a:p>
          </p:txBody>
        </p:sp>
      </p:grpSp>
      <p:sp>
        <p:nvSpPr>
          <p:cNvPr id="2081817" name="Text Box 25"/>
          <p:cNvSpPr txBox="1">
            <a:spLocks noChangeArrowheads="1"/>
          </p:cNvSpPr>
          <p:nvPr/>
        </p:nvSpPr>
        <p:spPr bwMode="auto">
          <a:xfrm>
            <a:off x="1738313" y="1143001"/>
            <a:ext cx="6513512" cy="461963"/>
          </a:xfrm>
          <a:prstGeom prst="rect">
            <a:avLst/>
          </a:prstGeom>
          <a:noFill/>
          <a:ln w="9525">
            <a:noFill/>
            <a:miter lim="800000"/>
            <a:headEnd/>
            <a:tailEnd/>
          </a:ln>
          <a:effectLst/>
        </p:spPr>
        <p:txBody>
          <a:bodyPr>
            <a:spAutoFit/>
          </a:bodyPr>
          <a:lstStyle/>
          <a:p>
            <a:pPr>
              <a:defRPr/>
            </a:pPr>
            <a:r>
              <a:rPr lang="en-US" sz="2400" b="1" dirty="0" err="1" smtClean="0">
                <a:effectLst>
                  <a:outerShdw blurRad="38100" dist="38100" dir="2700000" algn="tl">
                    <a:srgbClr val="C0C0C0"/>
                  </a:outerShdw>
                </a:effectLst>
              </a:rPr>
              <a:t>Imposto</a:t>
            </a:r>
            <a:r>
              <a:rPr lang="en-US" sz="2400" b="1" dirty="0" smtClean="0">
                <a:effectLst>
                  <a:outerShdw blurRad="38100" dist="38100" dir="2700000" algn="tl">
                    <a:srgbClr val="C0C0C0"/>
                  </a:outerShdw>
                </a:effectLst>
              </a:rPr>
              <a:t> </a:t>
            </a:r>
            <a:r>
              <a:rPr lang="en-US" sz="2400" b="1" dirty="0" err="1">
                <a:effectLst>
                  <a:outerShdw blurRad="38100" dist="38100" dir="2700000" algn="tl">
                    <a:srgbClr val="C0C0C0"/>
                  </a:outerShdw>
                </a:effectLst>
              </a:rPr>
              <a:t>pago</a:t>
            </a:r>
            <a:r>
              <a:rPr lang="en-US" sz="2400" b="1" dirty="0">
                <a:effectLst>
                  <a:outerShdw blurRad="38100" dist="38100" dir="2700000" algn="tl">
                    <a:srgbClr val="C0C0C0"/>
                  </a:outerShdw>
                </a:effectLst>
              </a:rPr>
              <a:t>: 12 + 12 + 24 = $ 48,00</a:t>
            </a:r>
            <a:endParaRPr lang="pt-BR" sz="2400" b="1" dirty="0">
              <a:effectLst>
                <a:outerShdw blurRad="38100" dist="38100" dir="2700000" algn="tl">
                  <a:srgbClr val="C0C0C0"/>
                </a:outerShdw>
              </a:effectLst>
            </a:endParaRPr>
          </a:p>
        </p:txBody>
      </p:sp>
      <p:sp>
        <p:nvSpPr>
          <p:cNvPr id="2081818" name="Text Box 26"/>
          <p:cNvSpPr txBox="1">
            <a:spLocks noChangeArrowheads="1"/>
          </p:cNvSpPr>
          <p:nvPr/>
        </p:nvSpPr>
        <p:spPr bwMode="auto">
          <a:xfrm>
            <a:off x="2226707" y="1800554"/>
            <a:ext cx="9110186" cy="523220"/>
          </a:xfrm>
          <a:prstGeom prst="rect">
            <a:avLst/>
          </a:prstGeom>
          <a:noFill/>
          <a:ln w="9525">
            <a:noFill/>
            <a:miter lim="800000"/>
            <a:headEnd/>
            <a:tailEnd/>
          </a:ln>
          <a:effectLst/>
        </p:spPr>
        <p:txBody>
          <a:bodyPr wrap="none">
            <a:spAutoFit/>
          </a:bodyPr>
          <a:lstStyle/>
          <a:p>
            <a:pPr>
              <a:defRPr/>
            </a:pPr>
            <a:r>
              <a:rPr lang="en-US" sz="2800" b="1" dirty="0" err="1">
                <a:effectLst>
                  <a:outerShdw blurRad="38100" dist="38100" dir="2700000" algn="tl">
                    <a:srgbClr val="C0C0C0"/>
                  </a:outerShdw>
                </a:effectLst>
              </a:rPr>
              <a:t>Percentual</a:t>
            </a:r>
            <a:r>
              <a:rPr lang="en-US" sz="2800" b="1" dirty="0">
                <a:effectLst>
                  <a:outerShdw blurRad="38100" dist="38100" dir="2700000" algn="tl">
                    <a:srgbClr val="C0C0C0"/>
                  </a:outerShdw>
                </a:effectLst>
              </a:rPr>
              <a:t> </a:t>
            </a:r>
            <a:r>
              <a:rPr lang="en-US" sz="2800" b="1" dirty="0" err="1">
                <a:effectLst>
                  <a:outerShdw blurRad="38100" dist="38100" dir="2700000" algn="tl">
                    <a:srgbClr val="C0C0C0"/>
                  </a:outerShdw>
                </a:effectLst>
              </a:rPr>
              <a:t>sobre</a:t>
            </a:r>
            <a:r>
              <a:rPr lang="en-US" sz="2800" b="1" dirty="0">
                <a:effectLst>
                  <a:outerShdw blurRad="38100" dist="38100" dir="2700000" algn="tl">
                    <a:srgbClr val="C0C0C0"/>
                  </a:outerShdw>
                </a:effectLst>
              </a:rPr>
              <a:t> o </a:t>
            </a:r>
            <a:r>
              <a:rPr lang="en-US" sz="2800" b="1" dirty="0" err="1">
                <a:effectLst>
                  <a:outerShdw blurRad="38100" dist="38100" dir="2700000" algn="tl">
                    <a:srgbClr val="C0C0C0"/>
                  </a:outerShdw>
                </a:effectLst>
              </a:rPr>
              <a:t>preço</a:t>
            </a:r>
            <a:r>
              <a:rPr lang="en-US" sz="2800" b="1" dirty="0">
                <a:effectLst>
                  <a:outerShdw blurRad="38100" dist="38100" dir="2700000" algn="tl">
                    <a:srgbClr val="C0C0C0"/>
                  </a:outerShdw>
                </a:effectLst>
              </a:rPr>
              <a:t> = $ 48,00 / $ 400,00 = 12%</a:t>
            </a:r>
            <a:endParaRPr lang="pt-BR" sz="2800" b="1" dirty="0">
              <a:effectLst>
                <a:outerShdw blurRad="38100" dist="38100" dir="2700000" algn="tl">
                  <a:srgbClr val="C0C0C0"/>
                </a:outerShdw>
              </a:effectLst>
            </a:endParaRPr>
          </a:p>
        </p:txBody>
      </p:sp>
      <p:sp>
        <p:nvSpPr>
          <p:cNvPr id="2081821" name="Text Box 29"/>
          <p:cNvSpPr txBox="1">
            <a:spLocks noChangeArrowheads="1"/>
          </p:cNvSpPr>
          <p:nvPr/>
        </p:nvSpPr>
        <p:spPr bwMode="auto">
          <a:xfrm>
            <a:off x="1530350" y="3429000"/>
            <a:ext cx="5796780" cy="461665"/>
          </a:xfrm>
          <a:prstGeom prst="rect">
            <a:avLst/>
          </a:prstGeom>
          <a:noFill/>
          <a:ln w="9525">
            <a:noFill/>
            <a:miter lim="800000"/>
            <a:headEnd/>
            <a:tailEnd/>
          </a:ln>
          <a:effectLst/>
        </p:spPr>
        <p:txBody>
          <a:bodyPr wrap="none">
            <a:spAutoFit/>
          </a:bodyPr>
          <a:lstStyle/>
          <a:p>
            <a:pPr>
              <a:defRPr/>
            </a:pPr>
            <a:r>
              <a:rPr lang="en-US" sz="2400" b="1" dirty="0" err="1">
                <a:solidFill>
                  <a:srgbClr val="FF0000"/>
                </a:solidFill>
                <a:effectLst>
                  <a:outerShdw blurRad="38100" dist="38100" dir="2700000" algn="tl">
                    <a:srgbClr val="000000">
                      <a:alpha val="43137"/>
                    </a:srgbClr>
                  </a:outerShdw>
                </a:effectLst>
              </a:rPr>
              <a:t>Alíquota</a:t>
            </a:r>
            <a:r>
              <a:rPr lang="en-US" sz="2400" b="1" dirty="0">
                <a:solidFill>
                  <a:srgbClr val="FF0000"/>
                </a:solidFill>
                <a:effectLst>
                  <a:outerShdw blurRad="38100" dist="38100" dir="2700000" algn="tl">
                    <a:srgbClr val="000000">
                      <a:alpha val="43137"/>
                    </a:srgbClr>
                  </a:outerShdw>
                </a:effectLst>
              </a:rPr>
              <a:t> </a:t>
            </a:r>
            <a:r>
              <a:rPr lang="en-US" sz="2400" b="1" dirty="0" err="1">
                <a:solidFill>
                  <a:srgbClr val="FF0000"/>
                </a:solidFill>
                <a:effectLst>
                  <a:outerShdw blurRad="38100" dist="38100" dir="2700000" algn="tl">
                    <a:srgbClr val="000000">
                      <a:alpha val="43137"/>
                    </a:srgbClr>
                  </a:outerShdw>
                </a:effectLst>
              </a:rPr>
              <a:t>na</a:t>
            </a:r>
            <a:r>
              <a:rPr lang="en-US" sz="2400" b="1" dirty="0">
                <a:solidFill>
                  <a:srgbClr val="FF0000"/>
                </a:solidFill>
                <a:effectLst>
                  <a:outerShdw blurRad="38100" dist="38100" dir="2700000" algn="tl">
                    <a:srgbClr val="000000">
                      <a:alpha val="43137"/>
                    </a:srgbClr>
                  </a:outerShdw>
                </a:effectLst>
              </a:rPr>
              <a:t> </a:t>
            </a:r>
            <a:r>
              <a:rPr lang="en-US" sz="2400" b="1" dirty="0" err="1">
                <a:solidFill>
                  <a:srgbClr val="FF0000"/>
                </a:solidFill>
                <a:effectLst>
                  <a:outerShdw blurRad="38100" dist="38100" dir="2700000" algn="tl">
                    <a:srgbClr val="000000">
                      <a:alpha val="43137"/>
                    </a:srgbClr>
                  </a:outerShdw>
                </a:effectLst>
              </a:rPr>
              <a:t>maioria</a:t>
            </a:r>
            <a:r>
              <a:rPr lang="en-US" sz="2400" b="1" dirty="0">
                <a:solidFill>
                  <a:srgbClr val="FF0000"/>
                </a:solidFill>
                <a:effectLst>
                  <a:outerShdw blurRad="38100" dist="38100" dir="2700000" algn="tl">
                    <a:srgbClr val="000000">
                      <a:alpha val="43137"/>
                    </a:srgbClr>
                  </a:outerShdw>
                </a:effectLst>
              </a:rPr>
              <a:t> dos </a:t>
            </a:r>
            <a:r>
              <a:rPr lang="en-US" sz="2400" b="1" dirty="0" err="1">
                <a:solidFill>
                  <a:srgbClr val="FF0000"/>
                </a:solidFill>
                <a:effectLst>
                  <a:outerShdw blurRad="38100" dist="38100" dir="2700000" algn="tl">
                    <a:srgbClr val="000000">
                      <a:alpha val="43137"/>
                    </a:srgbClr>
                  </a:outerShdw>
                </a:effectLst>
              </a:rPr>
              <a:t>estados</a:t>
            </a:r>
            <a:r>
              <a:rPr lang="en-US" sz="2400" b="1" dirty="0">
                <a:solidFill>
                  <a:srgbClr val="FF0000"/>
                </a:solidFill>
                <a:effectLst>
                  <a:outerShdw blurRad="38100" dist="38100" dir="2700000" algn="tl">
                    <a:srgbClr val="000000">
                      <a:alpha val="43137"/>
                    </a:srgbClr>
                  </a:outerShdw>
                </a:effectLst>
              </a:rPr>
              <a:t>: 12%</a:t>
            </a:r>
            <a:endParaRPr lang="pt-BR" b="1" dirty="0">
              <a:solidFill>
                <a:srgbClr val="009900"/>
              </a:solidFill>
              <a:effectLst>
                <a:outerShdw blurRad="38100" dist="38100" dir="2700000" algn="tl">
                  <a:srgbClr val="000000">
                    <a:alpha val="43137"/>
                  </a:srgbClr>
                </a:outerShdw>
              </a:effectLst>
            </a:endParaRPr>
          </a:p>
        </p:txBody>
      </p:sp>
      <p:grpSp>
        <p:nvGrpSpPr>
          <p:cNvPr id="8" name="Group 31"/>
          <p:cNvGrpSpPr>
            <a:grpSpLocks/>
          </p:cNvGrpSpPr>
          <p:nvPr/>
        </p:nvGrpSpPr>
        <p:grpSpPr bwMode="auto">
          <a:xfrm>
            <a:off x="3024188" y="5546726"/>
            <a:ext cx="2590800" cy="708025"/>
            <a:chOff x="912" y="2534"/>
            <a:chExt cx="1632" cy="446"/>
          </a:xfrm>
        </p:grpSpPr>
        <p:sp>
          <p:nvSpPr>
            <p:cNvPr id="2081824" name="Rectangle 32"/>
            <p:cNvSpPr>
              <a:spLocks noChangeArrowheads="1"/>
            </p:cNvSpPr>
            <p:nvPr/>
          </p:nvSpPr>
          <p:spPr bwMode="auto">
            <a:xfrm>
              <a:off x="1008" y="2534"/>
              <a:ext cx="1533" cy="446"/>
            </a:xfrm>
            <a:prstGeom prst="rect">
              <a:avLst/>
            </a:prstGeom>
            <a:noFill/>
            <a:ln w="9525">
              <a:noFill/>
              <a:miter lim="800000"/>
              <a:headEnd/>
              <a:tailEnd/>
            </a:ln>
            <a:effectLst/>
          </p:spPr>
          <p:txBody>
            <a:bodyPr wrap="none">
              <a:spAutoFit/>
            </a:bodyPr>
            <a:lstStyle/>
            <a:p>
              <a:pPr algn="l">
                <a:defRPr/>
              </a:pPr>
              <a:r>
                <a:rPr lang="en-US" sz="2000" b="1" dirty="0">
                  <a:effectLst>
                    <a:outerShdw blurRad="38100" dist="38100" dir="2700000" algn="tl">
                      <a:srgbClr val="C0C0C0"/>
                    </a:outerShdw>
                  </a:effectLst>
                </a:rPr>
                <a:t>(–) </a:t>
              </a:r>
              <a:r>
                <a:rPr lang="en-US" sz="2000" b="1" dirty="0" err="1">
                  <a:effectLst>
                    <a:outerShdw blurRad="38100" dist="38100" dir="2700000" algn="tl">
                      <a:srgbClr val="C0C0C0"/>
                    </a:outerShdw>
                  </a:effectLst>
                </a:rPr>
                <a:t>Crédito</a:t>
              </a:r>
              <a:r>
                <a:rPr lang="en-US" sz="2000" b="1" dirty="0">
                  <a:effectLst>
                    <a:outerShdw blurRad="38100" dist="38100" dir="2700000" algn="tl">
                      <a:srgbClr val="C0C0C0"/>
                    </a:outerShdw>
                  </a:effectLst>
                </a:rPr>
                <a:t>: $ 0,00</a:t>
              </a:r>
            </a:p>
            <a:p>
              <a:pPr algn="l">
                <a:defRPr/>
              </a:pPr>
              <a:r>
                <a:rPr lang="en-US" sz="2000" b="1" dirty="0">
                  <a:effectLst>
                    <a:outerShdw blurRad="38100" dist="38100" dir="2700000" algn="tl">
                      <a:srgbClr val="C0C0C0"/>
                    </a:outerShdw>
                  </a:effectLst>
                </a:rPr>
                <a:t>A </a:t>
              </a:r>
              <a:r>
                <a:rPr lang="en-US" sz="2000" b="1" dirty="0" err="1">
                  <a:effectLst>
                    <a:outerShdw blurRad="38100" dist="38100" dir="2700000" algn="tl">
                      <a:srgbClr val="C0C0C0"/>
                    </a:outerShdw>
                  </a:effectLst>
                </a:rPr>
                <a:t>pagar</a:t>
              </a:r>
              <a:r>
                <a:rPr lang="en-US" sz="2000" b="1" dirty="0">
                  <a:effectLst>
                    <a:outerShdw blurRad="38100" dist="38100" dir="2700000" algn="tl">
                      <a:srgbClr val="C0C0C0"/>
                    </a:outerShdw>
                  </a:effectLst>
                </a:rPr>
                <a:t>:    $ 12,00</a:t>
              </a:r>
              <a:endParaRPr lang="pt-BR" sz="2000" b="1" dirty="0">
                <a:effectLst>
                  <a:outerShdw blurRad="38100" dist="38100" dir="2700000" algn="tl">
                    <a:srgbClr val="C0C0C0"/>
                  </a:outerShdw>
                </a:effectLst>
              </a:endParaRPr>
            </a:p>
          </p:txBody>
        </p:sp>
        <p:sp>
          <p:nvSpPr>
            <p:cNvPr id="36890" name="Line 33"/>
            <p:cNvSpPr>
              <a:spLocks noChangeShapeType="1"/>
            </p:cNvSpPr>
            <p:nvPr/>
          </p:nvSpPr>
          <p:spPr bwMode="auto">
            <a:xfrm>
              <a:off x="912" y="2760"/>
              <a:ext cx="1632" cy="0"/>
            </a:xfrm>
            <a:prstGeom prst="line">
              <a:avLst/>
            </a:prstGeom>
            <a:noFill/>
            <a:ln w="9525">
              <a:solidFill>
                <a:schemeClr val="tx1"/>
              </a:solidFill>
              <a:miter lim="800000"/>
              <a:headEnd/>
              <a:tailEnd/>
            </a:ln>
          </p:spPr>
          <p:txBody>
            <a:bodyPr wrap="none" anchor="ctr"/>
            <a:lstStyle/>
            <a:p>
              <a:endParaRPr lang="pt-BR"/>
            </a:p>
          </p:txBody>
        </p:sp>
      </p:grpSp>
      <p:grpSp>
        <p:nvGrpSpPr>
          <p:cNvPr id="9" name="Group 34"/>
          <p:cNvGrpSpPr>
            <a:grpSpLocks/>
          </p:cNvGrpSpPr>
          <p:nvPr/>
        </p:nvGrpSpPr>
        <p:grpSpPr bwMode="auto">
          <a:xfrm>
            <a:off x="5486400" y="5546726"/>
            <a:ext cx="2657476" cy="708025"/>
            <a:chOff x="912" y="2534"/>
            <a:chExt cx="1674" cy="446"/>
          </a:xfrm>
        </p:grpSpPr>
        <p:sp>
          <p:nvSpPr>
            <p:cNvPr id="2081827" name="Rectangle 35"/>
            <p:cNvSpPr>
              <a:spLocks noChangeArrowheads="1"/>
            </p:cNvSpPr>
            <p:nvPr/>
          </p:nvSpPr>
          <p:spPr bwMode="auto">
            <a:xfrm>
              <a:off x="1008" y="2534"/>
              <a:ext cx="1578" cy="446"/>
            </a:xfrm>
            <a:prstGeom prst="rect">
              <a:avLst/>
            </a:prstGeom>
            <a:noFill/>
            <a:ln w="9525">
              <a:noFill/>
              <a:miter lim="800000"/>
              <a:headEnd/>
              <a:tailEnd/>
            </a:ln>
            <a:effectLst/>
          </p:spPr>
          <p:txBody>
            <a:bodyPr wrap="none">
              <a:spAutoFit/>
            </a:bodyPr>
            <a:lstStyle/>
            <a:p>
              <a:pPr algn="l">
                <a:defRPr/>
              </a:pPr>
              <a:r>
                <a:rPr lang="en-US" sz="2000" b="1" dirty="0">
                  <a:effectLst>
                    <a:outerShdw blurRad="38100" dist="38100" dir="2700000" algn="tl">
                      <a:srgbClr val="C0C0C0"/>
                    </a:outerShdw>
                  </a:effectLst>
                </a:rPr>
                <a:t>(–) </a:t>
              </a:r>
              <a:r>
                <a:rPr lang="en-US" sz="2000" b="1" dirty="0" err="1">
                  <a:effectLst>
                    <a:outerShdw blurRad="38100" dist="38100" dir="2700000" algn="tl">
                      <a:srgbClr val="C0C0C0"/>
                    </a:outerShdw>
                  </a:effectLst>
                </a:rPr>
                <a:t>Crédito</a:t>
              </a:r>
              <a:r>
                <a:rPr lang="en-US" sz="2000" b="1" dirty="0">
                  <a:effectLst>
                    <a:outerShdw blurRad="38100" dist="38100" dir="2700000" algn="tl">
                      <a:srgbClr val="C0C0C0"/>
                    </a:outerShdw>
                  </a:effectLst>
                </a:rPr>
                <a:t>:$ 12,00</a:t>
              </a:r>
            </a:p>
            <a:p>
              <a:pPr algn="l">
                <a:defRPr/>
              </a:pPr>
              <a:r>
                <a:rPr lang="en-US" sz="2000" b="1" dirty="0">
                  <a:effectLst>
                    <a:outerShdw blurRad="38100" dist="38100" dir="2700000" algn="tl">
                      <a:srgbClr val="C0C0C0"/>
                    </a:outerShdw>
                  </a:effectLst>
                </a:rPr>
                <a:t>A </a:t>
              </a:r>
              <a:r>
                <a:rPr lang="en-US" sz="2000" b="1" dirty="0" err="1">
                  <a:effectLst>
                    <a:outerShdw blurRad="38100" dist="38100" dir="2700000" algn="tl">
                      <a:srgbClr val="C0C0C0"/>
                    </a:outerShdw>
                  </a:effectLst>
                </a:rPr>
                <a:t>pagar</a:t>
              </a:r>
              <a:r>
                <a:rPr lang="en-US" sz="2000" b="1" dirty="0">
                  <a:effectLst>
                    <a:outerShdw blurRad="38100" dist="38100" dir="2700000" algn="tl">
                      <a:srgbClr val="C0C0C0"/>
                    </a:outerShdw>
                  </a:effectLst>
                </a:rPr>
                <a:t>:     $ 12,00</a:t>
              </a:r>
              <a:endParaRPr lang="pt-BR" sz="2000" b="1" dirty="0">
                <a:effectLst>
                  <a:outerShdw blurRad="38100" dist="38100" dir="2700000" algn="tl">
                    <a:srgbClr val="C0C0C0"/>
                  </a:outerShdw>
                </a:effectLst>
              </a:endParaRPr>
            </a:p>
          </p:txBody>
        </p:sp>
        <p:sp>
          <p:nvSpPr>
            <p:cNvPr id="36888" name="Line 36"/>
            <p:cNvSpPr>
              <a:spLocks noChangeShapeType="1"/>
            </p:cNvSpPr>
            <p:nvPr/>
          </p:nvSpPr>
          <p:spPr bwMode="auto">
            <a:xfrm>
              <a:off x="912" y="2760"/>
              <a:ext cx="1632" cy="0"/>
            </a:xfrm>
            <a:prstGeom prst="line">
              <a:avLst/>
            </a:prstGeom>
            <a:noFill/>
            <a:ln w="9525">
              <a:solidFill>
                <a:schemeClr val="tx1"/>
              </a:solidFill>
              <a:miter lim="800000"/>
              <a:headEnd/>
              <a:tailEnd/>
            </a:ln>
          </p:spPr>
          <p:txBody>
            <a:bodyPr wrap="none" anchor="ctr"/>
            <a:lstStyle/>
            <a:p>
              <a:endParaRPr lang="pt-BR"/>
            </a:p>
          </p:txBody>
        </p:sp>
      </p:grpSp>
      <p:grpSp>
        <p:nvGrpSpPr>
          <p:cNvPr id="10" name="Group 37"/>
          <p:cNvGrpSpPr>
            <a:grpSpLocks/>
          </p:cNvGrpSpPr>
          <p:nvPr/>
        </p:nvGrpSpPr>
        <p:grpSpPr bwMode="auto">
          <a:xfrm>
            <a:off x="8077201" y="5546726"/>
            <a:ext cx="2730501" cy="708025"/>
            <a:chOff x="912" y="2534"/>
            <a:chExt cx="1720" cy="446"/>
          </a:xfrm>
        </p:grpSpPr>
        <p:sp>
          <p:nvSpPr>
            <p:cNvPr id="2081830" name="Rectangle 38"/>
            <p:cNvSpPr>
              <a:spLocks noChangeArrowheads="1"/>
            </p:cNvSpPr>
            <p:nvPr/>
          </p:nvSpPr>
          <p:spPr bwMode="auto">
            <a:xfrm>
              <a:off x="1008" y="2534"/>
              <a:ext cx="1624" cy="446"/>
            </a:xfrm>
            <a:prstGeom prst="rect">
              <a:avLst/>
            </a:prstGeom>
            <a:noFill/>
            <a:ln w="9525">
              <a:noFill/>
              <a:miter lim="800000"/>
              <a:headEnd/>
              <a:tailEnd/>
            </a:ln>
            <a:effectLst/>
          </p:spPr>
          <p:txBody>
            <a:bodyPr wrap="none">
              <a:spAutoFit/>
            </a:bodyPr>
            <a:lstStyle/>
            <a:p>
              <a:pPr algn="l">
                <a:defRPr/>
              </a:pPr>
              <a:r>
                <a:rPr lang="en-US" sz="2000" b="1" dirty="0">
                  <a:effectLst>
                    <a:outerShdw blurRad="38100" dist="38100" dir="2700000" algn="tl">
                      <a:srgbClr val="C0C0C0"/>
                    </a:outerShdw>
                  </a:effectLst>
                </a:rPr>
                <a:t>(–) </a:t>
              </a:r>
              <a:r>
                <a:rPr lang="en-US" sz="2000" b="1" dirty="0" err="1">
                  <a:effectLst>
                    <a:outerShdw blurRad="38100" dist="38100" dir="2700000" algn="tl">
                      <a:srgbClr val="C0C0C0"/>
                    </a:outerShdw>
                  </a:effectLst>
                </a:rPr>
                <a:t>Crédito</a:t>
              </a:r>
              <a:r>
                <a:rPr lang="en-US" sz="2000" b="1" dirty="0">
                  <a:effectLst>
                    <a:outerShdw blurRad="38100" dist="38100" dir="2700000" algn="tl">
                      <a:srgbClr val="C0C0C0"/>
                    </a:outerShdw>
                  </a:effectLst>
                </a:rPr>
                <a:t>: $ 24,00</a:t>
              </a:r>
            </a:p>
            <a:p>
              <a:pPr algn="l">
                <a:defRPr/>
              </a:pPr>
              <a:r>
                <a:rPr lang="en-US" sz="2000" b="1" dirty="0">
                  <a:effectLst>
                    <a:outerShdw blurRad="38100" dist="38100" dir="2700000" algn="tl">
                      <a:srgbClr val="C0C0C0"/>
                    </a:outerShdw>
                  </a:effectLst>
                </a:rPr>
                <a:t>A </a:t>
              </a:r>
              <a:r>
                <a:rPr lang="en-US" sz="2000" b="1" dirty="0" err="1">
                  <a:effectLst>
                    <a:outerShdw blurRad="38100" dist="38100" dir="2700000" algn="tl">
                      <a:srgbClr val="C0C0C0"/>
                    </a:outerShdw>
                  </a:effectLst>
                </a:rPr>
                <a:t>pagar</a:t>
              </a:r>
              <a:r>
                <a:rPr lang="en-US" sz="2000" b="1" dirty="0">
                  <a:effectLst>
                    <a:outerShdw blurRad="38100" dist="38100" dir="2700000" algn="tl">
                      <a:srgbClr val="C0C0C0"/>
                    </a:outerShdw>
                  </a:effectLst>
                </a:rPr>
                <a:t>:      $ 24,00</a:t>
              </a:r>
              <a:endParaRPr lang="pt-BR" sz="2000" b="1" dirty="0">
                <a:effectLst>
                  <a:outerShdw blurRad="38100" dist="38100" dir="2700000" algn="tl">
                    <a:srgbClr val="C0C0C0"/>
                  </a:outerShdw>
                </a:effectLst>
              </a:endParaRPr>
            </a:p>
          </p:txBody>
        </p:sp>
        <p:sp>
          <p:nvSpPr>
            <p:cNvPr id="36886" name="Line 39"/>
            <p:cNvSpPr>
              <a:spLocks noChangeShapeType="1"/>
            </p:cNvSpPr>
            <p:nvPr/>
          </p:nvSpPr>
          <p:spPr bwMode="auto">
            <a:xfrm>
              <a:off x="912" y="2760"/>
              <a:ext cx="1632" cy="0"/>
            </a:xfrm>
            <a:prstGeom prst="line">
              <a:avLst/>
            </a:prstGeom>
            <a:noFill/>
            <a:ln w="9525">
              <a:solidFill>
                <a:schemeClr val="tx1"/>
              </a:solidFill>
              <a:miter lim="800000"/>
              <a:headEnd/>
              <a:tailEnd/>
            </a:ln>
          </p:spPr>
          <p:txBody>
            <a:bodyPr wrap="none" anchor="ctr"/>
            <a:lstStyle/>
            <a:p>
              <a:endParaRPr lang="pt-BR"/>
            </a:p>
          </p:txBody>
        </p:sp>
      </p:grpSp>
      <p:sp>
        <p:nvSpPr>
          <p:cNvPr id="2081832" name="Text Box 40"/>
          <p:cNvSpPr txBox="1">
            <a:spLocks noChangeArrowheads="1"/>
          </p:cNvSpPr>
          <p:nvPr/>
        </p:nvSpPr>
        <p:spPr bwMode="auto">
          <a:xfrm>
            <a:off x="4729164" y="3905251"/>
            <a:ext cx="877163" cy="584775"/>
          </a:xfrm>
          <a:prstGeom prst="rect">
            <a:avLst/>
          </a:prstGeom>
          <a:noFill/>
          <a:ln w="9525">
            <a:noFill/>
            <a:miter lim="800000"/>
            <a:headEnd/>
            <a:tailEnd/>
          </a:ln>
          <a:effectLst/>
        </p:spPr>
        <p:txBody>
          <a:bodyPr wrap="none">
            <a:spAutoFit/>
          </a:bodyPr>
          <a:lstStyle/>
          <a:p>
            <a:pPr>
              <a:defRPr/>
            </a:pPr>
            <a:r>
              <a:rPr lang="en-US" sz="1600" b="1" dirty="0" err="1">
                <a:solidFill>
                  <a:srgbClr val="0000FF"/>
                </a:solidFill>
                <a:effectLst>
                  <a:outerShdw blurRad="38100" dist="38100" dir="2700000" algn="tl">
                    <a:srgbClr val="C0C0C0"/>
                  </a:outerShdw>
                </a:effectLst>
              </a:rPr>
              <a:t>Custo</a:t>
            </a:r>
            <a:endParaRPr lang="en-US" sz="1600" b="1" dirty="0">
              <a:solidFill>
                <a:srgbClr val="0000FF"/>
              </a:solidFill>
              <a:effectLst>
                <a:outerShdw blurRad="38100" dist="38100" dir="2700000" algn="tl">
                  <a:srgbClr val="C0C0C0"/>
                </a:outerShdw>
              </a:effectLst>
            </a:endParaRPr>
          </a:p>
          <a:p>
            <a:pPr>
              <a:defRPr/>
            </a:pPr>
            <a:r>
              <a:rPr lang="en-US" sz="1600" b="1" dirty="0">
                <a:solidFill>
                  <a:srgbClr val="0000FF"/>
                </a:solidFill>
                <a:effectLst>
                  <a:outerShdw blurRad="38100" dist="38100" dir="2700000" algn="tl">
                    <a:srgbClr val="C0C0C0"/>
                  </a:outerShdw>
                </a:effectLst>
              </a:rPr>
              <a:t>$ 88,00</a:t>
            </a:r>
            <a:endParaRPr lang="pt-BR" sz="1600" b="1" dirty="0">
              <a:solidFill>
                <a:srgbClr val="0000FF"/>
              </a:solidFill>
              <a:effectLst>
                <a:outerShdw blurRad="38100" dist="38100" dir="2700000" algn="tl">
                  <a:srgbClr val="C0C0C0"/>
                </a:outerShdw>
              </a:effectLst>
            </a:endParaRPr>
          </a:p>
        </p:txBody>
      </p:sp>
      <p:sp>
        <p:nvSpPr>
          <p:cNvPr id="2081833" name="Text Box 41"/>
          <p:cNvSpPr txBox="1">
            <a:spLocks noChangeArrowheads="1"/>
          </p:cNvSpPr>
          <p:nvPr/>
        </p:nvSpPr>
        <p:spPr bwMode="auto">
          <a:xfrm>
            <a:off x="7286626" y="3886201"/>
            <a:ext cx="992579" cy="584775"/>
          </a:xfrm>
          <a:prstGeom prst="rect">
            <a:avLst/>
          </a:prstGeom>
          <a:noFill/>
          <a:ln w="9525">
            <a:noFill/>
            <a:miter lim="800000"/>
            <a:headEnd/>
            <a:tailEnd/>
          </a:ln>
          <a:effectLst/>
        </p:spPr>
        <p:txBody>
          <a:bodyPr wrap="none">
            <a:spAutoFit/>
          </a:bodyPr>
          <a:lstStyle/>
          <a:p>
            <a:pPr>
              <a:defRPr/>
            </a:pPr>
            <a:r>
              <a:rPr lang="en-US" sz="1600" b="1" dirty="0" err="1">
                <a:solidFill>
                  <a:srgbClr val="0000FF"/>
                </a:solidFill>
                <a:effectLst>
                  <a:outerShdw blurRad="38100" dist="38100" dir="2700000" algn="tl">
                    <a:srgbClr val="C0C0C0"/>
                  </a:outerShdw>
                </a:effectLst>
              </a:rPr>
              <a:t>Custo</a:t>
            </a:r>
            <a:endParaRPr lang="en-US" sz="1600" b="1" dirty="0">
              <a:solidFill>
                <a:srgbClr val="0000FF"/>
              </a:solidFill>
              <a:effectLst>
                <a:outerShdw blurRad="38100" dist="38100" dir="2700000" algn="tl">
                  <a:srgbClr val="C0C0C0"/>
                </a:outerShdw>
              </a:effectLst>
            </a:endParaRPr>
          </a:p>
          <a:p>
            <a:pPr>
              <a:defRPr/>
            </a:pPr>
            <a:r>
              <a:rPr lang="en-US" sz="1600" b="1" dirty="0">
                <a:solidFill>
                  <a:srgbClr val="0000FF"/>
                </a:solidFill>
                <a:effectLst>
                  <a:outerShdw blurRad="38100" dist="38100" dir="2700000" algn="tl">
                    <a:srgbClr val="C0C0C0"/>
                  </a:outerShdw>
                </a:effectLst>
              </a:rPr>
              <a:t>$ 176,00</a:t>
            </a:r>
            <a:endParaRPr lang="pt-BR" sz="1600" b="1" dirty="0">
              <a:solidFill>
                <a:srgbClr val="0000FF"/>
              </a:solidFill>
              <a:effectLst>
                <a:outerShdw blurRad="38100" dist="38100" dir="2700000" algn="tl">
                  <a:srgbClr val="C0C0C0"/>
                </a:outerShdw>
              </a:effectLst>
            </a:endParaRPr>
          </a:p>
        </p:txBody>
      </p:sp>
      <p:sp>
        <p:nvSpPr>
          <p:cNvPr id="38" name="Text Box 29"/>
          <p:cNvSpPr txBox="1">
            <a:spLocks noChangeArrowheads="1"/>
          </p:cNvSpPr>
          <p:nvPr/>
        </p:nvSpPr>
        <p:spPr bwMode="auto">
          <a:xfrm>
            <a:off x="1293801" y="2416096"/>
            <a:ext cx="9570584" cy="830997"/>
          </a:xfrm>
          <a:prstGeom prst="rect">
            <a:avLst/>
          </a:prstGeom>
          <a:solidFill>
            <a:srgbClr val="FFFF00"/>
          </a:solidFill>
          <a:ln w="38100">
            <a:solidFill>
              <a:srgbClr val="FF0000"/>
            </a:solidFill>
            <a:miter lim="800000"/>
            <a:headEnd/>
            <a:tailEnd/>
          </a:ln>
        </p:spPr>
        <p:txBody>
          <a:bodyPr wrap="square">
            <a:spAutoFit/>
          </a:bodyPr>
          <a:lstStyle/>
          <a:p>
            <a:pPr algn="l">
              <a:defRPr/>
            </a:pPr>
            <a:r>
              <a:rPr lang="en-US" sz="2400" b="1" dirty="0" err="1">
                <a:solidFill>
                  <a:srgbClr val="FF0000"/>
                </a:solidFill>
                <a:effectLst>
                  <a:outerShdw blurRad="38100" dist="38100" dir="2700000" algn="tl">
                    <a:srgbClr val="000000">
                      <a:alpha val="43137"/>
                    </a:srgbClr>
                  </a:outerShdw>
                </a:effectLst>
              </a:rPr>
              <a:t>Imposto</a:t>
            </a:r>
            <a:r>
              <a:rPr lang="en-US" sz="2400" b="1" dirty="0">
                <a:solidFill>
                  <a:srgbClr val="FF0000"/>
                </a:solidFill>
                <a:effectLst>
                  <a:outerShdw blurRad="38100" dist="38100" dir="2700000" algn="tl">
                    <a:srgbClr val="000000">
                      <a:alpha val="43137"/>
                    </a:srgbClr>
                  </a:outerShdw>
                </a:effectLst>
              </a:rPr>
              <a:t> </a:t>
            </a:r>
            <a:r>
              <a:rPr lang="en-US" sz="2400" b="1" dirty="0" err="1" smtClean="0">
                <a:solidFill>
                  <a:srgbClr val="FF0000"/>
                </a:solidFill>
                <a:effectLst>
                  <a:outerShdw blurRad="38100" dist="38100" dir="2700000" algn="tl">
                    <a:srgbClr val="000000">
                      <a:alpha val="43137"/>
                    </a:srgbClr>
                  </a:outerShdw>
                </a:effectLst>
              </a:rPr>
              <a:t>Não</a:t>
            </a:r>
            <a:r>
              <a:rPr lang="en-US" sz="2400" b="1" dirty="0" smtClean="0">
                <a:solidFill>
                  <a:srgbClr val="FF0000"/>
                </a:solidFill>
                <a:effectLst>
                  <a:outerShdw blurRad="38100" dist="38100" dir="2700000" algn="tl">
                    <a:srgbClr val="000000">
                      <a:alpha val="43137"/>
                    </a:srgbClr>
                  </a:outerShdw>
                </a:effectLst>
              </a:rPr>
              <a:t> </a:t>
            </a:r>
            <a:r>
              <a:rPr lang="en-US" sz="2400" b="1" dirty="0" err="1" smtClean="0">
                <a:solidFill>
                  <a:srgbClr val="FF0000"/>
                </a:solidFill>
                <a:effectLst>
                  <a:outerShdw blurRad="38100" dist="38100" dir="2700000" algn="tl">
                    <a:srgbClr val="000000">
                      <a:alpha val="43137"/>
                    </a:srgbClr>
                  </a:outerShdw>
                </a:effectLst>
              </a:rPr>
              <a:t>Cumulativo</a:t>
            </a:r>
            <a:r>
              <a:rPr lang="en-US" sz="2400" b="1" dirty="0">
                <a:solidFill>
                  <a:srgbClr val="FF0000"/>
                </a:solidFill>
                <a:effectLst>
                  <a:outerShdw blurRad="38100" dist="38100" dir="2700000" algn="tl">
                    <a:srgbClr val="000000">
                      <a:alpha val="43137"/>
                    </a:srgbClr>
                  </a:outerShdw>
                </a:effectLst>
              </a:rPr>
              <a:t>: </a:t>
            </a:r>
            <a:r>
              <a:rPr lang="en-US" sz="2400" b="1" dirty="0" err="1" smtClean="0">
                <a:solidFill>
                  <a:srgbClr val="FF0000"/>
                </a:solidFill>
                <a:effectLst>
                  <a:outerShdw blurRad="38100" dist="38100" dir="2700000" algn="tl">
                    <a:srgbClr val="000000">
                      <a:alpha val="43137"/>
                    </a:srgbClr>
                  </a:outerShdw>
                </a:effectLst>
              </a:rPr>
              <a:t>Não</a:t>
            </a:r>
            <a:r>
              <a:rPr lang="en-US" sz="2400" b="1" dirty="0" smtClean="0">
                <a:solidFill>
                  <a:srgbClr val="FF0000"/>
                </a:solidFill>
                <a:effectLst>
                  <a:outerShdw blurRad="38100" dist="38100" dir="2700000" algn="tl">
                    <a:srgbClr val="000000">
                      <a:alpha val="43137"/>
                    </a:srgbClr>
                  </a:outerShdw>
                </a:effectLst>
              </a:rPr>
              <a:t> </a:t>
            </a:r>
            <a:r>
              <a:rPr lang="en-US" sz="2400" b="1" dirty="0" err="1" smtClean="0">
                <a:solidFill>
                  <a:srgbClr val="FF0000"/>
                </a:solidFill>
                <a:effectLst>
                  <a:outerShdw blurRad="38100" dist="38100" dir="2700000" algn="tl">
                    <a:srgbClr val="000000">
                      <a:alpha val="43137"/>
                    </a:srgbClr>
                  </a:outerShdw>
                </a:effectLst>
              </a:rPr>
              <a:t>ocorre</a:t>
            </a:r>
            <a:r>
              <a:rPr lang="en-US" sz="2400" b="1" dirty="0" smtClean="0">
                <a:solidFill>
                  <a:srgbClr val="FF0000"/>
                </a:solidFill>
                <a:effectLst>
                  <a:outerShdw blurRad="38100" dist="38100" dir="2700000" algn="tl">
                    <a:srgbClr val="000000">
                      <a:alpha val="43137"/>
                    </a:srgbClr>
                  </a:outerShdw>
                </a:effectLst>
              </a:rPr>
              <a:t> </a:t>
            </a:r>
            <a:r>
              <a:rPr lang="en-US" sz="2400" b="1" dirty="0">
                <a:solidFill>
                  <a:srgbClr val="FF0000"/>
                </a:solidFill>
                <a:effectLst>
                  <a:outerShdw blurRad="38100" dist="38100" dir="2700000" algn="tl">
                    <a:srgbClr val="000000">
                      <a:alpha val="43137"/>
                    </a:srgbClr>
                  </a:outerShdw>
                </a:effectLst>
              </a:rPr>
              <a:t>a </a:t>
            </a:r>
            <a:r>
              <a:rPr lang="en-US" sz="2400" b="1" dirty="0" err="1">
                <a:solidFill>
                  <a:srgbClr val="FF0000"/>
                </a:solidFill>
                <a:effectLst>
                  <a:outerShdw blurRad="38100" dist="38100" dir="2700000" algn="tl">
                    <a:srgbClr val="000000">
                      <a:alpha val="43137"/>
                    </a:srgbClr>
                  </a:outerShdw>
                </a:effectLst>
              </a:rPr>
              <a:t>majoração</a:t>
            </a:r>
            <a:r>
              <a:rPr lang="en-US" sz="2400" b="1" dirty="0">
                <a:solidFill>
                  <a:srgbClr val="FF0000"/>
                </a:solidFill>
                <a:effectLst>
                  <a:outerShdw blurRad="38100" dist="38100" dir="2700000" algn="tl">
                    <a:srgbClr val="000000">
                      <a:alpha val="43137"/>
                    </a:srgbClr>
                  </a:outerShdw>
                </a:effectLst>
              </a:rPr>
              <a:t> do </a:t>
            </a:r>
            <a:r>
              <a:rPr lang="en-US" sz="2400" b="1" dirty="0" err="1">
                <a:solidFill>
                  <a:srgbClr val="FF0000"/>
                </a:solidFill>
                <a:effectLst>
                  <a:outerShdw blurRad="38100" dist="38100" dir="2700000" algn="tl">
                    <a:srgbClr val="000000">
                      <a:alpha val="43137"/>
                    </a:srgbClr>
                  </a:outerShdw>
                </a:effectLst>
              </a:rPr>
              <a:t>percentual</a:t>
            </a:r>
            <a:r>
              <a:rPr lang="en-US" sz="2400" b="1" dirty="0">
                <a:solidFill>
                  <a:srgbClr val="FF0000"/>
                </a:solidFill>
                <a:effectLst>
                  <a:outerShdw blurRad="38100" dist="38100" dir="2700000" algn="tl">
                    <a:srgbClr val="000000">
                      <a:alpha val="43137"/>
                    </a:srgbClr>
                  </a:outerShdw>
                </a:effectLst>
              </a:rPr>
              <a:t>, </a:t>
            </a:r>
            <a:r>
              <a:rPr lang="en-US" sz="2400" b="1" dirty="0" err="1" smtClean="0">
                <a:solidFill>
                  <a:srgbClr val="FF0000"/>
                </a:solidFill>
                <a:effectLst>
                  <a:outerShdw blurRad="38100" dist="38100" dir="2700000" algn="tl">
                    <a:srgbClr val="000000">
                      <a:alpha val="43137"/>
                    </a:srgbClr>
                  </a:outerShdw>
                </a:effectLst>
              </a:rPr>
              <a:t>mantendo</a:t>
            </a:r>
            <a:r>
              <a:rPr lang="en-US" sz="2400" b="1" dirty="0" smtClean="0">
                <a:solidFill>
                  <a:srgbClr val="FF0000"/>
                </a:solidFill>
                <a:effectLst>
                  <a:outerShdw blurRad="38100" dist="38100" dir="2700000" algn="tl">
                    <a:srgbClr val="000000">
                      <a:alpha val="43137"/>
                    </a:srgbClr>
                  </a:outerShdw>
                </a:effectLst>
              </a:rPr>
              <a:t>-se </a:t>
            </a:r>
            <a:r>
              <a:rPr lang="en-US" sz="2400" b="1" dirty="0" err="1" smtClean="0">
                <a:solidFill>
                  <a:srgbClr val="FF0000"/>
                </a:solidFill>
                <a:effectLst>
                  <a:outerShdw blurRad="38100" dist="38100" dir="2700000" algn="tl">
                    <a:srgbClr val="000000">
                      <a:alpha val="43137"/>
                    </a:srgbClr>
                  </a:outerShdw>
                </a:effectLst>
              </a:rPr>
              <a:t>em</a:t>
            </a:r>
            <a:r>
              <a:rPr lang="en-US" sz="2400" b="1" dirty="0" smtClean="0">
                <a:solidFill>
                  <a:srgbClr val="FF0000"/>
                </a:solidFill>
                <a:effectLst>
                  <a:outerShdw blurRad="38100" dist="38100" dir="2700000" algn="tl">
                    <a:srgbClr val="000000">
                      <a:alpha val="43137"/>
                    </a:srgbClr>
                  </a:outerShdw>
                </a:effectLst>
              </a:rPr>
              <a:t> 12,0% </a:t>
            </a:r>
            <a:r>
              <a:rPr lang="en-US" sz="2400" b="1" dirty="0" err="1" smtClean="0">
                <a:solidFill>
                  <a:srgbClr val="FF0000"/>
                </a:solidFill>
                <a:effectLst>
                  <a:outerShdw blurRad="38100" dist="38100" dir="2700000" algn="tl">
                    <a:srgbClr val="000000">
                      <a:alpha val="43137"/>
                    </a:srgbClr>
                  </a:outerShdw>
                </a:effectLst>
              </a:rPr>
              <a:t>nesse</a:t>
            </a:r>
            <a:r>
              <a:rPr lang="en-US" sz="2400" b="1" dirty="0" smtClean="0">
                <a:solidFill>
                  <a:srgbClr val="FF0000"/>
                </a:solidFill>
                <a:effectLst>
                  <a:outerShdw blurRad="38100" dist="38100" dir="2700000" algn="tl">
                    <a:srgbClr val="000000">
                      <a:alpha val="43137"/>
                    </a:srgbClr>
                  </a:outerShdw>
                </a:effectLst>
              </a:rPr>
              <a:t> </a:t>
            </a:r>
            <a:r>
              <a:rPr lang="en-US" sz="2400" b="1" dirty="0" err="1" smtClean="0">
                <a:solidFill>
                  <a:srgbClr val="FF0000"/>
                </a:solidFill>
                <a:effectLst>
                  <a:outerShdw blurRad="38100" dist="38100" dir="2700000" algn="tl">
                    <a:srgbClr val="000000">
                      <a:alpha val="43137"/>
                    </a:srgbClr>
                  </a:outerShdw>
                </a:effectLst>
              </a:rPr>
              <a:t>exemplo</a:t>
            </a:r>
            <a:r>
              <a:rPr lang="en-US" sz="2400" b="1" dirty="0" smtClean="0">
                <a:solidFill>
                  <a:srgbClr val="FF0000"/>
                </a:solidFill>
                <a:effectLst>
                  <a:outerShdw blurRad="38100" dist="38100" dir="2700000" algn="tl">
                    <a:srgbClr val="000000">
                      <a:alpha val="43137"/>
                    </a:srgbClr>
                  </a:outerShdw>
                </a:effectLst>
              </a:rPr>
              <a:t> </a:t>
            </a:r>
            <a:r>
              <a:rPr lang="en-US" sz="2400" b="1" dirty="0" err="1" smtClean="0">
                <a:solidFill>
                  <a:srgbClr val="FF0000"/>
                </a:solidFill>
                <a:effectLst>
                  <a:outerShdw blurRad="38100" dist="38100" dir="2700000" algn="tl">
                    <a:srgbClr val="000000">
                      <a:alpha val="43137"/>
                    </a:srgbClr>
                  </a:outerShdw>
                </a:effectLst>
              </a:rPr>
              <a:t>hipotético</a:t>
            </a:r>
            <a:endParaRPr lang="pt-BR" sz="2400" b="1" dirty="0">
              <a:solidFill>
                <a:srgbClr val="FF0000"/>
              </a:solidFill>
              <a:effectLst>
                <a:outerShdw blurRad="38100" dist="38100" dir="2700000" algn="tl">
                  <a:srgbClr val="000000">
                    <a:alpha val="43137"/>
                  </a:srgbClr>
                </a:outerShdw>
              </a:effectLst>
            </a:endParaRPr>
          </a:p>
        </p:txBody>
      </p:sp>
      <p:cxnSp>
        <p:nvCxnSpPr>
          <p:cNvPr id="12" name="Conector de seta reta 11"/>
          <p:cNvCxnSpPr/>
          <p:nvPr/>
        </p:nvCxnSpPr>
        <p:spPr>
          <a:xfrm>
            <a:off x="3837904" y="1493949"/>
            <a:ext cx="891260" cy="4411552"/>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1" name="Conector de seta reta 40"/>
          <p:cNvCxnSpPr/>
          <p:nvPr/>
        </p:nvCxnSpPr>
        <p:spPr>
          <a:xfrm>
            <a:off x="4441138" y="1428750"/>
            <a:ext cx="2365129" cy="4738688"/>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45"/>
          <p:cNvCxnSpPr/>
          <p:nvPr/>
        </p:nvCxnSpPr>
        <p:spPr>
          <a:xfrm>
            <a:off x="5079675" y="1493949"/>
            <a:ext cx="4413902" cy="4562474"/>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46"/>
          <p:cNvCxnSpPr/>
          <p:nvPr/>
        </p:nvCxnSpPr>
        <p:spPr>
          <a:xfrm>
            <a:off x="5894353" y="1363663"/>
            <a:ext cx="3886816" cy="3925888"/>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564045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81821"/>
                                        </p:tgtEl>
                                        <p:attrNameLst>
                                          <p:attrName>style.visibility</p:attrName>
                                        </p:attrNameLst>
                                      </p:cBhvr>
                                      <p:to>
                                        <p:strVal val="visible"/>
                                      </p:to>
                                    </p:set>
                                    <p:anim calcmode="lin" valueType="num">
                                      <p:cBhvr additive="base">
                                        <p:cTn id="7" dur="500" fill="hold"/>
                                        <p:tgtEl>
                                          <p:spTgt spid="2081821"/>
                                        </p:tgtEl>
                                        <p:attrNameLst>
                                          <p:attrName>ppt_x</p:attrName>
                                        </p:attrNameLst>
                                      </p:cBhvr>
                                      <p:tavLst>
                                        <p:tav tm="0">
                                          <p:val>
                                            <p:strVal val="0-#ppt_w/2"/>
                                          </p:val>
                                        </p:tav>
                                        <p:tav tm="100000">
                                          <p:val>
                                            <p:strVal val="#ppt_x"/>
                                          </p:val>
                                        </p:tav>
                                      </p:tavLst>
                                    </p:anim>
                                    <p:anim calcmode="lin" valueType="num">
                                      <p:cBhvr additive="base">
                                        <p:cTn id="8" dur="500" fill="hold"/>
                                        <p:tgtEl>
                                          <p:spTgt spid="20818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81804"/>
                                        </p:tgtEl>
                                        <p:attrNameLst>
                                          <p:attrName>style.visibility</p:attrName>
                                        </p:attrNameLst>
                                      </p:cBhvr>
                                      <p:to>
                                        <p:strVal val="visible"/>
                                      </p:to>
                                    </p:set>
                                    <p:anim calcmode="lin" valueType="num">
                                      <p:cBhvr additive="base">
                                        <p:cTn id="19" dur="500" fill="hold"/>
                                        <p:tgtEl>
                                          <p:spTgt spid="2081804"/>
                                        </p:tgtEl>
                                        <p:attrNameLst>
                                          <p:attrName>ppt_x</p:attrName>
                                        </p:attrNameLst>
                                      </p:cBhvr>
                                      <p:tavLst>
                                        <p:tav tm="0">
                                          <p:val>
                                            <p:strVal val="0-#ppt_w/2"/>
                                          </p:val>
                                        </p:tav>
                                        <p:tav tm="100000">
                                          <p:val>
                                            <p:strVal val="#ppt_x"/>
                                          </p:val>
                                        </p:tav>
                                      </p:tavLst>
                                    </p:anim>
                                    <p:anim calcmode="lin" valueType="num">
                                      <p:cBhvr additive="base">
                                        <p:cTn id="20" dur="500" fill="hold"/>
                                        <p:tgtEl>
                                          <p:spTgt spid="208180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0-#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0-#ppt_w/2"/>
                                          </p:val>
                                        </p:tav>
                                        <p:tav tm="100000">
                                          <p:val>
                                            <p:strVal val="#ppt_x"/>
                                          </p:val>
                                        </p:tav>
                                      </p:tavLst>
                                    </p:anim>
                                    <p:anim calcmode="lin" valueType="num">
                                      <p:cBhvr additive="base">
                                        <p:cTn id="32"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081805"/>
                                        </p:tgtEl>
                                        <p:attrNameLst>
                                          <p:attrName>style.visibility</p:attrName>
                                        </p:attrNameLst>
                                      </p:cBhvr>
                                      <p:to>
                                        <p:strVal val="visible"/>
                                      </p:to>
                                    </p:set>
                                    <p:anim calcmode="lin" valueType="num">
                                      <p:cBhvr additive="base">
                                        <p:cTn id="37" dur="500" fill="hold"/>
                                        <p:tgtEl>
                                          <p:spTgt spid="2081805"/>
                                        </p:tgtEl>
                                        <p:attrNameLst>
                                          <p:attrName>ppt_x</p:attrName>
                                        </p:attrNameLst>
                                      </p:cBhvr>
                                      <p:tavLst>
                                        <p:tav tm="0">
                                          <p:val>
                                            <p:strVal val="0-#ppt_w/2"/>
                                          </p:val>
                                        </p:tav>
                                        <p:tav tm="100000">
                                          <p:val>
                                            <p:strVal val="#ppt_x"/>
                                          </p:val>
                                        </p:tav>
                                      </p:tavLst>
                                    </p:anim>
                                    <p:anim calcmode="lin" valueType="num">
                                      <p:cBhvr additive="base">
                                        <p:cTn id="38" dur="500" fill="hold"/>
                                        <p:tgtEl>
                                          <p:spTgt spid="208180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0-#ppt_w/2"/>
                                          </p:val>
                                        </p:tav>
                                        <p:tav tm="100000">
                                          <p:val>
                                            <p:strVal val="#ppt_x"/>
                                          </p:val>
                                        </p:tav>
                                      </p:tavLst>
                                    </p:anim>
                                    <p:anim calcmode="lin" valueType="num">
                                      <p:cBhvr additive="base">
                                        <p:cTn id="4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additive="base">
                                        <p:cTn id="49" dur="500" fill="hold"/>
                                        <p:tgtEl>
                                          <p:spTgt spid="2"/>
                                        </p:tgtEl>
                                        <p:attrNameLst>
                                          <p:attrName>ppt_x</p:attrName>
                                        </p:attrNameLst>
                                      </p:cBhvr>
                                      <p:tavLst>
                                        <p:tav tm="0">
                                          <p:val>
                                            <p:strVal val="0-#ppt_w/2"/>
                                          </p:val>
                                        </p:tav>
                                        <p:tav tm="100000">
                                          <p:val>
                                            <p:strVal val="#ppt_x"/>
                                          </p:val>
                                        </p:tav>
                                      </p:tavLst>
                                    </p:anim>
                                    <p:anim calcmode="lin" valueType="num">
                                      <p:cBhvr additive="base">
                                        <p:cTn id="5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081806"/>
                                        </p:tgtEl>
                                        <p:attrNameLst>
                                          <p:attrName>style.visibility</p:attrName>
                                        </p:attrNameLst>
                                      </p:cBhvr>
                                      <p:to>
                                        <p:strVal val="visible"/>
                                      </p:to>
                                    </p:set>
                                    <p:anim calcmode="lin" valueType="num">
                                      <p:cBhvr additive="base">
                                        <p:cTn id="55" dur="500" fill="hold"/>
                                        <p:tgtEl>
                                          <p:spTgt spid="2081806"/>
                                        </p:tgtEl>
                                        <p:attrNameLst>
                                          <p:attrName>ppt_x</p:attrName>
                                        </p:attrNameLst>
                                      </p:cBhvr>
                                      <p:tavLst>
                                        <p:tav tm="0">
                                          <p:val>
                                            <p:strVal val="0-#ppt_w/2"/>
                                          </p:val>
                                        </p:tav>
                                        <p:tav tm="100000">
                                          <p:val>
                                            <p:strVal val="#ppt_x"/>
                                          </p:val>
                                        </p:tav>
                                      </p:tavLst>
                                    </p:anim>
                                    <p:anim calcmode="lin" valueType="num">
                                      <p:cBhvr additive="base">
                                        <p:cTn id="56" dur="500" fill="hold"/>
                                        <p:tgtEl>
                                          <p:spTgt spid="2081806"/>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500" fill="hold"/>
                                        <p:tgtEl>
                                          <p:spTgt spid="7"/>
                                        </p:tgtEl>
                                        <p:attrNameLst>
                                          <p:attrName>ppt_x</p:attrName>
                                        </p:attrNameLst>
                                      </p:cBhvr>
                                      <p:tavLst>
                                        <p:tav tm="0">
                                          <p:val>
                                            <p:strVal val="0-#ppt_w/2"/>
                                          </p:val>
                                        </p:tav>
                                        <p:tav tm="100000">
                                          <p:val>
                                            <p:strVal val="#ppt_x"/>
                                          </p:val>
                                        </p:tav>
                                      </p:tavLst>
                                    </p:anim>
                                    <p:anim calcmode="lin" valueType="num">
                                      <p:cBhvr additive="base">
                                        <p:cTn id="6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additive="base">
                                        <p:cTn id="67" dur="500" fill="hold"/>
                                        <p:tgtEl>
                                          <p:spTgt spid="8"/>
                                        </p:tgtEl>
                                        <p:attrNameLst>
                                          <p:attrName>ppt_x</p:attrName>
                                        </p:attrNameLst>
                                      </p:cBhvr>
                                      <p:tavLst>
                                        <p:tav tm="0">
                                          <p:val>
                                            <p:strVal val="0-#ppt_w/2"/>
                                          </p:val>
                                        </p:tav>
                                        <p:tav tm="100000">
                                          <p:val>
                                            <p:strVal val="#ppt_x"/>
                                          </p:val>
                                        </p:tav>
                                      </p:tavLst>
                                    </p:anim>
                                    <p:anim calcmode="lin" valueType="num">
                                      <p:cBhvr additive="base">
                                        <p:cTn id="6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9"/>
                                        </p:tgtEl>
                                        <p:attrNameLst>
                                          <p:attrName>style.visibility</p:attrName>
                                        </p:attrNameLst>
                                      </p:cBhvr>
                                      <p:to>
                                        <p:strVal val="visible"/>
                                      </p:to>
                                    </p:set>
                                    <p:anim calcmode="lin" valueType="num">
                                      <p:cBhvr additive="base">
                                        <p:cTn id="73" dur="500" fill="hold"/>
                                        <p:tgtEl>
                                          <p:spTgt spid="9"/>
                                        </p:tgtEl>
                                        <p:attrNameLst>
                                          <p:attrName>ppt_x</p:attrName>
                                        </p:attrNameLst>
                                      </p:cBhvr>
                                      <p:tavLst>
                                        <p:tav tm="0">
                                          <p:val>
                                            <p:strVal val="0-#ppt_w/2"/>
                                          </p:val>
                                        </p:tav>
                                        <p:tav tm="100000">
                                          <p:val>
                                            <p:strVal val="#ppt_x"/>
                                          </p:val>
                                        </p:tav>
                                      </p:tavLst>
                                    </p:anim>
                                    <p:anim calcmode="lin" valueType="num">
                                      <p:cBhvr additive="base">
                                        <p:cTn id="7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nodeType="clickEffect">
                                  <p:stCondLst>
                                    <p:cond delay="0"/>
                                  </p:stCondLst>
                                  <p:childTnLst>
                                    <p:set>
                                      <p:cBhvr>
                                        <p:cTn id="78" dur="1" fill="hold">
                                          <p:stCondLst>
                                            <p:cond delay="0"/>
                                          </p:stCondLst>
                                        </p:cTn>
                                        <p:tgtEl>
                                          <p:spTgt spid="10"/>
                                        </p:tgtEl>
                                        <p:attrNameLst>
                                          <p:attrName>style.visibility</p:attrName>
                                        </p:attrNameLst>
                                      </p:cBhvr>
                                      <p:to>
                                        <p:strVal val="visible"/>
                                      </p:to>
                                    </p:set>
                                    <p:anim calcmode="lin" valueType="num">
                                      <p:cBhvr additive="base">
                                        <p:cTn id="79" dur="500" fill="hold"/>
                                        <p:tgtEl>
                                          <p:spTgt spid="10"/>
                                        </p:tgtEl>
                                        <p:attrNameLst>
                                          <p:attrName>ppt_x</p:attrName>
                                        </p:attrNameLst>
                                      </p:cBhvr>
                                      <p:tavLst>
                                        <p:tav tm="0">
                                          <p:val>
                                            <p:strVal val="0-#ppt_w/2"/>
                                          </p:val>
                                        </p:tav>
                                        <p:tav tm="100000">
                                          <p:val>
                                            <p:strVal val="#ppt_x"/>
                                          </p:val>
                                        </p:tav>
                                      </p:tavLst>
                                    </p:anim>
                                    <p:anim calcmode="lin" valueType="num">
                                      <p:cBhvr additive="base">
                                        <p:cTn id="80"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2081832"/>
                                        </p:tgtEl>
                                        <p:attrNameLst>
                                          <p:attrName>style.visibility</p:attrName>
                                        </p:attrNameLst>
                                      </p:cBhvr>
                                      <p:to>
                                        <p:strVal val="visible"/>
                                      </p:to>
                                    </p:set>
                                    <p:anim calcmode="lin" valueType="num">
                                      <p:cBhvr additive="base">
                                        <p:cTn id="85" dur="500" fill="hold"/>
                                        <p:tgtEl>
                                          <p:spTgt spid="2081832"/>
                                        </p:tgtEl>
                                        <p:attrNameLst>
                                          <p:attrName>ppt_x</p:attrName>
                                        </p:attrNameLst>
                                      </p:cBhvr>
                                      <p:tavLst>
                                        <p:tav tm="0">
                                          <p:val>
                                            <p:strVal val="0-#ppt_w/2"/>
                                          </p:val>
                                        </p:tav>
                                        <p:tav tm="100000">
                                          <p:val>
                                            <p:strVal val="#ppt_x"/>
                                          </p:val>
                                        </p:tav>
                                      </p:tavLst>
                                    </p:anim>
                                    <p:anim calcmode="lin" valueType="num">
                                      <p:cBhvr additive="base">
                                        <p:cTn id="86" dur="500" fill="hold"/>
                                        <p:tgtEl>
                                          <p:spTgt spid="2081832"/>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2081833"/>
                                        </p:tgtEl>
                                        <p:attrNameLst>
                                          <p:attrName>style.visibility</p:attrName>
                                        </p:attrNameLst>
                                      </p:cBhvr>
                                      <p:to>
                                        <p:strVal val="visible"/>
                                      </p:to>
                                    </p:set>
                                    <p:anim calcmode="lin" valueType="num">
                                      <p:cBhvr additive="base">
                                        <p:cTn id="91" dur="500" fill="hold"/>
                                        <p:tgtEl>
                                          <p:spTgt spid="2081833"/>
                                        </p:tgtEl>
                                        <p:attrNameLst>
                                          <p:attrName>ppt_x</p:attrName>
                                        </p:attrNameLst>
                                      </p:cBhvr>
                                      <p:tavLst>
                                        <p:tav tm="0">
                                          <p:val>
                                            <p:strVal val="0-#ppt_w/2"/>
                                          </p:val>
                                        </p:tav>
                                        <p:tav tm="100000">
                                          <p:val>
                                            <p:strVal val="#ppt_x"/>
                                          </p:val>
                                        </p:tav>
                                      </p:tavLst>
                                    </p:anim>
                                    <p:anim calcmode="lin" valueType="num">
                                      <p:cBhvr additive="base">
                                        <p:cTn id="92" dur="500" fill="hold"/>
                                        <p:tgtEl>
                                          <p:spTgt spid="2081833"/>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2081817"/>
                                        </p:tgtEl>
                                        <p:attrNameLst>
                                          <p:attrName>style.visibility</p:attrName>
                                        </p:attrNameLst>
                                      </p:cBhvr>
                                      <p:to>
                                        <p:strVal val="visible"/>
                                      </p:to>
                                    </p:set>
                                    <p:anim calcmode="lin" valueType="num">
                                      <p:cBhvr additive="base">
                                        <p:cTn id="97" dur="500" fill="hold"/>
                                        <p:tgtEl>
                                          <p:spTgt spid="2081817"/>
                                        </p:tgtEl>
                                        <p:attrNameLst>
                                          <p:attrName>ppt_x</p:attrName>
                                        </p:attrNameLst>
                                      </p:cBhvr>
                                      <p:tavLst>
                                        <p:tav tm="0">
                                          <p:val>
                                            <p:strVal val="0-#ppt_w/2"/>
                                          </p:val>
                                        </p:tav>
                                        <p:tav tm="100000">
                                          <p:val>
                                            <p:strVal val="#ppt_x"/>
                                          </p:val>
                                        </p:tav>
                                      </p:tavLst>
                                    </p:anim>
                                    <p:anim calcmode="lin" valueType="num">
                                      <p:cBhvr additive="base">
                                        <p:cTn id="98" dur="500" fill="hold"/>
                                        <p:tgtEl>
                                          <p:spTgt spid="2081817"/>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2081818"/>
                                        </p:tgtEl>
                                        <p:attrNameLst>
                                          <p:attrName>style.visibility</p:attrName>
                                        </p:attrNameLst>
                                      </p:cBhvr>
                                      <p:to>
                                        <p:strVal val="visible"/>
                                      </p:to>
                                    </p:set>
                                    <p:anim calcmode="lin" valueType="num">
                                      <p:cBhvr additive="base">
                                        <p:cTn id="103" dur="500" fill="hold"/>
                                        <p:tgtEl>
                                          <p:spTgt spid="2081818"/>
                                        </p:tgtEl>
                                        <p:attrNameLst>
                                          <p:attrName>ppt_x</p:attrName>
                                        </p:attrNameLst>
                                      </p:cBhvr>
                                      <p:tavLst>
                                        <p:tav tm="0">
                                          <p:val>
                                            <p:strVal val="0-#ppt_w/2"/>
                                          </p:val>
                                        </p:tav>
                                        <p:tav tm="100000">
                                          <p:val>
                                            <p:strVal val="#ppt_x"/>
                                          </p:val>
                                        </p:tav>
                                      </p:tavLst>
                                    </p:anim>
                                    <p:anim calcmode="lin" valueType="num">
                                      <p:cBhvr additive="base">
                                        <p:cTn id="104" dur="500" fill="hold"/>
                                        <p:tgtEl>
                                          <p:spTgt spid="2081818"/>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8" fill="hold" grpId="0" nodeType="clickEffect">
                                  <p:stCondLst>
                                    <p:cond delay="0"/>
                                  </p:stCondLst>
                                  <p:childTnLst>
                                    <p:set>
                                      <p:cBhvr>
                                        <p:cTn id="108" dur="1" fill="hold">
                                          <p:stCondLst>
                                            <p:cond delay="0"/>
                                          </p:stCondLst>
                                        </p:cTn>
                                        <p:tgtEl>
                                          <p:spTgt spid="38"/>
                                        </p:tgtEl>
                                        <p:attrNameLst>
                                          <p:attrName>style.visibility</p:attrName>
                                        </p:attrNameLst>
                                      </p:cBhvr>
                                      <p:to>
                                        <p:strVal val="visible"/>
                                      </p:to>
                                    </p:set>
                                    <p:anim calcmode="lin" valueType="num">
                                      <p:cBhvr additive="base">
                                        <p:cTn id="109" dur="500" fill="hold"/>
                                        <p:tgtEl>
                                          <p:spTgt spid="38"/>
                                        </p:tgtEl>
                                        <p:attrNameLst>
                                          <p:attrName>ppt_x</p:attrName>
                                        </p:attrNameLst>
                                      </p:cBhvr>
                                      <p:tavLst>
                                        <p:tav tm="0">
                                          <p:val>
                                            <p:strVal val="0-#ppt_w/2"/>
                                          </p:val>
                                        </p:tav>
                                        <p:tav tm="100000">
                                          <p:val>
                                            <p:strVal val="#ppt_x"/>
                                          </p:val>
                                        </p:tav>
                                      </p:tavLst>
                                    </p:anim>
                                    <p:anim calcmode="lin" valueType="num">
                                      <p:cBhvr additive="base">
                                        <p:cTn id="110"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7" presetClass="entr" presetSubtype="0" fill="hold" nodeType="clickEffect">
                                  <p:stCondLst>
                                    <p:cond delay="0"/>
                                  </p:stCondLst>
                                  <p:childTnLst>
                                    <p:set>
                                      <p:cBhvr>
                                        <p:cTn id="114" dur="1" fill="hold">
                                          <p:stCondLst>
                                            <p:cond delay="0"/>
                                          </p:stCondLst>
                                        </p:cTn>
                                        <p:tgtEl>
                                          <p:spTgt spid="12"/>
                                        </p:tgtEl>
                                        <p:attrNameLst>
                                          <p:attrName>style.visibility</p:attrName>
                                        </p:attrNameLst>
                                      </p:cBhvr>
                                      <p:to>
                                        <p:strVal val="visible"/>
                                      </p:to>
                                    </p:set>
                                    <p:animEffect transition="in" filter="fade">
                                      <p:cBhvr>
                                        <p:cTn id="115" dur="1000"/>
                                        <p:tgtEl>
                                          <p:spTgt spid="12"/>
                                        </p:tgtEl>
                                      </p:cBhvr>
                                    </p:animEffect>
                                    <p:anim calcmode="lin" valueType="num">
                                      <p:cBhvr>
                                        <p:cTn id="116" dur="1000" fill="hold"/>
                                        <p:tgtEl>
                                          <p:spTgt spid="12"/>
                                        </p:tgtEl>
                                        <p:attrNameLst>
                                          <p:attrName>ppt_x</p:attrName>
                                        </p:attrNameLst>
                                      </p:cBhvr>
                                      <p:tavLst>
                                        <p:tav tm="0">
                                          <p:val>
                                            <p:strVal val="#ppt_x"/>
                                          </p:val>
                                        </p:tav>
                                        <p:tav tm="100000">
                                          <p:val>
                                            <p:strVal val="#ppt_x"/>
                                          </p:val>
                                        </p:tav>
                                      </p:tavLst>
                                    </p:anim>
                                    <p:anim calcmode="lin" valueType="num">
                                      <p:cBhvr>
                                        <p:cTn id="117" dur="1000" fill="hold"/>
                                        <p:tgtEl>
                                          <p:spTgt spid="12"/>
                                        </p:tgtEl>
                                        <p:attrNameLst>
                                          <p:attrName>ppt_y</p:attrName>
                                        </p:attrNameLst>
                                      </p:cBhvr>
                                      <p:tavLst>
                                        <p:tav tm="0">
                                          <p:val>
                                            <p:strVal val="#ppt_y-.1"/>
                                          </p:val>
                                        </p:tav>
                                        <p:tav tm="100000">
                                          <p:val>
                                            <p:strVal val="#ppt_y"/>
                                          </p:val>
                                        </p:tav>
                                      </p:tavLst>
                                    </p:anim>
                                  </p:childTnLst>
                                </p:cTn>
                              </p:par>
                              <p:par>
                                <p:cTn id="118" presetID="47" presetClass="entr" presetSubtype="0" fill="hold"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1000"/>
                                        <p:tgtEl>
                                          <p:spTgt spid="41"/>
                                        </p:tgtEl>
                                      </p:cBhvr>
                                    </p:animEffect>
                                    <p:anim calcmode="lin" valueType="num">
                                      <p:cBhvr>
                                        <p:cTn id="121" dur="1000" fill="hold"/>
                                        <p:tgtEl>
                                          <p:spTgt spid="41"/>
                                        </p:tgtEl>
                                        <p:attrNameLst>
                                          <p:attrName>ppt_x</p:attrName>
                                        </p:attrNameLst>
                                      </p:cBhvr>
                                      <p:tavLst>
                                        <p:tav tm="0">
                                          <p:val>
                                            <p:strVal val="#ppt_x"/>
                                          </p:val>
                                        </p:tav>
                                        <p:tav tm="100000">
                                          <p:val>
                                            <p:strVal val="#ppt_x"/>
                                          </p:val>
                                        </p:tav>
                                      </p:tavLst>
                                    </p:anim>
                                    <p:anim calcmode="lin" valueType="num">
                                      <p:cBhvr>
                                        <p:cTn id="122" dur="1000" fill="hold"/>
                                        <p:tgtEl>
                                          <p:spTgt spid="41"/>
                                        </p:tgtEl>
                                        <p:attrNameLst>
                                          <p:attrName>ppt_y</p:attrName>
                                        </p:attrNameLst>
                                      </p:cBhvr>
                                      <p:tavLst>
                                        <p:tav tm="0">
                                          <p:val>
                                            <p:strVal val="#ppt_y-.1"/>
                                          </p:val>
                                        </p:tav>
                                        <p:tav tm="100000">
                                          <p:val>
                                            <p:strVal val="#ppt_y"/>
                                          </p:val>
                                        </p:tav>
                                      </p:tavLst>
                                    </p:anim>
                                  </p:childTnLst>
                                </p:cTn>
                              </p:par>
                              <p:par>
                                <p:cTn id="123" presetID="47" presetClass="entr" presetSubtype="0" fill="hold" nodeType="withEffect">
                                  <p:stCondLst>
                                    <p:cond delay="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1000"/>
                                        <p:tgtEl>
                                          <p:spTgt spid="46"/>
                                        </p:tgtEl>
                                      </p:cBhvr>
                                    </p:animEffect>
                                    <p:anim calcmode="lin" valueType="num">
                                      <p:cBhvr>
                                        <p:cTn id="126" dur="1000" fill="hold"/>
                                        <p:tgtEl>
                                          <p:spTgt spid="46"/>
                                        </p:tgtEl>
                                        <p:attrNameLst>
                                          <p:attrName>ppt_x</p:attrName>
                                        </p:attrNameLst>
                                      </p:cBhvr>
                                      <p:tavLst>
                                        <p:tav tm="0">
                                          <p:val>
                                            <p:strVal val="#ppt_x"/>
                                          </p:val>
                                        </p:tav>
                                        <p:tav tm="100000">
                                          <p:val>
                                            <p:strVal val="#ppt_x"/>
                                          </p:val>
                                        </p:tav>
                                      </p:tavLst>
                                    </p:anim>
                                    <p:anim calcmode="lin" valueType="num">
                                      <p:cBhvr>
                                        <p:cTn id="127" dur="1000" fill="hold"/>
                                        <p:tgtEl>
                                          <p:spTgt spid="46"/>
                                        </p:tgtEl>
                                        <p:attrNameLst>
                                          <p:attrName>ppt_y</p:attrName>
                                        </p:attrNameLst>
                                      </p:cBhvr>
                                      <p:tavLst>
                                        <p:tav tm="0">
                                          <p:val>
                                            <p:strVal val="#ppt_y-.1"/>
                                          </p:val>
                                        </p:tav>
                                        <p:tav tm="100000">
                                          <p:val>
                                            <p:strVal val="#ppt_y"/>
                                          </p:val>
                                        </p:tav>
                                      </p:tavLst>
                                    </p:anim>
                                  </p:childTnLst>
                                </p:cTn>
                              </p:par>
                              <p:par>
                                <p:cTn id="128" presetID="47" presetClass="entr" presetSubtype="0" fill="hold"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fade">
                                      <p:cBhvr>
                                        <p:cTn id="130" dur="1000"/>
                                        <p:tgtEl>
                                          <p:spTgt spid="47"/>
                                        </p:tgtEl>
                                      </p:cBhvr>
                                    </p:animEffect>
                                    <p:anim calcmode="lin" valueType="num">
                                      <p:cBhvr>
                                        <p:cTn id="131" dur="1000" fill="hold"/>
                                        <p:tgtEl>
                                          <p:spTgt spid="47"/>
                                        </p:tgtEl>
                                        <p:attrNameLst>
                                          <p:attrName>ppt_x</p:attrName>
                                        </p:attrNameLst>
                                      </p:cBhvr>
                                      <p:tavLst>
                                        <p:tav tm="0">
                                          <p:val>
                                            <p:strVal val="#ppt_x"/>
                                          </p:val>
                                        </p:tav>
                                        <p:tav tm="100000">
                                          <p:val>
                                            <p:strVal val="#ppt_x"/>
                                          </p:val>
                                        </p:tav>
                                      </p:tavLst>
                                    </p:anim>
                                    <p:anim calcmode="lin" valueType="num">
                                      <p:cBhvr>
                                        <p:cTn id="132"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1804" grpId="0" autoUpdateAnimBg="0"/>
      <p:bldP spid="2081805" grpId="0" autoUpdateAnimBg="0"/>
      <p:bldP spid="2081806" grpId="0" autoUpdateAnimBg="0"/>
      <p:bldP spid="2081817" grpId="0" autoUpdateAnimBg="0"/>
      <p:bldP spid="2081818" grpId="0" autoUpdateAnimBg="0"/>
      <p:bldP spid="2081821" grpId="0" autoUpdateAnimBg="0"/>
      <p:bldP spid="2081832" grpId="0" autoUpdateAnimBg="0"/>
      <p:bldP spid="2081833" grpId="0" autoUpdateAnimBg="0"/>
      <p:bldP spid="38"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4"/>
          <p:cNvSpPr txBox="1">
            <a:spLocks noChangeArrowheads="1"/>
          </p:cNvSpPr>
          <p:nvPr/>
        </p:nvSpPr>
        <p:spPr bwMode="auto">
          <a:xfrm>
            <a:off x="575397" y="238150"/>
            <a:ext cx="10704533" cy="523220"/>
          </a:xfrm>
          <a:prstGeom prst="rect">
            <a:avLst/>
          </a:prstGeom>
          <a:noFill/>
          <a:ln w="12700" cap="sq">
            <a:noFill/>
            <a:miter lim="800000"/>
            <a:headEnd type="none" w="sm" len="sm"/>
            <a:tailEnd type="none" w="sm" len="sm"/>
          </a:ln>
        </p:spPr>
        <p:txBody>
          <a:bodyPr wrap="none">
            <a:spAutoFit/>
          </a:bodyPr>
          <a:lstStyle/>
          <a:p>
            <a:pPr>
              <a:defRPr/>
            </a:pPr>
            <a:r>
              <a:rPr lang="pt-PT" sz="2800" b="1" u="sng" dirty="0" smtClean="0">
                <a:ln w="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QUADRO DE  ITENS CRÉDITOS APROPRIADOS E GLOSADOS</a:t>
            </a:r>
            <a:endParaRPr lang="pt-PT" sz="2800" b="1" u="sng" dirty="0">
              <a:ln w="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8798" name="Rectangle 14"/>
          <p:cNvSpPr>
            <a:spLocks noChangeArrowheads="1"/>
          </p:cNvSpPr>
          <p:nvPr/>
        </p:nvSpPr>
        <p:spPr bwMode="auto">
          <a:xfrm>
            <a:off x="1921928" y="2509120"/>
            <a:ext cx="2092325" cy="609600"/>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000" dirty="0" smtClean="0">
                <a:ln w="0"/>
                <a:effectLst>
                  <a:outerShdw blurRad="38100" dist="19050" dir="2700000" algn="tl" rotWithShape="0">
                    <a:schemeClr val="dk1">
                      <a:alpha val="40000"/>
                    </a:schemeClr>
                  </a:outerShdw>
                </a:effectLst>
                <a:latin typeface="Arial Black" pitchFamily="34" charset="0"/>
              </a:rPr>
              <a:t>MAT.PRIMA</a:t>
            </a:r>
            <a:endParaRPr lang="pt-PT" sz="2000" dirty="0">
              <a:ln w="0"/>
              <a:effectLst>
                <a:outerShdw blurRad="38100" dist="19050" dir="2700000" algn="tl" rotWithShape="0">
                  <a:schemeClr val="dk1">
                    <a:alpha val="40000"/>
                  </a:schemeClr>
                </a:outerShdw>
              </a:effectLst>
              <a:latin typeface="Arial Black" pitchFamily="34" charset="0"/>
            </a:endParaRPr>
          </a:p>
        </p:txBody>
      </p:sp>
      <p:sp>
        <p:nvSpPr>
          <p:cNvPr id="118800" name="Rectangle 16"/>
          <p:cNvSpPr>
            <a:spLocks noChangeArrowheads="1"/>
          </p:cNvSpPr>
          <p:nvPr/>
        </p:nvSpPr>
        <p:spPr bwMode="auto">
          <a:xfrm>
            <a:off x="1921928" y="3121895"/>
            <a:ext cx="2092325" cy="609600"/>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000" dirty="0">
                <a:ln w="0"/>
                <a:effectLst>
                  <a:outerShdw blurRad="38100" dist="19050" dir="2700000" algn="tl" rotWithShape="0">
                    <a:schemeClr val="dk1">
                      <a:alpha val="40000"/>
                    </a:schemeClr>
                  </a:outerShdw>
                </a:effectLst>
                <a:latin typeface="Arial Black" pitchFamily="34" charset="0"/>
              </a:rPr>
              <a:t>M.O.D.</a:t>
            </a:r>
          </a:p>
        </p:txBody>
      </p:sp>
      <p:sp>
        <p:nvSpPr>
          <p:cNvPr id="118801" name="Rectangle 17"/>
          <p:cNvSpPr>
            <a:spLocks noChangeArrowheads="1"/>
          </p:cNvSpPr>
          <p:nvPr/>
        </p:nvSpPr>
        <p:spPr bwMode="auto">
          <a:xfrm>
            <a:off x="1921928" y="3721970"/>
            <a:ext cx="2092325" cy="609600"/>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000" dirty="0" smtClean="0">
                <a:ln w="0"/>
                <a:effectLst>
                  <a:outerShdw blurRad="38100" dist="19050" dir="2700000" algn="tl" rotWithShape="0">
                    <a:schemeClr val="dk1">
                      <a:alpha val="40000"/>
                    </a:schemeClr>
                  </a:outerShdw>
                </a:effectLst>
                <a:latin typeface="Arial Black" pitchFamily="34" charset="0"/>
              </a:rPr>
              <a:t>MATERIAL </a:t>
            </a:r>
            <a:endParaRPr lang="pt-PT" sz="2000" dirty="0">
              <a:ln w="0"/>
              <a:effectLst>
                <a:outerShdw blurRad="38100" dist="19050" dir="2700000" algn="tl" rotWithShape="0">
                  <a:schemeClr val="dk1">
                    <a:alpha val="40000"/>
                  </a:schemeClr>
                </a:outerShdw>
              </a:effectLst>
              <a:latin typeface="Arial Black" pitchFamily="34" charset="0"/>
            </a:endParaRPr>
          </a:p>
        </p:txBody>
      </p:sp>
      <p:sp>
        <p:nvSpPr>
          <p:cNvPr id="118802" name="Rectangle 18"/>
          <p:cNvSpPr>
            <a:spLocks noChangeArrowheads="1"/>
          </p:cNvSpPr>
          <p:nvPr/>
        </p:nvSpPr>
        <p:spPr bwMode="auto">
          <a:xfrm>
            <a:off x="1921928" y="4353662"/>
            <a:ext cx="2092325" cy="1819275"/>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400" dirty="0" smtClean="0">
                <a:ln w="0"/>
                <a:effectLst>
                  <a:outerShdw blurRad="38100" dist="19050" dir="2700000" algn="tl" rotWithShape="0">
                    <a:schemeClr val="dk1">
                      <a:alpha val="40000"/>
                    </a:schemeClr>
                  </a:outerShdw>
                </a:effectLst>
                <a:latin typeface="Arial Black" pitchFamily="34" charset="0"/>
              </a:rPr>
              <a:t>INSUMOS</a:t>
            </a:r>
            <a:endParaRPr lang="pt-PT" sz="2400" dirty="0">
              <a:ln w="0"/>
              <a:effectLst>
                <a:outerShdw blurRad="38100" dist="19050" dir="2700000" algn="tl" rotWithShape="0">
                  <a:schemeClr val="dk1">
                    <a:alpha val="40000"/>
                  </a:schemeClr>
                </a:outerShdw>
              </a:effectLst>
              <a:latin typeface="Arial Black" pitchFamily="34" charset="0"/>
            </a:endParaRPr>
          </a:p>
        </p:txBody>
      </p:sp>
      <p:sp>
        <p:nvSpPr>
          <p:cNvPr id="16" name="Rectangle 14"/>
          <p:cNvSpPr>
            <a:spLocks noChangeArrowheads="1"/>
          </p:cNvSpPr>
          <p:nvPr/>
        </p:nvSpPr>
        <p:spPr bwMode="auto">
          <a:xfrm>
            <a:off x="5242533" y="2529537"/>
            <a:ext cx="2092325" cy="609600"/>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000" dirty="0" smtClean="0">
                <a:ln w="0"/>
                <a:effectLst>
                  <a:outerShdw blurRad="38100" dist="19050" dir="2700000" algn="tl" rotWithShape="0">
                    <a:schemeClr val="dk1">
                      <a:alpha val="40000"/>
                    </a:schemeClr>
                  </a:outerShdw>
                </a:effectLst>
                <a:latin typeface="Arial Black" pitchFamily="34" charset="0"/>
              </a:rPr>
              <a:t>MAT.PRIMA</a:t>
            </a:r>
            <a:endParaRPr lang="pt-PT" sz="2000" dirty="0">
              <a:ln w="0"/>
              <a:effectLst>
                <a:outerShdw blurRad="38100" dist="19050" dir="2700000" algn="tl" rotWithShape="0">
                  <a:schemeClr val="dk1">
                    <a:alpha val="40000"/>
                  </a:schemeClr>
                </a:outerShdw>
              </a:effectLst>
              <a:latin typeface="Arial Black" pitchFamily="34" charset="0"/>
            </a:endParaRPr>
          </a:p>
        </p:txBody>
      </p:sp>
      <p:sp>
        <p:nvSpPr>
          <p:cNvPr id="18" name="Rectangle 16"/>
          <p:cNvSpPr>
            <a:spLocks noChangeArrowheads="1"/>
          </p:cNvSpPr>
          <p:nvPr/>
        </p:nvSpPr>
        <p:spPr bwMode="auto">
          <a:xfrm>
            <a:off x="5242533" y="3161738"/>
            <a:ext cx="2092325" cy="609600"/>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000" dirty="0">
                <a:ln w="0"/>
                <a:effectLst>
                  <a:outerShdw blurRad="38100" dist="19050" dir="2700000" algn="tl" rotWithShape="0">
                    <a:schemeClr val="dk1">
                      <a:alpha val="40000"/>
                    </a:schemeClr>
                  </a:outerShdw>
                </a:effectLst>
                <a:latin typeface="Arial Black" pitchFamily="34" charset="0"/>
              </a:rPr>
              <a:t>M.O.D.</a:t>
            </a:r>
          </a:p>
        </p:txBody>
      </p:sp>
      <p:sp>
        <p:nvSpPr>
          <p:cNvPr id="19" name="Rectangle 17"/>
          <p:cNvSpPr>
            <a:spLocks noChangeArrowheads="1"/>
          </p:cNvSpPr>
          <p:nvPr/>
        </p:nvSpPr>
        <p:spPr bwMode="auto">
          <a:xfrm>
            <a:off x="5242533" y="3771338"/>
            <a:ext cx="2092325" cy="609600"/>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000" dirty="0" smtClean="0">
                <a:ln w="0"/>
                <a:effectLst>
                  <a:outerShdw blurRad="38100" dist="19050" dir="2700000" algn="tl" rotWithShape="0">
                    <a:schemeClr val="dk1">
                      <a:alpha val="40000"/>
                    </a:schemeClr>
                  </a:outerShdw>
                </a:effectLst>
                <a:latin typeface="Arial Black" pitchFamily="34" charset="0"/>
              </a:rPr>
              <a:t>MATERIAL </a:t>
            </a:r>
            <a:endParaRPr lang="pt-PT" sz="2000" dirty="0">
              <a:ln w="0"/>
              <a:effectLst>
                <a:outerShdw blurRad="38100" dist="19050" dir="2700000" algn="tl" rotWithShape="0">
                  <a:schemeClr val="dk1">
                    <a:alpha val="40000"/>
                  </a:schemeClr>
                </a:outerShdw>
              </a:effectLst>
              <a:latin typeface="Arial Black" pitchFamily="34" charset="0"/>
            </a:endParaRPr>
          </a:p>
        </p:txBody>
      </p:sp>
      <p:sp>
        <p:nvSpPr>
          <p:cNvPr id="23" name="Rectangle 18"/>
          <p:cNvSpPr>
            <a:spLocks noChangeArrowheads="1"/>
          </p:cNvSpPr>
          <p:nvPr/>
        </p:nvSpPr>
        <p:spPr bwMode="auto">
          <a:xfrm>
            <a:off x="5242533" y="4403031"/>
            <a:ext cx="2092325" cy="581158"/>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400" dirty="0" smtClean="0">
                <a:ln w="0"/>
                <a:effectLst>
                  <a:outerShdw blurRad="38100" dist="19050" dir="2700000" algn="tl" rotWithShape="0">
                    <a:schemeClr val="dk1">
                      <a:alpha val="40000"/>
                    </a:schemeClr>
                  </a:outerShdw>
                </a:effectLst>
                <a:latin typeface="Arial Black" pitchFamily="34" charset="0"/>
              </a:rPr>
              <a:t>INSUMOS </a:t>
            </a:r>
            <a:endParaRPr lang="pt-PT" sz="2400" dirty="0">
              <a:ln w="0"/>
              <a:effectLst>
                <a:outerShdw blurRad="38100" dist="19050" dir="2700000" algn="tl" rotWithShape="0">
                  <a:schemeClr val="dk1">
                    <a:alpha val="40000"/>
                  </a:schemeClr>
                </a:outerShdw>
              </a:effectLst>
              <a:latin typeface="Arial Black" pitchFamily="34" charset="0"/>
            </a:endParaRPr>
          </a:p>
        </p:txBody>
      </p:sp>
      <p:sp>
        <p:nvSpPr>
          <p:cNvPr id="24" name="Rectangle 14"/>
          <p:cNvSpPr>
            <a:spLocks noChangeArrowheads="1"/>
          </p:cNvSpPr>
          <p:nvPr/>
        </p:nvSpPr>
        <p:spPr bwMode="auto">
          <a:xfrm>
            <a:off x="5242533" y="1636575"/>
            <a:ext cx="2126329" cy="691626"/>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000" dirty="0" smtClean="0">
                <a:ln w="0"/>
                <a:effectLst>
                  <a:outerShdw blurRad="38100" dist="19050" dir="2700000" algn="tl" rotWithShape="0">
                    <a:schemeClr val="dk1">
                      <a:alpha val="40000"/>
                    </a:schemeClr>
                  </a:outerShdw>
                </a:effectLst>
                <a:latin typeface="Arial Black" pitchFamily="34" charset="0"/>
              </a:rPr>
              <a:t>CRÉDITOS </a:t>
            </a:r>
            <a:endParaRPr lang="pt-PT" sz="2000" dirty="0">
              <a:ln w="0"/>
              <a:effectLst>
                <a:outerShdw blurRad="38100" dist="19050" dir="2700000" algn="tl" rotWithShape="0">
                  <a:schemeClr val="dk1">
                    <a:alpha val="40000"/>
                  </a:schemeClr>
                </a:outerShdw>
              </a:effectLst>
              <a:latin typeface="Arial Black" pitchFamily="34" charset="0"/>
            </a:endParaRPr>
          </a:p>
        </p:txBody>
      </p:sp>
      <p:sp>
        <p:nvSpPr>
          <p:cNvPr id="25" name="Rectangle 14"/>
          <p:cNvSpPr>
            <a:spLocks noChangeArrowheads="1"/>
          </p:cNvSpPr>
          <p:nvPr/>
        </p:nvSpPr>
        <p:spPr bwMode="auto">
          <a:xfrm>
            <a:off x="8035105" y="1636575"/>
            <a:ext cx="2126329" cy="701872"/>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000" dirty="0" smtClean="0">
                <a:ln w="0"/>
                <a:effectLst>
                  <a:outerShdw blurRad="38100" dist="19050" dir="2700000" algn="tl" rotWithShape="0">
                    <a:schemeClr val="dk1">
                      <a:alpha val="40000"/>
                    </a:schemeClr>
                  </a:outerShdw>
                </a:effectLst>
                <a:latin typeface="Arial Black" pitchFamily="34" charset="0"/>
              </a:rPr>
              <a:t>CRÉDITOS </a:t>
            </a:r>
          </a:p>
          <a:p>
            <a:pPr algn="ctr">
              <a:defRPr/>
            </a:pPr>
            <a:r>
              <a:rPr lang="pt-PT" sz="2000" dirty="0" smtClean="0">
                <a:ln w="0"/>
                <a:effectLst>
                  <a:outerShdw blurRad="38100" dist="19050" dir="2700000" algn="tl" rotWithShape="0">
                    <a:schemeClr val="dk1">
                      <a:alpha val="40000"/>
                    </a:schemeClr>
                  </a:outerShdw>
                </a:effectLst>
                <a:latin typeface="Arial Black" pitchFamily="34" charset="0"/>
              </a:rPr>
              <a:t>GLOSADOS </a:t>
            </a:r>
            <a:endParaRPr lang="pt-PT" sz="2000" dirty="0">
              <a:ln w="0"/>
              <a:effectLst>
                <a:outerShdw blurRad="38100" dist="19050" dir="2700000" algn="tl" rotWithShape="0">
                  <a:schemeClr val="dk1">
                    <a:alpha val="40000"/>
                  </a:schemeClr>
                </a:outerShdw>
              </a:effectLst>
              <a:latin typeface="Arial Black" pitchFamily="34" charset="0"/>
            </a:endParaRPr>
          </a:p>
        </p:txBody>
      </p:sp>
      <p:sp>
        <p:nvSpPr>
          <p:cNvPr id="26" name="Rectangle 18"/>
          <p:cNvSpPr>
            <a:spLocks noChangeArrowheads="1"/>
          </p:cNvSpPr>
          <p:nvPr/>
        </p:nvSpPr>
        <p:spPr bwMode="auto">
          <a:xfrm>
            <a:off x="8035105" y="4984189"/>
            <a:ext cx="2092325" cy="1167151"/>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400" dirty="0" smtClean="0">
                <a:ln w="0"/>
                <a:effectLst>
                  <a:outerShdw blurRad="38100" dist="19050" dir="2700000" algn="tl" rotWithShape="0">
                    <a:schemeClr val="dk1">
                      <a:alpha val="40000"/>
                    </a:schemeClr>
                  </a:outerShdw>
                </a:effectLst>
                <a:latin typeface="Arial Black" pitchFamily="34" charset="0"/>
              </a:rPr>
              <a:t>INSUMOS </a:t>
            </a:r>
          </a:p>
          <a:p>
            <a:pPr algn="ctr">
              <a:defRPr/>
            </a:pPr>
            <a:r>
              <a:rPr lang="pt-PT" sz="2400" dirty="0" smtClean="0">
                <a:ln w="0"/>
                <a:effectLst>
                  <a:outerShdw blurRad="38100" dist="19050" dir="2700000" algn="tl" rotWithShape="0">
                    <a:schemeClr val="dk1">
                      <a:alpha val="40000"/>
                    </a:schemeClr>
                  </a:outerShdw>
                </a:effectLst>
                <a:latin typeface="Arial Black" pitchFamily="34" charset="0"/>
              </a:rPr>
              <a:t>GLOSADOS </a:t>
            </a:r>
            <a:endParaRPr lang="pt-PT" sz="2400" dirty="0">
              <a:ln w="0"/>
              <a:effectLst>
                <a:outerShdw blurRad="38100" dist="19050" dir="2700000" algn="tl" rotWithShape="0">
                  <a:schemeClr val="dk1">
                    <a:alpha val="40000"/>
                  </a:schemeClr>
                </a:outerShdw>
              </a:effectLst>
              <a:latin typeface="Arial Black" pitchFamily="34" charset="0"/>
            </a:endParaRPr>
          </a:p>
        </p:txBody>
      </p:sp>
      <p:sp>
        <p:nvSpPr>
          <p:cNvPr id="27" name="Rectangle 14"/>
          <p:cNvSpPr>
            <a:spLocks noChangeArrowheads="1"/>
          </p:cNvSpPr>
          <p:nvPr/>
        </p:nvSpPr>
        <p:spPr bwMode="auto">
          <a:xfrm>
            <a:off x="1921928" y="1634247"/>
            <a:ext cx="2126329" cy="691626"/>
          </a:xfrm>
          <a:prstGeom prst="rect">
            <a:avLst/>
          </a:prstGeom>
          <a:solidFill>
            <a:schemeClr val="tx2">
              <a:lumMod val="60000"/>
              <a:lumOff val="40000"/>
            </a:schemeClr>
          </a:solidFill>
          <a:ln w="12700" cap="sq">
            <a:solidFill>
              <a:schemeClr val="tx1"/>
            </a:solidFill>
            <a:miter lim="800000"/>
            <a:headEnd type="none" w="sm" len="sm"/>
            <a:tailEnd type="none" w="sm" len="sm"/>
          </a:ln>
        </p:spPr>
        <p:txBody>
          <a:bodyPr wrap="none" anchor="ctr"/>
          <a:lstStyle/>
          <a:p>
            <a:pPr algn="ctr">
              <a:defRPr/>
            </a:pPr>
            <a:r>
              <a:rPr lang="pt-PT" sz="2000" dirty="0" smtClean="0">
                <a:ln w="0"/>
                <a:effectLst>
                  <a:outerShdw blurRad="38100" dist="19050" dir="2700000" algn="tl" rotWithShape="0">
                    <a:schemeClr val="dk1">
                      <a:alpha val="40000"/>
                    </a:schemeClr>
                  </a:outerShdw>
                </a:effectLst>
                <a:latin typeface="Arial Black" pitchFamily="34" charset="0"/>
              </a:rPr>
              <a:t>ITENS  </a:t>
            </a:r>
            <a:endParaRPr lang="pt-PT" sz="2000" dirty="0">
              <a:ln w="0"/>
              <a:effectLst>
                <a:outerShdw blurRad="38100" dist="19050" dir="2700000" algn="tl" rotWithShape="0">
                  <a:schemeClr val="dk1">
                    <a:alpha val="40000"/>
                  </a:schemeClr>
                </a:outerShdw>
              </a:effectLst>
              <a:latin typeface="Arial Black" pitchFamily="34" charset="0"/>
            </a:endParaRPr>
          </a:p>
        </p:txBody>
      </p:sp>
      <p:sp>
        <p:nvSpPr>
          <p:cNvPr id="3" name="Texto Explicativo 2 2"/>
          <p:cNvSpPr/>
          <p:nvPr/>
        </p:nvSpPr>
        <p:spPr>
          <a:xfrm>
            <a:off x="9608457" y="2786742"/>
            <a:ext cx="2459048" cy="1916139"/>
          </a:xfrm>
          <a:prstGeom prst="borderCallout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pt-BR" sz="2400" b="1" dirty="0" smtClean="0">
                <a:ln w="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CONCEITO DE INSUMOS  </a:t>
            </a:r>
          </a:p>
          <a:p>
            <a:pPr algn="ctr"/>
            <a:r>
              <a:rPr lang="pt-BR" sz="2400" b="1" dirty="0" smtClean="0">
                <a:ln w="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ADOTADO FAZ  A GLOSA DE CRÉDITOS</a:t>
            </a:r>
            <a:endParaRPr lang="pt-BR" sz="2400" b="1" dirty="0">
              <a:ln w="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9537351"/>
      </p:ext>
    </p:extLst>
  </p:cSld>
  <p:clrMapOvr>
    <a:masterClrMapping/>
  </p:clrMapOvr>
  <mc:AlternateContent xmlns:mc="http://schemas.openxmlformats.org/markup-compatibility/2006" xmlns:p14="http://schemas.microsoft.com/office/powerpoint/2010/main">
    <mc:Choice Requires="p14">
      <p:transition spd="slow" p14:dur="1400" advClick="0">
        <p14:ripple/>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80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879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88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80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type="wd">
                                    <p:tmAbs val="500"/>
                                  </p:iterate>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accel="40000" decel="40000" fill="hold" grpId="0" nodeType="clickEffect">
                                  <p:stCondLst>
                                    <p:cond delay="0"/>
                                  </p:stCondLst>
                                  <p:iterate type="wd">
                                    <p:tmPct val="29000"/>
                                  </p:iterate>
                                  <p:childTnLst>
                                    <p:set>
                                      <p:cBhvr>
                                        <p:cTn id="46" dur="1" fill="hold">
                                          <p:stCondLst>
                                            <p:cond delay="0"/>
                                          </p:stCondLst>
                                        </p:cTn>
                                        <p:tgtEl>
                                          <p:spTgt spid="3"/>
                                        </p:tgtEl>
                                        <p:attrNameLst>
                                          <p:attrName>style.visibility</p:attrName>
                                        </p:attrNameLst>
                                      </p:cBhvr>
                                      <p:to>
                                        <p:strVal val="visible"/>
                                      </p:to>
                                    </p:set>
                                    <p:anim calcmode="lin" valueType="num">
                                      <p:cBhvr additive="base">
                                        <p:cTn id="47" dur="500" fill="hold"/>
                                        <p:tgtEl>
                                          <p:spTgt spid="3"/>
                                        </p:tgtEl>
                                        <p:attrNameLst>
                                          <p:attrName>ppt_x</p:attrName>
                                        </p:attrNameLst>
                                      </p:cBhvr>
                                      <p:tavLst>
                                        <p:tav tm="0">
                                          <p:val>
                                            <p:strVal val="#ppt_x"/>
                                          </p:val>
                                        </p:tav>
                                        <p:tav tm="100000">
                                          <p:val>
                                            <p:strVal val="#ppt_x"/>
                                          </p:val>
                                        </p:tav>
                                      </p:tavLst>
                                    </p:anim>
                                    <p:anim calcmode="lin" valueType="num">
                                      <p:cBhvr additive="base">
                                        <p:cTn id="48" dur="500" fill="hold"/>
                                        <p:tgtEl>
                                          <p:spTgt spid="3"/>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3"/>
                                        </p:tgtEl>
                                        <p:attrNameLst>
                                          <p:attrName>ppt_c</p:attrName>
                                        </p:attrNameLst>
                                      </p:cBhvr>
                                      <p:to>
                                        <a:schemeClr val="bg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8" grpId="0" animBg="1"/>
      <p:bldP spid="118800" grpId="0" animBg="1"/>
      <p:bldP spid="118801" grpId="0" animBg="1"/>
      <p:bldP spid="118802" grpId="0" animBg="1"/>
      <p:bldP spid="16" grpId="0" animBg="1"/>
      <p:bldP spid="18" grpId="0" animBg="1"/>
      <p:bldP spid="19" grpId="0" animBg="1"/>
      <p:bldP spid="23" grpId="0" animBg="1"/>
      <p:bldP spid="24" grpId="0" animBg="1"/>
      <p:bldP spid="25" grpId="0" animBg="1"/>
      <p:bldP spid="26" grpId="0" animBg="1"/>
      <p:bldP spid="27" grpId="0" animBg="1"/>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Text Box 4"/>
          <p:cNvSpPr txBox="1">
            <a:spLocks noChangeArrowheads="1"/>
          </p:cNvSpPr>
          <p:nvPr/>
        </p:nvSpPr>
        <p:spPr bwMode="auto">
          <a:xfrm>
            <a:off x="5311870" y="2571366"/>
            <a:ext cx="2082621" cy="954107"/>
          </a:xfrm>
          <a:prstGeom prst="rect">
            <a:avLst/>
          </a:prstGeom>
          <a:noFill/>
          <a:ln w="9525">
            <a:noFill/>
            <a:miter lim="800000"/>
            <a:headEnd/>
            <a:tailEnd/>
          </a:ln>
        </p:spPr>
        <p:txBody>
          <a:bodyPr wrap="none">
            <a:spAutoFit/>
          </a:bodyPr>
          <a:lstStyle/>
          <a:p>
            <a:pPr algn="ctr"/>
            <a:r>
              <a:rPr lang="en-US" sz="2800" b="1" dirty="0" smtClean="0">
                <a:effectLst>
                  <a:outerShdw blurRad="38100" dist="38100" dir="2700000" algn="tl">
                    <a:srgbClr val="000000">
                      <a:alpha val="43137"/>
                    </a:srgbClr>
                  </a:outerShdw>
                </a:effectLst>
                <a:latin typeface="BankGothic Md BT" pitchFamily="34" charset="0"/>
              </a:rPr>
              <a:t>Bases Liq. </a:t>
            </a:r>
          </a:p>
          <a:p>
            <a:pPr algn="ctr"/>
            <a:r>
              <a:rPr lang="en-US" sz="2800" b="1" dirty="0" smtClean="0">
                <a:effectLst>
                  <a:outerShdw blurRad="38100" dist="38100" dir="2700000" algn="tl">
                    <a:srgbClr val="000000">
                      <a:alpha val="43137"/>
                    </a:srgbClr>
                  </a:outerShdw>
                </a:effectLst>
                <a:latin typeface="BankGothic Md BT" pitchFamily="34" charset="0"/>
              </a:rPr>
              <a:t>Impost</a:t>
            </a:r>
            <a:endParaRPr lang="pt-BR" sz="2800" b="1" dirty="0">
              <a:effectLst>
                <a:outerShdw blurRad="38100" dist="38100" dir="2700000" algn="tl">
                  <a:srgbClr val="000000">
                    <a:alpha val="43137"/>
                  </a:srgbClr>
                </a:outerShdw>
              </a:effectLst>
              <a:latin typeface="BankGothic Md BT" pitchFamily="34" charset="0"/>
            </a:endParaRPr>
          </a:p>
        </p:txBody>
      </p:sp>
      <p:grpSp>
        <p:nvGrpSpPr>
          <p:cNvPr id="2" name="Group 5"/>
          <p:cNvGrpSpPr>
            <a:grpSpLocks/>
          </p:cNvGrpSpPr>
          <p:nvPr/>
        </p:nvGrpSpPr>
        <p:grpSpPr bwMode="auto">
          <a:xfrm>
            <a:off x="8047720" y="1984132"/>
            <a:ext cx="2492376" cy="4818238"/>
            <a:chOff x="4216" y="1488"/>
            <a:chExt cx="1570" cy="2456"/>
          </a:xfrm>
        </p:grpSpPr>
        <p:graphicFrame>
          <p:nvGraphicFramePr>
            <p:cNvPr id="1027" name="Object 3">
              <a:hlinkClick r:id="" action="ppaction://ole?verb=0"/>
            </p:cNvPr>
            <p:cNvGraphicFramePr>
              <a:graphicFrameLocks/>
            </p:cNvGraphicFramePr>
            <p:nvPr>
              <p:extLst>
                <p:ext uri="{D42A27DB-BD31-4B8C-83A1-F6EECF244321}">
                  <p14:modId xmlns:p14="http://schemas.microsoft.com/office/powerpoint/2010/main" val="940365295"/>
                </p:ext>
              </p:extLst>
            </p:nvPr>
          </p:nvGraphicFramePr>
          <p:xfrm>
            <a:off x="4315" y="2024"/>
            <a:ext cx="1104" cy="1920"/>
          </p:xfrm>
          <a:graphic>
            <a:graphicData uri="http://schemas.openxmlformats.org/presentationml/2006/ole">
              <mc:AlternateContent xmlns:mc="http://schemas.openxmlformats.org/markup-compatibility/2006">
                <mc:Choice xmlns:v="urn:schemas-microsoft-com:vml" Requires="v">
                  <p:oleObj spid="_x0000_s1095" name="GALLERY" r:id="rId3" imgW="5892480" imgH="9855000" progId="GALLERYClipart">
                    <p:embed/>
                  </p:oleObj>
                </mc:Choice>
                <mc:Fallback>
                  <p:oleObj name="GALLERY" r:id="rId3" imgW="5892480" imgH="9855000" progId="GALLERYClipart">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5" y="2024"/>
                          <a:ext cx="1104" cy="1920"/>
                        </a:xfrm>
                        <a:prstGeom prst="rect">
                          <a:avLst/>
                        </a:prstGeom>
                        <a:solidFill>
                          <a:srgbClr val="339966"/>
                        </a:solidFill>
                        <a:ln w="571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3" name="Text Box 7"/>
            <p:cNvSpPr txBox="1">
              <a:spLocks noChangeArrowheads="1"/>
            </p:cNvSpPr>
            <p:nvPr/>
          </p:nvSpPr>
          <p:spPr bwMode="auto">
            <a:xfrm>
              <a:off x="4216" y="1488"/>
              <a:ext cx="1570" cy="675"/>
            </a:xfrm>
            <a:prstGeom prst="rect">
              <a:avLst/>
            </a:prstGeom>
            <a:noFill/>
            <a:ln w="9525">
              <a:noFill/>
              <a:miter lim="800000"/>
              <a:headEnd/>
              <a:tailEnd/>
            </a:ln>
          </p:spPr>
          <p:txBody>
            <a:bodyPr wrap="none">
              <a:spAutoFit/>
            </a:bodyPr>
            <a:lstStyle/>
            <a:p>
              <a:r>
                <a:rPr lang="pt-BR" sz="4000" b="1" dirty="0" smtClean="0">
                  <a:latin typeface="BankGothic Md BT" pitchFamily="34" charset="0"/>
                </a:rPr>
                <a:t>Preço</a:t>
              </a:r>
            </a:p>
            <a:p>
              <a:r>
                <a:rPr lang="pt-BR" sz="4000" b="1" dirty="0" smtClean="0">
                  <a:latin typeface="BankGothic Md BT" pitchFamily="34" charset="0"/>
                </a:rPr>
                <a:t>De Venda</a:t>
              </a:r>
              <a:endParaRPr lang="pt-BR" sz="4000" b="1" dirty="0">
                <a:latin typeface="BankGothic Md BT" pitchFamily="34" charset="0"/>
              </a:endParaRPr>
            </a:p>
          </p:txBody>
        </p:sp>
      </p:grpSp>
      <p:sp>
        <p:nvSpPr>
          <p:cNvPr id="2153481" name="AutoShape 9"/>
          <p:cNvSpPr>
            <a:spLocks noChangeArrowheads="1"/>
          </p:cNvSpPr>
          <p:nvPr/>
        </p:nvSpPr>
        <p:spPr bwMode="auto">
          <a:xfrm>
            <a:off x="6433442" y="1410204"/>
            <a:ext cx="2888957" cy="1099786"/>
          </a:xfrm>
          <a:custGeom>
            <a:avLst/>
            <a:gdLst>
              <a:gd name="T0" fmla="*/ 2147483647 w 21600"/>
              <a:gd name="T1" fmla="*/ 0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17694720 60000 65536"/>
              <a:gd name="T11" fmla="*/ 5898240 60000 65536"/>
              <a:gd name="T12" fmla="*/ 5898240 60000 65536"/>
              <a:gd name="T13" fmla="*/ 5898240 60000 65536"/>
              <a:gd name="T14" fmla="*/ 0 60000 65536"/>
              <a:gd name="T15" fmla="*/ 0 w 21600"/>
              <a:gd name="T16" fmla="*/ 8310 h 21600"/>
              <a:gd name="T17" fmla="*/ 6110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2" y="14285"/>
                </a:moveTo>
                <a:lnTo>
                  <a:pt x="21600" y="8310"/>
                </a:lnTo>
                <a:lnTo>
                  <a:pt x="18630" y="8310"/>
                </a:lnTo>
                <a:cubicBezTo>
                  <a:pt x="18630" y="3721"/>
                  <a:pt x="14430" y="0"/>
                  <a:pt x="9250" y="0"/>
                </a:cubicBezTo>
                <a:cubicBezTo>
                  <a:pt x="4141" y="0"/>
                  <a:pt x="0" y="3799"/>
                  <a:pt x="0" y="8485"/>
                </a:cubicBezTo>
                <a:lnTo>
                  <a:pt x="0" y="21600"/>
                </a:lnTo>
                <a:lnTo>
                  <a:pt x="6110" y="21600"/>
                </a:lnTo>
                <a:lnTo>
                  <a:pt x="6110" y="8310"/>
                </a:lnTo>
                <a:cubicBezTo>
                  <a:pt x="6110" y="6947"/>
                  <a:pt x="7362" y="5842"/>
                  <a:pt x="8907" y="5842"/>
                </a:cubicBezTo>
                <a:lnTo>
                  <a:pt x="9725" y="5842"/>
                </a:lnTo>
                <a:cubicBezTo>
                  <a:pt x="11269" y="5842"/>
                  <a:pt x="12520" y="6947"/>
                  <a:pt x="12520" y="8310"/>
                </a:cubicBezTo>
                <a:lnTo>
                  <a:pt x="9725" y="8310"/>
                </a:lnTo>
                <a:close/>
              </a:path>
            </a:pathLst>
          </a:custGeom>
          <a:solidFill>
            <a:srgbClr val="0000FF"/>
          </a:solidFill>
          <a:ln w="9525">
            <a:noFill/>
            <a:miter lim="800000"/>
            <a:headEnd/>
            <a:tailEnd/>
          </a:ln>
        </p:spPr>
        <p:txBody>
          <a:bodyPr wrap="none" anchor="ctr"/>
          <a:lstStyle/>
          <a:p>
            <a:endParaRPr lang="pt-BR"/>
          </a:p>
        </p:txBody>
      </p:sp>
      <p:sp>
        <p:nvSpPr>
          <p:cNvPr id="10" name="Rectangle 14"/>
          <p:cNvSpPr>
            <a:spLocks noChangeArrowheads="1"/>
          </p:cNvSpPr>
          <p:nvPr/>
        </p:nvSpPr>
        <p:spPr bwMode="auto">
          <a:xfrm>
            <a:off x="5185185" y="3447649"/>
            <a:ext cx="2092325" cy="609600"/>
          </a:xfrm>
          <a:prstGeom prst="rect">
            <a:avLst/>
          </a:prstGeom>
          <a:solidFill>
            <a:schemeClr val="accent4">
              <a:lumMod val="40000"/>
              <a:lumOff val="60000"/>
            </a:schemeClr>
          </a:solidFill>
          <a:ln w="12700" cap="sq">
            <a:solidFill>
              <a:schemeClr val="tx1"/>
            </a:solidFill>
            <a:miter lim="800000"/>
            <a:headEnd type="none" w="sm" len="sm"/>
            <a:tailEnd type="none" w="sm" len="sm"/>
          </a:ln>
        </p:spPr>
        <p:txBody>
          <a:bodyPr wrap="none" anchor="ctr"/>
          <a:lstStyle/>
          <a:p>
            <a:pPr algn="ctr">
              <a:defRPr/>
            </a:pPr>
            <a:r>
              <a:rPr lang="pt-PT" sz="2000" b="1" dirty="0" smtClean="0">
                <a:effectLst>
                  <a:outerShdw blurRad="38100" dist="38100" dir="2700000" algn="tl">
                    <a:srgbClr val="000000">
                      <a:alpha val="43137"/>
                    </a:srgbClr>
                  </a:outerShdw>
                </a:effectLst>
                <a:latin typeface="Arial Black" pitchFamily="34" charset="0"/>
              </a:rPr>
              <a:t>MAT.PRIMA</a:t>
            </a:r>
            <a:endParaRPr lang="pt-PT" sz="2000" b="1" dirty="0">
              <a:effectLst>
                <a:outerShdw blurRad="38100" dist="38100" dir="2700000" algn="tl">
                  <a:srgbClr val="000000">
                    <a:alpha val="43137"/>
                  </a:srgbClr>
                </a:outerShdw>
              </a:effectLst>
              <a:latin typeface="Arial Black" pitchFamily="34" charset="0"/>
            </a:endParaRPr>
          </a:p>
        </p:txBody>
      </p:sp>
      <p:sp>
        <p:nvSpPr>
          <p:cNvPr id="11" name="Rectangle 16"/>
          <p:cNvSpPr>
            <a:spLocks noChangeArrowheads="1"/>
          </p:cNvSpPr>
          <p:nvPr/>
        </p:nvSpPr>
        <p:spPr bwMode="auto">
          <a:xfrm>
            <a:off x="5185184" y="3973328"/>
            <a:ext cx="2092325" cy="609600"/>
          </a:xfrm>
          <a:prstGeom prst="rect">
            <a:avLst/>
          </a:prstGeom>
          <a:solidFill>
            <a:schemeClr val="accent4">
              <a:lumMod val="40000"/>
              <a:lumOff val="60000"/>
            </a:schemeClr>
          </a:solidFill>
          <a:ln w="12700" cap="sq">
            <a:solidFill>
              <a:schemeClr val="tx1"/>
            </a:solidFill>
            <a:miter lim="800000"/>
            <a:headEnd type="none" w="sm" len="sm"/>
            <a:tailEnd type="none" w="sm" len="sm"/>
          </a:ln>
        </p:spPr>
        <p:txBody>
          <a:bodyPr wrap="none" anchor="ctr"/>
          <a:lstStyle/>
          <a:p>
            <a:pPr algn="ctr">
              <a:defRPr/>
            </a:pPr>
            <a:r>
              <a:rPr lang="pt-PT" sz="2000" b="1" dirty="0">
                <a:effectLst>
                  <a:outerShdw blurRad="38100" dist="38100" dir="2700000" algn="tl">
                    <a:srgbClr val="000000">
                      <a:alpha val="43137"/>
                    </a:srgbClr>
                  </a:outerShdw>
                </a:effectLst>
                <a:latin typeface="Arial Black" pitchFamily="34" charset="0"/>
              </a:rPr>
              <a:t>M.O.D.</a:t>
            </a:r>
          </a:p>
        </p:txBody>
      </p:sp>
      <p:sp>
        <p:nvSpPr>
          <p:cNvPr id="12" name="Rectangle 17"/>
          <p:cNvSpPr>
            <a:spLocks noChangeArrowheads="1"/>
          </p:cNvSpPr>
          <p:nvPr/>
        </p:nvSpPr>
        <p:spPr bwMode="auto">
          <a:xfrm>
            <a:off x="5185185" y="4660499"/>
            <a:ext cx="2092325" cy="609600"/>
          </a:xfrm>
          <a:prstGeom prst="rect">
            <a:avLst/>
          </a:prstGeom>
          <a:solidFill>
            <a:schemeClr val="accent4">
              <a:lumMod val="40000"/>
              <a:lumOff val="60000"/>
            </a:schemeClr>
          </a:solidFill>
          <a:ln w="12700" cap="sq">
            <a:solidFill>
              <a:schemeClr val="tx1"/>
            </a:solidFill>
            <a:miter lim="800000"/>
            <a:headEnd type="none" w="sm" len="sm"/>
            <a:tailEnd type="none" w="sm" len="sm"/>
          </a:ln>
        </p:spPr>
        <p:txBody>
          <a:bodyPr wrap="none" anchor="ctr"/>
          <a:lstStyle/>
          <a:p>
            <a:pPr algn="ctr">
              <a:defRPr/>
            </a:pPr>
            <a:r>
              <a:rPr lang="pt-PT" sz="2000" b="1" dirty="0" smtClean="0">
                <a:effectLst>
                  <a:outerShdw blurRad="38100" dist="38100" dir="2700000" algn="tl">
                    <a:srgbClr val="000000">
                      <a:alpha val="43137"/>
                    </a:srgbClr>
                  </a:outerShdw>
                </a:effectLst>
                <a:latin typeface="Arial Black" pitchFamily="34" charset="0"/>
              </a:rPr>
              <a:t>MATERIAL </a:t>
            </a:r>
          </a:p>
          <a:p>
            <a:pPr algn="ctr">
              <a:defRPr/>
            </a:pPr>
            <a:r>
              <a:rPr lang="pt-PT" sz="2000" b="1" dirty="0" smtClean="0">
                <a:effectLst>
                  <a:outerShdw blurRad="38100" dist="38100" dir="2700000" algn="tl">
                    <a:srgbClr val="000000">
                      <a:alpha val="43137"/>
                    </a:srgbClr>
                  </a:outerShdw>
                </a:effectLst>
                <a:latin typeface="Arial Black" pitchFamily="34" charset="0"/>
              </a:rPr>
              <a:t>DIRETO </a:t>
            </a:r>
            <a:endParaRPr lang="pt-PT" sz="2000" b="1" dirty="0">
              <a:effectLst>
                <a:outerShdw blurRad="38100" dist="38100" dir="2700000" algn="tl">
                  <a:srgbClr val="000000">
                    <a:alpha val="43137"/>
                  </a:srgbClr>
                </a:outerShdw>
              </a:effectLst>
              <a:latin typeface="Arial Black" pitchFamily="34" charset="0"/>
            </a:endParaRPr>
          </a:p>
        </p:txBody>
      </p:sp>
      <p:sp>
        <p:nvSpPr>
          <p:cNvPr id="13" name="Rectangle 18"/>
          <p:cNvSpPr>
            <a:spLocks noChangeArrowheads="1"/>
          </p:cNvSpPr>
          <p:nvPr/>
        </p:nvSpPr>
        <p:spPr bwMode="auto">
          <a:xfrm>
            <a:off x="5185185" y="5278703"/>
            <a:ext cx="2092325" cy="1523667"/>
          </a:xfrm>
          <a:prstGeom prst="rect">
            <a:avLst/>
          </a:prstGeom>
          <a:solidFill>
            <a:schemeClr val="accent4">
              <a:lumMod val="40000"/>
              <a:lumOff val="60000"/>
            </a:schemeClr>
          </a:solidFill>
          <a:ln w="12700" cap="sq">
            <a:solidFill>
              <a:schemeClr val="tx1"/>
            </a:solidFill>
            <a:miter lim="800000"/>
            <a:headEnd type="none" w="sm" len="sm"/>
            <a:tailEnd type="none" w="sm" len="sm"/>
          </a:ln>
        </p:spPr>
        <p:txBody>
          <a:bodyPr wrap="none" anchor="ctr"/>
          <a:lstStyle/>
          <a:p>
            <a:pPr algn="ctr">
              <a:defRPr/>
            </a:pPr>
            <a:r>
              <a:rPr lang="pt-PT" sz="2400" b="1" dirty="0" smtClean="0">
                <a:effectLst>
                  <a:outerShdw blurRad="38100" dist="38100" dir="2700000" algn="tl">
                    <a:srgbClr val="000000">
                      <a:alpha val="43137"/>
                    </a:srgbClr>
                  </a:outerShdw>
                </a:effectLst>
                <a:latin typeface="Arial Black" pitchFamily="34" charset="0"/>
              </a:rPr>
              <a:t>INSUMOS</a:t>
            </a:r>
            <a:endParaRPr lang="pt-PT" sz="2400" b="1" dirty="0">
              <a:effectLst>
                <a:outerShdw blurRad="38100" dist="38100" dir="2700000" algn="tl">
                  <a:srgbClr val="000000">
                    <a:alpha val="43137"/>
                  </a:srgbClr>
                </a:outerShdw>
              </a:effectLst>
              <a:latin typeface="Arial Black" pitchFamily="34" charset="0"/>
            </a:endParaRPr>
          </a:p>
        </p:txBody>
      </p:sp>
      <p:sp>
        <p:nvSpPr>
          <p:cNvPr id="14" name="Text Box 8"/>
          <p:cNvSpPr txBox="1">
            <a:spLocks noChangeArrowheads="1"/>
          </p:cNvSpPr>
          <p:nvPr/>
        </p:nvSpPr>
        <p:spPr bwMode="auto">
          <a:xfrm>
            <a:off x="1598365" y="53985"/>
            <a:ext cx="8072437" cy="1200329"/>
          </a:xfrm>
          <a:prstGeom prst="rect">
            <a:avLst/>
          </a:prstGeom>
          <a:noFill/>
          <a:ln w="9525">
            <a:noFill/>
            <a:miter lim="800000"/>
            <a:headEnd/>
            <a:tailEnd/>
          </a:ln>
          <a:effectLst/>
        </p:spPr>
        <p:txBody>
          <a:bodyPr>
            <a:spAutoFit/>
          </a:bodyPr>
          <a:lstStyle/>
          <a:p>
            <a:pPr algn="ctr">
              <a:defRPr/>
            </a:pPr>
            <a:r>
              <a:rPr lang="en-US" sz="3600"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Impacto</a:t>
            </a:r>
            <a:r>
              <a:rPr lang="en-US"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da </a:t>
            </a:r>
            <a:r>
              <a:rPr lang="en-US" sz="3600"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Glosa</a:t>
            </a:r>
            <a:r>
              <a:rPr lang="en-US"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 </a:t>
            </a:r>
            <a:r>
              <a:rPr lang="en-US" sz="3600"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Créditos</a:t>
            </a:r>
            <a:r>
              <a:rPr lang="en-US"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Na </a:t>
            </a:r>
            <a:r>
              <a:rPr lang="en-US" sz="3600"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Formação</a:t>
            </a:r>
            <a:r>
              <a:rPr lang="en-US"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do </a:t>
            </a:r>
            <a:r>
              <a:rPr lang="en-US" sz="3600"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Preço</a:t>
            </a:r>
            <a:r>
              <a:rPr lang="en-US"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 Venda</a:t>
            </a:r>
            <a:endPar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o Explicativo 3 (Sem Bordas) 2"/>
          <p:cNvSpPr/>
          <p:nvPr/>
        </p:nvSpPr>
        <p:spPr>
          <a:xfrm>
            <a:off x="967974" y="1490544"/>
            <a:ext cx="3299963" cy="2787584"/>
          </a:xfrm>
          <a:prstGeom prst="callout3">
            <a:avLst>
              <a:gd name="adj1" fmla="val 18750"/>
              <a:gd name="adj2" fmla="val -8333"/>
              <a:gd name="adj3" fmla="val 18750"/>
              <a:gd name="adj4" fmla="val -16667"/>
              <a:gd name="adj5" fmla="val 100000"/>
              <a:gd name="adj6" fmla="val -16667"/>
              <a:gd name="adj7" fmla="val 153878"/>
              <a:gd name="adj8" fmla="val 124242"/>
            </a:avLst>
          </a:prstGeom>
          <a:solidFill>
            <a:schemeClr val="tx2">
              <a:lumMod val="40000"/>
              <a:lumOff val="60000"/>
            </a:schemeClr>
          </a:solidFill>
          <a:ln w="25400">
            <a:solidFill>
              <a:schemeClr val="accent1">
                <a:shade val="50000"/>
                <a:alpha val="9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dirty="0" smtClean="0">
                <a:ln w="0"/>
                <a:solidFill>
                  <a:schemeClr val="tx1"/>
                </a:solidFill>
                <a:effectLst>
                  <a:outerShdw blurRad="38100" dist="38100" dir="2700000" algn="tl">
                    <a:srgbClr val="000000">
                      <a:alpha val="43137"/>
                    </a:srgbClr>
                  </a:outerShdw>
                </a:effectLst>
              </a:rPr>
              <a:t>A GLOSA DE CRÉDITOS IMPACTA  NO AUMENTO DOS PREÇOS DE VENDA AOS CONSUMIDORES</a:t>
            </a:r>
            <a:endParaRPr lang="pt-BR" sz="2400" b="1" dirty="0">
              <a:ln w="0"/>
              <a:solidFill>
                <a:schemeClr val="tx1"/>
              </a:solidFill>
              <a:effectLst>
                <a:outerShdw blurRad="38100" dist="38100" dir="2700000" algn="tl">
                  <a:srgbClr val="000000">
                    <a:alpha val="43137"/>
                  </a:srgbClr>
                </a:outerShdw>
              </a:effectLst>
            </a:endParaRPr>
          </a:p>
        </p:txBody>
      </p:sp>
      <p:sp>
        <p:nvSpPr>
          <p:cNvPr id="4" name="CaixaDeTexto 3"/>
          <p:cNvSpPr txBox="1"/>
          <p:nvPr/>
        </p:nvSpPr>
        <p:spPr>
          <a:xfrm>
            <a:off x="0" y="5459500"/>
            <a:ext cx="5401342" cy="1384995"/>
          </a:xfrm>
          <a:prstGeom prst="rect">
            <a:avLst/>
          </a:prstGeom>
          <a:noFill/>
        </p:spPr>
        <p:txBody>
          <a:bodyPr wrap="square" rtlCol="0">
            <a:spAutoFit/>
          </a:bodyPr>
          <a:lstStyle/>
          <a:p>
            <a:r>
              <a:rPr lang="pt-BR" sz="2800" b="1" dirty="0" smtClean="0">
                <a:solidFill>
                  <a:srgbClr val="0070C0"/>
                </a:solidFill>
                <a:effectLst>
                  <a:outerShdw blurRad="38100" dist="38100" dir="2700000" algn="tl">
                    <a:srgbClr val="000000">
                      <a:alpha val="43137"/>
                    </a:srgbClr>
                  </a:outerShdw>
                </a:effectLst>
              </a:rPr>
              <a:t>BASE  DE CUSTOS </a:t>
            </a:r>
          </a:p>
          <a:p>
            <a:r>
              <a:rPr lang="pt-BR" sz="2800" b="1" dirty="0" smtClean="0">
                <a:solidFill>
                  <a:srgbClr val="FF0000"/>
                </a:solidFill>
                <a:effectLst>
                  <a:outerShdw blurRad="38100" dist="38100" dir="2700000" algn="tl">
                    <a:srgbClr val="000000">
                      <a:alpha val="43137"/>
                    </a:srgbClr>
                  </a:outerShdw>
                </a:effectLst>
              </a:rPr>
              <a:t>MAIOR  = PREÇO FINAL MAIOR </a:t>
            </a:r>
          </a:p>
          <a:p>
            <a:r>
              <a:rPr lang="pt-BR" sz="2800" b="1" dirty="0" smtClean="0">
                <a:solidFill>
                  <a:srgbClr val="0070C0"/>
                </a:solidFill>
                <a:effectLst>
                  <a:outerShdw blurRad="38100" dist="38100" dir="2700000" algn="tl">
                    <a:srgbClr val="000000">
                      <a:alpha val="43137"/>
                    </a:srgbClr>
                  </a:outerShdw>
                </a:effectLst>
              </a:rPr>
              <a:t>MENOR = PREÇO MENOR </a:t>
            </a:r>
            <a:endParaRPr lang="pt-BR" sz="2800" b="1" dirty="0">
              <a:solidFill>
                <a:srgbClr val="0070C0"/>
              </a:solidFill>
              <a:effectLst>
                <a:outerShdw blurRad="38100" dist="38100" dir="2700000" algn="tl">
                  <a:srgbClr val="000000">
                    <a:alpha val="43137"/>
                  </a:srgbClr>
                </a:outerShdw>
              </a:effectLst>
            </a:endParaRPr>
          </a:p>
        </p:txBody>
      </p:sp>
      <p:sp>
        <p:nvSpPr>
          <p:cNvPr id="5" name="Seta dobrada 4"/>
          <p:cNvSpPr/>
          <p:nvPr/>
        </p:nvSpPr>
        <p:spPr>
          <a:xfrm>
            <a:off x="2467266" y="4642989"/>
            <a:ext cx="2044197" cy="816512"/>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7" name="Colchete esquerdo 6"/>
          <p:cNvSpPr/>
          <p:nvPr/>
        </p:nvSpPr>
        <p:spPr>
          <a:xfrm>
            <a:off x="4598810" y="3450989"/>
            <a:ext cx="523032" cy="3354721"/>
          </a:xfrm>
          <a:prstGeom prst="leftBracket">
            <a:avLst/>
          </a:prstGeom>
          <a:ln w="254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Tree>
    <p:extLst>
      <p:ext uri="{BB962C8B-B14F-4D97-AF65-F5344CB8AC3E}">
        <p14:creationId xmlns:p14="http://schemas.microsoft.com/office/powerpoint/2010/main" val="197563125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heel(1)">
                                      <p:cBhvr>
                                        <p:cTn id="1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ço Reservado para Conteúdo 1"/>
          <p:cNvSpPr txBox="1">
            <a:spLocks/>
          </p:cNvSpPr>
          <p:nvPr/>
        </p:nvSpPr>
        <p:spPr>
          <a:xfrm>
            <a:off x="953037" y="1798749"/>
            <a:ext cx="10599311"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INSUMOS   </a:t>
            </a:r>
          </a:p>
          <a:p>
            <a:pPr marL="0" indent="0" algn="ctr">
              <a:buFont typeface="Wingdings 3" charset="2"/>
              <a:buNone/>
            </a:pPr>
            <a:endPar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CONCEITO VISÃO GERAL </a:t>
            </a:r>
            <a:endParaRPr lang="pt-B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308367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a:xfrm>
            <a:off x="1981200" y="274638"/>
            <a:ext cx="8229600" cy="1143000"/>
          </a:xfrm>
          <a:prstGeom prst="rect">
            <a:avLst/>
          </a:prstGeom>
        </p:spPr>
        <p:txBody>
          <a:bodyPr vert="horz" lIns="91440" tIns="45720" rIns="91440" bIns="45720" rtlCol="0" anchor="ctr">
            <a:normAutofit fontScale="85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VISÕES ATUAIS </a:t>
            </a:r>
          </a:p>
          <a:p>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CONCEITO INSUMO – PIS COFINS</a:t>
            </a:r>
            <a:endPar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Elipse 5"/>
          <p:cNvSpPr/>
          <p:nvPr/>
        </p:nvSpPr>
        <p:spPr>
          <a:xfrm>
            <a:off x="1045937" y="1891166"/>
            <a:ext cx="4176713" cy="4032250"/>
          </a:xfrm>
          <a:prstGeom prst="ellipse">
            <a:avLst/>
          </a:prstGeom>
          <a:solidFill>
            <a:schemeClr val="accent6">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anchor="ctr"/>
          <a:lstStyle/>
          <a:p>
            <a:pPr>
              <a:defRPr/>
            </a:pPr>
            <a:endParaRPr lang="pt-BR" dirty="0"/>
          </a:p>
        </p:txBody>
      </p:sp>
      <p:sp>
        <p:nvSpPr>
          <p:cNvPr id="7" name="Elipse 6"/>
          <p:cNvSpPr/>
          <p:nvPr/>
        </p:nvSpPr>
        <p:spPr>
          <a:xfrm>
            <a:off x="1681506" y="2190789"/>
            <a:ext cx="3095625" cy="2211532"/>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pt-BR" sz="2800" b="1" dirty="0" smtClean="0">
                <a:solidFill>
                  <a:schemeClr val="tx1"/>
                </a:solidFill>
                <a:effectLst>
                  <a:outerShdw blurRad="38100" dist="38100" dir="2700000" algn="tl">
                    <a:srgbClr val="000000">
                      <a:alpha val="43137"/>
                    </a:srgbClr>
                  </a:outerShdw>
                </a:effectLst>
              </a:rPr>
              <a:t>VISÃO R.F.B. \ P.G.F.N</a:t>
            </a:r>
            <a:endParaRPr lang="pt-BR" sz="2800" b="1" dirty="0">
              <a:solidFill>
                <a:schemeClr val="tx1"/>
              </a:solidFill>
              <a:effectLst>
                <a:outerShdw blurRad="38100" dist="38100" dir="2700000" algn="tl">
                  <a:srgbClr val="000000">
                    <a:alpha val="43137"/>
                  </a:srgbClr>
                </a:outerShdw>
              </a:effectLst>
            </a:endParaRPr>
          </a:p>
        </p:txBody>
      </p:sp>
      <p:sp>
        <p:nvSpPr>
          <p:cNvPr id="8" name="CaixaDeTexto 4"/>
          <p:cNvSpPr txBox="1">
            <a:spLocks noChangeArrowheads="1"/>
          </p:cNvSpPr>
          <p:nvPr/>
        </p:nvSpPr>
        <p:spPr bwMode="auto">
          <a:xfrm>
            <a:off x="6110514" y="1752687"/>
            <a:ext cx="6081486"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342900" indent="-342900" eaLnBrk="1" hangingPunct="1">
              <a:spcBef>
                <a:spcPct val="0"/>
              </a:spcBef>
            </a:pPr>
            <a:r>
              <a:rPr lang="pt-BR" altLang="pt-BR" sz="2800" b="1" u="sng" dirty="0" smtClean="0">
                <a:effectLst>
                  <a:outerShdw blurRad="38100" dist="38100" dir="2700000" algn="tl">
                    <a:srgbClr val="000000">
                      <a:alpha val="43137"/>
                    </a:srgbClr>
                  </a:outerShdw>
                </a:effectLst>
              </a:rPr>
              <a:t>VISÃO LEGALISTA</a:t>
            </a:r>
          </a:p>
          <a:p>
            <a:pPr marL="342900" indent="-342900" eaLnBrk="1" hangingPunct="1">
              <a:spcBef>
                <a:spcPct val="0"/>
              </a:spcBef>
            </a:pPr>
            <a:r>
              <a:rPr lang="pt-BR" altLang="pt-BR" sz="2400" b="1" dirty="0" smtClean="0"/>
              <a:t>CONCEITO RESTRITO </a:t>
            </a:r>
          </a:p>
          <a:p>
            <a:pPr marL="342900" indent="-342900" eaLnBrk="1" hangingPunct="1">
              <a:spcBef>
                <a:spcPct val="0"/>
              </a:spcBef>
            </a:pPr>
            <a:r>
              <a:rPr lang="pt-BR" altLang="pt-BR" sz="2400" b="1" dirty="0" smtClean="0"/>
              <a:t>LISTA  DE CRÉDITOS É TAXATIVA</a:t>
            </a:r>
          </a:p>
          <a:p>
            <a:pPr marL="342900" indent="-342900" eaLnBrk="1" hangingPunct="1">
              <a:spcBef>
                <a:spcPct val="0"/>
              </a:spcBef>
            </a:pPr>
            <a:r>
              <a:rPr lang="pt-BR" altLang="pt-BR" sz="2400" b="1" dirty="0" smtClean="0"/>
              <a:t>AUMENTO CARGA TRIBUTÁRIA</a:t>
            </a:r>
          </a:p>
          <a:p>
            <a:pPr marL="342900" indent="-342900" eaLnBrk="1" hangingPunct="1">
              <a:spcBef>
                <a:spcPct val="0"/>
              </a:spcBef>
            </a:pPr>
            <a:r>
              <a:rPr lang="pt-BR" altLang="pt-BR" sz="2400" b="1" dirty="0" smtClean="0"/>
              <a:t>REDUZIDO RISCO TRIBUTÁRIO</a:t>
            </a:r>
          </a:p>
          <a:p>
            <a:pPr marL="342900" indent="-342900" eaLnBrk="1" hangingPunct="1">
              <a:spcBef>
                <a:spcPct val="0"/>
              </a:spcBef>
            </a:pPr>
            <a:r>
              <a:rPr lang="pt-BR" altLang="pt-BR" sz="2400" b="1" dirty="0" smtClean="0"/>
              <a:t>LINHA CONSERVADORA</a:t>
            </a:r>
            <a:endParaRPr lang="pt-BR" altLang="pt-BR" sz="2400" dirty="0"/>
          </a:p>
        </p:txBody>
      </p:sp>
      <p:cxnSp>
        <p:nvCxnSpPr>
          <p:cNvPr id="9" name="Conector de seta reta 8"/>
          <p:cNvCxnSpPr/>
          <p:nvPr/>
        </p:nvCxnSpPr>
        <p:spPr>
          <a:xfrm flipV="1">
            <a:off x="4351536" y="2797073"/>
            <a:ext cx="1506683" cy="347807"/>
          </a:xfrm>
          <a:prstGeom prst="straightConnector1">
            <a:avLst/>
          </a:prstGeom>
          <a:ln w="38100">
            <a:tailEnd type="arrow"/>
          </a:ln>
        </p:spPr>
        <p:style>
          <a:lnRef idx="1">
            <a:schemeClr val="dk1"/>
          </a:lnRef>
          <a:fillRef idx="0">
            <a:schemeClr val="dk1"/>
          </a:fillRef>
          <a:effectRef idx="0">
            <a:schemeClr val="dk1"/>
          </a:effectRef>
          <a:fontRef idx="minor">
            <a:schemeClr val="tx1"/>
          </a:fontRef>
        </p:style>
      </p:cxnSp>
      <p:cxnSp>
        <p:nvCxnSpPr>
          <p:cNvPr id="10" name="Conector de seta reta 9"/>
          <p:cNvCxnSpPr/>
          <p:nvPr/>
        </p:nvCxnSpPr>
        <p:spPr>
          <a:xfrm flipV="1">
            <a:off x="4425807" y="5033395"/>
            <a:ext cx="1240775" cy="19556"/>
          </a:xfrm>
          <a:prstGeom prst="straightConnector1">
            <a:avLst/>
          </a:prstGeom>
          <a:ln w="38100">
            <a:solidFill>
              <a:srgbClr val="FF0000"/>
            </a:solidFill>
            <a:prstDash val="dash"/>
            <a:tailEnd type="arrow"/>
          </a:ln>
        </p:spPr>
        <p:style>
          <a:lnRef idx="1">
            <a:schemeClr val="dk1"/>
          </a:lnRef>
          <a:fillRef idx="0">
            <a:schemeClr val="dk1"/>
          </a:fillRef>
          <a:effectRef idx="0">
            <a:schemeClr val="dk1"/>
          </a:effectRef>
          <a:fontRef idx="minor">
            <a:schemeClr val="tx1"/>
          </a:fontRef>
        </p:style>
      </p:cxnSp>
      <p:sp>
        <p:nvSpPr>
          <p:cNvPr id="3" name="CaixaDeTexto 2"/>
          <p:cNvSpPr txBox="1"/>
          <p:nvPr/>
        </p:nvSpPr>
        <p:spPr>
          <a:xfrm>
            <a:off x="2198046" y="4534560"/>
            <a:ext cx="2521844" cy="954107"/>
          </a:xfrm>
          <a:prstGeom prst="rect">
            <a:avLst/>
          </a:prstGeom>
          <a:noFill/>
        </p:spPr>
        <p:txBody>
          <a:bodyPr wrap="none" rtlCol="0">
            <a:spAutoFit/>
          </a:bodyPr>
          <a:lstStyle/>
          <a:p>
            <a:pPr algn="ctr"/>
            <a:r>
              <a:rPr lang="pt-BR" sz="2800" b="1" dirty="0" smtClean="0">
                <a:solidFill>
                  <a:srgbClr val="0070C0"/>
                </a:solidFill>
                <a:effectLst>
                  <a:outerShdw blurRad="38100" dist="38100" dir="2700000" algn="tl">
                    <a:srgbClr val="000000">
                      <a:alpha val="43137"/>
                    </a:srgbClr>
                  </a:outerShdw>
                </a:effectLst>
              </a:rPr>
              <a:t>VISÃO CARF  </a:t>
            </a:r>
          </a:p>
          <a:p>
            <a:pPr algn="ctr"/>
            <a:r>
              <a:rPr lang="pt-BR" sz="2800" b="1" dirty="0" smtClean="0">
                <a:solidFill>
                  <a:srgbClr val="0070C0"/>
                </a:solidFill>
                <a:effectLst>
                  <a:outerShdw blurRad="38100" dist="38100" dir="2700000" algn="tl">
                    <a:srgbClr val="000000">
                      <a:alpha val="43137"/>
                    </a:srgbClr>
                  </a:outerShdw>
                </a:effectLst>
              </a:rPr>
              <a:t>STJ \ STF</a:t>
            </a:r>
            <a:endParaRPr lang="pt-BR" sz="2800" b="1" dirty="0">
              <a:solidFill>
                <a:srgbClr val="0070C0"/>
              </a:solidFill>
              <a:effectLst>
                <a:outerShdw blurRad="38100" dist="38100" dir="2700000" algn="tl">
                  <a:srgbClr val="000000">
                    <a:alpha val="43137"/>
                  </a:srgbClr>
                </a:outerShdw>
              </a:effectLst>
            </a:endParaRPr>
          </a:p>
        </p:txBody>
      </p:sp>
      <p:sp>
        <p:nvSpPr>
          <p:cNvPr id="11" name="CaixaDeTexto 4"/>
          <p:cNvSpPr txBox="1">
            <a:spLocks noChangeArrowheads="1"/>
          </p:cNvSpPr>
          <p:nvPr/>
        </p:nvSpPr>
        <p:spPr bwMode="auto">
          <a:xfrm>
            <a:off x="5588000" y="4349894"/>
            <a:ext cx="656351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342900" indent="-342900" eaLnBrk="1" hangingPunct="1">
              <a:spcBef>
                <a:spcPct val="0"/>
              </a:spcBef>
            </a:pPr>
            <a:r>
              <a:rPr lang="pt-BR" altLang="pt-BR" sz="2800" b="1" u="sng" dirty="0" smtClean="0">
                <a:solidFill>
                  <a:srgbClr val="0070C0"/>
                </a:solidFill>
                <a:effectLst>
                  <a:outerShdw blurRad="38100" dist="38100" dir="2700000" algn="tl">
                    <a:srgbClr val="000000">
                      <a:alpha val="43137"/>
                    </a:srgbClr>
                  </a:outerShdw>
                </a:effectLst>
              </a:rPr>
              <a:t>VISÃO CONSTITUCIONAL</a:t>
            </a:r>
          </a:p>
          <a:p>
            <a:pPr marL="342900" indent="-342900" eaLnBrk="1" hangingPunct="1">
              <a:spcBef>
                <a:spcPct val="0"/>
              </a:spcBef>
            </a:pPr>
            <a:r>
              <a:rPr lang="pt-BR" altLang="pt-BR" sz="2400" b="1" dirty="0" smtClean="0">
                <a:solidFill>
                  <a:srgbClr val="0070C0"/>
                </a:solidFill>
                <a:effectLst>
                  <a:outerShdw blurRad="38100" dist="38100" dir="2700000" algn="tl">
                    <a:srgbClr val="000000">
                      <a:alpha val="43137"/>
                    </a:srgbClr>
                  </a:outerShdw>
                </a:effectLst>
              </a:rPr>
              <a:t>CONCEITO AMPLO</a:t>
            </a:r>
          </a:p>
          <a:p>
            <a:pPr marL="342900" indent="-342900" eaLnBrk="1" hangingPunct="1">
              <a:spcBef>
                <a:spcPct val="0"/>
              </a:spcBef>
            </a:pPr>
            <a:r>
              <a:rPr lang="pt-BR" altLang="pt-BR" sz="2400" b="1" dirty="0" smtClean="0">
                <a:solidFill>
                  <a:srgbClr val="0070C0"/>
                </a:solidFill>
                <a:effectLst>
                  <a:outerShdw blurRad="38100" dist="38100" dir="2700000" algn="tl">
                    <a:srgbClr val="000000">
                      <a:alpha val="43137"/>
                    </a:srgbClr>
                  </a:outerShdw>
                </a:effectLst>
              </a:rPr>
              <a:t>LISTA É EXEMPLIFICATIVA</a:t>
            </a:r>
          </a:p>
          <a:p>
            <a:pPr marL="342900" indent="-342900" eaLnBrk="1" hangingPunct="1">
              <a:spcBef>
                <a:spcPct val="0"/>
              </a:spcBef>
            </a:pPr>
            <a:r>
              <a:rPr lang="pt-BR" altLang="pt-BR" sz="2400" b="1" dirty="0" smtClean="0">
                <a:solidFill>
                  <a:srgbClr val="0070C0"/>
                </a:solidFill>
                <a:effectLst>
                  <a:outerShdw blurRad="38100" dist="38100" dir="2700000" algn="tl">
                    <a:srgbClr val="000000">
                      <a:alpha val="43137"/>
                    </a:srgbClr>
                  </a:outerShdw>
                </a:effectLst>
              </a:rPr>
              <a:t>REDUÇÃO CARGA TRIBUTÁRIA</a:t>
            </a:r>
          </a:p>
          <a:p>
            <a:pPr marL="342900" indent="-342900" eaLnBrk="1" hangingPunct="1">
              <a:spcBef>
                <a:spcPct val="0"/>
              </a:spcBef>
            </a:pPr>
            <a:r>
              <a:rPr lang="pt-BR" altLang="pt-BR" sz="2400" b="1" dirty="0" smtClean="0">
                <a:solidFill>
                  <a:srgbClr val="0070C0"/>
                </a:solidFill>
                <a:effectLst>
                  <a:outerShdw blurRad="38100" dist="38100" dir="2700000" algn="tl">
                    <a:srgbClr val="000000">
                      <a:alpha val="43137"/>
                    </a:srgbClr>
                  </a:outerShdw>
                </a:effectLst>
              </a:rPr>
              <a:t>AUMENTO DO RISCO TRIBUTÁRIO</a:t>
            </a:r>
          </a:p>
          <a:p>
            <a:pPr marL="342900" indent="-342900" eaLnBrk="1" hangingPunct="1">
              <a:spcBef>
                <a:spcPct val="0"/>
              </a:spcBef>
            </a:pPr>
            <a:r>
              <a:rPr lang="pt-BR" altLang="pt-BR" sz="2400" b="1" dirty="0" smtClean="0">
                <a:solidFill>
                  <a:srgbClr val="0070C0"/>
                </a:solidFill>
                <a:effectLst>
                  <a:outerShdw blurRad="38100" dist="38100" dir="2700000" algn="tl">
                    <a:srgbClr val="000000">
                      <a:alpha val="43137"/>
                    </a:srgbClr>
                  </a:outerShdw>
                </a:effectLst>
              </a:rPr>
              <a:t>LINHA  OUSADA </a:t>
            </a:r>
          </a:p>
          <a:p>
            <a:pPr eaLnBrk="1" hangingPunct="1">
              <a:spcBef>
                <a:spcPct val="0"/>
              </a:spcBef>
              <a:buFontTx/>
              <a:buNone/>
            </a:pPr>
            <a:endParaRPr lang="pt-BR" altLang="pt-BR" sz="2000" dirty="0"/>
          </a:p>
        </p:txBody>
      </p:sp>
    </p:spTree>
    <p:extLst>
      <p:ext uri="{BB962C8B-B14F-4D97-AF65-F5344CB8AC3E}">
        <p14:creationId xmlns:p14="http://schemas.microsoft.com/office/powerpoint/2010/main" val="244970885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2)">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heel(1)">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heel(1)">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heel(4)">
                                      <p:cBhvr>
                                        <p:cTn id="22" dur="2000"/>
                                        <p:tgtEl>
                                          <p:spTgt spid="9"/>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heel(1)">
                                      <p:cBhvr>
                                        <p:cTn id="28"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3"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p:cNvSpPr txBox="1"/>
          <p:nvPr/>
        </p:nvSpPr>
        <p:spPr>
          <a:xfrm>
            <a:off x="494374" y="1607377"/>
            <a:ext cx="11125200" cy="5570756"/>
          </a:xfrm>
          <a:prstGeom prst="rect">
            <a:avLst/>
          </a:prstGeom>
          <a:noFill/>
        </p:spPr>
        <p:txBody>
          <a:bodyPr wrap="square" rtlCol="0">
            <a:spAutoFit/>
          </a:bodyPr>
          <a:lstStyle/>
          <a:p>
            <a:pPr marL="285750" indent="-285750">
              <a:buFont typeface="Arial" panose="020B0604020202020204" pitchFamily="34" charset="0"/>
              <a:buChar char="•"/>
            </a:pPr>
            <a:r>
              <a:rPr lang="pt-BR" sz="32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GRAMATICAL</a:t>
            </a:r>
            <a:r>
              <a:rPr lang="pt-BR" sz="3200" b="1" dirty="0" smtClean="0">
                <a:latin typeface="Times New Roman" panose="02020603050405020304" pitchFamily="18" charset="0"/>
                <a:cs typeface="Times New Roman" panose="02020603050405020304" pitchFamily="18" charset="0"/>
              </a:rPr>
              <a:t>: Leva  em conta  o texto gramatical da lei</a:t>
            </a:r>
          </a:p>
          <a:p>
            <a:pPr marL="285750" indent="-285750">
              <a:buFont typeface="Arial" panose="020B0604020202020204" pitchFamily="34" charset="0"/>
              <a:buChar char="•"/>
            </a:pPr>
            <a:endParaRPr lang="pt-BR" sz="3200" b="1"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pt-BR" sz="32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LÓGICO</a:t>
            </a:r>
            <a:r>
              <a:rPr lang="pt-BR" sz="3200" b="1" dirty="0" smtClean="0">
                <a:latin typeface="Times New Roman" panose="02020603050405020304" pitchFamily="18" charset="0"/>
                <a:cs typeface="Times New Roman" panose="02020603050405020304" pitchFamily="18" charset="0"/>
              </a:rPr>
              <a:t>:  Leva  em conta  o cotejamento da  lei com o  ordenamento jurídico</a:t>
            </a:r>
          </a:p>
          <a:p>
            <a:pPr marL="285750" indent="-285750">
              <a:buFont typeface="Arial" panose="020B0604020202020204" pitchFamily="34" charset="0"/>
              <a:buChar char="•"/>
            </a:pPr>
            <a:endParaRPr lang="pt-BR" sz="3200" b="1"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pt-BR" sz="32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HISTÓRICO</a:t>
            </a:r>
            <a:r>
              <a:rPr lang="pt-BR" sz="3200" b="1" dirty="0" smtClean="0">
                <a:latin typeface="Times New Roman" panose="02020603050405020304" pitchFamily="18" charset="0"/>
                <a:cs typeface="Times New Roman" panose="02020603050405020304" pitchFamily="18" charset="0"/>
              </a:rPr>
              <a:t>:  Leva  em conta  as  circunstâncias da  época em  que  a  lei  foi elaborada</a:t>
            </a:r>
          </a:p>
          <a:p>
            <a:pPr marL="285750" indent="-285750">
              <a:buFont typeface="Arial" panose="020B0604020202020204" pitchFamily="34" charset="0"/>
              <a:buChar char="•"/>
            </a:pPr>
            <a:endParaRPr lang="pt-BR" sz="3200" b="1"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pt-BR" sz="32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TELEOLÓGICO</a:t>
            </a:r>
            <a:r>
              <a:rPr lang="pt-BR" sz="3200" b="1" dirty="0" smtClean="0">
                <a:latin typeface="Times New Roman" panose="02020603050405020304" pitchFamily="18" charset="0"/>
                <a:cs typeface="Times New Roman" panose="02020603050405020304" pitchFamily="18" charset="0"/>
              </a:rPr>
              <a:t>:  Leva  em conta  a  finalidade a  que  a  lei visou  atingir</a:t>
            </a:r>
            <a:r>
              <a:rPr lang="pt-BR" sz="20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pt-BR" dirty="0" smtClean="0">
              <a:latin typeface="Times New Roman" panose="02020603050405020304" pitchFamily="18" charset="0"/>
              <a:cs typeface="Times New Roman" panose="02020603050405020304" pitchFamily="18" charset="0"/>
            </a:endParaRPr>
          </a:p>
          <a:p>
            <a:endParaRPr lang="pt-BR" dirty="0"/>
          </a:p>
        </p:txBody>
      </p:sp>
      <p:sp>
        <p:nvSpPr>
          <p:cNvPr id="3" name="CaixaDeTexto 2"/>
          <p:cNvSpPr txBox="1"/>
          <p:nvPr/>
        </p:nvSpPr>
        <p:spPr>
          <a:xfrm>
            <a:off x="2392447" y="281580"/>
            <a:ext cx="7329054" cy="1077218"/>
          </a:xfrm>
          <a:prstGeom prst="rect">
            <a:avLst/>
          </a:prstGeom>
          <a:noFill/>
        </p:spPr>
        <p:txBody>
          <a:bodyPr wrap="square" rtlCol="0">
            <a:spAutoFit/>
          </a:bodyPr>
          <a:lstStyle/>
          <a:p>
            <a:pPr algn="ctr"/>
            <a:r>
              <a:rPr lang="pt-BR" sz="3200" b="1" dirty="0" smtClean="0">
                <a:latin typeface="Times New Roman" panose="02020603050405020304" pitchFamily="18" charset="0"/>
                <a:cs typeface="Times New Roman" panose="02020603050405020304" pitchFamily="18" charset="0"/>
              </a:rPr>
              <a:t>INTERPRETAÇÃO DAS  LEIS</a:t>
            </a:r>
          </a:p>
          <a:p>
            <a:pPr algn="ctr"/>
            <a:r>
              <a:rPr lang="pt-BR" sz="3200" b="1" dirty="0" smtClean="0">
                <a:latin typeface="Times New Roman" panose="02020603050405020304" pitchFamily="18" charset="0"/>
                <a:cs typeface="Times New Roman" panose="02020603050405020304" pitchFamily="18" charset="0"/>
              </a:rPr>
              <a:t>HERMENÊUTICA JURÍDICA </a:t>
            </a:r>
            <a:endParaRPr lang="pt-BR"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839599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500"/>
                                        <p:tgtEl>
                                          <p:spTgt spid="2">
                                            <p:txEl>
                                              <p:pRg st="0" end="0"/>
                                            </p:txEl>
                                          </p:spTgt>
                                        </p:tgtEl>
                                      </p:cBhvr>
                                    </p:animEffect>
                                    <p:anim calcmode="lin" valueType="num">
                                      <p:cBhvr>
                                        <p:cTn id="15" dur="500" fill="hold"/>
                                        <p:tgtEl>
                                          <p:spTgt spid="2">
                                            <p:txEl>
                                              <p:pRg st="0" end="0"/>
                                            </p:txEl>
                                          </p:spTgt>
                                        </p:tgtEl>
                                        <p:attrNameLst>
                                          <p:attrName>ppt_w</p:attrName>
                                        </p:attrNameLst>
                                      </p:cBhvr>
                                      <p:tavLst>
                                        <p:tav tm="0" fmla="#ppt_w*sin(2.5*pi*$)">
                                          <p:val>
                                            <p:fltVal val="0"/>
                                          </p:val>
                                        </p:tav>
                                        <p:tav tm="100000">
                                          <p:val>
                                            <p:fltVal val="1"/>
                                          </p:val>
                                        </p:tav>
                                      </p:tavLst>
                                    </p:anim>
                                    <p:anim calcmode="lin" valueType="num">
                                      <p:cBhvr>
                                        <p:cTn id="16" dur="500" fill="hold"/>
                                        <p:tgtEl>
                                          <p:spTgt spid="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nodeType="clickEffect">
                                  <p:stCondLst>
                                    <p:cond delay="125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
                                            <p:txEl>
                                              <p:pRg st="4" end="4"/>
                                            </p:txEl>
                                          </p:spTgt>
                                        </p:tgtEl>
                                        <p:attrNameLst>
                                          <p:attrName>style.visibility</p:attrName>
                                        </p:attrNameLst>
                                      </p:cBhvr>
                                      <p:to>
                                        <p:strVal val="visible"/>
                                      </p:to>
                                    </p:set>
                                    <p:animEffect transition="in" filter="fade">
                                      <p:cBhvr>
                                        <p:cTn id="28" dur="3000"/>
                                        <p:tgtEl>
                                          <p:spTgt spid="2">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nodeType="click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Effect transition="in" filter="fade">
                                      <p:cBhvr>
                                        <p:cTn id="33" dur="1000"/>
                                        <p:tgtEl>
                                          <p:spTgt spid="2">
                                            <p:txEl>
                                              <p:pRg st="6" end="6"/>
                                            </p:txEl>
                                          </p:spTgt>
                                        </p:tgtEl>
                                      </p:cBhvr>
                                    </p:animEffect>
                                    <p:anim calcmode="lin" valueType="num">
                                      <p:cBhvr>
                                        <p:cTn id="34"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032665" y="-227158"/>
            <a:ext cx="10106032" cy="1500198"/>
          </a:xfrm>
        </p:spPr>
        <p:txBody>
          <a:bodyPr>
            <a:noAutofit/>
          </a:bodyPr>
          <a:lstStyle/>
          <a:p>
            <a:pPr algn="ctr"/>
            <a:r>
              <a:rPr lang="pt-BR" sz="4000" b="1" u="sng"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COMO INTERPRETAR  OS CONCEITOS ?</a:t>
            </a:r>
            <a:endParaRPr lang="pt-BR" sz="4000" b="1" u="sng"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1266" name="AutoShape 2"/>
          <p:cNvSpPr>
            <a:spLocks noChangeAspect="1" noChangeArrowheads="1" noTextEdit="1"/>
          </p:cNvSpPr>
          <p:nvPr/>
        </p:nvSpPr>
        <p:spPr bwMode="auto">
          <a:xfrm>
            <a:off x="1403797" y="1506828"/>
            <a:ext cx="7835453" cy="492254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68" name="Freeform 4"/>
          <p:cNvSpPr>
            <a:spLocks/>
          </p:cNvSpPr>
          <p:nvPr/>
        </p:nvSpPr>
        <p:spPr bwMode="auto">
          <a:xfrm>
            <a:off x="6208713" y="4548188"/>
            <a:ext cx="22225" cy="15875"/>
          </a:xfrm>
          <a:custGeom>
            <a:avLst/>
            <a:gdLst/>
            <a:ahLst/>
            <a:cxnLst>
              <a:cxn ang="0">
                <a:pos x="0" y="10"/>
              </a:cxn>
              <a:cxn ang="0">
                <a:pos x="3" y="7"/>
              </a:cxn>
              <a:cxn ang="0">
                <a:pos x="7" y="4"/>
              </a:cxn>
              <a:cxn ang="0">
                <a:pos x="9" y="3"/>
              </a:cxn>
              <a:cxn ang="0">
                <a:pos x="12" y="0"/>
              </a:cxn>
              <a:cxn ang="0">
                <a:pos x="14" y="0"/>
              </a:cxn>
              <a:cxn ang="0">
                <a:pos x="14" y="0"/>
              </a:cxn>
              <a:cxn ang="0">
                <a:pos x="14" y="0"/>
              </a:cxn>
              <a:cxn ang="0">
                <a:pos x="14" y="0"/>
              </a:cxn>
              <a:cxn ang="0">
                <a:pos x="11" y="3"/>
              </a:cxn>
              <a:cxn ang="0">
                <a:pos x="7" y="4"/>
              </a:cxn>
              <a:cxn ang="0">
                <a:pos x="3" y="7"/>
              </a:cxn>
              <a:cxn ang="0">
                <a:pos x="0" y="10"/>
              </a:cxn>
            </a:cxnLst>
            <a:rect l="0" t="0" r="r" b="b"/>
            <a:pathLst>
              <a:path w="14" h="10">
                <a:moveTo>
                  <a:pt x="0" y="10"/>
                </a:moveTo>
                <a:lnTo>
                  <a:pt x="3" y="7"/>
                </a:lnTo>
                <a:lnTo>
                  <a:pt x="7" y="4"/>
                </a:lnTo>
                <a:lnTo>
                  <a:pt x="9" y="3"/>
                </a:lnTo>
                <a:lnTo>
                  <a:pt x="12" y="0"/>
                </a:lnTo>
                <a:lnTo>
                  <a:pt x="14" y="0"/>
                </a:lnTo>
                <a:lnTo>
                  <a:pt x="14" y="0"/>
                </a:lnTo>
                <a:lnTo>
                  <a:pt x="14" y="0"/>
                </a:lnTo>
                <a:lnTo>
                  <a:pt x="14" y="0"/>
                </a:lnTo>
                <a:lnTo>
                  <a:pt x="11" y="3"/>
                </a:lnTo>
                <a:lnTo>
                  <a:pt x="7" y="4"/>
                </a:lnTo>
                <a:lnTo>
                  <a:pt x="3" y="7"/>
                </a:lnTo>
                <a:lnTo>
                  <a:pt x="0" y="1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69" name="Freeform 5"/>
          <p:cNvSpPr>
            <a:spLocks/>
          </p:cNvSpPr>
          <p:nvPr/>
        </p:nvSpPr>
        <p:spPr bwMode="auto">
          <a:xfrm>
            <a:off x="3270250" y="4385470"/>
            <a:ext cx="6003925" cy="2105025"/>
          </a:xfrm>
          <a:custGeom>
            <a:avLst/>
            <a:gdLst/>
            <a:ahLst/>
            <a:cxnLst>
              <a:cxn ang="0">
                <a:pos x="3375" y="421"/>
              </a:cxn>
              <a:cxn ang="0">
                <a:pos x="3070" y="365"/>
              </a:cxn>
              <a:cxn ang="0">
                <a:pos x="2759" y="336"/>
              </a:cxn>
              <a:cxn ang="0">
                <a:pos x="2646" y="209"/>
              </a:cxn>
              <a:cxn ang="0">
                <a:pos x="2573" y="85"/>
              </a:cxn>
              <a:cxn ang="0">
                <a:pos x="2455" y="18"/>
              </a:cxn>
              <a:cxn ang="0">
                <a:pos x="2309" y="3"/>
              </a:cxn>
              <a:cxn ang="0">
                <a:pos x="2215" y="27"/>
              </a:cxn>
              <a:cxn ang="0">
                <a:pos x="2097" y="83"/>
              </a:cxn>
              <a:cxn ang="0">
                <a:pos x="1973" y="147"/>
              </a:cxn>
              <a:cxn ang="0">
                <a:pos x="1895" y="203"/>
              </a:cxn>
              <a:cxn ang="0">
                <a:pos x="1808" y="266"/>
              </a:cxn>
              <a:cxn ang="0">
                <a:pos x="1709" y="245"/>
              </a:cxn>
              <a:cxn ang="0">
                <a:pos x="1566" y="232"/>
              </a:cxn>
              <a:cxn ang="0">
                <a:pos x="1318" y="216"/>
              </a:cxn>
              <a:cxn ang="0">
                <a:pos x="1071" y="191"/>
              </a:cxn>
              <a:cxn ang="0">
                <a:pos x="822" y="163"/>
              </a:cxn>
              <a:cxn ang="0">
                <a:pos x="658" y="139"/>
              </a:cxn>
              <a:cxn ang="0">
                <a:pos x="498" y="119"/>
              </a:cxn>
              <a:cxn ang="0">
                <a:pos x="336" y="105"/>
              </a:cxn>
              <a:cxn ang="0">
                <a:pos x="184" y="123"/>
              </a:cxn>
              <a:cxn ang="0">
                <a:pos x="66" y="192"/>
              </a:cxn>
              <a:cxn ang="0">
                <a:pos x="4" y="299"/>
              </a:cxn>
              <a:cxn ang="0">
                <a:pos x="33" y="433"/>
              </a:cxn>
              <a:cxn ang="0">
                <a:pos x="160" y="532"/>
              </a:cxn>
              <a:cxn ang="0">
                <a:pos x="280" y="582"/>
              </a:cxn>
              <a:cxn ang="0">
                <a:pos x="415" y="609"/>
              </a:cxn>
              <a:cxn ang="0">
                <a:pos x="680" y="646"/>
              </a:cxn>
              <a:cxn ang="0">
                <a:pos x="935" y="675"/>
              </a:cxn>
              <a:cxn ang="0">
                <a:pos x="1117" y="705"/>
              </a:cxn>
              <a:cxn ang="0">
                <a:pos x="995" y="755"/>
              </a:cxn>
              <a:cxn ang="0">
                <a:pos x="877" y="803"/>
              </a:cxn>
              <a:cxn ang="0">
                <a:pos x="758" y="857"/>
              </a:cxn>
              <a:cxn ang="0">
                <a:pos x="707" y="877"/>
              </a:cxn>
              <a:cxn ang="0">
                <a:pos x="577" y="1081"/>
              </a:cxn>
              <a:cxn ang="0">
                <a:pos x="647" y="1239"/>
              </a:cxn>
              <a:cxn ang="0">
                <a:pos x="766" y="1308"/>
              </a:cxn>
              <a:cxn ang="0">
                <a:pos x="907" y="1325"/>
              </a:cxn>
              <a:cxn ang="0">
                <a:pos x="1067" y="1276"/>
              </a:cxn>
              <a:cxn ang="0">
                <a:pos x="1246" y="1204"/>
              </a:cxn>
              <a:cxn ang="0">
                <a:pos x="1424" y="1128"/>
              </a:cxn>
              <a:cxn ang="0">
                <a:pos x="1600" y="1041"/>
              </a:cxn>
              <a:cxn ang="0">
                <a:pos x="1757" y="953"/>
              </a:cxn>
              <a:cxn ang="0">
                <a:pos x="1904" y="858"/>
              </a:cxn>
              <a:cxn ang="0">
                <a:pos x="2044" y="761"/>
              </a:cxn>
              <a:cxn ang="0">
                <a:pos x="2144" y="784"/>
              </a:cxn>
              <a:cxn ang="0">
                <a:pos x="2248" y="798"/>
              </a:cxn>
              <a:cxn ang="0">
                <a:pos x="2351" y="801"/>
              </a:cxn>
              <a:cxn ang="0">
                <a:pos x="2429" y="806"/>
              </a:cxn>
              <a:cxn ang="0">
                <a:pos x="2489" y="811"/>
              </a:cxn>
              <a:cxn ang="0">
                <a:pos x="2768" y="840"/>
              </a:cxn>
              <a:cxn ang="0">
                <a:pos x="3111" y="888"/>
              </a:cxn>
              <a:cxn ang="0">
                <a:pos x="3353" y="947"/>
              </a:cxn>
              <a:cxn ang="0">
                <a:pos x="3501" y="969"/>
              </a:cxn>
              <a:cxn ang="0">
                <a:pos x="3639" y="933"/>
              </a:cxn>
              <a:cxn ang="0">
                <a:pos x="3741" y="848"/>
              </a:cxn>
              <a:cxn ang="0">
                <a:pos x="3764" y="638"/>
              </a:cxn>
            </a:cxnLst>
            <a:rect l="0" t="0" r="r" b="b"/>
            <a:pathLst>
              <a:path w="3782" h="1326">
                <a:moveTo>
                  <a:pt x="3606" y="499"/>
                </a:moveTo>
                <a:lnTo>
                  <a:pt x="3550" y="477"/>
                </a:lnTo>
                <a:lnTo>
                  <a:pt x="3491" y="457"/>
                </a:lnTo>
                <a:lnTo>
                  <a:pt x="3433" y="437"/>
                </a:lnTo>
                <a:lnTo>
                  <a:pt x="3375" y="421"/>
                </a:lnTo>
                <a:lnTo>
                  <a:pt x="3315" y="408"/>
                </a:lnTo>
                <a:lnTo>
                  <a:pt x="3253" y="395"/>
                </a:lnTo>
                <a:lnTo>
                  <a:pt x="3193" y="383"/>
                </a:lnTo>
                <a:lnTo>
                  <a:pt x="3131" y="374"/>
                </a:lnTo>
                <a:lnTo>
                  <a:pt x="3070" y="365"/>
                </a:lnTo>
                <a:lnTo>
                  <a:pt x="3008" y="358"/>
                </a:lnTo>
                <a:lnTo>
                  <a:pt x="2946" y="352"/>
                </a:lnTo>
                <a:lnTo>
                  <a:pt x="2884" y="346"/>
                </a:lnTo>
                <a:lnTo>
                  <a:pt x="2820" y="340"/>
                </a:lnTo>
                <a:lnTo>
                  <a:pt x="2759" y="336"/>
                </a:lnTo>
                <a:lnTo>
                  <a:pt x="2695" y="331"/>
                </a:lnTo>
                <a:lnTo>
                  <a:pt x="2633" y="327"/>
                </a:lnTo>
                <a:lnTo>
                  <a:pt x="2644" y="288"/>
                </a:lnTo>
                <a:lnTo>
                  <a:pt x="2649" y="250"/>
                </a:lnTo>
                <a:lnTo>
                  <a:pt x="2646" y="209"/>
                </a:lnTo>
                <a:lnTo>
                  <a:pt x="2633" y="169"/>
                </a:lnTo>
                <a:lnTo>
                  <a:pt x="2622" y="145"/>
                </a:lnTo>
                <a:lnTo>
                  <a:pt x="2608" y="123"/>
                </a:lnTo>
                <a:lnTo>
                  <a:pt x="2591" y="104"/>
                </a:lnTo>
                <a:lnTo>
                  <a:pt x="2573" y="85"/>
                </a:lnTo>
                <a:lnTo>
                  <a:pt x="2553" y="67"/>
                </a:lnTo>
                <a:lnTo>
                  <a:pt x="2529" y="52"/>
                </a:lnTo>
                <a:lnTo>
                  <a:pt x="2506" y="39"/>
                </a:lnTo>
                <a:lnTo>
                  <a:pt x="2480" y="27"/>
                </a:lnTo>
                <a:lnTo>
                  <a:pt x="2455" y="18"/>
                </a:lnTo>
                <a:lnTo>
                  <a:pt x="2426" y="11"/>
                </a:lnTo>
                <a:lnTo>
                  <a:pt x="2399" y="5"/>
                </a:lnTo>
                <a:lnTo>
                  <a:pt x="2369" y="2"/>
                </a:lnTo>
                <a:lnTo>
                  <a:pt x="2339" y="0"/>
                </a:lnTo>
                <a:lnTo>
                  <a:pt x="2309" y="3"/>
                </a:lnTo>
                <a:lnTo>
                  <a:pt x="2279" y="6"/>
                </a:lnTo>
                <a:lnTo>
                  <a:pt x="2249" y="14"/>
                </a:lnTo>
                <a:lnTo>
                  <a:pt x="2242" y="17"/>
                </a:lnTo>
                <a:lnTo>
                  <a:pt x="2231" y="21"/>
                </a:lnTo>
                <a:lnTo>
                  <a:pt x="2215" y="27"/>
                </a:lnTo>
                <a:lnTo>
                  <a:pt x="2197" y="36"/>
                </a:lnTo>
                <a:lnTo>
                  <a:pt x="2173" y="46"/>
                </a:lnTo>
                <a:lnTo>
                  <a:pt x="2149" y="58"/>
                </a:lnTo>
                <a:lnTo>
                  <a:pt x="2124" y="70"/>
                </a:lnTo>
                <a:lnTo>
                  <a:pt x="2097" y="83"/>
                </a:lnTo>
                <a:lnTo>
                  <a:pt x="2069" y="96"/>
                </a:lnTo>
                <a:lnTo>
                  <a:pt x="2044" y="110"/>
                </a:lnTo>
                <a:lnTo>
                  <a:pt x="2019" y="123"/>
                </a:lnTo>
                <a:lnTo>
                  <a:pt x="1995" y="135"/>
                </a:lnTo>
                <a:lnTo>
                  <a:pt x="1973" y="147"/>
                </a:lnTo>
                <a:lnTo>
                  <a:pt x="1955" y="158"/>
                </a:lnTo>
                <a:lnTo>
                  <a:pt x="1940" y="167"/>
                </a:lnTo>
                <a:lnTo>
                  <a:pt x="1929" y="175"/>
                </a:lnTo>
                <a:lnTo>
                  <a:pt x="1913" y="189"/>
                </a:lnTo>
                <a:lnTo>
                  <a:pt x="1895" y="203"/>
                </a:lnTo>
                <a:lnTo>
                  <a:pt x="1878" y="216"/>
                </a:lnTo>
                <a:lnTo>
                  <a:pt x="1860" y="228"/>
                </a:lnTo>
                <a:lnTo>
                  <a:pt x="1842" y="241"/>
                </a:lnTo>
                <a:lnTo>
                  <a:pt x="1824" y="253"/>
                </a:lnTo>
                <a:lnTo>
                  <a:pt x="1808" y="266"/>
                </a:lnTo>
                <a:lnTo>
                  <a:pt x="1789" y="279"/>
                </a:lnTo>
                <a:lnTo>
                  <a:pt x="1771" y="269"/>
                </a:lnTo>
                <a:lnTo>
                  <a:pt x="1751" y="260"/>
                </a:lnTo>
                <a:lnTo>
                  <a:pt x="1729" y="253"/>
                </a:lnTo>
                <a:lnTo>
                  <a:pt x="1709" y="245"/>
                </a:lnTo>
                <a:lnTo>
                  <a:pt x="1686" y="241"/>
                </a:lnTo>
                <a:lnTo>
                  <a:pt x="1664" y="237"/>
                </a:lnTo>
                <a:lnTo>
                  <a:pt x="1640" y="235"/>
                </a:lnTo>
                <a:lnTo>
                  <a:pt x="1617" y="234"/>
                </a:lnTo>
                <a:lnTo>
                  <a:pt x="1566" y="232"/>
                </a:lnTo>
                <a:lnTo>
                  <a:pt x="1517" y="229"/>
                </a:lnTo>
                <a:lnTo>
                  <a:pt x="1468" y="226"/>
                </a:lnTo>
                <a:lnTo>
                  <a:pt x="1418" y="223"/>
                </a:lnTo>
                <a:lnTo>
                  <a:pt x="1368" y="219"/>
                </a:lnTo>
                <a:lnTo>
                  <a:pt x="1318" y="216"/>
                </a:lnTo>
                <a:lnTo>
                  <a:pt x="1269" y="212"/>
                </a:lnTo>
                <a:lnTo>
                  <a:pt x="1220" y="207"/>
                </a:lnTo>
                <a:lnTo>
                  <a:pt x="1171" y="201"/>
                </a:lnTo>
                <a:lnTo>
                  <a:pt x="1122" y="197"/>
                </a:lnTo>
                <a:lnTo>
                  <a:pt x="1071" y="191"/>
                </a:lnTo>
                <a:lnTo>
                  <a:pt x="1022" y="186"/>
                </a:lnTo>
                <a:lnTo>
                  <a:pt x="973" y="181"/>
                </a:lnTo>
                <a:lnTo>
                  <a:pt x="922" y="175"/>
                </a:lnTo>
                <a:lnTo>
                  <a:pt x="873" y="169"/>
                </a:lnTo>
                <a:lnTo>
                  <a:pt x="822" y="163"/>
                </a:lnTo>
                <a:lnTo>
                  <a:pt x="789" y="158"/>
                </a:lnTo>
                <a:lnTo>
                  <a:pt x="757" y="154"/>
                </a:lnTo>
                <a:lnTo>
                  <a:pt x="724" y="150"/>
                </a:lnTo>
                <a:lnTo>
                  <a:pt x="691" y="145"/>
                </a:lnTo>
                <a:lnTo>
                  <a:pt x="658" y="139"/>
                </a:lnTo>
                <a:lnTo>
                  <a:pt x="627" y="135"/>
                </a:lnTo>
                <a:lnTo>
                  <a:pt x="595" y="130"/>
                </a:lnTo>
                <a:lnTo>
                  <a:pt x="562" y="126"/>
                </a:lnTo>
                <a:lnTo>
                  <a:pt x="529" y="121"/>
                </a:lnTo>
                <a:lnTo>
                  <a:pt x="498" y="119"/>
                </a:lnTo>
                <a:lnTo>
                  <a:pt x="466" y="114"/>
                </a:lnTo>
                <a:lnTo>
                  <a:pt x="433" y="111"/>
                </a:lnTo>
                <a:lnTo>
                  <a:pt x="402" y="108"/>
                </a:lnTo>
                <a:lnTo>
                  <a:pt x="369" y="107"/>
                </a:lnTo>
                <a:lnTo>
                  <a:pt x="336" y="105"/>
                </a:lnTo>
                <a:lnTo>
                  <a:pt x="304" y="104"/>
                </a:lnTo>
                <a:lnTo>
                  <a:pt x="273" y="105"/>
                </a:lnTo>
                <a:lnTo>
                  <a:pt x="242" y="108"/>
                </a:lnTo>
                <a:lnTo>
                  <a:pt x="213" y="114"/>
                </a:lnTo>
                <a:lnTo>
                  <a:pt x="184" y="123"/>
                </a:lnTo>
                <a:lnTo>
                  <a:pt x="156" y="133"/>
                </a:lnTo>
                <a:lnTo>
                  <a:pt x="131" y="145"/>
                </a:lnTo>
                <a:lnTo>
                  <a:pt x="107" y="160"/>
                </a:lnTo>
                <a:lnTo>
                  <a:pt x="86" y="175"/>
                </a:lnTo>
                <a:lnTo>
                  <a:pt x="66" y="192"/>
                </a:lnTo>
                <a:lnTo>
                  <a:pt x="47" y="212"/>
                </a:lnTo>
                <a:lnTo>
                  <a:pt x="33" y="232"/>
                </a:lnTo>
                <a:lnTo>
                  <a:pt x="20" y="253"/>
                </a:lnTo>
                <a:lnTo>
                  <a:pt x="11" y="276"/>
                </a:lnTo>
                <a:lnTo>
                  <a:pt x="4" y="299"/>
                </a:lnTo>
                <a:lnTo>
                  <a:pt x="0" y="324"/>
                </a:lnTo>
                <a:lnTo>
                  <a:pt x="0" y="349"/>
                </a:lnTo>
                <a:lnTo>
                  <a:pt x="6" y="378"/>
                </a:lnTo>
                <a:lnTo>
                  <a:pt x="16" y="406"/>
                </a:lnTo>
                <a:lnTo>
                  <a:pt x="33" y="433"/>
                </a:lnTo>
                <a:lnTo>
                  <a:pt x="55" y="457"/>
                </a:lnTo>
                <a:lnTo>
                  <a:pt x="78" y="479"/>
                </a:lnTo>
                <a:lnTo>
                  <a:pt x="104" y="498"/>
                </a:lnTo>
                <a:lnTo>
                  <a:pt x="131" y="517"/>
                </a:lnTo>
                <a:lnTo>
                  <a:pt x="160" y="532"/>
                </a:lnTo>
                <a:lnTo>
                  <a:pt x="187" y="547"/>
                </a:lnTo>
                <a:lnTo>
                  <a:pt x="215" y="558"/>
                </a:lnTo>
                <a:lnTo>
                  <a:pt x="240" y="567"/>
                </a:lnTo>
                <a:lnTo>
                  <a:pt x="262" y="576"/>
                </a:lnTo>
                <a:lnTo>
                  <a:pt x="280" y="582"/>
                </a:lnTo>
                <a:lnTo>
                  <a:pt x="295" y="586"/>
                </a:lnTo>
                <a:lnTo>
                  <a:pt x="302" y="589"/>
                </a:lnTo>
                <a:lnTo>
                  <a:pt x="304" y="589"/>
                </a:lnTo>
                <a:lnTo>
                  <a:pt x="360" y="600"/>
                </a:lnTo>
                <a:lnTo>
                  <a:pt x="415" y="609"/>
                </a:lnTo>
                <a:lnTo>
                  <a:pt x="469" y="617"/>
                </a:lnTo>
                <a:lnTo>
                  <a:pt x="524" y="625"/>
                </a:lnTo>
                <a:lnTo>
                  <a:pt x="577" y="632"/>
                </a:lnTo>
                <a:lnTo>
                  <a:pt x="627" y="640"/>
                </a:lnTo>
                <a:lnTo>
                  <a:pt x="680" y="646"/>
                </a:lnTo>
                <a:lnTo>
                  <a:pt x="731" y="653"/>
                </a:lnTo>
                <a:lnTo>
                  <a:pt x="782" y="659"/>
                </a:lnTo>
                <a:lnTo>
                  <a:pt x="833" y="663"/>
                </a:lnTo>
                <a:lnTo>
                  <a:pt x="884" y="669"/>
                </a:lnTo>
                <a:lnTo>
                  <a:pt x="935" y="675"/>
                </a:lnTo>
                <a:lnTo>
                  <a:pt x="986" y="679"/>
                </a:lnTo>
                <a:lnTo>
                  <a:pt x="1037" y="684"/>
                </a:lnTo>
                <a:lnTo>
                  <a:pt x="1087" y="690"/>
                </a:lnTo>
                <a:lnTo>
                  <a:pt x="1140" y="694"/>
                </a:lnTo>
                <a:lnTo>
                  <a:pt x="1117" y="705"/>
                </a:lnTo>
                <a:lnTo>
                  <a:pt x="1091" y="715"/>
                </a:lnTo>
                <a:lnTo>
                  <a:pt x="1067" y="725"/>
                </a:lnTo>
                <a:lnTo>
                  <a:pt x="1044" y="736"/>
                </a:lnTo>
                <a:lnTo>
                  <a:pt x="1020" y="746"/>
                </a:lnTo>
                <a:lnTo>
                  <a:pt x="995" y="755"/>
                </a:lnTo>
                <a:lnTo>
                  <a:pt x="971" y="765"/>
                </a:lnTo>
                <a:lnTo>
                  <a:pt x="947" y="774"/>
                </a:lnTo>
                <a:lnTo>
                  <a:pt x="924" y="784"/>
                </a:lnTo>
                <a:lnTo>
                  <a:pt x="900" y="793"/>
                </a:lnTo>
                <a:lnTo>
                  <a:pt x="877" y="803"/>
                </a:lnTo>
                <a:lnTo>
                  <a:pt x="853" y="814"/>
                </a:lnTo>
                <a:lnTo>
                  <a:pt x="829" y="824"/>
                </a:lnTo>
                <a:lnTo>
                  <a:pt x="806" y="834"/>
                </a:lnTo>
                <a:lnTo>
                  <a:pt x="782" y="845"/>
                </a:lnTo>
                <a:lnTo>
                  <a:pt x="758" y="857"/>
                </a:lnTo>
                <a:lnTo>
                  <a:pt x="758" y="855"/>
                </a:lnTo>
                <a:lnTo>
                  <a:pt x="760" y="855"/>
                </a:lnTo>
                <a:lnTo>
                  <a:pt x="760" y="855"/>
                </a:lnTo>
                <a:lnTo>
                  <a:pt x="762" y="854"/>
                </a:lnTo>
                <a:lnTo>
                  <a:pt x="707" y="877"/>
                </a:lnTo>
                <a:lnTo>
                  <a:pt x="662" y="908"/>
                </a:lnTo>
                <a:lnTo>
                  <a:pt x="626" y="947"/>
                </a:lnTo>
                <a:lnTo>
                  <a:pt x="598" y="988"/>
                </a:lnTo>
                <a:lnTo>
                  <a:pt x="582" y="1034"/>
                </a:lnTo>
                <a:lnTo>
                  <a:pt x="577" y="1081"/>
                </a:lnTo>
                <a:lnTo>
                  <a:pt x="582" y="1130"/>
                </a:lnTo>
                <a:lnTo>
                  <a:pt x="600" y="1177"/>
                </a:lnTo>
                <a:lnTo>
                  <a:pt x="613" y="1199"/>
                </a:lnTo>
                <a:lnTo>
                  <a:pt x="629" y="1220"/>
                </a:lnTo>
                <a:lnTo>
                  <a:pt x="647" y="1239"/>
                </a:lnTo>
                <a:lnTo>
                  <a:pt x="667" y="1257"/>
                </a:lnTo>
                <a:lnTo>
                  <a:pt x="689" y="1273"/>
                </a:lnTo>
                <a:lnTo>
                  <a:pt x="713" y="1286"/>
                </a:lnTo>
                <a:lnTo>
                  <a:pt x="738" y="1298"/>
                </a:lnTo>
                <a:lnTo>
                  <a:pt x="766" y="1308"/>
                </a:lnTo>
                <a:lnTo>
                  <a:pt x="793" y="1316"/>
                </a:lnTo>
                <a:lnTo>
                  <a:pt x="820" y="1322"/>
                </a:lnTo>
                <a:lnTo>
                  <a:pt x="849" y="1325"/>
                </a:lnTo>
                <a:lnTo>
                  <a:pt x="878" y="1326"/>
                </a:lnTo>
                <a:lnTo>
                  <a:pt x="907" y="1325"/>
                </a:lnTo>
                <a:lnTo>
                  <a:pt x="938" y="1322"/>
                </a:lnTo>
                <a:lnTo>
                  <a:pt x="967" y="1316"/>
                </a:lnTo>
                <a:lnTo>
                  <a:pt x="997" y="1307"/>
                </a:lnTo>
                <a:lnTo>
                  <a:pt x="1033" y="1292"/>
                </a:lnTo>
                <a:lnTo>
                  <a:pt x="1067" y="1276"/>
                </a:lnTo>
                <a:lnTo>
                  <a:pt x="1104" y="1263"/>
                </a:lnTo>
                <a:lnTo>
                  <a:pt x="1140" y="1248"/>
                </a:lnTo>
                <a:lnTo>
                  <a:pt x="1175" y="1233"/>
                </a:lnTo>
                <a:lnTo>
                  <a:pt x="1211" y="1218"/>
                </a:lnTo>
                <a:lnTo>
                  <a:pt x="1246" y="1204"/>
                </a:lnTo>
                <a:lnTo>
                  <a:pt x="1282" y="1189"/>
                </a:lnTo>
                <a:lnTo>
                  <a:pt x="1318" y="1174"/>
                </a:lnTo>
                <a:lnTo>
                  <a:pt x="1353" y="1159"/>
                </a:lnTo>
                <a:lnTo>
                  <a:pt x="1389" y="1144"/>
                </a:lnTo>
                <a:lnTo>
                  <a:pt x="1424" y="1128"/>
                </a:lnTo>
                <a:lnTo>
                  <a:pt x="1460" y="1112"/>
                </a:lnTo>
                <a:lnTo>
                  <a:pt x="1497" y="1094"/>
                </a:lnTo>
                <a:lnTo>
                  <a:pt x="1531" y="1077"/>
                </a:lnTo>
                <a:lnTo>
                  <a:pt x="1568" y="1059"/>
                </a:lnTo>
                <a:lnTo>
                  <a:pt x="1600" y="1041"/>
                </a:lnTo>
                <a:lnTo>
                  <a:pt x="1631" y="1023"/>
                </a:lnTo>
                <a:lnTo>
                  <a:pt x="1664" y="1007"/>
                </a:lnTo>
                <a:lnTo>
                  <a:pt x="1695" y="988"/>
                </a:lnTo>
                <a:lnTo>
                  <a:pt x="1726" y="970"/>
                </a:lnTo>
                <a:lnTo>
                  <a:pt x="1757" y="953"/>
                </a:lnTo>
                <a:lnTo>
                  <a:pt x="1786" y="933"/>
                </a:lnTo>
                <a:lnTo>
                  <a:pt x="1817" y="916"/>
                </a:lnTo>
                <a:lnTo>
                  <a:pt x="1846" y="896"/>
                </a:lnTo>
                <a:lnTo>
                  <a:pt x="1875" y="877"/>
                </a:lnTo>
                <a:lnTo>
                  <a:pt x="1904" y="858"/>
                </a:lnTo>
                <a:lnTo>
                  <a:pt x="1931" y="839"/>
                </a:lnTo>
                <a:lnTo>
                  <a:pt x="1960" y="820"/>
                </a:lnTo>
                <a:lnTo>
                  <a:pt x="1988" y="801"/>
                </a:lnTo>
                <a:lnTo>
                  <a:pt x="2017" y="780"/>
                </a:lnTo>
                <a:lnTo>
                  <a:pt x="2044" y="761"/>
                </a:lnTo>
                <a:lnTo>
                  <a:pt x="2064" y="767"/>
                </a:lnTo>
                <a:lnTo>
                  <a:pt x="2084" y="771"/>
                </a:lnTo>
                <a:lnTo>
                  <a:pt x="2104" y="775"/>
                </a:lnTo>
                <a:lnTo>
                  <a:pt x="2124" y="780"/>
                </a:lnTo>
                <a:lnTo>
                  <a:pt x="2144" y="784"/>
                </a:lnTo>
                <a:lnTo>
                  <a:pt x="2164" y="787"/>
                </a:lnTo>
                <a:lnTo>
                  <a:pt x="2186" y="790"/>
                </a:lnTo>
                <a:lnTo>
                  <a:pt x="2206" y="793"/>
                </a:lnTo>
                <a:lnTo>
                  <a:pt x="2226" y="795"/>
                </a:lnTo>
                <a:lnTo>
                  <a:pt x="2248" y="798"/>
                </a:lnTo>
                <a:lnTo>
                  <a:pt x="2268" y="799"/>
                </a:lnTo>
                <a:lnTo>
                  <a:pt x="2289" y="799"/>
                </a:lnTo>
                <a:lnTo>
                  <a:pt x="2309" y="801"/>
                </a:lnTo>
                <a:lnTo>
                  <a:pt x="2331" y="801"/>
                </a:lnTo>
                <a:lnTo>
                  <a:pt x="2351" y="801"/>
                </a:lnTo>
                <a:lnTo>
                  <a:pt x="2373" y="801"/>
                </a:lnTo>
                <a:lnTo>
                  <a:pt x="2388" y="802"/>
                </a:lnTo>
                <a:lnTo>
                  <a:pt x="2402" y="803"/>
                </a:lnTo>
                <a:lnTo>
                  <a:pt x="2417" y="805"/>
                </a:lnTo>
                <a:lnTo>
                  <a:pt x="2429" y="806"/>
                </a:lnTo>
                <a:lnTo>
                  <a:pt x="2442" y="806"/>
                </a:lnTo>
                <a:lnTo>
                  <a:pt x="2451" y="808"/>
                </a:lnTo>
                <a:lnTo>
                  <a:pt x="2457" y="808"/>
                </a:lnTo>
                <a:lnTo>
                  <a:pt x="2457" y="808"/>
                </a:lnTo>
                <a:lnTo>
                  <a:pt x="2489" y="811"/>
                </a:lnTo>
                <a:lnTo>
                  <a:pt x="2531" y="815"/>
                </a:lnTo>
                <a:lnTo>
                  <a:pt x="2582" y="820"/>
                </a:lnTo>
                <a:lnTo>
                  <a:pt x="2639" y="826"/>
                </a:lnTo>
                <a:lnTo>
                  <a:pt x="2702" y="832"/>
                </a:lnTo>
                <a:lnTo>
                  <a:pt x="2768" y="840"/>
                </a:lnTo>
                <a:lnTo>
                  <a:pt x="2837" y="848"/>
                </a:lnTo>
                <a:lnTo>
                  <a:pt x="2906" y="857"/>
                </a:lnTo>
                <a:lnTo>
                  <a:pt x="2977" y="867"/>
                </a:lnTo>
                <a:lnTo>
                  <a:pt x="3044" y="877"/>
                </a:lnTo>
                <a:lnTo>
                  <a:pt x="3111" y="888"/>
                </a:lnTo>
                <a:lnTo>
                  <a:pt x="3173" y="899"/>
                </a:lnTo>
                <a:lnTo>
                  <a:pt x="3230" y="911"/>
                </a:lnTo>
                <a:lnTo>
                  <a:pt x="3279" y="923"/>
                </a:lnTo>
                <a:lnTo>
                  <a:pt x="3320" y="935"/>
                </a:lnTo>
                <a:lnTo>
                  <a:pt x="3353" y="947"/>
                </a:lnTo>
                <a:lnTo>
                  <a:pt x="3382" y="956"/>
                </a:lnTo>
                <a:lnTo>
                  <a:pt x="3411" y="963"/>
                </a:lnTo>
                <a:lnTo>
                  <a:pt x="3440" y="967"/>
                </a:lnTo>
                <a:lnTo>
                  <a:pt x="3471" y="969"/>
                </a:lnTo>
                <a:lnTo>
                  <a:pt x="3501" y="969"/>
                </a:lnTo>
                <a:lnTo>
                  <a:pt x="3530" y="966"/>
                </a:lnTo>
                <a:lnTo>
                  <a:pt x="3557" y="961"/>
                </a:lnTo>
                <a:lnTo>
                  <a:pt x="3586" y="954"/>
                </a:lnTo>
                <a:lnTo>
                  <a:pt x="3611" y="945"/>
                </a:lnTo>
                <a:lnTo>
                  <a:pt x="3639" y="933"/>
                </a:lnTo>
                <a:lnTo>
                  <a:pt x="3662" y="920"/>
                </a:lnTo>
                <a:lnTo>
                  <a:pt x="3684" y="905"/>
                </a:lnTo>
                <a:lnTo>
                  <a:pt x="3706" y="888"/>
                </a:lnTo>
                <a:lnTo>
                  <a:pt x="3724" y="868"/>
                </a:lnTo>
                <a:lnTo>
                  <a:pt x="3741" y="848"/>
                </a:lnTo>
                <a:lnTo>
                  <a:pt x="3755" y="826"/>
                </a:lnTo>
                <a:lnTo>
                  <a:pt x="3775" y="778"/>
                </a:lnTo>
                <a:lnTo>
                  <a:pt x="3782" y="731"/>
                </a:lnTo>
                <a:lnTo>
                  <a:pt x="3779" y="684"/>
                </a:lnTo>
                <a:lnTo>
                  <a:pt x="3764" y="638"/>
                </a:lnTo>
                <a:lnTo>
                  <a:pt x="3739" y="595"/>
                </a:lnTo>
                <a:lnTo>
                  <a:pt x="3704" y="557"/>
                </a:lnTo>
                <a:lnTo>
                  <a:pt x="3659" y="524"/>
                </a:lnTo>
                <a:lnTo>
                  <a:pt x="3606" y="499"/>
                </a:lnTo>
                <a:close/>
              </a:path>
            </a:pathLst>
          </a:custGeom>
          <a:solidFill>
            <a:srgbClr val="5B6668"/>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70" name="Freeform 6"/>
          <p:cNvSpPr>
            <a:spLocks/>
          </p:cNvSpPr>
          <p:nvPr/>
        </p:nvSpPr>
        <p:spPr bwMode="auto">
          <a:xfrm>
            <a:off x="4298481" y="2262188"/>
            <a:ext cx="3138487" cy="2559050"/>
          </a:xfrm>
          <a:custGeom>
            <a:avLst/>
            <a:gdLst/>
            <a:ahLst/>
            <a:cxnLst>
              <a:cxn ang="0">
                <a:pos x="1706" y="279"/>
              </a:cxn>
              <a:cxn ang="0">
                <a:pos x="1684" y="298"/>
              </a:cxn>
              <a:cxn ang="0">
                <a:pos x="1642" y="308"/>
              </a:cxn>
              <a:cxn ang="0">
                <a:pos x="1597" y="323"/>
              </a:cxn>
              <a:cxn ang="0">
                <a:pos x="1546" y="341"/>
              </a:cxn>
              <a:cxn ang="0">
                <a:pos x="1495" y="359"/>
              </a:cxn>
              <a:cxn ang="0">
                <a:pos x="1538" y="362"/>
              </a:cxn>
              <a:cxn ang="0">
                <a:pos x="1646" y="369"/>
              </a:cxn>
              <a:cxn ang="0">
                <a:pos x="1778" y="378"/>
              </a:cxn>
              <a:cxn ang="0">
                <a:pos x="1899" y="387"/>
              </a:cxn>
              <a:cxn ang="0">
                <a:pos x="1971" y="393"/>
              </a:cxn>
              <a:cxn ang="0">
                <a:pos x="1222" y="577"/>
              </a:cxn>
              <a:cxn ang="0">
                <a:pos x="1209" y="657"/>
              </a:cxn>
              <a:cxn ang="0">
                <a:pos x="1820" y="818"/>
              </a:cxn>
              <a:cxn ang="0">
                <a:pos x="1784" y="967"/>
              </a:cxn>
              <a:cxn ang="0">
                <a:pos x="1751" y="1106"/>
              </a:cxn>
              <a:cxn ang="0">
                <a:pos x="1738" y="1128"/>
              </a:cxn>
              <a:cxn ang="0">
                <a:pos x="1186" y="906"/>
              </a:cxn>
              <a:cxn ang="0">
                <a:pos x="1149" y="1165"/>
              </a:cxn>
              <a:cxn ang="0">
                <a:pos x="1118" y="1464"/>
              </a:cxn>
              <a:cxn ang="0">
                <a:pos x="1097" y="1557"/>
              </a:cxn>
              <a:cxn ang="0">
                <a:pos x="1049" y="1585"/>
              </a:cxn>
              <a:cxn ang="0">
                <a:pos x="998" y="1606"/>
              </a:cxn>
              <a:cxn ang="0">
                <a:pos x="847" y="1577"/>
              </a:cxn>
              <a:cxn ang="0">
                <a:pos x="806" y="1303"/>
              </a:cxn>
              <a:cxn ang="0">
                <a:pos x="760" y="1023"/>
              </a:cxn>
              <a:cxn ang="0">
                <a:pos x="351" y="1420"/>
              </a:cxn>
              <a:cxn ang="0">
                <a:pos x="327" y="1444"/>
              </a:cxn>
              <a:cxn ang="0">
                <a:pos x="304" y="1464"/>
              </a:cxn>
              <a:cxn ang="0">
                <a:pos x="720" y="726"/>
              </a:cxn>
              <a:cxn ang="0">
                <a:pos x="709" y="667"/>
              </a:cxn>
              <a:cxn ang="0">
                <a:pos x="127" y="980"/>
              </a:cxn>
              <a:cxn ang="0">
                <a:pos x="58" y="803"/>
              </a:cxn>
              <a:cxn ang="0">
                <a:pos x="6" y="626"/>
              </a:cxn>
              <a:cxn ang="0">
                <a:pos x="29" y="596"/>
              </a:cxn>
              <a:cxn ang="0">
                <a:pos x="153" y="565"/>
              </a:cxn>
              <a:cxn ang="0">
                <a:pos x="278" y="534"/>
              </a:cxn>
              <a:cxn ang="0">
                <a:pos x="236" y="530"/>
              </a:cxn>
              <a:cxn ang="0">
                <a:pos x="196" y="527"/>
              </a:cxn>
              <a:cxn ang="0">
                <a:pos x="176" y="438"/>
              </a:cxn>
              <a:cxn ang="0">
                <a:pos x="180" y="244"/>
              </a:cxn>
              <a:cxn ang="0">
                <a:pos x="655" y="249"/>
              </a:cxn>
              <a:cxn ang="0">
                <a:pos x="642" y="211"/>
              </a:cxn>
              <a:cxn ang="0">
                <a:pos x="684" y="196"/>
              </a:cxn>
              <a:cxn ang="0">
                <a:pos x="757" y="177"/>
              </a:cxn>
              <a:cxn ang="0">
                <a:pos x="838" y="159"/>
              </a:cxn>
              <a:cxn ang="0">
                <a:pos x="904" y="148"/>
              </a:cxn>
              <a:cxn ang="0">
                <a:pos x="931" y="142"/>
              </a:cxn>
              <a:cxn ang="0">
                <a:pos x="1251" y="177"/>
              </a:cxn>
              <a:cxn ang="0">
                <a:pos x="1268" y="195"/>
              </a:cxn>
              <a:cxn ang="0">
                <a:pos x="1289" y="213"/>
              </a:cxn>
              <a:cxn ang="0">
                <a:pos x="1326" y="193"/>
              </a:cxn>
              <a:cxn ang="0">
                <a:pos x="1413" y="145"/>
              </a:cxn>
              <a:cxn ang="0">
                <a:pos x="1522" y="86"/>
              </a:cxn>
              <a:cxn ang="0">
                <a:pos x="1624" y="32"/>
              </a:cxn>
              <a:cxn ang="0">
                <a:pos x="1684" y="1"/>
              </a:cxn>
            </a:cxnLst>
            <a:rect l="0" t="0" r="r" b="b"/>
            <a:pathLst>
              <a:path w="1977" h="1612">
                <a:moveTo>
                  <a:pt x="1689" y="0"/>
                </a:moveTo>
                <a:lnTo>
                  <a:pt x="1702" y="266"/>
                </a:lnTo>
                <a:lnTo>
                  <a:pt x="1706" y="279"/>
                </a:lnTo>
                <a:lnTo>
                  <a:pt x="1704" y="289"/>
                </a:lnTo>
                <a:lnTo>
                  <a:pt x="1695" y="295"/>
                </a:lnTo>
                <a:lnTo>
                  <a:pt x="1684" y="298"/>
                </a:lnTo>
                <a:lnTo>
                  <a:pt x="1669" y="301"/>
                </a:lnTo>
                <a:lnTo>
                  <a:pt x="1655" y="304"/>
                </a:lnTo>
                <a:lnTo>
                  <a:pt x="1642" y="308"/>
                </a:lnTo>
                <a:lnTo>
                  <a:pt x="1631" y="314"/>
                </a:lnTo>
                <a:lnTo>
                  <a:pt x="1615" y="319"/>
                </a:lnTo>
                <a:lnTo>
                  <a:pt x="1597" y="323"/>
                </a:lnTo>
                <a:lnTo>
                  <a:pt x="1580" y="329"/>
                </a:lnTo>
                <a:lnTo>
                  <a:pt x="1564" y="335"/>
                </a:lnTo>
                <a:lnTo>
                  <a:pt x="1546" y="341"/>
                </a:lnTo>
                <a:lnTo>
                  <a:pt x="1529" y="347"/>
                </a:lnTo>
                <a:lnTo>
                  <a:pt x="1511" y="353"/>
                </a:lnTo>
                <a:lnTo>
                  <a:pt x="1495" y="359"/>
                </a:lnTo>
                <a:lnTo>
                  <a:pt x="1500" y="359"/>
                </a:lnTo>
                <a:lnTo>
                  <a:pt x="1515" y="360"/>
                </a:lnTo>
                <a:lnTo>
                  <a:pt x="1538" y="362"/>
                </a:lnTo>
                <a:lnTo>
                  <a:pt x="1569" y="363"/>
                </a:lnTo>
                <a:lnTo>
                  <a:pt x="1606" y="366"/>
                </a:lnTo>
                <a:lnTo>
                  <a:pt x="1646" y="369"/>
                </a:lnTo>
                <a:lnTo>
                  <a:pt x="1689" y="370"/>
                </a:lnTo>
                <a:lnTo>
                  <a:pt x="1733" y="373"/>
                </a:lnTo>
                <a:lnTo>
                  <a:pt x="1778" y="378"/>
                </a:lnTo>
                <a:lnTo>
                  <a:pt x="1822" y="381"/>
                </a:lnTo>
                <a:lnTo>
                  <a:pt x="1862" y="384"/>
                </a:lnTo>
                <a:lnTo>
                  <a:pt x="1899" y="387"/>
                </a:lnTo>
                <a:lnTo>
                  <a:pt x="1929" y="388"/>
                </a:lnTo>
                <a:lnTo>
                  <a:pt x="1955" y="391"/>
                </a:lnTo>
                <a:lnTo>
                  <a:pt x="1971" y="393"/>
                </a:lnTo>
                <a:lnTo>
                  <a:pt x="1977" y="394"/>
                </a:lnTo>
                <a:lnTo>
                  <a:pt x="1949" y="685"/>
                </a:lnTo>
                <a:lnTo>
                  <a:pt x="1222" y="577"/>
                </a:lnTo>
                <a:lnTo>
                  <a:pt x="1218" y="604"/>
                </a:lnTo>
                <a:lnTo>
                  <a:pt x="1213" y="632"/>
                </a:lnTo>
                <a:lnTo>
                  <a:pt x="1209" y="657"/>
                </a:lnTo>
                <a:lnTo>
                  <a:pt x="1211" y="682"/>
                </a:lnTo>
                <a:lnTo>
                  <a:pt x="1828" y="797"/>
                </a:lnTo>
                <a:lnTo>
                  <a:pt x="1820" y="818"/>
                </a:lnTo>
                <a:lnTo>
                  <a:pt x="1811" y="858"/>
                </a:lnTo>
                <a:lnTo>
                  <a:pt x="1797" y="909"/>
                </a:lnTo>
                <a:lnTo>
                  <a:pt x="1784" y="967"/>
                </a:lnTo>
                <a:lnTo>
                  <a:pt x="1769" y="1024"/>
                </a:lnTo>
                <a:lnTo>
                  <a:pt x="1758" y="1072"/>
                </a:lnTo>
                <a:lnTo>
                  <a:pt x="1751" y="1106"/>
                </a:lnTo>
                <a:lnTo>
                  <a:pt x="1748" y="1119"/>
                </a:lnTo>
                <a:lnTo>
                  <a:pt x="1744" y="1123"/>
                </a:lnTo>
                <a:lnTo>
                  <a:pt x="1738" y="1128"/>
                </a:lnTo>
                <a:lnTo>
                  <a:pt x="1733" y="1134"/>
                </a:lnTo>
                <a:lnTo>
                  <a:pt x="1728" y="1138"/>
                </a:lnTo>
                <a:lnTo>
                  <a:pt x="1186" y="906"/>
                </a:lnTo>
                <a:lnTo>
                  <a:pt x="1175" y="971"/>
                </a:lnTo>
                <a:lnTo>
                  <a:pt x="1162" y="1060"/>
                </a:lnTo>
                <a:lnTo>
                  <a:pt x="1149" y="1165"/>
                </a:lnTo>
                <a:lnTo>
                  <a:pt x="1138" y="1274"/>
                </a:lnTo>
                <a:lnTo>
                  <a:pt x="1128" y="1377"/>
                </a:lnTo>
                <a:lnTo>
                  <a:pt x="1118" y="1464"/>
                </a:lnTo>
                <a:lnTo>
                  <a:pt x="1113" y="1523"/>
                </a:lnTo>
                <a:lnTo>
                  <a:pt x="1111" y="1546"/>
                </a:lnTo>
                <a:lnTo>
                  <a:pt x="1097" y="1557"/>
                </a:lnTo>
                <a:lnTo>
                  <a:pt x="1082" y="1568"/>
                </a:lnTo>
                <a:lnTo>
                  <a:pt x="1066" y="1577"/>
                </a:lnTo>
                <a:lnTo>
                  <a:pt x="1049" y="1585"/>
                </a:lnTo>
                <a:lnTo>
                  <a:pt x="1033" y="1593"/>
                </a:lnTo>
                <a:lnTo>
                  <a:pt x="1017" y="1599"/>
                </a:lnTo>
                <a:lnTo>
                  <a:pt x="998" y="1606"/>
                </a:lnTo>
                <a:lnTo>
                  <a:pt x="982" y="1612"/>
                </a:lnTo>
                <a:lnTo>
                  <a:pt x="851" y="1602"/>
                </a:lnTo>
                <a:lnTo>
                  <a:pt x="847" y="1577"/>
                </a:lnTo>
                <a:lnTo>
                  <a:pt x="837" y="1509"/>
                </a:lnTo>
                <a:lnTo>
                  <a:pt x="822" y="1413"/>
                </a:lnTo>
                <a:lnTo>
                  <a:pt x="806" y="1303"/>
                </a:lnTo>
                <a:lnTo>
                  <a:pt x="787" y="1193"/>
                </a:lnTo>
                <a:lnTo>
                  <a:pt x="773" y="1094"/>
                </a:lnTo>
                <a:lnTo>
                  <a:pt x="760" y="1023"/>
                </a:lnTo>
                <a:lnTo>
                  <a:pt x="753" y="992"/>
                </a:lnTo>
                <a:lnTo>
                  <a:pt x="362" y="1414"/>
                </a:lnTo>
                <a:lnTo>
                  <a:pt x="351" y="1420"/>
                </a:lnTo>
                <a:lnTo>
                  <a:pt x="344" y="1427"/>
                </a:lnTo>
                <a:lnTo>
                  <a:pt x="335" y="1435"/>
                </a:lnTo>
                <a:lnTo>
                  <a:pt x="327" y="1444"/>
                </a:lnTo>
                <a:lnTo>
                  <a:pt x="320" y="1451"/>
                </a:lnTo>
                <a:lnTo>
                  <a:pt x="311" y="1458"/>
                </a:lnTo>
                <a:lnTo>
                  <a:pt x="304" y="1464"/>
                </a:lnTo>
                <a:lnTo>
                  <a:pt x="293" y="1467"/>
                </a:lnTo>
                <a:lnTo>
                  <a:pt x="156" y="1103"/>
                </a:lnTo>
                <a:lnTo>
                  <a:pt x="720" y="726"/>
                </a:lnTo>
                <a:lnTo>
                  <a:pt x="718" y="706"/>
                </a:lnTo>
                <a:lnTo>
                  <a:pt x="715" y="686"/>
                </a:lnTo>
                <a:lnTo>
                  <a:pt x="709" y="667"/>
                </a:lnTo>
                <a:lnTo>
                  <a:pt x="704" y="648"/>
                </a:lnTo>
                <a:lnTo>
                  <a:pt x="144" y="998"/>
                </a:lnTo>
                <a:lnTo>
                  <a:pt x="127" y="980"/>
                </a:lnTo>
                <a:lnTo>
                  <a:pt x="107" y="936"/>
                </a:lnTo>
                <a:lnTo>
                  <a:pt x="84" y="874"/>
                </a:lnTo>
                <a:lnTo>
                  <a:pt x="58" y="803"/>
                </a:lnTo>
                <a:lnTo>
                  <a:pt x="36" y="732"/>
                </a:lnTo>
                <a:lnTo>
                  <a:pt x="18" y="670"/>
                </a:lnTo>
                <a:lnTo>
                  <a:pt x="6" y="626"/>
                </a:lnTo>
                <a:lnTo>
                  <a:pt x="0" y="610"/>
                </a:lnTo>
                <a:lnTo>
                  <a:pt x="6" y="604"/>
                </a:lnTo>
                <a:lnTo>
                  <a:pt x="29" y="596"/>
                </a:lnTo>
                <a:lnTo>
                  <a:pt x="64" y="586"/>
                </a:lnTo>
                <a:lnTo>
                  <a:pt x="107" y="576"/>
                </a:lnTo>
                <a:lnTo>
                  <a:pt x="153" y="565"/>
                </a:lnTo>
                <a:lnTo>
                  <a:pt x="200" y="554"/>
                </a:lnTo>
                <a:lnTo>
                  <a:pt x="244" y="543"/>
                </a:lnTo>
                <a:lnTo>
                  <a:pt x="278" y="534"/>
                </a:lnTo>
                <a:lnTo>
                  <a:pt x="264" y="531"/>
                </a:lnTo>
                <a:lnTo>
                  <a:pt x="251" y="530"/>
                </a:lnTo>
                <a:lnTo>
                  <a:pt x="236" y="530"/>
                </a:lnTo>
                <a:lnTo>
                  <a:pt x="222" y="530"/>
                </a:lnTo>
                <a:lnTo>
                  <a:pt x="209" y="528"/>
                </a:lnTo>
                <a:lnTo>
                  <a:pt x="196" y="527"/>
                </a:lnTo>
                <a:lnTo>
                  <a:pt x="186" y="523"/>
                </a:lnTo>
                <a:lnTo>
                  <a:pt x="176" y="517"/>
                </a:lnTo>
                <a:lnTo>
                  <a:pt x="176" y="438"/>
                </a:lnTo>
                <a:lnTo>
                  <a:pt x="178" y="348"/>
                </a:lnTo>
                <a:lnTo>
                  <a:pt x="180" y="275"/>
                </a:lnTo>
                <a:lnTo>
                  <a:pt x="180" y="244"/>
                </a:lnTo>
                <a:lnTo>
                  <a:pt x="653" y="283"/>
                </a:lnTo>
                <a:lnTo>
                  <a:pt x="657" y="266"/>
                </a:lnTo>
                <a:lnTo>
                  <a:pt x="655" y="249"/>
                </a:lnTo>
                <a:lnTo>
                  <a:pt x="647" y="232"/>
                </a:lnTo>
                <a:lnTo>
                  <a:pt x="640" y="215"/>
                </a:lnTo>
                <a:lnTo>
                  <a:pt x="642" y="211"/>
                </a:lnTo>
                <a:lnTo>
                  <a:pt x="651" y="207"/>
                </a:lnTo>
                <a:lnTo>
                  <a:pt x="666" y="202"/>
                </a:lnTo>
                <a:lnTo>
                  <a:pt x="684" y="196"/>
                </a:lnTo>
                <a:lnTo>
                  <a:pt x="706" y="190"/>
                </a:lnTo>
                <a:lnTo>
                  <a:pt x="731" y="183"/>
                </a:lnTo>
                <a:lnTo>
                  <a:pt x="757" y="177"/>
                </a:lnTo>
                <a:lnTo>
                  <a:pt x="784" y="171"/>
                </a:lnTo>
                <a:lnTo>
                  <a:pt x="811" y="165"/>
                </a:lnTo>
                <a:lnTo>
                  <a:pt x="838" y="159"/>
                </a:lnTo>
                <a:lnTo>
                  <a:pt x="862" y="155"/>
                </a:lnTo>
                <a:lnTo>
                  <a:pt x="886" y="151"/>
                </a:lnTo>
                <a:lnTo>
                  <a:pt x="904" y="148"/>
                </a:lnTo>
                <a:lnTo>
                  <a:pt x="918" y="145"/>
                </a:lnTo>
                <a:lnTo>
                  <a:pt x="927" y="142"/>
                </a:lnTo>
                <a:lnTo>
                  <a:pt x="931" y="142"/>
                </a:lnTo>
                <a:lnTo>
                  <a:pt x="1231" y="179"/>
                </a:lnTo>
                <a:lnTo>
                  <a:pt x="1242" y="176"/>
                </a:lnTo>
                <a:lnTo>
                  <a:pt x="1251" y="177"/>
                </a:lnTo>
                <a:lnTo>
                  <a:pt x="1258" y="182"/>
                </a:lnTo>
                <a:lnTo>
                  <a:pt x="1264" y="187"/>
                </a:lnTo>
                <a:lnTo>
                  <a:pt x="1268" y="195"/>
                </a:lnTo>
                <a:lnTo>
                  <a:pt x="1273" y="201"/>
                </a:lnTo>
                <a:lnTo>
                  <a:pt x="1280" y="208"/>
                </a:lnTo>
                <a:lnTo>
                  <a:pt x="1289" y="213"/>
                </a:lnTo>
                <a:lnTo>
                  <a:pt x="1293" y="210"/>
                </a:lnTo>
                <a:lnTo>
                  <a:pt x="1306" y="204"/>
                </a:lnTo>
                <a:lnTo>
                  <a:pt x="1326" y="193"/>
                </a:lnTo>
                <a:lnTo>
                  <a:pt x="1351" y="179"/>
                </a:lnTo>
                <a:lnTo>
                  <a:pt x="1380" y="162"/>
                </a:lnTo>
                <a:lnTo>
                  <a:pt x="1413" y="145"/>
                </a:lnTo>
                <a:lnTo>
                  <a:pt x="1449" y="125"/>
                </a:lnTo>
                <a:lnTo>
                  <a:pt x="1486" y="105"/>
                </a:lnTo>
                <a:lnTo>
                  <a:pt x="1522" y="86"/>
                </a:lnTo>
                <a:lnTo>
                  <a:pt x="1558" y="66"/>
                </a:lnTo>
                <a:lnTo>
                  <a:pt x="1593" y="49"/>
                </a:lnTo>
                <a:lnTo>
                  <a:pt x="1624" y="32"/>
                </a:lnTo>
                <a:lnTo>
                  <a:pt x="1649" y="19"/>
                </a:lnTo>
                <a:lnTo>
                  <a:pt x="1669" y="9"/>
                </a:lnTo>
                <a:lnTo>
                  <a:pt x="1684" y="1"/>
                </a:lnTo>
                <a:lnTo>
                  <a:pt x="1689" y="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71" name="Freeform 7"/>
          <p:cNvSpPr>
            <a:spLocks/>
          </p:cNvSpPr>
          <p:nvPr/>
        </p:nvSpPr>
        <p:spPr bwMode="auto">
          <a:xfrm>
            <a:off x="6508750" y="2208213"/>
            <a:ext cx="663575" cy="500063"/>
          </a:xfrm>
          <a:custGeom>
            <a:avLst/>
            <a:gdLst/>
            <a:ahLst/>
            <a:cxnLst>
              <a:cxn ang="0">
                <a:pos x="418" y="237"/>
              </a:cxn>
              <a:cxn ang="0">
                <a:pos x="180" y="315"/>
              </a:cxn>
              <a:cxn ang="0">
                <a:pos x="0" y="303"/>
              </a:cxn>
              <a:cxn ang="0">
                <a:pos x="3" y="219"/>
              </a:cxn>
              <a:cxn ang="0">
                <a:pos x="29" y="204"/>
              </a:cxn>
              <a:cxn ang="0">
                <a:pos x="53" y="191"/>
              </a:cxn>
              <a:cxn ang="0">
                <a:pos x="78" y="176"/>
              </a:cxn>
              <a:cxn ang="0">
                <a:pos x="103" y="163"/>
              </a:cxn>
              <a:cxn ang="0">
                <a:pos x="129" y="148"/>
              </a:cxn>
              <a:cxn ang="0">
                <a:pos x="154" y="135"/>
              </a:cxn>
              <a:cxn ang="0">
                <a:pos x="178" y="121"/>
              </a:cxn>
              <a:cxn ang="0">
                <a:pos x="203" y="107"/>
              </a:cxn>
              <a:cxn ang="0">
                <a:pos x="229" y="93"/>
              </a:cxn>
              <a:cxn ang="0">
                <a:pos x="254" y="80"/>
              </a:cxn>
              <a:cxn ang="0">
                <a:pos x="280" y="67"/>
              </a:cxn>
              <a:cxn ang="0">
                <a:pos x="305" y="53"/>
              </a:cxn>
              <a:cxn ang="0">
                <a:pos x="331" y="40"/>
              </a:cxn>
              <a:cxn ang="0">
                <a:pos x="356" y="27"/>
              </a:cxn>
              <a:cxn ang="0">
                <a:pos x="382" y="14"/>
              </a:cxn>
              <a:cxn ang="0">
                <a:pos x="407" y="0"/>
              </a:cxn>
              <a:cxn ang="0">
                <a:pos x="413" y="58"/>
              </a:cxn>
              <a:cxn ang="0">
                <a:pos x="414" y="117"/>
              </a:cxn>
              <a:cxn ang="0">
                <a:pos x="414" y="177"/>
              </a:cxn>
              <a:cxn ang="0">
                <a:pos x="418" y="237"/>
              </a:cxn>
            </a:cxnLst>
            <a:rect l="0" t="0" r="r" b="b"/>
            <a:pathLst>
              <a:path w="418" h="315">
                <a:moveTo>
                  <a:pt x="418" y="237"/>
                </a:moveTo>
                <a:lnTo>
                  <a:pt x="180" y="315"/>
                </a:lnTo>
                <a:lnTo>
                  <a:pt x="0" y="303"/>
                </a:lnTo>
                <a:lnTo>
                  <a:pt x="3" y="219"/>
                </a:lnTo>
                <a:lnTo>
                  <a:pt x="29" y="204"/>
                </a:lnTo>
                <a:lnTo>
                  <a:pt x="53" y="191"/>
                </a:lnTo>
                <a:lnTo>
                  <a:pt x="78" y="176"/>
                </a:lnTo>
                <a:lnTo>
                  <a:pt x="103" y="163"/>
                </a:lnTo>
                <a:lnTo>
                  <a:pt x="129" y="148"/>
                </a:lnTo>
                <a:lnTo>
                  <a:pt x="154" y="135"/>
                </a:lnTo>
                <a:lnTo>
                  <a:pt x="178" y="121"/>
                </a:lnTo>
                <a:lnTo>
                  <a:pt x="203" y="107"/>
                </a:lnTo>
                <a:lnTo>
                  <a:pt x="229" y="93"/>
                </a:lnTo>
                <a:lnTo>
                  <a:pt x="254" y="80"/>
                </a:lnTo>
                <a:lnTo>
                  <a:pt x="280" y="67"/>
                </a:lnTo>
                <a:lnTo>
                  <a:pt x="305" y="53"/>
                </a:lnTo>
                <a:lnTo>
                  <a:pt x="331" y="40"/>
                </a:lnTo>
                <a:lnTo>
                  <a:pt x="356" y="27"/>
                </a:lnTo>
                <a:lnTo>
                  <a:pt x="382" y="14"/>
                </a:lnTo>
                <a:lnTo>
                  <a:pt x="407" y="0"/>
                </a:lnTo>
                <a:lnTo>
                  <a:pt x="413" y="58"/>
                </a:lnTo>
                <a:lnTo>
                  <a:pt x="414" y="117"/>
                </a:lnTo>
                <a:lnTo>
                  <a:pt x="414" y="177"/>
                </a:lnTo>
                <a:lnTo>
                  <a:pt x="418" y="23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72" name="Freeform 8"/>
          <p:cNvSpPr>
            <a:spLocks/>
          </p:cNvSpPr>
          <p:nvPr/>
        </p:nvSpPr>
        <p:spPr bwMode="auto">
          <a:xfrm>
            <a:off x="6553435" y="2332467"/>
            <a:ext cx="713312" cy="307117"/>
          </a:xfrm>
          <a:custGeom>
            <a:avLst/>
            <a:gdLst/>
            <a:ahLst/>
            <a:cxnLst>
              <a:cxn ang="0">
                <a:pos x="313" y="9"/>
              </a:cxn>
              <a:cxn ang="0">
                <a:pos x="311" y="22"/>
              </a:cxn>
              <a:cxn ang="0">
                <a:pos x="304" y="34"/>
              </a:cxn>
              <a:cxn ang="0">
                <a:pos x="295" y="46"/>
              </a:cxn>
              <a:cxn ang="0">
                <a:pos x="284" y="54"/>
              </a:cxn>
              <a:cxn ang="0">
                <a:pos x="271" y="65"/>
              </a:cxn>
              <a:cxn ang="0">
                <a:pos x="258" y="74"/>
              </a:cxn>
              <a:cxn ang="0">
                <a:pos x="249" y="83"/>
              </a:cxn>
              <a:cxn ang="0">
                <a:pos x="240" y="93"/>
              </a:cxn>
              <a:cxn ang="0">
                <a:pos x="233" y="94"/>
              </a:cxn>
              <a:cxn ang="0">
                <a:pos x="227" y="93"/>
              </a:cxn>
              <a:cxn ang="0">
                <a:pos x="220" y="88"/>
              </a:cxn>
              <a:cxn ang="0">
                <a:pos x="218" y="83"/>
              </a:cxn>
              <a:cxn ang="0">
                <a:pos x="222" y="74"/>
              </a:cxn>
              <a:cxn ang="0">
                <a:pos x="229" y="68"/>
              </a:cxn>
              <a:cxn ang="0">
                <a:pos x="237" y="62"/>
              </a:cxn>
              <a:cxn ang="0">
                <a:pos x="242" y="54"/>
              </a:cxn>
              <a:cxn ang="0">
                <a:pos x="209" y="56"/>
              </a:cxn>
              <a:cxn ang="0">
                <a:pos x="178" y="65"/>
              </a:cxn>
              <a:cxn ang="0">
                <a:pos x="149" y="78"/>
              </a:cxn>
              <a:cxn ang="0">
                <a:pos x="122" y="94"/>
              </a:cxn>
              <a:cxn ang="0">
                <a:pos x="95" y="111"/>
              </a:cxn>
              <a:cxn ang="0">
                <a:pos x="66" y="125"/>
              </a:cxn>
              <a:cxn ang="0">
                <a:pos x="35" y="133"/>
              </a:cxn>
              <a:cxn ang="0">
                <a:pos x="0" y="133"/>
              </a:cxn>
              <a:cxn ang="0">
                <a:pos x="2" y="122"/>
              </a:cxn>
              <a:cxn ang="0">
                <a:pos x="7" y="115"/>
              </a:cxn>
              <a:cxn ang="0">
                <a:pos x="17" y="109"/>
              </a:cxn>
              <a:cxn ang="0">
                <a:pos x="29" y="106"/>
              </a:cxn>
              <a:cxn ang="0">
                <a:pos x="44" y="103"/>
              </a:cxn>
              <a:cxn ang="0">
                <a:pos x="57" y="100"/>
              </a:cxn>
              <a:cxn ang="0">
                <a:pos x="71" y="97"/>
              </a:cxn>
              <a:cxn ang="0">
                <a:pos x="82" y="93"/>
              </a:cxn>
              <a:cxn ang="0">
                <a:pos x="98" y="83"/>
              </a:cxn>
              <a:cxn ang="0">
                <a:pos x="115" y="74"/>
              </a:cxn>
              <a:cxn ang="0">
                <a:pos x="131" y="65"/>
              </a:cxn>
              <a:cxn ang="0">
                <a:pos x="149" y="56"/>
              </a:cxn>
              <a:cxn ang="0">
                <a:pos x="166" y="49"/>
              </a:cxn>
              <a:cxn ang="0">
                <a:pos x="184" y="41"/>
              </a:cxn>
              <a:cxn ang="0">
                <a:pos x="202" y="34"/>
              </a:cxn>
              <a:cxn ang="0">
                <a:pos x="220" y="28"/>
              </a:cxn>
              <a:cxn ang="0">
                <a:pos x="211" y="26"/>
              </a:cxn>
              <a:cxn ang="0">
                <a:pos x="200" y="26"/>
              </a:cxn>
              <a:cxn ang="0">
                <a:pos x="189" y="25"/>
              </a:cxn>
              <a:cxn ang="0">
                <a:pos x="182" y="16"/>
              </a:cxn>
              <a:cxn ang="0">
                <a:pos x="182" y="7"/>
              </a:cxn>
              <a:cxn ang="0">
                <a:pos x="198" y="6"/>
              </a:cxn>
              <a:cxn ang="0">
                <a:pos x="215" y="3"/>
              </a:cxn>
              <a:cxn ang="0">
                <a:pos x="231" y="1"/>
              </a:cxn>
              <a:cxn ang="0">
                <a:pos x="247" y="1"/>
              </a:cxn>
              <a:cxn ang="0">
                <a:pos x="264" y="0"/>
              </a:cxn>
              <a:cxn ang="0">
                <a:pos x="280" y="1"/>
              </a:cxn>
              <a:cxn ang="0">
                <a:pos x="297" y="4"/>
              </a:cxn>
              <a:cxn ang="0">
                <a:pos x="313" y="9"/>
              </a:cxn>
            </a:cxnLst>
            <a:rect l="0" t="0" r="r" b="b"/>
            <a:pathLst>
              <a:path w="313" h="133">
                <a:moveTo>
                  <a:pt x="313" y="9"/>
                </a:moveTo>
                <a:lnTo>
                  <a:pt x="311" y="22"/>
                </a:lnTo>
                <a:lnTo>
                  <a:pt x="304" y="34"/>
                </a:lnTo>
                <a:lnTo>
                  <a:pt x="295" y="46"/>
                </a:lnTo>
                <a:lnTo>
                  <a:pt x="284" y="54"/>
                </a:lnTo>
                <a:lnTo>
                  <a:pt x="271" y="65"/>
                </a:lnTo>
                <a:lnTo>
                  <a:pt x="258" y="74"/>
                </a:lnTo>
                <a:lnTo>
                  <a:pt x="249" y="83"/>
                </a:lnTo>
                <a:lnTo>
                  <a:pt x="240" y="93"/>
                </a:lnTo>
                <a:lnTo>
                  <a:pt x="233" y="94"/>
                </a:lnTo>
                <a:lnTo>
                  <a:pt x="227" y="93"/>
                </a:lnTo>
                <a:lnTo>
                  <a:pt x="220" y="88"/>
                </a:lnTo>
                <a:lnTo>
                  <a:pt x="218" y="83"/>
                </a:lnTo>
                <a:lnTo>
                  <a:pt x="222" y="74"/>
                </a:lnTo>
                <a:lnTo>
                  <a:pt x="229" y="68"/>
                </a:lnTo>
                <a:lnTo>
                  <a:pt x="237" y="62"/>
                </a:lnTo>
                <a:lnTo>
                  <a:pt x="242" y="54"/>
                </a:lnTo>
                <a:lnTo>
                  <a:pt x="209" y="56"/>
                </a:lnTo>
                <a:lnTo>
                  <a:pt x="178" y="65"/>
                </a:lnTo>
                <a:lnTo>
                  <a:pt x="149" y="78"/>
                </a:lnTo>
                <a:lnTo>
                  <a:pt x="122" y="94"/>
                </a:lnTo>
                <a:lnTo>
                  <a:pt x="95" y="111"/>
                </a:lnTo>
                <a:lnTo>
                  <a:pt x="66" y="125"/>
                </a:lnTo>
                <a:lnTo>
                  <a:pt x="35" y="133"/>
                </a:lnTo>
                <a:lnTo>
                  <a:pt x="0" y="133"/>
                </a:lnTo>
                <a:lnTo>
                  <a:pt x="2" y="122"/>
                </a:lnTo>
                <a:lnTo>
                  <a:pt x="7" y="115"/>
                </a:lnTo>
                <a:lnTo>
                  <a:pt x="17" y="109"/>
                </a:lnTo>
                <a:lnTo>
                  <a:pt x="29" y="106"/>
                </a:lnTo>
                <a:lnTo>
                  <a:pt x="44" y="103"/>
                </a:lnTo>
                <a:lnTo>
                  <a:pt x="57" y="100"/>
                </a:lnTo>
                <a:lnTo>
                  <a:pt x="71" y="97"/>
                </a:lnTo>
                <a:lnTo>
                  <a:pt x="82" y="93"/>
                </a:lnTo>
                <a:lnTo>
                  <a:pt x="98" y="83"/>
                </a:lnTo>
                <a:lnTo>
                  <a:pt x="115" y="74"/>
                </a:lnTo>
                <a:lnTo>
                  <a:pt x="131" y="65"/>
                </a:lnTo>
                <a:lnTo>
                  <a:pt x="149" y="56"/>
                </a:lnTo>
                <a:lnTo>
                  <a:pt x="166" y="49"/>
                </a:lnTo>
                <a:lnTo>
                  <a:pt x="184" y="41"/>
                </a:lnTo>
                <a:lnTo>
                  <a:pt x="202" y="34"/>
                </a:lnTo>
                <a:lnTo>
                  <a:pt x="220" y="28"/>
                </a:lnTo>
                <a:lnTo>
                  <a:pt x="211" y="26"/>
                </a:lnTo>
                <a:lnTo>
                  <a:pt x="200" y="26"/>
                </a:lnTo>
                <a:lnTo>
                  <a:pt x="189" y="25"/>
                </a:lnTo>
                <a:lnTo>
                  <a:pt x="182" y="16"/>
                </a:lnTo>
                <a:lnTo>
                  <a:pt x="182" y="7"/>
                </a:lnTo>
                <a:lnTo>
                  <a:pt x="198" y="6"/>
                </a:lnTo>
                <a:lnTo>
                  <a:pt x="215" y="3"/>
                </a:lnTo>
                <a:lnTo>
                  <a:pt x="231" y="1"/>
                </a:lnTo>
                <a:lnTo>
                  <a:pt x="247" y="1"/>
                </a:lnTo>
                <a:lnTo>
                  <a:pt x="264" y="0"/>
                </a:lnTo>
                <a:lnTo>
                  <a:pt x="280" y="1"/>
                </a:lnTo>
                <a:lnTo>
                  <a:pt x="297" y="4"/>
                </a:lnTo>
                <a:lnTo>
                  <a:pt x="313" y="9"/>
                </a:lnTo>
                <a:close/>
              </a:path>
            </a:pathLst>
          </a:custGeom>
          <a:solidFill>
            <a:srgbClr val="FF0016"/>
          </a:solidFill>
          <a:ln w="9525">
            <a:noFill/>
            <a:round/>
            <a:headEnd/>
            <a:tailEnd/>
          </a:ln>
        </p:spPr>
        <p:txBody>
          <a:bodyPr vert="horz" wrap="square" lIns="91440" tIns="45720" rIns="91440" bIns="45720" numCol="1" anchor="t" anchorCtr="0" compatLnSpc="1">
            <a:prstTxWarp prst="textNoShape">
              <a:avLst/>
            </a:prstTxWarp>
          </a:bodyPr>
          <a:lstStyle/>
          <a:p>
            <a:r>
              <a:rPr lang="pt-BR" sz="2000" b="1" dirty="0" smtClean="0">
                <a:effectLst>
                  <a:outerShdw blurRad="38100" dist="38100" dir="2700000" algn="tl">
                    <a:srgbClr val="000000">
                      <a:alpha val="43137"/>
                    </a:srgbClr>
                  </a:outerShdw>
                </a:effectLst>
              </a:rPr>
              <a:t>RFB</a:t>
            </a:r>
            <a:endParaRPr lang="pt-BR" sz="2000" b="1" dirty="0">
              <a:effectLst>
                <a:outerShdw blurRad="38100" dist="38100" dir="2700000" algn="tl">
                  <a:srgbClr val="000000">
                    <a:alpha val="43137"/>
                  </a:srgbClr>
                </a:outerShdw>
              </a:effectLst>
            </a:endParaRPr>
          </a:p>
        </p:txBody>
      </p:sp>
      <p:sp>
        <p:nvSpPr>
          <p:cNvPr id="11273" name="Freeform 9"/>
          <p:cNvSpPr>
            <a:spLocks/>
          </p:cNvSpPr>
          <p:nvPr/>
        </p:nvSpPr>
        <p:spPr bwMode="auto">
          <a:xfrm>
            <a:off x="5740400" y="2419350"/>
            <a:ext cx="592137" cy="58738"/>
          </a:xfrm>
          <a:custGeom>
            <a:avLst/>
            <a:gdLst/>
            <a:ahLst/>
            <a:cxnLst>
              <a:cxn ang="0">
                <a:pos x="373" y="16"/>
              </a:cxn>
              <a:cxn ang="0">
                <a:pos x="351" y="21"/>
              </a:cxn>
              <a:cxn ang="0">
                <a:pos x="327" y="24"/>
              </a:cxn>
              <a:cxn ang="0">
                <a:pos x="306" y="27"/>
              </a:cxn>
              <a:cxn ang="0">
                <a:pos x="282" y="30"/>
              </a:cxn>
              <a:cxn ang="0">
                <a:pos x="260" y="31"/>
              </a:cxn>
              <a:cxn ang="0">
                <a:pos x="236" y="34"/>
              </a:cxn>
              <a:cxn ang="0">
                <a:pos x="213" y="36"/>
              </a:cxn>
              <a:cxn ang="0">
                <a:pos x="189" y="36"/>
              </a:cxn>
              <a:cxn ang="0">
                <a:pos x="166" y="37"/>
              </a:cxn>
              <a:cxn ang="0">
                <a:pos x="142" y="37"/>
              </a:cxn>
              <a:cxn ang="0">
                <a:pos x="118" y="37"/>
              </a:cxn>
              <a:cxn ang="0">
                <a:pos x="95" y="37"/>
              </a:cxn>
              <a:cxn ang="0">
                <a:pos x="71" y="36"/>
              </a:cxn>
              <a:cxn ang="0">
                <a:pos x="47" y="34"/>
              </a:cxn>
              <a:cxn ang="0">
                <a:pos x="24" y="33"/>
              </a:cxn>
              <a:cxn ang="0">
                <a:pos x="0" y="30"/>
              </a:cxn>
              <a:cxn ang="0">
                <a:pos x="20" y="22"/>
              </a:cxn>
              <a:cxn ang="0">
                <a:pos x="42" y="15"/>
              </a:cxn>
              <a:cxn ang="0">
                <a:pos x="64" y="9"/>
              </a:cxn>
              <a:cxn ang="0">
                <a:pos x="87" y="6"/>
              </a:cxn>
              <a:cxn ang="0">
                <a:pos x="109" y="3"/>
              </a:cxn>
              <a:cxn ang="0">
                <a:pos x="133" y="0"/>
              </a:cxn>
              <a:cxn ang="0">
                <a:pos x="156" y="0"/>
              </a:cxn>
              <a:cxn ang="0">
                <a:pos x="182" y="0"/>
              </a:cxn>
              <a:cxn ang="0">
                <a:pos x="206" y="0"/>
              </a:cxn>
              <a:cxn ang="0">
                <a:pos x="229" y="2"/>
              </a:cxn>
              <a:cxn ang="0">
                <a:pos x="253" y="3"/>
              </a:cxn>
              <a:cxn ang="0">
                <a:pos x="278" y="6"/>
              </a:cxn>
              <a:cxn ang="0">
                <a:pos x="302" y="8"/>
              </a:cxn>
              <a:cxn ang="0">
                <a:pos x="326" y="11"/>
              </a:cxn>
              <a:cxn ang="0">
                <a:pos x="349" y="13"/>
              </a:cxn>
              <a:cxn ang="0">
                <a:pos x="373" y="16"/>
              </a:cxn>
            </a:cxnLst>
            <a:rect l="0" t="0" r="r" b="b"/>
            <a:pathLst>
              <a:path w="373" h="37">
                <a:moveTo>
                  <a:pt x="373" y="16"/>
                </a:moveTo>
                <a:lnTo>
                  <a:pt x="351" y="21"/>
                </a:lnTo>
                <a:lnTo>
                  <a:pt x="327" y="24"/>
                </a:lnTo>
                <a:lnTo>
                  <a:pt x="306" y="27"/>
                </a:lnTo>
                <a:lnTo>
                  <a:pt x="282" y="30"/>
                </a:lnTo>
                <a:lnTo>
                  <a:pt x="260" y="31"/>
                </a:lnTo>
                <a:lnTo>
                  <a:pt x="236" y="34"/>
                </a:lnTo>
                <a:lnTo>
                  <a:pt x="213" y="36"/>
                </a:lnTo>
                <a:lnTo>
                  <a:pt x="189" y="36"/>
                </a:lnTo>
                <a:lnTo>
                  <a:pt x="166" y="37"/>
                </a:lnTo>
                <a:lnTo>
                  <a:pt x="142" y="37"/>
                </a:lnTo>
                <a:lnTo>
                  <a:pt x="118" y="37"/>
                </a:lnTo>
                <a:lnTo>
                  <a:pt x="95" y="37"/>
                </a:lnTo>
                <a:lnTo>
                  <a:pt x="71" y="36"/>
                </a:lnTo>
                <a:lnTo>
                  <a:pt x="47" y="34"/>
                </a:lnTo>
                <a:lnTo>
                  <a:pt x="24" y="33"/>
                </a:lnTo>
                <a:lnTo>
                  <a:pt x="0" y="30"/>
                </a:lnTo>
                <a:lnTo>
                  <a:pt x="20" y="22"/>
                </a:lnTo>
                <a:lnTo>
                  <a:pt x="42" y="15"/>
                </a:lnTo>
                <a:lnTo>
                  <a:pt x="64" y="9"/>
                </a:lnTo>
                <a:lnTo>
                  <a:pt x="87" y="6"/>
                </a:lnTo>
                <a:lnTo>
                  <a:pt x="109" y="3"/>
                </a:lnTo>
                <a:lnTo>
                  <a:pt x="133" y="0"/>
                </a:lnTo>
                <a:lnTo>
                  <a:pt x="156" y="0"/>
                </a:lnTo>
                <a:lnTo>
                  <a:pt x="182" y="0"/>
                </a:lnTo>
                <a:lnTo>
                  <a:pt x="206" y="0"/>
                </a:lnTo>
                <a:lnTo>
                  <a:pt x="229" y="2"/>
                </a:lnTo>
                <a:lnTo>
                  <a:pt x="253" y="3"/>
                </a:lnTo>
                <a:lnTo>
                  <a:pt x="278" y="6"/>
                </a:lnTo>
                <a:lnTo>
                  <a:pt x="302" y="8"/>
                </a:lnTo>
                <a:lnTo>
                  <a:pt x="326" y="11"/>
                </a:lnTo>
                <a:lnTo>
                  <a:pt x="349" y="13"/>
                </a:lnTo>
                <a:lnTo>
                  <a:pt x="373" y="1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74" name="Freeform 10"/>
          <p:cNvSpPr>
            <a:spLocks/>
          </p:cNvSpPr>
          <p:nvPr/>
        </p:nvSpPr>
        <p:spPr bwMode="auto">
          <a:xfrm>
            <a:off x="5592763" y="2503488"/>
            <a:ext cx="439737" cy="2160588"/>
          </a:xfrm>
          <a:custGeom>
            <a:avLst/>
            <a:gdLst/>
            <a:ahLst/>
            <a:cxnLst>
              <a:cxn ang="0">
                <a:pos x="249" y="14"/>
              </a:cxn>
              <a:cxn ang="0">
                <a:pos x="260" y="238"/>
              </a:cxn>
              <a:cxn ang="0">
                <a:pos x="269" y="700"/>
              </a:cxn>
              <a:cxn ang="0">
                <a:pos x="275" y="1155"/>
              </a:cxn>
              <a:cxn ang="0">
                <a:pos x="277" y="1361"/>
              </a:cxn>
              <a:cxn ang="0">
                <a:pos x="264" y="1358"/>
              </a:cxn>
              <a:cxn ang="0">
                <a:pos x="251" y="1358"/>
              </a:cxn>
              <a:cxn ang="0">
                <a:pos x="235" y="1360"/>
              </a:cxn>
              <a:cxn ang="0">
                <a:pos x="222" y="1360"/>
              </a:cxn>
              <a:cxn ang="0">
                <a:pos x="209" y="1360"/>
              </a:cxn>
              <a:cxn ang="0">
                <a:pos x="200" y="1356"/>
              </a:cxn>
              <a:cxn ang="0">
                <a:pos x="197" y="1347"/>
              </a:cxn>
              <a:cxn ang="0">
                <a:pos x="197" y="1332"/>
              </a:cxn>
              <a:cxn ang="0">
                <a:pos x="100" y="743"/>
              </a:cxn>
              <a:cxn ang="0">
                <a:pos x="113" y="730"/>
              </a:cxn>
              <a:cxn ang="0">
                <a:pos x="126" y="716"/>
              </a:cxn>
              <a:cxn ang="0">
                <a:pos x="139" y="703"/>
              </a:cxn>
              <a:cxn ang="0">
                <a:pos x="151" y="688"/>
              </a:cxn>
              <a:cxn ang="0">
                <a:pos x="162" y="675"/>
              </a:cxn>
              <a:cxn ang="0">
                <a:pos x="175" y="663"/>
              </a:cxn>
              <a:cxn ang="0">
                <a:pos x="188" y="651"/>
              </a:cxn>
              <a:cxn ang="0">
                <a:pos x="200" y="640"/>
              </a:cxn>
              <a:cxn ang="0">
                <a:pos x="199" y="603"/>
              </a:cxn>
              <a:cxn ang="0">
                <a:pos x="189" y="532"/>
              </a:cxn>
              <a:cxn ang="0">
                <a:pos x="182" y="464"/>
              </a:cxn>
              <a:cxn ang="0">
                <a:pos x="179" y="433"/>
              </a:cxn>
              <a:cxn ang="0">
                <a:pos x="175" y="428"/>
              </a:cxn>
              <a:cxn ang="0">
                <a:pos x="169" y="425"/>
              </a:cxn>
              <a:cxn ang="0">
                <a:pos x="164" y="423"/>
              </a:cxn>
              <a:cxn ang="0">
                <a:pos x="157" y="424"/>
              </a:cxn>
              <a:cxn ang="0">
                <a:pos x="66" y="485"/>
              </a:cxn>
              <a:cxn ang="0">
                <a:pos x="55" y="409"/>
              </a:cxn>
              <a:cxn ang="0">
                <a:pos x="184" y="332"/>
              </a:cxn>
              <a:cxn ang="0">
                <a:pos x="184" y="321"/>
              </a:cxn>
              <a:cxn ang="0">
                <a:pos x="177" y="299"/>
              </a:cxn>
              <a:cxn ang="0">
                <a:pos x="169" y="269"/>
              </a:cxn>
              <a:cxn ang="0">
                <a:pos x="159" y="237"/>
              </a:cxn>
              <a:cxn ang="0">
                <a:pos x="148" y="204"/>
              </a:cxn>
              <a:cxn ang="0">
                <a:pos x="137" y="176"/>
              </a:cxn>
              <a:cxn ang="0">
                <a:pos x="129" y="157"/>
              </a:cxn>
              <a:cxn ang="0">
                <a:pos x="128" y="149"/>
              </a:cxn>
              <a:cxn ang="0">
                <a:pos x="22" y="180"/>
              </a:cxn>
              <a:cxn ang="0">
                <a:pos x="0" y="0"/>
              </a:cxn>
              <a:cxn ang="0">
                <a:pos x="249" y="14"/>
              </a:cxn>
            </a:cxnLst>
            <a:rect l="0" t="0" r="r" b="b"/>
            <a:pathLst>
              <a:path w="277" h="1361">
                <a:moveTo>
                  <a:pt x="249" y="14"/>
                </a:moveTo>
                <a:lnTo>
                  <a:pt x="260" y="238"/>
                </a:lnTo>
                <a:lnTo>
                  <a:pt x="269" y="700"/>
                </a:lnTo>
                <a:lnTo>
                  <a:pt x="275" y="1155"/>
                </a:lnTo>
                <a:lnTo>
                  <a:pt x="277" y="1361"/>
                </a:lnTo>
                <a:lnTo>
                  <a:pt x="264" y="1358"/>
                </a:lnTo>
                <a:lnTo>
                  <a:pt x="251" y="1358"/>
                </a:lnTo>
                <a:lnTo>
                  <a:pt x="235" y="1360"/>
                </a:lnTo>
                <a:lnTo>
                  <a:pt x="222" y="1360"/>
                </a:lnTo>
                <a:lnTo>
                  <a:pt x="209" y="1360"/>
                </a:lnTo>
                <a:lnTo>
                  <a:pt x="200" y="1356"/>
                </a:lnTo>
                <a:lnTo>
                  <a:pt x="197" y="1347"/>
                </a:lnTo>
                <a:lnTo>
                  <a:pt x="197" y="1332"/>
                </a:lnTo>
                <a:lnTo>
                  <a:pt x="100" y="743"/>
                </a:lnTo>
                <a:lnTo>
                  <a:pt x="113" y="730"/>
                </a:lnTo>
                <a:lnTo>
                  <a:pt x="126" y="716"/>
                </a:lnTo>
                <a:lnTo>
                  <a:pt x="139" y="703"/>
                </a:lnTo>
                <a:lnTo>
                  <a:pt x="151" y="688"/>
                </a:lnTo>
                <a:lnTo>
                  <a:pt x="162" y="675"/>
                </a:lnTo>
                <a:lnTo>
                  <a:pt x="175" y="663"/>
                </a:lnTo>
                <a:lnTo>
                  <a:pt x="188" y="651"/>
                </a:lnTo>
                <a:lnTo>
                  <a:pt x="200" y="640"/>
                </a:lnTo>
                <a:lnTo>
                  <a:pt x="199" y="603"/>
                </a:lnTo>
                <a:lnTo>
                  <a:pt x="189" y="532"/>
                </a:lnTo>
                <a:lnTo>
                  <a:pt x="182" y="464"/>
                </a:lnTo>
                <a:lnTo>
                  <a:pt x="179" y="433"/>
                </a:lnTo>
                <a:lnTo>
                  <a:pt x="175" y="428"/>
                </a:lnTo>
                <a:lnTo>
                  <a:pt x="169" y="425"/>
                </a:lnTo>
                <a:lnTo>
                  <a:pt x="164" y="423"/>
                </a:lnTo>
                <a:lnTo>
                  <a:pt x="157" y="424"/>
                </a:lnTo>
                <a:lnTo>
                  <a:pt x="66" y="485"/>
                </a:lnTo>
                <a:lnTo>
                  <a:pt x="55" y="409"/>
                </a:lnTo>
                <a:lnTo>
                  <a:pt x="184" y="332"/>
                </a:lnTo>
                <a:lnTo>
                  <a:pt x="184" y="321"/>
                </a:lnTo>
                <a:lnTo>
                  <a:pt x="177" y="299"/>
                </a:lnTo>
                <a:lnTo>
                  <a:pt x="169" y="269"/>
                </a:lnTo>
                <a:lnTo>
                  <a:pt x="159" y="237"/>
                </a:lnTo>
                <a:lnTo>
                  <a:pt x="148" y="204"/>
                </a:lnTo>
                <a:lnTo>
                  <a:pt x="137" y="176"/>
                </a:lnTo>
                <a:lnTo>
                  <a:pt x="129" y="157"/>
                </a:lnTo>
                <a:lnTo>
                  <a:pt x="128" y="149"/>
                </a:lnTo>
                <a:lnTo>
                  <a:pt x="22" y="180"/>
                </a:lnTo>
                <a:lnTo>
                  <a:pt x="0" y="0"/>
                </a:lnTo>
                <a:lnTo>
                  <a:pt x="249" y="14"/>
                </a:lnTo>
                <a:close/>
              </a:path>
            </a:pathLst>
          </a:custGeom>
          <a:solidFill>
            <a:srgbClr val="BFBFB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75" name="Freeform 11"/>
          <p:cNvSpPr>
            <a:spLocks/>
          </p:cNvSpPr>
          <p:nvPr/>
        </p:nvSpPr>
        <p:spPr bwMode="auto">
          <a:xfrm>
            <a:off x="4480650" y="2651265"/>
            <a:ext cx="1170357" cy="391529"/>
          </a:xfrm>
          <a:custGeom>
            <a:avLst/>
            <a:gdLst/>
            <a:ahLst/>
            <a:cxnLst>
              <a:cxn ang="0">
                <a:pos x="453" y="41"/>
              </a:cxn>
              <a:cxn ang="0">
                <a:pos x="462" y="67"/>
              </a:cxn>
              <a:cxn ang="0">
                <a:pos x="464" y="93"/>
              </a:cxn>
              <a:cxn ang="0">
                <a:pos x="465" y="120"/>
              </a:cxn>
              <a:cxn ang="0">
                <a:pos x="478" y="143"/>
              </a:cxn>
              <a:cxn ang="0">
                <a:pos x="145" y="244"/>
              </a:cxn>
              <a:cxn ang="0">
                <a:pos x="4" y="239"/>
              </a:cxn>
              <a:cxn ang="0">
                <a:pos x="5" y="180"/>
              </a:cxn>
              <a:cxn ang="0">
                <a:pos x="5" y="118"/>
              </a:cxn>
              <a:cxn ang="0">
                <a:pos x="4" y="58"/>
              </a:cxn>
              <a:cxn ang="0">
                <a:pos x="0" y="0"/>
              </a:cxn>
              <a:cxn ang="0">
                <a:pos x="29" y="2"/>
              </a:cxn>
              <a:cxn ang="0">
                <a:pos x="58" y="5"/>
              </a:cxn>
              <a:cxn ang="0">
                <a:pos x="87" y="6"/>
              </a:cxn>
              <a:cxn ang="0">
                <a:pos x="115" y="9"/>
              </a:cxn>
              <a:cxn ang="0">
                <a:pos x="144" y="12"/>
              </a:cxn>
              <a:cxn ang="0">
                <a:pos x="171" y="15"/>
              </a:cxn>
              <a:cxn ang="0">
                <a:pos x="198" y="16"/>
              </a:cxn>
              <a:cxn ang="0">
                <a:pos x="227" y="19"/>
              </a:cxn>
              <a:cxn ang="0">
                <a:pos x="255" y="22"/>
              </a:cxn>
              <a:cxn ang="0">
                <a:pos x="282" y="25"/>
              </a:cxn>
              <a:cxn ang="0">
                <a:pos x="309" y="28"/>
              </a:cxn>
              <a:cxn ang="0">
                <a:pos x="338" y="31"/>
              </a:cxn>
              <a:cxn ang="0">
                <a:pos x="365" y="34"/>
              </a:cxn>
              <a:cxn ang="0">
                <a:pos x="395" y="36"/>
              </a:cxn>
              <a:cxn ang="0">
                <a:pos x="424" y="39"/>
              </a:cxn>
              <a:cxn ang="0">
                <a:pos x="453" y="41"/>
              </a:cxn>
            </a:cxnLst>
            <a:rect l="0" t="0" r="r" b="b"/>
            <a:pathLst>
              <a:path w="478" h="244">
                <a:moveTo>
                  <a:pt x="453" y="41"/>
                </a:moveTo>
                <a:lnTo>
                  <a:pt x="462" y="67"/>
                </a:lnTo>
                <a:lnTo>
                  <a:pt x="464" y="93"/>
                </a:lnTo>
                <a:lnTo>
                  <a:pt x="465" y="120"/>
                </a:lnTo>
                <a:lnTo>
                  <a:pt x="478" y="143"/>
                </a:lnTo>
                <a:lnTo>
                  <a:pt x="145" y="244"/>
                </a:lnTo>
                <a:lnTo>
                  <a:pt x="4" y="239"/>
                </a:lnTo>
                <a:lnTo>
                  <a:pt x="5" y="180"/>
                </a:lnTo>
                <a:lnTo>
                  <a:pt x="5" y="118"/>
                </a:lnTo>
                <a:lnTo>
                  <a:pt x="4" y="58"/>
                </a:lnTo>
                <a:lnTo>
                  <a:pt x="0" y="0"/>
                </a:lnTo>
                <a:lnTo>
                  <a:pt x="29" y="2"/>
                </a:lnTo>
                <a:lnTo>
                  <a:pt x="58" y="5"/>
                </a:lnTo>
                <a:lnTo>
                  <a:pt x="87" y="6"/>
                </a:lnTo>
                <a:lnTo>
                  <a:pt x="115" y="9"/>
                </a:lnTo>
                <a:lnTo>
                  <a:pt x="144" y="12"/>
                </a:lnTo>
                <a:lnTo>
                  <a:pt x="171" y="15"/>
                </a:lnTo>
                <a:lnTo>
                  <a:pt x="198" y="16"/>
                </a:lnTo>
                <a:lnTo>
                  <a:pt x="227" y="19"/>
                </a:lnTo>
                <a:lnTo>
                  <a:pt x="255" y="22"/>
                </a:lnTo>
                <a:lnTo>
                  <a:pt x="282" y="25"/>
                </a:lnTo>
                <a:lnTo>
                  <a:pt x="309" y="28"/>
                </a:lnTo>
                <a:lnTo>
                  <a:pt x="338" y="31"/>
                </a:lnTo>
                <a:lnTo>
                  <a:pt x="365" y="34"/>
                </a:lnTo>
                <a:lnTo>
                  <a:pt x="395" y="36"/>
                </a:lnTo>
                <a:lnTo>
                  <a:pt x="424" y="39"/>
                </a:lnTo>
                <a:lnTo>
                  <a:pt x="453" y="4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r>
              <a:rPr lang="pt-BR" sz="2000" b="1" dirty="0" smtClean="0">
                <a:effectLst>
                  <a:outerShdw blurRad="38100" dist="38100" dir="2700000" algn="tl">
                    <a:srgbClr val="000000">
                      <a:alpha val="43137"/>
                    </a:srgbClr>
                  </a:outerShdw>
                </a:effectLst>
              </a:rPr>
              <a:t>STF/ STJ</a:t>
            </a:r>
            <a:endParaRPr lang="pt-BR" sz="2000" b="1" dirty="0">
              <a:effectLst>
                <a:outerShdw blurRad="38100" dist="38100" dir="2700000" algn="tl">
                  <a:srgbClr val="000000">
                    <a:alpha val="43137"/>
                  </a:srgbClr>
                </a:outerShdw>
              </a:effectLst>
            </a:endParaRPr>
          </a:p>
        </p:txBody>
      </p:sp>
      <p:sp>
        <p:nvSpPr>
          <p:cNvPr id="11276" name="Freeform 12"/>
          <p:cNvSpPr>
            <a:spLocks/>
          </p:cNvSpPr>
          <p:nvPr/>
        </p:nvSpPr>
        <p:spPr bwMode="auto">
          <a:xfrm>
            <a:off x="3870256" y="2779431"/>
            <a:ext cx="576262" cy="126071"/>
          </a:xfrm>
          <a:custGeom>
            <a:avLst/>
            <a:gdLst/>
            <a:ahLst/>
            <a:cxnLst>
              <a:cxn ang="0">
                <a:pos x="118" y="19"/>
              </a:cxn>
              <a:cxn ang="0">
                <a:pos x="107" y="23"/>
              </a:cxn>
              <a:cxn ang="0">
                <a:pos x="98" y="29"/>
              </a:cxn>
              <a:cxn ang="0">
                <a:pos x="89" y="34"/>
              </a:cxn>
              <a:cxn ang="0">
                <a:pos x="80" y="41"/>
              </a:cxn>
              <a:cxn ang="0">
                <a:pos x="92" y="45"/>
              </a:cxn>
              <a:cxn ang="0">
                <a:pos x="107" y="50"/>
              </a:cxn>
              <a:cxn ang="0">
                <a:pos x="122" y="53"/>
              </a:cxn>
              <a:cxn ang="0">
                <a:pos x="138" y="56"/>
              </a:cxn>
              <a:cxn ang="0">
                <a:pos x="154" y="56"/>
              </a:cxn>
              <a:cxn ang="0">
                <a:pos x="169" y="54"/>
              </a:cxn>
              <a:cxn ang="0">
                <a:pos x="183" y="50"/>
              </a:cxn>
              <a:cxn ang="0">
                <a:pos x="196" y="41"/>
              </a:cxn>
              <a:cxn ang="0">
                <a:pos x="216" y="43"/>
              </a:cxn>
              <a:cxn ang="0">
                <a:pos x="234" y="45"/>
              </a:cxn>
              <a:cxn ang="0">
                <a:pos x="254" y="47"/>
              </a:cxn>
              <a:cxn ang="0">
                <a:pos x="274" y="48"/>
              </a:cxn>
              <a:cxn ang="0">
                <a:pos x="294" y="50"/>
              </a:cxn>
              <a:cxn ang="0">
                <a:pos x="314" y="51"/>
              </a:cxn>
              <a:cxn ang="0">
                <a:pos x="332" y="53"/>
              </a:cxn>
              <a:cxn ang="0">
                <a:pos x="352" y="53"/>
              </a:cxn>
              <a:cxn ang="0">
                <a:pos x="358" y="59"/>
              </a:cxn>
              <a:cxn ang="0">
                <a:pos x="362" y="65"/>
              </a:cxn>
              <a:cxn ang="0">
                <a:pos x="363" y="72"/>
              </a:cxn>
              <a:cxn ang="0">
                <a:pos x="363" y="78"/>
              </a:cxn>
              <a:cxn ang="0">
                <a:pos x="340" y="79"/>
              </a:cxn>
              <a:cxn ang="0">
                <a:pos x="314" y="78"/>
              </a:cxn>
              <a:cxn ang="0">
                <a:pos x="291" y="75"/>
              </a:cxn>
              <a:cxn ang="0">
                <a:pos x="267" y="71"/>
              </a:cxn>
              <a:cxn ang="0">
                <a:pos x="242" y="68"/>
              </a:cxn>
              <a:cxn ang="0">
                <a:pos x="220" y="68"/>
              </a:cxn>
              <a:cxn ang="0">
                <a:pos x="196" y="71"/>
              </a:cxn>
              <a:cxn ang="0">
                <a:pos x="174" y="78"/>
              </a:cxn>
              <a:cxn ang="0">
                <a:pos x="107" y="74"/>
              </a:cxn>
              <a:cxn ang="0">
                <a:pos x="100" y="99"/>
              </a:cxn>
              <a:cxn ang="0">
                <a:pos x="87" y="94"/>
              </a:cxn>
              <a:cxn ang="0">
                <a:pos x="74" y="88"/>
              </a:cxn>
              <a:cxn ang="0">
                <a:pos x="62" y="82"/>
              </a:cxn>
              <a:cxn ang="0">
                <a:pos x="49" y="76"/>
              </a:cxn>
              <a:cxn ang="0">
                <a:pos x="36" y="71"/>
              </a:cxn>
              <a:cxn ang="0">
                <a:pos x="25" y="63"/>
              </a:cxn>
              <a:cxn ang="0">
                <a:pos x="12" y="57"/>
              </a:cxn>
              <a:cxn ang="0">
                <a:pos x="0" y="50"/>
              </a:cxn>
              <a:cxn ang="0">
                <a:pos x="1" y="38"/>
              </a:cxn>
              <a:cxn ang="0">
                <a:pos x="102" y="0"/>
              </a:cxn>
              <a:cxn ang="0">
                <a:pos x="109" y="3"/>
              </a:cxn>
              <a:cxn ang="0">
                <a:pos x="112" y="7"/>
              </a:cxn>
              <a:cxn ang="0">
                <a:pos x="116" y="13"/>
              </a:cxn>
              <a:cxn ang="0">
                <a:pos x="118" y="19"/>
              </a:cxn>
            </a:cxnLst>
            <a:rect l="0" t="0" r="r" b="b"/>
            <a:pathLst>
              <a:path w="363" h="99">
                <a:moveTo>
                  <a:pt x="118" y="19"/>
                </a:moveTo>
                <a:lnTo>
                  <a:pt x="107" y="23"/>
                </a:lnTo>
                <a:lnTo>
                  <a:pt x="98" y="29"/>
                </a:lnTo>
                <a:lnTo>
                  <a:pt x="89" y="34"/>
                </a:lnTo>
                <a:lnTo>
                  <a:pt x="80" y="41"/>
                </a:lnTo>
                <a:lnTo>
                  <a:pt x="92" y="45"/>
                </a:lnTo>
                <a:lnTo>
                  <a:pt x="107" y="50"/>
                </a:lnTo>
                <a:lnTo>
                  <a:pt x="122" y="53"/>
                </a:lnTo>
                <a:lnTo>
                  <a:pt x="138" y="56"/>
                </a:lnTo>
                <a:lnTo>
                  <a:pt x="154" y="56"/>
                </a:lnTo>
                <a:lnTo>
                  <a:pt x="169" y="54"/>
                </a:lnTo>
                <a:lnTo>
                  <a:pt x="183" y="50"/>
                </a:lnTo>
                <a:lnTo>
                  <a:pt x="196" y="41"/>
                </a:lnTo>
                <a:lnTo>
                  <a:pt x="216" y="43"/>
                </a:lnTo>
                <a:lnTo>
                  <a:pt x="234" y="45"/>
                </a:lnTo>
                <a:lnTo>
                  <a:pt x="254" y="47"/>
                </a:lnTo>
                <a:lnTo>
                  <a:pt x="274" y="48"/>
                </a:lnTo>
                <a:lnTo>
                  <a:pt x="294" y="50"/>
                </a:lnTo>
                <a:lnTo>
                  <a:pt x="314" y="51"/>
                </a:lnTo>
                <a:lnTo>
                  <a:pt x="332" y="53"/>
                </a:lnTo>
                <a:lnTo>
                  <a:pt x="352" y="53"/>
                </a:lnTo>
                <a:lnTo>
                  <a:pt x="358" y="59"/>
                </a:lnTo>
                <a:lnTo>
                  <a:pt x="362" y="65"/>
                </a:lnTo>
                <a:lnTo>
                  <a:pt x="363" y="72"/>
                </a:lnTo>
                <a:lnTo>
                  <a:pt x="363" y="78"/>
                </a:lnTo>
                <a:lnTo>
                  <a:pt x="340" y="79"/>
                </a:lnTo>
                <a:lnTo>
                  <a:pt x="314" y="78"/>
                </a:lnTo>
                <a:lnTo>
                  <a:pt x="291" y="75"/>
                </a:lnTo>
                <a:lnTo>
                  <a:pt x="267" y="71"/>
                </a:lnTo>
                <a:lnTo>
                  <a:pt x="242" y="68"/>
                </a:lnTo>
                <a:lnTo>
                  <a:pt x="220" y="68"/>
                </a:lnTo>
                <a:lnTo>
                  <a:pt x="196" y="71"/>
                </a:lnTo>
                <a:lnTo>
                  <a:pt x="174" y="78"/>
                </a:lnTo>
                <a:lnTo>
                  <a:pt x="107" y="74"/>
                </a:lnTo>
                <a:lnTo>
                  <a:pt x="100" y="99"/>
                </a:lnTo>
                <a:lnTo>
                  <a:pt x="87" y="94"/>
                </a:lnTo>
                <a:lnTo>
                  <a:pt x="74" y="88"/>
                </a:lnTo>
                <a:lnTo>
                  <a:pt x="62" y="82"/>
                </a:lnTo>
                <a:lnTo>
                  <a:pt x="49" y="76"/>
                </a:lnTo>
                <a:lnTo>
                  <a:pt x="36" y="71"/>
                </a:lnTo>
                <a:lnTo>
                  <a:pt x="25" y="63"/>
                </a:lnTo>
                <a:lnTo>
                  <a:pt x="12" y="57"/>
                </a:lnTo>
                <a:lnTo>
                  <a:pt x="0" y="50"/>
                </a:lnTo>
                <a:lnTo>
                  <a:pt x="1" y="38"/>
                </a:lnTo>
                <a:lnTo>
                  <a:pt x="102" y="0"/>
                </a:lnTo>
                <a:lnTo>
                  <a:pt x="109" y="3"/>
                </a:lnTo>
                <a:lnTo>
                  <a:pt x="112" y="7"/>
                </a:lnTo>
                <a:lnTo>
                  <a:pt x="116" y="13"/>
                </a:lnTo>
                <a:lnTo>
                  <a:pt x="118" y="19"/>
                </a:lnTo>
                <a:close/>
              </a:path>
            </a:pathLst>
          </a:custGeom>
          <a:solidFill>
            <a:srgbClr val="FF0016"/>
          </a:solidFill>
          <a:ln w="31750">
            <a:solidFill>
              <a:srgbClr val="FF0000"/>
            </a:solidFill>
            <a:prstDash val="dash"/>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77" name="Freeform 13"/>
          <p:cNvSpPr>
            <a:spLocks/>
          </p:cNvSpPr>
          <p:nvPr/>
        </p:nvSpPr>
        <p:spPr bwMode="auto">
          <a:xfrm>
            <a:off x="6272213" y="2709863"/>
            <a:ext cx="1322387" cy="482600"/>
          </a:xfrm>
          <a:custGeom>
            <a:avLst/>
            <a:gdLst/>
            <a:ahLst/>
            <a:cxnLst>
              <a:cxn ang="0">
                <a:pos x="833" y="61"/>
              </a:cxn>
              <a:cxn ang="0">
                <a:pos x="831" y="121"/>
              </a:cxn>
              <a:cxn ang="0">
                <a:pos x="825" y="183"/>
              </a:cxn>
              <a:cxn ang="0">
                <a:pos x="818" y="244"/>
              </a:cxn>
              <a:cxn ang="0">
                <a:pos x="809" y="304"/>
              </a:cxn>
              <a:cxn ang="0">
                <a:pos x="3" y="183"/>
              </a:cxn>
              <a:cxn ang="0">
                <a:pos x="2" y="163"/>
              </a:cxn>
              <a:cxn ang="0">
                <a:pos x="0" y="114"/>
              </a:cxn>
              <a:cxn ang="0">
                <a:pos x="0" y="55"/>
              </a:cxn>
              <a:cxn ang="0">
                <a:pos x="5" y="0"/>
              </a:cxn>
              <a:cxn ang="0">
                <a:pos x="833" y="61"/>
              </a:cxn>
            </a:cxnLst>
            <a:rect l="0" t="0" r="r" b="b"/>
            <a:pathLst>
              <a:path w="833" h="304">
                <a:moveTo>
                  <a:pt x="833" y="61"/>
                </a:moveTo>
                <a:lnTo>
                  <a:pt x="831" y="121"/>
                </a:lnTo>
                <a:lnTo>
                  <a:pt x="825" y="183"/>
                </a:lnTo>
                <a:lnTo>
                  <a:pt x="818" y="244"/>
                </a:lnTo>
                <a:lnTo>
                  <a:pt x="809" y="304"/>
                </a:lnTo>
                <a:lnTo>
                  <a:pt x="3" y="183"/>
                </a:lnTo>
                <a:lnTo>
                  <a:pt x="2" y="163"/>
                </a:lnTo>
                <a:lnTo>
                  <a:pt x="0" y="114"/>
                </a:lnTo>
                <a:lnTo>
                  <a:pt x="0" y="55"/>
                </a:lnTo>
                <a:lnTo>
                  <a:pt x="5" y="0"/>
                </a:lnTo>
                <a:lnTo>
                  <a:pt x="833" y="6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78" name="Freeform 14"/>
          <p:cNvSpPr>
            <a:spLocks/>
          </p:cNvSpPr>
          <p:nvPr/>
        </p:nvSpPr>
        <p:spPr bwMode="auto">
          <a:xfrm rot="21179437">
            <a:off x="4465638" y="2918685"/>
            <a:ext cx="1233464" cy="717852"/>
          </a:xfrm>
          <a:custGeom>
            <a:avLst/>
            <a:gdLst/>
            <a:ahLst/>
            <a:cxnLst>
              <a:cxn ang="0">
                <a:pos x="112" y="560"/>
              </a:cxn>
              <a:cxn ang="0">
                <a:pos x="0" y="228"/>
              </a:cxn>
              <a:cxn ang="0">
                <a:pos x="753" y="0"/>
              </a:cxn>
              <a:cxn ang="0">
                <a:pos x="780" y="144"/>
              </a:cxn>
              <a:cxn ang="0">
                <a:pos x="773" y="148"/>
              </a:cxn>
              <a:cxn ang="0">
                <a:pos x="754" y="160"/>
              </a:cxn>
              <a:cxn ang="0">
                <a:pos x="723" y="178"/>
              </a:cxn>
              <a:cxn ang="0">
                <a:pos x="685" y="203"/>
              </a:cxn>
              <a:cxn ang="0">
                <a:pos x="638" y="231"/>
              </a:cxn>
              <a:cxn ang="0">
                <a:pos x="585" y="263"/>
              </a:cxn>
              <a:cxn ang="0">
                <a:pos x="529" y="299"/>
              </a:cxn>
              <a:cxn ang="0">
                <a:pos x="471" y="336"/>
              </a:cxn>
              <a:cxn ang="0">
                <a:pos x="411" y="372"/>
              </a:cxn>
              <a:cxn ang="0">
                <a:pos x="353" y="409"/>
              </a:cxn>
              <a:cxn ang="0">
                <a:pos x="296" y="443"/>
              </a:cxn>
              <a:cxn ang="0">
                <a:pos x="243" y="476"/>
              </a:cxn>
              <a:cxn ang="0">
                <a:pos x="198" y="505"/>
              </a:cxn>
              <a:cxn ang="0">
                <a:pos x="160" y="529"/>
              </a:cxn>
              <a:cxn ang="0">
                <a:pos x="131" y="548"/>
              </a:cxn>
              <a:cxn ang="0">
                <a:pos x="112" y="560"/>
              </a:cxn>
            </a:cxnLst>
            <a:rect l="0" t="0" r="r" b="b"/>
            <a:pathLst>
              <a:path w="780" h="560">
                <a:moveTo>
                  <a:pt x="112" y="560"/>
                </a:moveTo>
                <a:lnTo>
                  <a:pt x="0" y="228"/>
                </a:lnTo>
                <a:lnTo>
                  <a:pt x="753" y="0"/>
                </a:lnTo>
                <a:lnTo>
                  <a:pt x="780" y="144"/>
                </a:lnTo>
                <a:lnTo>
                  <a:pt x="773" y="148"/>
                </a:lnTo>
                <a:lnTo>
                  <a:pt x="754" y="160"/>
                </a:lnTo>
                <a:lnTo>
                  <a:pt x="723" y="178"/>
                </a:lnTo>
                <a:lnTo>
                  <a:pt x="685" y="203"/>
                </a:lnTo>
                <a:lnTo>
                  <a:pt x="638" y="231"/>
                </a:lnTo>
                <a:lnTo>
                  <a:pt x="585" y="263"/>
                </a:lnTo>
                <a:lnTo>
                  <a:pt x="529" y="299"/>
                </a:lnTo>
                <a:lnTo>
                  <a:pt x="471" y="336"/>
                </a:lnTo>
                <a:lnTo>
                  <a:pt x="411" y="372"/>
                </a:lnTo>
                <a:lnTo>
                  <a:pt x="353" y="409"/>
                </a:lnTo>
                <a:lnTo>
                  <a:pt x="296" y="443"/>
                </a:lnTo>
                <a:lnTo>
                  <a:pt x="243" y="476"/>
                </a:lnTo>
                <a:lnTo>
                  <a:pt x="198" y="505"/>
                </a:lnTo>
                <a:lnTo>
                  <a:pt x="160" y="529"/>
                </a:lnTo>
                <a:lnTo>
                  <a:pt x="131" y="548"/>
                </a:lnTo>
                <a:lnTo>
                  <a:pt x="112" y="56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r>
              <a:rPr lang="pt-BR" b="1" dirty="0" smtClean="0">
                <a:effectLst>
                  <a:outerShdw blurRad="38100" dist="38100" dir="2700000" algn="tl">
                    <a:srgbClr val="000000">
                      <a:alpha val="43137"/>
                    </a:srgbClr>
                  </a:outerShdw>
                </a:effectLst>
              </a:rPr>
              <a:t>        </a:t>
            </a:r>
            <a:r>
              <a:rPr lang="pt-BR" sz="2000" b="1" dirty="0" smtClean="0">
                <a:effectLst>
                  <a:outerShdw blurRad="38100" dist="38100" dir="2700000" algn="tl">
                    <a:srgbClr val="000000">
                      <a:alpha val="43137"/>
                    </a:srgbClr>
                  </a:outerShdw>
                </a:effectLst>
              </a:rPr>
              <a:t>CARF</a:t>
            </a:r>
            <a:endParaRPr lang="pt-BR" b="1" dirty="0">
              <a:effectLst>
                <a:outerShdw blurRad="38100" dist="38100" dir="2700000" algn="tl">
                  <a:srgbClr val="000000">
                    <a:alpha val="43137"/>
                  </a:srgbClr>
                </a:outerShdw>
              </a:effectLst>
            </a:endParaRPr>
          </a:p>
        </p:txBody>
      </p:sp>
      <p:sp>
        <p:nvSpPr>
          <p:cNvPr id="11279" name="Freeform 15"/>
          <p:cNvSpPr>
            <a:spLocks/>
          </p:cNvSpPr>
          <p:nvPr/>
        </p:nvSpPr>
        <p:spPr bwMode="auto">
          <a:xfrm>
            <a:off x="6389688" y="2855913"/>
            <a:ext cx="1077912" cy="198438"/>
          </a:xfrm>
          <a:custGeom>
            <a:avLst/>
            <a:gdLst/>
            <a:ahLst/>
            <a:cxnLst>
              <a:cxn ang="0">
                <a:pos x="557" y="122"/>
              </a:cxn>
              <a:cxn ang="0">
                <a:pos x="569" y="112"/>
              </a:cxn>
              <a:cxn ang="0">
                <a:pos x="593" y="100"/>
              </a:cxn>
              <a:cxn ang="0">
                <a:pos x="618" y="90"/>
              </a:cxn>
              <a:cxn ang="0">
                <a:pos x="624" y="81"/>
              </a:cxn>
              <a:cxn ang="0">
                <a:pos x="609" y="84"/>
              </a:cxn>
              <a:cxn ang="0">
                <a:pos x="402" y="56"/>
              </a:cxn>
              <a:cxn ang="0">
                <a:pos x="346" y="72"/>
              </a:cxn>
              <a:cxn ang="0">
                <a:pos x="298" y="68"/>
              </a:cxn>
              <a:cxn ang="0">
                <a:pos x="251" y="62"/>
              </a:cxn>
              <a:cxn ang="0">
                <a:pos x="206" y="56"/>
              </a:cxn>
              <a:cxn ang="0">
                <a:pos x="158" y="48"/>
              </a:cxn>
              <a:cxn ang="0">
                <a:pos x="113" y="43"/>
              </a:cxn>
              <a:cxn ang="0">
                <a:pos x="68" y="35"/>
              </a:cxn>
              <a:cxn ang="0">
                <a:pos x="22" y="28"/>
              </a:cxn>
              <a:cxn ang="0">
                <a:pos x="2" y="0"/>
              </a:cxn>
              <a:cxn ang="0">
                <a:pos x="44" y="10"/>
              </a:cxn>
              <a:cxn ang="0">
                <a:pos x="88" y="19"/>
              </a:cxn>
              <a:cxn ang="0">
                <a:pos x="133" y="26"/>
              </a:cxn>
              <a:cxn ang="0">
                <a:pos x="177" y="34"/>
              </a:cxn>
              <a:cxn ang="0">
                <a:pos x="222" y="40"/>
              </a:cxn>
              <a:cxn ang="0">
                <a:pos x="268" y="46"/>
              </a:cxn>
              <a:cxn ang="0">
                <a:pos x="313" y="50"/>
              </a:cxn>
              <a:cxn ang="0">
                <a:pos x="358" y="54"/>
              </a:cxn>
              <a:cxn ang="0">
                <a:pos x="388" y="38"/>
              </a:cxn>
              <a:cxn ang="0">
                <a:pos x="422" y="38"/>
              </a:cxn>
              <a:cxn ang="0">
                <a:pos x="458" y="44"/>
              </a:cxn>
              <a:cxn ang="0">
                <a:pos x="493" y="50"/>
              </a:cxn>
              <a:cxn ang="0">
                <a:pos x="520" y="56"/>
              </a:cxn>
              <a:cxn ang="0">
                <a:pos x="549" y="60"/>
              </a:cxn>
              <a:cxn ang="0">
                <a:pos x="577" y="63"/>
              </a:cxn>
              <a:cxn ang="0">
                <a:pos x="604" y="63"/>
              </a:cxn>
              <a:cxn ang="0">
                <a:pos x="591" y="35"/>
              </a:cxn>
              <a:cxn ang="0">
                <a:pos x="586" y="17"/>
              </a:cxn>
              <a:cxn ang="0">
                <a:pos x="675" y="96"/>
              </a:cxn>
              <a:cxn ang="0">
                <a:pos x="649" y="102"/>
              </a:cxn>
              <a:cxn ang="0">
                <a:pos x="611" y="112"/>
              </a:cxn>
              <a:cxn ang="0">
                <a:pos x="573" y="121"/>
              </a:cxn>
            </a:cxnLst>
            <a:rect l="0" t="0" r="r" b="b"/>
            <a:pathLst>
              <a:path w="679" h="125">
                <a:moveTo>
                  <a:pt x="557" y="125"/>
                </a:moveTo>
                <a:lnTo>
                  <a:pt x="557" y="122"/>
                </a:lnTo>
                <a:lnTo>
                  <a:pt x="562" y="118"/>
                </a:lnTo>
                <a:lnTo>
                  <a:pt x="569" y="112"/>
                </a:lnTo>
                <a:lnTo>
                  <a:pt x="580" y="106"/>
                </a:lnTo>
                <a:lnTo>
                  <a:pt x="593" y="100"/>
                </a:lnTo>
                <a:lnTo>
                  <a:pt x="606" y="96"/>
                </a:lnTo>
                <a:lnTo>
                  <a:pt x="618" y="90"/>
                </a:lnTo>
                <a:lnTo>
                  <a:pt x="629" y="87"/>
                </a:lnTo>
                <a:lnTo>
                  <a:pt x="624" y="81"/>
                </a:lnTo>
                <a:lnTo>
                  <a:pt x="617" y="81"/>
                </a:lnTo>
                <a:lnTo>
                  <a:pt x="609" y="84"/>
                </a:lnTo>
                <a:lnTo>
                  <a:pt x="602" y="85"/>
                </a:lnTo>
                <a:lnTo>
                  <a:pt x="402" y="56"/>
                </a:lnTo>
                <a:lnTo>
                  <a:pt x="369" y="75"/>
                </a:lnTo>
                <a:lnTo>
                  <a:pt x="346" y="72"/>
                </a:lnTo>
                <a:lnTo>
                  <a:pt x="322" y="71"/>
                </a:lnTo>
                <a:lnTo>
                  <a:pt x="298" y="68"/>
                </a:lnTo>
                <a:lnTo>
                  <a:pt x="275" y="65"/>
                </a:lnTo>
                <a:lnTo>
                  <a:pt x="251" y="62"/>
                </a:lnTo>
                <a:lnTo>
                  <a:pt x="228" y="59"/>
                </a:lnTo>
                <a:lnTo>
                  <a:pt x="206" y="56"/>
                </a:lnTo>
                <a:lnTo>
                  <a:pt x="182" y="53"/>
                </a:lnTo>
                <a:lnTo>
                  <a:pt x="158" y="48"/>
                </a:lnTo>
                <a:lnTo>
                  <a:pt x="137" y="46"/>
                </a:lnTo>
                <a:lnTo>
                  <a:pt x="113" y="43"/>
                </a:lnTo>
                <a:lnTo>
                  <a:pt x="91" y="38"/>
                </a:lnTo>
                <a:lnTo>
                  <a:pt x="68" y="35"/>
                </a:lnTo>
                <a:lnTo>
                  <a:pt x="46" y="31"/>
                </a:lnTo>
                <a:lnTo>
                  <a:pt x="22" y="28"/>
                </a:lnTo>
                <a:lnTo>
                  <a:pt x="0" y="23"/>
                </a:lnTo>
                <a:lnTo>
                  <a:pt x="2" y="0"/>
                </a:lnTo>
                <a:lnTo>
                  <a:pt x="24" y="4"/>
                </a:lnTo>
                <a:lnTo>
                  <a:pt x="44" y="10"/>
                </a:lnTo>
                <a:lnTo>
                  <a:pt x="66" y="15"/>
                </a:lnTo>
                <a:lnTo>
                  <a:pt x="88" y="19"/>
                </a:lnTo>
                <a:lnTo>
                  <a:pt x="109" y="22"/>
                </a:lnTo>
                <a:lnTo>
                  <a:pt x="133" y="26"/>
                </a:lnTo>
                <a:lnTo>
                  <a:pt x="155" y="29"/>
                </a:lnTo>
                <a:lnTo>
                  <a:pt x="177" y="34"/>
                </a:lnTo>
                <a:lnTo>
                  <a:pt x="198" y="37"/>
                </a:lnTo>
                <a:lnTo>
                  <a:pt x="222" y="40"/>
                </a:lnTo>
                <a:lnTo>
                  <a:pt x="244" y="43"/>
                </a:lnTo>
                <a:lnTo>
                  <a:pt x="268" y="46"/>
                </a:lnTo>
                <a:lnTo>
                  <a:pt x="289" y="47"/>
                </a:lnTo>
                <a:lnTo>
                  <a:pt x="313" y="50"/>
                </a:lnTo>
                <a:lnTo>
                  <a:pt x="335" y="51"/>
                </a:lnTo>
                <a:lnTo>
                  <a:pt x="358" y="54"/>
                </a:lnTo>
                <a:lnTo>
                  <a:pt x="371" y="44"/>
                </a:lnTo>
                <a:lnTo>
                  <a:pt x="388" y="38"/>
                </a:lnTo>
                <a:lnTo>
                  <a:pt x="404" y="37"/>
                </a:lnTo>
                <a:lnTo>
                  <a:pt x="422" y="38"/>
                </a:lnTo>
                <a:lnTo>
                  <a:pt x="440" y="41"/>
                </a:lnTo>
                <a:lnTo>
                  <a:pt x="458" y="44"/>
                </a:lnTo>
                <a:lnTo>
                  <a:pt x="477" y="48"/>
                </a:lnTo>
                <a:lnTo>
                  <a:pt x="493" y="50"/>
                </a:lnTo>
                <a:lnTo>
                  <a:pt x="506" y="53"/>
                </a:lnTo>
                <a:lnTo>
                  <a:pt x="520" y="56"/>
                </a:lnTo>
                <a:lnTo>
                  <a:pt x="535" y="59"/>
                </a:lnTo>
                <a:lnTo>
                  <a:pt x="549" y="60"/>
                </a:lnTo>
                <a:lnTo>
                  <a:pt x="562" y="62"/>
                </a:lnTo>
                <a:lnTo>
                  <a:pt x="577" y="63"/>
                </a:lnTo>
                <a:lnTo>
                  <a:pt x="591" y="63"/>
                </a:lnTo>
                <a:lnTo>
                  <a:pt x="604" y="63"/>
                </a:lnTo>
                <a:lnTo>
                  <a:pt x="597" y="50"/>
                </a:lnTo>
                <a:lnTo>
                  <a:pt x="591" y="35"/>
                </a:lnTo>
                <a:lnTo>
                  <a:pt x="588" y="23"/>
                </a:lnTo>
                <a:lnTo>
                  <a:pt x="586" y="17"/>
                </a:lnTo>
                <a:lnTo>
                  <a:pt x="679" y="94"/>
                </a:lnTo>
                <a:lnTo>
                  <a:pt x="675" y="96"/>
                </a:lnTo>
                <a:lnTo>
                  <a:pt x="664" y="97"/>
                </a:lnTo>
                <a:lnTo>
                  <a:pt x="649" y="102"/>
                </a:lnTo>
                <a:lnTo>
                  <a:pt x="631" y="106"/>
                </a:lnTo>
                <a:lnTo>
                  <a:pt x="611" y="112"/>
                </a:lnTo>
                <a:lnTo>
                  <a:pt x="591" y="116"/>
                </a:lnTo>
                <a:lnTo>
                  <a:pt x="573" y="121"/>
                </a:lnTo>
                <a:lnTo>
                  <a:pt x="557" y="125"/>
                </a:lnTo>
                <a:close/>
              </a:path>
            </a:pathLst>
          </a:custGeom>
          <a:solidFill>
            <a:srgbClr val="FF0016"/>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81" name="Freeform 17"/>
          <p:cNvSpPr>
            <a:spLocks/>
          </p:cNvSpPr>
          <p:nvPr/>
        </p:nvSpPr>
        <p:spPr bwMode="auto">
          <a:xfrm>
            <a:off x="6245225" y="3224213"/>
            <a:ext cx="1120775" cy="679450"/>
          </a:xfrm>
          <a:custGeom>
            <a:avLst/>
            <a:gdLst/>
            <a:ahLst/>
            <a:cxnLst>
              <a:cxn ang="0">
                <a:pos x="704" y="134"/>
              </a:cxn>
              <a:cxn ang="0">
                <a:pos x="706" y="134"/>
              </a:cxn>
              <a:cxn ang="0">
                <a:pos x="631" y="428"/>
              </a:cxn>
              <a:cxn ang="0">
                <a:pos x="0" y="165"/>
              </a:cxn>
              <a:cxn ang="0">
                <a:pos x="9" y="0"/>
              </a:cxn>
              <a:cxn ang="0">
                <a:pos x="704" y="134"/>
              </a:cxn>
            </a:cxnLst>
            <a:rect l="0" t="0" r="r" b="b"/>
            <a:pathLst>
              <a:path w="706" h="428">
                <a:moveTo>
                  <a:pt x="704" y="134"/>
                </a:moveTo>
                <a:lnTo>
                  <a:pt x="706" y="134"/>
                </a:lnTo>
                <a:lnTo>
                  <a:pt x="631" y="428"/>
                </a:lnTo>
                <a:lnTo>
                  <a:pt x="0" y="165"/>
                </a:lnTo>
                <a:lnTo>
                  <a:pt x="9" y="0"/>
                </a:lnTo>
                <a:lnTo>
                  <a:pt x="704" y="13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82" name="Freeform 18"/>
          <p:cNvSpPr>
            <a:spLocks/>
          </p:cNvSpPr>
          <p:nvPr/>
        </p:nvSpPr>
        <p:spPr bwMode="auto">
          <a:xfrm>
            <a:off x="4833938" y="3235325"/>
            <a:ext cx="1022350" cy="1169988"/>
          </a:xfrm>
          <a:custGeom>
            <a:avLst/>
            <a:gdLst/>
            <a:ahLst/>
            <a:cxnLst>
              <a:cxn ang="0">
                <a:pos x="111" y="737"/>
              </a:cxn>
              <a:cxn ang="0">
                <a:pos x="0" y="416"/>
              </a:cxn>
              <a:cxn ang="0">
                <a:pos x="629" y="0"/>
              </a:cxn>
              <a:cxn ang="0">
                <a:pos x="644" y="171"/>
              </a:cxn>
              <a:cxn ang="0">
                <a:pos x="638" y="177"/>
              </a:cxn>
              <a:cxn ang="0">
                <a:pos x="622" y="195"/>
              </a:cxn>
              <a:cxn ang="0">
                <a:pos x="597" y="221"/>
              </a:cxn>
              <a:cxn ang="0">
                <a:pos x="564" y="257"/>
              </a:cxn>
              <a:cxn ang="0">
                <a:pos x="526" y="298"/>
              </a:cxn>
              <a:cxn ang="0">
                <a:pos x="482" y="344"/>
              </a:cxn>
              <a:cxn ang="0">
                <a:pos x="435" y="394"/>
              </a:cxn>
              <a:cxn ang="0">
                <a:pos x="387" y="446"/>
              </a:cxn>
              <a:cxn ang="0">
                <a:pos x="338" y="497"/>
              </a:cxn>
              <a:cxn ang="0">
                <a:pos x="291" y="549"/>
              </a:cxn>
              <a:cxn ang="0">
                <a:pos x="246" y="596"/>
              </a:cxn>
              <a:cxn ang="0">
                <a:pos x="206" y="639"/>
              </a:cxn>
              <a:cxn ang="0">
                <a:pos x="169" y="676"/>
              </a:cxn>
              <a:cxn ang="0">
                <a:pos x="142" y="707"/>
              </a:cxn>
              <a:cxn ang="0">
                <a:pos x="122" y="726"/>
              </a:cxn>
              <a:cxn ang="0">
                <a:pos x="111" y="737"/>
              </a:cxn>
            </a:cxnLst>
            <a:rect l="0" t="0" r="r" b="b"/>
            <a:pathLst>
              <a:path w="644" h="737">
                <a:moveTo>
                  <a:pt x="111" y="737"/>
                </a:moveTo>
                <a:lnTo>
                  <a:pt x="0" y="416"/>
                </a:lnTo>
                <a:lnTo>
                  <a:pt x="629" y="0"/>
                </a:lnTo>
                <a:lnTo>
                  <a:pt x="644" y="171"/>
                </a:lnTo>
                <a:lnTo>
                  <a:pt x="638" y="177"/>
                </a:lnTo>
                <a:lnTo>
                  <a:pt x="622" y="195"/>
                </a:lnTo>
                <a:lnTo>
                  <a:pt x="597" y="221"/>
                </a:lnTo>
                <a:lnTo>
                  <a:pt x="564" y="257"/>
                </a:lnTo>
                <a:lnTo>
                  <a:pt x="526" y="298"/>
                </a:lnTo>
                <a:lnTo>
                  <a:pt x="482" y="344"/>
                </a:lnTo>
                <a:lnTo>
                  <a:pt x="435" y="394"/>
                </a:lnTo>
                <a:lnTo>
                  <a:pt x="387" y="446"/>
                </a:lnTo>
                <a:lnTo>
                  <a:pt x="338" y="497"/>
                </a:lnTo>
                <a:lnTo>
                  <a:pt x="291" y="549"/>
                </a:lnTo>
                <a:lnTo>
                  <a:pt x="246" y="596"/>
                </a:lnTo>
                <a:lnTo>
                  <a:pt x="206" y="639"/>
                </a:lnTo>
                <a:lnTo>
                  <a:pt x="169" y="676"/>
                </a:lnTo>
                <a:lnTo>
                  <a:pt x="142" y="707"/>
                </a:lnTo>
                <a:lnTo>
                  <a:pt x="122" y="726"/>
                </a:lnTo>
                <a:lnTo>
                  <a:pt x="111" y="73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83" name="Freeform 19"/>
          <p:cNvSpPr>
            <a:spLocks/>
          </p:cNvSpPr>
          <p:nvPr/>
        </p:nvSpPr>
        <p:spPr bwMode="auto">
          <a:xfrm>
            <a:off x="6751638" y="3379788"/>
            <a:ext cx="223837" cy="255588"/>
          </a:xfrm>
          <a:custGeom>
            <a:avLst/>
            <a:gdLst/>
            <a:ahLst/>
            <a:cxnLst>
              <a:cxn ang="0">
                <a:pos x="114" y="20"/>
              </a:cxn>
              <a:cxn ang="0">
                <a:pos x="125" y="31"/>
              </a:cxn>
              <a:cxn ang="0">
                <a:pos x="136" y="45"/>
              </a:cxn>
              <a:cxn ang="0">
                <a:pos x="141" y="58"/>
              </a:cxn>
              <a:cxn ang="0">
                <a:pos x="136" y="73"/>
              </a:cxn>
              <a:cxn ang="0">
                <a:pos x="130" y="85"/>
              </a:cxn>
              <a:cxn ang="0">
                <a:pos x="120" y="95"/>
              </a:cxn>
              <a:cxn ang="0">
                <a:pos x="105" y="102"/>
              </a:cxn>
              <a:cxn ang="0">
                <a:pos x="90" y="110"/>
              </a:cxn>
              <a:cxn ang="0">
                <a:pos x="78" y="119"/>
              </a:cxn>
              <a:cxn ang="0">
                <a:pos x="70" y="126"/>
              </a:cxn>
              <a:cxn ang="0">
                <a:pos x="69" y="138"/>
              </a:cxn>
              <a:cxn ang="0">
                <a:pos x="76" y="151"/>
              </a:cxn>
              <a:cxn ang="0">
                <a:pos x="72" y="154"/>
              </a:cxn>
              <a:cxn ang="0">
                <a:pos x="70" y="158"/>
              </a:cxn>
              <a:cxn ang="0">
                <a:pos x="67" y="161"/>
              </a:cxn>
              <a:cxn ang="0">
                <a:pos x="61" y="160"/>
              </a:cxn>
              <a:cxn ang="0">
                <a:pos x="54" y="148"/>
              </a:cxn>
              <a:cxn ang="0">
                <a:pos x="50" y="136"/>
              </a:cxn>
              <a:cxn ang="0">
                <a:pos x="52" y="123"/>
              </a:cxn>
              <a:cxn ang="0">
                <a:pos x="56" y="111"/>
              </a:cxn>
              <a:cxn ang="0">
                <a:pos x="63" y="102"/>
              </a:cxn>
              <a:cxn ang="0">
                <a:pos x="74" y="95"/>
              </a:cxn>
              <a:cxn ang="0">
                <a:pos x="87" y="89"/>
              </a:cxn>
              <a:cxn ang="0">
                <a:pos x="100" y="83"/>
              </a:cxn>
              <a:cxn ang="0">
                <a:pos x="109" y="77"/>
              </a:cxn>
              <a:cxn ang="0">
                <a:pos x="116" y="68"/>
              </a:cxn>
              <a:cxn ang="0">
                <a:pos x="120" y="58"/>
              </a:cxn>
              <a:cxn ang="0">
                <a:pos x="114" y="45"/>
              </a:cxn>
              <a:cxn ang="0">
                <a:pos x="107" y="39"/>
              </a:cxn>
              <a:cxn ang="0">
                <a:pos x="100" y="34"/>
              </a:cxn>
              <a:cxn ang="0">
                <a:pos x="92" y="30"/>
              </a:cxn>
              <a:cxn ang="0">
                <a:pos x="83" y="27"/>
              </a:cxn>
              <a:cxn ang="0">
                <a:pos x="74" y="26"/>
              </a:cxn>
              <a:cxn ang="0">
                <a:pos x="63" y="24"/>
              </a:cxn>
              <a:cxn ang="0">
                <a:pos x="54" y="26"/>
              </a:cxn>
              <a:cxn ang="0">
                <a:pos x="43" y="27"/>
              </a:cxn>
              <a:cxn ang="0">
                <a:pos x="36" y="37"/>
              </a:cxn>
              <a:cxn ang="0">
                <a:pos x="34" y="54"/>
              </a:cxn>
              <a:cxn ang="0">
                <a:pos x="30" y="67"/>
              </a:cxn>
              <a:cxn ang="0">
                <a:pos x="10" y="71"/>
              </a:cxn>
              <a:cxn ang="0">
                <a:pos x="0" y="59"/>
              </a:cxn>
              <a:cxn ang="0">
                <a:pos x="0" y="48"/>
              </a:cxn>
              <a:cxn ang="0">
                <a:pos x="5" y="34"/>
              </a:cxn>
              <a:cxn ang="0">
                <a:pos x="12" y="23"/>
              </a:cxn>
              <a:cxn ang="0">
                <a:pos x="23" y="12"/>
              </a:cxn>
              <a:cxn ang="0">
                <a:pos x="34" y="6"/>
              </a:cxn>
              <a:cxn ang="0">
                <a:pos x="49" y="2"/>
              </a:cxn>
              <a:cxn ang="0">
                <a:pos x="63" y="0"/>
              </a:cxn>
              <a:cxn ang="0">
                <a:pos x="78" y="2"/>
              </a:cxn>
              <a:cxn ang="0">
                <a:pos x="90" y="6"/>
              </a:cxn>
              <a:cxn ang="0">
                <a:pos x="103" y="12"/>
              </a:cxn>
              <a:cxn ang="0">
                <a:pos x="114" y="20"/>
              </a:cxn>
            </a:cxnLst>
            <a:rect l="0" t="0" r="r" b="b"/>
            <a:pathLst>
              <a:path w="141" h="161">
                <a:moveTo>
                  <a:pt x="114" y="20"/>
                </a:moveTo>
                <a:lnTo>
                  <a:pt x="125" y="31"/>
                </a:lnTo>
                <a:lnTo>
                  <a:pt x="136" y="45"/>
                </a:lnTo>
                <a:lnTo>
                  <a:pt x="141" y="58"/>
                </a:lnTo>
                <a:lnTo>
                  <a:pt x="136" y="73"/>
                </a:lnTo>
                <a:lnTo>
                  <a:pt x="130" y="85"/>
                </a:lnTo>
                <a:lnTo>
                  <a:pt x="120" y="95"/>
                </a:lnTo>
                <a:lnTo>
                  <a:pt x="105" y="102"/>
                </a:lnTo>
                <a:lnTo>
                  <a:pt x="90" y="110"/>
                </a:lnTo>
                <a:lnTo>
                  <a:pt x="78" y="119"/>
                </a:lnTo>
                <a:lnTo>
                  <a:pt x="70" y="126"/>
                </a:lnTo>
                <a:lnTo>
                  <a:pt x="69" y="138"/>
                </a:lnTo>
                <a:lnTo>
                  <a:pt x="76" y="151"/>
                </a:lnTo>
                <a:lnTo>
                  <a:pt x="72" y="154"/>
                </a:lnTo>
                <a:lnTo>
                  <a:pt x="70" y="158"/>
                </a:lnTo>
                <a:lnTo>
                  <a:pt x="67" y="161"/>
                </a:lnTo>
                <a:lnTo>
                  <a:pt x="61" y="160"/>
                </a:lnTo>
                <a:lnTo>
                  <a:pt x="54" y="148"/>
                </a:lnTo>
                <a:lnTo>
                  <a:pt x="50" y="136"/>
                </a:lnTo>
                <a:lnTo>
                  <a:pt x="52" y="123"/>
                </a:lnTo>
                <a:lnTo>
                  <a:pt x="56" y="111"/>
                </a:lnTo>
                <a:lnTo>
                  <a:pt x="63" y="102"/>
                </a:lnTo>
                <a:lnTo>
                  <a:pt x="74" y="95"/>
                </a:lnTo>
                <a:lnTo>
                  <a:pt x="87" y="89"/>
                </a:lnTo>
                <a:lnTo>
                  <a:pt x="100" y="83"/>
                </a:lnTo>
                <a:lnTo>
                  <a:pt x="109" y="77"/>
                </a:lnTo>
                <a:lnTo>
                  <a:pt x="116" y="68"/>
                </a:lnTo>
                <a:lnTo>
                  <a:pt x="120" y="58"/>
                </a:lnTo>
                <a:lnTo>
                  <a:pt x="114" y="45"/>
                </a:lnTo>
                <a:lnTo>
                  <a:pt x="107" y="39"/>
                </a:lnTo>
                <a:lnTo>
                  <a:pt x="100" y="34"/>
                </a:lnTo>
                <a:lnTo>
                  <a:pt x="92" y="30"/>
                </a:lnTo>
                <a:lnTo>
                  <a:pt x="83" y="27"/>
                </a:lnTo>
                <a:lnTo>
                  <a:pt x="74" y="26"/>
                </a:lnTo>
                <a:lnTo>
                  <a:pt x="63" y="24"/>
                </a:lnTo>
                <a:lnTo>
                  <a:pt x="54" y="26"/>
                </a:lnTo>
                <a:lnTo>
                  <a:pt x="43" y="27"/>
                </a:lnTo>
                <a:lnTo>
                  <a:pt x="36" y="37"/>
                </a:lnTo>
                <a:lnTo>
                  <a:pt x="34" y="54"/>
                </a:lnTo>
                <a:lnTo>
                  <a:pt x="30" y="67"/>
                </a:lnTo>
                <a:lnTo>
                  <a:pt x="10" y="71"/>
                </a:lnTo>
                <a:lnTo>
                  <a:pt x="0" y="59"/>
                </a:lnTo>
                <a:lnTo>
                  <a:pt x="0" y="48"/>
                </a:lnTo>
                <a:lnTo>
                  <a:pt x="5" y="34"/>
                </a:lnTo>
                <a:lnTo>
                  <a:pt x="12" y="23"/>
                </a:lnTo>
                <a:lnTo>
                  <a:pt x="23" y="12"/>
                </a:lnTo>
                <a:lnTo>
                  <a:pt x="34" y="6"/>
                </a:lnTo>
                <a:lnTo>
                  <a:pt x="49" y="2"/>
                </a:lnTo>
                <a:lnTo>
                  <a:pt x="63" y="0"/>
                </a:lnTo>
                <a:lnTo>
                  <a:pt x="78" y="2"/>
                </a:lnTo>
                <a:lnTo>
                  <a:pt x="90" y="6"/>
                </a:lnTo>
                <a:lnTo>
                  <a:pt x="103" y="12"/>
                </a:lnTo>
                <a:lnTo>
                  <a:pt x="114" y="20"/>
                </a:lnTo>
                <a:close/>
              </a:path>
            </a:pathLst>
          </a:custGeom>
          <a:solidFill>
            <a:srgbClr val="FF0016"/>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84" name="Freeform 20"/>
          <p:cNvSpPr>
            <a:spLocks/>
          </p:cNvSpPr>
          <p:nvPr/>
        </p:nvSpPr>
        <p:spPr bwMode="auto">
          <a:xfrm>
            <a:off x="4989513" y="3502025"/>
            <a:ext cx="739775" cy="561975"/>
          </a:xfrm>
          <a:custGeom>
            <a:avLst/>
            <a:gdLst/>
            <a:ahLst/>
            <a:cxnLst>
              <a:cxn ang="0">
                <a:pos x="466" y="16"/>
              </a:cxn>
              <a:cxn ang="0">
                <a:pos x="419" y="43"/>
              </a:cxn>
              <a:cxn ang="0">
                <a:pos x="373" y="71"/>
              </a:cxn>
              <a:cxn ang="0">
                <a:pos x="329" y="102"/>
              </a:cxn>
              <a:cxn ang="0">
                <a:pos x="293" y="139"/>
              </a:cxn>
              <a:cxn ang="0">
                <a:pos x="271" y="157"/>
              </a:cxn>
              <a:cxn ang="0">
                <a:pos x="248" y="168"/>
              </a:cxn>
              <a:cxn ang="0">
                <a:pos x="222" y="179"/>
              </a:cxn>
              <a:cxn ang="0">
                <a:pos x="199" y="189"/>
              </a:cxn>
              <a:cxn ang="0">
                <a:pos x="164" y="220"/>
              </a:cxn>
              <a:cxn ang="0">
                <a:pos x="128" y="250"/>
              </a:cxn>
              <a:cxn ang="0">
                <a:pos x="93" y="279"/>
              </a:cxn>
              <a:cxn ang="0">
                <a:pos x="62" y="310"/>
              </a:cxn>
              <a:cxn ang="0">
                <a:pos x="88" y="313"/>
              </a:cxn>
              <a:cxn ang="0">
                <a:pos x="115" y="309"/>
              </a:cxn>
              <a:cxn ang="0">
                <a:pos x="139" y="306"/>
              </a:cxn>
              <a:cxn ang="0">
                <a:pos x="160" y="316"/>
              </a:cxn>
              <a:cxn ang="0">
                <a:pos x="139" y="328"/>
              </a:cxn>
              <a:cxn ang="0">
                <a:pos x="106" y="332"/>
              </a:cxn>
              <a:cxn ang="0">
                <a:pos x="75" y="340"/>
              </a:cxn>
              <a:cxn ang="0">
                <a:pos x="44" y="350"/>
              </a:cxn>
              <a:cxn ang="0">
                <a:pos x="15" y="354"/>
              </a:cxn>
              <a:cxn ang="0">
                <a:pos x="0" y="338"/>
              </a:cxn>
              <a:cxn ang="0">
                <a:pos x="17" y="318"/>
              </a:cxn>
              <a:cxn ang="0">
                <a:pos x="28" y="292"/>
              </a:cxn>
              <a:cxn ang="0">
                <a:pos x="35" y="267"/>
              </a:cxn>
              <a:cxn ang="0">
                <a:pos x="48" y="247"/>
              </a:cxn>
              <a:cxn ang="0">
                <a:pos x="68" y="245"/>
              </a:cxn>
              <a:cxn ang="0">
                <a:pos x="69" y="260"/>
              </a:cxn>
              <a:cxn ang="0">
                <a:pos x="97" y="250"/>
              </a:cxn>
              <a:cxn ang="0">
                <a:pos x="139" y="213"/>
              </a:cxn>
              <a:cxn ang="0">
                <a:pos x="179" y="177"/>
              </a:cxn>
              <a:cxn ang="0">
                <a:pos x="226" y="149"/>
              </a:cxn>
              <a:cxn ang="0">
                <a:pos x="273" y="120"/>
              </a:cxn>
              <a:cxn ang="0">
                <a:pos x="319" y="83"/>
              </a:cxn>
              <a:cxn ang="0">
                <a:pos x="369" y="49"/>
              </a:cxn>
              <a:cxn ang="0">
                <a:pos x="420" y="16"/>
              </a:cxn>
              <a:cxn ang="0">
                <a:pos x="451" y="0"/>
              </a:cxn>
              <a:cxn ang="0">
                <a:pos x="462" y="3"/>
              </a:cxn>
            </a:cxnLst>
            <a:rect l="0" t="0" r="r" b="b"/>
            <a:pathLst>
              <a:path w="466" h="354">
                <a:moveTo>
                  <a:pt x="466" y="6"/>
                </a:moveTo>
                <a:lnTo>
                  <a:pt x="466" y="16"/>
                </a:lnTo>
                <a:lnTo>
                  <a:pt x="442" y="30"/>
                </a:lnTo>
                <a:lnTo>
                  <a:pt x="419" y="43"/>
                </a:lnTo>
                <a:lnTo>
                  <a:pt x="397" y="58"/>
                </a:lnTo>
                <a:lnTo>
                  <a:pt x="373" y="71"/>
                </a:lnTo>
                <a:lnTo>
                  <a:pt x="349" y="87"/>
                </a:lnTo>
                <a:lnTo>
                  <a:pt x="329" y="102"/>
                </a:lnTo>
                <a:lnTo>
                  <a:pt x="309" y="120"/>
                </a:lnTo>
                <a:lnTo>
                  <a:pt x="293" y="139"/>
                </a:lnTo>
                <a:lnTo>
                  <a:pt x="282" y="148"/>
                </a:lnTo>
                <a:lnTo>
                  <a:pt x="271" y="157"/>
                </a:lnTo>
                <a:lnTo>
                  <a:pt x="259" y="163"/>
                </a:lnTo>
                <a:lnTo>
                  <a:pt x="248" y="168"/>
                </a:lnTo>
                <a:lnTo>
                  <a:pt x="235" y="173"/>
                </a:lnTo>
                <a:lnTo>
                  <a:pt x="222" y="179"/>
                </a:lnTo>
                <a:lnTo>
                  <a:pt x="211" y="183"/>
                </a:lnTo>
                <a:lnTo>
                  <a:pt x="199" y="189"/>
                </a:lnTo>
                <a:lnTo>
                  <a:pt x="182" y="205"/>
                </a:lnTo>
                <a:lnTo>
                  <a:pt x="164" y="220"/>
                </a:lnTo>
                <a:lnTo>
                  <a:pt x="146" y="235"/>
                </a:lnTo>
                <a:lnTo>
                  <a:pt x="128" y="250"/>
                </a:lnTo>
                <a:lnTo>
                  <a:pt x="109" y="264"/>
                </a:lnTo>
                <a:lnTo>
                  <a:pt x="93" y="279"/>
                </a:lnTo>
                <a:lnTo>
                  <a:pt x="77" y="294"/>
                </a:lnTo>
                <a:lnTo>
                  <a:pt x="62" y="310"/>
                </a:lnTo>
                <a:lnTo>
                  <a:pt x="75" y="313"/>
                </a:lnTo>
                <a:lnTo>
                  <a:pt x="88" y="313"/>
                </a:lnTo>
                <a:lnTo>
                  <a:pt x="100" y="310"/>
                </a:lnTo>
                <a:lnTo>
                  <a:pt x="115" y="309"/>
                </a:lnTo>
                <a:lnTo>
                  <a:pt x="128" y="306"/>
                </a:lnTo>
                <a:lnTo>
                  <a:pt x="139" y="306"/>
                </a:lnTo>
                <a:lnTo>
                  <a:pt x="149" y="309"/>
                </a:lnTo>
                <a:lnTo>
                  <a:pt x="160" y="316"/>
                </a:lnTo>
                <a:lnTo>
                  <a:pt x="155" y="328"/>
                </a:lnTo>
                <a:lnTo>
                  <a:pt x="139" y="328"/>
                </a:lnTo>
                <a:lnTo>
                  <a:pt x="122" y="331"/>
                </a:lnTo>
                <a:lnTo>
                  <a:pt x="106" y="332"/>
                </a:lnTo>
                <a:lnTo>
                  <a:pt x="91" y="337"/>
                </a:lnTo>
                <a:lnTo>
                  <a:pt x="75" y="340"/>
                </a:lnTo>
                <a:lnTo>
                  <a:pt x="59" y="344"/>
                </a:lnTo>
                <a:lnTo>
                  <a:pt x="44" y="350"/>
                </a:lnTo>
                <a:lnTo>
                  <a:pt x="28" y="354"/>
                </a:lnTo>
                <a:lnTo>
                  <a:pt x="15" y="354"/>
                </a:lnTo>
                <a:lnTo>
                  <a:pt x="4" y="347"/>
                </a:lnTo>
                <a:lnTo>
                  <a:pt x="0" y="338"/>
                </a:lnTo>
                <a:lnTo>
                  <a:pt x="6" y="328"/>
                </a:lnTo>
                <a:lnTo>
                  <a:pt x="17" y="318"/>
                </a:lnTo>
                <a:lnTo>
                  <a:pt x="22" y="306"/>
                </a:lnTo>
                <a:lnTo>
                  <a:pt x="28" y="292"/>
                </a:lnTo>
                <a:lnTo>
                  <a:pt x="31" y="279"/>
                </a:lnTo>
                <a:lnTo>
                  <a:pt x="35" y="267"/>
                </a:lnTo>
                <a:lnTo>
                  <a:pt x="40" y="256"/>
                </a:lnTo>
                <a:lnTo>
                  <a:pt x="48" y="247"/>
                </a:lnTo>
                <a:lnTo>
                  <a:pt x="60" y="239"/>
                </a:lnTo>
                <a:lnTo>
                  <a:pt x="68" y="245"/>
                </a:lnTo>
                <a:lnTo>
                  <a:pt x="69" y="253"/>
                </a:lnTo>
                <a:lnTo>
                  <a:pt x="69" y="260"/>
                </a:lnTo>
                <a:lnTo>
                  <a:pt x="73" y="266"/>
                </a:lnTo>
                <a:lnTo>
                  <a:pt x="97" y="250"/>
                </a:lnTo>
                <a:lnTo>
                  <a:pt x="117" y="230"/>
                </a:lnTo>
                <a:lnTo>
                  <a:pt x="139" y="213"/>
                </a:lnTo>
                <a:lnTo>
                  <a:pt x="159" y="195"/>
                </a:lnTo>
                <a:lnTo>
                  <a:pt x="179" y="177"/>
                </a:lnTo>
                <a:lnTo>
                  <a:pt x="200" y="163"/>
                </a:lnTo>
                <a:lnTo>
                  <a:pt x="226" y="149"/>
                </a:lnTo>
                <a:lnTo>
                  <a:pt x="253" y="140"/>
                </a:lnTo>
                <a:lnTo>
                  <a:pt x="273" y="120"/>
                </a:lnTo>
                <a:lnTo>
                  <a:pt x="295" y="101"/>
                </a:lnTo>
                <a:lnTo>
                  <a:pt x="319" y="83"/>
                </a:lnTo>
                <a:lnTo>
                  <a:pt x="344" y="65"/>
                </a:lnTo>
                <a:lnTo>
                  <a:pt x="369" y="49"/>
                </a:lnTo>
                <a:lnTo>
                  <a:pt x="395" y="33"/>
                </a:lnTo>
                <a:lnTo>
                  <a:pt x="420" y="16"/>
                </a:lnTo>
                <a:lnTo>
                  <a:pt x="446" y="0"/>
                </a:lnTo>
                <a:lnTo>
                  <a:pt x="451" y="0"/>
                </a:lnTo>
                <a:lnTo>
                  <a:pt x="457" y="0"/>
                </a:lnTo>
                <a:lnTo>
                  <a:pt x="462" y="3"/>
                </a:lnTo>
                <a:lnTo>
                  <a:pt x="466" y="6"/>
                </a:lnTo>
                <a:close/>
              </a:path>
            </a:pathLst>
          </a:custGeom>
          <a:solidFill>
            <a:srgbClr val="FF0016"/>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85" name="Freeform 21"/>
          <p:cNvSpPr>
            <a:spLocks/>
          </p:cNvSpPr>
          <p:nvPr/>
        </p:nvSpPr>
        <p:spPr bwMode="auto">
          <a:xfrm>
            <a:off x="6854825" y="3657600"/>
            <a:ext cx="71437" cy="60325"/>
          </a:xfrm>
          <a:custGeom>
            <a:avLst/>
            <a:gdLst/>
            <a:ahLst/>
            <a:cxnLst>
              <a:cxn ang="0">
                <a:pos x="45" y="19"/>
              </a:cxn>
              <a:cxn ang="0">
                <a:pos x="44" y="25"/>
              </a:cxn>
              <a:cxn ang="0">
                <a:pos x="42" y="29"/>
              </a:cxn>
              <a:cxn ang="0">
                <a:pos x="38" y="34"/>
              </a:cxn>
              <a:cxn ang="0">
                <a:pos x="33" y="37"/>
              </a:cxn>
              <a:cxn ang="0">
                <a:pos x="22" y="38"/>
              </a:cxn>
              <a:cxn ang="0">
                <a:pos x="13" y="34"/>
              </a:cxn>
              <a:cxn ang="0">
                <a:pos x="5" y="26"/>
              </a:cxn>
              <a:cxn ang="0">
                <a:pos x="0" y="20"/>
              </a:cxn>
              <a:cxn ang="0">
                <a:pos x="0" y="11"/>
              </a:cxn>
              <a:cxn ang="0">
                <a:pos x="4" y="4"/>
              </a:cxn>
              <a:cxn ang="0">
                <a:pos x="11" y="1"/>
              </a:cxn>
              <a:cxn ang="0">
                <a:pos x="20" y="0"/>
              </a:cxn>
              <a:cxn ang="0">
                <a:pos x="31" y="1"/>
              </a:cxn>
              <a:cxn ang="0">
                <a:pos x="38" y="4"/>
              </a:cxn>
              <a:cxn ang="0">
                <a:pos x="44" y="10"/>
              </a:cxn>
              <a:cxn ang="0">
                <a:pos x="45" y="19"/>
              </a:cxn>
            </a:cxnLst>
            <a:rect l="0" t="0" r="r" b="b"/>
            <a:pathLst>
              <a:path w="45" h="38">
                <a:moveTo>
                  <a:pt x="45" y="19"/>
                </a:moveTo>
                <a:lnTo>
                  <a:pt x="44" y="25"/>
                </a:lnTo>
                <a:lnTo>
                  <a:pt x="42" y="29"/>
                </a:lnTo>
                <a:lnTo>
                  <a:pt x="38" y="34"/>
                </a:lnTo>
                <a:lnTo>
                  <a:pt x="33" y="37"/>
                </a:lnTo>
                <a:lnTo>
                  <a:pt x="22" y="38"/>
                </a:lnTo>
                <a:lnTo>
                  <a:pt x="13" y="34"/>
                </a:lnTo>
                <a:lnTo>
                  <a:pt x="5" y="26"/>
                </a:lnTo>
                <a:lnTo>
                  <a:pt x="0" y="20"/>
                </a:lnTo>
                <a:lnTo>
                  <a:pt x="0" y="11"/>
                </a:lnTo>
                <a:lnTo>
                  <a:pt x="4" y="4"/>
                </a:lnTo>
                <a:lnTo>
                  <a:pt x="11" y="1"/>
                </a:lnTo>
                <a:lnTo>
                  <a:pt x="20" y="0"/>
                </a:lnTo>
                <a:lnTo>
                  <a:pt x="31" y="1"/>
                </a:lnTo>
                <a:lnTo>
                  <a:pt x="38" y="4"/>
                </a:lnTo>
                <a:lnTo>
                  <a:pt x="44" y="10"/>
                </a:lnTo>
                <a:lnTo>
                  <a:pt x="45" y="19"/>
                </a:lnTo>
                <a:close/>
              </a:path>
            </a:pathLst>
          </a:custGeom>
          <a:solidFill>
            <a:srgbClr val="FF0016"/>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86" name="Freeform 22"/>
          <p:cNvSpPr>
            <a:spLocks/>
          </p:cNvSpPr>
          <p:nvPr/>
        </p:nvSpPr>
        <p:spPr bwMode="auto">
          <a:xfrm>
            <a:off x="3482975" y="3040063"/>
            <a:ext cx="5530850" cy="3128963"/>
          </a:xfrm>
          <a:custGeom>
            <a:avLst/>
            <a:gdLst/>
            <a:ahLst/>
            <a:cxnLst>
              <a:cxn ang="0">
                <a:pos x="2979" y="58"/>
              </a:cxn>
              <a:cxn ang="0">
                <a:pos x="3028" y="96"/>
              </a:cxn>
              <a:cxn ang="0">
                <a:pos x="3055" y="161"/>
              </a:cxn>
              <a:cxn ang="0">
                <a:pos x="3093" y="211"/>
              </a:cxn>
              <a:cxn ang="0">
                <a:pos x="3077" y="321"/>
              </a:cxn>
              <a:cxn ang="0">
                <a:pos x="3042" y="437"/>
              </a:cxn>
              <a:cxn ang="0">
                <a:pos x="3130" y="592"/>
              </a:cxn>
              <a:cxn ang="0">
                <a:pos x="3242" y="715"/>
              </a:cxn>
              <a:cxn ang="0">
                <a:pos x="3339" y="830"/>
              </a:cxn>
              <a:cxn ang="0">
                <a:pos x="3290" y="914"/>
              </a:cxn>
              <a:cxn ang="0">
                <a:pos x="3244" y="998"/>
              </a:cxn>
              <a:cxn ang="0">
                <a:pos x="3346" y="1051"/>
              </a:cxn>
              <a:cxn ang="0">
                <a:pos x="3484" y="1080"/>
              </a:cxn>
              <a:cxn ang="0">
                <a:pos x="3433" y="1412"/>
              </a:cxn>
              <a:cxn ang="0">
                <a:pos x="3371" y="1456"/>
              </a:cxn>
              <a:cxn ang="0">
                <a:pos x="3271" y="1474"/>
              </a:cxn>
              <a:cxn ang="0">
                <a:pos x="3142" y="1463"/>
              </a:cxn>
              <a:cxn ang="0">
                <a:pos x="3173" y="1629"/>
              </a:cxn>
              <a:cxn ang="0">
                <a:pos x="3262" y="1702"/>
              </a:cxn>
              <a:cxn ang="0">
                <a:pos x="3319" y="1772"/>
              </a:cxn>
              <a:cxn ang="0">
                <a:pos x="3282" y="1893"/>
              </a:cxn>
              <a:cxn ang="0">
                <a:pos x="3202" y="1914"/>
              </a:cxn>
              <a:cxn ang="0">
                <a:pos x="3122" y="1912"/>
              </a:cxn>
              <a:cxn ang="0">
                <a:pos x="3124" y="1874"/>
              </a:cxn>
              <a:cxn ang="0">
                <a:pos x="3171" y="1825"/>
              </a:cxn>
              <a:cxn ang="0">
                <a:pos x="3088" y="1767"/>
              </a:cxn>
              <a:cxn ang="0">
                <a:pos x="3022" y="1787"/>
              </a:cxn>
              <a:cxn ang="0">
                <a:pos x="2990" y="1881"/>
              </a:cxn>
              <a:cxn ang="0">
                <a:pos x="2982" y="1953"/>
              </a:cxn>
              <a:cxn ang="0">
                <a:pos x="2802" y="1965"/>
              </a:cxn>
              <a:cxn ang="0">
                <a:pos x="2695" y="1946"/>
              </a:cxn>
              <a:cxn ang="0">
                <a:pos x="2773" y="1912"/>
              </a:cxn>
              <a:cxn ang="0">
                <a:pos x="2853" y="1855"/>
              </a:cxn>
              <a:cxn ang="0">
                <a:pos x="2759" y="1756"/>
              </a:cxn>
              <a:cxn ang="0">
                <a:pos x="1200" y="1971"/>
              </a:cxn>
              <a:cxn ang="0">
                <a:pos x="2615" y="1602"/>
              </a:cxn>
              <a:cxn ang="0">
                <a:pos x="2579" y="1469"/>
              </a:cxn>
              <a:cxn ang="0">
                <a:pos x="2530" y="1297"/>
              </a:cxn>
              <a:cxn ang="0">
                <a:pos x="2457" y="1266"/>
              </a:cxn>
              <a:cxn ang="0">
                <a:pos x="2426" y="1183"/>
              </a:cxn>
              <a:cxn ang="0">
                <a:pos x="2362" y="1177"/>
              </a:cxn>
              <a:cxn ang="0">
                <a:pos x="2397" y="1127"/>
              </a:cxn>
              <a:cxn ang="0">
                <a:pos x="2499" y="1053"/>
              </a:cxn>
              <a:cxn ang="0">
                <a:pos x="2542" y="958"/>
              </a:cxn>
              <a:cxn ang="0">
                <a:pos x="2542" y="865"/>
              </a:cxn>
              <a:cxn ang="0">
                <a:pos x="2517" y="718"/>
              </a:cxn>
              <a:cxn ang="0">
                <a:pos x="4" y="972"/>
              </a:cxn>
              <a:cxn ang="0">
                <a:pos x="2537" y="610"/>
              </a:cxn>
              <a:cxn ang="0">
                <a:pos x="2617" y="412"/>
              </a:cxn>
              <a:cxn ang="0">
                <a:pos x="2644" y="465"/>
              </a:cxn>
              <a:cxn ang="0">
                <a:pos x="2675" y="523"/>
              </a:cxn>
              <a:cxn ang="0">
                <a:pos x="2633" y="601"/>
              </a:cxn>
              <a:cxn ang="0">
                <a:pos x="2686" y="678"/>
              </a:cxn>
              <a:cxn ang="0">
                <a:pos x="2731" y="595"/>
              </a:cxn>
              <a:cxn ang="0">
                <a:pos x="2800" y="505"/>
              </a:cxn>
              <a:cxn ang="0">
                <a:pos x="2715" y="446"/>
              </a:cxn>
              <a:cxn ang="0">
                <a:pos x="2615" y="361"/>
              </a:cxn>
              <a:cxn ang="0">
                <a:pos x="2606" y="251"/>
              </a:cxn>
              <a:cxn ang="0">
                <a:pos x="2642" y="180"/>
              </a:cxn>
              <a:cxn ang="0">
                <a:pos x="2766" y="110"/>
              </a:cxn>
              <a:cxn ang="0">
                <a:pos x="2791" y="5"/>
              </a:cxn>
              <a:cxn ang="0">
                <a:pos x="2900" y="24"/>
              </a:cxn>
            </a:cxnLst>
            <a:rect l="0" t="0" r="r" b="b"/>
            <a:pathLst>
              <a:path w="3484" h="1971">
                <a:moveTo>
                  <a:pt x="2928" y="55"/>
                </a:moveTo>
                <a:lnTo>
                  <a:pt x="2940" y="55"/>
                </a:lnTo>
                <a:lnTo>
                  <a:pt x="2955" y="55"/>
                </a:lnTo>
                <a:lnTo>
                  <a:pt x="2968" y="56"/>
                </a:lnTo>
                <a:lnTo>
                  <a:pt x="2979" y="58"/>
                </a:lnTo>
                <a:lnTo>
                  <a:pt x="2990" y="62"/>
                </a:lnTo>
                <a:lnTo>
                  <a:pt x="3000" y="67"/>
                </a:lnTo>
                <a:lnTo>
                  <a:pt x="3010" y="74"/>
                </a:lnTo>
                <a:lnTo>
                  <a:pt x="3017" y="83"/>
                </a:lnTo>
                <a:lnTo>
                  <a:pt x="3028" y="96"/>
                </a:lnTo>
                <a:lnTo>
                  <a:pt x="3033" y="110"/>
                </a:lnTo>
                <a:lnTo>
                  <a:pt x="3035" y="126"/>
                </a:lnTo>
                <a:lnTo>
                  <a:pt x="3033" y="142"/>
                </a:lnTo>
                <a:lnTo>
                  <a:pt x="3044" y="151"/>
                </a:lnTo>
                <a:lnTo>
                  <a:pt x="3055" y="161"/>
                </a:lnTo>
                <a:lnTo>
                  <a:pt x="3066" y="170"/>
                </a:lnTo>
                <a:lnTo>
                  <a:pt x="3075" y="179"/>
                </a:lnTo>
                <a:lnTo>
                  <a:pt x="3084" y="188"/>
                </a:lnTo>
                <a:lnTo>
                  <a:pt x="3091" y="198"/>
                </a:lnTo>
                <a:lnTo>
                  <a:pt x="3093" y="211"/>
                </a:lnTo>
                <a:lnTo>
                  <a:pt x="3093" y="225"/>
                </a:lnTo>
                <a:lnTo>
                  <a:pt x="3093" y="250"/>
                </a:lnTo>
                <a:lnTo>
                  <a:pt x="3090" y="275"/>
                </a:lnTo>
                <a:lnTo>
                  <a:pt x="3084" y="299"/>
                </a:lnTo>
                <a:lnTo>
                  <a:pt x="3077" y="321"/>
                </a:lnTo>
                <a:lnTo>
                  <a:pt x="3066" y="343"/>
                </a:lnTo>
                <a:lnTo>
                  <a:pt x="3055" y="364"/>
                </a:lnTo>
                <a:lnTo>
                  <a:pt x="3042" y="384"/>
                </a:lnTo>
                <a:lnTo>
                  <a:pt x="3028" y="405"/>
                </a:lnTo>
                <a:lnTo>
                  <a:pt x="3042" y="437"/>
                </a:lnTo>
                <a:lnTo>
                  <a:pt x="3057" y="468"/>
                </a:lnTo>
                <a:lnTo>
                  <a:pt x="3073" y="501"/>
                </a:lnTo>
                <a:lnTo>
                  <a:pt x="3090" y="532"/>
                </a:lnTo>
                <a:lnTo>
                  <a:pt x="3108" y="563"/>
                </a:lnTo>
                <a:lnTo>
                  <a:pt x="3130" y="592"/>
                </a:lnTo>
                <a:lnTo>
                  <a:pt x="3153" y="620"/>
                </a:lnTo>
                <a:lnTo>
                  <a:pt x="3182" y="648"/>
                </a:lnTo>
                <a:lnTo>
                  <a:pt x="3200" y="671"/>
                </a:lnTo>
                <a:lnTo>
                  <a:pt x="3220" y="693"/>
                </a:lnTo>
                <a:lnTo>
                  <a:pt x="3242" y="715"/>
                </a:lnTo>
                <a:lnTo>
                  <a:pt x="3264" y="737"/>
                </a:lnTo>
                <a:lnTo>
                  <a:pt x="3286" y="759"/>
                </a:lnTo>
                <a:lnTo>
                  <a:pt x="3308" y="783"/>
                </a:lnTo>
                <a:lnTo>
                  <a:pt x="3324" y="805"/>
                </a:lnTo>
                <a:lnTo>
                  <a:pt x="3339" y="830"/>
                </a:lnTo>
                <a:lnTo>
                  <a:pt x="3337" y="849"/>
                </a:lnTo>
                <a:lnTo>
                  <a:pt x="3330" y="868"/>
                </a:lnTo>
                <a:lnTo>
                  <a:pt x="3319" y="885"/>
                </a:lnTo>
                <a:lnTo>
                  <a:pt x="3306" y="899"/>
                </a:lnTo>
                <a:lnTo>
                  <a:pt x="3290" y="914"/>
                </a:lnTo>
                <a:lnTo>
                  <a:pt x="3275" y="929"/>
                </a:lnTo>
                <a:lnTo>
                  <a:pt x="3259" y="942"/>
                </a:lnTo>
                <a:lnTo>
                  <a:pt x="3242" y="956"/>
                </a:lnTo>
                <a:lnTo>
                  <a:pt x="3242" y="976"/>
                </a:lnTo>
                <a:lnTo>
                  <a:pt x="3244" y="998"/>
                </a:lnTo>
                <a:lnTo>
                  <a:pt x="3248" y="1019"/>
                </a:lnTo>
                <a:lnTo>
                  <a:pt x="3261" y="1037"/>
                </a:lnTo>
                <a:lnTo>
                  <a:pt x="3290" y="1041"/>
                </a:lnTo>
                <a:lnTo>
                  <a:pt x="3317" y="1046"/>
                </a:lnTo>
                <a:lnTo>
                  <a:pt x="3346" y="1051"/>
                </a:lnTo>
                <a:lnTo>
                  <a:pt x="3373" y="1056"/>
                </a:lnTo>
                <a:lnTo>
                  <a:pt x="3401" y="1062"/>
                </a:lnTo>
                <a:lnTo>
                  <a:pt x="3428" y="1068"/>
                </a:lnTo>
                <a:lnTo>
                  <a:pt x="3457" y="1074"/>
                </a:lnTo>
                <a:lnTo>
                  <a:pt x="3484" y="1080"/>
                </a:lnTo>
                <a:lnTo>
                  <a:pt x="3466" y="1159"/>
                </a:lnTo>
                <a:lnTo>
                  <a:pt x="3453" y="1257"/>
                </a:lnTo>
                <a:lnTo>
                  <a:pt x="3444" y="1345"/>
                </a:lnTo>
                <a:lnTo>
                  <a:pt x="3444" y="1401"/>
                </a:lnTo>
                <a:lnTo>
                  <a:pt x="3433" y="1412"/>
                </a:lnTo>
                <a:lnTo>
                  <a:pt x="3422" y="1421"/>
                </a:lnTo>
                <a:lnTo>
                  <a:pt x="3410" y="1429"/>
                </a:lnTo>
                <a:lnTo>
                  <a:pt x="3397" y="1438"/>
                </a:lnTo>
                <a:lnTo>
                  <a:pt x="3382" y="1447"/>
                </a:lnTo>
                <a:lnTo>
                  <a:pt x="3371" y="1456"/>
                </a:lnTo>
                <a:lnTo>
                  <a:pt x="3361" y="1466"/>
                </a:lnTo>
                <a:lnTo>
                  <a:pt x="3353" y="1477"/>
                </a:lnTo>
                <a:lnTo>
                  <a:pt x="3333" y="1477"/>
                </a:lnTo>
                <a:lnTo>
                  <a:pt x="3304" y="1477"/>
                </a:lnTo>
                <a:lnTo>
                  <a:pt x="3271" y="1474"/>
                </a:lnTo>
                <a:lnTo>
                  <a:pt x="3237" y="1472"/>
                </a:lnTo>
                <a:lnTo>
                  <a:pt x="3204" y="1469"/>
                </a:lnTo>
                <a:lnTo>
                  <a:pt x="3175" y="1466"/>
                </a:lnTo>
                <a:lnTo>
                  <a:pt x="3153" y="1465"/>
                </a:lnTo>
                <a:lnTo>
                  <a:pt x="3142" y="1463"/>
                </a:lnTo>
                <a:lnTo>
                  <a:pt x="3144" y="1500"/>
                </a:lnTo>
                <a:lnTo>
                  <a:pt x="3144" y="1539"/>
                </a:lnTo>
                <a:lnTo>
                  <a:pt x="3146" y="1578"/>
                </a:lnTo>
                <a:lnTo>
                  <a:pt x="3153" y="1615"/>
                </a:lnTo>
                <a:lnTo>
                  <a:pt x="3173" y="1629"/>
                </a:lnTo>
                <a:lnTo>
                  <a:pt x="3193" y="1642"/>
                </a:lnTo>
                <a:lnTo>
                  <a:pt x="3213" y="1657"/>
                </a:lnTo>
                <a:lnTo>
                  <a:pt x="3231" y="1671"/>
                </a:lnTo>
                <a:lnTo>
                  <a:pt x="3248" y="1686"/>
                </a:lnTo>
                <a:lnTo>
                  <a:pt x="3262" y="1702"/>
                </a:lnTo>
                <a:lnTo>
                  <a:pt x="3275" y="1722"/>
                </a:lnTo>
                <a:lnTo>
                  <a:pt x="3282" y="1741"/>
                </a:lnTo>
                <a:lnTo>
                  <a:pt x="3301" y="1748"/>
                </a:lnTo>
                <a:lnTo>
                  <a:pt x="3311" y="1759"/>
                </a:lnTo>
                <a:lnTo>
                  <a:pt x="3319" y="1772"/>
                </a:lnTo>
                <a:lnTo>
                  <a:pt x="3321" y="1788"/>
                </a:lnTo>
                <a:lnTo>
                  <a:pt x="3310" y="1813"/>
                </a:lnTo>
                <a:lnTo>
                  <a:pt x="3299" y="1838"/>
                </a:lnTo>
                <a:lnTo>
                  <a:pt x="3290" y="1865"/>
                </a:lnTo>
                <a:lnTo>
                  <a:pt x="3282" y="1893"/>
                </a:lnTo>
                <a:lnTo>
                  <a:pt x="3268" y="1900"/>
                </a:lnTo>
                <a:lnTo>
                  <a:pt x="3253" y="1906"/>
                </a:lnTo>
                <a:lnTo>
                  <a:pt x="3237" y="1911"/>
                </a:lnTo>
                <a:lnTo>
                  <a:pt x="3220" y="1912"/>
                </a:lnTo>
                <a:lnTo>
                  <a:pt x="3202" y="1914"/>
                </a:lnTo>
                <a:lnTo>
                  <a:pt x="3184" y="1915"/>
                </a:lnTo>
                <a:lnTo>
                  <a:pt x="3166" y="1915"/>
                </a:lnTo>
                <a:lnTo>
                  <a:pt x="3148" y="1915"/>
                </a:lnTo>
                <a:lnTo>
                  <a:pt x="3137" y="1914"/>
                </a:lnTo>
                <a:lnTo>
                  <a:pt x="3122" y="1912"/>
                </a:lnTo>
                <a:lnTo>
                  <a:pt x="3108" y="1909"/>
                </a:lnTo>
                <a:lnTo>
                  <a:pt x="3099" y="1905"/>
                </a:lnTo>
                <a:lnTo>
                  <a:pt x="3106" y="1894"/>
                </a:lnTo>
                <a:lnTo>
                  <a:pt x="3115" y="1884"/>
                </a:lnTo>
                <a:lnTo>
                  <a:pt x="3124" y="1874"/>
                </a:lnTo>
                <a:lnTo>
                  <a:pt x="3133" y="1865"/>
                </a:lnTo>
                <a:lnTo>
                  <a:pt x="3144" y="1855"/>
                </a:lnTo>
                <a:lnTo>
                  <a:pt x="3153" y="1846"/>
                </a:lnTo>
                <a:lnTo>
                  <a:pt x="3162" y="1835"/>
                </a:lnTo>
                <a:lnTo>
                  <a:pt x="3171" y="1825"/>
                </a:lnTo>
                <a:lnTo>
                  <a:pt x="3157" y="1812"/>
                </a:lnTo>
                <a:lnTo>
                  <a:pt x="3140" y="1798"/>
                </a:lnTo>
                <a:lnTo>
                  <a:pt x="3124" y="1787"/>
                </a:lnTo>
                <a:lnTo>
                  <a:pt x="3106" y="1776"/>
                </a:lnTo>
                <a:lnTo>
                  <a:pt x="3088" y="1767"/>
                </a:lnTo>
                <a:lnTo>
                  <a:pt x="3068" y="1759"/>
                </a:lnTo>
                <a:lnTo>
                  <a:pt x="3048" y="1751"/>
                </a:lnTo>
                <a:lnTo>
                  <a:pt x="3028" y="1745"/>
                </a:lnTo>
                <a:lnTo>
                  <a:pt x="3028" y="1766"/>
                </a:lnTo>
                <a:lnTo>
                  <a:pt x="3022" y="1787"/>
                </a:lnTo>
                <a:lnTo>
                  <a:pt x="3015" y="1806"/>
                </a:lnTo>
                <a:lnTo>
                  <a:pt x="3006" y="1825"/>
                </a:lnTo>
                <a:lnTo>
                  <a:pt x="2997" y="1843"/>
                </a:lnTo>
                <a:lnTo>
                  <a:pt x="2991" y="1862"/>
                </a:lnTo>
                <a:lnTo>
                  <a:pt x="2990" y="1881"/>
                </a:lnTo>
                <a:lnTo>
                  <a:pt x="2993" y="1902"/>
                </a:lnTo>
                <a:lnTo>
                  <a:pt x="2990" y="1914"/>
                </a:lnTo>
                <a:lnTo>
                  <a:pt x="2986" y="1925"/>
                </a:lnTo>
                <a:lnTo>
                  <a:pt x="2982" y="1939"/>
                </a:lnTo>
                <a:lnTo>
                  <a:pt x="2982" y="1953"/>
                </a:lnTo>
                <a:lnTo>
                  <a:pt x="2946" y="1952"/>
                </a:lnTo>
                <a:lnTo>
                  <a:pt x="2910" y="1953"/>
                </a:lnTo>
                <a:lnTo>
                  <a:pt x="2873" y="1958"/>
                </a:lnTo>
                <a:lnTo>
                  <a:pt x="2837" y="1961"/>
                </a:lnTo>
                <a:lnTo>
                  <a:pt x="2802" y="1965"/>
                </a:lnTo>
                <a:lnTo>
                  <a:pt x="2768" y="1967"/>
                </a:lnTo>
                <a:lnTo>
                  <a:pt x="2731" y="1967"/>
                </a:lnTo>
                <a:lnTo>
                  <a:pt x="2697" y="1962"/>
                </a:lnTo>
                <a:lnTo>
                  <a:pt x="2690" y="1955"/>
                </a:lnTo>
                <a:lnTo>
                  <a:pt x="2695" y="1946"/>
                </a:lnTo>
                <a:lnTo>
                  <a:pt x="2704" y="1939"/>
                </a:lnTo>
                <a:lnTo>
                  <a:pt x="2715" y="1933"/>
                </a:lnTo>
                <a:lnTo>
                  <a:pt x="2735" y="1928"/>
                </a:lnTo>
                <a:lnTo>
                  <a:pt x="2753" y="1921"/>
                </a:lnTo>
                <a:lnTo>
                  <a:pt x="2773" y="1912"/>
                </a:lnTo>
                <a:lnTo>
                  <a:pt x="2790" y="1902"/>
                </a:lnTo>
                <a:lnTo>
                  <a:pt x="2808" y="1891"/>
                </a:lnTo>
                <a:lnTo>
                  <a:pt x="2824" y="1880"/>
                </a:lnTo>
                <a:lnTo>
                  <a:pt x="2839" y="1868"/>
                </a:lnTo>
                <a:lnTo>
                  <a:pt x="2853" y="1855"/>
                </a:lnTo>
                <a:lnTo>
                  <a:pt x="2826" y="1840"/>
                </a:lnTo>
                <a:lnTo>
                  <a:pt x="2804" y="1822"/>
                </a:lnTo>
                <a:lnTo>
                  <a:pt x="2786" y="1801"/>
                </a:lnTo>
                <a:lnTo>
                  <a:pt x="2771" y="1779"/>
                </a:lnTo>
                <a:lnTo>
                  <a:pt x="2759" y="1756"/>
                </a:lnTo>
                <a:lnTo>
                  <a:pt x="2746" y="1732"/>
                </a:lnTo>
                <a:lnTo>
                  <a:pt x="2731" y="1708"/>
                </a:lnTo>
                <a:lnTo>
                  <a:pt x="2715" y="1686"/>
                </a:lnTo>
                <a:lnTo>
                  <a:pt x="1831" y="1540"/>
                </a:lnTo>
                <a:lnTo>
                  <a:pt x="1200" y="1971"/>
                </a:lnTo>
                <a:lnTo>
                  <a:pt x="1149" y="1965"/>
                </a:lnTo>
                <a:lnTo>
                  <a:pt x="1813" y="1514"/>
                </a:lnTo>
                <a:lnTo>
                  <a:pt x="2651" y="1648"/>
                </a:lnTo>
                <a:lnTo>
                  <a:pt x="2630" y="1626"/>
                </a:lnTo>
                <a:lnTo>
                  <a:pt x="2615" y="1602"/>
                </a:lnTo>
                <a:lnTo>
                  <a:pt x="2602" y="1577"/>
                </a:lnTo>
                <a:lnTo>
                  <a:pt x="2595" y="1552"/>
                </a:lnTo>
                <a:lnTo>
                  <a:pt x="2588" y="1524"/>
                </a:lnTo>
                <a:lnTo>
                  <a:pt x="2584" y="1497"/>
                </a:lnTo>
                <a:lnTo>
                  <a:pt x="2579" y="1469"/>
                </a:lnTo>
                <a:lnTo>
                  <a:pt x="2575" y="1443"/>
                </a:lnTo>
                <a:lnTo>
                  <a:pt x="2573" y="1314"/>
                </a:lnTo>
                <a:lnTo>
                  <a:pt x="2560" y="1307"/>
                </a:lnTo>
                <a:lnTo>
                  <a:pt x="2546" y="1301"/>
                </a:lnTo>
                <a:lnTo>
                  <a:pt x="2530" y="1297"/>
                </a:lnTo>
                <a:lnTo>
                  <a:pt x="2515" y="1292"/>
                </a:lnTo>
                <a:lnTo>
                  <a:pt x="2499" y="1286"/>
                </a:lnTo>
                <a:lnTo>
                  <a:pt x="2484" y="1282"/>
                </a:lnTo>
                <a:lnTo>
                  <a:pt x="2469" y="1274"/>
                </a:lnTo>
                <a:lnTo>
                  <a:pt x="2457" y="1266"/>
                </a:lnTo>
                <a:lnTo>
                  <a:pt x="2457" y="1242"/>
                </a:lnTo>
                <a:lnTo>
                  <a:pt x="2460" y="1217"/>
                </a:lnTo>
                <a:lnTo>
                  <a:pt x="2459" y="1196"/>
                </a:lnTo>
                <a:lnTo>
                  <a:pt x="2439" y="1184"/>
                </a:lnTo>
                <a:lnTo>
                  <a:pt x="2426" y="1183"/>
                </a:lnTo>
                <a:lnTo>
                  <a:pt x="2413" y="1181"/>
                </a:lnTo>
                <a:lnTo>
                  <a:pt x="2400" y="1181"/>
                </a:lnTo>
                <a:lnTo>
                  <a:pt x="2388" y="1180"/>
                </a:lnTo>
                <a:lnTo>
                  <a:pt x="2375" y="1180"/>
                </a:lnTo>
                <a:lnTo>
                  <a:pt x="2362" y="1177"/>
                </a:lnTo>
                <a:lnTo>
                  <a:pt x="2351" y="1175"/>
                </a:lnTo>
                <a:lnTo>
                  <a:pt x="2340" y="1171"/>
                </a:lnTo>
                <a:lnTo>
                  <a:pt x="2357" y="1155"/>
                </a:lnTo>
                <a:lnTo>
                  <a:pt x="2375" y="1140"/>
                </a:lnTo>
                <a:lnTo>
                  <a:pt x="2397" y="1127"/>
                </a:lnTo>
                <a:lnTo>
                  <a:pt x="2417" y="1113"/>
                </a:lnTo>
                <a:lnTo>
                  <a:pt x="2439" y="1099"/>
                </a:lnTo>
                <a:lnTo>
                  <a:pt x="2460" y="1085"/>
                </a:lnTo>
                <a:lnTo>
                  <a:pt x="2480" y="1069"/>
                </a:lnTo>
                <a:lnTo>
                  <a:pt x="2499" y="1053"/>
                </a:lnTo>
                <a:lnTo>
                  <a:pt x="2506" y="1035"/>
                </a:lnTo>
                <a:lnTo>
                  <a:pt x="2515" y="1016"/>
                </a:lnTo>
                <a:lnTo>
                  <a:pt x="2524" y="997"/>
                </a:lnTo>
                <a:lnTo>
                  <a:pt x="2535" y="978"/>
                </a:lnTo>
                <a:lnTo>
                  <a:pt x="2542" y="958"/>
                </a:lnTo>
                <a:lnTo>
                  <a:pt x="2550" y="939"/>
                </a:lnTo>
                <a:lnTo>
                  <a:pt x="2555" y="920"/>
                </a:lnTo>
                <a:lnTo>
                  <a:pt x="2559" y="901"/>
                </a:lnTo>
                <a:lnTo>
                  <a:pt x="2550" y="885"/>
                </a:lnTo>
                <a:lnTo>
                  <a:pt x="2542" y="865"/>
                </a:lnTo>
                <a:lnTo>
                  <a:pt x="2535" y="840"/>
                </a:lnTo>
                <a:lnTo>
                  <a:pt x="2524" y="808"/>
                </a:lnTo>
                <a:lnTo>
                  <a:pt x="2519" y="778"/>
                </a:lnTo>
                <a:lnTo>
                  <a:pt x="2517" y="749"/>
                </a:lnTo>
                <a:lnTo>
                  <a:pt x="2517" y="718"/>
                </a:lnTo>
                <a:lnTo>
                  <a:pt x="2519" y="688"/>
                </a:lnTo>
                <a:lnTo>
                  <a:pt x="1684" y="1124"/>
                </a:lnTo>
                <a:lnTo>
                  <a:pt x="0" y="982"/>
                </a:lnTo>
                <a:lnTo>
                  <a:pt x="2" y="976"/>
                </a:lnTo>
                <a:lnTo>
                  <a:pt x="4" y="972"/>
                </a:lnTo>
                <a:lnTo>
                  <a:pt x="6" y="969"/>
                </a:lnTo>
                <a:lnTo>
                  <a:pt x="9" y="966"/>
                </a:lnTo>
                <a:lnTo>
                  <a:pt x="1677" y="1100"/>
                </a:lnTo>
                <a:lnTo>
                  <a:pt x="2528" y="654"/>
                </a:lnTo>
                <a:lnTo>
                  <a:pt x="2537" y="610"/>
                </a:lnTo>
                <a:lnTo>
                  <a:pt x="2540" y="564"/>
                </a:lnTo>
                <a:lnTo>
                  <a:pt x="2544" y="520"/>
                </a:lnTo>
                <a:lnTo>
                  <a:pt x="2555" y="476"/>
                </a:lnTo>
                <a:lnTo>
                  <a:pt x="2604" y="406"/>
                </a:lnTo>
                <a:lnTo>
                  <a:pt x="2617" y="412"/>
                </a:lnTo>
                <a:lnTo>
                  <a:pt x="2624" y="423"/>
                </a:lnTo>
                <a:lnTo>
                  <a:pt x="2630" y="434"/>
                </a:lnTo>
                <a:lnTo>
                  <a:pt x="2633" y="446"/>
                </a:lnTo>
                <a:lnTo>
                  <a:pt x="2637" y="457"/>
                </a:lnTo>
                <a:lnTo>
                  <a:pt x="2644" y="465"/>
                </a:lnTo>
                <a:lnTo>
                  <a:pt x="2657" y="468"/>
                </a:lnTo>
                <a:lnTo>
                  <a:pt x="2677" y="464"/>
                </a:lnTo>
                <a:lnTo>
                  <a:pt x="2682" y="482"/>
                </a:lnTo>
                <a:lnTo>
                  <a:pt x="2680" y="502"/>
                </a:lnTo>
                <a:lnTo>
                  <a:pt x="2675" y="523"/>
                </a:lnTo>
                <a:lnTo>
                  <a:pt x="2670" y="544"/>
                </a:lnTo>
                <a:lnTo>
                  <a:pt x="2662" y="558"/>
                </a:lnTo>
                <a:lnTo>
                  <a:pt x="2655" y="573"/>
                </a:lnTo>
                <a:lnTo>
                  <a:pt x="2646" y="588"/>
                </a:lnTo>
                <a:lnTo>
                  <a:pt x="2633" y="601"/>
                </a:lnTo>
                <a:lnTo>
                  <a:pt x="2639" y="622"/>
                </a:lnTo>
                <a:lnTo>
                  <a:pt x="2646" y="643"/>
                </a:lnTo>
                <a:lnTo>
                  <a:pt x="2655" y="662"/>
                </a:lnTo>
                <a:lnTo>
                  <a:pt x="2666" y="682"/>
                </a:lnTo>
                <a:lnTo>
                  <a:pt x="2686" y="678"/>
                </a:lnTo>
                <a:lnTo>
                  <a:pt x="2693" y="663"/>
                </a:lnTo>
                <a:lnTo>
                  <a:pt x="2697" y="645"/>
                </a:lnTo>
                <a:lnTo>
                  <a:pt x="2704" y="631"/>
                </a:lnTo>
                <a:lnTo>
                  <a:pt x="2719" y="613"/>
                </a:lnTo>
                <a:lnTo>
                  <a:pt x="2731" y="595"/>
                </a:lnTo>
                <a:lnTo>
                  <a:pt x="2746" y="576"/>
                </a:lnTo>
                <a:lnTo>
                  <a:pt x="2759" y="558"/>
                </a:lnTo>
                <a:lnTo>
                  <a:pt x="2771" y="541"/>
                </a:lnTo>
                <a:lnTo>
                  <a:pt x="2786" y="523"/>
                </a:lnTo>
                <a:lnTo>
                  <a:pt x="2800" y="505"/>
                </a:lnTo>
                <a:lnTo>
                  <a:pt x="2817" y="488"/>
                </a:lnTo>
                <a:lnTo>
                  <a:pt x="2797" y="470"/>
                </a:lnTo>
                <a:lnTo>
                  <a:pt x="2773" y="458"/>
                </a:lnTo>
                <a:lnTo>
                  <a:pt x="2744" y="452"/>
                </a:lnTo>
                <a:lnTo>
                  <a:pt x="2715" y="446"/>
                </a:lnTo>
                <a:lnTo>
                  <a:pt x="2686" y="440"/>
                </a:lnTo>
                <a:lnTo>
                  <a:pt x="2660" y="430"/>
                </a:lnTo>
                <a:lnTo>
                  <a:pt x="2639" y="415"/>
                </a:lnTo>
                <a:lnTo>
                  <a:pt x="2624" y="392"/>
                </a:lnTo>
                <a:lnTo>
                  <a:pt x="2615" y="361"/>
                </a:lnTo>
                <a:lnTo>
                  <a:pt x="2619" y="327"/>
                </a:lnTo>
                <a:lnTo>
                  <a:pt x="2624" y="294"/>
                </a:lnTo>
                <a:lnTo>
                  <a:pt x="2626" y="259"/>
                </a:lnTo>
                <a:lnTo>
                  <a:pt x="2615" y="256"/>
                </a:lnTo>
                <a:lnTo>
                  <a:pt x="2606" y="251"/>
                </a:lnTo>
                <a:lnTo>
                  <a:pt x="2595" y="247"/>
                </a:lnTo>
                <a:lnTo>
                  <a:pt x="2590" y="240"/>
                </a:lnTo>
                <a:lnTo>
                  <a:pt x="2604" y="219"/>
                </a:lnTo>
                <a:lnTo>
                  <a:pt x="2622" y="198"/>
                </a:lnTo>
                <a:lnTo>
                  <a:pt x="2642" y="180"/>
                </a:lnTo>
                <a:lnTo>
                  <a:pt x="2666" y="163"/>
                </a:lnTo>
                <a:lnTo>
                  <a:pt x="2690" y="147"/>
                </a:lnTo>
                <a:lnTo>
                  <a:pt x="2715" y="133"/>
                </a:lnTo>
                <a:lnTo>
                  <a:pt x="2740" y="120"/>
                </a:lnTo>
                <a:lnTo>
                  <a:pt x="2766" y="110"/>
                </a:lnTo>
                <a:lnTo>
                  <a:pt x="2755" y="86"/>
                </a:lnTo>
                <a:lnTo>
                  <a:pt x="2753" y="61"/>
                </a:lnTo>
                <a:lnTo>
                  <a:pt x="2759" y="36"/>
                </a:lnTo>
                <a:lnTo>
                  <a:pt x="2771" y="14"/>
                </a:lnTo>
                <a:lnTo>
                  <a:pt x="2791" y="5"/>
                </a:lnTo>
                <a:lnTo>
                  <a:pt x="2815" y="0"/>
                </a:lnTo>
                <a:lnTo>
                  <a:pt x="2837" y="0"/>
                </a:lnTo>
                <a:lnTo>
                  <a:pt x="2860" y="5"/>
                </a:lnTo>
                <a:lnTo>
                  <a:pt x="2880" y="12"/>
                </a:lnTo>
                <a:lnTo>
                  <a:pt x="2900" y="24"/>
                </a:lnTo>
                <a:lnTo>
                  <a:pt x="2915" y="39"/>
                </a:lnTo>
                <a:lnTo>
                  <a:pt x="2928" y="55"/>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87" name="Freeform 23"/>
          <p:cNvSpPr>
            <a:spLocks/>
          </p:cNvSpPr>
          <p:nvPr/>
        </p:nvSpPr>
        <p:spPr bwMode="auto">
          <a:xfrm>
            <a:off x="7916863" y="3073400"/>
            <a:ext cx="430212" cy="517525"/>
          </a:xfrm>
          <a:custGeom>
            <a:avLst/>
            <a:gdLst/>
            <a:ahLst/>
            <a:cxnLst>
              <a:cxn ang="0">
                <a:pos x="87" y="35"/>
              </a:cxn>
              <a:cxn ang="0">
                <a:pos x="89" y="43"/>
              </a:cxn>
              <a:cxn ang="0">
                <a:pos x="95" y="50"/>
              </a:cxn>
              <a:cxn ang="0">
                <a:pos x="98" y="56"/>
              </a:cxn>
              <a:cxn ang="0">
                <a:pos x="106" y="61"/>
              </a:cxn>
              <a:cxn ang="0">
                <a:pos x="118" y="62"/>
              </a:cxn>
              <a:cxn ang="0">
                <a:pos x="131" y="61"/>
              </a:cxn>
              <a:cxn ang="0">
                <a:pos x="146" y="59"/>
              </a:cxn>
              <a:cxn ang="0">
                <a:pos x="157" y="59"/>
              </a:cxn>
              <a:cxn ang="0">
                <a:pos x="169" y="59"/>
              </a:cxn>
              <a:cxn ang="0">
                <a:pos x="180" y="62"/>
              </a:cxn>
              <a:cxn ang="0">
                <a:pos x="189" y="68"/>
              </a:cxn>
              <a:cxn ang="0">
                <a:pos x="197" y="80"/>
              </a:cxn>
              <a:cxn ang="0">
                <a:pos x="198" y="100"/>
              </a:cxn>
              <a:cxn ang="0">
                <a:pos x="198" y="121"/>
              </a:cxn>
              <a:cxn ang="0">
                <a:pos x="204" y="140"/>
              </a:cxn>
              <a:cxn ang="0">
                <a:pos x="227" y="149"/>
              </a:cxn>
              <a:cxn ang="0">
                <a:pos x="257" y="174"/>
              </a:cxn>
              <a:cxn ang="0">
                <a:pos x="269" y="205"/>
              </a:cxn>
              <a:cxn ang="0">
                <a:pos x="271" y="238"/>
              </a:cxn>
              <a:cxn ang="0">
                <a:pos x="269" y="269"/>
              </a:cxn>
              <a:cxn ang="0">
                <a:pos x="224" y="326"/>
              </a:cxn>
              <a:cxn ang="0">
                <a:pos x="217" y="320"/>
              </a:cxn>
              <a:cxn ang="0">
                <a:pos x="217" y="312"/>
              </a:cxn>
              <a:cxn ang="0">
                <a:pos x="222" y="301"/>
              </a:cxn>
              <a:cxn ang="0">
                <a:pos x="229" y="289"/>
              </a:cxn>
              <a:cxn ang="0">
                <a:pos x="237" y="278"/>
              </a:cxn>
              <a:cxn ang="0">
                <a:pos x="244" y="264"/>
              </a:cxn>
              <a:cxn ang="0">
                <a:pos x="246" y="251"/>
              </a:cxn>
              <a:cxn ang="0">
                <a:pos x="240" y="239"/>
              </a:cxn>
              <a:cxn ang="0">
                <a:pos x="233" y="230"/>
              </a:cxn>
              <a:cxn ang="0">
                <a:pos x="224" y="224"/>
              </a:cxn>
              <a:cxn ang="0">
                <a:pos x="215" y="220"/>
              </a:cxn>
              <a:cxn ang="0">
                <a:pos x="206" y="216"/>
              </a:cxn>
              <a:cxn ang="0">
                <a:pos x="195" y="213"/>
              </a:cxn>
              <a:cxn ang="0">
                <a:pos x="184" y="208"/>
              </a:cxn>
              <a:cxn ang="0">
                <a:pos x="175" y="205"/>
              </a:cxn>
              <a:cxn ang="0">
                <a:pos x="166" y="201"/>
              </a:cxn>
              <a:cxn ang="0">
                <a:pos x="147" y="183"/>
              </a:cxn>
              <a:cxn ang="0">
                <a:pos x="127" y="167"/>
              </a:cxn>
              <a:cxn ang="0">
                <a:pos x="106" y="151"/>
              </a:cxn>
              <a:cxn ang="0">
                <a:pos x="86" y="134"/>
              </a:cxn>
              <a:cxn ang="0">
                <a:pos x="64" y="118"/>
              </a:cxn>
              <a:cxn ang="0">
                <a:pos x="44" y="102"/>
              </a:cxn>
              <a:cxn ang="0">
                <a:pos x="22" y="87"/>
              </a:cxn>
              <a:cxn ang="0">
                <a:pos x="2" y="71"/>
              </a:cxn>
              <a:cxn ang="0">
                <a:pos x="0" y="52"/>
              </a:cxn>
              <a:cxn ang="0">
                <a:pos x="4" y="33"/>
              </a:cxn>
              <a:cxn ang="0">
                <a:pos x="11" y="16"/>
              </a:cxn>
              <a:cxn ang="0">
                <a:pos x="26" y="2"/>
              </a:cxn>
              <a:cxn ang="0">
                <a:pos x="37" y="0"/>
              </a:cxn>
              <a:cxn ang="0">
                <a:pos x="47" y="0"/>
              </a:cxn>
              <a:cxn ang="0">
                <a:pos x="57" y="3"/>
              </a:cxn>
              <a:cxn ang="0">
                <a:pos x="66" y="9"/>
              </a:cxn>
              <a:cxn ang="0">
                <a:pos x="73" y="15"/>
              </a:cxn>
              <a:cxn ang="0">
                <a:pos x="78" y="22"/>
              </a:cxn>
              <a:cxn ang="0">
                <a:pos x="84" y="30"/>
              </a:cxn>
              <a:cxn ang="0">
                <a:pos x="87" y="35"/>
              </a:cxn>
            </a:cxnLst>
            <a:rect l="0" t="0" r="r" b="b"/>
            <a:pathLst>
              <a:path w="271" h="326">
                <a:moveTo>
                  <a:pt x="87" y="35"/>
                </a:moveTo>
                <a:lnTo>
                  <a:pt x="89" y="43"/>
                </a:lnTo>
                <a:lnTo>
                  <a:pt x="95" y="50"/>
                </a:lnTo>
                <a:lnTo>
                  <a:pt x="98" y="56"/>
                </a:lnTo>
                <a:lnTo>
                  <a:pt x="106" y="61"/>
                </a:lnTo>
                <a:lnTo>
                  <a:pt x="118" y="62"/>
                </a:lnTo>
                <a:lnTo>
                  <a:pt x="131" y="61"/>
                </a:lnTo>
                <a:lnTo>
                  <a:pt x="146" y="59"/>
                </a:lnTo>
                <a:lnTo>
                  <a:pt x="157" y="59"/>
                </a:lnTo>
                <a:lnTo>
                  <a:pt x="169" y="59"/>
                </a:lnTo>
                <a:lnTo>
                  <a:pt x="180" y="62"/>
                </a:lnTo>
                <a:lnTo>
                  <a:pt x="189" y="68"/>
                </a:lnTo>
                <a:lnTo>
                  <a:pt x="197" y="80"/>
                </a:lnTo>
                <a:lnTo>
                  <a:pt x="198" y="100"/>
                </a:lnTo>
                <a:lnTo>
                  <a:pt x="198" y="121"/>
                </a:lnTo>
                <a:lnTo>
                  <a:pt x="204" y="140"/>
                </a:lnTo>
                <a:lnTo>
                  <a:pt x="227" y="149"/>
                </a:lnTo>
                <a:lnTo>
                  <a:pt x="257" y="174"/>
                </a:lnTo>
                <a:lnTo>
                  <a:pt x="269" y="205"/>
                </a:lnTo>
                <a:lnTo>
                  <a:pt x="271" y="238"/>
                </a:lnTo>
                <a:lnTo>
                  <a:pt x="269" y="269"/>
                </a:lnTo>
                <a:lnTo>
                  <a:pt x="224" y="326"/>
                </a:lnTo>
                <a:lnTo>
                  <a:pt x="217" y="320"/>
                </a:lnTo>
                <a:lnTo>
                  <a:pt x="217" y="312"/>
                </a:lnTo>
                <a:lnTo>
                  <a:pt x="222" y="301"/>
                </a:lnTo>
                <a:lnTo>
                  <a:pt x="229" y="289"/>
                </a:lnTo>
                <a:lnTo>
                  <a:pt x="237" y="278"/>
                </a:lnTo>
                <a:lnTo>
                  <a:pt x="244" y="264"/>
                </a:lnTo>
                <a:lnTo>
                  <a:pt x="246" y="251"/>
                </a:lnTo>
                <a:lnTo>
                  <a:pt x="240" y="239"/>
                </a:lnTo>
                <a:lnTo>
                  <a:pt x="233" y="230"/>
                </a:lnTo>
                <a:lnTo>
                  <a:pt x="224" y="224"/>
                </a:lnTo>
                <a:lnTo>
                  <a:pt x="215" y="220"/>
                </a:lnTo>
                <a:lnTo>
                  <a:pt x="206" y="216"/>
                </a:lnTo>
                <a:lnTo>
                  <a:pt x="195" y="213"/>
                </a:lnTo>
                <a:lnTo>
                  <a:pt x="184" y="208"/>
                </a:lnTo>
                <a:lnTo>
                  <a:pt x="175" y="205"/>
                </a:lnTo>
                <a:lnTo>
                  <a:pt x="166" y="201"/>
                </a:lnTo>
                <a:lnTo>
                  <a:pt x="147" y="183"/>
                </a:lnTo>
                <a:lnTo>
                  <a:pt x="127" y="167"/>
                </a:lnTo>
                <a:lnTo>
                  <a:pt x="106" y="151"/>
                </a:lnTo>
                <a:lnTo>
                  <a:pt x="86" y="134"/>
                </a:lnTo>
                <a:lnTo>
                  <a:pt x="64" y="118"/>
                </a:lnTo>
                <a:lnTo>
                  <a:pt x="44" y="102"/>
                </a:lnTo>
                <a:lnTo>
                  <a:pt x="22" y="87"/>
                </a:lnTo>
                <a:lnTo>
                  <a:pt x="2" y="71"/>
                </a:lnTo>
                <a:lnTo>
                  <a:pt x="0" y="52"/>
                </a:lnTo>
                <a:lnTo>
                  <a:pt x="4" y="33"/>
                </a:lnTo>
                <a:lnTo>
                  <a:pt x="11" y="16"/>
                </a:lnTo>
                <a:lnTo>
                  <a:pt x="26" y="2"/>
                </a:lnTo>
                <a:lnTo>
                  <a:pt x="37" y="0"/>
                </a:lnTo>
                <a:lnTo>
                  <a:pt x="47" y="0"/>
                </a:lnTo>
                <a:lnTo>
                  <a:pt x="57" y="3"/>
                </a:lnTo>
                <a:lnTo>
                  <a:pt x="66" y="9"/>
                </a:lnTo>
                <a:lnTo>
                  <a:pt x="73" y="15"/>
                </a:lnTo>
                <a:lnTo>
                  <a:pt x="78" y="22"/>
                </a:lnTo>
                <a:lnTo>
                  <a:pt x="84" y="30"/>
                </a:lnTo>
                <a:lnTo>
                  <a:pt x="87" y="3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88" name="Freeform 24"/>
          <p:cNvSpPr>
            <a:spLocks/>
          </p:cNvSpPr>
          <p:nvPr/>
        </p:nvSpPr>
        <p:spPr bwMode="auto">
          <a:xfrm>
            <a:off x="7672388" y="3246438"/>
            <a:ext cx="558800" cy="539750"/>
          </a:xfrm>
          <a:custGeom>
            <a:avLst/>
            <a:gdLst/>
            <a:ahLst/>
            <a:cxnLst>
              <a:cxn ang="0">
                <a:pos x="338" y="129"/>
              </a:cxn>
              <a:cxn ang="0">
                <a:pos x="347" y="136"/>
              </a:cxn>
              <a:cxn ang="0">
                <a:pos x="352" y="146"/>
              </a:cxn>
              <a:cxn ang="0">
                <a:pos x="352" y="158"/>
              </a:cxn>
              <a:cxn ang="0">
                <a:pos x="347" y="169"/>
              </a:cxn>
              <a:cxn ang="0">
                <a:pos x="334" y="180"/>
              </a:cxn>
              <a:cxn ang="0">
                <a:pos x="327" y="195"/>
              </a:cxn>
              <a:cxn ang="0">
                <a:pos x="327" y="213"/>
              </a:cxn>
              <a:cxn ang="0">
                <a:pos x="332" y="228"/>
              </a:cxn>
              <a:cxn ang="0">
                <a:pos x="338" y="238"/>
              </a:cxn>
              <a:cxn ang="0">
                <a:pos x="341" y="250"/>
              </a:cxn>
              <a:cxn ang="0">
                <a:pos x="343" y="262"/>
              </a:cxn>
              <a:cxn ang="0">
                <a:pos x="347" y="273"/>
              </a:cxn>
              <a:cxn ang="0">
                <a:pos x="329" y="284"/>
              </a:cxn>
              <a:cxn ang="0">
                <a:pos x="312" y="293"/>
              </a:cxn>
              <a:cxn ang="0">
                <a:pos x="294" y="301"/>
              </a:cxn>
              <a:cxn ang="0">
                <a:pos x="278" y="309"/>
              </a:cxn>
              <a:cxn ang="0">
                <a:pos x="261" y="316"/>
              </a:cxn>
              <a:cxn ang="0">
                <a:pos x="243" y="324"/>
              </a:cxn>
              <a:cxn ang="0">
                <a:pos x="225" y="331"/>
              </a:cxn>
              <a:cxn ang="0">
                <a:pos x="207" y="340"/>
              </a:cxn>
              <a:cxn ang="0">
                <a:pos x="189" y="319"/>
              </a:cxn>
              <a:cxn ang="0">
                <a:pos x="167" y="307"/>
              </a:cxn>
              <a:cxn ang="0">
                <a:pos x="141" y="300"/>
              </a:cxn>
              <a:cxn ang="0">
                <a:pos x="114" y="296"/>
              </a:cxn>
              <a:cxn ang="0">
                <a:pos x="87" y="293"/>
              </a:cxn>
              <a:cxn ang="0">
                <a:pos x="61" y="285"/>
              </a:cxn>
              <a:cxn ang="0">
                <a:pos x="40" y="273"/>
              </a:cxn>
              <a:cxn ang="0">
                <a:pos x="25" y="253"/>
              </a:cxn>
              <a:cxn ang="0">
                <a:pos x="20" y="220"/>
              </a:cxn>
              <a:cxn ang="0">
                <a:pos x="23" y="189"/>
              </a:cxn>
              <a:cxn ang="0">
                <a:pos x="29" y="158"/>
              </a:cxn>
              <a:cxn ang="0">
                <a:pos x="29" y="124"/>
              </a:cxn>
              <a:cxn ang="0">
                <a:pos x="0" y="104"/>
              </a:cxn>
              <a:cxn ang="0">
                <a:pos x="12" y="87"/>
              </a:cxn>
              <a:cxn ang="0">
                <a:pos x="27" y="73"/>
              </a:cxn>
              <a:cxn ang="0">
                <a:pos x="45" y="58"/>
              </a:cxn>
              <a:cxn ang="0">
                <a:pos x="65" y="45"/>
              </a:cxn>
              <a:cxn ang="0">
                <a:pos x="85" y="33"/>
              </a:cxn>
              <a:cxn ang="0">
                <a:pos x="105" y="22"/>
              </a:cxn>
              <a:cxn ang="0">
                <a:pos x="127" y="11"/>
              </a:cxn>
              <a:cxn ang="0">
                <a:pos x="147" y="0"/>
              </a:cxn>
              <a:cxn ang="0">
                <a:pos x="172" y="14"/>
              </a:cxn>
              <a:cxn ang="0">
                <a:pos x="196" y="31"/>
              </a:cxn>
              <a:cxn ang="0">
                <a:pos x="218" y="50"/>
              </a:cxn>
              <a:cxn ang="0">
                <a:pos x="241" y="68"/>
              </a:cxn>
              <a:cxn ang="0">
                <a:pos x="263" y="87"/>
              </a:cxn>
              <a:cxn ang="0">
                <a:pos x="287" y="105"/>
              </a:cxn>
              <a:cxn ang="0">
                <a:pos x="312" y="118"/>
              </a:cxn>
              <a:cxn ang="0">
                <a:pos x="338" y="129"/>
              </a:cxn>
            </a:cxnLst>
            <a:rect l="0" t="0" r="r" b="b"/>
            <a:pathLst>
              <a:path w="352" h="340">
                <a:moveTo>
                  <a:pt x="338" y="129"/>
                </a:moveTo>
                <a:lnTo>
                  <a:pt x="347" y="136"/>
                </a:lnTo>
                <a:lnTo>
                  <a:pt x="352" y="146"/>
                </a:lnTo>
                <a:lnTo>
                  <a:pt x="352" y="158"/>
                </a:lnTo>
                <a:lnTo>
                  <a:pt x="347" y="169"/>
                </a:lnTo>
                <a:lnTo>
                  <a:pt x="334" y="180"/>
                </a:lnTo>
                <a:lnTo>
                  <a:pt x="327" y="195"/>
                </a:lnTo>
                <a:lnTo>
                  <a:pt x="327" y="213"/>
                </a:lnTo>
                <a:lnTo>
                  <a:pt x="332" y="228"/>
                </a:lnTo>
                <a:lnTo>
                  <a:pt x="338" y="238"/>
                </a:lnTo>
                <a:lnTo>
                  <a:pt x="341" y="250"/>
                </a:lnTo>
                <a:lnTo>
                  <a:pt x="343" y="262"/>
                </a:lnTo>
                <a:lnTo>
                  <a:pt x="347" y="273"/>
                </a:lnTo>
                <a:lnTo>
                  <a:pt x="329" y="284"/>
                </a:lnTo>
                <a:lnTo>
                  <a:pt x="312" y="293"/>
                </a:lnTo>
                <a:lnTo>
                  <a:pt x="294" y="301"/>
                </a:lnTo>
                <a:lnTo>
                  <a:pt x="278" y="309"/>
                </a:lnTo>
                <a:lnTo>
                  <a:pt x="261" y="316"/>
                </a:lnTo>
                <a:lnTo>
                  <a:pt x="243" y="324"/>
                </a:lnTo>
                <a:lnTo>
                  <a:pt x="225" y="331"/>
                </a:lnTo>
                <a:lnTo>
                  <a:pt x="207" y="340"/>
                </a:lnTo>
                <a:lnTo>
                  <a:pt x="189" y="319"/>
                </a:lnTo>
                <a:lnTo>
                  <a:pt x="167" y="307"/>
                </a:lnTo>
                <a:lnTo>
                  <a:pt x="141" y="300"/>
                </a:lnTo>
                <a:lnTo>
                  <a:pt x="114" y="296"/>
                </a:lnTo>
                <a:lnTo>
                  <a:pt x="87" y="293"/>
                </a:lnTo>
                <a:lnTo>
                  <a:pt x="61" y="285"/>
                </a:lnTo>
                <a:lnTo>
                  <a:pt x="40" y="273"/>
                </a:lnTo>
                <a:lnTo>
                  <a:pt x="25" y="253"/>
                </a:lnTo>
                <a:lnTo>
                  <a:pt x="20" y="220"/>
                </a:lnTo>
                <a:lnTo>
                  <a:pt x="23" y="189"/>
                </a:lnTo>
                <a:lnTo>
                  <a:pt x="29" y="158"/>
                </a:lnTo>
                <a:lnTo>
                  <a:pt x="29" y="124"/>
                </a:lnTo>
                <a:lnTo>
                  <a:pt x="0" y="104"/>
                </a:lnTo>
                <a:lnTo>
                  <a:pt x="12" y="87"/>
                </a:lnTo>
                <a:lnTo>
                  <a:pt x="27" y="73"/>
                </a:lnTo>
                <a:lnTo>
                  <a:pt x="45" y="58"/>
                </a:lnTo>
                <a:lnTo>
                  <a:pt x="65" y="45"/>
                </a:lnTo>
                <a:lnTo>
                  <a:pt x="85" y="33"/>
                </a:lnTo>
                <a:lnTo>
                  <a:pt x="105" y="22"/>
                </a:lnTo>
                <a:lnTo>
                  <a:pt x="127" y="11"/>
                </a:lnTo>
                <a:lnTo>
                  <a:pt x="147" y="0"/>
                </a:lnTo>
                <a:lnTo>
                  <a:pt x="172" y="14"/>
                </a:lnTo>
                <a:lnTo>
                  <a:pt x="196" y="31"/>
                </a:lnTo>
                <a:lnTo>
                  <a:pt x="218" y="50"/>
                </a:lnTo>
                <a:lnTo>
                  <a:pt x="241" y="68"/>
                </a:lnTo>
                <a:lnTo>
                  <a:pt x="263" y="87"/>
                </a:lnTo>
                <a:lnTo>
                  <a:pt x="287" y="105"/>
                </a:lnTo>
                <a:lnTo>
                  <a:pt x="312" y="118"/>
                </a:lnTo>
                <a:lnTo>
                  <a:pt x="338" y="12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89" name="Freeform 25"/>
          <p:cNvSpPr>
            <a:spLocks/>
          </p:cNvSpPr>
          <p:nvPr/>
        </p:nvSpPr>
        <p:spPr bwMode="auto">
          <a:xfrm>
            <a:off x="7824788" y="3314700"/>
            <a:ext cx="80962" cy="65088"/>
          </a:xfrm>
          <a:custGeom>
            <a:avLst/>
            <a:gdLst/>
            <a:ahLst/>
            <a:cxnLst>
              <a:cxn ang="0">
                <a:pos x="51" y="31"/>
              </a:cxn>
              <a:cxn ang="0">
                <a:pos x="51" y="38"/>
              </a:cxn>
              <a:cxn ang="0">
                <a:pos x="31" y="41"/>
              </a:cxn>
              <a:cxn ang="0">
                <a:pos x="18" y="34"/>
              </a:cxn>
              <a:cxn ang="0">
                <a:pos x="9" y="19"/>
              </a:cxn>
              <a:cxn ang="0">
                <a:pos x="0" y="6"/>
              </a:cxn>
              <a:cxn ang="0">
                <a:pos x="16" y="0"/>
              </a:cxn>
              <a:cxn ang="0">
                <a:pos x="31" y="6"/>
              </a:cxn>
              <a:cxn ang="0">
                <a:pos x="42" y="18"/>
              </a:cxn>
              <a:cxn ang="0">
                <a:pos x="51" y="31"/>
              </a:cxn>
            </a:cxnLst>
            <a:rect l="0" t="0" r="r" b="b"/>
            <a:pathLst>
              <a:path w="51" h="41">
                <a:moveTo>
                  <a:pt x="51" y="31"/>
                </a:moveTo>
                <a:lnTo>
                  <a:pt x="51" y="38"/>
                </a:lnTo>
                <a:lnTo>
                  <a:pt x="31" y="41"/>
                </a:lnTo>
                <a:lnTo>
                  <a:pt x="18" y="34"/>
                </a:lnTo>
                <a:lnTo>
                  <a:pt x="9" y="19"/>
                </a:lnTo>
                <a:lnTo>
                  <a:pt x="0" y="6"/>
                </a:lnTo>
                <a:lnTo>
                  <a:pt x="16" y="0"/>
                </a:lnTo>
                <a:lnTo>
                  <a:pt x="31" y="6"/>
                </a:lnTo>
                <a:lnTo>
                  <a:pt x="42" y="18"/>
                </a:lnTo>
                <a:lnTo>
                  <a:pt x="51" y="3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90" name="Freeform 26"/>
          <p:cNvSpPr>
            <a:spLocks/>
          </p:cNvSpPr>
          <p:nvPr/>
        </p:nvSpPr>
        <p:spPr bwMode="auto">
          <a:xfrm>
            <a:off x="7754938" y="3594100"/>
            <a:ext cx="107950" cy="63500"/>
          </a:xfrm>
          <a:custGeom>
            <a:avLst/>
            <a:gdLst/>
            <a:ahLst/>
            <a:cxnLst>
              <a:cxn ang="0">
                <a:pos x="68" y="12"/>
              </a:cxn>
              <a:cxn ang="0">
                <a:pos x="60" y="19"/>
              </a:cxn>
              <a:cxn ang="0">
                <a:pos x="51" y="26"/>
              </a:cxn>
              <a:cxn ang="0">
                <a:pos x="40" y="34"/>
              </a:cxn>
              <a:cxn ang="0">
                <a:pos x="29" y="40"/>
              </a:cxn>
              <a:cxn ang="0">
                <a:pos x="2" y="38"/>
              </a:cxn>
              <a:cxn ang="0">
                <a:pos x="0" y="25"/>
              </a:cxn>
              <a:cxn ang="0">
                <a:pos x="9" y="17"/>
              </a:cxn>
              <a:cxn ang="0">
                <a:pos x="22" y="10"/>
              </a:cxn>
              <a:cxn ang="0">
                <a:pos x="35" y="0"/>
              </a:cxn>
              <a:cxn ang="0">
                <a:pos x="44" y="0"/>
              </a:cxn>
              <a:cxn ang="0">
                <a:pos x="53" y="3"/>
              </a:cxn>
              <a:cxn ang="0">
                <a:pos x="60" y="6"/>
              </a:cxn>
              <a:cxn ang="0">
                <a:pos x="68" y="12"/>
              </a:cxn>
            </a:cxnLst>
            <a:rect l="0" t="0" r="r" b="b"/>
            <a:pathLst>
              <a:path w="68" h="40">
                <a:moveTo>
                  <a:pt x="68" y="12"/>
                </a:moveTo>
                <a:lnTo>
                  <a:pt x="60" y="19"/>
                </a:lnTo>
                <a:lnTo>
                  <a:pt x="51" y="26"/>
                </a:lnTo>
                <a:lnTo>
                  <a:pt x="40" y="34"/>
                </a:lnTo>
                <a:lnTo>
                  <a:pt x="29" y="40"/>
                </a:lnTo>
                <a:lnTo>
                  <a:pt x="2" y="38"/>
                </a:lnTo>
                <a:lnTo>
                  <a:pt x="0" y="25"/>
                </a:lnTo>
                <a:lnTo>
                  <a:pt x="9" y="17"/>
                </a:lnTo>
                <a:lnTo>
                  <a:pt x="22" y="10"/>
                </a:lnTo>
                <a:lnTo>
                  <a:pt x="35" y="0"/>
                </a:lnTo>
                <a:lnTo>
                  <a:pt x="44" y="0"/>
                </a:lnTo>
                <a:lnTo>
                  <a:pt x="53" y="3"/>
                </a:lnTo>
                <a:lnTo>
                  <a:pt x="60" y="6"/>
                </a:lnTo>
                <a:lnTo>
                  <a:pt x="68" y="12"/>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91" name="Freeform 27"/>
          <p:cNvSpPr>
            <a:spLocks/>
          </p:cNvSpPr>
          <p:nvPr/>
        </p:nvSpPr>
        <p:spPr bwMode="auto">
          <a:xfrm>
            <a:off x="7451725" y="3732213"/>
            <a:ext cx="1131887" cy="1501775"/>
          </a:xfrm>
          <a:custGeom>
            <a:avLst/>
            <a:gdLst/>
            <a:ahLst/>
            <a:cxnLst>
              <a:cxn ang="0">
                <a:pos x="600" y="946"/>
              </a:cxn>
              <a:cxn ang="0">
                <a:pos x="530" y="934"/>
              </a:cxn>
              <a:cxn ang="0">
                <a:pos x="459" y="924"/>
              </a:cxn>
              <a:cxn ang="0">
                <a:pos x="375" y="897"/>
              </a:cxn>
              <a:cxn ang="0">
                <a:pos x="284" y="884"/>
              </a:cxn>
              <a:cxn ang="0">
                <a:pos x="193" y="875"/>
              </a:cxn>
              <a:cxn ang="0">
                <a:pos x="104" y="861"/>
              </a:cxn>
              <a:cxn ang="0">
                <a:pos x="24" y="830"/>
              </a:cxn>
              <a:cxn ang="0">
                <a:pos x="8" y="731"/>
              </a:cxn>
              <a:cxn ang="0">
                <a:pos x="42" y="613"/>
              </a:cxn>
              <a:cxn ang="0">
                <a:pos x="93" y="500"/>
              </a:cxn>
              <a:cxn ang="0">
                <a:pos x="179" y="540"/>
              </a:cxn>
              <a:cxn ang="0">
                <a:pos x="277" y="559"/>
              </a:cxn>
              <a:cxn ang="0">
                <a:pos x="371" y="548"/>
              </a:cxn>
              <a:cxn ang="0">
                <a:pos x="448" y="503"/>
              </a:cxn>
              <a:cxn ang="0">
                <a:pos x="515" y="446"/>
              </a:cxn>
              <a:cxn ang="0">
                <a:pos x="530" y="412"/>
              </a:cxn>
              <a:cxn ang="0">
                <a:pos x="502" y="403"/>
              </a:cxn>
              <a:cxn ang="0">
                <a:pos x="417" y="480"/>
              </a:cxn>
              <a:cxn ang="0">
                <a:pos x="311" y="528"/>
              </a:cxn>
              <a:cxn ang="0">
                <a:pos x="199" y="518"/>
              </a:cxn>
              <a:cxn ang="0">
                <a:pos x="120" y="455"/>
              </a:cxn>
              <a:cxn ang="0">
                <a:pos x="71" y="379"/>
              </a:cxn>
              <a:cxn ang="0">
                <a:pos x="64" y="263"/>
              </a:cxn>
              <a:cxn ang="0">
                <a:pos x="91" y="165"/>
              </a:cxn>
              <a:cxn ang="0">
                <a:pos x="102" y="209"/>
              </a:cxn>
              <a:cxn ang="0">
                <a:pos x="120" y="251"/>
              </a:cxn>
              <a:cxn ang="0">
                <a:pos x="168" y="271"/>
              </a:cxn>
              <a:cxn ang="0">
                <a:pos x="220" y="251"/>
              </a:cxn>
              <a:cxn ang="0">
                <a:pos x="264" y="217"/>
              </a:cxn>
              <a:cxn ang="0">
                <a:pos x="313" y="171"/>
              </a:cxn>
              <a:cxn ang="0">
                <a:pos x="370" y="130"/>
              </a:cxn>
              <a:cxn ang="0">
                <a:pos x="431" y="94"/>
              </a:cxn>
              <a:cxn ang="0">
                <a:pos x="462" y="93"/>
              </a:cxn>
              <a:cxn ang="0">
                <a:pos x="453" y="78"/>
              </a:cxn>
              <a:cxn ang="0">
                <a:pos x="424" y="66"/>
              </a:cxn>
              <a:cxn ang="0">
                <a:pos x="397" y="72"/>
              </a:cxn>
              <a:cxn ang="0">
                <a:pos x="351" y="105"/>
              </a:cxn>
              <a:cxn ang="0">
                <a:pos x="302" y="143"/>
              </a:cxn>
              <a:cxn ang="0">
                <a:pos x="275" y="162"/>
              </a:cxn>
              <a:cxn ang="0">
                <a:pos x="304" y="122"/>
              </a:cxn>
              <a:cxn ang="0">
                <a:pos x="340" y="80"/>
              </a:cxn>
              <a:cxn ang="0">
                <a:pos x="524" y="53"/>
              </a:cxn>
              <a:cxn ang="0">
                <a:pos x="606" y="218"/>
              </a:cxn>
              <a:cxn ang="0">
                <a:pos x="671" y="391"/>
              </a:cxn>
              <a:cxn ang="0">
                <a:pos x="710" y="571"/>
              </a:cxn>
              <a:cxn ang="0">
                <a:pos x="706" y="753"/>
              </a:cxn>
              <a:cxn ang="0">
                <a:pos x="648" y="937"/>
              </a:cxn>
            </a:cxnLst>
            <a:rect l="0" t="0" r="r" b="b"/>
            <a:pathLst>
              <a:path w="713" h="946">
                <a:moveTo>
                  <a:pt x="648" y="937"/>
                </a:moveTo>
                <a:lnTo>
                  <a:pt x="624" y="943"/>
                </a:lnTo>
                <a:lnTo>
                  <a:pt x="600" y="946"/>
                </a:lnTo>
                <a:lnTo>
                  <a:pt x="577" y="945"/>
                </a:lnTo>
                <a:lnTo>
                  <a:pt x="553" y="940"/>
                </a:lnTo>
                <a:lnTo>
                  <a:pt x="530" y="934"/>
                </a:lnTo>
                <a:lnTo>
                  <a:pt x="506" y="930"/>
                </a:lnTo>
                <a:lnTo>
                  <a:pt x="482" y="925"/>
                </a:lnTo>
                <a:lnTo>
                  <a:pt x="459" y="924"/>
                </a:lnTo>
                <a:lnTo>
                  <a:pt x="431" y="914"/>
                </a:lnTo>
                <a:lnTo>
                  <a:pt x="404" y="905"/>
                </a:lnTo>
                <a:lnTo>
                  <a:pt x="375" y="897"/>
                </a:lnTo>
                <a:lnTo>
                  <a:pt x="346" y="892"/>
                </a:lnTo>
                <a:lnTo>
                  <a:pt x="315" y="887"/>
                </a:lnTo>
                <a:lnTo>
                  <a:pt x="284" y="884"/>
                </a:lnTo>
                <a:lnTo>
                  <a:pt x="253" y="881"/>
                </a:lnTo>
                <a:lnTo>
                  <a:pt x="224" y="878"/>
                </a:lnTo>
                <a:lnTo>
                  <a:pt x="193" y="875"/>
                </a:lnTo>
                <a:lnTo>
                  <a:pt x="162" y="871"/>
                </a:lnTo>
                <a:lnTo>
                  <a:pt x="133" y="866"/>
                </a:lnTo>
                <a:lnTo>
                  <a:pt x="104" y="861"/>
                </a:lnTo>
                <a:lnTo>
                  <a:pt x="77" y="852"/>
                </a:lnTo>
                <a:lnTo>
                  <a:pt x="50" y="843"/>
                </a:lnTo>
                <a:lnTo>
                  <a:pt x="24" y="830"/>
                </a:lnTo>
                <a:lnTo>
                  <a:pt x="0" y="815"/>
                </a:lnTo>
                <a:lnTo>
                  <a:pt x="2" y="772"/>
                </a:lnTo>
                <a:lnTo>
                  <a:pt x="8" y="731"/>
                </a:lnTo>
                <a:lnTo>
                  <a:pt x="17" y="691"/>
                </a:lnTo>
                <a:lnTo>
                  <a:pt x="28" y="651"/>
                </a:lnTo>
                <a:lnTo>
                  <a:pt x="42" y="613"/>
                </a:lnTo>
                <a:lnTo>
                  <a:pt x="59" y="574"/>
                </a:lnTo>
                <a:lnTo>
                  <a:pt x="75" y="537"/>
                </a:lnTo>
                <a:lnTo>
                  <a:pt x="93" y="500"/>
                </a:lnTo>
                <a:lnTo>
                  <a:pt x="120" y="515"/>
                </a:lnTo>
                <a:lnTo>
                  <a:pt x="150" y="528"/>
                </a:lnTo>
                <a:lnTo>
                  <a:pt x="179" y="540"/>
                </a:lnTo>
                <a:lnTo>
                  <a:pt x="211" y="549"/>
                </a:lnTo>
                <a:lnTo>
                  <a:pt x="242" y="556"/>
                </a:lnTo>
                <a:lnTo>
                  <a:pt x="277" y="559"/>
                </a:lnTo>
                <a:lnTo>
                  <a:pt x="310" y="561"/>
                </a:lnTo>
                <a:lnTo>
                  <a:pt x="344" y="558"/>
                </a:lnTo>
                <a:lnTo>
                  <a:pt x="371" y="548"/>
                </a:lnTo>
                <a:lnTo>
                  <a:pt x="399" y="536"/>
                </a:lnTo>
                <a:lnTo>
                  <a:pt x="424" y="520"/>
                </a:lnTo>
                <a:lnTo>
                  <a:pt x="448" y="503"/>
                </a:lnTo>
                <a:lnTo>
                  <a:pt x="471" y="484"/>
                </a:lnTo>
                <a:lnTo>
                  <a:pt x="493" y="465"/>
                </a:lnTo>
                <a:lnTo>
                  <a:pt x="515" y="446"/>
                </a:lnTo>
                <a:lnTo>
                  <a:pt x="535" y="427"/>
                </a:lnTo>
                <a:lnTo>
                  <a:pt x="533" y="418"/>
                </a:lnTo>
                <a:lnTo>
                  <a:pt x="530" y="412"/>
                </a:lnTo>
                <a:lnTo>
                  <a:pt x="522" y="407"/>
                </a:lnTo>
                <a:lnTo>
                  <a:pt x="513" y="403"/>
                </a:lnTo>
                <a:lnTo>
                  <a:pt x="502" y="403"/>
                </a:lnTo>
                <a:lnTo>
                  <a:pt x="475" y="429"/>
                </a:lnTo>
                <a:lnTo>
                  <a:pt x="446" y="455"/>
                </a:lnTo>
                <a:lnTo>
                  <a:pt x="417" y="480"/>
                </a:lnTo>
                <a:lnTo>
                  <a:pt x="384" y="500"/>
                </a:lnTo>
                <a:lnTo>
                  <a:pt x="350" y="518"/>
                </a:lnTo>
                <a:lnTo>
                  <a:pt x="311" y="528"/>
                </a:lnTo>
                <a:lnTo>
                  <a:pt x="271" y="533"/>
                </a:lnTo>
                <a:lnTo>
                  <a:pt x="226" y="528"/>
                </a:lnTo>
                <a:lnTo>
                  <a:pt x="199" y="518"/>
                </a:lnTo>
                <a:lnTo>
                  <a:pt x="171" y="502"/>
                </a:lnTo>
                <a:lnTo>
                  <a:pt x="146" y="480"/>
                </a:lnTo>
                <a:lnTo>
                  <a:pt x="120" y="455"/>
                </a:lnTo>
                <a:lnTo>
                  <a:pt x="100" y="428"/>
                </a:lnTo>
                <a:lnTo>
                  <a:pt x="82" y="403"/>
                </a:lnTo>
                <a:lnTo>
                  <a:pt x="71" y="379"/>
                </a:lnTo>
                <a:lnTo>
                  <a:pt x="64" y="362"/>
                </a:lnTo>
                <a:lnTo>
                  <a:pt x="59" y="311"/>
                </a:lnTo>
                <a:lnTo>
                  <a:pt x="64" y="263"/>
                </a:lnTo>
                <a:lnTo>
                  <a:pt x="73" y="214"/>
                </a:lnTo>
                <a:lnTo>
                  <a:pt x="82" y="165"/>
                </a:lnTo>
                <a:lnTo>
                  <a:pt x="91" y="165"/>
                </a:lnTo>
                <a:lnTo>
                  <a:pt x="95" y="180"/>
                </a:lnTo>
                <a:lnTo>
                  <a:pt x="99" y="195"/>
                </a:lnTo>
                <a:lnTo>
                  <a:pt x="102" y="209"/>
                </a:lnTo>
                <a:lnTo>
                  <a:pt x="106" y="224"/>
                </a:lnTo>
                <a:lnTo>
                  <a:pt x="111" y="239"/>
                </a:lnTo>
                <a:lnTo>
                  <a:pt x="120" y="251"/>
                </a:lnTo>
                <a:lnTo>
                  <a:pt x="131" y="263"/>
                </a:lnTo>
                <a:lnTo>
                  <a:pt x="148" y="271"/>
                </a:lnTo>
                <a:lnTo>
                  <a:pt x="168" y="271"/>
                </a:lnTo>
                <a:lnTo>
                  <a:pt x="186" y="267"/>
                </a:lnTo>
                <a:lnTo>
                  <a:pt x="204" y="260"/>
                </a:lnTo>
                <a:lnTo>
                  <a:pt x="220" y="251"/>
                </a:lnTo>
                <a:lnTo>
                  <a:pt x="237" y="239"/>
                </a:lnTo>
                <a:lnTo>
                  <a:pt x="251" y="227"/>
                </a:lnTo>
                <a:lnTo>
                  <a:pt x="264" y="217"/>
                </a:lnTo>
                <a:lnTo>
                  <a:pt x="277" y="205"/>
                </a:lnTo>
                <a:lnTo>
                  <a:pt x="295" y="187"/>
                </a:lnTo>
                <a:lnTo>
                  <a:pt x="313" y="171"/>
                </a:lnTo>
                <a:lnTo>
                  <a:pt x="331" y="156"/>
                </a:lnTo>
                <a:lnTo>
                  <a:pt x="350" y="143"/>
                </a:lnTo>
                <a:lnTo>
                  <a:pt x="370" y="130"/>
                </a:lnTo>
                <a:lnTo>
                  <a:pt x="388" y="116"/>
                </a:lnTo>
                <a:lnTo>
                  <a:pt x="410" y="105"/>
                </a:lnTo>
                <a:lnTo>
                  <a:pt x="431" y="94"/>
                </a:lnTo>
                <a:lnTo>
                  <a:pt x="439" y="96"/>
                </a:lnTo>
                <a:lnTo>
                  <a:pt x="451" y="94"/>
                </a:lnTo>
                <a:lnTo>
                  <a:pt x="462" y="93"/>
                </a:lnTo>
                <a:lnTo>
                  <a:pt x="468" y="91"/>
                </a:lnTo>
                <a:lnTo>
                  <a:pt x="460" y="84"/>
                </a:lnTo>
                <a:lnTo>
                  <a:pt x="453" y="78"/>
                </a:lnTo>
                <a:lnTo>
                  <a:pt x="444" y="72"/>
                </a:lnTo>
                <a:lnTo>
                  <a:pt x="435" y="68"/>
                </a:lnTo>
                <a:lnTo>
                  <a:pt x="424" y="66"/>
                </a:lnTo>
                <a:lnTo>
                  <a:pt x="415" y="65"/>
                </a:lnTo>
                <a:lnTo>
                  <a:pt x="406" y="68"/>
                </a:lnTo>
                <a:lnTo>
                  <a:pt x="397" y="72"/>
                </a:lnTo>
                <a:lnTo>
                  <a:pt x="382" y="83"/>
                </a:lnTo>
                <a:lnTo>
                  <a:pt x="368" y="94"/>
                </a:lnTo>
                <a:lnTo>
                  <a:pt x="351" y="105"/>
                </a:lnTo>
                <a:lnTo>
                  <a:pt x="335" y="118"/>
                </a:lnTo>
                <a:lnTo>
                  <a:pt x="319" y="130"/>
                </a:lnTo>
                <a:lnTo>
                  <a:pt x="302" y="143"/>
                </a:lnTo>
                <a:lnTo>
                  <a:pt x="284" y="158"/>
                </a:lnTo>
                <a:lnTo>
                  <a:pt x="268" y="173"/>
                </a:lnTo>
                <a:lnTo>
                  <a:pt x="275" y="162"/>
                </a:lnTo>
                <a:lnTo>
                  <a:pt x="284" y="149"/>
                </a:lnTo>
                <a:lnTo>
                  <a:pt x="293" y="136"/>
                </a:lnTo>
                <a:lnTo>
                  <a:pt x="304" y="122"/>
                </a:lnTo>
                <a:lnTo>
                  <a:pt x="317" y="108"/>
                </a:lnTo>
                <a:lnTo>
                  <a:pt x="328" y="93"/>
                </a:lnTo>
                <a:lnTo>
                  <a:pt x="340" y="80"/>
                </a:lnTo>
                <a:lnTo>
                  <a:pt x="353" y="66"/>
                </a:lnTo>
                <a:lnTo>
                  <a:pt x="495" y="0"/>
                </a:lnTo>
                <a:lnTo>
                  <a:pt x="524" y="53"/>
                </a:lnTo>
                <a:lnTo>
                  <a:pt x="551" y="108"/>
                </a:lnTo>
                <a:lnTo>
                  <a:pt x="579" y="162"/>
                </a:lnTo>
                <a:lnTo>
                  <a:pt x="606" y="218"/>
                </a:lnTo>
                <a:lnTo>
                  <a:pt x="630" y="276"/>
                </a:lnTo>
                <a:lnTo>
                  <a:pt x="651" y="333"/>
                </a:lnTo>
                <a:lnTo>
                  <a:pt x="671" y="391"/>
                </a:lnTo>
                <a:lnTo>
                  <a:pt x="688" y="450"/>
                </a:lnTo>
                <a:lnTo>
                  <a:pt x="700" y="511"/>
                </a:lnTo>
                <a:lnTo>
                  <a:pt x="710" y="571"/>
                </a:lnTo>
                <a:lnTo>
                  <a:pt x="713" y="632"/>
                </a:lnTo>
                <a:lnTo>
                  <a:pt x="711" y="692"/>
                </a:lnTo>
                <a:lnTo>
                  <a:pt x="706" y="753"/>
                </a:lnTo>
                <a:lnTo>
                  <a:pt x="693" y="815"/>
                </a:lnTo>
                <a:lnTo>
                  <a:pt x="673" y="875"/>
                </a:lnTo>
                <a:lnTo>
                  <a:pt x="648" y="937"/>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92" name="Freeform 28"/>
          <p:cNvSpPr>
            <a:spLocks/>
          </p:cNvSpPr>
          <p:nvPr/>
        </p:nvSpPr>
        <p:spPr bwMode="auto">
          <a:xfrm>
            <a:off x="7581900" y="3787775"/>
            <a:ext cx="84137" cy="165100"/>
          </a:xfrm>
          <a:custGeom>
            <a:avLst/>
            <a:gdLst/>
            <a:ahLst/>
            <a:cxnLst>
              <a:cxn ang="0">
                <a:pos x="35" y="25"/>
              </a:cxn>
              <a:cxn ang="0">
                <a:pos x="53" y="27"/>
              </a:cxn>
              <a:cxn ang="0">
                <a:pos x="51" y="48"/>
              </a:cxn>
              <a:cxn ang="0">
                <a:pos x="44" y="67"/>
              </a:cxn>
              <a:cxn ang="0">
                <a:pos x="33" y="86"/>
              </a:cxn>
              <a:cxn ang="0">
                <a:pos x="22" y="104"/>
              </a:cxn>
              <a:cxn ang="0">
                <a:pos x="9" y="104"/>
              </a:cxn>
              <a:cxn ang="0">
                <a:pos x="4" y="96"/>
              </a:cxn>
              <a:cxn ang="0">
                <a:pos x="2" y="83"/>
              </a:cxn>
              <a:cxn ang="0">
                <a:pos x="0" y="73"/>
              </a:cxn>
              <a:cxn ang="0">
                <a:pos x="18" y="0"/>
              </a:cxn>
              <a:cxn ang="0">
                <a:pos x="22" y="8"/>
              </a:cxn>
              <a:cxn ang="0">
                <a:pos x="24" y="14"/>
              </a:cxn>
              <a:cxn ang="0">
                <a:pos x="28" y="19"/>
              </a:cxn>
              <a:cxn ang="0">
                <a:pos x="35" y="25"/>
              </a:cxn>
            </a:cxnLst>
            <a:rect l="0" t="0" r="r" b="b"/>
            <a:pathLst>
              <a:path w="53" h="104">
                <a:moveTo>
                  <a:pt x="35" y="25"/>
                </a:moveTo>
                <a:lnTo>
                  <a:pt x="53" y="27"/>
                </a:lnTo>
                <a:lnTo>
                  <a:pt x="51" y="48"/>
                </a:lnTo>
                <a:lnTo>
                  <a:pt x="44" y="67"/>
                </a:lnTo>
                <a:lnTo>
                  <a:pt x="33" y="86"/>
                </a:lnTo>
                <a:lnTo>
                  <a:pt x="22" y="104"/>
                </a:lnTo>
                <a:lnTo>
                  <a:pt x="9" y="104"/>
                </a:lnTo>
                <a:lnTo>
                  <a:pt x="4" y="96"/>
                </a:lnTo>
                <a:lnTo>
                  <a:pt x="2" y="83"/>
                </a:lnTo>
                <a:lnTo>
                  <a:pt x="0" y="73"/>
                </a:lnTo>
                <a:lnTo>
                  <a:pt x="18" y="0"/>
                </a:lnTo>
                <a:lnTo>
                  <a:pt x="22" y="8"/>
                </a:lnTo>
                <a:lnTo>
                  <a:pt x="24" y="14"/>
                </a:lnTo>
                <a:lnTo>
                  <a:pt x="28" y="19"/>
                </a:lnTo>
                <a:lnTo>
                  <a:pt x="35" y="25"/>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93" name="Freeform 29"/>
          <p:cNvSpPr>
            <a:spLocks/>
          </p:cNvSpPr>
          <p:nvPr/>
        </p:nvSpPr>
        <p:spPr bwMode="auto">
          <a:xfrm>
            <a:off x="8516938" y="4151313"/>
            <a:ext cx="188912" cy="339725"/>
          </a:xfrm>
          <a:custGeom>
            <a:avLst/>
            <a:gdLst/>
            <a:ahLst/>
            <a:cxnLst>
              <a:cxn ang="0">
                <a:pos x="119" y="158"/>
              </a:cxn>
              <a:cxn ang="0">
                <a:pos x="108" y="173"/>
              </a:cxn>
              <a:cxn ang="0">
                <a:pos x="97" y="186"/>
              </a:cxn>
              <a:cxn ang="0">
                <a:pos x="82" y="201"/>
              </a:cxn>
              <a:cxn ang="0">
                <a:pos x="68" y="214"/>
              </a:cxn>
              <a:cxn ang="0">
                <a:pos x="59" y="188"/>
              </a:cxn>
              <a:cxn ang="0">
                <a:pos x="51" y="163"/>
              </a:cxn>
              <a:cxn ang="0">
                <a:pos x="42" y="134"/>
              </a:cxn>
              <a:cxn ang="0">
                <a:pos x="35" y="108"/>
              </a:cxn>
              <a:cxn ang="0">
                <a:pos x="26" y="80"/>
              </a:cxn>
              <a:cxn ang="0">
                <a:pos x="19" y="53"/>
              </a:cxn>
              <a:cxn ang="0">
                <a:pos x="9" y="27"/>
              </a:cxn>
              <a:cxn ang="0">
                <a:pos x="0" y="0"/>
              </a:cxn>
              <a:cxn ang="0">
                <a:pos x="22" y="16"/>
              </a:cxn>
              <a:cxn ang="0">
                <a:pos x="44" y="34"/>
              </a:cxn>
              <a:cxn ang="0">
                <a:pos x="64" y="53"/>
              </a:cxn>
              <a:cxn ang="0">
                <a:pos x="82" y="72"/>
              </a:cxn>
              <a:cxn ang="0">
                <a:pos x="97" y="92"/>
              </a:cxn>
              <a:cxn ang="0">
                <a:pos x="110" y="114"/>
              </a:cxn>
              <a:cxn ang="0">
                <a:pos x="117" y="136"/>
              </a:cxn>
              <a:cxn ang="0">
                <a:pos x="119" y="158"/>
              </a:cxn>
            </a:cxnLst>
            <a:rect l="0" t="0" r="r" b="b"/>
            <a:pathLst>
              <a:path w="119" h="214">
                <a:moveTo>
                  <a:pt x="119" y="158"/>
                </a:moveTo>
                <a:lnTo>
                  <a:pt x="108" y="173"/>
                </a:lnTo>
                <a:lnTo>
                  <a:pt x="97" y="186"/>
                </a:lnTo>
                <a:lnTo>
                  <a:pt x="82" y="201"/>
                </a:lnTo>
                <a:lnTo>
                  <a:pt x="68" y="214"/>
                </a:lnTo>
                <a:lnTo>
                  <a:pt x="59" y="188"/>
                </a:lnTo>
                <a:lnTo>
                  <a:pt x="51" y="163"/>
                </a:lnTo>
                <a:lnTo>
                  <a:pt x="42" y="134"/>
                </a:lnTo>
                <a:lnTo>
                  <a:pt x="35" y="108"/>
                </a:lnTo>
                <a:lnTo>
                  <a:pt x="26" y="80"/>
                </a:lnTo>
                <a:lnTo>
                  <a:pt x="19" y="53"/>
                </a:lnTo>
                <a:lnTo>
                  <a:pt x="9" y="27"/>
                </a:lnTo>
                <a:lnTo>
                  <a:pt x="0" y="0"/>
                </a:lnTo>
                <a:lnTo>
                  <a:pt x="22" y="16"/>
                </a:lnTo>
                <a:lnTo>
                  <a:pt x="44" y="34"/>
                </a:lnTo>
                <a:lnTo>
                  <a:pt x="64" y="53"/>
                </a:lnTo>
                <a:lnTo>
                  <a:pt x="82" y="72"/>
                </a:lnTo>
                <a:lnTo>
                  <a:pt x="97" y="92"/>
                </a:lnTo>
                <a:lnTo>
                  <a:pt x="110" y="114"/>
                </a:lnTo>
                <a:lnTo>
                  <a:pt x="117" y="136"/>
                </a:lnTo>
                <a:lnTo>
                  <a:pt x="119" y="15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94" name="Freeform 30"/>
          <p:cNvSpPr>
            <a:spLocks/>
          </p:cNvSpPr>
          <p:nvPr/>
        </p:nvSpPr>
        <p:spPr bwMode="auto">
          <a:xfrm>
            <a:off x="8643938" y="4716463"/>
            <a:ext cx="266700" cy="90488"/>
          </a:xfrm>
          <a:custGeom>
            <a:avLst/>
            <a:gdLst/>
            <a:ahLst/>
            <a:cxnLst>
              <a:cxn ang="0">
                <a:pos x="168" y="31"/>
              </a:cxn>
              <a:cxn ang="0">
                <a:pos x="150" y="49"/>
              </a:cxn>
              <a:cxn ang="0">
                <a:pos x="131" y="57"/>
              </a:cxn>
              <a:cxn ang="0">
                <a:pos x="110" y="57"/>
              </a:cxn>
              <a:cxn ang="0">
                <a:pos x="90" y="53"/>
              </a:cxn>
              <a:cxn ang="0">
                <a:pos x="68" y="44"/>
              </a:cxn>
              <a:cxn ang="0">
                <a:pos x="46" y="37"/>
              </a:cxn>
              <a:cxn ang="0">
                <a:pos x="24" y="29"/>
              </a:cxn>
              <a:cxn ang="0">
                <a:pos x="4" y="25"/>
              </a:cxn>
              <a:cxn ang="0">
                <a:pos x="0" y="0"/>
              </a:cxn>
              <a:cxn ang="0">
                <a:pos x="20" y="4"/>
              </a:cxn>
              <a:cxn ang="0">
                <a:pos x="42" y="9"/>
              </a:cxn>
              <a:cxn ang="0">
                <a:pos x="62" y="13"/>
              </a:cxn>
              <a:cxn ang="0">
                <a:pos x="82" y="18"/>
              </a:cxn>
              <a:cxn ang="0">
                <a:pos x="104" y="21"/>
              </a:cxn>
              <a:cxn ang="0">
                <a:pos x="124" y="25"/>
              </a:cxn>
              <a:cxn ang="0">
                <a:pos x="146" y="28"/>
              </a:cxn>
              <a:cxn ang="0">
                <a:pos x="168" y="31"/>
              </a:cxn>
            </a:cxnLst>
            <a:rect l="0" t="0" r="r" b="b"/>
            <a:pathLst>
              <a:path w="168" h="57">
                <a:moveTo>
                  <a:pt x="168" y="31"/>
                </a:moveTo>
                <a:lnTo>
                  <a:pt x="150" y="49"/>
                </a:lnTo>
                <a:lnTo>
                  <a:pt x="131" y="57"/>
                </a:lnTo>
                <a:lnTo>
                  <a:pt x="110" y="57"/>
                </a:lnTo>
                <a:lnTo>
                  <a:pt x="90" y="53"/>
                </a:lnTo>
                <a:lnTo>
                  <a:pt x="68" y="44"/>
                </a:lnTo>
                <a:lnTo>
                  <a:pt x="46" y="37"/>
                </a:lnTo>
                <a:lnTo>
                  <a:pt x="24" y="29"/>
                </a:lnTo>
                <a:lnTo>
                  <a:pt x="4" y="25"/>
                </a:lnTo>
                <a:lnTo>
                  <a:pt x="0" y="0"/>
                </a:lnTo>
                <a:lnTo>
                  <a:pt x="20" y="4"/>
                </a:lnTo>
                <a:lnTo>
                  <a:pt x="42" y="9"/>
                </a:lnTo>
                <a:lnTo>
                  <a:pt x="62" y="13"/>
                </a:lnTo>
                <a:lnTo>
                  <a:pt x="82" y="18"/>
                </a:lnTo>
                <a:lnTo>
                  <a:pt x="104" y="21"/>
                </a:lnTo>
                <a:lnTo>
                  <a:pt x="124" y="25"/>
                </a:lnTo>
                <a:lnTo>
                  <a:pt x="146" y="28"/>
                </a:lnTo>
                <a:lnTo>
                  <a:pt x="168" y="3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95" name="Freeform 31"/>
          <p:cNvSpPr>
            <a:spLocks/>
          </p:cNvSpPr>
          <p:nvPr/>
        </p:nvSpPr>
        <p:spPr bwMode="auto">
          <a:xfrm>
            <a:off x="8445500" y="4795838"/>
            <a:ext cx="355600" cy="544513"/>
          </a:xfrm>
          <a:custGeom>
            <a:avLst/>
            <a:gdLst/>
            <a:ahLst/>
            <a:cxnLst>
              <a:cxn ang="0">
                <a:pos x="213" y="89"/>
              </a:cxn>
              <a:cxn ang="0">
                <a:pos x="200" y="149"/>
              </a:cxn>
              <a:cxn ang="0">
                <a:pos x="195" y="213"/>
              </a:cxn>
              <a:cxn ang="0">
                <a:pos x="191" y="279"/>
              </a:cxn>
              <a:cxn ang="0">
                <a:pos x="185" y="343"/>
              </a:cxn>
              <a:cxn ang="0">
                <a:pos x="11" y="334"/>
              </a:cxn>
              <a:cxn ang="0">
                <a:pos x="9" y="326"/>
              </a:cxn>
              <a:cxn ang="0">
                <a:pos x="5" y="319"/>
              </a:cxn>
              <a:cxn ang="0">
                <a:pos x="4" y="313"/>
              </a:cxn>
              <a:cxn ang="0">
                <a:pos x="0" y="306"/>
              </a:cxn>
              <a:cxn ang="0">
                <a:pos x="9" y="303"/>
              </a:cxn>
              <a:cxn ang="0">
                <a:pos x="22" y="300"/>
              </a:cxn>
              <a:cxn ang="0">
                <a:pos x="33" y="297"/>
              </a:cxn>
              <a:cxn ang="0">
                <a:pos x="45" y="294"/>
              </a:cxn>
              <a:cxn ang="0">
                <a:pos x="54" y="291"/>
              </a:cxn>
              <a:cxn ang="0">
                <a:pos x="64" y="285"/>
              </a:cxn>
              <a:cxn ang="0">
                <a:pos x="67" y="276"/>
              </a:cxn>
              <a:cxn ang="0">
                <a:pos x="69" y="266"/>
              </a:cxn>
              <a:cxn ang="0">
                <a:pos x="80" y="233"/>
              </a:cxn>
              <a:cxn ang="0">
                <a:pos x="91" y="201"/>
              </a:cxn>
              <a:cxn ang="0">
                <a:pos x="102" y="167"/>
              </a:cxn>
              <a:cxn ang="0">
                <a:pos x="113" y="134"/>
              </a:cxn>
              <a:cxn ang="0">
                <a:pos x="120" y="102"/>
              </a:cxn>
              <a:cxn ang="0">
                <a:pos x="127" y="68"/>
              </a:cxn>
              <a:cxn ang="0">
                <a:pos x="129" y="34"/>
              </a:cxn>
              <a:cxn ang="0">
                <a:pos x="127" y="0"/>
              </a:cxn>
              <a:cxn ang="0">
                <a:pos x="145" y="6"/>
              </a:cxn>
              <a:cxn ang="0">
                <a:pos x="165" y="12"/>
              </a:cxn>
              <a:cxn ang="0">
                <a:pos x="185" y="18"/>
              </a:cxn>
              <a:cxn ang="0">
                <a:pos x="204" y="27"/>
              </a:cxn>
              <a:cxn ang="0">
                <a:pos x="216" y="37"/>
              </a:cxn>
              <a:cxn ang="0">
                <a:pos x="224" y="50"/>
              </a:cxn>
              <a:cxn ang="0">
                <a:pos x="224" y="68"/>
              </a:cxn>
              <a:cxn ang="0">
                <a:pos x="213" y="89"/>
              </a:cxn>
            </a:cxnLst>
            <a:rect l="0" t="0" r="r" b="b"/>
            <a:pathLst>
              <a:path w="224" h="343">
                <a:moveTo>
                  <a:pt x="213" y="89"/>
                </a:moveTo>
                <a:lnTo>
                  <a:pt x="200" y="149"/>
                </a:lnTo>
                <a:lnTo>
                  <a:pt x="195" y="213"/>
                </a:lnTo>
                <a:lnTo>
                  <a:pt x="191" y="279"/>
                </a:lnTo>
                <a:lnTo>
                  <a:pt x="185" y="343"/>
                </a:lnTo>
                <a:lnTo>
                  <a:pt x="11" y="334"/>
                </a:lnTo>
                <a:lnTo>
                  <a:pt x="9" y="326"/>
                </a:lnTo>
                <a:lnTo>
                  <a:pt x="5" y="319"/>
                </a:lnTo>
                <a:lnTo>
                  <a:pt x="4" y="313"/>
                </a:lnTo>
                <a:lnTo>
                  <a:pt x="0" y="306"/>
                </a:lnTo>
                <a:lnTo>
                  <a:pt x="9" y="303"/>
                </a:lnTo>
                <a:lnTo>
                  <a:pt x="22" y="300"/>
                </a:lnTo>
                <a:lnTo>
                  <a:pt x="33" y="297"/>
                </a:lnTo>
                <a:lnTo>
                  <a:pt x="45" y="294"/>
                </a:lnTo>
                <a:lnTo>
                  <a:pt x="54" y="291"/>
                </a:lnTo>
                <a:lnTo>
                  <a:pt x="64" y="285"/>
                </a:lnTo>
                <a:lnTo>
                  <a:pt x="67" y="276"/>
                </a:lnTo>
                <a:lnTo>
                  <a:pt x="69" y="266"/>
                </a:lnTo>
                <a:lnTo>
                  <a:pt x="80" y="233"/>
                </a:lnTo>
                <a:lnTo>
                  <a:pt x="91" y="201"/>
                </a:lnTo>
                <a:lnTo>
                  <a:pt x="102" y="167"/>
                </a:lnTo>
                <a:lnTo>
                  <a:pt x="113" y="134"/>
                </a:lnTo>
                <a:lnTo>
                  <a:pt x="120" y="102"/>
                </a:lnTo>
                <a:lnTo>
                  <a:pt x="127" y="68"/>
                </a:lnTo>
                <a:lnTo>
                  <a:pt x="129" y="34"/>
                </a:lnTo>
                <a:lnTo>
                  <a:pt x="127" y="0"/>
                </a:lnTo>
                <a:lnTo>
                  <a:pt x="145" y="6"/>
                </a:lnTo>
                <a:lnTo>
                  <a:pt x="165" y="12"/>
                </a:lnTo>
                <a:lnTo>
                  <a:pt x="185" y="18"/>
                </a:lnTo>
                <a:lnTo>
                  <a:pt x="204" y="27"/>
                </a:lnTo>
                <a:lnTo>
                  <a:pt x="216" y="37"/>
                </a:lnTo>
                <a:lnTo>
                  <a:pt x="224" y="50"/>
                </a:lnTo>
                <a:lnTo>
                  <a:pt x="224" y="68"/>
                </a:lnTo>
                <a:lnTo>
                  <a:pt x="213" y="89"/>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96" name="Freeform 32"/>
          <p:cNvSpPr>
            <a:spLocks/>
          </p:cNvSpPr>
          <p:nvPr/>
        </p:nvSpPr>
        <p:spPr bwMode="auto">
          <a:xfrm>
            <a:off x="8797925" y="4821238"/>
            <a:ext cx="123825" cy="487363"/>
          </a:xfrm>
          <a:custGeom>
            <a:avLst/>
            <a:gdLst/>
            <a:ahLst/>
            <a:cxnLst>
              <a:cxn ang="0">
                <a:pos x="56" y="268"/>
              </a:cxn>
              <a:cxn ang="0">
                <a:pos x="49" y="273"/>
              </a:cxn>
              <a:cxn ang="0">
                <a:pos x="42" y="278"/>
              </a:cxn>
              <a:cxn ang="0">
                <a:pos x="34" y="282"/>
              </a:cxn>
              <a:cxn ang="0">
                <a:pos x="27" y="287"/>
              </a:cxn>
              <a:cxn ang="0">
                <a:pos x="20" y="291"/>
              </a:cxn>
              <a:cxn ang="0">
                <a:pos x="13" y="296"/>
              </a:cxn>
              <a:cxn ang="0">
                <a:pos x="7" y="301"/>
              </a:cxn>
              <a:cxn ang="0">
                <a:pos x="0" y="307"/>
              </a:cxn>
              <a:cxn ang="0">
                <a:pos x="3" y="237"/>
              </a:cxn>
              <a:cxn ang="0">
                <a:pos x="16" y="167"/>
              </a:cxn>
              <a:cxn ang="0">
                <a:pos x="29" y="98"/>
              </a:cxn>
              <a:cxn ang="0">
                <a:pos x="42" y="28"/>
              </a:cxn>
              <a:cxn ang="0">
                <a:pos x="78" y="0"/>
              </a:cxn>
              <a:cxn ang="0">
                <a:pos x="76" y="70"/>
              </a:cxn>
              <a:cxn ang="0">
                <a:pos x="65" y="135"/>
              </a:cxn>
              <a:cxn ang="0">
                <a:pos x="54" y="200"/>
              </a:cxn>
              <a:cxn ang="0">
                <a:pos x="56" y="268"/>
              </a:cxn>
            </a:cxnLst>
            <a:rect l="0" t="0" r="r" b="b"/>
            <a:pathLst>
              <a:path w="78" h="307">
                <a:moveTo>
                  <a:pt x="56" y="268"/>
                </a:moveTo>
                <a:lnTo>
                  <a:pt x="49" y="273"/>
                </a:lnTo>
                <a:lnTo>
                  <a:pt x="42" y="278"/>
                </a:lnTo>
                <a:lnTo>
                  <a:pt x="34" y="282"/>
                </a:lnTo>
                <a:lnTo>
                  <a:pt x="27" y="287"/>
                </a:lnTo>
                <a:lnTo>
                  <a:pt x="20" y="291"/>
                </a:lnTo>
                <a:lnTo>
                  <a:pt x="13" y="296"/>
                </a:lnTo>
                <a:lnTo>
                  <a:pt x="7" y="301"/>
                </a:lnTo>
                <a:lnTo>
                  <a:pt x="0" y="307"/>
                </a:lnTo>
                <a:lnTo>
                  <a:pt x="3" y="237"/>
                </a:lnTo>
                <a:lnTo>
                  <a:pt x="16" y="167"/>
                </a:lnTo>
                <a:lnTo>
                  <a:pt x="29" y="98"/>
                </a:lnTo>
                <a:lnTo>
                  <a:pt x="42" y="28"/>
                </a:lnTo>
                <a:lnTo>
                  <a:pt x="78" y="0"/>
                </a:lnTo>
                <a:lnTo>
                  <a:pt x="76" y="70"/>
                </a:lnTo>
                <a:lnTo>
                  <a:pt x="65" y="135"/>
                </a:lnTo>
                <a:lnTo>
                  <a:pt x="54" y="200"/>
                </a:lnTo>
                <a:lnTo>
                  <a:pt x="56" y="26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97" name="Freeform 33"/>
          <p:cNvSpPr>
            <a:spLocks/>
          </p:cNvSpPr>
          <p:nvPr/>
        </p:nvSpPr>
        <p:spPr bwMode="auto">
          <a:xfrm>
            <a:off x="7270750" y="4786313"/>
            <a:ext cx="144462" cy="101600"/>
          </a:xfrm>
          <a:custGeom>
            <a:avLst/>
            <a:gdLst/>
            <a:ahLst/>
            <a:cxnLst>
              <a:cxn ang="0">
                <a:pos x="0" y="56"/>
              </a:cxn>
              <a:cxn ang="0">
                <a:pos x="91" y="0"/>
              </a:cxn>
              <a:cxn ang="0">
                <a:pos x="76" y="64"/>
              </a:cxn>
              <a:cxn ang="0">
                <a:pos x="0" y="56"/>
              </a:cxn>
            </a:cxnLst>
            <a:rect l="0" t="0" r="r" b="b"/>
            <a:pathLst>
              <a:path w="91" h="64">
                <a:moveTo>
                  <a:pt x="0" y="56"/>
                </a:moveTo>
                <a:lnTo>
                  <a:pt x="91" y="0"/>
                </a:lnTo>
                <a:lnTo>
                  <a:pt x="76" y="64"/>
                </a:lnTo>
                <a:lnTo>
                  <a:pt x="0" y="56"/>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98" name="Freeform 34"/>
          <p:cNvSpPr>
            <a:spLocks/>
          </p:cNvSpPr>
          <p:nvPr/>
        </p:nvSpPr>
        <p:spPr bwMode="auto">
          <a:xfrm>
            <a:off x="3454400" y="4981575"/>
            <a:ext cx="1770062" cy="1093788"/>
          </a:xfrm>
          <a:custGeom>
            <a:avLst/>
            <a:gdLst/>
            <a:ahLst/>
            <a:cxnLst>
              <a:cxn ang="0">
                <a:pos x="1098" y="175"/>
              </a:cxn>
              <a:cxn ang="0">
                <a:pos x="1104" y="183"/>
              </a:cxn>
              <a:cxn ang="0">
                <a:pos x="1111" y="187"/>
              </a:cxn>
              <a:cxn ang="0">
                <a:pos x="1115" y="192"/>
              </a:cxn>
              <a:cxn ang="0">
                <a:pos x="1113" y="199"/>
              </a:cxn>
              <a:cxn ang="0">
                <a:pos x="1104" y="203"/>
              </a:cxn>
              <a:cxn ang="0">
                <a:pos x="1076" y="218"/>
              </a:cxn>
              <a:cxn ang="0">
                <a:pos x="1035" y="242"/>
              </a:cxn>
              <a:cxn ang="0">
                <a:pos x="980" y="270"/>
              </a:cxn>
              <a:cxn ang="0">
                <a:pos x="915" y="305"/>
              </a:cxn>
              <a:cxn ang="0">
                <a:pos x="842" y="345"/>
              </a:cxn>
              <a:cxn ang="0">
                <a:pos x="764" y="386"/>
              </a:cxn>
              <a:cxn ang="0">
                <a:pos x="682" y="431"/>
              </a:cxn>
              <a:cxn ang="0">
                <a:pos x="600" y="475"/>
              </a:cxn>
              <a:cxn ang="0">
                <a:pos x="518" y="518"/>
              </a:cxn>
              <a:cxn ang="0">
                <a:pos x="442" y="559"/>
              </a:cxn>
              <a:cxn ang="0">
                <a:pos x="371" y="598"/>
              </a:cxn>
              <a:cxn ang="0">
                <a:pos x="309" y="630"/>
              </a:cxn>
              <a:cxn ang="0">
                <a:pos x="258" y="658"/>
              </a:cxn>
              <a:cxn ang="0">
                <a:pos x="220" y="677"/>
              </a:cxn>
              <a:cxn ang="0">
                <a:pos x="198" y="689"/>
              </a:cxn>
              <a:cxn ang="0">
                <a:pos x="153" y="679"/>
              </a:cxn>
              <a:cxn ang="0">
                <a:pos x="1073" y="198"/>
              </a:cxn>
              <a:cxn ang="0">
                <a:pos x="11" y="25"/>
              </a:cxn>
              <a:cxn ang="0">
                <a:pos x="5" y="19"/>
              </a:cxn>
              <a:cxn ang="0">
                <a:pos x="2" y="10"/>
              </a:cxn>
              <a:cxn ang="0">
                <a:pos x="0" y="4"/>
              </a:cxn>
              <a:cxn ang="0">
                <a:pos x="4" y="0"/>
              </a:cxn>
              <a:cxn ang="0">
                <a:pos x="1098" y="175"/>
              </a:cxn>
            </a:cxnLst>
            <a:rect l="0" t="0" r="r" b="b"/>
            <a:pathLst>
              <a:path w="1115" h="689">
                <a:moveTo>
                  <a:pt x="1098" y="175"/>
                </a:moveTo>
                <a:lnTo>
                  <a:pt x="1104" y="183"/>
                </a:lnTo>
                <a:lnTo>
                  <a:pt x="1111" y="187"/>
                </a:lnTo>
                <a:lnTo>
                  <a:pt x="1115" y="192"/>
                </a:lnTo>
                <a:lnTo>
                  <a:pt x="1113" y="199"/>
                </a:lnTo>
                <a:lnTo>
                  <a:pt x="1104" y="203"/>
                </a:lnTo>
                <a:lnTo>
                  <a:pt x="1076" y="218"/>
                </a:lnTo>
                <a:lnTo>
                  <a:pt x="1035" y="242"/>
                </a:lnTo>
                <a:lnTo>
                  <a:pt x="980" y="270"/>
                </a:lnTo>
                <a:lnTo>
                  <a:pt x="915" y="305"/>
                </a:lnTo>
                <a:lnTo>
                  <a:pt x="842" y="345"/>
                </a:lnTo>
                <a:lnTo>
                  <a:pt x="764" y="386"/>
                </a:lnTo>
                <a:lnTo>
                  <a:pt x="682" y="431"/>
                </a:lnTo>
                <a:lnTo>
                  <a:pt x="600" y="475"/>
                </a:lnTo>
                <a:lnTo>
                  <a:pt x="518" y="518"/>
                </a:lnTo>
                <a:lnTo>
                  <a:pt x="442" y="559"/>
                </a:lnTo>
                <a:lnTo>
                  <a:pt x="371" y="598"/>
                </a:lnTo>
                <a:lnTo>
                  <a:pt x="309" y="630"/>
                </a:lnTo>
                <a:lnTo>
                  <a:pt x="258" y="658"/>
                </a:lnTo>
                <a:lnTo>
                  <a:pt x="220" y="677"/>
                </a:lnTo>
                <a:lnTo>
                  <a:pt x="198" y="689"/>
                </a:lnTo>
                <a:lnTo>
                  <a:pt x="153" y="679"/>
                </a:lnTo>
                <a:lnTo>
                  <a:pt x="1073" y="198"/>
                </a:lnTo>
                <a:lnTo>
                  <a:pt x="11" y="25"/>
                </a:lnTo>
                <a:lnTo>
                  <a:pt x="5" y="19"/>
                </a:lnTo>
                <a:lnTo>
                  <a:pt x="2" y="10"/>
                </a:lnTo>
                <a:lnTo>
                  <a:pt x="0" y="4"/>
                </a:lnTo>
                <a:lnTo>
                  <a:pt x="4" y="0"/>
                </a:lnTo>
                <a:lnTo>
                  <a:pt x="1098" y="175"/>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299" name="Freeform 35"/>
          <p:cNvSpPr>
            <a:spLocks/>
          </p:cNvSpPr>
          <p:nvPr/>
        </p:nvSpPr>
        <p:spPr bwMode="auto">
          <a:xfrm>
            <a:off x="7634288" y="5145088"/>
            <a:ext cx="684212" cy="822325"/>
          </a:xfrm>
          <a:custGeom>
            <a:avLst/>
            <a:gdLst/>
            <a:ahLst/>
            <a:cxnLst>
              <a:cxn ang="0">
                <a:pos x="353" y="61"/>
              </a:cxn>
              <a:cxn ang="0">
                <a:pos x="431" y="72"/>
              </a:cxn>
              <a:cxn ang="0">
                <a:pos x="427" y="96"/>
              </a:cxn>
              <a:cxn ang="0">
                <a:pos x="420" y="118"/>
              </a:cxn>
              <a:cxn ang="0">
                <a:pos x="411" y="140"/>
              </a:cxn>
              <a:cxn ang="0">
                <a:pos x="400" y="161"/>
              </a:cxn>
              <a:cxn ang="0">
                <a:pos x="391" y="183"/>
              </a:cxn>
              <a:cxn ang="0">
                <a:pos x="382" y="205"/>
              </a:cxn>
              <a:cxn ang="0">
                <a:pos x="375" y="227"/>
              </a:cxn>
              <a:cxn ang="0">
                <a:pos x="371" y="251"/>
              </a:cxn>
              <a:cxn ang="0">
                <a:pos x="371" y="317"/>
              </a:cxn>
              <a:cxn ang="0">
                <a:pos x="371" y="387"/>
              </a:cxn>
              <a:cxn ang="0">
                <a:pos x="362" y="455"/>
              </a:cxn>
              <a:cxn ang="0">
                <a:pos x="338" y="517"/>
              </a:cxn>
              <a:cxn ang="0">
                <a:pos x="325" y="518"/>
              </a:cxn>
              <a:cxn ang="0">
                <a:pos x="315" y="517"/>
              </a:cxn>
              <a:cxn ang="0">
                <a:pos x="304" y="514"/>
              </a:cxn>
              <a:cxn ang="0">
                <a:pos x="295" y="511"/>
              </a:cxn>
              <a:cxn ang="0">
                <a:pos x="285" y="506"/>
              </a:cxn>
              <a:cxn ang="0">
                <a:pos x="276" y="503"/>
              </a:cxn>
              <a:cxn ang="0">
                <a:pos x="267" y="500"/>
              </a:cxn>
              <a:cxn ang="0">
                <a:pos x="256" y="500"/>
              </a:cxn>
              <a:cxn ang="0">
                <a:pos x="227" y="480"/>
              </a:cxn>
              <a:cxn ang="0">
                <a:pos x="205" y="453"/>
              </a:cxn>
              <a:cxn ang="0">
                <a:pos x="187" y="425"/>
              </a:cxn>
              <a:cxn ang="0">
                <a:pos x="173" y="396"/>
              </a:cxn>
              <a:cxn ang="0">
                <a:pos x="155" y="368"/>
              </a:cxn>
              <a:cxn ang="0">
                <a:pos x="135" y="341"/>
              </a:cxn>
              <a:cxn ang="0">
                <a:pos x="105" y="320"/>
              </a:cxn>
              <a:cxn ang="0">
                <a:pos x="67" y="304"/>
              </a:cxn>
              <a:cxn ang="0">
                <a:pos x="51" y="285"/>
              </a:cxn>
              <a:cxn ang="0">
                <a:pos x="38" y="263"/>
              </a:cxn>
              <a:cxn ang="0">
                <a:pos x="27" y="242"/>
              </a:cxn>
              <a:cxn ang="0">
                <a:pos x="20" y="219"/>
              </a:cxn>
              <a:cxn ang="0">
                <a:pos x="13" y="196"/>
              </a:cxn>
              <a:cxn ang="0">
                <a:pos x="9" y="173"/>
              </a:cxn>
              <a:cxn ang="0">
                <a:pos x="5" y="149"/>
              </a:cxn>
              <a:cxn ang="0">
                <a:pos x="2" y="126"/>
              </a:cxn>
              <a:cxn ang="0">
                <a:pos x="0" y="0"/>
              </a:cxn>
              <a:cxn ang="0">
                <a:pos x="24" y="3"/>
              </a:cxn>
              <a:cxn ang="0">
                <a:pos x="45" y="6"/>
              </a:cxn>
              <a:cxn ang="0">
                <a:pos x="69" y="9"/>
              </a:cxn>
              <a:cxn ang="0">
                <a:pos x="91" y="10"/>
              </a:cxn>
              <a:cxn ang="0">
                <a:pos x="115" y="13"/>
              </a:cxn>
              <a:cxn ang="0">
                <a:pos x="136" y="16"/>
              </a:cxn>
              <a:cxn ang="0">
                <a:pos x="160" y="19"/>
              </a:cxn>
              <a:cxn ang="0">
                <a:pos x="182" y="22"/>
              </a:cxn>
              <a:cxn ang="0">
                <a:pos x="204" y="25"/>
              </a:cxn>
              <a:cxn ang="0">
                <a:pos x="225" y="30"/>
              </a:cxn>
              <a:cxn ang="0">
                <a:pos x="247" y="33"/>
              </a:cxn>
              <a:cxn ang="0">
                <a:pos x="269" y="37"/>
              </a:cxn>
              <a:cxn ang="0">
                <a:pos x="291" y="43"/>
              </a:cxn>
              <a:cxn ang="0">
                <a:pos x="311" y="47"/>
              </a:cxn>
              <a:cxn ang="0">
                <a:pos x="333" y="53"/>
              </a:cxn>
              <a:cxn ang="0">
                <a:pos x="353" y="61"/>
              </a:cxn>
            </a:cxnLst>
            <a:rect l="0" t="0" r="r" b="b"/>
            <a:pathLst>
              <a:path w="431" h="518">
                <a:moveTo>
                  <a:pt x="353" y="61"/>
                </a:moveTo>
                <a:lnTo>
                  <a:pt x="431" y="72"/>
                </a:lnTo>
                <a:lnTo>
                  <a:pt x="427" y="96"/>
                </a:lnTo>
                <a:lnTo>
                  <a:pt x="420" y="118"/>
                </a:lnTo>
                <a:lnTo>
                  <a:pt x="411" y="140"/>
                </a:lnTo>
                <a:lnTo>
                  <a:pt x="400" y="161"/>
                </a:lnTo>
                <a:lnTo>
                  <a:pt x="391" y="183"/>
                </a:lnTo>
                <a:lnTo>
                  <a:pt x="382" y="205"/>
                </a:lnTo>
                <a:lnTo>
                  <a:pt x="375" y="227"/>
                </a:lnTo>
                <a:lnTo>
                  <a:pt x="371" y="251"/>
                </a:lnTo>
                <a:lnTo>
                  <a:pt x="371" y="317"/>
                </a:lnTo>
                <a:lnTo>
                  <a:pt x="371" y="387"/>
                </a:lnTo>
                <a:lnTo>
                  <a:pt x="362" y="455"/>
                </a:lnTo>
                <a:lnTo>
                  <a:pt x="338" y="517"/>
                </a:lnTo>
                <a:lnTo>
                  <a:pt x="325" y="518"/>
                </a:lnTo>
                <a:lnTo>
                  <a:pt x="315" y="517"/>
                </a:lnTo>
                <a:lnTo>
                  <a:pt x="304" y="514"/>
                </a:lnTo>
                <a:lnTo>
                  <a:pt x="295" y="511"/>
                </a:lnTo>
                <a:lnTo>
                  <a:pt x="285" y="506"/>
                </a:lnTo>
                <a:lnTo>
                  <a:pt x="276" y="503"/>
                </a:lnTo>
                <a:lnTo>
                  <a:pt x="267" y="500"/>
                </a:lnTo>
                <a:lnTo>
                  <a:pt x="256" y="500"/>
                </a:lnTo>
                <a:lnTo>
                  <a:pt x="227" y="480"/>
                </a:lnTo>
                <a:lnTo>
                  <a:pt x="205" y="453"/>
                </a:lnTo>
                <a:lnTo>
                  <a:pt x="187" y="425"/>
                </a:lnTo>
                <a:lnTo>
                  <a:pt x="173" y="396"/>
                </a:lnTo>
                <a:lnTo>
                  <a:pt x="155" y="368"/>
                </a:lnTo>
                <a:lnTo>
                  <a:pt x="135" y="341"/>
                </a:lnTo>
                <a:lnTo>
                  <a:pt x="105" y="320"/>
                </a:lnTo>
                <a:lnTo>
                  <a:pt x="67" y="304"/>
                </a:lnTo>
                <a:lnTo>
                  <a:pt x="51" y="285"/>
                </a:lnTo>
                <a:lnTo>
                  <a:pt x="38" y="263"/>
                </a:lnTo>
                <a:lnTo>
                  <a:pt x="27" y="242"/>
                </a:lnTo>
                <a:lnTo>
                  <a:pt x="20" y="219"/>
                </a:lnTo>
                <a:lnTo>
                  <a:pt x="13" y="196"/>
                </a:lnTo>
                <a:lnTo>
                  <a:pt x="9" y="173"/>
                </a:lnTo>
                <a:lnTo>
                  <a:pt x="5" y="149"/>
                </a:lnTo>
                <a:lnTo>
                  <a:pt x="2" y="126"/>
                </a:lnTo>
                <a:lnTo>
                  <a:pt x="0" y="0"/>
                </a:lnTo>
                <a:lnTo>
                  <a:pt x="24" y="3"/>
                </a:lnTo>
                <a:lnTo>
                  <a:pt x="45" y="6"/>
                </a:lnTo>
                <a:lnTo>
                  <a:pt x="69" y="9"/>
                </a:lnTo>
                <a:lnTo>
                  <a:pt x="91" y="10"/>
                </a:lnTo>
                <a:lnTo>
                  <a:pt x="115" y="13"/>
                </a:lnTo>
                <a:lnTo>
                  <a:pt x="136" y="16"/>
                </a:lnTo>
                <a:lnTo>
                  <a:pt x="160" y="19"/>
                </a:lnTo>
                <a:lnTo>
                  <a:pt x="182" y="22"/>
                </a:lnTo>
                <a:lnTo>
                  <a:pt x="204" y="25"/>
                </a:lnTo>
                <a:lnTo>
                  <a:pt x="225" y="30"/>
                </a:lnTo>
                <a:lnTo>
                  <a:pt x="247" y="33"/>
                </a:lnTo>
                <a:lnTo>
                  <a:pt x="269" y="37"/>
                </a:lnTo>
                <a:lnTo>
                  <a:pt x="291" y="43"/>
                </a:lnTo>
                <a:lnTo>
                  <a:pt x="311" y="47"/>
                </a:lnTo>
                <a:lnTo>
                  <a:pt x="333" y="53"/>
                </a:lnTo>
                <a:lnTo>
                  <a:pt x="353" y="61"/>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300" name="Freeform 36"/>
          <p:cNvSpPr>
            <a:spLocks/>
          </p:cNvSpPr>
          <p:nvPr/>
        </p:nvSpPr>
        <p:spPr bwMode="auto">
          <a:xfrm>
            <a:off x="8289925" y="5297488"/>
            <a:ext cx="346075" cy="581025"/>
          </a:xfrm>
          <a:custGeom>
            <a:avLst/>
            <a:gdLst/>
            <a:ahLst/>
            <a:cxnLst>
              <a:cxn ang="0">
                <a:pos x="85" y="204"/>
              </a:cxn>
              <a:cxn ang="0">
                <a:pos x="105" y="218"/>
              </a:cxn>
              <a:cxn ang="0">
                <a:pos x="125" y="232"/>
              </a:cxn>
              <a:cxn ang="0">
                <a:pos x="147" y="245"/>
              </a:cxn>
              <a:cxn ang="0">
                <a:pos x="165" y="260"/>
              </a:cxn>
              <a:cxn ang="0">
                <a:pos x="183" y="276"/>
              </a:cxn>
              <a:cxn ang="0">
                <a:pos x="200" y="292"/>
              </a:cxn>
              <a:cxn ang="0">
                <a:pos x="211" y="310"/>
              </a:cxn>
              <a:cxn ang="0">
                <a:pos x="218" y="331"/>
              </a:cxn>
              <a:cxn ang="0">
                <a:pos x="162" y="366"/>
              </a:cxn>
              <a:cxn ang="0">
                <a:pos x="143" y="356"/>
              </a:cxn>
              <a:cxn ang="0">
                <a:pos x="123" y="345"/>
              </a:cxn>
              <a:cxn ang="0">
                <a:pos x="105" y="337"/>
              </a:cxn>
              <a:cxn ang="0">
                <a:pos x="85" y="328"/>
              </a:cxn>
              <a:cxn ang="0">
                <a:pos x="65" y="319"/>
              </a:cxn>
              <a:cxn ang="0">
                <a:pos x="43" y="313"/>
              </a:cxn>
              <a:cxn ang="0">
                <a:pos x="23" y="306"/>
              </a:cxn>
              <a:cxn ang="0">
                <a:pos x="2" y="301"/>
              </a:cxn>
              <a:cxn ang="0">
                <a:pos x="0" y="263"/>
              </a:cxn>
              <a:cxn ang="0">
                <a:pos x="2" y="224"/>
              </a:cxn>
              <a:cxn ang="0">
                <a:pos x="3" y="186"/>
              </a:cxn>
              <a:cxn ang="0">
                <a:pos x="9" y="146"/>
              </a:cxn>
              <a:cxn ang="0">
                <a:pos x="16" y="108"/>
              </a:cxn>
              <a:cxn ang="0">
                <a:pos x="27" y="71"/>
              </a:cxn>
              <a:cxn ang="0">
                <a:pos x="40" y="34"/>
              </a:cxn>
              <a:cxn ang="0">
                <a:pos x="56" y="0"/>
              </a:cxn>
              <a:cxn ang="0">
                <a:pos x="69" y="50"/>
              </a:cxn>
              <a:cxn ang="0">
                <a:pos x="74" y="102"/>
              </a:cxn>
              <a:cxn ang="0">
                <a:pos x="78" y="154"/>
              </a:cxn>
              <a:cxn ang="0">
                <a:pos x="85" y="204"/>
              </a:cxn>
            </a:cxnLst>
            <a:rect l="0" t="0" r="r" b="b"/>
            <a:pathLst>
              <a:path w="218" h="366">
                <a:moveTo>
                  <a:pt x="85" y="204"/>
                </a:moveTo>
                <a:lnTo>
                  <a:pt x="105" y="218"/>
                </a:lnTo>
                <a:lnTo>
                  <a:pt x="125" y="232"/>
                </a:lnTo>
                <a:lnTo>
                  <a:pt x="147" y="245"/>
                </a:lnTo>
                <a:lnTo>
                  <a:pt x="165" y="260"/>
                </a:lnTo>
                <a:lnTo>
                  <a:pt x="183" y="276"/>
                </a:lnTo>
                <a:lnTo>
                  <a:pt x="200" y="292"/>
                </a:lnTo>
                <a:lnTo>
                  <a:pt x="211" y="310"/>
                </a:lnTo>
                <a:lnTo>
                  <a:pt x="218" y="331"/>
                </a:lnTo>
                <a:lnTo>
                  <a:pt x="162" y="366"/>
                </a:lnTo>
                <a:lnTo>
                  <a:pt x="143" y="356"/>
                </a:lnTo>
                <a:lnTo>
                  <a:pt x="123" y="345"/>
                </a:lnTo>
                <a:lnTo>
                  <a:pt x="105" y="337"/>
                </a:lnTo>
                <a:lnTo>
                  <a:pt x="85" y="328"/>
                </a:lnTo>
                <a:lnTo>
                  <a:pt x="65" y="319"/>
                </a:lnTo>
                <a:lnTo>
                  <a:pt x="43" y="313"/>
                </a:lnTo>
                <a:lnTo>
                  <a:pt x="23" y="306"/>
                </a:lnTo>
                <a:lnTo>
                  <a:pt x="2" y="301"/>
                </a:lnTo>
                <a:lnTo>
                  <a:pt x="0" y="263"/>
                </a:lnTo>
                <a:lnTo>
                  <a:pt x="2" y="224"/>
                </a:lnTo>
                <a:lnTo>
                  <a:pt x="3" y="186"/>
                </a:lnTo>
                <a:lnTo>
                  <a:pt x="9" y="146"/>
                </a:lnTo>
                <a:lnTo>
                  <a:pt x="16" y="108"/>
                </a:lnTo>
                <a:lnTo>
                  <a:pt x="27" y="71"/>
                </a:lnTo>
                <a:lnTo>
                  <a:pt x="40" y="34"/>
                </a:lnTo>
                <a:lnTo>
                  <a:pt x="56" y="0"/>
                </a:lnTo>
                <a:lnTo>
                  <a:pt x="69" y="50"/>
                </a:lnTo>
                <a:lnTo>
                  <a:pt x="74" y="102"/>
                </a:lnTo>
                <a:lnTo>
                  <a:pt x="78" y="154"/>
                </a:lnTo>
                <a:lnTo>
                  <a:pt x="85" y="20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301" name="Freeform 37"/>
          <p:cNvSpPr>
            <a:spLocks/>
          </p:cNvSpPr>
          <p:nvPr/>
        </p:nvSpPr>
        <p:spPr bwMode="auto">
          <a:xfrm>
            <a:off x="8512175" y="5868988"/>
            <a:ext cx="173037" cy="168275"/>
          </a:xfrm>
          <a:custGeom>
            <a:avLst/>
            <a:gdLst/>
            <a:ahLst/>
            <a:cxnLst>
              <a:cxn ang="0">
                <a:pos x="109" y="0"/>
              </a:cxn>
              <a:cxn ang="0">
                <a:pos x="96" y="15"/>
              </a:cxn>
              <a:cxn ang="0">
                <a:pos x="89" y="34"/>
              </a:cxn>
              <a:cxn ang="0">
                <a:pos x="83" y="55"/>
              </a:cxn>
              <a:cxn ang="0">
                <a:pos x="78" y="75"/>
              </a:cxn>
              <a:cxn ang="0">
                <a:pos x="69" y="93"/>
              </a:cxn>
              <a:cxn ang="0">
                <a:pos x="56" y="104"/>
              </a:cxn>
              <a:cxn ang="0">
                <a:pos x="32" y="106"/>
              </a:cxn>
              <a:cxn ang="0">
                <a:pos x="0" y="99"/>
              </a:cxn>
              <a:cxn ang="0">
                <a:pos x="16" y="86"/>
              </a:cxn>
              <a:cxn ang="0">
                <a:pos x="29" y="71"/>
              </a:cxn>
              <a:cxn ang="0">
                <a:pos x="38" y="56"/>
              </a:cxn>
              <a:cxn ang="0">
                <a:pos x="47" y="43"/>
              </a:cxn>
              <a:cxn ang="0">
                <a:pos x="56" y="30"/>
              </a:cxn>
              <a:cxn ang="0">
                <a:pos x="69" y="16"/>
              </a:cxn>
              <a:cxn ang="0">
                <a:pos x="85" y="8"/>
              </a:cxn>
              <a:cxn ang="0">
                <a:pos x="109" y="0"/>
              </a:cxn>
            </a:cxnLst>
            <a:rect l="0" t="0" r="r" b="b"/>
            <a:pathLst>
              <a:path w="109" h="106">
                <a:moveTo>
                  <a:pt x="109" y="0"/>
                </a:moveTo>
                <a:lnTo>
                  <a:pt x="96" y="15"/>
                </a:lnTo>
                <a:lnTo>
                  <a:pt x="89" y="34"/>
                </a:lnTo>
                <a:lnTo>
                  <a:pt x="83" y="55"/>
                </a:lnTo>
                <a:lnTo>
                  <a:pt x="78" y="75"/>
                </a:lnTo>
                <a:lnTo>
                  <a:pt x="69" y="93"/>
                </a:lnTo>
                <a:lnTo>
                  <a:pt x="56" y="104"/>
                </a:lnTo>
                <a:lnTo>
                  <a:pt x="32" y="106"/>
                </a:lnTo>
                <a:lnTo>
                  <a:pt x="0" y="99"/>
                </a:lnTo>
                <a:lnTo>
                  <a:pt x="16" y="86"/>
                </a:lnTo>
                <a:lnTo>
                  <a:pt x="29" y="71"/>
                </a:lnTo>
                <a:lnTo>
                  <a:pt x="38" y="56"/>
                </a:lnTo>
                <a:lnTo>
                  <a:pt x="47" y="43"/>
                </a:lnTo>
                <a:lnTo>
                  <a:pt x="56" y="30"/>
                </a:lnTo>
                <a:lnTo>
                  <a:pt x="69" y="16"/>
                </a:lnTo>
                <a:lnTo>
                  <a:pt x="85" y="8"/>
                </a:lnTo>
                <a:lnTo>
                  <a:pt x="109" y="0"/>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11302" name="Freeform 38"/>
          <p:cNvSpPr>
            <a:spLocks/>
          </p:cNvSpPr>
          <p:nvPr/>
        </p:nvSpPr>
        <p:spPr bwMode="auto">
          <a:xfrm>
            <a:off x="7905750" y="5991225"/>
            <a:ext cx="260350" cy="128588"/>
          </a:xfrm>
          <a:custGeom>
            <a:avLst/>
            <a:gdLst/>
            <a:ahLst/>
            <a:cxnLst>
              <a:cxn ang="0">
                <a:pos x="164" y="28"/>
              </a:cxn>
              <a:cxn ang="0">
                <a:pos x="158" y="66"/>
              </a:cxn>
              <a:cxn ang="0">
                <a:pos x="0" y="81"/>
              </a:cxn>
              <a:cxn ang="0">
                <a:pos x="14" y="74"/>
              </a:cxn>
              <a:cxn ang="0">
                <a:pos x="31" y="65"/>
              </a:cxn>
              <a:cxn ang="0">
                <a:pos x="45" y="56"/>
              </a:cxn>
              <a:cxn ang="0">
                <a:pos x="62" y="46"/>
              </a:cxn>
              <a:cxn ang="0">
                <a:pos x="76" y="35"/>
              </a:cxn>
              <a:cxn ang="0">
                <a:pos x="91" y="24"/>
              </a:cxn>
              <a:cxn ang="0">
                <a:pos x="104" y="12"/>
              </a:cxn>
              <a:cxn ang="0">
                <a:pos x="114" y="0"/>
              </a:cxn>
              <a:cxn ang="0">
                <a:pos x="122" y="4"/>
              </a:cxn>
              <a:cxn ang="0">
                <a:pos x="129" y="7"/>
              </a:cxn>
              <a:cxn ang="0">
                <a:pos x="138" y="7"/>
              </a:cxn>
              <a:cxn ang="0">
                <a:pos x="147" y="9"/>
              </a:cxn>
              <a:cxn ang="0">
                <a:pos x="154" y="10"/>
              </a:cxn>
              <a:cxn ang="0">
                <a:pos x="160" y="13"/>
              </a:cxn>
              <a:cxn ang="0">
                <a:pos x="164" y="19"/>
              </a:cxn>
              <a:cxn ang="0">
                <a:pos x="164" y="28"/>
              </a:cxn>
            </a:cxnLst>
            <a:rect l="0" t="0" r="r" b="b"/>
            <a:pathLst>
              <a:path w="164" h="81">
                <a:moveTo>
                  <a:pt x="164" y="28"/>
                </a:moveTo>
                <a:lnTo>
                  <a:pt x="158" y="66"/>
                </a:lnTo>
                <a:lnTo>
                  <a:pt x="0" y="81"/>
                </a:lnTo>
                <a:lnTo>
                  <a:pt x="14" y="74"/>
                </a:lnTo>
                <a:lnTo>
                  <a:pt x="31" y="65"/>
                </a:lnTo>
                <a:lnTo>
                  <a:pt x="45" y="56"/>
                </a:lnTo>
                <a:lnTo>
                  <a:pt x="62" y="46"/>
                </a:lnTo>
                <a:lnTo>
                  <a:pt x="76" y="35"/>
                </a:lnTo>
                <a:lnTo>
                  <a:pt x="91" y="24"/>
                </a:lnTo>
                <a:lnTo>
                  <a:pt x="104" y="12"/>
                </a:lnTo>
                <a:lnTo>
                  <a:pt x="114" y="0"/>
                </a:lnTo>
                <a:lnTo>
                  <a:pt x="122" y="4"/>
                </a:lnTo>
                <a:lnTo>
                  <a:pt x="129" y="7"/>
                </a:lnTo>
                <a:lnTo>
                  <a:pt x="138" y="7"/>
                </a:lnTo>
                <a:lnTo>
                  <a:pt x="147" y="9"/>
                </a:lnTo>
                <a:lnTo>
                  <a:pt x="154" y="10"/>
                </a:lnTo>
                <a:lnTo>
                  <a:pt x="160" y="13"/>
                </a:lnTo>
                <a:lnTo>
                  <a:pt x="164" y="19"/>
                </a:lnTo>
                <a:lnTo>
                  <a:pt x="164" y="28"/>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pt-BR" dirty="0"/>
          </a:p>
        </p:txBody>
      </p:sp>
      <p:sp>
        <p:nvSpPr>
          <p:cNvPr id="2" name="Texto explicativo retangular 1"/>
          <p:cNvSpPr/>
          <p:nvPr/>
        </p:nvSpPr>
        <p:spPr>
          <a:xfrm>
            <a:off x="7206776" y="958057"/>
            <a:ext cx="4724084" cy="1573213"/>
          </a:xfrm>
          <a:prstGeom prst="wedgeRectCallout">
            <a:avLst/>
          </a:prstGeom>
          <a:solidFill>
            <a:schemeClr val="accent2">
              <a:lumMod val="40000"/>
              <a:lumOff val="60000"/>
            </a:schemeClr>
          </a:solidFill>
          <a:scene3d>
            <a:camera prst="perspectiveContrastingLeftFacing" fov="1800000">
              <a:rot lat="467516" lon="349115" rev="21560421"/>
            </a:camera>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2400" b="1" dirty="0" smtClean="0">
              <a:solidFill>
                <a:srgbClr val="00B050"/>
              </a:solidFill>
              <a:effectLst>
                <a:outerShdw blurRad="38100" dist="38100" dir="2700000" algn="tl">
                  <a:srgbClr val="000000">
                    <a:alpha val="43137"/>
                  </a:srgbClr>
                </a:outerShdw>
              </a:effectLst>
            </a:endParaRPr>
          </a:p>
          <a:p>
            <a:pPr algn="ctr"/>
            <a:r>
              <a:rPr lang="pt-BR" sz="2400" b="1" u="sng" dirty="0" smtClean="0">
                <a:solidFill>
                  <a:srgbClr val="00B050"/>
                </a:solidFill>
              </a:rPr>
              <a:t>ADMINISTRADOR\CONTADOR</a:t>
            </a:r>
          </a:p>
          <a:p>
            <a:pPr algn="ctr"/>
            <a:r>
              <a:rPr lang="pt-BR" sz="2400" b="1" dirty="0" smtClean="0">
                <a:solidFill>
                  <a:srgbClr val="00B050"/>
                </a:solidFill>
                <a:effectLst>
                  <a:outerShdw blurRad="38100" dist="38100" dir="2700000" algn="tl">
                    <a:srgbClr val="000000">
                      <a:alpha val="43137"/>
                    </a:srgbClr>
                  </a:outerShdw>
                </a:effectLst>
              </a:rPr>
              <a:t>QUAL O CAMINHO A SEGUIR  ?</a:t>
            </a:r>
          </a:p>
          <a:p>
            <a:pPr algn="ctr"/>
            <a:r>
              <a:rPr lang="pt-BR" sz="2400" b="1" dirty="0" smtClean="0">
                <a:solidFill>
                  <a:srgbClr val="00B050"/>
                </a:solidFill>
                <a:effectLst>
                  <a:outerShdw blurRad="38100" dist="38100" dir="2700000" algn="tl">
                    <a:srgbClr val="000000">
                      <a:alpha val="43137"/>
                    </a:srgbClr>
                  </a:outerShdw>
                </a:effectLst>
              </a:rPr>
              <a:t>QUAIS OS RISCOS DE CADA CAMINHO ?</a:t>
            </a:r>
          </a:p>
          <a:p>
            <a:pPr algn="ctr"/>
            <a:endParaRPr lang="pt-BR" sz="2000" dirty="0"/>
          </a:p>
        </p:txBody>
      </p:sp>
      <p:sp>
        <p:nvSpPr>
          <p:cNvPr id="3" name="Texto Explicativo 3 2"/>
          <p:cNvSpPr/>
          <p:nvPr/>
        </p:nvSpPr>
        <p:spPr>
          <a:xfrm>
            <a:off x="423460" y="5469790"/>
            <a:ext cx="5128952" cy="1299246"/>
          </a:xfrm>
          <a:prstGeom prst="borderCallout3">
            <a:avLst>
              <a:gd name="adj1" fmla="val 18750"/>
              <a:gd name="adj2" fmla="val -8333"/>
              <a:gd name="adj3" fmla="val 18750"/>
              <a:gd name="adj4" fmla="val -16667"/>
              <a:gd name="adj5" fmla="val 100000"/>
              <a:gd name="adj6" fmla="val -16667"/>
              <a:gd name="adj7" fmla="val 146937"/>
              <a:gd name="adj8" fmla="val 167511"/>
            </a:avLst>
          </a:prstGeom>
          <a:solidFill>
            <a:schemeClr val="accent2">
              <a:lumMod val="40000"/>
              <a:lumOff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u="sng" dirty="0" smtClean="0">
                <a:solidFill>
                  <a:srgbClr val="00B050"/>
                </a:solidFill>
                <a:effectLst>
                  <a:outerShdw blurRad="38100" dist="38100" dir="2700000" algn="tl">
                    <a:srgbClr val="000000">
                      <a:alpha val="43137"/>
                    </a:srgbClr>
                  </a:outerShdw>
                </a:effectLst>
              </a:rPr>
              <a:t>ADMINISTRADOR\CONTADOR</a:t>
            </a:r>
          </a:p>
          <a:p>
            <a:pPr algn="ctr"/>
            <a:r>
              <a:rPr lang="pt-BR" sz="2400" b="1" dirty="0" smtClean="0">
                <a:solidFill>
                  <a:srgbClr val="00B050"/>
                </a:solidFill>
                <a:effectLst>
                  <a:outerShdw blurRad="38100" dist="38100" dir="2700000" algn="tl">
                    <a:srgbClr val="000000">
                      <a:alpha val="43137"/>
                    </a:srgbClr>
                  </a:outerShdw>
                </a:effectLst>
              </a:rPr>
              <a:t>O QUE PODEMOS CONSIDERAR COMO INSUMO NO PROCESSO ?</a:t>
            </a:r>
            <a:endParaRPr lang="pt-BR" sz="2400" b="1" dirty="0">
              <a:solidFill>
                <a:srgbClr val="00B050"/>
              </a:solidFill>
              <a:effectLst>
                <a:outerShdw blurRad="38100" dist="38100" dir="2700000" algn="tl">
                  <a:srgbClr val="000000">
                    <a:alpha val="43137"/>
                  </a:srgbClr>
                </a:outerShdw>
              </a:effectLst>
            </a:endParaRPr>
          </a:p>
        </p:txBody>
      </p:sp>
      <p:sp>
        <p:nvSpPr>
          <p:cNvPr id="41" name="Texto Explicativo 3 40"/>
          <p:cNvSpPr/>
          <p:nvPr/>
        </p:nvSpPr>
        <p:spPr>
          <a:xfrm>
            <a:off x="236809" y="1001356"/>
            <a:ext cx="3912917" cy="1778358"/>
          </a:xfrm>
          <a:prstGeom prst="borderCallout3">
            <a:avLst>
              <a:gd name="adj1" fmla="val 18750"/>
              <a:gd name="adj2" fmla="val -8333"/>
              <a:gd name="adj3" fmla="val 18750"/>
              <a:gd name="adj4" fmla="val -16667"/>
              <a:gd name="adj5" fmla="val 100000"/>
              <a:gd name="adj6" fmla="val -16667"/>
              <a:gd name="adj7" fmla="val 146937"/>
              <a:gd name="adj8" fmla="val 167511"/>
            </a:avLst>
          </a:prstGeom>
          <a:solidFill>
            <a:schemeClr val="accent2">
              <a:lumMod val="40000"/>
              <a:lumOff val="6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400" b="1" u="sng" dirty="0" smtClean="0">
                <a:solidFill>
                  <a:srgbClr val="00B050"/>
                </a:solidFill>
                <a:effectLst>
                  <a:outerShdw blurRad="38100" dist="38100" dir="2700000" algn="tl">
                    <a:srgbClr val="000000">
                      <a:alpha val="43137"/>
                    </a:srgbClr>
                  </a:outerShdw>
                </a:effectLst>
              </a:rPr>
              <a:t>ADMINISTRADOR\GERENTE</a:t>
            </a:r>
            <a:r>
              <a:rPr lang="pt-BR" sz="2400" b="1" dirty="0" smtClean="0">
                <a:solidFill>
                  <a:srgbClr val="00B050"/>
                </a:solidFill>
                <a:effectLst>
                  <a:outerShdw blurRad="38100" dist="38100" dir="2700000" algn="tl">
                    <a:srgbClr val="000000">
                      <a:alpha val="43137"/>
                    </a:srgbClr>
                  </a:outerShdw>
                </a:effectLst>
              </a:rPr>
              <a:t>  </a:t>
            </a:r>
          </a:p>
          <a:p>
            <a:pPr algn="ctr"/>
            <a:r>
              <a:rPr lang="pt-BR" sz="2400" b="1" dirty="0" smtClean="0">
                <a:solidFill>
                  <a:srgbClr val="00B050"/>
                </a:solidFill>
                <a:effectLst>
                  <a:outerShdw blurRad="38100" dist="38100" dir="2700000" algn="tl">
                    <a:srgbClr val="000000">
                      <a:alpha val="43137"/>
                    </a:srgbClr>
                  </a:outerShdw>
                </a:effectLst>
              </a:rPr>
              <a:t>COMO VOU DECIDIR ?</a:t>
            </a:r>
          </a:p>
          <a:p>
            <a:pPr algn="ctr"/>
            <a:r>
              <a:rPr lang="pt-BR" sz="2400" b="1" dirty="0" smtClean="0">
                <a:solidFill>
                  <a:srgbClr val="00B050"/>
                </a:solidFill>
                <a:effectLst>
                  <a:outerShdw blurRad="38100" dist="38100" dir="2700000" algn="tl">
                    <a:srgbClr val="000000">
                      <a:alpha val="43137"/>
                    </a:srgbClr>
                  </a:outerShdw>
                </a:effectLst>
              </a:rPr>
              <a:t>A QUEM  RECORRER ?</a:t>
            </a:r>
          </a:p>
          <a:p>
            <a:pPr algn="ctr"/>
            <a:r>
              <a:rPr lang="pt-BR" sz="2400" b="1" dirty="0" smtClean="0">
                <a:solidFill>
                  <a:srgbClr val="00B050"/>
                </a:solidFill>
                <a:effectLst>
                  <a:outerShdw blurRad="38100" dist="38100" dir="2700000" algn="tl">
                    <a:srgbClr val="000000">
                      <a:alpha val="43137"/>
                    </a:srgbClr>
                  </a:outerShdw>
                </a:effectLst>
              </a:rPr>
              <a:t>QUAL A CAPACITAÇÃO DOS ENVOLVIDOS ?</a:t>
            </a:r>
            <a:endParaRPr lang="pt-BR" sz="2400" b="1" dirty="0">
              <a:solidFill>
                <a:srgbClr val="00B050"/>
              </a:solidFill>
              <a:effectLst>
                <a:outerShdw blurRad="38100" dist="38100" dir="2700000" algn="tl">
                  <a:srgbClr val="000000">
                    <a:alpha val="43137"/>
                  </a:srgbClr>
                </a:outerShdw>
              </a:effectLst>
            </a:endParaRPr>
          </a:p>
        </p:txBody>
      </p:sp>
      <p:cxnSp>
        <p:nvCxnSpPr>
          <p:cNvPr id="6" name="Conector de seta reta 5"/>
          <p:cNvCxnSpPr/>
          <p:nvPr/>
        </p:nvCxnSpPr>
        <p:spPr>
          <a:xfrm flipH="1">
            <a:off x="4718051" y="3224213"/>
            <a:ext cx="506412" cy="167482"/>
          </a:xfrm>
          <a:prstGeom prst="straightConnector1">
            <a:avLst/>
          </a:prstGeom>
          <a:ln w="63500" cmpd="sng">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589200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 calcmode="lin" valueType="num">
                                      <p:cBhvr additive="base">
                                        <p:cTn id="17" dur="500"/>
                                        <p:tgtEl>
                                          <p:spTgt spid="41"/>
                                        </p:tgtEl>
                                        <p:attrNameLst>
                                          <p:attrName>ppt_y</p:attrName>
                                        </p:attrNameLst>
                                      </p:cBhvr>
                                      <p:tavLst>
                                        <p:tav tm="0">
                                          <p:val>
                                            <p:strVal val="#ppt_y+#ppt_h*1.125000"/>
                                          </p:val>
                                        </p:tav>
                                        <p:tav tm="100000">
                                          <p:val>
                                            <p:strVal val="#ppt_y"/>
                                          </p:val>
                                        </p:tav>
                                      </p:tavLst>
                                    </p:anim>
                                    <p:animEffect transition="in" filter="wipe(up)">
                                      <p:cBhvr>
                                        <p:cTn id="1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a 3"/>
          <p:cNvGraphicFramePr/>
          <p:nvPr>
            <p:extLst>
              <p:ext uri="{D42A27DB-BD31-4B8C-83A1-F6EECF244321}">
                <p14:modId xmlns:p14="http://schemas.microsoft.com/office/powerpoint/2010/main" val="761592410"/>
              </p:ext>
            </p:extLst>
          </p:nvPr>
        </p:nvGraphicFramePr>
        <p:xfrm>
          <a:off x="1596571" y="1187532"/>
          <a:ext cx="9622972" cy="51987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CaixaDeTexto 1"/>
          <p:cNvSpPr txBox="1"/>
          <p:nvPr/>
        </p:nvSpPr>
        <p:spPr>
          <a:xfrm>
            <a:off x="468429" y="95002"/>
            <a:ext cx="11014939" cy="1077218"/>
          </a:xfrm>
          <a:prstGeom prst="rect">
            <a:avLst/>
          </a:prstGeom>
          <a:noFill/>
        </p:spPr>
        <p:txBody>
          <a:bodyPr wrap="none" rtlCol="0">
            <a:spAutoFit/>
          </a:bodyPr>
          <a:lstStyle/>
          <a:p>
            <a:pPr algn="ctr"/>
            <a:r>
              <a:rPr lang="pt-BR" sz="3200" b="1" dirty="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ARVORE  DE  DECISÃO   </a:t>
            </a:r>
          </a:p>
          <a:p>
            <a:pPr algn="ctr"/>
            <a:r>
              <a:rPr lang="pt-BR" sz="3200" b="1" dirty="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DEFINIÇÃO E AMPLITUDE DO CONCEITO DE INSUMO</a:t>
            </a:r>
            <a:endParaRPr lang="pt-BR"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772313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áfico 1"/>
          <p:cNvGraphicFramePr>
            <a:graphicFrameLocks/>
          </p:cNvGraphicFramePr>
          <p:nvPr>
            <p:extLst>
              <p:ext uri="{D42A27DB-BD31-4B8C-83A1-F6EECF244321}">
                <p14:modId xmlns:p14="http://schemas.microsoft.com/office/powerpoint/2010/main" val="1386071912"/>
              </p:ext>
            </p:extLst>
          </p:nvPr>
        </p:nvGraphicFramePr>
        <p:xfrm>
          <a:off x="592667" y="1815921"/>
          <a:ext cx="10905066" cy="4263146"/>
        </p:xfrm>
        <a:graphic>
          <a:graphicData uri="http://schemas.openxmlformats.org/drawingml/2006/chart">
            <c:chart xmlns:c="http://schemas.openxmlformats.org/drawingml/2006/chart" xmlns:r="http://schemas.openxmlformats.org/officeDocument/2006/relationships" r:id="rId2"/>
          </a:graphicData>
        </a:graphic>
      </p:graphicFrame>
      <p:sp>
        <p:nvSpPr>
          <p:cNvPr id="4" name="Retângulo 3"/>
          <p:cNvSpPr/>
          <p:nvPr/>
        </p:nvSpPr>
        <p:spPr>
          <a:xfrm>
            <a:off x="592667" y="818925"/>
            <a:ext cx="10498665" cy="584775"/>
          </a:xfrm>
          <a:prstGeom prst="rect">
            <a:avLst/>
          </a:prstGeom>
        </p:spPr>
        <p:txBody>
          <a:bodyPr wrap="square">
            <a:spAutoFit/>
          </a:bodyPr>
          <a:lstStyle/>
          <a:p>
            <a:pPr algn="ct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CARF – DISTRIBUIÇÃO DOS  </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PROCESSOS ANO 2015 </a:t>
            </a:r>
            <a:endPar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655917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Conteúdo 1"/>
          <p:cNvSpPr txBox="1">
            <a:spLocks/>
          </p:cNvSpPr>
          <p:nvPr/>
        </p:nvSpPr>
        <p:spPr>
          <a:xfrm>
            <a:off x="953037" y="1798749"/>
            <a:ext cx="10599311"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INSUMOS   </a:t>
            </a:r>
          </a:p>
          <a:p>
            <a:pPr marL="0" indent="0" algn="ctr">
              <a:buFont typeface="Wingdings 3" charset="2"/>
              <a:buNone/>
            </a:pPr>
            <a:endPar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CONCEITO  NO CARF</a:t>
            </a:r>
          </a:p>
          <a:p>
            <a:pPr marL="0" indent="0" algn="ctr">
              <a:buFont typeface="Wingdings 3" charset="2"/>
              <a:buNone/>
            </a:pPr>
            <a:endParaRPr lang="pt-B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VISÃO CONSTITUCIONAL ) </a:t>
            </a:r>
            <a:endParaRPr lang="pt-B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spaço Reservado para Conteúdo 1"/>
          <p:cNvSpPr txBox="1">
            <a:spLocks/>
          </p:cNvSpPr>
          <p:nvPr/>
        </p:nvSpPr>
        <p:spPr>
          <a:xfrm>
            <a:off x="2162062" y="1951149"/>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endParaRPr lang="pt-BR" sz="4000" b="1" dirty="0" smtClean="0">
              <a:effectLst>
                <a:outerShdw blurRad="38100" dist="38100" dir="2700000" algn="tl">
                  <a:srgbClr val="000000">
                    <a:alpha val="43137"/>
                  </a:srgbClr>
                </a:outerShdw>
              </a:effectLst>
            </a:endParaRPr>
          </a:p>
          <a:p>
            <a:pPr marL="0" indent="0" algn="ctr">
              <a:buFont typeface="Wingdings 3" charset="2"/>
              <a:buNone/>
            </a:pPr>
            <a:endParaRPr lang="pt-BR" sz="4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0960761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txBox="1">
            <a:spLocks noChangeArrowheads="1"/>
          </p:cNvSpPr>
          <p:nvPr/>
        </p:nvSpPr>
        <p:spPr bwMode="auto">
          <a:xfrm>
            <a:off x="1847851" y="2137893"/>
            <a:ext cx="8569325" cy="4467696"/>
          </a:xfrm>
          <a:prstGeom prst="rect">
            <a:avLst/>
          </a:prstGeom>
          <a:noFill/>
          <a:ln w="9525">
            <a:noFill/>
            <a:miter lim="800000"/>
            <a:headEnd/>
            <a:tailEnd/>
          </a:ln>
        </p:spPr>
        <p:txBody>
          <a:bodyPr/>
          <a:lstStyle/>
          <a:p>
            <a:pPr>
              <a:lnSpc>
                <a:spcPct val="90000"/>
              </a:lnSpc>
            </a:pPr>
            <a:r>
              <a:rPr lang="pt-BR" sz="2800" b="1" dirty="0">
                <a:latin typeface="Times New Roman" panose="02020603050405020304" pitchFamily="18" charset="0"/>
                <a:cs typeface="Times New Roman" panose="02020603050405020304" pitchFamily="18" charset="0"/>
              </a:rPr>
              <a:t>Qual o alcance de INSUMO – a partir de uma perspectiva intrínseca à produção?</a:t>
            </a:r>
          </a:p>
          <a:p>
            <a:pPr>
              <a:lnSpc>
                <a:spcPct val="90000"/>
              </a:lnSpc>
            </a:pPr>
            <a:r>
              <a:rPr lang="pt-BR" sz="2800" b="1" dirty="0">
                <a:latin typeface="Times New Roman" panose="02020603050405020304" pitchFamily="18" charset="0"/>
                <a:cs typeface="Times New Roman" panose="02020603050405020304" pitchFamily="18" charset="0"/>
              </a:rPr>
              <a:t> </a:t>
            </a:r>
          </a:p>
          <a:p>
            <a:pPr>
              <a:lnSpc>
                <a:spcPct val="90000"/>
              </a:lnSpc>
            </a:pPr>
            <a:r>
              <a:rPr lang="pt-BR" sz="2800" b="1" dirty="0">
                <a:latin typeface="Times New Roman" panose="02020603050405020304" pitchFamily="18" charset="0"/>
                <a:cs typeface="Times New Roman" panose="02020603050405020304" pitchFamily="18" charset="0"/>
              </a:rPr>
              <a:t> - ESSENCIALIDADE</a:t>
            </a:r>
          </a:p>
          <a:p>
            <a:pPr>
              <a:lnSpc>
                <a:spcPct val="90000"/>
              </a:lnSpc>
            </a:pPr>
            <a:r>
              <a:rPr lang="pt-BR" sz="2800" b="1" dirty="0">
                <a:latin typeface="Times New Roman" panose="02020603050405020304" pitchFamily="18" charset="0"/>
                <a:cs typeface="Times New Roman" panose="02020603050405020304" pitchFamily="18" charset="0"/>
              </a:rPr>
              <a:t> - NECESSIDADE</a:t>
            </a:r>
          </a:p>
          <a:p>
            <a:pPr>
              <a:lnSpc>
                <a:spcPct val="90000"/>
              </a:lnSpc>
            </a:pPr>
            <a:r>
              <a:rPr lang="pt-BR" sz="2800" b="1" dirty="0">
                <a:latin typeface="Times New Roman" panose="02020603050405020304" pitchFamily="18" charset="0"/>
                <a:cs typeface="Times New Roman" panose="02020603050405020304" pitchFamily="18" charset="0"/>
              </a:rPr>
              <a:t> - IMPRESCINDIBILIDADE</a:t>
            </a:r>
          </a:p>
          <a:p>
            <a:pPr>
              <a:lnSpc>
                <a:spcPct val="90000"/>
              </a:lnSpc>
            </a:pPr>
            <a:endParaRPr lang="pt-BR" sz="2800" b="1" dirty="0">
              <a:latin typeface="Times New Roman" panose="02020603050405020304" pitchFamily="18" charset="0"/>
              <a:cs typeface="Times New Roman" panose="02020603050405020304" pitchFamily="18" charset="0"/>
            </a:endParaRPr>
          </a:p>
          <a:p>
            <a:pPr>
              <a:lnSpc>
                <a:spcPct val="90000"/>
              </a:lnSpc>
            </a:pPr>
            <a:r>
              <a:rPr lang="pt-BR" sz="2800" b="1" dirty="0">
                <a:latin typeface="Times New Roman" panose="02020603050405020304" pitchFamily="18" charset="0"/>
                <a:cs typeface="Times New Roman" panose="02020603050405020304" pitchFamily="18" charset="0"/>
              </a:rPr>
              <a:t>O conteúdo relacional entre o insumos e cada uma das atividades da empresa</a:t>
            </a:r>
          </a:p>
        </p:txBody>
      </p:sp>
      <p:sp>
        <p:nvSpPr>
          <p:cNvPr id="2" name="CaixaDeTexto 1"/>
          <p:cNvSpPr txBox="1"/>
          <p:nvPr/>
        </p:nvSpPr>
        <p:spPr>
          <a:xfrm>
            <a:off x="1847851" y="811369"/>
            <a:ext cx="9884803" cy="1200329"/>
          </a:xfrm>
          <a:prstGeom prst="rect">
            <a:avLst/>
          </a:prstGeom>
          <a:noFill/>
        </p:spPr>
        <p:txBody>
          <a:bodyPr wrap="square" rtlCol="0">
            <a:spAutoFit/>
          </a:bodyPr>
          <a:lstStyle/>
          <a:p>
            <a:pPr algn="ct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EVOLUÇÃO DO ENTENDIMENTO DO CARF</a:t>
            </a:r>
          </a:p>
          <a:p>
            <a:pPr algn="ct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PERIODO DE 2012 A 2015</a:t>
            </a:r>
            <a:endPar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166633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297455" y="365760"/>
            <a:ext cx="11894545" cy="5683347"/>
          </a:xfrm>
        </p:spPr>
        <p:txBody>
          <a:bodyPr>
            <a:noAutofit/>
          </a:bodyPr>
          <a:lstStyle/>
          <a:p>
            <a:pPr marL="0" indent="0" algn="ctr">
              <a:buNone/>
            </a:pPr>
            <a:r>
              <a:rPr lang="pt-BR" sz="4000" b="1" dirty="0">
                <a:effectLst>
                  <a:outerShdw blurRad="38100" dist="38100" dir="2700000" algn="tl">
                    <a:srgbClr val="000000">
                      <a:alpha val="43137"/>
                    </a:srgbClr>
                  </a:outerShdw>
                </a:effectLst>
              </a:rPr>
              <a:t>Conceito de </a:t>
            </a:r>
            <a:r>
              <a:rPr lang="pt-BR" sz="4000" b="1" dirty="0" smtClean="0">
                <a:effectLst>
                  <a:outerShdw blurRad="38100" dist="38100" dir="2700000" algn="tl">
                    <a:srgbClr val="000000">
                      <a:alpha val="43137"/>
                    </a:srgbClr>
                  </a:outerShdw>
                </a:effectLst>
              </a:rPr>
              <a:t>Insumo</a:t>
            </a:r>
          </a:p>
          <a:p>
            <a:endParaRPr lang="pt-BR" sz="1600" dirty="0"/>
          </a:p>
          <a:p>
            <a:r>
              <a:rPr lang="pt-BR" sz="3200" b="1" dirty="0" smtClean="0"/>
              <a:t>A </a:t>
            </a:r>
            <a:r>
              <a:rPr lang="pt-BR" sz="3200" b="1" dirty="0"/>
              <a:t>palavra insumo </a:t>
            </a:r>
            <a:r>
              <a:rPr lang="pt-BR" sz="3200" b="1" dirty="0" smtClean="0"/>
              <a:t>segundo </a:t>
            </a:r>
            <a:r>
              <a:rPr lang="pt-BR" sz="3200" b="1" dirty="0" err="1" smtClean="0"/>
              <a:t>Aliomar</a:t>
            </a:r>
            <a:r>
              <a:rPr lang="pt-BR" sz="3200" b="1" dirty="0" smtClean="0"/>
              <a:t> </a:t>
            </a:r>
            <a:r>
              <a:rPr lang="pt-BR" sz="3200" b="1" dirty="0"/>
              <a:t>Baleeiro é uma </a:t>
            </a:r>
            <a:r>
              <a:rPr lang="pt-BR" sz="3200" b="1" dirty="0" smtClean="0"/>
              <a:t>palavra com origem espanhola, </a:t>
            </a:r>
            <a:r>
              <a:rPr lang="pt-BR" sz="3200" b="1" dirty="0"/>
              <a:t>empregada por alguns economistas para traduzir </a:t>
            </a:r>
            <a:r>
              <a:rPr lang="pt-BR" sz="3200" b="1" dirty="0" smtClean="0"/>
              <a:t>a expressão </a:t>
            </a:r>
            <a:r>
              <a:rPr lang="pt-BR" sz="3200" b="1" dirty="0"/>
              <a:t>inglesa 'input', isto é, o conjunto dos fatores produtivos, como matérias-primas</a:t>
            </a:r>
            <a:r>
              <a:rPr lang="pt-BR" sz="3200" b="1" dirty="0" smtClean="0"/>
              <a:t>,</a:t>
            </a:r>
          </a:p>
          <a:p>
            <a:endParaRPr lang="pt-BR" sz="3200" b="1" dirty="0"/>
          </a:p>
          <a:p>
            <a:r>
              <a:rPr lang="pt-BR" sz="3200" b="1" dirty="0"/>
              <a:t>energia, trabalho, amortização do capital, etc., empregados pelo empresário para </a:t>
            </a:r>
            <a:r>
              <a:rPr lang="pt-BR" sz="3200" b="1" dirty="0" smtClean="0"/>
              <a:t>produzir o 'output' ou o produto final.</a:t>
            </a:r>
          </a:p>
        </p:txBody>
      </p:sp>
    </p:spTree>
    <p:extLst>
      <p:ext uri="{BB962C8B-B14F-4D97-AF65-F5344CB8AC3E}">
        <p14:creationId xmlns:p14="http://schemas.microsoft.com/office/powerpoint/2010/main" val="272010516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297455" y="365760"/>
            <a:ext cx="11894545" cy="5683347"/>
          </a:xfrm>
        </p:spPr>
        <p:txBody>
          <a:bodyPr>
            <a:noAutofit/>
          </a:bodyPr>
          <a:lstStyle/>
          <a:p>
            <a:pPr marL="0" indent="0" algn="ctr">
              <a:buNone/>
            </a:pPr>
            <a:r>
              <a:rPr lang="pt-B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Conceito de </a:t>
            </a: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Insumo</a:t>
            </a:r>
          </a:p>
          <a:p>
            <a:endParaRPr lang="pt-BR" sz="1600" dirty="0">
              <a:latin typeface="Times New Roman" panose="02020603050405020304" pitchFamily="18" charset="0"/>
              <a:cs typeface="Times New Roman" panose="02020603050405020304" pitchFamily="18" charset="0"/>
            </a:endParaRPr>
          </a:p>
          <a:p>
            <a:r>
              <a:rPr lang="pt-BR" sz="3200" b="1" dirty="0" smtClean="0">
                <a:latin typeface="Times New Roman" panose="02020603050405020304" pitchFamily="18" charset="0"/>
                <a:cs typeface="Times New Roman" panose="02020603050405020304" pitchFamily="18" charset="0"/>
              </a:rPr>
              <a:t>Insumos </a:t>
            </a:r>
            <a:r>
              <a:rPr lang="pt-BR" sz="3200" b="1" dirty="0">
                <a:latin typeface="Times New Roman" panose="02020603050405020304" pitchFamily="18" charset="0"/>
                <a:cs typeface="Times New Roman" panose="02020603050405020304" pitchFamily="18" charset="0"/>
              </a:rPr>
              <a:t>são os ingredientes da produção, mas há quem limite a palavra aos </a:t>
            </a:r>
            <a:r>
              <a:rPr lang="pt-BR" sz="3200" b="1" dirty="0" smtClean="0">
                <a:latin typeface="Times New Roman" panose="02020603050405020304" pitchFamily="18" charset="0"/>
                <a:cs typeface="Times New Roman" panose="02020603050405020304" pitchFamily="18" charset="0"/>
              </a:rPr>
              <a:t>'produtos intermediários</a:t>
            </a:r>
            <a:r>
              <a:rPr lang="pt-BR" sz="3200" b="1" dirty="0">
                <a:latin typeface="Times New Roman" panose="02020603050405020304" pitchFamily="18" charset="0"/>
                <a:cs typeface="Times New Roman" panose="02020603050405020304" pitchFamily="18" charset="0"/>
              </a:rPr>
              <a:t>' que, não sendo matérias-primas, são empregados ou se consomem </a:t>
            </a:r>
            <a:r>
              <a:rPr lang="pt-BR" sz="3200" b="1" dirty="0" smtClean="0">
                <a:latin typeface="Times New Roman" panose="02020603050405020304" pitchFamily="18" charset="0"/>
                <a:cs typeface="Times New Roman" panose="02020603050405020304" pitchFamily="18" charset="0"/>
              </a:rPr>
              <a:t>no processo </a:t>
            </a:r>
            <a:r>
              <a:rPr lang="pt-BR" sz="3200" b="1" dirty="0">
                <a:latin typeface="Times New Roman" panose="02020603050405020304" pitchFamily="18" charset="0"/>
                <a:cs typeface="Times New Roman" panose="02020603050405020304" pitchFamily="18" charset="0"/>
              </a:rPr>
              <a:t>de </a:t>
            </a:r>
            <a:r>
              <a:rPr lang="pt-BR" sz="3200" b="1" dirty="0" smtClean="0">
                <a:latin typeface="Times New Roman" panose="02020603050405020304" pitchFamily="18" charset="0"/>
                <a:cs typeface="Times New Roman" panose="02020603050405020304" pitchFamily="18" charset="0"/>
              </a:rPr>
              <a:t>produção.</a:t>
            </a:r>
          </a:p>
          <a:p>
            <a:endParaRPr lang="pt-BR" sz="3200" b="1" dirty="0">
              <a:latin typeface="Times New Roman" panose="02020603050405020304" pitchFamily="18" charset="0"/>
              <a:cs typeface="Times New Roman" panose="02020603050405020304" pitchFamily="18" charset="0"/>
            </a:endParaRPr>
          </a:p>
          <a:p>
            <a:r>
              <a:rPr lang="pt-BR" sz="3200" b="1" dirty="0" smtClean="0">
                <a:latin typeface="Times New Roman" panose="02020603050405020304" pitchFamily="18" charset="0"/>
                <a:cs typeface="Times New Roman" panose="02020603050405020304" pitchFamily="18" charset="0"/>
              </a:rPr>
              <a:t> </a:t>
            </a:r>
            <a:r>
              <a:rPr lang="pt-BR" sz="3200" b="1" dirty="0">
                <a:latin typeface="Times New Roman" panose="02020603050405020304" pitchFamily="18" charset="0"/>
                <a:cs typeface="Times New Roman" panose="02020603050405020304" pitchFamily="18" charset="0"/>
              </a:rPr>
              <a:t>Como exemplos, têm-se a matéria-prima, o produto intermediário ou secundário, </a:t>
            </a:r>
            <a:r>
              <a:rPr lang="pt-BR" sz="3200" b="1" dirty="0" smtClean="0">
                <a:latin typeface="Times New Roman" panose="02020603050405020304" pitchFamily="18" charset="0"/>
                <a:cs typeface="Times New Roman" panose="02020603050405020304" pitchFamily="18" charset="0"/>
              </a:rPr>
              <a:t>o material </a:t>
            </a:r>
            <a:r>
              <a:rPr lang="pt-BR" sz="3200" b="1" dirty="0">
                <a:latin typeface="Times New Roman" panose="02020603050405020304" pitchFamily="18" charset="0"/>
                <a:cs typeface="Times New Roman" panose="02020603050405020304" pitchFamily="18" charset="0"/>
              </a:rPr>
              <a:t>de embalagem, e outros </a:t>
            </a:r>
            <a:r>
              <a:rPr lang="pt-BR" sz="3200" b="1" dirty="0" smtClean="0">
                <a:latin typeface="Times New Roman" panose="02020603050405020304" pitchFamily="18" charset="0"/>
                <a:cs typeface="Times New Roman" panose="02020603050405020304" pitchFamily="18" charset="0"/>
              </a:rPr>
              <a:t>materiais </a:t>
            </a:r>
            <a:r>
              <a:rPr lang="pt-BR" sz="3200" b="1" dirty="0">
                <a:latin typeface="Times New Roman" panose="02020603050405020304" pitchFamily="18" charset="0"/>
                <a:cs typeface="Times New Roman" panose="02020603050405020304" pitchFamily="18" charset="0"/>
              </a:rPr>
              <a:t>como a energia elétrica, o combustível</a:t>
            </a:r>
            <a:r>
              <a:rPr lang="pt-BR" sz="3200" b="1" dirty="0" smtClean="0">
                <a:latin typeface="Times New Roman" panose="02020603050405020304" pitchFamily="18" charset="0"/>
                <a:cs typeface="Times New Roman" panose="02020603050405020304" pitchFamily="18" charset="0"/>
              </a:rPr>
              <a:t>, consumidos </a:t>
            </a:r>
            <a:r>
              <a:rPr lang="pt-BR" sz="3200" b="1" dirty="0">
                <a:latin typeface="Times New Roman" panose="02020603050405020304" pitchFamily="18" charset="0"/>
                <a:cs typeface="Times New Roman" panose="02020603050405020304" pitchFamily="18" charset="0"/>
              </a:rPr>
              <a:t>no processo industrial ou na prestação do serviços </a:t>
            </a:r>
            <a:r>
              <a:rPr lang="pt-BR" sz="3200" b="1" dirty="0" smtClean="0">
                <a:latin typeface="Times New Roman" panose="02020603050405020304" pitchFamily="18" charset="0"/>
                <a:cs typeface="Times New Roman" panose="02020603050405020304" pitchFamily="18" charset="0"/>
              </a:rPr>
              <a:t>próprio </a:t>
            </a:r>
            <a:r>
              <a:rPr lang="pt-BR" sz="3200" b="1" dirty="0">
                <a:latin typeface="Times New Roman" panose="02020603050405020304" pitchFamily="18" charset="0"/>
                <a:cs typeface="Times New Roman" panose="02020603050405020304" pitchFamily="18" charset="0"/>
              </a:rPr>
              <a:t>da </a:t>
            </a:r>
            <a:r>
              <a:rPr lang="pt-BR" sz="3200" b="1" dirty="0" smtClean="0">
                <a:latin typeface="Times New Roman" panose="02020603050405020304" pitchFamily="18" charset="0"/>
                <a:cs typeface="Times New Roman" panose="02020603050405020304" pitchFamily="18" charset="0"/>
              </a:rPr>
              <a:t>atividade </a:t>
            </a:r>
            <a:r>
              <a:rPr lang="pt-BR" sz="3200" b="1" dirty="0" smtClean="0"/>
              <a:t>empresarial</a:t>
            </a:r>
            <a:r>
              <a:rPr lang="pt-BR" sz="3200" b="1" dirty="0"/>
              <a:t>.</a:t>
            </a:r>
          </a:p>
        </p:txBody>
      </p:sp>
    </p:spTree>
    <p:extLst>
      <p:ext uri="{BB962C8B-B14F-4D97-AF65-F5344CB8AC3E}">
        <p14:creationId xmlns:p14="http://schemas.microsoft.com/office/powerpoint/2010/main" val="212141424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Conteúdo 1"/>
          <p:cNvSpPr txBox="1">
            <a:spLocks/>
          </p:cNvSpPr>
          <p:nvPr/>
        </p:nvSpPr>
        <p:spPr>
          <a:xfrm>
            <a:off x="953037" y="1798749"/>
            <a:ext cx="10599311" cy="3777622"/>
          </a:xfrm>
          <a:prstGeom prst="rect">
            <a:avLst/>
          </a:prstGeom>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INSUMOS   </a:t>
            </a:r>
          </a:p>
          <a:p>
            <a:pPr marL="0" indent="0" algn="ctr">
              <a:buFont typeface="Wingdings 3" charset="2"/>
              <a:buNone/>
            </a:pPr>
            <a:endPar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CONCEITO  DA LEGISLAÇÃO INFRA-LEGAL</a:t>
            </a:r>
          </a:p>
          <a:p>
            <a:pPr marL="0" indent="0" algn="ctr">
              <a:buFont typeface="Wingdings 3" charset="2"/>
              <a:buNone/>
            </a:pPr>
            <a:endParaRPr lang="pt-B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(VISÃO LEGAL)</a:t>
            </a:r>
            <a:endParaRPr lang="pt-B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spaço Reservado para Conteúdo 1"/>
          <p:cNvSpPr txBox="1">
            <a:spLocks/>
          </p:cNvSpPr>
          <p:nvPr/>
        </p:nvSpPr>
        <p:spPr>
          <a:xfrm>
            <a:off x="2162062" y="1951149"/>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endParaRPr lang="pt-BR" sz="4000" b="1" dirty="0" smtClean="0">
              <a:effectLst>
                <a:outerShdw blurRad="38100" dist="38100" dir="2700000" algn="tl">
                  <a:srgbClr val="000000">
                    <a:alpha val="43137"/>
                  </a:srgbClr>
                </a:outerShdw>
              </a:effectLst>
            </a:endParaRPr>
          </a:p>
          <a:p>
            <a:pPr marL="0" indent="0" algn="ctr">
              <a:buFont typeface="Wingdings 3" charset="2"/>
              <a:buNone/>
            </a:pPr>
            <a:endParaRPr lang="pt-BR" sz="4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83724460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4"/>
          <p:cNvSpPr>
            <a:spLocks noChangeArrowheads="1"/>
          </p:cNvSpPr>
          <p:nvPr/>
        </p:nvSpPr>
        <p:spPr bwMode="auto">
          <a:xfrm>
            <a:off x="2063751" y="333375"/>
            <a:ext cx="895311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pt-BR" altLang="pt-BR" sz="4000" b="1" dirty="0">
                <a:effectLst>
                  <a:outerShdw blurRad="38100" dist="38100" dir="2700000" algn="tl">
                    <a:srgbClr val="000000">
                      <a:alpha val="43137"/>
                    </a:srgbClr>
                  </a:outerShdw>
                </a:effectLst>
                <a:latin typeface="Times New Roman" panose="02020603050405020304" pitchFamily="18" charset="0"/>
                <a:ea typeface="Calibri" pitchFamily="34" charset="0"/>
                <a:cs typeface="Times New Roman" panose="02020603050405020304" pitchFamily="18" charset="0"/>
              </a:rPr>
              <a:t>Créditos das Leis nº 10.637 e 10.833</a:t>
            </a:r>
          </a:p>
        </p:txBody>
      </p:sp>
      <p:sp>
        <p:nvSpPr>
          <p:cNvPr id="4" name="Rectangle 3"/>
          <p:cNvSpPr>
            <a:spLocks noChangeArrowheads="1"/>
          </p:cNvSpPr>
          <p:nvPr/>
        </p:nvSpPr>
        <p:spPr bwMode="auto">
          <a:xfrm>
            <a:off x="991517" y="1275785"/>
            <a:ext cx="1098381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371600" indent="-4572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0" indent="0">
              <a:buNone/>
            </a:pPr>
            <a:r>
              <a:rPr lang="pt-BR" sz="1600" i="1" dirty="0" smtClean="0"/>
              <a:t>	</a:t>
            </a: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 </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bens adquiridos para revenda, exceto em relação às mercadorias e aos produtos referidos:</a:t>
            </a:r>
          </a:p>
          <a:p>
            <a:pPr marL="914400" lvl="2" indent="0">
              <a:buNone/>
            </a:pPr>
            <a:r>
              <a:rPr lang="pt-BR" sz="2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pt-BR"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nos incisos III e IV do § 3o do art. 1o desta Lei; e</a:t>
            </a:r>
          </a:p>
          <a:p>
            <a:pPr marL="914400" lvl="2" indent="0">
              <a:buNone/>
            </a:pPr>
            <a:r>
              <a:rPr lang="pt-BR" sz="2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t>
            </a:r>
            <a:r>
              <a:rPr lang="pt-BR"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nos §§ 1o e 1o-A do art. 2o desta Lei;</a:t>
            </a:r>
          </a:p>
          <a:p>
            <a:pPr marL="0" indent="0">
              <a:buNone/>
            </a:pP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II </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bens e serviços, utilizados como insumo na prestação de serviços e na produção ou fabricação de bens ou produtos destinados à venda, inclusive combustíveis e lubrificantes, exceto em relação ao pagamento de que trata o art. 2o da Lei no 10.485, de 3 de julho de 2002, devido pelo fabricante ou importador, ao concessionário, pela intermediação ou entrega dos veículos classificados nas posições 87.03 e 87.04 da Tipi;</a:t>
            </a:r>
          </a:p>
          <a:p>
            <a:pPr marL="0" indent="0">
              <a:buNone/>
            </a:pP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III </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energia elétrica e energia térmica, inclusive sob a forma de vapor, consumidas nos estabelecimentos da pessoa jurídica;</a:t>
            </a:r>
          </a:p>
          <a:p>
            <a:pPr marL="0" indent="0">
              <a:buNone/>
            </a:pP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IV </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aluguéis de prédios, máquinas e equipamentos, pagos a pessoa jurídica, utilizados nas atividades da empresa;</a:t>
            </a:r>
          </a:p>
          <a:p>
            <a:pPr marL="0" indent="0">
              <a:buNone/>
            </a:pPr>
            <a:r>
              <a:rPr lang="pt-BR" sz="2400" b="1" dirty="0" smtClean="0">
                <a:effectLst>
                  <a:outerShdw blurRad="38100" dist="38100" dir="2700000" algn="tl">
                    <a:srgbClr val="000000">
                      <a:alpha val="43137"/>
                    </a:srgbClr>
                  </a:outerShdw>
                </a:effectLst>
                <a:latin typeface="+mn-lt"/>
              </a:rPr>
              <a:t>	</a:t>
            </a:r>
          </a:p>
        </p:txBody>
      </p:sp>
    </p:spTree>
    <p:extLst>
      <p:ext uri="{BB962C8B-B14F-4D97-AF65-F5344CB8AC3E}">
        <p14:creationId xmlns:p14="http://schemas.microsoft.com/office/powerpoint/2010/main" val="335051312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ChangeArrowheads="1"/>
          </p:cNvSpPr>
          <p:nvPr/>
        </p:nvSpPr>
        <p:spPr bwMode="auto">
          <a:xfrm>
            <a:off x="218942" y="888642"/>
            <a:ext cx="11668258" cy="5348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371600" indent="-4572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marL="0" indent="0">
              <a:buNone/>
            </a:pPr>
            <a:r>
              <a:rPr lang="pt-BR" sz="2000" b="1" i="1" dirty="0"/>
              <a:t>	</a:t>
            </a:r>
            <a:r>
              <a:rPr lang="pt-BR" sz="2400" b="1" dirty="0">
                <a:latin typeface="Times New Roman" panose="02020603050405020304" pitchFamily="18" charset="0"/>
                <a:cs typeface="Times New Roman" panose="02020603050405020304" pitchFamily="18" charset="0"/>
              </a:rPr>
              <a:t>V - valor das contraprestações de operações de arrendamento mercantil de pessoa jurídica, exceto de optante pelo Sistema Integrado de Pagamento de Impostos e Contribuições das Microempresas e das Empresas de Pequeno Porte – SIMPLES;</a:t>
            </a:r>
          </a:p>
          <a:p>
            <a:pPr marL="0" indent="0">
              <a:buNone/>
            </a:pPr>
            <a:r>
              <a:rPr lang="pt-BR" sz="2400" b="1" dirty="0" smtClean="0">
                <a:latin typeface="Times New Roman" panose="02020603050405020304" pitchFamily="18" charset="0"/>
                <a:cs typeface="Times New Roman" panose="02020603050405020304" pitchFamily="18" charset="0"/>
              </a:rPr>
              <a:t>            VI </a:t>
            </a:r>
            <a:r>
              <a:rPr lang="pt-BR" sz="2400" b="1" dirty="0">
                <a:latin typeface="Times New Roman" panose="02020603050405020304" pitchFamily="18" charset="0"/>
                <a:cs typeface="Times New Roman" panose="02020603050405020304" pitchFamily="18" charset="0"/>
              </a:rPr>
              <a:t>- máquinas, equipamentos e outros bens incorporados ao ativo imobilizado, adquiridos ou fabricados para locação a terceiros, ou para utilização na produção de bens destinados à venda ou na prestação de serviços;</a:t>
            </a:r>
          </a:p>
          <a:p>
            <a:pPr marL="0" indent="0">
              <a:buNone/>
            </a:pPr>
            <a:r>
              <a:rPr lang="pt-BR" sz="2400" b="1" dirty="0">
                <a:latin typeface="Times New Roman" panose="02020603050405020304" pitchFamily="18" charset="0"/>
                <a:cs typeface="Times New Roman" panose="02020603050405020304" pitchFamily="18" charset="0"/>
              </a:rPr>
              <a:t>	VII - edificações e benfeitorias em imóveis próprios ou de terceiros, utilizados nas atividades da empresa;</a:t>
            </a:r>
          </a:p>
          <a:p>
            <a:pPr marL="0" indent="0">
              <a:buNone/>
            </a:pPr>
            <a:r>
              <a:rPr lang="pt-BR" sz="2400" b="1" dirty="0">
                <a:latin typeface="Times New Roman" panose="02020603050405020304" pitchFamily="18" charset="0"/>
                <a:cs typeface="Times New Roman" panose="02020603050405020304" pitchFamily="18" charset="0"/>
              </a:rPr>
              <a:t>	VIII - bens recebidos em devolução cuja receita de venda tenha integrado faturamento do mês ou de mês anterior, e tributada conforme o disposto nesta Lei;</a:t>
            </a:r>
          </a:p>
          <a:p>
            <a:pPr marL="0" indent="0">
              <a:buNone/>
            </a:pPr>
            <a:r>
              <a:rPr lang="pt-BR" sz="2400" b="1" dirty="0">
                <a:latin typeface="Times New Roman" panose="02020603050405020304" pitchFamily="18" charset="0"/>
                <a:cs typeface="Times New Roman" panose="02020603050405020304" pitchFamily="18" charset="0"/>
              </a:rPr>
              <a:t>	IX - armazenagem de mercadoria e frete na operação de venda, nos casos dos incisos I e II, quando o ônus for suportado pelo vendedor.</a:t>
            </a:r>
          </a:p>
          <a:p>
            <a:pPr marL="0" indent="0">
              <a:buNone/>
            </a:pPr>
            <a:r>
              <a:rPr lang="pt-BR" sz="2400" b="1" dirty="0">
                <a:latin typeface="Times New Roman" panose="02020603050405020304" pitchFamily="18" charset="0"/>
                <a:cs typeface="Times New Roman" panose="02020603050405020304" pitchFamily="18" charset="0"/>
              </a:rPr>
              <a:t>	X - vale-transporte, vale-refeição ou vale-alimentação, fardamento ou uniforme fornecidos aos empregados por pessoa jurídica que explore as atividades de prestação de serviços de limpeza, conservação e manutenção</a:t>
            </a:r>
            <a:r>
              <a:rPr lang="pt-BR" sz="1800" dirty="0">
                <a:latin typeface="Times New Roman" panose="02020603050405020304" pitchFamily="18" charset="0"/>
                <a:cs typeface="Times New Roman" panose="02020603050405020304" pitchFamily="18" charset="0"/>
              </a:rPr>
              <a:t>.</a:t>
            </a:r>
            <a:endParaRPr lang="pt-BR" sz="2400" dirty="0">
              <a:latin typeface="Times New Roman" panose="02020603050405020304" pitchFamily="18" charset="0"/>
              <a:cs typeface="Times New Roman" panose="02020603050405020304" pitchFamily="18" charset="0"/>
            </a:endParaRPr>
          </a:p>
        </p:txBody>
      </p:sp>
      <p:sp>
        <p:nvSpPr>
          <p:cNvPr id="66563" name="Rectangle 4"/>
          <p:cNvSpPr>
            <a:spLocks noChangeArrowheads="1"/>
          </p:cNvSpPr>
          <p:nvPr/>
        </p:nvSpPr>
        <p:spPr bwMode="auto">
          <a:xfrm>
            <a:off x="1922082" y="0"/>
            <a:ext cx="910735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457200" indent="-457200" algn="l" eaLnBrk="0" hangingPunct="0">
              <a:spcBef>
                <a:spcPct val="20000"/>
              </a:spcBef>
              <a:buChar char="•"/>
              <a:defRPr sz="3200">
                <a:solidFill>
                  <a:schemeClr val="tx1"/>
                </a:solidFill>
                <a:latin typeface="Arial" charset="0"/>
              </a:defRPr>
            </a:lvl1pPr>
            <a:lvl2pPr marL="742950" indent="-285750" algn="l" eaLnBrk="0" hangingPunct="0">
              <a:spcBef>
                <a:spcPct val="20000"/>
              </a:spcBef>
              <a:buChar char="–"/>
              <a:defRPr sz="2800">
                <a:solidFill>
                  <a:schemeClr val="tx1"/>
                </a:solidFill>
                <a:latin typeface="Arial" charset="0"/>
              </a:defRPr>
            </a:lvl2pPr>
            <a:lvl3pPr marL="1143000" indent="-228600" algn="l" eaLnBrk="0" hangingPunct="0">
              <a:spcBef>
                <a:spcPct val="20000"/>
              </a:spcBef>
              <a:buChar char="•"/>
              <a:defRPr sz="2400">
                <a:solidFill>
                  <a:schemeClr val="tx1"/>
                </a:solidFill>
                <a:latin typeface="Arial" charset="0"/>
              </a:defRPr>
            </a:lvl3pPr>
            <a:lvl4pPr marL="1600200" indent="-228600" algn="l" eaLnBrk="0" hangingPunct="0">
              <a:spcBef>
                <a:spcPct val="20000"/>
              </a:spcBef>
              <a:buChar char="–"/>
              <a:defRPr sz="2000">
                <a:solidFill>
                  <a:schemeClr val="tx1"/>
                </a:solidFill>
                <a:latin typeface="Arial" charset="0"/>
              </a:defRPr>
            </a:lvl4pPr>
            <a:lvl5pPr marL="2057400" indent="-228600" algn="l"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pt-BR" altLang="pt-BR" sz="4000" b="1" dirty="0">
                <a:effectLst>
                  <a:outerShdw blurRad="38100" dist="38100" dir="2700000" algn="tl">
                    <a:srgbClr val="000000">
                      <a:alpha val="43137"/>
                    </a:srgbClr>
                  </a:outerShdw>
                </a:effectLst>
                <a:latin typeface="Times New Roman" panose="02020603050405020304" pitchFamily="18" charset="0"/>
                <a:ea typeface="Calibri" pitchFamily="34" charset="0"/>
                <a:cs typeface="Times New Roman" panose="02020603050405020304" pitchFamily="18" charset="0"/>
              </a:rPr>
              <a:t>Créditos das Leis nº 10.637 e 10.833</a:t>
            </a:r>
          </a:p>
        </p:txBody>
      </p:sp>
    </p:spTree>
    <p:extLst>
      <p:ext uri="{BB962C8B-B14F-4D97-AF65-F5344CB8AC3E}">
        <p14:creationId xmlns:p14="http://schemas.microsoft.com/office/powerpoint/2010/main" val="331518720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2456288" y="-282598"/>
            <a:ext cx="8280400" cy="1143001"/>
          </a:xfrm>
        </p:spPr>
        <p:txBody>
          <a:bodyPr>
            <a:normAutofit/>
          </a:bodyPr>
          <a:lstStyle/>
          <a:p>
            <a:pPr algn="ctr">
              <a:defRPr/>
            </a:pPr>
            <a:r>
              <a:rPr lang="pt-BR" altLang="pt-BR" sz="4800" dirty="0">
                <a:effectLst>
                  <a:outerShdw blurRad="38100" dist="38100" dir="2700000" algn="tl">
                    <a:srgbClr val="000000">
                      <a:alpha val="43137"/>
                    </a:srgbClr>
                  </a:outerShdw>
                </a:effectLst>
                <a:latin typeface="Times New Roman" panose="02020603050405020304" pitchFamily="18" charset="0"/>
                <a:ea typeface="Calibri" pitchFamily="34" charset="0"/>
                <a:cs typeface="Times New Roman" panose="02020603050405020304" pitchFamily="18" charset="0"/>
              </a:rPr>
              <a:t>Insumos na definição </a:t>
            </a:r>
            <a:r>
              <a:rPr lang="pt-BR" altLang="pt-BR" sz="4800" dirty="0" smtClean="0">
                <a:effectLst>
                  <a:outerShdw blurRad="38100" dist="38100" dir="2700000" algn="tl">
                    <a:srgbClr val="000000">
                      <a:alpha val="43137"/>
                    </a:srgbClr>
                  </a:outerShdw>
                </a:effectLst>
                <a:latin typeface="Times New Roman" panose="02020603050405020304" pitchFamily="18" charset="0"/>
                <a:ea typeface="Calibri" pitchFamily="34" charset="0"/>
                <a:cs typeface="Times New Roman" panose="02020603050405020304" pitchFamily="18" charset="0"/>
              </a:rPr>
              <a:t>fiscal</a:t>
            </a:r>
            <a:endParaRPr lang="pt-BR" sz="48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179231" name="Group 31"/>
          <p:cNvGraphicFramePr>
            <a:graphicFrameLocks noGrp="1"/>
          </p:cNvGraphicFramePr>
          <p:nvPr>
            <p:ph idx="4294967295"/>
            <p:extLst>
              <p:ext uri="{D42A27DB-BD31-4B8C-83A1-F6EECF244321}">
                <p14:modId xmlns:p14="http://schemas.microsoft.com/office/powerpoint/2010/main" val="1893666250"/>
              </p:ext>
            </p:extLst>
          </p:nvPr>
        </p:nvGraphicFramePr>
        <p:xfrm>
          <a:off x="552450" y="773113"/>
          <a:ext cx="11638768" cy="5635404"/>
        </p:xfrm>
        <a:graphic>
          <a:graphicData uri="http://schemas.openxmlformats.org/drawingml/2006/table">
            <a:tbl>
              <a:tblPr/>
              <a:tblGrid>
                <a:gridCol w="4868250"/>
                <a:gridCol w="6770518"/>
              </a:tblGrid>
              <a:tr h="530970">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2800" b="1" i="0" u="none" strike="noStrike" cap="none" normalizeH="0" baseline="0" dirty="0" smtClean="0">
                          <a:ln>
                            <a:noFill/>
                          </a:ln>
                          <a:solidFill>
                            <a:srgbClr val="FFFFFF"/>
                          </a:solidFill>
                          <a:effectLst/>
                          <a:latin typeface="Calibri" pitchFamily="34" charset="0"/>
                          <a:cs typeface="Arial" charset="0"/>
                        </a:rPr>
                        <a:t>Encargo</a:t>
                      </a:r>
                      <a:endParaRPr kumimoji="0" lang="pt-BR" sz="2800" b="1" i="0" u="none" strike="noStrike" cap="none" normalizeH="0" baseline="0" dirty="0" smtClean="0">
                        <a:ln>
                          <a:noFill/>
                        </a:ln>
                        <a:solidFill>
                          <a:srgbClr val="FFFFFF"/>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charset="0"/>
                        <a:buNone/>
                        <a:tabLst/>
                      </a:pPr>
                      <a:r>
                        <a:rPr kumimoji="0" lang="pt-BR" sz="2800" b="1" i="0" u="none" strike="noStrike" cap="none" normalizeH="0" baseline="0" dirty="0" smtClean="0">
                          <a:ln>
                            <a:noFill/>
                          </a:ln>
                          <a:solidFill>
                            <a:srgbClr val="FFFFFF"/>
                          </a:solidFill>
                          <a:effectLst/>
                          <a:latin typeface="Calibri" pitchFamily="34" charset="0"/>
                          <a:cs typeface="Arial" charset="0"/>
                        </a:rPr>
                        <a:t>Fundamentação</a:t>
                      </a:r>
                      <a:endParaRPr kumimoji="0" lang="pt-BR" sz="2800" b="1" i="0" u="none" strike="noStrike" cap="none" normalizeH="0" baseline="0" dirty="0" smtClean="0">
                        <a:ln>
                          <a:noFill/>
                        </a:ln>
                        <a:solidFill>
                          <a:srgbClr val="FFFFFF"/>
                        </a:solidFill>
                        <a:effectLst/>
                        <a:latin typeface="Times New Roman" pitchFamily="18" charset="0"/>
                        <a:cs typeface="Times New Roman" pitchFamily="18" charset="0"/>
                      </a:endParaRP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tx1"/>
                    </a:solidFill>
                  </a:tcPr>
                </a:tc>
              </a:tr>
              <a:tr h="1081074">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Alimentação, vale-transporte e fardamento</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Soluções de Divergência </a:t>
                      </a:r>
                      <a:r>
                        <a:rPr kumimoji="0" lang="pt-BR" sz="2400" b="1" i="0" u="none" strike="noStrike" cap="none" normalizeH="0" baseline="0" dirty="0" err="1"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nºs</a:t>
                      </a: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8/2006, 15/2008, 17/2008, 24/2008, 25/2008, 33/2008 e 43/2008</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360357">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Direitos autorais</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Solução de Divergência nº 14/2011</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720716">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Equipamento de Proteção Individual (EPI)</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Solução de Divergência nº 9/2011</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1080905">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Fretes para o transporte de produtos acabados ou em elaboração</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Soluções de Divergência </a:t>
                      </a:r>
                      <a:r>
                        <a:rPr kumimoji="0" lang="pt-BR" sz="2400" b="1" i="0" u="none" strike="noStrike" cap="none" normalizeH="0" baseline="0" dirty="0" err="1" smtClean="0">
                          <a:ln>
                            <a:noFill/>
                          </a:ln>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nºs</a:t>
                      </a: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11/2007, 12/2008, 26/2008 e 2/2011</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1081074">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Rastreamento de veículos e cargas, seguros de qualquer espécie e pedágio</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Soluções de Divergência </a:t>
                      </a:r>
                      <a:r>
                        <a:rPr kumimoji="0" lang="pt-BR" sz="2400" b="1" i="0" u="none" strike="noStrike" cap="none" normalizeH="0" baseline="0" dirty="0" err="1" smtClean="0">
                          <a:ln>
                            <a:noFill/>
                          </a:ln>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nºs</a:t>
                      </a: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15/2007, 14/2008, 18/2008, 19/2008 e 20/2008</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r h="720716">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Telefonia para a execução de serviços contratados</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charset="0"/>
                        <a:buNone/>
                        <a:tabLst/>
                      </a:pPr>
                      <a:r>
                        <a:rPr kumimoji="0" lang="pt-BR" sz="2400" b="1" i="0" u="none" strike="noStrike" cap="none" normalizeH="0" baseline="0" dirty="0" smtClean="0">
                          <a:ln>
                            <a:noFill/>
                          </a:ln>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Solução de Divergência nº 10/2011</a:t>
                      </a:r>
                    </a:p>
                  </a:txBody>
                  <a:tcPr marL="43558" marR="43558"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7E7"/>
                    </a:solidFill>
                  </a:tcPr>
                </a:tc>
              </a:tr>
            </a:tbl>
          </a:graphicData>
        </a:graphic>
      </p:graphicFrame>
    </p:spTree>
    <p:extLst>
      <p:ext uri="{BB962C8B-B14F-4D97-AF65-F5344CB8AC3E}">
        <p14:creationId xmlns:p14="http://schemas.microsoft.com/office/powerpoint/2010/main" val="316032415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p:cNvSpPr txBox="1"/>
          <p:nvPr/>
        </p:nvSpPr>
        <p:spPr>
          <a:xfrm>
            <a:off x="773845" y="1614721"/>
            <a:ext cx="11007757" cy="3662541"/>
          </a:xfrm>
          <a:prstGeom prst="rect">
            <a:avLst/>
          </a:prstGeom>
          <a:noFill/>
        </p:spPr>
        <p:txBody>
          <a:bodyPr wrap="none" rtlCol="0">
            <a:spAutoFit/>
          </a:bodyPr>
          <a:lstStyle/>
          <a:p>
            <a:pPr algn="ct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EXEMPLO DE  CONFLITO </a:t>
            </a:r>
          </a:p>
          <a:p>
            <a:pPr algn="ct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ANALISE GLOSA  DE CRÉDITOS</a:t>
            </a:r>
          </a:p>
          <a:p>
            <a:endPar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FRETES  DE  PRODUTOS  ACABADOS – MAT.PRIMA  E  </a:t>
            </a:r>
          </a:p>
          <a:p>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INSUMOS ENTRE  UNIDADES  DA  PROPRIA  EMPRESA</a:t>
            </a:r>
            <a:endPar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698867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206062" y="394692"/>
            <a:ext cx="11578107" cy="6463308"/>
          </a:xfrm>
          <a:prstGeom prst="rect">
            <a:avLst/>
          </a:prstGeom>
        </p:spPr>
        <p:txBody>
          <a:bodyPr wrap="square">
            <a:spAutoFit/>
          </a:bodyPr>
          <a:lstStyle/>
          <a:p>
            <a:pPr algn="ctr"/>
            <a:r>
              <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FRETES DE PRODUTOS ENTRE UNIDADES DA MESMA EMPRESA</a:t>
            </a:r>
          </a:p>
          <a:p>
            <a:endParaRPr lang="pt-BR"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pt-BR"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pt-BR" sz="2800" b="1" u="sng"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ANALISE  LEGAL </a:t>
            </a:r>
          </a:p>
          <a:p>
            <a:pPr lvl="1"/>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SOLUÇÃO </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 DIVERGÊNCIA COSIT Nº 2, </a:t>
            </a: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24 </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JANEIRO </a:t>
            </a: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2011.</a:t>
            </a:r>
          </a:p>
          <a:p>
            <a:pPr lvl="1"/>
            <a:r>
              <a:rPr lang="pt-BR" sz="2400" b="1"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NÃO É  PERMITIDO  O CRÉDITO</a:t>
            </a:r>
          </a:p>
          <a:p>
            <a:pPr marL="285750" indent="-285750">
              <a:buFont typeface="Arial" panose="020B0604020202020204" pitchFamily="34" charset="0"/>
              <a:buChar char="•"/>
            </a:pPr>
            <a:endParaRPr lang="pt-BR" dirty="0">
              <a:latin typeface="Times New Roman" panose="02020603050405020304" pitchFamily="18" charset="0"/>
              <a:cs typeface="Times New Roman" panose="02020603050405020304" pitchFamily="18" charset="0"/>
            </a:endParaRPr>
          </a:p>
          <a:p>
            <a:r>
              <a:rPr lang="pt-BR" sz="2800" b="1" u="sng" dirty="0" smtClean="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ANALISE  CONSTITUCIONAL</a:t>
            </a:r>
          </a:p>
          <a:p>
            <a:pPr lvl="1"/>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Acórdão nº </a:t>
            </a: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3301002.966 –  </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3ª Câmara / 1ª Turma Ordinária</a:t>
            </a:r>
          </a:p>
          <a:p>
            <a:pPr lvl="1"/>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Sessão de 17 de maio de 2016</a:t>
            </a:r>
          </a:p>
          <a:p>
            <a:pPr lvl="1"/>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Matéria Créditos de PIS e </a:t>
            </a: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COFINS Recorrente </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BRF BRASIL FOODS </a:t>
            </a: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a:t>
            </a:r>
          </a:p>
          <a:p>
            <a:pPr lvl="1"/>
            <a:r>
              <a:rPr lang="pt-BR"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FOI PERMITIDO O CRÉDITO </a:t>
            </a:r>
          </a:p>
          <a:p>
            <a:pPr lvl="1"/>
            <a:endPar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a:endPar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RESUMO</a:t>
            </a:r>
          </a:p>
          <a:p>
            <a:pPr marL="1200150" lvl="2" indent="-285750">
              <a:buFont typeface="Arial" panose="020B0604020202020204" pitchFamily="34" charset="0"/>
              <a:buChar char="•"/>
            </a:pPr>
            <a:r>
              <a:rPr lang="pt-BR" sz="2400" b="1"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ANALISE LEGAL                        :    NÃO É PERMITIDO  O CRÉDITO</a:t>
            </a:r>
          </a:p>
          <a:p>
            <a:pPr marL="1200150" lvl="2" indent="-285750">
              <a:buFont typeface="Arial" panose="020B0604020202020204" pitchFamily="34" charset="0"/>
              <a:buChar char="•"/>
            </a:pPr>
            <a:r>
              <a:rPr lang="pt-BR" sz="2400" b="1" dirty="0" smtClean="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ANÁLISE CONSTITUCIONAL :    É PERMITIDO O CRÉDITO</a:t>
            </a:r>
            <a:endParaRPr lang="pt-BR" sz="2400" dirty="0">
              <a:solidFill>
                <a:srgbClr val="0070C0"/>
              </a:solidFill>
              <a:latin typeface="Times New Roman" panose="02020603050405020304" pitchFamily="18" charset="0"/>
              <a:cs typeface="Times New Roman" panose="02020603050405020304" pitchFamily="18" charset="0"/>
            </a:endParaRPr>
          </a:p>
          <a:p>
            <a:endParaRPr lang="pt-BR"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956765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Conteúdo 1"/>
          <p:cNvSpPr txBox="1">
            <a:spLocks/>
          </p:cNvSpPr>
          <p:nvPr/>
        </p:nvSpPr>
        <p:spPr>
          <a:xfrm>
            <a:off x="953037" y="1798749"/>
            <a:ext cx="10599311"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INSUMOS   </a:t>
            </a:r>
          </a:p>
          <a:p>
            <a:pPr marL="0" indent="0" algn="ctr">
              <a:buFont typeface="Wingdings 3" charset="2"/>
              <a:buNone/>
            </a:pPr>
            <a:endPar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CONCEITO  NA JURISPRUDÊNCIA E CARF</a:t>
            </a:r>
          </a:p>
          <a:p>
            <a:pPr marL="0" indent="0" algn="ctr">
              <a:buFont typeface="Wingdings 3" charset="2"/>
              <a:buNone/>
            </a:pPr>
            <a:endParaRPr lang="pt-B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(VISÃO CONSTITUCIONAL) </a:t>
            </a:r>
            <a:endParaRPr lang="pt-B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spaço Reservado para Conteúdo 1"/>
          <p:cNvSpPr txBox="1">
            <a:spLocks/>
          </p:cNvSpPr>
          <p:nvPr/>
        </p:nvSpPr>
        <p:spPr>
          <a:xfrm>
            <a:off x="2162062" y="1951149"/>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endParaRPr lang="pt-BR" sz="4000" b="1" dirty="0" smtClean="0">
              <a:effectLst>
                <a:outerShdw blurRad="38100" dist="38100" dir="2700000" algn="tl">
                  <a:srgbClr val="000000">
                    <a:alpha val="43137"/>
                  </a:srgbClr>
                </a:outerShdw>
              </a:effectLst>
            </a:endParaRPr>
          </a:p>
          <a:p>
            <a:pPr marL="0" indent="0" algn="ctr">
              <a:buFont typeface="Wingdings 3" charset="2"/>
              <a:buNone/>
            </a:pPr>
            <a:endParaRPr lang="pt-BR" sz="4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3816604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txBox="1">
            <a:spLocks noChangeArrowheads="1"/>
          </p:cNvSpPr>
          <p:nvPr/>
        </p:nvSpPr>
        <p:spPr bwMode="auto">
          <a:xfrm>
            <a:off x="1123515" y="688414"/>
            <a:ext cx="9870182" cy="5356338"/>
          </a:xfrm>
          <a:prstGeom prst="rect">
            <a:avLst/>
          </a:prstGeom>
          <a:noFill/>
          <a:ln w="9525">
            <a:noFill/>
            <a:miter lim="800000"/>
            <a:headEnd/>
            <a:tailEnd/>
          </a:ln>
        </p:spPr>
        <p:txBody>
          <a:bodyPr/>
          <a:lstStyle/>
          <a:p>
            <a:pPr>
              <a:spcAft>
                <a:spcPts val="600"/>
              </a:spcAft>
              <a:buClr>
                <a:srgbClr val="C00000"/>
              </a:buClr>
            </a:pPr>
            <a:r>
              <a:rPr lang="pt-BR" sz="3600" b="1" u="sng" dirty="0">
                <a:effectLst>
                  <a:outerShdw blurRad="38100" dist="38100" dir="2700000" algn="tl">
                    <a:srgbClr val="000000">
                      <a:alpha val="43137"/>
                    </a:srgbClr>
                  </a:outerShdw>
                </a:effectLst>
              </a:rPr>
              <a:t> </a:t>
            </a:r>
            <a:r>
              <a:rPr lang="pt-BR" sz="36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pt-BR" sz="40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INPUT X </a:t>
            </a:r>
            <a:r>
              <a:rPr lang="pt-BR" sz="40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OUTPUT</a:t>
            </a:r>
          </a:p>
          <a:p>
            <a:pPr>
              <a:spcAft>
                <a:spcPts val="600"/>
              </a:spcAft>
              <a:buClr>
                <a:srgbClr val="C00000"/>
              </a:buClr>
            </a:pPr>
            <a:endParaRPr lang="pt-BR" sz="1600" dirty="0">
              <a:latin typeface="Times New Roman" panose="02020603050405020304" pitchFamily="18" charset="0"/>
              <a:cs typeface="Times New Roman" panose="02020603050405020304" pitchFamily="18" charset="0"/>
            </a:endParaRPr>
          </a:p>
          <a:p>
            <a:pPr algn="just">
              <a:lnSpc>
                <a:spcPct val="90000"/>
              </a:lnSpc>
              <a:spcAft>
                <a:spcPts val="600"/>
              </a:spcAft>
              <a:buClr>
                <a:srgbClr val="C00000"/>
              </a:buClr>
            </a:pPr>
            <a:r>
              <a:rPr lang="pt-BR" sz="3200" dirty="0">
                <a:latin typeface="Times New Roman" panose="02020603050405020304" pitchFamily="18" charset="0"/>
                <a:cs typeface="Times New Roman" panose="02020603050405020304" pitchFamily="18" charset="0"/>
              </a:rPr>
              <a:t> </a:t>
            </a:r>
            <a:r>
              <a:rPr lang="pt-BR" sz="3200" b="1" dirty="0">
                <a:latin typeface="Times New Roman" panose="02020603050405020304" pitchFamily="18" charset="0"/>
                <a:cs typeface="Times New Roman" panose="02020603050405020304" pitchFamily="18" charset="0"/>
              </a:rPr>
              <a:t>- Tudo o que é colocado em um processo de produção de bens e serviços de firma direta ou indireta </a:t>
            </a:r>
            <a:endParaRPr lang="pt-BR" sz="3200" b="1" dirty="0" smtClean="0">
              <a:latin typeface="Times New Roman" panose="02020603050405020304" pitchFamily="18" charset="0"/>
              <a:cs typeface="Times New Roman" panose="02020603050405020304" pitchFamily="18" charset="0"/>
            </a:endParaRPr>
          </a:p>
          <a:p>
            <a:pPr>
              <a:lnSpc>
                <a:spcPct val="90000"/>
              </a:lnSpc>
              <a:spcAft>
                <a:spcPts val="600"/>
              </a:spcAft>
              <a:buClr>
                <a:srgbClr val="C00000"/>
              </a:buClr>
            </a:pPr>
            <a:endParaRPr lang="pt-BR" sz="3200" dirty="0">
              <a:latin typeface="Times New Roman" panose="02020603050405020304" pitchFamily="18" charset="0"/>
              <a:cs typeface="Times New Roman" panose="02020603050405020304" pitchFamily="18" charset="0"/>
            </a:endParaRPr>
          </a:p>
          <a:p>
            <a:pPr>
              <a:lnSpc>
                <a:spcPct val="90000"/>
              </a:lnSpc>
              <a:spcAft>
                <a:spcPts val="600"/>
              </a:spcAft>
              <a:buClr>
                <a:srgbClr val="C00000"/>
              </a:buClr>
            </a:pPr>
            <a:r>
              <a:rPr lang="pt-BR" sz="3200" dirty="0">
                <a:latin typeface="Times New Roman" panose="02020603050405020304" pitchFamily="18" charset="0"/>
                <a:cs typeface="Times New Roman" panose="02020603050405020304" pitchFamily="18" charset="0"/>
              </a:rPr>
              <a:t> - </a:t>
            </a:r>
            <a:r>
              <a:rPr lang="pt-BR" sz="3200" b="1" dirty="0">
                <a:latin typeface="Times New Roman" panose="02020603050405020304" pitchFamily="18" charset="0"/>
                <a:cs typeface="Times New Roman" panose="02020603050405020304" pitchFamily="18" charset="0"/>
              </a:rPr>
              <a:t>Cada um dos componentes necessários à Produção:</a:t>
            </a:r>
          </a:p>
          <a:p>
            <a:pPr marL="808038" lvl="1" indent="-350838">
              <a:lnSpc>
                <a:spcPct val="90000"/>
              </a:lnSpc>
              <a:spcAft>
                <a:spcPts val="600"/>
              </a:spcAft>
              <a:buClr>
                <a:srgbClr val="C00000"/>
              </a:buClr>
              <a:buFontTx/>
              <a:buChar char="-"/>
            </a:pPr>
            <a:r>
              <a:rPr lang="pt-BR" sz="3200" b="1" dirty="0">
                <a:latin typeface="Times New Roman" panose="02020603050405020304" pitchFamily="18" charset="0"/>
                <a:cs typeface="Times New Roman" panose="02020603050405020304" pitchFamily="18" charset="0"/>
              </a:rPr>
              <a:t>MATERIAIS</a:t>
            </a:r>
          </a:p>
          <a:p>
            <a:pPr marL="808038" lvl="1" indent="-350838">
              <a:lnSpc>
                <a:spcPct val="90000"/>
              </a:lnSpc>
              <a:spcAft>
                <a:spcPts val="600"/>
              </a:spcAft>
              <a:buClr>
                <a:srgbClr val="C00000"/>
              </a:buClr>
              <a:buFontTx/>
              <a:buChar char="-"/>
            </a:pPr>
            <a:r>
              <a:rPr lang="pt-BR" sz="3200" b="1" dirty="0">
                <a:latin typeface="Times New Roman" panose="02020603050405020304" pitchFamily="18" charset="0"/>
                <a:cs typeface="Times New Roman" panose="02020603050405020304" pitchFamily="18" charset="0"/>
              </a:rPr>
              <a:t>MÃO-DE-OBRA</a:t>
            </a:r>
          </a:p>
          <a:p>
            <a:pPr marL="808038" lvl="1" indent="-350838">
              <a:lnSpc>
                <a:spcPct val="90000"/>
              </a:lnSpc>
              <a:spcAft>
                <a:spcPts val="600"/>
              </a:spcAft>
              <a:buClr>
                <a:srgbClr val="C00000"/>
              </a:buClr>
              <a:buFontTx/>
              <a:buChar char="-"/>
            </a:pPr>
            <a:r>
              <a:rPr lang="pt-BR" sz="3200" b="1" dirty="0">
                <a:latin typeface="Times New Roman" panose="02020603050405020304" pitchFamily="18" charset="0"/>
                <a:cs typeface="Times New Roman" panose="02020603050405020304" pitchFamily="18" charset="0"/>
              </a:rPr>
              <a:t>RECURSOS FINANCEIROS</a:t>
            </a:r>
          </a:p>
          <a:p>
            <a:pPr marL="808038" lvl="1" indent="-350838">
              <a:lnSpc>
                <a:spcPct val="90000"/>
              </a:lnSpc>
              <a:spcAft>
                <a:spcPts val="600"/>
              </a:spcAft>
              <a:buClr>
                <a:srgbClr val="C00000"/>
              </a:buClr>
              <a:buFontTx/>
              <a:buChar char="-"/>
            </a:pPr>
            <a:r>
              <a:rPr lang="pt-BR" sz="3200" b="1" dirty="0">
                <a:latin typeface="Times New Roman" panose="02020603050405020304" pitchFamily="18" charset="0"/>
                <a:cs typeface="Times New Roman" panose="02020603050405020304" pitchFamily="18" charset="0"/>
              </a:rPr>
              <a:t>CONHECIMENTO</a:t>
            </a:r>
          </a:p>
        </p:txBody>
      </p:sp>
    </p:spTree>
    <p:extLst>
      <p:ext uri="{BB962C8B-B14F-4D97-AF65-F5344CB8AC3E}">
        <p14:creationId xmlns:p14="http://schemas.microsoft.com/office/powerpoint/2010/main" val="65565319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500261" y="347729"/>
            <a:ext cx="11324829" cy="5158257"/>
          </a:xfrm>
        </p:spPr>
        <p:txBody>
          <a:bodyPr>
            <a:normAutofit fontScale="25000" lnSpcReduction="20000"/>
          </a:bodyPr>
          <a:lstStyle/>
          <a:p>
            <a:pPr algn="ctr" eaLnBrk="1" hangingPunct="1">
              <a:lnSpc>
                <a:spcPct val="90000"/>
              </a:lnSpc>
              <a:buClr>
                <a:srgbClr val="C00000"/>
              </a:buClr>
              <a:buFont typeface="Arial" charset="0"/>
              <a:buNone/>
              <a:defRPr/>
            </a:pPr>
            <a:r>
              <a:rPr lang="pt-BR" sz="16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Conceito Aberto de Insumo e </a:t>
            </a:r>
            <a:r>
              <a:rPr lang="pt-BR" sz="16000" b="1" dirty="0" smtClean="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Consequências</a:t>
            </a:r>
          </a:p>
          <a:p>
            <a:pPr algn="ctr" eaLnBrk="1" hangingPunct="1">
              <a:lnSpc>
                <a:spcPct val="90000"/>
              </a:lnSpc>
              <a:buClr>
                <a:srgbClr val="C00000"/>
              </a:buClr>
              <a:buFont typeface="Arial" charset="0"/>
              <a:buNone/>
              <a:defRPr/>
            </a:pPr>
            <a:endParaRPr lang="pt-BR" sz="16000" b="1" dirty="0" smtClean="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65125" indent="-365125">
              <a:spcAft>
                <a:spcPts val="600"/>
              </a:spcAft>
              <a:buFont typeface="Wingdings" pitchFamily="2" charset="2"/>
              <a:buChar char="Ø"/>
              <a:defRPr/>
            </a:pPr>
            <a:r>
              <a:rPr lang="pt-BR" sz="1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Restrição </a:t>
            </a:r>
            <a:r>
              <a:rPr lang="pt-BR" sz="1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interpretativa dada pelo Fisco por meio de Instruções </a:t>
            </a:r>
            <a:r>
              <a:rPr lang="pt-BR" sz="1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Normativas</a:t>
            </a:r>
          </a:p>
          <a:p>
            <a:pPr marL="365125" indent="-365125">
              <a:spcAft>
                <a:spcPts val="600"/>
              </a:spcAft>
              <a:buFont typeface="Wingdings" pitchFamily="2" charset="2"/>
              <a:buChar char="Ø"/>
              <a:defRPr/>
            </a:pPr>
            <a:endPar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65125" indent="-365125">
              <a:spcAft>
                <a:spcPts val="600"/>
              </a:spcAft>
              <a:buFont typeface="Wingdings" pitchFamily="2" charset="2"/>
              <a:buChar char="Ø"/>
              <a:defRPr/>
            </a:pPr>
            <a:r>
              <a:rPr lang="pt-BR" sz="1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Tentativa </a:t>
            </a:r>
            <a:r>
              <a:rPr lang="pt-BR" sz="1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 adequação pelo CARF e pelo Poder </a:t>
            </a:r>
            <a:r>
              <a:rPr lang="pt-BR" sz="1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Judiciário</a:t>
            </a:r>
          </a:p>
          <a:p>
            <a:pPr marL="365125" indent="-365125">
              <a:spcAft>
                <a:spcPts val="600"/>
              </a:spcAft>
              <a:buFont typeface="Wingdings" pitchFamily="2" charset="2"/>
              <a:buChar char="Ø"/>
              <a:defRPr/>
            </a:pPr>
            <a:endParaRPr lang="pt-BR" sz="8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65125" indent="-365125">
              <a:spcAft>
                <a:spcPts val="600"/>
              </a:spcAft>
              <a:buFont typeface="Wingdings" pitchFamily="2" charset="2"/>
              <a:buChar char="Ø"/>
              <a:defRPr/>
            </a:pPr>
            <a:r>
              <a:rPr lang="pt-BR" sz="1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Risco </a:t>
            </a:r>
            <a:r>
              <a:rPr lang="pt-BR" sz="1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 </a:t>
            </a:r>
            <a:r>
              <a:rPr lang="pt-BR" sz="128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creditamento</a:t>
            </a:r>
            <a:r>
              <a:rPr lang="pt-BR" sz="1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(interpretação ampliativa pelo Contribuinte</a:t>
            </a:r>
            <a:r>
              <a:rPr lang="pt-BR" sz="1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365125" indent="-365125">
              <a:spcAft>
                <a:spcPts val="600"/>
              </a:spcAft>
              <a:buFont typeface="Wingdings" pitchFamily="2" charset="2"/>
              <a:buChar char="Ø"/>
              <a:defRPr/>
            </a:pPr>
            <a:endParaRPr lang="pt-BR" sz="6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65125" indent="-365125">
              <a:spcAft>
                <a:spcPts val="600"/>
              </a:spcAft>
              <a:buFont typeface="Wingdings" pitchFamily="2" charset="2"/>
              <a:buChar char="Ø"/>
              <a:defRPr/>
            </a:pPr>
            <a:r>
              <a:rPr lang="pt-BR" sz="1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Perdas </a:t>
            </a:r>
            <a:r>
              <a:rPr lang="pt-BR" sz="1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financeira e concorrencial pelo não </a:t>
            </a:r>
            <a:r>
              <a:rPr lang="pt-BR" sz="12800" b="1" dirty="0" err="1"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creditamento</a:t>
            </a:r>
            <a:endParaRPr lang="pt-BR" sz="1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65125" indent="-365125">
              <a:spcAft>
                <a:spcPts val="600"/>
              </a:spcAft>
              <a:buFont typeface="Wingdings" pitchFamily="2" charset="2"/>
              <a:buChar char="Ø"/>
              <a:defRPr/>
            </a:pPr>
            <a:endParaRPr lang="pt-BR" sz="6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65125" indent="-365125">
              <a:spcAft>
                <a:spcPts val="600"/>
              </a:spcAft>
              <a:buFont typeface="Wingdings" pitchFamily="2" charset="2"/>
              <a:buChar char="Ø"/>
              <a:defRPr/>
            </a:pPr>
            <a:r>
              <a:rPr lang="pt-BR" sz="11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Acúmulo </a:t>
            </a:r>
            <a:r>
              <a:rPr lang="pt-BR" sz="1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 processos sobre o tema</a:t>
            </a:r>
          </a:p>
        </p:txBody>
      </p:sp>
      <p:sp>
        <p:nvSpPr>
          <p:cNvPr id="4" name="CaixaDeTexto 3"/>
          <p:cNvSpPr txBox="1">
            <a:spLocks noChangeArrowheads="1"/>
          </p:cNvSpPr>
          <p:nvPr/>
        </p:nvSpPr>
        <p:spPr bwMode="auto">
          <a:xfrm rot="-2014927">
            <a:off x="1627189" y="2922589"/>
            <a:ext cx="9070975" cy="860425"/>
          </a:xfrm>
          <a:prstGeom prst="rect">
            <a:avLst/>
          </a:prstGeom>
          <a:noFill/>
          <a:ln w="15875" cmpd="sng">
            <a:solidFill>
              <a:schemeClr val="bg2">
                <a:alpha val="89000"/>
              </a:schemeClr>
            </a:solidFill>
            <a:miter lim="800000"/>
            <a:headEnd/>
            <a:tailEnd/>
          </a:ln>
        </p:spPr>
        <p:txBody>
          <a:bodyPr>
            <a:spAutoFit/>
          </a:bodyPr>
          <a:lstStyle/>
          <a:p>
            <a:pPr algn="ctr"/>
            <a:r>
              <a:rPr lang="pt-BR" sz="5000" dirty="0">
                <a:solidFill>
                  <a:srgbClr val="FF0000"/>
                </a:solidFill>
                <a:latin typeface="Times New Roman" panose="02020603050405020304" pitchFamily="18" charset="0"/>
                <a:cs typeface="Times New Roman" panose="02020603050405020304" pitchFamily="18" charset="0"/>
              </a:rPr>
              <a:t>INSEGURANÇA JURÍDICA</a:t>
            </a:r>
          </a:p>
        </p:txBody>
      </p:sp>
    </p:spTree>
    <p:extLst>
      <p:ext uri="{BB962C8B-B14F-4D97-AF65-F5344CB8AC3E}">
        <p14:creationId xmlns:p14="http://schemas.microsoft.com/office/powerpoint/2010/main" val="51570446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txBox="1">
            <a:spLocks noChangeArrowheads="1"/>
          </p:cNvSpPr>
          <p:nvPr/>
        </p:nvSpPr>
        <p:spPr bwMode="auto">
          <a:xfrm>
            <a:off x="643944" y="1084213"/>
            <a:ext cx="10534918" cy="5121275"/>
          </a:xfrm>
          <a:prstGeom prst="rect">
            <a:avLst/>
          </a:prstGeom>
          <a:noFill/>
          <a:ln w="9525">
            <a:noFill/>
            <a:miter lim="800000"/>
            <a:headEnd/>
            <a:tailEnd/>
          </a:ln>
        </p:spPr>
        <p:txBody>
          <a:bodyPr/>
          <a:lstStyle/>
          <a:p>
            <a:pPr algn="just">
              <a:lnSpc>
                <a:spcPct val="90000"/>
              </a:lnSpc>
              <a:spcAft>
                <a:spcPts val="600"/>
              </a:spcAft>
            </a:pPr>
            <a:r>
              <a:rPr lang="pt-BR"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Acórdão 203-12.469 </a:t>
            </a:r>
            <a:r>
              <a:rPr lang="pt-BR" sz="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(14/12/2007) - </a:t>
            </a:r>
            <a:r>
              <a:rPr lang="pt-BR"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 aproveitamento dos créditos do PIS no regime da não cumulatividade há que obedecer às condições específicas ditadas pelo artigo 3.º da Lei 10.637, de 2002, c/c o artigo 66 da IN SRF 247, de 2002, com alterações da IN SRF 358, de 2003. Incabíveis, pois, créditos originados de gastos com seguros (incêndio, vendaval etc.), material de segurança EPI (óculos, jalecos, protetores auriculares), materiais de uso geral (buchas para máquinas, cadeado, disjuntor, calço para prensa, catraca, correias; cotovelo, cruzetas, reator para lâmpada), peças de reposição de máquinas, amortização de despesas operacionais, conservação e limpeza, e manutenção predial. No caso do insumo "água", cabível a glosa pela ausência de critério fidedigno para a quantificação do valor efetivamente gasto na produção. 	</a:t>
            </a:r>
          </a:p>
          <a:p>
            <a:pPr algn="just">
              <a:lnSpc>
                <a:spcPct val="90000"/>
              </a:lnSpc>
              <a:spcAft>
                <a:spcPts val="600"/>
              </a:spcAft>
            </a:pPr>
            <a:r>
              <a:rPr lang="pt-BR"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Atividade da empresa: Fabricação de calçados</a:t>
            </a:r>
          </a:p>
        </p:txBody>
      </p:sp>
      <p:sp>
        <p:nvSpPr>
          <p:cNvPr id="3" name="CaixaDeTexto 2"/>
          <p:cNvSpPr txBox="1"/>
          <p:nvPr/>
        </p:nvSpPr>
        <p:spPr>
          <a:xfrm>
            <a:off x="1326524" y="257578"/>
            <a:ext cx="8963696" cy="646331"/>
          </a:xfrm>
          <a:prstGeom prst="rect">
            <a:avLst/>
          </a:prstGeom>
          <a:noFill/>
        </p:spPr>
        <p:txBody>
          <a:bodyPr wrap="square" rtlCol="0">
            <a:spAutoFit/>
          </a:bodyPr>
          <a:lstStyle/>
          <a:p>
            <a:pPr algn="ct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ACORDÃO – VISÃO RESTRITA  CARF</a:t>
            </a:r>
            <a:endPar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301425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Grp="1" noChangeArrowheads="1"/>
          </p:cNvSpPr>
          <p:nvPr>
            <p:ph type="body" idx="4294967295"/>
          </p:nvPr>
        </p:nvSpPr>
        <p:spPr>
          <a:xfrm>
            <a:off x="379562" y="1682840"/>
            <a:ext cx="10921041" cy="4525962"/>
          </a:xfrm>
        </p:spPr>
        <p:txBody>
          <a:bodyPr>
            <a:noAutofit/>
          </a:bodyPr>
          <a:lstStyle/>
          <a:p>
            <a:pPr marL="0" indent="0" algn="just">
              <a:buNone/>
            </a:pPr>
            <a:r>
              <a:rPr lang="pt-BR" altLang="pt-BR" sz="3200" b="1" dirty="0">
                <a:effectLst>
                  <a:outerShdw blurRad="38100" dist="38100" dir="2700000" algn="tl">
                    <a:srgbClr val="000000">
                      <a:alpha val="43137"/>
                    </a:srgbClr>
                  </a:outerShdw>
                </a:effectLst>
                <a:cs typeface="Arial" charset="0"/>
              </a:rPr>
              <a:t>2ª Fase – Definição do </a:t>
            </a:r>
            <a:r>
              <a:rPr lang="pt-BR" altLang="pt-BR" sz="3200" b="1" dirty="0" smtClean="0">
                <a:effectLst>
                  <a:outerShdw blurRad="38100" dist="38100" dir="2700000" algn="tl">
                    <a:srgbClr val="000000">
                      <a:alpha val="43137"/>
                    </a:srgbClr>
                  </a:outerShdw>
                </a:effectLst>
                <a:cs typeface="Arial" charset="0"/>
              </a:rPr>
              <a:t>IRPJ  (VISÃO AMPLA)</a:t>
            </a:r>
            <a:endParaRPr lang="pt-BR" altLang="pt-BR" sz="3200" b="1" dirty="0">
              <a:effectLst>
                <a:outerShdw blurRad="38100" dist="38100" dir="2700000" algn="tl">
                  <a:srgbClr val="000000">
                    <a:alpha val="43137"/>
                  </a:srgbClr>
                </a:outerShdw>
              </a:effectLst>
              <a:cs typeface="Arial" charset="0"/>
            </a:endParaRPr>
          </a:p>
          <a:p>
            <a:pPr marL="0" indent="0" algn="just">
              <a:buNone/>
            </a:pPr>
            <a:r>
              <a:rPr lang="pt-BR" altLang="pt-BR" b="1" dirty="0">
                <a:effectLst>
                  <a:outerShdw blurRad="38100" dist="38100" dir="2700000" algn="tl">
                    <a:srgbClr val="000000">
                      <a:alpha val="43137"/>
                    </a:srgbClr>
                  </a:outerShdw>
                </a:effectLst>
              </a:rPr>
              <a:t>Acórdão nº 3202-00.226, da 2ª Câmara do 2º CC</a:t>
            </a:r>
          </a:p>
          <a:p>
            <a:pPr marL="400050" lvl="1" indent="0" algn="just">
              <a:buNone/>
            </a:pPr>
            <a:endParaRPr lang="pt-BR" altLang="pt-BR" sz="3200" b="1" dirty="0">
              <a:effectLst>
                <a:outerShdw blurRad="38100" dist="38100" dir="2700000" algn="tl">
                  <a:srgbClr val="000000">
                    <a:alpha val="43137"/>
                  </a:srgbClr>
                </a:outerShdw>
              </a:effectLst>
            </a:endParaRPr>
          </a:p>
          <a:p>
            <a:pPr marL="0" indent="-57150" algn="just">
              <a:buNone/>
            </a:pPr>
            <a:r>
              <a:rPr lang="pt-BR" alt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 conceito de insumo dentro da sistemática de apuração de créditos pela não cumulatividade de PIS e Cofins deve ser entendido como toda e qualquer custo ou despesa necessária à atividade da empresa, nos termos da legislação do IRPJ, não devendo ser utilizado o conceito trazido pela legislação do IPI, uma vez que a materialidade de tal tributo é distinta da materialidade das contribuições em apreço</a:t>
            </a:r>
            <a:r>
              <a:rPr lang="pt-BR" alt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5" name="Título 1"/>
          <p:cNvSpPr txBox="1">
            <a:spLocks/>
          </p:cNvSpPr>
          <p:nvPr/>
        </p:nvSpPr>
        <p:spPr bwMode="auto">
          <a:xfrm>
            <a:off x="138022" y="228480"/>
            <a:ext cx="1164566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eaLnBrk="1" hangingPunct="1">
              <a:defRPr/>
            </a:pPr>
            <a:r>
              <a:rPr lang="pt-BR" altLang="pt-BR" b="1" dirty="0">
                <a:solidFill>
                  <a:prstClr val="black"/>
                </a:solidFill>
                <a:effectLst>
                  <a:outerShdw blurRad="38100" dist="38100" dir="2700000" algn="tl">
                    <a:srgbClr val="000000">
                      <a:alpha val="43137"/>
                    </a:srgbClr>
                  </a:outerShdw>
                </a:effectLst>
                <a:latin typeface="Times New Roman" panose="02020603050405020304" pitchFamily="18" charset="0"/>
                <a:ea typeface="Calibri" pitchFamily="34" charset="0"/>
                <a:cs typeface="Times New Roman" panose="02020603050405020304" pitchFamily="18" charset="0"/>
              </a:rPr>
              <a:t>Insumos na jurisprudência administrativa</a:t>
            </a:r>
            <a:endParaRPr lang="pt-BR" b="1" dirty="0">
              <a:solidFill>
                <a:prstClr val="black"/>
              </a:solidFill>
              <a:effectLst>
                <a:outerShdw blurRad="38100" dist="38100" dir="2700000" algn="tl">
                  <a:srgbClr val="000000">
                    <a:alpha val="43137"/>
                  </a:srgbClr>
                </a:outerShdw>
              </a:effectLst>
              <a:latin typeface="Times New Roman" panose="02020603050405020304" pitchFamily="18" charset="0"/>
              <a:ea typeface="Calibri" pitchFamily="34" charset="0"/>
              <a:cs typeface="Times New Roman" panose="02020603050405020304" pitchFamily="18" charset="0"/>
            </a:endParaRPr>
          </a:p>
        </p:txBody>
      </p:sp>
    </p:spTree>
    <p:extLst>
      <p:ext uri="{BB962C8B-B14F-4D97-AF65-F5344CB8AC3E}">
        <p14:creationId xmlns:p14="http://schemas.microsoft.com/office/powerpoint/2010/main" val="23437090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Conteúdo 1"/>
          <p:cNvSpPr txBox="1">
            <a:spLocks/>
          </p:cNvSpPr>
          <p:nvPr/>
        </p:nvSpPr>
        <p:spPr>
          <a:xfrm>
            <a:off x="2009662" y="1798749"/>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INSUMOS   </a:t>
            </a:r>
          </a:p>
          <a:p>
            <a:pPr marL="0" indent="0" algn="ctr">
              <a:buFont typeface="Wingdings 3" charset="2"/>
              <a:buNone/>
            </a:pPr>
            <a:endPar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CONCEITO  DO  IPI</a:t>
            </a:r>
          </a:p>
          <a:p>
            <a:pPr marL="0" indent="0" algn="ctr">
              <a:buFont typeface="Wingdings 3" charset="2"/>
              <a:buNone/>
            </a:pPr>
            <a:endParaRPr lang="pt-B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Font typeface="Wingdings 3" charset="2"/>
              <a:buNone/>
            </a:pPr>
            <a:r>
              <a:rPr lang="pt-BR" sz="4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(VISÃO LEGAL)</a:t>
            </a:r>
            <a:endParaRPr lang="pt-BR"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Espaço Reservado para Conteúdo 1"/>
          <p:cNvSpPr txBox="1">
            <a:spLocks/>
          </p:cNvSpPr>
          <p:nvPr/>
        </p:nvSpPr>
        <p:spPr>
          <a:xfrm>
            <a:off x="2162062" y="1951149"/>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buFont typeface="Wingdings 3" charset="2"/>
              <a:buNone/>
            </a:pPr>
            <a:endParaRPr lang="pt-BR" sz="4000" b="1" dirty="0" smtClean="0">
              <a:effectLst>
                <a:outerShdw blurRad="38100" dist="38100" dir="2700000" algn="tl">
                  <a:srgbClr val="000000">
                    <a:alpha val="43137"/>
                  </a:srgbClr>
                </a:outerShdw>
              </a:effectLst>
            </a:endParaRPr>
          </a:p>
          <a:p>
            <a:pPr marL="0" indent="0" algn="ctr">
              <a:buFont typeface="Wingdings 3" charset="2"/>
              <a:buNone/>
            </a:pPr>
            <a:endParaRPr lang="pt-BR" sz="4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7521278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257576" y="690113"/>
            <a:ext cx="11784169" cy="5762202"/>
          </a:xfrm>
        </p:spPr>
        <p:txBody>
          <a:bodyPr>
            <a:normAutofit fontScale="25000" lnSpcReduction="20000"/>
          </a:bodyPr>
          <a:lstStyle/>
          <a:p>
            <a:pPr marL="0" indent="0" algn="ctr">
              <a:buNone/>
            </a:pPr>
            <a:r>
              <a:rPr lang="pt-BR" sz="160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Insumo – Legislação do </a:t>
            </a:r>
            <a:r>
              <a:rPr lang="pt-BR" sz="160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IPI</a:t>
            </a:r>
          </a:p>
          <a:p>
            <a:endParaRPr lang="pt-BR" sz="4400" dirty="0"/>
          </a:p>
          <a:p>
            <a:pPr marL="0" indent="0">
              <a:buNone/>
            </a:pPr>
            <a:r>
              <a:rPr lang="pt-BR" sz="4800" b="1" dirty="0">
                <a:effectLst>
                  <a:outerShdw blurRad="38100" dist="38100" dir="2700000" algn="tl">
                    <a:srgbClr val="000000">
                      <a:alpha val="43137"/>
                    </a:srgbClr>
                  </a:outerShdw>
                </a:effectLst>
              </a:rPr>
              <a:t>– </a:t>
            </a:r>
            <a:r>
              <a:rPr lang="pt-BR" sz="1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Decreto nº 7.212/2010 </a:t>
            </a:r>
            <a:r>
              <a:rPr lang="pt-BR" sz="1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RIPI</a:t>
            </a:r>
          </a:p>
          <a:p>
            <a:pPr marL="0" indent="0">
              <a:buNone/>
            </a:pPr>
            <a:r>
              <a:rPr lang="pt-BR" sz="7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pt-BR" sz="1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Art. 226. Os estabelecimentos industriais e os que lhes são equiparados </a:t>
            </a:r>
            <a:r>
              <a:rPr lang="pt-BR" sz="128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poderão creditar-se</a:t>
            </a:r>
          </a:p>
          <a:p>
            <a:pPr marL="0" indent="0">
              <a:buNone/>
            </a:pPr>
            <a:endParaRPr lang="pt-BR" sz="1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pt-BR" sz="1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 </a:t>
            </a:r>
            <a:r>
              <a:rPr lang="pt-BR" sz="1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do </a:t>
            </a:r>
            <a:r>
              <a:rPr lang="pt-BR" sz="1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imposto relativo </a:t>
            </a:r>
            <a:r>
              <a:rPr lang="pt-BR" sz="1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matéria-prima, produto intermediário e material </a:t>
            </a:r>
            <a:r>
              <a:rPr lang="pt-BR" sz="1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 embalagem</a:t>
            </a:r>
            <a:r>
              <a:rPr lang="pt-BR" sz="1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adquiridos para emprego na industrialização de produtos </a:t>
            </a:r>
            <a:r>
              <a:rPr lang="pt-BR" sz="1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tributados, incluindo-se</a:t>
            </a:r>
            <a:r>
              <a:rPr lang="pt-BR" sz="1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entre as matérias-primas e os </a:t>
            </a:r>
            <a:r>
              <a:rPr lang="pt-BR" sz="1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produtos intermediários</a:t>
            </a:r>
            <a:r>
              <a:rPr lang="pt-BR" sz="1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aqueles que, </a:t>
            </a:r>
            <a:r>
              <a:rPr lang="pt-BR" sz="1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embora não </a:t>
            </a:r>
            <a:r>
              <a:rPr lang="pt-BR" sz="1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 integrando ao novo produto, forem consumidos no processo de </a:t>
            </a:r>
            <a:r>
              <a:rPr lang="pt-BR" sz="1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industrialização</a:t>
            </a:r>
            <a:r>
              <a:rPr lang="pt-BR" sz="1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salvo se compreendidos entre os bens do ativo permanente.</a:t>
            </a:r>
          </a:p>
        </p:txBody>
      </p:sp>
    </p:spTree>
    <p:extLst>
      <p:ext uri="{BB962C8B-B14F-4D97-AF65-F5344CB8AC3E}">
        <p14:creationId xmlns:p14="http://schemas.microsoft.com/office/powerpoint/2010/main" val="143137168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1610417" y="1734355"/>
            <a:ext cx="8915400" cy="3777622"/>
          </a:xfrm>
        </p:spPr>
        <p:txBody>
          <a:bodyPr>
            <a:normAutofit/>
          </a:bodyPr>
          <a:lstStyle/>
          <a:p>
            <a:pPr marL="0" indent="0" algn="ctr">
              <a:buNone/>
            </a:pPr>
            <a:r>
              <a:rPr lang="pt-BR" sz="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INSUMOS   </a:t>
            </a:r>
          </a:p>
          <a:p>
            <a:pPr marL="0" indent="0" algn="ctr">
              <a:buNone/>
            </a:pPr>
            <a:endParaRPr lang="pt-B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pt-BR" sz="4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CONCEITO  DO  IRPJ</a:t>
            </a:r>
            <a:endParaRPr lang="pt-BR" sz="4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794724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1724631" y="88209"/>
            <a:ext cx="8911687" cy="1280890"/>
          </a:xfrm>
        </p:spPr>
        <p:txBody>
          <a:bodyPr>
            <a:normAutofit fontScale="90000"/>
          </a:bodyPr>
          <a:lstStyle/>
          <a:p>
            <a:pPr algn="ctr"/>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Fluxo dos Custos &amp; Visões de Insumo</a:t>
            </a:r>
          </a:p>
        </p:txBody>
      </p:sp>
      <p:sp>
        <p:nvSpPr>
          <p:cNvPr id="16" name="Espaço Reservado para Número de Slide 3"/>
          <p:cNvSpPr>
            <a:spLocks noGrp="1"/>
          </p:cNvSpPr>
          <p:nvPr>
            <p:ph type="sldNum" sz="quarter" idx="12"/>
          </p:nvPr>
        </p:nvSpPr>
        <p:spPr>
          <a:xfrm>
            <a:off x="5751022" y="4579238"/>
            <a:ext cx="2133600" cy="476250"/>
          </a:xfrm>
        </p:spPr>
        <p:txBody>
          <a:bodyPr/>
          <a:lstStyle/>
          <a:p>
            <a:pPr algn="l">
              <a:defRPr/>
            </a:pPr>
            <a:fld id="{BF1E1EB6-80A5-4430-96B1-4AE64A0F2D8C}" type="slidenum">
              <a:rPr lang="pt-BR"/>
              <a:pPr algn="l">
                <a:defRPr/>
              </a:pPr>
              <a:t>34</a:t>
            </a:fld>
            <a:endParaRPr lang="pt-BR"/>
          </a:p>
        </p:txBody>
      </p:sp>
      <p:grpSp>
        <p:nvGrpSpPr>
          <p:cNvPr id="22532" name="Group 43"/>
          <p:cNvGrpSpPr>
            <a:grpSpLocks/>
          </p:cNvGrpSpPr>
          <p:nvPr/>
        </p:nvGrpSpPr>
        <p:grpSpPr bwMode="auto">
          <a:xfrm>
            <a:off x="1040256" y="1408556"/>
            <a:ext cx="8253093" cy="5369305"/>
            <a:chOff x="266" y="720"/>
            <a:chExt cx="4836" cy="3216"/>
          </a:xfrm>
        </p:grpSpPr>
        <p:sp>
          <p:nvSpPr>
            <p:cNvPr id="22535" name="Rectangle 31"/>
            <p:cNvSpPr>
              <a:spLocks noChangeArrowheads="1"/>
            </p:cNvSpPr>
            <p:nvPr/>
          </p:nvSpPr>
          <p:spPr bwMode="auto">
            <a:xfrm>
              <a:off x="384" y="1056"/>
              <a:ext cx="1584" cy="624"/>
            </a:xfrm>
            <a:prstGeom prst="rect">
              <a:avLst/>
            </a:prstGeom>
            <a:solidFill>
              <a:srgbClr val="3366FF"/>
            </a:solidFill>
            <a:ln w="28575">
              <a:solidFill>
                <a:schemeClr val="tx1"/>
              </a:solidFill>
              <a:miter lim="800000"/>
              <a:headEnd/>
              <a:tailEnd/>
            </a:ln>
          </p:spPr>
          <p:txBody>
            <a:bodyPr wrap="none"/>
            <a:lstStyle/>
            <a:p>
              <a:r>
                <a:rPr lang="pt-BR" sz="2400" dirty="0">
                  <a:solidFill>
                    <a:srgbClr val="FFFFFF"/>
                  </a:solidFill>
                </a:rPr>
                <a:t>Custos</a:t>
              </a:r>
            </a:p>
            <a:p>
              <a:r>
                <a:rPr lang="pt-BR" sz="2000" dirty="0">
                  <a:solidFill>
                    <a:srgbClr val="FFFFFF"/>
                  </a:solidFill>
                </a:rPr>
                <a:t>Diretos</a:t>
              </a:r>
            </a:p>
            <a:p>
              <a:r>
                <a:rPr lang="pt-BR" sz="2000" dirty="0">
                  <a:solidFill>
                    <a:srgbClr val="FFFFFF"/>
                  </a:solidFill>
                </a:rPr>
                <a:t>Indireto</a:t>
              </a:r>
              <a:r>
                <a:rPr lang="pt-BR" dirty="0">
                  <a:solidFill>
                    <a:srgbClr val="FFFFFF"/>
                  </a:solidFill>
                </a:rPr>
                <a:t>s</a:t>
              </a:r>
            </a:p>
          </p:txBody>
        </p:sp>
        <p:sp>
          <p:nvSpPr>
            <p:cNvPr id="22536" name="Rectangle 32"/>
            <p:cNvSpPr>
              <a:spLocks noChangeArrowheads="1"/>
            </p:cNvSpPr>
            <p:nvPr/>
          </p:nvSpPr>
          <p:spPr bwMode="auto">
            <a:xfrm>
              <a:off x="384" y="2064"/>
              <a:ext cx="1584" cy="864"/>
            </a:xfrm>
            <a:prstGeom prst="rect">
              <a:avLst/>
            </a:prstGeom>
            <a:solidFill>
              <a:srgbClr val="3366FF"/>
            </a:solidFill>
            <a:ln w="28575">
              <a:solidFill>
                <a:schemeClr val="tx1"/>
              </a:solidFill>
              <a:miter lim="800000"/>
              <a:headEnd/>
              <a:tailEnd/>
            </a:ln>
          </p:spPr>
          <p:txBody>
            <a:bodyPr wrap="none"/>
            <a:lstStyle/>
            <a:p>
              <a:r>
                <a:rPr lang="pt-BR" sz="2400" b="1" dirty="0">
                  <a:solidFill>
                    <a:srgbClr val="FFFFFF"/>
                  </a:solidFill>
                  <a:effectLst>
                    <a:outerShdw blurRad="38100" dist="38100" dir="2700000" algn="tl">
                      <a:srgbClr val="000000">
                        <a:alpha val="43137"/>
                      </a:srgbClr>
                    </a:outerShdw>
                  </a:effectLst>
                </a:rPr>
                <a:t>Estoques</a:t>
              </a:r>
            </a:p>
            <a:p>
              <a:r>
                <a:rPr lang="pt-BR" sz="2000" b="1" dirty="0">
                  <a:solidFill>
                    <a:srgbClr val="FFFFFF"/>
                  </a:solidFill>
                  <a:effectLst>
                    <a:outerShdw blurRad="38100" dist="38100" dir="2700000" algn="tl">
                      <a:srgbClr val="000000">
                        <a:alpha val="43137"/>
                      </a:srgbClr>
                    </a:outerShdw>
                  </a:effectLst>
                </a:rPr>
                <a:t>Materiais Diretos</a:t>
              </a:r>
            </a:p>
            <a:p>
              <a:r>
                <a:rPr lang="pt-BR" b="1" dirty="0">
                  <a:solidFill>
                    <a:srgbClr val="FFFFFF"/>
                  </a:solidFill>
                  <a:effectLst>
                    <a:outerShdw blurRad="38100" dist="38100" dir="2700000" algn="tl">
                      <a:srgbClr val="000000">
                        <a:alpha val="43137"/>
                      </a:srgbClr>
                    </a:outerShdw>
                  </a:effectLst>
                </a:rPr>
                <a:t>Produtos em Elaboração</a:t>
              </a:r>
            </a:p>
            <a:p>
              <a:r>
                <a:rPr lang="pt-BR" sz="2000" b="1" dirty="0">
                  <a:solidFill>
                    <a:srgbClr val="FFFFFF"/>
                  </a:solidFill>
                  <a:effectLst>
                    <a:outerShdw blurRad="38100" dist="38100" dir="2700000" algn="tl">
                      <a:srgbClr val="000000">
                        <a:alpha val="43137"/>
                      </a:srgbClr>
                    </a:outerShdw>
                  </a:effectLst>
                </a:rPr>
                <a:t>Produtos Acabados</a:t>
              </a:r>
            </a:p>
          </p:txBody>
        </p:sp>
        <p:sp>
          <p:nvSpPr>
            <p:cNvPr id="22537" name="AutoShape 33"/>
            <p:cNvSpPr>
              <a:spLocks noChangeArrowheads="1"/>
            </p:cNvSpPr>
            <p:nvPr/>
          </p:nvSpPr>
          <p:spPr bwMode="auto">
            <a:xfrm>
              <a:off x="1056" y="1754"/>
              <a:ext cx="240" cy="240"/>
            </a:xfrm>
            <a:prstGeom prst="downArrow">
              <a:avLst>
                <a:gd name="adj1" fmla="val 50000"/>
                <a:gd name="adj2" fmla="val 25000"/>
              </a:avLst>
            </a:prstGeom>
            <a:solidFill>
              <a:schemeClr val="tx2"/>
            </a:solidFill>
            <a:ln w="9525">
              <a:solidFill>
                <a:schemeClr val="tx1"/>
              </a:solidFill>
              <a:miter lim="800000"/>
              <a:headEnd/>
              <a:tailEnd/>
            </a:ln>
          </p:spPr>
          <p:txBody>
            <a:bodyPr wrap="none" anchor="ctr"/>
            <a:lstStyle/>
            <a:p>
              <a:endParaRPr lang="pt-BR"/>
            </a:p>
          </p:txBody>
        </p:sp>
        <p:sp>
          <p:nvSpPr>
            <p:cNvPr id="22538" name="Rectangle 34"/>
            <p:cNvSpPr>
              <a:spLocks noChangeArrowheads="1"/>
            </p:cNvSpPr>
            <p:nvPr/>
          </p:nvSpPr>
          <p:spPr bwMode="auto">
            <a:xfrm>
              <a:off x="266" y="720"/>
              <a:ext cx="1824" cy="2304"/>
            </a:xfrm>
            <a:prstGeom prst="rect">
              <a:avLst/>
            </a:prstGeom>
            <a:noFill/>
            <a:ln w="28575">
              <a:solidFill>
                <a:schemeClr val="tx1"/>
              </a:solidFill>
              <a:prstDash val="dash"/>
              <a:miter lim="800000"/>
              <a:headEnd/>
              <a:tailEnd/>
            </a:ln>
          </p:spPr>
          <p:txBody>
            <a:bodyPr wrap="none" anchor="ctr"/>
            <a:lstStyle/>
            <a:p>
              <a:endParaRPr lang="pt-BR"/>
            </a:p>
          </p:txBody>
        </p:sp>
        <p:sp>
          <p:nvSpPr>
            <p:cNvPr id="22539" name="Text Box 35"/>
            <p:cNvSpPr txBox="1">
              <a:spLocks noChangeArrowheads="1"/>
            </p:cNvSpPr>
            <p:nvPr/>
          </p:nvSpPr>
          <p:spPr bwMode="auto">
            <a:xfrm>
              <a:off x="336" y="727"/>
              <a:ext cx="1609" cy="277"/>
            </a:xfrm>
            <a:prstGeom prst="rect">
              <a:avLst/>
            </a:prstGeom>
            <a:noFill/>
            <a:ln w="9525">
              <a:noFill/>
              <a:miter lim="800000"/>
              <a:headEnd/>
              <a:tailEnd/>
            </a:ln>
          </p:spPr>
          <p:txBody>
            <a:bodyPr wrap="none">
              <a:spAutoFit/>
            </a:bodyPr>
            <a:lstStyle/>
            <a:p>
              <a:pPr algn="ctr"/>
              <a:r>
                <a:rPr lang="pt-BR" sz="2400" b="1" u="sng" dirty="0"/>
                <a:t>Balanço Patrimonial</a:t>
              </a:r>
            </a:p>
          </p:txBody>
        </p:sp>
        <p:sp>
          <p:nvSpPr>
            <p:cNvPr id="22540" name="Rectangle 36"/>
            <p:cNvSpPr>
              <a:spLocks noChangeArrowheads="1"/>
            </p:cNvSpPr>
            <p:nvPr/>
          </p:nvSpPr>
          <p:spPr bwMode="auto">
            <a:xfrm>
              <a:off x="3168" y="1632"/>
              <a:ext cx="1728" cy="384"/>
            </a:xfrm>
            <a:prstGeom prst="rect">
              <a:avLst/>
            </a:prstGeom>
            <a:noFill/>
            <a:ln w="28575">
              <a:solidFill>
                <a:schemeClr val="tx1"/>
              </a:solidFill>
              <a:miter lim="800000"/>
              <a:headEnd/>
              <a:tailEnd/>
            </a:ln>
          </p:spPr>
          <p:txBody>
            <a:bodyPr wrap="none" anchor="ctr" anchorCtr="1"/>
            <a:lstStyle/>
            <a:p>
              <a:r>
                <a:rPr lang="pt-BR" sz="2000" b="1" dirty="0">
                  <a:effectLst>
                    <a:outerShdw blurRad="38100" dist="38100" dir="2700000" algn="tl">
                      <a:srgbClr val="000000">
                        <a:alpha val="43137"/>
                      </a:srgbClr>
                    </a:outerShdw>
                  </a:effectLst>
                </a:rPr>
                <a:t>(+) Receitas</a:t>
              </a:r>
              <a:endParaRPr lang="pt-BR" b="1" dirty="0">
                <a:effectLst>
                  <a:outerShdw blurRad="38100" dist="38100" dir="2700000" algn="tl">
                    <a:srgbClr val="000000">
                      <a:alpha val="43137"/>
                    </a:srgbClr>
                  </a:outerShdw>
                </a:effectLst>
              </a:endParaRPr>
            </a:p>
          </p:txBody>
        </p:sp>
        <p:sp>
          <p:nvSpPr>
            <p:cNvPr id="22541" name="Rectangle 37"/>
            <p:cNvSpPr>
              <a:spLocks noChangeArrowheads="1"/>
            </p:cNvSpPr>
            <p:nvPr/>
          </p:nvSpPr>
          <p:spPr bwMode="auto">
            <a:xfrm>
              <a:off x="3168" y="3504"/>
              <a:ext cx="1728" cy="384"/>
            </a:xfrm>
            <a:prstGeom prst="rect">
              <a:avLst/>
            </a:prstGeom>
            <a:noFill/>
            <a:ln w="28575">
              <a:solidFill>
                <a:schemeClr val="tx1"/>
              </a:solidFill>
              <a:miter lim="800000"/>
              <a:headEnd/>
              <a:tailEnd/>
            </a:ln>
          </p:spPr>
          <p:txBody>
            <a:bodyPr wrap="none" anchor="ctr" anchorCtr="1"/>
            <a:lstStyle/>
            <a:p>
              <a:r>
                <a:rPr lang="pt-BR" sz="2000" b="1" dirty="0">
                  <a:effectLst>
                    <a:outerShdw blurRad="38100" dist="38100" dir="2700000" algn="tl">
                      <a:srgbClr val="000000">
                        <a:alpha val="43137"/>
                      </a:srgbClr>
                    </a:outerShdw>
                  </a:effectLst>
                </a:rPr>
                <a:t>(=) Resultado</a:t>
              </a:r>
              <a:endParaRPr lang="pt-BR" b="1" dirty="0">
                <a:effectLst>
                  <a:outerShdw blurRad="38100" dist="38100" dir="2700000" algn="tl">
                    <a:srgbClr val="000000">
                      <a:alpha val="43137"/>
                    </a:srgbClr>
                  </a:outerShdw>
                </a:effectLst>
              </a:endParaRPr>
            </a:p>
          </p:txBody>
        </p:sp>
        <p:sp>
          <p:nvSpPr>
            <p:cNvPr id="22542" name="Rectangle 38"/>
            <p:cNvSpPr>
              <a:spLocks noChangeArrowheads="1"/>
            </p:cNvSpPr>
            <p:nvPr/>
          </p:nvSpPr>
          <p:spPr bwMode="auto">
            <a:xfrm>
              <a:off x="3168" y="3024"/>
              <a:ext cx="1728" cy="384"/>
            </a:xfrm>
            <a:prstGeom prst="rect">
              <a:avLst/>
            </a:prstGeom>
            <a:noFill/>
            <a:ln w="28575">
              <a:solidFill>
                <a:schemeClr val="tx1"/>
              </a:solidFill>
              <a:miter lim="800000"/>
              <a:headEnd/>
              <a:tailEnd/>
            </a:ln>
          </p:spPr>
          <p:txBody>
            <a:bodyPr wrap="none" anchor="ctr" anchorCtr="1"/>
            <a:lstStyle/>
            <a:p>
              <a:r>
                <a:rPr lang="pt-BR" b="1" dirty="0">
                  <a:solidFill>
                    <a:srgbClr val="FF0000"/>
                  </a:solidFill>
                  <a:effectLst>
                    <a:outerShdw blurRad="38100" dist="38100" dir="2700000" algn="tl">
                      <a:srgbClr val="000000">
                        <a:alpha val="43137"/>
                      </a:srgbClr>
                    </a:outerShdw>
                  </a:effectLst>
                </a:rPr>
                <a:t>(-) Despesas</a:t>
              </a:r>
              <a:endParaRPr lang="pt-BR" sz="1600" b="1" dirty="0">
                <a:solidFill>
                  <a:srgbClr val="FF0000"/>
                </a:solidFill>
                <a:effectLst>
                  <a:outerShdw blurRad="38100" dist="38100" dir="2700000" algn="tl">
                    <a:srgbClr val="000000">
                      <a:alpha val="43137"/>
                    </a:srgbClr>
                  </a:outerShdw>
                </a:effectLst>
              </a:endParaRPr>
            </a:p>
          </p:txBody>
        </p:sp>
        <p:sp>
          <p:nvSpPr>
            <p:cNvPr id="22543" name="Rectangle 39"/>
            <p:cNvSpPr>
              <a:spLocks noChangeArrowheads="1"/>
            </p:cNvSpPr>
            <p:nvPr/>
          </p:nvSpPr>
          <p:spPr bwMode="auto">
            <a:xfrm>
              <a:off x="3168" y="2112"/>
              <a:ext cx="1728" cy="816"/>
            </a:xfrm>
            <a:prstGeom prst="rect">
              <a:avLst/>
            </a:prstGeom>
            <a:solidFill>
              <a:srgbClr val="3366FF"/>
            </a:solidFill>
            <a:ln w="28575">
              <a:solidFill>
                <a:schemeClr val="tx1"/>
              </a:solidFill>
              <a:miter lim="800000"/>
              <a:headEnd/>
              <a:tailEnd/>
            </a:ln>
          </p:spPr>
          <p:txBody>
            <a:bodyPr wrap="none"/>
            <a:lstStyle/>
            <a:p>
              <a:r>
                <a:rPr lang="pt-BR" sz="2000" b="1" dirty="0">
                  <a:solidFill>
                    <a:srgbClr val="FFFFFF"/>
                  </a:solidFill>
                </a:rPr>
                <a:t>(-) </a:t>
              </a:r>
              <a:r>
                <a:rPr lang="pt-BR" sz="2400" b="1" dirty="0">
                  <a:solidFill>
                    <a:srgbClr val="FFFFFF"/>
                  </a:solidFill>
                </a:rPr>
                <a:t>Custos do DRE</a:t>
              </a:r>
            </a:p>
            <a:p>
              <a:r>
                <a:rPr lang="pt-BR" sz="2000" b="1" dirty="0">
                  <a:solidFill>
                    <a:srgbClr val="FFFFFF"/>
                  </a:solidFill>
                </a:rPr>
                <a:t>CMV</a:t>
              </a:r>
            </a:p>
            <a:p>
              <a:r>
                <a:rPr lang="pt-BR" sz="2000" b="1" dirty="0">
                  <a:solidFill>
                    <a:srgbClr val="FFFFFF"/>
                  </a:solidFill>
                </a:rPr>
                <a:t>CPV</a:t>
              </a:r>
            </a:p>
            <a:p>
              <a:r>
                <a:rPr lang="pt-BR" sz="2000" b="1" dirty="0">
                  <a:solidFill>
                    <a:srgbClr val="FFFFFF"/>
                  </a:solidFill>
                </a:rPr>
                <a:t>CSP</a:t>
              </a:r>
              <a:endParaRPr lang="pt-BR" b="1" dirty="0">
                <a:solidFill>
                  <a:srgbClr val="FFFFFF"/>
                </a:solidFill>
              </a:endParaRPr>
            </a:p>
          </p:txBody>
        </p:sp>
        <p:sp>
          <p:nvSpPr>
            <p:cNvPr id="22544" name="Rectangle 40"/>
            <p:cNvSpPr>
              <a:spLocks noChangeArrowheads="1"/>
            </p:cNvSpPr>
            <p:nvPr/>
          </p:nvSpPr>
          <p:spPr bwMode="auto">
            <a:xfrm>
              <a:off x="3086" y="1056"/>
              <a:ext cx="2016" cy="2880"/>
            </a:xfrm>
            <a:prstGeom prst="rect">
              <a:avLst/>
            </a:prstGeom>
            <a:noFill/>
            <a:ln w="28575">
              <a:solidFill>
                <a:schemeClr val="tx1"/>
              </a:solidFill>
              <a:prstDash val="sysDot"/>
              <a:miter lim="800000"/>
              <a:headEnd/>
              <a:tailEnd/>
            </a:ln>
          </p:spPr>
          <p:txBody>
            <a:bodyPr wrap="none" anchor="ctr"/>
            <a:lstStyle/>
            <a:p>
              <a:endParaRPr lang="pt-BR"/>
            </a:p>
          </p:txBody>
        </p:sp>
        <p:sp>
          <p:nvSpPr>
            <p:cNvPr id="22545" name="Text Box 41"/>
            <p:cNvSpPr txBox="1">
              <a:spLocks noChangeArrowheads="1"/>
            </p:cNvSpPr>
            <p:nvPr/>
          </p:nvSpPr>
          <p:spPr bwMode="auto">
            <a:xfrm>
              <a:off x="3188" y="1050"/>
              <a:ext cx="1784" cy="498"/>
            </a:xfrm>
            <a:prstGeom prst="rect">
              <a:avLst/>
            </a:prstGeom>
            <a:noFill/>
            <a:ln w="9525">
              <a:noFill/>
              <a:miter lim="800000"/>
              <a:headEnd/>
              <a:tailEnd/>
            </a:ln>
          </p:spPr>
          <p:txBody>
            <a:bodyPr wrap="none">
              <a:spAutoFit/>
            </a:bodyPr>
            <a:lstStyle/>
            <a:p>
              <a:pPr algn="ctr"/>
              <a:r>
                <a:rPr lang="pt-BR" sz="2400" b="1" u="sng" dirty="0">
                  <a:effectLst>
                    <a:outerShdw blurRad="38100" dist="38100" dir="2700000" algn="tl">
                      <a:srgbClr val="000000">
                        <a:alpha val="43137"/>
                      </a:srgbClr>
                    </a:outerShdw>
                  </a:effectLst>
                </a:rPr>
                <a:t>Demonstrativo de</a:t>
              </a:r>
            </a:p>
            <a:p>
              <a:pPr algn="ctr"/>
              <a:r>
                <a:rPr lang="pt-BR" sz="2400" b="1" u="sng" dirty="0">
                  <a:effectLst>
                    <a:outerShdw blurRad="38100" dist="38100" dir="2700000" algn="tl">
                      <a:srgbClr val="000000">
                        <a:alpha val="43137"/>
                      </a:srgbClr>
                    </a:outerShdw>
                  </a:effectLst>
                </a:rPr>
                <a:t>Resultado do Exercício</a:t>
              </a:r>
            </a:p>
          </p:txBody>
        </p:sp>
        <p:sp>
          <p:nvSpPr>
            <p:cNvPr id="22546" name="AutoShape 42"/>
            <p:cNvSpPr>
              <a:spLocks noChangeArrowheads="1"/>
            </p:cNvSpPr>
            <p:nvPr/>
          </p:nvSpPr>
          <p:spPr bwMode="auto">
            <a:xfrm>
              <a:off x="2016" y="2094"/>
              <a:ext cx="1104" cy="336"/>
            </a:xfrm>
            <a:prstGeom prst="rightArrow">
              <a:avLst>
                <a:gd name="adj1" fmla="val 50000"/>
                <a:gd name="adj2" fmla="val 82143"/>
              </a:avLst>
            </a:prstGeom>
            <a:solidFill>
              <a:srgbClr val="0000FF"/>
            </a:solidFill>
            <a:ln w="9525">
              <a:solidFill>
                <a:schemeClr val="tx1"/>
              </a:solidFill>
              <a:miter lim="800000"/>
              <a:headEnd/>
              <a:tailEnd/>
            </a:ln>
          </p:spPr>
          <p:txBody>
            <a:bodyPr wrap="none" anchor="ctr"/>
            <a:lstStyle/>
            <a:p>
              <a:endParaRPr lang="pt-BR"/>
            </a:p>
          </p:txBody>
        </p:sp>
      </p:grpSp>
      <p:sp>
        <p:nvSpPr>
          <p:cNvPr id="19" name="Rectangle 31"/>
          <p:cNvSpPr>
            <a:spLocks noChangeArrowheads="1"/>
          </p:cNvSpPr>
          <p:nvPr/>
        </p:nvSpPr>
        <p:spPr bwMode="auto">
          <a:xfrm>
            <a:off x="2239496" y="5363288"/>
            <a:ext cx="1893888" cy="990600"/>
          </a:xfrm>
          <a:prstGeom prst="rect">
            <a:avLst/>
          </a:prstGeom>
          <a:solidFill>
            <a:srgbClr val="3366FF"/>
          </a:solidFill>
          <a:ln w="28575">
            <a:solidFill>
              <a:schemeClr val="tx1"/>
            </a:solidFill>
            <a:miter lim="800000"/>
            <a:headEnd/>
            <a:tailEnd/>
          </a:ln>
        </p:spPr>
        <p:txBody>
          <a:bodyPr wrap="none"/>
          <a:lstStyle/>
          <a:p>
            <a:pPr algn="ctr"/>
            <a:r>
              <a:rPr lang="pt-BR" sz="2400" b="1" dirty="0" smtClean="0">
                <a:solidFill>
                  <a:srgbClr val="FFFFFF"/>
                </a:solidFill>
              </a:rPr>
              <a:t>VISAO IPI</a:t>
            </a:r>
          </a:p>
          <a:p>
            <a:pPr algn="ctr"/>
            <a:r>
              <a:rPr lang="pt-BR" sz="2400" b="1" dirty="0" smtClean="0">
                <a:solidFill>
                  <a:srgbClr val="FFFFFF"/>
                </a:solidFill>
              </a:rPr>
              <a:t> INSUMOS</a:t>
            </a:r>
            <a:endParaRPr lang="pt-BR" b="1" dirty="0">
              <a:solidFill>
                <a:srgbClr val="FFFFFF"/>
              </a:solidFill>
            </a:endParaRPr>
          </a:p>
        </p:txBody>
      </p:sp>
      <p:sp>
        <p:nvSpPr>
          <p:cNvPr id="20" name="AutoShape 42"/>
          <p:cNvSpPr>
            <a:spLocks noChangeArrowheads="1"/>
          </p:cNvSpPr>
          <p:nvPr/>
        </p:nvSpPr>
        <p:spPr bwMode="auto">
          <a:xfrm rot="19883114">
            <a:off x="4275345" y="4788788"/>
            <a:ext cx="1746391" cy="533400"/>
          </a:xfrm>
          <a:prstGeom prst="rightArrow">
            <a:avLst>
              <a:gd name="adj1" fmla="val 50000"/>
              <a:gd name="adj2" fmla="val 82143"/>
            </a:avLst>
          </a:prstGeom>
          <a:solidFill>
            <a:srgbClr val="0000FF"/>
          </a:solidFill>
          <a:ln w="9525">
            <a:solidFill>
              <a:schemeClr val="tx1"/>
            </a:solidFill>
            <a:miter lim="800000"/>
            <a:headEnd/>
            <a:tailEnd/>
          </a:ln>
        </p:spPr>
        <p:txBody>
          <a:bodyPr wrap="none" anchor="ctr"/>
          <a:lstStyle/>
          <a:p>
            <a:endParaRPr lang="pt-BR"/>
          </a:p>
        </p:txBody>
      </p:sp>
      <p:sp>
        <p:nvSpPr>
          <p:cNvPr id="4" name="Semicírculos 3"/>
          <p:cNvSpPr/>
          <p:nvPr/>
        </p:nvSpPr>
        <p:spPr>
          <a:xfrm rot="5572342">
            <a:off x="8294092" y="4165500"/>
            <a:ext cx="1474035" cy="1511807"/>
          </a:xfrm>
          <a:prstGeom prst="blockArc">
            <a:avLst>
              <a:gd name="adj1" fmla="val 10331082"/>
              <a:gd name="adj2" fmla="val 0"/>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26" name="Rectangle 31"/>
          <p:cNvSpPr>
            <a:spLocks noChangeArrowheads="1"/>
          </p:cNvSpPr>
          <p:nvPr/>
        </p:nvSpPr>
        <p:spPr bwMode="auto">
          <a:xfrm>
            <a:off x="10033509" y="2176317"/>
            <a:ext cx="1866899" cy="990600"/>
          </a:xfrm>
          <a:prstGeom prst="rect">
            <a:avLst/>
          </a:prstGeom>
          <a:solidFill>
            <a:srgbClr val="3366FF"/>
          </a:solidFill>
          <a:ln w="28575">
            <a:solidFill>
              <a:schemeClr val="tx1"/>
            </a:solidFill>
            <a:miter lim="800000"/>
            <a:headEnd/>
            <a:tailEnd/>
          </a:ln>
        </p:spPr>
        <p:txBody>
          <a:bodyPr wrap="none"/>
          <a:lstStyle/>
          <a:p>
            <a:pPr algn="ctr"/>
            <a:r>
              <a:rPr lang="pt-BR" sz="2400" b="1" dirty="0" smtClean="0">
                <a:solidFill>
                  <a:srgbClr val="FFFFFF"/>
                </a:solidFill>
              </a:rPr>
              <a:t>VISAO IRPJ </a:t>
            </a:r>
          </a:p>
          <a:p>
            <a:pPr algn="ctr"/>
            <a:r>
              <a:rPr lang="pt-BR" sz="2400" b="1" dirty="0" smtClean="0">
                <a:solidFill>
                  <a:srgbClr val="FFFFFF"/>
                </a:solidFill>
              </a:rPr>
              <a:t>INSUMOS</a:t>
            </a:r>
            <a:endParaRPr lang="pt-BR" dirty="0">
              <a:solidFill>
                <a:srgbClr val="FFFFFF"/>
              </a:solidFill>
            </a:endParaRPr>
          </a:p>
        </p:txBody>
      </p:sp>
      <p:sp>
        <p:nvSpPr>
          <p:cNvPr id="27" name="AutoShape 42"/>
          <p:cNvSpPr>
            <a:spLocks noChangeArrowheads="1"/>
          </p:cNvSpPr>
          <p:nvPr/>
        </p:nvSpPr>
        <p:spPr bwMode="auto">
          <a:xfrm rot="8122663">
            <a:off x="9265375" y="3582698"/>
            <a:ext cx="1493934" cy="533400"/>
          </a:xfrm>
          <a:prstGeom prst="rightArrow">
            <a:avLst>
              <a:gd name="adj1" fmla="val 50000"/>
              <a:gd name="adj2" fmla="val 82143"/>
            </a:avLst>
          </a:prstGeom>
          <a:solidFill>
            <a:srgbClr val="0000FF"/>
          </a:solidFill>
          <a:ln w="9525">
            <a:solidFill>
              <a:schemeClr val="tx1"/>
            </a:solidFill>
            <a:miter lim="800000"/>
            <a:headEnd/>
            <a:tailEnd/>
          </a:ln>
        </p:spPr>
        <p:txBody>
          <a:bodyPr wrap="none" anchor="ctr"/>
          <a:lstStyle/>
          <a:p>
            <a:endParaRPr lang="pt-BR"/>
          </a:p>
        </p:txBody>
      </p:sp>
    </p:spTree>
    <p:extLst>
      <p:ext uri="{BB962C8B-B14F-4D97-AF65-F5344CB8AC3E}">
        <p14:creationId xmlns:p14="http://schemas.microsoft.com/office/powerpoint/2010/main" val="1610544206"/>
      </p:ext>
    </p:extLst>
  </p:cSld>
  <p:clrMapOvr>
    <a:masterClrMapping/>
  </p:clrMapOvr>
  <mc:AlternateContent xmlns:mc="http://schemas.openxmlformats.org/markup-compatibility/2006" xmlns:p14="http://schemas.microsoft.com/office/powerpoint/2010/main">
    <mc:Choice Requires="p14">
      <p:transition spd="slow" p14:dur="1400" advClick="0">
        <p14:ripple/>
      </p:transition>
    </mc:Choice>
    <mc:Fallback xmlns="">
      <p:transition spd="slow" advClick="0">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794074" y="476518"/>
            <a:ext cx="10500698" cy="5629239"/>
          </a:xfrm>
        </p:spPr>
        <p:txBody>
          <a:bodyPr>
            <a:noAutofit/>
          </a:bodyPr>
          <a:lstStyle/>
          <a:p>
            <a:r>
              <a:rPr lang="pt-BR" sz="3200" b="1" dirty="0">
                <a:latin typeface="Times New Roman" panose="02020603050405020304" pitchFamily="18" charset="0"/>
                <a:cs typeface="Times New Roman" panose="02020603050405020304" pitchFamily="18" charset="0"/>
              </a:rPr>
              <a:t>Insumo – </a:t>
            </a:r>
            <a:r>
              <a:rPr lang="pt-BR" sz="3600" b="1" dirty="0">
                <a:latin typeface="Times New Roman" panose="02020603050405020304" pitchFamily="18" charset="0"/>
                <a:cs typeface="Times New Roman" panose="02020603050405020304" pitchFamily="18" charset="0"/>
              </a:rPr>
              <a:t>Legislação do IRPJ</a:t>
            </a:r>
          </a:p>
          <a:p>
            <a:endParaRPr lang="pt-BR" sz="2000" b="1" dirty="0" smtClean="0"/>
          </a:p>
          <a:p>
            <a:pPr marL="0" indent="0">
              <a:buNone/>
            </a:pPr>
            <a:r>
              <a:rPr lang="pt-BR" sz="2000" b="1" dirty="0" smtClean="0">
                <a:latin typeface="Times New Roman" panose="02020603050405020304" pitchFamily="18" charset="0"/>
                <a:cs typeface="Times New Roman" panose="02020603050405020304" pitchFamily="18" charset="0"/>
              </a:rPr>
              <a:t>• </a:t>
            </a:r>
            <a:r>
              <a:rPr lang="pt-BR" sz="3200" b="1" dirty="0">
                <a:latin typeface="Times New Roman" panose="02020603050405020304" pitchFamily="18" charset="0"/>
                <a:cs typeface="Times New Roman" panose="02020603050405020304" pitchFamily="18" charset="0"/>
              </a:rPr>
              <a:t>Decreto nº 3.000/1999 </a:t>
            </a:r>
            <a:r>
              <a:rPr lang="pt-BR" sz="3200" b="1" dirty="0" smtClean="0">
                <a:latin typeface="Times New Roman" panose="02020603050405020304" pitchFamily="18" charset="0"/>
                <a:cs typeface="Times New Roman" panose="02020603050405020304" pitchFamily="18" charset="0"/>
              </a:rPr>
              <a:t>– RIR</a:t>
            </a:r>
          </a:p>
          <a:p>
            <a:endParaRPr lang="pt-BR" sz="3200" b="1" dirty="0">
              <a:latin typeface="Times New Roman" panose="02020603050405020304" pitchFamily="18" charset="0"/>
              <a:cs typeface="Times New Roman" panose="02020603050405020304" pitchFamily="18" charset="0"/>
            </a:endParaRPr>
          </a:p>
          <a:p>
            <a:pPr algn="just"/>
            <a:r>
              <a:rPr lang="pt-BR" sz="3200" b="1" dirty="0">
                <a:latin typeface="Times New Roman" panose="02020603050405020304" pitchFamily="18" charset="0"/>
                <a:cs typeface="Times New Roman" panose="02020603050405020304" pitchFamily="18" charset="0"/>
              </a:rPr>
              <a:t>• Art. 289. O custo das mercadorias revendidas e das matérias-primas utilizadas será determinado </a:t>
            </a:r>
            <a:r>
              <a:rPr lang="pt-BR" sz="3200" b="1" dirty="0" smtClean="0">
                <a:latin typeface="Times New Roman" panose="02020603050405020304" pitchFamily="18" charset="0"/>
                <a:cs typeface="Times New Roman" panose="02020603050405020304" pitchFamily="18" charset="0"/>
              </a:rPr>
              <a:t>com base </a:t>
            </a:r>
            <a:r>
              <a:rPr lang="pt-BR" sz="3200" b="1" dirty="0">
                <a:latin typeface="Times New Roman" panose="02020603050405020304" pitchFamily="18" charset="0"/>
                <a:cs typeface="Times New Roman" panose="02020603050405020304" pitchFamily="18" charset="0"/>
              </a:rPr>
              <a:t>em registro permanente de estoques ou no valor dos estoques existentes, de acordo com o Livro </a:t>
            </a:r>
            <a:r>
              <a:rPr lang="pt-BR" sz="3200" b="1" dirty="0" smtClean="0">
                <a:latin typeface="Times New Roman" panose="02020603050405020304" pitchFamily="18" charset="0"/>
                <a:cs typeface="Times New Roman" panose="02020603050405020304" pitchFamily="18" charset="0"/>
              </a:rPr>
              <a:t>de Inventário</a:t>
            </a:r>
            <a:r>
              <a:rPr lang="pt-BR" sz="3200" b="1" dirty="0">
                <a:latin typeface="Times New Roman" panose="02020603050405020304" pitchFamily="18" charset="0"/>
                <a:cs typeface="Times New Roman" panose="02020603050405020304" pitchFamily="18" charset="0"/>
              </a:rPr>
              <a:t>, no fim do período de </a:t>
            </a:r>
            <a:r>
              <a:rPr lang="pt-BR" sz="3200" b="1" dirty="0" smtClean="0">
                <a:latin typeface="Times New Roman" panose="02020603050405020304" pitchFamily="18" charset="0"/>
                <a:cs typeface="Times New Roman" panose="02020603050405020304" pitchFamily="18" charset="0"/>
              </a:rPr>
              <a:t>apuração</a:t>
            </a:r>
          </a:p>
          <a:p>
            <a:endParaRPr lang="pt-BR" sz="1100" b="1" dirty="0"/>
          </a:p>
        </p:txBody>
      </p:sp>
    </p:spTree>
    <p:extLst>
      <p:ext uri="{BB962C8B-B14F-4D97-AF65-F5344CB8AC3E}">
        <p14:creationId xmlns:p14="http://schemas.microsoft.com/office/powerpoint/2010/main" val="365816246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399245" y="103031"/>
            <a:ext cx="11792755" cy="5629239"/>
          </a:xfrm>
        </p:spPr>
        <p:txBody>
          <a:bodyPr>
            <a:noAutofit/>
          </a:bodyPr>
          <a:lstStyle/>
          <a:p>
            <a:pPr algn="ct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Insumo – </a:t>
            </a:r>
            <a:r>
              <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Legislação do IRPJ</a:t>
            </a:r>
          </a:p>
          <a:p>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Decreto </a:t>
            </a:r>
            <a:r>
              <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nº 3.000/1999 - RIR</a:t>
            </a:r>
          </a:p>
          <a:p>
            <a:endParaRPr lang="pt-BR" sz="400" b="1" dirty="0">
              <a:latin typeface="Times New Roman" panose="02020603050405020304" pitchFamily="18" charset="0"/>
              <a:cs typeface="Times New Roman" panose="02020603050405020304" pitchFamily="18" charset="0"/>
            </a:endParaRPr>
          </a:p>
          <a:p>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Art</a:t>
            </a:r>
            <a:r>
              <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290. O custo de produção dos bens ou serviços vendidos compreenderá, obrigatoriamente</a:t>
            </a:r>
          </a:p>
          <a:p>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 </a:t>
            </a:r>
            <a:r>
              <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 custo de aquisição de matérias-primas e quaisquer outros bens ou serviços aplicados ou </a:t>
            </a:r>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consumidos na </a:t>
            </a:r>
            <a:r>
              <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produção, observado o disposto no artigo anterior;</a:t>
            </a:r>
          </a:p>
          <a:p>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II </a:t>
            </a:r>
            <a:r>
              <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 custo do pessoal aplicado na produção, inclusive de supervisão direta, manutenção e guarda </a:t>
            </a:r>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das instalações </a:t>
            </a:r>
            <a:r>
              <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 produção;</a:t>
            </a:r>
          </a:p>
          <a:p>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III </a:t>
            </a:r>
            <a:r>
              <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os custos de locação, manutenção e reparo e os encargos de depreciação dos bens aplicados </a:t>
            </a:r>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na produção</a:t>
            </a:r>
            <a:r>
              <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IV </a:t>
            </a:r>
            <a:r>
              <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os encargos de amortização diretamente relacionados com a produção;</a:t>
            </a:r>
          </a:p>
          <a:p>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 </a:t>
            </a:r>
            <a:r>
              <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os encargos de exaustão dos recursos naturais utilizados na produção</a:t>
            </a:r>
            <a:r>
              <a:rPr lang="pt-BR" sz="3200" b="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254590859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677333" y="746975"/>
            <a:ext cx="11227120" cy="5294388"/>
          </a:xfrm>
        </p:spPr>
        <p:txBody>
          <a:bodyPr>
            <a:normAutofit fontScale="85000" lnSpcReduction="20000"/>
          </a:bodyPr>
          <a:lstStyle/>
          <a:p>
            <a:r>
              <a:rPr lang="pt-BR" sz="41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Decreto nº 3.000/1999 </a:t>
            </a:r>
            <a:r>
              <a:rPr lang="pt-BR" sz="41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RIR</a:t>
            </a:r>
          </a:p>
          <a:p>
            <a:endParaRPr lang="pt-BR" b="1" dirty="0">
              <a:latin typeface="Times New Roman" panose="02020603050405020304" pitchFamily="18" charset="0"/>
              <a:cs typeface="Times New Roman" panose="02020603050405020304" pitchFamily="18" charset="0"/>
            </a:endParaRPr>
          </a:p>
          <a:p>
            <a:pPr marL="457200" lvl="1" indent="0" algn="just">
              <a:buNone/>
            </a:pPr>
            <a:r>
              <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Art. 299. São operacionais as despesas não computadas nos custos, necessárias à atividade </a:t>
            </a: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 empresa </a:t>
            </a:r>
            <a:r>
              <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 à manutenção da respectiva fonte produtora (</a:t>
            </a: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Lei nº </a:t>
            </a:r>
            <a:r>
              <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4.506, de 1964, art. 47</a:t>
            </a: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457200" lvl="1" indent="0" algn="just">
              <a:buNone/>
            </a:pPr>
            <a:endPar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457200" lvl="1" indent="0" algn="just">
              <a:buNone/>
            </a:pPr>
            <a:r>
              <a:rPr lang="pt-BR" sz="35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1º São necessárias as despesas pagas ou incorridas para a realização das transações ou operações exigidas pela atividade da empresa (Lei nº 4.506, de 1964, art. 47, § 1º).</a:t>
            </a:r>
          </a:p>
          <a:p>
            <a:pPr marL="457200" lvl="1" indent="0" algn="just">
              <a:buNone/>
            </a:pPr>
            <a:r>
              <a:rPr lang="pt-BR" sz="35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pt-BR" sz="35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2º As despesas operacionais admitidas são as usuais ou normais no tipo de transações, operações </a:t>
            </a:r>
            <a:r>
              <a:rPr lang="pt-BR" sz="35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 atividades </a:t>
            </a:r>
            <a:r>
              <a:rPr lang="pt-BR" sz="35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 empresa (Lei nº 4.506, de 1964, art. 47, § 2º).</a:t>
            </a:r>
          </a:p>
          <a:p>
            <a:pPr marL="457200" lvl="1" indent="0" algn="just">
              <a:buNone/>
            </a:pPr>
            <a:r>
              <a:rPr lang="pt-BR" sz="35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pt-BR" sz="35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3º O disposto neste artigo aplica-se também às gratificações pagas aos empregados, seja qual for </a:t>
            </a:r>
            <a:r>
              <a:rPr lang="pt-BR" sz="35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designação </a:t>
            </a:r>
            <a:r>
              <a:rPr lang="pt-BR" sz="35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 tiverem.</a:t>
            </a:r>
          </a:p>
          <a:p>
            <a:pPr lvl="1"/>
            <a:endParaRPr lang="pt-BR" dirty="0"/>
          </a:p>
        </p:txBody>
      </p:sp>
    </p:spTree>
    <p:extLst>
      <p:ext uri="{BB962C8B-B14F-4D97-AF65-F5344CB8AC3E}">
        <p14:creationId xmlns:p14="http://schemas.microsoft.com/office/powerpoint/2010/main" val="315731650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0" y="315884"/>
            <a:ext cx="11975869" cy="5817274"/>
          </a:xfrm>
        </p:spPr>
        <p:txBody>
          <a:bodyPr>
            <a:noAutofit/>
          </a:bodyPr>
          <a:lstStyle/>
          <a:p>
            <a:pPr marL="0" indent="0" algn="ctr">
              <a:buNone/>
            </a:pPr>
            <a:r>
              <a:rPr lang="pt-BR" sz="4000" b="1" u="sng" dirty="0">
                <a:effectLst>
                  <a:outerShdw blurRad="38100" dist="38100" dir="2700000" algn="tl">
                    <a:srgbClr val="000000">
                      <a:alpha val="43137"/>
                    </a:srgbClr>
                  </a:outerShdw>
                </a:effectLst>
              </a:rPr>
              <a:t>A Jurisprudência do </a:t>
            </a:r>
            <a:r>
              <a:rPr lang="pt-BR" sz="4000" b="1" u="sng" dirty="0" smtClean="0">
                <a:effectLst>
                  <a:outerShdw blurRad="38100" dist="38100" dir="2700000" algn="tl">
                    <a:srgbClr val="000000">
                      <a:alpha val="43137"/>
                    </a:srgbClr>
                  </a:outerShdw>
                </a:effectLst>
              </a:rPr>
              <a:t>CARF</a:t>
            </a:r>
          </a:p>
          <a:p>
            <a:pPr marL="0" indent="0" algn="ctr">
              <a:buNone/>
            </a:pPr>
            <a:endParaRPr lang="pt-BR" sz="4000" b="1" u="sng" dirty="0">
              <a:effectLst>
                <a:outerShdw blurRad="38100" dist="38100" dir="2700000" algn="tl">
                  <a:srgbClr val="000000">
                    <a:alpha val="43137"/>
                  </a:srgbClr>
                </a:outerShdw>
              </a:effectLst>
            </a:endParaRPr>
          </a:p>
          <a:p>
            <a:pPr marL="0" indent="0">
              <a:buNone/>
            </a:pPr>
            <a:r>
              <a:rPr lang="pt-BR" sz="3600" b="1" dirty="0" smtClean="0">
                <a:effectLst>
                  <a:outerShdw blurRad="38100" dist="38100" dir="2700000" algn="tl">
                    <a:srgbClr val="000000">
                      <a:alpha val="43137"/>
                    </a:srgbClr>
                  </a:outerShdw>
                </a:effectLst>
              </a:rPr>
              <a:t> </a:t>
            </a:r>
            <a:r>
              <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TRÊS POSSIBILIDADES DE INTERPRETAÇÃO</a:t>
            </a:r>
          </a:p>
          <a:p>
            <a:pPr marL="0" indent="0">
              <a:buNone/>
            </a:pPr>
            <a:r>
              <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1) mais restritiva</a:t>
            </a: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lvl="2"/>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cf</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 IPI (</a:t>
            </a:r>
            <a:r>
              <a:rPr lang="pt-BR"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SRF 247/2002, art. 66, § 5º, e 404/2004, art. 8º, §</a:t>
            </a:r>
          </a:p>
          <a:p>
            <a:pPr lvl="2"/>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4º; PN CST 65/79</a:t>
            </a: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1"/>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MP, PI, MI e outros bens que sofram alterações (desgaste, dano ou perda </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 propriedades </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físicas ou químicas), em função da ação diretamente exercida </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sobre o </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produto em fabricação</a:t>
            </a:r>
          </a:p>
          <a:p>
            <a:pPr marL="0" indent="0">
              <a:buNone/>
            </a:pPr>
            <a:r>
              <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2) Mais Ampla, </a:t>
            </a:r>
            <a:endPar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2"/>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cf</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 IRPJ</a:t>
            </a: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a:t>
            </a:r>
            <a:r>
              <a:rPr lang="pt-BR"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toda despesa necessária às atividades da </a:t>
            </a:r>
            <a:r>
              <a:rPr lang="pt-BR" sz="24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PJ</a:t>
            </a:r>
          </a:p>
          <a:p>
            <a:pPr marL="0" indent="0">
              <a:buNone/>
            </a:pP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3) meio-termo</a:t>
            </a:r>
            <a:endPar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207702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heel(1)">
                                      <p:cBhvr>
                                        <p:cTn id="7" dur="2000"/>
                                        <p:tgtEl>
                                          <p:spTgt spid="3">
                                            <p:txEl>
                                              <p:pRg st="3" end="3"/>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heel(1)">
                                      <p:cBhvr>
                                        <p:cTn id="10" dur="2000"/>
                                        <p:tgtEl>
                                          <p:spTgt spid="3">
                                            <p:txEl>
                                              <p:pRg st="4" end="4"/>
                                            </p:txEl>
                                          </p:spTgt>
                                        </p:tgtEl>
                                      </p:cBhvr>
                                    </p:animEffect>
                                  </p:childTnLst>
                                </p:cTn>
                              </p:par>
                              <p:par>
                                <p:cTn id="11" presetID="21" presetClass="entr" presetSubtype="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wheel(1)">
                                      <p:cBhvr>
                                        <p:cTn id="13" dur="20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nodeType="click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 calcmode="lin" valueType="num">
                                      <p:cBhvr>
                                        <p:cTn id="18"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7" end="7"/>
                                            </p:txEl>
                                          </p:spTgt>
                                        </p:tgtEl>
                                        <p:attrNameLst>
                                          <p:attrName>ppt_h</p:attrName>
                                        </p:attrNameLst>
                                      </p:cBhvr>
                                      <p:tavLst>
                                        <p:tav tm="0">
                                          <p:val>
                                            <p:strVal val="#ppt_h"/>
                                          </p:val>
                                        </p:tav>
                                        <p:tav tm="100000">
                                          <p:val>
                                            <p:strVal val="#ppt_h"/>
                                          </p:val>
                                        </p:tav>
                                      </p:tavLst>
                                    </p:anim>
                                  </p:childTnLst>
                                </p:cTn>
                              </p:par>
                              <p:par>
                                <p:cTn id="20" presetID="17" presetClass="entr" presetSubtype="1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 calcmode="lin" valueType="num">
                                      <p:cBhvr>
                                        <p:cTn id="22" dur="500" fill="hold"/>
                                        <p:tgtEl>
                                          <p:spTgt spid="3">
                                            <p:txEl>
                                              <p:pRg st="8" end="8"/>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8" end="8"/>
                                            </p:txEl>
                                          </p:spTgt>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 calcmode="lin" valueType="num">
                                      <p:cBhvr additive="base">
                                        <p:cTn id="28"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0" presetID="21" presetClass="entr" presetSubtype="1"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heel(1)">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540913" y="2169251"/>
            <a:ext cx="10805374" cy="4000900"/>
          </a:xfrm>
        </p:spPr>
        <p:txBody>
          <a:bodyPr>
            <a:noAutofit/>
          </a:bodyPr>
          <a:lstStyle/>
          <a:p>
            <a:pPr algn="just"/>
            <a:r>
              <a:rPr lang="pt-BR" b="1" dirty="0" smtClean="0">
                <a:latin typeface="Times New Roman" panose="02020603050405020304" pitchFamily="18" charset="0"/>
                <a:cs typeface="Times New Roman" panose="02020603050405020304" pitchFamily="18" charset="0"/>
              </a:rPr>
              <a:t>3 </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pt-BR" sz="32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São </a:t>
            </a:r>
            <a:r>
              <a:rPr lang="pt-BR" sz="32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ilegais</a:t>
            </a:r>
            <a:r>
              <a:rPr lang="pt-BR" sz="32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 art. 66, §5º, I, "a" e "b", da Instrução Normativa SRF n. 247/2002 - Pis/Pasep (alterada </a:t>
            </a:r>
            <a:r>
              <a:rPr lang="pt-BR" sz="32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pela Instrução </a:t>
            </a:r>
            <a:r>
              <a:rPr lang="pt-BR" sz="32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Normativa SRF n. 358/2003) e o art. 8º, §4º, I, "a" e "b", da Instrução Normativa SRF n</a:t>
            </a:r>
            <a:r>
              <a:rPr lang="pt-BR" sz="32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404/2004 </a:t>
            </a:r>
            <a:r>
              <a:rPr lang="pt-BR" sz="32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Cofins</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que restringiram indevidamente o conceito de "insumos" previsto no art. 3º, II, </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das Leis </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 10.637/2002 e n. 10.833/2003, respectivamente, para efeitos de </a:t>
            </a:r>
            <a:r>
              <a:rPr lang="pt-BR" sz="32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creditamento</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na sistemática </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 não-cumulatividade </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das ditas contribuições.</a:t>
            </a:r>
          </a:p>
          <a:p>
            <a:endParaRPr lang="pt-BR" b="1" dirty="0">
              <a:effectLst>
                <a:outerShdw blurRad="38100" dist="38100" dir="2700000" algn="tl">
                  <a:srgbClr val="000000">
                    <a:alpha val="43137"/>
                  </a:srgbClr>
                </a:outerShdw>
              </a:effectLst>
            </a:endParaRPr>
          </a:p>
        </p:txBody>
      </p:sp>
      <p:sp>
        <p:nvSpPr>
          <p:cNvPr id="2" name="CaixaDeTexto 1"/>
          <p:cNvSpPr txBox="1"/>
          <p:nvPr/>
        </p:nvSpPr>
        <p:spPr>
          <a:xfrm>
            <a:off x="540913" y="193183"/>
            <a:ext cx="11449804" cy="1846659"/>
          </a:xfrm>
          <a:prstGeom prst="rect">
            <a:avLst/>
          </a:prstGeom>
          <a:noFill/>
        </p:spPr>
        <p:txBody>
          <a:bodyPr wrap="square" rtlCol="0">
            <a:spAutoFit/>
          </a:bodyPr>
          <a:lstStyle/>
          <a:p>
            <a:pPr algn="just">
              <a:defRPr/>
            </a:pPr>
            <a:r>
              <a:rPr lang="pt-BR" sz="3200"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STJ – Minuta de voto do Min. Mauro Campbell Marques – pedido de vista pelo Min. Herman </a:t>
            </a:r>
            <a:r>
              <a:rPr lang="pt-BR" sz="3200" b="1" kern="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Benjamin</a:t>
            </a:r>
            <a:endParaRPr lang="pt-BR" sz="3200"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defRPr/>
            </a:pPr>
            <a:r>
              <a:rPr lang="pt-BR" sz="3200" b="1" kern="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Recurso especial nº 1.246.317 - MG (2011/0066819-3)</a:t>
            </a:r>
          </a:p>
          <a:p>
            <a:endParaRPr lang="pt-BR" dirty="0"/>
          </a:p>
        </p:txBody>
      </p:sp>
    </p:spTree>
    <p:extLst>
      <p:ext uri="{BB962C8B-B14F-4D97-AF65-F5344CB8AC3E}">
        <p14:creationId xmlns:p14="http://schemas.microsoft.com/office/powerpoint/2010/main" val="56701439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347730" y="1963189"/>
            <a:ext cx="11204619" cy="4000900"/>
          </a:xfrm>
        </p:spPr>
        <p:txBody>
          <a:bodyPr>
            <a:noAutofit/>
          </a:bodyPr>
          <a:lstStyle/>
          <a:p>
            <a:pPr algn="just"/>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pt-BR"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Conforme interpretação teleológica e sistemática do ordenamento jurídico em vigor</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 </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conceituação de </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"insumos", para efeitos do art. 3º, II, da Lei n. 10.637/2002, e art. 3º, II, da Lei n. 10.833/2003, </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não se </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identifica com a </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conceituação </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adotada na legislação do Imposto sobre Produtos Industrializados - IPI</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posto </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 excessivamente restritiva. Do mesmo modo, não corresponde exatamente aos conceitos </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 "</a:t>
            </a:r>
            <a:r>
              <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Custos e Despesas Operacionais" utilizados na legislação do Imposto de Renda - IR, por </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 demasiadamente </a:t>
            </a:r>
            <a:r>
              <a:rPr lang="pt-BR" sz="32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elastecidos</a:t>
            </a:r>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pt-BR"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CaixaDeTexto 1"/>
          <p:cNvSpPr txBox="1"/>
          <p:nvPr/>
        </p:nvSpPr>
        <p:spPr>
          <a:xfrm>
            <a:off x="914400" y="141668"/>
            <a:ext cx="10409946" cy="1661993"/>
          </a:xfrm>
          <a:prstGeom prst="rect">
            <a:avLst/>
          </a:prstGeom>
          <a:noFill/>
        </p:spPr>
        <p:txBody>
          <a:bodyPr wrap="square" rtlCol="0">
            <a:spAutoFit/>
          </a:bodyPr>
          <a:lstStyle/>
          <a:p>
            <a:pPr algn="just">
              <a:defRPr/>
            </a:pPr>
            <a:r>
              <a:rPr lang="pt-BR" sz="2800" b="1" kern="0" dirty="0">
                <a:latin typeface="Times New Roman" panose="02020603050405020304" pitchFamily="18" charset="0"/>
                <a:cs typeface="Times New Roman" panose="02020603050405020304" pitchFamily="18" charset="0"/>
              </a:rPr>
              <a:t>STJ – Minuta de voto do Min. Mauro Campbell Marques – pedido de vista pelo Min. Herman </a:t>
            </a:r>
            <a:r>
              <a:rPr lang="pt-BR" sz="2800" b="1" kern="0" dirty="0" smtClean="0">
                <a:latin typeface="Times New Roman" panose="02020603050405020304" pitchFamily="18" charset="0"/>
                <a:cs typeface="Times New Roman" panose="02020603050405020304" pitchFamily="18" charset="0"/>
              </a:rPr>
              <a:t>Benjamin</a:t>
            </a:r>
            <a:endParaRPr lang="pt-BR" sz="2800" b="1" kern="0" dirty="0">
              <a:latin typeface="Times New Roman" panose="02020603050405020304" pitchFamily="18" charset="0"/>
              <a:cs typeface="Times New Roman" panose="02020603050405020304" pitchFamily="18" charset="0"/>
            </a:endParaRPr>
          </a:p>
          <a:p>
            <a:pPr algn="just">
              <a:defRPr/>
            </a:pPr>
            <a:r>
              <a:rPr lang="pt-BR" sz="2800" b="1" kern="0" dirty="0">
                <a:latin typeface="Times New Roman" panose="02020603050405020304" pitchFamily="18" charset="0"/>
                <a:cs typeface="Times New Roman" panose="02020603050405020304" pitchFamily="18" charset="0"/>
              </a:rPr>
              <a:t>Recurso especial nº 1.246.317 - MG (2011/0066819-3</a:t>
            </a:r>
            <a:r>
              <a:rPr lang="pt-BR" sz="2800" kern="0" dirty="0">
                <a:latin typeface="Times New Roman" panose="02020603050405020304" pitchFamily="18" charset="0"/>
                <a:cs typeface="Times New Roman" panose="02020603050405020304" pitchFamily="18" charset="0"/>
              </a:rPr>
              <a:t>)</a:t>
            </a:r>
          </a:p>
          <a:p>
            <a:endParaRPr lang="pt-BR" dirty="0"/>
          </a:p>
        </p:txBody>
      </p:sp>
    </p:spTree>
    <p:extLst>
      <p:ext uri="{BB962C8B-B14F-4D97-AF65-F5344CB8AC3E}">
        <p14:creationId xmlns:p14="http://schemas.microsoft.com/office/powerpoint/2010/main" val="160048279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425247" y="1855176"/>
            <a:ext cx="11539470" cy="4000900"/>
          </a:xfrm>
        </p:spPr>
        <p:txBody>
          <a:bodyPr>
            <a:noAutofit/>
          </a:bodyPr>
          <a:lstStyle/>
          <a:p>
            <a:r>
              <a:rPr lang="pt-BR" sz="3200" b="1" dirty="0" smtClean="0">
                <a:latin typeface="Times New Roman" panose="02020603050405020304" pitchFamily="18" charset="0"/>
                <a:cs typeface="Times New Roman" panose="02020603050405020304" pitchFamily="18" charset="0"/>
              </a:rPr>
              <a:t>5</a:t>
            </a:r>
            <a:r>
              <a:rPr lang="pt-BR" sz="3200" b="1" dirty="0">
                <a:latin typeface="Times New Roman" panose="02020603050405020304" pitchFamily="18" charset="0"/>
                <a:cs typeface="Times New Roman" panose="02020603050405020304" pitchFamily="18" charset="0"/>
              </a:rPr>
              <a:t>. São "insumos", para efeitos do art. 3º, II, da Lei n. </a:t>
            </a:r>
            <a:r>
              <a:rPr lang="pt-BR" sz="3200" b="1" dirty="0" smtClean="0">
                <a:latin typeface="Times New Roman" panose="02020603050405020304" pitchFamily="18" charset="0"/>
                <a:cs typeface="Times New Roman" panose="02020603050405020304" pitchFamily="18" charset="0"/>
              </a:rPr>
              <a:t>10.637/2002</a:t>
            </a:r>
            <a:r>
              <a:rPr lang="pt-BR" sz="3200" b="1" dirty="0">
                <a:latin typeface="Times New Roman" panose="02020603050405020304" pitchFamily="18" charset="0"/>
                <a:cs typeface="Times New Roman" panose="02020603050405020304" pitchFamily="18" charset="0"/>
              </a:rPr>
              <a:t>, e art. 3º, II, da Lei n. 10.833/2003</a:t>
            </a:r>
            <a:r>
              <a:rPr lang="pt-BR" sz="3200" b="1" dirty="0" smtClean="0">
                <a:latin typeface="Times New Roman" panose="02020603050405020304" pitchFamily="18" charset="0"/>
                <a:cs typeface="Times New Roman" panose="02020603050405020304" pitchFamily="18" charset="0"/>
              </a:rPr>
              <a:t>, todos </a:t>
            </a:r>
            <a:r>
              <a:rPr lang="pt-BR" sz="3200" b="1" dirty="0">
                <a:latin typeface="Times New Roman" panose="02020603050405020304" pitchFamily="18" charset="0"/>
                <a:cs typeface="Times New Roman" panose="02020603050405020304" pitchFamily="18" charset="0"/>
              </a:rPr>
              <a:t>aqueles bens e serviços pertinentes ao, ou que viabilizam o processo produtivo e a prestação </a:t>
            </a:r>
            <a:r>
              <a:rPr lang="pt-BR" sz="3200" b="1" dirty="0" smtClean="0">
                <a:latin typeface="Times New Roman" panose="02020603050405020304" pitchFamily="18" charset="0"/>
                <a:cs typeface="Times New Roman" panose="02020603050405020304" pitchFamily="18" charset="0"/>
              </a:rPr>
              <a:t>de serviços</a:t>
            </a:r>
            <a:r>
              <a:rPr lang="pt-BR" sz="3200" b="1" dirty="0">
                <a:latin typeface="Times New Roman" panose="02020603050405020304" pitchFamily="18" charset="0"/>
                <a:cs typeface="Times New Roman" panose="02020603050405020304" pitchFamily="18" charset="0"/>
              </a:rPr>
              <a:t>, que neles possam ser direta ou indiretamente empregados e cuja subtração </a:t>
            </a:r>
            <a:r>
              <a:rPr lang="pt-BR" sz="3200" b="1" u="sng"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importa </a:t>
            </a:r>
            <a:r>
              <a:rPr lang="pt-BR" sz="3200"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(grifo nossos)</a:t>
            </a:r>
            <a:r>
              <a:rPr lang="pt-BR" sz="3200" b="1" dirty="0" smtClean="0">
                <a:latin typeface="Times New Roman" panose="02020603050405020304" pitchFamily="18" charset="0"/>
                <a:cs typeface="Times New Roman" panose="02020603050405020304" pitchFamily="18" charset="0"/>
              </a:rPr>
              <a:t> na impossibilidade </a:t>
            </a:r>
            <a:r>
              <a:rPr lang="pt-BR" sz="3200" b="1" dirty="0">
                <a:latin typeface="Times New Roman" panose="02020603050405020304" pitchFamily="18" charset="0"/>
                <a:cs typeface="Times New Roman" panose="02020603050405020304" pitchFamily="18" charset="0"/>
              </a:rPr>
              <a:t>mesma da prestação do serviço ou da produção, isto é, cuja subtração obsta a </a:t>
            </a:r>
            <a:r>
              <a:rPr lang="pt-BR" sz="3200" b="1" dirty="0" smtClean="0">
                <a:latin typeface="Times New Roman" panose="02020603050405020304" pitchFamily="18" charset="0"/>
                <a:cs typeface="Times New Roman" panose="02020603050405020304" pitchFamily="18" charset="0"/>
              </a:rPr>
              <a:t>atividade da </a:t>
            </a:r>
            <a:r>
              <a:rPr lang="pt-BR" sz="3200" b="1" dirty="0">
                <a:latin typeface="Times New Roman" panose="02020603050405020304" pitchFamily="18" charset="0"/>
                <a:cs typeface="Times New Roman" panose="02020603050405020304" pitchFamily="18" charset="0"/>
              </a:rPr>
              <a:t>empresa, ou implica em substancial perda de qualidade do produto ou serviço daí resultantes.</a:t>
            </a:r>
          </a:p>
        </p:txBody>
      </p:sp>
      <p:sp>
        <p:nvSpPr>
          <p:cNvPr id="2" name="CaixaDeTexto 1"/>
          <p:cNvSpPr txBox="1"/>
          <p:nvPr/>
        </p:nvSpPr>
        <p:spPr>
          <a:xfrm>
            <a:off x="669701" y="193183"/>
            <a:ext cx="10959921" cy="1661993"/>
          </a:xfrm>
          <a:prstGeom prst="rect">
            <a:avLst/>
          </a:prstGeom>
          <a:noFill/>
        </p:spPr>
        <p:txBody>
          <a:bodyPr wrap="square" rtlCol="0">
            <a:spAutoFit/>
          </a:bodyPr>
          <a:lstStyle/>
          <a:p>
            <a:pPr algn="just">
              <a:defRPr/>
            </a:pPr>
            <a:r>
              <a:rPr lang="pt-BR" sz="2800" b="1" kern="0" dirty="0">
                <a:latin typeface="Times New Roman" panose="02020603050405020304" pitchFamily="18" charset="0"/>
                <a:cs typeface="Times New Roman" panose="02020603050405020304" pitchFamily="18" charset="0"/>
              </a:rPr>
              <a:t>STJ – Minuta de voto do Min. Mauro Campbell Marques – pedido de vista pelo Min. Herman </a:t>
            </a:r>
            <a:r>
              <a:rPr lang="pt-BR" sz="2800" b="1" kern="0" dirty="0" smtClean="0">
                <a:latin typeface="Times New Roman" panose="02020603050405020304" pitchFamily="18" charset="0"/>
                <a:cs typeface="Times New Roman" panose="02020603050405020304" pitchFamily="18" charset="0"/>
              </a:rPr>
              <a:t>Benjamin</a:t>
            </a:r>
            <a:endParaRPr lang="pt-BR" sz="2800" b="1" kern="0" dirty="0">
              <a:latin typeface="Times New Roman" panose="02020603050405020304" pitchFamily="18" charset="0"/>
              <a:cs typeface="Times New Roman" panose="02020603050405020304" pitchFamily="18" charset="0"/>
            </a:endParaRPr>
          </a:p>
          <a:p>
            <a:pPr algn="just">
              <a:defRPr/>
            </a:pPr>
            <a:r>
              <a:rPr lang="pt-BR" sz="2800" b="1" kern="0" dirty="0">
                <a:latin typeface="Times New Roman" panose="02020603050405020304" pitchFamily="18" charset="0"/>
                <a:cs typeface="Times New Roman" panose="02020603050405020304" pitchFamily="18" charset="0"/>
              </a:rPr>
              <a:t>Recurso especial nº 1.246.317 - MG (2011/0066819-3)</a:t>
            </a:r>
          </a:p>
          <a:p>
            <a:endParaRPr lang="pt-BR" dirty="0"/>
          </a:p>
        </p:txBody>
      </p:sp>
    </p:spTree>
    <p:extLst>
      <p:ext uri="{BB962C8B-B14F-4D97-AF65-F5344CB8AC3E}">
        <p14:creationId xmlns:p14="http://schemas.microsoft.com/office/powerpoint/2010/main" val="261745463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effectLst>
            <a:glow rad="63500">
              <a:schemeClr val="accent5">
                <a:satMod val="175000"/>
                <a:alpha val="40000"/>
              </a:schemeClr>
            </a:glow>
          </a:effectLst>
        </p:spPr>
        <p:txBody>
          <a:bodyPr/>
          <a:lstStyle/>
          <a:p>
            <a:pPr algn="ctr"/>
            <a:r>
              <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EVOLUÇÃO DA  VISÃO NO CARF</a:t>
            </a:r>
            <a:endParaRPr lang="pt-B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4" name="Espaço Reservado para Conteúdo 3"/>
          <p:cNvGraphicFramePr>
            <a:graphicFrameLocks noGrp="1"/>
          </p:cNvGraphicFramePr>
          <p:nvPr>
            <p:ph idx="1"/>
            <p:extLst>
              <p:ext uri="{D42A27DB-BD31-4B8C-83A1-F6EECF244321}">
                <p14:modId xmlns:p14="http://schemas.microsoft.com/office/powerpoint/2010/main" val="341070283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321081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90600" y="2380192"/>
            <a:ext cx="10515600" cy="1325563"/>
          </a:xfrm>
        </p:spPr>
        <p:txBody>
          <a:bodyPr/>
          <a:lstStyle/>
          <a:p>
            <a:pPr algn="ctr"/>
            <a:r>
              <a:rPr lang="pt-BR"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CONSIDERAÇÕES FINAIS</a:t>
            </a:r>
            <a:endParaRPr lang="pt-BR"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010724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73487" y="186228"/>
            <a:ext cx="10947041" cy="969163"/>
          </a:xfrm>
        </p:spPr>
        <p:txBody>
          <a:bodyPr>
            <a:normAutofit fontScale="90000"/>
          </a:bodyPr>
          <a:lstStyle/>
          <a:p>
            <a:pPr algn="ctr"/>
            <a:r>
              <a:rPr lang="pt-BR"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pt-BR"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pt-BR"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pt-BR"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pt-BR"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CONSIDERAÇÕES  FINAIS</a:t>
            </a:r>
            <a:br>
              <a:rPr lang="pt-BR"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pt-BR"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pt-BR"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pt-BR"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Espaço Reservado para Conteúdo 2"/>
          <p:cNvSpPr>
            <a:spLocks noGrp="1"/>
          </p:cNvSpPr>
          <p:nvPr>
            <p:ph idx="1"/>
          </p:nvPr>
        </p:nvSpPr>
        <p:spPr>
          <a:xfrm>
            <a:off x="1030310" y="1515999"/>
            <a:ext cx="10474302" cy="4755339"/>
          </a:xfrm>
        </p:spPr>
        <p:txBody>
          <a:bodyPr>
            <a:noAutofit/>
          </a:bodyPr>
          <a:lstStyle/>
          <a:p>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IDENTIFICAR CLARAMENTE OS ITENS ANALISADOS  E OS PROCESSO ENVOLVIDOS, VISANDO IDENTIFICAR O  ASPECTO  RELACIONAL  ENTRE O  ITEM  E O PROCESSO</a:t>
            </a:r>
          </a:p>
          <a:p>
            <a:endParaRPr lang="pt-BR" sz="1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IDENTIFICAR  O IMPACTO DOS ITENS A  LUZ  DA  ESSENCIALIDADE  DOS  INSUMOS E O IMPACTO GERADO</a:t>
            </a:r>
          </a:p>
          <a:p>
            <a:endParaRPr lang="pt-BR" sz="10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AVALIAR  ATRAVES DA   HERMENÊUTICA  JURIDICA E A LUZ  DA LINHA   LEGALISTA E CONSTITUCIONALISTA</a:t>
            </a:r>
          </a:p>
          <a:p>
            <a:endParaRPr lang="pt-BR" sz="2400" b="1" dirty="0">
              <a:latin typeface="Times New Roman" panose="02020603050405020304" pitchFamily="18" charset="0"/>
              <a:cs typeface="Times New Roman" panose="02020603050405020304" pitchFamily="18" charset="0"/>
            </a:endParaRPr>
          </a:p>
          <a:p>
            <a:endParaRPr lang="pt-BR" sz="2400" b="1" dirty="0" smtClean="0">
              <a:latin typeface="Times New Roman" panose="02020603050405020304" pitchFamily="18" charset="0"/>
              <a:cs typeface="Times New Roman" panose="02020603050405020304" pitchFamily="18" charset="0"/>
            </a:endParaRPr>
          </a:p>
          <a:p>
            <a:endParaRPr lang="pt-BR" sz="2400" b="1" dirty="0">
              <a:latin typeface="Times New Roman" panose="02020603050405020304" pitchFamily="18" charset="0"/>
              <a:cs typeface="Times New Roman" panose="02020603050405020304" pitchFamily="18" charset="0"/>
            </a:endParaRPr>
          </a:p>
          <a:p>
            <a:endParaRPr lang="pt-BR" sz="24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043397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CONSIDERAÇÕES  FINAIS</a:t>
            </a:r>
            <a:br>
              <a:rPr lang="pt-BR"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pt-BR"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Espaço Reservado para Conteúdo 2"/>
          <p:cNvSpPr>
            <a:spLocks noGrp="1"/>
          </p:cNvSpPr>
          <p:nvPr>
            <p:ph idx="1"/>
          </p:nvPr>
        </p:nvSpPr>
        <p:spPr>
          <a:xfrm>
            <a:off x="528035" y="1432193"/>
            <a:ext cx="11239244" cy="4479029"/>
          </a:xfrm>
        </p:spPr>
        <p:txBody>
          <a:bodyPr>
            <a:noAutofit/>
          </a:bodyPr>
          <a:lstStyle/>
          <a:p>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AVALIAR A  LEGISLAÇÃO BÁSICA ( LEIS E  INSTRUÇÃO NORMATIVA)  E  A  JURISPRUDÊNCIA  DOMINANTE   (CARF\STF\ STJ )</a:t>
            </a:r>
          </a:p>
          <a:p>
            <a:endParaRPr lang="pt-BR" sz="1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pt-BR" sz="32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AVALIAÇÃO DE  RISCOS LEGAIS E  A TOMADA DA  DECISÃO  FINAL: O CONCEITO  DE  INSUMO  E CONSEQUENTEMENTE O VALOR  A  RECOLHER  DO PIS COFINS</a:t>
            </a:r>
          </a:p>
          <a:p>
            <a:endParaRPr lang="pt-BR" sz="1200" b="1" dirty="0">
              <a:effectLst>
                <a:outerShdw blurRad="38100" dist="38100" dir="2700000" algn="tl">
                  <a:srgbClr val="000000">
                    <a:alpha val="43137"/>
                  </a:srgbClr>
                </a:outerShdw>
              </a:effectLst>
            </a:endParaRPr>
          </a:p>
          <a:p>
            <a:endParaRPr lang="pt-BR" sz="3200" b="1" dirty="0" smtClean="0">
              <a:effectLst>
                <a:outerShdw blurRad="38100" dist="38100" dir="2700000" algn="tl">
                  <a:srgbClr val="000000">
                    <a:alpha val="43137"/>
                  </a:srgbClr>
                </a:outerShdw>
              </a:effectLst>
            </a:endParaRPr>
          </a:p>
          <a:p>
            <a:endParaRPr lang="pt-BR" sz="3200" b="1" dirty="0" smtClean="0">
              <a:effectLst>
                <a:outerShdw blurRad="38100" dist="38100" dir="2700000" algn="tl">
                  <a:srgbClr val="000000">
                    <a:alpha val="43137"/>
                  </a:srgbClr>
                </a:outerShdw>
              </a:effectLst>
            </a:endParaRPr>
          </a:p>
          <a:p>
            <a:endParaRPr lang="pt-BR" sz="2400" b="1" dirty="0" smtClean="0"/>
          </a:p>
        </p:txBody>
      </p:sp>
    </p:spTree>
    <p:extLst>
      <p:ext uri="{BB962C8B-B14F-4D97-AF65-F5344CB8AC3E}">
        <p14:creationId xmlns:p14="http://schemas.microsoft.com/office/powerpoint/2010/main" val="319605668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pt-BR" b="1" u="sng" dirty="0" smtClean="0">
                <a:latin typeface="Times New Roman" panose="02020603050405020304" pitchFamily="18" charset="0"/>
                <a:cs typeface="Times New Roman" panose="02020603050405020304" pitchFamily="18" charset="0"/>
              </a:rPr>
              <a:t>CONSIDERAÇÕES  FINAIS</a:t>
            </a:r>
            <a:br>
              <a:rPr lang="pt-BR" b="1" u="sng" dirty="0" smtClean="0">
                <a:latin typeface="Times New Roman" panose="02020603050405020304" pitchFamily="18" charset="0"/>
                <a:cs typeface="Times New Roman" panose="02020603050405020304" pitchFamily="18" charset="0"/>
              </a:rPr>
            </a:br>
            <a:endParaRPr lang="pt-BR" b="1" u="sng" dirty="0">
              <a:latin typeface="Times New Roman" panose="02020603050405020304" pitchFamily="18" charset="0"/>
              <a:cs typeface="Times New Roman" panose="02020603050405020304" pitchFamily="18" charset="0"/>
            </a:endParaRPr>
          </a:p>
        </p:txBody>
      </p:sp>
      <p:sp>
        <p:nvSpPr>
          <p:cNvPr id="3" name="Espaço Reservado para Conteúdo 2"/>
          <p:cNvSpPr>
            <a:spLocks noGrp="1"/>
          </p:cNvSpPr>
          <p:nvPr>
            <p:ph idx="1"/>
          </p:nvPr>
        </p:nvSpPr>
        <p:spPr>
          <a:xfrm>
            <a:off x="528035" y="1870077"/>
            <a:ext cx="11239244" cy="4479029"/>
          </a:xfrm>
        </p:spPr>
        <p:txBody>
          <a:bodyPr>
            <a:noAutofit/>
          </a:bodyPr>
          <a:lstStyle/>
          <a:p>
            <a:endParaRPr lang="pt-BR" sz="1200" b="1" dirty="0">
              <a:effectLst>
                <a:outerShdw blurRad="38100" dist="38100" dir="2700000" algn="tl">
                  <a:srgbClr val="000000">
                    <a:alpha val="43137"/>
                  </a:srgbClr>
                </a:outerShdw>
              </a:effectLst>
            </a:endParaRPr>
          </a:p>
          <a:p>
            <a:pPr marL="0" indent="0">
              <a:buNone/>
            </a:pPr>
            <a:r>
              <a:rPr lang="pt-BR" sz="3600" b="1" u="sng" dirty="0" smtClean="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CONCLUSÃO GERAL </a:t>
            </a: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indent="0">
              <a:buNone/>
            </a:pPr>
            <a:endParaRPr lang="pt-BR"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a:buNone/>
            </a:pPr>
            <a:r>
              <a:rPr lang="pt-BR" sz="3600"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SOLUÇÃO  PARA  CADA  SITUAÇÃO DEPENDE  DE  ANALISES, PESQUISAS ESPECÍFICAS TENDO PROVAS TRIBUTÁRIAS  PARA  O ENTENDIMENTO ADOTADO.</a:t>
            </a:r>
          </a:p>
          <a:p>
            <a:endParaRPr lang="pt-BR" sz="2400" b="1" dirty="0" smtClean="0"/>
          </a:p>
        </p:txBody>
      </p:sp>
    </p:spTree>
    <p:extLst>
      <p:ext uri="{BB962C8B-B14F-4D97-AF65-F5344CB8AC3E}">
        <p14:creationId xmlns:p14="http://schemas.microsoft.com/office/powerpoint/2010/main" val="194548898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820193" y="366533"/>
            <a:ext cx="8911687" cy="682176"/>
          </a:xfrm>
        </p:spPr>
        <p:txBody>
          <a:bodyPr>
            <a:normAutofit fontScale="90000"/>
          </a:bodyPr>
          <a:lstStyle/>
          <a:p>
            <a:pPr algn="ctr"/>
            <a:r>
              <a:rPr lang="pt-BR" b="1"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REFERÊNCIAS BIBLIOGRÁFICAS</a:t>
            </a:r>
            <a:endParaRPr lang="pt-BR"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Espaço Reservado para Conteúdo 2"/>
          <p:cNvSpPr>
            <a:spLocks noGrp="1"/>
          </p:cNvSpPr>
          <p:nvPr>
            <p:ph idx="1"/>
          </p:nvPr>
        </p:nvSpPr>
        <p:spPr>
          <a:xfrm>
            <a:off x="206062" y="1432193"/>
            <a:ext cx="11745532" cy="4479029"/>
          </a:xfrm>
          <a:solidFill>
            <a:schemeClr val="tx2">
              <a:lumMod val="20000"/>
              <a:lumOff val="80000"/>
            </a:schemeClr>
          </a:solidFill>
        </p:spPr>
        <p:txBody>
          <a:bodyPr>
            <a:noAutofit/>
          </a:bodyPr>
          <a:lstStyle/>
          <a:p>
            <a:endParaRPr lang="pt-BR" b="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pt-BR" sz="3200" b="1" u="sng"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hlinkClick r:id="rId2"/>
              </a:rPr>
              <a:t>http://</a:t>
            </a:r>
            <a:r>
              <a:rPr lang="pt-BR" sz="3200" b="1" u="sng"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hlinkClick r:id="rId2"/>
              </a:rPr>
              <a:t>idg.carf.fazenda.gov.br/JURISPRUDÊNCIA/acordaos-carf-1</a:t>
            </a:r>
            <a:endParaRPr lang="pt-BR" sz="3200" b="1" u="sng"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pt-BR" sz="3200" b="1" u="sng"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hlinkClick r:id="rId3"/>
              </a:rPr>
              <a:t>https</a:t>
            </a:r>
            <a:r>
              <a:rPr lang="pt-BR" sz="3200" b="1" u="sng"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hlinkClick r:id="rId3"/>
              </a:rPr>
              <a:t>://</a:t>
            </a:r>
            <a:r>
              <a:rPr lang="pt-BR" sz="3200" b="1" u="sng"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hlinkClick r:id="rId3"/>
              </a:rPr>
              <a:t>novodecisoes.receita.fazenda.gov.br/consultaweb/index.jsf</a:t>
            </a:r>
            <a:endParaRPr lang="pt-BR" sz="3200" b="1" u="sng"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pt-BR" sz="3200" b="1" u="sng"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hlinkClick r:id="rId4"/>
              </a:rPr>
              <a:t>http</a:t>
            </a:r>
            <a:r>
              <a:rPr lang="pt-BR" sz="3200" b="1" u="sng"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hlinkClick r:id="rId4"/>
              </a:rPr>
              <a:t>://</a:t>
            </a:r>
            <a:r>
              <a:rPr lang="pt-BR" sz="3200" b="1" u="sng"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hlinkClick r:id="rId4"/>
              </a:rPr>
              <a:t>jota.uol.com.br/stj-volta-julgar-o-que-gera-CRÉDITOS-de-pis-e-cofins</a:t>
            </a:r>
            <a:endParaRPr lang="pt-BR" sz="3200" b="1" u="sng"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pt-BR" sz="3200" u="sng" dirty="0" smtClean="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www.ibpt.org.br </a:t>
            </a:r>
            <a:endParaRPr lang="pt-BR" sz="3200" b="1" u="sng"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201065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1875</TotalTime>
  <Words>2477</Words>
  <Application>Microsoft Office PowerPoint</Application>
  <PresentationFormat>Widescreen</PresentationFormat>
  <Paragraphs>389</Paragraphs>
  <Slides>47</Slides>
  <Notes>3</Notes>
  <HiddenSlides>0</HiddenSlides>
  <MMClips>0</MMClips>
  <ScaleCrop>false</ScaleCrop>
  <HeadingPairs>
    <vt:vector size="8" baseType="variant">
      <vt:variant>
        <vt:lpstr>Fontes usadas</vt:lpstr>
      </vt:variant>
      <vt:variant>
        <vt:i4>8</vt:i4>
      </vt:variant>
      <vt:variant>
        <vt:lpstr>Tema</vt:lpstr>
      </vt:variant>
      <vt:variant>
        <vt:i4>1</vt:i4>
      </vt:variant>
      <vt:variant>
        <vt:lpstr>Servidores OLE inseridos</vt:lpstr>
      </vt:variant>
      <vt:variant>
        <vt:i4>1</vt:i4>
      </vt:variant>
      <vt:variant>
        <vt:lpstr>Títulos de slides</vt:lpstr>
      </vt:variant>
      <vt:variant>
        <vt:i4>47</vt:i4>
      </vt:variant>
    </vt:vector>
  </HeadingPairs>
  <TitlesOfParts>
    <vt:vector size="57" baseType="lpstr">
      <vt:lpstr>Arial</vt:lpstr>
      <vt:lpstr>Arial Black</vt:lpstr>
      <vt:lpstr>BankGothic Md BT</vt:lpstr>
      <vt:lpstr>Calibri</vt:lpstr>
      <vt:lpstr>Calibri Light</vt:lpstr>
      <vt:lpstr>Times New Roman</vt:lpstr>
      <vt:lpstr>Wingdings</vt:lpstr>
      <vt:lpstr>Wingdings 3</vt:lpstr>
      <vt:lpstr>Tema do Office</vt:lpstr>
      <vt:lpstr>GALLERY</vt:lpstr>
      <vt:lpstr>Apresentação do PowerPoint</vt:lpstr>
      <vt:lpstr>Apresentação do PowerPoint</vt:lpstr>
      <vt:lpstr>Apresentação do PowerPoint</vt:lpstr>
      <vt:lpstr>HIERARQUIA  DA LEGISLAÇÃO</vt:lpstr>
      <vt:lpstr>Apresentação do PowerPoint</vt:lpstr>
      <vt:lpstr>Apresentação do PowerPoint</vt:lpstr>
      <vt:lpstr>IMPOSTOS NÃO CUMULATIVOS  NA  CADEIA PRODUTIVA</vt:lpstr>
      <vt:lpstr>Apresentação do PowerPoint</vt:lpstr>
      <vt:lpstr>Apresentação do PowerPoint</vt:lpstr>
      <vt:lpstr>Apresentação do PowerPoint</vt:lpstr>
      <vt:lpstr>Apresentação do PowerPoint</vt:lpstr>
      <vt:lpstr>Apresentação do PowerPoint</vt:lpstr>
      <vt:lpstr>COMO INTERPRETAR  OS CONCEITOS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Insumos na definição fiscal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Fluxo dos Custos &amp; Visões de Insumo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EVOLUÇÃO DA  VISÃO NO CARF</vt:lpstr>
      <vt:lpstr>CONSIDERAÇÕES FINAIS</vt:lpstr>
      <vt:lpstr>  CONSIDERAÇÕES  FINAIS  </vt:lpstr>
      <vt:lpstr>CONSIDERAÇÕES  FINAIS </vt:lpstr>
      <vt:lpstr>CONSIDERAÇÕES  FINAIS </vt:lpstr>
      <vt:lpstr>REFERÊNCIAS BIBLIOGRÁFICAS</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Rubens</dc:creator>
  <cp:lastModifiedBy>Rubens</cp:lastModifiedBy>
  <cp:revision>160</cp:revision>
  <dcterms:created xsi:type="dcterms:W3CDTF">2016-09-15T22:48:45Z</dcterms:created>
  <dcterms:modified xsi:type="dcterms:W3CDTF">2016-10-05T21:52:34Z</dcterms:modified>
</cp:coreProperties>
</file>