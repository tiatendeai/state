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Default Extension="wdp" ContentType="image/vnd.ms-photo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90" r:id="rId4"/>
    <p:sldId id="291" r:id="rId5"/>
    <p:sldId id="292" r:id="rId6"/>
    <p:sldId id="293" r:id="rId7"/>
    <p:sldId id="294" r:id="rId8"/>
    <p:sldId id="295" r:id="rId9"/>
    <p:sldId id="300" r:id="rId10"/>
    <p:sldId id="296" r:id="rId11"/>
    <p:sldId id="297" r:id="rId12"/>
    <p:sldId id="298" r:id="rId13"/>
    <p:sldId id="259" r:id="rId14"/>
    <p:sldId id="260" r:id="rId15"/>
    <p:sldId id="261" r:id="rId16"/>
    <p:sldId id="262" r:id="rId17"/>
    <p:sldId id="263" r:id="rId18"/>
    <p:sldId id="265" r:id="rId19"/>
    <p:sldId id="266" r:id="rId20"/>
    <p:sldId id="267" r:id="rId21"/>
    <p:sldId id="269" r:id="rId22"/>
    <p:sldId id="272" r:id="rId23"/>
    <p:sldId id="273" r:id="rId24"/>
    <p:sldId id="274" r:id="rId25"/>
    <p:sldId id="275" r:id="rId26"/>
    <p:sldId id="268" r:id="rId27"/>
    <p:sldId id="264" r:id="rId28"/>
    <p:sldId id="270" r:id="rId29"/>
    <p:sldId id="271" r:id="rId30"/>
    <p:sldId id="278" r:id="rId31"/>
    <p:sldId id="279" r:id="rId32"/>
    <p:sldId id="283" r:id="rId33"/>
    <p:sldId id="284" r:id="rId34"/>
    <p:sldId id="280" r:id="rId35"/>
    <p:sldId id="281" r:id="rId36"/>
    <p:sldId id="282" r:id="rId37"/>
    <p:sldId id="301" r:id="rId38"/>
    <p:sldId id="288" r:id="rId39"/>
    <p:sldId id="302" r:id="rId40"/>
    <p:sldId id="299" r:id="rId41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47" d="100"/>
          <a:sy n="47" d="100"/>
        </p:scale>
        <p:origin x="-1086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Pasta1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view3D>
      <c:rAngAx val="1"/>
    </c:view3D>
    <c:plotArea>
      <c:layout/>
      <c:bar3DChart>
        <c:barDir val="col"/>
        <c:grouping val="clustered"/>
        <c:ser>
          <c:idx val="0"/>
          <c:order val="0"/>
          <c:tx>
            <c:strRef>
              <c:f>Plan1!$D$2</c:f>
              <c:strCache>
                <c:ptCount val="1"/>
                <c:pt idx="0">
                  <c:v>Modelo Baseado em Custo</c:v>
                </c:pt>
              </c:strCache>
            </c:strRef>
          </c:tx>
          <c:cat>
            <c:numRef>
              <c:f>Plan1!$B$2:$B$53</c:f>
              <c:numCache>
                <c:formatCode>0%</c:formatCode>
                <c:ptCount val="52"/>
                <c:pt idx="0">
                  <c:v>7.0000000000000034E-2</c:v>
                </c:pt>
                <c:pt idx="1">
                  <c:v>8.0000000000000029E-2</c:v>
                </c:pt>
                <c:pt idx="2">
                  <c:v>9.0000000000000038E-2</c:v>
                </c:pt>
                <c:pt idx="3">
                  <c:v>0.1</c:v>
                </c:pt>
                <c:pt idx="4">
                  <c:v>0.11000000000000003</c:v>
                </c:pt>
                <c:pt idx="5">
                  <c:v>0.12000000000000002</c:v>
                </c:pt>
                <c:pt idx="6">
                  <c:v>0.13</c:v>
                </c:pt>
                <c:pt idx="7">
                  <c:v>0.14000000000000001</c:v>
                </c:pt>
                <c:pt idx="8">
                  <c:v>0.15000000000000005</c:v>
                </c:pt>
                <c:pt idx="9">
                  <c:v>0.16000000000000006</c:v>
                </c:pt>
                <c:pt idx="10">
                  <c:v>0.17</c:v>
                </c:pt>
                <c:pt idx="11">
                  <c:v>0.18000000000000005</c:v>
                </c:pt>
                <c:pt idx="12">
                  <c:v>0.19000000000000006</c:v>
                </c:pt>
                <c:pt idx="13">
                  <c:v>0.2</c:v>
                </c:pt>
                <c:pt idx="14">
                  <c:v>0.21000000000000005</c:v>
                </c:pt>
                <c:pt idx="15">
                  <c:v>0.22000000000000006</c:v>
                </c:pt>
                <c:pt idx="16">
                  <c:v>0.23</c:v>
                </c:pt>
                <c:pt idx="17">
                  <c:v>0.24000000000000005</c:v>
                </c:pt>
                <c:pt idx="18">
                  <c:v>0.25</c:v>
                </c:pt>
                <c:pt idx="19">
                  <c:v>0.26</c:v>
                </c:pt>
                <c:pt idx="20">
                  <c:v>0.27</c:v>
                </c:pt>
                <c:pt idx="21">
                  <c:v>0.28000000000000008</c:v>
                </c:pt>
                <c:pt idx="22">
                  <c:v>0.29000000000000009</c:v>
                </c:pt>
                <c:pt idx="23">
                  <c:v>0.3000000000000001</c:v>
                </c:pt>
                <c:pt idx="24">
                  <c:v>0.31000000000000011</c:v>
                </c:pt>
                <c:pt idx="25">
                  <c:v>0.32000000000000012</c:v>
                </c:pt>
                <c:pt idx="26">
                  <c:v>0.33000000000000013</c:v>
                </c:pt>
                <c:pt idx="27">
                  <c:v>0.34000000000000014</c:v>
                </c:pt>
                <c:pt idx="28">
                  <c:v>0.35000000000000009</c:v>
                </c:pt>
                <c:pt idx="29">
                  <c:v>0.3600000000000001</c:v>
                </c:pt>
                <c:pt idx="30">
                  <c:v>0.37000000000000011</c:v>
                </c:pt>
                <c:pt idx="31">
                  <c:v>0.38000000000000012</c:v>
                </c:pt>
                <c:pt idx="32">
                  <c:v>0.39000000000000012</c:v>
                </c:pt>
                <c:pt idx="33">
                  <c:v>0.4</c:v>
                </c:pt>
                <c:pt idx="34">
                  <c:v>0.41000000000000009</c:v>
                </c:pt>
                <c:pt idx="35">
                  <c:v>0.4200000000000001</c:v>
                </c:pt>
                <c:pt idx="36">
                  <c:v>0.4300000000000001</c:v>
                </c:pt>
                <c:pt idx="37">
                  <c:v>0.44000000000000011</c:v>
                </c:pt>
                <c:pt idx="38">
                  <c:v>0.45</c:v>
                </c:pt>
                <c:pt idx="39">
                  <c:v>0.46</c:v>
                </c:pt>
                <c:pt idx="40">
                  <c:v>0.47000000000000008</c:v>
                </c:pt>
                <c:pt idx="41">
                  <c:v>0.48000000000000009</c:v>
                </c:pt>
                <c:pt idx="42">
                  <c:v>0.4900000000000001</c:v>
                </c:pt>
                <c:pt idx="43">
                  <c:v>0.5</c:v>
                </c:pt>
                <c:pt idx="44">
                  <c:v>0.51</c:v>
                </c:pt>
                <c:pt idx="45">
                  <c:v>0.52</c:v>
                </c:pt>
                <c:pt idx="46">
                  <c:v>0.53</c:v>
                </c:pt>
                <c:pt idx="47">
                  <c:v>0.54</c:v>
                </c:pt>
                <c:pt idx="48">
                  <c:v>0.55000000000000004</c:v>
                </c:pt>
                <c:pt idx="49">
                  <c:v>0.56000000000000005</c:v>
                </c:pt>
                <c:pt idx="50">
                  <c:v>0.56999999999999995</c:v>
                </c:pt>
              </c:numCache>
            </c:numRef>
          </c:cat>
          <c:val>
            <c:numRef>
              <c:f>Plan1!$B$42:$B$52</c:f>
              <c:numCache>
                <c:formatCode>0%</c:formatCode>
                <c:ptCount val="11"/>
                <c:pt idx="0">
                  <c:v>0.47000000000000008</c:v>
                </c:pt>
                <c:pt idx="1">
                  <c:v>0.48000000000000009</c:v>
                </c:pt>
                <c:pt idx="2">
                  <c:v>0.4900000000000001</c:v>
                </c:pt>
                <c:pt idx="3">
                  <c:v>0.5</c:v>
                </c:pt>
                <c:pt idx="4">
                  <c:v>0.51</c:v>
                </c:pt>
                <c:pt idx="5">
                  <c:v>0.52</c:v>
                </c:pt>
                <c:pt idx="6">
                  <c:v>0.53</c:v>
                </c:pt>
                <c:pt idx="7">
                  <c:v>0.54</c:v>
                </c:pt>
                <c:pt idx="8">
                  <c:v>0.55000000000000004</c:v>
                </c:pt>
                <c:pt idx="9">
                  <c:v>0.56000000000000005</c:v>
                </c:pt>
                <c:pt idx="10">
                  <c:v>0.56999999999999995</c:v>
                </c:pt>
              </c:numCache>
            </c:numRef>
          </c:val>
        </c:ser>
        <c:ser>
          <c:idx val="1"/>
          <c:order val="1"/>
          <c:tx>
            <c:strRef>
              <c:f>Plan1!$D$3</c:f>
              <c:strCache>
                <c:ptCount val="1"/>
                <c:pt idx="0">
                  <c:v>Modelo Baseado em Preços</c:v>
                </c:pt>
              </c:strCache>
            </c:strRef>
          </c:tx>
          <c:cat>
            <c:numRef>
              <c:f>Plan1!$B$2:$B$53</c:f>
              <c:numCache>
                <c:formatCode>0%</c:formatCode>
                <c:ptCount val="52"/>
                <c:pt idx="0">
                  <c:v>7.0000000000000034E-2</c:v>
                </c:pt>
                <c:pt idx="1">
                  <c:v>8.0000000000000029E-2</c:v>
                </c:pt>
                <c:pt idx="2">
                  <c:v>9.0000000000000038E-2</c:v>
                </c:pt>
                <c:pt idx="3">
                  <c:v>0.1</c:v>
                </c:pt>
                <c:pt idx="4">
                  <c:v>0.11000000000000003</c:v>
                </c:pt>
                <c:pt idx="5">
                  <c:v>0.12000000000000002</c:v>
                </c:pt>
                <c:pt idx="6">
                  <c:v>0.13</c:v>
                </c:pt>
                <c:pt idx="7">
                  <c:v>0.14000000000000001</c:v>
                </c:pt>
                <c:pt idx="8">
                  <c:v>0.15000000000000005</c:v>
                </c:pt>
                <c:pt idx="9">
                  <c:v>0.16000000000000006</c:v>
                </c:pt>
                <c:pt idx="10">
                  <c:v>0.17</c:v>
                </c:pt>
                <c:pt idx="11">
                  <c:v>0.18000000000000005</c:v>
                </c:pt>
                <c:pt idx="12">
                  <c:v>0.19000000000000006</c:v>
                </c:pt>
                <c:pt idx="13">
                  <c:v>0.2</c:v>
                </c:pt>
                <c:pt idx="14">
                  <c:v>0.21000000000000005</c:v>
                </c:pt>
                <c:pt idx="15">
                  <c:v>0.22000000000000006</c:v>
                </c:pt>
                <c:pt idx="16">
                  <c:v>0.23</c:v>
                </c:pt>
                <c:pt idx="17">
                  <c:v>0.24000000000000005</c:v>
                </c:pt>
                <c:pt idx="18">
                  <c:v>0.25</c:v>
                </c:pt>
                <c:pt idx="19">
                  <c:v>0.26</c:v>
                </c:pt>
                <c:pt idx="20">
                  <c:v>0.27</c:v>
                </c:pt>
                <c:pt idx="21">
                  <c:v>0.28000000000000008</c:v>
                </c:pt>
                <c:pt idx="22">
                  <c:v>0.29000000000000009</c:v>
                </c:pt>
                <c:pt idx="23">
                  <c:v>0.3000000000000001</c:v>
                </c:pt>
                <c:pt idx="24">
                  <c:v>0.31000000000000011</c:v>
                </c:pt>
                <c:pt idx="25">
                  <c:v>0.32000000000000012</c:v>
                </c:pt>
                <c:pt idx="26">
                  <c:v>0.33000000000000013</c:v>
                </c:pt>
                <c:pt idx="27">
                  <c:v>0.34000000000000014</c:v>
                </c:pt>
                <c:pt idx="28">
                  <c:v>0.35000000000000009</c:v>
                </c:pt>
                <c:pt idx="29">
                  <c:v>0.3600000000000001</c:v>
                </c:pt>
                <c:pt idx="30">
                  <c:v>0.37000000000000011</c:v>
                </c:pt>
                <c:pt idx="31">
                  <c:v>0.38000000000000012</c:v>
                </c:pt>
                <c:pt idx="32">
                  <c:v>0.39000000000000012</c:v>
                </c:pt>
                <c:pt idx="33">
                  <c:v>0.4</c:v>
                </c:pt>
                <c:pt idx="34">
                  <c:v>0.41000000000000009</c:v>
                </c:pt>
                <c:pt idx="35">
                  <c:v>0.4200000000000001</c:v>
                </c:pt>
                <c:pt idx="36">
                  <c:v>0.4300000000000001</c:v>
                </c:pt>
                <c:pt idx="37">
                  <c:v>0.44000000000000011</c:v>
                </c:pt>
                <c:pt idx="38">
                  <c:v>0.45</c:v>
                </c:pt>
                <c:pt idx="39">
                  <c:v>0.46</c:v>
                </c:pt>
                <c:pt idx="40">
                  <c:v>0.47000000000000008</c:v>
                </c:pt>
                <c:pt idx="41">
                  <c:v>0.48000000000000009</c:v>
                </c:pt>
                <c:pt idx="42">
                  <c:v>0.4900000000000001</c:v>
                </c:pt>
                <c:pt idx="43">
                  <c:v>0.5</c:v>
                </c:pt>
                <c:pt idx="44">
                  <c:v>0.51</c:v>
                </c:pt>
                <c:pt idx="45">
                  <c:v>0.52</c:v>
                </c:pt>
                <c:pt idx="46">
                  <c:v>0.53</c:v>
                </c:pt>
                <c:pt idx="47">
                  <c:v>0.54</c:v>
                </c:pt>
                <c:pt idx="48">
                  <c:v>0.55000000000000004</c:v>
                </c:pt>
                <c:pt idx="49">
                  <c:v>0.56000000000000005</c:v>
                </c:pt>
                <c:pt idx="50">
                  <c:v>0.56999999999999995</c:v>
                </c:pt>
              </c:numCache>
            </c:numRef>
          </c:cat>
          <c:val>
            <c:numRef>
              <c:f>Plan1!$B$25</c:f>
              <c:numCache>
                <c:formatCode>0%</c:formatCode>
                <c:ptCount val="1"/>
                <c:pt idx="0">
                  <c:v>0.3000000000000001</c:v>
                </c:pt>
              </c:numCache>
            </c:numRef>
          </c:val>
        </c:ser>
        <c:ser>
          <c:idx val="2"/>
          <c:order val="2"/>
          <c:tx>
            <c:strRef>
              <c:f>Plan1!$D$4</c:f>
              <c:strCache>
                <c:ptCount val="1"/>
                <c:pt idx="0">
                  <c:v>Modelo Baseado em Negociação</c:v>
                </c:pt>
              </c:strCache>
            </c:strRef>
          </c:tx>
          <c:cat>
            <c:numRef>
              <c:f>Plan1!$B$2:$B$53</c:f>
              <c:numCache>
                <c:formatCode>0%</c:formatCode>
                <c:ptCount val="52"/>
                <c:pt idx="0">
                  <c:v>7.0000000000000034E-2</c:v>
                </c:pt>
                <c:pt idx="1">
                  <c:v>8.0000000000000029E-2</c:v>
                </c:pt>
                <c:pt idx="2">
                  <c:v>9.0000000000000038E-2</c:v>
                </c:pt>
                <c:pt idx="3">
                  <c:v>0.1</c:v>
                </c:pt>
                <c:pt idx="4">
                  <c:v>0.11000000000000003</c:v>
                </c:pt>
                <c:pt idx="5">
                  <c:v>0.12000000000000002</c:v>
                </c:pt>
                <c:pt idx="6">
                  <c:v>0.13</c:v>
                </c:pt>
                <c:pt idx="7">
                  <c:v>0.14000000000000001</c:v>
                </c:pt>
                <c:pt idx="8">
                  <c:v>0.15000000000000005</c:v>
                </c:pt>
                <c:pt idx="9">
                  <c:v>0.16000000000000006</c:v>
                </c:pt>
                <c:pt idx="10">
                  <c:v>0.17</c:v>
                </c:pt>
                <c:pt idx="11">
                  <c:v>0.18000000000000005</c:v>
                </c:pt>
                <c:pt idx="12">
                  <c:v>0.19000000000000006</c:v>
                </c:pt>
                <c:pt idx="13">
                  <c:v>0.2</c:v>
                </c:pt>
                <c:pt idx="14">
                  <c:v>0.21000000000000005</c:v>
                </c:pt>
                <c:pt idx="15">
                  <c:v>0.22000000000000006</c:v>
                </c:pt>
                <c:pt idx="16">
                  <c:v>0.23</c:v>
                </c:pt>
                <c:pt idx="17">
                  <c:v>0.24000000000000005</c:v>
                </c:pt>
                <c:pt idx="18">
                  <c:v>0.25</c:v>
                </c:pt>
                <c:pt idx="19">
                  <c:v>0.26</c:v>
                </c:pt>
                <c:pt idx="20">
                  <c:v>0.27</c:v>
                </c:pt>
                <c:pt idx="21">
                  <c:v>0.28000000000000008</c:v>
                </c:pt>
                <c:pt idx="22">
                  <c:v>0.29000000000000009</c:v>
                </c:pt>
                <c:pt idx="23">
                  <c:v>0.3000000000000001</c:v>
                </c:pt>
                <c:pt idx="24">
                  <c:v>0.31000000000000011</c:v>
                </c:pt>
                <c:pt idx="25">
                  <c:v>0.32000000000000012</c:v>
                </c:pt>
                <c:pt idx="26">
                  <c:v>0.33000000000000013</c:v>
                </c:pt>
                <c:pt idx="27">
                  <c:v>0.34000000000000014</c:v>
                </c:pt>
                <c:pt idx="28">
                  <c:v>0.35000000000000009</c:v>
                </c:pt>
                <c:pt idx="29">
                  <c:v>0.3600000000000001</c:v>
                </c:pt>
                <c:pt idx="30">
                  <c:v>0.37000000000000011</c:v>
                </c:pt>
                <c:pt idx="31">
                  <c:v>0.38000000000000012</c:v>
                </c:pt>
                <c:pt idx="32">
                  <c:v>0.39000000000000012</c:v>
                </c:pt>
                <c:pt idx="33">
                  <c:v>0.4</c:v>
                </c:pt>
                <c:pt idx="34">
                  <c:v>0.41000000000000009</c:v>
                </c:pt>
                <c:pt idx="35">
                  <c:v>0.4200000000000001</c:v>
                </c:pt>
                <c:pt idx="36">
                  <c:v>0.4300000000000001</c:v>
                </c:pt>
                <c:pt idx="37">
                  <c:v>0.44000000000000011</c:v>
                </c:pt>
                <c:pt idx="38">
                  <c:v>0.45</c:v>
                </c:pt>
                <c:pt idx="39">
                  <c:v>0.46</c:v>
                </c:pt>
                <c:pt idx="40">
                  <c:v>0.47000000000000008</c:v>
                </c:pt>
                <c:pt idx="41">
                  <c:v>0.48000000000000009</c:v>
                </c:pt>
                <c:pt idx="42">
                  <c:v>0.4900000000000001</c:v>
                </c:pt>
                <c:pt idx="43">
                  <c:v>0.5</c:v>
                </c:pt>
                <c:pt idx="44">
                  <c:v>0.51</c:v>
                </c:pt>
                <c:pt idx="45">
                  <c:v>0.52</c:v>
                </c:pt>
                <c:pt idx="46">
                  <c:v>0.53</c:v>
                </c:pt>
                <c:pt idx="47">
                  <c:v>0.54</c:v>
                </c:pt>
                <c:pt idx="48">
                  <c:v>0.55000000000000004</c:v>
                </c:pt>
                <c:pt idx="49">
                  <c:v>0.56000000000000005</c:v>
                </c:pt>
                <c:pt idx="50">
                  <c:v>0.56999999999999995</c:v>
                </c:pt>
              </c:numCache>
            </c:numRef>
          </c:cat>
          <c:val>
            <c:numRef>
              <c:f>Plan1!$B$2:$B$17</c:f>
              <c:numCache>
                <c:formatCode>0%</c:formatCode>
                <c:ptCount val="16"/>
                <c:pt idx="0">
                  <c:v>7.0000000000000034E-2</c:v>
                </c:pt>
                <c:pt idx="1">
                  <c:v>8.0000000000000029E-2</c:v>
                </c:pt>
                <c:pt idx="2">
                  <c:v>9.0000000000000038E-2</c:v>
                </c:pt>
                <c:pt idx="3">
                  <c:v>0.1</c:v>
                </c:pt>
                <c:pt idx="4">
                  <c:v>0.11000000000000003</c:v>
                </c:pt>
                <c:pt idx="5">
                  <c:v>0.12000000000000002</c:v>
                </c:pt>
                <c:pt idx="6">
                  <c:v>0.13</c:v>
                </c:pt>
                <c:pt idx="7">
                  <c:v>0.14000000000000001</c:v>
                </c:pt>
                <c:pt idx="8">
                  <c:v>0.15000000000000005</c:v>
                </c:pt>
                <c:pt idx="9">
                  <c:v>0.16000000000000006</c:v>
                </c:pt>
                <c:pt idx="10">
                  <c:v>0.17</c:v>
                </c:pt>
                <c:pt idx="11">
                  <c:v>0.18000000000000005</c:v>
                </c:pt>
                <c:pt idx="12">
                  <c:v>0.19000000000000006</c:v>
                </c:pt>
                <c:pt idx="13">
                  <c:v>0.2</c:v>
                </c:pt>
                <c:pt idx="14">
                  <c:v>0.21000000000000005</c:v>
                </c:pt>
                <c:pt idx="15">
                  <c:v>0.22000000000000006</c:v>
                </c:pt>
              </c:numCache>
            </c:numRef>
          </c:val>
        </c:ser>
        <c:dLbls/>
        <c:shape val="box"/>
        <c:axId val="78772096"/>
        <c:axId val="80155008"/>
        <c:axId val="0"/>
      </c:bar3DChart>
      <c:catAx>
        <c:axId val="78772096"/>
        <c:scaling>
          <c:orientation val="minMax"/>
        </c:scaling>
        <c:axPos val="b"/>
        <c:numFmt formatCode="0%" sourceLinked="1"/>
        <c:tickLblPos val="nextTo"/>
        <c:txPr>
          <a:bodyPr/>
          <a:lstStyle/>
          <a:p>
            <a:pPr>
              <a:defRPr lang="pt-BR"/>
            </a:pPr>
            <a:endParaRPr lang="en-US"/>
          </a:p>
        </c:txPr>
        <c:crossAx val="80155008"/>
        <c:crosses val="autoZero"/>
        <c:auto val="1"/>
        <c:lblAlgn val="ctr"/>
        <c:lblOffset val="100"/>
      </c:catAx>
      <c:valAx>
        <c:axId val="80155008"/>
        <c:scaling>
          <c:orientation val="minMax"/>
        </c:scaling>
        <c:axPos val="l"/>
        <c:majorGridlines/>
        <c:numFmt formatCode="0%" sourceLinked="1"/>
        <c:tickLblPos val="nextTo"/>
        <c:txPr>
          <a:bodyPr/>
          <a:lstStyle/>
          <a:p>
            <a:pPr>
              <a:defRPr lang="pt-BR"/>
            </a:pPr>
            <a:endParaRPr lang="en-US"/>
          </a:p>
        </c:txPr>
        <c:crossAx val="78772096"/>
        <c:crosses val="autoZero"/>
        <c:crossBetween val="between"/>
      </c:valAx>
    </c:plotArea>
    <c:legend>
      <c:legendPos val="r"/>
      <c:txPr>
        <a:bodyPr/>
        <a:lstStyle/>
        <a:p>
          <a:pPr>
            <a:defRPr lang="pt-BR" sz="2000"/>
          </a:pPr>
          <a:endParaRPr lang="en-US"/>
        </a:p>
      </c:txPr>
    </c:legend>
    <c:plotVisOnly val="1"/>
    <c:dispBlanksAs val="gap"/>
  </c:chart>
  <c:externalData r:id="rId1"/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tângulo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Retângulo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Retângulo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Retângulo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Retângulo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Retângulo de cantos arredondados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Retângulo de cantos arredondados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Retângulo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tângulo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29412F10-B6B7-4017-8F33-CF34CD4EDEED}" type="datetimeFigureOut">
              <a:rPr lang="pt-BR" smtClean="0"/>
              <a:pPr/>
              <a:t>01/06/2014</a:t>
            </a:fld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pt-BR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55C8A103-1740-444E-8E9F-663F9955346D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400">
        <p14:doors dir="ver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12F10-B6B7-4017-8F33-CF34CD4EDEED}" type="datetimeFigureOut">
              <a:rPr lang="pt-BR" smtClean="0"/>
              <a:pPr/>
              <a:t>01/06/2014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8A103-1740-444E-8E9F-663F9955346D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400">
        <p14:doors dir="ver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12F10-B6B7-4017-8F33-CF34CD4EDEED}" type="datetimeFigureOut">
              <a:rPr lang="pt-BR" smtClean="0"/>
              <a:pPr/>
              <a:t>01/06/2014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8A103-1740-444E-8E9F-663F9955346D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400">
        <p14:doors dir="ver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12F10-B6B7-4017-8F33-CF34CD4EDEED}" type="datetimeFigureOut">
              <a:rPr lang="pt-BR" smtClean="0"/>
              <a:pPr/>
              <a:t>01/06/2014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8A103-1740-444E-8E9F-663F9955346D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400">
        <p14:doors dir="ver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26" name="Espaço Reservado para Data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29412F10-B6B7-4017-8F33-CF34CD4EDEED}" type="datetimeFigureOut">
              <a:rPr lang="pt-BR" smtClean="0"/>
              <a:pPr/>
              <a:t>01/06/2014</a:t>
            </a:fld>
            <a:endParaRPr lang="pt-BR"/>
          </a:p>
        </p:txBody>
      </p:sp>
      <p:sp>
        <p:nvSpPr>
          <p:cNvPr id="27" name="Espaço Reservado para Número de Slide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55C8A103-1740-444E-8E9F-663F9955346D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28" name="Espaço Reservado para Rodapé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pt-B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400">
        <p14:doors dir="ver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29412F10-B6B7-4017-8F33-CF34CD4EDEED}" type="datetimeFigureOut">
              <a:rPr lang="pt-BR" smtClean="0"/>
              <a:pPr/>
              <a:t>01/06/2014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55C8A103-1740-444E-8E9F-663F9955346D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400">
        <p14:doors dir="ver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12F10-B6B7-4017-8F33-CF34CD4EDEED}" type="datetimeFigureOut">
              <a:rPr lang="pt-BR" smtClean="0"/>
              <a:pPr/>
              <a:t>01/06/2014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8A103-1740-444E-8E9F-663F9955346D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400">
        <p14:doors dir="ver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12F10-B6B7-4017-8F33-CF34CD4EDEED}" type="datetimeFigureOut">
              <a:rPr lang="pt-BR" smtClean="0"/>
              <a:pPr/>
              <a:t>01/06/2014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8A103-1740-444E-8E9F-663F9955346D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400">
        <p14:doors dir="ver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12F10-B6B7-4017-8F33-CF34CD4EDEED}" type="datetimeFigureOut">
              <a:rPr lang="pt-BR" smtClean="0"/>
              <a:pPr/>
              <a:t>01/06/2014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8A103-1740-444E-8E9F-663F9955346D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400">
        <p14:doors dir="ver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12F10-B6B7-4017-8F33-CF34CD4EDEED}" type="datetimeFigureOut">
              <a:rPr lang="pt-BR" smtClean="0"/>
              <a:pPr/>
              <a:t>01/06/2014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8A103-1740-444E-8E9F-663F9955346D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400">
        <p14:doors dir="ver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12F10-B6B7-4017-8F33-CF34CD4EDEED}" type="datetimeFigureOut">
              <a:rPr lang="pt-BR" smtClean="0"/>
              <a:pPr/>
              <a:t>01/06/2014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8A103-1740-444E-8E9F-663F9955346D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400">
        <p14:doors dir="ver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tângulo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Retângulo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Retângulo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Retângulo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tângulo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Retângulo de cantos arredondados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Retângulo de cantos arredondados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Retângulo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Retângulo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Retângulo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Retângulo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Retângulo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Retângulo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 smtClean="0"/>
              <a:t>Clique para editar 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29412F10-B6B7-4017-8F33-CF34CD4EDEED}" type="datetimeFigureOut">
              <a:rPr lang="pt-BR" smtClean="0"/>
              <a:pPr/>
              <a:t>01/06/2014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pt-BR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55C8A103-1740-444E-8E9F-663F9955346D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mc:AlternateContent xmlns:mc="http://schemas.openxmlformats.org/markup-compatibility/2006">
    <mc:Choice xmlns:p14="http://schemas.microsoft.com/office/powerpoint/2010/main" xmlns="" Requires="p14">
      <p:transition spd="slow" p14:dur="1400">
        <p14:doors dir="vert"/>
      </p:transition>
    </mc:Choice>
    <mc:Fallback>
      <p:transition spd="slow">
        <p:fade/>
      </p:transition>
    </mc:Fallback>
  </mc:AlternateConten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gif"/><Relationship Id="rId4" Type="http://schemas.openxmlformats.org/officeDocument/2006/relationships/image" Target="../media/image15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image" Target="../media/image27.wm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39552" y="1196752"/>
            <a:ext cx="8458200" cy="1470025"/>
          </a:xfrm>
        </p:spPr>
        <p:txBody>
          <a:bodyPr/>
          <a:lstStyle/>
          <a:p>
            <a:pPr algn="ctr"/>
            <a:r>
              <a:rPr lang="pt-B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PREÇO DE TRANSFERÊNCIA</a:t>
            </a:r>
            <a:endParaRPr lang="pt-B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47664" y="4221088"/>
            <a:ext cx="6872808" cy="2351112"/>
          </a:xfrm>
        </p:spPr>
        <p:txBody>
          <a:bodyPr>
            <a:normAutofit/>
          </a:bodyPr>
          <a:lstStyle/>
          <a:p>
            <a:pPr algn="ctr"/>
            <a:r>
              <a:rPr lang="pt-BR" sz="2000" dirty="0" smtClean="0"/>
              <a:t>Alunos: André Lezan; </a:t>
            </a:r>
          </a:p>
          <a:p>
            <a:pPr algn="ctr"/>
            <a:r>
              <a:rPr lang="pt-BR" sz="2000" dirty="0" err="1" smtClean="0"/>
              <a:t>Elen</a:t>
            </a:r>
            <a:r>
              <a:rPr lang="pt-BR" sz="2000" dirty="0" smtClean="0"/>
              <a:t> Iule Back; </a:t>
            </a:r>
          </a:p>
          <a:p>
            <a:pPr algn="ctr"/>
            <a:r>
              <a:rPr lang="pt-BR" sz="2000" dirty="0" smtClean="0"/>
              <a:t>João Felipe Bender da Rosa; Rafael Biernaski</a:t>
            </a:r>
          </a:p>
          <a:p>
            <a:pPr algn="ctr"/>
            <a:r>
              <a:rPr lang="pt-BR" sz="2000" dirty="0" smtClean="0"/>
              <a:t>Professora: Cristiane Gebran</a:t>
            </a:r>
          </a:p>
          <a:p>
            <a:pPr algn="ctr"/>
            <a:r>
              <a:rPr lang="pt-BR" sz="2000" dirty="0" smtClean="0"/>
              <a:t>Disciplina: Controladoria</a:t>
            </a:r>
          </a:p>
          <a:p>
            <a:pPr algn="ctr"/>
            <a:r>
              <a:rPr lang="pt-BR" sz="2000" dirty="0" smtClean="0"/>
              <a:t>Turma: S63 – Administração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xmlns="" val="5221299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Introdução/Sumário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Modelo – Custo de Oportunidade</a:t>
            </a:r>
          </a:p>
          <a:p>
            <a:r>
              <a:rPr lang="pt-BR" dirty="0" smtClean="0"/>
              <a:t>Preço de Transferência – Conceito</a:t>
            </a:r>
          </a:p>
          <a:p>
            <a:r>
              <a:rPr lang="pt-BR" dirty="0" smtClean="0"/>
              <a:t>Exercícios em Sala – Parte 1</a:t>
            </a:r>
          </a:p>
          <a:p>
            <a:r>
              <a:rPr lang="pt-BR" dirty="0" smtClean="0"/>
              <a:t>Modelos de Preços e Negociação</a:t>
            </a:r>
          </a:p>
          <a:p>
            <a:r>
              <a:rPr lang="pt-BR" dirty="0" smtClean="0"/>
              <a:t>Modelos de Custos</a:t>
            </a:r>
          </a:p>
          <a:p>
            <a:r>
              <a:rPr lang="pt-BR" dirty="0" smtClean="0"/>
              <a:t>Exercícios em Sala – Parte 2</a:t>
            </a:r>
          </a:p>
          <a:p>
            <a:r>
              <a:rPr lang="pt-BR" dirty="0" smtClean="0"/>
              <a:t>Conclusão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xmlns="" val="18080781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 smtClean="0"/>
              <a:t>Conceito básico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09728" indent="0">
              <a:buNone/>
            </a:pPr>
            <a:r>
              <a:rPr lang="pt-BR" sz="2400" dirty="0" smtClean="0"/>
              <a:t>Peça fundamental na tomada de decisão</a:t>
            </a:r>
            <a:endParaRPr lang="pt-BR" sz="2400" dirty="0"/>
          </a:p>
          <a:p>
            <a:pPr marL="109728" indent="0">
              <a:buNone/>
            </a:pPr>
            <a:endParaRPr lang="pt-BR" sz="2400" dirty="0" smtClean="0"/>
          </a:p>
          <a:p>
            <a:pPr marL="109728" indent="0">
              <a:buNone/>
            </a:pPr>
            <a:r>
              <a:rPr lang="pt-BR" sz="2400" dirty="0" err="1" smtClean="0"/>
              <a:t>Frederich</a:t>
            </a:r>
            <a:r>
              <a:rPr lang="pt-BR" sz="2400" dirty="0" smtClean="0"/>
              <a:t> </a:t>
            </a:r>
            <a:r>
              <a:rPr lang="pt-BR" sz="2400" dirty="0"/>
              <a:t>Von </a:t>
            </a:r>
            <a:r>
              <a:rPr lang="pt-BR" sz="2400" dirty="0" err="1"/>
              <a:t>Wieser</a:t>
            </a:r>
            <a:r>
              <a:rPr lang="pt-BR" sz="2400" dirty="0"/>
              <a:t> quem deu origem à </a:t>
            </a:r>
            <a:r>
              <a:rPr lang="pt-BR" sz="2400" dirty="0" smtClean="0"/>
              <a:t>expressão </a:t>
            </a:r>
            <a:r>
              <a:rPr lang="pt-BR" sz="2400" dirty="0"/>
              <a:t>“custo de oportunidade</a:t>
            </a:r>
            <a:r>
              <a:rPr lang="pt-BR" sz="2400" dirty="0" smtClean="0"/>
              <a:t>”</a:t>
            </a:r>
          </a:p>
          <a:p>
            <a:pPr marL="109728" indent="0">
              <a:buNone/>
            </a:pPr>
            <a:endParaRPr lang="pt-BR" sz="2400" dirty="0"/>
          </a:p>
          <a:p>
            <a:pPr marL="109728" indent="0">
              <a:buNone/>
            </a:pPr>
            <a:r>
              <a:rPr lang="pt-BR" sz="2400" dirty="0" smtClean="0"/>
              <a:t>Definição:  O </a:t>
            </a:r>
            <a:r>
              <a:rPr lang="pt-BR" sz="2400" dirty="0"/>
              <a:t>valor de um fator de produção </a:t>
            </a:r>
            <a:r>
              <a:rPr lang="pt-BR" sz="2400" dirty="0" smtClean="0"/>
              <a:t>em </a:t>
            </a:r>
            <a:r>
              <a:rPr lang="pt-BR" sz="2400" dirty="0"/>
              <a:t>qualquer uso que lhe fosse dado, sendo tal custo de oportunidade “a </a:t>
            </a:r>
            <a:r>
              <a:rPr lang="pt-BR" sz="2400" dirty="0" smtClean="0"/>
              <a:t>renda líquida </a:t>
            </a:r>
            <a:r>
              <a:rPr lang="pt-BR" sz="2400" dirty="0"/>
              <a:t>gerada pelo fator (de produção) em seu melhor uso alternativo”.</a:t>
            </a:r>
          </a:p>
        </p:txBody>
      </p:sp>
    </p:spTree>
    <p:extLst>
      <p:ext uri="{BB962C8B-B14F-4D97-AF65-F5344CB8AC3E}">
        <p14:creationId xmlns:p14="http://schemas.microsoft.com/office/powerpoint/2010/main" xmlns="" val="8805134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 smtClean="0"/>
              <a:t>Conceito básico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pt-BR" sz="2000" dirty="0" smtClean="0"/>
              <a:t>Pressupõe  uma alternativa </a:t>
            </a:r>
            <a:r>
              <a:rPr lang="pt-BR" sz="2000" dirty="0"/>
              <a:t>viável e, portanto, </a:t>
            </a:r>
            <a:r>
              <a:rPr lang="pt-BR" sz="2000" dirty="0" smtClean="0"/>
              <a:t>existentes </a:t>
            </a:r>
            <a:r>
              <a:rPr lang="pt-BR" sz="2000" dirty="0"/>
              <a:t>para o consumidor ou para o empresário. </a:t>
            </a:r>
            <a:endParaRPr lang="pt-BR" sz="2000" dirty="0" smtClean="0"/>
          </a:p>
          <a:p>
            <a:pPr marL="109728" indent="0">
              <a:buNone/>
            </a:pPr>
            <a:endParaRPr lang="pt-BR" sz="2000" dirty="0"/>
          </a:p>
          <a:p>
            <a:pPr marL="109728" indent="0">
              <a:buNone/>
            </a:pPr>
            <a:r>
              <a:rPr lang="pt-BR" sz="2000" dirty="0" smtClean="0"/>
              <a:t>Pressupõe uma  decisão </a:t>
            </a:r>
            <a:r>
              <a:rPr lang="pt-BR" sz="2000" dirty="0"/>
              <a:t>efetiva sendo tomada e que, o sendo, acarreta o sacrifício/abandono </a:t>
            </a:r>
            <a:r>
              <a:rPr lang="pt-BR" sz="2000" dirty="0" smtClean="0"/>
              <a:t>de outras </a:t>
            </a:r>
            <a:r>
              <a:rPr lang="pt-BR" sz="2000" dirty="0"/>
              <a:t>(s) que não foi o (</a:t>
            </a:r>
            <a:r>
              <a:rPr lang="pt-BR" sz="2000" dirty="0" err="1"/>
              <a:t>ram</a:t>
            </a:r>
            <a:r>
              <a:rPr lang="pt-BR" sz="2000" dirty="0"/>
              <a:t>). </a:t>
            </a:r>
          </a:p>
          <a:p>
            <a:pPr marL="109728" indent="0">
              <a:buNone/>
            </a:pPr>
            <a:endParaRPr lang="pt-BR" sz="2000" dirty="0"/>
          </a:p>
        </p:txBody>
      </p:sp>
      <p:sp>
        <p:nvSpPr>
          <p:cNvPr id="4" name="AutoShape 2" descr="data:image/jpeg;base64,/9j/4AAQSkZJRgABAQAAAQABAAD/2wCEAAkGBxQQEhQUEhQVFhQXGRgVFxYYGBcYFxcXGBYeGBgYFBwaHiggGBolHhQYITIhJy0rLi4uFx8zODMsNygtLisBCgoKDg0OGxAQGy8lICYtLCwsMC8sLCwsLDQsLCwsLDAsLCwvLCwsLyw0LCwsNCwsNywsLCwsLCwsLCwsLCwsLP/AABEIANcA6wMBIgACEQEDEQH/xAAbAAEAAgMBAQAAAAAAAAAAAAAABAUDBgcCAf/EAE0QAAIBAwEEBgQJBwoEBwAAAAECAwAEERIFEyExBiJBUWFxB4GRoRQjMkJSYpKxwTNyc4KiwtEkNENTVGR0o7KzNWOTwxUWJUSDtPD/xAAaAQACAwEBAAAAAAAAAAAAAAAAAgEDBAUG/8QALBEAAgEDAwQABQQDAAAAAAAAAAECAxExBBIhEzJBUQUiYaHwcYGRwSOx0f/aAAwDAQACEQMRAD8AtumEJfadwd7NGyRwBTHLJH1GVjghSARqB51GSa6X5F/dr4Fo3/1xk1ddOrfRtAP2S24Hm0Mhz7plqorLUlJS4ZdFJokRbZv0HC9Y+LxRN9wWvh6Q7UHK7hPnbD8JKwVWPt2PUVRZpSpw26id1BHMagMZFL1JeyXGJer0o2oP6a0bzgcfdJWRemO1B2WLfqTD9+qODa0bEA642PACWN4snuUuACfAGvZ2nFrZA+XX5SqrMV89IOKnqyI2xL0dONpDnDZnyeVfwNe16fX/AG2dsfK4cffFVDFfxs2kONZ4hTlWI7wrAHFSaOtINkS4HpCve2whPldEf9mvS+kG8P8A7CEed2fwgqlpU9aQdNFrP002g3yI7SPzMspH+ge6pHQTpBfT30sNzJFJGsAl6kejSzSFQOZJ4K3uqiq19HI/9Ruj3W0A9ssppqc5OVmRKKSOmUpStBUKUpQApSlAGodIensdpcNALe4mdFRm3QQgB86flMPon2VCT0pW4/KW17H4mAsP2CaoukQ/9TvD9W3X2K5/eqPVEqrTsWRgmrm4W3pO2a/Ocx/pY5E+9atIOmez3+TfWp8N/GD7C2a523HnxrC9qh5oh81X+FR1/oT0zq6bdtW5XMB8pUP41kG1YDymi/6ifxrjsmyIG+VDEfNF/hWE9HbX+zw/YFT116I6bO1i/iPKSP7S/wAa9fDI/pp9ofxriB6NWn9ni+zXn/yxaf2eP2VPXXoOmzugmU8mX2ivWsd4rhH/AJWs/wCzx+/+NZU6P26/JiC/ms6/caOsg6bO55r7XLfRNbhL3aAUtpWO1HWd3OTvTzck+qupVandXEasab6RbfIt5McVdkz9V0yffGtahVr6V4mW5spC7iPEqlQzBNalGUleROje+yqqs9ZcltN8CrLZm2GsdmytFGrtHcFNJJUATTAhmIBOAJgfVVbVn0chjna5tJhlJ4w+MkEhTofBHIjVHXP1kU6d5K6TTf8AY7LPYd8u17eeG7gXqNupAp1RsSoYGNsAggMOwEGtX6OWl3a7OuGtGaW4+GOjNpR3aKJxAcBiASFj1edbbtbaFtsa1CxIAeKwQL8qWQ+88eLMfM1rvQ7bTWOzA83xj/DDFKQcdaacan5ccbzOO3wrnQ3bJSpx+VyVk/ORfJM2bbTXdpcHa8YVFy0UkipHMqquS53ZxGQeRBBrX9kSM8ETOSWKKSSME8OZHYSOOPGrDpzazG8UXMrNaS43EQ6se8UZZJgPyh4alzw4Hhw4xLe6STVoZW0kq2kg6WHMHuNdHSR+Rz4s+bLC/PJKM1KUrUMKuPRsv8vvT/ybdffIfxqnq+9GS5ub4924X/LJ/GraPcV1MHQ6UpWopFKUoAUpSgDke2WztC+8JIl9kCn9+sVfdoHN/tD9Oo9ltFXysdTuZohgCtQKWrfG3TSa5JJgDrlAURyFBjQcKoAHE1t4rWBZTEhoAhKSXSHWSABI563DnjPKlRq0qbk7RUnbhNX8olXMU1qhkhdpo1GTFIctp55ifGc+BzXi5uJgqtLdRwhhqCxxhzjGSdT51DjzwKtLdFtrdQ7ZWKMBmPaEXBPuqq2Zspnit5d7JG4iCnTp4ox1AHUDjhjiKhS9nUq6KF7why1i/C5X5+xJj+EKgeOZLhcasMqoXH1HTgD5jHlVlZXKzRpIudLqGGeeCM8ao4rxJE+DWRJUDQ0wOUjU88MflyYJwB2nJq/ghEaqijCqAoHgBgVP6nO1kaMZJU/XNndX+h7pSlQZC+9E1v19oy/SnSP1RwqfvlNdDrlfou2vKty9qUQxSme5DjOtSs26w/Yc6eHlXVK3RwjM8lF0w6PRX9u0ci5ZQzxHJBWTQQrDHnyrm9vLrRW+kA3tGa7IRXG4F06l+g8ifYkZfwqmuuEx6ZkrBcwuSjRSvC6E4dNOrDDDL1gRg8OzsFZ6VmzktIlts9UcyEtJK3AyyMXkI7snkPAYFRbvo5bSsWePJJ1HBYZbvwDjNT3s3uJYYIpDEZGJZ1ALCNFLOVB4Z+SP1q24dArUrh2uHOMajPKrHxIjKrnyFUVtXToNKV7/AEINJj2TEGViGZlOVLu7lT3jWTivdps9YmJUty0gE5VV1l9Kju1Ox9dR+jwZYmR2ZmjlmiJYkt1JCBknierpqzrQSrClKUEitg9Ff5XaJ/5sI9luv8a1+tj9Fa9baB75091ulW0e4rqYN+pSlaikUpSgBSlKAOP7Q/n20P8AED/60VfK+7S/4htD9Oh9ttF/CvlY6nczRHAqgtb+SJ5k+DTuTK7gqoCFWIwdbECr+maQuo1p0pboZNf2ns6a5jcz4CBWK26EnUwB0mV+Grjx0gYz31Xx7WYNY6UuNKIyTKIZeGUUA4x1sFTVrP0kQsUt0e4cc92OoPznPVrL8KvcZMEP5m9bV7dOnNNjJppVNTJucU3e3NvTv+IjCRomd7aCQoyu7oRu1MgXKlA3HUxGDgceB5jjYbFvJJo9UsZjOogcGGoYHWAbrDmRx7qy7OvROmoAqQSrK3ykYc1b2+8VKqG/BlqTc5uTVhX1edfK+O2AT3An2DNQIbX6MdgRR28d2C7Szx8SzEhUaQvpQclGTmt3qn6HQ6LC0Xugi96A1cVvMorkN8NN1eLy03DY8nRJP3zXXq5T0hGNoXg72hf7UKj9yqq3aPTyRKUpWUvLfoVba7qSQjhFEEB+tK2pseQiT7VedmdNHk2rLbtj4KSbeJuH84iXXJx58QSO7qe310T2qsKx5xi5kyDx+dqWM+WmFf8AqCtcstr7GSU3K2t02JWlE5Vmj16zmRfjMAau0iuTUh1KtRuLfFlbx+WEbJm2rb4NtG4TGFuAtzH4tgRygeIKqf1hSrDpczXcDSon8oszvhj+kjMkkcqKOZykZPicVV28yyKrocqwDA94IyK26We6mk8rh/19iUZKUpWkYVs3orHC+P8AefuhjrWa2b0UjqXp/vTf7UdXUe4rqYN7pSlaSkUqPBexyMyJIjMmNaqwJXOcagOXI+ypFAClKUAcj2yMbRvvz4j/AJIH4VirPt//AIle/wDwH/LP8KwVjqdzL4YFYb0ZjkH1W/0ms1eJlyrDvBHupBjVY3dLKy0bwIQgl3IBk0mMkY4cOOONTNjs0O9lmaSODA0rO4Z8gklz9HhgaedfNjbWEVrHrBOlYIlCjLOzQqwAyQM5J9le9pGO50RXVvJGGbEbkrwfHAAox0tgdvDhU84aO6nCMoyU/msrJuy9ckno+hImlIKiaTeKpGCFCqoJHYTpzjyq2qq2FeM+tHOpo9JDngXR1yhbHDVwIPlntq1oeTizvue7N3cVF2o+mGU90bn9g1Kqu6R5+CXGOZjcD1jH41CyIzs+yItEEK/RjRfYoFS6+KuAB3cK+1vMwrlvS9dO05h9KC3f9qVP3K6lXNencWNohvpWqL9iZz/3Krq9rGhkqKw3kReN1VtDMpUNjOkkYzjtrNSshoIdpPeRrGP5GzRKFiYpKNOFVQcBsE4RaxbJ2bu7ZYJdLdUq+PknVnV99WNKWMYx7UQkRLeS9WPdfCURQNGtIhvnUctbsSoPeQvaa+7NsVt41jTOkZ5nJ4nJ95qVSiMYxwrAkKUpTEitl9E7dS+/xTf7Uda1Ubor0leH4dBBhXNzraZxlI1KKOqMgNISpAB4Dmc8i8JxheUsCSi5WSN69IvSR7GONopreNiSWWUFpGTHOFAw1HPZWu3HSe9uYxGTEkbgM08etJShHyFRs7tj9LVwGeAPGq0bNUzfCJGeWfGN7I2Wx3ADCqOJ4AAcajbfunjClWYZOAFHWZs/OYhtK8RwAJJIArDW18qkttLj9S+GmUVeZk2bc31jMXt/g7RO6B4tJVlgQnqxsTgMdTdnM9tdM2J0phum3fWjlwTu5AAxA5lCCVcDwJx21oUSFQAWLEcCTjJ88YFYdoWm9UDUUdSHjkX5Uci/Jdf/ANxGRVen+ISg1GXaPU0ylysnYKVRdDttG7tw0mBMh3cyjlrHzl+qylXHg3hV7XdTTV0c5q3ByXpH/wAUvPzLY/sv/CsFZOkLZ2te/o7X7pKx1kq9zL4dooaUpBzQ9nyRSoqNNu3V43ADIro8Y3JyHGOQzU/aE0EDRus++m1qNTPvXCZ64iQcAzDhwA51s09nHJ8uNG8SoJ99Leyjj4pGinvVQD7qa5qjqrLtV/ZX9HbR1VpJV0vJp6nPQiLpVSe/mT51b0pSszNtu7FRNrJqiZfpFF+04H41LqNfH8kO+e3X7Vwg/GpjlCvB2qlKVuMwrnvpFGLu2PfDMPY8RH3muhVonpIX420b9MvtVW/dpKnaxo5NZpSlYzQKUpQApSlACoL7TBd0jinmZCA+7jJCkjIBY4GcHsqdVNsu+uFuLuG3aOMbyOZpGUuevEqBVXIH9ESST3cKspRUnZiTk0rokw7XQxyOwePdNodXXDq2AcYGck6lxjvqn2JbQzXMgeN1kjlkl0vvBrPVCl1PUGjIwOeTk8qJbSy/+IRyMrzbxJAVGhWYIrLwydOd2BWybWMstxaXsTobWVBA6Y6wciRyeXDrAA8c5XBqnUrbCSiPS5abPNltASSyLxyOQ7lHDJ8TnPkfA162zAzxMY87xQzIO9yhUZ8tWfVUKaLc3aSfNlG75cicscY7SwXj9Y1d1xZWi1JG5cppnxVwAO4Y9lfaVDhvNUzIuCqorE/WLsuP2KrSb5GMvQm8i2TPPEEuZROBLGkY3mlU6rjGRgLqXj3MB2V1PZO0Y7qFJojlHGpSQQe4gg8QQQQR3iuYWEwS8jc8AkFw7HuQGP8AED2VvnQW2MdhbBhgsm9IPMGVjKVPkXx6q9FoqsqlNbvzJzdRBRlwc56WXUcO1bsyOqBktgCxwC2mQ4Hqrxb3ccmd26PjnpYHHnisfS283W3yRGZTuhhBgEEpgOS3AKOI7+NQ22ibi/60BhZLfSQSp1EyZ1KV+UMYq6pT4ciuE/BbUpSs5cKUpQApSlACo12Mtbj+9WvuuEP4VJrGRma1Hfcw+5s/hTQ7kLLDOy0pStpnFaH6UchrAj+ukB9dvJ+IFb5Wm+k5fibdvo3MY+2rJ+9Sy7WSsmoUpSsRpFKUoAV50O7xxRY3khIBbOlQqlmdgOJAxy7SRQSAkrkahxIyMjPLI5is3R2Npb0MvGOGORZGHLeSadKA9+ASe7h31D4VwSu7EOwlZ0y2CQzrkDAYK5UOBk4Dac4ycZqqkttFxPLi5DssYR4RG6sADqV1dgCc44++rW0j3euIHIhd4Q3eqHCk+OMA+INSKsjPa7oWUbqxrnRqxkkurgRiWNCsZlkm0NMXIPyAnUXI88Acjmtil6MFIpEt7iWMydY6/jUMmQwkAOCjgjmpHiDyqR0Wjwtw3a07E/qoiAfs++rqplK7OdUqzjO0Xg0g76OIx37qkgbMc4IWNzjqYPAKw7jir5OQ8hVrcQLIrJIoZGGGVhkEeIrV7yVdmqFk1m35ROFLlO6J8ceHzSeY4cxk83U6W6vT/j/h0NJrVJ7Z59krapk3TCH8ow0qexSfnHwHP1Cq63lhsmWEsWmkUEKASzaFC+ZJOo5PMk9xqRYzS3uloMwxqQXaWM5ZgeMSqSDw+c3kB24vdm7MWAu2dcjnLyEYJwMBVHzUA5L5niTmlo6STVp8L7j19bCHby/sa5s/ovPKLhrqYx/CMK0cWkkRAYEZdgcL3hQO3jxrfOhu15UnNlPIZfi99BIQquUVgjo+kBSVLIQQBkNy4ZMSoW93e0NnN9KSaE/rwk/uV1aTs7LBzY1pyn8zNY6clxt1jEYw5jC/GtojKCPUQWxwYnGD4VGsJHlvJDLug0MSqqxSb1cSsWJLDHHqDhir/pHEr7QvdShgGh4MAQCIs8M+dQII5WmeKFIRhBIqtlGm4nWEYDSCvDgQflDlT1KnDibIQ5TJlKxW02tQ2COYKnmrKcMreIIIrHd7QiiIEjqpPEKT1m8FHMk8gBzrPYtJNKxW04kBwCCrMjKwwysh0sCO8EVloAUpSgkVjT+c2Q77qP3I5/CslY4v55s//FL/ALMtNDuQssM7LSlK2mcVqfpOTNjq+hNbt/noP3q2ytY9JP8Aw248BG32ZUb8Kh4BGimlfTXysJqFUFxIkzhppYYTC7gQzQzS7wHAD9TGcgZGkkjPqq/pUpkFBs20tV1MYrm61OZAqI1vCCQFIBmYSMMDkzEeFX1t0v8AgihRs2SKBf6tom0gnJOhD66+0qHZ5GTawetr2QtUa5hDSW0mqdtPWZDJ1y47XjJOe0qT3comzb5Z4w6ZAPMEYZT3MOw1BkeZ5jaQviCYaZkPHSpGqVouIMfAqpxwzKOGcmpfSKJt7NNC+6W3hJkOkMssmNSRsM/NUDiMHrjjTKLtyUVK8VK38lr0YbKTeE8g/ZQ/jVxVF0JiYWis/wCUkZ5JOzDs2CuOzGkD1Vc284cZGeZUg8CCpwQfZQ8nNqO8mzJXx8YOrGBxOeQA45PlX2qnpTIy2spUA8OIOSNPbkDmMc/DNCFXLJmzLppoxIRpD9ZAcg6D8ktnkSOOOzNSqx2wIRM6idK5LY1Zx87HDPlWShgKg3sebjZ7fRu0z5NFIv3kVIvbpYY3kf5KKXbyUZNV22bwrai4wVMRiuMcM6Y3DsPWgYeumhlMaHEkzHtn+f336SMeyBP41HSPXPajODv0YH8wMzD1hSvrptK7Eu07yGJhvGZZMkZVU+DxdY458SMDtrD0ag3AMt5NvpI5pUhjXAZmBIDMO06W4clUH11FVctnVpyTaiXs/Q8F5ZI7meMyOZCuInjVj8rSGTPHHfVD0g2DDbFXub6TrNGVRIk3ztFqKCIKCR+UbJxipM19czMTJMY07IYTpAHZqkwHY+RUeHbWGO0RW1hRrxjWeL47ixyffVUVJZZbJx8IgNZpL+TtRApbUZpGMl25zknOTuyeHEknmMCrWlKYUUpSgBXi3/nuzv8AEj/Ylr3Xi2/n2zv8Sf8AYkp6fchZYOyUpSthnFc19L20pwBbRsqxvbXE8mU1M+40sEU56uc8+NdKrTvSR0aS7t5JtciSwwXAQoRgh4+sjgg5U6QOw9xFAGnIcgeQ+6vtY4mARSSBwX3gVkrAahSlKAFBSlAFZ0cvobcSszaruaVwIWPXGZDu41HYmMEsOHb2Ctiu9mFoDECCWZS5PDUd4GkJ88Hh5Cqi9sY510yorjxHEeR5g+VfbK5ntsDLXEPcx+OjH1WPCUeBwfE097mGrp5X3R5LvZNoYVkU8t7I6cc9WRtfHuwzsMeFQ4Q8N4wLaorgGRQeBjkjVQw8VZQDnnle2p9jtKKcfFuCRzXk6+DKesvrFQt6JL4KDncRNr8HmI0jz0oTj6woMnN3ct68Sxh1KsAVIwQeRHca90pRRmlKUAVfSkZsrr9DL/oNVXSFJX2ckMYJkljRCcZ0qItchPmF0+bCtg2pDrhlT6SOvtU1i2Dcb22gf6UUZ8joGR6jkUydkOnZFJZbOWyNi4GMoYJmPNpJVQqzk8T149P6yiqrbkYt79pCoBdonDcMsj4hlXPcraGxW37bkg3TJcMArgrpydbfowOsWHPhy4Vpu04ri+gSGWMAxvlbh20uyqeBMSg4Zl5gkceymT9l1FScro2ClDSqjpClKUAKUpQB8Phzrzafz7Z3+IP+xJXuo2w5NVzspjzMwPttpDT0+5CywdqpSlbDOKrOk7Ys7k90Mp/yzVnVH05fTs68P93lHrMZA++gDmsZARc8AAv3CvaqQTk5yeAxyGMY8eOT66ibXOm3k8F+7FZbVyTJnsfh5FFP41hNJIpSlQSKUpQApSlAEe6sY5sbxFbHIkcR5HmKiejwwIbhI3XUWTUuoFtWk6uBOTgnHqqzFar0lsi72LJHG4S2R2BOlm+OlGAQOfDjnuFX0YSqXijPXjuVjpdK5YNtXNqysszxQs7KI5xv1jUKMa2GWGTnjq4A1sNr0ylEAnkhjkjLImqCZS2p8Yyj4I4sBzODmpqaecHZowujLxyblStbi6a27My6LgOmCy7osRnlxUke+sW1Ol5jISO2kMjIZVEhRAyju0ljnjyOKRUpuW23IvTl6NpFUvQrYc1wbm3+E7qC3maNTEgMzB/jQNb6lXAk04C54Vqe2ukNzcJIIGlUaQVZUWFc4ywYyEyHB4DTjNdu6JWcUVnAIVCoY0fxYuoYsx5sxJySeJzV0aEo8zWS+nStk4/0bjwshJZ3E00Zkc5dlSVlXUfIeVW9UWy7gxwO/wBK5k9j3JXPsNXtZp9zN8cClKUowpSlAClKUAeHXme3BHq51RjaL2kezrhIxK0RWTQW0agLWTPWwccOPKri5uAhRT/SMUHnoZv3arV2Z8JGzrfW0YkdIyy41BTbSZAyCOIGPXVlPuQksHdLObeRo+NOpVbHPGRnHvrNWK2hEaKgzhVCjPPAGBnx4VlrWUCtZ9JT42bceIRPtyov71bNWo+lSQLs98kAGW3BJOAB8IQ8fZUPAGg7ZGYZR9RvurDJKY2Y9hkTP5u64/6amTqJEYAghgQCOI4+Ir7JAGBB7fvxgGsRpPSuDwB44B9R5fca9Vhgt9JJzklUU/qA8fXqrNUAKUpQSKUpQAFUs3FbZv8AkFfsXU4q6FUwT+T2p/xaHzS9kOPY4ro/C3/nX54ZTWwYqwNYxFtRijLDjq0LnI5HOKkUr07SeTKRJtmxOxdl6xwCQzDOOWcEZrLBapHnQirnngAE+Z5ms1KVQindLkLnwjNdh6Fy42bZsey2iz+rGM/dXHs10uwutxsCOTusVYDzhyPvrnfEsR/ceBzW1T+QKTzIEnrMmv8AGrt34jGTkkZHIc+J8OGKg3dvothGOSrGnsKj8Kz2Ug04J46pAPHDmvNvnk1ok0pSoGFKUoAUpSgCt20vWtj9G4TPkUdf3qnbLTTc7O+rOg/yZF/Go+1VygP0Xjb2SDPuzWe3cCa0JOALmMevUU+849dPDKElhnZqUpWwoK3bSTlR8HbB7RhQT46nBCgfmmta2z0Smu4gtw5mBI+KMpVOeSZGVBqx2BEU+PbW70oA5VL6KF1fFhYhkZaN5FJAHDADdVc9hJY/TXlX1vRrPpG7uZ4+fypFdj25bK6RjkEHfxeuqUqGkwuciuPR9fIRpu5SCR2RNpGCTr6ozjHZzLAYwC1fW6C343f8qfradXxUZC6iTg456QoBbllx2A11yvlRsj6J3M4muwr7TlpmTjGpD26grvIuDNxwVE43ZI5Drcq+Lsa9HEzgZUsA9vgjqgHXg8lkDI+nJXqtjScjt1fMUbI+idzOFz2W0UOC9qMlQu8R0GT80sH0qT80k6X7Gzwr5c2m1Y2KmK0YggDDuurPYNR6rfVOCfm6q7nJCrAhgCCMEEAgjuPhUO/2PDMoV15DClSVKjuBHZ4Hh4VHTj6Dczi92+0Ex8Rb6SCDJvm0I4+ZKSo3LHs16R41JvbNrW1topTmZpZ5HIAVcyAPhATqwNPPGDgkE10puiaq6tFK6gDBU9bA7dDHiB9Q6o/qiqH0lbLjt7DeghTFLCwA6qsXkETYTkpKyMerjlxq/TbadWMl7Fk20aEaqNoXU8QLqo09qyMPUIyvHJ7jmrisEdt1tbHU3Znko7kHZ58zXopxbXBSiotekBlyBHuyDpO8DnDdwCr95FXq8uPP2VBshpmnX6WiX7SlT/oFT6ikpW+Z3BkbaMhWJyvFsEKO9m6qj1kgeuul9O2Fts22tl4GR7e3H5qDW/Du0wkfrCubykb21B+SbmAHx6+R7wK3jpv0c2htKSNiFhS3YmPdOGkfWApILYUcO/GOONXCuV8Sk3NR+n+yyBTXMWtSO/HuIP4V8jh05x2sW4jlqOTXux9Hd8xy888YJIVTKjFRj5chC8uGQq5Jzx04qZc+ju5Uki6uXVVZiFaIM5UdWNMgAO57T1VHaTy43RkaOoiLSs8Po/uiQpmuRholZzJHjrEPKyDRxVE6gPNmJOABx9Rej+7ZNQup0O7lYK26Y7zefEocry0Die0nso6LDqIjUryvQ3aGVIuJgCtsxDwwsV3pImDaRzjIGfA1juNgX8aBt7nA1SA2pYook3bkbtxrK/K0gZKnIzyqOjIOojNSq25ttoQh9QtmaNmV0xJHj+qbUSV3cg5ScFB6rFSDjLbQ37glbe3Y8lUTkM5xkqodAA4OQUYq3DljBMdKRO+Jlv4S8bKvyiOGe/OR91V+2CYoGkPOKZbgeSTiQe4V7lu7xc5sXJHNRLEW8tOdWR2jGRWO/s9oXdtKsdkAGVlyZ4ieXHSqkljUxhJPBDkrHehSqjYW2oZo0VXG8CqGQ5VwwAyMNgnj2jhVvWopFKUoAUpSgBSlKAFKUoAVrXT3pT/4ZbiRYjLLI27iQcAX0lusewAKTWy1W7f2LFewmKYHGQysDhkccVZD2EUAcvh2tc3i7x76U55rb4gRD9HgN5n8458q1rpJbFpkjnlnkidDoEs0kimXiD8o4DBSCPX3VsW3uht1aNqWNrhOyaDqzqO6SMHLfqk5+iK1qbam8DQs0U3fDODDKCPHHBh+aCKinNwmpNXLnGMlZGSw1hAJB1l6pPY2OAYd2e7vzUiqea9e3GTHMU5aWXU6jvWRciRfztJ86n2N+kwyhzjmDwYZ7weNeh0+pp1VaL5+5llBxyYnbFyn1on/AGXU/vGp1V83G6i8IpCf1mQD/Saz3t6kQGonU3BUAy7E8go5mrVJR3N4v/SFMe0YnYw7vGUlSXLchuzqGQOJycCts2f052ncNKoa0QxsF/JSODlQwOd4Mc+Vaobd261zMlqn9WGUzH85vmnwUE+NWFrfw28em2hdhkkseopPazyScTnvANcTW6ilUfyZ9minTfk3K06bX0RzPBDOnbuCyS/qpJ1W8tQrfNk7SjuokmhbVG4yDy8CCDxBB4EHkRXCbWW62i2iDMnHBS3JEa+E9weQ8FwfA12fodsL4BarCW1vl5JGAwC8jFm0jsXJwPAVji35JmksF3SlKYQUpSgDy8YOcgHIwcjmO4+FQDsK3yx3KdZRG2BgMo+SGA4HHYeY7KsaUAVa7Chxh13g5Deddgv0Sx6zAdmokj1VEbonDksrSq3frLcO5g2dY7i2SOwir+lAFXFsOMahJ8aGx+UCsRjPziNR59pJHfUqKxVQArSADl8Y595JNSqUAKUpQApSlAClKUAKUpQApSlACq/auxLe7XTcQxyj66gn1E8RSlAGpXnoptCc28lxbHuikyn2JAwHqxVNfeh55SpO0Hyp4NuE3gHdqVhw8KUo83Ju7WJy+iGAISLu6E5GGmyh1dwKFcBR3Ag+NUEPoXmDZa5gfiTvHhdpCOzOZMDyFKUzlKSs2QuC62f6IlT5V5IB3QRQw+8hzV/YejjZ8RDNEZmHHVO7S8e8BjpHqFfaUlkS22bTDCqKFRQqjkFAAHkByrJSlSQKUpQApSlAClKUAKUpQApSlAH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5" name="AutoShape 4" descr="data:image/jpeg;base64,/9j/4AAQSkZJRgABAQAAAQABAAD/2wCEAAkGBxQQEhQUEhQVFhQXGRgVFxYYGBcYFxcXGBYeGBgYFBwaHiggGBolHhQYITIhJy0rLi4uFx8zODMsNygtLisBCgoKDg0OGxAQGy8lICYtLCwsMC8sLCwsLDQsLCwsLDAsLCwvLCwsLyw0LCwsNCwsNywsLCwsLCwsLCwsLCwsLP/AABEIANcA6wMBIgACEQEDEQH/xAAbAAEAAgMBAQAAAAAAAAAAAAAABAUDBgcCAf/EAE0QAAIBAwEEBgQJBwoEBwAAAAECAwAEERIFEyExBiJBUWFxB4GRoRQjMkJSYpKxwTNyc4KiwtEkNENTVGR0o7KzNWOTwxUWJUSDtPD/xAAaAQACAwEBAAAAAAAAAAAAAAAAAgEDBAUG/8QALBEAAgEDAwQABQQDAAAAAAAAAAECAxExBBIhEzJBUQUiYaHwcYGRwSOx0f/aAAwDAQACEQMRAD8AtumEJfadwd7NGyRwBTHLJH1GVjghSARqB51GSa6X5F/dr4Fo3/1xk1ddOrfRtAP2S24Hm0Mhz7plqorLUlJS4ZdFJokRbZv0HC9Y+LxRN9wWvh6Q7UHK7hPnbD8JKwVWPt2PUVRZpSpw26id1BHMagMZFL1JeyXGJer0o2oP6a0bzgcfdJWRemO1B2WLfqTD9+qODa0bEA642PACWN4snuUuACfAGvZ2nFrZA+XX5SqrMV89IOKnqyI2xL0dONpDnDZnyeVfwNe16fX/AG2dsfK4cffFVDFfxs2kONZ4hTlWI7wrAHFSaOtINkS4HpCve2whPldEf9mvS+kG8P8A7CEed2fwgqlpU9aQdNFrP002g3yI7SPzMspH+ge6pHQTpBfT30sNzJFJGsAl6kejSzSFQOZJ4K3uqiq19HI/9Ruj3W0A9ssppqc5OVmRKKSOmUpStBUKUpQApSlAGodIensdpcNALe4mdFRm3QQgB86flMPon2VCT0pW4/KW17H4mAsP2CaoukQ/9TvD9W3X2K5/eqPVEqrTsWRgmrm4W3pO2a/Ocx/pY5E+9atIOmez3+TfWp8N/GD7C2a523HnxrC9qh5oh81X+FR1/oT0zq6bdtW5XMB8pUP41kG1YDymi/6ifxrjsmyIG+VDEfNF/hWE9HbX+zw/YFT116I6bO1i/iPKSP7S/wAa9fDI/pp9ofxriB6NWn9ni+zXn/yxaf2eP2VPXXoOmzugmU8mX2ivWsd4rhH/AJWs/wCzx+/+NZU6P26/JiC/ms6/caOsg6bO55r7XLfRNbhL3aAUtpWO1HWd3OTvTzck+qupVandXEasab6RbfIt5McVdkz9V0yffGtahVr6V4mW5spC7iPEqlQzBNalGUleROje+yqqs9ZcltN8CrLZm2GsdmytFGrtHcFNJJUATTAhmIBOAJgfVVbVn0chjna5tJhlJ4w+MkEhTofBHIjVHXP1kU6d5K6TTf8AY7LPYd8u17eeG7gXqNupAp1RsSoYGNsAggMOwEGtX6OWl3a7OuGtGaW4+GOjNpR3aKJxAcBiASFj1edbbtbaFtsa1CxIAeKwQL8qWQ+88eLMfM1rvQ7bTWOzA83xj/DDFKQcdaacan5ccbzOO3wrnQ3bJSpx+VyVk/ORfJM2bbTXdpcHa8YVFy0UkipHMqquS53ZxGQeRBBrX9kSM8ETOSWKKSSME8OZHYSOOPGrDpzazG8UXMrNaS43EQ6se8UZZJgPyh4alzw4Hhw4xLe6STVoZW0kq2kg6WHMHuNdHSR+Rz4s+bLC/PJKM1KUrUMKuPRsv8vvT/ybdffIfxqnq+9GS5ub4924X/LJ/GraPcV1MHQ6UpWopFKUoAUpSgDke2WztC+8JIl9kCn9+sVfdoHN/tD9Oo9ltFXysdTuZohgCtQKWrfG3TSa5JJgDrlAURyFBjQcKoAHE1t4rWBZTEhoAhKSXSHWSABI563DnjPKlRq0qbk7RUnbhNX8olXMU1qhkhdpo1GTFIctp55ifGc+BzXi5uJgqtLdRwhhqCxxhzjGSdT51DjzwKtLdFtrdQ7ZWKMBmPaEXBPuqq2Zspnit5d7JG4iCnTp4ox1AHUDjhjiKhS9nUq6KF7why1i/C5X5+xJj+EKgeOZLhcasMqoXH1HTgD5jHlVlZXKzRpIudLqGGeeCM8ao4rxJE+DWRJUDQ0wOUjU88MflyYJwB2nJq/ghEaqijCqAoHgBgVP6nO1kaMZJU/XNndX+h7pSlQZC+9E1v19oy/SnSP1RwqfvlNdDrlfou2vKty9qUQxSme5DjOtSs26w/Yc6eHlXVK3RwjM8lF0w6PRX9u0ci5ZQzxHJBWTQQrDHnyrm9vLrRW+kA3tGa7IRXG4F06l+g8ifYkZfwqmuuEx6ZkrBcwuSjRSvC6E4dNOrDDDL1gRg8OzsFZ6VmzktIlts9UcyEtJK3AyyMXkI7snkPAYFRbvo5bSsWePJJ1HBYZbvwDjNT3s3uJYYIpDEZGJZ1ALCNFLOVB4Z+SP1q24dArUrh2uHOMajPKrHxIjKrnyFUVtXToNKV7/AEINJj2TEGViGZlOVLu7lT3jWTivdps9YmJUty0gE5VV1l9Kju1Ox9dR+jwZYmR2ZmjlmiJYkt1JCBknierpqzrQSrClKUEitg9Ff5XaJ/5sI9luv8a1+tj9Fa9baB75091ulW0e4rqYN+pSlaikUpSgBSlKAOP7Q/n20P8AED/60VfK+7S/4htD9Oh9ttF/CvlY6nczRHAqgtb+SJ5k+DTuTK7gqoCFWIwdbECr+maQuo1p0pboZNf2ns6a5jcz4CBWK26EnUwB0mV+Grjx0gYz31Xx7WYNY6UuNKIyTKIZeGUUA4x1sFTVrP0kQsUt0e4cc92OoPznPVrL8KvcZMEP5m9bV7dOnNNjJppVNTJucU3e3NvTv+IjCRomd7aCQoyu7oRu1MgXKlA3HUxGDgceB5jjYbFvJJo9UsZjOogcGGoYHWAbrDmRx7qy7OvROmoAqQSrK3ykYc1b2+8VKqG/BlqTc5uTVhX1edfK+O2AT3An2DNQIbX6MdgRR28d2C7Szx8SzEhUaQvpQclGTmt3qn6HQ6LC0Xugi96A1cVvMorkN8NN1eLy03DY8nRJP3zXXq5T0hGNoXg72hf7UKj9yqq3aPTyRKUpWUvLfoVba7qSQjhFEEB+tK2pseQiT7VedmdNHk2rLbtj4KSbeJuH84iXXJx58QSO7qe310T2qsKx5xi5kyDx+dqWM+WmFf8AqCtcstr7GSU3K2t02JWlE5Vmj16zmRfjMAau0iuTUh1KtRuLfFlbx+WEbJm2rb4NtG4TGFuAtzH4tgRygeIKqf1hSrDpczXcDSon8oszvhj+kjMkkcqKOZykZPicVV28yyKrocqwDA94IyK26We6mk8rh/19iUZKUpWkYVs3orHC+P8AefuhjrWa2b0UjqXp/vTf7UdXUe4rqYN7pSlaSkUqPBexyMyJIjMmNaqwJXOcagOXI+ypFAClKUAcj2yMbRvvz4j/AJIH4VirPt//AIle/wDwH/LP8KwVjqdzL4YFYb0ZjkH1W/0ms1eJlyrDvBHupBjVY3dLKy0bwIQgl3IBk0mMkY4cOOONTNjs0O9lmaSODA0rO4Z8gklz9HhgaedfNjbWEVrHrBOlYIlCjLOzQqwAyQM5J9le9pGO50RXVvJGGbEbkrwfHAAox0tgdvDhU84aO6nCMoyU/msrJuy9ckno+hImlIKiaTeKpGCFCqoJHYTpzjyq2qq2FeM+tHOpo9JDngXR1yhbHDVwIPlntq1oeTizvue7N3cVF2o+mGU90bn9g1Kqu6R5+CXGOZjcD1jH41CyIzs+yItEEK/RjRfYoFS6+KuAB3cK+1vMwrlvS9dO05h9KC3f9qVP3K6lXNencWNohvpWqL9iZz/3Krq9rGhkqKw3kReN1VtDMpUNjOkkYzjtrNSshoIdpPeRrGP5GzRKFiYpKNOFVQcBsE4RaxbJ2bu7ZYJdLdUq+PknVnV99WNKWMYx7UQkRLeS9WPdfCURQNGtIhvnUctbsSoPeQvaa+7NsVt41jTOkZ5nJ4nJ95qVSiMYxwrAkKUpTEitl9E7dS+/xTf7Uda1Ubor0leH4dBBhXNzraZxlI1KKOqMgNISpAB4Dmc8i8JxheUsCSi5WSN69IvSR7GONopreNiSWWUFpGTHOFAw1HPZWu3HSe9uYxGTEkbgM08etJShHyFRs7tj9LVwGeAPGq0bNUzfCJGeWfGN7I2Wx3ADCqOJ4AAcajbfunjClWYZOAFHWZs/OYhtK8RwAJJIArDW18qkttLj9S+GmUVeZk2bc31jMXt/g7RO6B4tJVlgQnqxsTgMdTdnM9tdM2J0phum3fWjlwTu5AAxA5lCCVcDwJx21oUSFQAWLEcCTjJ88YFYdoWm9UDUUdSHjkX5Uci/Jdf/ANxGRVen+ISg1GXaPU0ylysnYKVRdDttG7tw0mBMh3cyjlrHzl+qylXHg3hV7XdTTV0c5q3ByXpH/wAUvPzLY/sv/CsFZOkLZ2te/o7X7pKx1kq9zL4dooaUpBzQ9nyRSoqNNu3V43ADIro8Y3JyHGOQzU/aE0EDRus++m1qNTPvXCZ64iQcAzDhwA51s09nHJ8uNG8SoJ99Leyjj4pGinvVQD7qa5qjqrLtV/ZX9HbR1VpJV0vJp6nPQiLpVSe/mT51b0pSszNtu7FRNrJqiZfpFF+04H41LqNfH8kO+e3X7Vwg/GpjlCvB2qlKVuMwrnvpFGLu2PfDMPY8RH3muhVonpIX420b9MvtVW/dpKnaxo5NZpSlYzQKUpQApSlACoL7TBd0jinmZCA+7jJCkjIBY4GcHsqdVNsu+uFuLuG3aOMbyOZpGUuevEqBVXIH9ESST3cKspRUnZiTk0rokw7XQxyOwePdNodXXDq2AcYGck6lxjvqn2JbQzXMgeN1kjlkl0vvBrPVCl1PUGjIwOeTk8qJbSy/+IRyMrzbxJAVGhWYIrLwydOd2BWybWMstxaXsTobWVBA6Y6wciRyeXDrAA8c5XBqnUrbCSiPS5abPNltASSyLxyOQ7lHDJ8TnPkfA162zAzxMY87xQzIO9yhUZ8tWfVUKaLc3aSfNlG75cicscY7SwXj9Y1d1xZWi1JG5cppnxVwAO4Y9lfaVDhvNUzIuCqorE/WLsuP2KrSb5GMvQm8i2TPPEEuZROBLGkY3mlU6rjGRgLqXj3MB2V1PZO0Y7qFJojlHGpSQQe4gg8QQQQR3iuYWEwS8jc8AkFw7HuQGP8AED2VvnQW2MdhbBhgsm9IPMGVjKVPkXx6q9FoqsqlNbvzJzdRBRlwc56WXUcO1bsyOqBktgCxwC2mQ4Hqrxb3ccmd26PjnpYHHnisfS283W3yRGZTuhhBgEEpgOS3AKOI7+NQ22ibi/60BhZLfSQSp1EyZ1KV+UMYq6pT4ciuE/BbUpSs5cKUpQApSlACo12Mtbj+9WvuuEP4VJrGRma1Hfcw+5s/hTQ7kLLDOy0pStpnFaH6UchrAj+ukB9dvJ+IFb5Wm+k5fibdvo3MY+2rJ+9Sy7WSsmoUpSsRpFKUoAV50O7xxRY3khIBbOlQqlmdgOJAxy7SRQSAkrkahxIyMjPLI5is3R2Npb0MvGOGORZGHLeSadKA9+ASe7h31D4VwSu7EOwlZ0y2CQzrkDAYK5UOBk4Dac4ycZqqkttFxPLi5DssYR4RG6sADqV1dgCc44++rW0j3euIHIhd4Q3eqHCk+OMA+INSKsjPa7oWUbqxrnRqxkkurgRiWNCsZlkm0NMXIPyAnUXI88Acjmtil6MFIpEt7iWMydY6/jUMmQwkAOCjgjmpHiDyqR0Wjwtw3a07E/qoiAfs++rqplK7OdUqzjO0Xg0g76OIx37qkgbMc4IWNzjqYPAKw7jir5OQ8hVrcQLIrJIoZGGGVhkEeIrV7yVdmqFk1m35ROFLlO6J8ceHzSeY4cxk83U6W6vT/j/h0NJrVJ7Z59krapk3TCH8ow0qexSfnHwHP1Cq63lhsmWEsWmkUEKASzaFC+ZJOo5PMk9xqRYzS3uloMwxqQXaWM5ZgeMSqSDw+c3kB24vdm7MWAu2dcjnLyEYJwMBVHzUA5L5niTmlo6STVp8L7j19bCHby/sa5s/ovPKLhrqYx/CMK0cWkkRAYEZdgcL3hQO3jxrfOhu15UnNlPIZfi99BIQquUVgjo+kBSVLIQQBkNy4ZMSoW93e0NnN9KSaE/rwk/uV1aTs7LBzY1pyn8zNY6clxt1jEYw5jC/GtojKCPUQWxwYnGD4VGsJHlvJDLug0MSqqxSb1cSsWJLDHHqDhir/pHEr7QvdShgGh4MAQCIs8M+dQII5WmeKFIRhBIqtlGm4nWEYDSCvDgQflDlT1KnDibIQ5TJlKxW02tQ2COYKnmrKcMreIIIrHd7QiiIEjqpPEKT1m8FHMk8gBzrPYtJNKxW04kBwCCrMjKwwysh0sCO8EVloAUpSgkVjT+c2Q77qP3I5/CslY4v55s//FL/ALMtNDuQssM7LSlK2mcVqfpOTNjq+hNbt/noP3q2ytY9JP8Aw248BG32ZUb8Kh4BGimlfTXysJqFUFxIkzhppYYTC7gQzQzS7wHAD9TGcgZGkkjPqq/pUpkFBs20tV1MYrm61OZAqI1vCCQFIBmYSMMDkzEeFX1t0v8AgihRs2SKBf6tom0gnJOhD66+0qHZ5GTawetr2QtUa5hDSW0mqdtPWZDJ1y47XjJOe0qT3comzb5Z4w6ZAPMEYZT3MOw1BkeZ5jaQviCYaZkPHSpGqVouIMfAqpxwzKOGcmpfSKJt7NNC+6W3hJkOkMssmNSRsM/NUDiMHrjjTKLtyUVK8VK38lr0YbKTeE8g/ZQ/jVxVF0JiYWis/wCUkZ5JOzDs2CuOzGkD1Vc284cZGeZUg8CCpwQfZQ8nNqO8mzJXx8YOrGBxOeQA45PlX2qnpTIy2spUA8OIOSNPbkDmMc/DNCFXLJmzLppoxIRpD9ZAcg6D8ktnkSOOOzNSqx2wIRM6idK5LY1Zx87HDPlWShgKg3sebjZ7fRu0z5NFIv3kVIvbpYY3kf5KKXbyUZNV22bwrai4wVMRiuMcM6Y3DsPWgYeumhlMaHEkzHtn+f336SMeyBP41HSPXPajODv0YH8wMzD1hSvrptK7Eu07yGJhvGZZMkZVU+DxdY458SMDtrD0ag3AMt5NvpI5pUhjXAZmBIDMO06W4clUH11FVctnVpyTaiXs/Q8F5ZI7meMyOZCuInjVj8rSGTPHHfVD0g2DDbFXub6TrNGVRIk3ztFqKCIKCR+UbJxipM19czMTJMY07IYTpAHZqkwHY+RUeHbWGO0RW1hRrxjWeL47ixyffVUVJZZbJx8IgNZpL+TtRApbUZpGMl25zknOTuyeHEknmMCrWlKYUUpSgBXi3/nuzv8AEj/Ylr3Xi2/n2zv8Sf8AYkp6fchZYOyUpSthnFc19L20pwBbRsqxvbXE8mU1M+40sEU56uc8+NdKrTvSR0aS7t5JtciSwwXAQoRgh4+sjgg5U6QOw9xFAGnIcgeQ+6vtY4mARSSBwX3gVkrAahSlKAFBSlAFZ0cvobcSszaruaVwIWPXGZDu41HYmMEsOHb2Ctiu9mFoDECCWZS5PDUd4GkJ88Hh5Cqi9sY510yorjxHEeR5g+VfbK5ntsDLXEPcx+OjH1WPCUeBwfE097mGrp5X3R5LvZNoYVkU8t7I6cc9WRtfHuwzsMeFQ4Q8N4wLaorgGRQeBjkjVQw8VZQDnnle2p9jtKKcfFuCRzXk6+DKesvrFQt6JL4KDncRNr8HmI0jz0oTj6woMnN3ct68Sxh1KsAVIwQeRHca90pRRmlKUAVfSkZsrr9DL/oNVXSFJX2ckMYJkljRCcZ0qItchPmF0+bCtg2pDrhlT6SOvtU1i2Dcb22gf6UUZ8joGR6jkUydkOnZFJZbOWyNi4GMoYJmPNpJVQqzk8T149P6yiqrbkYt79pCoBdonDcMsj4hlXPcraGxW37bkg3TJcMArgrpydbfowOsWHPhy4Vpu04ri+gSGWMAxvlbh20uyqeBMSg4Zl5gkceymT9l1FScro2ClDSqjpClKUAKUpQB8Phzrzafz7Z3+IP+xJXuo2w5NVzspjzMwPttpDT0+5CywdqpSlbDOKrOk7Ys7k90Mp/yzVnVH05fTs68P93lHrMZA++gDmsZARc8AAv3CvaqQTk5yeAxyGMY8eOT66ibXOm3k8F+7FZbVyTJnsfh5FFP41hNJIpSlQSKUpQApSlAEe6sY5sbxFbHIkcR5HmKiejwwIbhI3XUWTUuoFtWk6uBOTgnHqqzFar0lsi72LJHG4S2R2BOlm+OlGAQOfDjnuFX0YSqXijPXjuVjpdK5YNtXNqysszxQs7KI5xv1jUKMa2GWGTnjq4A1sNr0ylEAnkhjkjLImqCZS2p8Yyj4I4sBzODmpqaecHZowujLxyblStbi6a27My6LgOmCy7osRnlxUke+sW1Ol5jISO2kMjIZVEhRAyju0ljnjyOKRUpuW23IvTl6NpFUvQrYc1wbm3+E7qC3maNTEgMzB/jQNb6lXAk04C54Vqe2ukNzcJIIGlUaQVZUWFc4ywYyEyHB4DTjNdu6JWcUVnAIVCoY0fxYuoYsx5sxJySeJzV0aEo8zWS+nStk4/0bjwshJZ3E00Zkc5dlSVlXUfIeVW9UWy7gxwO/wBK5k9j3JXPsNXtZp9zN8cClKUowpSlAClKUAeHXme3BHq51RjaL2kezrhIxK0RWTQW0agLWTPWwccOPKri5uAhRT/SMUHnoZv3arV2Z8JGzrfW0YkdIyy41BTbSZAyCOIGPXVlPuQksHdLObeRo+NOpVbHPGRnHvrNWK2hEaKgzhVCjPPAGBnx4VlrWUCtZ9JT42bceIRPtyov71bNWo+lSQLs98kAGW3BJOAB8IQ8fZUPAGg7ZGYZR9RvurDJKY2Y9hkTP5u64/6amTqJEYAghgQCOI4+Ir7JAGBB7fvxgGsRpPSuDwB44B9R5fca9Vhgt9JJzklUU/qA8fXqrNUAKUpQSKUpQAFUs3FbZv8AkFfsXU4q6FUwT+T2p/xaHzS9kOPY4ro/C3/nX54ZTWwYqwNYxFtRijLDjq0LnI5HOKkUr07SeTKRJtmxOxdl6xwCQzDOOWcEZrLBapHnQirnngAE+Z5ms1KVQindLkLnwjNdh6Fy42bZsey2iz+rGM/dXHs10uwutxsCOTusVYDzhyPvrnfEsR/ceBzW1T+QKTzIEnrMmv8AGrt34jGTkkZHIc+J8OGKg3dvothGOSrGnsKj8Kz2Ug04J46pAPHDmvNvnk1ok0pSoGFKUoAUpSgCt20vWtj9G4TPkUdf3qnbLTTc7O+rOg/yZF/Go+1VygP0Xjb2SDPuzWe3cCa0JOALmMevUU+849dPDKElhnZqUpWwoK3bSTlR8HbB7RhQT46nBCgfmmta2z0Smu4gtw5mBI+KMpVOeSZGVBqx2BEU+PbW70oA5VL6KF1fFhYhkZaN5FJAHDADdVc9hJY/TXlX1vRrPpG7uZ4+fypFdj25bK6RjkEHfxeuqUqGkwuciuPR9fIRpu5SCR2RNpGCTr6ozjHZzLAYwC1fW6C343f8qfradXxUZC6iTg456QoBbllx2A11yvlRsj6J3M4muwr7TlpmTjGpD26grvIuDNxwVE43ZI5Drcq+Lsa9HEzgZUsA9vgjqgHXg8lkDI+nJXqtjScjt1fMUbI+idzOFz2W0UOC9qMlQu8R0GT80sH0qT80k6X7Gzwr5c2m1Y2KmK0YggDDuurPYNR6rfVOCfm6q7nJCrAhgCCMEEAgjuPhUO/2PDMoV15DClSVKjuBHZ4Hh4VHTj6Dczi92+0Ex8Rb6SCDJvm0I4+ZKSo3LHs16R41JvbNrW1topTmZpZ5HIAVcyAPhATqwNPPGDgkE10puiaq6tFK6gDBU9bA7dDHiB9Q6o/qiqH0lbLjt7DeghTFLCwA6qsXkETYTkpKyMerjlxq/TbadWMl7Fk20aEaqNoXU8QLqo09qyMPUIyvHJ7jmrisEdt1tbHU3Znko7kHZ58zXopxbXBSiotekBlyBHuyDpO8DnDdwCr95FXq8uPP2VBshpmnX6WiX7SlT/oFT6ikpW+Z3BkbaMhWJyvFsEKO9m6qj1kgeuul9O2Fts22tl4GR7e3H5qDW/Du0wkfrCubykb21B+SbmAHx6+R7wK3jpv0c2htKSNiFhS3YmPdOGkfWApILYUcO/GOONXCuV8Sk3NR+n+yyBTXMWtSO/HuIP4V8jh05x2sW4jlqOTXux9Hd8xy888YJIVTKjFRj5chC8uGQq5Jzx04qZc+ju5Uki6uXVVZiFaIM5UdWNMgAO57T1VHaTy43RkaOoiLSs8Po/uiQpmuRholZzJHjrEPKyDRxVE6gPNmJOABx9Rej+7ZNQup0O7lYK26Y7zefEocry0Die0nso6LDqIjUryvQ3aGVIuJgCtsxDwwsV3pImDaRzjIGfA1juNgX8aBt7nA1SA2pYook3bkbtxrK/K0gZKnIzyqOjIOojNSq25ttoQh9QtmaNmV0xJHj+qbUSV3cg5ScFB6rFSDjLbQ37glbe3Y8lUTkM5xkqodAA4OQUYq3DljBMdKRO+Jlv4S8bKvyiOGe/OR91V+2CYoGkPOKZbgeSTiQe4V7lu7xc5sXJHNRLEW8tOdWR2jGRWO/s9oXdtKsdkAGVlyZ4ieXHSqkljUxhJPBDkrHehSqjYW2oZo0VXG8CqGQ5VwwAyMNgnj2jhVvWopFKUoAUpSgBSlKAFKUoAVrXT3pT/4ZbiRYjLLI27iQcAX0lusewAKTWy1W7f2LFewmKYHGQysDhkccVZD2EUAcvh2tc3i7x76U55rb4gRD9HgN5n8458q1rpJbFpkjnlnkidDoEs0kimXiD8o4DBSCPX3VsW3uht1aNqWNrhOyaDqzqO6SMHLfqk5+iK1qbam8DQs0U3fDODDKCPHHBh+aCKinNwmpNXLnGMlZGSw1hAJB1l6pPY2OAYd2e7vzUiqea9e3GTHMU5aWXU6jvWRciRfztJ86n2N+kwyhzjmDwYZ7weNeh0+pp1VaL5+5llBxyYnbFyn1on/AGXU/vGp1V83G6i8IpCf1mQD/Saz3t6kQGonU3BUAy7E8go5mrVJR3N4v/SFMe0YnYw7vGUlSXLchuzqGQOJycCts2f052ncNKoa0QxsF/JSODlQwOd4Mc+Vaobd261zMlqn9WGUzH85vmnwUE+NWFrfw28em2hdhkkseopPazyScTnvANcTW6ilUfyZ9minTfk3K06bX0RzPBDOnbuCyS/qpJ1W8tQrfNk7SjuokmhbVG4yDy8CCDxBB4EHkRXCbWW62i2iDMnHBS3JEa+E9weQ8FwfA12fodsL4BarCW1vl5JGAwC8jFm0jsXJwPAVji35JmksF3SlKYQUpSgDy8YOcgHIwcjmO4+FQDsK3yx3KdZRG2BgMo+SGA4HHYeY7KsaUAVa7Chxh13g5Deddgv0Sx6zAdmokj1VEbonDksrSq3frLcO5g2dY7i2SOwir+lAFXFsOMahJ8aGx+UCsRjPziNR59pJHfUqKxVQArSADl8Y595JNSqUAKUpQApSlAClKUAKUpQApSlACq/auxLe7XTcQxyj66gn1E8RSlAGpXnoptCc28lxbHuikyn2JAwHqxVNfeh55SpO0Hyp4NuE3gHdqVhw8KUo83Ju7WJy+iGAISLu6E5GGmyh1dwKFcBR3Ag+NUEPoXmDZa5gfiTvHhdpCOzOZMDyFKUzlKSs2QuC62f6IlT5V5IB3QRQw+8hzV/YejjZ8RDNEZmHHVO7S8e8BjpHqFfaUlkS22bTDCqKFRQqjkFAAHkByrJSlSQKUpQApSlAClKUAKUpQApSlAH/2Q==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AutoShape 6" descr="data:image/jpeg;base64,/9j/4AAQSkZJRgABAQAAAQABAAD/2wCEAAkGBxQQEhQUEhQVFhQXGRgVFxYYGBcYFxcXGBYeGBgYFBwaHiggGBolHhQYITIhJy0rLi4uFx8zODMsNygtLisBCgoKDg0OGxAQGy8lICYtLCwsMC8sLCwsLDQsLCwsLDAsLCwvLCwsLyw0LCwsNCwsNywsLCwsLCwsLCwsLCwsLP/AABEIANcA6wMBIgACEQEDEQH/xAAbAAEAAgMBAQAAAAAAAAAAAAAABAUDBgcCAf/EAE0QAAIBAwEEBgQJBwoEBwAAAAECAwAEERIFEyExBiJBUWFxB4GRoRQjMkJSYpKxwTNyc4KiwtEkNENTVGR0o7KzNWOTwxUWJUSDtPD/xAAaAQACAwEBAAAAAAAAAAAAAAAAAgEDBAUG/8QALBEAAgEDAwQABQQDAAAAAAAAAAECAxExBBIhEzJBUQUiYaHwcYGRwSOx0f/aAAwDAQACEQMRAD8AtumEJfadwd7NGyRwBTHLJH1GVjghSARqB51GSa6X5F/dr4Fo3/1xk1ddOrfRtAP2S24Hm0Mhz7plqorLUlJS4ZdFJokRbZv0HC9Y+LxRN9wWvh6Q7UHK7hPnbD8JKwVWPt2PUVRZpSpw26id1BHMagMZFL1JeyXGJer0o2oP6a0bzgcfdJWRemO1B2WLfqTD9+qODa0bEA642PACWN4snuUuACfAGvZ2nFrZA+XX5SqrMV89IOKnqyI2xL0dONpDnDZnyeVfwNe16fX/AG2dsfK4cffFVDFfxs2kONZ4hTlWI7wrAHFSaOtINkS4HpCve2whPldEf9mvS+kG8P8A7CEed2fwgqlpU9aQdNFrP002g3yI7SPzMspH+ge6pHQTpBfT30sNzJFJGsAl6kejSzSFQOZJ4K3uqiq19HI/9Ruj3W0A9ssppqc5OVmRKKSOmUpStBUKUpQApSlAGodIensdpcNALe4mdFRm3QQgB86flMPon2VCT0pW4/KW17H4mAsP2CaoukQ/9TvD9W3X2K5/eqPVEqrTsWRgmrm4W3pO2a/Ocx/pY5E+9atIOmez3+TfWp8N/GD7C2a523HnxrC9qh5oh81X+FR1/oT0zq6bdtW5XMB8pUP41kG1YDymi/6ifxrjsmyIG+VDEfNF/hWE9HbX+zw/YFT116I6bO1i/iPKSP7S/wAa9fDI/pp9ofxriB6NWn9ni+zXn/yxaf2eP2VPXXoOmzugmU8mX2ivWsd4rhH/AJWs/wCzx+/+NZU6P26/JiC/ms6/caOsg6bO55r7XLfRNbhL3aAUtpWO1HWd3OTvTzck+qupVandXEasab6RbfIt5McVdkz9V0yffGtahVr6V4mW5spC7iPEqlQzBNalGUleROje+yqqs9ZcltN8CrLZm2GsdmytFGrtHcFNJJUATTAhmIBOAJgfVVbVn0chjna5tJhlJ4w+MkEhTofBHIjVHXP1kU6d5K6TTf8AY7LPYd8u17eeG7gXqNupAp1RsSoYGNsAggMOwEGtX6OWl3a7OuGtGaW4+GOjNpR3aKJxAcBiASFj1edbbtbaFtsa1CxIAeKwQL8qWQ+88eLMfM1rvQ7bTWOzA83xj/DDFKQcdaacan5ccbzOO3wrnQ3bJSpx+VyVk/ORfJM2bbTXdpcHa8YVFy0UkipHMqquS53ZxGQeRBBrX9kSM8ETOSWKKSSME8OZHYSOOPGrDpzazG8UXMrNaS43EQ6se8UZZJgPyh4alzw4Hhw4xLe6STVoZW0kq2kg6WHMHuNdHSR+Rz4s+bLC/PJKM1KUrUMKuPRsv8vvT/ybdffIfxqnq+9GS5ub4924X/LJ/GraPcV1MHQ6UpWopFKUoAUpSgDke2WztC+8JIl9kCn9+sVfdoHN/tD9Oo9ltFXysdTuZohgCtQKWrfG3TSa5JJgDrlAURyFBjQcKoAHE1t4rWBZTEhoAhKSXSHWSABI563DnjPKlRq0qbk7RUnbhNX8olXMU1qhkhdpo1GTFIctp55ifGc+BzXi5uJgqtLdRwhhqCxxhzjGSdT51DjzwKtLdFtrdQ7ZWKMBmPaEXBPuqq2Zspnit5d7JG4iCnTp4ox1AHUDjhjiKhS9nUq6KF7why1i/C5X5+xJj+EKgeOZLhcasMqoXH1HTgD5jHlVlZXKzRpIudLqGGeeCM8ao4rxJE+DWRJUDQ0wOUjU88MflyYJwB2nJq/ghEaqijCqAoHgBgVP6nO1kaMZJU/XNndX+h7pSlQZC+9E1v19oy/SnSP1RwqfvlNdDrlfou2vKty9qUQxSme5DjOtSs26w/Yc6eHlXVK3RwjM8lF0w6PRX9u0ci5ZQzxHJBWTQQrDHnyrm9vLrRW+kA3tGa7IRXG4F06l+g8ifYkZfwqmuuEx6ZkrBcwuSjRSvC6E4dNOrDDDL1gRg8OzsFZ6VmzktIlts9UcyEtJK3AyyMXkI7snkPAYFRbvo5bSsWePJJ1HBYZbvwDjNT3s3uJYYIpDEZGJZ1ALCNFLOVB4Z+SP1q24dArUrh2uHOMajPKrHxIjKrnyFUVtXToNKV7/AEINJj2TEGViGZlOVLu7lT3jWTivdps9YmJUty0gE5VV1l9Kju1Ox9dR+jwZYmR2ZmjlmiJYkt1JCBknierpqzrQSrClKUEitg9Ff5XaJ/5sI9luv8a1+tj9Fa9baB75091ulW0e4rqYN+pSlaikUpSgBSlKAOP7Q/n20P8AED/60VfK+7S/4htD9Oh9ttF/CvlY6nczRHAqgtb+SJ5k+DTuTK7gqoCFWIwdbECr+maQuo1p0pboZNf2ns6a5jcz4CBWK26EnUwB0mV+Grjx0gYz31Xx7WYNY6UuNKIyTKIZeGUUA4x1sFTVrP0kQsUt0e4cc92OoPznPVrL8KvcZMEP5m9bV7dOnNNjJppVNTJucU3e3NvTv+IjCRomd7aCQoyu7oRu1MgXKlA3HUxGDgceB5jjYbFvJJo9UsZjOogcGGoYHWAbrDmRx7qy7OvROmoAqQSrK3ykYc1b2+8VKqG/BlqTc5uTVhX1edfK+O2AT3An2DNQIbX6MdgRR28d2C7Szx8SzEhUaQvpQclGTmt3qn6HQ6LC0Xugi96A1cVvMorkN8NN1eLy03DY8nRJP3zXXq5T0hGNoXg72hf7UKj9yqq3aPTyRKUpWUvLfoVba7qSQjhFEEB+tK2pseQiT7VedmdNHk2rLbtj4KSbeJuH84iXXJx58QSO7qe310T2qsKx5xi5kyDx+dqWM+WmFf8AqCtcstr7GSU3K2t02JWlE5Vmj16zmRfjMAau0iuTUh1KtRuLfFlbx+WEbJm2rb4NtG4TGFuAtzH4tgRygeIKqf1hSrDpczXcDSon8oszvhj+kjMkkcqKOZykZPicVV28yyKrocqwDA94IyK26We6mk8rh/19iUZKUpWkYVs3orHC+P8AefuhjrWa2b0UjqXp/vTf7UdXUe4rqYN7pSlaSkUqPBexyMyJIjMmNaqwJXOcagOXI+ypFAClKUAcj2yMbRvvz4j/AJIH4VirPt//AIle/wDwH/LP8KwVjqdzL4YFYb0ZjkH1W/0ms1eJlyrDvBHupBjVY3dLKy0bwIQgl3IBk0mMkY4cOOONTNjs0O9lmaSODA0rO4Z8gklz9HhgaedfNjbWEVrHrBOlYIlCjLOzQqwAyQM5J9le9pGO50RXVvJGGbEbkrwfHAAox0tgdvDhU84aO6nCMoyU/msrJuy9ckno+hImlIKiaTeKpGCFCqoJHYTpzjyq2qq2FeM+tHOpo9JDngXR1yhbHDVwIPlntq1oeTizvue7N3cVF2o+mGU90bn9g1Kqu6R5+CXGOZjcD1jH41CyIzs+yItEEK/RjRfYoFS6+KuAB3cK+1vMwrlvS9dO05h9KC3f9qVP3K6lXNencWNohvpWqL9iZz/3Krq9rGhkqKw3kReN1VtDMpUNjOkkYzjtrNSshoIdpPeRrGP5GzRKFiYpKNOFVQcBsE4RaxbJ2bu7ZYJdLdUq+PknVnV99WNKWMYx7UQkRLeS9WPdfCURQNGtIhvnUctbsSoPeQvaa+7NsVt41jTOkZ5nJ4nJ95qVSiMYxwrAkKUpTEitl9E7dS+/xTf7Uda1Ubor0leH4dBBhXNzraZxlI1KKOqMgNISpAB4Dmc8i8JxheUsCSi5WSN69IvSR7GONopreNiSWWUFpGTHOFAw1HPZWu3HSe9uYxGTEkbgM08etJShHyFRs7tj9LVwGeAPGq0bNUzfCJGeWfGN7I2Wx3ADCqOJ4AAcajbfunjClWYZOAFHWZs/OYhtK8RwAJJIArDW18qkttLj9S+GmUVeZk2bc31jMXt/g7RO6B4tJVlgQnqxsTgMdTdnM9tdM2J0phum3fWjlwTu5AAxA5lCCVcDwJx21oUSFQAWLEcCTjJ88YFYdoWm9UDUUdSHjkX5Uci/Jdf/ANxGRVen+ISg1GXaPU0ylysnYKVRdDttG7tw0mBMh3cyjlrHzl+qylXHg3hV7XdTTV0c5q3ByXpH/wAUvPzLY/sv/CsFZOkLZ2te/o7X7pKx1kq9zL4dooaUpBzQ9nyRSoqNNu3V43ADIro8Y3JyHGOQzU/aE0EDRus++m1qNTPvXCZ64iQcAzDhwA51s09nHJ8uNG8SoJ99Leyjj4pGinvVQD7qa5qjqrLtV/ZX9HbR1VpJV0vJp6nPQiLpVSe/mT51b0pSszNtu7FRNrJqiZfpFF+04H41LqNfH8kO+e3X7Vwg/GpjlCvB2qlKVuMwrnvpFGLu2PfDMPY8RH3muhVonpIX420b9MvtVW/dpKnaxo5NZpSlYzQKUpQApSlACoL7TBd0jinmZCA+7jJCkjIBY4GcHsqdVNsu+uFuLuG3aOMbyOZpGUuevEqBVXIH9ESST3cKspRUnZiTk0rokw7XQxyOwePdNodXXDq2AcYGck6lxjvqn2JbQzXMgeN1kjlkl0vvBrPVCl1PUGjIwOeTk8qJbSy/+IRyMrzbxJAVGhWYIrLwydOd2BWybWMstxaXsTobWVBA6Y6wciRyeXDrAA8c5XBqnUrbCSiPS5abPNltASSyLxyOQ7lHDJ8TnPkfA162zAzxMY87xQzIO9yhUZ8tWfVUKaLc3aSfNlG75cicscY7SwXj9Y1d1xZWi1JG5cppnxVwAO4Y9lfaVDhvNUzIuCqorE/WLsuP2KrSb5GMvQm8i2TPPEEuZROBLGkY3mlU6rjGRgLqXj3MB2V1PZO0Y7qFJojlHGpSQQe4gg8QQQQR3iuYWEwS8jc8AkFw7HuQGP8AED2VvnQW2MdhbBhgsm9IPMGVjKVPkXx6q9FoqsqlNbvzJzdRBRlwc56WXUcO1bsyOqBktgCxwC2mQ4Hqrxb3ccmd26PjnpYHHnisfS283W3yRGZTuhhBgEEpgOS3AKOI7+NQ22ibi/60BhZLfSQSp1EyZ1KV+UMYq6pT4ciuE/BbUpSs5cKUpQApSlACo12Mtbj+9WvuuEP4VJrGRma1Hfcw+5s/hTQ7kLLDOy0pStpnFaH6UchrAj+ukB9dvJ+IFb5Wm+k5fibdvo3MY+2rJ+9Sy7WSsmoUpSsRpFKUoAV50O7xxRY3khIBbOlQqlmdgOJAxy7SRQSAkrkahxIyMjPLI5is3R2Npb0MvGOGORZGHLeSadKA9+ASe7h31D4VwSu7EOwlZ0y2CQzrkDAYK5UOBk4Dac4ycZqqkttFxPLi5DssYR4RG6sADqV1dgCc44++rW0j3euIHIhd4Q3eqHCk+OMA+INSKsjPa7oWUbqxrnRqxkkurgRiWNCsZlkm0NMXIPyAnUXI88Acjmtil6MFIpEt7iWMydY6/jUMmQwkAOCjgjmpHiDyqR0Wjwtw3a07E/qoiAfs++rqplK7OdUqzjO0Xg0g76OIx37qkgbMc4IWNzjqYPAKw7jir5OQ8hVrcQLIrJIoZGGGVhkEeIrV7yVdmqFk1m35ROFLlO6J8ceHzSeY4cxk83U6W6vT/j/h0NJrVJ7Z59krapk3TCH8ow0qexSfnHwHP1Cq63lhsmWEsWmkUEKASzaFC+ZJOo5PMk9xqRYzS3uloMwxqQXaWM5ZgeMSqSDw+c3kB24vdm7MWAu2dcjnLyEYJwMBVHzUA5L5niTmlo6STVp8L7j19bCHby/sa5s/ovPKLhrqYx/CMK0cWkkRAYEZdgcL3hQO3jxrfOhu15UnNlPIZfi99BIQquUVgjo+kBSVLIQQBkNy4ZMSoW93e0NnN9KSaE/rwk/uV1aTs7LBzY1pyn8zNY6clxt1jEYw5jC/GtojKCPUQWxwYnGD4VGsJHlvJDLug0MSqqxSb1cSsWJLDHHqDhir/pHEr7QvdShgGh4MAQCIs8M+dQII5WmeKFIRhBIqtlGm4nWEYDSCvDgQflDlT1KnDibIQ5TJlKxW02tQ2COYKnmrKcMreIIIrHd7QiiIEjqpPEKT1m8FHMk8gBzrPYtJNKxW04kBwCCrMjKwwysh0sCO8EVloAUpSgkVjT+c2Q77qP3I5/CslY4v55s//FL/ALMtNDuQssM7LSlK2mcVqfpOTNjq+hNbt/noP3q2ytY9JP8Aw248BG32ZUb8Kh4BGimlfTXysJqFUFxIkzhppYYTC7gQzQzS7wHAD9TGcgZGkkjPqq/pUpkFBs20tV1MYrm61OZAqI1vCCQFIBmYSMMDkzEeFX1t0v8AgihRs2SKBf6tom0gnJOhD66+0qHZ5GTawetr2QtUa5hDSW0mqdtPWZDJ1y47XjJOe0qT3comzb5Z4w6ZAPMEYZT3MOw1BkeZ5jaQviCYaZkPHSpGqVouIMfAqpxwzKOGcmpfSKJt7NNC+6W3hJkOkMssmNSRsM/NUDiMHrjjTKLtyUVK8VK38lr0YbKTeE8g/ZQ/jVxVF0JiYWis/wCUkZ5JOzDs2CuOzGkD1Vc284cZGeZUg8CCpwQfZQ8nNqO8mzJXx8YOrGBxOeQA45PlX2qnpTIy2spUA8OIOSNPbkDmMc/DNCFXLJmzLppoxIRpD9ZAcg6D8ktnkSOOOzNSqx2wIRM6idK5LY1Zx87HDPlWShgKg3sebjZ7fRu0z5NFIv3kVIvbpYY3kf5KKXbyUZNV22bwrai4wVMRiuMcM6Y3DsPWgYeumhlMaHEkzHtn+f336SMeyBP41HSPXPajODv0YH8wMzD1hSvrptK7Eu07yGJhvGZZMkZVU+DxdY458SMDtrD0ag3AMt5NvpI5pUhjXAZmBIDMO06W4clUH11FVctnVpyTaiXs/Q8F5ZI7meMyOZCuInjVj8rSGTPHHfVD0g2DDbFXub6TrNGVRIk3ztFqKCIKCR+UbJxipM19czMTJMY07IYTpAHZqkwHY+RUeHbWGO0RW1hRrxjWeL47ixyffVUVJZZbJx8IgNZpL+TtRApbUZpGMl25zknOTuyeHEknmMCrWlKYUUpSgBXi3/nuzv8AEj/Ylr3Xi2/n2zv8Sf8AYkp6fchZYOyUpSthnFc19L20pwBbRsqxvbXE8mU1M+40sEU56uc8+NdKrTvSR0aS7t5JtciSwwXAQoRgh4+sjgg5U6QOw9xFAGnIcgeQ+6vtY4mARSSBwX3gVkrAahSlKAFBSlAFZ0cvobcSszaruaVwIWPXGZDu41HYmMEsOHb2Ctiu9mFoDECCWZS5PDUd4GkJ88Hh5Cqi9sY510yorjxHEeR5g+VfbK5ntsDLXEPcx+OjH1WPCUeBwfE097mGrp5X3R5LvZNoYVkU8t7I6cc9WRtfHuwzsMeFQ4Q8N4wLaorgGRQeBjkjVQw8VZQDnnle2p9jtKKcfFuCRzXk6+DKesvrFQt6JL4KDncRNr8HmI0jz0oTj6woMnN3ct68Sxh1KsAVIwQeRHca90pRRmlKUAVfSkZsrr9DL/oNVXSFJX2ckMYJkljRCcZ0qItchPmF0+bCtg2pDrhlT6SOvtU1i2Dcb22gf6UUZ8joGR6jkUydkOnZFJZbOWyNi4GMoYJmPNpJVQqzk8T149P6yiqrbkYt79pCoBdonDcMsj4hlXPcraGxW37bkg3TJcMArgrpydbfowOsWHPhy4Vpu04ri+gSGWMAxvlbh20uyqeBMSg4Zl5gkceymT9l1FScro2ClDSqjpClKUAKUpQB8Phzrzafz7Z3+IP+xJXuo2w5NVzspjzMwPttpDT0+5CywdqpSlbDOKrOk7Ys7k90Mp/yzVnVH05fTs68P93lHrMZA++gDmsZARc8AAv3CvaqQTk5yeAxyGMY8eOT66ibXOm3k8F+7FZbVyTJnsfh5FFP41hNJIpSlQSKUpQApSlAEe6sY5sbxFbHIkcR5HmKiejwwIbhI3XUWTUuoFtWk6uBOTgnHqqzFar0lsi72LJHG4S2R2BOlm+OlGAQOfDjnuFX0YSqXijPXjuVjpdK5YNtXNqysszxQs7KI5xv1jUKMa2GWGTnjq4A1sNr0ylEAnkhjkjLImqCZS2p8Yyj4I4sBzODmpqaecHZowujLxyblStbi6a27My6LgOmCy7osRnlxUke+sW1Ol5jISO2kMjIZVEhRAyju0ljnjyOKRUpuW23IvTl6NpFUvQrYc1wbm3+E7qC3maNTEgMzB/jQNb6lXAk04C54Vqe2ukNzcJIIGlUaQVZUWFc4ywYyEyHB4DTjNdu6JWcUVnAIVCoY0fxYuoYsx5sxJySeJzV0aEo8zWS+nStk4/0bjwshJZ3E00Zkc5dlSVlXUfIeVW9UWy7gxwO/wBK5k9j3JXPsNXtZp9zN8cClKUowpSlAClKUAeHXme3BHq51RjaL2kezrhIxK0RWTQW0agLWTPWwccOPKri5uAhRT/SMUHnoZv3arV2Z8JGzrfW0YkdIyy41BTbSZAyCOIGPXVlPuQksHdLObeRo+NOpVbHPGRnHvrNWK2hEaKgzhVCjPPAGBnx4VlrWUCtZ9JT42bceIRPtyov71bNWo+lSQLs98kAGW3BJOAB8IQ8fZUPAGg7ZGYZR9RvurDJKY2Y9hkTP5u64/6amTqJEYAghgQCOI4+Ir7JAGBB7fvxgGsRpPSuDwB44B9R5fca9Vhgt9JJzklUU/qA8fXqrNUAKUpQSKUpQAFUs3FbZv8AkFfsXU4q6FUwT+T2p/xaHzS9kOPY4ro/C3/nX54ZTWwYqwNYxFtRijLDjq0LnI5HOKkUr07SeTKRJtmxOxdl6xwCQzDOOWcEZrLBapHnQirnngAE+Z5ms1KVQindLkLnwjNdh6Fy42bZsey2iz+rGM/dXHs10uwutxsCOTusVYDzhyPvrnfEsR/ceBzW1T+QKTzIEnrMmv8AGrt34jGTkkZHIc+J8OGKg3dvothGOSrGnsKj8Kz2Ug04J46pAPHDmvNvnk1ok0pSoGFKUoAUpSgCt20vWtj9G4TPkUdf3qnbLTTc7O+rOg/yZF/Go+1VygP0Xjb2SDPuzWe3cCa0JOALmMevUU+849dPDKElhnZqUpWwoK3bSTlR8HbB7RhQT46nBCgfmmta2z0Smu4gtw5mBI+KMpVOeSZGVBqx2BEU+PbW70oA5VL6KF1fFhYhkZaN5FJAHDADdVc9hJY/TXlX1vRrPpG7uZ4+fypFdj25bK6RjkEHfxeuqUqGkwuciuPR9fIRpu5SCR2RNpGCTr6ozjHZzLAYwC1fW6C343f8qfradXxUZC6iTg456QoBbllx2A11yvlRsj6J3M4muwr7TlpmTjGpD26grvIuDNxwVE43ZI5Drcq+Lsa9HEzgZUsA9vgjqgHXg8lkDI+nJXqtjScjt1fMUbI+idzOFz2W0UOC9qMlQu8R0GT80sH0qT80k6X7Gzwr5c2m1Y2KmK0YggDDuurPYNR6rfVOCfm6q7nJCrAhgCCMEEAgjuPhUO/2PDMoV15DClSVKjuBHZ4Hh4VHTj6Dczi92+0Ex8Rb6SCDJvm0I4+ZKSo3LHs16R41JvbNrW1topTmZpZ5HIAVcyAPhATqwNPPGDgkE10puiaq6tFK6gDBU9bA7dDHiB9Q6o/qiqH0lbLjt7DeghTFLCwA6qsXkETYTkpKyMerjlxq/TbadWMl7Fk20aEaqNoXU8QLqo09qyMPUIyvHJ7jmrisEdt1tbHU3Znko7kHZ58zXopxbXBSiotekBlyBHuyDpO8DnDdwCr95FXq8uPP2VBshpmnX6WiX7SlT/oFT6ikpW+Z3BkbaMhWJyvFsEKO9m6qj1kgeuul9O2Fts22tl4GR7e3H5qDW/Du0wkfrCubykb21B+SbmAHx6+R7wK3jpv0c2htKSNiFhS3YmPdOGkfWApILYUcO/GOONXCuV8Sk3NR+n+yyBTXMWtSO/HuIP4V8jh05x2sW4jlqOTXux9Hd8xy888YJIVTKjFRj5chC8uGQq5Jzx04qZc+ju5Uki6uXVVZiFaIM5UdWNMgAO57T1VHaTy43RkaOoiLSs8Po/uiQpmuRholZzJHjrEPKyDRxVE6gPNmJOABx9Rej+7ZNQup0O7lYK26Y7zefEocry0Die0nso6LDqIjUryvQ3aGVIuJgCtsxDwwsV3pImDaRzjIGfA1juNgX8aBt7nA1SA2pYook3bkbtxrK/K0gZKnIzyqOjIOojNSq25ttoQh9QtmaNmV0xJHj+qbUSV3cg5ScFB6rFSDjLbQ37glbe3Y8lUTkM5xkqodAA4OQUYq3DljBMdKRO+Jlv4S8bKvyiOGe/OR91V+2CYoGkPOKZbgeSTiQe4V7lu7xc5sXJHNRLEW8tOdWR2jGRWO/s9oXdtKsdkAGVlyZ4ieXHSqkljUxhJPBDkrHehSqjYW2oZo0VXG8CqGQ5VwwAyMNgnj2jhVvWopFKUoAUpSgBSlKAFKUoAVrXT3pT/4ZbiRYjLLI27iQcAX0lusewAKTWy1W7f2LFewmKYHGQysDhkccVZD2EUAcvh2tc3i7x76U55rb4gRD9HgN5n8458q1rpJbFpkjnlnkidDoEs0kimXiD8o4DBSCPX3VsW3uht1aNqWNrhOyaDqzqO6SMHLfqk5+iK1qbam8DQs0U3fDODDKCPHHBh+aCKinNwmpNXLnGMlZGSw1hAJB1l6pPY2OAYd2e7vzUiqea9e3GTHMU5aWXU6jvWRciRfztJ86n2N+kwyhzjmDwYZ7weNeh0+pp1VaL5+5llBxyYnbFyn1on/AGXU/vGp1V83G6i8IpCf1mQD/Saz3t6kQGonU3BUAy7E8go5mrVJR3N4v/SFMe0YnYw7vGUlSXLchuzqGQOJycCts2f052ncNKoa0QxsF/JSODlQwOd4Mc+Vaobd261zMlqn9WGUzH85vmnwUE+NWFrfw28em2hdhkkseopPazyScTnvANcTW6ilUfyZ9minTfk3K06bX0RzPBDOnbuCyS/qpJ1W8tQrfNk7SjuokmhbVG4yDy8CCDxBB4EHkRXCbWW62i2iDMnHBS3JEa+E9weQ8FwfA12fodsL4BarCW1vl5JGAwC8jFm0jsXJwPAVji35JmksF3SlKYQUpSgDy8YOcgHIwcjmO4+FQDsK3yx3KdZRG2BgMo+SGA4HHYeY7KsaUAVa7Chxh13g5Deddgv0Sx6zAdmokj1VEbonDksrSq3frLcO5g2dY7i2SOwir+lAFXFsOMahJ8aGx+UCsRjPziNR59pJHfUqKxVQArSADl8Y595JNSqUAKUpQApSlAClKUAKUpQApSlACq/auxLe7XTcQxyj66gn1E8RSlAGpXnoptCc28lxbHuikyn2JAwHqxVNfeh55SpO0Hyp4NuE3gHdqVhw8KUo83Ju7WJy+iGAISLu6E5GGmyh1dwKFcBR3Ag+NUEPoXmDZa5gfiTvHhdpCOzOZMDyFKUzlKSs2QuC62f6IlT5V5IB3QRQw+8hzV/YejjZ8RDNEZmHHVO7S8e8BjpHqFfaUlkS22bTDCqKFRQqjkFAAHkByrJSlSQKUpQApSlAClKUAKUpQApSlAH/2Q==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1032" name="Picture 8" descr="http://www.startupcfo.ca/wp-content/uploads/2012/05/opportunity-cost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203848" y="4077072"/>
            <a:ext cx="2857500" cy="2619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7644015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 smtClean="0"/>
              <a:t>Exemplo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2249424"/>
            <a:ext cx="6851104" cy="4325112"/>
          </a:xfrm>
        </p:spPr>
        <p:txBody>
          <a:bodyPr>
            <a:normAutofit/>
          </a:bodyPr>
          <a:lstStyle/>
          <a:p>
            <a:pPr marL="109728" indent="0">
              <a:buNone/>
            </a:pPr>
            <a:r>
              <a:rPr lang="en-US" dirty="0" err="1" smtClean="0"/>
              <a:t>Você</a:t>
            </a:r>
            <a:r>
              <a:rPr lang="en-US" dirty="0" smtClean="0"/>
              <a:t> </a:t>
            </a:r>
            <a:r>
              <a:rPr lang="en-US" dirty="0" err="1" smtClean="0"/>
              <a:t>investe</a:t>
            </a:r>
            <a:r>
              <a:rPr lang="en-US" dirty="0" smtClean="0"/>
              <a:t> </a:t>
            </a:r>
            <a:r>
              <a:rPr lang="en-US" dirty="0" err="1" smtClean="0"/>
              <a:t>em</a:t>
            </a:r>
            <a:r>
              <a:rPr lang="en-US" dirty="0" smtClean="0"/>
              <a:t> um </a:t>
            </a:r>
            <a:r>
              <a:rPr lang="en-US" dirty="0" err="1" smtClean="0"/>
              <a:t>fundo</a:t>
            </a:r>
            <a:r>
              <a:rPr lang="en-US" dirty="0" smtClean="0"/>
              <a:t> do </a:t>
            </a:r>
            <a:r>
              <a:rPr lang="en-US" dirty="0" err="1" smtClean="0"/>
              <a:t>tesouro</a:t>
            </a:r>
            <a:r>
              <a:rPr lang="en-US" dirty="0" smtClean="0"/>
              <a:t> </a:t>
            </a:r>
            <a:r>
              <a:rPr lang="en-US" dirty="0" err="1" smtClean="0"/>
              <a:t>direto</a:t>
            </a:r>
            <a:r>
              <a:rPr lang="en-US" dirty="0" smtClean="0"/>
              <a:t>, </a:t>
            </a:r>
            <a:r>
              <a:rPr lang="en-US" dirty="0" err="1" smtClean="0"/>
              <a:t>sem</a:t>
            </a:r>
            <a:r>
              <a:rPr lang="en-US" dirty="0" smtClean="0"/>
              <a:t> </a:t>
            </a:r>
            <a:r>
              <a:rPr lang="en-US" dirty="0" err="1" smtClean="0"/>
              <a:t>riscos</a:t>
            </a:r>
            <a:r>
              <a:rPr lang="en-US" dirty="0" smtClean="0"/>
              <a:t>, </a:t>
            </a:r>
            <a:r>
              <a:rPr lang="en-US" dirty="0" err="1" smtClean="0"/>
              <a:t>que</a:t>
            </a:r>
            <a:r>
              <a:rPr lang="en-US" dirty="0" smtClean="0"/>
              <a:t> </a:t>
            </a:r>
            <a:r>
              <a:rPr lang="en-US" dirty="0" err="1" smtClean="0"/>
              <a:t>rende</a:t>
            </a:r>
            <a:r>
              <a:rPr lang="en-US" dirty="0" smtClean="0"/>
              <a:t> 11% </a:t>
            </a:r>
            <a:r>
              <a:rPr lang="en-US" dirty="0" err="1" smtClean="0"/>
              <a:t>ao</a:t>
            </a:r>
            <a:r>
              <a:rPr lang="en-US" dirty="0" smtClean="0"/>
              <a:t> </a:t>
            </a:r>
            <a:r>
              <a:rPr lang="en-US" dirty="0" err="1" smtClean="0"/>
              <a:t>ano</a:t>
            </a:r>
            <a:r>
              <a:rPr lang="en-US" dirty="0"/>
              <a:t>;</a:t>
            </a:r>
            <a:r>
              <a:rPr lang="en-US" dirty="0" smtClean="0"/>
              <a:t> </a:t>
            </a:r>
            <a:r>
              <a:rPr lang="en-US" dirty="0" err="1" smtClean="0"/>
              <a:t>Desistindo</a:t>
            </a:r>
            <a:r>
              <a:rPr lang="en-US" dirty="0" smtClean="0"/>
              <a:t> </a:t>
            </a:r>
            <a:r>
              <a:rPr lang="en-US" dirty="0" err="1" smtClean="0"/>
              <a:t>assim</a:t>
            </a:r>
            <a:r>
              <a:rPr lang="en-US" dirty="0" smtClean="0"/>
              <a:t> de </a:t>
            </a:r>
            <a:r>
              <a:rPr lang="en-US" dirty="0" err="1" smtClean="0"/>
              <a:t>investir</a:t>
            </a:r>
            <a:r>
              <a:rPr lang="en-US" dirty="0" smtClean="0"/>
              <a:t> </a:t>
            </a:r>
            <a:r>
              <a:rPr lang="en-US" dirty="0" err="1" smtClean="0"/>
              <a:t>em</a:t>
            </a:r>
            <a:r>
              <a:rPr lang="en-US" dirty="0" smtClean="0"/>
              <a:t> </a:t>
            </a:r>
            <a:r>
              <a:rPr lang="en-US" dirty="0" err="1" smtClean="0"/>
              <a:t>uma</a:t>
            </a:r>
            <a:r>
              <a:rPr lang="en-US" dirty="0" smtClean="0"/>
              <a:t> </a:t>
            </a:r>
            <a:r>
              <a:rPr lang="en-US" dirty="0" err="1" smtClean="0"/>
              <a:t>ação</a:t>
            </a:r>
            <a:r>
              <a:rPr lang="en-US" dirty="0" smtClean="0"/>
              <a:t>, de </a:t>
            </a:r>
            <a:r>
              <a:rPr lang="en-US" dirty="0" err="1" smtClean="0"/>
              <a:t>risco</a:t>
            </a:r>
            <a:r>
              <a:rPr lang="en-US" dirty="0" smtClean="0"/>
              <a:t> </a:t>
            </a:r>
            <a:r>
              <a:rPr lang="en-US" dirty="0" err="1" smtClean="0"/>
              <a:t>moderado</a:t>
            </a:r>
            <a:r>
              <a:rPr lang="en-US" dirty="0" smtClean="0"/>
              <a:t>, </a:t>
            </a:r>
            <a:r>
              <a:rPr lang="en-US" dirty="0" err="1" smtClean="0"/>
              <a:t>que</a:t>
            </a:r>
            <a:r>
              <a:rPr lang="en-US" dirty="0" smtClean="0"/>
              <a:t> </a:t>
            </a:r>
            <a:r>
              <a:rPr lang="en-US" dirty="0" err="1" smtClean="0"/>
              <a:t>poderia</a:t>
            </a:r>
            <a:r>
              <a:rPr lang="en-US" dirty="0" smtClean="0"/>
              <a:t> </a:t>
            </a:r>
            <a:r>
              <a:rPr lang="en-US" dirty="0" err="1" smtClean="0"/>
              <a:t>lhe</a:t>
            </a:r>
            <a:r>
              <a:rPr lang="en-US" dirty="0" smtClean="0"/>
              <a:t> render 20% </a:t>
            </a:r>
            <a:r>
              <a:rPr lang="en-US" dirty="0" err="1" smtClean="0"/>
              <a:t>ao</a:t>
            </a:r>
            <a:r>
              <a:rPr lang="en-US" dirty="0" smtClean="0"/>
              <a:t> </a:t>
            </a:r>
            <a:r>
              <a:rPr lang="en-US" dirty="0" err="1" smtClean="0"/>
              <a:t>ano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pPr marL="109728" indent="0">
              <a:buNone/>
            </a:pPr>
            <a:r>
              <a:rPr lang="en-US" dirty="0" smtClean="0"/>
              <a:t>O </a:t>
            </a:r>
            <a:r>
              <a:rPr lang="en-US" dirty="0" err="1" smtClean="0"/>
              <a:t>custo</a:t>
            </a:r>
            <a:r>
              <a:rPr lang="en-US" dirty="0" smtClean="0"/>
              <a:t> de </a:t>
            </a:r>
            <a:r>
              <a:rPr lang="en-US" dirty="0" err="1" smtClean="0"/>
              <a:t>oportunidade</a:t>
            </a:r>
            <a:r>
              <a:rPr lang="en-US" dirty="0" smtClean="0"/>
              <a:t> </a:t>
            </a:r>
            <a:r>
              <a:rPr lang="en-US" dirty="0" err="1" smtClean="0"/>
              <a:t>que</a:t>
            </a:r>
            <a:r>
              <a:rPr lang="en-US" dirty="0" smtClean="0"/>
              <a:t> </a:t>
            </a:r>
            <a:r>
              <a:rPr lang="en-US" dirty="0" err="1" smtClean="0"/>
              <a:t>você</a:t>
            </a:r>
            <a:r>
              <a:rPr lang="en-US" dirty="0" smtClean="0"/>
              <a:t> </a:t>
            </a:r>
            <a:r>
              <a:rPr lang="en-US" dirty="0" err="1" smtClean="0"/>
              <a:t>abandounou</a:t>
            </a:r>
            <a:r>
              <a:rPr lang="en-US" dirty="0" smtClean="0"/>
              <a:t> </a:t>
            </a:r>
            <a:r>
              <a:rPr lang="en-US" dirty="0" err="1" smtClean="0"/>
              <a:t>ao</a:t>
            </a:r>
            <a:r>
              <a:rPr lang="en-US" dirty="0" smtClean="0"/>
              <a:t> </a:t>
            </a:r>
            <a:r>
              <a:rPr lang="en-US" dirty="0" err="1" smtClean="0"/>
              <a:t>investir</a:t>
            </a:r>
            <a:r>
              <a:rPr lang="en-US" dirty="0" smtClean="0"/>
              <a:t> no </a:t>
            </a:r>
            <a:r>
              <a:rPr lang="en-US" dirty="0" err="1" smtClean="0"/>
              <a:t>fundo</a:t>
            </a:r>
            <a:r>
              <a:rPr lang="en-US" dirty="0" smtClean="0"/>
              <a:t> do </a:t>
            </a:r>
            <a:r>
              <a:rPr lang="en-US" dirty="0" err="1" smtClean="0"/>
              <a:t>tesouro</a:t>
            </a:r>
            <a:r>
              <a:rPr lang="en-US" dirty="0" smtClean="0"/>
              <a:t> é de 9% (20% - 11%). </a:t>
            </a:r>
            <a:endParaRPr lang="pt-BR" dirty="0"/>
          </a:p>
        </p:txBody>
      </p:sp>
      <p:pic>
        <p:nvPicPr>
          <p:cNvPr id="2050" name="Picture 2" descr="https://encrypted-tbn3.gstatic.com/images?q=tbn:ANd9GcTG06QPK_D-RroaLZI09nP8s_Vpsvbg9T-y_BGXiL3N5DiGT4hu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164288" y="4077072"/>
            <a:ext cx="1728192" cy="1653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5161146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 smtClean="0"/>
              <a:t>Exemplo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755576" y="2204864"/>
            <a:ext cx="7776864" cy="4325112"/>
          </a:xfrm>
        </p:spPr>
        <p:txBody>
          <a:bodyPr>
            <a:normAutofit lnSpcReduction="10000"/>
          </a:bodyPr>
          <a:lstStyle/>
          <a:p>
            <a:pPr marL="109728" indent="0">
              <a:buNone/>
            </a:pPr>
            <a:r>
              <a:rPr lang="en-US" dirty="0" smtClean="0"/>
              <a:t>A: </a:t>
            </a:r>
            <a:r>
              <a:rPr lang="en-US" dirty="0" err="1" smtClean="0"/>
              <a:t>Ir</a:t>
            </a:r>
            <a:r>
              <a:rPr lang="en-US" dirty="0" smtClean="0"/>
              <a:t> a </a:t>
            </a:r>
            <a:r>
              <a:rPr lang="en-US" dirty="0" err="1" smtClean="0"/>
              <a:t>faculdade</a:t>
            </a:r>
            <a:r>
              <a:rPr lang="en-US" dirty="0" smtClean="0"/>
              <a:t> (</a:t>
            </a:r>
            <a:r>
              <a:rPr lang="en-US" dirty="0" err="1" smtClean="0"/>
              <a:t>ficando</a:t>
            </a:r>
            <a:r>
              <a:rPr lang="en-US" dirty="0" smtClean="0"/>
              <a:t> 4 </a:t>
            </a:r>
            <a:r>
              <a:rPr lang="en-US" dirty="0" err="1" smtClean="0"/>
              <a:t>anos</a:t>
            </a:r>
            <a:r>
              <a:rPr lang="en-US" dirty="0" smtClean="0"/>
              <a:t> </a:t>
            </a:r>
            <a:r>
              <a:rPr lang="en-US" dirty="0" err="1" smtClean="0"/>
              <a:t>trabalhar</a:t>
            </a:r>
            <a:r>
              <a:rPr lang="en-US" dirty="0"/>
              <a:t>)</a:t>
            </a:r>
            <a:endParaRPr lang="en-US" dirty="0" smtClean="0"/>
          </a:p>
          <a:p>
            <a:pPr marL="109728" indent="0">
              <a:buNone/>
            </a:pPr>
            <a:r>
              <a:rPr lang="en-US" dirty="0" smtClean="0"/>
              <a:t>B: </a:t>
            </a:r>
            <a:r>
              <a:rPr lang="en-US" dirty="0" err="1" smtClean="0"/>
              <a:t>Trabalhar</a:t>
            </a:r>
            <a:r>
              <a:rPr lang="en-US" dirty="0" smtClean="0"/>
              <a:t> e </a:t>
            </a:r>
            <a:r>
              <a:rPr lang="en-US" dirty="0" err="1" smtClean="0"/>
              <a:t>receber</a:t>
            </a:r>
            <a:r>
              <a:rPr lang="en-US" dirty="0" smtClean="0"/>
              <a:t> </a:t>
            </a:r>
            <a:r>
              <a:rPr lang="en-US" dirty="0" err="1" smtClean="0"/>
              <a:t>salário</a:t>
            </a:r>
            <a:endParaRPr lang="en-US" dirty="0" smtClean="0"/>
          </a:p>
          <a:p>
            <a:pPr marL="109728" indent="0">
              <a:buNone/>
            </a:pPr>
            <a:endParaRPr lang="en-US" dirty="0"/>
          </a:p>
          <a:p>
            <a:pPr marL="109728" indent="0">
              <a:buNone/>
            </a:pPr>
            <a:r>
              <a:rPr lang="pt-BR" dirty="0" smtClean="0"/>
              <a:t>No caso de quem escolheu a alternativa A</a:t>
            </a:r>
          </a:p>
          <a:p>
            <a:pPr marL="109728" indent="0">
              <a:buNone/>
            </a:pPr>
            <a:r>
              <a:rPr lang="pt-BR" dirty="0"/>
              <a:t>o</a:t>
            </a:r>
            <a:r>
              <a:rPr lang="pt-BR" dirty="0" smtClean="0"/>
              <a:t> custo que essa oportunidade (a) tem, é o dos 4 anos de salario que você receberia caso teve-se escolhido a alternativa (b), porém você acredita que com a faculdade terá um salário maior que acabara compensando os anos em que deixou de ganhar.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xmlns="" val="32551658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 smtClean="0"/>
              <a:t>Conceito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09728" indent="0">
              <a:buNone/>
            </a:pPr>
            <a:r>
              <a:rPr lang="pt-BR" dirty="0" smtClean="0"/>
              <a:t>O custo de oportunidade representa o valor sacrificado pela empresa, em termos de remuneração, ao tomar a decisão de aplicar seus recursos em determinada alternativa ao invés de aplicar em outra.</a:t>
            </a:r>
          </a:p>
          <a:p>
            <a:pPr marL="109728" indent="0">
              <a:buNone/>
            </a:pPr>
            <a:endParaRPr lang="pt-BR" dirty="0"/>
          </a:p>
          <a:p>
            <a:pPr marL="109728" indent="0">
              <a:buNone/>
            </a:pPr>
            <a:r>
              <a:rPr lang="pt-BR" dirty="0" smtClean="0"/>
              <a:t>Custo de oportunidade refere-se ao valor liquido de caixa perdido quando se optou por uma alternativa em detrimento de outra.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xmlns="" val="25336374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 smtClean="0"/>
              <a:t>Análise	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 smtClean="0"/>
          </a:p>
          <a:p>
            <a:r>
              <a:rPr lang="pt-BR" dirty="0" smtClean="0"/>
              <a:t>Entender o custo de oportunidade com relação a outro investimento de igual valor ou tomar como base investimentos com risco zero. (</a:t>
            </a:r>
            <a:r>
              <a:rPr lang="pt-BR" dirty="0" err="1" smtClean="0"/>
              <a:t>Ex</a:t>
            </a:r>
            <a:r>
              <a:rPr lang="pt-BR" dirty="0" smtClean="0"/>
              <a:t>: títulos públicos, poupança)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xmlns="" val="28353653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7544" y="476672"/>
            <a:ext cx="8229600" cy="1066800"/>
          </a:xfrm>
        </p:spPr>
        <p:txBody>
          <a:bodyPr/>
          <a:lstStyle/>
          <a:p>
            <a:r>
              <a:rPr lang="pt-BR" dirty="0" smtClean="0"/>
              <a:t>Vídeo: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933491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7544" y="908720"/>
            <a:ext cx="8229600" cy="1066800"/>
          </a:xfrm>
        </p:spPr>
        <p:txBody>
          <a:bodyPr/>
          <a:lstStyle/>
          <a:p>
            <a:pPr algn="ctr"/>
            <a:r>
              <a:rPr lang="pt-BR" dirty="0" smtClean="0"/>
              <a:t>Exemplo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67544" y="2060848"/>
            <a:ext cx="8229600" cy="4325112"/>
          </a:xfrm>
        </p:spPr>
        <p:txBody>
          <a:bodyPr>
            <a:normAutofit lnSpcReduction="10000"/>
          </a:bodyPr>
          <a:lstStyle/>
          <a:p>
            <a:r>
              <a:rPr lang="pt-BR" dirty="0" smtClean="0"/>
              <a:t>Suponhamos as seguintes alternativas de investimentos.</a:t>
            </a:r>
          </a:p>
          <a:p>
            <a:endParaRPr lang="pt-BR" dirty="0"/>
          </a:p>
          <a:p>
            <a:r>
              <a:rPr lang="pt-BR" dirty="0" smtClean="0"/>
              <a:t>1ª beneficio proporcionado = 300</a:t>
            </a:r>
          </a:p>
          <a:p>
            <a:r>
              <a:rPr lang="pt-BR" dirty="0" smtClean="0"/>
              <a:t>2ª beneficio proporcionado = 260</a:t>
            </a:r>
          </a:p>
          <a:p>
            <a:endParaRPr lang="pt-BR" dirty="0"/>
          </a:p>
          <a:p>
            <a:r>
              <a:rPr lang="pt-BR" dirty="0" smtClean="0"/>
              <a:t>Custo 1ª = 300-260 = </a:t>
            </a:r>
            <a:r>
              <a:rPr lang="pt-BR" b="1" dirty="0" smtClean="0"/>
              <a:t>40 </a:t>
            </a:r>
          </a:p>
          <a:p>
            <a:r>
              <a:rPr lang="pt-BR" dirty="0" smtClean="0"/>
              <a:t>Custo 2ª = 260-300 = </a:t>
            </a:r>
            <a:r>
              <a:rPr lang="pt-BR" b="1" dirty="0" smtClean="0"/>
              <a:t>-40</a:t>
            </a:r>
          </a:p>
          <a:p>
            <a:pPr marL="109728" indent="0">
              <a:buNone/>
            </a:pPr>
            <a:endParaRPr lang="pt-BR" dirty="0" smtClean="0"/>
          </a:p>
          <a:p>
            <a:pPr marL="109728" indent="0">
              <a:buNone/>
            </a:pPr>
            <a:r>
              <a:rPr lang="pt-BR" dirty="0" smtClean="0"/>
              <a:t>Vale a pena o risco?</a:t>
            </a:r>
          </a:p>
        </p:txBody>
      </p:sp>
    </p:spTree>
    <p:extLst>
      <p:ext uri="{BB962C8B-B14F-4D97-AF65-F5344CB8AC3E}">
        <p14:creationId xmlns:p14="http://schemas.microsoft.com/office/powerpoint/2010/main" xmlns="" val="18114650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7544" y="908720"/>
            <a:ext cx="8229600" cy="1066800"/>
          </a:xfrm>
        </p:spPr>
        <p:txBody>
          <a:bodyPr/>
          <a:lstStyle/>
          <a:p>
            <a:pPr algn="ctr"/>
            <a:r>
              <a:rPr lang="pt-BR" dirty="0" smtClean="0"/>
              <a:t>Exemplo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67544" y="2060848"/>
            <a:ext cx="8229600" cy="4325112"/>
          </a:xfrm>
        </p:spPr>
        <p:txBody>
          <a:bodyPr>
            <a:normAutofit/>
          </a:bodyPr>
          <a:lstStyle/>
          <a:p>
            <a:r>
              <a:rPr lang="pt-BR" dirty="0" smtClean="0"/>
              <a:t>Investimento imobilizado de R$ 10.000. Sendo que o valor poderia ser aplicado a uma taxa de 6% </a:t>
            </a:r>
            <a:r>
              <a:rPr lang="pt-BR" dirty="0" err="1" smtClean="0"/>
              <a:t>a.a</a:t>
            </a:r>
            <a:r>
              <a:rPr lang="pt-BR" dirty="0" smtClean="0"/>
              <a:t> .  A empresa optou por comprar o imobilizado e obteve os seguintes resultados:</a:t>
            </a:r>
          </a:p>
          <a:p>
            <a:endParaRPr lang="pt-BR" dirty="0"/>
          </a:p>
          <a:p>
            <a:r>
              <a:rPr lang="pt-BR" dirty="0" smtClean="0"/>
              <a:t>(+) Receita de venda 15.000</a:t>
            </a:r>
          </a:p>
          <a:p>
            <a:r>
              <a:rPr lang="pt-BR" dirty="0" smtClean="0"/>
              <a:t>(-) Custo dos produtos vendidos (14.000)</a:t>
            </a:r>
          </a:p>
          <a:p>
            <a:r>
              <a:rPr lang="pt-BR" dirty="0" smtClean="0"/>
              <a:t>(=) Lucro  1.000</a:t>
            </a:r>
          </a:p>
        </p:txBody>
      </p:sp>
    </p:spTree>
    <p:extLst>
      <p:ext uri="{BB962C8B-B14F-4D97-AF65-F5344CB8AC3E}">
        <p14:creationId xmlns:p14="http://schemas.microsoft.com/office/powerpoint/2010/main" xmlns="" val="39461412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7544" y="908720"/>
            <a:ext cx="8229600" cy="1066800"/>
          </a:xfrm>
        </p:spPr>
        <p:txBody>
          <a:bodyPr/>
          <a:lstStyle/>
          <a:p>
            <a:pPr algn="ctr"/>
            <a:r>
              <a:rPr lang="pt-BR" dirty="0" smtClean="0"/>
              <a:t>Exemplo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67544" y="2060848"/>
            <a:ext cx="8229600" cy="4325112"/>
          </a:xfrm>
        </p:spPr>
        <p:txBody>
          <a:bodyPr>
            <a:normAutofit/>
          </a:bodyPr>
          <a:lstStyle/>
          <a:p>
            <a:r>
              <a:rPr lang="pt-BR" dirty="0" smtClean="0"/>
              <a:t>Se aplicasse na outra alternativa a empresa teria um rendimento de 600.  (10.000 x 6% </a:t>
            </a:r>
            <a:r>
              <a:rPr lang="pt-BR" dirty="0" err="1" smtClean="0"/>
              <a:t>a.a</a:t>
            </a:r>
            <a:r>
              <a:rPr lang="pt-BR" dirty="0" smtClean="0"/>
              <a:t>).</a:t>
            </a:r>
          </a:p>
          <a:p>
            <a:endParaRPr lang="pt-BR" dirty="0"/>
          </a:p>
          <a:p>
            <a:r>
              <a:rPr lang="pt-BR" dirty="0" smtClean="0"/>
              <a:t>Considerando o custo de oportunidade de 600, temos um resultado de R$ 400, o qual representa o verdadeiro valor do resultado da atividade.</a:t>
            </a:r>
          </a:p>
          <a:p>
            <a:pPr marL="109728" indent="0">
              <a:buNone/>
            </a:pP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xmlns="" val="39625447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Preço de Transferência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Vídeo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xmlns="" val="38600448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Preço de Transferência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Conceito:</a:t>
            </a:r>
            <a:endParaRPr lang="pt-B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99592" y="2276872"/>
            <a:ext cx="7769003" cy="3984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30789100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Preço de Transferência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Conceito: Valor pelo qual são transferidos bens e serviços entre as atividades e áreas internas de uma organização.</a:t>
            </a:r>
            <a:endParaRPr lang="pt-BR" dirty="0"/>
          </a:p>
        </p:txBody>
      </p:sp>
      <p:pic>
        <p:nvPicPr>
          <p:cNvPr id="2050" name="Picture 2" descr="http://www.agenciadeviagenscampinas.com.br/images/visto_eua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23528" y="4146595"/>
            <a:ext cx="1618912" cy="1618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://www.baccos.com.br/Imagens/carac/Brasil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328508" y="4036972"/>
            <a:ext cx="1838156" cy="1838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http://ec.l.thumbs.canstockphoto.com/canstock12646222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117583" y="4379788"/>
            <a:ext cx="1157069" cy="1157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http://ec.l.thumbs.canstockphoto.com/canstock12646222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308741" y="4380030"/>
            <a:ext cx="1156827" cy="1156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http://revistapiaui.estadao.com.br/assets/media/images/posts/1123/PH1342635037x2989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732240" y="3919839"/>
            <a:ext cx="2057484" cy="172819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1738796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://blog.cancaonova.com/tiba/files/2012/05/Pepsico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128508" y="918654"/>
            <a:ext cx="4032448" cy="993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http://www.agenciadeviagenscampinas.com.br/images/visto_eua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712966" y="959991"/>
            <a:ext cx="1025860" cy="1025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ttp://www.gracapimenta.com.br/imagens/noticias/354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226016" y="2336188"/>
            <a:ext cx="5200650" cy="1285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http://www.distribuidoracob.com.br/wp-content/uploads/2013/08/PepsiLata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342585" y="3697803"/>
            <a:ext cx="2708920" cy="2708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eta para a direita 5"/>
          <p:cNvSpPr/>
          <p:nvPr/>
        </p:nvSpPr>
        <p:spPr>
          <a:xfrm>
            <a:off x="4231488" y="4635355"/>
            <a:ext cx="1312912" cy="8338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1" name="Picture 6" descr="http://www.distribuidoracob.com.br/wp-content/uploads/2013/08/PepsiLata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516976" y="3697803"/>
            <a:ext cx="2708920" cy="2708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http://www.baccos.com.br/Imagens/carac/Brasil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712966" y="2671942"/>
            <a:ext cx="1025860" cy="1025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aixaDeTexto 7"/>
          <p:cNvSpPr txBox="1"/>
          <p:nvPr/>
        </p:nvSpPr>
        <p:spPr>
          <a:xfrm>
            <a:off x="4144732" y="4061215"/>
            <a:ext cx="1281431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 smtClean="0"/>
              <a:t>+ 20%</a:t>
            </a:r>
            <a:endParaRPr lang="pt-BR" sz="2400" b="1" dirty="0"/>
          </a:p>
        </p:txBody>
      </p:sp>
      <p:sp>
        <p:nvSpPr>
          <p:cNvPr id="14" name="CaixaDeTexto 13"/>
          <p:cNvSpPr txBox="1"/>
          <p:nvPr/>
        </p:nvSpPr>
        <p:spPr>
          <a:xfrm>
            <a:off x="4173662" y="5699052"/>
            <a:ext cx="1343314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/>
              <a:t>-</a:t>
            </a:r>
            <a:r>
              <a:rPr lang="pt-BR" sz="2400" b="1" dirty="0" smtClean="0"/>
              <a:t> 20%</a:t>
            </a:r>
            <a:endParaRPr lang="pt-BR" sz="2400" b="1" dirty="0"/>
          </a:p>
        </p:txBody>
      </p:sp>
      <p:sp>
        <p:nvSpPr>
          <p:cNvPr id="4" name="Seta para baixo 3"/>
          <p:cNvSpPr/>
          <p:nvPr/>
        </p:nvSpPr>
        <p:spPr>
          <a:xfrm>
            <a:off x="4458690" y="2066716"/>
            <a:ext cx="429254" cy="61206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2721247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2249424"/>
            <a:ext cx="6347048" cy="4325112"/>
          </a:xfrm>
        </p:spPr>
        <p:txBody>
          <a:bodyPr/>
          <a:lstStyle/>
          <a:p>
            <a:r>
              <a:rPr lang="pt-BR" dirty="0" smtClean="0"/>
              <a:t>Organizações voltadas para a descentralização;</a:t>
            </a:r>
          </a:p>
          <a:p>
            <a:r>
              <a:rPr lang="pt-BR" dirty="0" smtClean="0"/>
              <a:t>Um centro de lucro para outro;</a:t>
            </a:r>
          </a:p>
          <a:p>
            <a:r>
              <a:rPr lang="pt-BR" dirty="0"/>
              <a:t> </a:t>
            </a:r>
            <a:r>
              <a:rPr lang="pt-BR" dirty="0" smtClean="0"/>
              <a:t>Evitar perdas fiscais;</a:t>
            </a:r>
          </a:p>
          <a:p>
            <a:endParaRPr lang="pt-BR" dirty="0" smtClean="0"/>
          </a:p>
          <a:p>
            <a:endParaRPr lang="pt-BR" dirty="0"/>
          </a:p>
        </p:txBody>
      </p:sp>
      <p:pic>
        <p:nvPicPr>
          <p:cNvPr id="6146" name="Picture 2" descr="http://www.eptec.com.br/cursos/e-logistica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767736" y="1376970"/>
            <a:ext cx="2376264" cy="1442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6147" name="Picture 3" descr="C:\Users\lc\Desktop\UTFPR\download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259632" y="4869160"/>
            <a:ext cx="2735245" cy="1008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6149" name="Picture 5" descr="http://brincandocomasletras.zip.net/images/ponto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153856" y="4894272"/>
            <a:ext cx="965336" cy="1072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7" descr="data:image/jpeg;base64,/9j/4AAQSkZJRgABAQAAAQABAAD/2wCEAAkGBwgHEhUREhIVFBUXFxoaGRQYGBweGxodHRkgGBwaGx8bHS0gGSAmHRwdIzEiJjArLi4uHSAzODMsNygyLysBCgoKDg0OGxAQGywlICU3LC0sLiwsLC4sNCwsLCwsLCwsLCwsLCwsLCwsLCwsLCwsLCwsLC8sLCwsLCwsLCwsLP/AABEIAKIBNwMBEQACEQEDEQH/xAAcAAEAAgMBAQEAAAAAAAAAAAAABgcEBQgDAgH/xABKEAABAwIFAgQCAwsKBAcBAAABAAIDBBEFBhIhMQdBEyJRYXGBMlKRFCM1QnJzk6GxstIIFzM0Q1RidLPCgsHD8BUWNlOS0fEk/8QAGgEBAAIDAQAAAAAAAAAAAAAAAAIDAQQFBv/EADQRAAIBAwIDBAgGAwEAAAAAAAABAgMEEQUhEjFRE0GBsSIyYXGhwdHhFTM0UpHwFCPxQv/aAAwDAQACEQMRAD8AvFAEAQBAEAQBAEAQBAEAQBAEAQBAfMjxGCbE2F7AXPyA5WUsgrHO3V2HA3PggppTMNtUzCxnxAJ1uF/yb22K61rpTqpSlJY9m7+hXKeCqMa6k5rxpnhyVJa297RgM9RYltiRvwSuzS0+3pvKj/O5W5tkbw/EKzDX+JDI+J4/GY4tNubbcjbhbU6cZrEllGMk8wTrJmfDrNl8OpbffW2z7egc232kFc6rpFCfq5XuJqoywcE615erdqhklO63JGtl9tgW+b15FtuVzKuj1o+o0/g/74klURP8JxrC8Zbqp545R30OBI7bjkcHlc2pRnTeJpommmZ6rMhAEAQBAEAQBAEAQBAEAQBAEAQBAEAQBAEAQBAEAQBAEAQBAfhICAhmYup+V8DDh43jyC48OHzbjaxd9Ec+vY/Bb9DTa9Xuwur/ALki5pET/n4oP7lJ+kb/AArc/BJ/vX8Ee0H8/FB/cpP0jf4U/BJ/vX8DtD2xHq7krF4/DqKSeRpsS10cbhf2vJ+tYhpVzTeYSS8X9BxpkHxabpnizvvLKykc48hjXMF78t8QutcjZvpsF0Kcb6mvScZefkviQfCzU4rkDG6OL7ojjfNB9dsb2ut6mN7Q8D3sR7q6nfUpS4JPD9681sYcWRQghbpE/EBk0FdV4a8SwyOje3hzSQf1fsUJwjNcMllGSycr9aMXw8BlWwVLNvOLNkA+Q0u7c2PuVyrjSKc96b4X8CaqPvL2wbEYcXgiqGBwZKxr2h1rgOFxexIuvPVabpzcH3bFqeTMVZkIAgCAIAgCAIAgCAIAgCAIAgCAIAgCAIAgCAIAgCA/HOawEk2A5JQEEzZ1Vy9gALY3Cpl7MiILR+U/gfK5XRt9MrVd36K9v0IOaRSubeouYMz3a+Tw4Tf7zHs23+I8v+e3su/bWFGhull9WVOTZEVukQgPuGGWdwaxpc47BrQST8AOVhtJZZknGHdNauNjZ8QnioIjvaQjxCP8LL8/r9lz56hFvhoxcn7OX8kuDqSjCs0dNMpAGmgkqZQLiVzN7+l320f8IWpUtr24fptJdP8AhJOKNi3rvh5IvRSW72kadvhbdU/gk/3r+DPaGvxrE+mOczqeX0k7jbxdGnty/TdhHud1bSp31ty9JdM+XeYbiyJ4/wBMMdwxnjQ6auC1xLCdVx66Rc/ZdbtHUqU3wy9F9GRcGQhzS02IsRyFvkD8WQdf5Uo20FFTRAlwZDGLnv5QvEXE+OrKXtZsrkbN72xgkkADkngKlLJk1OH5pwHEpDDDVQySC/ka8X25t9b5K+dtWhHilFpGMo3CoMhAEAQBAEAQBAEAQBAEAQBAEAQBAEAQBAEAQEazbnnAsqC08l5CLiFm7zzvb8Ubcmy27eyq1/VW3XuIuSRRGd+pmM5p1Rg+BTk/0TDuRa1nu/G+Gw9l6K106lQ35y6/QqlNsg66BAID9AJ2QE+yb0qxvMQEsn/80J/GePO4f4WbH5m3zXNutTpUdo7v+95OMGy4qDLuX+ndJJOyMOdGwudK+2tx9NVvLc7WHquFO4rXlRRb59y5FuFFHO2acx4hmid1RO65OzWj6LG9mtH/AHdeot7eFCHDAobyadXmAgCAsLpV1AqMsytppSX00jgLE/0RJtrb7b7j5888zULGNaPHH1l8fZ9CcJYLhzj07wLNbdRaIpeRNGBc/lDh4+O/uuHbX9Wg8c10Za4plHZg6d43luVvjR64NbQZ2fQ0l1vN3Zt6/avQUb+lWj6LxLp/eZU4tFr5s6rYLlxggpbVMrQG2DvIy227reY7cBca30yrWfFU2XxLHNLkUxmXOuP5lcTPO7Qf7JhLWAemkc/O671Czo0V6K3695U5Nkfje+IhzSQRuCDYg+oWy1nZkSysldXsVwa0VXepi2Gon74wext5/gftXKutKp1PSp+i/gWRm1zLty5mzA8yi9NO15HLDs8b2uWne3uuBXtatF+mvoWqSfI3a1zIQBAEAQBAEAQBAEAQBAEAQBAEAQBAeVTMKdpfpc6wvZoLnH4AblZisvAKHzv1hxKuJho2OpmgkOe7+lNtiLfiftXorTSYR9Ko8+X3KZT6FWTzS1Di57i5x5c4kk/EnldlJJYRA81kwEBv8q5PxnNLw2njOm9nSu2Y34nv8BcrWuLulQWZvw7ySi2TvM+X8F6aUrdvuivmBDJHW0xW5kY08WvsTc39FzqFere1OkFzXX2Mk0oox8j9YMQwrTDWgzxDbxb3laLbc/T7c7+5UrvSoVMyp7Pp3fYRnjmXBWyYZnehlZBK2VkrCLg8HkahsQbjg2XEip21ZOaw0WbNHLmNYPiGBSugqIzHI3lpsdjwQRs4e4Xr6VWFWPFB5RQ1gwFYYCAICZdN8l1+Z6iN+ginY8GSXgbb6R6k8bcLQvryFCDWfSfJE4xydC5nzXg2VIw6olDSQdEY3e63YAfLc7LzNC1q13iC8S5tI5/z31JxbNZdG28NPfaJp3cL3HiH8bi9uB78r0tpp9Ohu95dfoUym2QhdAgEAQBAZFBXVWHPEsMjo3t3Dmkgj7FCcIzXDJZRkubInWGrrZI6argMj3kNbJCPMSfrM7+tx77LhXelRjFzpvCXc/qWRn1LmXCLQgCAIAgCAIAgCAIAgCAIAgCAIAgCAgXULpth2Z2PlhY2Kr5El7B54tJYG+3e19h736NlqE6DUZPMen0IShk57x/AMUy7J4VTEY3WuL2IIva4I2IXpqNenWjxQeSlprmYEEMtQ4MY0uc4gBrQSSTwABuSrW0llguLIXRx8mmfEbtGxbTgi54P3w+h7tG/v2XDvNWSzCj/AD9CyMOpcscdJhUVmtbHFG3YAWDWtHYfBcJuVSW+7ZbyOVs+ZlmzTWSTnZoOmNvowE6fmeT8V7Czt1QpKP8APvNeTyyOraImywLHcTwCQS00ro3d7HZ3s4cOHxVVahCrHhmsmU2i4sEzhlTqG1tPicMcdRYta/cNN9zofe7OBsT9q4VW1uLNuVBtx/vNd5apKXM9q/oVhDwfBqp2G23iBjxft9FrdvZYhrVT/wBRXhn7js0alnQeouL1zbX3tEb27286uetr9nx+xjszf0HRPLdF555ppA03ILmsYQPrWbe3uHBa09Yry2ikvi/74GezRrs3dUcLy5H9xYUyMll26wPvbOb6R+O7vfj4q2202pWl2ldv5hzS2RSlbWVOIPMkr3SPdy5xJJ+1d+EIwWIrCKjwUjAQBAEAQEkydkrGM2v0wstGD55nbMb6/lH/AAjf4LUubynbr0nv07ySi2dCZIyDhGUGgsHiTEeadwGrcC4b9Vu3HPuV5m7vqlw99l0LoxSJYtMkEAQBAEAQBAEAQBAEAQBAEAQBAEAQBAabNOWcLzTD4NSzUBu1wNnMNrXaf+XB7hX29xUoS4oMw0mazJeQMFyiNUbfEmPMz/pWudmjhmxttz3Vt1fVbjaWy6IxGKRLFpkiqOvGaZcOhZQxmxnBMhvuGA202t+Mb7+y7OkWynN1Jd3L3ldR9xQS9IUhAEAQFndPOq9XgOmnrC6an3s/6UrL8bl3maN9uR24suRe6ZGr6dPaXw/6WRnjmXNi+c8CwqlFa6Zr4j9DwyHF550tF9z7G1u9lwqdpVqVOzS39vcWuSSyc9566g4tm1zmFxjp9V2wDiw4Lz+Me/pfhemtLCnbpPnLqUyk2Q9bxAIAgCAIAgLC6cdM6zNDhNUB0VLa4cLB0nazL8D1cR8L9uZe6jGguGG8vInGGTojC8OpMJiZBCwMjYLNaO3/ANk83XmKlSVSTlJ5bL0sGUoAIAgCAIAgCAIAgCAIAgCAIAgCAIAgCAIAgCAxsSr6XDInzSvDGMBLnHgAf98KcISnJRit2G8HKeeMxzZprJKh1w0m0bfqsGwHA+PzXsbS3VCkoLx95ryeWaBbJEIAgCAIDe5SzNUZZl1tjjlY62uORjSHAcWJBLTvyP1rWubaNeOG2n3NEk8Fy4DQ9OuoTCWUzIpvMXRg+HICdi7yGzxfcXuPUDhcKtO8tHvLK6818eRYuGR61XRLLUjbMknY762prv1aViOsV090mZ7NEVxboXicZvTVMT23O0ocwgdt2hwcfsW5T1qD9eLXuIum+4ilX0uzjTO0/cpftyxzSP2rcjqVtJZ4sEeBkfxHAMZwwkTU00diRd0bgLjmxtY/JbMK9KfqyT8SOGa1XGC4OmvSZ1XapxBhEZALICSHOvuC+27R/h5PdcO+1Th9Ci9+9/QtjDqXlHGyIBrQAALADgAdgvPt53ZafSwAgCAIAgCAIAgCAIAgCAIAgCAIAgCAIAgCAIAgPl7GyAggEHkHgongFEdTelU1AZKyhbqh+k+AX1M9Sz1b3t2+HHo7DU1PFOrz69feUyh3oqRdorCAIAgCAIDIoaypw97ZYnuje03DmmxCjOEZrhksoyXXkHrFFU6YMRsx3AqRYNdz/SAbM7bjb4LgXmktenR/j6FsZ9S343slAc0ggi4I3BB4I9VxGsbMsPpYB+Oa14sQCPQoDTS5Ty9LIJjSQGQEEO0C4I47dlermso8Kk8e8xwo3SoMhAEAQBAEAQBAEAQBAEAQBAEAQBAEAQBAEAQBAEAQBADugKc6pdLI5WurKBlni7pIG/jXNy5gvsRv5Rz29+5p+pNNU6r27n9SuUO9FHkFuxXoSk/EAQBAEAQBAWd0v6nvy6BS1Zc+n/EeN3Re3uz27dlyL/TVW9OntLz+5ZGeNmX/AEVZTV7GyxPbIxwuHtIIPzC83OEoPhksMuPdRAQBAEAQBAEAQBAEAQBAEAQBAEAQBAEAQBAEAQBAEAQBAEAQBAVH1T6WnEyaygYPFO8kAsA/uXtvYB3qO/x57Wn6lwLs6r27n8iuUO9FEyMfES1wIINiCLEEbEEdivRJ53RSfKyAgCAIAgMigoqnEZGwxML5HkBrRySVGc4wi5SeEjJ050yyfJlCm0SSufJJZz26j4bD9Vg4+Lu/yC8lf3auKmUsJcuviXxjhEwWiSCAIAgCAIAgCAIAgCAIAgCAIAgCAIAgCAIAgCAIAgCAIAgCAIAgK+6m9OabNDDNA1rKpo2IsBL30v8Af0cunYahKg+Ge8fIhKOTnGqppqN7o5Glj2khzSLEEcgr1EZKSyuRSeSkYCAIDNwfCq3GpmQQML5HmwA/aT2A7lV1asaUXKT2RlLJ0h056eUeT2mRxEtS4WMltmj6rPT3PdeWvb+Vw8LaPT6l0Y4JuueTCAIAgCAIAgCAIAgCAIAgCAIAgCAIAgCAIAgCAIAgCAIAgCAIAgCAICu+qPTmLNINRAdNS1tgNg2QDs7a+rsDddOw1B0HwS9XyISjk50qaeale6N7S1zSQ5pFiCOQQvURkpLKKTyUjBsMDwbEMelEFPGZHnew7DuSewHqqqtaFKPFN4RlLJ0r07yNR5Oh7PneB4kv+1vo0fr5XlL29lcS9i5IvjHBL1pEggCAIAgCAIAgCAIAgCAIAgCAIAgCAIAgCAIAgCAIAgCAIAgCAIAgCAIAgIJ1H6c0Oa2OljAjqwPLJvZ9uGvHH/Fa427bLo2OoSoPhlvH+8iEo5Of6DLGMV9X9wthcJw6zmOFtFuXOPZo5v8AC17helnc04U+1b2KcPODpbImTqHJ8Hhx+aR1jLKRu8+g9GjsP+a8pd3c7ieXy7kXxjgkq1CQQBAEAQBAEAQBAEAQBAEAQBAEAQBAEAQBAEAQBAEAQBAEAQBAEAQBAEAQBAEB5tgha4vDWhxFi6wuR6E8lZy8YB6LACAIAgCAIAgCAIAgCAIAgCAIAgCAIAgOcuomccyYfiVVFFVzMY2SzWBxsBpBsF6ixtKM6EZSimymUnk1AzVn0xiYVFX4bjZsnm0ki9wDax4P2FX/AONacXDwxyYzI9sB6pZpwmQPdO6oZcao5dwQD2PLTa+4+YNlGtptvUjhLD6oKbR0dgOMUePQMqIHBzHi+3Y92n0IOy8tWpSpTcJc0XJ5NgqzIQBAEAQBAEAQFF9XMw5mw7EXR0087I/DYdLL6bkb8L0OnUKE6GaiWd+ZVNvOxYfSeur8Qw2OSpe98hdJdz/pWDja9/ZczUYQhXagttuROHLczMUz9lbC9n1cbnbeVh1nc2/FuoU7GvPlF+OwckiSAg7rUJH6gCAIAgKC6u5rzBhOJSRQVUsbAyMhjXWAuwEr0mm2tGpQUpRTe5TNtMiMWdM6TC7aupcPUEn9i3XaWq5xRHiZtct5rzlPV07ZKmqLHTRhwOqxBeAQduLKmvbWypycYrOGZTeTpZeULwgCAIAgOYcy53zRTVdSxlbO1rZ5GtaH7AB5AA+S9bQs6DpRbguS8ihyeTpHBJHzU8LnElxiYSTySWgkleWqpKbS6lyM1VmQgCAIAgCAICvet2L4jgtDFJTyviealrS5hsSDHIbfC4H2Lp6VShUrNTWVj5ohN4RGOh+ZMaxqrmZUVMkrWwXDXuuAdbRf42W1q1vSpU4uEUt/kRg22V91S/CtX+c/2hdPTv00CE+ZenRtodg1LcX/AKX/AF5F57U/1U/DyRdD1Siup9FR4filVHAGiMOaQG2sC6NrnAW2FnEi3bheisJynbxcuf3KZcy5Og0L48M1FxIdM8hp4bawsPiRf5rhau83GPYi2nyNlmHqjljA3uidI6SRri1zI2k2INiCTYXBHqqqOm16q4ksL2mXNI1eX+suX8Tdoma+mJcA0u8zTfYEkDy/Pb3V1bSa0FmO5hVEWQ0h243C5RMjOZM+5cy24xzzffBa8TWku3FxwLBbdCxrVlmC26kXJIh/8+eDeJp+5pvD+vdt+Pq/Hblb34NV4c8SyR7RFi1uO4dh1O2qnkEUTg06ndtQuBtfdcuNGc58EVlk895AMT63YBTG0MUs24udmC1tyL7k32tYLpU9GrP1ml8SDqIl+UM6YNm1rjTvOpv0o3CzgOxt3HuFpXNpUt36a8SSkmanNnUnBMsVBppo5XPDWuu1rSLOFxyVdb6fVrw44tYMOaRpn9a8tEECKfg/it/iV60evnmjHaIoR0zTKX7216ve17r0aj6OCo6ayZ1DwnNkpggZKHNZqJeABYEDsfdeTurCpQjxSaL4yTNTmXq/hOByyweBLJLG/SR5WtNuTe5/YrqGlVKsVLKSZhzSNfhvXLCJ36ZqeWJv1wQ/v3AAP2XVs9GqJZjJP4GFURY2A49hmYYvGppRIzg22IPNnA7g/FcutQnRlwzWGTTT5GyVRk5p64fhaX8iL9wL1elfpl4+ZRPmWT0CYHYc64/tnfsauVq7/wB/gWU+RZfhsHYfYuVlkzUZkzRg2WGh9VKI9V9IsS51rXsALm1wrqFtUrvFNZMNpcyBz9ccDZIGtgmdHvd/lBHNrN79u45XRWjVeHLayQ7RFgZczDhmZYfHppNbb2O1i0js4HcFc2vQnRlwzRNNPkYmaM5YHlYD7pl0ucLtjaC5x97DgbcnZTt7SrX9RBySI1gXWHL2KzCFzZIdTg1jnC4cTYC+n6NyfhtyturpNanHiWH1IqaZQ2bRauq/8xL/AKhXo7f8mHuXkUvmdUYXV09BQxSyvDGMgYXOcbAAMG68dOLlVcYrfJsdxDca6zZaoLiHxKhw+qNLSb2+k7t3uAVvUtIrz9bCIuoja5O6k4FmlzYWF0c7gT4TxzYXIa7h21z62BNlVc6fVoJye66mVNM9c5dQcKyhKyKdkji9msFgBFrlvc+yjbWNS4i5QxsJSSPhvUjAG0bK6Qvjjke5jGlt3Oc299m39OVn8Prdq6S3a3HEsZPyk6jYTV0E2ItZL4UMgjcCBqJJYLgXtb74PsKS0+pGsqOVl7+f0HEsZInUddsPY4hlHI5vZxeAT8rGy3Y6LPG8l/BHtCR5b6rZbx17IdT4ZHkANkGxJHGobc7b2utWvplaknLml0MqaZqv5Qv4Oh/zTP8ASlV2jfnv3PzRipyIj/J3/rtR/l/+o1bmtflR9/yI0+ZE+qX4Vq/zn+0Ld079NAjPmYWHZszHhcTYoaqaOJt9LWmzRclxt8ySrJ2tGcuKUU2OJmXkjDMBxqoaytqXxFzxYabh5JGxffykm4uR81C7qVaUM0o5+XgIpPmXV1JxGPImFCGjb4Wo+DGW/iarvc65N72Dt+bm64NjTd1c8VTfvZbJ8K2K06M5Yocx1E0tVpfHCG3Y8nzPeSQedwNDrg83C62qXE6NOMaezfkv+kILL3MnrblXDMEfBPSRtjZJqa9rfohwsW2F9ri+w28vuoaVc1KqlGo8tchNJciT5QzvLh+Xn1Dh56dxgZv9I+XQdz2Dxf2aVp3NkpXqguUt/PPkSUvRKhwbDMTzhViJrtc0pc4ve7mw1OcSfYLuVKlO3pcT5LoVJNsvKDorlZkehzp3OuCZNYB4tYDTpA78E7crzz1iu5ZWMdC7s0Vz1rxZ01Y2jZI4w00bGBlxbXbd23J0kDfjddTSqWKTqNby8iub3wWNk/p3l2KgjZUwwvney75DuQXXI0m+2kEDbuLrl3N/WdZuDaS5FkYrG5S+C1U2UsTYdTmiGcNfvYlgfZwda4sW8ru1Iq4t37V8cFS2ZvuuTmvxRxG4MMRB/wCFa+k7W/izM+ZLumORMuY5hrKieDXITJd2tw+i4gbA24Wlf3talXcIPbYlGKaKZfGwTFtttdre2qy7qb4MlZ1RlvJeAZdf41NDoe5mknU47GxtufUBePr3lasuGbyi9RSNLX9OsptlnrKw6zI8yEyP0tYPQAW2+N1fC/uOGNOn3bbIxwrmytupWH5AMJnw+Zgm1D71G46XAnc2I2t7fYurY1Lvj4ay26shJR7jO/k7TSCpqWXOkwg6e1w8AH42J+1V60l2cX7TNPmXwvOlpzT1w/C0v5EX7gXq9K/TLx8yifMjmDwZmkZelbVGO/8AZeJpv3+jtdbVV0E/9nDn24MLPcb/AC3TZybV05lbXBgmjLi7xdIbqF9V9rW5utavK27OXDw5w+hlZyYWb6+rzhij2iQuDpjFFqIs1urSLb2A7+6stoRt7dPHdlmG8suTGOnWVzQvijhibK2IlsoNna2i9y7c2J7b7LhUr+v2yk28Z5ewtcVgqjo1i8+G4nFGH6Y5rse03sdiW7Da+oAA+59V2dUpKdu3jdblcHuavqRjQx7EZ5gbsDtDD/hZ5QfnYn5q6xo9lQjHv5vxMSeWW1lzpRl+pw+MyAunki1CYFw0lw1NsAbeW4+Nlxa2qVlWeOSfIsUFgoOcvc5xcSTc3J5J9TdekWMbFRbnWfFyyiw+ka4jVG2R7RaxAYGsv351H0+xcTS6X+2pUfuRZN7JG06RZKy9VULaqpijlklLrazcNaHaQA07A3BN9+eVVqV5WjV4INpLoZhFYyyss90ceW8TqI6VzmNY8OYWEgt1sD7NINwBqI+AXWtJOtbxc1nPPweCuWz2N71frZsRGGzSW1yUMb3W9Xbn9ZWtpsFDtIrkpMzPuNbkHKmI55kbCZHNp4AdTuQwOJOlg41Odv8AAewCtvLqFrFyS9J/3cRjxF1YZ01w+iw+bDTNI+KaVsjneUO2MZ0jYj+zG/uVwZ6hOVdVsLKWPP6lihtg1ddlbphgLfDn8JpcGi75HF+299jdt+9rXV0Lq+qvMc/wOGKKOzRR4dhtVIykn8aEEFkg53ANviDtf2XoLec5006iw+9FL57FrdVa6fEsAoJpDd75IXOPqTBJcrjadBQvKkVySfmiyfqo1H8nf+u1H+X/AOo1Xa1+VH3/ACMU+ZE+qX4Vq/zn+0Ld079NAjPmXH05wSgzDgEFPOzUx3jfFp8eSzmns4eq4d7WnRvZTg99vJFsVmJQONYdNglRLTuPmieW3HsdiPT1XpKVRVaamu8pawy1Op+NszDgdDUAWLpgHC97ObG9rhz6i4vvYhcewoujeTh7PmiyTzFEM6eZI/8AOrpmCobC6INNizVqDiQSPMLWIH/yW/e3n+Mk+HOfaQjHJNf5hqj+/t/Qn+NaH43H9nx+xPsz5zN08rMrYPUtE/jjxopSAxw0ht2OIFz9YEnbZvslC/jXuovGNmg44iRPozNFBi1OXEC4kAv6mNwAW7qibtpY9nmRhzOnV5IvOVeqNPLTYrVBwteTUN+zgCP1Few0+SdvHBry5kwwnot/4rDHPFiEbmPaCCIiR7i+vsbj5LSqax2cnGVN5Xt+xJU895l/zDVH9/b+hP8AGofjcf2fH7GezIx1tj8LEy3m0MQv8G2W3pTzQz7WRnzLW6LfgeP8qX98rj6p+qfh5FkPVOd5P6wfzh/eXpl6ngUnWeYMUbgtHLUn+zjLvnaw497LxlGn2lVQ6s2G8I5xwiPFepmIxx1ExJcDd9h5GNFzpbx/+r1NR07Kg3Bf9KVmTJh1I6b4DlWgfUQmV0muNoMjwQLncgNA3PvdaNlqFWvWUZYxvyJSgkjH/k7f1up/MD98KWtflR9/yMU+Zfa84XHNPXD8LS/kRfuBer0r9MvHzKJ8yyugP4Of+fd+xq5Osfn+BZT5FkVDS9rgOSCP1LlxeGTOPH0gZUGGR2i0hY5wsdPm0k8gG3xC9xx+hxR32NYtZnQmaQAivYQRcHwTuP0i471tL/x8fsWdmbPLfRqfBaqGpNY1/hPD9PhEXt2vr2VNfV1VpuHBjPt+xlU8MpnH6SSgqZ4nEFzJXtJHFw4ja67tGSlTjJd6RU+Z1dlUgUVN+Yj/AHAvG3H5svezYXI5OxqrFfUTTWt4kr325tqcTb9a9nSjwQUeiSNdkz6w0csUtHKSS2SjiDbkbaRuBYXtuDvfclaGmTThOPST+JKZlZO6UPzTSsqm1jGatQLPD1FpDiLEh49L/NRudUVCo4OGfH7GVDKybv8AmGqP7+39Cf41r/jcf2fH7GezNH1pw84S6gpy7UYqNkeq1r6SW3t2vZbGl1O0VSfWWTE1jBNP5O8EbaOokt5nT6Sd+GxtIHpy532rQ1pvtYr2fMlT5GB1qz1iuFzihppPDHhh0j2/TJcT5Qew0gG4+sfRWaXZU6kO1ms77GJya2Nd006W4XmOkFXUSyecuDWR2bp0uLTckHVe3tZW32pVKNXs4JbdRGCayQzqbg1Dl/EJKanaWxsbHYEkm5jaSST6kkrfsK061FTnz38yElhk66h/+m8N/Kg/0JFzbH9dU8fNE5eqjB/k7/12o/y//UarNa/Kj7/kYp8zT9SMt47WYnVSR0dS9jpLh7YZC0+UcENsVfYXFKNvFSkk/ejEk8lz9JaSpocKpo5Y3xvHi3Y9pa4XmeRcEXGxB+a4WozjK5k4vK28kWw5FZdaso4pPiH3RTwTTNmY0u8Nj36XMAj30ts0Fobtc911tLuqao8E2ljq0ue5XOLybjpRg9ZiFFV4XXU08UbrPjdJG9nOx0lzQAWuDXAd7nawKo1GrGNWFelJN9+GmZgtsMgVVl3OORJnTRxysDS5oqI26mlocBc2vpDtrB1rrpRuLa6ioya9z/vkRw4mWep+ff8A3j+gj/gVf4dZ9Pj9xxyLwy3TVWMYXHHWB5klhLZfEb5ruuNwR+pefryjTuG6fJPbBat1uc/Zt6eY/lguc+PxIQbCZm4NyQ245aT77XIFyvS29/Rr7J4fRlLi0fMec86xgNFVU2AAHPbb0R2lq3nhQ4pFg55yPjGZ6KjrWse+tELGTRu8rnC172Ng1zXE3G3J9FzbS9p0Ks6bfoZeCcotrJCKDMWe8nNFO3xoWi+mOSEEDzEkt1t4uTuF0J0LS4fG8P3MjmSJBlLO2e8braaN75XxiZniBkAADC4NcX6WbNseTxyta4s7SnSk1jOHjfv9m5lSk2fPWfAMZxHEnSQ0s8rPDjGtkT3NuBuLtFk0uvShQxKSTy+bQmnksro/Q1VDhccU0b436pLse0tdYvPYgHhcvU5xlcOUXlbcvcTgtijs+5UxHLlZIPCf4Tnl0UgaS0tJ1AA77jggm+1+69BZ3UK1JbrPeVSWGTHp3U5lzh9101U+aWJ1M5rfE1CMSXbpu4DY+3pdaF7Ghb8E6aSee7ngnHL5kJZh+bMjz+MIZoZGEtEnh6mG44BILHXC6DqW91DhbTXTO/1IYcSS4pR58z5TvqalrxDE0OjibEbyO+j5GDzG4JJdx6eg1ac7S1moQe75vPJe1/Ik+KRtOhmGYxhFbIJqSeNskJHiPje1oIcDa7m23VOrVKdSkuGSeH3NGYJpl6Lzxac99Y8AxrEMTkkhpaiVhZGA9kT3NNmC9i1tl6bTK9KFulKST35tdSmaeSweh+H1uHUDmTRSRO8Zx0yMc02sN7OANlzNVnGdbMWnt3E4LYsNcwmUd1b6bYjNUOraOJ0rZLuljabva/kuAO7gfQb37L0OnahBQVOo8Y5PuwVTh3oi8Oe8/wCDDwDJK0tt5ZIQXN2Fh52XAstp2VnU9Lbwf3I8UkTbpRmfN+YK4mqdI6AROBPhBsYcCCLlrQA7f42WhqFtbUqX+vGc9dycG29zVdack4mas1tPC+WOVo16A5zmOaLEuG+xA5Gwsb2736XeQ7Ps5vDXLJGcXnJGMrf+e8RY2kpTUiE6mcERNBF3BziLN2PF+62rj/Eg+0njPxMLi5I1eIZKzDSSyRto6qRrHuaJBBJZwBtqGx2PKuheUZRTckvFGOFl6ZyyY/NeGQxtGmoijY6MOuN9IDmOHa4Ft+Db3XnrW77C4bfqvn9S2UcopugqM85FLgxlRTtLrHVFeNzrW5c0tcbDa3ou5ONpdbtp+O5X6UTOHUPqFiH3pkkjnO4EcDdRtvtpZft9l1X/AIFnD0ml4v7jikSLrZg+M4tPSvipp5rU41FkT3WdqJIOltgfZa2lVaVOElKSW/eyU02SroTh1dhlFMyeGSFxqCQ2Rjmkjw2C4DgNrg7+y09WqQnWTi09u73slTWxouuGSa/EJWV1LE+UloZKxgLnbHyuDRudjY29AbclbGlXkIRdKbx3ojOPeiIZQzLnygZ/4fRxuJBNmGEF0fnu/dwsNzY672v2K3bm3tJvtqj+PPbb+oinLkjXZmyhmttQ4yU9TUSOax75GwvcNTmBxbqaCHFt9JIPIVtvd2/BiMklvhZXUOLLDz3hGJ1WX8Phjp5nysdDqjbG4vbaGQHU0C4sSBv6rl2dWEb2pJyWHnfO3NE5J8KMPoRguLYZWTunppoWmCwdJE9oJ1tNgXAC/srNXrU504qEk9+5roYpp5LvXALQgCAIAgCAIAgCAIAgCAIAgCAIAgCAIAgCAIAgCAIAgCAIAgCAIAgCAIAgCAIAgCA/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5" name="AutoShape 9" descr="data:image/jpeg;base64,/9j/4AAQSkZJRgABAQAAAQABAAD/2wCEAAkGBwgHEhUREhIVFBUXFxoaGRQYGBweGxodHRkgGBwaGx8bHS0gGSAmHRwdIzEiJjArLi4uHSAzODMsNygyLysBCgoKDg0OGxAQGywlICU3LC0sLiwsLC4sNCwsLCwsLCwsLCwsLCwsLCwsLCwsLCwsLCwsLC8sLCwsLCwsLCwsLP/AABEIAKIBNwMBEQACEQEDEQH/xAAcAAEAAgMBAQEAAAAAAAAAAAAABgcEBQgDAgH/xABKEAABAwIFAgQCAwsKBAcBAAABAAIDBBEFBhIhMQdBEyJRYXGBMlKRFCM1QnJzk6GxstIIFzM0Q1RidLPCgsHD8BUWNlOS0fEk/8QAGgEBAAIDAQAAAAAAAAAAAAAAAAIDAQQFBv/EADQRAAIBAwIDBAgGAwEAAAAAAAABAgMEEQUhEjFRE0GBsSIyYXGhwdHhFTM0UpHwFCPxQv/aAAwDAQACEQMRAD8AvFAEAQBAEAQBAEAQBAEAQBAEAQBAfMjxGCbE2F7AXPyA5WUsgrHO3V2HA3PggppTMNtUzCxnxAJ1uF/yb22K61rpTqpSlJY9m7+hXKeCqMa6k5rxpnhyVJa297RgM9RYltiRvwSuzS0+3pvKj/O5W5tkbw/EKzDX+JDI+J4/GY4tNubbcjbhbU6cZrEllGMk8wTrJmfDrNl8OpbffW2z7egc232kFc6rpFCfq5XuJqoywcE615erdqhklO63JGtl9tgW+b15FtuVzKuj1o+o0/g/74klURP8JxrC8Zbqp545R30OBI7bjkcHlc2pRnTeJpommmZ6rMhAEAQBAEAQBAEAQBAEAQBAEAQBAEAQBAEAQBAEAQBAEAQBAfhICAhmYup+V8DDh43jyC48OHzbjaxd9Ec+vY/Bb9DTa9Xuwur/ALki5pET/n4oP7lJ+kb/AArc/BJ/vX8Ee0H8/FB/cpP0jf4U/BJ/vX8DtD2xHq7krF4/DqKSeRpsS10cbhf2vJ+tYhpVzTeYSS8X9BxpkHxabpnizvvLKykc48hjXMF78t8QutcjZvpsF0Kcb6mvScZefkviQfCzU4rkDG6OL7ojjfNB9dsb2ut6mN7Q8D3sR7q6nfUpS4JPD9681sYcWRQghbpE/EBk0FdV4a8SwyOje3hzSQf1fsUJwjNcMllGSycr9aMXw8BlWwVLNvOLNkA+Q0u7c2PuVyrjSKc96b4X8CaqPvL2wbEYcXgiqGBwZKxr2h1rgOFxexIuvPVabpzcH3bFqeTMVZkIAgCAIAgCAIAgCAIAgCAIAgCAIAgCAIAgCAIAgCA/HOawEk2A5JQEEzZ1Vy9gALY3Cpl7MiILR+U/gfK5XRt9MrVd36K9v0IOaRSubeouYMz3a+Tw4Tf7zHs23+I8v+e3su/bWFGhull9WVOTZEVukQgPuGGWdwaxpc47BrQST8AOVhtJZZknGHdNauNjZ8QnioIjvaQjxCP8LL8/r9lz56hFvhoxcn7OX8kuDqSjCs0dNMpAGmgkqZQLiVzN7+l320f8IWpUtr24fptJdP8AhJOKNi3rvh5IvRSW72kadvhbdU/gk/3r+DPaGvxrE+mOczqeX0k7jbxdGnty/TdhHud1bSp31ty9JdM+XeYbiyJ4/wBMMdwxnjQ6auC1xLCdVx66Rc/ZdbtHUqU3wy9F9GRcGQhzS02IsRyFvkD8WQdf5Uo20FFTRAlwZDGLnv5QvEXE+OrKXtZsrkbN72xgkkADkngKlLJk1OH5pwHEpDDDVQySC/ka8X25t9b5K+dtWhHilFpGMo3CoMhAEAQBAEAQBAEAQBAEAQBAEAQBAEAQBAEAQEazbnnAsqC08l5CLiFm7zzvb8Ubcmy27eyq1/VW3XuIuSRRGd+pmM5p1Rg+BTk/0TDuRa1nu/G+Gw9l6K106lQ35y6/QqlNsg66BAID9AJ2QE+yb0qxvMQEsn/80J/GePO4f4WbH5m3zXNutTpUdo7v+95OMGy4qDLuX+ndJJOyMOdGwudK+2tx9NVvLc7WHquFO4rXlRRb59y5FuFFHO2acx4hmid1RO65OzWj6LG9mtH/AHdeot7eFCHDAobyadXmAgCAsLpV1AqMsytppSX00jgLE/0RJtrb7b7j5888zULGNaPHH1l8fZ9CcJYLhzj07wLNbdRaIpeRNGBc/lDh4+O/uuHbX9Wg8c10Za4plHZg6d43luVvjR64NbQZ2fQ0l1vN3Zt6/avQUb+lWj6LxLp/eZU4tFr5s6rYLlxggpbVMrQG2DvIy227reY7cBca30yrWfFU2XxLHNLkUxmXOuP5lcTPO7Qf7JhLWAemkc/O671Czo0V6K3695U5Nkfje+IhzSQRuCDYg+oWy1nZkSysldXsVwa0VXepi2Gon74wext5/gftXKutKp1PSp+i/gWRm1zLty5mzA8yi9NO15HLDs8b2uWne3uuBXtatF+mvoWqSfI3a1zIQBAEAQBAEAQBAEAQBAEAQBAEAQBAeVTMKdpfpc6wvZoLnH4AblZisvAKHzv1hxKuJho2OpmgkOe7+lNtiLfiftXorTSYR9Ko8+X3KZT6FWTzS1Di57i5x5c4kk/EnldlJJYRA81kwEBv8q5PxnNLw2njOm9nSu2Y34nv8BcrWuLulQWZvw7ySi2TvM+X8F6aUrdvuivmBDJHW0xW5kY08WvsTc39FzqFere1OkFzXX2Mk0oox8j9YMQwrTDWgzxDbxb3laLbc/T7c7+5UrvSoVMyp7Pp3fYRnjmXBWyYZnehlZBK2VkrCLg8HkahsQbjg2XEip21ZOaw0WbNHLmNYPiGBSugqIzHI3lpsdjwQRs4e4Xr6VWFWPFB5RQ1gwFYYCAICZdN8l1+Z6iN+ginY8GSXgbb6R6k8bcLQvryFCDWfSfJE4xydC5nzXg2VIw6olDSQdEY3e63YAfLc7LzNC1q13iC8S5tI5/z31JxbNZdG28NPfaJp3cL3HiH8bi9uB78r0tpp9Ohu95dfoUym2QhdAgEAQBAZFBXVWHPEsMjo3t3Dmkgj7FCcIzXDJZRkubInWGrrZI6argMj3kNbJCPMSfrM7+tx77LhXelRjFzpvCXc/qWRn1LmXCLQgCAIAgCAIAgCAIAgCAIAgCAIAgCAgXULpth2Z2PlhY2Kr5El7B54tJYG+3e19h736NlqE6DUZPMen0IShk57x/AMUy7J4VTEY3WuL2IIva4I2IXpqNenWjxQeSlprmYEEMtQ4MY0uc4gBrQSSTwABuSrW0llguLIXRx8mmfEbtGxbTgi54P3w+h7tG/v2XDvNWSzCj/AD9CyMOpcscdJhUVmtbHFG3YAWDWtHYfBcJuVSW+7ZbyOVs+ZlmzTWSTnZoOmNvowE6fmeT8V7Czt1QpKP8APvNeTyyOraImywLHcTwCQS00ro3d7HZ3s4cOHxVVahCrHhmsmU2i4sEzhlTqG1tPicMcdRYta/cNN9zofe7OBsT9q4VW1uLNuVBtx/vNd5apKXM9q/oVhDwfBqp2G23iBjxft9FrdvZYhrVT/wBRXhn7js0alnQeouL1zbX3tEb27286uetr9nx+xjszf0HRPLdF555ppA03ILmsYQPrWbe3uHBa09Yry2ikvi/74GezRrs3dUcLy5H9xYUyMll26wPvbOb6R+O7vfj4q2202pWl2ldv5hzS2RSlbWVOIPMkr3SPdy5xJJ+1d+EIwWIrCKjwUjAQBAEAQEkydkrGM2v0wstGD55nbMb6/lH/AAjf4LUubynbr0nv07ySi2dCZIyDhGUGgsHiTEeadwGrcC4b9Vu3HPuV5m7vqlw99l0LoxSJYtMkEAQBAEAQBAEAQBAEAQBAEAQBAEAQBAabNOWcLzTD4NSzUBu1wNnMNrXaf+XB7hX29xUoS4oMw0mazJeQMFyiNUbfEmPMz/pWudmjhmxttz3Vt1fVbjaWy6IxGKRLFpkiqOvGaZcOhZQxmxnBMhvuGA202t+Mb7+y7OkWynN1Jd3L3ldR9xQS9IUhAEAQFndPOq9XgOmnrC6an3s/6UrL8bl3maN9uR24suRe6ZGr6dPaXw/6WRnjmXNi+c8CwqlFa6Zr4j9DwyHF550tF9z7G1u9lwqdpVqVOzS39vcWuSSyc9566g4tm1zmFxjp9V2wDiw4Lz+Me/pfhemtLCnbpPnLqUyk2Q9bxAIAgCAIAgLC6cdM6zNDhNUB0VLa4cLB0nazL8D1cR8L9uZe6jGguGG8vInGGTojC8OpMJiZBCwMjYLNaO3/ANk83XmKlSVSTlJ5bL0sGUoAIAgCAIAgCAIAgCAIAgCAIAgCAIAgCAIAgCAxsSr6XDInzSvDGMBLnHgAf98KcISnJRit2G8HKeeMxzZprJKh1w0m0bfqsGwHA+PzXsbS3VCkoLx95ryeWaBbJEIAgCAIDe5SzNUZZl1tjjlY62uORjSHAcWJBLTvyP1rWubaNeOG2n3NEk8Fy4DQ9OuoTCWUzIpvMXRg+HICdi7yGzxfcXuPUDhcKtO8tHvLK6818eRYuGR61XRLLUjbMknY762prv1aViOsV090mZ7NEVxboXicZvTVMT23O0ocwgdt2hwcfsW5T1qD9eLXuIum+4ilX0uzjTO0/cpftyxzSP2rcjqVtJZ4sEeBkfxHAMZwwkTU00diRd0bgLjmxtY/JbMK9KfqyT8SOGa1XGC4OmvSZ1XapxBhEZALICSHOvuC+27R/h5PdcO+1Th9Ci9+9/QtjDqXlHGyIBrQAALADgAdgvPt53ZafSwAgCAIAgCAIAgCAIAgCAIAgCAIAgCAIAgCAIAgPl7GyAggEHkHgongFEdTelU1AZKyhbqh+k+AX1M9Sz1b3t2+HHo7DU1PFOrz69feUyh3oqRdorCAIAgCAIDIoaypw97ZYnuje03DmmxCjOEZrhksoyXXkHrFFU6YMRsx3AqRYNdz/SAbM7bjb4LgXmktenR/j6FsZ9S343slAc0ggi4I3BB4I9VxGsbMsPpYB+Oa14sQCPQoDTS5Ty9LIJjSQGQEEO0C4I47dlermso8Kk8e8xwo3SoMhAEAQBAEAQBAEAQBAEAQBAEAQBAEAQBAEAQBAEAQBADugKc6pdLI5WurKBlni7pIG/jXNy5gvsRv5Rz29+5p+pNNU6r27n9SuUO9FHkFuxXoSk/EAQBAEAQBAWd0v6nvy6BS1Zc+n/EeN3Re3uz27dlyL/TVW9OntLz+5ZGeNmX/AEVZTV7GyxPbIxwuHtIIPzC83OEoPhksMuPdRAQBAEAQBAEAQBAEAQBAEAQBAEAQBAEAQBAEAQBAEAQBAEAQBAVH1T6WnEyaygYPFO8kAsA/uXtvYB3qO/x57Wn6lwLs6r27n8iuUO9FEyMfES1wIINiCLEEbEEdivRJ53RSfKyAgCAIAgMigoqnEZGwxML5HkBrRySVGc4wi5SeEjJ050yyfJlCm0SSufJJZz26j4bD9Vg4+Lu/yC8lf3auKmUsJcuviXxjhEwWiSCAIAgCAIAgCAIAgCAIAgCAIAgCAIAgCAIAgCAIAgCAIAgCAIAgK+6m9OabNDDNA1rKpo2IsBL30v8Af0cunYahKg+Ge8fIhKOTnGqppqN7o5Glj2khzSLEEcgr1EZKSyuRSeSkYCAIDNwfCq3GpmQQML5HmwA/aT2A7lV1asaUXKT2RlLJ0h056eUeT2mRxEtS4WMltmj6rPT3PdeWvb+Vw8LaPT6l0Y4JuueTCAIAgCAIAgCAIAgCAIAgCAIAgCAIAgCAIAgCAIAgCAIAgCAIAgCAICu+qPTmLNINRAdNS1tgNg2QDs7a+rsDddOw1B0HwS9XyISjk50qaeale6N7S1zSQ5pFiCOQQvURkpLKKTyUjBsMDwbEMelEFPGZHnew7DuSewHqqqtaFKPFN4RlLJ0r07yNR5Oh7PneB4kv+1vo0fr5XlL29lcS9i5IvjHBL1pEggCAIAgCAIAgCAIAgCAIAgCAIAgCAIAgCAIAgCAIAgCAIAgCAIAgCAIAgIJ1H6c0Oa2OljAjqwPLJvZ9uGvHH/Fa427bLo2OoSoPhlvH+8iEo5Of6DLGMV9X9wthcJw6zmOFtFuXOPZo5v8AC17helnc04U+1b2KcPODpbImTqHJ8Hhx+aR1jLKRu8+g9GjsP+a8pd3c7ieXy7kXxjgkq1CQQBAEAQBAEAQBAEAQBAEAQBAEAQBAEAQBAEAQBAEAQBAEAQBAEAQBAEAQBAEB5tgha4vDWhxFi6wuR6E8lZy8YB6LACAIAgCAIAgCAIAgCAIAgCAIAgCAIAgOcuomccyYfiVVFFVzMY2SzWBxsBpBsF6ixtKM6EZSimymUnk1AzVn0xiYVFX4bjZsnm0ki9wDax4P2FX/AONacXDwxyYzI9sB6pZpwmQPdO6oZcao5dwQD2PLTa+4+YNlGtptvUjhLD6oKbR0dgOMUePQMqIHBzHi+3Y92n0IOy8tWpSpTcJc0XJ5NgqzIQBAEAQBAEAQFF9XMw5mw7EXR0087I/DYdLL6bkb8L0OnUKE6GaiWd+ZVNvOxYfSeur8Qw2OSpe98hdJdz/pWDja9/ZczUYQhXagttuROHLczMUz9lbC9n1cbnbeVh1nc2/FuoU7GvPlF+OwckiSAg7rUJH6gCAIAgKC6u5rzBhOJSRQVUsbAyMhjXWAuwEr0mm2tGpQUpRTe5TNtMiMWdM6TC7aupcPUEn9i3XaWq5xRHiZtct5rzlPV07ZKmqLHTRhwOqxBeAQduLKmvbWypycYrOGZTeTpZeULwgCAIAgOYcy53zRTVdSxlbO1rZ5GtaH7AB5AA+S9bQs6DpRbguS8ihyeTpHBJHzU8LnElxiYSTySWgkleWqpKbS6lyM1VmQgCAIAgCAICvet2L4jgtDFJTyviealrS5hsSDHIbfC4H2Lp6VShUrNTWVj5ohN4RGOh+ZMaxqrmZUVMkrWwXDXuuAdbRf42W1q1vSpU4uEUt/kRg22V91S/CtX+c/2hdPTv00CE+ZenRtodg1LcX/AKX/AF5F57U/1U/DyRdD1Siup9FR4filVHAGiMOaQG2sC6NrnAW2FnEi3bheisJynbxcuf3KZcy5Og0L48M1FxIdM8hp4bawsPiRf5rhau83GPYi2nyNlmHqjljA3uidI6SRri1zI2k2INiCTYXBHqqqOm16q4ksL2mXNI1eX+suX8Tdoma+mJcA0u8zTfYEkDy/Pb3V1bSa0FmO5hVEWQ0h243C5RMjOZM+5cy24xzzffBa8TWku3FxwLBbdCxrVlmC26kXJIh/8+eDeJp+5pvD+vdt+Pq/Hblb34NV4c8SyR7RFi1uO4dh1O2qnkEUTg06ndtQuBtfdcuNGc58EVlk895AMT63YBTG0MUs24udmC1tyL7k32tYLpU9GrP1ml8SDqIl+UM6YNm1rjTvOpv0o3CzgOxt3HuFpXNpUt36a8SSkmanNnUnBMsVBppo5XPDWuu1rSLOFxyVdb6fVrw44tYMOaRpn9a8tEECKfg/it/iV60evnmjHaIoR0zTKX7216ve17r0aj6OCo6ayZ1DwnNkpggZKHNZqJeABYEDsfdeTurCpQjxSaL4yTNTmXq/hOByyweBLJLG/SR5WtNuTe5/YrqGlVKsVLKSZhzSNfhvXLCJ36ZqeWJv1wQ/v3AAP2XVs9GqJZjJP4GFURY2A49hmYYvGppRIzg22IPNnA7g/FcutQnRlwzWGTTT5GyVRk5p64fhaX8iL9wL1elfpl4+ZRPmWT0CYHYc64/tnfsauVq7/wB/gWU+RZfhsHYfYuVlkzUZkzRg2WGh9VKI9V9IsS51rXsALm1wrqFtUrvFNZMNpcyBz9ccDZIGtgmdHvd/lBHNrN79u45XRWjVeHLayQ7RFgZczDhmZYfHppNbb2O1i0js4HcFc2vQnRlwzRNNPkYmaM5YHlYD7pl0ucLtjaC5x97DgbcnZTt7SrX9RBySI1gXWHL2KzCFzZIdTg1jnC4cTYC+n6NyfhtyturpNanHiWH1IqaZQ2bRauq/8xL/AKhXo7f8mHuXkUvmdUYXV09BQxSyvDGMgYXOcbAAMG68dOLlVcYrfJsdxDca6zZaoLiHxKhw+qNLSb2+k7t3uAVvUtIrz9bCIuoja5O6k4FmlzYWF0c7gT4TxzYXIa7h21z62BNlVc6fVoJye66mVNM9c5dQcKyhKyKdkji9msFgBFrlvc+yjbWNS4i5QxsJSSPhvUjAG0bK6Qvjjke5jGlt3Oc299m39OVn8Prdq6S3a3HEsZPyk6jYTV0E2ItZL4UMgjcCBqJJYLgXtb74PsKS0+pGsqOVl7+f0HEsZInUddsPY4hlHI5vZxeAT8rGy3Y6LPG8l/BHtCR5b6rZbx17IdT4ZHkANkGxJHGobc7b2utWvplaknLml0MqaZqv5Qv4Oh/zTP8ASlV2jfnv3PzRipyIj/J3/rtR/l/+o1bmtflR9/yI0+ZE+qX4Vq/zn+0Ld079NAjPmYWHZszHhcTYoaqaOJt9LWmzRclxt8ySrJ2tGcuKUU2OJmXkjDMBxqoaytqXxFzxYabh5JGxffykm4uR81C7qVaUM0o5+XgIpPmXV1JxGPImFCGjb4Wo+DGW/iarvc65N72Dt+bm64NjTd1c8VTfvZbJ8K2K06M5Yocx1E0tVpfHCG3Y8nzPeSQedwNDrg83C62qXE6NOMaezfkv+kILL3MnrblXDMEfBPSRtjZJqa9rfohwsW2F9ri+w28vuoaVc1KqlGo8tchNJciT5QzvLh+Xn1Dh56dxgZv9I+XQdz2Dxf2aVp3NkpXqguUt/PPkSUvRKhwbDMTzhViJrtc0pc4ve7mw1OcSfYLuVKlO3pcT5LoVJNsvKDorlZkehzp3OuCZNYB4tYDTpA78E7crzz1iu5ZWMdC7s0Vz1rxZ01Y2jZI4w00bGBlxbXbd23J0kDfjddTSqWKTqNby8iub3wWNk/p3l2KgjZUwwvney75DuQXXI0m+2kEDbuLrl3N/WdZuDaS5FkYrG5S+C1U2UsTYdTmiGcNfvYlgfZwda4sW8ru1Iq4t37V8cFS2ZvuuTmvxRxG4MMRB/wCFa+k7W/izM+ZLumORMuY5hrKieDXITJd2tw+i4gbA24Wlf3talXcIPbYlGKaKZfGwTFtttdre2qy7qb4MlZ1RlvJeAZdf41NDoe5mknU47GxtufUBePr3lasuGbyi9RSNLX9OsptlnrKw6zI8yEyP0tYPQAW2+N1fC/uOGNOn3bbIxwrmytupWH5AMJnw+Zgm1D71G46XAnc2I2t7fYurY1Lvj4ay26shJR7jO/k7TSCpqWXOkwg6e1w8AH42J+1V60l2cX7TNPmXwvOlpzT1w/C0v5EX7gXq9K/TLx8yifMjmDwZmkZelbVGO/8AZeJpv3+jtdbVV0E/9nDn24MLPcb/AC3TZybV05lbXBgmjLi7xdIbqF9V9rW5utavK27OXDw5w+hlZyYWb6+rzhij2iQuDpjFFqIs1urSLb2A7+6stoRt7dPHdlmG8suTGOnWVzQvijhibK2IlsoNna2i9y7c2J7b7LhUr+v2yk28Z5ewtcVgqjo1i8+G4nFGH6Y5rse03sdiW7Da+oAA+59V2dUpKdu3jdblcHuavqRjQx7EZ5gbsDtDD/hZ5QfnYn5q6xo9lQjHv5vxMSeWW1lzpRl+pw+MyAunki1CYFw0lw1NsAbeW4+Nlxa2qVlWeOSfIsUFgoOcvc5xcSTc3J5J9TdekWMbFRbnWfFyyiw+ka4jVG2R7RaxAYGsv351H0+xcTS6X+2pUfuRZN7JG06RZKy9VULaqpijlklLrazcNaHaQA07A3BN9+eVVqV5WjV4INpLoZhFYyyss90ceW8TqI6VzmNY8OYWEgt1sD7NINwBqI+AXWtJOtbxc1nPPweCuWz2N71frZsRGGzSW1yUMb3W9Xbn9ZWtpsFDtIrkpMzPuNbkHKmI55kbCZHNp4AdTuQwOJOlg41Odv8AAewCtvLqFrFyS9J/3cRjxF1YZ01w+iw+bDTNI+KaVsjneUO2MZ0jYj+zG/uVwZ6hOVdVsLKWPP6lihtg1ddlbphgLfDn8JpcGi75HF+299jdt+9rXV0Lq+qvMc/wOGKKOzRR4dhtVIykn8aEEFkg53ANviDtf2XoLec5006iw+9FL57FrdVa6fEsAoJpDd75IXOPqTBJcrjadBQvKkVySfmiyfqo1H8nf+u1H+X/AOo1Xa1+VH3/ACMU+ZE+qX4Vq/zn+0Ld079NAjPmXH05wSgzDgEFPOzUx3jfFp8eSzmns4eq4d7WnRvZTg99vJFsVmJQONYdNglRLTuPmieW3HsdiPT1XpKVRVaamu8pawy1Op+NszDgdDUAWLpgHC97ObG9rhz6i4vvYhcewoujeTh7PmiyTzFEM6eZI/8AOrpmCobC6INNizVqDiQSPMLWIH/yW/e3n+Mk+HOfaQjHJNf5hqj+/t/Qn+NaH43H9nx+xPsz5zN08rMrYPUtE/jjxopSAxw0ht2OIFz9YEnbZvslC/jXuovGNmg44iRPozNFBi1OXEC4kAv6mNwAW7qibtpY9nmRhzOnV5IvOVeqNPLTYrVBwteTUN+zgCP1Few0+SdvHBry5kwwnot/4rDHPFiEbmPaCCIiR7i+vsbj5LSqax2cnGVN5Xt+xJU895l/zDVH9/b+hP8AGofjcf2fH7GezIx1tj8LEy3m0MQv8G2W3pTzQz7WRnzLW6LfgeP8qX98rj6p+qfh5FkPVOd5P6wfzh/eXpl6ngUnWeYMUbgtHLUn+zjLvnaw497LxlGn2lVQ6s2G8I5xwiPFepmIxx1ExJcDd9h5GNFzpbx/+r1NR07Kg3Bf9KVmTJh1I6b4DlWgfUQmV0muNoMjwQLncgNA3PvdaNlqFWvWUZYxvyJSgkjH/k7f1up/MD98KWtflR9/yMU+Zfa84XHNPXD8LS/kRfuBer0r9MvHzKJ8yyugP4Of+fd+xq5Osfn+BZT5FkVDS9rgOSCP1LlxeGTOPH0gZUGGR2i0hY5wsdPm0k8gG3xC9xx+hxR32NYtZnQmaQAivYQRcHwTuP0i471tL/x8fsWdmbPLfRqfBaqGpNY1/hPD9PhEXt2vr2VNfV1VpuHBjPt+xlU8MpnH6SSgqZ4nEFzJXtJHFw4ja67tGSlTjJd6RU+Z1dlUgUVN+Yj/AHAvG3H5svezYXI5OxqrFfUTTWt4kr325tqcTb9a9nSjwQUeiSNdkz6w0csUtHKSS2SjiDbkbaRuBYXtuDvfclaGmTThOPST+JKZlZO6UPzTSsqm1jGatQLPD1FpDiLEh49L/NRudUVCo4OGfH7GVDKybv8AmGqP7+39Cf41r/jcf2fH7GezNH1pw84S6gpy7UYqNkeq1r6SW3t2vZbGl1O0VSfWWTE1jBNP5O8EbaOokt5nT6Sd+GxtIHpy532rQ1pvtYr2fMlT5GB1qz1iuFzihppPDHhh0j2/TJcT5Qew0gG4+sfRWaXZU6kO1ms77GJya2Nd006W4XmOkFXUSyecuDWR2bp0uLTckHVe3tZW32pVKNXs4JbdRGCayQzqbg1Dl/EJKanaWxsbHYEkm5jaSST6kkrfsK061FTnz38yElhk66h/+m8N/Kg/0JFzbH9dU8fNE5eqjB/k7/12o/y//UarNa/Kj7/kYp8zT9SMt47WYnVSR0dS9jpLh7YZC0+UcENsVfYXFKNvFSkk/ejEk8lz9JaSpocKpo5Y3xvHi3Y9pa4XmeRcEXGxB+a4WozjK5k4vK28kWw5FZdaso4pPiH3RTwTTNmY0u8Nj36XMAj30ts0Fobtc911tLuqao8E2ljq0ue5XOLybjpRg9ZiFFV4XXU08UbrPjdJG9nOx0lzQAWuDXAd7nawKo1GrGNWFelJN9+GmZgtsMgVVl3OORJnTRxysDS5oqI26mlocBc2vpDtrB1rrpRuLa6ioya9z/vkRw4mWep+ff8A3j+gj/gVf4dZ9Pj9xxyLwy3TVWMYXHHWB5klhLZfEb5ruuNwR+pefryjTuG6fJPbBat1uc/Zt6eY/lguc+PxIQbCZm4NyQ245aT77XIFyvS29/Rr7J4fRlLi0fMec86xgNFVU2AAHPbb0R2lq3nhQ4pFg55yPjGZ6KjrWse+tELGTRu8rnC172Ng1zXE3G3J9FzbS9p0Ks6bfoZeCcotrJCKDMWe8nNFO3xoWi+mOSEEDzEkt1t4uTuF0J0LS4fG8P3MjmSJBlLO2e8braaN75XxiZniBkAADC4NcX6WbNseTxyta4s7SnSk1jOHjfv9m5lSk2fPWfAMZxHEnSQ0s8rPDjGtkT3NuBuLtFk0uvShQxKSTy+bQmnksro/Q1VDhccU0b436pLse0tdYvPYgHhcvU5xlcOUXlbcvcTgtijs+5UxHLlZIPCf4Tnl0UgaS0tJ1AA77jggm+1+69BZ3UK1JbrPeVSWGTHp3U5lzh9101U+aWJ1M5rfE1CMSXbpu4DY+3pdaF7Ghb8E6aSee7ngnHL5kJZh+bMjz+MIZoZGEtEnh6mG44BILHXC6DqW91DhbTXTO/1IYcSS4pR58z5TvqalrxDE0OjibEbyO+j5GDzG4JJdx6eg1ac7S1moQe75vPJe1/Ik+KRtOhmGYxhFbIJqSeNskJHiPje1oIcDa7m23VOrVKdSkuGSeH3NGYJpl6Lzxac99Y8AxrEMTkkhpaiVhZGA9kT3NNmC9i1tl6bTK9KFulKST35tdSmaeSweh+H1uHUDmTRSRO8Zx0yMc02sN7OANlzNVnGdbMWnt3E4LYsNcwmUd1b6bYjNUOraOJ0rZLuljabva/kuAO7gfQb37L0OnahBQVOo8Y5PuwVTh3oi8Oe8/wCDDwDJK0tt5ZIQXN2Fh52XAstp2VnU9Lbwf3I8UkTbpRmfN+YK4mqdI6AROBPhBsYcCCLlrQA7f42WhqFtbUqX+vGc9dycG29zVdack4mas1tPC+WOVo16A5zmOaLEuG+xA5Gwsb2736XeQ7Ps5vDXLJGcXnJGMrf+e8RY2kpTUiE6mcERNBF3BziLN2PF+62rj/Eg+0njPxMLi5I1eIZKzDSSyRto6qRrHuaJBBJZwBtqGx2PKuheUZRTckvFGOFl6ZyyY/NeGQxtGmoijY6MOuN9IDmOHa4Ft+Db3XnrW77C4bfqvn9S2UcopugqM85FLgxlRTtLrHVFeNzrW5c0tcbDa3ou5ONpdbtp+O5X6UTOHUPqFiH3pkkjnO4EcDdRtvtpZft9l1X/AIFnD0ml4v7jikSLrZg+M4tPSvipp5rU41FkT3WdqJIOltgfZa2lVaVOElKSW/eyU02SroTh1dhlFMyeGSFxqCQ2Rjmkjw2C4DgNrg7+y09WqQnWTi09u73slTWxouuGSa/EJWV1LE+UloZKxgLnbHyuDRudjY29AbclbGlXkIRdKbx3ojOPeiIZQzLnygZ/4fRxuJBNmGEF0fnu/dwsNzY672v2K3bm3tJvtqj+PPbb+oinLkjXZmyhmttQ4yU9TUSOax75GwvcNTmBxbqaCHFt9JIPIVtvd2/BiMklvhZXUOLLDz3hGJ1WX8Phjp5nysdDqjbG4vbaGQHU0C4sSBv6rl2dWEb2pJyWHnfO3NE5J8KMPoRguLYZWTunppoWmCwdJE9oJ1tNgXAC/srNXrU504qEk9+5roYpp5LvXALQgCAIAgCAIAgCAIAgCAIAgCAIAgCAIAgCAIAgCAIAgCAIAgCAIAgCAIAgCAIAgCA//9k=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6155" name="Picture 11" descr="http://www.estrategiaconcursos.com.br/blog/wp-content/uploads/2014/05/concurso-receita-federal.gif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211239" y="3394630"/>
            <a:ext cx="1747703" cy="914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6157" name="Picture 13" descr="http://www.manutencaoesuprimentos.com.br/imagens/preco-de-transferencia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340313" y="4869160"/>
            <a:ext cx="1489553" cy="1426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27143570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7544" y="897816"/>
            <a:ext cx="8229600" cy="1066800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 smtClean="0"/>
              <a:t>Situação ideal para utilização do Preço de Transferência</a:t>
            </a:r>
            <a:endParaRPr lang="pt-BR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258080" y="1988840"/>
            <a:ext cx="7130344" cy="44123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13255340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Fatores Tributários - Regulamento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 smtClean="0"/>
              <a:t>Imposto de Renda e Contribuição Social Sobre o Lucro Líquido</a:t>
            </a:r>
          </a:p>
          <a:p>
            <a:r>
              <a:rPr lang="pt-BR" dirty="0" smtClean="0"/>
              <a:t>Lei nº 9.430/96 e Instrução Normativa nº 243/02 ; ( Nos EUA – IRS – Internal Revenue Service) </a:t>
            </a:r>
          </a:p>
          <a:p>
            <a:pPr lvl="1"/>
            <a:r>
              <a:rPr lang="pt-BR" dirty="0"/>
              <a:t> </a:t>
            </a:r>
            <a:r>
              <a:rPr lang="pt-BR" dirty="0" smtClean="0">
                <a:solidFill>
                  <a:schemeClr val="accent1">
                    <a:lumMod val="50000"/>
                  </a:schemeClr>
                </a:solidFill>
              </a:rPr>
              <a:t>A) Mapeamento das Operações de Importação e Exportação</a:t>
            </a:r>
          </a:p>
          <a:p>
            <a:pPr lvl="1"/>
            <a:r>
              <a:rPr lang="pt-BR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pt-BR" dirty="0" smtClean="0">
                <a:solidFill>
                  <a:schemeClr val="accent1">
                    <a:lumMod val="50000"/>
                  </a:schemeClr>
                </a:solidFill>
              </a:rPr>
              <a:t>B) Escolha dos métodos a serem adotados para comprovação dos preços</a:t>
            </a:r>
          </a:p>
          <a:p>
            <a:pPr lvl="1"/>
            <a:r>
              <a:rPr lang="pt-BR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pt-BR" dirty="0" smtClean="0">
                <a:solidFill>
                  <a:schemeClr val="accent1">
                    <a:lumMod val="50000"/>
                  </a:schemeClr>
                </a:solidFill>
              </a:rPr>
              <a:t>C) Confecção de planilhas exigidas pela legislação</a:t>
            </a:r>
          </a:p>
        </p:txBody>
      </p:sp>
    </p:spTree>
    <p:extLst>
      <p:ext uri="{BB962C8B-B14F-4D97-AF65-F5344CB8AC3E}">
        <p14:creationId xmlns:p14="http://schemas.microsoft.com/office/powerpoint/2010/main" xmlns="" val="35175317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35895" y="692696"/>
            <a:ext cx="8229600" cy="1066800"/>
          </a:xfrm>
        </p:spPr>
        <p:txBody>
          <a:bodyPr/>
          <a:lstStyle/>
          <a:p>
            <a:r>
              <a:rPr lang="pt-BR" dirty="0" smtClean="0"/>
              <a:t>Etapas para seguir a Legislação</a:t>
            </a:r>
            <a:endParaRPr lang="pt-BR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39552" y="2245360"/>
            <a:ext cx="8135618" cy="3991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5621600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 smtClean="0"/>
              <a:t>Empreendedorismo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PLUG – Information Technology</a:t>
            </a:r>
            <a:endParaRPr lang="pt-BR" dirty="0"/>
          </a:p>
        </p:txBody>
      </p:sp>
      <p:pic>
        <p:nvPicPr>
          <p:cNvPr id="7170" name="Picture 2" descr="http://www.plug-it.com.br/images/imgProdutosTransfer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619672" y="2996952"/>
            <a:ext cx="5904656" cy="347008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890240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3269" y="908720"/>
            <a:ext cx="8229600" cy="1066800"/>
          </a:xfrm>
        </p:spPr>
        <p:txBody>
          <a:bodyPr/>
          <a:lstStyle/>
          <a:p>
            <a:pPr algn="ctr"/>
            <a:r>
              <a:rPr lang="pt-BR" dirty="0" smtClean="0"/>
              <a:t>Exercícios em Sala – Parte 1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916832"/>
            <a:ext cx="8507288" cy="4657704"/>
          </a:xfrm>
        </p:spPr>
        <p:txBody>
          <a:bodyPr/>
          <a:lstStyle/>
          <a:p>
            <a:r>
              <a:rPr lang="pt-BR" dirty="0"/>
              <a:t>1) Qual é o conceito de Preço de Transferência?</a:t>
            </a:r>
          </a:p>
          <a:p>
            <a:endParaRPr lang="pt-BR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67544" y="2708920"/>
            <a:ext cx="8352928" cy="396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686103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99592" y="836712"/>
            <a:ext cx="7355160" cy="5184576"/>
          </a:xfrm>
        </p:spPr>
        <p:txBody>
          <a:bodyPr>
            <a:normAutofit fontScale="92500" lnSpcReduction="20000"/>
          </a:bodyPr>
          <a:lstStyle/>
          <a:p>
            <a:r>
              <a:rPr lang="pt-BR" dirty="0" smtClean="0"/>
              <a:t>2) </a:t>
            </a:r>
            <a:r>
              <a:rPr lang="pt-BR" dirty="0"/>
              <a:t>Cite algumas características relacionadas ao Preço de </a:t>
            </a:r>
            <a:r>
              <a:rPr lang="pt-BR" dirty="0" smtClean="0"/>
              <a:t>Transferência.</a:t>
            </a:r>
          </a:p>
          <a:p>
            <a:pPr marL="0" indent="0">
              <a:buNone/>
            </a:pPr>
            <a:r>
              <a:rPr lang="pt-BR" dirty="0" smtClean="0"/>
              <a:t>	</a:t>
            </a:r>
            <a:r>
              <a:rPr lang="pt-BR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pt-BR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Permite uma constante avaliação dos níveis de eficiência e eficácia da empresa, a partir das relações econômicas entre suas atividades; </a:t>
            </a:r>
          </a:p>
          <a:p>
            <a:pPr marL="0" indent="0">
              <a:buNone/>
            </a:pPr>
            <a:r>
              <a:rPr lang="pt-BR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 </a:t>
            </a:r>
            <a:r>
              <a:rPr lang="pt-BR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pt-BR" b="1" i="1" dirty="0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Promover a capacidade competitiva da empresa;</a:t>
            </a:r>
          </a:p>
          <a:p>
            <a:pPr marL="0" indent="0">
              <a:buNone/>
            </a:pPr>
            <a:r>
              <a:rPr lang="pt-BR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 </a:t>
            </a:r>
            <a:r>
              <a:rPr lang="pt-BR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pt-BR" b="1" i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Reconhecimento do resultado gerado pelas áreas e atividades;</a:t>
            </a:r>
          </a:p>
          <a:p>
            <a:pPr marL="0" indent="0">
              <a:buNone/>
            </a:pPr>
            <a:r>
              <a:rPr lang="pt-BR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 </a:t>
            </a:r>
            <a:r>
              <a:rPr lang="pt-BR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pt-BR" b="1" i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Organização voltada para a descentralização;</a:t>
            </a:r>
          </a:p>
          <a:p>
            <a:pPr marL="0" indent="0">
              <a:buNone/>
            </a:pPr>
            <a:r>
              <a:rPr lang="pt-BR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 </a:t>
            </a:r>
            <a:r>
              <a:rPr lang="pt-BR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pt-BR" b="1" i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Interação entre centros de lucro;</a:t>
            </a:r>
          </a:p>
          <a:p>
            <a:pPr marL="0" indent="0">
              <a:buNone/>
            </a:pPr>
            <a:r>
              <a:rPr lang="pt-BR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 </a:t>
            </a:r>
            <a:r>
              <a:rPr lang="pt-BR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pt-BR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Evita perdas fiscais; </a:t>
            </a:r>
          </a:p>
        </p:txBody>
      </p:sp>
    </p:spTree>
    <p:extLst>
      <p:ext uri="{BB962C8B-B14F-4D97-AF65-F5344CB8AC3E}">
        <p14:creationId xmlns:p14="http://schemas.microsoft.com/office/powerpoint/2010/main" xmlns="" val="6382017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39552" y="1484784"/>
            <a:ext cx="6120680" cy="4325112"/>
          </a:xfrm>
        </p:spPr>
        <p:txBody>
          <a:bodyPr/>
          <a:lstStyle/>
          <a:p>
            <a:r>
              <a:rPr lang="pt-BR" dirty="0" smtClean="0"/>
              <a:t>3)</a:t>
            </a:r>
            <a:r>
              <a:rPr lang="pt-BR" dirty="0"/>
              <a:t> Quais são os elementos nos quais são “vistos” a legislação referente aos preços de </a:t>
            </a:r>
            <a:r>
              <a:rPr lang="pt-BR" dirty="0" smtClean="0"/>
              <a:t>transferência</a:t>
            </a:r>
            <a:r>
              <a:rPr lang="pt-BR" dirty="0"/>
              <a:t>?</a:t>
            </a:r>
            <a:endParaRPr lang="pt-BR" dirty="0" smtClean="0"/>
          </a:p>
          <a:p>
            <a:endParaRPr lang="pt-BR" dirty="0"/>
          </a:p>
          <a:p>
            <a:endParaRPr lang="pt-BR" dirty="0"/>
          </a:p>
          <a:p>
            <a:pPr marL="0" indent="0">
              <a:buNone/>
            </a:pPr>
            <a:r>
              <a:rPr lang="pt-BR" dirty="0" smtClean="0"/>
              <a:t>-Imposto </a:t>
            </a:r>
            <a:r>
              <a:rPr lang="pt-BR" dirty="0"/>
              <a:t>de Renda e Contribuição Social Sobre o Lucro Líquido</a:t>
            </a:r>
          </a:p>
          <a:p>
            <a:endParaRPr lang="pt-BR" dirty="0"/>
          </a:p>
        </p:txBody>
      </p:sp>
      <p:pic>
        <p:nvPicPr>
          <p:cNvPr id="1026" name="Picture 2" descr="https://encrypted-tbn1.gstatic.com/images?q=tbn:ANd9GcR3D3duXub1NIJvV1yRKEIUAycQdwJPY2JzoxI4c_BKkX_nw27w4w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156176" y="2060848"/>
            <a:ext cx="2724150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6195411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67544" y="1124744"/>
            <a:ext cx="8229600" cy="4325112"/>
          </a:xfrm>
        </p:spPr>
        <p:txBody>
          <a:bodyPr>
            <a:normAutofit lnSpcReduction="10000"/>
          </a:bodyPr>
          <a:lstStyle/>
          <a:p>
            <a:r>
              <a:rPr lang="pt-BR" dirty="0" smtClean="0"/>
              <a:t>4) </a:t>
            </a:r>
            <a:r>
              <a:rPr lang="pt-BR" dirty="0"/>
              <a:t>) Quais são as três etapas que são necessárias para o procedimento de preços de transferência estar em rigor com a lei nº 9.430/96</a:t>
            </a:r>
            <a:r>
              <a:rPr lang="pt-BR" dirty="0" smtClean="0"/>
              <a:t>?</a:t>
            </a:r>
          </a:p>
          <a:p>
            <a:endParaRPr lang="pt-BR" dirty="0" smtClean="0"/>
          </a:p>
          <a:p>
            <a:pPr marL="0" indent="0">
              <a:buNone/>
            </a:pPr>
            <a:r>
              <a:rPr lang="pt-BR" dirty="0"/>
              <a:t>	</a:t>
            </a:r>
            <a:r>
              <a:rPr lang="pt-B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-1º </a:t>
            </a:r>
            <a:r>
              <a:rPr 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Mapeamento das operações de importação e exportação</a:t>
            </a:r>
          </a:p>
          <a:p>
            <a:pPr marL="0" indent="0">
              <a:buNone/>
            </a:pPr>
            <a:r>
              <a:rPr lang="pt-B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-2º </a:t>
            </a:r>
            <a:r>
              <a:rPr 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Escolha dos métodos a serem adotados para comprovação dos preços</a:t>
            </a:r>
          </a:p>
          <a:p>
            <a:pPr marL="0" indent="0">
              <a:buNone/>
            </a:pPr>
            <a:r>
              <a:rPr lang="pt-B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-3º </a:t>
            </a:r>
            <a:r>
              <a:rPr 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Confecção de planilhas exigidas pela legislação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xmlns="" val="24279798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Vídeo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6376355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Modelos de Preço de Transferência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Diferentes métodos para calcular o preço dos produtos/serviços de um centro de lucro para outro</a:t>
            </a:r>
          </a:p>
          <a:p>
            <a:r>
              <a:rPr lang="pt-BR" dirty="0" smtClean="0"/>
              <a:t>Preço parâmetro</a:t>
            </a:r>
          </a:p>
        </p:txBody>
      </p:sp>
    </p:spTree>
    <p:extLst>
      <p:ext uri="{BB962C8B-B14F-4D97-AF65-F5344CB8AC3E}">
        <p14:creationId xmlns:p14="http://schemas.microsoft.com/office/powerpoint/2010/main" xmlns="" val="4677747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7544" y="908720"/>
            <a:ext cx="8229600" cy="1066800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 smtClean="0"/>
              <a:t>Preço de Transferência – Modelos – Porcentagem %</a:t>
            </a:r>
            <a:endParaRPr lang="pt-BR" dirty="0"/>
          </a:p>
        </p:txBody>
      </p:sp>
      <p:graphicFrame>
        <p:nvGraphicFramePr>
          <p:cNvPr id="4" name="Gráfico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xmlns="" val="2614014568"/>
              </p:ext>
            </p:extLst>
          </p:nvPr>
        </p:nvGraphicFramePr>
        <p:xfrm>
          <a:off x="611560" y="2060848"/>
          <a:ext cx="7956376" cy="44626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xmlns="" val="37136560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7544" y="620688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Modelo de Preço de Transferência baseado em NEGOCIAÇÃO.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2249424"/>
            <a:ext cx="6203032" cy="4325112"/>
          </a:xfrm>
        </p:spPr>
        <p:txBody>
          <a:bodyPr/>
          <a:lstStyle/>
          <a:p>
            <a:r>
              <a:rPr lang="pt-BR" dirty="0" smtClean="0"/>
              <a:t>Base: Negociação entre Gestores</a:t>
            </a:r>
          </a:p>
          <a:p>
            <a:pPr lvl="1"/>
            <a:r>
              <a:rPr lang="pt-BR" dirty="0"/>
              <a:t> </a:t>
            </a:r>
            <a:r>
              <a:rPr lang="pt-BR" dirty="0" smtClean="0"/>
              <a:t>Valor negociado e aceito pelas partes</a:t>
            </a:r>
          </a:p>
          <a:p>
            <a:pPr lvl="1"/>
            <a:r>
              <a:rPr lang="pt-BR" dirty="0"/>
              <a:t> </a:t>
            </a:r>
            <a:r>
              <a:rPr lang="pt-BR" dirty="0" smtClean="0"/>
              <a:t>O valor do produto/serviço é influenciado pela habilidade de negociação entre os gestores/ Poder político</a:t>
            </a:r>
            <a:endParaRPr lang="pt-BR" dirty="0"/>
          </a:p>
        </p:txBody>
      </p:sp>
      <p:pic>
        <p:nvPicPr>
          <p:cNvPr id="3074" name="Picture 2" descr="http://www.cygnuscosmeticos.com.br/blog/wp-content/uploads/2013/12/curso-de-negociacao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228184" y="2420888"/>
            <a:ext cx="2586527" cy="172819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  <a:extLst/>
        </p:spPr>
      </p:pic>
    </p:spTree>
    <p:extLst>
      <p:ext uri="{BB962C8B-B14F-4D97-AF65-F5344CB8AC3E}">
        <p14:creationId xmlns:p14="http://schemas.microsoft.com/office/powerpoint/2010/main" xmlns="" val="6323521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Modelo de Preço de Transferência baseado em </a:t>
            </a:r>
            <a:r>
              <a:rPr lang="pt-BR" dirty="0" smtClean="0"/>
              <a:t>PREÇO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2 Bases: Preços correntes e Preço de mercado ajustado;</a:t>
            </a:r>
          </a:p>
          <a:p>
            <a:r>
              <a:rPr lang="pt-BR" dirty="0" smtClean="0"/>
              <a:t>Preços correntes:</a:t>
            </a:r>
          </a:p>
          <a:p>
            <a:pPr lvl="1"/>
            <a:r>
              <a:rPr lang="pt-BR" dirty="0"/>
              <a:t> </a:t>
            </a:r>
            <a:r>
              <a:rPr lang="pt-BR" dirty="0" smtClean="0"/>
              <a:t>Produto/serviços transferido pelo preço vigente de mercado</a:t>
            </a:r>
          </a:p>
          <a:p>
            <a:pPr lvl="1"/>
            <a:r>
              <a:rPr lang="pt-BR" dirty="0"/>
              <a:t> </a:t>
            </a:r>
            <a:r>
              <a:rPr lang="pt-BR" dirty="0" smtClean="0"/>
              <a:t>Custos não exercem influência no preço</a:t>
            </a:r>
          </a:p>
          <a:p>
            <a:pPr lvl="1"/>
            <a:r>
              <a:rPr lang="pt-BR" dirty="0"/>
              <a:t> </a:t>
            </a:r>
            <a:r>
              <a:rPr lang="pt-BR" dirty="0" smtClean="0"/>
              <a:t>O preço incorpora elementos nos quais a empresa incorre como impostos, comissões, </a:t>
            </a:r>
            <a:r>
              <a:rPr lang="pt-BR" dirty="0" err="1" smtClean="0"/>
              <a:t>etc</a:t>
            </a: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xmlns="" val="18771048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Preço de mercado ajustado:</a:t>
            </a:r>
          </a:p>
          <a:p>
            <a:pPr lvl="1"/>
            <a:r>
              <a:rPr lang="pt-BR" dirty="0"/>
              <a:t> </a:t>
            </a:r>
            <a:r>
              <a:rPr lang="pt-BR" dirty="0" smtClean="0"/>
              <a:t>Refinamento do critério anterior, similar porém exclui eventos em que o preço incorpora os elementos nos quais a empresa incorre como impostos e comissões;</a:t>
            </a:r>
          </a:p>
          <a:p>
            <a:pPr lvl="1"/>
            <a:r>
              <a:rPr lang="pt-BR" dirty="0"/>
              <a:t> </a:t>
            </a:r>
            <a:r>
              <a:rPr lang="pt-BR" dirty="0" smtClean="0"/>
              <a:t>Difícil estimativa</a:t>
            </a:r>
          </a:p>
        </p:txBody>
      </p:sp>
    </p:spTree>
    <p:extLst>
      <p:ext uri="{BB962C8B-B14F-4D97-AF65-F5344CB8AC3E}">
        <p14:creationId xmlns:p14="http://schemas.microsoft.com/office/powerpoint/2010/main" xmlns="" val="19947556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51520" y="548680"/>
            <a:ext cx="8604448" cy="936104"/>
          </a:xfrm>
        </p:spPr>
        <p:txBody>
          <a:bodyPr>
            <a:normAutofit fontScale="90000"/>
          </a:bodyPr>
          <a:lstStyle/>
          <a:p>
            <a:r>
              <a:rPr lang="pt-BR" sz="3100" b="1" dirty="0" smtClean="0"/>
              <a:t>Modelos de Preço de transferência </a:t>
            </a:r>
            <a:r>
              <a:rPr lang="pt-BR" sz="3100" b="1" dirty="0"/>
              <a:t>b</a:t>
            </a:r>
            <a:r>
              <a:rPr lang="pt-BR" sz="3100" b="1" dirty="0" smtClean="0"/>
              <a:t>aseado em Custo</a:t>
            </a:r>
            <a:endParaRPr lang="pt-BR" sz="3100" b="1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 xmlns="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395368" y="1484784"/>
            <a:ext cx="6523242" cy="5019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38735631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836712"/>
            <a:ext cx="9144000" cy="1143000"/>
          </a:xfrm>
        </p:spPr>
        <p:txBody>
          <a:bodyPr>
            <a:normAutofit/>
          </a:bodyPr>
          <a:lstStyle/>
          <a:p>
            <a:pPr algn="ctr"/>
            <a:r>
              <a:rPr lang="pt-BR" sz="3200" b="1" dirty="0" smtClean="0"/>
              <a:t>Modelos de Preço de transferência baseado no  Custo Oportunidade</a:t>
            </a:r>
            <a:endParaRPr lang="pt-BR" sz="3200" dirty="0"/>
          </a:p>
        </p:txBody>
      </p:sp>
      <p:sp>
        <p:nvSpPr>
          <p:cNvPr id="4" name="CaixaDeTexto 3"/>
          <p:cNvSpPr txBox="1"/>
          <p:nvPr/>
        </p:nvSpPr>
        <p:spPr>
          <a:xfrm>
            <a:off x="395536" y="2852936"/>
            <a:ext cx="820891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500" dirty="0" smtClean="0"/>
              <a:t> O valor dos produtos e serviços transacionados entre as unidades deveria refletir o valor do benefício possível de ser obtido na melhor alternativa econômica de obtenção dos bens e serviços demandados.</a:t>
            </a:r>
            <a:endParaRPr lang="pt-BR" sz="2500" dirty="0"/>
          </a:p>
        </p:txBody>
      </p:sp>
      <p:pic>
        <p:nvPicPr>
          <p:cNvPr id="1029" name="Picture 5" descr="C:\Users\Elen Back\AppData\Local\Microsoft\Windows\Temporary Internet Files\Content.IE5\WSR1ZMW0\MC900437022[1].w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616" y="4649740"/>
            <a:ext cx="6768752" cy="194421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xmlns="" val="3140939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Exercícios em Sala – Parte 2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que seriam os modelos de preço de transferência</a:t>
            </a:r>
            <a:r>
              <a:rPr lang="pt-BR" dirty="0" smtClean="0"/>
              <a:t>?</a:t>
            </a:r>
          </a:p>
          <a:p>
            <a:pPr marL="0" indent="0">
              <a:buNone/>
            </a:pPr>
            <a:r>
              <a:rPr lang="pt-BR" dirty="0" smtClean="0"/>
              <a:t>	-São </a:t>
            </a:r>
            <a:r>
              <a:rPr lang="pt-BR" dirty="0"/>
              <a:t>diferentes métodos para calcular o preço dos produtos/serviços entre relações de uma mesma empresa, ou partes relacionadas.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xmlns="" val="4464931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Em relação ao Preço de Transferência baseado em negociação, cite qual a base e sua </a:t>
            </a:r>
            <a:r>
              <a:rPr lang="pt-BR" dirty="0" smtClean="0"/>
              <a:t>influência</a:t>
            </a:r>
          </a:p>
          <a:p>
            <a:pPr lvl="1"/>
            <a:r>
              <a:rPr lang="pt-BR" dirty="0">
                <a:solidFill>
                  <a:schemeClr val="accent2">
                    <a:lumMod val="50000"/>
                  </a:schemeClr>
                </a:solidFill>
              </a:rPr>
              <a:t> A base seria a negociação entre gestores, influenciada pela habilidade de negociação entre os gestores e o poder político de cada um;</a:t>
            </a:r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xmlns="" val="33770747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95536" y="1412776"/>
            <a:ext cx="8229600" cy="4325112"/>
          </a:xfrm>
        </p:spPr>
        <p:txBody>
          <a:bodyPr>
            <a:normAutofit fontScale="92500" lnSpcReduction="10000"/>
          </a:bodyPr>
          <a:lstStyle/>
          <a:p>
            <a:r>
              <a:rPr lang="pt-BR" dirty="0"/>
              <a:t>Em relação ao Preço de Transferência baseado em Preços, cite qual a base e sua influência</a:t>
            </a:r>
          </a:p>
          <a:p>
            <a:pPr lvl="1"/>
            <a:r>
              <a:rPr lang="pt-BR" dirty="0" smtClean="0"/>
              <a:t> </a:t>
            </a:r>
            <a:r>
              <a:rPr lang="pt-BR" dirty="0">
                <a:solidFill>
                  <a:schemeClr val="accent2">
                    <a:lumMod val="75000"/>
                  </a:schemeClr>
                </a:solidFill>
              </a:rPr>
              <a:t>Há duas bases em que a empresa pode optar aderir, a de Preços correntes e a do Preço de mercado ajustado. A primeira nos orienta a utilização do preço vigente de mercado, que pode ser “ corrompido” pelos impostos, comissões e etc. que afetam o mercado e a empresa. A segunda base seria um refinamento da primeira que tenta fugir dessa má utilização dos preços vigentes, porém é uma técnica difícil devido a complexidade em que há a incorporação dos componentes que afetam o preço.</a:t>
            </a:r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xmlns="" val="12607900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467544" y="1556792"/>
            <a:ext cx="806489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hiller" pitchFamily="82" charset="0"/>
              </a:rPr>
              <a:t> ATIVIDADE</a:t>
            </a:r>
            <a:endParaRPr lang="pt-BR" sz="10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hiller" pitchFamily="82" charset="0"/>
            </a:endParaRPr>
          </a:p>
        </p:txBody>
      </p:sp>
      <p:pic>
        <p:nvPicPr>
          <p:cNvPr id="3" name="Picture 2" descr="https://encrypted-tbn3.gstatic.com/images?q=tbn:ANd9GcTBH65Ry8dMLsP08TB7RyTqhbQbxn7edAa_kLPsrY1j4wtTwc7tUQ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580112" y="3928631"/>
            <a:ext cx="2209800" cy="206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s://encrypted-tbn3.gstatic.com/images?q=tbn:ANd9GcQjzqeRj28V0gYgOPTXMEHa7Lk2UZQ-XZSlZRsdEIaOT7c62U7_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539106" y="3852431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22149626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0" y="0"/>
            <a:ext cx="914400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700" b="1" dirty="0">
                <a:solidFill>
                  <a:schemeClr val="bg1"/>
                </a:solidFill>
              </a:rPr>
              <a:t>Modelos:</a:t>
            </a:r>
          </a:p>
          <a:p>
            <a:r>
              <a:rPr lang="pt-BR" sz="2700" dirty="0"/>
              <a:t> </a:t>
            </a:r>
            <a:r>
              <a:rPr lang="pt-BR" sz="2700" dirty="0" smtClean="0"/>
              <a:t>(			) </a:t>
            </a:r>
            <a:r>
              <a:rPr lang="pt-BR" sz="2700" dirty="0"/>
              <a:t>Soma dos custos variáveis unitários incorridos</a:t>
            </a:r>
          </a:p>
          <a:p>
            <a:r>
              <a:rPr lang="pt-BR" sz="2700" dirty="0" smtClean="0"/>
              <a:t> (			) </a:t>
            </a:r>
            <a:r>
              <a:rPr lang="pt-BR" sz="2700" dirty="0"/>
              <a:t>Preço vigente no mercado</a:t>
            </a:r>
          </a:p>
          <a:p>
            <a:r>
              <a:rPr lang="pt-BR" sz="2700" dirty="0" smtClean="0"/>
              <a:t> (			) </a:t>
            </a:r>
            <a:r>
              <a:rPr lang="pt-BR" sz="2700" dirty="0"/>
              <a:t>Valor estabelecido sob determinadas condições de volume de produção, custo e preços de venda que propiciassem lucro máximo.</a:t>
            </a:r>
          </a:p>
          <a:p>
            <a:r>
              <a:rPr lang="pt-BR" sz="2700" dirty="0"/>
              <a:t> </a:t>
            </a:r>
            <a:r>
              <a:rPr lang="pt-BR" sz="2700" dirty="0" smtClean="0"/>
              <a:t>(			)  </a:t>
            </a:r>
            <a:r>
              <a:rPr lang="pt-BR" sz="2700" dirty="0"/>
              <a:t>Valor negociado e aceito pelas partes envolvidas</a:t>
            </a:r>
          </a:p>
          <a:p>
            <a:r>
              <a:rPr lang="pt-BR" sz="2700" dirty="0" smtClean="0"/>
              <a:t> (			) </a:t>
            </a:r>
            <a:r>
              <a:rPr lang="pt-BR" sz="2700" dirty="0"/>
              <a:t>Custo cientificamente pré-determinado e que deveria ter ocorrido nas condições presentes</a:t>
            </a:r>
          </a:p>
          <a:p>
            <a:r>
              <a:rPr lang="pt-BR" sz="2700" dirty="0" smtClean="0"/>
              <a:t> (			)  </a:t>
            </a:r>
            <a:r>
              <a:rPr lang="pt-BR" sz="2700" dirty="0"/>
              <a:t>Custos Totais / volume da produção</a:t>
            </a:r>
          </a:p>
          <a:p>
            <a:r>
              <a:rPr lang="pt-BR" sz="2700" dirty="0"/>
              <a:t> </a:t>
            </a:r>
            <a:r>
              <a:rPr lang="pt-BR" sz="2700" dirty="0" smtClean="0"/>
              <a:t>(			) </a:t>
            </a:r>
            <a:r>
              <a:rPr lang="pt-BR" sz="2700" dirty="0"/>
              <a:t>É uma variante entre os métodos baseados no custo, em que se aplica uma margem sobre o custo base</a:t>
            </a:r>
          </a:p>
          <a:p>
            <a:r>
              <a:rPr lang="pt-BR" sz="2700" dirty="0" smtClean="0"/>
              <a:t> (			)</a:t>
            </a:r>
            <a:r>
              <a:rPr lang="pt-BR" sz="2300" dirty="0" smtClean="0"/>
              <a:t>Refinamento </a:t>
            </a:r>
            <a:r>
              <a:rPr lang="pt-BR" sz="2300" dirty="0"/>
              <a:t>dos preços correntes de mercado</a:t>
            </a:r>
          </a:p>
        </p:txBody>
      </p:sp>
    </p:spTree>
    <p:extLst>
      <p:ext uri="{BB962C8B-B14F-4D97-AF65-F5344CB8AC3E}">
        <p14:creationId xmlns:p14="http://schemas.microsoft.com/office/powerpoint/2010/main" xmlns="" val="24325579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95536" y="1412776"/>
            <a:ext cx="8229600" cy="4325112"/>
          </a:xfrm>
        </p:spPr>
        <p:txBody>
          <a:bodyPr>
            <a:normAutofit/>
          </a:bodyPr>
          <a:lstStyle/>
          <a:p>
            <a:pPr marL="109728" indent="0" algn="ctr">
              <a:buNone/>
            </a:pPr>
            <a:r>
              <a:rPr lang="pt-BR" b="1" dirty="0" smtClean="0"/>
              <a:t>Conclusão</a:t>
            </a:r>
            <a:endParaRPr lang="pt-BR" b="1" dirty="0"/>
          </a:p>
          <a:p>
            <a:pPr lvl="1"/>
            <a:endParaRPr lang="pt-BR" dirty="0" smtClean="0"/>
          </a:p>
          <a:p>
            <a:pPr lvl="1"/>
            <a:endParaRPr lang="pt-BR" dirty="0" smtClean="0"/>
          </a:p>
          <a:p>
            <a:pPr lvl="1"/>
            <a:r>
              <a:rPr lang="pt-BR" dirty="0" smtClean="0"/>
              <a:t>Tomada de decisão</a:t>
            </a:r>
          </a:p>
          <a:p>
            <a:pPr lvl="1"/>
            <a:r>
              <a:rPr lang="pt-BR" dirty="0" smtClean="0"/>
              <a:t>Viabilidade de um projeto</a:t>
            </a:r>
          </a:p>
          <a:p>
            <a:pPr lvl="1"/>
            <a:r>
              <a:rPr lang="pt-BR" dirty="0" smtClean="0"/>
              <a:t>Analise de fatores </a:t>
            </a:r>
          </a:p>
          <a:p>
            <a:pPr marL="411480" lvl="1" indent="0">
              <a:buNone/>
            </a:pPr>
            <a:endParaRPr lang="pt-BR" dirty="0" smtClean="0"/>
          </a:p>
          <a:p>
            <a:pPr lvl="1"/>
            <a:endParaRPr lang="pt-BR" dirty="0" smtClean="0"/>
          </a:p>
          <a:p>
            <a:pPr lvl="1"/>
            <a:endParaRPr lang="pt-BR" dirty="0"/>
          </a:p>
        </p:txBody>
      </p:sp>
      <p:pic>
        <p:nvPicPr>
          <p:cNvPr id="1026" name="Picture 2" descr="C:\Program Files (x86)\Microsoft Office\MEDIA\CAGCAT10\j0195384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804248" y="2780928"/>
            <a:ext cx="1795882" cy="1833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Program Files (x86)\Microsoft Office\MEDIA\CAGCAT10\j0195812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707904" y="4613764"/>
            <a:ext cx="1773022" cy="1824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21635669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 algn="ctr"/>
            <a:r>
              <a:rPr lang="pt-BR" sz="11500" dirty="0" smtClean="0">
                <a:latin typeface="Embassy BT" pitchFamily="66" charset="0"/>
                <a:cs typeface="Lao UI" pitchFamily="34" charset="0"/>
              </a:rPr>
              <a:t>Fim</a:t>
            </a:r>
            <a:endParaRPr lang="pt-BR" sz="6600" dirty="0">
              <a:latin typeface="Embassy BT" pitchFamily="66" charset="0"/>
              <a:cs typeface="Lao UI" pitchFamily="34" charset="0"/>
            </a:endParaRPr>
          </a:p>
        </p:txBody>
      </p:sp>
      <p:sp>
        <p:nvSpPr>
          <p:cNvPr id="5" name="Espaço Reservado para Conteúdo 2"/>
          <p:cNvSpPr txBox="1">
            <a:spLocks/>
          </p:cNvSpPr>
          <p:nvPr/>
        </p:nvSpPr>
        <p:spPr>
          <a:xfrm>
            <a:off x="1259632" y="4797152"/>
            <a:ext cx="6923112" cy="2060848"/>
          </a:xfrm>
          <a:prstGeom prst="rect">
            <a:avLst/>
          </a:prstGeom>
        </p:spPr>
        <p:txBody>
          <a:bodyPr vert="horz">
            <a:normAutofit/>
          </a:bodyPr>
          <a:lstStyle>
            <a:lvl1pPr marL="64008" indent="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None/>
              <a:defRPr kumimoji="0"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None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None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None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None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None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None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None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None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 dirty="0" smtClean="0"/>
              <a:t>&lt;http://www.p2p.com.pt/files/PT_PARTNERtoPARTNER.pdf&gt;  acesso em 26/05/14</a:t>
            </a:r>
          </a:p>
          <a:p>
            <a:r>
              <a:rPr lang="pt-BR" sz="1600" dirty="0" smtClean="0"/>
              <a:t>&lt;http://gilbertoalvares.com.br/novo/?p=182&gt;  acesso em 26/05/14</a:t>
            </a:r>
          </a:p>
          <a:p>
            <a:r>
              <a:rPr lang="pt-BR" sz="1600" dirty="0" smtClean="0"/>
              <a:t>&lt;https://tpsweb.deloitte.com.br/PrecoTransf.aspx&gt; acesso em 27/05/14</a:t>
            </a:r>
          </a:p>
          <a:p>
            <a:r>
              <a:rPr lang="pt-BR" sz="1600" dirty="0" smtClean="0"/>
              <a:t>CATELLI, Armando. </a:t>
            </a:r>
            <a:r>
              <a:rPr lang="pt-BR" sz="1600" b="1" dirty="0" smtClean="0"/>
              <a:t>CONTROLADORIA – UMA ABORDAGEM DA GESTÃO ECONÔMICA – GECON.</a:t>
            </a:r>
            <a:r>
              <a:rPr lang="pt-BR" sz="1600" dirty="0" smtClean="0"/>
              <a:t> 2ª edição, São Paulo: Atlas, 2013</a:t>
            </a:r>
            <a:endParaRPr lang="pt-BR" sz="1600" dirty="0"/>
          </a:p>
        </p:txBody>
      </p:sp>
      <p:sp>
        <p:nvSpPr>
          <p:cNvPr id="6" name="Título 1"/>
          <p:cNvSpPr txBox="1">
            <a:spLocks/>
          </p:cNvSpPr>
          <p:nvPr/>
        </p:nvSpPr>
        <p:spPr>
          <a:xfrm>
            <a:off x="251520" y="3933056"/>
            <a:ext cx="8229600" cy="720080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200" dirty="0" smtClean="0">
                <a:solidFill>
                  <a:schemeClr val="accent2">
                    <a:lumMod val="50000"/>
                  </a:schemeClr>
                </a:solidFill>
              </a:rPr>
              <a:t>Referências:</a:t>
            </a:r>
            <a:endParaRPr lang="pt-BR" sz="3200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0452897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o">
  <a:themeElements>
    <a:clrScheme name="Urbano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o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Urbano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193</TotalTime>
  <Words>1207</Words>
  <Application>Microsoft Office PowerPoint</Application>
  <PresentationFormat>Apresentação na tela (4:3)</PresentationFormat>
  <Paragraphs>153</Paragraphs>
  <Slides>40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40</vt:i4>
      </vt:variant>
    </vt:vector>
  </HeadingPairs>
  <TitlesOfParts>
    <vt:vector size="41" baseType="lpstr">
      <vt:lpstr>Urbano</vt:lpstr>
      <vt:lpstr>PREÇO DE TRANSFERÊNCIA</vt:lpstr>
      <vt:lpstr>Introdução/Sumário</vt:lpstr>
      <vt:lpstr>Conceito básico</vt:lpstr>
      <vt:lpstr>Conceito básico</vt:lpstr>
      <vt:lpstr>Exemplo</vt:lpstr>
      <vt:lpstr>Exemplo</vt:lpstr>
      <vt:lpstr>Conceito</vt:lpstr>
      <vt:lpstr>Análise </vt:lpstr>
      <vt:lpstr>Vídeo:</vt:lpstr>
      <vt:lpstr>Exemplo</vt:lpstr>
      <vt:lpstr>Exemplo</vt:lpstr>
      <vt:lpstr>Exemplo</vt:lpstr>
      <vt:lpstr>Preço de Transferência</vt:lpstr>
      <vt:lpstr>Preço de Transferência</vt:lpstr>
      <vt:lpstr>Preço de Transferência</vt:lpstr>
      <vt:lpstr>Slide 16</vt:lpstr>
      <vt:lpstr>Slide 17</vt:lpstr>
      <vt:lpstr>Situação ideal para utilização do Preço de Transferência</vt:lpstr>
      <vt:lpstr>Fatores Tributários - Regulamento</vt:lpstr>
      <vt:lpstr>Etapas para seguir a Legislação</vt:lpstr>
      <vt:lpstr>Empreendedorismo</vt:lpstr>
      <vt:lpstr>Exercícios em Sala – Parte 1</vt:lpstr>
      <vt:lpstr>Slide 23</vt:lpstr>
      <vt:lpstr>Slide 24</vt:lpstr>
      <vt:lpstr>Slide 25</vt:lpstr>
      <vt:lpstr>Vídeo</vt:lpstr>
      <vt:lpstr>Modelos de Preço de Transferência</vt:lpstr>
      <vt:lpstr>Preço de Transferência – Modelos – Porcentagem %</vt:lpstr>
      <vt:lpstr>Modelo de Preço de Transferência baseado em NEGOCIAÇÃO.</vt:lpstr>
      <vt:lpstr>Modelo de Preço de Transferência baseado em PREÇO</vt:lpstr>
      <vt:lpstr>Slide 31</vt:lpstr>
      <vt:lpstr>Modelos de Preço de transferência baseado em Custo</vt:lpstr>
      <vt:lpstr>Modelos de Preço de transferência baseado no  Custo Oportunidade</vt:lpstr>
      <vt:lpstr>Exercícios em Sala – Parte 2</vt:lpstr>
      <vt:lpstr>Slide 35</vt:lpstr>
      <vt:lpstr>Slide 36</vt:lpstr>
      <vt:lpstr>Slide 37</vt:lpstr>
      <vt:lpstr>Slide 38</vt:lpstr>
      <vt:lpstr>Slide 39</vt:lpstr>
      <vt:lpstr>Fim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PREÇO DE TRANSFERÊNCIA</dc:title>
  <dc:creator>lc</dc:creator>
  <cp:lastModifiedBy>Cristiane</cp:lastModifiedBy>
  <cp:revision>32</cp:revision>
  <dcterms:created xsi:type="dcterms:W3CDTF">2014-05-29T00:00:30Z</dcterms:created>
  <dcterms:modified xsi:type="dcterms:W3CDTF">2014-06-01T17:25:34Z</dcterms:modified>
</cp:coreProperties>
</file>