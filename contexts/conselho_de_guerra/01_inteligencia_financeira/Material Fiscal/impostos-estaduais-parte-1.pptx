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6" r:id="rId9"/>
    <p:sldId id="267" r:id="rId10"/>
    <p:sldId id="265" r:id="rId11"/>
    <p:sldId id="262" r:id="rId12"/>
    <p:sldId id="268" r:id="rId13"/>
    <p:sldId id="263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402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19/10/2018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19/10/2018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5813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19/10/2018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2676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19/10/2018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64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19/10/2018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7615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19/10/2018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20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19/10/2018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559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19/10/2018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2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19/10/2018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07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19/10/2018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303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19/10/2018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72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CA729-EC06-49AD-AD99-900AC3636B76}" type="datetimeFigureOut">
              <a:rPr lang="pt-BR" smtClean="0"/>
              <a:t>19/10/2018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5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log.tagplus.com.br/anulada-partilha-do-icms-interestadual-nao-vale-mais-para-simples-nacional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hyperlink" Target="https://www.grupoleste.com/fim-de-ano-chegando-parcele-o-ipva-de-2018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usadosbr.com/revendas/marcio-veiculos-goiania/carros-e-utilitario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404664"/>
            <a:ext cx="7772400" cy="1470025"/>
          </a:xfrm>
        </p:spPr>
        <p:txBody>
          <a:bodyPr/>
          <a:lstStyle/>
          <a:p>
            <a:r>
              <a:rPr lang="pt-BR" b="1" dirty="0" smtClean="0"/>
              <a:t>IMPOSTOS ESTADUAIS – Parte 1</a:t>
            </a:r>
            <a:endParaRPr lang="pt-BR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067944" y="5805264"/>
            <a:ext cx="4960640" cy="769640"/>
          </a:xfrm>
        </p:spPr>
        <p:txBody>
          <a:bodyPr/>
          <a:lstStyle/>
          <a:p>
            <a:r>
              <a:rPr lang="pt-BR" b="1" dirty="0" smtClean="0">
                <a:solidFill>
                  <a:schemeClr val="tx1"/>
                </a:solidFill>
              </a:rPr>
              <a:t>Prof. Lúcia Young</a:t>
            </a:r>
            <a:endParaRPr lang="pt-BR" b="1" dirty="0">
              <a:solidFill>
                <a:schemeClr val="tx1"/>
              </a:solidFill>
            </a:endParaRPr>
          </a:p>
        </p:txBody>
      </p:sp>
      <p:pic>
        <p:nvPicPr>
          <p:cNvPr id="1028" name="Picture 4" descr="Resultado de imagem para ICMS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76872"/>
            <a:ext cx="3312368" cy="188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m para IPVA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211019"/>
            <a:ext cx="3816424" cy="196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esultado de imagem para ITCM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551586"/>
            <a:ext cx="3096344" cy="185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08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6000" b="1" dirty="0" smtClean="0"/>
              <a:t>IPVA</a:t>
            </a:r>
            <a:endParaRPr lang="pt-BR" sz="6000" b="1" dirty="0"/>
          </a:p>
        </p:txBody>
      </p:sp>
      <p:pic>
        <p:nvPicPr>
          <p:cNvPr id="2050" name="Picture 2" descr="Resultado de imagem para veículo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15950"/>
            <a:ext cx="266700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m para veÃ­cul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5" y="3933056"/>
            <a:ext cx="4114800" cy="248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40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Embasamento Legal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A Constituição Federal/1988 , em seu art. 155, II, dispõe que compete aos Estados e ao Distrito Federal a instituição do Imposto sobre a Propriedade de Veículos Automotores (IPVA), cuja atribuição é exercida pelo Estado do Paraná por meio da Lei nº 14.260/2003.</a:t>
            </a:r>
            <a:endParaRPr lang="pt-BR" sz="2800" dirty="0"/>
          </a:p>
        </p:txBody>
      </p:sp>
      <p:pic>
        <p:nvPicPr>
          <p:cNvPr id="9218" name="Picture 2" descr="Resultado de imagem para car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077072"/>
            <a:ext cx="4420413" cy="2483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20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Fato Gerador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O IPVA tem como fato gerador a propriedade de veículo automotor e é devido anualmente. </a:t>
            </a:r>
          </a:p>
        </p:txBody>
      </p:sp>
      <p:sp>
        <p:nvSpPr>
          <p:cNvPr id="4" name="Seta para a direita 3"/>
          <p:cNvSpPr/>
          <p:nvPr/>
        </p:nvSpPr>
        <p:spPr>
          <a:xfrm>
            <a:off x="7812360" y="692696"/>
            <a:ext cx="648072" cy="43204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42" name="Picture 2" descr="Resultado de imagem para carr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780928"/>
            <a:ext cx="5054330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321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 smtClean="0"/>
              <a:t>Ocorre </a:t>
            </a:r>
            <a:r>
              <a:rPr lang="pt-BR" b="1" dirty="0"/>
              <a:t>o fato gerador do </a:t>
            </a:r>
            <a:r>
              <a:rPr lang="pt-BR" b="1" dirty="0" smtClean="0"/>
              <a:t>imposto:</a:t>
            </a:r>
          </a:p>
          <a:p>
            <a:endParaRPr lang="pt-BR" dirty="0"/>
          </a:p>
          <a:p>
            <a:r>
              <a:rPr lang="pt-BR" dirty="0" smtClean="0"/>
              <a:t>a</a:t>
            </a:r>
            <a:r>
              <a:rPr lang="pt-BR" dirty="0"/>
              <a:t>) na data da 1ª aquisição de veículo automotor novo por consumidor </a:t>
            </a:r>
            <a:r>
              <a:rPr lang="pt-BR" dirty="0" smtClean="0"/>
              <a:t>final;</a:t>
            </a:r>
          </a:p>
          <a:p>
            <a:endParaRPr lang="pt-BR" dirty="0"/>
          </a:p>
          <a:p>
            <a:r>
              <a:rPr lang="pt-BR" dirty="0" smtClean="0"/>
              <a:t>b</a:t>
            </a:r>
            <a:r>
              <a:rPr lang="pt-BR" dirty="0"/>
              <a:t>) na data do desembaraço aduaneiro, em relação a veículo automotor importado do exterior por consumidor final, diretamente ou por meio de </a:t>
            </a:r>
            <a:r>
              <a:rPr lang="pt-BR" dirty="0" smtClean="0"/>
              <a:t>terceiros;</a:t>
            </a:r>
          </a:p>
          <a:p>
            <a:endParaRPr lang="pt-BR" dirty="0"/>
          </a:p>
          <a:p>
            <a:r>
              <a:rPr lang="pt-BR" dirty="0" smtClean="0"/>
              <a:t>c</a:t>
            </a:r>
            <a:r>
              <a:rPr lang="pt-BR" dirty="0"/>
              <a:t>) na data do arremate em leilão de veículo automotor que se encontrava ao abrigo de não incidência do </a:t>
            </a:r>
            <a:r>
              <a:rPr lang="pt-BR" dirty="0" smtClean="0"/>
              <a:t>imposto;</a:t>
            </a:r>
            <a:endParaRPr lang="pt-BR" dirty="0"/>
          </a:p>
        </p:txBody>
      </p:sp>
      <p:sp>
        <p:nvSpPr>
          <p:cNvPr id="5" name="Seta para a direita 4"/>
          <p:cNvSpPr/>
          <p:nvPr/>
        </p:nvSpPr>
        <p:spPr>
          <a:xfrm>
            <a:off x="7812360" y="692696"/>
            <a:ext cx="648072" cy="43204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434" name="Picture 2" descr="Resultado de imagem para carr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5589240"/>
            <a:ext cx="2167598" cy="112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10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77500" lnSpcReduction="20000"/>
          </a:bodyPr>
          <a:lstStyle/>
          <a:p>
            <a:r>
              <a:rPr lang="pt-BR" dirty="0" smtClean="0"/>
              <a:t>d</a:t>
            </a:r>
            <a:r>
              <a:rPr lang="pt-BR" dirty="0"/>
              <a:t>) na data da incorporação de veículo automotor ao ativo permanente do fabricante, do revendedor ou do </a:t>
            </a:r>
            <a:r>
              <a:rPr lang="pt-BR" dirty="0" smtClean="0"/>
              <a:t>importador;</a:t>
            </a:r>
          </a:p>
          <a:p>
            <a:endParaRPr lang="pt-BR" dirty="0"/>
          </a:p>
          <a:p>
            <a:r>
              <a:rPr lang="pt-BR" dirty="0" smtClean="0"/>
              <a:t>e</a:t>
            </a:r>
            <a:r>
              <a:rPr lang="pt-BR" dirty="0"/>
              <a:t>) no 1º dia de cada ano, em relação aos veículos automotores adquiridos em anos </a:t>
            </a:r>
            <a:r>
              <a:rPr lang="pt-BR" dirty="0" smtClean="0"/>
              <a:t>anteriores;</a:t>
            </a:r>
          </a:p>
          <a:p>
            <a:endParaRPr lang="pt-BR" dirty="0"/>
          </a:p>
          <a:p>
            <a:r>
              <a:rPr lang="pt-BR" dirty="0" smtClean="0"/>
              <a:t>f</a:t>
            </a:r>
            <a:r>
              <a:rPr lang="pt-BR" dirty="0"/>
              <a:t>) na data da emissão, pela empresa montadora, da nota fiscal relativa à saída de veículo automotor, cuja montagem, em local diverso do estabelecimento fabricante dos chassis, haja sido encomendada por consumidor </a:t>
            </a:r>
            <a:r>
              <a:rPr lang="pt-BR" dirty="0" smtClean="0"/>
              <a:t>final;</a:t>
            </a:r>
          </a:p>
          <a:p>
            <a:endParaRPr lang="pt-BR" dirty="0"/>
          </a:p>
          <a:p>
            <a:r>
              <a:rPr lang="pt-BR" dirty="0" smtClean="0"/>
              <a:t>g</a:t>
            </a:r>
            <a:r>
              <a:rPr lang="pt-BR" dirty="0"/>
              <a:t>) na data do arremate em leilão de veículo automotor novo</a:t>
            </a: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17410" name="Picture 2" descr="Resultado de imagem para car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5619782"/>
            <a:ext cx="1964908" cy="107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324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Contribuinte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contribuinte do IPVA é a pessoa natural ou jurídica que detenha a propriedade de veículo automotor. </a:t>
            </a:r>
          </a:p>
        </p:txBody>
      </p:sp>
      <p:pic>
        <p:nvPicPr>
          <p:cNvPr id="11266" name="Picture 2" descr="Resultado de imagem para car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501008"/>
            <a:ext cx="4392488" cy="2465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8608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Responsável Solidário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t-BR" dirty="0" smtClean="0"/>
              <a:t>a.1) o despachante que tenha promovido o despacho de registro e o licenciamento do veículo automotor sem o pagamento do IPVA;</a:t>
            </a:r>
          </a:p>
          <a:p>
            <a:pPr>
              <a:buFont typeface="Wingdings" panose="05000000000000000000" pitchFamily="2" charset="2"/>
              <a:buChar char="q"/>
            </a:pPr>
            <a:endParaRPr lang="pt-BR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 smtClean="0"/>
              <a:t>a.2) o leiloeiro, o síndico, o comissário, o liquidante e o inventariante;</a:t>
            </a:r>
          </a:p>
          <a:p>
            <a:pPr>
              <a:buFont typeface="Wingdings" panose="05000000000000000000" pitchFamily="2" charset="2"/>
              <a:buChar char="q"/>
            </a:pPr>
            <a:endParaRPr lang="pt-BR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 smtClean="0"/>
              <a:t>a.3) o adquirente de veículo automotor com alienação fiduciária ou com reserva de domínio;</a:t>
            </a:r>
          </a:p>
          <a:p>
            <a:pPr>
              <a:buFont typeface="Wingdings" panose="05000000000000000000" pitchFamily="2" charset="2"/>
              <a:buChar char="q"/>
            </a:pPr>
            <a:endParaRPr lang="pt-BR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 smtClean="0"/>
              <a:t>a.4) o adquirente, em relação ao veículo adquirido sem o pagamento do imposto do exercício(s) anterior(es);</a:t>
            </a:r>
            <a:endParaRPr lang="pt-BR" dirty="0"/>
          </a:p>
        </p:txBody>
      </p:sp>
      <p:sp>
        <p:nvSpPr>
          <p:cNvPr id="5" name="Seta para a direita 4"/>
          <p:cNvSpPr/>
          <p:nvPr/>
        </p:nvSpPr>
        <p:spPr>
          <a:xfrm>
            <a:off x="7812360" y="692696"/>
            <a:ext cx="648072" cy="43204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74" name="Picture 2" descr="Resultado de imagem para carr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1728192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837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Responsável Solidário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t-BR" dirty="0" smtClean="0"/>
              <a:t>a.5) qualquer pessoa que detiver a posse do veículo automotor, independentemente do local de domicílio do proprietário;</a:t>
            </a:r>
          </a:p>
          <a:p>
            <a:pPr>
              <a:buFont typeface="Wingdings" panose="05000000000000000000" pitchFamily="2" charset="2"/>
              <a:buChar char="q"/>
            </a:pPr>
            <a:endParaRPr lang="pt-BR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 smtClean="0"/>
              <a:t>a.6) qualquer pessoa que tenha, em seu próprio nome, requerido o parcelamento de débito de IPVA;</a:t>
            </a:r>
          </a:p>
          <a:p>
            <a:pPr>
              <a:buFont typeface="Wingdings" panose="05000000000000000000" pitchFamily="2" charset="2"/>
              <a:buChar char="q"/>
            </a:pPr>
            <a:endParaRPr lang="pt-BR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 smtClean="0"/>
              <a:t>a.7) os curadores, em relação ao imposto que deixar de ser pago, em razão da isenção;</a:t>
            </a:r>
          </a:p>
          <a:p>
            <a:pPr>
              <a:buFont typeface="Wingdings" panose="05000000000000000000" pitchFamily="2" charset="2"/>
              <a:buChar char="q"/>
            </a:pPr>
            <a:endParaRPr lang="pt-BR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 smtClean="0"/>
              <a:t>a.8) o proprietário de veículo automotor que o alienar e não comunicar a venda ao DETRAN/PR no prazo de 30 dias contados do evento, em relação aos fatos geradores ocorridos entre o momento da alienação e o conhecimento dessa pela autoridade responsável.</a:t>
            </a:r>
            <a:endParaRPr lang="pt-BR" dirty="0"/>
          </a:p>
        </p:txBody>
      </p:sp>
      <p:pic>
        <p:nvPicPr>
          <p:cNvPr id="5124" name="Picture 4" descr="Resultado de imagem para car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116632"/>
            <a:ext cx="161925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153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Base de Cálculo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A base de cálculo do IPVA é o valor venal do veículo </a:t>
            </a:r>
            <a:r>
              <a:rPr lang="pt-BR" sz="2800" dirty="0" smtClean="0"/>
              <a:t>automotor.</a:t>
            </a:r>
          </a:p>
          <a:p>
            <a:endParaRPr lang="pt-BR" sz="2800" dirty="0"/>
          </a:p>
          <a:p>
            <a:r>
              <a:rPr lang="pt-BR" sz="2800" dirty="0" smtClean="0"/>
              <a:t>A </a:t>
            </a:r>
            <a:r>
              <a:rPr lang="pt-BR" sz="2800" dirty="0"/>
              <a:t>Secretaria da Fazenda divulga tabelas indicando os valores venais, por ano e modelo de veículo</a:t>
            </a:r>
            <a:r>
              <a:rPr lang="pt-BR" sz="2800" dirty="0" smtClean="0"/>
              <a:t>.</a:t>
            </a:r>
          </a:p>
          <a:p>
            <a:endParaRPr lang="pt-BR" sz="2800" dirty="0"/>
          </a:p>
          <a:p>
            <a:r>
              <a:rPr lang="pt-BR" sz="2800" dirty="0"/>
              <a:t>É irrelevante para a determinação da base de cálculo o estado de conservação do veículo individualmente considerado.</a:t>
            </a:r>
          </a:p>
        </p:txBody>
      </p:sp>
      <p:pic>
        <p:nvPicPr>
          <p:cNvPr id="16386" name="Picture 2" descr="Resultado de imagem para carr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04664"/>
            <a:ext cx="2304256" cy="97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272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Perda Total do Veículo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No caso de comprovação de perda total do veículo automotor, por sinistro, roubo, furto, extorsão, estelionato ou apropriação indébita, será devido o imposto na razão de 1/12 por mês ou fração, contados até a data da ocorrência do fato</a:t>
            </a:r>
            <a:r>
              <a:rPr lang="pt-BR" sz="2800" dirty="0" smtClean="0"/>
              <a:t>.</a:t>
            </a:r>
            <a:endParaRPr lang="pt-BR" sz="2800" dirty="0"/>
          </a:p>
        </p:txBody>
      </p:sp>
      <p:pic>
        <p:nvPicPr>
          <p:cNvPr id="12290" name="Picture 2" descr="Resultado de imagem para car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861048"/>
            <a:ext cx="3816424" cy="286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185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Recuperação do Veículo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No caso da recuperação de veículos automotores objeto de furto, roubo, extorsão, estelionato ou apropriação indébita, o imposto, referente ao exercício em que tal recuperação ocorrer, deverá ser pago em cota única, no prazo de 30 dias, contados da data de expedição do Auto de Entrega por órgão </a:t>
            </a:r>
            <a:r>
              <a:rPr lang="pt-BR" sz="2800" dirty="0" smtClean="0"/>
              <a:t>competente.</a:t>
            </a:r>
            <a:endParaRPr lang="pt-BR" sz="2800" dirty="0"/>
          </a:p>
        </p:txBody>
      </p:sp>
      <p:pic>
        <p:nvPicPr>
          <p:cNvPr id="13314" name="Picture 2" descr="Resultado de imagem para carr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293096"/>
            <a:ext cx="4104456" cy="2148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208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Alíquotas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1% ou 3,5%, de acordo com a categoria do </a:t>
            </a:r>
            <a:r>
              <a:rPr lang="pt-BR" dirty="0" smtClean="0"/>
              <a:t>veículo.</a:t>
            </a:r>
            <a:endParaRPr lang="pt-BR" dirty="0"/>
          </a:p>
        </p:txBody>
      </p:sp>
      <p:pic>
        <p:nvPicPr>
          <p:cNvPr id="14338" name="Picture 2" descr="Resultado de imagem para car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780928"/>
            <a:ext cx="5760640" cy="320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477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Não Incidência do Imposto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O IPVA não incide sobre veículo automotor de propriedade:</a:t>
            </a:r>
          </a:p>
          <a:p>
            <a:pPr marL="0" indent="0">
              <a:buNone/>
            </a:pPr>
            <a:endParaRPr lang="pt-B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 smtClean="0"/>
              <a:t>a) da União, dos Estados, do Distrito Federal e dos Municípios;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 smtClean="0"/>
              <a:t>b) das entidades a seguir relacionadas, desde que o veículo esteja vinculado as suas finalidades essenciais ou as delas decorrentes: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	b.1) de autarquia ou fundação instituída e mantida pelo Poder 		Público;</a:t>
            </a:r>
          </a:p>
          <a:p>
            <a:pPr marL="0" indent="0">
              <a:buNone/>
            </a:pPr>
            <a:r>
              <a:rPr lang="pt-BR" dirty="0" smtClean="0"/>
              <a:t>	b.2) de instituição de educação e de assistência social;</a:t>
            </a:r>
          </a:p>
          <a:p>
            <a:pPr marL="0" indent="0">
              <a:buNone/>
            </a:pPr>
            <a:r>
              <a:rPr lang="pt-BR" dirty="0" smtClean="0"/>
              <a:t>	b.3) de partido político, inclusive suas fundações;</a:t>
            </a:r>
          </a:p>
          <a:p>
            <a:pPr marL="0" indent="0">
              <a:buNone/>
            </a:pPr>
            <a:r>
              <a:rPr lang="pt-BR" dirty="0" smtClean="0"/>
              <a:t>	b.4) de entidade sindical de trabalhador;</a:t>
            </a:r>
          </a:p>
          <a:p>
            <a:pPr marL="0" indent="0">
              <a:buNone/>
            </a:pPr>
            <a:r>
              <a:rPr lang="pt-BR" dirty="0" smtClean="0"/>
              <a:t>	b.5) templos de qualquer culto.</a:t>
            </a:r>
            <a:endParaRPr lang="pt-BR" dirty="0"/>
          </a:p>
        </p:txBody>
      </p:sp>
      <p:sp>
        <p:nvSpPr>
          <p:cNvPr id="4" name="Chave esquerda 3"/>
          <p:cNvSpPr/>
          <p:nvPr/>
        </p:nvSpPr>
        <p:spPr>
          <a:xfrm>
            <a:off x="827584" y="3789040"/>
            <a:ext cx="432048" cy="1944216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362" name="Picture 2" descr="Imagem relacionad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5340889"/>
            <a:ext cx="2520280" cy="148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250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Isenção do Imposto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A legislação define que são isentos do pagamento do IPVA os veículos automotores:</a:t>
            </a:r>
          </a:p>
          <a:p>
            <a:pPr marL="0" indent="0">
              <a:buNone/>
            </a:pPr>
            <a:endParaRPr lang="pt-BR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pt-BR" dirty="0" smtClean="0"/>
              <a:t>a) terrestres cuja legislação específica proíba o tráfego em vias públicas, em razão do tipo;</a:t>
            </a:r>
          </a:p>
          <a:p>
            <a:pPr>
              <a:buFont typeface="Wingdings" panose="05000000000000000000" pitchFamily="2" charset="2"/>
              <a:buChar char="ü"/>
            </a:pPr>
            <a:endParaRPr lang="pt-BR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pt-BR" dirty="0" smtClean="0"/>
              <a:t>b) de propriedade de Missões Diplomáticas, Repartições Consulares e Representações de Organismos Internacionais, de caráter permanente, e de propriedade dos respectivos funcionários estrangeiros indicados pelo Ministério de Relações Exteriores;</a:t>
            </a:r>
          </a:p>
        </p:txBody>
      </p:sp>
      <p:sp>
        <p:nvSpPr>
          <p:cNvPr id="8" name="Seta para a direita 7"/>
          <p:cNvSpPr/>
          <p:nvPr/>
        </p:nvSpPr>
        <p:spPr>
          <a:xfrm>
            <a:off x="7812360" y="692696"/>
            <a:ext cx="648072" cy="43204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99" name="Picture 3" descr="Resultado de imagem para carr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56" y="12906"/>
            <a:ext cx="2552635" cy="148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933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Isenção do Imposto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t-BR" sz="2000" dirty="0" smtClean="0"/>
              <a:t>c) utilizados no transporte público de passageiros na categoria aluguel (táxi), de propriedade de motorista profissional, pessoa física, ou cuja posse seja decorrente de contrato de arrendamento mercantil, e por ele utilizado em sua atividade profissional;</a:t>
            </a:r>
          </a:p>
          <a:p>
            <a:pPr>
              <a:buFont typeface="Wingdings" panose="05000000000000000000" pitchFamily="2" charset="2"/>
              <a:buChar char="ü"/>
            </a:pPr>
            <a:endParaRPr lang="pt-BR" sz="20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pt-BR" sz="2000" dirty="0" smtClean="0"/>
              <a:t>d) tipo ônibus, exclusivamente empregados em linha de transporte urbano, suburbano ou metropolitano de pessoas, cedida por concessão ou permissão pública;</a:t>
            </a:r>
          </a:p>
          <a:p>
            <a:pPr>
              <a:buFont typeface="Wingdings" panose="05000000000000000000" pitchFamily="2" charset="2"/>
              <a:buChar char="ü"/>
            </a:pPr>
            <a:endParaRPr lang="pt-BR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sz="2000" dirty="0" smtClean="0"/>
              <a:t>e) de propriedade, ou cuja posse seja decorrente de contrato de arrendamento mercantil, de pessoas portadoras de deficiência física, visual, mental severa ou profunda, de síndrome de </a:t>
            </a:r>
            <a:r>
              <a:rPr lang="pt-BR" sz="2000" i="1" dirty="0" err="1" smtClean="0"/>
              <a:t>down</a:t>
            </a:r>
            <a:r>
              <a:rPr lang="pt-BR" sz="2000" dirty="0" smtClean="0"/>
              <a:t>, ou autistas, equipados com motores de potência não superior a 155 CV, limitado a </a:t>
            </a:r>
            <a:r>
              <a:rPr lang="pt-BR" sz="2000" dirty="0" smtClean="0"/>
              <a:t>1 </a:t>
            </a:r>
            <a:r>
              <a:rPr lang="pt-BR" sz="2000" dirty="0" smtClean="0"/>
              <a:t>veículo por beneficiário;</a:t>
            </a:r>
          </a:p>
        </p:txBody>
      </p:sp>
      <p:sp>
        <p:nvSpPr>
          <p:cNvPr id="8" name="Seta para a direita 7"/>
          <p:cNvSpPr/>
          <p:nvPr/>
        </p:nvSpPr>
        <p:spPr>
          <a:xfrm>
            <a:off x="7812360" y="692696"/>
            <a:ext cx="648072" cy="43204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194" name="Picture 2" descr="Resultado de imagem para carr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24644"/>
            <a:ext cx="2141920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686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Isenção do Imposto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t-BR" sz="2200" dirty="0" smtClean="0"/>
              <a:t>f) destinados, exclusivamente, ao transporte escolar, cuja propriedade ou posse decorrente de contrato de arrendamento mercantil seja de pessoa física ou prefeitura municipal;</a:t>
            </a:r>
          </a:p>
          <a:p>
            <a:pPr marL="0" indent="0">
              <a:buNone/>
            </a:pPr>
            <a:endParaRPr lang="pt-BR" sz="22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pt-BR" sz="2200" dirty="0" smtClean="0"/>
              <a:t>g) tipo embarcação, de propriedade de pescador profissional, pessoa física, e por ele utilizada na atividade pesqueira;</a:t>
            </a:r>
          </a:p>
          <a:p>
            <a:pPr>
              <a:buFont typeface="Wingdings" panose="05000000000000000000" pitchFamily="2" charset="2"/>
              <a:buChar char="ü"/>
            </a:pPr>
            <a:endParaRPr lang="pt-BR" sz="2200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sz="2200" dirty="0" smtClean="0"/>
              <a:t>h) apreendidos pelo Detran/PR, que venham a ser leiloados pelo próprio órgão;</a:t>
            </a:r>
          </a:p>
          <a:p>
            <a:pPr marL="0" indent="0">
              <a:buNone/>
            </a:pPr>
            <a:endParaRPr lang="pt-BR" sz="22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pt-BR" sz="2200" dirty="0" smtClean="0"/>
              <a:t>i) com mais de 20 anos de fabricação;</a:t>
            </a:r>
          </a:p>
        </p:txBody>
      </p:sp>
      <p:sp>
        <p:nvSpPr>
          <p:cNvPr id="8" name="Seta para a direita 7"/>
          <p:cNvSpPr/>
          <p:nvPr/>
        </p:nvSpPr>
        <p:spPr>
          <a:xfrm>
            <a:off x="7812360" y="692696"/>
            <a:ext cx="648072" cy="43204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170" name="Picture 2" descr="Resultado de imagem para car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797152"/>
            <a:ext cx="2520280" cy="1417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872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Isenção do Imposto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t-BR" sz="2200" dirty="0" smtClean="0"/>
              <a:t>j) classificados quanto à espécie como motocicletas cujos motores não excedam a 125 cilindradas e que possuam mais de 10 anos de fabricação;</a:t>
            </a:r>
          </a:p>
          <a:p>
            <a:pPr marL="0" indent="0">
              <a:buNone/>
            </a:pPr>
            <a:endParaRPr lang="pt-BR" sz="22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pt-BR" sz="2200" dirty="0" smtClean="0"/>
              <a:t>k) colheitadeiras e tratores destinados a puxar ou arrastar maquinaria de qualquer natureza ou a executar trabalhos agrícolas ou de construção, de pavimentação ou guindastes registrados no Sistema do Registro Nacional de Veículos Automotores - RENAVAM, facultados a transitar em via pública.</a:t>
            </a:r>
          </a:p>
        </p:txBody>
      </p:sp>
      <p:pic>
        <p:nvPicPr>
          <p:cNvPr id="6146" name="Picture 2" descr="Imagem relacionad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653136"/>
            <a:ext cx="2664296" cy="199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97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STF isenta barcos e aviões de pagar IPVA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4978896" cy="4525963"/>
          </a:xfrm>
        </p:spPr>
        <p:txBody>
          <a:bodyPr>
            <a:noAutofit/>
          </a:bodyPr>
          <a:lstStyle/>
          <a:p>
            <a:r>
              <a:rPr lang="pt-BR" sz="2000" dirty="0"/>
              <a:t>Embarcações e aeronaves não devem pagar o </a:t>
            </a:r>
            <a:r>
              <a:rPr lang="pt-BR" sz="2000" dirty="0" smtClean="0"/>
              <a:t>IPVA. </a:t>
            </a:r>
            <a:r>
              <a:rPr lang="pt-BR" sz="2000" dirty="0"/>
              <a:t>Esta foi a decisão do Plenário do Supremo Tribunal Federal (STF) ao dar provimento, por maioria, ao Recurso Extraordinário (RE) 379572 </a:t>
            </a:r>
            <a:r>
              <a:rPr lang="pt-BR" sz="2000" dirty="0" smtClean="0"/>
              <a:t>.</a:t>
            </a:r>
          </a:p>
          <a:p>
            <a:r>
              <a:rPr lang="pt-BR" sz="2000" dirty="0" smtClean="0"/>
              <a:t>O </a:t>
            </a:r>
            <a:r>
              <a:rPr lang="pt-BR" sz="2000" dirty="0"/>
              <a:t>recurso foi interposto contra </a:t>
            </a:r>
            <a:r>
              <a:rPr lang="pt-BR" sz="2000" dirty="0" smtClean="0"/>
              <a:t>decisão </a:t>
            </a:r>
            <a:r>
              <a:rPr lang="pt-BR" sz="2000" dirty="0"/>
              <a:t>do Tribunal de Justiça do Rio de Janeiro (TJ-RJ), que havia julgado válidos o </a:t>
            </a:r>
            <a:r>
              <a:rPr lang="pt-BR" sz="2000" b="1" dirty="0"/>
              <a:t>artigo 5º , II , da Lei estadual 948 /85 </a:t>
            </a:r>
            <a:r>
              <a:rPr lang="pt-BR" sz="2000" dirty="0"/>
              <a:t>e o </a:t>
            </a:r>
            <a:r>
              <a:rPr lang="pt-BR" sz="2000" b="1" dirty="0"/>
              <a:t>artigo 1º , parágrafo único do Decreto 9.146 /</a:t>
            </a:r>
            <a:r>
              <a:rPr lang="pt-BR" sz="2000" b="1" dirty="0" smtClean="0"/>
              <a:t>86</a:t>
            </a:r>
            <a:r>
              <a:rPr lang="pt-BR" sz="2000" dirty="0" smtClean="0"/>
              <a:t>. </a:t>
            </a:r>
            <a:r>
              <a:rPr lang="pt-BR" sz="2000" dirty="0"/>
              <a:t>Estes dispositivos faziam incidir o IPVA sobre proprietários de veículos automotores, incluindo embarcações e aviões</a:t>
            </a:r>
            <a:r>
              <a:rPr lang="pt-BR" sz="2000" dirty="0" smtClean="0"/>
              <a:t>.</a:t>
            </a:r>
            <a:endParaRPr lang="pt-BR" sz="2000" dirty="0"/>
          </a:p>
        </p:txBody>
      </p:sp>
      <p:sp>
        <p:nvSpPr>
          <p:cNvPr id="5" name="Seta para a direita 4"/>
          <p:cNvSpPr/>
          <p:nvPr/>
        </p:nvSpPr>
        <p:spPr>
          <a:xfrm>
            <a:off x="7884368" y="980728"/>
            <a:ext cx="648072" cy="43204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Resultado de imagem para barc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541" y="2780928"/>
            <a:ext cx="2901923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446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STF isenta barcos e aviões de pagar IPVA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200" dirty="0"/>
              <a:t>O ministro Joaquim Barbosa </a:t>
            </a:r>
            <a:r>
              <a:rPr lang="pt-BR" sz="2200" dirty="0" smtClean="0"/>
              <a:t>na época abriu </a:t>
            </a:r>
            <a:r>
              <a:rPr lang="pt-BR" sz="2200" dirty="0"/>
              <a:t>divergência por entender que a expressão veículos automotores seria suficiente para abranger embarcações, ou seja, veículos de transporte aquático</a:t>
            </a:r>
            <a:r>
              <a:rPr lang="pt-BR" sz="2200" dirty="0" smtClean="0"/>
              <a:t>.</a:t>
            </a:r>
            <a:endParaRPr lang="pt-BR" sz="2200" dirty="0"/>
          </a:p>
          <a:p>
            <a:endParaRPr lang="pt-BR" sz="2200" dirty="0" smtClean="0"/>
          </a:p>
          <a:p>
            <a:r>
              <a:rPr lang="pt-BR" sz="2200" dirty="0" smtClean="0"/>
              <a:t>A </a:t>
            </a:r>
            <a:r>
              <a:rPr lang="pt-BR" sz="2200" dirty="0"/>
              <a:t>cobrança de IPVA para aeronaves e embarcações foi barrada pelo STF (Supremo Tribunal Federal) em 2007, quando a Corte decidiu contra a incidência do imposto nos Estados de Amazonas, São Paulo e Rio de Janeiro. Para reverter a decisão, Damasceno observa que deveria ser aprovada uma PEC (Proposta de Emenda à Constituição).</a:t>
            </a:r>
          </a:p>
        </p:txBody>
      </p:sp>
      <p:pic>
        <p:nvPicPr>
          <p:cNvPr id="2050" name="Picture 2" descr="Resultado de imagem para aerona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5252476"/>
            <a:ext cx="2813470" cy="158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9395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1196</Words>
  <Application>Microsoft Office PowerPoint</Application>
  <PresentationFormat>Apresentação na tela (4:3)</PresentationFormat>
  <Paragraphs>94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1" baseType="lpstr">
      <vt:lpstr>Tema do Office</vt:lpstr>
      <vt:lpstr>IMPOSTOS ESTADUAIS – Parte 1</vt:lpstr>
      <vt:lpstr>IPVA</vt:lpstr>
      <vt:lpstr>Embasamento Legal</vt:lpstr>
      <vt:lpstr>Fato Gerador</vt:lpstr>
      <vt:lpstr>Apresentação do PowerPoint</vt:lpstr>
      <vt:lpstr>Apresentação do PowerPoint</vt:lpstr>
      <vt:lpstr>Contribuinte</vt:lpstr>
      <vt:lpstr>Responsável Solidário</vt:lpstr>
      <vt:lpstr>Responsável Solidário</vt:lpstr>
      <vt:lpstr>Base de Cálculo</vt:lpstr>
      <vt:lpstr>Perda Total do Veículo</vt:lpstr>
      <vt:lpstr>Recuperação do Veículo</vt:lpstr>
      <vt:lpstr>Alíquotas</vt:lpstr>
      <vt:lpstr>Não Incidência do Imposto</vt:lpstr>
      <vt:lpstr>Isenção do Imposto</vt:lpstr>
      <vt:lpstr>Isenção do Imposto</vt:lpstr>
      <vt:lpstr>Isenção do Imposto</vt:lpstr>
      <vt:lpstr>Isenção do Imposto</vt:lpstr>
      <vt:lpstr>STF isenta barcos e aviões de pagar IPVA</vt:lpstr>
      <vt:lpstr>STF isenta barcos e aviões de pagar IPVA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Lúcia</dc:creator>
  <cp:lastModifiedBy>Lúcia</cp:lastModifiedBy>
  <cp:revision>47</cp:revision>
  <dcterms:created xsi:type="dcterms:W3CDTF">2018-10-18T01:18:32Z</dcterms:created>
  <dcterms:modified xsi:type="dcterms:W3CDTF">2018-10-19T04:24:23Z</dcterms:modified>
</cp:coreProperties>
</file>