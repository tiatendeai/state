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522" y="-1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DB0DC-28F4-4D10-AB69-61B5FF8EB267}" type="datetimeFigureOut">
              <a:rPr lang="pt-BR" smtClean="0"/>
              <a:t>22/11/2018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F2EE5-B7B3-4D7A-AEDA-BDB9BC26F6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634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79BE-C464-4F84-BFB6-1155AE8ECDC6}" type="datetime1">
              <a:rPr lang="pt-BR" smtClean="0"/>
              <a:t>22/11/2018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3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A928-E0A6-42AB-9E19-919F56ACE254}" type="datetime1">
              <a:rPr lang="pt-BR" smtClean="0"/>
              <a:t>22/11/2018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5813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2BBBB-5D8F-45DB-BFBA-137C261B606E}" type="datetime1">
              <a:rPr lang="pt-BR" smtClean="0"/>
              <a:t>22/11/2018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2676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72CAB-9B21-497A-9C1C-B66EE9910EE5}" type="datetime1">
              <a:rPr lang="pt-BR" smtClean="0"/>
              <a:t>22/11/2018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648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E111B-90CD-4C6F-AAA4-5E3450CA3977}" type="datetime1">
              <a:rPr lang="pt-BR" smtClean="0"/>
              <a:t>22/11/2018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7615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D5FF-CB0C-4020-9C36-517EEF3112BA}" type="datetime1">
              <a:rPr lang="pt-BR" smtClean="0"/>
              <a:t>22/11/2018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3209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08D8-3830-4351-A3E1-8234A88101DD}" type="datetime1">
              <a:rPr lang="pt-BR" smtClean="0"/>
              <a:t>22/11/2018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559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91C7A-7D7A-471C-B78B-BB4509075D0F}" type="datetime1">
              <a:rPr lang="pt-BR" smtClean="0"/>
              <a:t>22/11/2018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82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2F546-165E-4292-8A1F-B92905DAC53C}" type="datetime1">
              <a:rPr lang="pt-BR" smtClean="0"/>
              <a:t>22/11/2018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076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1D51-4F91-44CF-8F24-82975F940348}" type="datetime1">
              <a:rPr lang="pt-BR" smtClean="0"/>
              <a:t>22/11/2018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303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0CEE5-1395-46A2-AC1E-DE3279351793}" type="datetime1">
              <a:rPr lang="pt-BR" smtClean="0"/>
              <a:t>22/11/2018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72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79C6B-7B8A-4247-852A-DFEF0DD773D2}" type="datetime1">
              <a:rPr lang="pt-BR" smtClean="0"/>
              <a:t>22/11/2018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20C6F-523E-41A6-83D0-FB4C016969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5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404664"/>
            <a:ext cx="7772400" cy="1470025"/>
          </a:xfrm>
        </p:spPr>
        <p:txBody>
          <a:bodyPr/>
          <a:lstStyle/>
          <a:p>
            <a:r>
              <a:rPr lang="pt-BR" b="1" dirty="0" smtClean="0"/>
              <a:t>IMPOSTOS FEDERAIS </a:t>
            </a:r>
            <a:r>
              <a:rPr lang="pt-BR" b="1" dirty="0" smtClean="0"/>
              <a:t>II</a:t>
            </a:r>
            <a:endParaRPr lang="pt-BR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067944" y="5805264"/>
            <a:ext cx="4960640" cy="769640"/>
          </a:xfrm>
        </p:spPr>
        <p:txBody>
          <a:bodyPr/>
          <a:lstStyle/>
          <a:p>
            <a:r>
              <a:rPr lang="pt-BR" b="1" dirty="0" smtClean="0">
                <a:solidFill>
                  <a:schemeClr val="tx1"/>
                </a:solidFill>
              </a:rPr>
              <a:t>Prof. Lúcia Young</a:t>
            </a:r>
            <a:endParaRPr lang="pt-BR" b="1" dirty="0">
              <a:solidFill>
                <a:schemeClr val="tx1"/>
              </a:solidFill>
            </a:endParaRPr>
          </a:p>
        </p:txBody>
      </p:sp>
      <p:pic>
        <p:nvPicPr>
          <p:cNvPr id="2050" name="Picture 2" descr="Imagem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" y="1633538"/>
            <a:ext cx="4777502" cy="265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m para imposto de importaÃ§Ã£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72816"/>
            <a:ext cx="3528392" cy="2644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sultado de imagem para IT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085184"/>
            <a:ext cx="3456384" cy="166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0088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Imposto de Exportação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Segundo a Constituição Federal (art. 153, II), o Imposto de Exportação é de competência exclusiva da União.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Tem como fato gerador a saída de produto nacional ou nacionalizado do território nacional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/>
              <a:t>O imposto de exportação não se sujeita ao princípio da anterioridade, podendo ser alterado no mesmo exercício financeiro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4" name="Seta para a direita 3"/>
          <p:cNvSpPr/>
          <p:nvPr/>
        </p:nvSpPr>
        <p:spPr>
          <a:xfrm>
            <a:off x="8316416" y="548680"/>
            <a:ext cx="720080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0472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Imposto de Exportação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A alíquota do imposto é de 30%, facultado ao Poder Executivo reduzi-la ou aumentá-la, para atender aos objetivos da política cambial e do comércio exterior.</a:t>
            </a:r>
          </a:p>
          <a:p>
            <a:pPr marL="0" indent="0">
              <a:buNone/>
            </a:pPr>
            <a:r>
              <a:rPr lang="pt-BR" dirty="0"/>
              <a:t> </a:t>
            </a:r>
          </a:p>
          <a:p>
            <a:r>
              <a:rPr lang="pt-BR" dirty="0"/>
              <a:t>Em caso de elevação, a alíquota do imposto não poderá ser superior a 150</a:t>
            </a:r>
            <a:r>
              <a:rPr lang="pt-BR" dirty="0" smtClean="0"/>
              <a:t>%.</a:t>
            </a:r>
          </a:p>
          <a:p>
            <a:endParaRPr lang="pt-BR" dirty="0"/>
          </a:p>
          <a:p>
            <a:r>
              <a:rPr lang="pt-BR" dirty="0"/>
              <a:t>Contribuinte do imposto é o exportador ou quem a lei a ele equiparar, considerada qualquer pessoa que promova a saída de produtos do território nacional, podendo também a lei equipar terceiro ao exportador</a:t>
            </a:r>
            <a:r>
              <a:rPr lang="pt-BR" dirty="0" smtClean="0"/>
              <a:t>.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 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078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Imposto de Importação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O Imposto de importação consiste na prestação pecuniária, cobrada pelo Estado brasileiro, quando da entrada de mercadorias estrangeiras destinadas ao comércio nacional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/>
              <a:t>A</a:t>
            </a:r>
            <a:r>
              <a:rPr lang="pt-BR" dirty="0" smtClean="0"/>
              <a:t> </a:t>
            </a:r>
            <a:r>
              <a:rPr lang="pt-BR" dirty="0"/>
              <a:t>formalização do imposto em estudo se dá quando do desembaraço aduaneiro. É considerado o câmbio do dia do registro da declaração realizada, para a conversão do valor do produto, na repartição fiscal aduaneira.</a:t>
            </a:r>
          </a:p>
        </p:txBody>
      </p:sp>
      <p:sp>
        <p:nvSpPr>
          <p:cNvPr id="4" name="Seta para a direita 3"/>
          <p:cNvSpPr/>
          <p:nvPr/>
        </p:nvSpPr>
        <p:spPr>
          <a:xfrm>
            <a:off x="7956376" y="620688"/>
            <a:ext cx="432048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670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Imposto de Importação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das principais características do Imposto de Importação é que somente a União tem competência para instituí-lo e cobrá-lo, portanto é um imposto federal. Tal assertiva encontra guarida no art. 153 da Constituição Federal, que trata dos impostos da União.</a:t>
            </a:r>
          </a:p>
        </p:txBody>
      </p:sp>
      <p:sp>
        <p:nvSpPr>
          <p:cNvPr id="4" name="Seta para a direita 3"/>
          <p:cNvSpPr/>
          <p:nvPr/>
        </p:nvSpPr>
        <p:spPr>
          <a:xfrm>
            <a:off x="7956376" y="620688"/>
            <a:ext cx="432048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993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Imposto de Importação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O</a:t>
            </a:r>
            <a:r>
              <a:rPr lang="pt-BR" dirty="0" smtClean="0"/>
              <a:t> </a:t>
            </a:r>
            <a:r>
              <a:rPr lang="pt-BR" dirty="0"/>
              <a:t>imposto </a:t>
            </a:r>
            <a:r>
              <a:rPr lang="pt-BR" dirty="0" smtClean="0"/>
              <a:t>de importação é considerado</a:t>
            </a:r>
            <a:r>
              <a:rPr lang="pt-BR" dirty="0"/>
              <a:t> </a:t>
            </a:r>
            <a:r>
              <a:rPr lang="pt-BR" b="1" dirty="0"/>
              <a:t>extrafiscal</a:t>
            </a:r>
            <a:r>
              <a:rPr lang="pt-BR" dirty="0"/>
              <a:t> em sua função, pois ele é regulado não por motivos de arrecadação, mas por razões de política econômica, consistindo em importante instrumento para esta regulação, e por isso mesmo sua alíquota pode ser alterada por decreto presidencial, não incidindo o princípio da </a:t>
            </a:r>
            <a:r>
              <a:rPr lang="pt-BR" dirty="0" smtClean="0"/>
              <a:t>anterioridade.</a:t>
            </a:r>
          </a:p>
          <a:p>
            <a:endParaRPr lang="pt-BR" dirty="0"/>
          </a:p>
          <a:p>
            <a:r>
              <a:rPr lang="pt-BR" dirty="0"/>
              <a:t>Um dos principais motivos da </a:t>
            </a:r>
            <a:r>
              <a:rPr lang="pt-BR" dirty="0" smtClean="0"/>
              <a:t>extra fiscalidade </a:t>
            </a:r>
            <a:r>
              <a:rPr lang="pt-BR" dirty="0"/>
              <a:t>do imposto de importação é proteger os produtos nacionais da concorrência dos produtos estrangeiros.</a:t>
            </a:r>
          </a:p>
        </p:txBody>
      </p:sp>
      <p:sp>
        <p:nvSpPr>
          <p:cNvPr id="4" name="Seta para a direita 3"/>
          <p:cNvSpPr/>
          <p:nvPr/>
        </p:nvSpPr>
        <p:spPr>
          <a:xfrm>
            <a:off x="7956376" y="620688"/>
            <a:ext cx="432048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224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</a:rPr>
              <a:t>Imposto de Importação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contribuinte, ou seja, a pessoa que deve pagar o imposto de importação, é o importador, ou o equiparado por lei (Código Tributário Nacional, art. 22, “I”). </a:t>
            </a:r>
            <a:endParaRPr lang="pt-BR" dirty="0" smtClean="0"/>
          </a:p>
          <a:p>
            <a:endParaRPr lang="pt-BR" dirty="0"/>
          </a:p>
          <a:p>
            <a:r>
              <a:rPr lang="pt-BR" dirty="0" smtClean="0"/>
              <a:t>No </a:t>
            </a:r>
            <a:r>
              <a:rPr lang="pt-BR" dirty="0"/>
              <a:t>caso de mercadorias apreendidas ou abandonadas, o contribuinte é o arrematante (Código Tributário Nacional, art. 22, “II”).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2844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solidFill>
                  <a:srgbClr val="C00000"/>
                </a:solidFill>
              </a:rPr>
              <a:t>Imposto Sobre a Propriedade Territorial Rural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O ITR é previsto constitucionalmente, através do inciso VI do artigo 153 da Constituição Federal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O Imposto sobre a Propriedade Territorial Rural - ITR, de apuração anual, tem como fato gerador a propriedade, o domínio útil ou a posse de imóvel por natureza, localizado fora da zona urbana do município, em 1º de janeiro de cada ano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4" name="Seta para a direita 3"/>
          <p:cNvSpPr/>
          <p:nvPr/>
        </p:nvSpPr>
        <p:spPr>
          <a:xfrm>
            <a:off x="8172400" y="476672"/>
            <a:ext cx="50405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0364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solidFill>
                  <a:srgbClr val="C00000"/>
                </a:solidFill>
              </a:rPr>
              <a:t>Imposto Sobre a Propriedade Territorial Rural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Considera-se imóvel rural a área contínua, formada de uma ou mais parcelas de terras, localizada na zona rural do município.</a:t>
            </a:r>
          </a:p>
          <a:p>
            <a:endParaRPr lang="pt-BR" dirty="0"/>
          </a:p>
          <a:p>
            <a:r>
              <a:rPr lang="pt-BR" dirty="0"/>
              <a:t>A legislação que rege o ITR é a Lei 9.393/1996 e alterações subsequentes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/>
              <a:t>Contribuinte do ITR é o proprietário de imóvel rural, o titular de seu domínio útil ou o seu possuidor a qualquer título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4" name="Seta para a direita 3"/>
          <p:cNvSpPr/>
          <p:nvPr/>
        </p:nvSpPr>
        <p:spPr>
          <a:xfrm>
            <a:off x="8172400" y="476672"/>
            <a:ext cx="50405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053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51520" y="2708920"/>
            <a:ext cx="8568952" cy="38164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solidFill>
                  <a:srgbClr val="C00000"/>
                </a:solidFill>
              </a:rPr>
              <a:t>Imposto Sobre a Propriedade Territorial Rural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u="sng" dirty="0" smtClean="0"/>
              <a:t>IMUNIDADE</a:t>
            </a:r>
            <a:r>
              <a:rPr lang="pt-BR" b="1" dirty="0" smtClean="0"/>
              <a:t>:</a:t>
            </a:r>
            <a:r>
              <a:rPr lang="pt-BR" dirty="0" smtClean="0"/>
              <a:t> </a:t>
            </a:r>
            <a:r>
              <a:rPr lang="pt-BR" dirty="0"/>
              <a:t>O ITR não incide sobre </a:t>
            </a:r>
            <a:r>
              <a:rPr lang="pt-BR" b="1" dirty="0"/>
              <a:t>pequenas glebas rurais</a:t>
            </a:r>
            <a:r>
              <a:rPr lang="pt-BR" dirty="0"/>
              <a:t>, quando as explore, só ou com sua família, o proprietário que não possua outro imóvel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/>
              <a:t>P</a:t>
            </a:r>
            <a:r>
              <a:rPr lang="pt-BR" dirty="0" smtClean="0"/>
              <a:t>equenas </a:t>
            </a:r>
            <a:r>
              <a:rPr lang="pt-BR" dirty="0"/>
              <a:t>glebas rurais são os imóveis com área igual ou inferior a </a:t>
            </a:r>
            <a:r>
              <a:rPr lang="pt-BR" dirty="0" smtClean="0"/>
              <a:t>:</a:t>
            </a:r>
          </a:p>
          <a:p>
            <a:endParaRPr lang="pt-BR" dirty="0"/>
          </a:p>
          <a:p>
            <a:r>
              <a:rPr lang="pt-BR" dirty="0"/>
              <a:t>I - 100 ha, se localizado em município compreendido na Amazônia Ocidental ou no Pantanal mato-grossense e sul-mato-grossense;</a:t>
            </a:r>
          </a:p>
          <a:p>
            <a:r>
              <a:rPr lang="pt-BR" dirty="0"/>
              <a:t>II - 50 ha, se localizado em município compreendido no Polígono das Secas ou na Amazônia Oriental;</a:t>
            </a:r>
          </a:p>
          <a:p>
            <a:r>
              <a:rPr lang="pt-BR" dirty="0"/>
              <a:t>III - 30 ha, se localizado em qualquer outro município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4" name="Seta para a direita 3"/>
          <p:cNvSpPr/>
          <p:nvPr/>
        </p:nvSpPr>
        <p:spPr>
          <a:xfrm>
            <a:off x="8172400" y="476672"/>
            <a:ext cx="50405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38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solidFill>
                  <a:srgbClr val="C00000"/>
                </a:solidFill>
              </a:rPr>
              <a:t>Imposto Sobre a Propriedade Territorial Rural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São </a:t>
            </a:r>
            <a:r>
              <a:rPr lang="pt-BR" b="1" u="sng" dirty="0"/>
              <a:t>isentos</a:t>
            </a:r>
            <a:r>
              <a:rPr lang="pt-BR" dirty="0"/>
              <a:t> do ITR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I - o imóvel rural compreendido em programa oficial de reforma agrária, caracterizado pelas autoridades competentes como assentamento, que, cumulativamente, atenda aos seguintes requisitos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a) seja explorado por associação ou cooperativa de produção;</a:t>
            </a:r>
          </a:p>
          <a:p>
            <a:r>
              <a:rPr lang="pt-BR" dirty="0"/>
              <a:t>b) a fração ideal por família assentada não ultrapasse os limites estabelecidos no artigo anterior;</a:t>
            </a:r>
          </a:p>
          <a:p>
            <a:r>
              <a:rPr lang="pt-BR" dirty="0"/>
              <a:t>c) o assentado não possua outro imóvel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4" name="Seta para a direita 3"/>
          <p:cNvSpPr/>
          <p:nvPr/>
        </p:nvSpPr>
        <p:spPr>
          <a:xfrm>
            <a:off x="8172400" y="476672"/>
            <a:ext cx="50405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9474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solidFill>
                  <a:srgbClr val="C00000"/>
                </a:solidFill>
              </a:rPr>
              <a:t>Imposto Sobre a Propriedade Territorial Rural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II - o conjunto de imóveis rurais de um mesmo proprietário, cuja área total observe os limites fixados, desde que, cumulativamente, o proprietário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a) o explore só ou com sua família, admitida ajuda eventual de terceiros;</a:t>
            </a:r>
          </a:p>
          <a:p>
            <a:r>
              <a:rPr lang="pt-BR" dirty="0"/>
              <a:t>b) não possua imóvel urbano</a:t>
            </a: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4" name="Seta para a direita 3"/>
          <p:cNvSpPr/>
          <p:nvPr/>
        </p:nvSpPr>
        <p:spPr>
          <a:xfrm>
            <a:off x="8172400" y="476672"/>
            <a:ext cx="50405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2482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solidFill>
                  <a:srgbClr val="C00000"/>
                </a:solidFill>
              </a:rPr>
              <a:t>Imposto Sobre a Propriedade Territorial Rural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O contribuinte ou o seu sucessor comunicará ao órgão local da Secretaria da Receita Federal (SRF), por meio do </a:t>
            </a:r>
            <a:r>
              <a:rPr lang="pt-BR" u="sng" dirty="0"/>
              <a:t>Documento de Informação e Atualização Cadastral do ITR - DIAC</a:t>
            </a:r>
            <a:r>
              <a:rPr lang="pt-BR" dirty="0"/>
              <a:t>, as informações cadastrais correspondentes a cada imóvel, bem como qualquer alteração </a:t>
            </a:r>
            <a:r>
              <a:rPr lang="pt-BR" dirty="0" smtClean="0"/>
              <a:t>ocorrida.</a:t>
            </a:r>
          </a:p>
          <a:p>
            <a:endParaRPr lang="pt-BR" dirty="0"/>
          </a:p>
          <a:p>
            <a:r>
              <a:rPr lang="pt-BR" dirty="0"/>
              <a:t>O contribuinte do ITR entregará, obrigatoriamente, em cada ano, o Documento de Informação e Apuração do ITR - DIAT, correspondente a cada </a:t>
            </a:r>
            <a:r>
              <a:rPr lang="pt-BR" dirty="0" smtClean="0"/>
              <a:t>imóvel,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0C6F-523E-41A6-83D0-FB4C0169694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48116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750</Words>
  <Application>Microsoft Office PowerPoint</Application>
  <PresentationFormat>Apresentação na tela (4:3)</PresentationFormat>
  <Paragraphs>77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Tema do Office</vt:lpstr>
      <vt:lpstr>IMPOSTOS FEDERAIS II</vt:lpstr>
      <vt:lpstr>Imposto de Exportação</vt:lpstr>
      <vt:lpstr>Imposto de Exportação</vt:lpstr>
      <vt:lpstr>Imposto de Importação</vt:lpstr>
      <vt:lpstr>Imposto de Importação</vt:lpstr>
      <vt:lpstr>Imposto de Importação</vt:lpstr>
      <vt:lpstr>Imposto de Importação</vt:lpstr>
      <vt:lpstr>Imposto Sobre a Propriedade Territorial Rural</vt:lpstr>
      <vt:lpstr>Imposto Sobre a Propriedade Territorial Rural</vt:lpstr>
      <vt:lpstr>Imposto Sobre a Propriedade Territorial Rural</vt:lpstr>
      <vt:lpstr>Imposto Sobre a Propriedade Territorial Rural</vt:lpstr>
      <vt:lpstr>Imposto Sobre a Propriedade Territorial Rural</vt:lpstr>
      <vt:lpstr>Imposto Sobre a Propriedade Territorial Rural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Lúcia</dc:creator>
  <cp:lastModifiedBy>Lúcia</cp:lastModifiedBy>
  <cp:revision>135</cp:revision>
  <dcterms:created xsi:type="dcterms:W3CDTF">2018-10-18T01:18:32Z</dcterms:created>
  <dcterms:modified xsi:type="dcterms:W3CDTF">2018-11-22T18:28:56Z</dcterms:modified>
</cp:coreProperties>
</file>