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858000" cy="9906000" type="A4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260" y="-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772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50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20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6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6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54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529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62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47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63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59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32CE0-D687-4F57-A80C-28865F138126}" type="datetimeFigureOut">
              <a:rPr lang="pt-BR" smtClean="0"/>
              <a:t>14/01/2019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581CE-F3D6-48AB-A292-861B52A15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34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885825" y="704850"/>
            <a:ext cx="5086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Checklist de documentos para declaração de IR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742" y="9058275"/>
            <a:ext cx="1114514" cy="47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6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514350" y="876300"/>
            <a:ext cx="5086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Olá, </a:t>
            </a:r>
            <a:r>
              <a:rPr lang="pt-BR" sz="2400" b="1" dirty="0" smtClean="0"/>
              <a:t>(nome do contribuinte)</a:t>
            </a:r>
            <a:r>
              <a:rPr lang="pt-BR" sz="2400" dirty="0" smtClean="0"/>
              <a:t>!</a:t>
            </a:r>
            <a:endParaRPr lang="pt-BR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14350" y="1614190"/>
            <a:ext cx="50863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Chegou a hora de fazer mais uma </a:t>
            </a:r>
            <a:r>
              <a:rPr lang="pt-BR" sz="1600" b="1" dirty="0" smtClean="0"/>
              <a:t>Declaração Anual de Imposto de Renda</a:t>
            </a:r>
            <a:r>
              <a:rPr lang="pt-BR" sz="1600" dirty="0" smtClean="0"/>
              <a:t>. E para tornar esse processo mais simples, aqui está o seu </a:t>
            </a:r>
            <a:r>
              <a:rPr lang="pt-BR" sz="1600" b="1" dirty="0" smtClean="0"/>
              <a:t>Checklist de documentos necessários!</a:t>
            </a:r>
          </a:p>
          <a:p>
            <a:r>
              <a:rPr lang="pt-BR" sz="1600" dirty="0" smtClean="0"/>
              <a:t/>
            </a:r>
            <a:br>
              <a:rPr lang="pt-BR" sz="1600" dirty="0" smtClean="0"/>
            </a:br>
            <a:r>
              <a:rPr lang="pt-BR" sz="1600" dirty="0" smtClean="0"/>
              <a:t>Veja tudo que você precisa, providencie o quanto antes e vá marcando aqui cada documento que já tem em mãos.</a:t>
            </a:r>
            <a:endParaRPr lang="pt-B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11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514350" y="262085"/>
            <a:ext cx="5086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smtClean="0"/>
              <a:t>Rendimentos</a:t>
            </a:r>
            <a:endParaRPr lang="pt-BR" sz="3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035636"/>
            <a:ext cx="5781675" cy="89034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116717"/>
            <a:ext cx="5781675" cy="890344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3873474"/>
            <a:ext cx="5781675" cy="890344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954555"/>
            <a:ext cx="5781675" cy="890344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5711312"/>
            <a:ext cx="5781675" cy="890344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4792393"/>
            <a:ext cx="5781675" cy="890344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7549150"/>
            <a:ext cx="5781675" cy="890344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6630231"/>
            <a:ext cx="5781675" cy="890344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8456037"/>
            <a:ext cx="5781675" cy="89034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358900" y="1346445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Declaração de IR com recibo do ano anterior. Caso não tenha declarado no ano anterior será necessário o número do título de eleitor para realizar a declaração.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358900" y="2180726"/>
            <a:ext cx="4826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Informe de rendimento das instituições financeiras (bancos). É fornecido anualmente pelas instituições. Mas, caso necessário, você pode solicitar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junto ao seu banco.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358900" y="3268922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Rendimentos recebidos do exterior de pessoas físicas ou jurídicas.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358900" y="4103202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Recibos de aluguéis ou informe de rendimento emitido pela administradora / imobiliária.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358900" y="4806678"/>
            <a:ext cx="4826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>
                <a:solidFill>
                  <a:schemeClr val="bg1"/>
                </a:solidFill>
              </a:rPr>
              <a:t>Informe de rendimentos das fontes pagadoras: salário, aposentadoria, lucros, ajuda de custo (fornecido por pessoas jurídicas, inclusive INSS). As instituições têm a obrigatoriedade de fornecer, até fevereiro de cada ano, o informe de rendimentos. Nele devem constar o salário bruto, o imposto retido na fonte e contribuições à Previdência Social.</a:t>
            </a:r>
            <a:endParaRPr lang="pt-BR" sz="1000" dirty="0">
              <a:solidFill>
                <a:schemeClr val="bg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358900" y="5941040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Notas fiscais emitidas no ano, para profissionais PJ e empresários.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Os valores declarados no IR devem corresponder com o declarado na DEFIS.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358900" y="6944598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Extrato de previdência privada, enviado exclusivamente para o IRPF.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1358900" y="7863517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Informe de rendimentos de aplicações financeiras / investimento / ações.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1358900" y="8685765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Recibos relativos ao recebimento de pensão alimentícia (acordo judicial), com CPF da fonte pagadora.</a:t>
            </a:r>
            <a:endParaRPr lang="pt-BR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28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514350" y="262085"/>
            <a:ext cx="5086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smtClean="0"/>
              <a:t>Rendimentos</a:t>
            </a:r>
            <a:endParaRPr lang="pt-BR" sz="3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116717"/>
            <a:ext cx="5781675" cy="89034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358900" y="1187300"/>
            <a:ext cx="482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Informações e documentos de outras rendas obtidas no ano da declaração como: comprovantes de recebimento de herança, ações judiciais / trabalhistas, resgate do FGTS (inclusive os resgates das contas inativas), seguro desemprego, entre outros.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514349" y="2438050"/>
            <a:ext cx="5086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smtClean="0"/>
              <a:t>Pagamentos e deduções</a:t>
            </a:r>
            <a:endParaRPr lang="pt-BR" sz="3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4208016"/>
            <a:ext cx="5781675" cy="890344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3289097"/>
            <a:ext cx="5781675" cy="890344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6045854"/>
            <a:ext cx="5781675" cy="890344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5126935"/>
            <a:ext cx="5781675" cy="890344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7883692"/>
            <a:ext cx="5781675" cy="890344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6964773"/>
            <a:ext cx="5781675" cy="890344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358900" y="3349548"/>
            <a:ext cx="482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Comprovantes de despesa com educação (carnês ou boletos) de escolas, cursos técnicos, universidades e pós-graduação, com CNPJ da empresa emissora.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Cursos de idioma, livros, materiais escolares, despesas com trabalhos e pesquisas  não são dedutíveis.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1358900" y="4353106"/>
            <a:ext cx="4826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Comprovantes de doações: Para dedução de imposto, são válidas somente doações para incentivos fiscais como, por exemplo, Fundo dos Direitos da Criança e do Adolescente, Lei Rouanet, entre outros.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1358900" y="5440963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Informe de pagamentos de financiamentos e empréstimos.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358900" y="6360221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Recibos de pagamento de processos judiciais.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1358900" y="7109863"/>
            <a:ext cx="4826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Comprovantes de despesas médicas não conveniadas, tais como: consultas médicas, dentistas, hospitais, fisioterapia e quaisquer outros similares (inclusive de dependentes).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1358900" y="8113420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Recibo de planos de saúde: Gastos com a saúde são deduzidos do IR, sem limite (inclusive de dependentes).</a:t>
            </a:r>
            <a:endParaRPr lang="pt-BR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72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514350" y="262085"/>
            <a:ext cx="5086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smtClean="0"/>
              <a:t>Pagamentos e deduções</a:t>
            </a:r>
            <a:endParaRPr lang="pt-BR" sz="3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116717"/>
            <a:ext cx="5781675" cy="89034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358899" y="1422325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Comprovantes de pagamento do carnê leão (para autônomos).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027324"/>
            <a:ext cx="5781675" cy="890344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5257818"/>
            <a:ext cx="5781675" cy="890344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4338899"/>
            <a:ext cx="5781675" cy="890344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8147603"/>
            <a:ext cx="5781675" cy="890344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7228684"/>
            <a:ext cx="5781675" cy="890344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1358900" y="2174606"/>
            <a:ext cx="4826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Comprovantes de pagamentos a empregados </a:t>
            </a:r>
            <a:r>
              <a:rPr lang="pt-BR" sz="1100" dirty="0" err="1" smtClean="0">
                <a:solidFill>
                  <a:schemeClr val="bg1"/>
                </a:solidFill>
              </a:rPr>
              <a:t>domésticos.É</a:t>
            </a:r>
            <a:r>
              <a:rPr lang="pt-BR" sz="1100" dirty="0" smtClean="0">
                <a:solidFill>
                  <a:schemeClr val="bg1"/>
                </a:solidFill>
              </a:rPr>
              <a:t> necessário que os recibos (guia paga à Previdência Social) contenham nome, CPF e número de inscrição do trabalhador (NIT).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1358900" y="4403736"/>
            <a:ext cx="482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Bens e direitos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Por exemplo: imóveis, veículos, aeronaves, embarcações, terrenos, etc. 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Cópia da escritura pública, contrato particular de compra e venda ou registro de imóveis atualizado, cópia de documento de transferência.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358900" y="5402908"/>
            <a:ext cx="4826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Documentos de aquisição de veículos </a:t>
            </a:r>
            <a:r>
              <a:rPr lang="pt-BR" sz="1100" smtClean="0">
                <a:solidFill>
                  <a:schemeClr val="bg1"/>
                </a:solidFill>
              </a:rPr>
              <a:t>e imóveis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O valor da declaração deve ser ter como referência custo de aquisição e não o valor atual de mercado.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1358900" y="7448937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É preciso apresentar os mesmos documentos listados para cada um dos dependentes.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1358900" y="8377331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E ainda: nome completo e CPF 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(obrigatório para dependentes com mais de 08 anos).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514350" y="3151230"/>
            <a:ext cx="5670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smtClean="0"/>
              <a:t>Bens imóveis / móveis adquiridos, vendidos ou transferidos</a:t>
            </a:r>
            <a:endParaRPr lang="pt-BR" sz="2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514349" y="6426813"/>
            <a:ext cx="5670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smtClean="0"/>
              <a:t>Dependentes</a:t>
            </a:r>
            <a:endParaRPr lang="pt-BR" sz="36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51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514350" y="262085"/>
            <a:ext cx="5086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smtClean="0"/>
              <a:t>Documentos diversos</a:t>
            </a:r>
            <a:endParaRPr lang="pt-BR" sz="3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038368"/>
            <a:ext cx="5781675" cy="890344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119449"/>
            <a:ext cx="5781675" cy="890344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3876206"/>
            <a:ext cx="5781675" cy="890344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957287"/>
            <a:ext cx="5781675" cy="890344"/>
          </a:xfrm>
          <a:prstGeom prst="rect">
            <a:avLst/>
          </a:prstGeom>
        </p:spPr>
      </p:pic>
      <p:sp>
        <p:nvSpPr>
          <p:cNvPr id="36" name="CaixaDeTexto 35"/>
          <p:cNvSpPr txBox="1"/>
          <p:nvPr/>
        </p:nvSpPr>
        <p:spPr>
          <a:xfrm>
            <a:off x="1358900" y="1433816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Número do CPF do cônjuge (se casado ou em união estável).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358900" y="2352735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Número do título de </a:t>
            </a:r>
            <a:r>
              <a:rPr lang="pt-BR" sz="1100" dirty="0" smtClean="0">
                <a:solidFill>
                  <a:schemeClr val="bg1"/>
                </a:solidFill>
              </a:rPr>
              <a:t>eleitor</a:t>
            </a:r>
            <a:r>
              <a:rPr lang="pt-BR" sz="1100" dirty="0" smtClean="0">
                <a:solidFill>
                  <a:schemeClr val="bg1"/>
                </a:solidFill>
              </a:rPr>
              <a:t>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1358900" y="3187015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Dados bancários, caso tenha imposto a restituir ou a pagar em débito 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automático, informar dados bancários.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1358900" y="4105934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Comprovante de endereço atualizado.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Informar caso tenha mudado de endereço durante o ano anterior.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5720246"/>
            <a:ext cx="5781675" cy="890344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4801327"/>
            <a:ext cx="5781675" cy="890344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1358900" y="5114875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Cópia do </a:t>
            </a:r>
            <a:r>
              <a:rPr lang="pt-BR" sz="1100" dirty="0" err="1" smtClean="0">
                <a:solidFill>
                  <a:schemeClr val="bg1"/>
                </a:solidFill>
              </a:rPr>
              <a:t>Renavam</a:t>
            </a:r>
            <a:r>
              <a:rPr lang="pt-BR" sz="1100" dirty="0" smtClean="0">
                <a:solidFill>
                  <a:schemeClr val="bg1"/>
                </a:solidFill>
              </a:rPr>
              <a:t> dos veículos em seu nome.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358900" y="6034613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Cópia do IPTU/NIRF de imóveis em seu nome.</a:t>
            </a:r>
            <a:endParaRPr lang="pt-BR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39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514350" y="262085"/>
            <a:ext cx="578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/>
              <a:t>Profissional autônomo que obteve receitas de serviços prestados na pessoa física</a:t>
            </a:r>
            <a:endParaRPr lang="pt-BR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842998"/>
            <a:ext cx="5781675" cy="89034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924079"/>
            <a:ext cx="5781675" cy="890344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4680836"/>
            <a:ext cx="5781675" cy="890344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3761917"/>
            <a:ext cx="5781675" cy="890344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6518674"/>
            <a:ext cx="5781675" cy="890344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5599755"/>
            <a:ext cx="5781675" cy="890344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7437593"/>
            <a:ext cx="5781675" cy="89034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358900" y="2230007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Despesas com aluguel de consultório ou sala e/ou escritório.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358900" y="3072726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Despesas de salários e impostos de funcionários ou auxiliares registrados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em nome de pessoa física.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358900" y="4062949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Despesas com materiais de limpeza (consultório ou escritório).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358900" y="4910564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Despesas com manutenção de equipamentos ou acessórios relacionados à atividade.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358900" y="5918934"/>
            <a:ext cx="482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bg1"/>
                </a:solidFill>
              </a:rPr>
              <a:t>D</a:t>
            </a:r>
            <a:r>
              <a:rPr lang="pt-BR" sz="1000" dirty="0" smtClean="0">
                <a:solidFill>
                  <a:schemeClr val="bg1"/>
                </a:solidFill>
              </a:rPr>
              <a:t>espesas de consumo da sala ou escritório. Água, luz, condomínio, telefone e celular.</a:t>
            </a:r>
            <a:endParaRPr lang="pt-BR" sz="1000" dirty="0">
              <a:solidFill>
                <a:schemeClr val="bg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358900" y="6825421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Despesas com roupas especiais/profissionais.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358900" y="7751960"/>
            <a:ext cx="482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Despesas com materiais de escritório e papelaria.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514350" y="1093082"/>
            <a:ext cx="542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Além dos documentos relacionados anteriormente, para fins de dedução de imposto sobre a renda, serão necessárias as despesas no exercício da atividade profissional que tiram no ano de vigência, sendo elas: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91846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514350" y="262085"/>
            <a:ext cx="578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/>
              <a:t>Profissional autônomo que obteve receitas de serviços prestados na pessoa física</a:t>
            </a:r>
            <a:endParaRPr lang="pt-BR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157198"/>
            <a:ext cx="5781675" cy="89034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238279"/>
            <a:ext cx="5781675" cy="89034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358900" y="1468007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Despesas com seminários, conferências, jornadas, </a:t>
            </a:r>
          </a:p>
          <a:p>
            <a:r>
              <a:rPr lang="pt-BR" sz="1100" dirty="0" smtClean="0">
                <a:solidFill>
                  <a:schemeClr val="bg1"/>
                </a:solidFill>
              </a:rPr>
              <a:t>comprovantes com certificados de presença.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358900" y="2386926"/>
            <a:ext cx="482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bg1"/>
                </a:solidFill>
              </a:rPr>
              <a:t>Impostos, taxas e anuidades pagas. Tais como: imposto sobre prestação de serviço (ISS), sindicato, conselhos, associações e federações de classe.</a:t>
            </a:r>
            <a:endParaRPr lang="pt-BR" sz="1100" dirty="0">
              <a:solidFill>
                <a:schemeClr val="bg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514350" y="5671840"/>
            <a:ext cx="578167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Com esse </a:t>
            </a:r>
            <a:r>
              <a:rPr lang="pt-BR" sz="1600" dirty="0" err="1" smtClean="0"/>
              <a:t>checklist</a:t>
            </a:r>
            <a:r>
              <a:rPr lang="pt-BR" sz="1600" dirty="0" smtClean="0"/>
              <a:t> é possível ter mais controle em relação aos documentos necessários. Espero que ele te auxilie durante a declaração de Imposto de Renda.</a:t>
            </a:r>
          </a:p>
          <a:p>
            <a:endParaRPr lang="pt-BR" sz="1600" dirty="0"/>
          </a:p>
          <a:p>
            <a:r>
              <a:rPr lang="pt-BR" sz="1600" dirty="0" smtClean="0"/>
              <a:t>E, para facilitar ainda mais o processo, você pode enviar os comprovantes via celular, </a:t>
            </a:r>
            <a:r>
              <a:rPr lang="pt-BR" sz="1600" b="1" dirty="0" smtClean="0"/>
              <a:t>através do nosso </a:t>
            </a:r>
            <a:r>
              <a:rPr lang="pt-BR" sz="1600" b="1" dirty="0" err="1" smtClean="0"/>
              <a:t>app</a:t>
            </a:r>
            <a:r>
              <a:rPr lang="pt-BR" sz="1600" dirty="0" smtClean="0"/>
              <a:t>.</a:t>
            </a:r>
          </a:p>
          <a:p>
            <a:endParaRPr lang="pt-BR" sz="1600" dirty="0"/>
          </a:p>
          <a:p>
            <a:r>
              <a:rPr lang="pt-BR" sz="1600" dirty="0" smtClean="0"/>
              <a:t>Tem alguma dúvida em relação à documentação ou como </a:t>
            </a:r>
          </a:p>
          <a:p>
            <a:r>
              <a:rPr lang="pt-BR" sz="1600" dirty="0" smtClean="0"/>
              <a:t>enviá-los? Mande uma mensagem para que eu possa te auxiliar.</a:t>
            </a:r>
          </a:p>
          <a:p>
            <a:endParaRPr lang="pt-BR" sz="1600" dirty="0"/>
          </a:p>
          <a:p>
            <a:r>
              <a:rPr lang="pt-BR" sz="1600" dirty="0" smtClean="0"/>
              <a:t>Obrigado e conte sempre comigo quando necessário!</a:t>
            </a:r>
          </a:p>
          <a:p>
            <a:endParaRPr lang="pt-BR" sz="1600" dirty="0"/>
          </a:p>
          <a:p>
            <a:endParaRPr lang="pt-BR" sz="1600" dirty="0" smtClean="0"/>
          </a:p>
          <a:p>
            <a:r>
              <a:rPr lang="pt-BR" sz="1600" b="1" dirty="0" smtClean="0"/>
              <a:t>(Seu nome)</a:t>
            </a:r>
          </a:p>
          <a:p>
            <a:r>
              <a:rPr lang="pt-BR" sz="1600" dirty="0" smtClean="0"/>
              <a:t>(nome e contato de seu escritório contábil)</a:t>
            </a:r>
          </a:p>
          <a:p>
            <a:endParaRPr lang="pt-BR" sz="1600" b="1" dirty="0">
              <a:solidFill>
                <a:schemeClr val="bg1">
                  <a:lumMod val="85000"/>
                </a:schemeClr>
              </a:solidFill>
            </a:endParaRPr>
          </a:p>
          <a:p>
            <a:endParaRPr lang="pt-B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56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682</Words>
  <Application>Microsoft Office PowerPoint</Application>
  <PresentationFormat>Papel A4 (210 x 297 mm)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Dell</dc:creator>
  <cp:lastModifiedBy>Dell</cp:lastModifiedBy>
  <cp:revision>14</cp:revision>
  <dcterms:created xsi:type="dcterms:W3CDTF">2018-10-25T21:20:05Z</dcterms:created>
  <dcterms:modified xsi:type="dcterms:W3CDTF">2019-01-14T11:58:03Z</dcterms:modified>
</cp:coreProperties>
</file>