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6" r:id="rId7"/>
    <p:sldId id="267" r:id="rId8"/>
    <p:sldId id="268" r:id="rId9"/>
    <p:sldId id="261" r:id="rId10"/>
    <p:sldId id="269" r:id="rId11"/>
    <p:sldId id="262" r:id="rId12"/>
    <p:sldId id="263" r:id="rId13"/>
    <p:sldId id="264" r:id="rId14"/>
    <p:sldId id="270" r:id="rId15"/>
    <p:sldId id="271" r:id="rId16"/>
    <p:sldId id="272" r:id="rId17"/>
    <p:sldId id="273" r:id="rId18"/>
    <p:sldId id="274" r:id="rId19"/>
    <p:sldId id="275" r:id="rId20"/>
    <p:sldId id="276" r:id="rId21"/>
    <p:sldId id="277" r:id="rId22"/>
    <p:sldId id="265" r:id="rId23"/>
    <p:sldId id="278" r:id="rId24"/>
    <p:sldId id="280" r:id="rId25"/>
    <p:sldId id="281" r:id="rId26"/>
    <p:sldId id="282" r:id="rId27"/>
    <p:sldId id="283" r:id="rId28"/>
  </p:sldIdLst>
  <p:sldSz cx="9144000" cy="6858000" type="screen4x3"/>
  <p:notesSz cx="6858000" cy="9144000"/>
  <p:defaultText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84" d="100"/>
          <a:sy n="84" d="100"/>
        </p:scale>
        <p:origin x="-1402" y="-67"/>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Slide de título">
    <p:spTree>
      <p:nvGrpSpPr>
        <p:cNvPr id="1" name=""/>
        <p:cNvGrpSpPr/>
        <p:nvPr/>
      </p:nvGrpSpPr>
      <p:grpSpPr>
        <a:xfrm>
          <a:off x="0" y="0"/>
          <a:ext cx="0" cy="0"/>
          <a:chOff x="0" y="0"/>
          <a:chExt cx="0" cy="0"/>
        </a:xfrm>
      </p:grpSpPr>
      <p:sp>
        <p:nvSpPr>
          <p:cNvPr id="2" name="Título 1"/>
          <p:cNvSpPr>
            <a:spLocks noGrp="1"/>
          </p:cNvSpPr>
          <p:nvPr>
            <p:ph type="ctrTitle"/>
          </p:nvPr>
        </p:nvSpPr>
        <p:spPr>
          <a:xfrm>
            <a:off x="685800" y="2130425"/>
            <a:ext cx="7772400" cy="1470025"/>
          </a:xfrm>
        </p:spPr>
        <p:txBody>
          <a:bodyPr/>
          <a:lstStyle/>
          <a:p>
            <a:r>
              <a:rPr lang="pt-BR" smtClean="0"/>
              <a:t>Clique para editar o título mestre</a:t>
            </a:r>
            <a:endParaRPr lang="pt-BR"/>
          </a:p>
        </p:txBody>
      </p:sp>
      <p:sp>
        <p:nvSpPr>
          <p:cNvPr id="3" name="Subtítulo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pt-BR" smtClean="0"/>
              <a:t>Clique para editar o estilo do subtítulo mestre</a:t>
            </a:r>
            <a:endParaRPr lang="pt-BR"/>
          </a:p>
        </p:txBody>
      </p:sp>
      <p:sp>
        <p:nvSpPr>
          <p:cNvPr id="4" name="Espaço Reservado para Data 3"/>
          <p:cNvSpPr>
            <a:spLocks noGrp="1"/>
          </p:cNvSpPr>
          <p:nvPr>
            <p:ph type="dt" sz="half" idx="10"/>
          </p:nvPr>
        </p:nvSpPr>
        <p:spPr/>
        <p:txBody>
          <a:bodyPr/>
          <a:lstStyle/>
          <a:p>
            <a:fld id="{1A8CA729-EC06-49AD-AD99-900AC3636B76}" type="datetimeFigureOut">
              <a:rPr lang="pt-BR" smtClean="0"/>
              <a:t>19/10/2018</a:t>
            </a:fld>
            <a:endParaRPr lang="pt-BR"/>
          </a:p>
        </p:txBody>
      </p:sp>
      <p:sp>
        <p:nvSpPr>
          <p:cNvPr id="5" name="Espaço Reservado para Rodapé 4"/>
          <p:cNvSpPr>
            <a:spLocks noGrp="1"/>
          </p:cNvSpPr>
          <p:nvPr>
            <p:ph type="ftr" sz="quarter" idx="11"/>
          </p:nvPr>
        </p:nvSpPr>
        <p:spPr/>
        <p:txBody>
          <a:bodyPr/>
          <a:lstStyle/>
          <a:p>
            <a:endParaRPr lang="pt-BR"/>
          </a:p>
        </p:txBody>
      </p:sp>
      <p:sp>
        <p:nvSpPr>
          <p:cNvPr id="6" name="Espaço Reservado para Número de Slide 5"/>
          <p:cNvSpPr>
            <a:spLocks noGrp="1"/>
          </p:cNvSpPr>
          <p:nvPr>
            <p:ph type="sldNum" sz="quarter" idx="12"/>
          </p:nvPr>
        </p:nvSpPr>
        <p:spPr/>
        <p:txBody>
          <a:bodyPr/>
          <a:lstStyle/>
          <a:p>
            <a:fld id="{B4B20C6F-523E-41A6-83D0-FB4C01696949}" type="slidenum">
              <a:rPr lang="pt-BR" smtClean="0"/>
              <a:t>‹nº›</a:t>
            </a:fld>
            <a:endParaRPr lang="pt-BR"/>
          </a:p>
        </p:txBody>
      </p:sp>
    </p:spTree>
    <p:extLst>
      <p:ext uri="{BB962C8B-B14F-4D97-AF65-F5344CB8AC3E}">
        <p14:creationId xmlns:p14="http://schemas.microsoft.com/office/powerpoint/2010/main" val="836392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e conteúd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smtClean="0"/>
              <a:t>Clique para editar o título mestre</a:t>
            </a:r>
            <a:endParaRPr lang="pt-BR"/>
          </a:p>
        </p:txBody>
      </p:sp>
      <p:sp>
        <p:nvSpPr>
          <p:cNvPr id="3" name="Espaço Reservado para Conteúdo 2"/>
          <p:cNvSpPr>
            <a:spLocks noGrp="1"/>
          </p:cNvSpPr>
          <p:nvPr>
            <p:ph idx="1"/>
          </p:nvPr>
        </p:nvSpPr>
        <p:spPr/>
        <p:txBody>
          <a:bodyPr/>
          <a:lstStyle/>
          <a:p>
            <a:pPr lvl="0"/>
            <a:r>
              <a:rPr lang="pt-BR" smtClean="0"/>
              <a:t>Clique para editar o texto mestre</a:t>
            </a:r>
          </a:p>
          <a:p>
            <a:pPr lvl="1"/>
            <a:r>
              <a:rPr lang="pt-BR" smtClean="0"/>
              <a:t>Segundo nível</a:t>
            </a:r>
          </a:p>
          <a:p>
            <a:pPr lvl="2"/>
            <a:r>
              <a:rPr lang="pt-BR" smtClean="0"/>
              <a:t>Terceiro nível</a:t>
            </a:r>
          </a:p>
          <a:p>
            <a:pPr lvl="3"/>
            <a:r>
              <a:rPr lang="pt-BR" smtClean="0"/>
              <a:t>Quarto nível</a:t>
            </a:r>
          </a:p>
          <a:p>
            <a:pPr lvl="4"/>
            <a:r>
              <a:rPr lang="pt-BR" smtClean="0"/>
              <a:t>Quinto nível</a:t>
            </a:r>
            <a:endParaRPr lang="pt-BR"/>
          </a:p>
        </p:txBody>
      </p:sp>
      <p:sp>
        <p:nvSpPr>
          <p:cNvPr id="4" name="Espaço Reservado para Data 3"/>
          <p:cNvSpPr>
            <a:spLocks noGrp="1"/>
          </p:cNvSpPr>
          <p:nvPr>
            <p:ph type="dt" sz="half" idx="10"/>
          </p:nvPr>
        </p:nvSpPr>
        <p:spPr/>
        <p:txBody>
          <a:bodyPr/>
          <a:lstStyle/>
          <a:p>
            <a:fld id="{1A8CA729-EC06-49AD-AD99-900AC3636B76}" type="datetimeFigureOut">
              <a:rPr lang="pt-BR" smtClean="0"/>
              <a:t>19/10/2018</a:t>
            </a:fld>
            <a:endParaRPr lang="pt-BR"/>
          </a:p>
        </p:txBody>
      </p:sp>
      <p:sp>
        <p:nvSpPr>
          <p:cNvPr id="5" name="Espaço Reservado para Rodapé 4"/>
          <p:cNvSpPr>
            <a:spLocks noGrp="1"/>
          </p:cNvSpPr>
          <p:nvPr>
            <p:ph type="ftr" sz="quarter" idx="11"/>
          </p:nvPr>
        </p:nvSpPr>
        <p:spPr/>
        <p:txBody>
          <a:bodyPr/>
          <a:lstStyle/>
          <a:p>
            <a:endParaRPr lang="pt-BR"/>
          </a:p>
        </p:txBody>
      </p:sp>
      <p:sp>
        <p:nvSpPr>
          <p:cNvPr id="6" name="Espaço Reservado para Número de Slide 5"/>
          <p:cNvSpPr>
            <a:spLocks noGrp="1"/>
          </p:cNvSpPr>
          <p:nvPr>
            <p:ph type="sldNum" sz="quarter" idx="12"/>
          </p:nvPr>
        </p:nvSpPr>
        <p:spPr/>
        <p:txBody>
          <a:bodyPr/>
          <a:lstStyle/>
          <a:p>
            <a:fld id="{B4B20C6F-523E-41A6-83D0-FB4C01696949}" type="slidenum">
              <a:rPr lang="pt-BR" smtClean="0"/>
              <a:t>‹nº›</a:t>
            </a:fld>
            <a:endParaRPr lang="pt-BR"/>
          </a:p>
        </p:txBody>
      </p:sp>
    </p:spTree>
    <p:extLst>
      <p:ext uri="{BB962C8B-B14F-4D97-AF65-F5344CB8AC3E}">
        <p14:creationId xmlns:p14="http://schemas.microsoft.com/office/powerpoint/2010/main" val="221581339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Cabeçalho da Seção">
    <p:spTree>
      <p:nvGrpSpPr>
        <p:cNvPr id="1" name=""/>
        <p:cNvGrpSpPr/>
        <p:nvPr/>
      </p:nvGrpSpPr>
      <p:grpSpPr>
        <a:xfrm>
          <a:off x="0" y="0"/>
          <a:ext cx="0" cy="0"/>
          <a:chOff x="0" y="0"/>
          <a:chExt cx="0" cy="0"/>
        </a:xfrm>
      </p:grpSpPr>
      <p:sp>
        <p:nvSpPr>
          <p:cNvPr id="2" name="Título 1"/>
          <p:cNvSpPr>
            <a:spLocks noGrp="1"/>
          </p:cNvSpPr>
          <p:nvPr>
            <p:ph type="title"/>
          </p:nvPr>
        </p:nvSpPr>
        <p:spPr>
          <a:xfrm>
            <a:off x="722313" y="4406900"/>
            <a:ext cx="7772400" cy="1362075"/>
          </a:xfrm>
        </p:spPr>
        <p:txBody>
          <a:bodyPr anchor="t"/>
          <a:lstStyle>
            <a:lvl1pPr algn="l">
              <a:defRPr sz="4000" b="1" cap="all"/>
            </a:lvl1pPr>
          </a:lstStyle>
          <a:p>
            <a:r>
              <a:rPr lang="pt-BR" smtClean="0"/>
              <a:t>Clique para editar o título mestre</a:t>
            </a:r>
            <a:endParaRPr lang="pt-BR"/>
          </a:p>
        </p:txBody>
      </p:sp>
      <p:sp>
        <p:nvSpPr>
          <p:cNvPr id="3" name="Espaço Reservado para Texto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pt-BR" smtClean="0"/>
              <a:t>Clique para editar o texto mestre</a:t>
            </a:r>
          </a:p>
        </p:txBody>
      </p:sp>
      <p:sp>
        <p:nvSpPr>
          <p:cNvPr id="4" name="Espaço Reservado para Data 3"/>
          <p:cNvSpPr>
            <a:spLocks noGrp="1"/>
          </p:cNvSpPr>
          <p:nvPr>
            <p:ph type="dt" sz="half" idx="10"/>
          </p:nvPr>
        </p:nvSpPr>
        <p:spPr/>
        <p:txBody>
          <a:bodyPr/>
          <a:lstStyle/>
          <a:p>
            <a:fld id="{1A8CA729-EC06-49AD-AD99-900AC3636B76}" type="datetimeFigureOut">
              <a:rPr lang="pt-BR" smtClean="0"/>
              <a:t>19/10/2018</a:t>
            </a:fld>
            <a:endParaRPr lang="pt-BR"/>
          </a:p>
        </p:txBody>
      </p:sp>
      <p:sp>
        <p:nvSpPr>
          <p:cNvPr id="5" name="Espaço Reservado para Rodapé 4"/>
          <p:cNvSpPr>
            <a:spLocks noGrp="1"/>
          </p:cNvSpPr>
          <p:nvPr>
            <p:ph type="ftr" sz="quarter" idx="11"/>
          </p:nvPr>
        </p:nvSpPr>
        <p:spPr/>
        <p:txBody>
          <a:bodyPr/>
          <a:lstStyle/>
          <a:p>
            <a:endParaRPr lang="pt-BR"/>
          </a:p>
        </p:txBody>
      </p:sp>
      <p:sp>
        <p:nvSpPr>
          <p:cNvPr id="6" name="Espaço Reservado para Número de Slide 5"/>
          <p:cNvSpPr>
            <a:spLocks noGrp="1"/>
          </p:cNvSpPr>
          <p:nvPr>
            <p:ph type="sldNum" sz="quarter" idx="12"/>
          </p:nvPr>
        </p:nvSpPr>
        <p:spPr/>
        <p:txBody>
          <a:bodyPr/>
          <a:lstStyle/>
          <a:p>
            <a:fld id="{B4B20C6F-523E-41A6-83D0-FB4C01696949}" type="slidenum">
              <a:rPr lang="pt-BR" smtClean="0"/>
              <a:t>‹nº›</a:t>
            </a:fld>
            <a:endParaRPr lang="pt-BR"/>
          </a:p>
        </p:txBody>
      </p:sp>
    </p:spTree>
    <p:extLst>
      <p:ext uri="{BB962C8B-B14F-4D97-AF65-F5344CB8AC3E}">
        <p14:creationId xmlns:p14="http://schemas.microsoft.com/office/powerpoint/2010/main" val="136267665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as Partes de Conteúd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smtClean="0"/>
              <a:t>Clique para editar o título mestre</a:t>
            </a:r>
            <a:endParaRPr lang="pt-BR"/>
          </a:p>
        </p:txBody>
      </p:sp>
      <p:sp>
        <p:nvSpPr>
          <p:cNvPr id="3" name="Espaço Reservado para Conteúdo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pt-BR" smtClean="0"/>
              <a:t>Clique para editar o texto mestre</a:t>
            </a:r>
          </a:p>
          <a:p>
            <a:pPr lvl="1"/>
            <a:r>
              <a:rPr lang="pt-BR" smtClean="0"/>
              <a:t>Segundo nível</a:t>
            </a:r>
          </a:p>
          <a:p>
            <a:pPr lvl="2"/>
            <a:r>
              <a:rPr lang="pt-BR" smtClean="0"/>
              <a:t>Terceiro nível</a:t>
            </a:r>
          </a:p>
          <a:p>
            <a:pPr lvl="3"/>
            <a:r>
              <a:rPr lang="pt-BR" smtClean="0"/>
              <a:t>Quarto nível</a:t>
            </a:r>
          </a:p>
          <a:p>
            <a:pPr lvl="4"/>
            <a:r>
              <a:rPr lang="pt-BR" smtClean="0"/>
              <a:t>Quinto nível</a:t>
            </a:r>
            <a:endParaRPr lang="pt-BR"/>
          </a:p>
        </p:txBody>
      </p:sp>
      <p:sp>
        <p:nvSpPr>
          <p:cNvPr id="4" name="Espaço Reservado para Conteúdo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pt-BR" smtClean="0"/>
              <a:t>Clique para editar o texto mestre</a:t>
            </a:r>
          </a:p>
          <a:p>
            <a:pPr lvl="1"/>
            <a:r>
              <a:rPr lang="pt-BR" smtClean="0"/>
              <a:t>Segundo nível</a:t>
            </a:r>
          </a:p>
          <a:p>
            <a:pPr lvl="2"/>
            <a:r>
              <a:rPr lang="pt-BR" smtClean="0"/>
              <a:t>Terceiro nível</a:t>
            </a:r>
          </a:p>
          <a:p>
            <a:pPr lvl="3"/>
            <a:r>
              <a:rPr lang="pt-BR" smtClean="0"/>
              <a:t>Quarto nível</a:t>
            </a:r>
          </a:p>
          <a:p>
            <a:pPr lvl="4"/>
            <a:r>
              <a:rPr lang="pt-BR" smtClean="0"/>
              <a:t>Quinto nível</a:t>
            </a:r>
            <a:endParaRPr lang="pt-BR"/>
          </a:p>
        </p:txBody>
      </p:sp>
      <p:sp>
        <p:nvSpPr>
          <p:cNvPr id="5" name="Espaço Reservado para Data 4"/>
          <p:cNvSpPr>
            <a:spLocks noGrp="1"/>
          </p:cNvSpPr>
          <p:nvPr>
            <p:ph type="dt" sz="half" idx="10"/>
          </p:nvPr>
        </p:nvSpPr>
        <p:spPr/>
        <p:txBody>
          <a:bodyPr/>
          <a:lstStyle/>
          <a:p>
            <a:fld id="{1A8CA729-EC06-49AD-AD99-900AC3636B76}" type="datetimeFigureOut">
              <a:rPr lang="pt-BR" smtClean="0"/>
              <a:t>19/10/2018</a:t>
            </a:fld>
            <a:endParaRPr lang="pt-BR"/>
          </a:p>
        </p:txBody>
      </p:sp>
      <p:sp>
        <p:nvSpPr>
          <p:cNvPr id="6" name="Espaço Reservado para Rodapé 5"/>
          <p:cNvSpPr>
            <a:spLocks noGrp="1"/>
          </p:cNvSpPr>
          <p:nvPr>
            <p:ph type="ftr" sz="quarter" idx="11"/>
          </p:nvPr>
        </p:nvSpPr>
        <p:spPr/>
        <p:txBody>
          <a:bodyPr/>
          <a:lstStyle/>
          <a:p>
            <a:endParaRPr lang="pt-BR"/>
          </a:p>
        </p:txBody>
      </p:sp>
      <p:sp>
        <p:nvSpPr>
          <p:cNvPr id="7" name="Espaço Reservado para Número de Slide 6"/>
          <p:cNvSpPr>
            <a:spLocks noGrp="1"/>
          </p:cNvSpPr>
          <p:nvPr>
            <p:ph type="sldNum" sz="quarter" idx="12"/>
          </p:nvPr>
        </p:nvSpPr>
        <p:spPr/>
        <p:txBody>
          <a:bodyPr/>
          <a:lstStyle/>
          <a:p>
            <a:fld id="{B4B20C6F-523E-41A6-83D0-FB4C01696949}" type="slidenum">
              <a:rPr lang="pt-BR" smtClean="0"/>
              <a:t>‹nº›</a:t>
            </a:fld>
            <a:endParaRPr lang="pt-BR"/>
          </a:p>
        </p:txBody>
      </p:sp>
    </p:spTree>
    <p:extLst>
      <p:ext uri="{BB962C8B-B14F-4D97-AF65-F5344CB8AC3E}">
        <p14:creationId xmlns:p14="http://schemas.microsoft.com/office/powerpoint/2010/main" val="252464809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çã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lvl1pPr>
              <a:defRPr/>
            </a:lvl1pPr>
          </a:lstStyle>
          <a:p>
            <a:r>
              <a:rPr lang="pt-BR" smtClean="0"/>
              <a:t>Clique para editar o título mestre</a:t>
            </a:r>
            <a:endParaRPr lang="pt-BR"/>
          </a:p>
        </p:txBody>
      </p:sp>
      <p:sp>
        <p:nvSpPr>
          <p:cNvPr id="3" name="Espaço Reservado para Texto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smtClean="0"/>
              <a:t>Clique para editar o texto mestre</a:t>
            </a:r>
          </a:p>
        </p:txBody>
      </p:sp>
      <p:sp>
        <p:nvSpPr>
          <p:cNvPr id="4" name="Espaço Reservado para Conteúdo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pt-BR" smtClean="0"/>
              <a:t>Clique para editar o texto mestre</a:t>
            </a:r>
          </a:p>
          <a:p>
            <a:pPr lvl="1"/>
            <a:r>
              <a:rPr lang="pt-BR" smtClean="0"/>
              <a:t>Segundo nível</a:t>
            </a:r>
          </a:p>
          <a:p>
            <a:pPr lvl="2"/>
            <a:r>
              <a:rPr lang="pt-BR" smtClean="0"/>
              <a:t>Terceiro nível</a:t>
            </a:r>
          </a:p>
          <a:p>
            <a:pPr lvl="3"/>
            <a:r>
              <a:rPr lang="pt-BR" smtClean="0"/>
              <a:t>Quarto nível</a:t>
            </a:r>
          </a:p>
          <a:p>
            <a:pPr lvl="4"/>
            <a:r>
              <a:rPr lang="pt-BR" smtClean="0"/>
              <a:t>Quinto nível</a:t>
            </a:r>
            <a:endParaRPr lang="pt-BR"/>
          </a:p>
        </p:txBody>
      </p:sp>
      <p:sp>
        <p:nvSpPr>
          <p:cNvPr id="5" name="Espaço Reservado para Texto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smtClean="0"/>
              <a:t>Clique para editar o texto mestre</a:t>
            </a:r>
          </a:p>
        </p:txBody>
      </p:sp>
      <p:sp>
        <p:nvSpPr>
          <p:cNvPr id="6" name="Espaço Reservado para Conteúdo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pt-BR" smtClean="0"/>
              <a:t>Clique para editar o texto mestre</a:t>
            </a:r>
          </a:p>
          <a:p>
            <a:pPr lvl="1"/>
            <a:r>
              <a:rPr lang="pt-BR" smtClean="0"/>
              <a:t>Segundo nível</a:t>
            </a:r>
          </a:p>
          <a:p>
            <a:pPr lvl="2"/>
            <a:r>
              <a:rPr lang="pt-BR" smtClean="0"/>
              <a:t>Terceiro nível</a:t>
            </a:r>
          </a:p>
          <a:p>
            <a:pPr lvl="3"/>
            <a:r>
              <a:rPr lang="pt-BR" smtClean="0"/>
              <a:t>Quarto nível</a:t>
            </a:r>
          </a:p>
          <a:p>
            <a:pPr lvl="4"/>
            <a:r>
              <a:rPr lang="pt-BR" smtClean="0"/>
              <a:t>Quinto nível</a:t>
            </a:r>
            <a:endParaRPr lang="pt-BR"/>
          </a:p>
        </p:txBody>
      </p:sp>
      <p:sp>
        <p:nvSpPr>
          <p:cNvPr id="7" name="Espaço Reservado para Data 6"/>
          <p:cNvSpPr>
            <a:spLocks noGrp="1"/>
          </p:cNvSpPr>
          <p:nvPr>
            <p:ph type="dt" sz="half" idx="10"/>
          </p:nvPr>
        </p:nvSpPr>
        <p:spPr/>
        <p:txBody>
          <a:bodyPr/>
          <a:lstStyle/>
          <a:p>
            <a:fld id="{1A8CA729-EC06-49AD-AD99-900AC3636B76}" type="datetimeFigureOut">
              <a:rPr lang="pt-BR" smtClean="0"/>
              <a:t>19/10/2018</a:t>
            </a:fld>
            <a:endParaRPr lang="pt-BR"/>
          </a:p>
        </p:txBody>
      </p:sp>
      <p:sp>
        <p:nvSpPr>
          <p:cNvPr id="8" name="Espaço Reservado para Rodapé 7"/>
          <p:cNvSpPr>
            <a:spLocks noGrp="1"/>
          </p:cNvSpPr>
          <p:nvPr>
            <p:ph type="ftr" sz="quarter" idx="11"/>
          </p:nvPr>
        </p:nvSpPr>
        <p:spPr/>
        <p:txBody>
          <a:bodyPr/>
          <a:lstStyle/>
          <a:p>
            <a:endParaRPr lang="pt-BR"/>
          </a:p>
        </p:txBody>
      </p:sp>
      <p:sp>
        <p:nvSpPr>
          <p:cNvPr id="9" name="Espaço Reservado para Número de Slide 8"/>
          <p:cNvSpPr>
            <a:spLocks noGrp="1"/>
          </p:cNvSpPr>
          <p:nvPr>
            <p:ph type="sldNum" sz="quarter" idx="12"/>
          </p:nvPr>
        </p:nvSpPr>
        <p:spPr/>
        <p:txBody>
          <a:bodyPr/>
          <a:lstStyle/>
          <a:p>
            <a:fld id="{B4B20C6F-523E-41A6-83D0-FB4C01696949}" type="slidenum">
              <a:rPr lang="pt-BR" smtClean="0"/>
              <a:t>‹nº›</a:t>
            </a:fld>
            <a:endParaRPr lang="pt-BR"/>
          </a:p>
        </p:txBody>
      </p:sp>
    </p:spTree>
    <p:extLst>
      <p:ext uri="{BB962C8B-B14F-4D97-AF65-F5344CB8AC3E}">
        <p14:creationId xmlns:p14="http://schemas.microsoft.com/office/powerpoint/2010/main" val="313761573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mente títul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smtClean="0"/>
              <a:t>Clique para editar o título mestre</a:t>
            </a:r>
            <a:endParaRPr lang="pt-BR"/>
          </a:p>
        </p:txBody>
      </p:sp>
      <p:sp>
        <p:nvSpPr>
          <p:cNvPr id="3" name="Espaço Reservado para Data 2"/>
          <p:cNvSpPr>
            <a:spLocks noGrp="1"/>
          </p:cNvSpPr>
          <p:nvPr>
            <p:ph type="dt" sz="half" idx="10"/>
          </p:nvPr>
        </p:nvSpPr>
        <p:spPr/>
        <p:txBody>
          <a:bodyPr/>
          <a:lstStyle/>
          <a:p>
            <a:fld id="{1A8CA729-EC06-49AD-AD99-900AC3636B76}" type="datetimeFigureOut">
              <a:rPr lang="pt-BR" smtClean="0"/>
              <a:t>19/10/2018</a:t>
            </a:fld>
            <a:endParaRPr lang="pt-BR"/>
          </a:p>
        </p:txBody>
      </p:sp>
      <p:sp>
        <p:nvSpPr>
          <p:cNvPr id="4" name="Espaço Reservado para Rodapé 3"/>
          <p:cNvSpPr>
            <a:spLocks noGrp="1"/>
          </p:cNvSpPr>
          <p:nvPr>
            <p:ph type="ftr" sz="quarter" idx="11"/>
          </p:nvPr>
        </p:nvSpPr>
        <p:spPr/>
        <p:txBody>
          <a:bodyPr/>
          <a:lstStyle/>
          <a:p>
            <a:endParaRPr lang="pt-BR"/>
          </a:p>
        </p:txBody>
      </p:sp>
      <p:sp>
        <p:nvSpPr>
          <p:cNvPr id="5" name="Espaço Reservado para Número de Slide 4"/>
          <p:cNvSpPr>
            <a:spLocks noGrp="1"/>
          </p:cNvSpPr>
          <p:nvPr>
            <p:ph type="sldNum" sz="quarter" idx="12"/>
          </p:nvPr>
        </p:nvSpPr>
        <p:spPr/>
        <p:txBody>
          <a:bodyPr/>
          <a:lstStyle/>
          <a:p>
            <a:fld id="{B4B20C6F-523E-41A6-83D0-FB4C01696949}" type="slidenum">
              <a:rPr lang="pt-BR" smtClean="0"/>
              <a:t>‹nº›</a:t>
            </a:fld>
            <a:endParaRPr lang="pt-BR"/>
          </a:p>
        </p:txBody>
      </p:sp>
    </p:spTree>
    <p:extLst>
      <p:ext uri="{BB962C8B-B14F-4D97-AF65-F5344CB8AC3E}">
        <p14:creationId xmlns:p14="http://schemas.microsoft.com/office/powerpoint/2010/main" val="38232093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m branco">
    <p:spTree>
      <p:nvGrpSpPr>
        <p:cNvPr id="1" name=""/>
        <p:cNvGrpSpPr/>
        <p:nvPr/>
      </p:nvGrpSpPr>
      <p:grpSpPr>
        <a:xfrm>
          <a:off x="0" y="0"/>
          <a:ext cx="0" cy="0"/>
          <a:chOff x="0" y="0"/>
          <a:chExt cx="0" cy="0"/>
        </a:xfrm>
      </p:grpSpPr>
      <p:sp>
        <p:nvSpPr>
          <p:cNvPr id="2" name="Espaço Reservado para Data 1"/>
          <p:cNvSpPr>
            <a:spLocks noGrp="1"/>
          </p:cNvSpPr>
          <p:nvPr>
            <p:ph type="dt" sz="half" idx="10"/>
          </p:nvPr>
        </p:nvSpPr>
        <p:spPr/>
        <p:txBody>
          <a:bodyPr/>
          <a:lstStyle/>
          <a:p>
            <a:fld id="{1A8CA729-EC06-49AD-AD99-900AC3636B76}" type="datetimeFigureOut">
              <a:rPr lang="pt-BR" smtClean="0"/>
              <a:t>19/10/2018</a:t>
            </a:fld>
            <a:endParaRPr lang="pt-BR"/>
          </a:p>
        </p:txBody>
      </p:sp>
      <p:sp>
        <p:nvSpPr>
          <p:cNvPr id="3" name="Espaço Reservado para Rodapé 2"/>
          <p:cNvSpPr>
            <a:spLocks noGrp="1"/>
          </p:cNvSpPr>
          <p:nvPr>
            <p:ph type="ftr" sz="quarter" idx="11"/>
          </p:nvPr>
        </p:nvSpPr>
        <p:spPr/>
        <p:txBody>
          <a:bodyPr/>
          <a:lstStyle/>
          <a:p>
            <a:endParaRPr lang="pt-BR"/>
          </a:p>
        </p:txBody>
      </p:sp>
      <p:sp>
        <p:nvSpPr>
          <p:cNvPr id="4" name="Espaço Reservado para Número de Slide 3"/>
          <p:cNvSpPr>
            <a:spLocks noGrp="1"/>
          </p:cNvSpPr>
          <p:nvPr>
            <p:ph type="sldNum" sz="quarter" idx="12"/>
          </p:nvPr>
        </p:nvSpPr>
        <p:spPr/>
        <p:txBody>
          <a:bodyPr/>
          <a:lstStyle/>
          <a:p>
            <a:fld id="{B4B20C6F-523E-41A6-83D0-FB4C01696949}" type="slidenum">
              <a:rPr lang="pt-BR" smtClean="0"/>
              <a:t>‹nº›</a:t>
            </a:fld>
            <a:endParaRPr lang="pt-BR"/>
          </a:p>
        </p:txBody>
      </p:sp>
    </p:spTree>
    <p:extLst>
      <p:ext uri="{BB962C8B-B14F-4D97-AF65-F5344CB8AC3E}">
        <p14:creationId xmlns:p14="http://schemas.microsoft.com/office/powerpoint/2010/main" val="341559034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údo com Legenda">
    <p:spTree>
      <p:nvGrpSpPr>
        <p:cNvPr id="1" name=""/>
        <p:cNvGrpSpPr/>
        <p:nvPr/>
      </p:nvGrpSpPr>
      <p:grpSpPr>
        <a:xfrm>
          <a:off x="0" y="0"/>
          <a:ext cx="0" cy="0"/>
          <a:chOff x="0" y="0"/>
          <a:chExt cx="0" cy="0"/>
        </a:xfrm>
      </p:grpSpPr>
      <p:sp>
        <p:nvSpPr>
          <p:cNvPr id="2" name="Título 1"/>
          <p:cNvSpPr>
            <a:spLocks noGrp="1"/>
          </p:cNvSpPr>
          <p:nvPr>
            <p:ph type="title"/>
          </p:nvPr>
        </p:nvSpPr>
        <p:spPr>
          <a:xfrm>
            <a:off x="457200" y="273050"/>
            <a:ext cx="3008313" cy="1162050"/>
          </a:xfrm>
        </p:spPr>
        <p:txBody>
          <a:bodyPr anchor="b"/>
          <a:lstStyle>
            <a:lvl1pPr algn="l">
              <a:defRPr sz="2000" b="1"/>
            </a:lvl1pPr>
          </a:lstStyle>
          <a:p>
            <a:r>
              <a:rPr lang="pt-BR" smtClean="0"/>
              <a:t>Clique para editar o título mestre</a:t>
            </a:r>
            <a:endParaRPr lang="pt-BR"/>
          </a:p>
        </p:txBody>
      </p:sp>
      <p:sp>
        <p:nvSpPr>
          <p:cNvPr id="3" name="Espaço Reservado para Conteúdo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pt-BR" smtClean="0"/>
              <a:t>Clique para editar o texto mestre</a:t>
            </a:r>
          </a:p>
          <a:p>
            <a:pPr lvl="1"/>
            <a:r>
              <a:rPr lang="pt-BR" smtClean="0"/>
              <a:t>Segundo nível</a:t>
            </a:r>
          </a:p>
          <a:p>
            <a:pPr lvl="2"/>
            <a:r>
              <a:rPr lang="pt-BR" smtClean="0"/>
              <a:t>Terceiro nível</a:t>
            </a:r>
          </a:p>
          <a:p>
            <a:pPr lvl="3"/>
            <a:r>
              <a:rPr lang="pt-BR" smtClean="0"/>
              <a:t>Quarto nível</a:t>
            </a:r>
          </a:p>
          <a:p>
            <a:pPr lvl="4"/>
            <a:r>
              <a:rPr lang="pt-BR" smtClean="0"/>
              <a:t>Quinto nível</a:t>
            </a:r>
            <a:endParaRPr lang="pt-BR"/>
          </a:p>
        </p:txBody>
      </p:sp>
      <p:sp>
        <p:nvSpPr>
          <p:cNvPr id="4" name="Espaço Reservado para Texto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pt-BR" smtClean="0"/>
              <a:t>Clique para editar o texto mestre</a:t>
            </a:r>
          </a:p>
        </p:txBody>
      </p:sp>
      <p:sp>
        <p:nvSpPr>
          <p:cNvPr id="5" name="Espaço Reservado para Data 4"/>
          <p:cNvSpPr>
            <a:spLocks noGrp="1"/>
          </p:cNvSpPr>
          <p:nvPr>
            <p:ph type="dt" sz="half" idx="10"/>
          </p:nvPr>
        </p:nvSpPr>
        <p:spPr/>
        <p:txBody>
          <a:bodyPr/>
          <a:lstStyle/>
          <a:p>
            <a:fld id="{1A8CA729-EC06-49AD-AD99-900AC3636B76}" type="datetimeFigureOut">
              <a:rPr lang="pt-BR" smtClean="0"/>
              <a:t>19/10/2018</a:t>
            </a:fld>
            <a:endParaRPr lang="pt-BR"/>
          </a:p>
        </p:txBody>
      </p:sp>
      <p:sp>
        <p:nvSpPr>
          <p:cNvPr id="6" name="Espaço Reservado para Rodapé 5"/>
          <p:cNvSpPr>
            <a:spLocks noGrp="1"/>
          </p:cNvSpPr>
          <p:nvPr>
            <p:ph type="ftr" sz="quarter" idx="11"/>
          </p:nvPr>
        </p:nvSpPr>
        <p:spPr/>
        <p:txBody>
          <a:bodyPr/>
          <a:lstStyle/>
          <a:p>
            <a:endParaRPr lang="pt-BR"/>
          </a:p>
        </p:txBody>
      </p:sp>
      <p:sp>
        <p:nvSpPr>
          <p:cNvPr id="7" name="Espaço Reservado para Número de Slide 6"/>
          <p:cNvSpPr>
            <a:spLocks noGrp="1"/>
          </p:cNvSpPr>
          <p:nvPr>
            <p:ph type="sldNum" sz="quarter" idx="12"/>
          </p:nvPr>
        </p:nvSpPr>
        <p:spPr/>
        <p:txBody>
          <a:bodyPr/>
          <a:lstStyle/>
          <a:p>
            <a:fld id="{B4B20C6F-523E-41A6-83D0-FB4C01696949}" type="slidenum">
              <a:rPr lang="pt-BR" smtClean="0"/>
              <a:t>‹nº›</a:t>
            </a:fld>
            <a:endParaRPr lang="pt-BR"/>
          </a:p>
        </p:txBody>
      </p:sp>
    </p:spTree>
    <p:extLst>
      <p:ext uri="{BB962C8B-B14F-4D97-AF65-F5344CB8AC3E}">
        <p14:creationId xmlns:p14="http://schemas.microsoft.com/office/powerpoint/2010/main" val="16182260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m com Legenda">
    <p:spTree>
      <p:nvGrpSpPr>
        <p:cNvPr id="1" name=""/>
        <p:cNvGrpSpPr/>
        <p:nvPr/>
      </p:nvGrpSpPr>
      <p:grpSpPr>
        <a:xfrm>
          <a:off x="0" y="0"/>
          <a:ext cx="0" cy="0"/>
          <a:chOff x="0" y="0"/>
          <a:chExt cx="0" cy="0"/>
        </a:xfrm>
      </p:grpSpPr>
      <p:sp>
        <p:nvSpPr>
          <p:cNvPr id="2" name="Título 1"/>
          <p:cNvSpPr>
            <a:spLocks noGrp="1"/>
          </p:cNvSpPr>
          <p:nvPr>
            <p:ph type="title"/>
          </p:nvPr>
        </p:nvSpPr>
        <p:spPr>
          <a:xfrm>
            <a:off x="1792288" y="4800600"/>
            <a:ext cx="5486400" cy="566738"/>
          </a:xfrm>
        </p:spPr>
        <p:txBody>
          <a:bodyPr anchor="b"/>
          <a:lstStyle>
            <a:lvl1pPr algn="l">
              <a:defRPr sz="2000" b="1"/>
            </a:lvl1pPr>
          </a:lstStyle>
          <a:p>
            <a:r>
              <a:rPr lang="pt-BR" smtClean="0"/>
              <a:t>Clique para editar o título mestre</a:t>
            </a:r>
            <a:endParaRPr lang="pt-BR"/>
          </a:p>
        </p:txBody>
      </p:sp>
      <p:sp>
        <p:nvSpPr>
          <p:cNvPr id="3" name="Espaço Reservado para Imagem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pt-BR"/>
          </a:p>
        </p:txBody>
      </p:sp>
      <p:sp>
        <p:nvSpPr>
          <p:cNvPr id="4" name="Espaço Reservado para Texto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pt-BR" smtClean="0"/>
              <a:t>Clique para editar o texto mestre</a:t>
            </a:r>
          </a:p>
        </p:txBody>
      </p:sp>
      <p:sp>
        <p:nvSpPr>
          <p:cNvPr id="5" name="Espaço Reservado para Data 4"/>
          <p:cNvSpPr>
            <a:spLocks noGrp="1"/>
          </p:cNvSpPr>
          <p:nvPr>
            <p:ph type="dt" sz="half" idx="10"/>
          </p:nvPr>
        </p:nvSpPr>
        <p:spPr/>
        <p:txBody>
          <a:bodyPr/>
          <a:lstStyle/>
          <a:p>
            <a:fld id="{1A8CA729-EC06-49AD-AD99-900AC3636B76}" type="datetimeFigureOut">
              <a:rPr lang="pt-BR" smtClean="0"/>
              <a:t>19/10/2018</a:t>
            </a:fld>
            <a:endParaRPr lang="pt-BR"/>
          </a:p>
        </p:txBody>
      </p:sp>
      <p:sp>
        <p:nvSpPr>
          <p:cNvPr id="6" name="Espaço Reservado para Rodapé 5"/>
          <p:cNvSpPr>
            <a:spLocks noGrp="1"/>
          </p:cNvSpPr>
          <p:nvPr>
            <p:ph type="ftr" sz="quarter" idx="11"/>
          </p:nvPr>
        </p:nvSpPr>
        <p:spPr/>
        <p:txBody>
          <a:bodyPr/>
          <a:lstStyle/>
          <a:p>
            <a:endParaRPr lang="pt-BR"/>
          </a:p>
        </p:txBody>
      </p:sp>
      <p:sp>
        <p:nvSpPr>
          <p:cNvPr id="7" name="Espaço Reservado para Número de Slide 6"/>
          <p:cNvSpPr>
            <a:spLocks noGrp="1"/>
          </p:cNvSpPr>
          <p:nvPr>
            <p:ph type="sldNum" sz="quarter" idx="12"/>
          </p:nvPr>
        </p:nvSpPr>
        <p:spPr/>
        <p:txBody>
          <a:bodyPr/>
          <a:lstStyle/>
          <a:p>
            <a:fld id="{B4B20C6F-523E-41A6-83D0-FB4C01696949}" type="slidenum">
              <a:rPr lang="pt-BR" smtClean="0"/>
              <a:t>‹nº›</a:t>
            </a:fld>
            <a:endParaRPr lang="pt-BR"/>
          </a:p>
        </p:txBody>
      </p:sp>
    </p:spTree>
    <p:extLst>
      <p:ext uri="{BB962C8B-B14F-4D97-AF65-F5344CB8AC3E}">
        <p14:creationId xmlns:p14="http://schemas.microsoft.com/office/powerpoint/2010/main" val="195707679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e texto vertical">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smtClean="0"/>
              <a:t>Clique para editar o título mestre</a:t>
            </a:r>
            <a:endParaRPr lang="pt-BR"/>
          </a:p>
        </p:txBody>
      </p:sp>
      <p:sp>
        <p:nvSpPr>
          <p:cNvPr id="3" name="Espaço Reservado para Texto Vertical 2"/>
          <p:cNvSpPr>
            <a:spLocks noGrp="1"/>
          </p:cNvSpPr>
          <p:nvPr>
            <p:ph type="body" orient="vert" idx="1"/>
          </p:nvPr>
        </p:nvSpPr>
        <p:spPr/>
        <p:txBody>
          <a:bodyPr vert="eaVert"/>
          <a:lstStyle/>
          <a:p>
            <a:pPr lvl="0"/>
            <a:r>
              <a:rPr lang="pt-BR" smtClean="0"/>
              <a:t>Clique para editar o texto mestre</a:t>
            </a:r>
          </a:p>
          <a:p>
            <a:pPr lvl="1"/>
            <a:r>
              <a:rPr lang="pt-BR" smtClean="0"/>
              <a:t>Segundo nível</a:t>
            </a:r>
          </a:p>
          <a:p>
            <a:pPr lvl="2"/>
            <a:r>
              <a:rPr lang="pt-BR" smtClean="0"/>
              <a:t>Terceiro nível</a:t>
            </a:r>
          </a:p>
          <a:p>
            <a:pPr lvl="3"/>
            <a:r>
              <a:rPr lang="pt-BR" smtClean="0"/>
              <a:t>Quarto nível</a:t>
            </a:r>
          </a:p>
          <a:p>
            <a:pPr lvl="4"/>
            <a:r>
              <a:rPr lang="pt-BR" smtClean="0"/>
              <a:t>Quinto nível</a:t>
            </a:r>
            <a:endParaRPr lang="pt-BR"/>
          </a:p>
        </p:txBody>
      </p:sp>
      <p:sp>
        <p:nvSpPr>
          <p:cNvPr id="4" name="Espaço Reservado para Data 3"/>
          <p:cNvSpPr>
            <a:spLocks noGrp="1"/>
          </p:cNvSpPr>
          <p:nvPr>
            <p:ph type="dt" sz="half" idx="10"/>
          </p:nvPr>
        </p:nvSpPr>
        <p:spPr/>
        <p:txBody>
          <a:bodyPr/>
          <a:lstStyle/>
          <a:p>
            <a:fld id="{1A8CA729-EC06-49AD-AD99-900AC3636B76}" type="datetimeFigureOut">
              <a:rPr lang="pt-BR" smtClean="0"/>
              <a:t>19/10/2018</a:t>
            </a:fld>
            <a:endParaRPr lang="pt-BR"/>
          </a:p>
        </p:txBody>
      </p:sp>
      <p:sp>
        <p:nvSpPr>
          <p:cNvPr id="5" name="Espaço Reservado para Rodapé 4"/>
          <p:cNvSpPr>
            <a:spLocks noGrp="1"/>
          </p:cNvSpPr>
          <p:nvPr>
            <p:ph type="ftr" sz="quarter" idx="11"/>
          </p:nvPr>
        </p:nvSpPr>
        <p:spPr/>
        <p:txBody>
          <a:bodyPr/>
          <a:lstStyle/>
          <a:p>
            <a:endParaRPr lang="pt-BR"/>
          </a:p>
        </p:txBody>
      </p:sp>
      <p:sp>
        <p:nvSpPr>
          <p:cNvPr id="6" name="Espaço Reservado para Número de Slide 5"/>
          <p:cNvSpPr>
            <a:spLocks noGrp="1"/>
          </p:cNvSpPr>
          <p:nvPr>
            <p:ph type="sldNum" sz="quarter" idx="12"/>
          </p:nvPr>
        </p:nvSpPr>
        <p:spPr/>
        <p:txBody>
          <a:bodyPr/>
          <a:lstStyle/>
          <a:p>
            <a:fld id="{B4B20C6F-523E-41A6-83D0-FB4C01696949}" type="slidenum">
              <a:rPr lang="pt-BR" smtClean="0"/>
              <a:t>‹nº›</a:t>
            </a:fld>
            <a:endParaRPr lang="pt-BR"/>
          </a:p>
        </p:txBody>
      </p:sp>
    </p:spTree>
    <p:extLst>
      <p:ext uri="{BB962C8B-B14F-4D97-AF65-F5344CB8AC3E}">
        <p14:creationId xmlns:p14="http://schemas.microsoft.com/office/powerpoint/2010/main" val="37323035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e texto verticais">
    <p:spTree>
      <p:nvGrpSpPr>
        <p:cNvPr id="1" name=""/>
        <p:cNvGrpSpPr/>
        <p:nvPr/>
      </p:nvGrpSpPr>
      <p:grpSpPr>
        <a:xfrm>
          <a:off x="0" y="0"/>
          <a:ext cx="0" cy="0"/>
          <a:chOff x="0" y="0"/>
          <a:chExt cx="0" cy="0"/>
        </a:xfrm>
      </p:grpSpPr>
      <p:sp>
        <p:nvSpPr>
          <p:cNvPr id="2" name="Título Vertical 1"/>
          <p:cNvSpPr>
            <a:spLocks noGrp="1"/>
          </p:cNvSpPr>
          <p:nvPr>
            <p:ph type="title" orient="vert"/>
          </p:nvPr>
        </p:nvSpPr>
        <p:spPr>
          <a:xfrm>
            <a:off x="6629400" y="274638"/>
            <a:ext cx="2057400" cy="5851525"/>
          </a:xfrm>
        </p:spPr>
        <p:txBody>
          <a:bodyPr vert="eaVert"/>
          <a:lstStyle/>
          <a:p>
            <a:r>
              <a:rPr lang="pt-BR" smtClean="0"/>
              <a:t>Clique para editar o título mestre</a:t>
            </a:r>
            <a:endParaRPr lang="pt-BR"/>
          </a:p>
        </p:txBody>
      </p:sp>
      <p:sp>
        <p:nvSpPr>
          <p:cNvPr id="3" name="Espaço Reservado para Texto Vertical 2"/>
          <p:cNvSpPr>
            <a:spLocks noGrp="1"/>
          </p:cNvSpPr>
          <p:nvPr>
            <p:ph type="body" orient="vert" idx="1"/>
          </p:nvPr>
        </p:nvSpPr>
        <p:spPr>
          <a:xfrm>
            <a:off x="457200" y="274638"/>
            <a:ext cx="6019800" cy="5851525"/>
          </a:xfrm>
        </p:spPr>
        <p:txBody>
          <a:bodyPr vert="eaVert"/>
          <a:lstStyle/>
          <a:p>
            <a:pPr lvl="0"/>
            <a:r>
              <a:rPr lang="pt-BR" smtClean="0"/>
              <a:t>Clique para editar o texto mestre</a:t>
            </a:r>
          </a:p>
          <a:p>
            <a:pPr lvl="1"/>
            <a:r>
              <a:rPr lang="pt-BR" smtClean="0"/>
              <a:t>Segundo nível</a:t>
            </a:r>
          </a:p>
          <a:p>
            <a:pPr lvl="2"/>
            <a:r>
              <a:rPr lang="pt-BR" smtClean="0"/>
              <a:t>Terceiro nível</a:t>
            </a:r>
          </a:p>
          <a:p>
            <a:pPr lvl="3"/>
            <a:r>
              <a:rPr lang="pt-BR" smtClean="0"/>
              <a:t>Quarto nível</a:t>
            </a:r>
          </a:p>
          <a:p>
            <a:pPr lvl="4"/>
            <a:r>
              <a:rPr lang="pt-BR" smtClean="0"/>
              <a:t>Quinto nível</a:t>
            </a:r>
            <a:endParaRPr lang="pt-BR"/>
          </a:p>
        </p:txBody>
      </p:sp>
      <p:sp>
        <p:nvSpPr>
          <p:cNvPr id="4" name="Espaço Reservado para Data 3"/>
          <p:cNvSpPr>
            <a:spLocks noGrp="1"/>
          </p:cNvSpPr>
          <p:nvPr>
            <p:ph type="dt" sz="half" idx="10"/>
          </p:nvPr>
        </p:nvSpPr>
        <p:spPr/>
        <p:txBody>
          <a:bodyPr/>
          <a:lstStyle/>
          <a:p>
            <a:fld id="{1A8CA729-EC06-49AD-AD99-900AC3636B76}" type="datetimeFigureOut">
              <a:rPr lang="pt-BR" smtClean="0"/>
              <a:t>19/10/2018</a:t>
            </a:fld>
            <a:endParaRPr lang="pt-BR"/>
          </a:p>
        </p:txBody>
      </p:sp>
      <p:sp>
        <p:nvSpPr>
          <p:cNvPr id="5" name="Espaço Reservado para Rodapé 4"/>
          <p:cNvSpPr>
            <a:spLocks noGrp="1"/>
          </p:cNvSpPr>
          <p:nvPr>
            <p:ph type="ftr" sz="quarter" idx="11"/>
          </p:nvPr>
        </p:nvSpPr>
        <p:spPr/>
        <p:txBody>
          <a:bodyPr/>
          <a:lstStyle/>
          <a:p>
            <a:endParaRPr lang="pt-BR"/>
          </a:p>
        </p:txBody>
      </p:sp>
      <p:sp>
        <p:nvSpPr>
          <p:cNvPr id="6" name="Espaço Reservado para Número de Slide 5"/>
          <p:cNvSpPr>
            <a:spLocks noGrp="1"/>
          </p:cNvSpPr>
          <p:nvPr>
            <p:ph type="sldNum" sz="quarter" idx="12"/>
          </p:nvPr>
        </p:nvSpPr>
        <p:spPr/>
        <p:txBody>
          <a:bodyPr/>
          <a:lstStyle/>
          <a:p>
            <a:fld id="{B4B20C6F-523E-41A6-83D0-FB4C01696949}" type="slidenum">
              <a:rPr lang="pt-BR" smtClean="0"/>
              <a:t>‹nº›</a:t>
            </a:fld>
            <a:endParaRPr lang="pt-BR"/>
          </a:p>
        </p:txBody>
      </p:sp>
    </p:spTree>
    <p:extLst>
      <p:ext uri="{BB962C8B-B14F-4D97-AF65-F5344CB8AC3E}">
        <p14:creationId xmlns:p14="http://schemas.microsoft.com/office/powerpoint/2010/main" val="245672036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Título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pt-BR" smtClean="0"/>
              <a:t>Clique para editar o título mestre</a:t>
            </a:r>
            <a:endParaRPr lang="pt-BR"/>
          </a:p>
        </p:txBody>
      </p:sp>
      <p:sp>
        <p:nvSpPr>
          <p:cNvPr id="3" name="Espaço Reservado para Texto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pt-BR" smtClean="0"/>
              <a:t>Clique para editar o texto mestre</a:t>
            </a:r>
          </a:p>
          <a:p>
            <a:pPr lvl="1"/>
            <a:r>
              <a:rPr lang="pt-BR" smtClean="0"/>
              <a:t>Segundo nível</a:t>
            </a:r>
          </a:p>
          <a:p>
            <a:pPr lvl="2"/>
            <a:r>
              <a:rPr lang="pt-BR" smtClean="0"/>
              <a:t>Terceiro nível</a:t>
            </a:r>
          </a:p>
          <a:p>
            <a:pPr lvl="3"/>
            <a:r>
              <a:rPr lang="pt-BR" smtClean="0"/>
              <a:t>Quarto nível</a:t>
            </a:r>
          </a:p>
          <a:p>
            <a:pPr lvl="4"/>
            <a:r>
              <a:rPr lang="pt-BR" smtClean="0"/>
              <a:t>Quinto nível</a:t>
            </a:r>
            <a:endParaRPr lang="pt-BR"/>
          </a:p>
        </p:txBody>
      </p:sp>
      <p:sp>
        <p:nvSpPr>
          <p:cNvPr id="4" name="Espaço Reservado para Data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A8CA729-EC06-49AD-AD99-900AC3636B76}" type="datetimeFigureOut">
              <a:rPr lang="pt-BR" smtClean="0"/>
              <a:t>19/10/2018</a:t>
            </a:fld>
            <a:endParaRPr lang="pt-BR"/>
          </a:p>
        </p:txBody>
      </p:sp>
      <p:sp>
        <p:nvSpPr>
          <p:cNvPr id="5" name="Espaço Reservado para Rodapé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pt-BR"/>
          </a:p>
        </p:txBody>
      </p:sp>
      <p:sp>
        <p:nvSpPr>
          <p:cNvPr id="6" name="Espaço Reservado para Número de Slide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4B20C6F-523E-41A6-83D0-FB4C01696949}" type="slidenum">
              <a:rPr lang="pt-BR" smtClean="0"/>
              <a:t>‹nº›</a:t>
            </a:fld>
            <a:endParaRPr lang="pt-BR"/>
          </a:p>
        </p:txBody>
      </p:sp>
    </p:spTree>
    <p:extLst>
      <p:ext uri="{BB962C8B-B14F-4D97-AF65-F5344CB8AC3E}">
        <p14:creationId xmlns:p14="http://schemas.microsoft.com/office/powerpoint/2010/main" val="8445216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hyperlink" Target="https://blog.tagplus.com.br/anulada-partilha-do-icms-interestadual-nao-vale-mais-para-simples-nacional/" TargetMode="External"/><Relationship Id="rId1" Type="http://schemas.openxmlformats.org/officeDocument/2006/relationships/slideLayout" Target="../slideLayouts/slideLayout1.xml"/><Relationship Id="rId6" Type="http://schemas.openxmlformats.org/officeDocument/2006/relationships/image" Target="../media/image3.png"/><Relationship Id="rId5" Type="http://schemas.openxmlformats.org/officeDocument/2006/relationships/image" Target="../media/image2.jpeg"/><Relationship Id="rId4" Type="http://schemas.openxmlformats.org/officeDocument/2006/relationships/hyperlink" Target="https://www.grupoleste.com/fim-de-ano-chegando-parcele-o-ipva-de-2018/" TargetMode="External"/></Relationships>
</file>

<file path=ppt/slides/_rels/slide2.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jpe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ctrTitle"/>
          </p:nvPr>
        </p:nvSpPr>
        <p:spPr>
          <a:xfrm>
            <a:off x="683568" y="404664"/>
            <a:ext cx="7772400" cy="1470025"/>
          </a:xfrm>
        </p:spPr>
        <p:txBody>
          <a:bodyPr/>
          <a:lstStyle/>
          <a:p>
            <a:r>
              <a:rPr lang="pt-BR" b="1" dirty="0" smtClean="0"/>
              <a:t>IMPOSTOS ESTADUAIS – Parte </a:t>
            </a:r>
            <a:r>
              <a:rPr lang="pt-BR" b="1" dirty="0" smtClean="0"/>
              <a:t>2</a:t>
            </a:r>
            <a:endParaRPr lang="pt-BR" b="1" dirty="0"/>
          </a:p>
        </p:txBody>
      </p:sp>
      <p:sp>
        <p:nvSpPr>
          <p:cNvPr id="3" name="Subtítulo 2"/>
          <p:cNvSpPr>
            <a:spLocks noGrp="1"/>
          </p:cNvSpPr>
          <p:nvPr>
            <p:ph type="subTitle" idx="1"/>
          </p:nvPr>
        </p:nvSpPr>
        <p:spPr>
          <a:xfrm>
            <a:off x="4067944" y="5805264"/>
            <a:ext cx="4960640" cy="769640"/>
          </a:xfrm>
        </p:spPr>
        <p:txBody>
          <a:bodyPr/>
          <a:lstStyle/>
          <a:p>
            <a:r>
              <a:rPr lang="pt-BR" b="1" dirty="0" smtClean="0">
                <a:solidFill>
                  <a:schemeClr val="tx1"/>
                </a:solidFill>
              </a:rPr>
              <a:t>Prof. Lúcia Young</a:t>
            </a:r>
            <a:endParaRPr lang="pt-BR" b="1" dirty="0">
              <a:solidFill>
                <a:schemeClr val="tx1"/>
              </a:solidFill>
            </a:endParaRPr>
          </a:p>
        </p:txBody>
      </p:sp>
      <p:pic>
        <p:nvPicPr>
          <p:cNvPr id="1028" name="Picture 4" descr="Resultado de imagem para ICMS">
            <a:hlinkClick r:id="rId2"/>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9552" y="2276872"/>
            <a:ext cx="3312368" cy="1888050"/>
          </a:xfrm>
          <a:prstGeom prst="rect">
            <a:avLst/>
          </a:prstGeom>
          <a:noFill/>
          <a:extLst>
            <a:ext uri="{909E8E84-426E-40DD-AFC4-6F175D3DCCD1}">
              <a14:hiddenFill xmlns:a14="http://schemas.microsoft.com/office/drawing/2010/main">
                <a:solidFill>
                  <a:srgbClr val="FFFFFF"/>
                </a:solidFill>
              </a14:hiddenFill>
            </a:ext>
          </a:extLst>
        </p:spPr>
      </p:pic>
      <p:pic>
        <p:nvPicPr>
          <p:cNvPr id="1036" name="Picture 12" descr="Resultado de imagem para IPVA">
            <a:hlinkClick r:id="rId4"/>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932040" y="2211019"/>
            <a:ext cx="3816424" cy="1964520"/>
          </a:xfrm>
          <a:prstGeom prst="rect">
            <a:avLst/>
          </a:prstGeom>
          <a:noFill/>
          <a:extLst>
            <a:ext uri="{909E8E84-426E-40DD-AFC4-6F175D3DCCD1}">
              <a14:hiddenFill xmlns:a14="http://schemas.microsoft.com/office/drawing/2010/main">
                <a:solidFill>
                  <a:srgbClr val="FFFFFF"/>
                </a:solidFill>
              </a14:hiddenFill>
            </a:ext>
          </a:extLst>
        </p:spPr>
      </p:pic>
      <p:pic>
        <p:nvPicPr>
          <p:cNvPr id="1038" name="Picture 14" descr="Resultado de imagem para ITCMD"/>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83568" y="4551586"/>
            <a:ext cx="3096344" cy="185251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300884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3"/>
          <p:cNvSpPr>
            <a:spLocks noGrp="1"/>
          </p:cNvSpPr>
          <p:nvPr>
            <p:ph type="ctrTitle"/>
          </p:nvPr>
        </p:nvSpPr>
        <p:spPr/>
        <p:txBody>
          <a:bodyPr>
            <a:normAutofit/>
          </a:bodyPr>
          <a:lstStyle/>
          <a:p>
            <a:r>
              <a:rPr lang="pt-BR" sz="6000" b="1" dirty="0" smtClean="0"/>
              <a:t>ITCMD</a:t>
            </a:r>
            <a:endParaRPr lang="pt-BR" sz="6000" b="1" dirty="0"/>
          </a:p>
        </p:txBody>
      </p:sp>
      <p:pic>
        <p:nvPicPr>
          <p:cNvPr id="1028" name="Picture 4" descr="Resultado de imagem para doaÃ§Ã£o"/>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5575" y="4365104"/>
            <a:ext cx="4416575" cy="2208288"/>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Imagem relacionada"/>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156325" y="188640"/>
            <a:ext cx="2880320" cy="288032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4640887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b="1" dirty="0" smtClean="0"/>
              <a:t>Embasamento Legal</a:t>
            </a:r>
            <a:endParaRPr lang="pt-BR" b="1" dirty="0"/>
          </a:p>
        </p:txBody>
      </p:sp>
      <p:sp>
        <p:nvSpPr>
          <p:cNvPr id="3" name="Espaço Reservado para Conteúdo 2"/>
          <p:cNvSpPr>
            <a:spLocks noGrp="1"/>
          </p:cNvSpPr>
          <p:nvPr>
            <p:ph idx="1"/>
          </p:nvPr>
        </p:nvSpPr>
        <p:spPr/>
        <p:txBody>
          <a:bodyPr>
            <a:normAutofit/>
          </a:bodyPr>
          <a:lstStyle/>
          <a:p>
            <a:r>
              <a:rPr lang="pt-BR" sz="2800" dirty="0" smtClean="0"/>
              <a:t>Constituição Federal, art. 155, inciso I</a:t>
            </a:r>
          </a:p>
          <a:p>
            <a:endParaRPr lang="pt-BR" sz="2800" dirty="0"/>
          </a:p>
          <a:p>
            <a:r>
              <a:rPr lang="pt-BR" sz="2800" dirty="0"/>
              <a:t>Lei nº 18.573/2015</a:t>
            </a:r>
          </a:p>
          <a:p>
            <a:endParaRPr lang="pt-BR" sz="2800" dirty="0" smtClean="0"/>
          </a:p>
          <a:p>
            <a:r>
              <a:rPr lang="pt-BR" sz="2800" dirty="0" smtClean="0"/>
              <a:t>Resolução </a:t>
            </a:r>
            <a:r>
              <a:rPr lang="pt-BR" sz="2800" dirty="0"/>
              <a:t>SEFA nº </a:t>
            </a:r>
            <a:r>
              <a:rPr lang="pt-BR" sz="2800" dirty="0" smtClean="0"/>
              <a:t>5/2018</a:t>
            </a:r>
            <a:endParaRPr lang="pt-BR" sz="2800" dirty="0"/>
          </a:p>
        </p:txBody>
      </p:sp>
    </p:spTree>
    <p:extLst>
      <p:ext uri="{BB962C8B-B14F-4D97-AF65-F5344CB8AC3E}">
        <p14:creationId xmlns:p14="http://schemas.microsoft.com/office/powerpoint/2010/main" val="34742080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b="1" dirty="0" smtClean="0"/>
              <a:t>Inci</a:t>
            </a:r>
            <a:r>
              <a:rPr lang="pt-BR" b="1" dirty="0" smtClean="0"/>
              <a:t>dência</a:t>
            </a:r>
            <a:endParaRPr lang="pt-BR" b="1" dirty="0"/>
          </a:p>
        </p:txBody>
      </p:sp>
      <p:sp>
        <p:nvSpPr>
          <p:cNvPr id="3" name="Espaço Reservado para Conteúdo 2"/>
          <p:cNvSpPr>
            <a:spLocks noGrp="1"/>
          </p:cNvSpPr>
          <p:nvPr>
            <p:ph idx="1"/>
          </p:nvPr>
        </p:nvSpPr>
        <p:spPr>
          <a:xfrm>
            <a:off x="4688020" y="1600200"/>
            <a:ext cx="3998780" cy="4525963"/>
          </a:xfrm>
        </p:spPr>
        <p:txBody>
          <a:bodyPr>
            <a:normAutofit fontScale="70000" lnSpcReduction="20000"/>
          </a:bodyPr>
          <a:lstStyle/>
          <a:p>
            <a:r>
              <a:rPr lang="pt-BR" sz="2800" dirty="0"/>
              <a:t>O Imposto sobre a Transmissão </a:t>
            </a:r>
            <a:r>
              <a:rPr lang="pt-BR" sz="2800" dirty="0" smtClean="0"/>
              <a:t>“Causa Mortis” </a:t>
            </a:r>
            <a:r>
              <a:rPr lang="pt-BR" sz="2800" dirty="0"/>
              <a:t>e Doações de Quaisquer Bens ou Direitos (ITCMD) incide sobre a transmissão pela via sucessória legítima ou testamentária, inclusive a sucessão provisória, ou por </a:t>
            </a:r>
            <a:r>
              <a:rPr lang="pt-BR" sz="2800" dirty="0" smtClean="0"/>
              <a:t>doação:</a:t>
            </a:r>
          </a:p>
          <a:p>
            <a:endParaRPr lang="pt-BR" sz="2800" dirty="0"/>
          </a:p>
          <a:p>
            <a:pPr>
              <a:buFont typeface="Wingdings" panose="05000000000000000000" pitchFamily="2" charset="2"/>
              <a:buChar char="ü"/>
            </a:pPr>
            <a:r>
              <a:rPr lang="pt-BR" sz="2800" dirty="0"/>
              <a:t>a) da propriedade, da posse ou do </a:t>
            </a:r>
            <a:r>
              <a:rPr lang="pt-BR" sz="2800" dirty="0" smtClean="0"/>
              <a:t>domínio (registro imobiliário), </a:t>
            </a:r>
            <a:r>
              <a:rPr lang="pt-BR" sz="2800" dirty="0"/>
              <a:t>de quaisquer bens ou </a:t>
            </a:r>
            <a:r>
              <a:rPr lang="pt-BR" sz="2800" dirty="0" smtClean="0"/>
              <a:t>direitos;</a:t>
            </a:r>
            <a:endParaRPr lang="pt-BR" sz="2800" dirty="0"/>
          </a:p>
          <a:p>
            <a:pPr>
              <a:buFont typeface="Wingdings" panose="05000000000000000000" pitchFamily="2" charset="2"/>
              <a:buChar char="ü"/>
            </a:pPr>
            <a:endParaRPr lang="pt-BR" sz="2800" dirty="0"/>
          </a:p>
          <a:p>
            <a:pPr>
              <a:buFont typeface="Wingdings" panose="05000000000000000000" pitchFamily="2" charset="2"/>
              <a:buChar char="ü"/>
            </a:pPr>
            <a:r>
              <a:rPr lang="pt-BR" sz="2800" dirty="0" smtClean="0"/>
              <a:t>b</a:t>
            </a:r>
            <a:r>
              <a:rPr lang="pt-BR" sz="2800" dirty="0"/>
              <a:t>) de direitos reais sobre quaisquer bens, exceto os de garantia.</a:t>
            </a:r>
            <a:endParaRPr lang="pt-BR" sz="2800" dirty="0"/>
          </a:p>
        </p:txBody>
      </p:sp>
      <p:pic>
        <p:nvPicPr>
          <p:cNvPr id="2050" name="Picture 2" descr="Resultado de imagem para causa morti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980728"/>
            <a:ext cx="4688020" cy="5400600"/>
          </a:xfrm>
          <a:prstGeom prst="rect">
            <a:avLst/>
          </a:prstGeom>
          <a:noFill/>
          <a:extLst>
            <a:ext uri="{909E8E84-426E-40DD-AFC4-6F175D3DCCD1}">
              <a14:hiddenFill xmlns:a14="http://schemas.microsoft.com/office/drawing/2010/main">
                <a:solidFill>
                  <a:srgbClr val="FFFFFF"/>
                </a:solidFill>
              </a14:hiddenFill>
            </a:ext>
          </a:extLst>
        </p:spPr>
      </p:pic>
      <p:sp>
        <p:nvSpPr>
          <p:cNvPr id="4" name="Seta para a direita 3"/>
          <p:cNvSpPr/>
          <p:nvPr/>
        </p:nvSpPr>
        <p:spPr>
          <a:xfrm>
            <a:off x="7812360" y="260648"/>
            <a:ext cx="792088" cy="576064"/>
          </a:xfrm>
          <a:prstGeom prst="rightArrow">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pt-BR"/>
          </a:p>
        </p:txBody>
      </p:sp>
    </p:spTree>
    <p:extLst>
      <p:ext uri="{BB962C8B-B14F-4D97-AF65-F5344CB8AC3E}">
        <p14:creationId xmlns:p14="http://schemas.microsoft.com/office/powerpoint/2010/main" val="151737474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tângulo de cantos arredondados 5"/>
          <p:cNvSpPr/>
          <p:nvPr/>
        </p:nvSpPr>
        <p:spPr>
          <a:xfrm>
            <a:off x="467544" y="5949280"/>
            <a:ext cx="4680520" cy="646331"/>
          </a:xfrm>
          <a:prstGeom prst="roundRect">
            <a:avLst/>
          </a:prstGeom>
        </p:spPr>
        <p:style>
          <a:lnRef idx="3">
            <a:schemeClr val="lt1"/>
          </a:lnRef>
          <a:fillRef idx="1">
            <a:schemeClr val="accent2"/>
          </a:fillRef>
          <a:effectRef idx="1">
            <a:schemeClr val="accent2"/>
          </a:effectRef>
          <a:fontRef idx="minor">
            <a:schemeClr val="lt1"/>
          </a:fontRef>
        </p:style>
        <p:txBody>
          <a:bodyPr rtlCol="0" anchor="ctr"/>
          <a:lstStyle/>
          <a:p>
            <a:pPr algn="ctr"/>
            <a:endParaRPr lang="pt-BR"/>
          </a:p>
        </p:txBody>
      </p:sp>
      <p:sp>
        <p:nvSpPr>
          <p:cNvPr id="2" name="Título 1"/>
          <p:cNvSpPr>
            <a:spLocks noGrp="1"/>
          </p:cNvSpPr>
          <p:nvPr>
            <p:ph type="title"/>
          </p:nvPr>
        </p:nvSpPr>
        <p:spPr/>
        <p:txBody>
          <a:bodyPr/>
          <a:lstStyle/>
          <a:p>
            <a:r>
              <a:rPr lang="pt-BR" b="1" dirty="0" smtClean="0"/>
              <a:t>Inci</a:t>
            </a:r>
            <a:r>
              <a:rPr lang="pt-BR" b="1" dirty="0" smtClean="0"/>
              <a:t>dência</a:t>
            </a:r>
            <a:endParaRPr lang="pt-BR" b="1" dirty="0"/>
          </a:p>
        </p:txBody>
      </p:sp>
      <p:sp>
        <p:nvSpPr>
          <p:cNvPr id="3" name="Espaço Reservado para Conteúdo 2"/>
          <p:cNvSpPr>
            <a:spLocks noGrp="1"/>
          </p:cNvSpPr>
          <p:nvPr>
            <p:ph idx="1"/>
          </p:nvPr>
        </p:nvSpPr>
        <p:spPr>
          <a:xfrm>
            <a:off x="457200" y="1600200"/>
            <a:ext cx="4762872" cy="4525963"/>
          </a:xfrm>
        </p:spPr>
        <p:txBody>
          <a:bodyPr>
            <a:normAutofit fontScale="70000" lnSpcReduction="20000"/>
          </a:bodyPr>
          <a:lstStyle/>
          <a:p>
            <a:r>
              <a:rPr lang="pt-BR" sz="2800" dirty="0"/>
              <a:t>Sujeitam-se à incidência do </a:t>
            </a:r>
            <a:r>
              <a:rPr lang="pt-BR" sz="2800" dirty="0" smtClean="0"/>
              <a:t>imposto:</a:t>
            </a:r>
            <a:endParaRPr lang="pt-BR" sz="2800" dirty="0"/>
          </a:p>
          <a:p>
            <a:endParaRPr lang="pt-BR" sz="2800" dirty="0"/>
          </a:p>
          <a:p>
            <a:pPr>
              <a:buFont typeface="Wingdings" panose="05000000000000000000" pitchFamily="2" charset="2"/>
              <a:buChar char="ü"/>
            </a:pPr>
            <a:r>
              <a:rPr lang="pt-BR" sz="2800" dirty="0" smtClean="0"/>
              <a:t>a</a:t>
            </a:r>
            <a:r>
              <a:rPr lang="pt-BR" sz="2800" dirty="0"/>
              <a:t>) a cessão, a desistência e a renúncia translativa, por ato gratuito, de direitos relativos às transmissões </a:t>
            </a:r>
            <a:r>
              <a:rPr lang="pt-BR" sz="2800" dirty="0" smtClean="0"/>
              <a:t>referidas;</a:t>
            </a:r>
            <a:endParaRPr lang="pt-BR" sz="2800" dirty="0"/>
          </a:p>
          <a:p>
            <a:pPr>
              <a:buFont typeface="Wingdings" panose="05000000000000000000" pitchFamily="2" charset="2"/>
              <a:buChar char="ü"/>
            </a:pPr>
            <a:endParaRPr lang="pt-BR" sz="2800" dirty="0"/>
          </a:p>
          <a:p>
            <a:pPr>
              <a:buFont typeface="Wingdings" panose="05000000000000000000" pitchFamily="2" charset="2"/>
              <a:buChar char="ü"/>
            </a:pPr>
            <a:r>
              <a:rPr lang="pt-BR" sz="2800" dirty="0" smtClean="0"/>
              <a:t>b</a:t>
            </a:r>
            <a:r>
              <a:rPr lang="pt-BR" sz="2800" dirty="0"/>
              <a:t>) a herança, ainda que gravada, e a doação com </a:t>
            </a:r>
            <a:r>
              <a:rPr lang="pt-BR" sz="2800" dirty="0" smtClean="0"/>
              <a:t>encargo;</a:t>
            </a:r>
            <a:endParaRPr lang="pt-BR" sz="2800" dirty="0"/>
          </a:p>
          <a:p>
            <a:pPr>
              <a:buFont typeface="Wingdings" panose="05000000000000000000" pitchFamily="2" charset="2"/>
              <a:buChar char="ü"/>
            </a:pPr>
            <a:endParaRPr lang="pt-BR" sz="2800" dirty="0"/>
          </a:p>
          <a:p>
            <a:pPr>
              <a:buFont typeface="Wingdings" panose="05000000000000000000" pitchFamily="2" charset="2"/>
              <a:buChar char="ü"/>
            </a:pPr>
            <a:r>
              <a:rPr lang="pt-BR" sz="2800" dirty="0" smtClean="0"/>
              <a:t>c</a:t>
            </a:r>
            <a:r>
              <a:rPr lang="pt-BR" sz="2800" dirty="0"/>
              <a:t>) os bens que, na divisão do patrimônio comum, na partilha ou na adjudicação, forem atribuídos a um dos cônjuges, a um dos conviventes, ou a qualquer herdeiro, acima de sua respectiva meação ou quinhão.</a:t>
            </a:r>
            <a:endParaRPr lang="pt-BR" sz="2800" dirty="0"/>
          </a:p>
        </p:txBody>
      </p:sp>
      <p:pic>
        <p:nvPicPr>
          <p:cNvPr id="3074" name="Picture 2" descr="Resultado de imagem para causa morti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57140" y="1556792"/>
            <a:ext cx="3247308" cy="4842174"/>
          </a:xfrm>
          <a:prstGeom prst="rect">
            <a:avLst/>
          </a:prstGeom>
          <a:noFill/>
          <a:extLst>
            <a:ext uri="{909E8E84-426E-40DD-AFC4-6F175D3DCCD1}">
              <a14:hiddenFill xmlns:a14="http://schemas.microsoft.com/office/drawing/2010/main">
                <a:solidFill>
                  <a:srgbClr val="FFFFFF"/>
                </a:solidFill>
              </a14:hiddenFill>
            </a:ext>
          </a:extLst>
        </p:spPr>
      </p:pic>
      <p:sp>
        <p:nvSpPr>
          <p:cNvPr id="7" name="Seta para a direita 6"/>
          <p:cNvSpPr/>
          <p:nvPr/>
        </p:nvSpPr>
        <p:spPr>
          <a:xfrm>
            <a:off x="7812360" y="260648"/>
            <a:ext cx="792088" cy="576064"/>
          </a:xfrm>
          <a:prstGeom prst="rightArrow">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pt-BR"/>
          </a:p>
        </p:txBody>
      </p:sp>
      <p:sp>
        <p:nvSpPr>
          <p:cNvPr id="5" name="CaixaDeTexto 4"/>
          <p:cNvSpPr txBox="1"/>
          <p:nvPr/>
        </p:nvSpPr>
        <p:spPr>
          <a:xfrm>
            <a:off x="539552" y="5949280"/>
            <a:ext cx="4608512" cy="646331"/>
          </a:xfrm>
          <a:prstGeom prst="rect">
            <a:avLst/>
          </a:prstGeom>
          <a:noFill/>
        </p:spPr>
        <p:txBody>
          <a:bodyPr wrap="square" rtlCol="0">
            <a:spAutoFit/>
          </a:bodyPr>
          <a:lstStyle/>
          <a:p>
            <a:r>
              <a:rPr lang="pt-BR" dirty="0" smtClean="0">
                <a:solidFill>
                  <a:schemeClr val="bg1"/>
                </a:solidFill>
              </a:rPr>
              <a:t>Adjudicação: ato judicial </a:t>
            </a:r>
            <a:r>
              <a:rPr lang="pt-BR" dirty="0">
                <a:solidFill>
                  <a:schemeClr val="bg1"/>
                </a:solidFill>
              </a:rPr>
              <a:t>que concede posse e propriedade de </a:t>
            </a:r>
            <a:r>
              <a:rPr lang="pt-BR" dirty="0" smtClean="0">
                <a:solidFill>
                  <a:schemeClr val="bg1"/>
                </a:solidFill>
              </a:rPr>
              <a:t>bens.</a:t>
            </a:r>
            <a:endParaRPr lang="pt-BR" dirty="0">
              <a:solidFill>
                <a:schemeClr val="bg1"/>
              </a:solidFill>
            </a:endParaRPr>
          </a:p>
        </p:txBody>
      </p:sp>
    </p:spTree>
    <p:extLst>
      <p:ext uri="{BB962C8B-B14F-4D97-AF65-F5344CB8AC3E}">
        <p14:creationId xmlns:p14="http://schemas.microsoft.com/office/powerpoint/2010/main" val="201766467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b="1" dirty="0" smtClean="0"/>
              <a:t>Inci</a:t>
            </a:r>
            <a:r>
              <a:rPr lang="pt-BR" b="1" dirty="0" smtClean="0"/>
              <a:t>dência</a:t>
            </a:r>
            <a:endParaRPr lang="pt-BR" b="1" dirty="0"/>
          </a:p>
        </p:txBody>
      </p:sp>
      <p:sp>
        <p:nvSpPr>
          <p:cNvPr id="3" name="Espaço Reservado para Conteúdo 2"/>
          <p:cNvSpPr>
            <a:spLocks noGrp="1"/>
          </p:cNvSpPr>
          <p:nvPr>
            <p:ph idx="1"/>
          </p:nvPr>
        </p:nvSpPr>
        <p:spPr/>
        <p:txBody>
          <a:bodyPr>
            <a:normAutofit/>
          </a:bodyPr>
          <a:lstStyle/>
          <a:p>
            <a:r>
              <a:rPr lang="pt-BR" sz="2200" dirty="0"/>
              <a:t>O ITCMD também incidirá sobre a transmissão</a:t>
            </a:r>
            <a:r>
              <a:rPr lang="pt-BR" sz="2200" dirty="0" smtClean="0"/>
              <a:t>:</a:t>
            </a:r>
          </a:p>
          <a:p>
            <a:pPr marL="0" indent="0">
              <a:buNone/>
            </a:pPr>
            <a:endParaRPr lang="pt-BR" sz="2200" dirty="0"/>
          </a:p>
          <a:p>
            <a:pPr>
              <a:buFont typeface="Wingdings" panose="05000000000000000000" pitchFamily="2" charset="2"/>
              <a:buChar char="v"/>
            </a:pPr>
            <a:r>
              <a:rPr lang="pt-BR" sz="2200" dirty="0"/>
              <a:t>a) de qualquer título ou direito representativo do patrimônio ou do capital de sociedade e companhia, tais como ação, quota, quinhão, participação civil ou comercial, nacional ou estrangeira, direito societário, </a:t>
            </a:r>
            <a:r>
              <a:rPr lang="pt-BR" sz="2200" dirty="0" smtClean="0"/>
              <a:t>debênture (título de crédito), </a:t>
            </a:r>
            <a:r>
              <a:rPr lang="pt-BR" sz="2200" dirty="0"/>
              <a:t>dividendo e crédito de qualquer natureza;</a:t>
            </a:r>
            <a:endParaRPr lang="pt-BR" sz="2200" dirty="0"/>
          </a:p>
        </p:txBody>
      </p:sp>
      <p:pic>
        <p:nvPicPr>
          <p:cNvPr id="9219" name="Picture 3" descr="Resultado de imagem para itcmd"/>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716016" y="4077072"/>
            <a:ext cx="3600400" cy="2670626"/>
          </a:xfrm>
          <a:prstGeom prst="rect">
            <a:avLst/>
          </a:prstGeom>
          <a:noFill/>
          <a:extLst>
            <a:ext uri="{909E8E84-426E-40DD-AFC4-6F175D3DCCD1}">
              <a14:hiddenFill xmlns:a14="http://schemas.microsoft.com/office/drawing/2010/main">
                <a:solidFill>
                  <a:srgbClr val="FFFFFF"/>
                </a:solidFill>
              </a14:hiddenFill>
            </a:ext>
          </a:extLst>
        </p:spPr>
      </p:pic>
      <p:sp>
        <p:nvSpPr>
          <p:cNvPr id="9" name="Seta para a direita 8"/>
          <p:cNvSpPr/>
          <p:nvPr/>
        </p:nvSpPr>
        <p:spPr>
          <a:xfrm>
            <a:off x="7812360" y="260648"/>
            <a:ext cx="792088" cy="576064"/>
          </a:xfrm>
          <a:prstGeom prst="rightArrow">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pt-BR"/>
          </a:p>
        </p:txBody>
      </p:sp>
    </p:spTree>
    <p:extLst>
      <p:ext uri="{BB962C8B-B14F-4D97-AF65-F5344CB8AC3E}">
        <p14:creationId xmlns:p14="http://schemas.microsoft.com/office/powerpoint/2010/main" val="60674384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b="1" dirty="0" smtClean="0"/>
              <a:t>Inci</a:t>
            </a:r>
            <a:r>
              <a:rPr lang="pt-BR" b="1" dirty="0" smtClean="0"/>
              <a:t>dência</a:t>
            </a:r>
            <a:endParaRPr lang="pt-BR" b="1" dirty="0"/>
          </a:p>
        </p:txBody>
      </p:sp>
      <p:sp>
        <p:nvSpPr>
          <p:cNvPr id="3" name="Espaço Reservado para Conteúdo 2"/>
          <p:cNvSpPr>
            <a:spLocks noGrp="1"/>
          </p:cNvSpPr>
          <p:nvPr>
            <p:ph idx="1"/>
          </p:nvPr>
        </p:nvSpPr>
        <p:spPr/>
        <p:txBody>
          <a:bodyPr>
            <a:normAutofit/>
          </a:bodyPr>
          <a:lstStyle/>
          <a:p>
            <a:r>
              <a:rPr lang="pt-BR" sz="2400" dirty="0"/>
              <a:t>b) de dinheiro, </a:t>
            </a:r>
            <a:r>
              <a:rPr lang="pt-BR" sz="2400" dirty="0" smtClean="0"/>
              <a:t>joias, </a:t>
            </a:r>
            <a:r>
              <a:rPr lang="pt-BR" sz="2400" dirty="0"/>
              <a:t>haver monetário em moeda nacional ou estrangeira e título que o represente, tais como depósitos bancários em </a:t>
            </a:r>
            <a:r>
              <a:rPr lang="pt-BR" sz="2400" dirty="0" smtClean="0"/>
              <a:t>conta corrente, </a:t>
            </a:r>
            <a:r>
              <a:rPr lang="pt-BR" sz="2400" dirty="0"/>
              <a:t>em caderneta de poupança e a prazo fixo, quota ou participação em fundo mútuo de ações, de renda fixa, de curto prazo, e qualquer aplicação financeira e de risco, inclusive modalidades de plano previdenciário, sejam quais forem o prazo e a forma de garantia</a:t>
            </a:r>
            <a:r>
              <a:rPr lang="pt-BR" sz="2400" dirty="0" smtClean="0"/>
              <a:t>;</a:t>
            </a:r>
            <a:endParaRPr lang="pt-BR" sz="2400" dirty="0"/>
          </a:p>
        </p:txBody>
      </p:sp>
      <p:sp>
        <p:nvSpPr>
          <p:cNvPr id="9" name="Seta para a direita 8"/>
          <p:cNvSpPr/>
          <p:nvPr/>
        </p:nvSpPr>
        <p:spPr>
          <a:xfrm>
            <a:off x="7812360" y="260648"/>
            <a:ext cx="792088" cy="576064"/>
          </a:xfrm>
          <a:prstGeom prst="rightArrow">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pt-BR"/>
          </a:p>
        </p:txBody>
      </p:sp>
      <p:sp>
        <p:nvSpPr>
          <p:cNvPr id="8" name="AutoShape 3" descr="Resultado de imagem para jÃ³ias"/>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pt-BR"/>
          </a:p>
        </p:txBody>
      </p:sp>
      <p:sp>
        <p:nvSpPr>
          <p:cNvPr id="10" name="AutoShape 5" descr="Resultado de imagem para jÃ³ias"/>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pt-BR"/>
          </a:p>
        </p:txBody>
      </p:sp>
      <p:pic>
        <p:nvPicPr>
          <p:cNvPr id="10247" name="Picture 7" descr="Resultado de imagem para jÃ³ias"/>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44643" y="4221088"/>
            <a:ext cx="3384376" cy="2247352"/>
          </a:xfrm>
          <a:prstGeom prst="rect">
            <a:avLst/>
          </a:prstGeom>
          <a:noFill/>
          <a:extLst>
            <a:ext uri="{909E8E84-426E-40DD-AFC4-6F175D3DCCD1}">
              <a14:hiddenFill xmlns:a14="http://schemas.microsoft.com/office/drawing/2010/main">
                <a:solidFill>
                  <a:srgbClr val="FFFFFF"/>
                </a:solidFill>
              </a14:hiddenFill>
            </a:ext>
          </a:extLst>
        </p:spPr>
      </p:pic>
      <p:pic>
        <p:nvPicPr>
          <p:cNvPr id="10249" name="Picture 9" descr="Resultado de imagem para caderneta de poupanÃ§a"/>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36096" y="4309649"/>
            <a:ext cx="3312368" cy="207023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7356362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b="1" dirty="0" smtClean="0"/>
              <a:t>Inci</a:t>
            </a:r>
            <a:r>
              <a:rPr lang="pt-BR" b="1" dirty="0" smtClean="0"/>
              <a:t>dência</a:t>
            </a:r>
            <a:endParaRPr lang="pt-BR" b="1" dirty="0"/>
          </a:p>
        </p:txBody>
      </p:sp>
      <p:sp>
        <p:nvSpPr>
          <p:cNvPr id="3" name="Espaço Reservado para Conteúdo 2"/>
          <p:cNvSpPr>
            <a:spLocks noGrp="1"/>
          </p:cNvSpPr>
          <p:nvPr>
            <p:ph idx="1"/>
          </p:nvPr>
        </p:nvSpPr>
        <p:spPr/>
        <p:txBody>
          <a:bodyPr>
            <a:normAutofit/>
          </a:bodyPr>
          <a:lstStyle/>
          <a:p>
            <a:r>
              <a:rPr lang="pt-BR" sz="2400" dirty="0" smtClean="0"/>
              <a:t>c</a:t>
            </a:r>
            <a:r>
              <a:rPr lang="pt-BR" sz="2400" dirty="0"/>
              <a:t>) de bem incorpóreo em geral, inclusive título e crédito que o represente, qualquer direito ou ação que tenha de ser exercido e direitos autorais</a:t>
            </a:r>
            <a:r>
              <a:rPr lang="pt-BR" sz="2400" dirty="0" smtClean="0"/>
              <a:t>;</a:t>
            </a:r>
          </a:p>
          <a:p>
            <a:endParaRPr lang="pt-BR" sz="2400" dirty="0"/>
          </a:p>
          <a:p>
            <a:r>
              <a:rPr lang="pt-BR" sz="2400" dirty="0"/>
              <a:t>d) por doação, de bens e de direitos excluídos da comunhão, realizada entre cônjuges em função do regime patrimonial de bens.</a:t>
            </a:r>
          </a:p>
        </p:txBody>
      </p:sp>
      <p:pic>
        <p:nvPicPr>
          <p:cNvPr id="11266" name="Picture 2" descr="Resultado de imagem para direitos autorai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35696" y="4221088"/>
            <a:ext cx="6624736" cy="229317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606778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b="1" dirty="0" smtClean="0"/>
              <a:t>Imunidade</a:t>
            </a:r>
            <a:endParaRPr lang="pt-BR" b="1" dirty="0"/>
          </a:p>
        </p:txBody>
      </p:sp>
      <p:sp>
        <p:nvSpPr>
          <p:cNvPr id="3" name="Espaço Reservado para Conteúdo 2"/>
          <p:cNvSpPr>
            <a:spLocks noGrp="1"/>
          </p:cNvSpPr>
          <p:nvPr>
            <p:ph idx="1"/>
          </p:nvPr>
        </p:nvSpPr>
        <p:spPr/>
        <p:txBody>
          <a:bodyPr>
            <a:normAutofit/>
          </a:bodyPr>
          <a:lstStyle/>
          <a:p>
            <a:r>
              <a:rPr lang="pt-BR" sz="2800" dirty="0"/>
              <a:t>Estão imunes ao imposto as transmissões em que os adquirentes </a:t>
            </a:r>
            <a:r>
              <a:rPr lang="pt-BR" sz="2800" dirty="0" smtClean="0"/>
              <a:t>sejam:</a:t>
            </a:r>
            <a:endParaRPr lang="pt-BR" sz="2800" dirty="0"/>
          </a:p>
          <a:p>
            <a:endParaRPr lang="pt-BR" sz="2800" dirty="0"/>
          </a:p>
          <a:p>
            <a:pPr>
              <a:buFont typeface="Wingdings" panose="05000000000000000000" pitchFamily="2" charset="2"/>
              <a:buChar char="ü"/>
            </a:pPr>
            <a:r>
              <a:rPr lang="pt-BR" sz="2800" dirty="0" smtClean="0"/>
              <a:t>a</a:t>
            </a:r>
            <a:r>
              <a:rPr lang="pt-BR" sz="2800" dirty="0"/>
              <a:t>) as pessoas de Direito Público </a:t>
            </a:r>
            <a:r>
              <a:rPr lang="pt-BR" sz="2800" dirty="0" smtClean="0"/>
              <a:t>Interno;</a:t>
            </a:r>
            <a:endParaRPr lang="pt-BR" sz="2800" dirty="0"/>
          </a:p>
          <a:p>
            <a:pPr>
              <a:buFont typeface="Wingdings" panose="05000000000000000000" pitchFamily="2" charset="2"/>
              <a:buChar char="ü"/>
            </a:pPr>
            <a:endParaRPr lang="pt-BR" sz="2800" dirty="0"/>
          </a:p>
          <a:p>
            <a:pPr>
              <a:buFont typeface="Wingdings" panose="05000000000000000000" pitchFamily="2" charset="2"/>
              <a:buChar char="ü"/>
            </a:pPr>
            <a:r>
              <a:rPr lang="pt-BR" sz="2800" dirty="0" smtClean="0"/>
              <a:t>b</a:t>
            </a:r>
            <a:r>
              <a:rPr lang="pt-BR" sz="2800" dirty="0"/>
              <a:t>) os templos de qualquer culto</a:t>
            </a:r>
            <a:r>
              <a:rPr lang="pt-BR" sz="2800" dirty="0" smtClean="0"/>
              <a:t>;</a:t>
            </a:r>
            <a:endParaRPr lang="pt-BR" sz="2800" dirty="0"/>
          </a:p>
        </p:txBody>
      </p:sp>
      <p:pic>
        <p:nvPicPr>
          <p:cNvPr id="4098" name="Picture 2" descr="Resultado de imagem para templo"/>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652842" y="4552617"/>
            <a:ext cx="3456384" cy="2305381"/>
          </a:xfrm>
          <a:prstGeom prst="rect">
            <a:avLst/>
          </a:prstGeom>
          <a:noFill/>
          <a:extLst>
            <a:ext uri="{909E8E84-426E-40DD-AFC4-6F175D3DCCD1}">
              <a14:hiddenFill xmlns:a14="http://schemas.microsoft.com/office/drawing/2010/main">
                <a:solidFill>
                  <a:srgbClr val="FFFFFF"/>
                </a:solidFill>
              </a14:hiddenFill>
            </a:ext>
          </a:extLst>
        </p:spPr>
      </p:pic>
      <p:sp>
        <p:nvSpPr>
          <p:cNvPr id="6" name="Seta para a direita 5"/>
          <p:cNvSpPr/>
          <p:nvPr/>
        </p:nvSpPr>
        <p:spPr>
          <a:xfrm>
            <a:off x="7812360" y="260648"/>
            <a:ext cx="792088" cy="576064"/>
          </a:xfrm>
          <a:prstGeom prst="rightArrow">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pt-BR"/>
          </a:p>
        </p:txBody>
      </p:sp>
    </p:spTree>
    <p:extLst>
      <p:ext uri="{BB962C8B-B14F-4D97-AF65-F5344CB8AC3E}">
        <p14:creationId xmlns:p14="http://schemas.microsoft.com/office/powerpoint/2010/main" val="376010192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b="1" dirty="0" smtClean="0"/>
              <a:t>Imunidade</a:t>
            </a:r>
            <a:endParaRPr lang="pt-BR" b="1" dirty="0"/>
          </a:p>
        </p:txBody>
      </p:sp>
      <p:sp>
        <p:nvSpPr>
          <p:cNvPr id="3" name="Espaço Reservado para Conteúdo 2"/>
          <p:cNvSpPr>
            <a:spLocks noGrp="1"/>
          </p:cNvSpPr>
          <p:nvPr>
            <p:ph idx="1"/>
          </p:nvPr>
        </p:nvSpPr>
        <p:spPr/>
        <p:txBody>
          <a:bodyPr>
            <a:normAutofit/>
          </a:bodyPr>
          <a:lstStyle/>
          <a:p>
            <a:r>
              <a:rPr lang="pt-BR" sz="2400" dirty="0"/>
              <a:t>Para as pessoas de Direito Público Interno e para os templos de qualquer culto, somente ocorre imunidade em relação ao patrimônio relacionado com as finalidades essenciais das entidades neles mencionadas. </a:t>
            </a:r>
            <a:endParaRPr lang="pt-BR" sz="2400" dirty="0"/>
          </a:p>
        </p:txBody>
      </p:sp>
      <p:sp>
        <p:nvSpPr>
          <p:cNvPr id="6" name="Seta para a direita 5"/>
          <p:cNvSpPr/>
          <p:nvPr/>
        </p:nvSpPr>
        <p:spPr>
          <a:xfrm>
            <a:off x="7812360" y="260648"/>
            <a:ext cx="792088" cy="576064"/>
          </a:xfrm>
          <a:prstGeom prst="rightArrow">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pt-BR"/>
          </a:p>
        </p:txBody>
      </p:sp>
      <p:pic>
        <p:nvPicPr>
          <p:cNvPr id="12290" name="Picture 2" descr="Imagem relacionada"/>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03848" y="3429000"/>
            <a:ext cx="4752528" cy="316382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3233323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b="1" dirty="0" smtClean="0"/>
              <a:t>Imunidade</a:t>
            </a:r>
            <a:endParaRPr lang="pt-BR" b="1" dirty="0"/>
          </a:p>
        </p:txBody>
      </p:sp>
      <p:sp>
        <p:nvSpPr>
          <p:cNvPr id="3" name="Espaço Reservado para Conteúdo 2"/>
          <p:cNvSpPr>
            <a:spLocks noGrp="1"/>
          </p:cNvSpPr>
          <p:nvPr>
            <p:ph idx="1"/>
          </p:nvPr>
        </p:nvSpPr>
        <p:spPr>
          <a:xfrm>
            <a:off x="4355976" y="1600200"/>
            <a:ext cx="4330824" cy="4525963"/>
          </a:xfrm>
        </p:spPr>
        <p:txBody>
          <a:bodyPr>
            <a:normAutofit fontScale="85000" lnSpcReduction="20000"/>
          </a:bodyPr>
          <a:lstStyle/>
          <a:p>
            <a:pPr>
              <a:buFont typeface="Wingdings" panose="05000000000000000000" pitchFamily="2" charset="2"/>
              <a:buChar char="ü"/>
            </a:pPr>
            <a:r>
              <a:rPr lang="pt-BR" sz="2800" dirty="0"/>
              <a:t>c) os partidos políticos, inclusive as suas fundações, as entidades sindicais dos </a:t>
            </a:r>
            <a:r>
              <a:rPr lang="pt-BR" sz="2800" dirty="0" smtClean="0"/>
              <a:t>trabalhadores </a:t>
            </a:r>
            <a:r>
              <a:rPr lang="pt-BR" sz="2800" dirty="0"/>
              <a:t>e as instituições educacionais e de assistência social sem fins </a:t>
            </a:r>
            <a:r>
              <a:rPr lang="pt-BR" sz="2800" dirty="0" smtClean="0"/>
              <a:t>lucrativos;</a:t>
            </a:r>
            <a:endParaRPr lang="pt-BR" sz="2800" dirty="0"/>
          </a:p>
          <a:p>
            <a:pPr>
              <a:buFont typeface="Wingdings" panose="05000000000000000000" pitchFamily="2" charset="2"/>
              <a:buChar char="ü"/>
            </a:pPr>
            <a:endParaRPr lang="pt-BR" sz="2800" dirty="0"/>
          </a:p>
          <a:p>
            <a:pPr>
              <a:buFont typeface="Wingdings" panose="05000000000000000000" pitchFamily="2" charset="2"/>
              <a:buChar char="ü"/>
            </a:pPr>
            <a:r>
              <a:rPr lang="pt-BR" sz="2800" dirty="0" smtClean="0"/>
              <a:t>d</a:t>
            </a:r>
            <a:r>
              <a:rPr lang="pt-BR" sz="2800" dirty="0"/>
              <a:t>) as autarquias e as fundações instituídas e mantidas pelo Poder Público, no que se </a:t>
            </a:r>
            <a:r>
              <a:rPr lang="pt-BR" sz="2800" dirty="0" smtClean="0"/>
              <a:t>refere </a:t>
            </a:r>
            <a:r>
              <a:rPr lang="pt-BR" sz="2800" dirty="0"/>
              <a:t>ao patrimônio vinculado às suas finalidades essenciais ou as delas decorrentes.</a:t>
            </a:r>
            <a:endParaRPr lang="pt-BR" sz="2800" dirty="0"/>
          </a:p>
        </p:txBody>
      </p:sp>
      <p:pic>
        <p:nvPicPr>
          <p:cNvPr id="5122" name="Picture 2" descr="Resultado de imagem para partido politico"/>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9512" y="2420888"/>
            <a:ext cx="4340377" cy="284837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6891592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b="1" dirty="0" smtClean="0"/>
              <a:t>Não Incidência</a:t>
            </a:r>
            <a:endParaRPr lang="pt-BR" b="1" dirty="0"/>
          </a:p>
        </p:txBody>
      </p:sp>
      <p:sp>
        <p:nvSpPr>
          <p:cNvPr id="3" name="Espaço Reservado para Conteúdo 2"/>
          <p:cNvSpPr>
            <a:spLocks noGrp="1"/>
          </p:cNvSpPr>
          <p:nvPr>
            <p:ph idx="1"/>
          </p:nvPr>
        </p:nvSpPr>
        <p:spPr/>
        <p:txBody>
          <a:bodyPr>
            <a:normAutofit fontScale="92500" lnSpcReduction="20000"/>
          </a:bodyPr>
          <a:lstStyle/>
          <a:p>
            <a:r>
              <a:rPr lang="pt-BR" sz="2800" dirty="0"/>
              <a:t>O ITCMD não </a:t>
            </a:r>
            <a:r>
              <a:rPr lang="pt-BR" sz="2800" dirty="0" smtClean="0"/>
              <a:t>incide:</a:t>
            </a:r>
            <a:endParaRPr lang="pt-BR" sz="2800" dirty="0"/>
          </a:p>
          <a:p>
            <a:pPr>
              <a:buFont typeface="Courier New" panose="02070309020205020404" pitchFamily="49" charset="0"/>
              <a:buChar char="o"/>
            </a:pPr>
            <a:endParaRPr lang="pt-BR" sz="2800" dirty="0"/>
          </a:p>
          <a:p>
            <a:pPr>
              <a:buFont typeface="Courier New" panose="02070309020205020404" pitchFamily="49" charset="0"/>
              <a:buChar char="o"/>
            </a:pPr>
            <a:r>
              <a:rPr lang="pt-BR" sz="2800" dirty="0" smtClean="0"/>
              <a:t>a</a:t>
            </a:r>
            <a:r>
              <a:rPr lang="pt-BR" sz="2800" dirty="0"/>
              <a:t>) sobre o ato de renúncia à herança ou ao legado, somente quando feito sem ressalva ou condição, por escritura pública ou por termo nos autos, em benefício do monte </a:t>
            </a:r>
            <a:r>
              <a:rPr lang="pt-BR" sz="2800" dirty="0" smtClean="0"/>
              <a:t>mor (bens + direitos + obrigações), </a:t>
            </a:r>
            <a:r>
              <a:rPr lang="pt-BR" sz="2800" dirty="0"/>
              <a:t>configurando renúncia pura e simples, e desde que o renunciante não tenha praticado qualquer ato que demonstre aceitação da herança ou do </a:t>
            </a:r>
            <a:r>
              <a:rPr lang="pt-BR" sz="2800" dirty="0" smtClean="0"/>
              <a:t>legado;</a:t>
            </a:r>
            <a:endParaRPr lang="pt-BR" sz="2800" dirty="0"/>
          </a:p>
          <a:p>
            <a:pPr>
              <a:buFont typeface="Courier New" panose="02070309020205020404" pitchFamily="49" charset="0"/>
              <a:buChar char="o"/>
            </a:pPr>
            <a:endParaRPr lang="pt-BR" sz="2800" dirty="0"/>
          </a:p>
          <a:p>
            <a:pPr>
              <a:buFont typeface="Courier New" panose="02070309020205020404" pitchFamily="49" charset="0"/>
              <a:buChar char="o"/>
            </a:pPr>
            <a:r>
              <a:rPr lang="pt-BR" sz="2800" dirty="0" smtClean="0"/>
              <a:t>b</a:t>
            </a:r>
            <a:r>
              <a:rPr lang="pt-BR" sz="2800" dirty="0"/>
              <a:t>) sobre a importância deixada ao testamenteiro, a título de prêmio ou de remuneração, até o limite legal;</a:t>
            </a:r>
            <a:endParaRPr lang="pt-BR" sz="2800" dirty="0"/>
          </a:p>
        </p:txBody>
      </p:sp>
      <p:sp>
        <p:nvSpPr>
          <p:cNvPr id="5" name="Seta para a direita 4"/>
          <p:cNvSpPr/>
          <p:nvPr/>
        </p:nvSpPr>
        <p:spPr>
          <a:xfrm>
            <a:off x="7812360" y="260648"/>
            <a:ext cx="792088" cy="576064"/>
          </a:xfrm>
          <a:prstGeom prst="rightArrow">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pt-BR"/>
          </a:p>
        </p:txBody>
      </p:sp>
    </p:spTree>
    <p:extLst>
      <p:ext uri="{BB962C8B-B14F-4D97-AF65-F5344CB8AC3E}">
        <p14:creationId xmlns:p14="http://schemas.microsoft.com/office/powerpoint/2010/main" val="417129811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b="1" dirty="0" smtClean="0"/>
              <a:t>Não Incidência</a:t>
            </a:r>
            <a:endParaRPr lang="pt-BR" b="1" dirty="0"/>
          </a:p>
        </p:txBody>
      </p:sp>
      <p:sp>
        <p:nvSpPr>
          <p:cNvPr id="3" name="Espaço Reservado para Conteúdo 2"/>
          <p:cNvSpPr>
            <a:spLocks noGrp="1"/>
          </p:cNvSpPr>
          <p:nvPr>
            <p:ph idx="1"/>
          </p:nvPr>
        </p:nvSpPr>
        <p:spPr/>
        <p:txBody>
          <a:bodyPr>
            <a:normAutofit fontScale="92500"/>
          </a:bodyPr>
          <a:lstStyle/>
          <a:p>
            <a:pPr>
              <a:buFont typeface="Courier New" panose="02070309020205020404" pitchFamily="49" charset="0"/>
              <a:buChar char="o"/>
            </a:pPr>
            <a:r>
              <a:rPr lang="pt-BR" sz="2800" dirty="0"/>
              <a:t>c) na doação de bens e de direitos, quando realizada na constância do casamento, exceto em relação ao patrimônio </a:t>
            </a:r>
            <a:r>
              <a:rPr lang="pt-BR" sz="2800" dirty="0" smtClean="0"/>
              <a:t>particular;</a:t>
            </a:r>
            <a:endParaRPr lang="pt-BR" sz="2800" dirty="0"/>
          </a:p>
          <a:p>
            <a:pPr>
              <a:buFont typeface="Courier New" panose="02070309020205020404" pitchFamily="49" charset="0"/>
              <a:buChar char="o"/>
            </a:pPr>
            <a:endParaRPr lang="pt-BR" sz="2800" dirty="0"/>
          </a:p>
          <a:p>
            <a:pPr>
              <a:buFont typeface="Courier New" panose="02070309020205020404" pitchFamily="49" charset="0"/>
              <a:buChar char="o"/>
            </a:pPr>
            <a:r>
              <a:rPr lang="pt-BR" sz="2800" dirty="0" smtClean="0"/>
              <a:t>d</a:t>
            </a:r>
            <a:r>
              <a:rPr lang="pt-BR" sz="2800" dirty="0"/>
              <a:t>) no recebimento de capital estipulado em seguro de vida ou em pecúlio por </a:t>
            </a:r>
            <a:r>
              <a:rPr lang="pt-BR" sz="2800" dirty="0" smtClean="0"/>
              <a:t>morte;</a:t>
            </a:r>
            <a:endParaRPr lang="pt-BR" sz="2800" dirty="0"/>
          </a:p>
          <a:p>
            <a:pPr>
              <a:buFont typeface="Courier New" panose="02070309020205020404" pitchFamily="49" charset="0"/>
              <a:buChar char="o"/>
            </a:pPr>
            <a:endParaRPr lang="pt-BR" sz="2800" dirty="0"/>
          </a:p>
          <a:p>
            <a:pPr>
              <a:buFont typeface="Courier New" panose="02070309020205020404" pitchFamily="49" charset="0"/>
              <a:buChar char="o"/>
            </a:pPr>
            <a:r>
              <a:rPr lang="pt-BR" sz="2800" dirty="0" smtClean="0"/>
              <a:t>e</a:t>
            </a:r>
            <a:r>
              <a:rPr lang="pt-BR" sz="2800" dirty="0"/>
              <a:t>) sobre os frutos e os rendimentos de bens ou de direitos do espólio, e as benfeitorias realizadas, havidos após o falecimento do autor da herança ou do legado.</a:t>
            </a:r>
            <a:endParaRPr lang="pt-BR" sz="2800" dirty="0"/>
          </a:p>
        </p:txBody>
      </p:sp>
      <p:sp>
        <p:nvSpPr>
          <p:cNvPr id="4" name="Seta para a direita 3"/>
          <p:cNvSpPr/>
          <p:nvPr/>
        </p:nvSpPr>
        <p:spPr>
          <a:xfrm>
            <a:off x="7812360" y="260648"/>
            <a:ext cx="792088" cy="576064"/>
          </a:xfrm>
          <a:prstGeom prst="rightArrow">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pt-BR"/>
          </a:p>
        </p:txBody>
      </p:sp>
    </p:spTree>
    <p:extLst>
      <p:ext uri="{BB962C8B-B14F-4D97-AF65-F5344CB8AC3E}">
        <p14:creationId xmlns:p14="http://schemas.microsoft.com/office/powerpoint/2010/main" val="353909547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b="1" dirty="0" smtClean="0"/>
              <a:t>Não Incidência</a:t>
            </a:r>
            <a:endParaRPr lang="pt-BR" b="1" dirty="0"/>
          </a:p>
        </p:txBody>
      </p:sp>
      <p:sp>
        <p:nvSpPr>
          <p:cNvPr id="3" name="Espaço Reservado para Conteúdo 2"/>
          <p:cNvSpPr>
            <a:spLocks noGrp="1"/>
          </p:cNvSpPr>
          <p:nvPr>
            <p:ph idx="1"/>
          </p:nvPr>
        </p:nvSpPr>
        <p:spPr/>
        <p:txBody>
          <a:bodyPr>
            <a:normAutofit lnSpcReduction="10000"/>
          </a:bodyPr>
          <a:lstStyle/>
          <a:p>
            <a:r>
              <a:rPr lang="pt-BR" sz="2800" dirty="0"/>
              <a:t>O ITCMD não incide, também, sobre a transmissão não onerosa de bens e de direitos</a:t>
            </a:r>
            <a:r>
              <a:rPr lang="pt-BR" sz="2800" dirty="0" smtClean="0"/>
              <a:t>:</a:t>
            </a:r>
          </a:p>
          <a:p>
            <a:pPr marL="0" indent="0">
              <a:buNone/>
            </a:pPr>
            <a:endParaRPr lang="pt-BR" sz="2800" dirty="0"/>
          </a:p>
          <a:p>
            <a:pPr>
              <a:buFont typeface="Courier New" panose="02070309020205020404" pitchFamily="49" charset="0"/>
              <a:buChar char="o"/>
            </a:pPr>
            <a:r>
              <a:rPr lang="pt-BR" sz="2800" dirty="0"/>
              <a:t>a) incorporados ao patrimônio de pessoa jurídica</a:t>
            </a:r>
            <a:r>
              <a:rPr lang="pt-BR" sz="2800" dirty="0" smtClean="0"/>
              <a:t>:</a:t>
            </a:r>
          </a:p>
          <a:p>
            <a:pPr marL="0" indent="0">
              <a:buNone/>
            </a:pPr>
            <a:endParaRPr lang="pt-BR" sz="2800" dirty="0"/>
          </a:p>
          <a:p>
            <a:pPr>
              <a:buFont typeface="Wingdings" panose="05000000000000000000" pitchFamily="2" charset="2"/>
              <a:buChar char="v"/>
            </a:pPr>
            <a:r>
              <a:rPr lang="pt-BR" sz="2800" dirty="0"/>
              <a:t>a.1) quando efetuada em pagamento de capital nela subscrito</a:t>
            </a:r>
            <a:r>
              <a:rPr lang="pt-BR" sz="2800" dirty="0" smtClean="0"/>
              <a:t>;</a:t>
            </a:r>
          </a:p>
          <a:p>
            <a:pPr>
              <a:buFont typeface="Wingdings" panose="05000000000000000000" pitchFamily="2" charset="2"/>
              <a:buChar char="v"/>
            </a:pPr>
            <a:endParaRPr lang="pt-BR" sz="2800" dirty="0"/>
          </a:p>
          <a:p>
            <a:pPr>
              <a:buFont typeface="Wingdings" panose="05000000000000000000" pitchFamily="2" charset="2"/>
              <a:buChar char="v"/>
            </a:pPr>
            <a:r>
              <a:rPr lang="pt-BR" sz="2800" dirty="0"/>
              <a:t>a.2) quando decorrente da incorporação ou da fusão de uma pessoa jurídica por outra ou com outra;</a:t>
            </a:r>
            <a:endParaRPr lang="pt-BR" sz="2800" dirty="0"/>
          </a:p>
        </p:txBody>
      </p:sp>
      <p:sp>
        <p:nvSpPr>
          <p:cNvPr id="6" name="Seta para a direita 5"/>
          <p:cNvSpPr/>
          <p:nvPr/>
        </p:nvSpPr>
        <p:spPr>
          <a:xfrm>
            <a:off x="7812360" y="260648"/>
            <a:ext cx="792088" cy="576064"/>
          </a:xfrm>
          <a:prstGeom prst="rightArrow">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pt-BR"/>
          </a:p>
        </p:txBody>
      </p:sp>
    </p:spTree>
    <p:extLst>
      <p:ext uri="{BB962C8B-B14F-4D97-AF65-F5344CB8AC3E}">
        <p14:creationId xmlns:p14="http://schemas.microsoft.com/office/powerpoint/2010/main" val="338860710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b="1" dirty="0" smtClean="0"/>
              <a:t>Não Incidência</a:t>
            </a:r>
            <a:endParaRPr lang="pt-BR" b="1" dirty="0"/>
          </a:p>
        </p:txBody>
      </p:sp>
      <p:sp>
        <p:nvSpPr>
          <p:cNvPr id="3" name="Espaço Reservado para Conteúdo 2"/>
          <p:cNvSpPr>
            <a:spLocks noGrp="1"/>
          </p:cNvSpPr>
          <p:nvPr>
            <p:ph idx="1"/>
          </p:nvPr>
        </p:nvSpPr>
        <p:spPr/>
        <p:txBody>
          <a:bodyPr>
            <a:normAutofit fontScale="92500" lnSpcReduction="20000"/>
          </a:bodyPr>
          <a:lstStyle/>
          <a:p>
            <a:r>
              <a:rPr lang="pt-BR" sz="2800" dirty="0"/>
              <a:t>b) aos mesmos alienantes, na desincorporação de bens ou de direitos do patrimônio de pessoa jurídica, quando adquiridos a título de contrapartida ao capital subscrito na sociedade</a:t>
            </a:r>
            <a:r>
              <a:rPr lang="pt-BR" sz="2800" dirty="0" smtClean="0"/>
              <a:t>;</a:t>
            </a:r>
          </a:p>
          <a:p>
            <a:pPr marL="0" indent="0">
              <a:buNone/>
            </a:pPr>
            <a:endParaRPr lang="pt-BR" sz="2800" dirty="0"/>
          </a:p>
          <a:p>
            <a:r>
              <a:rPr lang="pt-BR" sz="2800" dirty="0"/>
              <a:t>c) incorporados ao patrimônio de pessoa jurídica em realização de capital, nem sobre a transmissão de bens ou direitos decorrentes de fusão, incorporação, cisão ou extinção de pessoa jurídica, salvo se, nesses casos, a atividade preponderante do adquirente for a compra e venda desses bens ou direitos, locação de bens imóveis ou arrendamento mercantil.</a:t>
            </a:r>
            <a:endParaRPr lang="pt-BR" sz="2800" dirty="0"/>
          </a:p>
        </p:txBody>
      </p:sp>
      <p:sp>
        <p:nvSpPr>
          <p:cNvPr id="7" name="Seta para a direita 6"/>
          <p:cNvSpPr/>
          <p:nvPr/>
        </p:nvSpPr>
        <p:spPr>
          <a:xfrm>
            <a:off x="7812360" y="260648"/>
            <a:ext cx="792088" cy="576064"/>
          </a:xfrm>
          <a:prstGeom prst="rightArrow">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pt-BR"/>
          </a:p>
        </p:txBody>
      </p:sp>
    </p:spTree>
    <p:extLst>
      <p:ext uri="{BB962C8B-B14F-4D97-AF65-F5344CB8AC3E}">
        <p14:creationId xmlns:p14="http://schemas.microsoft.com/office/powerpoint/2010/main" val="76764971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b="1" dirty="0" smtClean="0"/>
              <a:t>Não Incidência</a:t>
            </a:r>
            <a:endParaRPr lang="pt-BR" b="1" dirty="0"/>
          </a:p>
        </p:txBody>
      </p:sp>
      <p:sp>
        <p:nvSpPr>
          <p:cNvPr id="3" name="Espaço Reservado para Conteúdo 2"/>
          <p:cNvSpPr>
            <a:spLocks noGrp="1"/>
          </p:cNvSpPr>
          <p:nvPr>
            <p:ph idx="1"/>
          </p:nvPr>
        </p:nvSpPr>
        <p:spPr/>
        <p:txBody>
          <a:bodyPr>
            <a:normAutofit/>
          </a:bodyPr>
          <a:lstStyle/>
          <a:p>
            <a:r>
              <a:rPr lang="pt-BR" sz="2800" dirty="0" smtClean="0">
                <a:solidFill>
                  <a:srgbClr val="C00000"/>
                </a:solidFill>
              </a:rPr>
              <a:t>IMPORTANTE!</a:t>
            </a:r>
          </a:p>
          <a:p>
            <a:endParaRPr lang="pt-BR" sz="2800" dirty="0"/>
          </a:p>
          <a:p>
            <a:r>
              <a:rPr lang="pt-BR" sz="2400" dirty="0"/>
              <a:t>A não incidência é afastada quando a pessoa jurídica adquirente tiver como atividade preponderante a venda ou a locação de propriedade imobiliária ou a cessão de direitos relativos à sua aquisição, considerada como tal quando mais de 50% da receita operacional da pessoa jurídica adquirente, nos 2 anos anteriores e nos 2 anos subsequentes à aquisição, decorra das transações nele mencionadas</a:t>
            </a:r>
            <a:r>
              <a:rPr lang="pt-BR" sz="2400" dirty="0" smtClean="0"/>
              <a:t>.</a:t>
            </a:r>
            <a:endParaRPr lang="pt-BR" sz="2400" dirty="0"/>
          </a:p>
        </p:txBody>
      </p:sp>
    </p:spTree>
    <p:extLst>
      <p:ext uri="{BB962C8B-B14F-4D97-AF65-F5344CB8AC3E}">
        <p14:creationId xmlns:p14="http://schemas.microsoft.com/office/powerpoint/2010/main" val="106040765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b="1" dirty="0" smtClean="0"/>
              <a:t>Isenção</a:t>
            </a:r>
            <a:endParaRPr lang="pt-BR" b="1" dirty="0"/>
          </a:p>
        </p:txBody>
      </p:sp>
      <p:sp>
        <p:nvSpPr>
          <p:cNvPr id="3" name="Espaço Reservado para Conteúdo 2"/>
          <p:cNvSpPr>
            <a:spLocks noGrp="1"/>
          </p:cNvSpPr>
          <p:nvPr>
            <p:ph idx="1"/>
          </p:nvPr>
        </p:nvSpPr>
        <p:spPr/>
        <p:txBody>
          <a:bodyPr>
            <a:normAutofit fontScale="92500" lnSpcReduction="10000"/>
          </a:bodyPr>
          <a:lstStyle/>
          <a:p>
            <a:r>
              <a:rPr lang="pt-BR" sz="2800" dirty="0"/>
              <a:t>São isentas do pagamento do imposto</a:t>
            </a:r>
            <a:r>
              <a:rPr lang="pt-BR" sz="2800" dirty="0" smtClean="0"/>
              <a:t>:</a:t>
            </a:r>
          </a:p>
          <a:p>
            <a:pPr marL="0" indent="0">
              <a:buNone/>
            </a:pPr>
            <a:endParaRPr lang="pt-BR" sz="2800" dirty="0"/>
          </a:p>
          <a:p>
            <a:pPr>
              <a:buFont typeface="Wingdings" panose="05000000000000000000" pitchFamily="2" charset="2"/>
              <a:buChar char="ü"/>
            </a:pPr>
            <a:r>
              <a:rPr lang="pt-BR" sz="2800" dirty="0">
                <a:effectLst>
                  <a:outerShdw blurRad="38100" dist="38100" dir="2700000" algn="tl">
                    <a:srgbClr val="000000">
                      <a:alpha val="43137"/>
                    </a:srgbClr>
                  </a:outerShdw>
                </a:effectLst>
              </a:rPr>
              <a:t>a) a transmissão </a:t>
            </a:r>
            <a:r>
              <a:rPr lang="pt-BR" sz="2800" i="1" dirty="0">
                <a:effectLst>
                  <a:outerShdw blurRad="38100" dist="38100" dir="2700000" algn="tl">
                    <a:srgbClr val="000000">
                      <a:alpha val="43137"/>
                    </a:srgbClr>
                  </a:outerShdw>
                </a:effectLst>
              </a:rPr>
              <a:t>causa mortis</a:t>
            </a:r>
            <a:r>
              <a:rPr lang="pt-BR" sz="2800" dirty="0" smtClean="0"/>
              <a:t>:</a:t>
            </a:r>
          </a:p>
          <a:p>
            <a:pPr>
              <a:buFont typeface="Wingdings" panose="05000000000000000000" pitchFamily="2" charset="2"/>
              <a:buChar char="ü"/>
            </a:pPr>
            <a:endParaRPr lang="pt-BR" sz="2800" dirty="0"/>
          </a:p>
          <a:p>
            <a:pPr>
              <a:buFont typeface="Courier New" panose="02070309020205020404" pitchFamily="49" charset="0"/>
              <a:buChar char="o"/>
            </a:pPr>
            <a:r>
              <a:rPr lang="pt-BR" sz="2800" dirty="0"/>
              <a:t>a.1) de único imóvel, por beneficiário, destinado exclusivamente à moradia do cônjuge sobrevivente ou de herdeiro, que outro não possua</a:t>
            </a:r>
            <a:r>
              <a:rPr lang="pt-BR" sz="2800" dirty="0" smtClean="0"/>
              <a:t>;</a:t>
            </a:r>
          </a:p>
          <a:p>
            <a:pPr>
              <a:buFont typeface="Courier New" panose="02070309020205020404" pitchFamily="49" charset="0"/>
              <a:buChar char="o"/>
            </a:pPr>
            <a:endParaRPr lang="pt-BR" sz="2800" dirty="0"/>
          </a:p>
          <a:p>
            <a:pPr>
              <a:buFont typeface="Courier New" panose="02070309020205020404" pitchFamily="49" charset="0"/>
              <a:buChar char="o"/>
            </a:pPr>
            <a:r>
              <a:rPr lang="pt-BR" sz="2800" dirty="0"/>
              <a:t>a.2) de objetos de uso doméstico, tais como aparelhos, móveis, utensílios e vestuário, exclusive joias;</a:t>
            </a:r>
            <a:endParaRPr lang="pt-BR" sz="2400" dirty="0"/>
          </a:p>
        </p:txBody>
      </p:sp>
      <p:sp>
        <p:nvSpPr>
          <p:cNvPr id="6" name="Seta para a direita 5"/>
          <p:cNvSpPr/>
          <p:nvPr/>
        </p:nvSpPr>
        <p:spPr>
          <a:xfrm>
            <a:off x="7812360" y="260648"/>
            <a:ext cx="792088" cy="576064"/>
          </a:xfrm>
          <a:prstGeom prst="rightArrow">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pt-BR"/>
          </a:p>
        </p:txBody>
      </p:sp>
    </p:spTree>
    <p:extLst>
      <p:ext uri="{BB962C8B-B14F-4D97-AF65-F5344CB8AC3E}">
        <p14:creationId xmlns:p14="http://schemas.microsoft.com/office/powerpoint/2010/main" val="371186149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b="1" dirty="0" smtClean="0"/>
              <a:t>Isenção</a:t>
            </a:r>
            <a:endParaRPr lang="pt-BR" b="1" dirty="0"/>
          </a:p>
        </p:txBody>
      </p:sp>
      <p:sp>
        <p:nvSpPr>
          <p:cNvPr id="3" name="Espaço Reservado para Conteúdo 2"/>
          <p:cNvSpPr>
            <a:spLocks noGrp="1"/>
          </p:cNvSpPr>
          <p:nvPr>
            <p:ph idx="1"/>
          </p:nvPr>
        </p:nvSpPr>
        <p:spPr/>
        <p:txBody>
          <a:bodyPr>
            <a:normAutofit fontScale="92500" lnSpcReduction="10000"/>
          </a:bodyPr>
          <a:lstStyle/>
          <a:p>
            <a:pPr>
              <a:buFont typeface="Courier New" panose="02070309020205020404" pitchFamily="49" charset="0"/>
              <a:buChar char="o"/>
            </a:pPr>
            <a:r>
              <a:rPr lang="pt-BR" sz="2400" dirty="0"/>
              <a:t>a.3) de valores não recebidos em vida pelo respectivo titular, correspondentes à remuneração oriunda de relação de trabalho ou a rendimentos de aposentadoria ou pensão devidos por institutos de seguro social e previdência pública, verbas e representações de caráter alimentar decorrentes de decisão judicial em processo próprio, e o montante de contas individuais de </a:t>
            </a:r>
            <a:r>
              <a:rPr lang="pt-BR" sz="2400" dirty="0" smtClean="0"/>
              <a:t>FGTS </a:t>
            </a:r>
            <a:r>
              <a:rPr lang="pt-BR" sz="2400" dirty="0"/>
              <a:t>e do Fundo de Participações (PIS/Pasep), limitado a R$ 25.000,00, podendo esse limite ser atualizado, pelo Poder Executivo, anualmente pelo Índice Nacional de Preço ao Consumidor Amplo (IPCA</a:t>
            </a:r>
            <a:r>
              <a:rPr lang="pt-BR" sz="2400" dirty="0" smtClean="0"/>
              <a:t>);</a:t>
            </a:r>
          </a:p>
          <a:p>
            <a:pPr>
              <a:buFont typeface="Courier New" panose="02070309020205020404" pitchFamily="49" charset="0"/>
              <a:buChar char="o"/>
            </a:pPr>
            <a:endParaRPr lang="pt-BR" sz="2400" dirty="0"/>
          </a:p>
          <a:p>
            <a:pPr>
              <a:buFont typeface="Courier New" panose="02070309020205020404" pitchFamily="49" charset="0"/>
              <a:buChar char="o"/>
            </a:pPr>
            <a:r>
              <a:rPr lang="pt-BR" sz="2400" dirty="0"/>
              <a:t>a.4) de imóvel rural com área não superior a 25 hectares, de cuja exploração do solo depende o sustento da família do herdeiro ou do cônjuge supérstite a que tenha cabido partilha desde que outro não possua;</a:t>
            </a:r>
            <a:endParaRPr lang="pt-BR" sz="2400" dirty="0"/>
          </a:p>
        </p:txBody>
      </p:sp>
      <p:sp>
        <p:nvSpPr>
          <p:cNvPr id="6" name="Seta para a direita 5"/>
          <p:cNvSpPr/>
          <p:nvPr/>
        </p:nvSpPr>
        <p:spPr>
          <a:xfrm>
            <a:off x="7812360" y="260648"/>
            <a:ext cx="792088" cy="576064"/>
          </a:xfrm>
          <a:prstGeom prst="rightArrow">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pt-BR"/>
          </a:p>
        </p:txBody>
      </p:sp>
    </p:spTree>
    <p:extLst>
      <p:ext uri="{BB962C8B-B14F-4D97-AF65-F5344CB8AC3E}">
        <p14:creationId xmlns:p14="http://schemas.microsoft.com/office/powerpoint/2010/main" val="382119226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b="1" dirty="0" smtClean="0"/>
              <a:t>Isenção</a:t>
            </a:r>
            <a:endParaRPr lang="pt-BR" b="1" dirty="0"/>
          </a:p>
        </p:txBody>
      </p:sp>
      <p:sp>
        <p:nvSpPr>
          <p:cNvPr id="3" name="Espaço Reservado para Conteúdo 2"/>
          <p:cNvSpPr>
            <a:spLocks noGrp="1"/>
          </p:cNvSpPr>
          <p:nvPr>
            <p:ph idx="1"/>
          </p:nvPr>
        </p:nvSpPr>
        <p:spPr/>
        <p:txBody>
          <a:bodyPr>
            <a:normAutofit/>
          </a:bodyPr>
          <a:lstStyle/>
          <a:p>
            <a:pPr>
              <a:buFont typeface="Wingdings" panose="05000000000000000000" pitchFamily="2" charset="2"/>
              <a:buChar char="ü"/>
            </a:pPr>
            <a:r>
              <a:rPr lang="pt-BR" sz="2400" dirty="0" smtClean="0">
                <a:effectLst>
                  <a:outerShdw blurRad="38100" dist="38100" dir="2700000" algn="tl">
                    <a:srgbClr val="000000">
                      <a:alpha val="43137"/>
                    </a:srgbClr>
                  </a:outerShdw>
                </a:effectLst>
              </a:rPr>
              <a:t>b</a:t>
            </a:r>
            <a:r>
              <a:rPr lang="pt-BR" sz="2400" dirty="0">
                <a:effectLst>
                  <a:outerShdw blurRad="38100" dist="38100" dir="2700000" algn="tl">
                    <a:srgbClr val="000000">
                      <a:alpha val="43137"/>
                    </a:srgbClr>
                  </a:outerShdw>
                </a:effectLst>
              </a:rPr>
              <a:t>) a doação</a:t>
            </a:r>
            <a:r>
              <a:rPr lang="pt-BR" sz="2400" dirty="0" smtClean="0">
                <a:effectLst>
                  <a:outerShdw blurRad="38100" dist="38100" dir="2700000" algn="tl">
                    <a:srgbClr val="000000">
                      <a:alpha val="43137"/>
                    </a:srgbClr>
                  </a:outerShdw>
                </a:effectLst>
              </a:rPr>
              <a:t>:</a:t>
            </a:r>
          </a:p>
          <a:p>
            <a:pPr marL="0" indent="0">
              <a:buNone/>
            </a:pPr>
            <a:endParaRPr lang="pt-BR" sz="2400" dirty="0"/>
          </a:p>
          <a:p>
            <a:pPr>
              <a:buFont typeface="Wingdings" panose="05000000000000000000" pitchFamily="2" charset="2"/>
              <a:buChar char="ü"/>
            </a:pPr>
            <a:r>
              <a:rPr lang="pt-BR" sz="2400" dirty="0"/>
              <a:t>b.1) promovida pelo representante legal ou pelo assistente de beneficiário de pessoa portadora de deficiência física, visual, mental severa ou profunda, ou autistas, para a aquisição de veículo automotor beneficiada com isenção do ICMS nos termos de legislação específica</a:t>
            </a:r>
            <a:r>
              <a:rPr lang="pt-BR" sz="2400" dirty="0" smtClean="0"/>
              <a:t>;</a:t>
            </a:r>
          </a:p>
          <a:p>
            <a:pPr marL="0" indent="0">
              <a:buNone/>
            </a:pPr>
            <a:endParaRPr lang="pt-BR" sz="2400" dirty="0"/>
          </a:p>
          <a:p>
            <a:pPr>
              <a:buFont typeface="Wingdings" panose="05000000000000000000" pitchFamily="2" charset="2"/>
              <a:buChar char="ü"/>
            </a:pPr>
            <a:r>
              <a:rPr lang="pt-BR" sz="2400" dirty="0"/>
              <a:t>b.2) de imóvel, com o objetivo de implantar o programa da reforma agrária instituído pelo Governo;</a:t>
            </a:r>
            <a:endParaRPr lang="pt-BR" sz="2400" dirty="0"/>
          </a:p>
        </p:txBody>
      </p:sp>
      <p:sp>
        <p:nvSpPr>
          <p:cNvPr id="6" name="Seta para a direita 5"/>
          <p:cNvSpPr/>
          <p:nvPr/>
        </p:nvSpPr>
        <p:spPr>
          <a:xfrm>
            <a:off x="7812360" y="260648"/>
            <a:ext cx="792088" cy="576064"/>
          </a:xfrm>
          <a:prstGeom prst="rightArrow">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pt-BR"/>
          </a:p>
        </p:txBody>
      </p:sp>
    </p:spTree>
    <p:extLst>
      <p:ext uri="{BB962C8B-B14F-4D97-AF65-F5344CB8AC3E}">
        <p14:creationId xmlns:p14="http://schemas.microsoft.com/office/powerpoint/2010/main" val="22175440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b="1" dirty="0" smtClean="0"/>
              <a:t>Isenção</a:t>
            </a:r>
            <a:endParaRPr lang="pt-BR" b="1" dirty="0"/>
          </a:p>
        </p:txBody>
      </p:sp>
      <p:sp>
        <p:nvSpPr>
          <p:cNvPr id="3" name="Espaço Reservado para Conteúdo 2"/>
          <p:cNvSpPr>
            <a:spLocks noGrp="1"/>
          </p:cNvSpPr>
          <p:nvPr>
            <p:ph idx="1"/>
          </p:nvPr>
        </p:nvSpPr>
        <p:spPr/>
        <p:txBody>
          <a:bodyPr>
            <a:normAutofit fontScale="92500" lnSpcReduction="10000"/>
          </a:bodyPr>
          <a:lstStyle/>
          <a:p>
            <a:pPr>
              <a:buFont typeface="Wingdings" panose="05000000000000000000" pitchFamily="2" charset="2"/>
              <a:buChar char="ü"/>
            </a:pPr>
            <a:r>
              <a:rPr lang="pt-BR" sz="2400" dirty="0"/>
              <a:t>b.3) de imóvel destinado à construção de moradia vinculada a programa de habitação popular ou a programas de regularização fundiária de interesse social, estabelecidos em lei específica, em que sejam donatárias as companhias de habitação popular ou outras entidades de atribuição semelhante, inclusive financeiras, controladas pelo Poder Público federal, estadual ou municipal, bem como as doações realizadas aos beneficiários finais de tais programas, no âmbito desses</a:t>
            </a:r>
            <a:r>
              <a:rPr lang="pt-BR" sz="2400" dirty="0" smtClean="0"/>
              <a:t>;</a:t>
            </a:r>
          </a:p>
          <a:p>
            <a:pPr marL="0" indent="0">
              <a:buNone/>
            </a:pPr>
            <a:endParaRPr lang="pt-BR" sz="2400" dirty="0"/>
          </a:p>
          <a:p>
            <a:pPr>
              <a:buFont typeface="Wingdings" panose="05000000000000000000" pitchFamily="2" charset="2"/>
              <a:buChar char="ü"/>
            </a:pPr>
            <a:r>
              <a:rPr lang="pt-BR" sz="2400" dirty="0"/>
              <a:t>b.4) de imóvel destinado à construção de moradia vinculada a programa de habitação popular ou a programas de regularização fundiária de interesse social, estabelecidos em lei específica, bem como as doações realizadas aos beneficiários finais de tais programas, no âmbito desses;</a:t>
            </a:r>
            <a:endParaRPr lang="pt-BR" sz="2400" dirty="0"/>
          </a:p>
        </p:txBody>
      </p:sp>
      <p:sp>
        <p:nvSpPr>
          <p:cNvPr id="6" name="Seta para a direita 5"/>
          <p:cNvSpPr/>
          <p:nvPr/>
        </p:nvSpPr>
        <p:spPr>
          <a:xfrm>
            <a:off x="7812360" y="260648"/>
            <a:ext cx="792088" cy="576064"/>
          </a:xfrm>
          <a:prstGeom prst="rightArrow">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pt-BR"/>
          </a:p>
        </p:txBody>
      </p:sp>
    </p:spTree>
    <p:extLst>
      <p:ext uri="{BB962C8B-B14F-4D97-AF65-F5344CB8AC3E}">
        <p14:creationId xmlns:p14="http://schemas.microsoft.com/office/powerpoint/2010/main" val="63129180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b="1" dirty="0" smtClean="0"/>
              <a:t>Isenção</a:t>
            </a:r>
            <a:endParaRPr lang="pt-BR" b="1" dirty="0"/>
          </a:p>
        </p:txBody>
      </p:sp>
      <p:sp>
        <p:nvSpPr>
          <p:cNvPr id="3" name="Espaço Reservado para Conteúdo 2"/>
          <p:cNvSpPr>
            <a:spLocks noGrp="1"/>
          </p:cNvSpPr>
          <p:nvPr>
            <p:ph idx="1"/>
          </p:nvPr>
        </p:nvSpPr>
        <p:spPr/>
        <p:txBody>
          <a:bodyPr>
            <a:normAutofit fontScale="85000" lnSpcReduction="20000"/>
          </a:bodyPr>
          <a:lstStyle/>
          <a:p>
            <a:pPr>
              <a:buFont typeface="Wingdings" panose="05000000000000000000" pitchFamily="2" charset="2"/>
              <a:buChar char="ü"/>
            </a:pPr>
            <a:r>
              <a:rPr lang="pt-BR" sz="2400" dirty="0"/>
              <a:t>b.5) de imóvel destinado à instalação de indústria de transformação, nos termos de regulamentação específica</a:t>
            </a:r>
            <a:r>
              <a:rPr lang="pt-BR" sz="2400" dirty="0" smtClean="0"/>
              <a:t>;</a:t>
            </a:r>
          </a:p>
          <a:p>
            <a:pPr marL="0" indent="0">
              <a:buNone/>
            </a:pPr>
            <a:endParaRPr lang="pt-BR" sz="2400" dirty="0"/>
          </a:p>
          <a:p>
            <a:pPr>
              <a:buFont typeface="Wingdings" panose="05000000000000000000" pitchFamily="2" charset="2"/>
              <a:buChar char="ü"/>
            </a:pPr>
            <a:r>
              <a:rPr lang="pt-BR" sz="2400" dirty="0"/>
              <a:t>b.6) para assistência às vítimas de calamidade pública ou emergência declaradas pela autoridade competente, efetuada para entidades governamentais, templos de qualquer culto ou entidades reconhecidas de utilidade pública, que atendam aos requisitos do art. 14 do Código Tributário Nacional (CTN), bem como as doações efetuadas pelas mesmas entidades, para essa finalidade</a:t>
            </a:r>
            <a:r>
              <a:rPr lang="pt-BR" sz="2400" dirty="0" smtClean="0"/>
              <a:t>;</a:t>
            </a:r>
          </a:p>
          <a:p>
            <a:pPr marL="0" indent="0">
              <a:buNone/>
            </a:pPr>
            <a:endParaRPr lang="pt-BR" sz="2400" dirty="0"/>
          </a:p>
          <a:p>
            <a:pPr>
              <a:buFont typeface="Wingdings" panose="05000000000000000000" pitchFamily="2" charset="2"/>
              <a:buChar char="ü"/>
            </a:pPr>
            <a:r>
              <a:rPr lang="pt-BR" sz="2400" dirty="0"/>
              <a:t>b.7) de objetos de uso doméstico, tais como aparelhos, móveis, utensílios e vestuário, exclusive joias</a:t>
            </a:r>
            <a:r>
              <a:rPr lang="pt-BR" sz="2400" dirty="0" smtClean="0"/>
              <a:t>;</a:t>
            </a:r>
          </a:p>
          <a:p>
            <a:pPr marL="0" indent="0">
              <a:buNone/>
            </a:pPr>
            <a:endParaRPr lang="pt-BR" sz="2400" dirty="0"/>
          </a:p>
          <a:p>
            <a:pPr>
              <a:buFont typeface="Wingdings" panose="05000000000000000000" pitchFamily="2" charset="2"/>
              <a:buChar char="ü"/>
            </a:pPr>
            <a:r>
              <a:rPr lang="pt-BR" sz="2400" dirty="0"/>
              <a:t>b.8) para fins beneficentes, a entidades legalmente constituídas, de alimentos em geral, produtos de higiene e de limpeza, medicamentos, vestuário, material escolar e material de construção. </a:t>
            </a:r>
            <a:endParaRPr lang="pt-BR" sz="2400" dirty="0"/>
          </a:p>
        </p:txBody>
      </p:sp>
    </p:spTree>
    <p:extLst>
      <p:ext uri="{BB962C8B-B14F-4D97-AF65-F5344CB8AC3E}">
        <p14:creationId xmlns:p14="http://schemas.microsoft.com/office/powerpoint/2010/main" val="57986907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b="1" dirty="0" smtClean="0"/>
              <a:t>Alíquota</a:t>
            </a:r>
            <a:endParaRPr lang="pt-BR" b="1" dirty="0"/>
          </a:p>
        </p:txBody>
      </p:sp>
      <p:sp>
        <p:nvSpPr>
          <p:cNvPr id="3" name="Espaço Reservado para Conteúdo 2"/>
          <p:cNvSpPr>
            <a:spLocks noGrp="1"/>
          </p:cNvSpPr>
          <p:nvPr>
            <p:ph idx="1"/>
          </p:nvPr>
        </p:nvSpPr>
        <p:spPr/>
        <p:txBody>
          <a:bodyPr>
            <a:normAutofit/>
          </a:bodyPr>
          <a:lstStyle/>
          <a:p>
            <a:pPr>
              <a:buFont typeface="Courier New" panose="02070309020205020404" pitchFamily="49" charset="0"/>
              <a:buChar char="o"/>
            </a:pPr>
            <a:r>
              <a:rPr lang="pt-BR" sz="2800" dirty="0"/>
              <a:t>A alíquota do ITCMD é 4% para qualquer transmissão.</a:t>
            </a:r>
            <a:endParaRPr lang="pt-BR" sz="2800" dirty="0"/>
          </a:p>
        </p:txBody>
      </p:sp>
      <p:pic>
        <p:nvPicPr>
          <p:cNvPr id="6146" name="Picture 2" descr="Resultado de imagem para alÃ­quota"/>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95736" y="2852936"/>
            <a:ext cx="4543425" cy="30099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1433866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b="1" dirty="0" smtClean="0"/>
              <a:t>Contribuinte</a:t>
            </a:r>
            <a:endParaRPr lang="pt-BR" b="1" dirty="0"/>
          </a:p>
        </p:txBody>
      </p:sp>
      <p:sp>
        <p:nvSpPr>
          <p:cNvPr id="3" name="Espaço Reservado para Conteúdo 2"/>
          <p:cNvSpPr>
            <a:spLocks noGrp="1"/>
          </p:cNvSpPr>
          <p:nvPr>
            <p:ph idx="1"/>
          </p:nvPr>
        </p:nvSpPr>
        <p:spPr/>
        <p:txBody>
          <a:bodyPr>
            <a:normAutofit fontScale="92500" lnSpcReduction="20000"/>
          </a:bodyPr>
          <a:lstStyle/>
          <a:p>
            <a:pPr>
              <a:buFont typeface="Wingdings" panose="05000000000000000000" pitchFamily="2" charset="2"/>
              <a:buChar char="v"/>
            </a:pPr>
            <a:r>
              <a:rPr lang="pt-BR" sz="2800" dirty="0"/>
              <a:t>O contribuinte do imposto é</a:t>
            </a:r>
            <a:r>
              <a:rPr lang="pt-BR" sz="2800" dirty="0" smtClean="0"/>
              <a:t>:</a:t>
            </a:r>
          </a:p>
          <a:p>
            <a:pPr marL="0" indent="0">
              <a:buNone/>
            </a:pPr>
            <a:endParaRPr lang="pt-BR" sz="2800" dirty="0"/>
          </a:p>
          <a:p>
            <a:pPr>
              <a:buFont typeface="Courier New" panose="02070309020205020404" pitchFamily="49" charset="0"/>
              <a:buChar char="o"/>
            </a:pPr>
            <a:r>
              <a:rPr lang="pt-BR" sz="2800" dirty="0"/>
              <a:t>a) o herdeiro ou o legatário, nas transmissões </a:t>
            </a:r>
            <a:r>
              <a:rPr lang="pt-BR" sz="2800" i="1" dirty="0"/>
              <a:t>causa mortis</a:t>
            </a:r>
            <a:r>
              <a:rPr lang="pt-BR" sz="2800" dirty="0" smtClean="0"/>
              <a:t>;</a:t>
            </a:r>
          </a:p>
          <a:p>
            <a:pPr marL="0" indent="0">
              <a:buNone/>
            </a:pPr>
            <a:endParaRPr lang="pt-BR" sz="2800" dirty="0"/>
          </a:p>
          <a:p>
            <a:pPr>
              <a:buFont typeface="Courier New" panose="02070309020205020404" pitchFamily="49" charset="0"/>
              <a:buChar char="o"/>
            </a:pPr>
            <a:r>
              <a:rPr lang="pt-BR" sz="2800" dirty="0"/>
              <a:t>b) o donatário, nas transmissões por doação</a:t>
            </a:r>
            <a:r>
              <a:rPr lang="pt-BR" sz="2800" dirty="0" smtClean="0"/>
              <a:t>;</a:t>
            </a:r>
          </a:p>
          <a:p>
            <a:pPr marL="0" indent="0">
              <a:buNone/>
            </a:pPr>
            <a:endParaRPr lang="pt-BR" sz="2800" dirty="0"/>
          </a:p>
          <a:p>
            <a:pPr>
              <a:buFont typeface="Courier New" panose="02070309020205020404" pitchFamily="49" charset="0"/>
              <a:buChar char="o"/>
            </a:pPr>
            <a:r>
              <a:rPr lang="pt-BR" sz="2800" dirty="0"/>
              <a:t>c) o cessionário, na cessão a título gratuito</a:t>
            </a:r>
            <a:r>
              <a:rPr lang="pt-BR" sz="2800" dirty="0" smtClean="0"/>
              <a:t>;</a:t>
            </a:r>
          </a:p>
          <a:p>
            <a:pPr marL="0" indent="0">
              <a:buNone/>
            </a:pPr>
            <a:endParaRPr lang="pt-BR" sz="2800" dirty="0"/>
          </a:p>
          <a:p>
            <a:pPr>
              <a:buFont typeface="Courier New" panose="02070309020205020404" pitchFamily="49" charset="0"/>
              <a:buChar char="o"/>
            </a:pPr>
            <a:r>
              <a:rPr lang="pt-BR" sz="2800" dirty="0"/>
              <a:t>d) o beneficiário, na desistência de quinhão ou de direitos, por herdeiro ou </a:t>
            </a:r>
            <a:r>
              <a:rPr lang="pt-BR" sz="2800" dirty="0" smtClean="0"/>
              <a:t>legatário.</a:t>
            </a:r>
            <a:endParaRPr lang="pt-BR" sz="2800" dirty="0"/>
          </a:p>
        </p:txBody>
      </p:sp>
    </p:spTree>
    <p:extLst>
      <p:ext uri="{BB962C8B-B14F-4D97-AF65-F5344CB8AC3E}">
        <p14:creationId xmlns:p14="http://schemas.microsoft.com/office/powerpoint/2010/main" val="111288344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b="1" dirty="0" smtClean="0"/>
              <a:t>Responsáveis Solidários</a:t>
            </a:r>
            <a:endParaRPr lang="pt-BR" b="1" dirty="0"/>
          </a:p>
        </p:txBody>
      </p:sp>
      <p:sp>
        <p:nvSpPr>
          <p:cNvPr id="3" name="Espaço Reservado para Conteúdo 2"/>
          <p:cNvSpPr>
            <a:spLocks noGrp="1"/>
          </p:cNvSpPr>
          <p:nvPr>
            <p:ph idx="1"/>
          </p:nvPr>
        </p:nvSpPr>
        <p:spPr/>
        <p:txBody>
          <a:bodyPr>
            <a:normAutofit fontScale="92500" lnSpcReduction="20000"/>
          </a:bodyPr>
          <a:lstStyle/>
          <a:p>
            <a:pPr>
              <a:buFont typeface="Wingdings" panose="05000000000000000000" pitchFamily="2" charset="2"/>
              <a:buChar char="v"/>
            </a:pPr>
            <a:r>
              <a:rPr lang="pt-BR" sz="2800" dirty="0"/>
              <a:t>São solidariamente responsáveis pelo imposto devido pelo contribuinte</a:t>
            </a:r>
            <a:r>
              <a:rPr lang="pt-BR" sz="2800" dirty="0" smtClean="0"/>
              <a:t>:</a:t>
            </a:r>
          </a:p>
          <a:p>
            <a:pPr marL="0" indent="0">
              <a:buNone/>
            </a:pPr>
            <a:endParaRPr lang="pt-BR" sz="2800" dirty="0"/>
          </a:p>
          <a:p>
            <a:pPr>
              <a:buFont typeface="Courier New" panose="02070309020205020404" pitchFamily="49" charset="0"/>
              <a:buChar char="o"/>
            </a:pPr>
            <a:r>
              <a:rPr lang="pt-BR" sz="2800" dirty="0"/>
              <a:t>a) os notários, os tabeliães, os escrivães e demais serventuários de ofício, pelos tributos devidos sobre os atos praticados por eles, ou perante eles, em razão de seu ofício</a:t>
            </a:r>
            <a:r>
              <a:rPr lang="pt-BR" sz="2800" dirty="0" smtClean="0"/>
              <a:t>;</a:t>
            </a:r>
          </a:p>
          <a:p>
            <a:pPr marL="0" indent="0">
              <a:buNone/>
            </a:pPr>
            <a:endParaRPr lang="pt-BR" sz="2800" dirty="0"/>
          </a:p>
          <a:p>
            <a:pPr>
              <a:buFont typeface="Courier New" panose="02070309020205020404" pitchFamily="49" charset="0"/>
              <a:buChar char="o"/>
            </a:pPr>
            <a:r>
              <a:rPr lang="pt-BR" sz="2800" dirty="0"/>
              <a:t>b) a empresa, as instituições financeiras e bancárias e todo aquele a quem caiba a responsabilidade do registro ou a prática de ato que implique transmissão de bens móveis ou imóveis e respectivos direitos e ações;</a:t>
            </a:r>
            <a:endParaRPr lang="pt-BR" sz="2800" dirty="0"/>
          </a:p>
        </p:txBody>
      </p:sp>
      <p:sp>
        <p:nvSpPr>
          <p:cNvPr id="4" name="Seta para a direita 3"/>
          <p:cNvSpPr/>
          <p:nvPr/>
        </p:nvSpPr>
        <p:spPr>
          <a:xfrm>
            <a:off x="7812360" y="260648"/>
            <a:ext cx="792088" cy="576064"/>
          </a:xfrm>
          <a:prstGeom prst="rightArrow">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pt-BR"/>
          </a:p>
        </p:txBody>
      </p:sp>
    </p:spTree>
    <p:extLst>
      <p:ext uri="{BB962C8B-B14F-4D97-AF65-F5344CB8AC3E}">
        <p14:creationId xmlns:p14="http://schemas.microsoft.com/office/powerpoint/2010/main" val="171546744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b="1" dirty="0"/>
              <a:t>Responsáveis Solidários</a:t>
            </a:r>
            <a:endParaRPr lang="pt-BR" b="1" dirty="0"/>
          </a:p>
        </p:txBody>
      </p:sp>
      <p:sp>
        <p:nvSpPr>
          <p:cNvPr id="3" name="Espaço Reservado para Conteúdo 2"/>
          <p:cNvSpPr>
            <a:spLocks noGrp="1"/>
          </p:cNvSpPr>
          <p:nvPr>
            <p:ph idx="1"/>
          </p:nvPr>
        </p:nvSpPr>
        <p:spPr/>
        <p:txBody>
          <a:bodyPr>
            <a:normAutofit fontScale="92500" lnSpcReduction="20000"/>
          </a:bodyPr>
          <a:lstStyle/>
          <a:p>
            <a:pPr>
              <a:buFont typeface="Courier New" panose="02070309020205020404" pitchFamily="49" charset="0"/>
              <a:buChar char="o"/>
            </a:pPr>
            <a:r>
              <a:rPr lang="pt-BR" sz="2800" dirty="0"/>
              <a:t>c) o donatário, quando não contribuinte, o doador e o cedente, em relação aos bens ou aos direitos recebidos, doados ou cedidos</a:t>
            </a:r>
            <a:r>
              <a:rPr lang="pt-BR" sz="2800" dirty="0" smtClean="0"/>
              <a:t>;</a:t>
            </a:r>
          </a:p>
          <a:p>
            <a:pPr marL="0" indent="0">
              <a:buNone/>
            </a:pPr>
            <a:endParaRPr lang="pt-BR" sz="2800" dirty="0"/>
          </a:p>
          <a:p>
            <a:pPr>
              <a:buFont typeface="Courier New" panose="02070309020205020404" pitchFamily="49" charset="0"/>
              <a:buChar char="o"/>
            </a:pPr>
            <a:r>
              <a:rPr lang="pt-BR" sz="2800" dirty="0"/>
              <a:t>d) qualquer pessoa física ou jurídica que detenha a posse dos bens transmitidos por atos deflagradores da incidência do ITCMD</a:t>
            </a:r>
            <a:r>
              <a:rPr lang="pt-BR" sz="2800" dirty="0" smtClean="0"/>
              <a:t>;</a:t>
            </a:r>
          </a:p>
          <a:p>
            <a:pPr marL="0" indent="0">
              <a:buNone/>
            </a:pPr>
            <a:endParaRPr lang="pt-BR" sz="2800" dirty="0"/>
          </a:p>
          <a:p>
            <a:pPr>
              <a:buFont typeface="Courier New" panose="02070309020205020404" pitchFamily="49" charset="0"/>
              <a:buChar char="o"/>
            </a:pPr>
            <a:r>
              <a:rPr lang="pt-BR" sz="2800" dirty="0"/>
              <a:t>e) os pais, pelo imposto devido pelos filhos menores</a:t>
            </a:r>
            <a:r>
              <a:rPr lang="pt-BR" sz="2800" dirty="0" smtClean="0"/>
              <a:t>;</a:t>
            </a:r>
          </a:p>
          <a:p>
            <a:pPr marL="0" indent="0">
              <a:buNone/>
            </a:pPr>
            <a:endParaRPr lang="pt-BR" sz="2800" dirty="0"/>
          </a:p>
          <a:p>
            <a:pPr>
              <a:buFont typeface="Courier New" panose="02070309020205020404" pitchFamily="49" charset="0"/>
              <a:buChar char="o"/>
            </a:pPr>
            <a:r>
              <a:rPr lang="pt-BR" sz="2800" dirty="0"/>
              <a:t>f) os tutores e os curadores, pelo imposto devido pelos seus tutelados ou seus curatelados;</a:t>
            </a:r>
            <a:endParaRPr lang="pt-BR" sz="2800" dirty="0"/>
          </a:p>
        </p:txBody>
      </p:sp>
      <p:sp>
        <p:nvSpPr>
          <p:cNvPr id="4" name="Seta para a direita 3"/>
          <p:cNvSpPr/>
          <p:nvPr/>
        </p:nvSpPr>
        <p:spPr>
          <a:xfrm>
            <a:off x="7812360" y="260648"/>
            <a:ext cx="792088" cy="576064"/>
          </a:xfrm>
          <a:prstGeom prst="rightArrow">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pt-BR"/>
          </a:p>
        </p:txBody>
      </p:sp>
    </p:spTree>
    <p:extLst>
      <p:ext uri="{BB962C8B-B14F-4D97-AF65-F5344CB8AC3E}">
        <p14:creationId xmlns:p14="http://schemas.microsoft.com/office/powerpoint/2010/main" val="389863059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b="1" dirty="0"/>
              <a:t>Responsáveis Solidários</a:t>
            </a:r>
            <a:endParaRPr lang="pt-BR" b="1" dirty="0"/>
          </a:p>
        </p:txBody>
      </p:sp>
      <p:sp>
        <p:nvSpPr>
          <p:cNvPr id="3" name="Espaço Reservado para Conteúdo 2"/>
          <p:cNvSpPr>
            <a:spLocks noGrp="1"/>
          </p:cNvSpPr>
          <p:nvPr>
            <p:ph idx="1"/>
          </p:nvPr>
        </p:nvSpPr>
        <p:spPr/>
        <p:txBody>
          <a:bodyPr>
            <a:normAutofit lnSpcReduction="10000"/>
          </a:bodyPr>
          <a:lstStyle/>
          <a:p>
            <a:pPr>
              <a:buFont typeface="Courier New" panose="02070309020205020404" pitchFamily="49" charset="0"/>
              <a:buChar char="o"/>
            </a:pPr>
            <a:r>
              <a:rPr lang="pt-BR" sz="2800" dirty="0" smtClean="0"/>
              <a:t>g</a:t>
            </a:r>
            <a:r>
              <a:rPr lang="pt-BR" sz="2800" dirty="0"/>
              <a:t>) os administradores dos bens de terceiros, pelo imposto devido por esses</a:t>
            </a:r>
            <a:r>
              <a:rPr lang="pt-BR" sz="2800" dirty="0" smtClean="0"/>
              <a:t>;</a:t>
            </a:r>
          </a:p>
          <a:p>
            <a:pPr marL="0" indent="0">
              <a:buNone/>
            </a:pPr>
            <a:endParaRPr lang="pt-BR" sz="2800" dirty="0"/>
          </a:p>
          <a:p>
            <a:pPr>
              <a:buFont typeface="Courier New" panose="02070309020205020404" pitchFamily="49" charset="0"/>
              <a:buChar char="o"/>
            </a:pPr>
            <a:r>
              <a:rPr lang="pt-BR" sz="2800" dirty="0"/>
              <a:t>h) o inventariante ou o testamenteiro, pelo imposto devido sobre os bens, inclusive dinheiro em espécie, e os direitos transmitidos</a:t>
            </a:r>
            <a:r>
              <a:rPr lang="pt-BR" sz="2800" dirty="0" smtClean="0"/>
              <a:t>;</a:t>
            </a:r>
          </a:p>
          <a:p>
            <a:pPr marL="0" indent="0">
              <a:buNone/>
            </a:pPr>
            <a:endParaRPr lang="pt-BR" sz="2800" dirty="0"/>
          </a:p>
          <a:p>
            <a:pPr>
              <a:buFont typeface="Courier New" panose="02070309020205020404" pitchFamily="49" charset="0"/>
              <a:buChar char="o"/>
            </a:pPr>
            <a:r>
              <a:rPr lang="pt-BR" sz="2800" dirty="0"/>
              <a:t>i) a pessoa física ou jurídica que tenha interesse comum na situação que constitua o fato gerador do imposto.</a:t>
            </a:r>
            <a:endParaRPr lang="pt-BR" sz="2800" dirty="0"/>
          </a:p>
        </p:txBody>
      </p:sp>
    </p:spTree>
    <p:extLst>
      <p:ext uri="{BB962C8B-B14F-4D97-AF65-F5344CB8AC3E}">
        <p14:creationId xmlns:p14="http://schemas.microsoft.com/office/powerpoint/2010/main" val="415530180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tângulo de cantos arredondados 3"/>
          <p:cNvSpPr/>
          <p:nvPr/>
        </p:nvSpPr>
        <p:spPr>
          <a:xfrm>
            <a:off x="467544" y="2564904"/>
            <a:ext cx="8280920" cy="3312368"/>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pt-BR"/>
          </a:p>
        </p:txBody>
      </p:sp>
      <p:sp>
        <p:nvSpPr>
          <p:cNvPr id="2" name="Título 1"/>
          <p:cNvSpPr>
            <a:spLocks noGrp="1"/>
          </p:cNvSpPr>
          <p:nvPr>
            <p:ph type="title"/>
          </p:nvPr>
        </p:nvSpPr>
        <p:spPr/>
        <p:txBody>
          <a:bodyPr/>
          <a:lstStyle/>
          <a:p>
            <a:r>
              <a:rPr lang="pt-BR" b="1" dirty="0" smtClean="0"/>
              <a:t>Base de Cálculo</a:t>
            </a:r>
            <a:endParaRPr lang="pt-BR" b="1" dirty="0"/>
          </a:p>
        </p:txBody>
      </p:sp>
      <p:sp>
        <p:nvSpPr>
          <p:cNvPr id="3" name="Espaço Reservado para Conteúdo 2"/>
          <p:cNvSpPr>
            <a:spLocks noGrp="1"/>
          </p:cNvSpPr>
          <p:nvPr>
            <p:ph idx="1"/>
          </p:nvPr>
        </p:nvSpPr>
        <p:spPr/>
        <p:txBody>
          <a:bodyPr>
            <a:normAutofit fontScale="77500" lnSpcReduction="20000"/>
          </a:bodyPr>
          <a:lstStyle/>
          <a:p>
            <a:pPr>
              <a:buFont typeface="Courier New" panose="02070309020205020404" pitchFamily="49" charset="0"/>
              <a:buChar char="o"/>
            </a:pPr>
            <a:r>
              <a:rPr lang="pt-BR" sz="2800" dirty="0"/>
              <a:t>A base de cálculo do imposto é o valor venal dos bens e dos direitos ou o valor do título ou do crédito, transmitidos ou doados, considerado na data da Declaração de ITCMD (DITCMD). </a:t>
            </a:r>
            <a:endParaRPr lang="pt-BR" sz="2800" dirty="0" smtClean="0"/>
          </a:p>
          <a:p>
            <a:pPr marL="0" indent="0">
              <a:buNone/>
            </a:pPr>
            <a:endParaRPr lang="pt-BR" sz="2800" dirty="0"/>
          </a:p>
          <a:p>
            <a:pPr>
              <a:buFont typeface="Courier New" panose="02070309020205020404" pitchFamily="49" charset="0"/>
              <a:buChar char="o"/>
            </a:pPr>
            <a:r>
              <a:rPr lang="pt-BR" sz="2800" dirty="0">
                <a:ln>
                  <a:solidFill>
                    <a:schemeClr val="accent6">
                      <a:lumMod val="75000"/>
                    </a:schemeClr>
                  </a:solidFill>
                </a:ln>
              </a:rPr>
              <a:t>Poderá a Fazenda Pública</a:t>
            </a:r>
            <a:r>
              <a:rPr lang="pt-BR" sz="2800" dirty="0" smtClean="0">
                <a:ln>
                  <a:solidFill>
                    <a:schemeClr val="accent6">
                      <a:lumMod val="75000"/>
                    </a:schemeClr>
                  </a:solidFill>
                </a:ln>
              </a:rPr>
              <a:t>:</a:t>
            </a:r>
          </a:p>
          <a:p>
            <a:pPr marL="0" indent="0">
              <a:buNone/>
            </a:pPr>
            <a:endParaRPr lang="pt-BR" sz="2800" dirty="0">
              <a:ln>
                <a:solidFill>
                  <a:schemeClr val="accent6">
                    <a:lumMod val="75000"/>
                  </a:schemeClr>
                </a:solidFill>
              </a:ln>
            </a:endParaRPr>
          </a:p>
          <a:p>
            <a:pPr>
              <a:buFont typeface="Courier New" panose="02070309020205020404" pitchFamily="49" charset="0"/>
              <a:buChar char="o"/>
            </a:pPr>
            <a:r>
              <a:rPr lang="pt-BR" sz="2800" dirty="0">
                <a:ln>
                  <a:solidFill>
                    <a:schemeClr val="accent6">
                      <a:lumMod val="75000"/>
                    </a:schemeClr>
                  </a:solidFill>
                </a:ln>
              </a:rPr>
              <a:t>a) deixar de aceitar o valor declarado pela parte, caso em que arbitrará a base de cálculo, para fins de lançamento, assegurado ao contribuinte o pedido de avaliação contraditória, na forma a ser estabelecida pelo Secretário de Estado da Fazenda</a:t>
            </a:r>
            <a:r>
              <a:rPr lang="pt-BR" sz="2800" dirty="0" smtClean="0">
                <a:ln>
                  <a:solidFill>
                    <a:schemeClr val="accent6">
                      <a:lumMod val="75000"/>
                    </a:schemeClr>
                  </a:solidFill>
                </a:ln>
              </a:rPr>
              <a:t>;</a:t>
            </a:r>
          </a:p>
          <a:p>
            <a:pPr marL="0" indent="0">
              <a:buNone/>
            </a:pPr>
            <a:endParaRPr lang="pt-BR" sz="2800" dirty="0">
              <a:ln>
                <a:solidFill>
                  <a:schemeClr val="accent6">
                    <a:lumMod val="75000"/>
                  </a:schemeClr>
                </a:solidFill>
              </a:ln>
            </a:endParaRPr>
          </a:p>
          <a:p>
            <a:pPr>
              <a:buFont typeface="Courier New" panose="02070309020205020404" pitchFamily="49" charset="0"/>
              <a:buChar char="o"/>
            </a:pPr>
            <a:r>
              <a:rPr lang="pt-BR" sz="2800" dirty="0">
                <a:ln>
                  <a:solidFill>
                    <a:schemeClr val="accent6">
                      <a:lumMod val="75000"/>
                    </a:schemeClr>
                  </a:solidFill>
                </a:ln>
              </a:rPr>
              <a:t>b) credenciar peritos avaliadores para a realização de laudo de avaliação para determinação da base de cálculo do imposto.</a:t>
            </a:r>
            <a:endParaRPr lang="pt-BR" sz="2800" dirty="0">
              <a:ln>
                <a:solidFill>
                  <a:schemeClr val="accent6">
                    <a:lumMod val="75000"/>
                  </a:schemeClr>
                </a:solidFill>
              </a:ln>
            </a:endParaRPr>
          </a:p>
        </p:txBody>
      </p:sp>
    </p:spTree>
    <p:extLst>
      <p:ext uri="{BB962C8B-B14F-4D97-AF65-F5344CB8AC3E}">
        <p14:creationId xmlns:p14="http://schemas.microsoft.com/office/powerpoint/2010/main" val="753543160"/>
      </p:ext>
    </p:extLst>
  </p:cSld>
  <p:clrMapOvr>
    <a:masterClrMapping/>
  </p:clrMapOvr>
</p:sld>
</file>

<file path=ppt/theme/theme1.xml><?xml version="1.0" encoding="utf-8"?>
<a:theme xmlns:a="http://schemas.openxmlformats.org/drawingml/2006/main" name="Tema do Office">
  <a:themeElements>
    <a:clrScheme name="Escritório">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Escritório">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Escritório">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182</TotalTime>
  <Words>1782</Words>
  <Application>Microsoft Office PowerPoint</Application>
  <PresentationFormat>Apresentação na tela (4:3)</PresentationFormat>
  <Paragraphs>144</Paragraphs>
  <Slides>27</Slides>
  <Notes>0</Notes>
  <HiddenSlides>0</HiddenSlides>
  <MMClips>0</MMClips>
  <ScaleCrop>false</ScaleCrop>
  <HeadingPairs>
    <vt:vector size="4" baseType="variant">
      <vt:variant>
        <vt:lpstr>Tema</vt:lpstr>
      </vt:variant>
      <vt:variant>
        <vt:i4>1</vt:i4>
      </vt:variant>
      <vt:variant>
        <vt:lpstr>Títulos de slides</vt:lpstr>
      </vt:variant>
      <vt:variant>
        <vt:i4>27</vt:i4>
      </vt:variant>
    </vt:vector>
  </HeadingPairs>
  <TitlesOfParts>
    <vt:vector size="28" baseType="lpstr">
      <vt:lpstr>Tema do Office</vt:lpstr>
      <vt:lpstr>IMPOSTOS ESTADUAIS – Parte 2</vt:lpstr>
      <vt:lpstr>ITCMD</vt:lpstr>
      <vt:lpstr>Embasamento Legal</vt:lpstr>
      <vt:lpstr>Incidência</vt:lpstr>
      <vt:lpstr>Incidência</vt:lpstr>
      <vt:lpstr>Incidência</vt:lpstr>
      <vt:lpstr>Incidência</vt:lpstr>
      <vt:lpstr>Incidência</vt:lpstr>
      <vt:lpstr>Imunidade</vt:lpstr>
      <vt:lpstr>Imunidade</vt:lpstr>
      <vt:lpstr>Imunidade</vt:lpstr>
      <vt:lpstr>Não Incidência</vt:lpstr>
      <vt:lpstr>Não Incidência</vt:lpstr>
      <vt:lpstr>Não Incidência</vt:lpstr>
      <vt:lpstr>Não Incidência</vt:lpstr>
      <vt:lpstr>Não Incidência</vt:lpstr>
      <vt:lpstr>Isenção</vt:lpstr>
      <vt:lpstr>Isenção</vt:lpstr>
      <vt:lpstr>Isenção</vt:lpstr>
      <vt:lpstr>Isenção</vt:lpstr>
      <vt:lpstr>Isenção</vt:lpstr>
      <vt:lpstr>Alíquota</vt:lpstr>
      <vt:lpstr>Contribuinte</vt:lpstr>
      <vt:lpstr>Responsáveis Solidários</vt:lpstr>
      <vt:lpstr>Responsáveis Solidários</vt:lpstr>
      <vt:lpstr>Responsáveis Solidários</vt:lpstr>
      <vt:lpstr>Base de Cálculo</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Apresentação do PowerPoint</dc:title>
  <dc:creator>Lúcia</dc:creator>
  <cp:lastModifiedBy>Lúcia</cp:lastModifiedBy>
  <cp:revision>84</cp:revision>
  <dcterms:created xsi:type="dcterms:W3CDTF">2018-10-18T01:18:32Z</dcterms:created>
  <dcterms:modified xsi:type="dcterms:W3CDTF">2018-10-19T05:43:53Z</dcterms:modified>
</cp:coreProperties>
</file>