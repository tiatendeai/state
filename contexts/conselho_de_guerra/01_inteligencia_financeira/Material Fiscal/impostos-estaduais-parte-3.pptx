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66" r:id="rId13"/>
    <p:sldId id="279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1" r:id="rId26"/>
    <p:sldId id="278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522" y="-1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81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267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64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7615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20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559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2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07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30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72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CA729-EC06-49AD-AD99-900AC3636B76}" type="datetimeFigureOut">
              <a:rPr lang="pt-BR" smtClean="0"/>
              <a:t>25/10/2018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5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log.tagplus.com.br/anulada-partilha-do-icms-interestadual-nao-vale-mais-para-simples-nacional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hyperlink" Target="https://www.grupoleste.com/fim-de-ano-chegando-parcele-o-ipva-de-2018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404664"/>
            <a:ext cx="7772400" cy="1470025"/>
          </a:xfrm>
        </p:spPr>
        <p:txBody>
          <a:bodyPr/>
          <a:lstStyle/>
          <a:p>
            <a:r>
              <a:rPr lang="pt-BR" b="1" dirty="0" smtClean="0"/>
              <a:t>IMPOSTOS ESTADUAIS – Parte </a:t>
            </a:r>
            <a:r>
              <a:rPr lang="pt-BR" b="1" dirty="0" smtClean="0"/>
              <a:t>3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067944" y="5805264"/>
            <a:ext cx="4960640" cy="769640"/>
          </a:xfrm>
        </p:spPr>
        <p:txBody>
          <a:bodyPr/>
          <a:lstStyle/>
          <a:p>
            <a:r>
              <a:rPr lang="pt-BR" b="1" dirty="0" smtClean="0">
                <a:solidFill>
                  <a:schemeClr val="tx1"/>
                </a:solidFill>
              </a:rPr>
              <a:t>Prof. Lúcia Young</a:t>
            </a:r>
            <a:endParaRPr lang="pt-BR" b="1" dirty="0">
              <a:solidFill>
                <a:schemeClr val="tx1"/>
              </a:solidFill>
            </a:endParaRPr>
          </a:p>
        </p:txBody>
      </p:sp>
      <p:pic>
        <p:nvPicPr>
          <p:cNvPr id="1028" name="Picture 4" descr="Resultado de imagem para ICMS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76872"/>
            <a:ext cx="3312368" cy="188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m para IPVA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211019"/>
            <a:ext cx="3816424" cy="196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sultado de imagem para ITCM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551586"/>
            <a:ext cx="3096344" cy="185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0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6000" b="1" dirty="0" smtClean="0"/>
              <a:t>ICMS</a:t>
            </a:r>
            <a:endParaRPr lang="pt-BR" sz="6000" b="1" dirty="0"/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>
                <a:solidFill>
                  <a:schemeClr val="tx1"/>
                </a:solidFill>
              </a:rPr>
              <a:t>operações relativas à circulação de mercadorias e sobre prestações de serviços de transporte interestadual e intermunicipal e de comunicação, ainda que as operações e as prestações se iniciem no exterior</a:t>
            </a:r>
            <a:endParaRPr lang="pt-BR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Resultado de imagem para icm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0"/>
            <a:ext cx="3744416" cy="1788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40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Embasamento Legal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Constituição Federal, art. 155, inciso I</a:t>
            </a:r>
          </a:p>
          <a:p>
            <a:endParaRPr lang="pt-BR" sz="2800" dirty="0"/>
          </a:p>
          <a:p>
            <a:r>
              <a:rPr lang="pt-BR" sz="2800" dirty="0"/>
              <a:t>Lei Complementar nº </a:t>
            </a:r>
            <a:r>
              <a:rPr lang="pt-BR" sz="2800" dirty="0" smtClean="0"/>
              <a:t>87/1996 (Lei Kandir), com alterações posteriores.</a:t>
            </a:r>
          </a:p>
          <a:p>
            <a:endParaRPr lang="pt-BR" sz="2800" dirty="0"/>
          </a:p>
          <a:p>
            <a:r>
              <a:rPr lang="pt-BR" sz="2800" dirty="0" smtClean="0"/>
              <a:t>RICMS - Regulamento do ICMS/PR  (Decreto 7.871/2017)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47420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Incidência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a) circulação de mercadorias a qualquer título, inclusive fornecimento de alimentação e bebidas em bares, restaurantes e estabelecimentos similares; </a:t>
            </a:r>
            <a:endParaRPr lang="pt-BR" sz="2800" dirty="0" smtClean="0"/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/>
              <a:t>b) prestação de serviços interestaduais e intermunicipais; </a:t>
            </a:r>
            <a:endParaRPr lang="pt-BR" sz="2800" dirty="0" smtClean="0"/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/>
              <a:t>c) comunicação onerosa</a:t>
            </a:r>
            <a:r>
              <a:rPr lang="pt-BR" sz="2800" dirty="0" smtClean="0"/>
              <a:t>.</a:t>
            </a:r>
            <a:endParaRPr lang="pt-BR" sz="2800" dirty="0"/>
          </a:p>
        </p:txBody>
      </p:sp>
      <p:pic>
        <p:nvPicPr>
          <p:cNvPr id="2050" name="Picture 2" descr="Resultado de imagem para ic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725144"/>
            <a:ext cx="3171825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08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Fato Gerador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800" dirty="0"/>
              <a:t>a) saída de mercadoria; </a:t>
            </a:r>
            <a:endParaRPr lang="pt-BR" sz="2800" dirty="0" smtClean="0"/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/>
              <a:t>b) fornecimento de alimentação, bebidas e outras mercadorias por qualquer estabelecimento; </a:t>
            </a:r>
            <a:endParaRPr lang="pt-BR" sz="2800" dirty="0" smtClean="0"/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/>
              <a:t>c) transmissão a terceiro de mercadoria depositada em armazém-geral ou em depósito fechado, no Estado do transmitente; </a:t>
            </a:r>
            <a:endParaRPr lang="pt-BR" sz="2800" dirty="0" smtClean="0"/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/>
              <a:t>d) transmissão de propriedade de mercadoria, ou de título que a represente, quando ela não tiver transitado pelo estabelecimento transmitente</a:t>
            </a:r>
            <a:r>
              <a:rPr lang="pt-BR" sz="2800" dirty="0" smtClean="0"/>
              <a:t>;</a:t>
            </a:r>
            <a:endParaRPr lang="pt-BR" sz="2800" dirty="0"/>
          </a:p>
        </p:txBody>
      </p:sp>
      <p:pic>
        <p:nvPicPr>
          <p:cNvPr id="3076" name="Picture 4" descr="Resultado de imagem para icm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270277"/>
            <a:ext cx="2736304" cy="205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02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Fato Gerador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>
            <a:normAutofit/>
          </a:bodyPr>
          <a:lstStyle/>
          <a:p>
            <a:r>
              <a:rPr lang="pt-BR" sz="2400" dirty="0"/>
              <a:t>e) início da prestação de serviços de transporte interestadual e intermunicipal, de qualquer natureza</a:t>
            </a:r>
            <a:r>
              <a:rPr lang="pt-BR" sz="2400" dirty="0" smtClean="0"/>
              <a:t>;</a:t>
            </a:r>
          </a:p>
          <a:p>
            <a:pPr marL="0" indent="0">
              <a:buNone/>
            </a:pPr>
            <a:r>
              <a:rPr lang="pt-BR" sz="2400" dirty="0" smtClean="0"/>
              <a:t> </a:t>
            </a:r>
            <a:endParaRPr lang="pt-BR" sz="2400" dirty="0"/>
          </a:p>
          <a:p>
            <a:r>
              <a:rPr lang="pt-BR" sz="2400" dirty="0"/>
              <a:t>f) ato final do transporte iniciado no exterior; </a:t>
            </a:r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g) prestação onerosa de serviços de comunicação, feita por qualquer meio, inclusive geração, emissão, recepção, transmissão, retransmissão, repetição e ampliação de comunicação de qualquer natureza; </a:t>
            </a:r>
            <a:endParaRPr lang="pt-BR" sz="2400" dirty="0"/>
          </a:p>
        </p:txBody>
      </p:sp>
      <p:pic>
        <p:nvPicPr>
          <p:cNvPr id="5" name="Picture 2" descr="Resultado de imagem para icm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88640"/>
            <a:ext cx="2560284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2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Fato Gerador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>
            <a:normAutofit/>
          </a:bodyPr>
          <a:lstStyle/>
          <a:p>
            <a:r>
              <a:rPr lang="pt-BR" sz="2400" dirty="0"/>
              <a:t>h) fornecimento de mercadoria com prestação de serviços: </a:t>
            </a:r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2400" dirty="0"/>
              <a:t>h.1) não compreendidos na competência tributária dos municípios; </a:t>
            </a:r>
            <a:endParaRPr lang="pt-BR" sz="2400" dirty="0" smtClean="0"/>
          </a:p>
          <a:p>
            <a:pPr>
              <a:buFont typeface="Wingdings" panose="05000000000000000000" pitchFamily="2" charset="2"/>
              <a:buChar char="ü"/>
            </a:pPr>
            <a:endParaRPr lang="pt-BR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2400" dirty="0"/>
              <a:t>h.2) compreendidos na competência municipal e com indicação expressa da incidência do ICMS, conforme definido na Lei Complementar nº </a:t>
            </a:r>
            <a:r>
              <a:rPr lang="pt-BR" sz="2400" dirty="0" smtClean="0"/>
              <a:t>116/2003; </a:t>
            </a:r>
            <a:endParaRPr lang="pt-BR" sz="2400" dirty="0"/>
          </a:p>
        </p:txBody>
      </p:sp>
      <p:pic>
        <p:nvPicPr>
          <p:cNvPr id="5122" name="Picture 2" descr="Imagem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941168"/>
            <a:ext cx="3024336" cy="166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16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Fato Gerador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209331"/>
          </a:xfrm>
        </p:spPr>
        <p:txBody>
          <a:bodyPr>
            <a:normAutofit/>
          </a:bodyPr>
          <a:lstStyle/>
          <a:p>
            <a:r>
              <a:rPr lang="pt-BR" sz="2400" dirty="0"/>
              <a:t>i) desembaraço aduaneiro de mercadorias ou bens importados do exterior; </a:t>
            </a:r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j) recebimento, pelo destinatário, de serviço prestado no exterior; </a:t>
            </a:r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k) aquisição, em licitação pública, de mercadorias ou bens importados do exterior e apreendidos ou abandonados; </a:t>
            </a:r>
            <a:endParaRPr lang="pt-BR" sz="2400" dirty="0"/>
          </a:p>
        </p:txBody>
      </p:sp>
      <p:pic>
        <p:nvPicPr>
          <p:cNvPr id="6146" name="Picture 2" descr="Resultado de imagem para desembaraÃ§o aduanei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4988174"/>
            <a:ext cx="3779912" cy="182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00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Fato Gerador</a:t>
            </a:r>
            <a:endParaRPr lang="pt-BR" b="1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l) entrada, no território do Estado, de lubrificantes e combustíveis líquidos e gasosos derivados de petróleo e energia elétrica oriundos de outro Estado, quando não se destinarem a comercialização ou industrialização; </a:t>
            </a:r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pPr marL="0" indent="0">
              <a:buNone/>
            </a:pPr>
            <a:endParaRPr lang="pt-BR" sz="2400" dirty="0" smtClean="0"/>
          </a:p>
          <a:p>
            <a:pPr marL="0" indent="0">
              <a:buNone/>
            </a:pPr>
            <a:endParaRPr lang="pt-BR" sz="2400" dirty="0"/>
          </a:p>
          <a:p>
            <a:endParaRPr lang="pt-BR" sz="2400" dirty="0" smtClean="0"/>
          </a:p>
          <a:p>
            <a:r>
              <a:rPr lang="pt-BR" sz="2400" dirty="0" smtClean="0"/>
              <a:t>m</a:t>
            </a:r>
            <a:r>
              <a:rPr lang="pt-BR" sz="2400" dirty="0"/>
              <a:t>) utilização, pelo contribuinte, de serviço cuja prestação tenha se iniciado em outro Estado e não esteja vinculada a operação ou prestação subsequente. </a:t>
            </a:r>
          </a:p>
        </p:txBody>
      </p:sp>
      <p:pic>
        <p:nvPicPr>
          <p:cNvPr id="7178" name="Picture 10" descr="Resultado de imagem para ic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924944"/>
            <a:ext cx="3816424" cy="163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8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Base de Cálculo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 base de cálculo é o valor sobre o qual se aplica a alíquota vigente, obtendo-se como resultado o valor do ICMS devido na operação ou na prestação do serviço. </a:t>
            </a:r>
            <a:endParaRPr lang="pt-BR" sz="2400" dirty="0" smtClean="0"/>
          </a:p>
          <a:p>
            <a:endParaRPr lang="pt-BR" sz="2400" dirty="0"/>
          </a:p>
          <a:p>
            <a:r>
              <a:rPr lang="pt-BR" sz="2400" dirty="0" smtClean="0"/>
              <a:t>Ela </a:t>
            </a:r>
            <a:r>
              <a:rPr lang="pt-BR" sz="2400" dirty="0"/>
              <a:t>é definida pela legislação, observando-se as peculiaridades de cada operação ou </a:t>
            </a:r>
            <a:r>
              <a:rPr lang="pt-BR" sz="2400" dirty="0" smtClean="0"/>
              <a:t>prestação.</a:t>
            </a:r>
            <a:endParaRPr lang="pt-BR" sz="2400" dirty="0"/>
          </a:p>
        </p:txBody>
      </p:sp>
      <p:sp>
        <p:nvSpPr>
          <p:cNvPr id="5" name="Seta para a direita 4"/>
          <p:cNvSpPr/>
          <p:nvPr/>
        </p:nvSpPr>
        <p:spPr>
          <a:xfrm>
            <a:off x="7956376" y="620688"/>
            <a:ext cx="648072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220" name="Picture 4" descr="Resultado de imagem para icm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437112"/>
            <a:ext cx="4248472" cy="1851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17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03848" y="274638"/>
            <a:ext cx="5482952" cy="1143000"/>
          </a:xfrm>
        </p:spPr>
        <p:txBody>
          <a:bodyPr/>
          <a:lstStyle/>
          <a:p>
            <a:r>
              <a:rPr lang="pt-BR" b="1" dirty="0" smtClean="0"/>
              <a:t>Base de Cálculo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 smtClean="0"/>
              <a:t>Integra </a:t>
            </a:r>
            <a:r>
              <a:rPr lang="pt-BR" sz="2800" dirty="0"/>
              <a:t>a base de cálculo do </a:t>
            </a:r>
            <a:r>
              <a:rPr lang="pt-BR" sz="2800" dirty="0" smtClean="0"/>
              <a:t>imposto </a:t>
            </a:r>
            <a:r>
              <a:rPr lang="pt-BR" sz="2800" dirty="0"/>
              <a:t>o valor correspondente a</a:t>
            </a:r>
            <a:r>
              <a:rPr lang="pt-BR" sz="2800" dirty="0" smtClean="0"/>
              <a:t>:</a:t>
            </a:r>
          </a:p>
          <a:p>
            <a:pPr marL="0" indent="0">
              <a:buNone/>
            </a:pPr>
            <a:endParaRPr lang="pt-BR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a) seguros, juros e demais importâncias pagas, recebidas ou debitadas, bem como descontos concedidos sob condição</a:t>
            </a:r>
            <a:r>
              <a:rPr lang="pt-BR" sz="2800" dirty="0" smtClean="0"/>
              <a:t>;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b) frete, caso o transporte seja efetuado pelo próprio remetente ou por sua conta e ordem e seja cobrado em separado</a:t>
            </a:r>
            <a:r>
              <a:rPr lang="pt-BR" sz="2800" dirty="0" smtClean="0"/>
              <a:t>.</a:t>
            </a:r>
            <a:endParaRPr lang="pt-BR" sz="2800" dirty="0"/>
          </a:p>
        </p:txBody>
      </p:sp>
      <p:pic>
        <p:nvPicPr>
          <p:cNvPr id="22530" name="Picture 2" descr="Resultado de imagem para icms fre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3347864" cy="142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597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Alíquotas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4474840" cy="4525963"/>
          </a:xfrm>
        </p:spPr>
        <p:txBody>
          <a:bodyPr/>
          <a:lstStyle/>
          <a:p>
            <a:r>
              <a:rPr lang="pt-BR" b="1" dirty="0"/>
              <a:t>Interestaduais</a:t>
            </a:r>
            <a:r>
              <a:rPr lang="pt-BR" dirty="0"/>
              <a:t>: 4%, 7% e 12%; 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Internas</a:t>
            </a:r>
            <a:r>
              <a:rPr lang="pt-BR" dirty="0"/>
              <a:t>: observar legislação estadual</a:t>
            </a: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8194" name="Picture 2" descr="Resultado de imagem para ic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916832"/>
            <a:ext cx="3888432" cy="388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 para a direita 3"/>
          <p:cNvSpPr/>
          <p:nvPr/>
        </p:nvSpPr>
        <p:spPr>
          <a:xfrm>
            <a:off x="7236296" y="476672"/>
            <a:ext cx="792088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984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114800" cy="1143000"/>
          </a:xfrm>
        </p:spPr>
        <p:txBody>
          <a:bodyPr/>
          <a:lstStyle/>
          <a:p>
            <a:r>
              <a:rPr lang="pt-BR" b="1" dirty="0" smtClean="0"/>
              <a:t>Alíquotas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 alíquota do imposto a ser aplicada nas operações </a:t>
            </a:r>
            <a:r>
              <a:rPr lang="pt-BR" u="sng" dirty="0"/>
              <a:t>internas é de competência estadual</a:t>
            </a:r>
            <a:r>
              <a:rPr lang="pt-BR" dirty="0"/>
              <a:t> e sua fixação deve levar em conta o </a:t>
            </a:r>
            <a:r>
              <a:rPr lang="pt-BR" u="sng" dirty="0"/>
              <a:t>princípio da seletividade em função da essencialidade do produto ou do serviço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 smtClean="0"/>
              <a:t>As </a:t>
            </a:r>
            <a:r>
              <a:rPr lang="pt-BR" dirty="0"/>
              <a:t>alíquotas aplicadas nas operações interestaduais são fixadas pelo Senado Federal, e as atuais (7% e 12%) estão previstas na Resolução nº </a:t>
            </a:r>
            <a:r>
              <a:rPr lang="pt-BR" dirty="0" smtClean="0"/>
              <a:t>22/1989.</a:t>
            </a:r>
            <a:endParaRPr lang="pt-BR" dirty="0"/>
          </a:p>
        </p:txBody>
      </p:sp>
      <p:pic>
        <p:nvPicPr>
          <p:cNvPr id="23554" name="Picture 2" descr="Imagem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4625"/>
            <a:ext cx="3096344" cy="159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946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Contribuinte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São consideradas contribuintes todas as pessoas, físicas ou jurídicas, que praticam habitualmente a circulação de mercadorias, ou em volume que possa ser caracterizado como intuito comercial ou que prestam serviços de transporte interestadual ou intermunicipal e de comunicações, ainda que iniciados no exterior</a:t>
            </a:r>
            <a:r>
              <a:rPr lang="pt-BR" sz="2800" dirty="0" smtClean="0"/>
              <a:t>.</a:t>
            </a:r>
            <a:endParaRPr lang="pt-BR" sz="2800" dirty="0"/>
          </a:p>
        </p:txBody>
      </p:sp>
      <p:pic>
        <p:nvPicPr>
          <p:cNvPr id="10242" name="Picture 2" descr="Resultado de imagem para icm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365104"/>
            <a:ext cx="3779912" cy="236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 para a direita 3"/>
          <p:cNvSpPr/>
          <p:nvPr/>
        </p:nvSpPr>
        <p:spPr>
          <a:xfrm>
            <a:off x="8063880" y="260648"/>
            <a:ext cx="90060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77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Contribuinte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Os requisitos da habitualidade e do intuito comercial não são exigidos, sendo consideradas contribuintes do imposto as pessoas físicas ou jurídicas</a:t>
            </a:r>
            <a:r>
              <a:rPr lang="pt-BR" sz="2400" dirty="0" smtClean="0"/>
              <a:t>: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a) que realizem a importação de bens ou mercadorias do exterior, seja qual for a sua finalidade</a:t>
            </a:r>
            <a:r>
              <a:rPr lang="pt-BR" sz="2400" dirty="0" smtClean="0"/>
              <a:t>;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b) destinatárias de serviço prestado no exterior ou cuja prestação se tenha iniciado no exterior;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8063880" y="260648"/>
            <a:ext cx="900608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290" name="Picture 2" descr="Resultado de imagem para icms importaÃ§Ã£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653" y="5013176"/>
            <a:ext cx="3011835" cy="168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03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Contribuinte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628801"/>
            <a:ext cx="4536504" cy="2015446"/>
          </a:xfrm>
        </p:spPr>
        <p:txBody>
          <a:bodyPr>
            <a:normAutofit/>
          </a:bodyPr>
          <a:lstStyle/>
          <a:p>
            <a:r>
              <a:rPr lang="pt-BR" sz="2800" dirty="0" smtClean="0"/>
              <a:t>c</a:t>
            </a:r>
            <a:r>
              <a:rPr lang="pt-BR" sz="2800" dirty="0"/>
              <a:t>) que adquiram em licitação mercadorias ou bens apreendidos ou abandonados</a:t>
            </a:r>
            <a:r>
              <a:rPr lang="pt-BR" sz="2800" dirty="0" smtClean="0"/>
              <a:t>;</a:t>
            </a:r>
            <a:endParaRPr lang="pt-BR" sz="2800" dirty="0"/>
          </a:p>
        </p:txBody>
      </p:sp>
      <p:pic>
        <p:nvPicPr>
          <p:cNvPr id="11266" name="Picture 2" descr="Imagem relacionad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938" y="1556015"/>
            <a:ext cx="3974625" cy="208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827584" y="4437112"/>
            <a:ext cx="77048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/>
              <a:t>d) que adquiram lubrificantes e combustíveis líquidos e gasosos derivados de petróleo e energia elétrica oriundos de outro Estado, quando não destinados à comercialização ou à industrialização.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141410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Substituto Tributário</a:t>
            </a:r>
            <a:endParaRPr lang="pt-BR" b="1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O contribuinte do imposto ou o depositário a qualquer título poderá ser responsabilizado, por meio de lei estadual, pelo pagamento do imposto devido nas operações e prestações, na qualidade de substituto tributário. </a:t>
            </a:r>
          </a:p>
          <a:p>
            <a:endParaRPr lang="pt-BR" sz="2400" dirty="0"/>
          </a:p>
          <a:p>
            <a:r>
              <a:rPr lang="pt-BR" sz="2400" dirty="0"/>
              <a:t>A responsabilidade poderá ser relativa a uma ou mais operações ou prestações, sejam estas antecedentes, concomitantes ou subsequentes.</a:t>
            </a:r>
          </a:p>
        </p:txBody>
      </p:sp>
      <p:sp>
        <p:nvSpPr>
          <p:cNvPr id="5" name="Seta para a direita 4"/>
          <p:cNvSpPr/>
          <p:nvPr/>
        </p:nvSpPr>
        <p:spPr>
          <a:xfrm>
            <a:off x="8028384" y="332656"/>
            <a:ext cx="648072" cy="936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338" name="Picture 2" descr="Resultado de imagem para icms substituiÃ§Ã£o tributÃ¡r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4581128"/>
            <a:ext cx="26765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0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Substituto Tributário</a:t>
            </a:r>
            <a:endParaRPr lang="pt-BR" b="1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 responsabilidade, por substituição, alcança o valor correspondente à diferença entre as alíquotas interna e interestadual quando a mercadoria ou o serviço se destinarem a consumidor final localizado em outra Unidade da Federação.</a:t>
            </a:r>
            <a:endParaRPr lang="pt-BR" sz="2400" dirty="0"/>
          </a:p>
        </p:txBody>
      </p:sp>
      <p:pic>
        <p:nvPicPr>
          <p:cNvPr id="13314" name="Picture 2" descr="Resultado de imagem para icms substituiÃ§Ã£o tributÃ¡r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356992"/>
            <a:ext cx="5438775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456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Não Incidência</a:t>
            </a:r>
            <a:endParaRPr lang="pt-BR" b="1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997152"/>
          </a:xfrm>
        </p:spPr>
        <p:txBody>
          <a:bodyPr>
            <a:normAutofit fontScale="92500" lnSpcReduction="10000"/>
          </a:bodyPr>
          <a:lstStyle/>
          <a:p>
            <a:r>
              <a:rPr lang="pt-BR" sz="2400" dirty="0" smtClean="0"/>
              <a:t>A </a:t>
            </a:r>
            <a:r>
              <a:rPr lang="pt-BR" sz="2400" dirty="0"/>
              <a:t>legislação prevê exceções sobre as quais não incide o </a:t>
            </a:r>
            <a:r>
              <a:rPr lang="pt-BR" sz="2400" dirty="0" smtClean="0"/>
              <a:t>ICMS. Entre </a:t>
            </a:r>
            <a:r>
              <a:rPr lang="pt-BR" sz="2400" dirty="0"/>
              <a:t>elas, estão as operações</a:t>
            </a:r>
            <a:r>
              <a:rPr lang="pt-BR" sz="2400" dirty="0" smtClean="0"/>
              <a:t>: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a) com livros, jornais, periódicos e o papel destinado à sua impressão</a:t>
            </a:r>
            <a:r>
              <a:rPr lang="pt-BR" sz="2400" dirty="0" smtClean="0"/>
              <a:t>;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b) de exportação de mercadorias para o exterior, inclusive produtos primários e semielaborados, ou serviços, bem como as realizadas com o fim específico de exportação, destinadas a</a:t>
            </a:r>
            <a:r>
              <a:rPr lang="pt-BR" sz="2400" dirty="0" smtClean="0"/>
              <a:t>:</a:t>
            </a:r>
          </a:p>
          <a:p>
            <a:pPr marL="0" indent="0">
              <a:buNone/>
            </a:pPr>
            <a:endParaRPr lang="pt-BR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2400" dirty="0"/>
              <a:t>b.1) empresa comercial exportadora, inclusive </a:t>
            </a:r>
            <a:r>
              <a:rPr lang="pt-BR" sz="2400" i="1" dirty="0" smtClean="0"/>
              <a:t>tradings</a:t>
            </a:r>
            <a:r>
              <a:rPr lang="pt-BR" sz="2400" dirty="0" smtClean="0"/>
              <a:t> </a:t>
            </a:r>
            <a:r>
              <a:rPr lang="pt-BR" sz="2400" dirty="0"/>
              <a:t>ou outro estabelecimento da mesma empresa</a:t>
            </a:r>
            <a:r>
              <a:rPr lang="pt-BR" sz="2400" dirty="0" smtClean="0"/>
              <a:t>;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2400" dirty="0"/>
              <a:t>b.2) armazém alfandegado ou entreposto aduaneiro;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7740352" y="404664"/>
            <a:ext cx="648072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840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Não Incidência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c</a:t>
            </a:r>
            <a:r>
              <a:rPr lang="pt-BR" dirty="0"/>
              <a:t>) interestaduais relativas a energia elétrica e petróleo, inclusive lubrificantes e combustíveis líquidos e gasosos dele derivados, quando destinados à comercialização ou à industrialização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d) com ouro, quando definido como ativo financeiro ou instrumento cambial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e) relativas a mercadorias que tenham sido ou sejam destinadas à utilização na prestação de serviço, pelo próprio remetente, de competência municipal, ressalvadas as hipóteses previstas na Lei Complementar nº </a:t>
            </a:r>
            <a:r>
              <a:rPr lang="pt-BR" dirty="0" smtClean="0"/>
              <a:t>116/2003;</a:t>
            </a:r>
            <a:endParaRPr lang="pt-BR" dirty="0"/>
          </a:p>
        </p:txBody>
      </p:sp>
      <p:sp>
        <p:nvSpPr>
          <p:cNvPr id="5" name="Seta para a direita 4"/>
          <p:cNvSpPr/>
          <p:nvPr/>
        </p:nvSpPr>
        <p:spPr>
          <a:xfrm>
            <a:off x="7740352" y="548680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821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Não Incidência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f) de qualquer natureza de que decorra a transferência de propriedade do estabelecimento industrial, comercial ou de outra espécie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g) decorrentes de alienação fiduciária em garantia, inclusive a operação efetuada pelo credor em decorrência do inadimplemento do </a:t>
            </a:r>
            <a:r>
              <a:rPr lang="pt-BR" dirty="0" smtClean="0"/>
              <a:t>devedor;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h) de arrendamento mercantil, não compreendida a venda do bem arrendado ao arrendatário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i) de qualquer natureza de que decorra a transferência de bens móveis salvados de sinistro para companhias seguradoras. </a:t>
            </a:r>
          </a:p>
        </p:txBody>
      </p:sp>
    </p:spTree>
    <p:extLst>
      <p:ext uri="{BB962C8B-B14F-4D97-AF65-F5344CB8AC3E}">
        <p14:creationId xmlns:p14="http://schemas.microsoft.com/office/powerpoint/2010/main" val="3421391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Não Cumulatividade</a:t>
            </a:r>
            <a:endParaRPr lang="pt-BR" b="1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O ICMS é dotado do princípio da não cumulatividade, mediante o qual é permitida ao contribuinte a compensação do valor devido em cada operação relativa à circulação de mercadorias ou à prestação de serviços de transporte interestadual e intermunicipal e de comunicação com o montante cobrado nas operações e prestações anteriores pelo mesmo ou por outro Estado. </a:t>
            </a:r>
            <a:endParaRPr lang="pt-BR" sz="2800" dirty="0"/>
          </a:p>
        </p:txBody>
      </p:sp>
      <p:sp>
        <p:nvSpPr>
          <p:cNvPr id="5" name="Seta para a direita 4"/>
          <p:cNvSpPr/>
          <p:nvPr/>
        </p:nvSpPr>
        <p:spPr>
          <a:xfrm>
            <a:off x="7524328" y="692696"/>
            <a:ext cx="1080120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975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Não Cumulatividade</a:t>
            </a:r>
            <a:endParaRPr lang="pt-BR" b="1" dirty="0"/>
          </a:p>
        </p:txBody>
      </p:sp>
      <p:pic>
        <p:nvPicPr>
          <p:cNvPr id="15362" name="Picture 2" descr="Resultado de imagem para nÃ£o cumulatividade ic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7" y="1772816"/>
            <a:ext cx="8984899" cy="362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243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Crédito Fiscal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400" dirty="0"/>
              <a:t>Ao sujeito passivo é assegurado o direito de apropriação do imposto cobrado anteriormente e destacado nos documentos fiscais relativos às operações de entrada de mercadorias, reais ou simbólicas, no estabelecimento, inclusive as destinadas a seu uso, consumo ou ao Ativo Imobilizado, bem como em relação aos serviços de transporte interestadual e intermunicipal e de comunicação vinculados às mencionadas mercadorias. </a:t>
            </a:r>
            <a:endParaRPr lang="pt-BR" sz="2400" dirty="0" smtClean="0"/>
          </a:p>
          <a:p>
            <a:endParaRPr lang="pt-BR" sz="2400" dirty="0"/>
          </a:p>
          <a:p>
            <a:r>
              <a:rPr lang="pt-BR" sz="2400" dirty="0"/>
              <a:t>Esse direito se extingue depois de decorridos 5 anos contados da data de emissão do documento</a:t>
            </a:r>
            <a:r>
              <a:rPr lang="pt-BR" sz="2400" dirty="0" smtClean="0"/>
              <a:t>.</a:t>
            </a:r>
            <a:r>
              <a:rPr lang="pt-BR" sz="2400" dirty="0"/>
              <a:t/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Seta para a direita 3"/>
          <p:cNvSpPr/>
          <p:nvPr/>
        </p:nvSpPr>
        <p:spPr>
          <a:xfrm>
            <a:off x="7668344" y="620688"/>
            <a:ext cx="720080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037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de cantos arredondados 6"/>
          <p:cNvSpPr/>
          <p:nvPr/>
        </p:nvSpPr>
        <p:spPr>
          <a:xfrm>
            <a:off x="755576" y="4725144"/>
            <a:ext cx="7488832" cy="1440160"/>
          </a:xfrm>
          <a:prstGeom prst="round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Crédito Fiscal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400" b="1" dirty="0"/>
              <a:t>Exemplo</a:t>
            </a:r>
            <a:r>
              <a:rPr lang="pt-BR" sz="2400" b="1" dirty="0" smtClean="0"/>
              <a:t>: </a:t>
            </a:r>
            <a:r>
              <a:rPr lang="pt-BR" sz="2400" dirty="0" smtClean="0"/>
              <a:t>Contribuinte </a:t>
            </a:r>
            <a:r>
              <a:rPr lang="pt-BR" sz="2400" dirty="0"/>
              <a:t>apurou débito total de ICMS no período de R$ 100.000,00. Tinha um saldo credor acumulado, do período anterior, de R$ 10.000,00. No período de apuração, teve R$ 50.000,00 de créditos. A liquidação ocorrerá no valor de</a:t>
            </a:r>
            <a:r>
              <a:rPr lang="pt-BR" sz="2400" dirty="0" smtClean="0"/>
              <a:t>:</a:t>
            </a:r>
          </a:p>
          <a:p>
            <a:endParaRPr lang="pt-BR" sz="2400" dirty="0"/>
          </a:p>
          <a:p>
            <a:r>
              <a:rPr lang="pt-BR" sz="2400" dirty="0"/>
              <a:t>Débito Total no Período de Apuração	</a:t>
            </a:r>
            <a:r>
              <a:rPr lang="pt-BR" sz="2400" dirty="0" smtClean="0"/>
              <a:t>R</a:t>
            </a:r>
            <a:r>
              <a:rPr lang="pt-BR" sz="2400" dirty="0"/>
              <a:t>$ 100.000,00</a:t>
            </a:r>
          </a:p>
          <a:p>
            <a:r>
              <a:rPr lang="pt-BR" sz="2400" dirty="0"/>
              <a:t>(-) Saldo Credor do Período Anterior	</a:t>
            </a:r>
            <a:r>
              <a:rPr lang="pt-BR" sz="2400" dirty="0" smtClean="0"/>
              <a:t>R</a:t>
            </a:r>
            <a:r>
              <a:rPr lang="pt-BR" sz="2400" dirty="0"/>
              <a:t>$ 10.000,00</a:t>
            </a:r>
          </a:p>
          <a:p>
            <a:r>
              <a:rPr lang="pt-BR" sz="2400" dirty="0"/>
              <a:t>(-) Créditos do Período de Apuração	</a:t>
            </a:r>
            <a:r>
              <a:rPr lang="pt-BR" sz="2400" dirty="0" smtClean="0"/>
              <a:t>R</a:t>
            </a:r>
            <a:r>
              <a:rPr lang="pt-BR" sz="2400" dirty="0"/>
              <a:t>$ 50.000,00</a:t>
            </a:r>
          </a:p>
          <a:p>
            <a:r>
              <a:rPr lang="pt-BR" sz="2400" dirty="0"/>
              <a:t>(=) Saldo a Pagar do ICMS		</a:t>
            </a:r>
            <a:r>
              <a:rPr lang="pt-BR" sz="2400" dirty="0" smtClean="0"/>
              <a:t>R</a:t>
            </a:r>
            <a:r>
              <a:rPr lang="pt-BR" sz="2400" dirty="0"/>
              <a:t>$ </a:t>
            </a:r>
            <a:r>
              <a:rPr lang="pt-BR" sz="2400" dirty="0" smtClean="0"/>
              <a:t>40.000,00</a:t>
            </a:r>
          </a:p>
          <a:p>
            <a:endParaRPr lang="pt-BR" sz="2400" dirty="0"/>
          </a:p>
          <a:p>
            <a:pPr marL="0" indent="0">
              <a:buNone/>
            </a:pPr>
            <a:r>
              <a:rPr lang="pt-BR" sz="2400" dirty="0" smtClean="0"/>
              <a:t>	</a:t>
            </a:r>
          </a:p>
          <a:p>
            <a:pPr marL="0" indent="0">
              <a:buNone/>
            </a:pPr>
            <a:r>
              <a:rPr lang="pt-BR" sz="2400" b="1" dirty="0"/>
              <a:t>	</a:t>
            </a:r>
            <a:r>
              <a:rPr lang="pt-BR" sz="2400" b="1" dirty="0" smtClean="0"/>
              <a:t>Se </a:t>
            </a:r>
            <a:r>
              <a:rPr lang="pt-BR" sz="2400" b="1" dirty="0"/>
              <a:t>o montante dos créditos superar os dos débitos, a </a:t>
            </a:r>
            <a:r>
              <a:rPr lang="pt-BR" sz="2400" b="1" dirty="0" smtClean="0"/>
              <a:t>	diferença será </a:t>
            </a:r>
            <a:r>
              <a:rPr lang="pt-BR" sz="2400" b="1" dirty="0"/>
              <a:t>transportada para o período </a:t>
            </a:r>
            <a:r>
              <a:rPr lang="pt-BR" sz="2400" b="1" dirty="0" smtClean="0"/>
              <a:t>seguinte.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3366083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Vedação ao Crédito Fiscal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Em obediência ao princípio da não cumulatividade, o contribuinte não poderá creditar-se do imposto cobrado anteriormente nas operações e prestações relativas a entrada de mercadorias ou utilização de serviços das quais resultem operações ou prestações subsequentes isentas ou não tributadas, ou que se refiram a mercadorias ou serviços alheios à atividade do estabelecimento. 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869440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DIFAL – Diferencial de Alíquota Interestadual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Nas operações e prestações que destinem bens e serviços a consumidor final, contribuinte ou não do imposto, localizado em outro Estado, adotar-se-á a alíquota interestadual e caberá ao Estado de localização do destinatário o imposto correspondente à diferença entre a alíquota interna do Estado destinatário e a alíquota interestadual.</a:t>
            </a:r>
            <a:endParaRPr lang="pt-BR" sz="2400" dirty="0"/>
          </a:p>
        </p:txBody>
      </p:sp>
      <p:sp>
        <p:nvSpPr>
          <p:cNvPr id="4" name="Seta para a direita 3"/>
          <p:cNvSpPr/>
          <p:nvPr/>
        </p:nvSpPr>
        <p:spPr>
          <a:xfrm>
            <a:off x="7380312" y="5373216"/>
            <a:ext cx="1008112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818" name="Picture 2" descr="Resultado de imagem para icms dif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77072"/>
            <a:ext cx="4203593" cy="235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048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DIFAL – Diferencial de Alíquota Interestadual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A responsabilidade pelo recolhimento do imposto correspondente à diferença entre a alíquota interna e a interestadual será atribuída</a:t>
            </a:r>
            <a:r>
              <a:rPr lang="pt-BR" sz="2800" dirty="0" smtClean="0"/>
              <a:t>:</a:t>
            </a:r>
          </a:p>
          <a:p>
            <a:pPr marL="0" indent="0">
              <a:buNone/>
            </a:pPr>
            <a:endParaRPr lang="pt-BR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a) ao destinatário, quando este for contribuinte do imposto</a:t>
            </a:r>
            <a:r>
              <a:rPr lang="pt-BR" sz="2800" dirty="0" smtClean="0"/>
              <a:t>;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sz="2800" dirty="0"/>
              <a:t>b) ao remetente, quando o destinatário não for contribuinte do imposto.</a:t>
            </a:r>
          </a:p>
        </p:txBody>
      </p:sp>
      <p:sp>
        <p:nvSpPr>
          <p:cNvPr id="5" name="Seta para a direita 4"/>
          <p:cNvSpPr/>
          <p:nvPr/>
        </p:nvSpPr>
        <p:spPr>
          <a:xfrm>
            <a:off x="7740352" y="5733256"/>
            <a:ext cx="936104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835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DIFAL – Diferencial de Alíquota Interestadual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sz="2800" dirty="0"/>
              <a:t>Empresa situada em São Paulo vende, a consumidor final situado no Ceará, mercadoria no valor de R$ 100,00, em data de </a:t>
            </a:r>
            <a:r>
              <a:rPr lang="pt-BR" sz="2800" b="1" dirty="0" smtClean="0"/>
              <a:t>02.01.2019</a:t>
            </a:r>
            <a:r>
              <a:rPr lang="pt-BR" sz="2800" dirty="0" smtClean="0"/>
              <a:t> </a:t>
            </a:r>
            <a:r>
              <a:rPr lang="pt-BR" sz="2800" dirty="0"/>
              <a:t>sujeito à alíquota interna daquele estado a 17% de ICMS</a:t>
            </a:r>
            <a:r>
              <a:rPr lang="pt-BR" sz="2800" dirty="0" smtClean="0"/>
              <a:t>.</a:t>
            </a:r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/>
              <a:t>Teremos então</a:t>
            </a:r>
            <a:r>
              <a:rPr lang="pt-BR" sz="2800" dirty="0" smtClean="0"/>
              <a:t>:</a:t>
            </a:r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/>
              <a:t>a) alíquota interna do </a:t>
            </a:r>
            <a:r>
              <a:rPr lang="pt-BR" sz="2800" dirty="0" smtClean="0"/>
              <a:t>Ceará (17%):</a:t>
            </a:r>
            <a:r>
              <a:rPr lang="pt-BR" sz="2800" dirty="0"/>
              <a:t> R$ 100,00 x 17% = R$ </a:t>
            </a:r>
            <a:r>
              <a:rPr lang="pt-BR" sz="2800" dirty="0" smtClean="0"/>
              <a:t>17,00</a:t>
            </a:r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/>
              <a:t>b) alíquota interestadual </a:t>
            </a:r>
            <a:r>
              <a:rPr lang="pt-BR" sz="2800" dirty="0" smtClean="0"/>
              <a:t>para </a:t>
            </a:r>
            <a:r>
              <a:rPr lang="pt-BR" sz="2800" dirty="0"/>
              <a:t>a </a:t>
            </a:r>
            <a:r>
              <a:rPr lang="pt-BR" sz="2800" dirty="0" smtClean="0"/>
              <a:t>operação (7%):</a:t>
            </a:r>
            <a:r>
              <a:rPr lang="pt-BR" sz="2800" dirty="0"/>
              <a:t> R$ 100,00 x 7% = R$ </a:t>
            </a:r>
            <a:r>
              <a:rPr lang="pt-BR" sz="2800" dirty="0" smtClean="0"/>
              <a:t>7,00</a:t>
            </a:r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/>
              <a:t>c) recolhimento, para a unidade federada de destino = R$ 17,00 – R$ 7,00 = R$ 10,00</a:t>
            </a:r>
            <a:r>
              <a:rPr lang="pt-BR" sz="2800" dirty="0" smtClean="0"/>
              <a:t>.</a:t>
            </a:r>
            <a:endParaRPr lang="pt-BR" sz="2800" dirty="0"/>
          </a:p>
        </p:txBody>
      </p:sp>
      <p:sp>
        <p:nvSpPr>
          <p:cNvPr id="4" name="Seta para a direita 3"/>
          <p:cNvSpPr/>
          <p:nvPr/>
        </p:nvSpPr>
        <p:spPr>
          <a:xfrm>
            <a:off x="8244408" y="836712"/>
            <a:ext cx="576064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9668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DIFAL – Diferencial de Alíquota Interestadual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sz="2800" b="1" dirty="0"/>
              <a:t>PROPORCIONALIDADE DO IMPOSTO DE 2016 A </a:t>
            </a:r>
            <a:r>
              <a:rPr lang="pt-BR" sz="2800" b="1" dirty="0" smtClean="0"/>
              <a:t>2018</a:t>
            </a:r>
          </a:p>
          <a:p>
            <a:endParaRPr lang="pt-BR" sz="2800" dirty="0"/>
          </a:p>
          <a:p>
            <a:r>
              <a:rPr lang="pt-BR" sz="2800" dirty="0"/>
              <a:t>para o ano de 2016: 40</a:t>
            </a:r>
            <a:r>
              <a:rPr lang="pt-BR" sz="2800" dirty="0" smtClean="0"/>
              <a:t>% </a:t>
            </a:r>
            <a:r>
              <a:rPr lang="pt-BR" sz="2800" dirty="0"/>
              <a:t>para o Estado de destino e 60% </a:t>
            </a:r>
            <a:r>
              <a:rPr lang="pt-BR" sz="2800" dirty="0" smtClean="0"/>
              <a:t>para </a:t>
            </a:r>
            <a:r>
              <a:rPr lang="pt-BR" sz="2800" dirty="0"/>
              <a:t>o Estado de origem</a:t>
            </a:r>
            <a:r>
              <a:rPr lang="pt-BR" sz="2800" dirty="0" smtClean="0"/>
              <a:t>;</a:t>
            </a:r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 smtClean="0"/>
              <a:t>para </a:t>
            </a:r>
            <a:r>
              <a:rPr lang="pt-BR" sz="2800" dirty="0"/>
              <a:t>o ano de 2017: 60</a:t>
            </a:r>
            <a:r>
              <a:rPr lang="pt-BR" sz="2800" dirty="0" smtClean="0"/>
              <a:t>% </a:t>
            </a:r>
            <a:r>
              <a:rPr lang="pt-BR" sz="2800" dirty="0"/>
              <a:t>para o Estado de destino e 40</a:t>
            </a:r>
            <a:r>
              <a:rPr lang="pt-BR" sz="2800" dirty="0" smtClean="0"/>
              <a:t>% </a:t>
            </a:r>
            <a:r>
              <a:rPr lang="pt-BR" sz="2800" dirty="0"/>
              <a:t>para o Estado de origem</a:t>
            </a:r>
            <a:r>
              <a:rPr lang="pt-BR" sz="2800" dirty="0" smtClean="0"/>
              <a:t>;</a:t>
            </a:r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 smtClean="0"/>
              <a:t>para </a:t>
            </a:r>
            <a:r>
              <a:rPr lang="pt-BR" sz="2800" dirty="0"/>
              <a:t>o ano de 2018: 80</a:t>
            </a:r>
            <a:r>
              <a:rPr lang="pt-BR" sz="2800" dirty="0" smtClean="0"/>
              <a:t>% </a:t>
            </a:r>
            <a:r>
              <a:rPr lang="pt-BR" sz="2800" dirty="0"/>
              <a:t>para o Estado de destino e 20</a:t>
            </a:r>
            <a:r>
              <a:rPr lang="pt-BR" sz="2800" dirty="0" smtClean="0"/>
              <a:t>% </a:t>
            </a:r>
            <a:r>
              <a:rPr lang="pt-BR" sz="2800" dirty="0"/>
              <a:t>para o Estado de </a:t>
            </a:r>
            <a:r>
              <a:rPr lang="pt-BR" sz="2800" dirty="0" smtClean="0"/>
              <a:t>origem;</a:t>
            </a:r>
          </a:p>
          <a:p>
            <a:pPr marL="0" indent="0">
              <a:buNone/>
            </a:pPr>
            <a:endParaRPr lang="pt-BR" sz="2800" dirty="0"/>
          </a:p>
          <a:p>
            <a:r>
              <a:rPr lang="pt-BR" sz="2800" dirty="0" smtClean="0"/>
              <a:t>a </a:t>
            </a:r>
            <a:r>
              <a:rPr lang="pt-BR" sz="2800" dirty="0"/>
              <a:t>partir do ano de 2019: 100</a:t>
            </a:r>
            <a:r>
              <a:rPr lang="pt-BR" sz="2800" dirty="0" smtClean="0"/>
              <a:t>% </a:t>
            </a:r>
            <a:r>
              <a:rPr lang="pt-BR" sz="2800" dirty="0"/>
              <a:t>para o Estado de destino</a:t>
            </a:r>
            <a:r>
              <a:rPr lang="pt-BR" sz="2800" dirty="0" smtClean="0"/>
              <a:t>.</a:t>
            </a:r>
            <a:endParaRPr lang="pt-BR" sz="2800" dirty="0"/>
          </a:p>
        </p:txBody>
      </p:sp>
      <p:sp>
        <p:nvSpPr>
          <p:cNvPr id="4" name="Seta para a direita 3"/>
          <p:cNvSpPr/>
          <p:nvPr/>
        </p:nvSpPr>
        <p:spPr>
          <a:xfrm>
            <a:off x="8244408" y="836712"/>
            <a:ext cx="576064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403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DIFAL – Diferencial de Alíquota Interestadual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b="1" dirty="0" smtClean="0"/>
              <a:t>Exemplo: </a:t>
            </a:r>
            <a:r>
              <a:rPr lang="pt-BR" sz="2400" dirty="0" smtClean="0"/>
              <a:t>Venda </a:t>
            </a:r>
            <a:r>
              <a:rPr lang="pt-BR" sz="2400" dirty="0"/>
              <a:t>de Mercadoria, de origem nacional, iniciada no Estado do Paraná com destino para o Estado de Goiás, a ser efetivada em </a:t>
            </a:r>
            <a:r>
              <a:rPr lang="pt-BR" sz="2400" b="1" dirty="0"/>
              <a:t>02.01.2018</a:t>
            </a:r>
            <a:r>
              <a:rPr lang="pt-BR" sz="2400" dirty="0"/>
              <a:t>, cuja alíquota interestadual aplicável é de 7%, valor este recolhido para o Estado do Paraná</a:t>
            </a:r>
            <a:r>
              <a:rPr lang="pt-BR" sz="2400" dirty="0" smtClean="0"/>
              <a:t>.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Considerando que a mercadoria esteja sujeita a alíquota interna de 17% para o Estado de Goiás, a diferença a ser recolhida será de 10% de ICMS, sendo que deste montante, em 2018, 20% será destinado ao Paraná e 80% deve ser recolhido ao estado de destino, ou seja, Estado de </a:t>
            </a:r>
            <a:r>
              <a:rPr lang="pt-BR" sz="2400" dirty="0" smtClean="0"/>
              <a:t>Goiás.</a:t>
            </a:r>
            <a:endParaRPr lang="pt-BR" sz="2400" dirty="0"/>
          </a:p>
        </p:txBody>
      </p:sp>
      <p:sp>
        <p:nvSpPr>
          <p:cNvPr id="4" name="Seta para a direita 3"/>
          <p:cNvSpPr/>
          <p:nvPr/>
        </p:nvSpPr>
        <p:spPr>
          <a:xfrm>
            <a:off x="8244408" y="836712"/>
            <a:ext cx="576064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6438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DIFAL – Diferencial de Alíquota Interestadual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Autofit/>
          </a:bodyPr>
          <a:lstStyle/>
          <a:p>
            <a:r>
              <a:rPr lang="pt-BR" sz="2250" dirty="0" smtClean="0"/>
              <a:t>Considerando </a:t>
            </a:r>
            <a:r>
              <a:rPr lang="pt-BR" sz="2250" dirty="0"/>
              <a:t>ainda um valor tributável de R$ </a:t>
            </a:r>
            <a:r>
              <a:rPr lang="pt-BR" sz="2250" dirty="0" smtClean="0"/>
              <a:t>1.000,00:</a:t>
            </a:r>
          </a:p>
          <a:p>
            <a:pPr marL="0" indent="0">
              <a:buNone/>
            </a:pPr>
            <a:endParaRPr lang="pt-BR" sz="2250" dirty="0"/>
          </a:p>
          <a:p>
            <a:r>
              <a:rPr lang="pt-BR" sz="2250" dirty="0"/>
              <a:t>R$ 70,00 (alíquota interestadual 7% x R$ 1.000,00 = R$ 70,00): ICMS interestadual devido ao estado de origem (Paraná</a:t>
            </a:r>
            <a:r>
              <a:rPr lang="pt-BR" sz="2250" dirty="0" smtClean="0"/>
              <a:t>)</a:t>
            </a:r>
          </a:p>
          <a:p>
            <a:pPr marL="0" indent="0">
              <a:buNone/>
            </a:pPr>
            <a:endParaRPr lang="pt-BR" sz="2250" dirty="0"/>
          </a:p>
          <a:p>
            <a:r>
              <a:rPr lang="pt-BR" sz="2250" dirty="0"/>
              <a:t>R$ 20,00 (diferencial de alíquota 10% x R$ 1.000,00 x 20%): ICMS diferencial de alíquota, devido ao estado de origem (Paraná</a:t>
            </a:r>
            <a:r>
              <a:rPr lang="pt-BR" sz="2250" dirty="0" smtClean="0"/>
              <a:t>)</a:t>
            </a:r>
          </a:p>
          <a:p>
            <a:pPr marL="0" indent="0">
              <a:buNone/>
            </a:pPr>
            <a:endParaRPr lang="pt-BR" sz="2250" dirty="0"/>
          </a:p>
          <a:p>
            <a:r>
              <a:rPr lang="pt-BR" sz="2250" dirty="0"/>
              <a:t>R$ 80,00 (diferencial de alíquota 10% x R$ 1.000,00 x 80%): ICMS diferencial de alíquota, devido ao estado de destino (Goiás</a:t>
            </a:r>
            <a:r>
              <a:rPr lang="pt-BR" sz="2250" dirty="0" smtClean="0"/>
              <a:t>)</a:t>
            </a:r>
          </a:p>
          <a:p>
            <a:pPr marL="0" indent="0">
              <a:buNone/>
            </a:pPr>
            <a:endParaRPr lang="pt-BR" sz="2250" dirty="0"/>
          </a:p>
          <a:p>
            <a:r>
              <a:rPr lang="pt-BR" sz="2250" dirty="0"/>
              <a:t>Total do ICMS devido: R$ 70,00 + R$ 20,00 + R$ 80,00 = R$ </a:t>
            </a:r>
            <a:r>
              <a:rPr lang="pt-BR" sz="2250" dirty="0" smtClean="0"/>
              <a:t>170,00</a:t>
            </a:r>
            <a:endParaRPr lang="pt-BR" sz="2250" dirty="0"/>
          </a:p>
        </p:txBody>
      </p:sp>
    </p:spTree>
    <p:extLst>
      <p:ext uri="{BB962C8B-B14F-4D97-AF65-F5344CB8AC3E}">
        <p14:creationId xmlns:p14="http://schemas.microsoft.com/office/powerpoint/2010/main" val="2775026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Adicional “Fundo de Pobreza”</a:t>
            </a:r>
            <a:endParaRPr lang="pt-BR" b="1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O adicional de até </a:t>
            </a:r>
            <a:r>
              <a:rPr lang="pt-BR" sz="2400" dirty="0" smtClean="0"/>
              <a:t>2% na </a:t>
            </a:r>
            <a:r>
              <a:rPr lang="pt-BR" sz="2400" dirty="0"/>
              <a:t>alíquota de ICMS aplicável às operações e prestações, nos termos previstos no art. 82, § 1º, do ADCT da Constituição Federal, destinado ao financiamento dos fundos estaduais e distrital de combate à pobreza, é considerado para o cálculo do imposto, </a:t>
            </a:r>
            <a:r>
              <a:rPr lang="pt-BR" sz="2400" dirty="0" smtClean="0"/>
              <a:t>cujo </a:t>
            </a:r>
            <a:r>
              <a:rPr lang="pt-BR" sz="2400" dirty="0"/>
              <a:t>recolhimento deve observar a legislação da respectiva unidade federada de destino</a:t>
            </a:r>
            <a:r>
              <a:rPr lang="pt-BR" sz="2400" dirty="0" smtClean="0"/>
              <a:t>.</a:t>
            </a:r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5" name="Seta para a direita 4"/>
          <p:cNvSpPr/>
          <p:nvPr/>
        </p:nvSpPr>
        <p:spPr>
          <a:xfrm>
            <a:off x="7740352" y="5949280"/>
            <a:ext cx="93610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8674" name="Picture 2" descr="Resultado de imagem para icms adicional fundo pobrez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581128"/>
            <a:ext cx="4248472" cy="177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6456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Adicional “Fundo de Pobreza” (PR)</a:t>
            </a:r>
            <a:endParaRPr lang="pt-BR" b="1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água </a:t>
            </a:r>
            <a:r>
              <a:rPr lang="pt-BR" dirty="0"/>
              <a:t>mineral (NCM 22.01); </a:t>
            </a:r>
            <a:r>
              <a:rPr lang="pt-BR" dirty="0" smtClean="0"/>
              <a:t> 16%</a:t>
            </a:r>
          </a:p>
          <a:p>
            <a:r>
              <a:rPr lang="pt-BR" dirty="0" smtClean="0"/>
              <a:t>águas </a:t>
            </a:r>
            <a:r>
              <a:rPr lang="pt-BR" dirty="0"/>
              <a:t>gaseificadas, adicionadas de açúcar ou de outros edulcorantes ou aromatizadas, refrigerantes, refrescos e outros, cervejas sem álcool e isotônicos (NCM 22.02); </a:t>
            </a:r>
            <a:r>
              <a:rPr lang="pt-BR" dirty="0" smtClean="0"/>
              <a:t> 16%</a:t>
            </a:r>
          </a:p>
          <a:p>
            <a:r>
              <a:rPr lang="pt-BR" dirty="0" smtClean="0"/>
              <a:t>artefatos </a:t>
            </a:r>
            <a:r>
              <a:rPr lang="pt-BR" dirty="0"/>
              <a:t>de joalheria e de ourivesaria, e suas partes (NCM 71.13 e 71.14); </a:t>
            </a:r>
            <a:r>
              <a:rPr lang="pt-BR" dirty="0" smtClean="0"/>
              <a:t> 16%</a:t>
            </a:r>
          </a:p>
          <a:p>
            <a:r>
              <a:rPr lang="pt-BR" dirty="0"/>
              <a:t>produtos de tabacaria (NCM 24.01 a 24.99</a:t>
            </a:r>
            <a:r>
              <a:rPr lang="pt-BR" dirty="0" smtClean="0"/>
              <a:t>); 16</a:t>
            </a:r>
            <a:r>
              <a:rPr lang="pt-BR" dirty="0"/>
              <a:t>%</a:t>
            </a:r>
          </a:p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perfumes e cosméticos (NCM 33.03, 33.04, 33.05 exceto 3305.10.00, e 33.07 exceto 3307.20). 23%</a:t>
            </a:r>
          </a:p>
          <a:p>
            <a:endParaRPr lang="pt-BR" dirty="0" smtClean="0"/>
          </a:p>
          <a:p>
            <a:r>
              <a:rPr lang="pt-BR" dirty="0" smtClean="0"/>
              <a:t>cervejas</a:t>
            </a:r>
            <a:r>
              <a:rPr lang="pt-BR" dirty="0"/>
              <a:t>, chopes e bebidas alcoólicas (NCM 22.03. 22.04, 22.05, 22.06 e 22.08); </a:t>
            </a:r>
            <a:r>
              <a:rPr lang="pt-BR" dirty="0" smtClean="0"/>
              <a:t>27%</a:t>
            </a:r>
            <a:endParaRPr lang="pt-BR" dirty="0"/>
          </a:p>
          <a:p>
            <a:r>
              <a:rPr lang="pt-BR" dirty="0" smtClean="0"/>
              <a:t>fumo </a:t>
            </a:r>
            <a:r>
              <a:rPr lang="pt-BR" dirty="0"/>
              <a:t>e sucedâneos, manufaturados (NCM 24.02 e 24.03); </a:t>
            </a:r>
            <a:r>
              <a:rPr lang="pt-BR" dirty="0" smtClean="0"/>
              <a:t>27%</a:t>
            </a:r>
            <a:endParaRPr lang="pt-BR" dirty="0"/>
          </a:p>
          <a:p>
            <a:r>
              <a:rPr lang="pt-BR" dirty="0"/>
              <a:t>gasolina, exceto para aviação; </a:t>
            </a:r>
            <a:r>
              <a:rPr lang="pt-BR" dirty="0" smtClean="0"/>
              <a:t>27%</a:t>
            </a:r>
            <a:endParaRPr lang="pt-BR" dirty="0"/>
          </a:p>
        </p:txBody>
      </p:sp>
      <p:sp>
        <p:nvSpPr>
          <p:cNvPr id="6" name="Seta para a direita 5"/>
          <p:cNvSpPr/>
          <p:nvPr/>
        </p:nvSpPr>
        <p:spPr>
          <a:xfrm>
            <a:off x="7884368" y="6093296"/>
            <a:ext cx="86409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376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Adicional “Fundo de Pobreza” (PR)</a:t>
            </a:r>
            <a:endParaRPr lang="pt-BR" b="1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584611"/>
              </p:ext>
            </p:extLst>
          </p:nvPr>
        </p:nvGraphicFramePr>
        <p:xfrm>
          <a:off x="827584" y="2060848"/>
          <a:ext cx="7848872" cy="37444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019224"/>
                <a:gridCol w="1829648"/>
              </a:tblGrid>
              <a:tr h="611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Base de Cálculo do ICMS (valor da operação)</a:t>
                      </a:r>
                      <a:endParaRPr lang="pt-BR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</a:rPr>
                        <a:t>R$ 1.000,00</a:t>
                      </a:r>
                      <a:endParaRPr lang="pt-BR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11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Alíquota de ICMS a ser destacado no documento fiscal</a:t>
                      </a:r>
                      <a:endParaRPr lang="pt-BR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>
                          <a:effectLst/>
                        </a:rPr>
                        <a:t>18%</a:t>
                      </a:r>
                      <a:endParaRPr lang="pt-BR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11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Valor do ICMS a ser destacado no documento fiscal</a:t>
                      </a:r>
                      <a:endParaRPr lang="pt-BR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R$ 180,00</a:t>
                      </a:r>
                      <a:endParaRPr lang="pt-BR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9102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Desdobramento do </a:t>
                      </a:r>
                      <a:r>
                        <a:rPr lang="pt-BR" sz="2000" dirty="0" smtClean="0">
                          <a:effectLst/>
                        </a:rPr>
                        <a:t>imposto: </a:t>
                      </a:r>
                      <a:endParaRPr lang="pt-BR" sz="2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sym typeface="Symbol"/>
                        </a:rPr>
                        <a:t></a:t>
                      </a:r>
                      <a:r>
                        <a:rPr lang="pt-BR" sz="2000" dirty="0">
                          <a:effectLst/>
                        </a:rPr>
                        <a:t> ICMS (16%)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  <a:sym typeface="Symbol"/>
                        </a:rPr>
                        <a:t></a:t>
                      </a:r>
                      <a:r>
                        <a:rPr lang="pt-BR" sz="2000" dirty="0">
                          <a:effectLst/>
                        </a:rPr>
                        <a:t> Adicional na alíquota do ICMS/FECOP R$ 20,00</a:t>
                      </a:r>
                      <a:endParaRPr lang="pt-BR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 </a:t>
                      </a: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R$ 160,00</a:t>
                      </a:r>
                    </a:p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effectLst/>
                        </a:rPr>
                        <a:t>R$ 20,00</a:t>
                      </a:r>
                      <a:endParaRPr lang="pt-BR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6948264" y="6237312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/>
              <a:t>FIM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861654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2110</Words>
  <Application>Microsoft Office PowerPoint</Application>
  <PresentationFormat>Apresentação na tela (4:3)</PresentationFormat>
  <Paragraphs>196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Tema do Office</vt:lpstr>
      <vt:lpstr>IMPOSTOS ESTADUAIS – Parte 3</vt:lpstr>
      <vt:lpstr>ICMS</vt:lpstr>
      <vt:lpstr>Embasamento Legal</vt:lpstr>
      <vt:lpstr>Incidência</vt:lpstr>
      <vt:lpstr>Fato Gerador</vt:lpstr>
      <vt:lpstr>Fato Gerador</vt:lpstr>
      <vt:lpstr>Fato Gerador</vt:lpstr>
      <vt:lpstr>Fato Gerador</vt:lpstr>
      <vt:lpstr>Fato Gerador</vt:lpstr>
      <vt:lpstr>Base de Cálculo</vt:lpstr>
      <vt:lpstr>Base de Cálculo</vt:lpstr>
      <vt:lpstr>Alíquotas</vt:lpstr>
      <vt:lpstr>Alíquotas</vt:lpstr>
      <vt:lpstr>Contribuinte</vt:lpstr>
      <vt:lpstr>Contribuinte</vt:lpstr>
      <vt:lpstr>Contribuinte</vt:lpstr>
      <vt:lpstr>Substituto Tributário</vt:lpstr>
      <vt:lpstr>Substituto Tributário</vt:lpstr>
      <vt:lpstr>Não Incidência</vt:lpstr>
      <vt:lpstr>Não Incidência</vt:lpstr>
      <vt:lpstr>Não Incidência</vt:lpstr>
      <vt:lpstr>Não Cumulatividade</vt:lpstr>
      <vt:lpstr>Não Cumulatividade</vt:lpstr>
      <vt:lpstr>Crédito Fiscal</vt:lpstr>
      <vt:lpstr>Crédito Fiscal</vt:lpstr>
      <vt:lpstr>Vedação ao Crédito Fiscal</vt:lpstr>
      <vt:lpstr>DIFAL – Diferencial de Alíquota Interestadual</vt:lpstr>
      <vt:lpstr>DIFAL – Diferencial de Alíquota Interestadual</vt:lpstr>
      <vt:lpstr>DIFAL – Diferencial de Alíquota Interestadual</vt:lpstr>
      <vt:lpstr>DIFAL – Diferencial de Alíquota Interestadual</vt:lpstr>
      <vt:lpstr>DIFAL – Diferencial de Alíquota Interestadual</vt:lpstr>
      <vt:lpstr>DIFAL – Diferencial de Alíquota Interestadual</vt:lpstr>
      <vt:lpstr>Adicional “Fundo de Pobreza”</vt:lpstr>
      <vt:lpstr>Adicional “Fundo de Pobreza” (PR)</vt:lpstr>
      <vt:lpstr>Adicional “Fundo de Pobreza” (PR)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Lúcia</dc:creator>
  <cp:lastModifiedBy>Lúcia</cp:lastModifiedBy>
  <cp:revision>122</cp:revision>
  <dcterms:created xsi:type="dcterms:W3CDTF">2018-10-18T01:18:32Z</dcterms:created>
  <dcterms:modified xsi:type="dcterms:W3CDTF">2018-10-25T09:36:33Z</dcterms:modified>
</cp:coreProperties>
</file>