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8"/>
  </p:handoutMasterIdLst>
  <p:sldIdLst>
    <p:sldId id="260" r:id="rId2"/>
    <p:sldId id="263" r:id="rId3"/>
    <p:sldId id="261" r:id="rId4"/>
    <p:sldId id="264" r:id="rId5"/>
    <p:sldId id="265" r:id="rId6"/>
    <p:sldId id="26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13F"/>
    <a:srgbClr val="008000"/>
    <a:srgbClr val="93C900"/>
    <a:srgbClr val="009674"/>
    <a:srgbClr val="008CC9"/>
    <a:srgbClr val="C14779"/>
    <a:srgbClr val="B6672B"/>
    <a:srgbClr val="DDA819"/>
    <a:srgbClr val="B03B3D"/>
    <a:srgbClr val="3F6CA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655" autoAdjust="0"/>
    <p:restoredTop sz="94643"/>
  </p:normalViewPr>
  <p:slideViewPr>
    <p:cSldViewPr snapToGrid="0" snapToObjects="1">
      <p:cViewPr>
        <p:scale>
          <a:sx n="100" d="100"/>
          <a:sy n="100" d="100"/>
        </p:scale>
        <p:origin x="78" y="41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2" d="100"/>
          <a:sy n="92" d="100"/>
        </p:scale>
        <p:origin x="2874" y="102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372683-BB6C-40E3-AF31-5C08855255DC}" type="datetimeFigureOut">
              <a:rPr lang="pt-BR" smtClean="0"/>
              <a:pPr/>
              <a:t>16/03/2020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4788DB-C15A-46D6-9E55-5C7F99CA9952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9080424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353161"/>
            <a:ext cx="5826369" cy="23435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cxnSp>
        <p:nvCxnSpPr>
          <p:cNvPr id="8" name="Straight Connector 3"/>
          <p:cNvCxnSpPr/>
          <p:nvPr userDrawn="1"/>
        </p:nvCxnSpPr>
        <p:spPr>
          <a:xfrm>
            <a:off x="457200" y="3819773"/>
            <a:ext cx="5826369" cy="0"/>
          </a:xfrm>
          <a:prstGeom prst="line">
            <a:avLst/>
          </a:prstGeom>
          <a:ln w="762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 userDrawn="1"/>
        </p:nvSpPr>
        <p:spPr>
          <a:xfrm>
            <a:off x="457200" y="6289139"/>
            <a:ext cx="5826369" cy="36230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sz="1800" b="0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"/>
          </p:nvPr>
        </p:nvSpPr>
        <p:spPr>
          <a:xfrm>
            <a:off x="457200" y="3966955"/>
            <a:ext cx="4040188" cy="639762"/>
          </a:xfrm>
        </p:spPr>
        <p:txBody>
          <a:bodyPr anchor="t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idx="10"/>
          </p:nvPr>
        </p:nvSpPr>
        <p:spPr>
          <a:xfrm>
            <a:off x="457200" y="5124149"/>
            <a:ext cx="4040188" cy="254949"/>
          </a:xfrm>
        </p:spPr>
        <p:txBody>
          <a:bodyPr anchor="t">
            <a:norm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11"/>
          </p:nvPr>
        </p:nvSpPr>
        <p:spPr>
          <a:xfrm>
            <a:off x="457200" y="6289139"/>
            <a:ext cx="4040188" cy="254949"/>
          </a:xfrm>
        </p:spPr>
        <p:txBody>
          <a:bodyPr anchor="t">
            <a:noAutofit/>
          </a:bodyPr>
          <a:lstStyle>
            <a:lvl1pPr marL="0" indent="0">
              <a:buNone/>
              <a:defRPr sz="1600" b="0" i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4006531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Conector reto 13"/>
          <p:cNvCxnSpPr/>
          <p:nvPr userDrawn="1"/>
        </p:nvCxnSpPr>
        <p:spPr>
          <a:xfrm>
            <a:off x="0" y="6807199"/>
            <a:ext cx="9144000" cy="0"/>
          </a:xfrm>
          <a:prstGeom prst="line">
            <a:avLst/>
          </a:prstGeom>
          <a:ln w="101600">
            <a:gradFill>
              <a:gsLst>
                <a:gs pos="0">
                  <a:srgbClr val="00B0F0"/>
                </a:gs>
                <a:gs pos="100000">
                  <a:srgbClr val="002060"/>
                </a:gs>
              </a:gsLst>
              <a:lin ang="0" scaled="0"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2">
            <a:alphaModFix amt="48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DB57C-0CBF-3049-B4D4-DDB653D1F03D}" type="datetimeFigureOut">
              <a:rPr lang="en-US" smtClean="0"/>
              <a:pPr/>
              <a:t>3/16/2020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A179C-9CFB-5A4D-8467-2F39C5D58140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7" name="Straight Connector 3"/>
          <p:cNvCxnSpPr/>
          <p:nvPr userDrawn="1"/>
        </p:nvCxnSpPr>
        <p:spPr>
          <a:xfrm>
            <a:off x="457200" y="1480594"/>
            <a:ext cx="82296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6"/>
                </a:gs>
                <a:gs pos="100000">
                  <a:srgbClr val="FFD13F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3"/>
          <p:cNvCxnSpPr/>
          <p:nvPr userDrawn="1"/>
        </p:nvCxnSpPr>
        <p:spPr>
          <a:xfrm>
            <a:off x="457200" y="1514235"/>
            <a:ext cx="8229600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008000"/>
                </a:gs>
                <a:gs pos="100000">
                  <a:srgbClr val="93C900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031875" cy="1031875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658707" y="6173053"/>
            <a:ext cx="2195024" cy="43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5180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Conector reto 13"/>
          <p:cNvCxnSpPr/>
          <p:nvPr userDrawn="1"/>
        </p:nvCxnSpPr>
        <p:spPr>
          <a:xfrm>
            <a:off x="0" y="6807199"/>
            <a:ext cx="9144000" cy="0"/>
          </a:xfrm>
          <a:prstGeom prst="line">
            <a:avLst/>
          </a:prstGeom>
          <a:ln w="101600">
            <a:gradFill>
              <a:gsLst>
                <a:gs pos="0">
                  <a:srgbClr val="00B0F0"/>
                </a:gs>
                <a:gs pos="100000">
                  <a:srgbClr val="002060"/>
                </a:gs>
              </a:gsLst>
              <a:lin ang="0" scaled="0"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m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DB57C-0CBF-3049-B4D4-DDB653D1F03D}" type="datetimeFigureOut">
              <a:rPr lang="en-US" smtClean="0"/>
              <a:pPr/>
              <a:t>3/16/2020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A179C-9CFB-5A4D-8467-2F39C5D58140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7" name="Straight Connector 3"/>
          <p:cNvCxnSpPr/>
          <p:nvPr userDrawn="1"/>
        </p:nvCxnSpPr>
        <p:spPr>
          <a:xfrm>
            <a:off x="457200" y="1480594"/>
            <a:ext cx="82296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6"/>
                </a:gs>
                <a:gs pos="100000">
                  <a:srgbClr val="FFD13F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3"/>
          <p:cNvCxnSpPr/>
          <p:nvPr userDrawn="1"/>
        </p:nvCxnSpPr>
        <p:spPr>
          <a:xfrm>
            <a:off x="457200" y="1514235"/>
            <a:ext cx="8229600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008000"/>
                </a:gs>
                <a:gs pos="100000">
                  <a:srgbClr val="93C900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031875" cy="1031875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658707" y="6173053"/>
            <a:ext cx="2195024" cy="43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33394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031875" cy="10318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DB57C-0CBF-3049-B4D4-DDB653D1F03D}" type="datetimeFigureOut">
              <a:rPr lang="en-US" smtClean="0"/>
              <a:pPr/>
              <a:t>3/16/2020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A179C-9CFB-5A4D-8467-2F39C5D58140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11" name="Imagem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658707" y="6173053"/>
            <a:ext cx="2195024" cy="437256"/>
          </a:xfrm>
          <a:prstGeom prst="rect">
            <a:avLst/>
          </a:prstGeom>
        </p:spPr>
      </p:pic>
      <p:cxnSp>
        <p:nvCxnSpPr>
          <p:cNvPr id="13" name="Conector reto 12"/>
          <p:cNvCxnSpPr/>
          <p:nvPr userDrawn="1"/>
        </p:nvCxnSpPr>
        <p:spPr>
          <a:xfrm>
            <a:off x="0" y="6807199"/>
            <a:ext cx="9144000" cy="0"/>
          </a:xfrm>
          <a:prstGeom prst="line">
            <a:avLst/>
          </a:prstGeom>
          <a:ln w="101600">
            <a:gradFill>
              <a:gsLst>
                <a:gs pos="0">
                  <a:srgbClr val="00B0F0"/>
                </a:gs>
                <a:gs pos="100000">
                  <a:srgbClr val="002060"/>
                </a:gs>
              </a:gsLst>
              <a:lin ang="0" scaled="0"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590655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031875" cy="10318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DB57C-0CBF-3049-B4D4-DDB653D1F03D}" type="datetimeFigureOut">
              <a:rPr lang="en-US" smtClean="0"/>
              <a:pPr/>
              <a:t>3/16/2020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A179C-9CFB-5A4D-8467-2F39C5D58140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11" name="Straight Connector 3"/>
          <p:cNvCxnSpPr/>
          <p:nvPr userDrawn="1"/>
        </p:nvCxnSpPr>
        <p:spPr>
          <a:xfrm>
            <a:off x="457200" y="1480594"/>
            <a:ext cx="82296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6"/>
                </a:gs>
                <a:gs pos="100000">
                  <a:srgbClr val="FFD13F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"/>
          <p:cNvCxnSpPr/>
          <p:nvPr userDrawn="1"/>
        </p:nvCxnSpPr>
        <p:spPr>
          <a:xfrm>
            <a:off x="457200" y="1514235"/>
            <a:ext cx="8229600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008000"/>
                </a:gs>
                <a:gs pos="100000">
                  <a:srgbClr val="93C900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Imagem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658707" y="6173053"/>
            <a:ext cx="2195024" cy="437256"/>
          </a:xfrm>
          <a:prstGeom prst="rect">
            <a:avLst/>
          </a:prstGeom>
        </p:spPr>
      </p:pic>
      <p:cxnSp>
        <p:nvCxnSpPr>
          <p:cNvPr id="15" name="Conector reto 14"/>
          <p:cNvCxnSpPr/>
          <p:nvPr userDrawn="1"/>
        </p:nvCxnSpPr>
        <p:spPr>
          <a:xfrm>
            <a:off x="0" y="6807199"/>
            <a:ext cx="9144000" cy="0"/>
          </a:xfrm>
          <a:prstGeom prst="line">
            <a:avLst/>
          </a:prstGeom>
          <a:ln w="101600">
            <a:gradFill>
              <a:gsLst>
                <a:gs pos="0">
                  <a:srgbClr val="00B0F0"/>
                </a:gs>
                <a:gs pos="100000">
                  <a:srgbClr val="002060"/>
                </a:gs>
              </a:gsLst>
              <a:lin ang="0" scaled="0"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036224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031875" cy="10318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227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513013"/>
            <a:ext cx="4040188" cy="36131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227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3013"/>
            <a:ext cx="4041775" cy="36131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DB57C-0CBF-3049-B4D4-DDB653D1F03D}" type="datetimeFigureOut">
              <a:rPr lang="en-US" smtClean="0"/>
              <a:pPr/>
              <a:t>3/16/2020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A179C-9CFB-5A4D-8467-2F39C5D58140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13" name="Straight Connector 3"/>
          <p:cNvCxnSpPr/>
          <p:nvPr userDrawn="1"/>
        </p:nvCxnSpPr>
        <p:spPr>
          <a:xfrm>
            <a:off x="457200" y="1480594"/>
            <a:ext cx="82296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6"/>
                </a:gs>
                <a:gs pos="100000">
                  <a:srgbClr val="FFD13F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"/>
          <p:cNvCxnSpPr/>
          <p:nvPr userDrawn="1"/>
        </p:nvCxnSpPr>
        <p:spPr>
          <a:xfrm>
            <a:off x="457200" y="1514235"/>
            <a:ext cx="8229600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008000"/>
                </a:gs>
                <a:gs pos="100000">
                  <a:srgbClr val="93C900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Imagem 15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658707" y="6173053"/>
            <a:ext cx="2195024" cy="437256"/>
          </a:xfrm>
          <a:prstGeom prst="rect">
            <a:avLst/>
          </a:prstGeom>
        </p:spPr>
      </p:pic>
      <p:cxnSp>
        <p:nvCxnSpPr>
          <p:cNvPr id="17" name="Conector reto 16"/>
          <p:cNvCxnSpPr/>
          <p:nvPr userDrawn="1"/>
        </p:nvCxnSpPr>
        <p:spPr>
          <a:xfrm>
            <a:off x="0" y="6807199"/>
            <a:ext cx="9144000" cy="0"/>
          </a:xfrm>
          <a:prstGeom prst="line">
            <a:avLst/>
          </a:prstGeom>
          <a:ln w="101600">
            <a:gradFill>
              <a:gsLst>
                <a:gs pos="0">
                  <a:srgbClr val="00B0F0"/>
                </a:gs>
                <a:gs pos="100000">
                  <a:srgbClr val="002060"/>
                </a:gs>
              </a:gsLst>
              <a:lin ang="0" scaled="0"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996186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031875" cy="10318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DB57C-0CBF-3049-B4D4-DDB653D1F03D}" type="datetimeFigureOut">
              <a:rPr lang="en-US" smtClean="0"/>
              <a:pPr/>
              <a:t>3/16/2020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A179C-9CFB-5A4D-8467-2F39C5D58140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9" name="Straight Connector 3"/>
          <p:cNvCxnSpPr/>
          <p:nvPr userDrawn="1"/>
        </p:nvCxnSpPr>
        <p:spPr>
          <a:xfrm>
            <a:off x="457200" y="1480594"/>
            <a:ext cx="82296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6"/>
                </a:gs>
                <a:gs pos="100000">
                  <a:srgbClr val="FFD13F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3"/>
          <p:cNvCxnSpPr/>
          <p:nvPr userDrawn="1"/>
        </p:nvCxnSpPr>
        <p:spPr>
          <a:xfrm>
            <a:off x="457200" y="1514235"/>
            <a:ext cx="8229600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008000"/>
                </a:gs>
                <a:gs pos="100000">
                  <a:srgbClr val="93C900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658707" y="6173053"/>
            <a:ext cx="2195024" cy="437256"/>
          </a:xfrm>
          <a:prstGeom prst="rect">
            <a:avLst/>
          </a:prstGeom>
        </p:spPr>
      </p:pic>
      <p:cxnSp>
        <p:nvCxnSpPr>
          <p:cNvPr id="13" name="Conector reto 12"/>
          <p:cNvCxnSpPr/>
          <p:nvPr userDrawn="1"/>
        </p:nvCxnSpPr>
        <p:spPr>
          <a:xfrm>
            <a:off x="0" y="6807199"/>
            <a:ext cx="9144000" cy="0"/>
          </a:xfrm>
          <a:prstGeom prst="line">
            <a:avLst/>
          </a:prstGeom>
          <a:ln w="101600">
            <a:gradFill>
              <a:gsLst>
                <a:gs pos="0">
                  <a:srgbClr val="00B0F0"/>
                </a:gs>
                <a:gs pos="100000">
                  <a:srgbClr val="002060"/>
                </a:gs>
              </a:gsLst>
              <a:lin ang="0" scaled="0"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097505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 reto 9"/>
          <p:cNvCxnSpPr/>
          <p:nvPr userDrawn="1"/>
        </p:nvCxnSpPr>
        <p:spPr>
          <a:xfrm>
            <a:off x="0" y="6807199"/>
            <a:ext cx="9144000" cy="0"/>
          </a:xfrm>
          <a:prstGeom prst="line">
            <a:avLst/>
          </a:prstGeom>
          <a:ln w="101600">
            <a:gradFill>
              <a:gsLst>
                <a:gs pos="0">
                  <a:srgbClr val="00B0F0"/>
                </a:gs>
                <a:gs pos="100000">
                  <a:srgbClr val="002060"/>
                </a:gs>
              </a:gsLst>
              <a:lin ang="0" scaled="0"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agem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031875" cy="1031875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DB57C-0CBF-3049-B4D4-DDB653D1F03D}" type="datetimeFigureOut">
              <a:rPr lang="en-US" smtClean="0"/>
              <a:pPr/>
              <a:t>3/16/2020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A179C-9CFB-5A4D-8467-2F39C5D58140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658707" y="6173053"/>
            <a:ext cx="2195024" cy="43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73009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031875" cy="10318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65287"/>
            <a:ext cx="3008313" cy="446087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DB57C-0CBF-3049-B4D4-DDB653D1F03D}" type="datetimeFigureOut">
              <a:rPr lang="en-US" smtClean="0"/>
              <a:pPr/>
              <a:t>3/16/2020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A179C-9CFB-5A4D-8467-2F39C5D58140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11" name="Straight Connector 3"/>
          <p:cNvCxnSpPr/>
          <p:nvPr userDrawn="1"/>
        </p:nvCxnSpPr>
        <p:spPr>
          <a:xfrm>
            <a:off x="457200" y="1480594"/>
            <a:ext cx="300831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6"/>
                </a:gs>
                <a:gs pos="100000">
                  <a:srgbClr val="FFD13F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"/>
          <p:cNvCxnSpPr/>
          <p:nvPr userDrawn="1"/>
        </p:nvCxnSpPr>
        <p:spPr>
          <a:xfrm>
            <a:off x="457200" y="1514235"/>
            <a:ext cx="3008313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008000"/>
                </a:gs>
                <a:gs pos="100000">
                  <a:srgbClr val="93C900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Imagem 1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658707" y="6173053"/>
            <a:ext cx="2195024" cy="437256"/>
          </a:xfrm>
          <a:prstGeom prst="rect">
            <a:avLst/>
          </a:prstGeom>
        </p:spPr>
      </p:pic>
      <p:cxnSp>
        <p:nvCxnSpPr>
          <p:cNvPr id="18" name="Conector reto 17"/>
          <p:cNvCxnSpPr/>
          <p:nvPr userDrawn="1"/>
        </p:nvCxnSpPr>
        <p:spPr>
          <a:xfrm>
            <a:off x="0" y="6807199"/>
            <a:ext cx="9144000" cy="0"/>
          </a:xfrm>
          <a:prstGeom prst="line">
            <a:avLst/>
          </a:prstGeom>
          <a:ln w="101600">
            <a:gradFill>
              <a:gsLst>
                <a:gs pos="0">
                  <a:srgbClr val="00B0F0"/>
                </a:gs>
                <a:gs pos="100000">
                  <a:srgbClr val="002060"/>
                </a:gs>
              </a:gsLst>
              <a:lin ang="0" scaled="0"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111504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DB57C-0CBF-3049-B4D4-DDB653D1F03D}" type="datetimeFigureOut">
              <a:rPr lang="en-US" smtClean="0"/>
              <a:pPr/>
              <a:t>3/16/2020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A179C-9CFB-5A4D-8467-2F39C5D58140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94403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DB57C-0CBF-3049-B4D4-DDB653D1F03D}" type="datetimeFigureOut">
              <a:rPr lang="en-US" smtClean="0"/>
              <a:pPr/>
              <a:t>3/16/2020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A179C-9CFB-5A4D-8467-2F39C5D58140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23014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DB57C-0CBF-3049-B4D4-DDB653D1F03D}" type="datetimeFigureOut">
              <a:rPr lang="en-US" smtClean="0"/>
              <a:pPr/>
              <a:t>3/16/2020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A179C-9CFB-5A4D-8467-2F39C5D58140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0718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DB57C-0CBF-3049-B4D4-DDB653D1F03D}" type="datetimeFigureOut">
              <a:rPr lang="en-US" smtClean="0"/>
              <a:pPr/>
              <a:t>3/16/2020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A179C-9CFB-5A4D-8467-2F39C5D58140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6" name="Picture 5" descr="apresentacao_min_economia_QUARTA-CAPA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138909" y="-94899"/>
            <a:ext cx="9421818" cy="705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40904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246205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31DB57C-0CBF-3049-B4D4-DDB653D1F03D}" type="datetimeFigureOut">
              <a:rPr lang="en-US" smtClean="0"/>
              <a:pPr/>
              <a:t>3/16/2020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57923" y="6246205"/>
            <a:ext cx="44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63138" y="6246205"/>
            <a:ext cx="5627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C41A179C-9CFB-5A4D-8467-2F39C5D58140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80140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chemeClr val="tx1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Medidas do grupo de monitoramento dos impactos do COVID-19  pandemia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XXXX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1"/>
          </p:nvPr>
        </p:nvSpPr>
        <p:spPr>
          <a:xfrm>
            <a:off x="457200" y="6103400"/>
            <a:ext cx="4040188" cy="254949"/>
          </a:xfrm>
        </p:spPr>
        <p:txBody>
          <a:bodyPr/>
          <a:lstStyle/>
          <a:p>
            <a:r>
              <a:rPr lang="pt-BR" dirty="0"/>
              <a:t>Março 2020</a:t>
            </a:r>
          </a:p>
        </p:txBody>
      </p:sp>
    </p:spTree>
    <p:extLst>
      <p:ext uri="{BB962C8B-B14F-4D97-AF65-F5344CB8AC3E}">
        <p14:creationId xmlns:p14="http://schemas.microsoft.com/office/powerpoint/2010/main" xmlns="" val="3574200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Medidas estruturantes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2214563"/>
            <a:ext cx="8229600" cy="3911600"/>
          </a:xfrm>
        </p:spPr>
        <p:txBody>
          <a:bodyPr>
            <a:normAutofit/>
          </a:bodyPr>
          <a:lstStyle/>
          <a:p>
            <a:r>
              <a:rPr lang="pt-BR" sz="3000" dirty="0"/>
              <a:t>Pacto Federativo</a:t>
            </a:r>
          </a:p>
          <a:p>
            <a:r>
              <a:rPr lang="pt-BR" sz="3000" dirty="0" smtClean="0"/>
              <a:t>PL da </a:t>
            </a:r>
            <a:r>
              <a:rPr lang="pt-BR" sz="3000" dirty="0"/>
              <a:t>Eletrobrás</a:t>
            </a:r>
          </a:p>
          <a:p>
            <a:r>
              <a:rPr lang="pt-BR" sz="3000" dirty="0"/>
              <a:t>Plano Mansueto  </a:t>
            </a:r>
          </a:p>
          <a:p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xmlns="" val="426477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Até R$ 147,3 bilhões em medidas </a:t>
            </a:r>
            <a:r>
              <a:rPr lang="pt-BR" dirty="0"/>
              <a:t>emergenciais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2286000"/>
            <a:ext cx="8229600" cy="3840163"/>
          </a:xfrm>
        </p:spPr>
        <p:txBody>
          <a:bodyPr/>
          <a:lstStyle/>
          <a:p>
            <a:r>
              <a:rPr lang="pt-BR" dirty="0" smtClean="0"/>
              <a:t>Até R$ 83,4 bilhões para a p</a:t>
            </a:r>
            <a:r>
              <a:rPr lang="pt-BR" dirty="0" smtClean="0"/>
              <a:t>opulação mais vulnerável</a:t>
            </a:r>
          </a:p>
          <a:p>
            <a:r>
              <a:rPr lang="pt-BR" dirty="0" smtClean="0"/>
              <a:t>Até R$ 59,4 bilhões para m</a:t>
            </a:r>
            <a:r>
              <a:rPr lang="pt-BR" dirty="0" smtClean="0"/>
              <a:t>anutenção de empregos</a:t>
            </a:r>
          </a:p>
          <a:p>
            <a:r>
              <a:rPr lang="pt-BR" dirty="0" smtClean="0"/>
              <a:t>Combate a pandemia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xmlns="" val="2418384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Até R$ 83,4 bilhões para p</a:t>
            </a:r>
            <a:r>
              <a:rPr lang="pt-BR" dirty="0" smtClean="0"/>
              <a:t>opulação </a:t>
            </a:r>
            <a:r>
              <a:rPr lang="pt-BR" dirty="0"/>
              <a:t>mais vulnerável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700213"/>
            <a:ext cx="8229600" cy="3840163"/>
          </a:xfrm>
        </p:spPr>
        <p:txBody>
          <a:bodyPr>
            <a:noAutofit/>
          </a:bodyPr>
          <a:lstStyle/>
          <a:p>
            <a:pPr marL="0" indent="0" fontAlgn="base">
              <a:buFont typeface="Arial" pitchFamily="34" charset="0"/>
              <a:buChar char="•"/>
            </a:pPr>
            <a:r>
              <a:rPr lang="pt-BR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Antecipação </a:t>
            </a:r>
            <a:r>
              <a:rPr lang="pt-BR" sz="1800" dirty="0">
                <a:latin typeface="Calibri" panose="020F0502020204030204" pitchFamily="34" charset="0"/>
                <a:cs typeface="Calibri" panose="020F0502020204030204" pitchFamily="34" charset="0"/>
              </a:rPr>
              <a:t>da segunda parcela do </a:t>
            </a:r>
            <a:r>
              <a:rPr lang="pt-BR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13º de aposentados e pensionistas do INSS para Maio </a:t>
            </a:r>
            <a:r>
              <a:rPr lang="pt-BR" sz="1800" b="1" dirty="0">
                <a:latin typeface="Calibri" panose="020F0502020204030204" pitchFamily="34" charset="0"/>
                <a:cs typeface="Calibri" panose="020F0502020204030204" pitchFamily="34" charset="0"/>
              </a:rPr>
              <a:t>(R$ 23 </a:t>
            </a:r>
            <a:r>
              <a:rPr lang="pt-BR" sz="1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bilhões)</a:t>
            </a:r>
            <a:endParaRPr lang="pt-BR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fontAlgn="base">
              <a:buFont typeface="Arial" pitchFamily="34" charset="0"/>
              <a:buChar char="•"/>
            </a:pPr>
            <a:r>
              <a:rPr lang="pt-BR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Valores não sacados do </a:t>
            </a:r>
            <a:r>
              <a:rPr lang="pt-BR" sz="18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Pis</a:t>
            </a:r>
            <a:r>
              <a:rPr lang="pt-BR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pt-BR" sz="18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Pasep</a:t>
            </a:r>
            <a:r>
              <a:rPr lang="pt-BR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 serão transferidos para o FGTS para permitir novos saques </a:t>
            </a:r>
            <a:r>
              <a:rPr lang="pt-BR" sz="1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(até R$ 21,5 bilhões)</a:t>
            </a:r>
          </a:p>
          <a:p>
            <a:pPr marL="0" indent="0" fontAlgn="base">
              <a:buFont typeface="Arial" pitchFamily="34" charset="0"/>
              <a:buChar char="•"/>
            </a:pPr>
            <a:r>
              <a:rPr lang="pt-BR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Antecipação </a:t>
            </a:r>
            <a:r>
              <a:rPr lang="pt-BR" sz="1800" dirty="0">
                <a:latin typeface="Calibri" panose="020F0502020204030204" pitchFamily="34" charset="0"/>
                <a:cs typeface="Calibri" panose="020F0502020204030204" pitchFamily="34" charset="0"/>
              </a:rPr>
              <a:t>do Abono Salarial para </a:t>
            </a:r>
            <a:r>
              <a:rPr lang="pt-BR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junho </a:t>
            </a:r>
            <a:r>
              <a:rPr lang="pt-BR" sz="1800" b="1" dirty="0">
                <a:latin typeface="Calibri" panose="020F0502020204030204" pitchFamily="34" charset="0"/>
                <a:cs typeface="Calibri" panose="020F0502020204030204" pitchFamily="34" charset="0"/>
              </a:rPr>
              <a:t>(R$ </a:t>
            </a:r>
            <a:r>
              <a:rPr lang="pt-BR" sz="1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12,8 </a:t>
            </a:r>
            <a:r>
              <a:rPr lang="pt-BR" sz="1800" b="1" dirty="0">
                <a:latin typeface="Calibri" panose="020F0502020204030204" pitchFamily="34" charset="0"/>
                <a:cs typeface="Calibri" panose="020F0502020204030204" pitchFamily="34" charset="0"/>
              </a:rPr>
              <a:t>bilhões)</a:t>
            </a:r>
            <a:endParaRPr lang="pt-BR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fontAlgn="base">
              <a:buFont typeface="Arial" pitchFamily="34" charset="0"/>
              <a:buChar char="•"/>
            </a:pPr>
            <a:r>
              <a:rPr lang="pt-BR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Reforço ao programa </a:t>
            </a:r>
            <a:r>
              <a:rPr lang="pt-BR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Bolsa Família: destinação de recursos para possibilitar a ampliação do número de beneficiários – inclusão de mais de 1 milhão de pessoas </a:t>
            </a:r>
            <a:r>
              <a:rPr lang="pt-BR" sz="1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(até R</a:t>
            </a:r>
            <a:r>
              <a:rPr lang="pt-BR" sz="1800" b="1" dirty="0">
                <a:latin typeface="Calibri" panose="020F0502020204030204" pitchFamily="34" charset="0"/>
                <a:cs typeface="Calibri" panose="020F0502020204030204" pitchFamily="34" charset="0"/>
              </a:rPr>
              <a:t>$ </a:t>
            </a:r>
            <a:r>
              <a:rPr lang="pt-BR" sz="1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3,1 bilhões)</a:t>
            </a:r>
            <a:endParaRPr lang="pt-BR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pt-BR" sz="18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pt-BR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800" b="1" i="1" dirty="0">
                <a:latin typeface="Calibri" panose="020F0502020204030204" pitchFamily="34" charset="0"/>
                <a:cs typeface="Calibri" panose="020F0502020204030204" pitchFamily="34" charset="0"/>
              </a:rPr>
              <a:t>Já anunciadas:</a:t>
            </a:r>
            <a:endParaRPr lang="pt-BR" sz="18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/>
            <a:r>
              <a:rPr lang="pt-BR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Antecipar </a:t>
            </a:r>
            <a:r>
              <a:rPr lang="pt-BR" sz="1800" dirty="0">
                <a:latin typeface="Calibri" panose="020F0502020204030204" pitchFamily="34" charset="0"/>
                <a:cs typeface="Calibri" panose="020F0502020204030204" pitchFamily="34" charset="0"/>
              </a:rPr>
              <a:t>a primeira parcela do </a:t>
            </a:r>
            <a:r>
              <a:rPr lang="pt-BR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13º de aposentados e pensionistas do INSS </a:t>
            </a:r>
            <a:r>
              <a:rPr lang="pt-BR" sz="1800" dirty="0"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lang="pt-BR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Abril (R$ 23 bilhões)</a:t>
            </a:r>
            <a:endParaRPr lang="pt-BR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/>
            <a:r>
              <a:rPr lang="pt-BR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Redução </a:t>
            </a:r>
            <a:r>
              <a:rPr lang="pt-BR" sz="1800" dirty="0">
                <a:latin typeface="Calibri" panose="020F0502020204030204" pitchFamily="34" charset="0"/>
                <a:cs typeface="Calibri" panose="020F0502020204030204" pitchFamily="34" charset="0"/>
              </a:rPr>
              <a:t>do teto de juros </a:t>
            </a:r>
            <a:r>
              <a:rPr lang="pt-BR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do </a:t>
            </a:r>
            <a:r>
              <a:rPr lang="pt-BR" sz="1800" dirty="0">
                <a:latin typeface="Calibri" panose="020F0502020204030204" pitchFamily="34" charset="0"/>
                <a:cs typeface="Calibri" panose="020F0502020204030204" pitchFamily="34" charset="0"/>
              </a:rPr>
              <a:t>consignado, aumento da margem e do prazo de pagamento</a:t>
            </a:r>
          </a:p>
        </p:txBody>
      </p:sp>
    </p:spTree>
    <p:extLst>
      <p:ext uri="{BB962C8B-B14F-4D97-AF65-F5344CB8AC3E}">
        <p14:creationId xmlns:p14="http://schemas.microsoft.com/office/powerpoint/2010/main" xmlns="" val="2450513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At</a:t>
            </a:r>
            <a:r>
              <a:rPr lang="pt-BR" dirty="0" smtClean="0"/>
              <a:t>é</a:t>
            </a:r>
            <a:r>
              <a:rPr lang="pt-BR" dirty="0" smtClean="0"/>
              <a:t> R$ 59,4 bilhões para a </a:t>
            </a:r>
            <a:r>
              <a:rPr lang="pt-BR" dirty="0"/>
              <a:t>manutenção de empregos: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757362"/>
            <a:ext cx="8229600" cy="3840163"/>
          </a:xfrm>
        </p:spPr>
        <p:txBody>
          <a:bodyPr>
            <a:noAutofit/>
          </a:bodyPr>
          <a:lstStyle/>
          <a:p>
            <a:pPr marL="0" indent="0" fontAlgn="base">
              <a:buFont typeface="Arial" pitchFamily="34" charset="0"/>
              <a:buChar char="•"/>
            </a:pPr>
            <a:r>
              <a:rPr lang="pt-BR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Diferimento</a:t>
            </a:r>
            <a:r>
              <a:rPr lang="pt-BR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do prazo de pagamento do FGTS por 3 </a:t>
            </a:r>
            <a:r>
              <a:rPr lang="pt-BR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meses</a:t>
            </a:r>
            <a:r>
              <a:rPr lang="pt-BR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(R$30 </a:t>
            </a:r>
            <a:r>
              <a:rPr lang="pt-BR" sz="2000" b="1" dirty="0">
                <a:latin typeface="Calibri" panose="020F0502020204030204" pitchFamily="34" charset="0"/>
                <a:cs typeface="Calibri" panose="020F0502020204030204" pitchFamily="34" charset="0"/>
              </a:rPr>
              <a:t>bilhões)</a:t>
            </a:r>
            <a:endParaRPr lang="pt-B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fontAlgn="base">
              <a:buFont typeface="Arial" pitchFamily="34" charset="0"/>
              <a:buChar char="•"/>
            </a:pPr>
            <a:r>
              <a:rPr lang="pt-B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Diferimento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da parte da União no Simples Nacional </a:t>
            </a:r>
            <a:r>
              <a:rPr lang="pt-BR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por 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3 </a:t>
            </a:r>
            <a:r>
              <a:rPr lang="pt-BR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meses </a:t>
            </a:r>
            <a:r>
              <a:rPr lang="pt-BR" sz="2000" b="1" dirty="0">
                <a:latin typeface="Calibri" panose="020F0502020204030204" pitchFamily="34" charset="0"/>
                <a:cs typeface="Calibri" panose="020F0502020204030204" pitchFamily="34" charset="0"/>
              </a:rPr>
              <a:t>(R$ 22,2 bilhões</a:t>
            </a:r>
            <a:r>
              <a:rPr lang="pt-B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 fontAlgn="base">
              <a:buFont typeface="Arial" pitchFamily="34" charset="0"/>
              <a:buChar char="•"/>
            </a:pPr>
            <a:r>
              <a:rPr lang="pt-BR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Mais </a:t>
            </a:r>
            <a:r>
              <a:rPr lang="pt-B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R$ 5 bilhões </a:t>
            </a:r>
            <a:r>
              <a:rPr lang="pt-BR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de crédito do PROGER / FAT para Micro e Pequenas </a:t>
            </a:r>
            <a:r>
              <a:rPr lang="pt-BR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empresas</a:t>
            </a:r>
            <a:endParaRPr lang="pt-B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fontAlgn="base">
              <a:buFont typeface="Arial" pitchFamily="34" charset="0"/>
              <a:buChar char="•"/>
            </a:pP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Redução de 50% nas contribuições do Sistema S por 3 </a:t>
            </a:r>
            <a:r>
              <a:rPr lang="pt-BR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meses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pt-B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(R$2,2 bilhões)</a:t>
            </a:r>
            <a:endParaRPr lang="pt-B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fontAlgn="base">
              <a:buFont typeface="Arial" pitchFamily="34" charset="0"/>
              <a:buChar char="•"/>
            </a:pPr>
            <a:r>
              <a:rPr lang="pt-BR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Simplificação das exigências para contratação 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lang="pt-BR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crédito e dispensa </a:t>
            </a:r>
            <a:r>
              <a:rPr lang="pt-BR" sz="2000" dirty="0">
                <a:latin typeface="Calibri" panose="020F0502020204030204" pitchFamily="34" charset="0"/>
                <a:cs typeface="Calibri" panose="020F0502020204030204" pitchFamily="34" charset="0"/>
              </a:rPr>
              <a:t>de documentação (CND) para renegociação de </a:t>
            </a:r>
            <a:r>
              <a:rPr lang="pt-BR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crédito</a:t>
            </a:r>
          </a:p>
          <a:p>
            <a:pPr marL="0" indent="0" fontAlgn="base">
              <a:buFont typeface="Arial" pitchFamily="34" charset="0"/>
              <a:buChar char="•"/>
            </a:pPr>
            <a:r>
              <a:rPr lang="pt-BR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Facilitar o desembaraço de insumos e matérias primas industriais importadas antes do desembarque</a:t>
            </a:r>
            <a:endParaRPr lang="pt-BR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fontAlgn="base">
              <a:buFont typeface="Arial" pitchFamily="34" charset="0"/>
              <a:buChar char="•"/>
            </a:pPr>
            <a:endParaRPr lang="pt-B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29529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Combate à pandemia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757362"/>
            <a:ext cx="8229600" cy="3840163"/>
          </a:xfrm>
        </p:spPr>
        <p:txBody>
          <a:bodyPr>
            <a:noAutofit/>
          </a:bodyPr>
          <a:lstStyle/>
          <a:p>
            <a:pPr marL="0" indent="0" fontAlgn="base">
              <a:buFont typeface="Arial" pitchFamily="34" charset="0"/>
              <a:buChar char="•"/>
            </a:pPr>
            <a:r>
              <a:rPr lang="pt-BR" sz="1700" dirty="0" smtClean="0">
                <a:latin typeface="Calibri" panose="020F0502020204030204" pitchFamily="34" charset="0"/>
                <a:cs typeface="Calibri" panose="020F0502020204030204" pitchFamily="34" charset="0"/>
              </a:rPr>
              <a:t>Destinação</a:t>
            </a:r>
            <a:r>
              <a:rPr lang="pt-BR" sz="1700" dirty="0" smtClean="0">
                <a:latin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pt-BR" sz="1700" dirty="0" smtClean="0">
                <a:latin typeface="Calibri" panose="020F0502020204030204" pitchFamily="34" charset="0"/>
                <a:cs typeface="Calibri" panose="020F0502020204030204" pitchFamily="34" charset="0"/>
              </a:rPr>
              <a:t>saldo do </a:t>
            </a:r>
            <a:r>
              <a:rPr lang="pt-BR" sz="1700" dirty="0" smtClean="0">
                <a:latin typeface="Calibri" panose="020F0502020204030204" pitchFamily="34" charset="0"/>
                <a:cs typeface="Calibri" panose="020F0502020204030204" pitchFamily="34" charset="0"/>
              </a:rPr>
              <a:t>fundo do </a:t>
            </a:r>
            <a:r>
              <a:rPr lang="pt-BR" sz="1700" dirty="0">
                <a:latin typeface="Calibri" panose="020F0502020204030204" pitchFamily="34" charset="0"/>
                <a:cs typeface="Calibri" panose="020F0502020204030204" pitchFamily="34" charset="0"/>
              </a:rPr>
              <a:t>DPVAT para o </a:t>
            </a:r>
            <a:r>
              <a:rPr lang="pt-BR" sz="1700" dirty="0" smtClean="0">
                <a:latin typeface="Calibri" panose="020F0502020204030204" pitchFamily="34" charset="0"/>
                <a:cs typeface="Calibri" panose="020F0502020204030204" pitchFamily="34" charset="0"/>
              </a:rPr>
              <a:t>SUS </a:t>
            </a:r>
            <a:r>
              <a:rPr lang="pt-BR" sz="17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(R$ 4,5 bilhões)</a:t>
            </a:r>
            <a:endParaRPr lang="pt-BR" sz="1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fontAlgn="base">
              <a:buFont typeface="Arial" pitchFamily="34" charset="0"/>
              <a:buChar char="•"/>
            </a:pPr>
            <a:r>
              <a:rPr lang="pt-BR" sz="1700" dirty="0" smtClean="0">
                <a:latin typeface="Calibri" panose="020F0502020204030204" pitchFamily="34" charset="0"/>
                <a:cs typeface="Calibri" panose="020F0502020204030204" pitchFamily="34" charset="0"/>
              </a:rPr>
              <a:t>Redução a zero das </a:t>
            </a:r>
            <a:r>
              <a:rPr lang="pt-BR" sz="1700" dirty="0">
                <a:latin typeface="Calibri" panose="020F0502020204030204" pitchFamily="34" charset="0"/>
                <a:cs typeface="Calibri" panose="020F0502020204030204" pitchFamily="34" charset="0"/>
              </a:rPr>
              <a:t>alíquotas de importação para produtos de uso </a:t>
            </a:r>
            <a:r>
              <a:rPr lang="pt-BR" sz="1700" dirty="0" smtClean="0">
                <a:latin typeface="Calibri" panose="020F0502020204030204" pitchFamily="34" charset="0"/>
                <a:cs typeface="Calibri" panose="020F0502020204030204" pitchFamily="34" charset="0"/>
              </a:rPr>
              <a:t>médico-hospitalar (até o final do </a:t>
            </a:r>
            <a:r>
              <a:rPr lang="pt-BR" sz="1700" dirty="0" smtClean="0">
                <a:latin typeface="Calibri" panose="020F0502020204030204" pitchFamily="34" charset="0"/>
                <a:cs typeface="Calibri" panose="020F0502020204030204" pitchFamily="34" charset="0"/>
              </a:rPr>
              <a:t>ano)</a:t>
            </a:r>
            <a:endParaRPr lang="pt-BR" sz="1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fontAlgn="base">
              <a:buFont typeface="Arial" pitchFamily="34" charset="0"/>
              <a:buChar char="•"/>
            </a:pPr>
            <a:r>
              <a:rPr lang="pt-BR" sz="1700" dirty="0">
                <a:latin typeface="Calibri" panose="020F0502020204030204" pitchFamily="34" charset="0"/>
                <a:cs typeface="Calibri" panose="020F0502020204030204" pitchFamily="34" charset="0"/>
              </a:rPr>
              <a:t>Desoneração temporária de IPI  para bens </a:t>
            </a:r>
            <a:r>
              <a:rPr lang="pt-BR" sz="1700" dirty="0" smtClean="0">
                <a:latin typeface="Calibri" panose="020F0502020204030204" pitchFamily="34" charset="0"/>
                <a:cs typeface="Calibri" panose="020F0502020204030204" pitchFamily="34" charset="0"/>
              </a:rPr>
              <a:t>importados listados </a:t>
            </a:r>
            <a:r>
              <a:rPr lang="pt-BR" sz="1700" dirty="0">
                <a:latin typeface="Calibri" panose="020F0502020204030204" pitchFamily="34" charset="0"/>
                <a:cs typeface="Calibri" panose="020F0502020204030204" pitchFamily="34" charset="0"/>
              </a:rPr>
              <a:t>que sejam necessários ao combate ao </a:t>
            </a:r>
            <a:r>
              <a:rPr lang="pt-BR" sz="17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Covid</a:t>
            </a:r>
            <a:r>
              <a:rPr lang="pt-BR" sz="1700" dirty="0" smtClean="0">
                <a:latin typeface="Calibri" panose="020F0502020204030204" pitchFamily="34" charset="0"/>
                <a:cs typeface="Calibri" panose="020F0502020204030204" pitchFamily="34" charset="0"/>
              </a:rPr>
              <a:t>-19</a:t>
            </a:r>
          </a:p>
          <a:p>
            <a:pPr marL="0" indent="0" fontAlgn="base">
              <a:buFont typeface="Arial" pitchFamily="34" charset="0"/>
              <a:buChar char="•"/>
            </a:pPr>
            <a:r>
              <a:rPr lang="pt-BR" sz="1700" dirty="0" smtClean="0">
                <a:latin typeface="Calibri" panose="020F0502020204030204" pitchFamily="34" charset="0"/>
                <a:cs typeface="Calibri" panose="020F0502020204030204" pitchFamily="34" charset="0"/>
              </a:rPr>
              <a:t>Desoneração temporária de IPI  para bens </a:t>
            </a:r>
            <a:r>
              <a:rPr lang="pt-BR" sz="1700" dirty="0" smtClean="0">
                <a:latin typeface="Calibri" panose="020F0502020204030204" pitchFamily="34" charset="0"/>
                <a:cs typeface="Calibri" panose="020F0502020204030204" pitchFamily="34" charset="0"/>
              </a:rPr>
              <a:t>produzidos </a:t>
            </a:r>
            <a:r>
              <a:rPr lang="pt-BR" sz="1700" dirty="0" smtClean="0">
                <a:latin typeface="Calibri" panose="020F0502020204030204" pitchFamily="34" charset="0"/>
                <a:cs typeface="Calibri" panose="020F0502020204030204" pitchFamily="34" charset="0"/>
              </a:rPr>
              <a:t>internamente listados que sejam necessários ao combate ao </a:t>
            </a:r>
            <a:r>
              <a:rPr lang="pt-BR" sz="17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Covid</a:t>
            </a:r>
            <a:r>
              <a:rPr lang="pt-BR" sz="1700" dirty="0" smtClean="0">
                <a:latin typeface="Calibri" panose="020F0502020204030204" pitchFamily="34" charset="0"/>
                <a:cs typeface="Calibri" panose="020F0502020204030204" pitchFamily="34" charset="0"/>
              </a:rPr>
              <a:t>-19</a:t>
            </a:r>
            <a:endParaRPr lang="pt-BR" sz="17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fontAlgn="base">
              <a:buFont typeface="Arial" pitchFamily="34" charset="0"/>
              <a:buChar char="•"/>
            </a:pPr>
            <a:endParaRPr lang="pt-BR" sz="1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pt-BR" sz="17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pt-BR" sz="17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700" b="1" dirty="0">
                <a:latin typeface="Calibri" panose="020F0502020204030204" pitchFamily="34" charset="0"/>
                <a:cs typeface="Calibri" panose="020F0502020204030204" pitchFamily="34" charset="0"/>
              </a:rPr>
              <a:t>Já anunciadas:</a:t>
            </a:r>
            <a:endParaRPr lang="pt-BR" sz="1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/>
            <a:r>
              <a:rPr lang="pt-BR" sz="1700" dirty="0" smtClean="0">
                <a:latin typeface="Calibri" panose="020F0502020204030204" pitchFamily="34" charset="0"/>
                <a:cs typeface="Calibri" panose="020F0502020204030204" pitchFamily="34" charset="0"/>
              </a:rPr>
              <a:t>Suspender </a:t>
            </a:r>
            <a:r>
              <a:rPr lang="pt-BR" sz="1700" dirty="0">
                <a:latin typeface="Calibri" panose="020F0502020204030204" pitchFamily="34" charset="0"/>
                <a:cs typeface="Calibri" panose="020F0502020204030204" pitchFamily="34" charset="0"/>
              </a:rPr>
              <a:t>a prova de vida dos beneficiários do INSS por 120 dias</a:t>
            </a:r>
          </a:p>
          <a:p>
            <a:pPr marL="0" indent="0"/>
            <a:r>
              <a:rPr lang="pt-BR" sz="1700" dirty="0" smtClean="0">
                <a:latin typeface="Calibri" panose="020F0502020204030204" pitchFamily="34" charset="0"/>
                <a:cs typeface="Calibri" panose="020F0502020204030204" pitchFamily="34" charset="0"/>
              </a:rPr>
              <a:t>Preferência </a:t>
            </a:r>
            <a:r>
              <a:rPr lang="pt-BR" sz="1700" dirty="0">
                <a:latin typeface="Calibri" panose="020F0502020204030204" pitchFamily="34" charset="0"/>
                <a:cs typeface="Calibri" panose="020F0502020204030204" pitchFamily="34" charset="0"/>
              </a:rPr>
              <a:t>tarifária de produtos de uso médico-hospitalar</a:t>
            </a:r>
          </a:p>
          <a:p>
            <a:pPr marL="0" indent="0"/>
            <a:r>
              <a:rPr lang="pt-BR" sz="1700" dirty="0" smtClean="0">
                <a:latin typeface="Calibri" panose="020F0502020204030204" pitchFamily="34" charset="0"/>
                <a:cs typeface="Calibri" panose="020F0502020204030204" pitchFamily="34" charset="0"/>
              </a:rPr>
              <a:t>Priorizar </a:t>
            </a:r>
            <a:r>
              <a:rPr lang="pt-BR" sz="1700" dirty="0">
                <a:latin typeface="Calibri" panose="020F0502020204030204" pitchFamily="34" charset="0"/>
                <a:cs typeface="Calibri" panose="020F0502020204030204" pitchFamily="34" charset="0"/>
              </a:rPr>
              <a:t>desembaraço aduaneiro de produtos de uso médico-hospitalar</a:t>
            </a:r>
          </a:p>
        </p:txBody>
      </p:sp>
    </p:spTree>
    <p:extLst>
      <p:ext uri="{BB962C8B-B14F-4D97-AF65-F5344CB8AC3E}">
        <p14:creationId xmlns:p14="http://schemas.microsoft.com/office/powerpoint/2010/main" xmlns="" val="758546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2214420</TotalTime>
  <Words>259</Words>
  <Application>Microsoft Office PowerPoint</Application>
  <PresentationFormat>Apresentação na tela (4:3)</PresentationFormat>
  <Paragraphs>36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Office Theme</vt:lpstr>
      <vt:lpstr>Medidas do grupo de monitoramento dos impactos do COVID-19  pandemia</vt:lpstr>
      <vt:lpstr>Medidas estruturantes</vt:lpstr>
      <vt:lpstr>Até R$ 147,3 bilhões em medidas emergenciais </vt:lpstr>
      <vt:lpstr>Até R$ 83,4 bilhões para população mais vulnerável</vt:lpstr>
      <vt:lpstr>Até R$ 59,4 bilhões para a manutenção de empregos:</vt:lpstr>
      <vt:lpstr>Combate à pandemia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Vanessa</dc:creator>
  <cp:lastModifiedBy>MF</cp:lastModifiedBy>
  <cp:revision>103</cp:revision>
  <dcterms:created xsi:type="dcterms:W3CDTF">2019-04-16T21:42:30Z</dcterms:created>
  <dcterms:modified xsi:type="dcterms:W3CDTF">2020-03-16T20:48:54Z</dcterms:modified>
</cp:coreProperties>
</file>