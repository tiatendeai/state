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8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5143500" cx="9144000"/>
  <p:notesSz cx="6858000" cy="9144000"/>
  <p:embeddedFontLst>
    <p:embeddedFont>
      <p:font typeface="Manrope"/>
      <p:regular r:id="rId39"/>
      <p:bold r:id="rId40"/>
    </p:embeddedFont>
    <p:embeddedFont>
      <p:font typeface="Lexend"/>
      <p:regular r:id="rId41"/>
      <p:bold r:id="rId42"/>
    </p:embeddedFont>
    <p:embeddedFont>
      <p:font typeface="Nunito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07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10">
          <p15:clr>
            <a:srgbClr val="747775"/>
          </p15:clr>
        </p15:guide>
        <p15:guide id="4" orient="horz" pos="1134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i8rnX/jtECDfDby41jTqn8lOs4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65153F-BBCE-49FA-81CA-74399687FDBF}">
  <a:tblStyle styleId="{5A65153F-BBCE-49FA-81CA-74399687FD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07" orient="horz"/>
        <p:guide pos="2880"/>
        <p:guide pos="310" orient="horz"/>
        <p:guide pos="113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-bold.fntdata"/><Relationship Id="rId20" Type="http://schemas.openxmlformats.org/officeDocument/2006/relationships/slide" Target="slides/slide12.xml"/><Relationship Id="rId42" Type="http://schemas.openxmlformats.org/officeDocument/2006/relationships/font" Target="fonts/Lexend-bold.fntdata"/><Relationship Id="rId41" Type="http://schemas.openxmlformats.org/officeDocument/2006/relationships/font" Target="fonts/Lexend-regular.fntdata"/><Relationship Id="rId22" Type="http://schemas.openxmlformats.org/officeDocument/2006/relationships/slide" Target="slides/slide14.xml"/><Relationship Id="rId44" Type="http://schemas.openxmlformats.org/officeDocument/2006/relationships/font" Target="fonts/NunitoSans-bold.fntdata"/><Relationship Id="rId21" Type="http://schemas.openxmlformats.org/officeDocument/2006/relationships/slide" Target="slides/slide13.xml"/><Relationship Id="rId43" Type="http://schemas.openxmlformats.org/officeDocument/2006/relationships/font" Target="fonts/NunitoSans-regular.fntdata"/><Relationship Id="rId24" Type="http://schemas.openxmlformats.org/officeDocument/2006/relationships/slide" Target="slides/slide16.xml"/><Relationship Id="rId46" Type="http://schemas.openxmlformats.org/officeDocument/2006/relationships/font" Target="fonts/NunitoSans-boldItalic.fntdata"/><Relationship Id="rId23" Type="http://schemas.openxmlformats.org/officeDocument/2006/relationships/slide" Target="slides/slide15.xml"/><Relationship Id="rId45" Type="http://schemas.openxmlformats.org/officeDocument/2006/relationships/font" Target="fonts/Nunito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47" Type="http://customschemas.google.com/relationships/presentationmetadata" Target="meta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font" Target="fonts/Manrope-regular.fntdata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e5fc4ff0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1e5fc4ff0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1e5fc4ff0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e5fc4ff06a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1e5fc4ff06a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Referência: https://www.sebrae.com.br/Sebrae/Portal%20Sebrae/Anexos/ME_Missao-Visao-Valores.PDF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5a4e7f2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e5a4e7f2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Referência: https://www.sebrae.com.br/Sebrae/Portal%20Sebrae/Anexos/ME_Missao-Visao-Valores.PDF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Referência: https://www.sebrae.com.br/Sebrae/Portal%20Sebrae/Anexos/ME_Missao-Visao-Valores.PDF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Referência: https://www.sebrae.com.br/Sebrae/Portal%20Sebrae/Anexos/ME_Missao-Visao-Valores.PDF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6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5fc4ff06a_0_8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g1e5fc4ff06a_0_8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g1e5fc4ff06a_0_8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g1e5fc4ff06a_0_8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g1e5fc4ff06a_0_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talmente branco">
  <p:cSld name="CUSTOM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/>
          <p:nvPr/>
        </p:nvSpPr>
        <p:spPr>
          <a:xfrm>
            <a:off x="-23950" y="-31925"/>
            <a:ext cx="9192000" cy="522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 type="title">
  <p:cSld name="TITLE"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2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2"/>
          <p:cNvSpPr txBox="1"/>
          <p:nvPr>
            <p:ph type="ctrTitle"/>
          </p:nvPr>
        </p:nvSpPr>
        <p:spPr>
          <a:xfrm>
            <a:off x="950100" y="522481"/>
            <a:ext cx="6086700" cy="15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8" name="Google Shape;68;p32"/>
          <p:cNvSpPr txBox="1"/>
          <p:nvPr>
            <p:ph idx="1" type="subTitle"/>
          </p:nvPr>
        </p:nvSpPr>
        <p:spPr>
          <a:xfrm>
            <a:off x="950100" y="2028900"/>
            <a:ext cx="56454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0" name="Google Shape;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46" y="3280510"/>
            <a:ext cx="1872850" cy="3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1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3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3"/>
          <p:cNvSpPr txBox="1"/>
          <p:nvPr>
            <p:ph type="ctrTitle"/>
          </p:nvPr>
        </p:nvSpPr>
        <p:spPr>
          <a:xfrm>
            <a:off x="950100" y="2178175"/>
            <a:ext cx="5808300" cy="15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p33"/>
          <p:cNvSpPr txBox="1"/>
          <p:nvPr>
            <p:ph idx="1" type="subTitle"/>
          </p:nvPr>
        </p:nvSpPr>
        <p:spPr>
          <a:xfrm>
            <a:off x="950100" y="3433517"/>
            <a:ext cx="57201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" name="Google Shape;75;p33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6" name="Google Shape;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00" y="1472024"/>
            <a:ext cx="1721743" cy="5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1" type="secHead">
  <p:cSld name="SECTION_HEADER"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4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4"/>
          <p:cNvSpPr txBox="1"/>
          <p:nvPr>
            <p:ph type="title"/>
          </p:nvPr>
        </p:nvSpPr>
        <p:spPr>
          <a:xfrm>
            <a:off x="908825" y="636200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p34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34"/>
          <p:cNvSpPr txBox="1"/>
          <p:nvPr>
            <p:ph idx="1" type="subTitle"/>
          </p:nvPr>
        </p:nvSpPr>
        <p:spPr>
          <a:xfrm>
            <a:off x="909378" y="2298150"/>
            <a:ext cx="4274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E72"/>
              </a:buClr>
              <a:buSzPts val="1400"/>
              <a:buNone/>
              <a:defRPr sz="1400">
                <a:solidFill>
                  <a:srgbClr val="005E7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2">
  <p:cSld name="SECTION_HEADER_1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35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5"/>
          <p:cNvSpPr txBox="1"/>
          <p:nvPr>
            <p:ph type="title"/>
          </p:nvPr>
        </p:nvSpPr>
        <p:spPr>
          <a:xfrm>
            <a:off x="908829" y="1730150"/>
            <a:ext cx="55917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35"/>
          <p:cNvSpPr txBox="1"/>
          <p:nvPr>
            <p:ph idx="1" type="subTitle"/>
          </p:nvPr>
        </p:nvSpPr>
        <p:spPr>
          <a:xfrm>
            <a:off x="894250" y="3406375"/>
            <a:ext cx="5591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E72"/>
              </a:buClr>
              <a:buSzPts val="1400"/>
              <a:buNone/>
              <a:defRPr sz="1400">
                <a:solidFill>
                  <a:srgbClr val="005E7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3">
  <p:cSld name="SECTION_HEADER_1_1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6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" name="Google Shape;90;p36"/>
          <p:cNvSpPr txBox="1"/>
          <p:nvPr>
            <p:ph type="title"/>
          </p:nvPr>
        </p:nvSpPr>
        <p:spPr>
          <a:xfrm>
            <a:off x="908825" y="1031342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36"/>
          <p:cNvSpPr txBox="1"/>
          <p:nvPr>
            <p:ph idx="1" type="subTitle"/>
          </p:nvPr>
        </p:nvSpPr>
        <p:spPr>
          <a:xfrm>
            <a:off x="909378" y="2693292"/>
            <a:ext cx="4274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E72"/>
              </a:buClr>
              <a:buSzPts val="1400"/>
              <a:buNone/>
              <a:defRPr sz="1400">
                <a:solidFill>
                  <a:srgbClr val="005E7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4">
  <p:cSld name="SECTION_HEADER_1_1_1"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7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7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37"/>
          <p:cNvSpPr txBox="1"/>
          <p:nvPr>
            <p:ph type="title"/>
          </p:nvPr>
        </p:nvSpPr>
        <p:spPr>
          <a:xfrm>
            <a:off x="908825" y="1031342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37"/>
          <p:cNvSpPr txBox="1"/>
          <p:nvPr>
            <p:ph idx="1" type="subTitle"/>
          </p:nvPr>
        </p:nvSpPr>
        <p:spPr>
          <a:xfrm>
            <a:off x="909378" y="2693292"/>
            <a:ext cx="4274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C1CE"/>
              </a:buClr>
              <a:buSzPts val="1400"/>
              <a:buNone/>
              <a:defRPr sz="1400">
                <a:solidFill>
                  <a:srgbClr val="19C1C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5">
  <p:cSld name="SECTION_HEADER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8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8"/>
          <p:cNvSpPr txBox="1"/>
          <p:nvPr>
            <p:ph type="title"/>
          </p:nvPr>
        </p:nvSpPr>
        <p:spPr>
          <a:xfrm>
            <a:off x="908825" y="1031342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38"/>
          <p:cNvSpPr txBox="1"/>
          <p:nvPr>
            <p:ph idx="1" type="subTitle"/>
          </p:nvPr>
        </p:nvSpPr>
        <p:spPr>
          <a:xfrm>
            <a:off x="909378" y="2693292"/>
            <a:ext cx="4274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6">
  <p:cSld name="SECTION_HEADER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9"/>
          <p:cNvPicPr preferRelativeResize="0"/>
          <p:nvPr/>
        </p:nvPicPr>
        <p:blipFill rotWithShape="1">
          <a:blip r:embed="rId3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9"/>
          <p:cNvSpPr txBox="1"/>
          <p:nvPr>
            <p:ph type="title"/>
          </p:nvPr>
        </p:nvSpPr>
        <p:spPr>
          <a:xfrm>
            <a:off x="908825" y="1031342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39"/>
          <p:cNvSpPr txBox="1"/>
          <p:nvPr>
            <p:ph idx="1" type="subTitle"/>
          </p:nvPr>
        </p:nvSpPr>
        <p:spPr>
          <a:xfrm>
            <a:off x="909378" y="2693292"/>
            <a:ext cx="4274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SECTION_HEADER_1_1_1_1"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0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0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8" name="Google Shape;1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824" y="352427"/>
            <a:ext cx="1335150" cy="11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0"/>
          <p:cNvSpPr txBox="1"/>
          <p:nvPr>
            <p:ph type="title"/>
          </p:nvPr>
        </p:nvSpPr>
        <p:spPr>
          <a:xfrm>
            <a:off x="604025" y="958259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020"/>
              </a:buClr>
              <a:buSzPts val="3200"/>
              <a:buNone/>
              <a:defRPr sz="3200">
                <a:solidFill>
                  <a:srgbClr val="18202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" name="Google Shape;110;p40"/>
          <p:cNvSpPr txBox="1"/>
          <p:nvPr>
            <p:ph idx="1" type="subTitle"/>
          </p:nvPr>
        </p:nvSpPr>
        <p:spPr>
          <a:xfrm>
            <a:off x="604025" y="2755929"/>
            <a:ext cx="3793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E72"/>
              </a:buClr>
              <a:buSzPts val="1000"/>
              <a:buFont typeface="Arial"/>
              <a:buNone/>
              <a:defRPr sz="1000">
                <a:solidFill>
                  <a:srgbClr val="005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40"/>
          <p:cNvSpPr txBox="1"/>
          <p:nvPr>
            <p:ph idx="2" type="subTitle"/>
          </p:nvPr>
        </p:nvSpPr>
        <p:spPr>
          <a:xfrm>
            <a:off x="604025" y="2850896"/>
            <a:ext cx="3793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SECTION_HEADER_1_1_1_1_1"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1"/>
          <p:cNvPicPr preferRelativeResize="0"/>
          <p:nvPr/>
        </p:nvPicPr>
        <p:blipFill rotWithShape="1">
          <a:blip r:embed="rId2">
            <a:alphaModFix/>
          </a:blip>
          <a:srcRect b="0" l="9" r="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1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5" name="Google Shape;11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824" y="1805455"/>
            <a:ext cx="1335150" cy="110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1"/>
          <p:cNvSpPr txBox="1"/>
          <p:nvPr>
            <p:ph type="title"/>
          </p:nvPr>
        </p:nvSpPr>
        <p:spPr>
          <a:xfrm>
            <a:off x="604025" y="2411275"/>
            <a:ext cx="44715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020"/>
              </a:buClr>
              <a:buSzPts val="3200"/>
              <a:buNone/>
              <a:defRPr sz="3200">
                <a:solidFill>
                  <a:srgbClr val="18202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7" name="Google Shape;117;p41"/>
          <p:cNvSpPr txBox="1"/>
          <p:nvPr>
            <p:ph idx="1" type="subTitle"/>
          </p:nvPr>
        </p:nvSpPr>
        <p:spPr>
          <a:xfrm>
            <a:off x="604025" y="3912501"/>
            <a:ext cx="3793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E72"/>
              </a:buClr>
              <a:buSzPts val="1000"/>
              <a:buFont typeface="Arial"/>
              <a:buNone/>
              <a:defRPr sz="1000">
                <a:solidFill>
                  <a:srgbClr val="005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8" name="Google Shape;118;p41"/>
          <p:cNvSpPr txBox="1"/>
          <p:nvPr>
            <p:ph idx="2" type="subTitle"/>
          </p:nvPr>
        </p:nvSpPr>
        <p:spPr>
          <a:xfrm>
            <a:off x="604025" y="4007467"/>
            <a:ext cx="3793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sem fundo" type="tx">
  <p:cSld name="TITLE_AND_BODY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 txBox="1"/>
          <p:nvPr>
            <p:ph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42"/>
          <p:cNvSpPr txBox="1"/>
          <p:nvPr>
            <p:ph idx="1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" name="Google Shape;122;p42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" name="Google Shape;123;p42"/>
          <p:cNvSpPr txBox="1"/>
          <p:nvPr>
            <p:ph idx="2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3333"/>
              </a:buClr>
              <a:buSzPts val="1200"/>
              <a:buFont typeface="Arial"/>
              <a:buNone/>
              <a:defRPr sz="1200">
                <a:solidFill>
                  <a:srgbClr val="2E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fundo 1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3"/>
          <p:cNvSpPr txBox="1"/>
          <p:nvPr>
            <p:ph idx="1" type="body"/>
          </p:nvPr>
        </p:nvSpPr>
        <p:spPr>
          <a:xfrm>
            <a:off x="417600" y="2448873"/>
            <a:ext cx="8000100" cy="26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" name="Google Shape;127;p43"/>
          <p:cNvSpPr txBox="1"/>
          <p:nvPr>
            <p:ph type="title"/>
          </p:nvPr>
        </p:nvSpPr>
        <p:spPr>
          <a:xfrm>
            <a:off x="417600" y="1245823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3333"/>
              </a:buClr>
              <a:buSzPts val="1200"/>
              <a:buFont typeface="Arial"/>
              <a:buNone/>
              <a:defRPr>
                <a:solidFill>
                  <a:srgbClr val="2E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43"/>
          <p:cNvSpPr txBox="1"/>
          <p:nvPr>
            <p:ph idx="2" type="title"/>
          </p:nvPr>
        </p:nvSpPr>
        <p:spPr>
          <a:xfrm>
            <a:off x="417600" y="1380375"/>
            <a:ext cx="4201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fundo 2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4"/>
          <p:cNvSpPr txBox="1"/>
          <p:nvPr>
            <p:ph idx="1" type="body"/>
          </p:nvPr>
        </p:nvSpPr>
        <p:spPr>
          <a:xfrm>
            <a:off x="417600" y="1198326"/>
            <a:ext cx="8000100" cy="26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44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44"/>
          <p:cNvSpPr txBox="1"/>
          <p:nvPr>
            <p:ph type="title"/>
          </p:nvPr>
        </p:nvSpPr>
        <p:spPr>
          <a:xfrm>
            <a:off x="417600" y="449895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3333"/>
              </a:buClr>
              <a:buSzPts val="1200"/>
              <a:buFont typeface="Arial"/>
              <a:buNone/>
              <a:defRPr>
                <a:solidFill>
                  <a:srgbClr val="2E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44"/>
          <p:cNvSpPr txBox="1"/>
          <p:nvPr>
            <p:ph idx="2" type="title"/>
          </p:nvPr>
        </p:nvSpPr>
        <p:spPr>
          <a:xfrm>
            <a:off x="417600" y="570105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fundo 3">
  <p:cSld name="TITLE_AND_BODY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5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6" name="Google Shape;13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6775" y="-31463"/>
            <a:ext cx="9257550" cy="520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5"/>
          <p:cNvSpPr txBox="1"/>
          <p:nvPr>
            <p:ph idx="1" type="body"/>
          </p:nvPr>
        </p:nvSpPr>
        <p:spPr>
          <a:xfrm>
            <a:off x="417600" y="1600684"/>
            <a:ext cx="49197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" name="Google Shape;138;p45"/>
          <p:cNvSpPr txBox="1"/>
          <p:nvPr>
            <p:ph type="title"/>
          </p:nvPr>
        </p:nvSpPr>
        <p:spPr>
          <a:xfrm>
            <a:off x="417600" y="449895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3333"/>
              </a:buClr>
              <a:buSzPts val="1200"/>
              <a:buFont typeface="Arial"/>
              <a:buNone/>
              <a:defRPr>
                <a:solidFill>
                  <a:srgbClr val="2E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45"/>
          <p:cNvSpPr txBox="1"/>
          <p:nvPr>
            <p:ph idx="2" type="title"/>
          </p:nvPr>
        </p:nvSpPr>
        <p:spPr>
          <a:xfrm>
            <a:off x="417600" y="630346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" name="Google Shape;1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4196" y="4870350"/>
            <a:ext cx="954501" cy="29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fundo 4">
  <p:cSld name="TITLE_AND_BODY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6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3" name="Google Shape;14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6775" y="-31463"/>
            <a:ext cx="9257550" cy="520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6"/>
          <p:cNvSpPr txBox="1"/>
          <p:nvPr>
            <p:ph type="title"/>
          </p:nvPr>
        </p:nvSpPr>
        <p:spPr>
          <a:xfrm>
            <a:off x="417600" y="571770"/>
            <a:ext cx="5150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46"/>
          <p:cNvSpPr txBox="1"/>
          <p:nvPr>
            <p:ph idx="1" type="body"/>
          </p:nvPr>
        </p:nvSpPr>
        <p:spPr>
          <a:xfrm>
            <a:off x="417600" y="1600684"/>
            <a:ext cx="49197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6" name="Google Shape;146;p46"/>
          <p:cNvSpPr txBox="1"/>
          <p:nvPr>
            <p:ph idx="2" type="title"/>
          </p:nvPr>
        </p:nvSpPr>
        <p:spPr>
          <a:xfrm>
            <a:off x="417600" y="449895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3333"/>
              </a:buClr>
              <a:buSzPts val="1200"/>
              <a:buFont typeface="Arial"/>
              <a:buNone/>
              <a:defRPr sz="1200">
                <a:solidFill>
                  <a:srgbClr val="2E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7" name="Google Shape;1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4199" y="4879252"/>
            <a:ext cx="954501" cy="295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7"/>
          <p:cNvSpPr txBox="1"/>
          <p:nvPr>
            <p:ph type="title"/>
          </p:nvPr>
        </p:nvSpPr>
        <p:spPr>
          <a:xfrm>
            <a:off x="417600" y="489598"/>
            <a:ext cx="680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47"/>
          <p:cNvSpPr txBox="1"/>
          <p:nvPr>
            <p:ph idx="1" type="body"/>
          </p:nvPr>
        </p:nvSpPr>
        <p:spPr>
          <a:xfrm>
            <a:off x="417600" y="1658794"/>
            <a:ext cx="3195300" cy="25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1" name="Google Shape;151;p47"/>
          <p:cNvSpPr txBox="1"/>
          <p:nvPr>
            <p:ph idx="2" type="body"/>
          </p:nvPr>
        </p:nvSpPr>
        <p:spPr>
          <a:xfrm>
            <a:off x="3970862" y="1658794"/>
            <a:ext cx="3195300" cy="25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2" name="Google Shape;152;p47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3" name="Google Shape;153;p47"/>
          <p:cNvSpPr txBox="1"/>
          <p:nvPr>
            <p:ph idx="3" type="title"/>
          </p:nvPr>
        </p:nvSpPr>
        <p:spPr>
          <a:xfrm>
            <a:off x="417600" y="103371"/>
            <a:ext cx="680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7"/>
          <p:cNvSpPr txBox="1"/>
          <p:nvPr>
            <p:ph idx="4" type="subTitle"/>
          </p:nvPr>
        </p:nvSpPr>
        <p:spPr>
          <a:xfrm>
            <a:off x="417600" y="1013164"/>
            <a:ext cx="55575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96"/>
              </a:buClr>
              <a:buSzPts val="1200"/>
              <a:buFont typeface="Arial"/>
              <a:buNone/>
              <a:defRPr>
                <a:solidFill>
                  <a:srgbClr val="00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"/>
          <p:cNvSpPr txBox="1"/>
          <p:nvPr>
            <p:ph type="title"/>
          </p:nvPr>
        </p:nvSpPr>
        <p:spPr>
          <a:xfrm>
            <a:off x="417600" y="253657"/>
            <a:ext cx="68061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9"/>
          <p:cNvSpPr txBox="1"/>
          <p:nvPr>
            <p:ph type="title"/>
          </p:nvPr>
        </p:nvSpPr>
        <p:spPr>
          <a:xfrm>
            <a:off x="883800" y="915014"/>
            <a:ext cx="63678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9" name="Google Shape;159;p49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0"/>
          <p:cNvSpPr txBox="1"/>
          <p:nvPr>
            <p:ph type="title"/>
          </p:nvPr>
        </p:nvSpPr>
        <p:spPr>
          <a:xfrm>
            <a:off x="427807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2" name="Google Shape;162;p50"/>
          <p:cNvSpPr txBox="1"/>
          <p:nvPr>
            <p:ph idx="1" type="subTitle"/>
          </p:nvPr>
        </p:nvSpPr>
        <p:spPr>
          <a:xfrm>
            <a:off x="427807" y="2748790"/>
            <a:ext cx="3892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96"/>
              </a:buClr>
              <a:buSzPts val="1200"/>
              <a:buNone/>
              <a:defRPr>
                <a:solidFill>
                  <a:srgbClr val="00809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3" name="Google Shape;163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50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1"/>
          <p:cNvSpPr txBox="1"/>
          <p:nvPr>
            <p:ph idx="1" type="body"/>
          </p:nvPr>
        </p:nvSpPr>
        <p:spPr>
          <a:xfrm>
            <a:off x="894550" y="4264503"/>
            <a:ext cx="5998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5959"/>
              </a:buClr>
              <a:buSzPts val="900"/>
              <a:buNone/>
              <a:defRPr sz="900">
                <a:solidFill>
                  <a:srgbClr val="4E5959"/>
                </a:solidFill>
              </a:defRPr>
            </a:lvl1pPr>
          </a:lstStyle>
          <a:p/>
        </p:txBody>
      </p:sp>
      <p:sp>
        <p:nvSpPr>
          <p:cNvPr id="167" name="Google Shape;167;p51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2"/>
          <p:cNvSpPr txBox="1"/>
          <p:nvPr>
            <p:ph hasCustomPrompt="1" type="title"/>
          </p:nvPr>
        </p:nvSpPr>
        <p:spPr>
          <a:xfrm>
            <a:off x="1822325" y="1106125"/>
            <a:ext cx="54993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0" name="Google Shape;170;p52"/>
          <p:cNvSpPr txBox="1"/>
          <p:nvPr>
            <p:ph idx="1" type="body"/>
          </p:nvPr>
        </p:nvSpPr>
        <p:spPr>
          <a:xfrm>
            <a:off x="1822375" y="2914728"/>
            <a:ext cx="54993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1" name="Google Shape;171;p52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o branco com rodapé" type="blank">
  <p:cSld name="BLANK"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3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o color-primary-shade-6 com rodapé 1">
  <p:cSld name="BLANK_2">
    <p:bg>
      <p:bgPr>
        <a:solidFill>
          <a:srgbClr val="DD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4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o preto com rodapé 1">
  <p:cSld name="BLANK_1"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5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talmente color-primary-shade-6">
  <p:cSld name="CUSTOM_2">
    <p:bg>
      <p:bgPr>
        <a:solidFill>
          <a:srgbClr val="DD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6"/>
          <p:cNvSpPr/>
          <p:nvPr/>
        </p:nvSpPr>
        <p:spPr>
          <a:xfrm>
            <a:off x="-23950" y="-31925"/>
            <a:ext cx="9192000" cy="5223300"/>
          </a:xfrm>
          <a:prstGeom prst="rect">
            <a:avLst/>
          </a:prstGeom>
          <a:solidFill>
            <a:srgbClr val="DD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talmente preto">
  <p:cSld name="CUSTOM_1"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7"/>
          <p:cNvSpPr/>
          <p:nvPr/>
        </p:nvSpPr>
        <p:spPr>
          <a:xfrm>
            <a:off x="-23950" y="-31925"/>
            <a:ext cx="9192000" cy="522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e5fc4ff06a_0_2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g1e5fc4ff06a_0_28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g1e5fc4ff06a_0_2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g1e5fc4ff06a_0_2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g1e5fc4ff06a_0_2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e5fc4ff06a_0_29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g1e5fc4ff06a_0_29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7" name="Google Shape;197;g1e5fc4ff06a_0_29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g1e5fc4ff06a_0_29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g1e5fc4ff06a_0_29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e5fc4ff06a_0_30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g1e5fc4ff06a_0_30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3" name="Google Shape;203;g1e5fc4ff06a_0_30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g1e5fc4ff06a_0_30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g1e5fc4ff06a_0_30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e5fc4ff06a_0_30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g1e5fc4ff06a_0_30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g1e5fc4ff06a_0_30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g1e5fc4ff06a_0_30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1" name="Google Shape;211;g1e5fc4ff06a_0_30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g1e5fc4ff06a_0_30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e5fc4ff06a_0_314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g1e5fc4ff06a_0_314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16" name="Google Shape;216;g1e5fc4ff06a_0_314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7" name="Google Shape;217;g1e5fc4ff06a_0_31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18" name="Google Shape;218;g1e5fc4ff06a_0_314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9" name="Google Shape;219;g1e5fc4ff06a_0_3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g1e5fc4ff06a_0_3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g1e5fc4ff06a_0_3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e5fc4ff06a_0_3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g1e5fc4ff06a_0_3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g1e5fc4ff06a_0_3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g1e5fc4ff06a_0_3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e5fc4ff06a_0_3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g1e5fc4ff06a_0_3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g1e5fc4ff06a_0_3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e5fc4ff06a_0_33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g1e5fc4ff06a_0_33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34" name="Google Shape;234;g1e5fc4ff06a_0_33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35" name="Google Shape;235;g1e5fc4ff06a_0_3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6" name="Google Shape;236;g1e5fc4ff06a_0_3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7" name="Google Shape;237;g1e5fc4ff06a_0_3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e5fc4ff06a_0_33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g1e5fc4ff06a_0_339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g1e5fc4ff06a_0_339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42" name="Google Shape;242;g1e5fc4ff06a_0_3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g1e5fc4ff06a_0_3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g1e5fc4ff06a_0_3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5fc4ff06a_0_3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g1e5fc4ff06a_0_34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g1e5fc4ff06a_0_3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9" name="Google Shape;249;g1e5fc4ff06a_0_3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g1e5fc4ff06a_0_3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e5fc4ff06a_0_35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g1e5fc4ff06a_0_35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4" name="Google Shape;254;g1e5fc4ff06a_0_35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5" name="Google Shape;255;g1e5fc4ff06a_0_35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6" name="Google Shape;256;g1e5fc4ff06a_0_3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3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39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472450" y="4946723"/>
            <a:ext cx="548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8" name="Google Shape;58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884975"/>
            <a:ext cx="9144000" cy="2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0"/>
          <p:cNvSpPr txBox="1"/>
          <p:nvPr>
            <p:ph type="title"/>
          </p:nvPr>
        </p:nvSpPr>
        <p:spPr>
          <a:xfrm>
            <a:off x="341400" y="356999"/>
            <a:ext cx="68061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8096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41400" y="1214550"/>
            <a:ext cx="6921300" cy="3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02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○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■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○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■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82020"/>
              </a:buClr>
              <a:buSzPts val="1000"/>
              <a:buFont typeface="Arial"/>
              <a:buChar char="○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82020"/>
              </a:buClr>
              <a:buSzPts val="1000"/>
              <a:buFont typeface="Arial"/>
              <a:buChar char="■"/>
              <a:defRPr b="0" i="0" sz="1000" u="none" cap="none" strike="noStrike">
                <a:solidFill>
                  <a:srgbClr val="18202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30"/>
          <p:cNvSpPr txBox="1"/>
          <p:nvPr>
            <p:ph idx="2" type="title"/>
          </p:nvPr>
        </p:nvSpPr>
        <p:spPr>
          <a:xfrm>
            <a:off x="341400" y="357008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333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2" name="Google Shape;6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4196" y="4870350"/>
            <a:ext cx="954501" cy="2959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e5fc4ff06a_0_28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g1e5fc4ff06a_0_28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g1e5fc4ff06a_0_28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g1e5fc4ff06a_0_28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g1e5fc4ff06a_0_2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rdstation.com/parceiros/agencias-parceiras/?utm_source=paid&amp;utm_campaign=material-playbook-vendas&amp;utm_id=apresentacao" TargetMode="External"/><Relationship Id="rId4" Type="http://schemas.openxmlformats.org/officeDocument/2006/relationships/hyperlink" Target="https://university.rdstation.com/course/boost-formacao-completa-para-agencias?utm_source=paid&amp;utm_campaign=material-playbook-vendas&amp;utm_id=apresentaca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6E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"/>
          <p:cNvSpPr txBox="1"/>
          <p:nvPr/>
        </p:nvSpPr>
        <p:spPr>
          <a:xfrm>
            <a:off x="908825" y="636200"/>
            <a:ext cx="64230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[</a:t>
            </a:r>
            <a:r>
              <a:rPr i="0" lang="pt-BR" sz="33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Template] Playbook de Vendas </a:t>
            </a:r>
            <a:r>
              <a:rPr i="0" lang="pt-BR" sz="33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para </a:t>
            </a:r>
            <a:r>
              <a:rPr i="0" lang="pt-BR" sz="33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Ag</a:t>
            </a:r>
            <a:r>
              <a:rPr lang="pt-BR" sz="3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ências de Marketing e Vendas</a:t>
            </a:r>
            <a:endParaRPr i="0" sz="33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1"/>
          <p:cNvSpPr txBox="1"/>
          <p:nvPr/>
        </p:nvSpPr>
        <p:spPr>
          <a:xfrm>
            <a:off x="909375" y="2298150"/>
            <a:ext cx="44403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372A85"/>
                </a:solidFill>
                <a:latin typeface="Arial"/>
                <a:ea typeface="Arial"/>
                <a:cs typeface="Arial"/>
                <a:sym typeface="Arial"/>
              </a:rPr>
              <a:t>Utilize esse arquivo base para montar um Playbook completo para a sua operação. Boas vendas!</a:t>
            </a:r>
            <a:endParaRPr b="0" i="0" sz="1400" u="none" cap="none" strike="noStrike">
              <a:solidFill>
                <a:srgbClr val="372A8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372A85"/>
                </a:solidFill>
                <a:latin typeface="Arial"/>
                <a:ea typeface="Arial"/>
                <a:cs typeface="Arial"/>
                <a:sym typeface="Arial"/>
              </a:rPr>
              <a:t>Para editá-lo, faça </a:t>
            </a:r>
            <a:r>
              <a:rPr b="1" lang="pt-BR">
                <a:solidFill>
                  <a:srgbClr val="372A85"/>
                </a:solidFill>
              </a:rPr>
              <a:t>uma cópia</a:t>
            </a:r>
            <a:r>
              <a:rPr b="1" i="0" lang="pt-BR" sz="1400" u="none" cap="none" strike="noStrike">
                <a:solidFill>
                  <a:srgbClr val="372A85"/>
                </a:solidFill>
                <a:latin typeface="Arial"/>
                <a:ea typeface="Arial"/>
                <a:cs typeface="Arial"/>
                <a:sym typeface="Arial"/>
              </a:rPr>
              <a:t>! </a:t>
            </a:r>
            <a:endParaRPr b="1" i="0" sz="1400" u="none" cap="none" strike="noStrike">
              <a:solidFill>
                <a:srgbClr val="372A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"/>
          <p:cNvSpPr/>
          <p:nvPr/>
        </p:nvSpPr>
        <p:spPr>
          <a:xfrm>
            <a:off x="0" y="3967225"/>
            <a:ext cx="2440200" cy="11763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"/>
          <p:cNvSpPr/>
          <p:nvPr/>
        </p:nvSpPr>
        <p:spPr>
          <a:xfrm>
            <a:off x="0" y="4456725"/>
            <a:ext cx="1386600" cy="6870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"/>
          <p:cNvSpPr/>
          <p:nvPr/>
        </p:nvSpPr>
        <p:spPr>
          <a:xfrm flipH="1">
            <a:off x="1826400" y="2212725"/>
            <a:ext cx="7317600" cy="29307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/>
          <p:nvPr/>
        </p:nvSpPr>
        <p:spPr>
          <a:xfrm flipH="1">
            <a:off x="2973600" y="2652125"/>
            <a:ext cx="6170400" cy="24915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372" y="3469038"/>
            <a:ext cx="1901724" cy="4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5fc4ff06a_0_0"/>
          <p:cNvSpPr txBox="1"/>
          <p:nvPr/>
        </p:nvSpPr>
        <p:spPr>
          <a:xfrm>
            <a:off x="813216" y="254596"/>
            <a:ext cx="75552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CONSTRUINDO ESSE PLAYBOOK</a:t>
            </a:r>
            <a:endParaRPr sz="3300"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4" name="Google Shape;274;g1e5fc4ff06a_0_0"/>
          <p:cNvSpPr txBox="1"/>
          <p:nvPr/>
        </p:nvSpPr>
        <p:spPr>
          <a:xfrm>
            <a:off x="813200" y="1111400"/>
            <a:ext cx="77601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Es</a:t>
            </a:r>
            <a:r>
              <a:rPr lang="pt-BR" sz="1000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t</a:t>
            </a: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e playbook</a:t>
            </a:r>
            <a:r>
              <a:rPr lang="pt-BR" sz="1000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 deve ser um guia completo para sua operação de vendas. Ele contém a descrição das tarefas e estratégias que precisam ser realizadas em cada etapa, para que o objetivo da sua agência seja alcançado. Além disso, é um documento “vivo”, que deve ser continuamente atualizado e aprimorado. </a:t>
            </a:r>
            <a:endParaRPr sz="1000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1000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É importante que você não pule nenhuma etapa, pois isso vai diminuir a eficiência da sua área comercial e a curva de aprendizagem de novos colaboradores. </a:t>
            </a:r>
            <a:endParaRPr sz="1000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1000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Dica: </a:t>
            </a:r>
            <a:r>
              <a:rPr lang="pt-BR" sz="1000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você pode criar </a:t>
            </a: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vídeos explicando cada etapa com diretores e colaboradores mais experientes </a:t>
            </a:r>
            <a:r>
              <a:rPr lang="pt-BR" sz="1000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para deixar seu processo melhor registrado e potencializar o onboarding de futuros colaboradores do time de vendas. </a:t>
            </a:r>
            <a:endParaRPr sz="1000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</a:rPr>
              <a:t>Conheça as etapas importantes desse playbook: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12B51"/>
              </a:buClr>
              <a:buSzPts val="1000"/>
              <a:buFont typeface="Nunito Sans"/>
              <a:buChar char="●"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Conhecendo a empresa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1000"/>
              <a:buFont typeface="Nunito Sans"/>
              <a:buChar char="●"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Conhecendo o mercado e concorrentes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  <a:extLst>
                <a:ext uri="http://customooxmlschemas.google.com/">
                  <go:slidesCustomData xmlns:go="http://customooxmlschemas.google.com/" textRoundtripDataId="4"/>
                </a:ext>
              </a:extLst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1000"/>
              <a:buFont typeface="Nunito Sans"/>
              <a:buChar char="●"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Conhecendo nosso cliente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  <a:extLst>
                <a:ext uri="http://customooxmlschemas.google.com/">
                  <go:slidesCustomData xmlns:go="http://customooxmlschemas.google.com/" textRoundtripDataId="6"/>
                </a:ext>
              </a:extLst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1000"/>
              <a:buFont typeface="Nunito Sans"/>
              <a:buChar char="●"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Nosso processo de vendas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  <a:extLst>
                <a:ext uri="http://customooxmlschemas.google.com/">
                  <go:slidesCustomData xmlns:go="http://customooxmlschemas.google.com/" textRoundtripDataId="8"/>
                </a:ext>
              </a:extLst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1000"/>
              <a:buFont typeface="Nunito Sans"/>
              <a:buChar char="●"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Direitos e Deveres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  <a:extLst>
                <a:ext uri="http://customooxmlschemas.google.com/">
                  <go:slidesCustomData xmlns:go="http://customooxmlschemas.google.com/" textRoundtripDataId="10"/>
                </a:ext>
              </a:extLst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1000"/>
              <a:buFont typeface="Nunito Sans"/>
              <a:buChar char="●"/>
            </a:pPr>
            <a:r>
              <a:rPr i="0" lang="pt-BR" sz="1000" u="none" cap="none" strike="noStrike">
                <a:solidFill>
                  <a:srgbClr val="212B51"/>
                </a:solidFill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O que esperamos de você</a:t>
            </a:r>
            <a:endParaRPr i="0" sz="1000" u="none" cap="none" strike="noStrike">
              <a:solidFill>
                <a:srgbClr val="212B5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"/>
          <p:cNvPicPr preferRelativeResize="0"/>
          <p:nvPr/>
        </p:nvPicPr>
        <p:blipFill rotWithShape="1">
          <a:blip r:embed="rId3">
            <a:alphaModFix amt="54000"/>
          </a:blip>
          <a:srcRect b="14726" l="19" r="19" t="0"/>
          <a:stretch/>
        </p:blipFill>
        <p:spPr>
          <a:xfrm>
            <a:off x="-75400" y="-70487"/>
            <a:ext cx="9294776" cy="52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"/>
          <p:cNvSpPr/>
          <p:nvPr/>
        </p:nvSpPr>
        <p:spPr>
          <a:xfrm>
            <a:off x="-75325" y="-85050"/>
            <a:ext cx="9294900" cy="5313600"/>
          </a:xfrm>
          <a:prstGeom prst="rect">
            <a:avLst/>
          </a:prstGeom>
          <a:solidFill>
            <a:srgbClr val="806E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 txBox="1"/>
          <p:nvPr>
            <p:ph idx="4294967295" type="title"/>
          </p:nvPr>
        </p:nvSpPr>
        <p:spPr>
          <a:xfrm>
            <a:off x="1340225" y="1047700"/>
            <a:ext cx="6463800" cy="217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3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”O sucesso não tem a ver com quanto dinheiro você ganha, mas com a diferença que você faz na vida de outras pessoas.“ — Michelle Obama</a:t>
            </a:r>
            <a:endParaRPr sz="3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6E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"/>
          <p:cNvSpPr txBox="1"/>
          <p:nvPr/>
        </p:nvSpPr>
        <p:spPr>
          <a:xfrm>
            <a:off x="908825" y="1031350"/>
            <a:ext cx="5964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unito Sans"/>
              <a:buAutoNum type="arabicPeriod"/>
            </a:pPr>
            <a:r>
              <a:rPr b="1" lang="pt-BR" sz="3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SOBRE A AGÊNCIA X</a:t>
            </a:r>
            <a:endParaRPr b="1" i="0" sz="36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7" name="Google Shape;287;p3"/>
          <p:cNvSpPr/>
          <p:nvPr/>
        </p:nvSpPr>
        <p:spPr>
          <a:xfrm flipH="1">
            <a:off x="2608200" y="2644800"/>
            <a:ext cx="6535800" cy="24987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8" name="Google Shape;288;p3"/>
          <p:cNvSpPr txBox="1"/>
          <p:nvPr/>
        </p:nvSpPr>
        <p:spPr>
          <a:xfrm>
            <a:off x="908825" y="1893550"/>
            <a:ext cx="48663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pt-BR" sz="1800" u="none" cap="none" strike="noStrike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Neste primeiro capítulo é importante registrar todos os detalhes sobre a sua empresa.</a:t>
            </a:r>
            <a:endParaRPr i="0" sz="1800" u="none" cap="none" strike="noStrike">
              <a:solidFill>
                <a:srgbClr val="18202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9" name="Google Shape;289;p3"/>
          <p:cNvSpPr/>
          <p:nvPr/>
        </p:nvSpPr>
        <p:spPr>
          <a:xfrm flipH="1">
            <a:off x="3558000" y="3090475"/>
            <a:ext cx="5586000" cy="2053200"/>
          </a:xfrm>
          <a:prstGeom prst="rtTriangle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"/>
          <p:cNvSpPr txBox="1"/>
          <p:nvPr>
            <p:ph idx="4294967295" type="title"/>
          </p:nvPr>
        </p:nvSpPr>
        <p:spPr>
          <a:xfrm>
            <a:off x="341400" y="10943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Histórico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5" name="Google Shape;295;p4"/>
          <p:cNvSpPr txBox="1"/>
          <p:nvPr>
            <p:ph idx="4294967295" type="body"/>
          </p:nvPr>
        </p:nvSpPr>
        <p:spPr>
          <a:xfrm>
            <a:off x="341400" y="16733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Tente resumir em 2 ou 3 parágrafos o histórico da empresa. Pontos que podem ser abordados: 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Como a empresa surgiu;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Fundadores;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Mercado de atuação;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Áreas da empresa e lideranças;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Números importantes, etc.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Não se esqueça de escrever a história de uma maneira atraente, pensando que as pessoas que vão ler precisam se apaixonar por essa história para passar a mesma emoção para os clientes potenciais.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6" name="Google Shape;296;p4"/>
          <p:cNvSpPr txBox="1"/>
          <p:nvPr>
            <p:ph idx="4294967295" type="title"/>
          </p:nvPr>
        </p:nvSpPr>
        <p:spPr>
          <a:xfrm>
            <a:off x="341400" y="358575"/>
            <a:ext cx="5358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1. SOBRE A AGÊNCIA X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Google Shape;301;g1e5fc4ff06a_0_266"/>
          <p:cNvCxnSpPr>
            <a:stCxn id="302" idx="4"/>
            <a:endCxn id="303" idx="0"/>
          </p:cNvCxnSpPr>
          <p:nvPr/>
        </p:nvCxnSpPr>
        <p:spPr>
          <a:xfrm>
            <a:off x="4298673" y="1241789"/>
            <a:ext cx="0" cy="2693100"/>
          </a:xfrm>
          <a:prstGeom prst="straightConnector1">
            <a:avLst/>
          </a:prstGeom>
          <a:noFill/>
          <a:ln cap="flat" cmpd="sng" w="12700">
            <a:solidFill>
              <a:srgbClr val="806E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g1e5fc4ff06a_0_266"/>
          <p:cNvSpPr txBox="1"/>
          <p:nvPr>
            <p:ph idx="1" type="body"/>
          </p:nvPr>
        </p:nvSpPr>
        <p:spPr>
          <a:xfrm>
            <a:off x="4645838" y="688910"/>
            <a:ext cx="3163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900"/>
              <a:buNone/>
            </a:pPr>
            <a:r>
              <a:rPr lang="pt-BR" sz="900">
                <a:solidFill>
                  <a:srgbClr val="212B51"/>
                </a:solidFill>
                <a:latin typeface="Manrope"/>
                <a:ea typeface="Manrope"/>
                <a:cs typeface="Manrope"/>
                <a:sym typeface="Manrope"/>
              </a:rPr>
              <a:t>Iniciou a empresa</a:t>
            </a:r>
            <a:endParaRPr/>
          </a:p>
        </p:txBody>
      </p:sp>
      <p:sp>
        <p:nvSpPr>
          <p:cNvPr id="302" name="Google Shape;302;g1e5fc4ff06a_0_266"/>
          <p:cNvSpPr/>
          <p:nvPr/>
        </p:nvSpPr>
        <p:spPr>
          <a:xfrm>
            <a:off x="4031673" y="707789"/>
            <a:ext cx="534000" cy="53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806E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7000" lIns="27000" spcFirstLastPara="1" rIns="27000" wrap="square" tIns="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806EFF"/>
                </a:solidFill>
                <a:latin typeface="Manrope"/>
                <a:ea typeface="Manrope"/>
                <a:cs typeface="Manrope"/>
                <a:sym typeface="Manrope"/>
              </a:rPr>
              <a:t>2001</a:t>
            </a:r>
            <a:endParaRPr b="0" i="0" sz="1100" u="none" cap="none" strike="noStrike">
              <a:solidFill>
                <a:srgbClr val="806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1e5fc4ff06a_0_266"/>
          <p:cNvSpPr/>
          <p:nvPr/>
        </p:nvSpPr>
        <p:spPr>
          <a:xfrm>
            <a:off x="4031673" y="1501343"/>
            <a:ext cx="534000" cy="53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806E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7000" lIns="27000" spcFirstLastPara="1" rIns="27000" wrap="square" tIns="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806EFF"/>
                </a:solidFill>
                <a:latin typeface="Manrope"/>
                <a:ea typeface="Manrope"/>
                <a:cs typeface="Manrope"/>
                <a:sym typeface="Manrope"/>
              </a:rPr>
              <a:t>2014</a:t>
            </a:r>
            <a:endParaRPr b="0" i="0" sz="1100" u="none" cap="none" strike="noStrike">
              <a:solidFill>
                <a:srgbClr val="806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1e5fc4ff06a_0_266"/>
          <p:cNvSpPr/>
          <p:nvPr/>
        </p:nvSpPr>
        <p:spPr>
          <a:xfrm>
            <a:off x="4031673" y="2312483"/>
            <a:ext cx="534000" cy="53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806E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7000" lIns="27000" spcFirstLastPara="1" rIns="27000" wrap="square" tIns="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806EFF"/>
                </a:solidFill>
                <a:latin typeface="Manrope"/>
                <a:ea typeface="Manrope"/>
                <a:cs typeface="Manrope"/>
                <a:sym typeface="Manrope"/>
              </a:rPr>
              <a:t>2018</a:t>
            </a:r>
            <a:endParaRPr b="0" i="0" sz="1100" u="none" cap="none" strike="noStrike">
              <a:solidFill>
                <a:srgbClr val="806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1e5fc4ff06a_0_266"/>
          <p:cNvSpPr/>
          <p:nvPr/>
        </p:nvSpPr>
        <p:spPr>
          <a:xfrm>
            <a:off x="4031673" y="3123624"/>
            <a:ext cx="534000" cy="53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806E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7000" lIns="27000" spcFirstLastPara="1" rIns="27000" wrap="square" tIns="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806EFF"/>
                </a:solidFill>
                <a:latin typeface="Manrope"/>
                <a:ea typeface="Manrope"/>
                <a:cs typeface="Manrope"/>
                <a:sym typeface="Manrope"/>
              </a:rPr>
              <a:t>2020</a:t>
            </a:r>
            <a:endParaRPr b="0" i="0" sz="1100" u="none" cap="none" strike="noStrike">
              <a:solidFill>
                <a:srgbClr val="806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1e5fc4ff06a_0_266"/>
          <p:cNvSpPr/>
          <p:nvPr/>
        </p:nvSpPr>
        <p:spPr>
          <a:xfrm>
            <a:off x="4031673" y="3934766"/>
            <a:ext cx="534000" cy="534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806E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27000" lIns="27000" spcFirstLastPara="1" rIns="27000" wrap="square" tIns="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806EFF"/>
                </a:solidFill>
                <a:latin typeface="Manrope"/>
                <a:ea typeface="Manrope"/>
                <a:cs typeface="Manrope"/>
                <a:sym typeface="Manrope"/>
              </a:rPr>
              <a:t>2021</a:t>
            </a:r>
            <a:endParaRPr b="0" i="0" sz="1100" u="none" cap="none" strike="noStrike">
              <a:solidFill>
                <a:srgbClr val="806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1e5fc4ff06a_0_266"/>
          <p:cNvSpPr txBox="1"/>
          <p:nvPr/>
        </p:nvSpPr>
        <p:spPr>
          <a:xfrm>
            <a:off x="4645838" y="1492474"/>
            <a:ext cx="3154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12B51"/>
                </a:solidFill>
                <a:latin typeface="Manrope"/>
                <a:ea typeface="Manrope"/>
                <a:cs typeface="Manrope"/>
                <a:sym typeface="Manrope"/>
              </a:rPr>
              <a:t>Construção da sede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1e5fc4ff06a_0_266"/>
          <p:cNvSpPr txBox="1"/>
          <p:nvPr/>
        </p:nvSpPr>
        <p:spPr>
          <a:xfrm>
            <a:off x="4645838" y="2309892"/>
            <a:ext cx="34071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12B51"/>
                </a:solidFill>
                <a:latin typeface="Manrope"/>
                <a:ea typeface="Manrope"/>
                <a:cs typeface="Manrope"/>
                <a:sym typeface="Manrope"/>
              </a:rPr>
              <a:t>Ganhou prêmio 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1e5fc4ff06a_0_266"/>
          <p:cNvSpPr txBox="1"/>
          <p:nvPr/>
        </p:nvSpPr>
        <p:spPr>
          <a:xfrm>
            <a:off x="4645838" y="3934766"/>
            <a:ext cx="39657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12B51"/>
                </a:solidFill>
                <a:latin typeface="Manrope"/>
                <a:ea typeface="Manrope"/>
                <a:cs typeface="Manrope"/>
                <a:sym typeface="Manrope"/>
              </a:rPr>
              <a:t>Adotamos o ISO 27.0001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1e5fc4ff06a_0_266"/>
          <p:cNvSpPr txBox="1"/>
          <p:nvPr/>
        </p:nvSpPr>
        <p:spPr>
          <a:xfrm>
            <a:off x="4645838" y="3127310"/>
            <a:ext cx="3163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B51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212B51"/>
                </a:solidFill>
                <a:latin typeface="Manrope"/>
                <a:ea typeface="Manrope"/>
                <a:cs typeface="Manrope"/>
                <a:sym typeface="Manrope"/>
              </a:rPr>
              <a:t>Chegamos a 100 colaboradores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1e5fc4ff06a_0_266"/>
          <p:cNvSpPr/>
          <p:nvPr/>
        </p:nvSpPr>
        <p:spPr>
          <a:xfrm>
            <a:off x="-1" y="0"/>
            <a:ext cx="3510000" cy="5143500"/>
          </a:xfrm>
          <a:prstGeom prst="rect">
            <a:avLst/>
          </a:prstGeom>
          <a:solidFill>
            <a:srgbClr val="806E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1e5fc4ff06a_0_266"/>
          <p:cNvSpPr txBox="1"/>
          <p:nvPr/>
        </p:nvSpPr>
        <p:spPr>
          <a:xfrm>
            <a:off x="539999" y="1241939"/>
            <a:ext cx="24300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nrope"/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Nossa</a:t>
            </a:r>
            <a:endParaRPr i="0" sz="11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nrope"/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História</a:t>
            </a:r>
            <a:br>
              <a:rPr b="1" i="0" lang="pt-BR" sz="24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br>
              <a:rPr b="1" i="0" lang="pt-BR" sz="24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i="0" lang="pt-BR" sz="12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Contar o resumo da história da empresa e marcar datas importantes que contextualizam. </a:t>
            </a:r>
            <a:endParaRPr b="1" i="0" sz="2400" u="none" cap="none" strike="noStrike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4" name="Google Shape;314;g1e5fc4ff06a_0_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9" y="428761"/>
            <a:ext cx="297424" cy="4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"/>
          <p:cNvSpPr txBox="1"/>
          <p:nvPr>
            <p:ph idx="4294967295" type="title"/>
          </p:nvPr>
        </p:nvSpPr>
        <p:spPr>
          <a:xfrm>
            <a:off x="341400" y="679480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Missão e Visão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0" name="Google Shape;320;p5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1. Sobre a Empresa X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1" name="Google Shape;321;p5"/>
          <p:cNvSpPr txBox="1"/>
          <p:nvPr>
            <p:ph idx="4294967295" type="body"/>
          </p:nvPr>
        </p:nvSpPr>
        <p:spPr>
          <a:xfrm>
            <a:off x="4839888" y="1261100"/>
            <a:ext cx="37488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/>
              <a:t>Visão: É a situação em que a empresa deseja chegar (em período definido de tempo).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rPr lang="pt-BR" sz="1000"/>
              <a:t>Definida a missão, é o momento de a empresa determinar uma visão de futuro para o seu negócio, ou seja, ter objetivos para atingir nos próximos anos. É fundamental que eles tenham indicadores e metas. Se a empresa quer ser a maior, a melhor e/ou a mais admirada de seu segmento, deveria definir indicadores e metas para saber se está alcançando seus objetivos. </a:t>
            </a:r>
            <a:endParaRPr sz="1000"/>
          </a:p>
        </p:txBody>
      </p:sp>
      <p:sp>
        <p:nvSpPr>
          <p:cNvPr id="322" name="Google Shape;322;p5"/>
          <p:cNvSpPr txBox="1"/>
          <p:nvPr>
            <p:ph idx="4294967295" type="body"/>
          </p:nvPr>
        </p:nvSpPr>
        <p:spPr>
          <a:xfrm>
            <a:off x="555313" y="1261100"/>
            <a:ext cx="37488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Missão: É o propósito de a empresa existir.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É sua razão de ser.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 sz="1000">
                <a:latin typeface="Nunito Sans"/>
                <a:ea typeface="Nunito Sans"/>
                <a:cs typeface="Nunito Sans"/>
                <a:sym typeface="Nunito Sans"/>
              </a:rPr>
              <a:t>A declaração da missão serve como base para a construção da estratégia (com objetivos, indicadores e metas). Uma boa definição de missão deve esclarecer o benefício gerado pela empresa para o seu público-alvo. Uma boa definição de missão também deve ser inspiradora e desafiadora, para que haja o engajamento de seus colaboradores e parceiros, comprometidos em levar um benefício cada vez melhor para um (maior) público-alvo.</a:t>
            </a:r>
            <a:endParaRPr sz="10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3" name="Google Shape;323;p5"/>
          <p:cNvSpPr txBox="1"/>
          <p:nvPr/>
        </p:nvSpPr>
        <p:spPr>
          <a:xfrm>
            <a:off x="7383175" y="4811425"/>
            <a:ext cx="168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Sebrae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Valores e Cultura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9" name="Google Shape;329;p6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1. Sobre a Empresa X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0" name="Google Shape;330;p6"/>
          <p:cNvSpPr txBox="1"/>
          <p:nvPr>
            <p:ph idx="4294967295" type="body"/>
          </p:nvPr>
        </p:nvSpPr>
        <p:spPr>
          <a:xfrm>
            <a:off x="4764250" y="1268175"/>
            <a:ext cx="37488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Cultura organizacional é um conjunto de elementos (crenças, valores e normas) que influenciam o clima de uma empresa. Essa cultura empresarial é importante para as organizações por guiar e alinhar os comportamentos dos funcionários no trabalho.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rPr lang="pt-BR" sz="1000">
                <a:latin typeface="Nunito Sans"/>
                <a:ea typeface="Nunito Sans"/>
                <a:cs typeface="Nunito Sans"/>
                <a:sym typeface="Nunito Sans"/>
              </a:rPr>
              <a:t>Aqui é interessante incluir link para o Código de Cultura da empresa (caso tenha) e outros materiais úteis. </a:t>
            </a:r>
            <a:endParaRPr sz="10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1" name="Google Shape;331;p6"/>
          <p:cNvSpPr txBox="1"/>
          <p:nvPr>
            <p:ph idx="4294967295" type="body"/>
          </p:nvPr>
        </p:nvSpPr>
        <p:spPr>
          <a:xfrm>
            <a:off x="493800" y="1268175"/>
            <a:ext cx="39123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Valores: são os ideais de atitude, comportamento e resultados que devem estar presentes nos colaboradores e nas relações da empresa com seus clientes, fornecedores e parceiros.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pt-BR" sz="1000">
                <a:latin typeface="Nunito Sans"/>
                <a:ea typeface="Nunito Sans"/>
                <a:cs typeface="Nunito Sans"/>
                <a:sym typeface="Nunito Sans"/>
              </a:rPr>
              <a:t>Nem todas as empresas que definem missão e visão chegam a elaborar uma lista de valores que orienta o comportamento da organização. Outras já usam sua lista de valores nos processos seletivos, nos processos de avaliação de desempenho dos colaboradores e na relação da empresa com clientes, fornecedores e parceiros. Esse trio é vital para o planejamento do negócio, e exige disciplina do empreendedor e de seu time.</a:t>
            </a:r>
            <a:endParaRPr sz="10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0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7383175" y="4811425"/>
            <a:ext cx="168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Sebrae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e5a4e7f21c_1_0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Golden Circle 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8" name="Google Shape;338;g1e5a4e7f21c_1_0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1. Sobre a Empresa X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9" name="Google Shape;339;g1e5a4e7f21c_1_0"/>
          <p:cNvSpPr txBox="1"/>
          <p:nvPr>
            <p:ph idx="4294967295" type="body"/>
          </p:nvPr>
        </p:nvSpPr>
        <p:spPr>
          <a:xfrm>
            <a:off x="4764250" y="1268175"/>
            <a:ext cx="37488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6E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"/>
          <p:cNvSpPr/>
          <p:nvPr/>
        </p:nvSpPr>
        <p:spPr>
          <a:xfrm flipH="1">
            <a:off x="2608200" y="2644800"/>
            <a:ext cx="6535800" cy="24987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908825" y="1031350"/>
            <a:ext cx="7002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2. SOBRE O PRODUTO Y</a:t>
            </a:r>
            <a:endParaRPr b="1" i="0" sz="36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908824" y="1893550"/>
            <a:ext cx="51822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pt-BR" sz="1800" u="none" cap="none" strike="noStrike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Neste capítulo é importante registrar todos os detalhes sobre o seu produto ou serviço. É hora de refletir e de colocar no papel os serviços que s</a:t>
            </a:r>
            <a:r>
              <a:rPr lang="pt-BR" sz="1800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ua Agência oferece e se tem algum produto ou foco específico. </a:t>
            </a:r>
            <a:endParaRPr i="0" sz="1800" u="none" cap="none" strike="noStrike">
              <a:solidFill>
                <a:srgbClr val="18202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7" name="Google Shape;347;p7"/>
          <p:cNvSpPr/>
          <p:nvPr/>
        </p:nvSpPr>
        <p:spPr>
          <a:xfrm flipH="1">
            <a:off x="3558000" y="3090475"/>
            <a:ext cx="5586000" cy="2053200"/>
          </a:xfrm>
          <a:prstGeom prst="rtTriangle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O Produto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3" name="Google Shape;353;p8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Tente resumir em 2 ou 3 parágrafos o produto ou o serviço que a sua agência oferece. </a:t>
            </a:r>
            <a: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Pontos que podem ser abordados: </a:t>
            </a: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 Como funciona;</a:t>
            </a: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 Público-alvo;</a:t>
            </a: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 Preços/Tipos de planos;</a:t>
            </a: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 Formas de pagamento/Contratação;</a:t>
            </a: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 Detalhes técnicos, etc.</a:t>
            </a: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4" name="Google Shape;354;p8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2. Sobre o Produto Y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Posicionamento do Produto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0" name="Google Shape;360;p9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Use seu time de Marketing para definir como o seu produto/serviço se posiciona no mercado. Precisa ser um resumo rápido e direto ao ponto com os principais atributos e o que eles geram de valor para o cliente final.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Exemplo RD Station CRM: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i="1" lang="pt-BR">
                <a:latin typeface="Nunito Sans"/>
                <a:ea typeface="Nunito Sans"/>
                <a:cs typeface="Nunito Sans"/>
                <a:sym typeface="Nunito Sans"/>
              </a:rPr>
              <a:t>O RD Station CRM ajuda empresas a estruturarem seus processo de vendas, priorizando tarefas e follow-ups, centralizando todas as informações de cada contato e integrando diversos sistemas (do Marketing ao Financeiro).</a:t>
            </a:r>
            <a:endParaRPr b="1" i="1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b="1" i="1" lang="pt-BR">
                <a:latin typeface="Nunito Sans"/>
                <a:ea typeface="Nunito Sans"/>
                <a:cs typeface="Nunito Sans"/>
                <a:sym typeface="Nunito Sans"/>
              </a:rPr>
              <a:t>Com isso, as empresas não perdem tempo conciliando informações de diversas fontes e conseguem aprender o que está funcionando nos seus processos comerciais.</a:t>
            </a:r>
            <a:endParaRPr b="1" i="1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br>
              <a:rPr lang="pt-BR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1" name="Google Shape;361;p9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2. Sobre o Produto Y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Principais Concorrentes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7" name="Google Shape;367;p10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2. Sobre o Produto Y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66300" y="2183625"/>
            <a:ext cx="3723300" cy="381600"/>
          </a:xfrm>
          <a:prstGeom prst="rect">
            <a:avLst/>
          </a:prstGeom>
          <a:solidFill>
            <a:srgbClr val="8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CONCORRENTES DIRETOS</a:t>
            </a:r>
            <a:endParaRPr b="1" i="0" sz="13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406100" y="2183625"/>
            <a:ext cx="3723300" cy="381600"/>
          </a:xfrm>
          <a:prstGeom prst="rect">
            <a:avLst/>
          </a:prstGeom>
          <a:solidFill>
            <a:srgbClr val="8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CONCORRENTES INDIRETOS</a:t>
            </a:r>
            <a:endParaRPr b="1" i="0" sz="13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0" name="Google Shape;370;p10"/>
          <p:cNvSpPr txBox="1"/>
          <p:nvPr>
            <p:ph idx="4294967295" type="body"/>
          </p:nvPr>
        </p:nvSpPr>
        <p:spPr>
          <a:xfrm>
            <a:off x="453550" y="2745275"/>
            <a:ext cx="3748800" cy="1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Concorrente 1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Concorrente 2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Concorrente 3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...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1" name="Google Shape;371;p10"/>
          <p:cNvSpPr txBox="1"/>
          <p:nvPr>
            <p:ph idx="4294967295" type="body"/>
          </p:nvPr>
        </p:nvSpPr>
        <p:spPr>
          <a:xfrm>
            <a:off x="4393350" y="2745275"/>
            <a:ext cx="3748800" cy="1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Concorrente 1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Concorrente 2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Concorrente 3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...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2" name="Google Shape;372;p10"/>
          <p:cNvSpPr txBox="1"/>
          <p:nvPr>
            <p:ph idx="4294967295" type="body"/>
          </p:nvPr>
        </p:nvSpPr>
        <p:spPr>
          <a:xfrm>
            <a:off x="341400" y="1234300"/>
            <a:ext cx="80001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Inclua uma lista dos concorrentes diretos e indiretos do seu produto ou serviço. É muito importante que o time de vendas tenha essas informações mapeadas para poder ter uma abordagem mais certeira com o cliente.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Diferenciais Competitivos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8" name="Google Shape;378;p11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2. Sobre o Produto Y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graphicFrame>
        <p:nvGraphicFramePr>
          <p:cNvPr id="379" name="Google Shape;379;p11"/>
          <p:cNvGraphicFramePr/>
          <p:nvPr/>
        </p:nvGraphicFramePr>
        <p:xfrm>
          <a:off x="952500" y="232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{5A65153F-BBCE-49FA-81CA-74399687FDBF}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Nome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Funcionalidades principais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Preço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Formas de Pagamento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Por que nosso produto é melhor?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Concorrente 1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Concorrente 2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Concorrente 3</a:t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0" name="Google Shape;380;p11"/>
          <p:cNvSpPr txBox="1"/>
          <p:nvPr>
            <p:ph idx="4294967295" type="body"/>
          </p:nvPr>
        </p:nvSpPr>
        <p:spPr>
          <a:xfrm>
            <a:off x="341400" y="1216127"/>
            <a:ext cx="80001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Monte uma tabela com os principais pontos levantados pelos clientes na hora de avaliar o seu produto ou serviço. Essa tabela é o ponto de partida para que o time possa trabalhar as objeções na hora da venda. 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Os campos abaixo são ilustrativos, você pode incluir quantas colunas forem necessárias.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6E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"/>
          <p:cNvSpPr txBox="1"/>
          <p:nvPr/>
        </p:nvSpPr>
        <p:spPr>
          <a:xfrm>
            <a:off x="908825" y="1031346"/>
            <a:ext cx="49878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3. ÁREA DE VENDAS</a:t>
            </a:r>
            <a:endParaRPr b="1" i="0" sz="36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908824" y="1893550"/>
            <a:ext cx="60996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pt-BR" sz="1800" u="none" cap="none" strike="noStrike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Neste capítulo é importante registrar todas as informações sobre a área comercial, o time e integrações com o resto da </a:t>
            </a:r>
            <a:r>
              <a:rPr lang="pt-BR" sz="1800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agência</a:t>
            </a:r>
            <a:r>
              <a:rPr i="0" lang="pt-BR" sz="1800" u="none" cap="none" strike="noStrike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i="0" sz="1800" u="none" cap="none" strike="noStrike">
              <a:solidFill>
                <a:srgbClr val="18202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7" name="Google Shape;387;p12"/>
          <p:cNvSpPr/>
          <p:nvPr/>
        </p:nvSpPr>
        <p:spPr>
          <a:xfrm flipH="1">
            <a:off x="2608200" y="2644800"/>
            <a:ext cx="6535800" cy="24987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8" name="Google Shape;388;p12"/>
          <p:cNvSpPr/>
          <p:nvPr/>
        </p:nvSpPr>
        <p:spPr>
          <a:xfrm flipH="1">
            <a:off x="3558000" y="3090475"/>
            <a:ext cx="5586000" cy="2053200"/>
          </a:xfrm>
          <a:prstGeom prst="rtTriangle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Missão e Visão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4" name="Google Shape;394;p13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3. Área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5" name="Google Shape;395;p13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Algumas empresas costumam criar Missão e Visão também para diferentes áreas, para um processo mais personalizado com os times. Aqui é a oportunidade de detalhar um pouco melhor a essencial da área, como as metas são definidas e pontos de atenção.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Estrutura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01" name="Google Shape;401;p14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3. Área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3659286" y="1355530"/>
            <a:ext cx="1825500" cy="525300"/>
          </a:xfrm>
          <a:prstGeom prst="rect">
            <a:avLst/>
          </a:prstGeom>
          <a:solidFill>
            <a:srgbClr val="594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Gerente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652938" y="2347302"/>
            <a:ext cx="1825500" cy="525300"/>
          </a:xfrm>
          <a:prstGeom prst="rect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Coordenador(a)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665522" y="2347302"/>
            <a:ext cx="1825500" cy="525300"/>
          </a:xfrm>
          <a:prstGeom prst="rect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Coordenador(a)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6668709" y="3262666"/>
            <a:ext cx="1825500" cy="525300"/>
          </a:xfrm>
          <a:prstGeom prst="rect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Vendedor(a)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4662423" y="3262666"/>
            <a:ext cx="1825500" cy="525300"/>
          </a:xfrm>
          <a:prstGeom prst="rect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Vendedor(a)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2656125" y="3262666"/>
            <a:ext cx="1825500" cy="525300"/>
          </a:xfrm>
          <a:prstGeom prst="rect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Vendedor(a)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649839" y="3262666"/>
            <a:ext cx="1825500" cy="525300"/>
          </a:xfrm>
          <a:prstGeom prst="rect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Vendedor(a)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4"/>
          <p:cNvCxnSpPr>
            <a:stCxn id="402" idx="2"/>
            <a:endCxn id="404" idx="0"/>
          </p:cNvCxnSpPr>
          <p:nvPr/>
        </p:nvCxnSpPr>
        <p:spPr>
          <a:xfrm flipH="1" rot="-5400000">
            <a:off x="5341836" y="1111030"/>
            <a:ext cx="466500" cy="20061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4"/>
          <p:cNvCxnSpPr>
            <a:stCxn id="403" idx="0"/>
            <a:endCxn id="402" idx="2"/>
          </p:cNvCxnSpPr>
          <p:nvPr/>
        </p:nvCxnSpPr>
        <p:spPr>
          <a:xfrm rot="-5400000">
            <a:off x="3335638" y="1110852"/>
            <a:ext cx="466500" cy="20064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4"/>
          <p:cNvCxnSpPr>
            <a:stCxn id="403" idx="2"/>
            <a:endCxn id="407" idx="0"/>
          </p:cNvCxnSpPr>
          <p:nvPr/>
        </p:nvCxnSpPr>
        <p:spPr>
          <a:xfrm flipH="1" rot="-5400000">
            <a:off x="2872288" y="2566002"/>
            <a:ext cx="390000" cy="10032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4"/>
          <p:cNvCxnSpPr>
            <a:stCxn id="408" idx="0"/>
            <a:endCxn id="403" idx="2"/>
          </p:cNvCxnSpPr>
          <p:nvPr/>
        </p:nvCxnSpPr>
        <p:spPr>
          <a:xfrm rot="-5400000">
            <a:off x="1869189" y="2566066"/>
            <a:ext cx="390000" cy="10032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4"/>
          <p:cNvCxnSpPr>
            <a:stCxn id="404" idx="2"/>
            <a:endCxn id="405" idx="0"/>
          </p:cNvCxnSpPr>
          <p:nvPr/>
        </p:nvCxnSpPr>
        <p:spPr>
          <a:xfrm flipH="1" rot="-5400000">
            <a:off x="6884872" y="2566002"/>
            <a:ext cx="390000" cy="10032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4"/>
          <p:cNvCxnSpPr>
            <a:stCxn id="406" idx="0"/>
            <a:endCxn id="404" idx="2"/>
          </p:cNvCxnSpPr>
          <p:nvPr/>
        </p:nvCxnSpPr>
        <p:spPr>
          <a:xfrm rot="-5400000">
            <a:off x="5881773" y="2566066"/>
            <a:ext cx="390000" cy="10032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Rotinas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20" name="Google Shape;420;p15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3. Área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21" name="Google Shape;421;p15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Listar todas as rotinas do time, incluindo reuniões internas, reuniões com outras áreas, treinamentos e 1-1.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SLA Vendas e Marketing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27" name="Google Shape;427;p16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3. Área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28" name="Google Shape;428;p16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O SLA (Service Level Agreement, ou Acordo de Nível de Serviço) entre Vendas e Marketing esclarece as responsabilidades e expectativas de cada time, os critérios de passagem de leads, as informações que devem ser passadas e a rotina de envios, incluindo regras de integração.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6E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 txBox="1"/>
          <p:nvPr/>
        </p:nvSpPr>
        <p:spPr>
          <a:xfrm>
            <a:off x="908825" y="1031350"/>
            <a:ext cx="68817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4.PROCESSOS DE VENDAS NA AGÊNCIA</a:t>
            </a:r>
            <a:endParaRPr b="1" i="0" sz="36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34" name="Google Shape;434;p17"/>
          <p:cNvSpPr txBox="1"/>
          <p:nvPr/>
        </p:nvSpPr>
        <p:spPr>
          <a:xfrm>
            <a:off x="908824" y="1893550"/>
            <a:ext cx="62649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pt-BR" sz="1600" u="none" cap="none" strike="noStrike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Neste capítulo é importante registrar todas as informações sobre os processos da área comercial, tais como: canais, funil, atividades, gatilhos de passagem e motivos de perda.</a:t>
            </a:r>
            <a:endParaRPr i="0" sz="1600" u="none" cap="none" strike="noStrike">
              <a:solidFill>
                <a:srgbClr val="18202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35" name="Google Shape;435;p17"/>
          <p:cNvSpPr/>
          <p:nvPr/>
        </p:nvSpPr>
        <p:spPr>
          <a:xfrm flipH="1">
            <a:off x="2608200" y="2644800"/>
            <a:ext cx="6535800" cy="24987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36" name="Google Shape;436;p17"/>
          <p:cNvSpPr/>
          <p:nvPr/>
        </p:nvSpPr>
        <p:spPr>
          <a:xfrm flipH="1">
            <a:off x="3558000" y="3090475"/>
            <a:ext cx="5586000" cy="2053200"/>
          </a:xfrm>
          <a:prstGeom prst="rtTriangle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Canais de Aquisição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42" name="Google Shape;442;p18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43" name="Google Shape;443;p18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Aqui podem estar listados todos os canais utilizados para atrair e captar leads.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Exemplos: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Site institucional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Landing Pages de Materiais ricos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Landing Pages de pedidos de contato com o time comercial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Whatsapp/Telegram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Canais de parceiros, etc.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- mídia paga para gerar leads 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-prospecção ativa 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Funil de Vendas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49" name="Google Shape;449;p19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0" name="Google Shape;450;p19"/>
          <p:cNvSpPr txBox="1"/>
          <p:nvPr>
            <p:ph idx="4294967295" type="body"/>
          </p:nvPr>
        </p:nvSpPr>
        <p:spPr>
          <a:xfrm>
            <a:off x="3525550" y="1216125"/>
            <a:ext cx="48162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Essa é uma das partes mais importantes do Playbook: A descrição das etapas do funil. O funil de Vendas mostra as diferentes etapas que o lead deve percorrer no processo comercial. Cada uma dessas etapas possuem atividades específicas a serem executadas para atingirmos os objetivos.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Cada Empresa deve desenhar o funil de acordo com as suas necessidades, podendo o mesmo ter muitas ou poucas etapas. 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-598481" y="2742742"/>
            <a:ext cx="3158703" cy="656509"/>
          </a:xfrm>
          <a:custGeom>
            <a:rect b="b" l="l" r="r" t="t"/>
            <a:pathLst>
              <a:path extrusionOk="0" h="21336" w="97536">
                <a:moveTo>
                  <a:pt x="0" y="0"/>
                </a:moveTo>
                <a:lnTo>
                  <a:pt x="97536" y="0"/>
                </a:lnTo>
                <a:lnTo>
                  <a:pt x="88392" y="21336"/>
                </a:lnTo>
                <a:lnTo>
                  <a:pt x="9144" y="21336"/>
                </a:lnTo>
                <a:close/>
              </a:path>
            </a:pathLst>
          </a:custGeom>
          <a:solidFill>
            <a:srgbClr val="9688FF"/>
          </a:solidFill>
          <a:ln cap="flat" cmpd="sng" w="9525">
            <a:solidFill>
              <a:srgbClr val="0C62B0"/>
            </a:solidFill>
            <a:prstDash val="dot"/>
            <a:round/>
            <a:headEnd len="sm" w="sm" type="none"/>
            <a:tailEnd len="sm" w="sm" type="none"/>
          </a:ln>
        </p:spPr>
      </p:sp>
      <p:sp>
        <p:nvSpPr>
          <p:cNvPr id="452" name="Google Shape;452;p19"/>
          <p:cNvSpPr/>
          <p:nvPr/>
        </p:nvSpPr>
        <p:spPr>
          <a:xfrm>
            <a:off x="-302358" y="3493018"/>
            <a:ext cx="2566446" cy="656509"/>
          </a:xfrm>
          <a:custGeom>
            <a:rect b="b" l="l" r="r" t="t"/>
            <a:pathLst>
              <a:path extrusionOk="0" h="21336" w="79248">
                <a:moveTo>
                  <a:pt x="0" y="0"/>
                </a:moveTo>
                <a:lnTo>
                  <a:pt x="79248" y="0"/>
                </a:lnTo>
                <a:lnTo>
                  <a:pt x="70104" y="21336"/>
                </a:lnTo>
                <a:lnTo>
                  <a:pt x="9144" y="21336"/>
                </a:lnTo>
                <a:close/>
              </a:path>
            </a:pathLst>
          </a:custGeom>
          <a:solidFill>
            <a:srgbClr val="D9D4FF"/>
          </a:solidFill>
          <a:ln cap="flat" cmpd="sng" w="9525">
            <a:solidFill>
              <a:srgbClr val="0C62B0"/>
            </a:solidFill>
            <a:prstDash val="dot"/>
            <a:round/>
            <a:headEnd len="sm" w="sm" type="none"/>
            <a:tailEnd len="sm" w="sm" type="none"/>
          </a:ln>
        </p:spPr>
      </p:sp>
      <p:sp>
        <p:nvSpPr>
          <p:cNvPr id="453" name="Google Shape;453;p19"/>
          <p:cNvSpPr/>
          <p:nvPr/>
        </p:nvSpPr>
        <p:spPr>
          <a:xfrm>
            <a:off x="-1190725" y="1242202"/>
            <a:ext cx="4343400" cy="656402"/>
          </a:xfrm>
          <a:custGeom>
            <a:rect b="b" l="l" r="r" t="t"/>
            <a:pathLst>
              <a:path extrusionOk="0" h="42672" w="91440">
                <a:moveTo>
                  <a:pt x="0" y="0"/>
                </a:moveTo>
                <a:lnTo>
                  <a:pt x="91440" y="0"/>
                </a:lnTo>
                <a:lnTo>
                  <a:pt x="85344" y="42672"/>
                </a:lnTo>
                <a:lnTo>
                  <a:pt x="6096" y="42672"/>
                </a:lnTo>
                <a:close/>
              </a:path>
            </a:pathLst>
          </a:custGeom>
          <a:solidFill>
            <a:srgbClr val="372A85"/>
          </a:solidFill>
          <a:ln>
            <a:noFill/>
          </a:ln>
        </p:spPr>
      </p:sp>
      <p:sp>
        <p:nvSpPr>
          <p:cNvPr id="454" name="Google Shape;454;p19"/>
          <p:cNvSpPr/>
          <p:nvPr/>
        </p:nvSpPr>
        <p:spPr>
          <a:xfrm>
            <a:off x="-885925" y="1992477"/>
            <a:ext cx="3750960" cy="656509"/>
          </a:xfrm>
          <a:custGeom>
            <a:rect b="b" l="l" r="r" t="t"/>
            <a:pathLst>
              <a:path extrusionOk="0" h="21336" w="115824">
                <a:moveTo>
                  <a:pt x="0" y="0"/>
                </a:moveTo>
                <a:lnTo>
                  <a:pt x="115824" y="0"/>
                </a:lnTo>
                <a:lnTo>
                  <a:pt x="106680" y="21336"/>
                </a:lnTo>
                <a:lnTo>
                  <a:pt x="9144" y="21336"/>
                </a:lnTo>
                <a:close/>
              </a:path>
            </a:pathLst>
          </a:custGeom>
          <a:solidFill>
            <a:srgbClr val="5949C2"/>
          </a:solid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Funil de Vendas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0" name="Google Shape;460;p20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1" name="Google Shape;461;p20"/>
          <p:cNvSpPr txBox="1"/>
          <p:nvPr>
            <p:ph idx="4294967295" type="body"/>
          </p:nvPr>
        </p:nvSpPr>
        <p:spPr>
          <a:xfrm>
            <a:off x="3525550" y="1216125"/>
            <a:ext cx="48162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Descreva detalhadamente cada uma das etapas do seu funil, incluindo: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pt-BR">
                <a:latin typeface="Nunito Sans"/>
                <a:ea typeface="Nunito Sans"/>
                <a:cs typeface="Nunito Sans"/>
                <a:sym typeface="Nunito Sans"/>
              </a:rPr>
              <a:t>Objetivo da Etapa:</a:t>
            </a: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 O que buscamos realizar nesse momento.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pt-BR">
                <a:latin typeface="Nunito Sans"/>
                <a:ea typeface="Nunito Sans"/>
                <a:cs typeface="Nunito Sans"/>
                <a:sym typeface="Nunito Sans"/>
              </a:rPr>
              <a:t>Orientações/Passo a passo:</a:t>
            </a: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 Quais tarefas devem ser executadas.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pt-BR">
                <a:latin typeface="Nunito Sans"/>
                <a:ea typeface="Nunito Sans"/>
                <a:cs typeface="Nunito Sans"/>
                <a:sym typeface="Nunito Sans"/>
              </a:rPr>
              <a:t>Tempo de duração da etapa: </a:t>
            </a: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O tempo que cada profissional deve investir nas tarefas.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lang="pt-BR">
                <a:latin typeface="Nunito Sans"/>
                <a:ea typeface="Nunito Sans"/>
                <a:cs typeface="Nunito Sans"/>
                <a:sym typeface="Nunito Sans"/>
              </a:rPr>
              <a:t>Gatilhos de passagem: </a:t>
            </a: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Critérios de sucesso/não sucesso para avançar o lead para a próxima etapa.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-598481" y="2742742"/>
            <a:ext cx="3158703" cy="656509"/>
          </a:xfrm>
          <a:custGeom>
            <a:rect b="b" l="l" r="r" t="t"/>
            <a:pathLst>
              <a:path extrusionOk="0" h="21336" w="97536">
                <a:moveTo>
                  <a:pt x="0" y="0"/>
                </a:moveTo>
                <a:lnTo>
                  <a:pt x="97536" y="0"/>
                </a:lnTo>
                <a:lnTo>
                  <a:pt x="88392" y="21336"/>
                </a:lnTo>
                <a:lnTo>
                  <a:pt x="9144" y="21336"/>
                </a:lnTo>
                <a:close/>
              </a:path>
            </a:pathLst>
          </a:custGeom>
          <a:solidFill>
            <a:srgbClr val="CCCCCC"/>
          </a:solidFill>
          <a:ln cap="flat" cmpd="sng" w="9525">
            <a:solidFill>
              <a:srgbClr val="0C62B0"/>
            </a:solidFill>
            <a:prstDash val="dot"/>
            <a:round/>
            <a:headEnd len="sm" w="sm" type="none"/>
            <a:tailEnd len="sm" w="sm" type="none"/>
          </a:ln>
        </p:spPr>
      </p:sp>
      <p:sp>
        <p:nvSpPr>
          <p:cNvPr id="463" name="Google Shape;463;p20"/>
          <p:cNvSpPr/>
          <p:nvPr/>
        </p:nvSpPr>
        <p:spPr>
          <a:xfrm>
            <a:off x="-302358" y="3493018"/>
            <a:ext cx="2566446" cy="656509"/>
          </a:xfrm>
          <a:custGeom>
            <a:rect b="b" l="l" r="r" t="t"/>
            <a:pathLst>
              <a:path extrusionOk="0" h="21336" w="79248">
                <a:moveTo>
                  <a:pt x="0" y="0"/>
                </a:moveTo>
                <a:lnTo>
                  <a:pt x="79248" y="0"/>
                </a:lnTo>
                <a:lnTo>
                  <a:pt x="70104" y="21336"/>
                </a:lnTo>
                <a:lnTo>
                  <a:pt x="9144" y="21336"/>
                </a:lnTo>
                <a:close/>
              </a:path>
            </a:pathLst>
          </a:custGeom>
          <a:solidFill>
            <a:srgbClr val="CCCCCC"/>
          </a:solidFill>
          <a:ln cap="flat" cmpd="sng" w="9525">
            <a:solidFill>
              <a:srgbClr val="0C62B0"/>
            </a:solidFill>
            <a:prstDash val="dot"/>
            <a:round/>
            <a:headEnd len="sm" w="sm" type="none"/>
            <a:tailEnd len="sm" w="sm" type="none"/>
          </a:ln>
        </p:spPr>
      </p:sp>
      <p:sp>
        <p:nvSpPr>
          <p:cNvPr id="464" name="Google Shape;464;p20"/>
          <p:cNvSpPr/>
          <p:nvPr/>
        </p:nvSpPr>
        <p:spPr>
          <a:xfrm>
            <a:off x="-1190725" y="1242202"/>
            <a:ext cx="4343400" cy="656402"/>
          </a:xfrm>
          <a:custGeom>
            <a:rect b="b" l="l" r="r" t="t"/>
            <a:pathLst>
              <a:path extrusionOk="0" h="42672" w="91440">
                <a:moveTo>
                  <a:pt x="0" y="0"/>
                </a:moveTo>
                <a:lnTo>
                  <a:pt x="91440" y="0"/>
                </a:lnTo>
                <a:lnTo>
                  <a:pt x="85344" y="42672"/>
                </a:lnTo>
                <a:lnTo>
                  <a:pt x="6096" y="42672"/>
                </a:lnTo>
                <a:close/>
              </a:path>
            </a:pathLst>
          </a:custGeom>
          <a:solidFill>
            <a:srgbClr val="372A85"/>
          </a:solidFill>
          <a:ln>
            <a:noFill/>
          </a:ln>
        </p:spPr>
      </p:sp>
      <p:sp>
        <p:nvSpPr>
          <p:cNvPr id="465" name="Google Shape;465;p20"/>
          <p:cNvSpPr/>
          <p:nvPr/>
        </p:nvSpPr>
        <p:spPr>
          <a:xfrm>
            <a:off x="-885925" y="1992477"/>
            <a:ext cx="3750960" cy="656509"/>
          </a:xfrm>
          <a:custGeom>
            <a:rect b="b" l="l" r="r" t="t"/>
            <a:pathLst>
              <a:path extrusionOk="0" h="21336" w="115824">
                <a:moveTo>
                  <a:pt x="0" y="0"/>
                </a:moveTo>
                <a:lnTo>
                  <a:pt x="115824" y="0"/>
                </a:lnTo>
                <a:lnTo>
                  <a:pt x="106680" y="21336"/>
                </a:lnTo>
                <a:lnTo>
                  <a:pt x="9144" y="21336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Motivos de Perda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71" name="Google Shape;471;p21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72" name="Google Shape;472;p21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É muito importante para o controle do processo de vendas ter os Motivos de perda padronizados para todo o time, assim é possível fazer análises mais aprofundadas sobre o perfil do lead, problemas na prospecção e outros.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Exemplos: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Não consegui contato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Lead não retornou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Lead não tinha interesse no produto/serviço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Lead preferiu o concorrente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Sem orçamento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Já é cliente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Lead não tinha o perfil, etc.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Boas</a:t>
            </a: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práticas para abordagem de leads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78" name="Google Shape;478;p22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79" name="Google Shape;479;p22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Após ter definido todas as etapas do seu funil, inclua algumas dicas e boas práticas para o time levar em consideração nos diversos momentos de contato com um cliente potencial.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Aqui podem estar incluídos: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Fluxograma de ligação: Preparação para a abordagem, Identificação da dor do cliente, Geração de Valor e Passagem.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Modelos de e-mails de contato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Exemplos de ligações bem sucedidas, etc.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Boas práticas para apresentações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85" name="Google Shape;485;p23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86" name="Google Shape;486;p23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Após ter definido todas as etapas do seu funil, inclua algumas dicas e boas práticas para o time levar em consideração nos diversos momentos de contato com um cliente potencial.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Aqui podem estar incluídos: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Apresentação do produto/serviço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Vídeos explicativos para suporte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Pontos de atenção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</a:rPr>
              <a:t>Documentar as vendas</a:t>
            </a:r>
            <a:endParaRPr/>
          </a:p>
        </p:txBody>
      </p:sp>
      <p:sp>
        <p:nvSpPr>
          <p:cNvPr id="492" name="Google Shape;492;p24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4. Processo de Vendas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4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rPr lang="pt-BR"/>
              <a:t>Com a venda realizada, é fundamental encerrar o processo, não só realizando o registro correto na ferramenta de CRM, mas também passando todas as informações sobre esse novo cliente para áreas específicas como Implementação, Relacionamento e Sucesso do Cliente.</a:t>
            </a:r>
            <a:br>
              <a:rPr lang="pt-BR"/>
            </a:br>
            <a:br>
              <a:rPr lang="pt-BR"/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"/>
          <p:cNvSpPr txBox="1"/>
          <p:nvPr>
            <p:ph idx="4294967295" type="title"/>
          </p:nvPr>
        </p:nvSpPr>
        <p:spPr>
          <a:xfrm>
            <a:off x="341400" y="484742"/>
            <a:ext cx="680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Métricas e KPIs</a:t>
            </a:r>
            <a:endParaRPr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9" name="Google Shape;499;p25"/>
          <p:cNvSpPr txBox="1"/>
          <p:nvPr>
            <p:ph idx="4294967295" type="title"/>
          </p:nvPr>
        </p:nvSpPr>
        <p:spPr>
          <a:xfrm>
            <a:off x="341400" y="358566"/>
            <a:ext cx="4064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4. Processo de Vendas</a:t>
            </a: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0" name="Google Shape;500;p25"/>
          <p:cNvSpPr txBox="1"/>
          <p:nvPr>
            <p:ph idx="4294967295" type="body"/>
          </p:nvPr>
        </p:nvSpPr>
        <p:spPr>
          <a:xfrm>
            <a:off x="341400" y="1216117"/>
            <a:ext cx="80001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Incluir quais métricas serão acompanhadas pelo time (e frequência de acompanhamento), e quais são os KPIs (key performance indicator, ou Indicadores-chave de performance).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Exemplos: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Número de vendas por vendedor;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Taxa de conversão de cada vendedor, ou seja, quantas conversões para cada abordagem realizada;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Ciclo de vendas médio por vendedor e por equipe;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Motivos de perdas de clientes em todo o processo;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Receita por vendedor e atingimento de meta;</a:t>
            </a: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>
                <a:latin typeface="Nunito Sans"/>
                <a:ea typeface="Nunito Sans"/>
                <a:cs typeface="Nunito Sans"/>
                <a:sym typeface="Nunito Sans"/>
              </a:rPr>
              <a:t>- Taxas de conversões de cada etapa do funil e detalhes das conversões, etc.</a:t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br>
              <a:rPr lang="pt-BR">
                <a:latin typeface="Nunito Sans"/>
                <a:ea typeface="Nunito Sans"/>
                <a:cs typeface="Nunito Sans"/>
                <a:sym typeface="Nunito Sans"/>
              </a:rPr>
            </a:br>
            <a:endParaRPr sz="1200"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6E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6"/>
          <p:cNvSpPr txBox="1"/>
          <p:nvPr/>
        </p:nvSpPr>
        <p:spPr>
          <a:xfrm>
            <a:off x="908825" y="1031350"/>
            <a:ext cx="7047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5. MATERIAIS DE APOIO</a:t>
            </a:r>
            <a:endParaRPr b="1" i="0" sz="36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6" name="Google Shape;506;p26"/>
          <p:cNvSpPr txBox="1"/>
          <p:nvPr/>
        </p:nvSpPr>
        <p:spPr>
          <a:xfrm>
            <a:off x="908825" y="1893550"/>
            <a:ext cx="63852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pt-BR" sz="1800" u="none" cap="none" strike="noStrike">
                <a:solidFill>
                  <a:srgbClr val="182020"/>
                </a:solidFill>
                <a:latin typeface="Nunito Sans"/>
                <a:ea typeface="Nunito Sans"/>
                <a:cs typeface="Nunito Sans"/>
                <a:sym typeface="Nunito Sans"/>
              </a:rPr>
              <a:t>Neste capítulo é importante incluir links de materiais extras que possam auxiliar o trabalho do time de vendas.</a:t>
            </a:r>
            <a:endParaRPr i="0" sz="1800" u="none" cap="none" strike="noStrike">
              <a:solidFill>
                <a:srgbClr val="18202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7" name="Google Shape;507;p26"/>
          <p:cNvSpPr/>
          <p:nvPr/>
        </p:nvSpPr>
        <p:spPr>
          <a:xfrm flipH="1">
            <a:off x="2608200" y="2644800"/>
            <a:ext cx="6535800" cy="2498700"/>
          </a:xfrm>
          <a:prstGeom prst="rtTriangle">
            <a:avLst/>
          </a:prstGeom>
          <a:solidFill>
            <a:srgbClr val="D9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8" name="Google Shape;508;p26"/>
          <p:cNvSpPr/>
          <p:nvPr/>
        </p:nvSpPr>
        <p:spPr>
          <a:xfrm flipH="1">
            <a:off x="3558000" y="3090475"/>
            <a:ext cx="5586000" cy="2053200"/>
          </a:xfrm>
          <a:prstGeom prst="rtTriangle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7"/>
          <p:cNvSpPr/>
          <p:nvPr/>
        </p:nvSpPr>
        <p:spPr>
          <a:xfrm flipH="1">
            <a:off x="3558000" y="3090475"/>
            <a:ext cx="5586000" cy="2053200"/>
          </a:xfrm>
          <a:prstGeom prst="rtTriangle">
            <a:avLst/>
          </a:prstGeom>
          <a:solidFill>
            <a:srgbClr val="96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4" name="Google Shape;514;p27"/>
          <p:cNvSpPr txBox="1"/>
          <p:nvPr/>
        </p:nvSpPr>
        <p:spPr>
          <a:xfrm>
            <a:off x="908825" y="-340258"/>
            <a:ext cx="49878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0" lang="pt-BR" sz="3600" u="none" cap="none" strike="noStrike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Boas Vendas!</a:t>
            </a:r>
            <a:endParaRPr i="0" sz="36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5" name="Google Shape;515;p27"/>
          <p:cNvSpPr txBox="1"/>
          <p:nvPr/>
        </p:nvSpPr>
        <p:spPr>
          <a:xfrm>
            <a:off x="909378" y="1321692"/>
            <a:ext cx="42747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pt-BR" sz="1400" u="none" cap="none" strike="noStrike">
                <a:solidFill>
                  <a:srgbClr val="806EFF"/>
                </a:solidFill>
                <a:latin typeface="Nunito Sans"/>
                <a:ea typeface="Nunito Sans"/>
                <a:cs typeface="Nunito Sans"/>
                <a:sym typeface="Nunito Sans"/>
              </a:rPr>
              <a:t>Aproveite esse template para organizar o seu processo comercial e supere cada vez mais metas.</a:t>
            </a:r>
            <a:endParaRPr i="0" sz="1400" u="none" cap="none" strike="noStrike"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806E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6" name="Google Shape;516;p27">
            <a:hlinkClick r:id="rId3"/>
          </p:cNvPr>
          <p:cNvSpPr/>
          <p:nvPr/>
        </p:nvSpPr>
        <p:spPr>
          <a:xfrm>
            <a:off x="1110750" y="2414050"/>
            <a:ext cx="4604400" cy="412500"/>
          </a:xfrm>
          <a:prstGeom prst="flowChartAlternateProcess">
            <a:avLst/>
          </a:prstGeom>
          <a:solidFill>
            <a:srgbClr val="594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Conheça o </a:t>
            </a:r>
            <a:r>
              <a:rPr b="1" lang="pt-BR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Programa de Parcerias da RD Station</a:t>
            </a:r>
            <a:endParaRPr b="1" i="0" sz="1400" u="none" cap="none" strike="noStrike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7" name="Google Shape;517;p27">
            <a:hlinkClick r:id="rId4"/>
          </p:cNvPr>
          <p:cNvSpPr/>
          <p:nvPr/>
        </p:nvSpPr>
        <p:spPr>
          <a:xfrm>
            <a:off x="1110750" y="3049225"/>
            <a:ext cx="4604400" cy="680700"/>
          </a:xfrm>
          <a:prstGeom prst="flowChartAlternateProcess">
            <a:avLst/>
          </a:prstGeom>
          <a:solidFill>
            <a:srgbClr val="5949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BOOST: formação completa para agências e consultorias de marketing e vendas</a:t>
            </a:r>
            <a:endParaRPr b="1" i="0" sz="1400" cap="none" strike="noStrike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2020"/>
      </a:dk1>
      <a:lt1>
        <a:srgbClr val="005E72"/>
      </a:lt1>
      <a:dk2>
        <a:srgbClr val="008096"/>
      </a:dk2>
      <a:lt2>
        <a:srgbClr val="11A7B6"/>
      </a:lt2>
      <a:accent1>
        <a:srgbClr val="19C1CE"/>
      </a:accent1>
      <a:accent2>
        <a:srgbClr val="07E5EB"/>
      </a:accent2>
      <a:accent3>
        <a:srgbClr val="78EDF2"/>
      </a:accent3>
      <a:accent4>
        <a:srgbClr val="DDFFFF"/>
      </a:accent4>
      <a:accent5>
        <a:srgbClr val="ECB135"/>
      </a:accent5>
      <a:accent6>
        <a:srgbClr val="913791"/>
      </a:accent6>
      <a:hlink>
        <a:srgbClr val="298E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